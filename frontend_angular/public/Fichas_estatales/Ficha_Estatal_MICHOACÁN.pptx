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  <p:sldId id="292" r:id="rId43"/>
    <p:sldId id="293" r:id="rId44"/>
    <p:sldId id="294" r:id="rId45"/>
    <p:sldId id="295" r:id="rId46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1662686.0</c:v>
                </c:pt>
                <c:pt idx="1">
                  <c:v>1144803.0</c:v>
                </c:pt>
                <c:pt idx="2">
                  <c:v>617421.0</c:v>
                </c:pt>
                <c:pt idx="3">
                  <c:v>1651085.0</c:v>
                </c:pt>
                <c:pt idx="4">
                  <c:v>13388.0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105</c:v>
                </c:pt>
                <c:pt idx="2">
                  <c:v>102</c:v>
                </c:pt>
                <c:pt idx="3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 Eléctrica y Captación y Suministro de Agua Potable</c:v>
                </c:pt>
                <c:pt idx="4">
                  <c:v>Servicios Sociales y Comunales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2361</c:v>
                </c:pt>
                <c:pt idx="1">
                  <c:v>60059</c:v>
                </c:pt>
                <c:pt idx="2">
                  <c:v>65771</c:v>
                </c:pt>
                <c:pt idx="3">
                  <c:v>5523</c:v>
                </c:pt>
                <c:pt idx="4">
                  <c:v>101653</c:v>
                </c:pt>
                <c:pt idx="5">
                  <c:v>79622</c:v>
                </c:pt>
                <c:pt idx="6">
                  <c:v>119836</c:v>
                </c:pt>
                <c:pt idx="7">
                  <c:v>30316</c:v>
                </c:pt>
                <c:pt idx="8">
                  <c:v>24685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Agricultura, Ganaderia, Silvicultura, Pesca y Caza</c:v>
                </c:pt>
                <c:pt idx="2">
                  <c:v>Servicios para Empresas, Personas y el Hogar</c:v>
                </c:pt>
                <c:pt idx="3">
                  <c:v>Ind Eléctrica y Captación y Suministro de Agua Potable</c:v>
                </c:pt>
                <c:pt idx="4">
                  <c:v>Servicios Sociales y Comunales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Industria de la Construcción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1806</c:v>
                </c:pt>
                <c:pt idx="1">
                  <c:v>57515</c:v>
                </c:pt>
                <c:pt idx="2">
                  <c:v>64979</c:v>
                </c:pt>
                <c:pt idx="3">
                  <c:v>5508</c:v>
                </c:pt>
                <c:pt idx="4">
                  <c:v>102424</c:v>
                </c:pt>
                <c:pt idx="5">
                  <c:v>80607</c:v>
                </c:pt>
                <c:pt idx="6">
                  <c:v>123642</c:v>
                </c:pt>
                <c:pt idx="7">
                  <c:v>32802</c:v>
                </c:pt>
                <c:pt idx="8">
                  <c:v>27962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440114</c:v>
                </c:pt>
                <c:pt idx="1">
                  <c:v>453328</c:v>
                </c:pt>
                <c:pt idx="2">
                  <c:v>464946</c:v>
                </c:pt>
                <c:pt idx="3">
                  <c:v>459138</c:v>
                </c:pt>
                <c:pt idx="4">
                  <c:v>463919</c:v>
                </c:pt>
                <c:pt idx="5">
                  <c:v>475986</c:v>
                </c:pt>
                <c:pt idx="6">
                  <c:v>488387</c:v>
                </c:pt>
                <c:pt idx="7">
                  <c:v>489826</c:v>
                </c:pt>
                <c:pt idx="8">
                  <c:v>497245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Charo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Medicina Interna</c:v>
                </c:pt>
                <c:pt idx="1">
                  <c:v>Pediatria</c:v>
                </c:pt>
                <c:pt idx="2">
                  <c:v>Endoscopia</c:v>
                </c:pt>
                <c:pt idx="3">
                  <c:v>Oncologia Pediatrica</c:v>
                </c:pt>
                <c:pt idx="4">
                  <c:v>Urgencias Pediatrica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 7 La Piedad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 Urgencias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17 Los Reyes (Total: 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Ginecologia Y Obstetricia</c:v>
                </c:pt>
                <c:pt idx="1">
                  <c:v>Cirugia General</c:v>
                </c:pt>
                <c:pt idx="2">
                  <c:v>Medicina Interna</c:v>
                </c:pt>
                <c:pt idx="3">
                  <c:v>Medicina De Urgencias</c:v>
                </c:pt>
                <c:pt idx="4">
                  <c:v>Medicina Familiar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9 Apatzingán (Total: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Cirugia General</c:v>
                </c:pt>
                <c:pt idx="1">
                  <c:v>Traumatologia Y Ortopedia</c:v>
                </c:pt>
                <c:pt idx="2">
                  <c:v>Epidemiologia</c:v>
                </c:pt>
                <c:pt idx="3">
                  <c:v>Anestesiologia</c:v>
                </c:pt>
                <c:pt idx="4">
                  <c:v>Medicina De Urgencias</c:v>
                </c:pt>
                <c:pt idx="5">
                  <c:v>Medicina Familiar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4 Zamora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Medicina Interna</c:v>
                </c:pt>
                <c:pt idx="1">
                  <c:v>Medicina De Urgencias</c:v>
                </c:pt>
                <c:pt idx="2">
                  <c:v>Cardiologia</c:v>
                </c:pt>
                <c:pt idx="3">
                  <c:v>Cirugia Oncologica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8 Uruapan (Total: 14)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Medicina Interna</c:v>
                </c:pt>
                <c:pt idx="1">
                  <c:v>Cirugia General</c:v>
                </c:pt>
                <c:pt idx="2">
                  <c:v>Anestesiologia</c:v>
                </c:pt>
                <c:pt idx="3">
                  <c:v>Oftalmologia</c:v>
                </c:pt>
                <c:pt idx="4">
                  <c:v>Infectologia</c:v>
                </c:pt>
                <c:pt idx="5">
                  <c:v>Medicina De Urgencias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86 Uruapan (Total: 101)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Cirugia Oncologica</c:v>
                </c:pt>
                <c:pt idx="1">
                  <c:v>Cirugia General</c:v>
                </c:pt>
                <c:pt idx="2">
                  <c:v>Traumatologia Y Ortopedia</c:v>
                </c:pt>
                <c:pt idx="3">
                  <c:v>Anestesiologia</c:v>
                </c:pt>
                <c:pt idx="4">
                  <c:v>Ginecologia Y Obstetricia</c:v>
                </c:pt>
                <c:pt idx="5">
                  <c:v>Pediatria</c:v>
                </c:pt>
                <c:pt idx="6">
                  <c:v>Medicina Interna</c:v>
                </c:pt>
                <c:pt idx="7">
                  <c:v>Reumatologia</c:v>
                </c:pt>
                <c:pt idx="8">
                  <c:v>Geriatria Directa</c:v>
                </c:pt>
                <c:pt idx="9">
                  <c:v>Medicina De Urgencias</c:v>
                </c:pt>
                <c:pt idx="10">
                  <c:v>Medicina Del Enfermo En Estado Critico</c:v>
                </c:pt>
                <c:pt idx="11">
                  <c:v>Psiquiatria</c:v>
                </c:pt>
                <c:pt idx="12">
                  <c:v>Imagenologia Diagnostica Y Terapeutica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13</c:v>
                </c:pt>
                <c:pt idx="2">
                  <c:v>5</c:v>
                </c:pt>
                <c:pt idx="3">
                  <c:v>14</c:v>
                </c:pt>
                <c:pt idx="4">
                  <c:v>27</c:v>
                </c:pt>
                <c:pt idx="5">
                  <c:v>8</c:v>
                </c:pt>
                <c:pt idx="6">
                  <c:v>6</c:v>
                </c:pt>
                <c:pt idx="7">
                  <c:v>2</c:v>
                </c:pt>
                <c:pt idx="8">
                  <c:v>1</c:v>
                </c:pt>
                <c:pt idx="9">
                  <c:v>17</c:v>
                </c:pt>
                <c:pt idx="10">
                  <c:v>4</c:v>
                </c:pt>
                <c:pt idx="11">
                  <c:v>1</c:v>
                </c:pt>
                <c:pt idx="12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12 Lázaro Cárdenas (Total: 15)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Pediatria</c:v>
                </c:pt>
                <c:pt idx="1">
                  <c:v>Epidemiologia</c:v>
                </c:pt>
                <c:pt idx="2">
                  <c:v>Cirugia General</c:v>
                </c:pt>
                <c:pt idx="3">
                  <c:v>Anestesiologia</c:v>
                </c:pt>
                <c:pt idx="4">
                  <c:v>Traumatologia Y Ortopedia</c:v>
                </c:pt>
                <c:pt idx="5">
                  <c:v>Medicina De Urgencias</c:v>
                </c:pt>
                <c:pt idx="6">
                  <c:v>Nefrologia</c:v>
                </c:pt>
                <c:pt idx="7">
                  <c:v>Medicina Interna</c:v>
                </c:pt>
                <c:pt idx="8">
                  <c:v>Medicina Familiar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1</c:v>
                </c:pt>
                <c:pt idx="7">
                  <c:v>1</c:v>
                </c:pt>
                <c:pt idx="8">
                  <c:v>4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2 Zacapu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Oftalmologia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11 Nva. Italia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21 Jacona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43 Churumuco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76 Uruapan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77 La Piedad (Total: 6)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78 Lázaro Cárdenas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81 Uruapan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82 Zamora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85 Tarimbaro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8 Uruapan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12 Lázaro Cárdenas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Ario De Rosales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Coalcomán De Vázquez Pallares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Anestesiologia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Hospital Rural Oportunidades 33 Tuxpan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Huetamo De Núñez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Medicina Interna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Villamar (Total: 4)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Pediatria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Relationship Id="rId4" Type="http://schemas.openxmlformats.org/officeDocument/2006/relationships/chart" Target="../charts/chart23.xml"/><Relationship Id="rId5" Type="http://schemas.openxmlformats.org/officeDocument/2006/relationships/chart" Target="../charts/chart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Relationship Id="rId4" Type="http://schemas.openxmlformats.org/officeDocument/2006/relationships/chart" Target="../charts/chart27.xml"/><Relationship Id="rId5" Type="http://schemas.openxmlformats.org/officeDocument/2006/relationships/chart" Target="../charts/chart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Michoacán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6_mi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1,662,686</a:t>
            </a:r>
            <a:br/>
            <a:r>
              <a:t>33%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1,144,803</a:t>
            </a:r>
            <a:br/>
            <a:r>
              <a:t>22%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617,421</a:t>
            </a:r>
            <a:br/>
            <a:r>
              <a:t>12%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1,651,085</a:t>
            </a:r>
            <a:br/>
            <a:r>
              <a:t>32%</a:t>
            </a:r>
          </a:p>
        </p:txBody>
      </p:sp>
      <p:pic>
        <p:nvPicPr>
          <p:cNvPr id="135" name="Picture 134" descr="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13,388</a:t>
            </a:r>
            <a:br/>
            <a:r>
              <a:t>0.26%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5,089,383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1,502,653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1,662,686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818,523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961,657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447,924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495,968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248,008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292,263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285,504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13,273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1,848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684,130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701,029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237,361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253,270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326,009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284,260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120,760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163,499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6_m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225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39 UMF, 7 UMFH y 1 UMF-UMAA, y no incluye 17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64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2010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9252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46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Villamar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Buenavista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Paracho De Verduzco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Hospital Rural Oportunidades 33 Tuxpan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Huetamo De Núñez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Ario De Rosales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Coalcomán De Vázquez Pallares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34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54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5 Sahuayo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26 Taretán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25 Puruaran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20 Pátzcuaro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19 Cd.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79 Tlalpujahua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74 Tacámbaro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73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72 Yurecuaro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71 Morelia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70 Zinapécuaro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68 Vista 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66 Villa Mar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65 Villa Madero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61 Tuzantla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Jiquilpan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58 Tepalcatepec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57 Tancitaro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54 Purepero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52 Nvo. Urecho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50 Maravatio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48 Huetamo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46 La Huacana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Churumuco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Cuitzeo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Coalcomán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37 Mineral Angangeo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 Quiroga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Sta. Clara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La Mira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Infiernillo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Cotija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Nva. Italia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10 Jungapeo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43.0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49,815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47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80 Morelia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59,682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18 Zitácuaro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7,507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Jacona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Guacamayas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10,766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77 La Piedad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76 Uruapan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23,348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78 Lázaro Cárdenas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12,853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UMFH 64 Puruandiro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5,181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82 Zamora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31,657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75 Morelia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50,446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81 Uruapan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33,347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84 Tacícuaro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23,991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85 Tarimbaro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316,780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296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96</a:t>
            </a:r>
          </a:p>
        </p:txBody>
      </p:sp>
      <p:pic>
        <p:nvPicPr>
          <p:cNvPr id="12" name="Picture 11" descr="Mapa_draft_etiquetas_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35208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75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4,432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9,103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39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12 Lázaro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Charo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23,209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41,418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 Uruapan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12,744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83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131,400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 7 La Piedad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4 Zamora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6,899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75 Morelia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8,496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2 Zacapu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2,057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17 Los Reyes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86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78,840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10,030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9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24 Pedernales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860,670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76,354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147,087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338,256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2,480,544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406,164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252,177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860,670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147,087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9,103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4,432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7,557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1,809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8,363	 Personal de Salud: 14,530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+43.3%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149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+39.0%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2,015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+23.1%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2,645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3,257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1,799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+163.2%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-8.8%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555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981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11,387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744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130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186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3,327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1,274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16,732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(639,240)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(122,954)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(11,846)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(10,490)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(433)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(535,153)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(48,007)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(6,940)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(8,564)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(368)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(110,933)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(46,829)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(4,449)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Cataratas   (6,242)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(98,583)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(42,032)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Artropatias   (3,668)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(4,115)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(297)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mentales   (87,919)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(28,618)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(2,983)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(3,381)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(228)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104,027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1,033,906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71,998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1,000,671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25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251 piezas de equipo médico: 163 camillas, 80 sillas de ruedas, 3 refrigeradores para vacunas, 2 congeladores para vacunas, 1 resonador magnético, 1 mastógrafo y 1 monitor de signos vitales.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$87.0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46 piezas de equipo electromecánico: 33 aires acondicionados, 8 plantas de lavado, 3 cuartos de máquinas y 2 elevadores.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55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$24.3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16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$59.5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$83.0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10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10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4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$378.9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HGR de 260 camas, Morelia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$3,458.0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Implementación del Centro de Radioterapia en el Hospital General Regional 1 Charo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$332.0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4,723.8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11764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Hospital Ligero de 90 camas, Uruapan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$1,059.0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Oficinas Centrales, Tres Marías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10+2 Tarimbaro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de equipo electromecánico (2 elevadores, 1 montacargas,  9 secadoras, 5 lavadoras)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$80.5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y rehabilitación de 9 Unidades de Medicina Familiar: UMF 25 Puruarán, UMF 75 Morelia, UMF 6 Jiquilpan, UMF 77 La Piedad, UMF 27 La Mira, UMF 66 Villamar, UMF 54 Purépero, UMF 74 Tacámbaro y UMF 31 Guacamayas.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Mantenimiento mayor a 31 equipos de aire acondicionado en 14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áreas de Patología en 8 hospitales (HGSZ 17, HGSZ 7, HGSZ 9, HGZ 4, HGZ 8, HGZ 83, HGZMF 12, HGZMF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cocinas y comedores en 15 unidades médicas: Guardería Zamora, HGSZ 17, HGSZ 7, HGSZMF 24, HGSZMF 9, HGZ 12, HGZ 2, HGZ 4, HGZ 8, HGZ 83, Delegación, UMF 20, UMFH 64, UMF 81 y UMFH 25.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$26.6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Mejora de imagen en 5 unidades médicas (HGZ 83 Morelia,HGZ 4 Zamora, HGZ 8 Uruapan,HGZ 12 Lazaro Cárdenas, HGZ 2 Zacapu)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$179.8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$101.4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4 Hospitales (HGS No.7 en La Piedad, HGS/MF No. 17 en Los Reyes, HGS/MF No. 24 en Pedernales y HGS/MF No. 9 en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49 salas quirúrgicas en 11 hospitales: HGR 1 Charo, HGZ 83 Morelia, HGZ 12 Lázaro Cárdenas, HGZ 4 Zamora, HGZ 08 Uruapan, HGZ 2 Zacapu, HGSZMF 24 Pedernales, HGSZ 9 Apatzingán, HGSZ 17 Los Reyes, HGS 7 La Piedad y UMAA Morelia.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1764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1776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baños en 33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$53.5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1,879.2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40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37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6,504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845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Tuxpan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Lázaro Cárdenas, Morelia y Los Reyes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Morelia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Zacapu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27 Morelia y No. 148 Zamora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6_mi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40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MICHOACAN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31,846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31,910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ARCELORMITTAL MEXICO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5,160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MORELIA MICH SIN TIPO DE SOCIEDAD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6,605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ABARROTERA DEL DUERO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3,473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3,419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-23.51%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-4.24%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-1.20%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-0.27%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+0.76%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+1.24%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+3.18%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+8.20%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+13.28%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378,226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28,632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55,576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489,826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387,330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24,988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497,245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$550.27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$293.40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$550.27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$16,508.1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ADMINISTRATIVOS HOTELEROS DEL SUR 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$18,115.92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CONSTRUCCIONES PEREZ Y GIL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$9,645.24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RP CONSULTING GROUP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$8,090.83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Alcantarillado y Saneamiento del Municipio de Pátzcuaro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$2,065.10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Michoacana de San Nicolás de Hidalgo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$645.64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Jiquilpan Michoacán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$2,710.08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172,564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79,935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13,693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48,471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30,465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7,341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3,777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1,727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1,404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1,483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9,554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14,534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1,144,803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244,728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900,075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168,498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172,564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7,341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Michoacán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Michoacán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Michoacán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Michoacán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Michoacán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MICHOACÁN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