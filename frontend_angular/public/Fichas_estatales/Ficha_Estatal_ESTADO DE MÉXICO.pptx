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.xml" ContentType="application/vnd.openxmlformats-officedocument.drawingml.chart+xml"/>
  <Override PartName="/ppt/charts/chart70.xml" ContentType="application/vnd.openxmlformats-officedocument.drawingml.chart+xml"/>
  <Override PartName="/ppt/charts/chart71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90" r:id="rId41"/>
    <p:sldId id="261" r:id="rId7"/>
    <p:sldId id="291" r:id="rId42"/>
    <p:sldId id="262" r:id="rId8"/>
    <p:sldId id="263" r:id="rId9"/>
    <p:sldId id="281" r:id="rId10"/>
    <p:sldId id="267" r:id="rId11"/>
    <p:sldId id="292" r:id="rId43"/>
    <p:sldId id="280" r:id="rId12"/>
    <p:sldId id="293" r:id="rId44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40"/>
    <p:sldId id="302" r:id="rId39"/>
    <p:sldId id="303" r:id="rId38"/>
    <p:sldId id="304" r:id="rId37"/>
    <p:sldId id="305" r:id="rId36"/>
    <p:sldId id="306" r:id="rId35"/>
    <p:sldId id="307" r:id="rId34"/>
    <p:sldId id="308" r:id="rId59"/>
    <p:sldId id="309" r:id="rId60"/>
    <p:sldId id="310" r:id="rId61"/>
  </p:sldIdLst>
  <p:sldSz cx="7772400" cy="10058400"/>
  <p:notesSz cx="6858000" cy="9144000"/>
  <p:embeddedFontLs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C9A72-6D89-4937-A652-928CE657584B}" v="3" dt="2026-03-11T19:27:17.845"/>
    <p1510:client id="{A819846E-28C8-43DB-A040-8EFEFF3890ED}" v="3" dt="2026-03-12T17:49:38.14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34" Type="http://schemas.openxmlformats.org/officeDocument/2006/relationships/slide" Target="slides/slide41.xml"/><Relationship Id="rId35" Type="http://schemas.openxmlformats.org/officeDocument/2006/relationships/slide" Target="slides/slide40.xml"/><Relationship Id="rId36" Type="http://schemas.openxmlformats.org/officeDocument/2006/relationships/slide" Target="slides/slide39.xml"/><Relationship Id="rId37" Type="http://schemas.openxmlformats.org/officeDocument/2006/relationships/slide" Target="slides/slide38.xml"/><Relationship Id="rId38" Type="http://schemas.openxmlformats.org/officeDocument/2006/relationships/slide" Target="slides/slide37.xml"/><Relationship Id="rId39" Type="http://schemas.openxmlformats.org/officeDocument/2006/relationships/slide" Target="slides/slide36.xml"/><Relationship Id="rId40" Type="http://schemas.openxmlformats.org/officeDocument/2006/relationships/slide" Target="slides/slide35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Relationship Id="rId59" Type="http://schemas.openxmlformats.org/officeDocument/2006/relationships/slide" Target="slides/slide42.xml"/><Relationship Id="rId60" Type="http://schemas.openxmlformats.org/officeDocument/2006/relationships/slide" Target="slides/slide43.xml"/><Relationship Id="rId61" Type="http://schemas.openxmlformats.org/officeDocument/2006/relationships/slide" Target="slides/slide4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2T18:39:03.412" v="26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0:44.492" v="17" actId="20577"/>
        <pc:sldMkLst>
          <pc:docMk/>
          <pc:sldMk cId="0" sldId="258"/>
        </pc:sldMkLst>
        <pc:graphicFrameChg chg="add mod modGraphic">
          <ac:chgData name="Rohan Myron Oprisko" userId="a7c52ab4-f8b1-4d15-aaf6-6388cc510347" providerId="ADAL" clId="{EEEE6C0E-EB18-4E43-B633-E5F95274828B}" dt="2026-03-12T17:50:44.492" v="17" actId="20577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39:03.412" v="26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">
        <pc:chgData name="David Arturo Baltazar Sanchez" userId="25f522d3-6b93-447f-8e87-5af7c1a8f0db" providerId="ADAL" clId="{1167E2C4-85EE-4FA3-A5C3-376395AAEEB6}" dt="2026-03-11T00:45:27.304" v="54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  <pc:spChg chg="add mod">
          <ac:chgData name="David Arturo Baltazar Sanchez" userId="25f522d3-6b93-447f-8e87-5af7c1a8f0db" providerId="ADAL" clId="{1167E2C4-85EE-4FA3-A5C3-376395AAEEB6}" dt="2026-03-11T19:27:03.417" v="60"/>
          <ac:spMkLst>
            <pc:docMk/>
            <pc:sldMk cId="0" sldId="261"/>
            <ac:spMk id="2" creationId="{7C20637C-AE23-01C3-8BD5-A524B7FEEE8F}"/>
          </ac:spMkLst>
        </pc:spChg>
        <pc:spChg chg="del">
          <ac:chgData name="David Arturo Baltazar Sanchez" userId="25f522d3-6b93-447f-8e87-5af7c1a8f0db" providerId="ADAL" clId="{1167E2C4-85EE-4FA3-A5C3-376395AAEEB6}" dt="2026-03-11T00:23:27.499" v="28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25.389" v="27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  <pc:sldChg chg="new del">
        <pc:chgData name="David Arturo Baltazar Sanchez" userId="25f522d3-6b93-447f-8e87-5af7c1a8f0db" providerId="ADAL" clId="{1167E2C4-85EE-4FA3-A5C3-376395AAEEB6}" dt="2026-03-11T00:29:01.835" v="52" actId="47"/>
        <pc:sldMkLst>
          <pc:docMk/>
          <pc:sldMk cId="4174642915" sldId="289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2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3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4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5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6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8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9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0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1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2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3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4.xlsx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5.xlsx"/></Relationships>
</file>

<file path=ppt/charts/_rels/chart5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6.xlsx"/></Relationships>
</file>

<file path=ppt/charts/_rels/chart5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7.xlsx"/></Relationships>
</file>

<file path=ppt/charts/_rels/chart5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8.xlsx"/></Relationships>
</file>

<file path=ppt/charts/_rels/chart5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9.xlsx"/></Relationships>
</file>

<file path=ppt/charts/_rels/chart6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0.xlsx"/></Relationships>
</file>

<file path=ppt/charts/_rels/chart6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1.xlsx"/></Relationships>
</file>

<file path=ppt/charts/_rels/chart6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2.xlsx"/></Relationships>
</file>

<file path=ppt/charts/_rels/chart6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3.xlsx"/></Relationships>
</file>

<file path=ppt/charts/_rels/chart6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4.xlsx"/></Relationships>
</file>

<file path=ppt/charts/_rels/chart6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5.xlsx"/></Relationships>
</file>

<file path=ppt/charts/_rels/chart6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6.xlsx"/></Relationships>
</file>

<file path=ppt/charts/_rels/chart6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7.xlsx"/></Relationships>
</file>

<file path=ppt/charts/_rels/chart6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8.xlsx"/></Relationships>
</file>

<file path=ppt/charts/_rels/chart6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9.xlsx"/></Relationships>
</file>

<file path=ppt/charts/_rels/chart7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0.xlsx"/></Relationships>
</file>

<file path=ppt/charts/_rels/chart7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7836586.0</c:v>
                </c:pt>
                <c:pt idx="1">
                  <c:v>66902.0</c:v>
                </c:pt>
                <c:pt idx="2">
                  <c:v>1299505.0</c:v>
                </c:pt>
                <c:pt idx="3">
                  <c:v>8470150.0</c:v>
                </c:pt>
                <c:pt idx="4">
                  <c:v>149277.0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166</c:v>
                </c:pt>
                <c:pt idx="1">
                  <c:v>407</c:v>
                </c:pt>
                <c:pt idx="2">
                  <c:v>446</c:v>
                </c:pt>
                <c:pt idx="3">
                  <c:v>422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 de la Construcción</c:v>
                </c:pt>
                <c:pt idx="2">
                  <c:v>Ind Eléctrica y Captación y Suministro de Agua Potable</c:v>
                </c:pt>
                <c:pt idx="3">
                  <c:v>Agricultura, Ganaderia, Silvicultura, Pesca y Caza</c:v>
                </c:pt>
                <c:pt idx="4">
                  <c:v>Industrias de la Transformación</c:v>
                </c:pt>
                <c:pt idx="5">
                  <c:v>Servicios Sociales y Comunales</c:v>
                </c:pt>
                <c:pt idx="6">
                  <c:v>Servicios para Empresas, Personas y el Hogar</c:v>
                </c:pt>
                <c:pt idx="7">
                  <c:v>Comercio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3961</c:v>
                </c:pt>
                <c:pt idx="1">
                  <c:v>140862</c:v>
                </c:pt>
                <c:pt idx="2">
                  <c:v>4370</c:v>
                </c:pt>
                <c:pt idx="3">
                  <c:v>10178</c:v>
                </c:pt>
                <c:pt idx="4">
                  <c:v>589023</c:v>
                </c:pt>
                <c:pt idx="5">
                  <c:v>135610</c:v>
                </c:pt>
                <c:pt idx="6">
                  <c:v>322421</c:v>
                </c:pt>
                <c:pt idx="7">
                  <c:v>469147</c:v>
                </c:pt>
                <c:pt idx="8">
                  <c:v>214583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 de la Construcción</c:v>
                </c:pt>
                <c:pt idx="2">
                  <c:v>Ind Eléctrica y Captación y Suministro de Agua Potable</c:v>
                </c:pt>
                <c:pt idx="3">
                  <c:v>Agricultura, Ganaderia, Silvicultura, Pesca y Caza</c:v>
                </c:pt>
                <c:pt idx="4">
                  <c:v>Industrias de la Transformación</c:v>
                </c:pt>
                <c:pt idx="5">
                  <c:v>Servicios Sociales y Comunales</c:v>
                </c:pt>
                <c:pt idx="6">
                  <c:v>Servicios para Empresas, Personas y el Hogar</c:v>
                </c:pt>
                <c:pt idx="7">
                  <c:v>Comercio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3326</c:v>
                </c:pt>
                <c:pt idx="1">
                  <c:v>134445</c:v>
                </c:pt>
                <c:pt idx="2">
                  <c:v>4180</c:v>
                </c:pt>
                <c:pt idx="3">
                  <c:v>9966</c:v>
                </c:pt>
                <c:pt idx="4">
                  <c:v>579887</c:v>
                </c:pt>
                <c:pt idx="5">
                  <c:v>135234</c:v>
                </c:pt>
                <c:pt idx="6">
                  <c:v>332629</c:v>
                </c:pt>
                <c:pt idx="7">
                  <c:v>493592</c:v>
                </c:pt>
                <c:pt idx="8">
                  <c:v>285055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1575188</c:v>
                </c:pt>
                <c:pt idx="1">
                  <c:v>1631929</c:v>
                </c:pt>
                <c:pt idx="2">
                  <c:v>1638840</c:v>
                </c:pt>
                <c:pt idx="3">
                  <c:v>1603856</c:v>
                </c:pt>
                <c:pt idx="4">
                  <c:v>1670417</c:v>
                </c:pt>
                <c:pt idx="5">
                  <c:v>1737289</c:v>
                </c:pt>
                <c:pt idx="6">
                  <c:v>1824137</c:v>
                </c:pt>
                <c:pt idx="7">
                  <c:v>1890155</c:v>
                </c:pt>
                <c:pt idx="8">
                  <c:v>1978314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HGO 221 Toluca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Imagenologia Diagnostica Y Terapeutica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220 Toluca (Total: 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Medicina Interna</c:v>
                </c:pt>
                <c:pt idx="1">
                  <c:v>Imagenologia Diagnostica Y Terapeutica</c:v>
                </c:pt>
                <c:pt idx="2">
                  <c:v>Cirugia General</c:v>
                </c:pt>
                <c:pt idx="3">
                  <c:v>Oftalmologia</c:v>
                </c:pt>
                <c:pt idx="4">
                  <c:v>Medicina Familiar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251 Metepec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Neurologia</c:v>
                </c:pt>
                <c:pt idx="1">
                  <c:v>Urologia</c:v>
                </c:pt>
                <c:pt idx="2">
                  <c:v>Cirugia General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194 El Molinito (Total: 18)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Cardiologia Pediatrica</c:v>
                </c:pt>
                <c:pt idx="1">
                  <c:v>Pediatria</c:v>
                </c:pt>
                <c:pt idx="2">
                  <c:v>Medicina Interna</c:v>
                </c:pt>
                <c:pt idx="3">
                  <c:v>Ginecologia Y Obstetricia</c:v>
                </c:pt>
                <c:pt idx="4">
                  <c:v>Neumologia Pediatrica</c:v>
                </c:pt>
                <c:pt idx="5">
                  <c:v>Oftalmologia</c:v>
                </c:pt>
                <c:pt idx="6">
                  <c:v>Geriatria Directa</c:v>
                </c:pt>
                <c:pt idx="7">
                  <c:v>Infectologia</c:v>
                </c:pt>
                <c:pt idx="8">
                  <c:v>Urgencias Pediatrica</c:v>
                </c:pt>
                <c:pt idx="9">
                  <c:v>Imagenologia Diagnostica Y Terapeutica</c:v>
                </c:pt>
                <c:pt idx="10">
                  <c:v>Cirugia General</c:v>
                </c:pt>
                <c:pt idx="11">
                  <c:v>Medicina De Urgencias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252 Atlacomulco (Total: 18)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Pediatria</c:v>
                </c:pt>
                <c:pt idx="1">
                  <c:v>Urgencias Pediatrica</c:v>
                </c:pt>
                <c:pt idx="2">
                  <c:v>Hematologia</c:v>
                </c:pt>
                <c:pt idx="3">
                  <c:v>Medicina Interna</c:v>
                </c:pt>
                <c:pt idx="4">
                  <c:v>Cirugia General</c:v>
                </c:pt>
                <c:pt idx="5">
                  <c:v>Oftalmologia</c:v>
                </c:pt>
                <c:pt idx="6">
                  <c:v>Neurocirugia</c:v>
                </c:pt>
                <c:pt idx="7">
                  <c:v>Imagenologia Diagnostica Y Terapeutica</c:v>
                </c:pt>
                <c:pt idx="8">
                  <c:v>Ginecologia Y Obstetricia</c:v>
                </c:pt>
                <c:pt idx="9">
                  <c:v>Angiologia Y Cirugia Vascular</c:v>
                </c:pt>
                <c:pt idx="10">
                  <c:v>Medicina Familiar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4</c:v>
                </c:pt>
                <c:pt idx="4">
                  <c:v>3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58 Las Margaritas (Total: 18)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Epidemiologia</c:v>
                </c:pt>
                <c:pt idx="1">
                  <c:v>Dermatologia</c:v>
                </c:pt>
                <c:pt idx="2">
                  <c:v>Medicina Interna</c:v>
                </c:pt>
                <c:pt idx="3">
                  <c:v>Cirugia General</c:v>
                </c:pt>
                <c:pt idx="4">
                  <c:v>Otorrinolaringologia Y Cirugia De Cabeza Y Cuello</c:v>
                </c:pt>
                <c:pt idx="5">
                  <c:v>Urologia</c:v>
                </c:pt>
                <c:pt idx="6">
                  <c:v>Cardiologia Pediatrica</c:v>
                </c:pt>
                <c:pt idx="7">
                  <c:v>Imagenologia Diagnostica Y Terapeutica</c:v>
                </c:pt>
                <c:pt idx="8">
                  <c:v>Medicina De Urgencias</c:v>
                </c:pt>
                <c:pt idx="9">
                  <c:v>Urgencias Pediatrica</c:v>
                </c:pt>
                <c:pt idx="10">
                  <c:v>Pediatria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5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9">
                  <c:v>2</c:v>
                </c:pt>
                <c:pt idx="1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187 La Higuera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190 Huixquilucan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220 Toluca (Total: 11)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222 Toluca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223 Lerma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224 Zinacatepec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232 Villa Gro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233 Valle Bravo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234 Colorínes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Medicina Del Trabajo Y Ambiental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236 El Oro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241 Temoaya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242 Tenango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243 V. Victoria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244 Toluca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246 Jocotitlán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248 Sn Mateo Atenco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249 Santiago Tlaxomulco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58 Las Margaritas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Del Trabajo Y Ambiental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61 Naucalpan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Del Trabajo Y Ambiental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65 Río Hondo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Epidemiologia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UMF-UMAA 231 Metepec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227 Ixtapan Sal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HGOMF 60 Tlanepantla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Ginecologia Y Obstetricia</c:v>
                </c:pt>
                <c:pt idx="1">
                  <c:v>Medicina Materno Fetal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196 Fidel Velázquez (Total: 23)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Cardiologia</c:v>
                </c:pt>
                <c:pt idx="1">
                  <c:v>Dermatologia</c:v>
                </c:pt>
                <c:pt idx="2">
                  <c:v>Ginecologia Y Obstetricia</c:v>
                </c:pt>
                <c:pt idx="3">
                  <c:v>Medicina Interna</c:v>
                </c:pt>
                <c:pt idx="4">
                  <c:v>Pediatria</c:v>
                </c:pt>
                <c:pt idx="5">
                  <c:v>Cirugia General</c:v>
                </c:pt>
                <c:pt idx="6">
                  <c:v>Imagenologia Diagnostica Y Terapeutica</c:v>
                </c:pt>
                <c:pt idx="7">
                  <c:v>Patologia Pediatrica</c:v>
                </c:pt>
                <c:pt idx="8">
                  <c:v>Patologia Clinica</c:v>
                </c:pt>
                <c:pt idx="9">
                  <c:v>Cirugia Oncologica</c:v>
                </c:pt>
                <c:pt idx="10">
                  <c:v>Nefrologia</c:v>
                </c:pt>
                <c:pt idx="11">
                  <c:v>Epidemiologia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9</c:v>
                </c:pt>
                <c:pt idx="4">
                  <c:v>1</c:v>
                </c:pt>
                <c:pt idx="5">
                  <c:v>4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200 Tecamac (Total: 21)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Cirugia General</c:v>
                </c:pt>
                <c:pt idx="1">
                  <c:v>Traumatologia Y Ortopedia</c:v>
                </c:pt>
                <c:pt idx="2">
                  <c:v>Neurocirugia</c:v>
                </c:pt>
                <c:pt idx="3">
                  <c:v>Cirugia Pediatrica</c:v>
                </c:pt>
                <c:pt idx="4">
                  <c:v>Cirugia Oncologica</c:v>
                </c:pt>
                <c:pt idx="5">
                  <c:v>Hematologia</c:v>
                </c:pt>
                <c:pt idx="6">
                  <c:v>Medicina Interna</c:v>
                </c:pt>
                <c:pt idx="7">
                  <c:v>Nefrologia</c:v>
                </c:pt>
                <c:pt idx="8">
                  <c:v>Medicina Del Enfermo En Estado Critico</c:v>
                </c:pt>
                <c:pt idx="9">
                  <c:v>Urgencias Pediatrica</c:v>
                </c:pt>
                <c:pt idx="10">
                  <c:v>Ginecologia Y Obstetricia</c:v>
                </c:pt>
                <c:pt idx="11">
                  <c:v>Imagenologia Diagnostica Y Terapeutica</c:v>
                </c:pt>
                <c:pt idx="12">
                  <c:v>Anatomia Patologica</c:v>
                </c:pt>
                <c:pt idx="13">
                  <c:v>Medicina Familiar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9">
                  <c:v>2</c:v>
                </c:pt>
                <c:pt idx="10">
                  <c:v>3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72 Gustavo Baz (Total: 35)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Hematologia</c:v>
                </c:pt>
                <c:pt idx="1">
                  <c:v>Ginecologia Y Obstetricia</c:v>
                </c:pt>
                <c:pt idx="2">
                  <c:v>Medicina Interna</c:v>
                </c:pt>
                <c:pt idx="3">
                  <c:v>Neonatologia</c:v>
                </c:pt>
                <c:pt idx="4">
                  <c:v>Neumologia Directa</c:v>
                </c:pt>
                <c:pt idx="5">
                  <c:v>Geriatria Directa</c:v>
                </c:pt>
                <c:pt idx="6">
                  <c:v>Urologia</c:v>
                </c:pt>
                <c:pt idx="7">
                  <c:v>Cirugia General</c:v>
                </c:pt>
                <c:pt idx="8">
                  <c:v>Otorrinolaringologia Y Cirugia De Cabeza Y Cuello</c:v>
                </c:pt>
                <c:pt idx="9">
                  <c:v>Cirugia Pediatrica</c:v>
                </c:pt>
                <c:pt idx="10">
                  <c:v>Imagenologia Diagnostica Y Terapeutica</c:v>
                </c:pt>
                <c:pt idx="11">
                  <c:v>Neurocirugia</c:v>
                </c:pt>
                <c:pt idx="12">
                  <c:v>Coloproctologia</c:v>
                </c:pt>
                <c:pt idx="13">
                  <c:v>Angiologia Y Cirugia Vascular</c:v>
                </c:pt>
                <c:pt idx="14">
                  <c:v>Cardiologia</c:v>
                </c:pt>
                <c:pt idx="15">
                  <c:v>Psiquiatria</c:v>
                </c:pt>
                <c:pt idx="16">
                  <c:v>Medicina Nuclear E Imagenologia Molecular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5</c:v>
                </c:pt>
                <c:pt idx="2">
                  <c:v>7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3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197 Texcoco (Total: 11)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Neonatologia</c:v>
                </c:pt>
                <c:pt idx="1">
                  <c:v>Cirugia General</c:v>
                </c:pt>
                <c:pt idx="2">
                  <c:v>Ginecologia Y Obstetricia</c:v>
                </c:pt>
                <c:pt idx="3">
                  <c:v>Pediatria</c:v>
                </c:pt>
                <c:pt idx="4">
                  <c:v>Medicina Interna</c:v>
                </c:pt>
                <c:pt idx="5">
                  <c:v>Urgencias Pediatrica</c:v>
                </c:pt>
                <c:pt idx="6">
                  <c:v>Neumologia Directa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53 Los Reyes Paz (Total: 12)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Medicina Interna</c:v>
                </c:pt>
                <c:pt idx="1">
                  <c:v>Traumatologia Y Ortopedia</c:v>
                </c:pt>
                <c:pt idx="2">
                  <c:v>Otorrinolaringologia Y Cirugia De Cabeza Y Cuello</c:v>
                </c:pt>
                <c:pt idx="3">
                  <c:v>Pediatria</c:v>
                </c:pt>
                <c:pt idx="4">
                  <c:v>Ginecologia Y Obstetricia</c:v>
                </c:pt>
                <c:pt idx="5">
                  <c:v>Geriatria Directa</c:v>
                </c:pt>
                <c:pt idx="6">
                  <c:v>Neumologia Directa</c:v>
                </c:pt>
                <c:pt idx="7">
                  <c:v>Medicina Del Trabajo Y Ambiental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57 La Quebrada (Total: 23)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Medicina Interna</c:v>
                </c:pt>
                <c:pt idx="1">
                  <c:v>Geriatria Directa</c:v>
                </c:pt>
                <c:pt idx="2">
                  <c:v>Oftalmologia</c:v>
                </c:pt>
                <c:pt idx="3">
                  <c:v>Otorrinolaringologia Y Cirugia De Cabeza Y Cuello</c:v>
                </c:pt>
                <c:pt idx="4">
                  <c:v>Cirugia General</c:v>
                </c:pt>
                <c:pt idx="5">
                  <c:v>Urologia</c:v>
                </c:pt>
                <c:pt idx="6">
                  <c:v>Ginecologia Y Obstetricia</c:v>
                </c:pt>
                <c:pt idx="7">
                  <c:v>Imagenologia Diagnostica Y Terapeutica</c:v>
                </c:pt>
                <c:pt idx="8">
                  <c:v>Urgencias Pediatrica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4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  <c:pt idx="8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68 Tulpetlac (Total: 13)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Neurofisiologia Clinica</c:v>
                </c:pt>
                <c:pt idx="1">
                  <c:v>Geriatria Directa</c:v>
                </c:pt>
                <c:pt idx="2">
                  <c:v>Ginecologia Y Obstetricia</c:v>
                </c:pt>
                <c:pt idx="3">
                  <c:v>Pediatria</c:v>
                </c:pt>
                <c:pt idx="4">
                  <c:v>Medicina Interna</c:v>
                </c:pt>
                <c:pt idx="5">
                  <c:v>Cirugia General</c:v>
                </c:pt>
                <c:pt idx="6">
                  <c:v>Oftalmologia</c:v>
                </c:pt>
                <c:pt idx="7">
                  <c:v>Urgencias Pediatrica</c:v>
                </c:pt>
                <c:pt idx="8">
                  <c:v>Imagenologia Diagnostica Y Terapeutica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71 Chalco (Total: 17)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Medicina Interna</c:v>
                </c:pt>
                <c:pt idx="1">
                  <c:v>Gastroenterologia Y Nutricion Pediatrica</c:v>
                </c:pt>
                <c:pt idx="2">
                  <c:v>Pediatria</c:v>
                </c:pt>
                <c:pt idx="3">
                  <c:v>Medicina De Urgencias</c:v>
                </c:pt>
                <c:pt idx="4">
                  <c:v>Urgencias Pediatrica</c:v>
                </c:pt>
                <c:pt idx="5">
                  <c:v>Angiologia Y Cirugia Vascular</c:v>
                </c:pt>
                <c:pt idx="6">
                  <c:v>Oncologia Pediatrica</c:v>
                </c:pt>
                <c:pt idx="7">
                  <c:v>Imagenologia Diagnostica Y Terapeutica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4</c:v>
                </c:pt>
                <c:pt idx="5">
                  <c:v>1</c:v>
                </c:pt>
                <c:pt idx="6">
                  <c:v>1</c:v>
                </c:pt>
                <c:pt idx="7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98 Coacalco (Total: 17)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Medicina Interna</c:v>
                </c:pt>
                <c:pt idx="1">
                  <c:v>Oftalmologia</c:v>
                </c:pt>
                <c:pt idx="2">
                  <c:v>Cirugia General</c:v>
                </c:pt>
                <c:pt idx="3">
                  <c:v>Urgencias Pediatrica</c:v>
                </c:pt>
                <c:pt idx="4">
                  <c:v>Ginecologia Y Obstetricia</c:v>
                </c:pt>
                <c:pt idx="5">
                  <c:v>Imagenologia Diagnostica Y Terapeutica</c:v>
                </c:pt>
                <c:pt idx="6">
                  <c:v>Psiquiatria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76 Xalostoc (Total: 17)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Medicina Interna</c:v>
                </c:pt>
                <c:pt idx="1">
                  <c:v>Ginecologia Y Obstetricia</c:v>
                </c:pt>
                <c:pt idx="2">
                  <c:v>Geriatria Directa</c:v>
                </c:pt>
                <c:pt idx="3">
                  <c:v>Pediatria</c:v>
                </c:pt>
                <c:pt idx="4">
                  <c:v>Anatomia Patologica</c:v>
                </c:pt>
                <c:pt idx="5">
                  <c:v>Urgencias Pediatrica</c:v>
                </c:pt>
                <c:pt idx="6">
                  <c:v>Cirugia General</c:v>
                </c:pt>
                <c:pt idx="7">
                  <c:v>Cirugia Pediatrica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181 Chalco II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183 Rey Neza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185 Lomas de Cartagena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188 Tepalcapa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191 Ecatepec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193 Chalco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52 Cuautitlán Izcalli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54 Apaxco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55 Zumpango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64 Tequesquinahuac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68 Tulpetlac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Medicina Del Trabajo Y Ambiental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69 Texcoco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70 Ayotla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77 San Agustín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82 Atenco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83 Chicoloapan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84 Chimalhuacán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86 Ixtapaluca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91 Villa de las Flores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93 Cerro Gordo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Del Trabajo Y Ambiental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7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UMF-UMAA 180 Chalco I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UMF-UMAA 198 San Rafael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HTO Lomas Verdes (Total: 10)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Medicina De Urgencias</c:v>
                </c:pt>
                <c:pt idx="1">
                  <c:v>Neurocirugia</c:v>
                </c:pt>
                <c:pt idx="2">
                  <c:v>Cirugia Plastica Y Reconstructiva</c:v>
                </c:pt>
                <c:pt idx="3">
                  <c:v>Medicina Interna</c:v>
                </c:pt>
                <c:pt idx="4">
                  <c:v>Medicina Paliativa Y Del Dolor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Amanalco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Cirugia General</c:v>
                </c:pt>
                <c:pt idx="1">
                  <c:v>Ginecologia Y Obstetricia</c:v>
                </c:pt>
                <c:pt idx="2">
                  <c:v>Medicina Interna</c:v>
                </c:pt>
                <c:pt idx="3">
                  <c:v>Pediatria</c:v>
                </c:pt>
                <c:pt idx="4">
                  <c:v>Medicina De Urgencias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San Jose Del Rincon (Total: 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Medicina Interna</c:v>
                </c:pt>
                <c:pt idx="1">
                  <c:v>Ginecologia Y Obstetricia</c:v>
                </c:pt>
                <c:pt idx="2">
                  <c:v>Pediatria</c:v>
                </c:pt>
                <c:pt idx="3">
                  <c:v>Medicina De Urgencias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250 La Magdalena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58 Las Margaritas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227 Ixtapan Sal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Relationship Id="rId5" Type="http://schemas.openxmlformats.org/officeDocument/2006/relationships/chart" Target="../charts/chart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Relationship Id="rId4" Type="http://schemas.openxmlformats.org/officeDocument/2006/relationships/chart" Target="../charts/chart27.xml"/><Relationship Id="rId5" Type="http://schemas.openxmlformats.org/officeDocument/2006/relationships/chart" Target="../charts/chart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9.xml"/><Relationship Id="rId3" Type="http://schemas.openxmlformats.org/officeDocument/2006/relationships/chart" Target="../charts/chart30.xml"/><Relationship Id="rId4" Type="http://schemas.openxmlformats.org/officeDocument/2006/relationships/chart" Target="../charts/chart31.xml"/><Relationship Id="rId5" Type="http://schemas.openxmlformats.org/officeDocument/2006/relationships/chart" Target="../charts/chart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3.xml"/><Relationship Id="rId3" Type="http://schemas.openxmlformats.org/officeDocument/2006/relationships/chart" Target="../charts/chart34.xml"/><Relationship Id="rId4" Type="http://schemas.openxmlformats.org/officeDocument/2006/relationships/chart" Target="../charts/chart35.xml"/><Relationship Id="rId5" Type="http://schemas.openxmlformats.org/officeDocument/2006/relationships/chart" Target="../charts/chart3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7.xml"/><Relationship Id="rId3" Type="http://schemas.openxmlformats.org/officeDocument/2006/relationships/chart" Target="../charts/chart38.xml"/><Relationship Id="rId4" Type="http://schemas.openxmlformats.org/officeDocument/2006/relationships/chart" Target="../charts/chart39.xml"/><Relationship Id="rId5" Type="http://schemas.openxmlformats.org/officeDocument/2006/relationships/chart" Target="../charts/chart4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1.xml"/><Relationship Id="rId3" Type="http://schemas.openxmlformats.org/officeDocument/2006/relationships/chart" Target="../charts/chart42.xml"/><Relationship Id="rId4" Type="http://schemas.openxmlformats.org/officeDocument/2006/relationships/chart" Target="../charts/chart43.xml"/><Relationship Id="rId5" Type="http://schemas.openxmlformats.org/officeDocument/2006/relationships/chart" Target="../charts/chart4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5.xml"/><Relationship Id="rId3" Type="http://schemas.openxmlformats.org/officeDocument/2006/relationships/chart" Target="../charts/chart46.xml"/><Relationship Id="rId4" Type="http://schemas.openxmlformats.org/officeDocument/2006/relationships/chart" Target="../charts/chart47.xml"/><Relationship Id="rId5" Type="http://schemas.openxmlformats.org/officeDocument/2006/relationships/chart" Target="../charts/chart4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9.xml"/><Relationship Id="rId3" Type="http://schemas.openxmlformats.org/officeDocument/2006/relationships/chart" Target="../charts/chart50.xml"/><Relationship Id="rId4" Type="http://schemas.openxmlformats.org/officeDocument/2006/relationships/chart" Target="../charts/chart51.xml"/><Relationship Id="rId5" Type="http://schemas.openxmlformats.org/officeDocument/2006/relationships/chart" Target="../charts/chart5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3.xml"/><Relationship Id="rId3" Type="http://schemas.openxmlformats.org/officeDocument/2006/relationships/chart" Target="../charts/chart54.xml"/><Relationship Id="rId4" Type="http://schemas.openxmlformats.org/officeDocument/2006/relationships/chart" Target="../charts/chart55.xml"/><Relationship Id="rId5" Type="http://schemas.openxmlformats.org/officeDocument/2006/relationships/chart" Target="../charts/chart5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7.xml"/><Relationship Id="rId3" Type="http://schemas.openxmlformats.org/officeDocument/2006/relationships/chart" Target="../charts/chart58.xml"/><Relationship Id="rId4" Type="http://schemas.openxmlformats.org/officeDocument/2006/relationships/chart" Target="../charts/chart59.xml"/><Relationship Id="rId5" Type="http://schemas.openxmlformats.org/officeDocument/2006/relationships/chart" Target="../charts/chart6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1.xml"/><Relationship Id="rId3" Type="http://schemas.openxmlformats.org/officeDocument/2006/relationships/chart" Target="../charts/chart62.xml"/><Relationship Id="rId4" Type="http://schemas.openxmlformats.org/officeDocument/2006/relationships/chart" Target="../charts/chart63.xml"/><Relationship Id="rId5" Type="http://schemas.openxmlformats.org/officeDocument/2006/relationships/chart" Target="../charts/chart6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5.xml"/><Relationship Id="rId3" Type="http://schemas.openxmlformats.org/officeDocument/2006/relationships/chart" Target="../charts/chart6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7.xml"/><Relationship Id="rId3" Type="http://schemas.openxmlformats.org/officeDocument/2006/relationships/chart" Target="../charts/chart68.xml"/><Relationship Id="rId4" Type="http://schemas.openxmlformats.org/officeDocument/2006/relationships/chart" Target="../charts/chart69.xml"/><Relationship Id="rId5" Type="http://schemas.openxmlformats.org/officeDocument/2006/relationships/chart" Target="../charts/chart7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Estado de México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15_m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Google Shape;111;p2">
            <a:extLst>
              <a:ext uri="{FF2B5EF4-FFF2-40B4-BE49-F238E27FC236}">
                <a16:creationId xmlns:a16="http://schemas.microsoft.com/office/drawing/2014/main" id="{D110EB92-D53B-B721-7239-F76E3C239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068722"/>
              </p:ext>
            </p:extLst>
          </p:nvPr>
        </p:nvGraphicFramePr>
        <p:xfrm>
          <a:off x="313125" y="5682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7,836,586</a:t>
            </a:r>
            <a:br/>
            <a:r>
              <a:t>44%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66,902</a:t>
            </a:r>
            <a:br/>
            <a:r>
              <a:t>0.38%</a:t>
            </a:r>
          </a:p>
        </p:txBody>
      </p:sp>
      <p:pic>
        <p:nvPicPr>
          <p:cNvPr id="129" name="Picture 128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5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1,299,505</a:t>
            </a:r>
            <a:br/>
            <a:r>
              <a:t>7%</a:t>
            </a:r>
          </a:p>
        </p:txBody>
      </p:sp>
      <p:pic>
        <p:nvPicPr>
          <p:cNvPr id="132" name="Picture 131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8,470,150</a:t>
            </a:r>
            <a:br/>
            <a:r>
              <a:t>48%</a:t>
            </a:r>
          </a:p>
        </p:txBody>
      </p:sp>
      <p:pic>
        <p:nvPicPr>
          <p:cNvPr id="135" name="Picture 134" descr="1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149,277</a:t>
            </a:r>
            <a:br/>
            <a:r>
              <a:t>0.84%</a:t>
            </a:r>
          </a:p>
        </p:txBody>
      </p:sp>
      <p:pic>
        <p:nvPicPr>
          <p:cNvPr id="138" name="Picture 137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17,822,420</a:t>
            </a: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5,902,344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7,836,586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3,030,502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4,850,513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1,627,196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1,970,423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522,831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744,644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82,637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797,838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1,020,979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767,449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991,105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15,361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3,722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-76%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2,871,842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2,986,073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1,010,566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1,106,098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1,265,436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1,076,974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595,840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803,001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70,148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4" name="TextBox 143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65200" y="9536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** PTPD que superaron el umbral de ingreso mínimo neto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5_m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3,322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1,349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Tercer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3,588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1,669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4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952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95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6765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81 UMF, 1 UMFH y 3 UMF-UMAA, y no incluye 20 Unidades Auxiliares de Medicina Familiar.</a:t>
            </a:r>
            <a:br/>
            <a:r>
              <a:t>2. Incluye la UMAA4,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71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HGOMF 60 Tlanepantla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68 Tulpetlac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58 Las Margaritas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220 Toluca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76 Xalostoc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57 La Quebrada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HGO 221 Toluca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53 Los Reyes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98 Coacalco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72 Gustavo Baz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194 El Molinito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71 Chalco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196 Fidel Velázquez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197 Texcoco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UMAA 199 Tlalnepantla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200 Tecamac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251 Metepec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252 Atlacomulco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San Jose Del Rincon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Amanalco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3,322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93024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506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194 El Molinito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252 Atlacomulco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68 Tulpetlac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76 Xalostoc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196 Fidel Velázquez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98 Coacalco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71 Chalco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197 Texcoco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 221 Toluca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220 Toluca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58 Las Margaritas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199 Tlalnepantla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HGOMF 60 Tlanepantla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72 Gustavo Baz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57 La Quebrada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San Jose Del Rincon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Amanalco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53 Los Reyes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200 Tecamac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251 Metepec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85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44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695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231 Metepec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227 Ixtapan Sal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97 San Bartolo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96 Tepozanes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12,660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95 Pantaco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88 Sta. Anita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87 Ozumba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85 Tezoyuca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81 Juchitepec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80 Satélite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78 Netzahualcoyotl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25,349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77 San Agustín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42,931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75 Netzahualcoyotl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35,402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74 San Rafael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73 Amecameca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59 Lechería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58 Las Margaritas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24,849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56 Jilotepec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54 Apaxco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250 La Magdalena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247 Zictepec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246 Jocotitlán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245 Aculco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244 Toluca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243 V. Victoria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242 Tenango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241 Temoaya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240 Temascaltepec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239 Tejupilco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238 Sultepec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237 Malinalco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236 El Oro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235 Atlacomulco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234 Colorínes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233 Valle Bravo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232 Villa Gro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230 Toluca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229 Tenancingo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228 Santiago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12,804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226 Ixtlahuaca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225 Toluca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192 Atizapán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190 Huixquilucan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186 Iztacala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307,442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85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41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650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66 Progreso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14,814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69 Texcoco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41,957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65 Río Hondo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62 Cuautitlán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60,579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63 San Ildefonso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51,443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64 Tequesquinahuac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75,562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61 Naucalpan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63,176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222 Toluca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56,292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70 Ayotla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30,607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68 Tulpetlac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49,395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67 Santa Clara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30,741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224 Zinacatepec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25,522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223 Lerma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27,779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220 Toluca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53,540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55 Zumpango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28,582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86 Ixtapaluca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24,442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83 Chicoloapan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25,988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89 Otumba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82 Atenco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84 Chimalhuacán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26,615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93 Cerro Gordo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62,838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91 Villa de las Flores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42,255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52 Cuautitlán Izcalli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64,503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79 Valle de Ceylan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23,539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92 Cd. Azteca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65,822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51 Sta. Mónica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24,841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187 La Higuera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23,883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183 Rey Neza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14,953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184 Infonavit Sur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14,929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181 Chalco II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180 Chalco I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21,910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188 Tepalcapa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182 El Sol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14,540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189 Chimalhuacán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191 Ecatepec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185 Lomas de Cartagena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18,485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193 Chalco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25,179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195 Chalco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30,083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248 Sn Mateo Atenco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23,406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198 San Rafael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27,434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249 Santiago Tlaxomulco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27,588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628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1,325,627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902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396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506</a:t>
            </a:r>
          </a:p>
        </p:txBody>
      </p:sp>
      <p:pic>
        <p:nvPicPr>
          <p:cNvPr id="12" name="Picture 11" descr="Mapa_draft_etiquetas_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47954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654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71 Chalco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200 Tecamac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 221 Toluca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251 Metepec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58 Las Margaritas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198 San Rafael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194 El Molinito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220 Toluca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72 Gustavo Baz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HGOMF 60 Tlanepantla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231 Metepec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196 Fidel Velázquez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180 Chalco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53 Los Reyes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57 La Quebrada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98 Coacalco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76 Xalostoc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68 Tulpetlac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252 Atlacomulco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197 Texcoco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1,838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199 Tlalnepantla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186,150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13,396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26,804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654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 221 Toluca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251 Metepec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170,820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36,108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194 El Molinito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HGOMF 60 Tlanepantla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2,903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58 Las Margaritas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220 Toluca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183,960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19,335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36,108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57 La Quebrada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68 Tulpetlac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14,868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72 Gustavo Baz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197 Texcoco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151,110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23,069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200 Tecamac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199 Tlalnepantla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53 Los Reyes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196 Fidel Velázquez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26,550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98 Coacalco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71 Chalco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105,120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76 Xalostoc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198 San Rafael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180 Chalco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231 Metepec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32,850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252 Atlacomulco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2,345,490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194,418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395,949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11,187,504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1,898,100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1,155,759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400,896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66,894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38,066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2,345,490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395,949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194,418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186,150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26,804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Table 234"/>
          <p:cNvGraphicFramePr>
            <a:graphicFrameLocks noGrp="1"/>
          </p:cNvGraphicFramePr>
          <p:nvPr/>
        </p:nvGraphicFramePr>
        <p:xfrm>
          <a:off x="144000" y="4500000"/>
          <a:ext cx="748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147600" y="450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UMAE</a:t>
            </a:r>
          </a:p>
        </p:txBody>
      </p:sp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1,771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Medicina Interna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12,409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1,024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3,386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30,689	 Personal de Salud: 45,499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+109.5%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354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+23.5%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5,780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7,140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+15.3%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9,847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11,356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+12.8%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7,965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8,987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+105.3%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703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1,443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-13.5%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1,628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1,409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182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532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1,224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719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3,374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47,466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3,290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421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587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9,187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3,661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76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63,604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(2,440,745)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(150,356)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(24,355)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(39,684)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(1,410)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(2,060,639)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(132,452)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(17,816)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(21,386)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(1,397)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(631,680)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(123,963)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(13,975)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(17,110)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(987)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(495,876)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(95,804)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(10,643)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(13,690)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cerebrovasculares  (918)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(367,929)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(81,875)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(10,163)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 la vesicula biliar   (12,338)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Otras enfermedades respiratorias  (890)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583,055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3,542,693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274,694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3,918,490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156521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39 piezas de equipo electromecánico: 20 elevadores, 6 plantas de lavado y 13 cuartos de máquinas.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$305.9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838 piezas de equipo médico: 642 camillas, 159 sillas de ruedas, 22 refrigeradores para vacunas, 4 mastógrafos, 4 unidades de anestesia, 3 tomógrafos, 3 monitores de signos vitales, 3 resonadores magnéticos y 2 congeladores para vacunas.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$341.5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10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2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9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$17.3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Atención Médica Continua en 6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2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$8.5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2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Hospitales Prioritarios en el HGZ 68 Tultepac y HGZMF 76 Xalostoc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$157.7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17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$91.9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24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$77.4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$0.5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5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$35.1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7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$73.7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$1,081.0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Proyectos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56538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HOPE de 40 camas, Ecatepec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$1,567.1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3,849.1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1636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Ampliación y Remodelación Guardería, Naucalpan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Habilitación de ONCOCREAN en HGR 251, Metepec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Horno Crematorio, Toluca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Nueva Sala de Hemodinamia HGR 251, Metepec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Nueva Sala de Hemodinamia HGZ 197, Texcoco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$33.1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Nuevo HGZ 90 camas, Atlacomulco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$1,257.0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Obra de Ampliación y Remodelación UCIA HGZMF 76, Xalostoc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$43.0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Obra de Ampliación y Remodelación UCIN HGZ 194, el Molinito, Naucalpan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UMF 93, Cerro Gordo, Ecatepec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$316.0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Adecuaciones en instalaciones de Prestaciones Sociales, Naucalpan de Juárez y Toluca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$28.0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electromecánico: 34 elevadores, 28 bombas hidráulicas, 7 ventiladores, 5 cámaras de refrigeración, 5 generadores de vapor, 2 montacargas, 2 secadoras y 1 lavadora.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$341.6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22 Unidades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$44.0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101 Salas de Quirófanos, Tococirugía y Expulsión en 15 Hospitales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e infraestructura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$470.6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almacenes, residencias y unidades médicas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del Hospital de 2 Hospitales Prioritarios, HGR 220 Tultepec y HGZ 68 Toluca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$105.0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Rehabilitación, limpieza e impermeabilización de distintas áreas y Unidades Médicas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$163.2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363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Trabajos de Mantenimiento en CEYE HGO 221, UMF 222, UMF/UMAA 231; Premios Competitividad UMF 63 y Subdelegación Toluca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$10.3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364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Trabajos de Mejora de Imagen a Guarderías,Toluca y Naucalpan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2,979.4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83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75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10,734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917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987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87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Centro de Artesanias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Cuauhtémoc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987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Naucalpan de Juárez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2987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CEBIS 3 Chalco Alfredo Barandas, CEBIS 2 Culturas de México y Chimalhuacán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987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11 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Toluca, Progreso Industrial, San Ildefonso, Tejavanes, Tequesquináhuac, Santa Clara, Netzahualcóyotl, Texcoco, Chalco, San Rafael y Cuauhtémoc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2987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Teatros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Cuauhtémoc y Toluca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98805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Unidades Deportivas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Nezahualcóyotl y Cuauhtémoc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26 Toluca y No. 64 Tequesquinahuac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Velatorios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Tequesquináhuac, Ecatepec y Toluca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5_m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83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45,695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45,499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ITELEVATE SOLUTIONS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71,790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49,793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-30.6%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MEXICO S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34,668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33,620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TRUPER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17,234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17,115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-16.03%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-4.56%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-4.35%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-2.08%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-1.55%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-0.28%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+3.17%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+5.21%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+32.84%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1,611,615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4,477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273,052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1,011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1,890,155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1,644,653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328,427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1,978,314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$608.47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$340.09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$608.47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$18,254.1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176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MAXIMA GUIA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$56,146.02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CONGREGACION EMPRESARIAL FOSTER S DE RL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$46,056.55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MADOC PRODUCTOS MEDICOS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$39,898.37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EDUCAL S.A. de C. V.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$1.35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58,305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30,014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5,787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10,259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12,245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1,667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1,303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2,754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362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66,902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13,291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53,611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14,353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58,305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1,667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México Poniente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3600" y="1692000"/>
          <a:ext cx="7200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HTO Lomas Verdes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3,588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1,507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70800" y="93024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800" y="9522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* No se consideran salas de tococirugía, expulsión y recuperación.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Equipo relevante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0800" y="1692000"/>
          <a:ext cx="7286400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HTO Lomas Verdes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BC955C"/>
                </a:solidFill>
                <a:latin typeface="Montserrat"/>
              </a:rPr>
              <a:t>Meta: </a:t>
            </a:r>
            <a:r>
              <a:rPr sz="2100" b="1">
                <a:solidFill>
                  <a:srgbClr val="9F2241"/>
                </a:solidFill>
                <a:latin typeface="Montserrat"/>
              </a:rPr>
              <a:t>Cirugías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4000" y="1137600"/>
          <a:ext cx="7477200" cy="11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HTO Lomas Verdes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1,622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4,475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215,350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15,018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31,279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BC955C"/>
                </a:solidFill>
                <a:latin typeface="Montserrat"/>
              </a:rPr>
              <a:t>Meta: </a:t>
            </a:r>
            <a:r>
              <a:rPr sz="2100" b="1">
                <a:solidFill>
                  <a:srgbClr val="9F2241"/>
                </a:solidFill>
                <a:latin typeface="Montserrat"/>
              </a:rPr>
              <a:t>Consultas de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4000" y="1137600"/>
          <a:ext cx="7477200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UMFR Conjunto Colonia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HTO Lomas Verdes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14,868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131,400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12,145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22,302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2,476,890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206,563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418,251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México Poniente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México Poniente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México Poniente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México Poniente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México Poniente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México Poniente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México Oriente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México Oriente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México Oriente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México Oriente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México Oriente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México Oriente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México Oriente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México Oriente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México Oriente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46504" y="603504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16 HTO Lomas Verdes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191</Words>
  <Application>Microsoft Office PowerPoint</Application>
  <PresentationFormat>Personalizado</PresentationFormat>
  <Paragraphs>69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Noto Sans</vt:lpstr>
      <vt:lpstr>Montserrat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2026-03-12T18:39:06Z</dcterms:modified>
</cp:coreProperties>
</file>