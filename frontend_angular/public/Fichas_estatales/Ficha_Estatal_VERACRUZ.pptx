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89" r:id="rId3"/>
    <p:sldId id="258" r:id="rId4"/>
    <p:sldId id="259" r:id="rId5"/>
    <p:sldId id="260" r:id="rId6"/>
    <p:sldId id="290" r:id="rId41"/>
    <p:sldId id="261" r:id="rId7"/>
    <p:sldId id="291" r:id="rId42"/>
    <p:sldId id="262" r:id="rId8"/>
    <p:sldId id="292" r:id="rId43"/>
    <p:sldId id="263" r:id="rId9"/>
    <p:sldId id="281" r:id="rId10"/>
    <p:sldId id="267" r:id="rId11"/>
    <p:sldId id="293" r:id="rId44"/>
    <p:sldId id="280" r:id="rId12"/>
    <p:sldId id="294" r:id="rId45"/>
    <p:sldId id="287" r:id="rId13"/>
    <p:sldId id="288" r:id="rId14"/>
    <p:sldId id="270" r:id="rId15"/>
    <p:sldId id="271" r:id="rId16"/>
    <p:sldId id="272" r:id="rId17"/>
    <p:sldId id="284" r:id="rId18"/>
    <p:sldId id="286" r:id="rId19"/>
    <p:sldId id="277" r:id="rId20"/>
    <p:sldId id="278" r:id="rId21"/>
    <p:sldId id="279" r:id="rId22"/>
    <p:sldId id="282" r:id="rId23"/>
    <p:sldId id="283" r:id="rId24"/>
    <p:sldId id="295" r:id="rId46"/>
    <p:sldId id="296" r:id="rId47"/>
    <p:sldId id="297" r:id="rId48"/>
    <p:sldId id="298" r:id="rId49"/>
    <p:sldId id="299" r:id="rId50"/>
    <p:sldId id="300" r:id="rId51"/>
    <p:sldId id="301" r:id="rId40"/>
    <p:sldId id="302" r:id="rId39"/>
    <p:sldId id="303" r:id="rId38"/>
    <p:sldId id="304" r:id="rId37"/>
    <p:sldId id="305" r:id="rId36"/>
    <p:sldId id="306" r:id="rId35"/>
    <p:sldId id="307" r:id="rId34"/>
    <p:sldId id="308" r:id="rId59"/>
    <p:sldId id="309" r:id="rId60"/>
  </p:sldIdLst>
  <p:sldSz cx="7772400" cy="10058400"/>
  <p:notesSz cx="6858000" cy="9144000"/>
  <p:embeddedFontLst>
    <p:embeddedFont>
      <p:font typeface="Montserrat" pitchFamily="2" charset="0"/>
      <p:regular r:id="rId26"/>
      <p:bold r:id="rId27"/>
      <p:italic r:id="rId28"/>
      <p:boldItalic r:id="rId29"/>
    </p:embeddedFont>
    <p:embeddedFont>
      <p:font typeface="Noto Sans" panose="020B05020405040202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EC9A72-6D89-4937-A652-928CE657584B}" v="3" dt="2026-03-11T19:27:17.845"/>
    <p1510:client id="{A819846E-28C8-43DB-A040-8EFEFF3890ED}" v="3" dt="2026-03-12T17:49:38.141"/>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719"/>
  </p:normalViewPr>
  <p:slideViewPr>
    <p:cSldViewPr snapToGrid="0">
      <p:cViewPr varScale="1">
        <p:scale>
          <a:sx n="73" d="100"/>
          <a:sy n="73" d="100"/>
        </p:scale>
        <p:origin x="3012" y="60"/>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font" Target="fonts/font4.fntdata"/><Relationship Id="rId30" Type="http://schemas.openxmlformats.org/officeDocument/2006/relationships/font" Target="fonts/font5.fntdata"/><Relationship Id="rId31" Type="http://schemas.openxmlformats.org/officeDocument/2006/relationships/font" Target="fonts/font6.fntdata"/><Relationship Id="rId32" Type="http://schemas.openxmlformats.org/officeDocument/2006/relationships/font" Target="fonts/font7.fntdata"/><Relationship Id="rId33" Type="http://schemas.openxmlformats.org/officeDocument/2006/relationships/font" Target="fonts/font8.fntdata"/><Relationship Id="rId34" Type="http://schemas.openxmlformats.org/officeDocument/2006/relationships/slide" Target="slides/slide41.xml"/><Relationship Id="rId35" Type="http://schemas.openxmlformats.org/officeDocument/2006/relationships/slide" Target="slides/slide40.xml"/><Relationship Id="rId36" Type="http://schemas.openxmlformats.org/officeDocument/2006/relationships/slide" Target="slides/slide39.xml"/><Relationship Id="rId37" Type="http://schemas.openxmlformats.org/officeDocument/2006/relationships/slide" Target="slides/slide38.xml"/><Relationship Id="rId38" Type="http://schemas.openxmlformats.org/officeDocument/2006/relationships/slide" Target="slides/slide37.xml"/><Relationship Id="rId39" Type="http://schemas.openxmlformats.org/officeDocument/2006/relationships/slide" Target="slides/slide36.xml"/><Relationship Id="rId40" Type="http://schemas.openxmlformats.org/officeDocument/2006/relationships/slide" Target="slides/slide35.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slide" Target="slides/slide29.xml"/><Relationship Id="rId47" Type="http://schemas.openxmlformats.org/officeDocument/2006/relationships/slide" Target="slides/slide30.xml"/><Relationship Id="rId48" Type="http://schemas.openxmlformats.org/officeDocument/2006/relationships/slide" Target="slides/slide31.xml"/><Relationship Id="rId49" Type="http://schemas.openxmlformats.org/officeDocument/2006/relationships/slide" Target="slides/slide32.xml"/><Relationship Id="rId50" Type="http://schemas.openxmlformats.org/officeDocument/2006/relationships/slide" Target="slides/slide33.xml"/><Relationship Id="rId51" Type="http://schemas.openxmlformats.org/officeDocument/2006/relationships/slide" Target="slides/slide34.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 Id="rId59" Type="http://schemas.openxmlformats.org/officeDocument/2006/relationships/slide" Target="slides/slide42.xml"/><Relationship Id="rId60" Type="http://schemas.openxmlformats.org/officeDocument/2006/relationships/slide" Target="slides/slide4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Martinez Flores" userId="30adb457-ddd6-417b-a46d-fe5915593ae3" providerId="ADAL" clId="{57A466FF-9DDA-4DB6-AA66-2AF3F6FE414B}"/>
    <pc:docChg chg="custSel addSld modSld">
      <pc:chgData name="Guillermo Martinez Flores" userId="30adb457-ddd6-417b-a46d-fe5915593ae3" providerId="ADAL" clId="{57A466FF-9DDA-4DB6-AA66-2AF3F6FE414B}" dt="2026-03-10T16:02:31.328" v="25" actId="20577"/>
      <pc:docMkLst>
        <pc:docMk/>
      </pc:docMkLst>
      <pc:sldChg chg="modSp mod">
        <pc:chgData name="Guillermo Martinez Flores" userId="30adb457-ddd6-417b-a46d-fe5915593ae3" providerId="ADAL" clId="{57A466FF-9DDA-4DB6-AA66-2AF3F6FE414B}" dt="2026-03-03T17:01:10.960" v="13" actId="20577"/>
        <pc:sldMkLst>
          <pc:docMk/>
          <pc:sldMk cId="0" sldId="271"/>
        </pc:sldMkLst>
        <pc:graphicFrameChg chg="modGraphic">
          <ac:chgData name="Guillermo Martinez Flores" userId="30adb457-ddd6-417b-a46d-fe5915593ae3" providerId="ADAL" clId="{57A466FF-9DDA-4DB6-AA66-2AF3F6FE414B}" dt="2026-03-03T17:01:10.960" v="13" actId="20577"/>
          <ac:graphicFrameMkLst>
            <pc:docMk/>
            <pc:sldMk cId="0" sldId="271"/>
            <ac:graphicFrameMk id="311" creationId="{00000000-0000-0000-0000-000000000000}"/>
          </ac:graphicFrameMkLst>
        </pc:graphicFrameChg>
      </pc:sldChg>
      <pc:sldChg chg="addSp delSp modSp add mod">
        <pc:chgData name="Guillermo Martinez Flores" userId="30adb457-ddd6-417b-a46d-fe5915593ae3" providerId="ADAL" clId="{57A466FF-9DDA-4DB6-AA66-2AF3F6FE414B}" dt="2026-03-10T16:01:41.078" v="17" actId="478"/>
        <pc:sldMkLst>
          <pc:docMk/>
          <pc:sldMk cId="3258074767" sldId="286"/>
        </pc:sldMkLst>
        <pc:spChg chg="add mod">
          <ac:chgData name="Guillermo Martinez Flores" userId="30adb457-ddd6-417b-a46d-fe5915593ae3" providerId="ADAL" clId="{57A466FF-9DDA-4DB6-AA66-2AF3F6FE414B}" dt="2026-03-10T16:01:36.094" v="16"/>
          <ac:spMkLst>
            <pc:docMk/>
            <pc:sldMk cId="3258074767" sldId="286"/>
            <ac:spMk id="7" creationId="{E7E32C0D-5A5C-F971-661D-A7FFF038D554}"/>
          </ac:spMkLst>
        </pc:spChg>
        <pc:graphicFrameChg chg="add mod">
          <ac:chgData name="Guillermo Martinez Flores" userId="30adb457-ddd6-417b-a46d-fe5915593ae3" providerId="ADAL" clId="{57A466FF-9DDA-4DB6-AA66-2AF3F6FE414B}" dt="2026-03-10T16:01:36.094" v="16"/>
          <ac:graphicFrameMkLst>
            <pc:docMk/>
            <pc:sldMk cId="3258074767" sldId="286"/>
            <ac:graphicFrameMk id="5" creationId="{B709195D-5962-6442-81D8-2EFB6D8D7190}"/>
          </ac:graphicFrameMkLst>
        </pc:graphicFrameChg>
        <pc:picChg chg="add mod">
          <ac:chgData name="Guillermo Martinez Flores" userId="30adb457-ddd6-417b-a46d-fe5915593ae3" providerId="ADAL" clId="{57A466FF-9DDA-4DB6-AA66-2AF3F6FE414B}" dt="2026-03-10T16:01:36.094" v="16"/>
          <ac:picMkLst>
            <pc:docMk/>
            <pc:sldMk cId="3258074767" sldId="286"/>
            <ac:picMk id="6" creationId="{6AC64192-1EFE-6740-4042-23283E03A151}"/>
          </ac:picMkLst>
        </pc:picChg>
      </pc:sldChg>
      <pc:sldChg chg="modSp add mod">
        <pc:chgData name="Guillermo Martinez Flores" userId="30adb457-ddd6-417b-a46d-fe5915593ae3" providerId="ADAL" clId="{57A466FF-9DDA-4DB6-AA66-2AF3F6FE414B}" dt="2026-03-10T16:02:31.328" v="25" actId="20577"/>
        <pc:sldMkLst>
          <pc:docMk/>
          <pc:sldMk cId="748044913" sldId="287"/>
        </pc:sldMkLst>
        <pc:graphicFrameChg chg="modGraphic">
          <ac:chgData name="Guillermo Martinez Flores" userId="30adb457-ddd6-417b-a46d-fe5915593ae3" providerId="ADAL" clId="{57A466FF-9DDA-4DB6-AA66-2AF3F6FE414B}" dt="2026-03-10T16:02:31.328" v="25" actId="20577"/>
          <ac:graphicFrameMkLst>
            <pc:docMk/>
            <pc:sldMk cId="748044913" sldId="287"/>
            <ac:graphicFrameMk id="230" creationId="{AC3C5A3E-612D-5067-1D46-BCA5AE81D01D}"/>
          </ac:graphicFrameMkLst>
        </pc:graphicFrameChg>
      </pc:sldChg>
    </pc:docChg>
  </pc:docChgLst>
  <pc:docChgLst>
    <pc:chgData name="Rohan Myron Oprisko" userId="a7c52ab4-f8b1-4d15-aaf6-6388cc510347" providerId="ADAL" clId="{EEEE6C0E-EB18-4E43-B633-E5F95274828B}"/>
    <pc:docChg chg="undo custSel modSld">
      <pc:chgData name="Rohan Myron Oprisko" userId="a7c52ab4-f8b1-4d15-aaf6-6388cc510347" providerId="ADAL" clId="{EEEE6C0E-EB18-4E43-B633-E5F95274828B}" dt="2026-03-12T18:39:03.412" v="26" actId="20577"/>
      <pc:docMkLst>
        <pc:docMk/>
      </pc:docMkLst>
      <pc:sldChg chg="addSp modSp mod">
        <pc:chgData name="Rohan Myron Oprisko" userId="a7c52ab4-f8b1-4d15-aaf6-6388cc510347" providerId="ADAL" clId="{EEEE6C0E-EB18-4E43-B633-E5F95274828B}" dt="2026-03-12T17:50:44.492" v="17" actId="20577"/>
        <pc:sldMkLst>
          <pc:docMk/>
          <pc:sldMk cId="0" sldId="258"/>
        </pc:sldMkLst>
        <pc:graphicFrameChg chg="add mod modGraphic">
          <ac:chgData name="Rohan Myron Oprisko" userId="a7c52ab4-f8b1-4d15-aaf6-6388cc510347" providerId="ADAL" clId="{EEEE6C0E-EB18-4E43-B633-E5F95274828B}" dt="2026-03-12T17:50:44.492" v="17" actId="20577"/>
          <ac:graphicFrameMkLst>
            <pc:docMk/>
            <pc:sldMk cId="0" sldId="258"/>
            <ac:graphicFrameMk id="2" creationId="{D110EB92-D53B-B721-7239-F76E3C239AC9}"/>
          </ac:graphicFrameMkLst>
        </pc:graphicFrameChg>
        <pc:graphicFrameChg chg="mod">
          <ac:chgData name="Rohan Myron Oprisko" userId="a7c52ab4-f8b1-4d15-aaf6-6388cc510347" providerId="ADAL" clId="{EEEE6C0E-EB18-4E43-B633-E5F95274828B}" dt="2026-03-12T17:49:34.333" v="5" actId="1076"/>
          <ac:graphicFrameMkLst>
            <pc:docMk/>
            <pc:sldMk cId="0" sldId="258"/>
            <ac:graphicFrameMk id="111" creationId="{00000000-0000-0000-0000-000000000000}"/>
          </ac:graphicFrameMkLst>
        </pc:graphicFrameChg>
      </pc:sldChg>
      <pc:sldChg chg="modSp mod">
        <pc:chgData name="Rohan Myron Oprisko" userId="a7c52ab4-f8b1-4d15-aaf6-6388cc510347" providerId="ADAL" clId="{EEEE6C0E-EB18-4E43-B633-E5F95274828B}" dt="2026-03-12T18:39:03.412" v="26" actId="20577"/>
        <pc:sldMkLst>
          <pc:docMk/>
          <pc:sldMk cId="0" sldId="279"/>
        </pc:sldMkLst>
        <pc:spChg chg="mod">
          <ac:chgData name="Rohan Myron Oprisko" userId="a7c52ab4-f8b1-4d15-aaf6-6388cc510347" providerId="ADAL" clId="{EEEE6C0E-EB18-4E43-B633-E5F95274828B}" dt="2026-03-12T18:39:03.412" v="26" actId="20577"/>
          <ac:spMkLst>
            <pc:docMk/>
            <pc:sldMk cId="0" sldId="279"/>
            <ac:spMk id="500" creationId="{00000000-0000-0000-0000-000000000000}"/>
          </ac:spMkLst>
        </pc:spChg>
      </pc:sldChg>
      <pc:sldChg chg="modSp mod">
        <pc:chgData name="Rohan Myron Oprisko" userId="a7c52ab4-f8b1-4d15-aaf6-6388cc510347" providerId="ADAL" clId="{EEEE6C0E-EB18-4E43-B633-E5F95274828B}" dt="2026-03-10T21:41:16.170" v="2" actId="20577"/>
        <pc:sldMkLst>
          <pc:docMk/>
          <pc:sldMk cId="540716406" sldId="280"/>
        </pc:sldMkLst>
        <pc:graphicFrameChg chg="modGraphic">
          <ac:chgData name="Rohan Myron Oprisko" userId="a7c52ab4-f8b1-4d15-aaf6-6388cc510347" providerId="ADAL" clId="{EEEE6C0E-EB18-4E43-B633-E5F95274828B}" dt="2026-03-10T21:41:16.170" v="2" actId="20577"/>
          <ac:graphicFrameMkLst>
            <pc:docMk/>
            <pc:sldMk cId="540716406" sldId="280"/>
            <ac:graphicFrameMk id="230" creationId="{64EDC3BC-A199-227A-0CEC-FB808E16739F}"/>
          </ac:graphicFrameMkLst>
        </pc:graphicFrameChg>
      </pc:sldChg>
    </pc:docChg>
  </pc:docChgLst>
  <pc:docChgLst>
    <pc:chgData name="asesores.dg" userId="9234a6e6-864c-49e9-8fd1-6d0df70c34f2" providerId="ADAL" clId="{6846A1DD-3EC1-5A12-B3C5-9C410579EE4F}"/>
    <pc:docChg chg="modMainMaster">
      <pc:chgData name="asesores.dg" userId="9234a6e6-864c-49e9-8fd1-6d0df70c34f2" providerId="ADAL" clId="{6846A1DD-3EC1-5A12-B3C5-9C410579EE4F}" dt="2026-03-10T15:38:38.374" v="2" actId="962"/>
      <pc:docMkLst>
        <pc:docMk/>
      </pc:docMkLst>
      <pc:sldMasterChg chg="modSldLayout">
        <pc:chgData name="asesores.dg" userId="9234a6e6-864c-49e9-8fd1-6d0df70c34f2" providerId="ADAL" clId="{6846A1DD-3EC1-5A12-B3C5-9C410579EE4F}" dt="2026-03-10T15:38:38.374" v="2" actId="962"/>
        <pc:sldMasterMkLst>
          <pc:docMk/>
          <pc:sldMasterMk cId="0" sldId="2147483648"/>
        </pc:sldMasterMkLst>
        <pc:sldLayoutChg chg="addSp modSp mod">
          <pc:chgData name="asesores.dg" userId="9234a6e6-864c-49e9-8fd1-6d0df70c34f2" providerId="ADAL" clId="{6846A1DD-3EC1-5A12-B3C5-9C410579EE4F}" dt="2026-03-10T15:38:38.374" v="2" actId="962"/>
          <pc:sldLayoutMkLst>
            <pc:docMk/>
            <pc:sldMasterMk cId="0" sldId="2147483648"/>
            <pc:sldLayoutMk cId="0" sldId="2147483650"/>
          </pc:sldLayoutMkLst>
          <pc:picChg chg="add mod">
            <ac:chgData name="asesores.dg" userId="9234a6e6-864c-49e9-8fd1-6d0df70c34f2" providerId="ADAL" clId="{6846A1DD-3EC1-5A12-B3C5-9C410579EE4F}" dt="2026-03-10T15:38:38.374" v="2" actId="962"/>
            <ac:picMkLst>
              <pc:docMk/>
              <pc:sldMasterMk cId="0" sldId="2147483648"/>
              <pc:sldLayoutMk cId="0" sldId="2147483650"/>
              <ac:picMk id="3" creationId="{A0ABD2DF-B429-0564-31D9-12741B10B2D0}"/>
            </ac:picMkLst>
          </pc:picChg>
        </pc:sldLayoutChg>
      </pc:sldMasterChg>
    </pc:docChg>
  </pc:docChgLst>
  <pc:docChgLst>
    <pc:chgData name="David Arturo Baltazar Sanchez" userId="25f522d3-6b93-447f-8e87-5af7c1a8f0db" providerId="ADAL" clId="{1167E2C4-85EE-4FA3-A5C3-376395AAEEB6}"/>
    <pc:docChg chg="custSel addSld delSld modSld">
      <pc:chgData name="David Arturo Baltazar Sanchez" userId="25f522d3-6b93-447f-8e87-5af7c1a8f0db" providerId="ADAL" clId="{1167E2C4-85EE-4FA3-A5C3-376395AAEEB6}" dt="2026-03-11T19:27:03.417" v="60"/>
      <pc:docMkLst>
        <pc:docMk/>
      </pc:docMkLst>
      <pc:sldChg chg="del">
        <pc:chgData name="David Arturo Baltazar Sanchez" userId="25f522d3-6b93-447f-8e87-5af7c1a8f0db" providerId="ADAL" clId="{1167E2C4-85EE-4FA3-A5C3-376395AAEEB6}" dt="2026-03-11T00:45:27.304" v="54" actId="47"/>
        <pc:sldMkLst>
          <pc:docMk/>
          <pc:sldMk cId="0" sldId="257"/>
        </pc:sldMkLst>
      </pc:sldChg>
      <pc:sldChg chg="delSp mod">
        <pc:chgData name="David Arturo Baltazar Sanchez" userId="25f522d3-6b93-447f-8e87-5af7c1a8f0db" providerId="ADAL" clId="{1167E2C4-85EE-4FA3-A5C3-376395AAEEB6}" dt="2026-03-10T16:34:48.659" v="2" actId="478"/>
        <pc:sldMkLst>
          <pc:docMk/>
          <pc:sldMk cId="0" sldId="258"/>
        </pc:sldMkLst>
      </pc:sldChg>
      <pc:sldChg chg="modSp mod">
        <pc:chgData name="David Arturo Baltazar Sanchez" userId="25f522d3-6b93-447f-8e87-5af7c1a8f0db" providerId="ADAL" clId="{1167E2C4-85EE-4FA3-A5C3-376395AAEEB6}" dt="2026-03-11T19:02:36.979" v="59" actId="20577"/>
        <pc:sldMkLst>
          <pc:docMk/>
          <pc:sldMk cId="0" sldId="260"/>
        </pc:sldMkLst>
        <pc:spChg chg="mod">
          <ac:chgData name="David Arturo Baltazar Sanchez" userId="25f522d3-6b93-447f-8e87-5af7c1a8f0db" providerId="ADAL" clId="{1167E2C4-85EE-4FA3-A5C3-376395AAEEB6}" dt="2026-03-11T19:02:36.979" v="59" actId="20577"/>
          <ac:spMkLst>
            <pc:docMk/>
            <pc:sldMk cId="0" sldId="260"/>
            <ac:spMk id="145" creationId="{00000000-0000-0000-0000-000000000000}"/>
          </ac:spMkLst>
        </pc:spChg>
        <pc:graphicFrameChg chg="mod modGraphic">
          <ac:chgData name="David Arturo Baltazar Sanchez" userId="25f522d3-6b93-447f-8e87-5af7c1a8f0db" providerId="ADAL" clId="{1167E2C4-85EE-4FA3-A5C3-376395AAEEB6}" dt="2026-03-11T18:59:37.205" v="57"/>
          <ac:graphicFrameMkLst>
            <pc:docMk/>
            <pc:sldMk cId="0" sldId="260"/>
            <ac:graphicFrameMk id="143" creationId="{00000000-0000-0000-0000-000000000000}"/>
          </ac:graphicFrameMkLst>
        </pc:graphicFrameChg>
      </pc:sldChg>
      <pc:sldChg chg="addSp delSp modSp mod">
        <pc:chgData name="David Arturo Baltazar Sanchez" userId="25f522d3-6b93-447f-8e87-5af7c1a8f0db" providerId="ADAL" clId="{1167E2C4-85EE-4FA3-A5C3-376395AAEEB6}" dt="2026-03-11T19:27:03.417" v="60"/>
        <pc:sldMkLst>
          <pc:docMk/>
          <pc:sldMk cId="0" sldId="261"/>
        </pc:sldMkLst>
        <pc:spChg chg="add mod">
          <ac:chgData name="David Arturo Baltazar Sanchez" userId="25f522d3-6b93-447f-8e87-5af7c1a8f0db" providerId="ADAL" clId="{1167E2C4-85EE-4FA3-A5C3-376395AAEEB6}" dt="2026-03-11T19:27:03.417" v="60"/>
          <ac:spMkLst>
            <pc:docMk/>
            <pc:sldMk cId="0" sldId="261"/>
            <ac:spMk id="2" creationId="{7C20637C-AE23-01C3-8BD5-A524B7FEEE8F}"/>
          </ac:spMkLst>
        </pc:spChg>
        <pc:spChg chg="del">
          <ac:chgData name="David Arturo Baltazar Sanchez" userId="25f522d3-6b93-447f-8e87-5af7c1a8f0db" providerId="ADAL" clId="{1167E2C4-85EE-4FA3-A5C3-376395AAEEB6}" dt="2026-03-11T00:23:27.499" v="28" actId="478"/>
          <ac:spMkLst>
            <pc:docMk/>
            <pc:sldMk cId="0" sldId="261"/>
            <ac:spMk id="154" creationId="{00000000-0000-0000-0000-000000000000}"/>
          </ac:spMkLst>
        </pc:spChg>
        <pc:spChg chg="del">
          <ac:chgData name="David Arturo Baltazar Sanchez" userId="25f522d3-6b93-447f-8e87-5af7c1a8f0db" providerId="ADAL" clId="{1167E2C4-85EE-4FA3-A5C3-376395AAEEB6}" dt="2026-03-11T00:23:25.389" v="27" actId="478"/>
          <ac:spMkLst>
            <pc:docMk/>
            <pc:sldMk cId="0" sldId="261"/>
            <ac:spMk id="157" creationId="{00000000-0000-0000-0000-000000000000}"/>
          </ac:spMkLst>
        </pc:spChg>
      </pc:sldChg>
      <pc:sldChg chg="delSp mod">
        <pc:chgData name="David Arturo Baltazar Sanchez" userId="25f522d3-6b93-447f-8e87-5af7c1a8f0db" providerId="ADAL" clId="{1167E2C4-85EE-4FA3-A5C3-376395AAEEB6}" dt="2026-03-10T16:37:14.096" v="3" actId="478"/>
        <pc:sldMkLst>
          <pc:docMk/>
          <pc:sldMk cId="0" sldId="262"/>
        </pc:sldMkLst>
      </pc:sldChg>
      <pc:sldChg chg="delSp mod">
        <pc:chgData name="David Arturo Baltazar Sanchez" userId="25f522d3-6b93-447f-8e87-5af7c1a8f0db" providerId="ADAL" clId="{1167E2C4-85EE-4FA3-A5C3-376395AAEEB6}" dt="2026-03-10T16:37:51.689" v="4" actId="478"/>
        <pc:sldMkLst>
          <pc:docMk/>
          <pc:sldMk cId="0" sldId="267"/>
        </pc:sldMkLst>
      </pc:sldChg>
      <pc:sldChg chg="delSp modSp mod">
        <pc:chgData name="David Arturo Baltazar Sanchez" userId="25f522d3-6b93-447f-8e87-5af7c1a8f0db" providerId="ADAL" clId="{1167E2C4-85EE-4FA3-A5C3-376395AAEEB6}" dt="2026-03-10T16:38:46.943" v="25" actId="1035"/>
        <pc:sldMkLst>
          <pc:docMk/>
          <pc:sldMk cId="0" sldId="271"/>
        </pc:sldMkLst>
        <pc:graphicFrameChg chg="mod">
          <ac:chgData name="David Arturo Baltazar Sanchez" userId="25f522d3-6b93-447f-8e87-5af7c1a8f0db" providerId="ADAL" clId="{1167E2C4-85EE-4FA3-A5C3-376395AAEEB6}" dt="2026-03-10T16:38:46.943" v="25" actId="1035"/>
          <ac:graphicFrameMkLst>
            <pc:docMk/>
            <pc:sldMk cId="0" sldId="271"/>
            <ac:graphicFrameMk id="311" creationId="{00000000-0000-0000-0000-000000000000}"/>
          </ac:graphicFrameMkLst>
        </pc:graphicFrameChg>
      </pc:sldChg>
      <pc:sldChg chg="delSp mod">
        <pc:chgData name="David Arturo Baltazar Sanchez" userId="25f522d3-6b93-447f-8e87-5af7c1a8f0db" providerId="ADAL" clId="{1167E2C4-85EE-4FA3-A5C3-376395AAEEB6}" dt="2026-03-10T16:39:47.282" v="26" actId="478"/>
        <pc:sldMkLst>
          <pc:docMk/>
          <pc:sldMk cId="0" sldId="278"/>
        </pc:sldMkLst>
      </pc:sldChg>
      <pc:sldChg chg="modSp add mod">
        <pc:chgData name="David Arturo Baltazar Sanchez" userId="25f522d3-6b93-447f-8e87-5af7c1a8f0db" providerId="ADAL" clId="{1167E2C4-85EE-4FA3-A5C3-376395AAEEB6}" dt="2026-03-11T00:26:00.875" v="50" actId="20577"/>
        <pc:sldMkLst>
          <pc:docMk/>
          <pc:sldMk cId="3805655920" sldId="288"/>
        </pc:sldMkLst>
        <pc:graphicFrameChg chg="modGraphic">
          <ac:chgData name="David Arturo Baltazar Sanchez" userId="25f522d3-6b93-447f-8e87-5af7c1a8f0db" providerId="ADAL" clId="{1167E2C4-85EE-4FA3-A5C3-376395AAEEB6}" dt="2026-03-11T00:26:00.875" v="50" actId="20577"/>
          <ac:graphicFrameMkLst>
            <pc:docMk/>
            <pc:sldMk cId="3805655920" sldId="288"/>
            <ac:graphicFrameMk id="230" creationId="{3C790683-245A-1FE6-35AC-FBB0C23942D1}"/>
          </ac:graphicFrameMkLst>
        </pc:graphicFrameChg>
      </pc:sldChg>
      <pc:sldChg chg="new">
        <pc:chgData name="David Arturo Baltazar Sanchez" userId="25f522d3-6b93-447f-8e87-5af7c1a8f0db" providerId="ADAL" clId="{1167E2C4-85EE-4FA3-A5C3-376395AAEEB6}" dt="2026-03-11T00:29:35.143" v="53" actId="680"/>
        <pc:sldMkLst>
          <pc:docMk/>
          <pc:sldMk cId="3763779569" sldId="289"/>
        </pc:sldMkLst>
      </pc:sldChg>
      <pc:sldChg chg="new del">
        <pc:chgData name="David Arturo Baltazar Sanchez" userId="25f522d3-6b93-447f-8e87-5af7c1a8f0db" providerId="ADAL" clId="{1167E2C4-85EE-4FA3-A5C3-376395AAEEB6}" dt="2026-03-11T00:29:01.835" v="52" actId="47"/>
        <pc:sldMkLst>
          <pc:docMk/>
          <pc:sldMk cId="4174642915" sldId="289"/>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7.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8.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9.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40.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41.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Sheet42.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Sheet43.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Sheet44.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Sheet45.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Sheet46.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Sheet47.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Sheet48.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Sheet49.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Sheet50.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Sheet51.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Sheet52.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Sheet53.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Sheet54.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Sheet55.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Sheet56.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Sheet57.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Sheet5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Sheet5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Sheet6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Sheet6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Sheet62.xlsx"/></Relationships>
</file>

<file path=ppt/charts/_rels/chart63.xml.rels><?xml version='1.0' encoding='UTF-8' standalone='yes'?>
<Relationships xmlns="http://schemas.openxmlformats.org/package/2006/relationships"><Relationship Id="rId1" Type="http://schemas.openxmlformats.org/officeDocument/2006/relationships/package" Target="../embeddings/Microsoft_Excel_Sheet63.xlsx"/></Relationships>
</file>

<file path=ppt/charts/_rels/chart64.xml.rels><?xml version='1.0' encoding='UTF-8' standalone='yes'?>
<Relationships xmlns="http://schemas.openxmlformats.org/package/2006/relationships"><Relationship Id="rId1" Type="http://schemas.openxmlformats.org/officeDocument/2006/relationships/package" Target="../embeddings/Microsoft_Excel_Sheet64.xlsx"/></Relationships>
</file>

<file path=ppt/charts/_rels/chart65.xml.rels><?xml version='1.0' encoding='UTF-8' standalone='yes'?>
<Relationships xmlns="http://schemas.openxmlformats.org/package/2006/relationships"><Relationship Id="rId1" Type="http://schemas.openxmlformats.org/officeDocument/2006/relationships/package" Target="../embeddings/Microsoft_Excel_Sheet6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2934799.0</c:v>
                </c:pt>
                <c:pt idx="1">
                  <c:v>1449130.0</c:v>
                </c:pt>
                <c:pt idx="2">
                  <c:v>683285.0</c:v>
                </c:pt>
                <c:pt idx="3">
                  <c:v>2800016.0</c:v>
                </c:pt>
                <c:pt idx="4">
                  <c:v>244583.0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209</c:v>
                </c:pt>
                <c:pt idx="1">
                  <c:v>380</c:v>
                </c:pt>
                <c:pt idx="2">
                  <c:v>358</c:v>
                </c:pt>
                <c:pt idx="3">
                  <c:v>345</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Industrias de la Transformación</c:v>
                </c:pt>
                <c:pt idx="2">
                  <c:v>Industria de la Construcción</c:v>
                </c:pt>
                <c:pt idx="3">
                  <c:v>Servicios Sociales y Comunales</c:v>
                </c:pt>
                <c:pt idx="4">
                  <c:v>Ind Eléctrica y Captación y Suministro de Agua Potable</c:v>
                </c:pt>
                <c:pt idx="5">
                  <c:v>Transportes y Comunicaciones</c:v>
                </c:pt>
                <c:pt idx="6">
                  <c:v>Industrias Extractivas</c:v>
                </c:pt>
                <c:pt idx="7">
                  <c:v>Comercio</c:v>
                </c:pt>
                <c:pt idx="8">
                  <c:v>Servicios para Empresas, Personas y el Hogar</c:v>
                </c:pt>
              </c:strCache>
            </c:strRef>
          </c:cat>
          <c:val>
            <c:numRef>
              <c:f>Sheet1!$B$2:$B$10</c:f>
              <c:numCache>
                <c:formatCode>General</c:formatCode>
                <c:ptCount val="9"/>
                <c:pt idx="0">
                  <c:v>56206</c:v>
                </c:pt>
                <c:pt idx="1">
                  <c:v>98736</c:v>
                </c:pt>
                <c:pt idx="2">
                  <c:v>68568</c:v>
                </c:pt>
                <c:pt idx="3">
                  <c:v>173269</c:v>
                </c:pt>
                <c:pt idx="4">
                  <c:v>13884</c:v>
                </c:pt>
                <c:pt idx="5">
                  <c:v>58868</c:v>
                </c:pt>
                <c:pt idx="6">
                  <c:v>3894</c:v>
                </c:pt>
                <c:pt idx="7">
                  <c:v>196229</c:v>
                </c:pt>
                <c:pt idx="8">
                  <c:v>112679</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Industrias de la Transformación</c:v>
                </c:pt>
                <c:pt idx="2">
                  <c:v>Industria de la Construcción</c:v>
                </c:pt>
                <c:pt idx="3">
                  <c:v>Servicios Sociales y Comunales</c:v>
                </c:pt>
                <c:pt idx="4">
                  <c:v>Ind Eléctrica y Captación y Suministro de Agua Potable</c:v>
                </c:pt>
                <c:pt idx="5">
                  <c:v>Transportes y Comunicaciones</c:v>
                </c:pt>
                <c:pt idx="6">
                  <c:v>Industrias Extractivas</c:v>
                </c:pt>
                <c:pt idx="7">
                  <c:v>Comercio</c:v>
                </c:pt>
                <c:pt idx="8">
                  <c:v>Servicios para Empresas, Personas y el Hogar</c:v>
                </c:pt>
              </c:strCache>
            </c:strRef>
          </c:cat>
          <c:val>
            <c:numRef>
              <c:f>Sheet1!$C$2:$C$10</c:f>
              <c:numCache>
                <c:formatCode>General</c:formatCode>
                <c:ptCount val="9"/>
                <c:pt idx="0">
                  <c:v>52188</c:v>
                </c:pt>
                <c:pt idx="1">
                  <c:v>97020</c:v>
                </c:pt>
                <c:pt idx="2">
                  <c:v>67538</c:v>
                </c:pt>
                <c:pt idx="3">
                  <c:v>172147</c:v>
                </c:pt>
                <c:pt idx="4">
                  <c:v>13850</c:v>
                </c:pt>
                <c:pt idx="5">
                  <c:v>59490</c:v>
                </c:pt>
                <c:pt idx="6">
                  <c:v>3999</c:v>
                </c:pt>
                <c:pt idx="7">
                  <c:v>202215</c:v>
                </c:pt>
                <c:pt idx="8">
                  <c:v>120528</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8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739224</c:v>
                </c:pt>
                <c:pt idx="1">
                  <c:v>758796</c:v>
                </c:pt>
                <c:pt idx="2">
                  <c:v>767900</c:v>
                </c:pt>
                <c:pt idx="3">
                  <c:v>733549</c:v>
                </c:pt>
                <c:pt idx="4">
                  <c:v>748856</c:v>
                </c:pt>
                <c:pt idx="5">
                  <c:v>762576</c:v>
                </c:pt>
                <c:pt idx="6">
                  <c:v>784376</c:v>
                </c:pt>
                <c:pt idx="7">
                  <c:v>782333</c:v>
                </c:pt>
                <c:pt idx="8">
                  <c:v>788975</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HGR Orizaba (Total: 7)</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Sheet1!$A$2:$A$6</c:f>
              <c:strCache>
                <c:ptCount val="5"/>
                <c:pt idx="0">
                  <c:v>Cirugia General</c:v>
                </c:pt>
                <c:pt idx="1">
                  <c:v>Pediatria</c:v>
                </c:pt>
                <c:pt idx="2">
                  <c:v>Oftalmologia</c:v>
                </c:pt>
                <c:pt idx="3">
                  <c:v>Ginecologia Y Obstetricia</c:v>
                </c:pt>
                <c:pt idx="4">
                  <c:v>Medicina De Urgencias</c:v>
                </c:pt>
              </c:strCache>
            </c:strRef>
          </c:cat>
          <c:val>
            <c:numRef>
              <c:f>Sheet1!$B$2:$B$6</c:f>
              <c:numCache>
                <c:formatCode>General</c:formatCode>
                <c:ptCount val="5"/>
                <c:pt idx="0">
                  <c:v>2</c:v>
                </c:pt>
                <c:pt idx="1">
                  <c:v>1</c:v>
                </c:pt>
                <c:pt idx="2">
                  <c:v>1</c:v>
                </c:pt>
                <c:pt idx="3">
                  <c:v>2</c:v>
                </c:pt>
                <c:pt idx="4">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HGS 33 Tierra Blanca (Total: 5)</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Sheet1!$A$2:$A$6</c:f>
              <c:strCache>
                <c:ptCount val="5"/>
                <c:pt idx="0">
                  <c:v>Nefrologia</c:v>
                </c:pt>
                <c:pt idx="1">
                  <c:v>Imagenologia Diagnostica Y Terapeutica</c:v>
                </c:pt>
                <c:pt idx="2">
                  <c:v>Medicina Del Enfermo En Estado Critico</c:v>
                </c:pt>
                <c:pt idx="3">
                  <c:v>Cirugia General</c:v>
                </c:pt>
                <c:pt idx="4">
                  <c:v>Ginecologia Y Obstetricia</c:v>
                </c:pt>
              </c:strCache>
            </c:strRef>
          </c:cat>
          <c:val>
            <c:numRef>
              <c:f>Sheet1!$B$2:$B$6</c:f>
              <c:numCache>
                <c:formatCode>General</c:formatCode>
                <c:ptCount val="5"/>
                <c:pt idx="0">
                  <c:v>1</c:v>
                </c:pt>
                <c:pt idx="1">
                  <c:v>1</c:v>
                </c:pt>
                <c:pt idx="2">
                  <c:v>1</c:v>
                </c:pt>
                <c:pt idx="3">
                  <c:v>1</c:v>
                </c:pt>
                <c:pt idx="4">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HGSMF 12 Potrero (Total: 2)</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Sheet1!$A$2:$A$3</c:f>
              <c:strCache>
                <c:ptCount val="2"/>
                <c:pt idx="0">
                  <c:v>Medicina Interna</c:v>
                </c:pt>
                <c:pt idx="1">
                  <c:v>Imagenologia Diagnostica Y Terapeutica</c:v>
                </c:pt>
              </c:strCache>
            </c:strRef>
          </c:cat>
          <c:val>
            <c:numRef>
              <c:f>Sheet1!$B$2:$B$3</c:f>
              <c:numCache>
                <c:formatCode>General</c:formatCode>
                <c:ptCount val="2"/>
                <c:pt idx="0">
                  <c:v>1</c:v>
                </c:pt>
                <c:pt idx="1">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 36 Coatzacoalos (Total: 14)</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Sheet1!$A$2:$A$8</c:f>
              <c:strCache>
                <c:ptCount val="7"/>
                <c:pt idx="0">
                  <c:v>Pediatria</c:v>
                </c:pt>
                <c:pt idx="1">
                  <c:v>Medicina Interna</c:v>
                </c:pt>
                <c:pt idx="2">
                  <c:v>Geriatria Directa</c:v>
                </c:pt>
                <c:pt idx="3">
                  <c:v>Nefrologia</c:v>
                </c:pt>
                <c:pt idx="4">
                  <c:v>Cirugia General</c:v>
                </c:pt>
                <c:pt idx="5">
                  <c:v>Oftalmologia</c:v>
                </c:pt>
                <c:pt idx="6">
                  <c:v>Oncologia Pediatrica</c:v>
                </c:pt>
              </c:strCache>
            </c:strRef>
          </c:cat>
          <c:val>
            <c:numRef>
              <c:f>Sheet1!$B$2:$B$8</c:f>
              <c:numCache>
                <c:formatCode>General</c:formatCode>
                <c:ptCount val="7"/>
                <c:pt idx="0">
                  <c:v>3</c:v>
                </c:pt>
                <c:pt idx="1">
                  <c:v>5</c:v>
                </c:pt>
                <c:pt idx="2">
                  <c:v>1</c:v>
                </c:pt>
                <c:pt idx="3">
                  <c:v>1</c:v>
                </c:pt>
                <c:pt idx="4">
                  <c:v>2</c:v>
                </c:pt>
                <c:pt idx="5">
                  <c:v>1</c:v>
                </c:pt>
                <c:pt idx="6">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 8 Córdoba (Total: 16)</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Sheet1!$A$2:$A$10</c:f>
              <c:strCache>
                <c:ptCount val="9"/>
                <c:pt idx="0">
                  <c:v>Urgencias Pediatrica</c:v>
                </c:pt>
                <c:pt idx="1">
                  <c:v>Ginecologia Y Obstetricia</c:v>
                </c:pt>
                <c:pt idx="2">
                  <c:v>Medicina Interna</c:v>
                </c:pt>
                <c:pt idx="3">
                  <c:v>Medicina Del Trabajo Y Ambiental</c:v>
                </c:pt>
                <c:pt idx="4">
                  <c:v>Otorrinolaringologia Y Cirugia De Cabeza Y Cuello</c:v>
                </c:pt>
                <c:pt idx="5">
                  <c:v>Cirugia General</c:v>
                </c:pt>
                <c:pt idx="6">
                  <c:v>Traumatologia Y Ortopedia</c:v>
                </c:pt>
                <c:pt idx="7">
                  <c:v>Imagenologia Diagnostica Y Terapeutica</c:v>
                </c:pt>
                <c:pt idx="8">
                  <c:v>Medicina Materno Fetal</c:v>
                </c:pt>
              </c:strCache>
            </c:strRef>
          </c:cat>
          <c:val>
            <c:numRef>
              <c:f>Sheet1!$B$2:$B$10</c:f>
              <c:numCache>
                <c:formatCode>General</c:formatCode>
                <c:ptCount val="9"/>
                <c:pt idx="0">
                  <c:v>1</c:v>
                </c:pt>
                <c:pt idx="1">
                  <c:v>4</c:v>
                </c:pt>
                <c:pt idx="2">
                  <c:v>3</c:v>
                </c:pt>
                <c:pt idx="3">
                  <c:v>2</c:v>
                </c:pt>
                <c:pt idx="4">
                  <c:v>1</c:v>
                </c:pt>
                <c:pt idx="5">
                  <c:v>1</c:v>
                </c:pt>
                <c:pt idx="6">
                  <c:v>2</c:v>
                </c:pt>
                <c:pt idx="7">
                  <c:v>1</c:v>
                </c:pt>
                <c:pt idx="8">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HGZMF 32 Minatitlán (Total: 6)</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Sheet1!$A$2:$A$7</c:f>
              <c:strCache>
                <c:ptCount val="6"/>
                <c:pt idx="0">
                  <c:v>Pediatria</c:v>
                </c:pt>
                <c:pt idx="1">
                  <c:v>Medicina Del Trabajo Y Ambiental</c:v>
                </c:pt>
                <c:pt idx="2">
                  <c:v>Traumatologia Y Ortopedia</c:v>
                </c:pt>
                <c:pt idx="3">
                  <c:v>Medicina Interna</c:v>
                </c:pt>
                <c:pt idx="4">
                  <c:v>Imagenologia Diagnostica Y Terapeutica</c:v>
                </c:pt>
                <c:pt idx="5">
                  <c:v>Geriatria Directa</c:v>
                </c:pt>
              </c:strCache>
            </c:strRef>
          </c:cat>
          <c:val>
            <c:numRef>
              <c:f>Sheet1!$B$2:$B$7</c:f>
              <c:numCache>
                <c:formatCode>General</c:formatCode>
                <c:ptCount val="6"/>
                <c:pt idx="0">
                  <c:v>1</c:v>
                </c:pt>
                <c:pt idx="1">
                  <c:v>1</c:v>
                </c:pt>
                <c:pt idx="2">
                  <c:v>1</c:v>
                </c:pt>
                <c:pt idx="3">
                  <c:v>1</c:v>
                </c:pt>
                <c:pt idx="4">
                  <c:v>1</c:v>
                </c:pt>
                <c:pt idx="5">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HGZMF 35 Cosamaloapan (Total: 17)</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Sheet1!$A$2:$A$10</c:f>
              <c:strCache>
                <c:ptCount val="9"/>
                <c:pt idx="0">
                  <c:v>Medicina De Rehabilitacion</c:v>
                </c:pt>
                <c:pt idx="1">
                  <c:v>Medicina Interna</c:v>
                </c:pt>
                <c:pt idx="2">
                  <c:v>Ginecologia Y Obstetricia</c:v>
                </c:pt>
                <c:pt idx="3">
                  <c:v>Pediatria</c:v>
                </c:pt>
                <c:pt idx="4">
                  <c:v>Traumatologia Y Ortopedia</c:v>
                </c:pt>
                <c:pt idx="5">
                  <c:v>Cirugia General</c:v>
                </c:pt>
                <c:pt idx="6">
                  <c:v>Anestesiologia</c:v>
                </c:pt>
                <c:pt idx="7">
                  <c:v>Epidemiologia</c:v>
                </c:pt>
                <c:pt idx="8">
                  <c:v>Nefrologia</c:v>
                </c:pt>
              </c:strCache>
            </c:strRef>
          </c:cat>
          <c:val>
            <c:numRef>
              <c:f>Sheet1!$B$2:$B$10</c:f>
              <c:numCache>
                <c:formatCode>General</c:formatCode>
                <c:ptCount val="9"/>
                <c:pt idx="0">
                  <c:v>1</c:v>
                </c:pt>
                <c:pt idx="1">
                  <c:v>5</c:v>
                </c:pt>
                <c:pt idx="2">
                  <c:v>2</c:v>
                </c:pt>
                <c:pt idx="3">
                  <c:v>1</c:v>
                </c:pt>
                <c:pt idx="4">
                  <c:v>3</c:v>
                </c:pt>
                <c:pt idx="5">
                  <c:v>1</c:v>
                </c:pt>
                <c:pt idx="6">
                  <c:v>2</c:v>
                </c:pt>
                <c:pt idx="7">
                  <c:v>1</c:v>
                </c:pt>
                <c:pt idx="8">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46 Acula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48 Carlos Carrillo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51 Acayucan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55 Texistepec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65 Congregación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67 Revolución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69 Coatzacoalcos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HGSMF 26 Tuxpan (Total: 6)</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Sheet1!$A$2:$A$3</c:f>
              <c:strCache>
                <c:ptCount val="2"/>
                <c:pt idx="0">
                  <c:v>Cirugia General</c:v>
                </c:pt>
                <c:pt idx="1">
                  <c:v>Medicina Familiar</c:v>
                </c:pt>
              </c:strCache>
            </c:strRef>
          </c:cat>
          <c:val>
            <c:numRef>
              <c:f>Sheet1!$B$2:$B$3</c:f>
              <c:numCache>
                <c:formatCode>General</c:formatCode>
                <c:ptCount val="2"/>
                <c:pt idx="0">
                  <c:v>1</c:v>
                </c:pt>
                <c:pt idx="1">
                  <c:v>5</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HGSMF 33 S. Andrés Tuxtla (Total: 9)</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Sheet1!$A$2:$A$8</c:f>
              <c:strCache>
                <c:ptCount val="7"/>
                <c:pt idx="0">
                  <c:v>Cirugia General</c:v>
                </c:pt>
                <c:pt idx="1">
                  <c:v>Pediatria</c:v>
                </c:pt>
                <c:pt idx="2">
                  <c:v>Medicina De Urgencias</c:v>
                </c:pt>
                <c:pt idx="3">
                  <c:v>Medicina Familiar</c:v>
                </c:pt>
                <c:pt idx="4">
                  <c:v>Medicina Interna</c:v>
                </c:pt>
                <c:pt idx="5">
                  <c:v>Ginecologia Y Obstetricia</c:v>
                </c:pt>
                <c:pt idx="6">
                  <c:v>Imagenologia Diagnostica Y Terapeutica</c:v>
                </c:pt>
              </c:strCache>
            </c:strRef>
          </c:cat>
          <c:val>
            <c:numRef>
              <c:f>Sheet1!$B$2:$B$8</c:f>
              <c:numCache>
                <c:formatCode>General</c:formatCode>
                <c:ptCount val="7"/>
                <c:pt idx="0">
                  <c:v>1</c:v>
                </c:pt>
                <c:pt idx="1">
                  <c:v>1</c:v>
                </c:pt>
                <c:pt idx="2">
                  <c:v>1</c:v>
                </c:pt>
                <c:pt idx="3">
                  <c:v>1</c:v>
                </c:pt>
                <c:pt idx="4">
                  <c:v>2</c:v>
                </c:pt>
                <c:pt idx="5">
                  <c:v>2</c:v>
                </c:pt>
                <c:pt idx="6">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 11 Jalapa. (Total: 5)</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Sheet1!$A$2:$A$4</c:f>
              <c:strCache>
                <c:ptCount val="3"/>
                <c:pt idx="0">
                  <c:v>Imagenologia Diagnostica Y Terapeutica</c:v>
                </c:pt>
                <c:pt idx="1">
                  <c:v>Alergia E Inmunologia Clinica</c:v>
                </c:pt>
                <c:pt idx="2">
                  <c:v>Oncologia Medica</c:v>
                </c:pt>
              </c:strCache>
            </c:strRef>
          </c:cat>
          <c:val>
            <c:numRef>
              <c:f>Sheet1!$B$2:$B$4</c:f>
              <c:numCache>
                <c:formatCode>General</c:formatCode>
                <c:ptCount val="3"/>
                <c:pt idx="0">
                  <c:v>3</c:v>
                </c:pt>
                <c:pt idx="1">
                  <c:v>1</c:v>
                </c:pt>
                <c:pt idx="2">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 24 Poza Rica (Total: 16)</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Sheet1!$A$2:$A$11</c:f>
              <c:strCache>
                <c:ptCount val="10"/>
                <c:pt idx="0">
                  <c:v>Nefrologia</c:v>
                </c:pt>
                <c:pt idx="1">
                  <c:v>Pediatria</c:v>
                </c:pt>
                <c:pt idx="2">
                  <c:v>Medicina Interna</c:v>
                </c:pt>
                <c:pt idx="3">
                  <c:v>Ginecologia Y Obstetricia</c:v>
                </c:pt>
                <c:pt idx="4">
                  <c:v>Cirugia General</c:v>
                </c:pt>
                <c:pt idx="5">
                  <c:v>Traumatologia Y Ortopedia</c:v>
                </c:pt>
                <c:pt idx="6">
                  <c:v>Medicina De Urgencias</c:v>
                </c:pt>
                <c:pt idx="7">
                  <c:v>Medicina De Rehabilitacion</c:v>
                </c:pt>
                <c:pt idx="8">
                  <c:v>Urgencias Pediatrica</c:v>
                </c:pt>
                <c:pt idx="9">
                  <c:v>Geriatria Directa</c:v>
                </c:pt>
              </c:strCache>
            </c:strRef>
          </c:cat>
          <c:val>
            <c:numRef>
              <c:f>Sheet1!$B$2:$B$11</c:f>
              <c:numCache>
                <c:formatCode>General</c:formatCode>
                <c:ptCount val="10"/>
                <c:pt idx="0">
                  <c:v>1</c:v>
                </c:pt>
                <c:pt idx="1">
                  <c:v>1</c:v>
                </c:pt>
                <c:pt idx="2">
                  <c:v>3</c:v>
                </c:pt>
                <c:pt idx="3">
                  <c:v>2</c:v>
                </c:pt>
                <c:pt idx="4">
                  <c:v>2</c:v>
                </c:pt>
                <c:pt idx="5">
                  <c:v>2</c:v>
                </c:pt>
                <c:pt idx="6">
                  <c:v>1</c:v>
                </c:pt>
                <c:pt idx="7">
                  <c:v>1</c:v>
                </c:pt>
                <c:pt idx="8">
                  <c:v>2</c:v>
                </c:pt>
                <c:pt idx="9">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 71 Veracruz (Total: 10)</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Sheet1!$A$2:$A$8</c:f>
              <c:strCache>
                <c:ptCount val="7"/>
                <c:pt idx="0">
                  <c:v>Oftalmologia</c:v>
                </c:pt>
                <c:pt idx="1">
                  <c:v>Psiquiatria</c:v>
                </c:pt>
                <c:pt idx="2">
                  <c:v>Neumologia Pediatrica</c:v>
                </c:pt>
                <c:pt idx="3">
                  <c:v>Otorrinolaringologia Y Cirugia De Cabeza Y Cuello</c:v>
                </c:pt>
                <c:pt idx="4">
                  <c:v>Urologia</c:v>
                </c:pt>
                <c:pt idx="5">
                  <c:v>Imagenologia Diagnostica Y Terapeutica</c:v>
                </c:pt>
                <c:pt idx="6">
                  <c:v>Endocrinologia</c:v>
                </c:pt>
              </c:strCache>
            </c:strRef>
          </c:cat>
          <c:val>
            <c:numRef>
              <c:f>Sheet1!$B$2:$B$8</c:f>
              <c:numCache>
                <c:formatCode>General</c:formatCode>
                <c:ptCount val="7"/>
                <c:pt idx="0">
                  <c:v>2</c:v>
                </c:pt>
                <c:pt idx="1">
                  <c:v>1</c:v>
                </c:pt>
                <c:pt idx="2">
                  <c:v>1</c:v>
                </c:pt>
                <c:pt idx="3">
                  <c:v>1</c:v>
                </c:pt>
                <c:pt idx="4">
                  <c:v>1</c:v>
                </c:pt>
                <c:pt idx="5">
                  <c:v>3</c:v>
                </c:pt>
                <c:pt idx="6">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HGZMF 28 Martínez de la Torre (Total: 11)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Sheet1!$A$2:$A$7</c:f>
              <c:strCache>
                <c:ptCount val="6"/>
                <c:pt idx="0">
                  <c:v>Medicina Interna</c:v>
                </c:pt>
                <c:pt idx="1">
                  <c:v>Ginecologia Y Obstetricia</c:v>
                </c:pt>
                <c:pt idx="2">
                  <c:v>Pediatria</c:v>
                </c:pt>
                <c:pt idx="3">
                  <c:v>Medicina Familiar</c:v>
                </c:pt>
                <c:pt idx="4">
                  <c:v>Medicina Del Trabajo Y Ambiental</c:v>
                </c:pt>
                <c:pt idx="5">
                  <c:v>Cirugia General</c:v>
                </c:pt>
              </c:strCache>
            </c:strRef>
          </c:cat>
          <c:val>
            <c:numRef>
              <c:f>Sheet1!$B$2:$B$7</c:f>
              <c:numCache>
                <c:formatCode>General</c:formatCode>
                <c:ptCount val="6"/>
                <c:pt idx="0">
                  <c:v>1</c:v>
                </c:pt>
                <c:pt idx="1">
                  <c:v>1</c:v>
                </c:pt>
                <c:pt idx="2">
                  <c:v>1</c:v>
                </c:pt>
                <c:pt idx="3">
                  <c:v>6</c:v>
                </c:pt>
                <c:pt idx="4">
                  <c:v>1</c:v>
                </c:pt>
                <c:pt idx="5">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HGZMF 36 José Cardel (Total: 5)</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Sheet1!$A$2:$A$4</c:f>
              <c:strCache>
                <c:ptCount val="3"/>
                <c:pt idx="0">
                  <c:v>Medicina Interna</c:v>
                </c:pt>
                <c:pt idx="1">
                  <c:v>Imagenologia Diagnostica Y Terapeutica</c:v>
                </c:pt>
                <c:pt idx="2">
                  <c:v>Geriatria Directa</c:v>
                </c:pt>
              </c:strCache>
            </c:strRef>
          </c:cat>
          <c:val>
            <c:numRef>
              <c:f>Sheet1!$B$2:$B$4</c:f>
              <c:numCache>
                <c:formatCode>General</c:formatCode>
                <c:ptCount val="3"/>
                <c:pt idx="0">
                  <c:v>3</c:v>
                </c:pt>
                <c:pt idx="1">
                  <c:v>1</c:v>
                </c:pt>
                <c:pt idx="2">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HGZMF 50 Lerdo Tejada (Total: 11)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Sheet1!$A$2:$A$7</c:f>
              <c:strCache>
                <c:ptCount val="6"/>
                <c:pt idx="0">
                  <c:v>Medicina Interna</c:v>
                </c:pt>
                <c:pt idx="1">
                  <c:v>Pediatria</c:v>
                </c:pt>
                <c:pt idx="2">
                  <c:v>Medicina Familiar</c:v>
                </c:pt>
                <c:pt idx="3">
                  <c:v>Anestesiologia</c:v>
                </c:pt>
                <c:pt idx="4">
                  <c:v>Cirugia General</c:v>
                </c:pt>
                <c:pt idx="5">
                  <c:v>Traumatologia Y Ortopedia</c:v>
                </c:pt>
              </c:strCache>
            </c:strRef>
          </c:cat>
          <c:val>
            <c:numRef>
              <c:f>Sheet1!$B$2:$B$7</c:f>
              <c:numCache>
                <c:formatCode>General</c:formatCode>
                <c:ptCount val="6"/>
                <c:pt idx="0">
                  <c:v>2</c:v>
                </c:pt>
                <c:pt idx="1">
                  <c:v>1</c:v>
                </c:pt>
                <c:pt idx="2">
                  <c:v>4</c:v>
                </c:pt>
                <c:pt idx="3">
                  <c:v>1</c:v>
                </c:pt>
                <c:pt idx="4">
                  <c:v>2</c:v>
                </c:pt>
                <c:pt idx="5">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HR Plan De Arroyos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De Urgencias</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20 Saltabarranca (Total: 3)</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3</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21 Zempoala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22 Palmas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23 S. Rafael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25 Cotaxtla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30 Perote (Total: 2)</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2</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31 Los Robles (Total: 2)</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2</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32 Alvarado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34 Catemaco (Total: 2)</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2</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35 Santiago Tuxtla (Total: 3)</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3</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37 Rinconada (Total: 2)</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2</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39 Paso Ovejas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40 Manlio Fabio Altamirano (Total: 2)</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2</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44 Tlapacoyan (Total: 2)</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2</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45 Misantla (Total: 2)</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2</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46 Gutiérrez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47 Alamo (Total: 3)</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3</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48 Tamiahua (Total: 3)</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3</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49 Cerro Azul (Total: 2)</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2</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51 Ángel R. Cabada (Total: 3)</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3</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52 Naranjos (Total: 2)</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2</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56 Actopan (Total: 4)</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4</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59 Tantoyuca (Total: 3)</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3</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60 Platón Sánchez (Total: 3)</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3</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66 Jalapa (Total: 4)</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4</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68 Veracruz (Total: 3)</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Sheet1!$A$2:$A$3</c:f>
              <c:strCache>
                <c:ptCount val="2"/>
                <c:pt idx="0">
                  <c:v>Medicina Familiar</c:v>
                </c:pt>
                <c:pt idx="1">
                  <c:v>Medicina Del Trabajo Y Ambiental</c:v>
                </c:pt>
              </c:strCache>
            </c:strRef>
          </c:cat>
          <c:val>
            <c:numRef>
              <c:f>Sheet1!$B$2:$B$3</c:f>
              <c:numCache>
                <c:formatCode>General</c:formatCode>
                <c:ptCount val="2"/>
                <c:pt idx="0">
                  <c:v>2</c:v>
                </c:pt>
                <c:pt idx="1">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70 Tres Zapotes (Total: 4)</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4</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73 Poza Rica (Total: 7)</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7</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UMF 74 Coatzintla (Total: 5)</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5</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HES 14 Veracruz (Total: 17)</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Sheet1!$A$2:$A$15</c:f>
              <c:strCache>
                <c:ptCount val="14"/>
                <c:pt idx="0">
                  <c:v>Nefrologia</c:v>
                </c:pt>
                <c:pt idx="1">
                  <c:v>Cardiologia</c:v>
                </c:pt>
                <c:pt idx="2">
                  <c:v>Endocrinologia Pediatrica</c:v>
                </c:pt>
                <c:pt idx="3">
                  <c:v>Oftalmologia</c:v>
                </c:pt>
                <c:pt idx="4">
                  <c:v>Cirugia Cardiotoracica</c:v>
                </c:pt>
                <c:pt idx="5">
                  <c:v>Imagenologia Diagnostica Y Terapeutica</c:v>
                </c:pt>
                <c:pt idx="6">
                  <c:v>Oncologia Medica</c:v>
                </c:pt>
                <c:pt idx="7">
                  <c:v>Hemodinamia</c:v>
                </c:pt>
                <c:pt idx="8">
                  <c:v>Traumatologia Y Ortopedia</c:v>
                </c:pt>
                <c:pt idx="9">
                  <c:v>Medicina Interna</c:v>
                </c:pt>
                <c:pt idx="10">
                  <c:v>Reumatologia</c:v>
                </c:pt>
                <c:pt idx="11">
                  <c:v>Endoscopia</c:v>
                </c:pt>
                <c:pt idx="12">
                  <c:v>Psiquiatria Infantil Y De La Adolescencia</c:v>
                </c:pt>
                <c:pt idx="13">
                  <c:v>Reumatologia Pediatrica</c:v>
                </c:pt>
              </c:strCache>
            </c:strRef>
          </c:cat>
          <c:val>
            <c:numRef>
              <c:f>Sheet1!$B$2:$B$15</c:f>
              <c:numCache>
                <c:formatCode>General</c:formatCode>
                <c:ptCount val="14"/>
                <c:pt idx="0">
                  <c:v>1</c:v>
                </c:pt>
                <c:pt idx="1">
                  <c:v>2</c:v>
                </c:pt>
                <c:pt idx="2">
                  <c:v>1</c:v>
                </c:pt>
                <c:pt idx="3">
                  <c:v>1</c:v>
                </c:pt>
                <c:pt idx="4">
                  <c:v>2</c:v>
                </c:pt>
                <c:pt idx="5">
                  <c:v>2</c:v>
                </c:pt>
                <c:pt idx="6">
                  <c:v>1</c:v>
                </c:pt>
                <c:pt idx="7">
                  <c:v>1</c:v>
                </c:pt>
                <c:pt idx="8">
                  <c:v>1</c:v>
                </c:pt>
                <c:pt idx="9">
                  <c:v>1</c:v>
                </c:pt>
                <c:pt idx="10">
                  <c:v>1</c:v>
                </c:pt>
                <c:pt idx="11">
                  <c:v>1</c:v>
                </c:pt>
                <c:pt idx="12">
                  <c:v>1</c:v>
                </c:pt>
                <c:pt idx="13">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HGSMF 33 S. Andrés Tuxtla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Familiar</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 36 Coatzacoalos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Nefrologia</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HGZMF 35 Cosamaloapan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Geriatria Directa</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HR Chicontepec De Tejeda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Anestesiologia</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HR Coscomatepec De Bravo (Total: 1)</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Ginecologia Y Obstetricia</c:v>
                </c:pt>
              </c:strCache>
            </c:strRef>
          </c:cat>
          <c:val>
            <c:numRef>
              <c:f>Sheet1!$B$2:$B$2</c:f>
              <c:numCache>
                <c:formatCode>General</c:formatCode>
                <c:ptCount val="1"/>
                <c:pt idx="0">
                  <c:v>1</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HR Jáltipan De Morelos (Total: 2)</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De Urgencias</c:v>
                </c:pt>
              </c:strCache>
            </c:strRef>
          </c:cat>
          <c:val>
            <c:numRef>
              <c:f>Sheet1!$B$2:$B$2</c:f>
              <c:numCache>
                <c:formatCode>General</c:formatCode>
                <c:ptCount val="1"/>
                <c:pt idx="0">
                  <c:v>2</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HR Papantla De Olarte (Total: 4)</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Sheet1!$A$2:$A$2</c:f>
              <c:strCache>
                <c:ptCount val="1"/>
                <c:pt idx="0">
                  <c:v>Medicina De Urgencias</c:v>
                </c:pt>
              </c:strCache>
            </c:strRef>
          </c:cat>
          <c:val>
            <c:numRef>
              <c:f>Sheet1!$B$2:$B$2</c:f>
              <c:numCache>
                <c:formatCode>General</c:formatCode>
                <c:ptCount val="1"/>
                <c:pt idx="0">
                  <c:v>4</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b="1">
                <a:latin typeface="Montserrat"/>
              </a:defRPr>
            </a:pPr>
            <a:r>
              <a:t>HR Zongolica (Total: 5)</a:t>
            </a:r>
          </a:p>
        </c:rich>
      </c:tx>
      <c:layout/>
      <c:overlay val="0"/>
    </c:title>
    <c:autoTitleDeleted val="0"/>
    <c:plotArea>
      <c:barChart>
        <c:barDir val="bar"/>
        <c:grouping val="clustered"/>
        <c:ser>
          <c:idx val="0"/>
          <c:order val="0"/>
          <c:tx>
            <c:strRef>
              <c:f>Sheet1!$B$1</c:f>
              <c:strCache>
                <c:ptCount val="1"/>
                <c:pt idx="0">
                  <c:v/>
                </c:pt>
              </c:strCache>
            </c:strRef>
          </c:tx>
          <c:spPr>
            <a:solidFill>
              <a:srgbClr val="006455"/>
            </a:solidFill>
          </c:spPr>
          <c:dLbls>
            <c:numFmt formatCode="#,##0" sourceLinked="0"/>
            <c:txPr>
              <a:bodyPr/>
              <a:lstStyle/>
              <a:p>
                <a:pPr>
                  <a:defRPr sz="800" b="1">
                    <a:solidFill>
                      <a:srgbClr val="FFFFFF"/>
                    </a:solidFill>
                    <a:latin typeface="Montserrat"/>
                  </a:defRPr>
                </a:pPr>
              </a:p>
            </c:txPr>
            <c:dLblPos val="inEnd"/>
            <c:showLegendKey val="0"/>
            <c:showVal val="1"/>
            <c:showCatName val="0"/>
            <c:showSerName val="0"/>
            <c:showPercent val="0"/>
            <c:showBubbleSize val="0"/>
            <c:showLeaderLines val="1"/>
          </c:dLbls>
          <c:cat>
            <c:strRef>
              <c:f>Sheet1!$A$2:$A$3</c:f>
              <c:strCache>
                <c:ptCount val="2"/>
                <c:pt idx="0">
                  <c:v>Ginecologia Y Obstetricia</c:v>
                </c:pt>
                <c:pt idx="1">
                  <c:v>Medicina De Urgencias</c:v>
                </c:pt>
              </c:strCache>
            </c:strRef>
          </c:cat>
          <c:val>
            <c:numRef>
              <c:f>Sheet1!$B$2:$B$3</c:f>
              <c:numCache>
                <c:formatCode>General</c:formatCode>
                <c:ptCount val="2"/>
                <c:pt idx="0">
                  <c:v>1</c:v>
                </c:pt>
                <c:pt idx="1">
                  <c:v>4</c:v>
                </c:pt>
              </c:numCache>
            </c:numRef>
          </c:val>
        </c:ser>
        <c:gapWidth val="20"/>
        <c:axId val="-2068027336"/>
        <c:axId val="-2113994440"/>
      </c:barChart>
      <c:catAx>
        <c:axId val="-2068027336"/>
        <c:scaling>
          <c:orientation val="minMax"/>
        </c:scaling>
        <c:delete val="0"/>
        <c:axPos val="l"/>
        <c:majorTickMark val="out"/>
        <c:minorTickMark val="none"/>
        <c:tickLblPos val="nextTo"/>
        <c:spPr>
          <a:ln>
            <a:solidFill>
              <a:srgbClr val="C8C8C8"/>
            </a:solidFill>
          </a:ln>
        </c:spPr>
        <c:txPr>
          <a:bodyPr/>
          <a:lstStyle/>
          <a:p>
            <a:pPr>
              <a:defRPr sz="800" b="0">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a:extLst>
            <a:ext uri="{FF2B5EF4-FFF2-40B4-BE49-F238E27FC236}">
              <a16:creationId xmlns:a16="http://schemas.microsoft.com/office/drawing/2014/main" id="{2CFBA485-6AB8-C95C-6FC6-870DE282920B}"/>
            </a:ext>
          </a:extLst>
        </p:cNvPr>
        <p:cNvGrpSpPr/>
        <p:nvPr/>
      </p:nvGrpSpPr>
      <p:grpSpPr>
        <a:xfrm>
          <a:off x="0" y="0"/>
          <a:ext cx="0" cy="0"/>
          <a:chOff x="0" y="0"/>
          <a:chExt cx="0" cy="0"/>
        </a:xfrm>
      </p:grpSpPr>
      <p:sp>
        <p:nvSpPr>
          <p:cNvPr id="502" name="Google Shape;502;g370e87ffe7a_0_0:notes">
            <a:extLst>
              <a:ext uri="{FF2B5EF4-FFF2-40B4-BE49-F238E27FC236}">
                <a16:creationId xmlns:a16="http://schemas.microsoft.com/office/drawing/2014/main" id="{CE3AE7D4-7572-A7B3-84F1-BC75FF1AC0B7}"/>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a:extLst>
              <a:ext uri="{FF2B5EF4-FFF2-40B4-BE49-F238E27FC236}">
                <a16:creationId xmlns:a16="http://schemas.microsoft.com/office/drawing/2014/main" id="{FC426675-DF29-BF6F-0E9A-926272F58210}"/>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a:extLst>
              <a:ext uri="{FF2B5EF4-FFF2-40B4-BE49-F238E27FC236}">
                <a16:creationId xmlns:a16="http://schemas.microsoft.com/office/drawing/2014/main" id="{AFDE3BE2-6DCD-4F64-B774-F5FF7BF05A58}"/>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30225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chart" Target="../charts/char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chart" Target="../charts/char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chart" Target="../charts/chart5.xml"/><Relationship Id="rId5" Type="http://schemas.openxmlformats.org/officeDocument/2006/relationships/chart" Target="../charts/chart6.xml"/><Relationship Id="rId6" Type="http://schemas.openxmlformats.org/officeDocument/2006/relationships/chart" Target="../charts/chart7.xml"/><Relationship Id="rId7" Type="http://schemas.openxmlformats.org/officeDocument/2006/relationships/chart" Target="../charts/char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9.xml"/><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chart" Target="../charts/char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3.xml"/><Relationship Id="rId3" Type="http://schemas.openxmlformats.org/officeDocument/2006/relationships/chart" Target="../charts/chart14.xml"/><Relationship Id="rId4" Type="http://schemas.openxmlformats.org/officeDocument/2006/relationships/chart" Target="../charts/chart15.xml"/><Relationship Id="rId5" Type="http://schemas.openxmlformats.org/officeDocument/2006/relationships/chart" Target="../charts/char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7.xml"/><Relationship Id="rId3" Type="http://schemas.openxmlformats.org/officeDocument/2006/relationships/chart" Target="../charts/chart18.xml"/><Relationship Id="rId4" Type="http://schemas.openxmlformats.org/officeDocument/2006/relationships/chart" Target="../charts/chart19.xml"/><Relationship Id="rId5" Type="http://schemas.openxmlformats.org/officeDocument/2006/relationships/chart" Target="../charts/char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1.xml"/><Relationship Id="rId3" Type="http://schemas.openxmlformats.org/officeDocument/2006/relationships/chart" Target="../charts/chart22.xml"/><Relationship Id="rId4" Type="http://schemas.openxmlformats.org/officeDocument/2006/relationships/chart" Target="../charts/chart23.xml"/><Relationship Id="rId5" Type="http://schemas.openxmlformats.org/officeDocument/2006/relationships/chart" Target="../charts/char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5.xml"/><Relationship Id="rId3" Type="http://schemas.openxmlformats.org/officeDocument/2006/relationships/chart" Target="../charts/chart26.xml"/><Relationship Id="rId4" Type="http://schemas.openxmlformats.org/officeDocument/2006/relationships/chart" Target="../charts/chart27.xml"/><Relationship Id="rId5" Type="http://schemas.openxmlformats.org/officeDocument/2006/relationships/chart" Target="../charts/chart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9.xml"/><Relationship Id="rId3" Type="http://schemas.openxmlformats.org/officeDocument/2006/relationships/chart" Target="../charts/chart30.xml"/><Relationship Id="rId4" Type="http://schemas.openxmlformats.org/officeDocument/2006/relationships/chart" Target="../charts/chart31.xml"/><Relationship Id="rId5" Type="http://schemas.openxmlformats.org/officeDocument/2006/relationships/chart" Target="../charts/chart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3.xml"/><Relationship Id="rId3" Type="http://schemas.openxmlformats.org/officeDocument/2006/relationships/chart" Target="../charts/chart34.xml"/><Relationship Id="rId4" Type="http://schemas.openxmlformats.org/officeDocument/2006/relationships/chart" Target="../charts/chart35.xml"/><Relationship Id="rId5" Type="http://schemas.openxmlformats.org/officeDocument/2006/relationships/chart" Target="../charts/chart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7.xml"/><Relationship Id="rId3" Type="http://schemas.openxmlformats.org/officeDocument/2006/relationships/chart" Target="../charts/chart38.xml"/><Relationship Id="rId4" Type="http://schemas.openxmlformats.org/officeDocument/2006/relationships/chart" Target="../charts/chart39.xml"/><Relationship Id="rId5" Type="http://schemas.openxmlformats.org/officeDocument/2006/relationships/chart" Target="../charts/chart4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1.xml"/><Relationship Id="rId3" Type="http://schemas.openxmlformats.org/officeDocument/2006/relationships/chart" Target="../charts/chart42.xml"/><Relationship Id="rId4" Type="http://schemas.openxmlformats.org/officeDocument/2006/relationships/chart" Target="../charts/chart43.xml"/><Relationship Id="rId5" Type="http://schemas.openxmlformats.org/officeDocument/2006/relationships/chart" Target="../charts/chart4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5.xml"/><Relationship Id="rId3" Type="http://schemas.openxmlformats.org/officeDocument/2006/relationships/chart" Target="../charts/chart46.xml"/><Relationship Id="rId4" Type="http://schemas.openxmlformats.org/officeDocument/2006/relationships/chart" Target="../charts/chart47.xml"/><Relationship Id="rId5" Type="http://schemas.openxmlformats.org/officeDocument/2006/relationships/chart" Target="../charts/chart4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9.xml"/><Relationship Id="rId3" Type="http://schemas.openxmlformats.org/officeDocument/2006/relationships/chart" Target="../charts/chart50.xml"/><Relationship Id="rId4" Type="http://schemas.openxmlformats.org/officeDocument/2006/relationships/chart" Target="../charts/chart51.xml"/><Relationship Id="rId5" Type="http://schemas.openxmlformats.org/officeDocument/2006/relationships/chart" Target="../charts/chart5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3.xml"/><Relationship Id="rId3" Type="http://schemas.openxmlformats.org/officeDocument/2006/relationships/chart" Target="../charts/chart54.xml"/><Relationship Id="rId4" Type="http://schemas.openxmlformats.org/officeDocument/2006/relationships/chart" Target="../charts/chart55.xml"/><Relationship Id="rId5" Type="http://schemas.openxmlformats.org/officeDocument/2006/relationships/chart" Target="../charts/chart5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7.xml"/><Relationship Id="rId3" Type="http://schemas.openxmlformats.org/officeDocument/2006/relationships/chart" Target="../charts/chart58.xml"/><Relationship Id="rId4" Type="http://schemas.openxmlformats.org/officeDocument/2006/relationships/chart" Target="../charts/chart5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60.xml"/><Relationship Id="rId3" Type="http://schemas.openxmlformats.org/officeDocument/2006/relationships/chart" Target="../charts/chart61.xml"/><Relationship Id="rId4" Type="http://schemas.openxmlformats.org/officeDocument/2006/relationships/chart" Target="../charts/chart62.xml"/><Relationship Id="rId5" Type="http://schemas.openxmlformats.org/officeDocument/2006/relationships/chart" Target="../charts/chart6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64.xml"/><Relationship Id="rId3" Type="http://schemas.openxmlformats.org/officeDocument/2006/relationships/chart" Target="../charts/chart6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Veracruz</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Marzo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rganigrama_30_ver.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graphicFrame>
        <p:nvGraphicFramePr>
          <p:cNvPr id="111" name="Google Shape;111;p2"/>
          <p:cNvGraphicFramePr/>
          <p:nvPr/>
        </p:nvGraphicFramePr>
        <p:xfrm>
          <a:off x="313125" y="4622125"/>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Datos generales</a:t>
                      </a:r>
                      <a:endParaRPr sz="2100"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grpSp>
        <p:nvGrpSpPr>
          <p:cNvPr id="119" name="Google Shape;119;p2"/>
          <p:cNvGrpSpPr/>
          <p:nvPr/>
        </p:nvGrpSpPr>
        <p:grpSpPr>
          <a:xfrm>
            <a:off x="6079441" y="8191625"/>
            <a:ext cx="321904" cy="457782"/>
            <a:chOff x="3342725" y="2620775"/>
            <a:chExt cx="338775" cy="481825"/>
          </a:xfrm>
        </p:grpSpPr>
        <p:sp>
          <p:nvSpPr>
            <p:cNvPr id="120" name="Google Shape;120;p2"/>
            <p:cNvSpPr/>
            <p:nvPr/>
          </p:nvSpPr>
          <p:spPr>
            <a:xfrm>
              <a:off x="3342725" y="2620775"/>
              <a:ext cx="338775" cy="56475"/>
            </a:xfrm>
            <a:custGeom>
              <a:avLst/>
              <a:gdLst/>
              <a:ahLst/>
              <a:cxnLst/>
              <a:rect l="l" t="t" r="r" b="b"/>
              <a:pathLst>
                <a:path w="13551" h="2259" extrusionOk="0">
                  <a:moveTo>
                    <a:pt x="1693" y="0"/>
                  </a:moveTo>
                  <a:cubicBezTo>
                    <a:pt x="756" y="0"/>
                    <a:pt x="0" y="759"/>
                    <a:pt x="0" y="1695"/>
                  </a:cubicBezTo>
                  <a:lnTo>
                    <a:pt x="0" y="2259"/>
                  </a:lnTo>
                  <a:lnTo>
                    <a:pt x="13551" y="2259"/>
                  </a:lnTo>
                  <a:lnTo>
                    <a:pt x="13551" y="1695"/>
                  </a:lnTo>
                  <a:cubicBezTo>
                    <a:pt x="13548" y="759"/>
                    <a:pt x="12792" y="0"/>
                    <a:pt x="11855" y="0"/>
                  </a:cubicBezTo>
                  <a:close/>
                </a:path>
              </a:pathLst>
            </a:custGeom>
            <a:noFill/>
            <a:ln w="15850" cap="flat" cmpd="sng">
              <a:solidFill>
                <a:srgbClr val="046557"/>
              </a:solidFill>
              <a:prstDash val="solid"/>
              <a:round/>
              <a:headEnd type="none" w="sm" len="sm"/>
              <a:tailEnd type="none" w="sm" len="sm"/>
            </a:ln>
          </p:spPr>
          <p:txBody>
            <a:bodyPr spcFirstLastPara="1" wrap="square" lIns="123400" tIns="123400" rIns="123400" bIns="123400" anchor="ctr" anchorCtr="0">
              <a:noAutofit/>
            </a:bodyPr>
            <a:lstStyle/>
            <a:p>
              <a:pPr marL="0" marR="0" lvl="0" indent="0" algn="l" rtl="0">
                <a:lnSpc>
                  <a:spcPct val="100000"/>
                </a:lnSpc>
                <a:spcBef>
                  <a:spcPts val="0"/>
                </a:spcBef>
                <a:spcAft>
                  <a:spcPts val="0"/>
                </a:spcAft>
                <a:buClr>
                  <a:srgbClr val="000000"/>
                </a:buClr>
                <a:buSzPts val="1889"/>
                <a:buFont typeface="Arial"/>
                <a:buNone/>
              </a:pPr>
              <a:endParaRPr sz="1889" b="0" i="0" u="none" strike="noStrike" cap="none">
                <a:solidFill>
                  <a:srgbClr val="435D74"/>
                </a:solidFill>
                <a:latin typeface="Arial"/>
                <a:ea typeface="Arial"/>
                <a:cs typeface="Arial"/>
                <a:sym typeface="Arial"/>
              </a:endParaRPr>
            </a:p>
          </p:txBody>
        </p:sp>
        <p:sp>
          <p:nvSpPr>
            <p:cNvPr id="121" name="Google Shape;121;p2"/>
            <p:cNvSpPr/>
            <p:nvPr/>
          </p:nvSpPr>
          <p:spPr>
            <a:xfrm>
              <a:off x="3342725" y="2705450"/>
              <a:ext cx="338775" cy="284225"/>
            </a:xfrm>
            <a:custGeom>
              <a:avLst/>
              <a:gdLst/>
              <a:ahLst/>
              <a:cxnLst/>
              <a:rect l="l" t="t" r="r" b="b"/>
              <a:pathLst>
                <a:path w="13551" h="11369" extrusionOk="0">
                  <a:moveTo>
                    <a:pt x="0" y="1"/>
                  </a:moveTo>
                  <a:lnTo>
                    <a:pt x="0" y="11368"/>
                  </a:lnTo>
                  <a:lnTo>
                    <a:pt x="13551" y="11368"/>
                  </a:lnTo>
                  <a:lnTo>
                    <a:pt x="13551" y="1"/>
                  </a:lnTo>
                  <a:close/>
                </a:path>
              </a:pathLst>
            </a:custGeom>
            <a:noFill/>
            <a:ln w="15850" cap="flat" cmpd="sng">
              <a:solidFill>
                <a:srgbClr val="046557"/>
              </a:solidFill>
              <a:prstDash val="solid"/>
              <a:round/>
              <a:headEnd type="none" w="sm" len="sm"/>
              <a:tailEnd type="none" w="sm" len="sm"/>
            </a:ln>
          </p:spPr>
          <p:txBody>
            <a:bodyPr spcFirstLastPara="1" wrap="square" lIns="123400" tIns="123400" rIns="123400" bIns="123400" anchor="ctr" anchorCtr="0">
              <a:noAutofit/>
            </a:bodyPr>
            <a:lstStyle/>
            <a:p>
              <a:pPr marL="0" marR="0" lvl="0" indent="0" algn="l" rtl="0">
                <a:lnSpc>
                  <a:spcPct val="100000"/>
                </a:lnSpc>
                <a:spcBef>
                  <a:spcPts val="0"/>
                </a:spcBef>
                <a:spcAft>
                  <a:spcPts val="0"/>
                </a:spcAft>
                <a:buClr>
                  <a:srgbClr val="000000"/>
                </a:buClr>
                <a:buSzPts val="1889"/>
                <a:buFont typeface="Arial"/>
                <a:buNone/>
              </a:pPr>
              <a:endParaRPr sz="1889" b="0" i="0" u="none" strike="noStrike" cap="none">
                <a:solidFill>
                  <a:srgbClr val="435D74"/>
                </a:solidFill>
                <a:latin typeface="Arial"/>
                <a:ea typeface="Arial"/>
                <a:cs typeface="Arial"/>
                <a:sym typeface="Arial"/>
              </a:endParaRPr>
            </a:p>
          </p:txBody>
        </p:sp>
        <p:sp>
          <p:nvSpPr>
            <p:cNvPr id="122" name="Google Shape;122;p2"/>
            <p:cNvSpPr/>
            <p:nvPr/>
          </p:nvSpPr>
          <p:spPr>
            <a:xfrm>
              <a:off x="3342725" y="3017875"/>
              <a:ext cx="338775" cy="84725"/>
            </a:xfrm>
            <a:custGeom>
              <a:avLst/>
              <a:gdLst/>
              <a:ahLst/>
              <a:cxnLst/>
              <a:rect l="l" t="t" r="r" b="b"/>
              <a:pathLst>
                <a:path w="13551" h="3389" extrusionOk="0">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noFill/>
            <a:ln w="15850" cap="flat" cmpd="sng">
              <a:solidFill>
                <a:srgbClr val="046557"/>
              </a:solidFill>
              <a:prstDash val="solid"/>
              <a:round/>
              <a:headEnd type="none" w="sm" len="sm"/>
              <a:tailEnd type="none" w="sm" len="sm"/>
            </a:ln>
          </p:spPr>
          <p:txBody>
            <a:bodyPr spcFirstLastPara="1" wrap="square" lIns="123400" tIns="123400" rIns="123400" bIns="123400" anchor="ctr" anchorCtr="0">
              <a:noAutofit/>
            </a:bodyPr>
            <a:lstStyle/>
            <a:p>
              <a:pPr marL="0" marR="0" lvl="0" indent="0" algn="l" rtl="0">
                <a:lnSpc>
                  <a:spcPct val="100000"/>
                </a:lnSpc>
                <a:spcBef>
                  <a:spcPts val="0"/>
                </a:spcBef>
                <a:spcAft>
                  <a:spcPts val="0"/>
                </a:spcAft>
                <a:buClr>
                  <a:srgbClr val="000000"/>
                </a:buClr>
                <a:buSzPts val="1889"/>
                <a:buFont typeface="Arial"/>
                <a:buNone/>
              </a:pPr>
              <a:endParaRPr sz="1889" b="0" i="0" u="none" strike="noStrike" cap="none">
                <a:solidFill>
                  <a:srgbClr val="435D74"/>
                </a:solidFill>
                <a:latin typeface="Arial"/>
                <a:ea typeface="Arial"/>
                <a:cs typeface="Arial"/>
                <a:sym typeface="Arial"/>
              </a:endParaRPr>
            </a:p>
          </p:txBody>
        </p:sp>
      </p:grpSp>
      <p:sp>
        <p:nvSpPr>
          <p:cNvPr id="123" name="Google Shape;123;p2"/>
          <p:cNvSpPr txBox="1"/>
          <p:nvPr/>
        </p:nvSpPr>
        <p:spPr>
          <a:xfrm>
            <a:off x="6537950" y="8161875"/>
            <a:ext cx="1209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de Plataformas Digitales</a:t>
            </a:r>
            <a:endParaRPr sz="700" b="1" i="0" u="none" strike="noStrike" cap="none" dirty="0">
              <a:solidFill>
                <a:srgbClr val="006455"/>
              </a:solidFill>
              <a:latin typeface="Noto Sans"/>
              <a:ea typeface="Noto Sans"/>
              <a:cs typeface="Noto Sans"/>
              <a:sym typeface="Noto Sans"/>
            </a:endParaRPr>
          </a:p>
        </p:txBody>
      </p:sp>
      <p:graphicFrame>
        <p:nvGraphicFramePr>
          <p:cNvPr id="2" name="Google Shape;111;p2">
            <a:extLst>
              <a:ext uri="{FF2B5EF4-FFF2-40B4-BE49-F238E27FC236}">
                <a16:creationId xmlns:a16="http://schemas.microsoft.com/office/drawing/2014/main" id="{D110EB92-D53B-B721-7239-F76E3C239AC9}"/>
              </a:ext>
            </a:extLst>
          </p:cNvPr>
          <p:cNvGraphicFramePr/>
          <p:nvPr>
            <p:extLst>
              <p:ext uri="{D42A27DB-BD31-4B8C-83A1-F6EECF244321}">
                <p14:modId xmlns:p14="http://schemas.microsoft.com/office/powerpoint/2010/main" val="3343068722"/>
              </p:ext>
            </p:extLst>
          </p:nvPr>
        </p:nvGraphicFramePr>
        <p:xfrm>
          <a:off x="313125" y="568285"/>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Población</a:t>
                      </a:r>
                      <a:endParaRPr sz="2100"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24" name="Chart 123"/>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25" name="TextBox 124"/>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2,934,799</a:t>
            </a:r>
            <a:br/>
            <a:r>
              <a:t>36%</a:t>
            </a:r>
          </a:p>
        </p:txBody>
      </p:sp>
      <p:pic>
        <p:nvPicPr>
          <p:cNvPr id="126" name="Picture 125" descr="imss.png"/>
          <p:cNvPicPr>
            <a:picLocks noChangeAspect="1"/>
          </p:cNvPicPr>
          <p:nvPr/>
        </p:nvPicPr>
        <p:blipFill>
          <a:blip r:embed="rId6"/>
          <a:stretch>
            <a:fillRect/>
          </a:stretch>
        </p:blipFill>
        <p:spPr>
          <a:xfrm>
            <a:off x="6213600" y="1461599"/>
            <a:ext cx="377265" cy="468000"/>
          </a:xfrm>
          <a:prstGeom prst="rect">
            <a:avLst/>
          </a:prstGeom>
        </p:spPr>
      </p:pic>
      <p:sp>
        <p:nvSpPr>
          <p:cNvPr id="127" name="Rectangle 126"/>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1,449,130</a:t>
            </a:r>
            <a:br/>
            <a:r>
              <a:t>18%</a:t>
            </a:r>
          </a:p>
        </p:txBody>
      </p:sp>
      <p:pic>
        <p:nvPicPr>
          <p:cNvPr id="129" name="Picture 128" descr="imss_coplamar.png"/>
          <p:cNvPicPr>
            <a:picLocks noChangeAspect="1"/>
          </p:cNvPicPr>
          <p:nvPr/>
        </p:nvPicPr>
        <p:blipFill>
          <a:blip r:embed="rId7"/>
          <a:stretch>
            <a:fillRect/>
          </a:stretch>
        </p:blipFill>
        <p:spPr>
          <a:xfrm>
            <a:off x="6004800" y="2523600"/>
            <a:ext cx="586035" cy="468000"/>
          </a:xfrm>
          <a:prstGeom prst="rect">
            <a:avLst/>
          </a:prstGeom>
        </p:spPr>
      </p:pic>
      <p:sp>
        <p:nvSpPr>
          <p:cNvPr id="130" name="Rectangle 129"/>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683,285</a:t>
            </a:r>
            <a:br/>
            <a:r>
              <a:t>8%</a:t>
            </a:r>
          </a:p>
        </p:txBody>
      </p:sp>
      <p:pic>
        <p:nvPicPr>
          <p:cNvPr id="132" name="Picture 131" descr="issste.png"/>
          <p:cNvPicPr>
            <a:picLocks noChangeAspect="1"/>
          </p:cNvPicPr>
          <p:nvPr/>
        </p:nvPicPr>
        <p:blipFill>
          <a:blip r:embed="rId8"/>
          <a:stretch>
            <a:fillRect/>
          </a:stretch>
        </p:blipFill>
        <p:spPr>
          <a:xfrm>
            <a:off x="5151600" y="3798000"/>
            <a:ext cx="1437091" cy="468000"/>
          </a:xfrm>
          <a:prstGeom prst="rect">
            <a:avLst/>
          </a:prstGeom>
        </p:spPr>
      </p:pic>
      <p:sp>
        <p:nvSpPr>
          <p:cNvPr id="133" name="Rectangle 132"/>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2,800,016</a:t>
            </a:r>
            <a:br/>
            <a:r>
              <a:t>35%</a:t>
            </a:r>
          </a:p>
        </p:txBody>
      </p:sp>
      <p:pic>
        <p:nvPicPr>
          <p:cNvPr id="135" name="Picture 134" descr="30.png"/>
          <p:cNvPicPr>
            <a:picLocks noChangeAspect="1"/>
          </p:cNvPicPr>
          <p:nvPr/>
        </p:nvPicPr>
        <p:blipFill>
          <a:blip r:embed="rId9"/>
          <a:stretch>
            <a:fillRect/>
          </a:stretch>
        </p:blipFill>
        <p:spPr>
          <a:xfrm>
            <a:off x="1220400" y="3290400"/>
            <a:ext cx="1904118" cy="468000"/>
          </a:xfrm>
          <a:prstGeom prst="rect">
            <a:avLst/>
          </a:prstGeom>
        </p:spPr>
      </p:pic>
      <p:sp>
        <p:nvSpPr>
          <p:cNvPr id="136" name="Rectangle 135"/>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244,583</a:t>
            </a:r>
            <a:br/>
            <a:r>
              <a:t>3%</a:t>
            </a:r>
          </a:p>
        </p:txBody>
      </p:sp>
      <p:pic>
        <p:nvPicPr>
          <p:cNvPr id="138" name="Picture 137" descr="otros.png"/>
          <p:cNvPicPr>
            <a:picLocks noChangeAspect="1"/>
          </p:cNvPicPr>
          <p:nvPr/>
        </p:nvPicPr>
        <p:blipFill>
          <a:blip r:embed="rId10"/>
          <a:stretch>
            <a:fillRect/>
          </a:stretch>
        </p:blipFill>
        <p:spPr>
          <a:xfrm>
            <a:off x="1220400" y="1800000"/>
            <a:ext cx="468000" cy="468000"/>
          </a:xfrm>
          <a:prstGeom prst="rect">
            <a:avLst/>
          </a:prstGeom>
        </p:spPr>
      </p:pic>
      <p:sp>
        <p:nvSpPr>
          <p:cNvPr id="139" name="Rectangle 138"/>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8,111,813</a:t>
            </a:r>
          </a:p>
        </p:txBody>
      </p:sp>
      <p:graphicFrame>
        <p:nvGraphicFramePr>
          <p:cNvPr id="141" name="Table 140"/>
          <p:cNvGraphicFramePr>
            <a:graphicFrameLocks noGrp="1"/>
          </p:cNvGraphicFramePr>
          <p:nvPr/>
        </p:nvGraphicFramePr>
        <p:xfrm>
          <a:off x="313200" y="5270400"/>
          <a:ext cx="5410800" cy="3527986"/>
        </p:xfrm>
        <a:graphic>
          <a:graphicData uri="http://schemas.openxmlformats.org/drawingml/2006/table">
            <a:tbl>
              <a:tblPr firstRow="1" bandRow="1">
                <a:tableStyleId>{5C22544A-7EE6-4342-B048-85BDC9FD1C3A}</a:tableStyleId>
              </a:tblPr>
              <a:tblGrid>
                <a:gridCol w="2268000"/>
                <a:gridCol w="1047600"/>
                <a:gridCol w="1047600"/>
                <a:gridCol w="1047600"/>
              </a:tblGrid>
              <a:tr h="251999">
                <a:tc>
                  <a:txBody>
                    <a:bodyPr/>
                    <a:lstStyle/>
                    <a:p>
                      <a:pPr algn="ctr">
                        <a:defRPr b="1" sz="900">
                          <a:solidFill>
                            <a:srgbClr val="FFFFFF"/>
                          </a:solidFill>
                          <a:latin typeface="Montserrat"/>
                        </a:defRPr>
                      </a:pPr>
                      <a:r>
                        <a:t>Categoría</a:t>
                      </a:r>
                    </a:p>
                  </a:txBody>
                  <a:tcPr>
                    <a:solidFill>
                      <a:srgbClr val="FFFFFF"/>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a:t>
                      </a:r>
                    </a:p>
                  </a:txBody>
                  <a:tcPr>
                    <a:solidFill>
                      <a:srgbClr val="9F2241"/>
                    </a:solidFill>
                  </a:tcPr>
                </a:tc>
                <a:tc>
                  <a:txBody>
                    <a:bodyPr/>
                    <a:lstStyle/>
                    <a:p>
                      <a:pPr algn="ctr">
                        <a:defRPr sz="900" b="1">
                          <a:solidFill>
                            <a:srgbClr val="000000"/>
                          </a:solidFill>
                          <a:latin typeface="Montserrat"/>
                        </a:defRPr>
                      </a:pPr>
                      <a:r>
                        <a:t>2,742,560</a:t>
                      </a:r>
                    </a:p>
                  </a:txBody>
                  <a:tcPr>
                    <a:solidFill>
                      <a:srgbClr val="EBD2D9"/>
                    </a:solidFill>
                  </a:tcPr>
                </a:tc>
                <a:tc>
                  <a:txBody>
                    <a:bodyPr/>
                    <a:lstStyle/>
                    <a:p>
                      <a:pPr algn="ctr">
                        <a:defRPr sz="900" b="1">
                          <a:solidFill>
                            <a:srgbClr val="000000"/>
                          </a:solidFill>
                          <a:latin typeface="Montserrat"/>
                        </a:defRPr>
                      </a:pPr>
                      <a:r>
                        <a:t>2,934,799</a:t>
                      </a:r>
                    </a:p>
                  </a:txBody>
                  <a:tcPr>
                    <a:solidFill>
                      <a:srgbClr val="EBD2D9"/>
                    </a:solidFill>
                  </a:tcPr>
                </a:tc>
                <a:tc>
                  <a:txBody>
                    <a:bodyPr/>
                    <a:lstStyle/>
                    <a:p>
                      <a:pPr algn="ctr">
                        <a:defRPr sz="900" b="1">
                          <a:solidFill>
                            <a:srgbClr val="000000"/>
                          </a:solidFill>
                          <a:latin typeface="Montserrat"/>
                        </a:defRPr>
                      </a:pPr>
                      <a:r>
                        <a:t>7%</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006455"/>
                    </a:solidFill>
                  </a:tcPr>
                </a:tc>
                <a:tc>
                  <a:txBody>
                    <a:bodyPr/>
                    <a:lstStyle/>
                    <a:p>
                      <a:pPr algn="ctr">
                        <a:defRPr sz="900" b="1">
                          <a:solidFill>
                            <a:srgbClr val="000000"/>
                          </a:solidFill>
                          <a:latin typeface="Montserrat"/>
                        </a:defRPr>
                      </a:pPr>
                      <a:r>
                        <a:t>1,515,234</a:t>
                      </a:r>
                    </a:p>
                  </a:txBody>
                  <a:tcPr>
                    <a:solidFill>
                      <a:srgbClr val="CCE0DD"/>
                    </a:solidFill>
                  </a:tcPr>
                </a:tc>
                <a:tc>
                  <a:txBody>
                    <a:bodyPr/>
                    <a:lstStyle/>
                    <a:p>
                      <a:pPr algn="ctr">
                        <a:defRPr sz="900" b="1">
                          <a:solidFill>
                            <a:srgbClr val="000000"/>
                          </a:solidFill>
                          <a:latin typeface="Montserrat"/>
                        </a:defRPr>
                      </a:pPr>
                      <a:r>
                        <a:t>1,703,973</a:t>
                      </a:r>
                    </a:p>
                  </a:txBody>
                  <a:tcPr>
                    <a:solidFill>
                      <a:srgbClr val="CCE0DD"/>
                    </a:solidFill>
                  </a:tcPr>
                </a:tc>
                <a:tc>
                  <a:txBody>
                    <a:bodyPr/>
                    <a:lstStyle/>
                    <a:p>
                      <a:pPr algn="ctr">
                        <a:defRPr sz="900" b="1">
                          <a:solidFill>
                            <a:srgbClr val="000000"/>
                          </a:solidFill>
                          <a:latin typeface="Montserrat"/>
                        </a:defRPr>
                      </a:pPr>
                      <a:r>
                        <a:t>12%</a:t>
                      </a:r>
                    </a:p>
                  </a:txBody>
                  <a:tcPr>
                    <a:solidFill>
                      <a:srgbClr val="CCE0DD"/>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752,659</a:t>
                      </a:r>
                    </a:p>
                  </a:txBody>
                  <a:tcPr>
                    <a:solidFill>
                      <a:srgbClr val="F8F4EC"/>
                    </a:solidFill>
                  </a:tcPr>
                </a:tc>
                <a:tc>
                  <a:txBody>
                    <a:bodyPr/>
                    <a:lstStyle/>
                    <a:p>
                      <a:pPr algn="ctr">
                        <a:defRPr sz="900" b="1">
                          <a:solidFill>
                            <a:srgbClr val="000000"/>
                          </a:solidFill>
                          <a:latin typeface="Montserrat"/>
                        </a:defRPr>
                      </a:pPr>
                      <a:r>
                        <a:t>772,380</a:t>
                      </a:r>
                    </a:p>
                  </a:txBody>
                  <a:tcPr>
                    <a:solidFill>
                      <a:srgbClr val="F8F4EC"/>
                    </a:solidFill>
                  </a:tcPr>
                </a:tc>
                <a:tc>
                  <a:txBody>
                    <a:bodyPr/>
                    <a:lstStyle/>
                    <a:p>
                      <a:pPr algn="ctr">
                        <a:defRPr sz="900" b="1">
                          <a:solidFill>
                            <a:srgbClr val="000000"/>
                          </a:solidFill>
                          <a:latin typeface="Montserrat"/>
                        </a:defRPr>
                      </a:pPr>
                      <a:r>
                        <a:t>3%</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246,025</a:t>
                      </a:r>
                    </a:p>
                  </a:txBody>
                  <a:tcPr>
                    <a:solidFill>
                      <a:srgbClr val="FFFFFF"/>
                    </a:solidFill>
                  </a:tcPr>
                </a:tc>
                <a:tc>
                  <a:txBody>
                    <a:bodyPr/>
                    <a:lstStyle/>
                    <a:p>
                      <a:pPr algn="ctr">
                        <a:defRPr sz="900">
                          <a:solidFill>
                            <a:srgbClr val="000000"/>
                          </a:solidFill>
                          <a:latin typeface="Montserrat"/>
                        </a:defRPr>
                      </a:pPr>
                      <a:r>
                        <a:t>316,793</a:t>
                      </a:r>
                    </a:p>
                  </a:txBody>
                  <a:tcPr>
                    <a:solidFill>
                      <a:srgbClr val="FFFFFF"/>
                    </a:solidFill>
                  </a:tcPr>
                </a:tc>
                <a:tc>
                  <a:txBody>
                    <a:bodyPr/>
                    <a:lstStyle/>
                    <a:p>
                      <a:pPr algn="ctr">
                        <a:defRPr sz="900">
                          <a:solidFill>
                            <a:srgbClr val="000000"/>
                          </a:solidFill>
                          <a:latin typeface="Montserrat"/>
                        </a:defRPr>
                      </a:pPr>
                      <a:r>
                        <a:t>29%</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26,786</a:t>
                      </a:r>
                    </a:p>
                  </a:txBody>
                  <a:tcPr>
                    <a:solidFill>
                      <a:srgbClr val="FFFFFF"/>
                    </a:solidFill>
                  </a:tcPr>
                </a:tc>
                <a:tc>
                  <a:txBody>
                    <a:bodyPr/>
                    <a:lstStyle/>
                    <a:p>
                      <a:pPr algn="ctr">
                        <a:defRPr sz="900">
                          <a:solidFill>
                            <a:srgbClr val="000000"/>
                          </a:solidFill>
                          <a:latin typeface="Montserrat"/>
                        </a:defRPr>
                      </a:pPr>
                      <a:r>
                        <a:t>35,868</a:t>
                      </a:r>
                    </a:p>
                  </a:txBody>
                  <a:tcPr>
                    <a:solidFill>
                      <a:srgbClr val="FFFFFF"/>
                    </a:solidFill>
                  </a:tcPr>
                </a:tc>
                <a:tc>
                  <a:txBody>
                    <a:bodyPr/>
                    <a:lstStyle/>
                    <a:p>
                      <a:pPr algn="ctr">
                        <a:defRPr sz="900">
                          <a:solidFill>
                            <a:srgbClr val="000000"/>
                          </a:solidFill>
                          <a:latin typeface="Montserrat"/>
                        </a:defRPr>
                      </a:pPr>
                      <a:r>
                        <a:t>34%</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489,764</a:t>
                      </a:r>
                    </a:p>
                  </a:txBody>
                  <a:tcPr>
                    <a:solidFill>
                      <a:srgbClr val="CCE0DD"/>
                    </a:solidFill>
                  </a:tcPr>
                </a:tc>
                <a:tc>
                  <a:txBody>
                    <a:bodyPr/>
                    <a:lstStyle/>
                    <a:p>
                      <a:pPr algn="ctr">
                        <a:defRPr sz="900" b="1">
                          <a:solidFill>
                            <a:srgbClr val="000000"/>
                          </a:solidFill>
                          <a:latin typeface="Montserrat"/>
                        </a:defRPr>
                      </a:pPr>
                      <a:r>
                        <a:t>455,550</a:t>
                      </a:r>
                    </a:p>
                  </a:txBody>
                  <a:tcPr>
                    <a:solidFill>
                      <a:srgbClr val="CCE0DD"/>
                    </a:solidFill>
                  </a:tcPr>
                </a:tc>
                <a:tc>
                  <a:txBody>
                    <a:bodyPr/>
                    <a:lstStyle/>
                    <a:p>
                      <a:pPr algn="ctr">
                        <a:defRPr sz="900" b="1">
                          <a:solidFill>
                            <a:srgbClr val="000000"/>
                          </a:solidFill>
                          <a:latin typeface="Montserrat"/>
                        </a:defRPr>
                      </a:pPr>
                      <a:r>
                        <a:t>-7%</a:t>
                      </a:r>
                    </a:p>
                  </a:txBody>
                  <a:tcPr>
                    <a:solidFill>
                      <a:srgbClr val="CCE0DD"/>
                    </a:solidFill>
                  </a:tcPr>
                </a:tc>
              </a:tr>
              <a:tr h="251999">
                <a:tc>
                  <a:txBody>
                    <a:bodyPr/>
                    <a:lstStyle/>
                    <a:p>
                      <a:pPr algn="l" lvl="1">
                        <a:defRPr sz="900" b="1">
                          <a:solidFill>
                            <a:srgbClr val="A61C00"/>
                          </a:solidFill>
                          <a:latin typeface="Montserrat"/>
                        </a:defRPr>
                      </a:pPr>
                      <a:r>
                        <a:t>Estudiantes</a:t>
                      </a:r>
                    </a:p>
                  </a:txBody>
                  <a:tcPr>
                    <a:solidFill>
                      <a:srgbClr val="EFEFEF"/>
                    </a:solidFill>
                  </a:tcPr>
                </a:tc>
                <a:tc>
                  <a:txBody>
                    <a:bodyPr/>
                    <a:lstStyle/>
                    <a:p>
                      <a:pPr algn="ctr">
                        <a:defRPr sz="900" b="1">
                          <a:solidFill>
                            <a:srgbClr val="A61C00"/>
                          </a:solidFill>
                          <a:latin typeface="Montserrat"/>
                        </a:defRPr>
                      </a:pPr>
                      <a:r>
                        <a:t>442,810</a:t>
                      </a:r>
                    </a:p>
                  </a:txBody>
                  <a:tcPr>
                    <a:solidFill>
                      <a:srgbClr val="EFEFEF"/>
                    </a:solidFill>
                  </a:tcPr>
                </a:tc>
                <a:tc>
                  <a:txBody>
                    <a:bodyPr/>
                    <a:lstStyle/>
                    <a:p>
                      <a:pPr algn="ctr">
                        <a:defRPr sz="900" b="1">
                          <a:solidFill>
                            <a:srgbClr val="A61C00"/>
                          </a:solidFill>
                          <a:latin typeface="Montserrat"/>
                        </a:defRPr>
                      </a:pPr>
                      <a:r>
                        <a:t>412,922</a:t>
                      </a:r>
                    </a:p>
                  </a:txBody>
                  <a:tcPr>
                    <a:solidFill>
                      <a:srgbClr val="EFEFEF"/>
                    </a:solidFill>
                  </a:tcPr>
                </a:tc>
                <a:tc>
                  <a:txBody>
                    <a:bodyPr/>
                    <a:lstStyle/>
                    <a:p>
                      <a:pPr algn="ctr">
                        <a:defRPr sz="900" b="1">
                          <a:solidFill>
                            <a:srgbClr val="A61C00"/>
                          </a:solidFill>
                          <a:latin typeface="Montserrat"/>
                        </a:defRPr>
                      </a:pPr>
                      <a:r>
                        <a:t>-7%</a:t>
                      </a:r>
                    </a:p>
                  </a:txBody>
                  <a:tcPr>
                    <a:solidFill>
                      <a:srgbClr val="EFEFEF"/>
                    </a:solidFill>
                  </a:tcPr>
                </a:tc>
              </a:tr>
              <a:tr h="251999">
                <a:tc>
                  <a:txBody>
                    <a:bodyPr/>
                    <a:lstStyle/>
                    <a:p>
                      <a:pPr algn="l" lvl="1">
                        <a:defRPr sz="900" b="1">
                          <a:solidFill>
                            <a:srgbClr val="A61C00"/>
                          </a:solidFill>
                          <a:latin typeface="Montserrat"/>
                        </a:defRPr>
                      </a:pPr>
                      <a:r>
                        <a:t>Seguro de Salud de Familia</a:t>
                      </a:r>
                    </a:p>
                  </a:txBody>
                  <a:tcPr>
                    <a:solidFill>
                      <a:srgbClr val="EFEFEF"/>
                    </a:solidFill>
                  </a:tcPr>
                </a:tc>
                <a:tc>
                  <a:txBody>
                    <a:bodyPr/>
                    <a:lstStyle/>
                    <a:p>
                      <a:pPr algn="ctr">
                        <a:defRPr sz="900" b="1">
                          <a:solidFill>
                            <a:srgbClr val="A61C00"/>
                          </a:solidFill>
                          <a:latin typeface="Montserrat"/>
                        </a:defRPr>
                      </a:pPr>
                      <a:r>
                        <a:t>43,078</a:t>
                      </a:r>
                    </a:p>
                  </a:txBody>
                  <a:tcPr>
                    <a:solidFill>
                      <a:srgbClr val="EFEFEF"/>
                    </a:solidFill>
                  </a:tcPr>
                </a:tc>
                <a:tc>
                  <a:txBody>
                    <a:bodyPr/>
                    <a:lstStyle/>
                    <a:p>
                      <a:pPr algn="ctr">
                        <a:defRPr sz="900" b="1">
                          <a:solidFill>
                            <a:srgbClr val="A61C00"/>
                          </a:solidFill>
                          <a:latin typeface="Montserrat"/>
                        </a:defRPr>
                      </a:pPr>
                      <a:r>
                        <a:t>35,816</a:t>
                      </a:r>
                    </a:p>
                  </a:txBody>
                  <a:tcPr>
                    <a:solidFill>
                      <a:srgbClr val="EFEFEF"/>
                    </a:solidFill>
                  </a:tcPr>
                </a:tc>
                <a:tc>
                  <a:txBody>
                    <a:bodyPr/>
                    <a:lstStyle/>
                    <a:p>
                      <a:pPr algn="ctr">
                        <a:defRPr sz="900" b="1">
                          <a:solidFill>
                            <a:srgbClr val="A61C00"/>
                          </a:solidFill>
                          <a:latin typeface="Montserrat"/>
                        </a:defRPr>
                      </a:pPr>
                      <a:r>
                        <a:t>-17%</a:t>
                      </a:r>
                    </a:p>
                  </a:txBody>
                  <a:tcPr>
                    <a:solidFill>
                      <a:srgbClr val="EFEFE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3,876</a:t>
                      </a:r>
                    </a:p>
                  </a:txBody>
                  <a:tcPr>
                    <a:solidFill>
                      <a:srgbClr val="FFFFFF"/>
                    </a:solidFill>
                  </a:tcPr>
                </a:tc>
                <a:tc>
                  <a:txBody>
                    <a:bodyPr/>
                    <a:lstStyle/>
                    <a:p>
                      <a:pPr algn="ctr">
                        <a:defRPr sz="900">
                          <a:solidFill>
                            <a:srgbClr val="000000"/>
                          </a:solidFill>
                          <a:latin typeface="Montserrat"/>
                        </a:defRPr>
                      </a:pPr>
                      <a:r>
                        <a:t>6,812</a:t>
                      </a:r>
                    </a:p>
                  </a:txBody>
                  <a:tcPr>
                    <a:solidFill>
                      <a:srgbClr val="FFFFFF"/>
                    </a:solidFill>
                  </a:tcPr>
                </a:tc>
                <a:tc>
                  <a:txBody>
                    <a:bodyPr/>
                    <a:lstStyle/>
                    <a:p>
                      <a:pPr algn="ctr">
                        <a:defRPr sz="900">
                          <a:solidFill>
                            <a:srgbClr val="000000"/>
                          </a:solidFill>
                          <a:latin typeface="Montserrat"/>
                        </a:defRPr>
                      </a:pPr>
                      <a:r>
                        <a:t>76%</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006455"/>
                    </a:solidFill>
                  </a:tcPr>
                </a:tc>
                <a:tc>
                  <a:txBody>
                    <a:bodyPr/>
                    <a:lstStyle/>
                    <a:p>
                      <a:pPr algn="ctr">
                        <a:defRPr sz="900" b="1">
                          <a:solidFill>
                            <a:srgbClr val="000000"/>
                          </a:solidFill>
                          <a:latin typeface="Montserrat"/>
                        </a:defRPr>
                      </a:pPr>
                      <a:r>
                        <a:t>1,227,326</a:t>
                      </a:r>
                    </a:p>
                  </a:txBody>
                  <a:tcPr>
                    <a:solidFill>
                      <a:srgbClr val="CCE0DD"/>
                    </a:solidFill>
                  </a:tcPr>
                </a:tc>
                <a:tc>
                  <a:txBody>
                    <a:bodyPr/>
                    <a:lstStyle/>
                    <a:p>
                      <a:pPr algn="ctr">
                        <a:defRPr sz="900" b="1">
                          <a:solidFill>
                            <a:srgbClr val="000000"/>
                          </a:solidFill>
                          <a:latin typeface="Montserrat"/>
                        </a:defRPr>
                      </a:pPr>
                      <a:r>
                        <a:t>1,230,826</a:t>
                      </a:r>
                    </a:p>
                  </a:txBody>
                  <a:tcPr>
                    <a:solidFill>
                      <a:srgbClr val="CCE0DD"/>
                    </a:solidFill>
                  </a:tcPr>
                </a:tc>
                <a:tc>
                  <a:txBody>
                    <a:bodyPr/>
                    <a:lstStyle/>
                    <a:p>
                      <a:pPr algn="ctr">
                        <a:defRPr sz="900" b="1">
                          <a:solidFill>
                            <a:srgbClr val="000000"/>
                          </a:solidFill>
                          <a:latin typeface="Montserrat"/>
                        </a:defRPr>
                      </a:pPr>
                      <a:r>
                        <a:t>0%</a:t>
                      </a:r>
                    </a:p>
                  </a:txBody>
                  <a:tcPr>
                    <a:solidFill>
                      <a:srgbClr val="CCE0DD"/>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426,959</a:t>
                      </a:r>
                    </a:p>
                  </a:txBody>
                  <a:tcPr>
                    <a:solidFill>
                      <a:srgbClr val="FFFFFF"/>
                    </a:solidFill>
                  </a:tcPr>
                </a:tc>
                <a:tc>
                  <a:txBody>
                    <a:bodyPr/>
                    <a:lstStyle/>
                    <a:p>
                      <a:pPr algn="ctr">
                        <a:defRPr sz="900">
                          <a:solidFill>
                            <a:srgbClr val="000000"/>
                          </a:solidFill>
                          <a:latin typeface="Montserrat"/>
                        </a:defRPr>
                      </a:pPr>
                      <a:r>
                        <a:t>445,408</a:t>
                      </a:r>
                    </a:p>
                  </a:txBody>
                  <a:tcPr>
                    <a:solidFill>
                      <a:srgbClr val="FFFFFF"/>
                    </a:solidFill>
                  </a:tcPr>
                </a:tc>
                <a:tc>
                  <a:txBody>
                    <a:bodyPr/>
                    <a:lstStyle/>
                    <a:p>
                      <a:pPr algn="ctr">
                        <a:defRPr sz="900">
                          <a:solidFill>
                            <a:srgbClr val="000000"/>
                          </a:solidFill>
                          <a:latin typeface="Montserrat"/>
                        </a:defRPr>
                      </a:pPr>
                      <a:r>
                        <a:t>4%</a:t>
                      </a:r>
                    </a:p>
                  </a:txBody>
                  <a:tcPr>
                    <a:solidFill>
                      <a:srgbClr val="FFFFFF"/>
                    </a:solidFill>
                  </a:tcPr>
                </a:tc>
              </a:tr>
              <a:tr h="251999">
                <a:tc>
                  <a:txBody>
                    <a:bodyPr/>
                    <a:lstStyle/>
                    <a:p>
                      <a:pPr algn="l" lvl="1">
                        <a:defRPr sz="900" b="1">
                          <a:solidFill>
                            <a:srgbClr val="A61C00"/>
                          </a:solidFill>
                          <a:latin typeface="Montserrat"/>
                        </a:defRPr>
                      </a:pPr>
                      <a:r>
                        <a:t>Hijas e hijos</a:t>
                      </a:r>
                    </a:p>
                  </a:txBody>
                  <a:tcPr>
                    <a:solidFill>
                      <a:srgbClr val="EFEFEF"/>
                    </a:solidFill>
                  </a:tcPr>
                </a:tc>
                <a:tc>
                  <a:txBody>
                    <a:bodyPr/>
                    <a:lstStyle/>
                    <a:p>
                      <a:pPr algn="ctr">
                        <a:defRPr sz="900" b="1">
                          <a:solidFill>
                            <a:srgbClr val="A61C00"/>
                          </a:solidFill>
                          <a:latin typeface="Montserrat"/>
                        </a:defRPr>
                      </a:pPr>
                      <a:r>
                        <a:t>519,589</a:t>
                      </a:r>
                    </a:p>
                  </a:txBody>
                  <a:tcPr>
                    <a:solidFill>
                      <a:srgbClr val="EFEFEF"/>
                    </a:solidFill>
                  </a:tcPr>
                </a:tc>
                <a:tc>
                  <a:txBody>
                    <a:bodyPr/>
                    <a:lstStyle/>
                    <a:p>
                      <a:pPr algn="ctr">
                        <a:defRPr sz="900" b="1">
                          <a:solidFill>
                            <a:srgbClr val="A61C00"/>
                          </a:solidFill>
                          <a:latin typeface="Montserrat"/>
                        </a:defRPr>
                      </a:pPr>
                      <a:r>
                        <a:t>436,000</a:t>
                      </a:r>
                    </a:p>
                  </a:txBody>
                  <a:tcPr>
                    <a:solidFill>
                      <a:srgbClr val="EFEFEF"/>
                    </a:solidFill>
                  </a:tcPr>
                </a:tc>
                <a:tc>
                  <a:txBody>
                    <a:bodyPr/>
                    <a:lstStyle/>
                    <a:p>
                      <a:pPr algn="ctr">
                        <a:defRPr sz="900" b="1">
                          <a:solidFill>
                            <a:srgbClr val="A61C00"/>
                          </a:solidFill>
                          <a:latin typeface="Montserrat"/>
                        </a:defRPr>
                      </a:pPr>
                      <a:r>
                        <a:t>-16%</a:t>
                      </a:r>
                    </a:p>
                  </a:txBody>
                  <a:tcPr>
                    <a:solidFill>
                      <a:srgbClr val="EFEFE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280,778</a:t>
                      </a:r>
                    </a:p>
                  </a:txBody>
                  <a:tcPr>
                    <a:solidFill>
                      <a:srgbClr val="FFFFFF"/>
                    </a:solidFill>
                  </a:tcPr>
                </a:tc>
                <a:tc>
                  <a:txBody>
                    <a:bodyPr/>
                    <a:lstStyle/>
                    <a:p>
                      <a:pPr algn="ctr">
                        <a:defRPr sz="900">
                          <a:solidFill>
                            <a:srgbClr val="000000"/>
                          </a:solidFill>
                          <a:latin typeface="Montserrat"/>
                        </a:defRPr>
                      </a:pPr>
                      <a:r>
                        <a:t>349,418</a:t>
                      </a:r>
                    </a:p>
                  </a:txBody>
                  <a:tcPr>
                    <a:solidFill>
                      <a:srgbClr val="FFFFFF"/>
                    </a:solidFill>
                  </a:tcPr>
                </a:tc>
                <a:tc>
                  <a:txBody>
                    <a:bodyPr/>
                    <a:lstStyle/>
                    <a:p>
                      <a:pPr algn="ctr">
                        <a:defRPr sz="900">
                          <a:solidFill>
                            <a:srgbClr val="000000"/>
                          </a:solidFill>
                          <a:latin typeface="Montserrat"/>
                        </a:defRPr>
                      </a:pPr>
                      <a:r>
                        <a:t>24%</a:t>
                      </a:r>
                    </a:p>
                  </a:txBody>
                  <a:tcPr>
                    <a:solidFill>
                      <a:srgbClr val="FFFFFF"/>
                    </a:solidFill>
                  </a:tcPr>
                </a:tc>
              </a:tr>
            </a:tbl>
          </a:graphicData>
        </a:graphic>
      </p:graphicFrame>
      <p:sp>
        <p:nvSpPr>
          <p:cNvPr id="142" name="TextBox 141"/>
          <p:cNvSpPr txBox="1"/>
          <p:nvPr/>
        </p:nvSpPr>
        <p:spPr>
          <a:xfrm>
            <a:off x="82800" y="8762400"/>
            <a:ext cx="5864400" cy="360000"/>
          </a:xfrm>
          <a:prstGeom prst="rect">
            <a:avLst/>
          </a:prstGeom>
          <a:noFill/>
        </p:spPr>
        <p:txBody>
          <a:bodyPr wrap="square">
            <a:spAutoFit/>
          </a:bodyPr>
          <a:lstStyle/>
          <a:p>
            <a:pPr algn="l">
              <a:defRPr sz="800">
                <a:solidFill>
                  <a:srgbClr val="000000"/>
                </a:solidFill>
                <a:latin typeface="Noto Sans"/>
              </a:defRPr>
            </a:pPr>
            <a:r>
              <a:t>Fuente: Dirección de Incorporación y Recaudación, IMSS, datos abiertos con información mensual del número de personas derechohabientes adscritas a clínicas del IMSS. Corte enero de 2026.</a:t>
            </a:r>
          </a:p>
        </p:txBody>
      </p:sp>
      <p:graphicFrame>
        <p:nvGraphicFramePr>
          <p:cNvPr id="143" name="Table 142"/>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febrero</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11,183</a:t>
                      </a:r>
                    </a:p>
                  </a:txBody>
                  <a:tcPr>
                    <a:solidFill>
                      <a:srgbClr val="F8F4EC"/>
                    </a:solidFill>
                  </a:tcPr>
                </a:tc>
                <a:tc>
                  <a:txBody>
                    <a:bodyPr/>
                    <a:lstStyle/>
                    <a:p>
                      <a:pPr algn="ctr">
                        <a:defRPr b="1" sz="900">
                          <a:latin typeface="Montserrat"/>
                        </a:defRPr>
                      </a:pPr>
                      <a:r>
                        <a:t>15,717</a:t>
                      </a:r>
                    </a:p>
                  </a:txBody>
                  <a:tcPr>
                    <a:solidFill>
                      <a:srgbClr val="F8F4EC"/>
                    </a:solidFill>
                  </a:tcPr>
                </a:tc>
                <a:tc>
                  <a:txBody>
                    <a:bodyPr/>
                    <a:lstStyle/>
                    <a:p>
                      <a:pPr algn="ctr">
                        <a:defRPr b="1" sz="900">
                          <a:latin typeface="Montserrat"/>
                        </a:defRPr>
                      </a:pPr>
                      <a:r>
                        <a:t>41%</a:t>
                      </a:r>
                    </a:p>
                  </a:txBody>
                  <a:tcPr>
                    <a:solidFill>
                      <a:srgbClr val="F8F4EC"/>
                    </a:solidFill>
                  </a:tcPr>
                </a:tc>
              </a:tr>
            </a:tbl>
          </a:graphicData>
        </a:graphic>
      </p:graphicFrame>
      <p:graphicFrame>
        <p:nvGraphicFramePr>
          <p:cNvPr id="144" name="Table 143"/>
          <p:cNvGraphicFramePr>
            <a:graphicFrameLocks noGrp="1"/>
          </p:cNvGraphicFramePr>
          <p:nvPr/>
        </p:nvGraphicFramePr>
        <p:xfrm>
          <a:off x="5947200" y="8733600"/>
          <a:ext cx="1738800" cy="550800"/>
        </p:xfrm>
        <a:graphic>
          <a:graphicData uri="http://schemas.openxmlformats.org/drawingml/2006/table">
            <a:tbl>
              <a:tblPr firstRow="1" bandRow="1">
                <a:tableStyleId>{5C22544A-7EE6-4342-B048-85BDC9FD1C3A}</a:tableStyleId>
              </a:tblPr>
              <a:tblGrid>
                <a:gridCol w="1738800"/>
              </a:tblGrid>
              <a:tr h="216000">
                <a:tc>
                  <a:txBody>
                    <a:bodyPr/>
                    <a:lstStyle/>
                    <a:p>
                      <a:pPr algn="ctr">
                        <a:defRPr sz="1000" b="1">
                          <a:solidFill>
                            <a:srgbClr val="FFFFFF"/>
                          </a:solidFill>
                          <a:latin typeface="Montserrat"/>
                        </a:defRPr>
                      </a:pPr>
                      <a:r>
                        <a:t>febrero 2026</a:t>
                      </a:r>
                    </a:p>
                  </a:txBody>
                  <a:tcPr anchor="ctr">
                    <a:solidFill>
                      <a:srgbClr val="006455"/>
                    </a:solidFill>
                  </a:tcPr>
                </a:tc>
              </a:tr>
              <a:tr h="334800">
                <a:tc>
                  <a:txBody>
                    <a:bodyPr/>
                    <a:lstStyle/>
                    <a:p>
                      <a:pPr algn="ctr">
                        <a:defRPr sz="1200" b="1">
                          <a:solidFill>
                            <a:srgbClr val="000000"/>
                          </a:solidFill>
                          <a:latin typeface="Montserrat"/>
                        </a:defRPr>
                      </a:pPr>
                      <a:r>
                        <a:t>0</a:t>
                      </a:r>
                    </a:p>
                  </a:txBody>
                  <a:tcPr anchor="ctr">
                    <a:solidFill>
                      <a:srgbClr val="F8F4EC"/>
                    </a:solidFill>
                  </a:tcPr>
                </a:tc>
              </a:tr>
            </a:tbl>
          </a:graphicData>
        </a:graphic>
      </p:graphicFrame>
      <p:sp>
        <p:nvSpPr>
          <p:cNvPr id="145" name="TextBox 144"/>
          <p:cNvSpPr txBox="1"/>
          <p:nvPr/>
        </p:nvSpPr>
        <p:spPr>
          <a:xfrm>
            <a:off x="82800" y="9093600"/>
            <a:ext cx="5864400" cy="360000"/>
          </a:xfrm>
          <a:prstGeom prst="rect">
            <a:avLst/>
          </a:prstGeom>
          <a:noFill/>
        </p:spPr>
        <p:txBody>
          <a:bodyPr wrap="square">
            <a:spAutoFit/>
          </a:bodyPr>
          <a:lstStyle/>
          <a:p>
            <a:pPr algn="l">
              <a:defRPr sz="800">
                <a:solidFill>
                  <a:srgbClr val="000000"/>
                </a:solidFill>
                <a:latin typeface="Noto Sans"/>
              </a:defRPr>
            </a:pPr>
            <a:r>
              <a:t>*La afiliación al Seguro de Salud de Familia disminuye en virtud del incremento en los nuevos esquemas de aseguramiento.</a:t>
            </a:r>
          </a:p>
        </p:txBody>
      </p:sp>
      <p:sp>
        <p:nvSpPr>
          <p:cNvPr id="146" name="TextBox 14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30_ver.png"/>
          <p:cNvPicPr>
            <a:picLocks noChangeAspect="1"/>
          </p:cNvPicPr>
          <p:nvPr/>
        </p:nvPicPr>
        <p:blipFill>
          <a:blip r:embed="rId4"/>
          <a:stretch>
            <a:fillRect/>
          </a:stretch>
        </p:blipFill>
        <p:spPr>
          <a:xfrm>
            <a:off x="198000" y="1944000"/>
            <a:ext cx="5886000" cy="4543200"/>
          </a:xfrm>
          <a:prstGeom prst="rect">
            <a:avLst/>
          </a:prstGeom>
        </p:spPr>
      </p:pic>
      <p:graphicFrame>
        <p:nvGraphicFramePr>
          <p:cNvPr id="135" name="Table 134"/>
          <p:cNvGraphicFramePr>
            <a:graphicFrameLocks noGrp="1"/>
          </p:cNvGraphicFramePr>
          <p:nvPr/>
        </p:nvGraphicFramePr>
        <p:xfrm>
          <a:off x="972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solidFill>
                      <a:srgbClr val="006455"/>
                    </a:solidFill>
                  </a:tcPr>
                </a:tc>
                <a:tc>
                  <a:txBody>
                    <a:bodyPr/>
                    <a:lstStyle/>
                    <a:p>
                      <a:pPr algn="ctr">
                        <a:defRPr b="1" sz="1000">
                          <a:solidFill>
                            <a:srgbClr val="FFFFFF"/>
                          </a:solidFill>
                          <a:latin typeface="Montserrat"/>
                        </a:defRPr>
                      </a:pPr>
                      <a:r>
                        <a:t>Unidades</a:t>
                      </a:r>
                    </a:p>
                  </a:txBody>
                  <a:tcPr marL="10800" marR="10800" marT="10800" marB="10800">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solidFill>
                      <a:srgbClr val="006455"/>
                    </a:solidFill>
                  </a:tcPr>
                </a:tc>
                <a:tc>
                  <a:txBody>
                    <a:bodyPr/>
                    <a:lstStyle/>
                    <a:p>
                      <a:pPr algn="ctr">
                        <a:defRPr b="1" sz="1000">
                          <a:solidFill>
                            <a:srgbClr val="FFFFFF"/>
                          </a:solidFill>
                          <a:latin typeface="Montserrat"/>
                        </a:defRPr>
                      </a:pPr>
                      <a:r>
                        <a:t>Camas</a:t>
                      </a:r>
                    </a:p>
                  </a:txBody>
                  <a:tcPr marL="10800" marR="10800" marT="10800" marB="10800">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solidFill>
                      <a:srgbClr val="006455"/>
                    </a:solidFill>
                  </a:tcPr>
                </a:tc>
              </a:tr>
              <a:tr h="234000">
                <a:tc>
                  <a:txBody>
                    <a:bodyPr/>
                    <a:lstStyle/>
                    <a:p>
                      <a:pPr algn="l">
                        <a:defRPr sz="1000">
                          <a:solidFill>
                            <a:srgbClr val="000000"/>
                          </a:solidFill>
                          <a:latin typeface="Montserrat"/>
                        </a:defRPr>
                      </a:pPr>
                      <a:r>
                        <a:t>Primer</a:t>
                      </a:r>
                    </a:p>
                  </a:txBody>
                  <a:tcPr marL="10800" marR="10800" marT="10800" marB="10800">
                    <a:solidFill>
                      <a:srgbClr val="FFFFFF"/>
                    </a:solidFill>
                  </a:tcPr>
                </a:tc>
                <a:tc>
                  <a:txBody>
                    <a:bodyPr/>
                    <a:lstStyle/>
                    <a:p>
                      <a:pPr algn="ctr">
                        <a:defRPr sz="1000">
                          <a:solidFill>
                            <a:srgbClr val="000000"/>
                          </a:solidFill>
                          <a:latin typeface="Montserrat"/>
                        </a:defRPr>
                      </a:pPr>
                      <a:r>
                        <a:t>104</a:t>
                      </a:r>
                    </a:p>
                  </a:txBody>
                  <a:tcPr marL="10800" marR="10800" marT="10800" marB="10800">
                    <a:solidFill>
                      <a:srgbClr val="FFFFFF"/>
                    </a:solidFill>
                  </a:tcPr>
                </a:tc>
                <a:tc>
                  <a:txBody>
                    <a:bodyPr/>
                    <a:lstStyle/>
                    <a:p>
                      <a:pPr algn="ctr">
                        <a:defRPr sz="1000">
                          <a:solidFill>
                            <a:srgbClr val="000000"/>
                          </a:solidFill>
                          <a:latin typeface="Montserrat"/>
                        </a:defRPr>
                      </a:pPr>
                      <a:r>
                        <a:t>371</a:t>
                      </a:r>
                    </a:p>
                  </a:txBody>
                  <a:tcPr marL="10800" marR="10800" marT="10800" marB="10800">
                    <a:solidFill>
                      <a:srgbClr val="FFFFFF"/>
                    </a:solidFill>
                  </a:tcPr>
                </a:tc>
                <a:tc>
                  <a:txBody>
                    <a:bodyPr/>
                    <a:lstStyle/>
                    <a:p>
                      <a:pPr algn="ctr">
                        <a:defRPr sz="1000">
                          <a:solidFill>
                            <a:srgbClr val="000000"/>
                          </a:solidFill>
                          <a:latin typeface="Montserrat"/>
                        </a:defRPr>
                      </a:pPr>
                      <a:r>
                        <a:t>0</a:t>
                      </a:r>
                    </a:p>
                  </a:txBody>
                  <a:tcPr marL="10800" marR="10800" marT="10800" marB="10800">
                    <a:solidFill>
                      <a:srgbClr val="FFFFFF"/>
                    </a:solidFill>
                  </a:tcPr>
                </a:tc>
                <a:tc>
                  <a:txBody>
                    <a:bodyPr/>
                    <a:lstStyle/>
                    <a:p>
                      <a:pPr algn="ctr">
                        <a:defRPr sz="1000">
                          <a:solidFill>
                            <a:srgbClr val="000000"/>
                          </a:solidFill>
                          <a:latin typeface="Montserrat"/>
                        </a:defRPr>
                      </a:pPr>
                      <a:r>
                        <a:t>208</a:t>
                      </a:r>
                    </a:p>
                  </a:txBody>
                  <a:tcPr marL="10800" marR="10800" marT="10800" marB="10800">
                    <a:solidFill>
                      <a:srgbClr val="FFFFFF"/>
                    </a:solidFill>
                  </a:tcPr>
                </a:tc>
              </a:tr>
              <a:tr h="234000">
                <a:tc>
                  <a:txBody>
                    <a:bodyPr/>
                    <a:lstStyle/>
                    <a:p>
                      <a:pPr algn="l">
                        <a:defRPr sz="1000">
                          <a:solidFill>
                            <a:srgbClr val="000000"/>
                          </a:solidFill>
                          <a:latin typeface="Montserrat"/>
                        </a:defRPr>
                      </a:pPr>
                      <a:r>
                        <a:t>Segundo</a:t>
                      </a:r>
                    </a:p>
                  </a:txBody>
                  <a:tcPr marL="10800" marR="10800" marT="10800" marB="10800">
                    <a:solidFill>
                      <a:srgbClr val="EFEFEF"/>
                    </a:solidFill>
                  </a:tcPr>
                </a:tc>
                <a:tc>
                  <a:txBody>
                    <a:bodyPr/>
                    <a:lstStyle/>
                    <a:p>
                      <a:pPr algn="ctr">
                        <a:defRPr sz="1000">
                          <a:solidFill>
                            <a:srgbClr val="000000"/>
                          </a:solidFill>
                          <a:latin typeface="Montserrat"/>
                        </a:defRPr>
                      </a:pPr>
                      <a:r>
                        <a:t>17</a:t>
                      </a:r>
                    </a:p>
                  </a:txBody>
                  <a:tcPr marL="10800" marR="10800" marT="10800" marB="10800">
                    <a:solidFill>
                      <a:srgbClr val="EFEFEF"/>
                    </a:solidFill>
                  </a:tcPr>
                </a:tc>
                <a:tc>
                  <a:txBody>
                    <a:bodyPr/>
                    <a:lstStyle/>
                    <a:p>
                      <a:pPr algn="ctr">
                        <a:defRPr sz="1000">
                          <a:solidFill>
                            <a:srgbClr val="000000"/>
                          </a:solidFill>
                          <a:latin typeface="Montserrat"/>
                        </a:defRPr>
                      </a:pPr>
                      <a:r>
                        <a:t>58</a:t>
                      </a:r>
                    </a:p>
                  </a:txBody>
                  <a:tcPr marL="10800" marR="10800" marT="10800" marB="10800">
                    <a:solidFill>
                      <a:srgbClr val="EFEFEF"/>
                    </a:solidFill>
                  </a:tcPr>
                </a:tc>
                <a:tc>
                  <a:txBody>
                    <a:bodyPr/>
                    <a:lstStyle/>
                    <a:p>
                      <a:pPr algn="ctr">
                        <a:defRPr sz="1000">
                          <a:solidFill>
                            <a:srgbClr val="000000"/>
                          </a:solidFill>
                          <a:latin typeface="Montserrat"/>
                        </a:defRPr>
                      </a:pPr>
                      <a:r>
                        <a:t>1,529</a:t>
                      </a:r>
                    </a:p>
                  </a:txBody>
                  <a:tcPr marL="10800" marR="10800" marT="10800" marB="10800">
                    <a:solidFill>
                      <a:srgbClr val="EFEFEF"/>
                    </a:solidFill>
                  </a:tcPr>
                </a:tc>
                <a:tc>
                  <a:txBody>
                    <a:bodyPr/>
                    <a:lstStyle/>
                    <a:p>
                      <a:pPr algn="ctr">
                        <a:defRPr sz="1000">
                          <a:solidFill>
                            <a:srgbClr val="000000"/>
                          </a:solidFill>
                          <a:latin typeface="Montserrat"/>
                        </a:defRPr>
                      </a:pPr>
                      <a:r>
                        <a:t>676</a:t>
                      </a:r>
                    </a:p>
                  </a:txBody>
                  <a:tcPr marL="10800" marR="10800" marT="10800" marB="10800">
                    <a:solidFill>
                      <a:srgbClr val="EFEFEF"/>
                    </a:solidFill>
                  </a:tcPr>
                </a:tc>
              </a:tr>
              <a:tr h="234000">
                <a:tc>
                  <a:txBody>
                    <a:bodyPr/>
                    <a:lstStyle/>
                    <a:p>
                      <a:pPr algn="l">
                        <a:defRPr sz="1000">
                          <a:solidFill>
                            <a:srgbClr val="000000"/>
                          </a:solidFill>
                          <a:latin typeface="Montserrat"/>
                        </a:defRPr>
                      </a:pPr>
                      <a:r>
                        <a:t>Tercer</a:t>
                      </a:r>
                    </a:p>
                  </a:txBody>
                  <a:tcPr marL="10800" marR="10800" marT="10800" marB="10800">
                    <a:solidFill>
                      <a:srgbClr val="FFFFFF"/>
                    </a:solidFill>
                  </a:tcPr>
                </a:tc>
                <a:tc>
                  <a:txBody>
                    <a:bodyPr/>
                    <a:lstStyle/>
                    <a:p>
                      <a:pPr algn="ctr">
                        <a:defRPr sz="1000">
                          <a:solidFill>
                            <a:srgbClr val="000000"/>
                          </a:solidFill>
                          <a:latin typeface="Montserrat"/>
                        </a:defRPr>
                      </a:pPr>
                      <a:r>
                        <a:t>1</a:t>
                      </a:r>
                    </a:p>
                  </a:txBody>
                  <a:tcPr marL="10800" marR="10800" marT="10800" marB="10800">
                    <a:solidFill>
                      <a:srgbClr val="FFFFFF"/>
                    </a:solidFill>
                  </a:tcPr>
                </a:tc>
                <a:tc>
                  <a:txBody>
                    <a:bodyPr/>
                    <a:lstStyle/>
                    <a:p>
                      <a:pPr algn="ctr">
                        <a:defRPr sz="1000">
                          <a:solidFill>
                            <a:srgbClr val="000000"/>
                          </a:solidFill>
                          <a:latin typeface="Montserrat"/>
                        </a:defRPr>
                      </a:pPr>
                      <a:r>
                        <a:t>0</a:t>
                      </a:r>
                    </a:p>
                  </a:txBody>
                  <a:tcPr marL="10800" marR="10800" marT="10800" marB="10800">
                    <a:solidFill>
                      <a:srgbClr val="FFFFFF"/>
                    </a:solidFill>
                  </a:tcPr>
                </a:tc>
                <a:tc>
                  <a:txBody>
                    <a:bodyPr/>
                    <a:lstStyle/>
                    <a:p>
                      <a:pPr algn="ctr">
                        <a:defRPr sz="1000">
                          <a:solidFill>
                            <a:srgbClr val="000000"/>
                          </a:solidFill>
                          <a:latin typeface="Montserrat"/>
                        </a:defRPr>
                      </a:pPr>
                      <a:r>
                        <a:t>329</a:t>
                      </a:r>
                    </a:p>
                  </a:txBody>
                  <a:tcPr marL="10800" marR="10800" marT="10800" marB="10800">
                    <a:solidFill>
                      <a:srgbClr val="FFFFFF"/>
                    </a:solidFill>
                  </a:tcPr>
                </a:tc>
                <a:tc>
                  <a:txBody>
                    <a:bodyPr/>
                    <a:lstStyle/>
                    <a:p>
                      <a:pPr algn="ctr">
                        <a:defRPr sz="1000">
                          <a:solidFill>
                            <a:srgbClr val="000000"/>
                          </a:solidFill>
                          <a:latin typeface="Montserrat"/>
                        </a:defRPr>
                      </a:pPr>
                      <a:r>
                        <a:t>107</a:t>
                      </a:r>
                    </a:p>
                  </a:txBody>
                  <a:tcPr marL="10800" marR="10800" marT="10800" marB="10800">
                    <a:solidFill>
                      <a:srgbClr val="FFFFFF"/>
                    </a:solidFill>
                  </a:tcPr>
                </a:tc>
              </a:tr>
              <a:tr h="234000">
                <a:tc>
                  <a:txBody>
                    <a:bodyPr/>
                    <a:lstStyle/>
                    <a:p>
                      <a:pPr algn="l">
                        <a:defRPr sz="1000" b="1">
                          <a:solidFill>
                            <a:srgbClr val="006556"/>
                          </a:solidFill>
                          <a:latin typeface="Montserrat"/>
                        </a:defRPr>
                      </a:pPr>
                      <a:r>
                        <a:t>Total</a:t>
                      </a:r>
                    </a:p>
                  </a:txBody>
                  <a:tcPr marL="10800" marR="10800" marT="10800" marB="10800">
                    <a:solidFill>
                      <a:srgbClr val="D3E9E7"/>
                    </a:solidFill>
                  </a:tcPr>
                </a:tc>
                <a:tc>
                  <a:txBody>
                    <a:bodyPr/>
                    <a:lstStyle/>
                    <a:p>
                      <a:pPr algn="ctr">
                        <a:defRPr sz="1000" b="1">
                          <a:solidFill>
                            <a:srgbClr val="006556"/>
                          </a:solidFill>
                          <a:latin typeface="Montserrat"/>
                        </a:defRPr>
                      </a:pPr>
                      <a:r>
                        <a:t>122</a:t>
                      </a:r>
                    </a:p>
                  </a:txBody>
                  <a:tcPr marL="10800" marR="10800" marT="10800" marB="10800">
                    <a:solidFill>
                      <a:srgbClr val="D3E9E7"/>
                    </a:solidFill>
                  </a:tcPr>
                </a:tc>
                <a:tc>
                  <a:txBody>
                    <a:bodyPr/>
                    <a:lstStyle/>
                    <a:p>
                      <a:pPr algn="ctr">
                        <a:defRPr sz="1000" b="1">
                          <a:solidFill>
                            <a:srgbClr val="006556"/>
                          </a:solidFill>
                          <a:latin typeface="Montserrat"/>
                        </a:defRPr>
                      </a:pPr>
                      <a:r>
                        <a:t>429</a:t>
                      </a:r>
                    </a:p>
                  </a:txBody>
                  <a:tcPr marL="10800" marR="10800" marT="10800" marB="10800">
                    <a:solidFill>
                      <a:srgbClr val="D3E9E7"/>
                    </a:solidFill>
                  </a:tcPr>
                </a:tc>
                <a:tc>
                  <a:txBody>
                    <a:bodyPr/>
                    <a:lstStyle/>
                    <a:p>
                      <a:pPr algn="ctr">
                        <a:defRPr sz="1000" b="1">
                          <a:solidFill>
                            <a:srgbClr val="006556"/>
                          </a:solidFill>
                          <a:latin typeface="Montserrat"/>
                        </a:defRPr>
                      </a:pPr>
                      <a:r>
                        <a:t>1,858</a:t>
                      </a:r>
                    </a:p>
                  </a:txBody>
                  <a:tcPr marL="10800" marR="10800" marT="10800" marB="10800">
                    <a:solidFill>
                      <a:srgbClr val="D3E9E7"/>
                    </a:solidFill>
                  </a:tcPr>
                </a:tc>
                <a:tc>
                  <a:txBody>
                    <a:bodyPr/>
                    <a:lstStyle/>
                    <a:p>
                      <a:pPr algn="ctr">
                        <a:defRPr sz="1000" b="1">
                          <a:solidFill>
                            <a:srgbClr val="006556"/>
                          </a:solidFill>
                          <a:latin typeface="Montserrat"/>
                        </a:defRPr>
                      </a:pPr>
                      <a:r>
                        <a:t>991</a:t>
                      </a:r>
                    </a:p>
                  </a:txBody>
                  <a:tcPr marL="10800" marR="10800" marT="10800" marB="10800">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476000"/>
        </p:xfrm>
        <a:graphic>
          <a:graphicData uri="http://schemas.openxmlformats.org/drawingml/2006/table">
            <a:tbl>
              <a:tblPr firstRow="1" bandRow="1">
                <a:tableStyleId>{5C22544A-7EE6-4342-B048-85BDC9FD1C3A}</a:tableStyleId>
              </a:tblPr>
              <a:tblGrid>
                <a:gridCol w="846000"/>
                <a:gridCol w="846000"/>
                <a:gridCol w="846000"/>
                <a:gridCol w="558000"/>
              </a:tblGrid>
              <a:tr h="295200">
                <a:tc gridSpan="4">
                  <a:txBody>
                    <a:bodyPr/>
                    <a:lstStyle/>
                    <a:p>
                      <a:pPr algn="ctr">
                        <a:defRPr b="1" sz="1000">
                          <a:solidFill>
                            <a:srgbClr val="FFFFFF"/>
                          </a:solidFill>
                          <a:latin typeface="Montserrat"/>
                        </a:defRPr>
                      </a:pPr>
                      <a:r>
                        <a:t>IMSS-COPLAMAR</a:t>
                      </a:r>
                    </a:p>
                  </a:txBody>
                  <a:tcPr marL="10800" marR="10800" marT="10800" marB="10800">
                    <a:solidFill>
                      <a:srgbClr val="BC955C"/>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95200">
                <a:tc>
                  <a:txBody>
                    <a:bodyPr/>
                    <a:lstStyle/>
                    <a:p>
                      <a:pPr algn="ctr">
                        <a:defRPr b="1" sz="1000">
                          <a:solidFill>
                            <a:srgbClr val="FFFFFF"/>
                          </a:solidFill>
                          <a:latin typeface="Montserrat"/>
                        </a:defRPr>
                      </a:pPr>
                      <a:r>
                        <a:t>Nivel</a:t>
                      </a:r>
                    </a:p>
                  </a:txBody>
                  <a:tcPr marL="10800" marR="10800" marT="10800" marB="10800">
                    <a:solidFill>
                      <a:srgbClr val="BC955C"/>
                    </a:solidFill>
                  </a:tcPr>
                </a:tc>
                <a:tc>
                  <a:txBody>
                    <a:bodyPr/>
                    <a:lstStyle/>
                    <a:p>
                      <a:pPr algn="ctr">
                        <a:defRPr b="1" sz="1000">
                          <a:solidFill>
                            <a:srgbClr val="FFFFFF"/>
                          </a:solidFill>
                          <a:latin typeface="Montserrat"/>
                        </a:defRPr>
                      </a:pPr>
                      <a:r>
                        <a:t>Unidades</a:t>
                      </a:r>
                    </a:p>
                  </a:txBody>
                  <a:tcPr marL="0" marR="0" marT="10800" marB="10800">
                    <a:solidFill>
                      <a:srgbClr val="BC955C"/>
                    </a:solidFill>
                  </a:tcPr>
                </a:tc>
                <a:tc>
                  <a:txBody>
                    <a:bodyPr/>
                    <a:lstStyle/>
                    <a:p>
                      <a:pPr algn="ctr">
                        <a:defRPr b="1" sz="1000">
                          <a:solidFill>
                            <a:srgbClr val="FFFFFF"/>
                          </a:solidFill>
                          <a:latin typeface="Montserrat"/>
                        </a:defRPr>
                      </a:pPr>
                      <a:r>
                        <a:t>Consultorios de MF</a:t>
                      </a:r>
                    </a:p>
                  </a:txBody>
                  <a:tcPr marL="0" marR="0" marT="10800" marB="10800">
                    <a:solidFill>
                      <a:srgbClr val="BC955C"/>
                    </a:solidFill>
                  </a:tcPr>
                </a:tc>
                <a:tc>
                  <a:txBody>
                    <a:bodyPr/>
                    <a:lstStyle/>
                    <a:p>
                      <a:pPr algn="ctr">
                        <a:defRPr b="1" sz="1000">
                          <a:solidFill>
                            <a:srgbClr val="FFFFFF"/>
                          </a:solidFill>
                          <a:latin typeface="Montserrat"/>
                        </a:defRPr>
                      </a:pPr>
                      <a:r>
                        <a:t>Camas</a:t>
                      </a:r>
                    </a:p>
                  </a:txBody>
                  <a:tcPr marL="0" marR="0" marT="10800" marB="10800">
                    <a:solidFill>
                      <a:srgbClr val="BC955C"/>
                    </a:solidFill>
                  </a:tcPr>
                </a:tc>
              </a:tr>
              <a:tr h="295200">
                <a:tc>
                  <a:txBody>
                    <a:bodyPr/>
                    <a:lstStyle/>
                    <a:p>
                      <a:pPr algn="l">
                        <a:defRPr sz="1000">
                          <a:solidFill>
                            <a:srgbClr val="000000"/>
                          </a:solidFill>
                          <a:latin typeface="Montserrat"/>
                        </a:defRPr>
                      </a:pPr>
                      <a:r>
                        <a:t>Primer</a:t>
                      </a:r>
                    </a:p>
                  </a:txBody>
                  <a:tcPr marL="10800" marR="10800" marT="10800" marB="10800">
                    <a:solidFill>
                      <a:srgbClr val="FFFFFF"/>
                    </a:solidFill>
                  </a:tcPr>
                </a:tc>
                <a:tc>
                  <a:txBody>
                    <a:bodyPr/>
                    <a:lstStyle/>
                    <a:p>
                      <a:pPr algn="ctr">
                        <a:defRPr sz="1000">
                          <a:solidFill>
                            <a:srgbClr val="000000"/>
                          </a:solidFill>
                          <a:latin typeface="Montserrat"/>
                        </a:defRPr>
                      </a:pPr>
                      <a:r>
                        <a:t>554</a:t>
                      </a:r>
                    </a:p>
                  </a:txBody>
                  <a:tcPr marL="10800" marR="10800" marT="10800" marB="10800">
                    <a:solidFill>
                      <a:srgbClr val="FFFFFF"/>
                    </a:solidFill>
                  </a:tcPr>
                </a:tc>
                <a:tc>
                  <a:txBody>
                    <a:bodyPr/>
                    <a:lstStyle/>
                    <a:p>
                      <a:pPr algn="ctr">
                        <a:defRPr sz="1000">
                          <a:solidFill>
                            <a:srgbClr val="000000"/>
                          </a:solidFill>
                          <a:latin typeface="Montserrat"/>
                        </a:defRPr>
                      </a:pPr>
                      <a:r>
                        <a:t>519</a:t>
                      </a:r>
                    </a:p>
                  </a:txBody>
                  <a:tcPr marL="10800" marR="10800" marT="10800" marB="10800">
                    <a:solidFill>
                      <a:srgbClr val="FFFFFF"/>
                    </a:solidFill>
                  </a:tcPr>
                </a:tc>
                <a:tc>
                  <a:txBody>
                    <a:bodyPr/>
                    <a:lstStyle/>
                    <a:p>
                      <a:pPr algn="ctr">
                        <a:defRPr sz="1000">
                          <a:solidFill>
                            <a:srgbClr val="000000"/>
                          </a:solidFill>
                          <a:latin typeface="Montserrat"/>
                        </a:defRPr>
                      </a:pPr>
                      <a:r>
                        <a:t>0</a:t>
                      </a:r>
                    </a:p>
                  </a:txBody>
                  <a:tcPr marL="10800" marR="10800" marT="10800" marB="10800">
                    <a:solidFill>
                      <a:srgbClr val="FFFFFF"/>
                    </a:solidFill>
                  </a:tcPr>
                </a:tc>
              </a:tr>
              <a:tr h="295200">
                <a:tc>
                  <a:txBody>
                    <a:bodyPr/>
                    <a:lstStyle/>
                    <a:p>
                      <a:pPr algn="l">
                        <a:defRPr sz="1000">
                          <a:solidFill>
                            <a:srgbClr val="000000"/>
                          </a:solidFill>
                          <a:latin typeface="Montserrat"/>
                        </a:defRPr>
                      </a:pPr>
                      <a:r>
                        <a:t>Segundo</a:t>
                      </a:r>
                    </a:p>
                  </a:txBody>
                  <a:tcPr marL="10800" marR="10800" marT="10800" marB="10800">
                    <a:solidFill>
                      <a:srgbClr val="EFEFEF"/>
                    </a:solidFill>
                  </a:tcPr>
                </a:tc>
                <a:tc>
                  <a:txBody>
                    <a:bodyPr/>
                    <a:lstStyle/>
                    <a:p>
                      <a:pPr algn="ctr">
                        <a:defRPr sz="1000">
                          <a:solidFill>
                            <a:srgbClr val="000000"/>
                          </a:solidFill>
                          <a:latin typeface="Montserrat"/>
                        </a:defRPr>
                      </a:pPr>
                      <a:r>
                        <a:t>6</a:t>
                      </a:r>
                    </a:p>
                  </a:txBody>
                  <a:tcPr marL="10800" marR="10800" marT="10800" marB="10800">
                    <a:solidFill>
                      <a:srgbClr val="EFEFEF"/>
                    </a:solidFill>
                  </a:tcPr>
                </a:tc>
                <a:tc>
                  <a:txBody>
                    <a:bodyPr/>
                    <a:lstStyle/>
                    <a:p>
                      <a:pPr algn="ctr">
                        <a:defRPr sz="1000">
                          <a:solidFill>
                            <a:srgbClr val="000000"/>
                          </a:solidFill>
                          <a:latin typeface="Montserrat"/>
                        </a:defRPr>
                      </a:pPr>
                      <a:r>
                        <a:t>25</a:t>
                      </a:r>
                    </a:p>
                  </a:txBody>
                  <a:tcPr marL="10800" marR="10800" marT="10800" marB="10800">
                    <a:solidFill>
                      <a:srgbClr val="EFEFEF"/>
                    </a:solidFill>
                  </a:tcPr>
                </a:tc>
                <a:tc>
                  <a:txBody>
                    <a:bodyPr/>
                    <a:lstStyle/>
                    <a:p>
                      <a:pPr algn="ctr">
                        <a:defRPr sz="1000">
                          <a:solidFill>
                            <a:srgbClr val="000000"/>
                          </a:solidFill>
                          <a:latin typeface="Montserrat"/>
                        </a:defRPr>
                      </a:pPr>
                      <a:r>
                        <a:t>231</a:t>
                      </a:r>
                    </a:p>
                  </a:txBody>
                  <a:tcPr marL="10800" marR="10800" marT="10800" marB="10800">
                    <a:solidFill>
                      <a:srgbClr val="EFEFEF"/>
                    </a:solidFill>
                  </a:tcPr>
                </a:tc>
              </a:tr>
              <a:tr h="295200">
                <a:tc>
                  <a:txBody>
                    <a:bodyPr/>
                    <a:lstStyle/>
                    <a:p>
                      <a:pPr algn="l">
                        <a:defRPr sz="1000" b="1">
                          <a:solidFill>
                            <a:srgbClr val="006556"/>
                          </a:solidFill>
                          <a:latin typeface="Montserrat"/>
                        </a:defRPr>
                      </a:pPr>
                      <a:r>
                        <a:t>Total</a:t>
                      </a:r>
                    </a:p>
                  </a:txBody>
                  <a:tcPr marL="10800" marR="10800" marT="10800" marB="10800">
                    <a:solidFill>
                      <a:srgbClr val="D3E9E7"/>
                    </a:solidFill>
                  </a:tcPr>
                </a:tc>
                <a:tc>
                  <a:txBody>
                    <a:bodyPr/>
                    <a:lstStyle/>
                    <a:p>
                      <a:pPr algn="ctr">
                        <a:defRPr sz="1000" b="1">
                          <a:solidFill>
                            <a:srgbClr val="006556"/>
                          </a:solidFill>
                          <a:latin typeface="Montserrat"/>
                        </a:defRPr>
                      </a:pPr>
                      <a:r>
                        <a:t>560</a:t>
                      </a:r>
                    </a:p>
                  </a:txBody>
                  <a:tcPr marL="10800" marR="10800" marT="10800" marB="10800">
                    <a:solidFill>
                      <a:srgbClr val="D3E9E7"/>
                    </a:solidFill>
                  </a:tcPr>
                </a:tc>
                <a:tc>
                  <a:txBody>
                    <a:bodyPr/>
                    <a:lstStyle/>
                    <a:p>
                      <a:pPr algn="ctr">
                        <a:defRPr sz="1000" b="1">
                          <a:solidFill>
                            <a:srgbClr val="006556"/>
                          </a:solidFill>
                          <a:latin typeface="Montserrat"/>
                        </a:defRPr>
                      </a:pPr>
                      <a:r>
                        <a:t>544</a:t>
                      </a:r>
                    </a:p>
                  </a:txBody>
                  <a:tcPr marL="10800" marR="10800" marT="10800" marB="10800">
                    <a:solidFill>
                      <a:srgbClr val="D3E9E7"/>
                    </a:solidFill>
                  </a:tcPr>
                </a:tc>
                <a:tc>
                  <a:txBody>
                    <a:bodyPr/>
                    <a:lstStyle/>
                    <a:p>
                      <a:pPr algn="ctr">
                        <a:defRPr sz="1000" b="1">
                          <a:solidFill>
                            <a:srgbClr val="006556"/>
                          </a:solidFill>
                          <a:latin typeface="Montserrat"/>
                        </a:defRPr>
                      </a:pPr>
                      <a:r>
                        <a:t>231</a:t>
                      </a:r>
                    </a:p>
                  </a:txBody>
                  <a:tcPr marL="10800" marR="10800" marT="10800" marB="10800">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tr>
              <a:tr h="1956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10</a:t>
                      </a:r>
                    </a:p>
                  </a:txBody>
                  <a:tcPr>
                    <a:solidFill>
                      <a:srgbClr val="FFFFFF"/>
                    </a:solidFill>
                  </a:tcPr>
                </a:tc>
              </a:tr>
              <a:tr h="19560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tr>
              <a:tr h="19560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23</a:t>
                      </a:r>
                    </a:p>
                  </a:txBody>
                  <a:tcPr>
                    <a:solidFill>
                      <a:srgbClr val="D3E9E7"/>
                    </a:solidFill>
                  </a:tcPr>
                </a:tc>
              </a:tr>
            </a:tbl>
          </a:graphicData>
        </a:graphic>
      </p:graphicFrame>
      <p:sp>
        <p:nvSpPr>
          <p:cNvPr id="138" name="TextBox 137"/>
          <p:cNvSpPr txBox="1"/>
          <p:nvPr/>
        </p:nvSpPr>
        <p:spPr>
          <a:xfrm>
            <a:off x="212400" y="8607600"/>
            <a:ext cx="7200000" cy="900000"/>
          </a:xfrm>
          <a:prstGeom prst="rect">
            <a:avLst/>
          </a:prstGeom>
          <a:noFill/>
        </p:spPr>
        <p:txBody>
          <a:bodyPr wrap="square" tIns="0" bIns="0" lIns="0" rIns="0">
            <a:spAutoFit/>
          </a:bodyPr>
          <a:lstStyle/>
          <a:p>
            <a:pPr algn="l">
              <a:defRPr sz="800">
                <a:solidFill>
                  <a:srgbClr val="000000"/>
                </a:solidFill>
                <a:latin typeface="Noto Sans Light"/>
              </a:defRPr>
            </a:pPr>
            <a:r>
              <a:t>1. Incluye 103 UMF, 0 UMFH y 1 UMF-UMAA, y no incluye 26 Unidades Auxiliares de Medicina Familiar.</a:t>
            </a:r>
            <a:br/>
            <a:r>
              <a:t>2. Incluye la UMAA1,</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800">
                <a:solidFill>
                  <a:srgbClr val="000000"/>
                </a:solidFill>
                <a:latin typeface="Noto Sans Light"/>
              </a:defRPr>
            </a:pPr>
            <a:r>
              <a:t>Corte de información: enero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143" name="Google Shape;143;g370e475fb19_0_77"/>
          <p:cNvGraphicFramePr/>
          <p:nvPr>
            <p:extLst>
              <p:ext uri="{D42A27DB-BD31-4B8C-83A1-F6EECF244321}">
                <p14:modId xmlns:p14="http://schemas.microsoft.com/office/powerpoint/2010/main" val="3415909809"/>
              </p:ext>
            </p:extLst>
          </p:nvPr>
        </p:nvGraphicFramePr>
        <p:xfrm>
          <a:off x="149075" y="6490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Capacidad médica instalada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45" name="Google Shape;145;g370e475fb19_0_77"/>
          <p:cNvSpPr txBox="1"/>
          <p:nvPr/>
        </p:nvSpPr>
        <p:spPr>
          <a:xfrm>
            <a:off x="361950" y="9522000"/>
            <a:ext cx="7048500" cy="30774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800" b="0" i="0" u="none" strike="noStrike" cap="none" baseline="30000" dirty="0">
                <a:solidFill>
                  <a:schemeClr val="lt1"/>
                </a:solidFill>
                <a:latin typeface="Montserrat"/>
                <a:ea typeface="Montserrat"/>
                <a:cs typeface="Montserrat"/>
                <a:sym typeface="Montserrat"/>
              </a:rPr>
              <a:t>*</a:t>
            </a:r>
            <a:r>
              <a:rPr lang="es" sz="800" b="0" i="0" u="none" strike="noStrike" cap="none" dirty="0">
                <a:solidFill>
                  <a:schemeClr val="lt1"/>
                </a:solidFill>
                <a:latin typeface="Montserrat"/>
                <a:ea typeface="Montserrat"/>
                <a:cs typeface="Montserrat"/>
                <a:sym typeface="Montserrat"/>
              </a:rPr>
              <a:t> No se consideran salas de tococirugía, expulsión y recuperación.</a:t>
            </a:r>
            <a:endParaRPr sz="800" b="0" i="0" u="none" strike="noStrike" cap="none" dirty="0">
              <a:solidFill>
                <a:schemeClr val="lt1"/>
              </a:solidFill>
              <a:latin typeface="Montserrat"/>
              <a:ea typeface="Montserrat"/>
              <a:cs typeface="Montserrat"/>
              <a:sym typeface="Montserrat"/>
            </a:endParaRPr>
          </a:p>
        </p:txBody>
      </p:sp>
      <p:sp>
        <p:nvSpPr>
          <p:cNvPr id="146" name="TextBox 14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147" name="Table 146"/>
          <p:cNvGraphicFramePr>
            <a:graphicFrameLocks noGrp="1"/>
          </p:cNvGraphicFramePr>
          <p:nvPr/>
        </p:nvGraphicFramePr>
        <p:xfrm>
          <a:off x="363600" y="1134000"/>
          <a:ext cx="7200000" cy="8100000"/>
        </p:xfrm>
        <a:graphic>
          <a:graphicData uri="http://schemas.openxmlformats.org/drawingml/2006/table">
            <a:tbl>
              <a:tblPr firstRow="1" bandRow="1">
                <a:tableStyleId>{5C22544A-7EE6-4342-B048-85BDC9FD1C3A}</a:tableStyleId>
              </a:tblPr>
              <a:tblGrid>
                <a:gridCol w="1612800"/>
                <a:gridCol w="1198800"/>
                <a:gridCol w="622800"/>
                <a:gridCol w="824400"/>
                <a:gridCol w="824400"/>
                <a:gridCol w="658800"/>
                <a:gridCol w="1458000"/>
              </a:tblGrid>
              <a:tr h="324000">
                <a:tc>
                  <a:txBody>
                    <a:bodyPr/>
                    <a:lstStyle/>
                    <a:p>
                      <a:pPr algn="ctr">
                        <a:defRPr b="1" sz="900">
                          <a:solidFill>
                            <a:srgbClr val="FFFFFF"/>
                          </a:solidFill>
                          <a:latin typeface="Montserrat"/>
                        </a:defRPr>
                      </a:pPr>
                      <a:r>
                        <a:t>Segundo nivel</a:t>
                      </a:r>
                    </a:p>
                  </a:txBody>
                  <a:tcPr>
                    <a:solidFill>
                      <a:srgbClr val="006455"/>
                    </a:solidFill>
                  </a:tcPr>
                </a:tc>
                <a:tc>
                  <a:txBody>
                    <a:bodyPr/>
                    <a:lstStyle/>
                    <a:p>
                      <a:pPr algn="ctr">
                        <a:defRPr b="1" sz="900">
                          <a:solidFill>
                            <a:srgbClr val="FFFFFF"/>
                          </a:solidFill>
                          <a:latin typeface="Montserrat"/>
                        </a:defRPr>
                      </a:pPr>
                      <a:r>
                        <a:t>Inicio de Productividad</a:t>
                      </a:r>
                    </a:p>
                  </a:txBody>
                  <a:tcPr>
                    <a:solidFill>
                      <a:srgbClr val="006455"/>
                    </a:solidFill>
                  </a:tcPr>
                </a:tc>
                <a:tc>
                  <a:txBody>
                    <a:bodyPr/>
                    <a:lstStyle/>
                    <a:p>
                      <a:pPr algn="ctr">
                        <a:defRPr b="1" sz="900">
                          <a:solidFill>
                            <a:srgbClr val="FFFFFF"/>
                          </a:solidFill>
                          <a:latin typeface="Montserrat"/>
                        </a:defRPr>
                      </a:pPr>
                      <a:r>
                        <a:t>Camas</a:t>
                      </a:r>
                    </a:p>
                  </a:txBody>
                  <a:tcPr>
                    <a:solidFill>
                      <a:srgbClr val="006455"/>
                    </a:solidFill>
                  </a:tcPr>
                </a:tc>
                <a:tc>
                  <a:txBody>
                    <a:bodyPr/>
                    <a:lstStyle/>
                    <a:p>
                      <a:pPr algn="ctr">
                        <a:defRPr b="1" sz="900">
                          <a:solidFill>
                            <a:srgbClr val="FFFFFF"/>
                          </a:solidFill>
                          <a:latin typeface="Montserrat"/>
                        </a:defRPr>
                      </a:pPr>
                      <a:r>
                        <a:t>Camas no censables</a:t>
                      </a:r>
                    </a:p>
                  </a:txBody>
                  <a:tcPr>
                    <a:solidFill>
                      <a:srgbClr val="006455"/>
                    </a:solidFill>
                  </a:tcPr>
                </a:tc>
                <a:tc>
                  <a:txBody>
                    <a:bodyPr/>
                    <a:lstStyle/>
                    <a:p>
                      <a:pPr algn="ctr">
                        <a:defRPr b="1" sz="900">
                          <a:solidFill>
                            <a:srgbClr val="FFFFFF"/>
                          </a:solidFill>
                          <a:latin typeface="Montserrat"/>
                        </a:defRPr>
                      </a:pPr>
                      <a:r>
                        <a:t>Camas de cuidados intensivos</a:t>
                      </a:r>
                    </a:p>
                  </a:txBody>
                  <a:tcPr>
                    <a:solidFill>
                      <a:srgbClr val="006455"/>
                    </a:solidFill>
                  </a:tcPr>
                </a:tc>
                <a:tc>
                  <a:txBody>
                    <a:bodyPr/>
                    <a:lstStyle/>
                    <a:p>
                      <a:pPr algn="ctr">
                        <a:defRPr b="1" sz="900">
                          <a:solidFill>
                            <a:srgbClr val="FFFFFF"/>
                          </a:solidFill>
                          <a:latin typeface="Montserrat"/>
                        </a:defRPr>
                      </a:pPr>
                      <a:r>
                        <a:t>Qx*</a:t>
                      </a:r>
                    </a:p>
                  </a:txBody>
                  <a:tcPr>
                    <a:solidFill>
                      <a:srgbClr val="006455"/>
                    </a:solidFill>
                  </a:tcPr>
                </a:tc>
                <a:tc>
                  <a:txBody>
                    <a:bodyPr/>
                    <a:lstStyle/>
                    <a:p>
                      <a:pPr algn="ctr">
                        <a:defRPr b="1" sz="900">
                          <a:solidFill>
                            <a:srgbClr val="FFFFFF"/>
                          </a:solidFill>
                          <a:latin typeface="Montserrat"/>
                        </a:defRPr>
                      </a:pPr>
                      <a:r>
                        <a:t>Consultorios de especialidades</a:t>
                      </a:r>
                    </a:p>
                  </a:txBody>
                  <a:tcPr>
                    <a:solidFill>
                      <a:srgbClr val="006455"/>
                    </a:solidFill>
                  </a:tcPr>
                </a:tc>
              </a:tr>
              <a:tr h="324000">
                <a:tc>
                  <a:txBody>
                    <a:bodyPr/>
                    <a:lstStyle/>
                    <a:p>
                      <a:pPr algn="ctr">
                        <a:defRPr sz="900">
                          <a:latin typeface="Montserrat"/>
                        </a:defRPr>
                      </a:pPr>
                      <a:r>
                        <a:t>HGZ 36 Coatzacoalos</a:t>
                      </a:r>
                    </a:p>
                  </a:txBody>
                  <a:tcPr>
                    <a:solidFill>
                      <a:srgbClr val="FFFFFF"/>
                    </a:solidFill>
                  </a:tcPr>
                </a:tc>
                <a:tc>
                  <a:txBody>
                    <a:bodyPr/>
                    <a:lstStyle/>
                    <a:p>
                      <a:pPr algn="ctr">
                        <a:defRPr sz="900">
                          <a:latin typeface="Montserrat"/>
                        </a:defRPr>
                      </a:pPr>
                      <a:r>
                        <a:t>Junio de 1961</a:t>
                      </a:r>
                    </a:p>
                  </a:txBody>
                  <a:tcPr>
                    <a:solidFill>
                      <a:srgbClr val="FFFFFF"/>
                    </a:solidFill>
                  </a:tcPr>
                </a:tc>
                <a:tc>
                  <a:txBody>
                    <a:bodyPr/>
                    <a:lstStyle/>
                    <a:p>
                      <a:pPr algn="ctr">
                        <a:defRPr sz="900">
                          <a:latin typeface="Montserrat"/>
                        </a:defRPr>
                      </a:pPr>
                      <a:r>
                        <a:t>150</a:t>
                      </a:r>
                    </a:p>
                  </a:txBody>
                  <a:tcPr>
                    <a:solidFill>
                      <a:srgbClr val="FFFFFF"/>
                    </a:solidFill>
                  </a:tcPr>
                </a:tc>
                <a:tc>
                  <a:txBody>
                    <a:bodyPr/>
                    <a:lstStyle/>
                    <a:p>
                      <a:pPr algn="ctr">
                        <a:defRPr sz="900">
                          <a:latin typeface="Montserrat"/>
                        </a:defRPr>
                      </a:pPr>
                      <a:r>
                        <a:t>65</a:t>
                      </a:r>
                    </a:p>
                  </a:txBody>
                  <a:tcPr>
                    <a:solidFill>
                      <a:srgbClr val="FFFFFF"/>
                    </a:solidFill>
                  </a:tcPr>
                </a:tc>
                <a:tc>
                  <a:txBody>
                    <a:bodyPr/>
                    <a:lstStyle/>
                    <a:p>
                      <a:pPr algn="ctr">
                        <a:defRPr sz="900">
                          <a:latin typeface="Montserrat"/>
                        </a:defRPr>
                      </a:pPr>
                      <a:r>
                        <a:t>4</a:t>
                      </a:r>
                    </a:p>
                  </a:txBody>
                  <a:tcPr>
                    <a:solidFill>
                      <a:srgbClr val="FFFFFF"/>
                    </a:solidFill>
                  </a:tcPr>
                </a:tc>
                <a:tc>
                  <a:txBody>
                    <a:bodyPr/>
                    <a:lstStyle/>
                    <a:p>
                      <a:pPr algn="ctr">
                        <a:defRPr sz="900">
                          <a:latin typeface="Montserrat"/>
                        </a:defRPr>
                      </a:pPr>
                      <a:r>
                        <a:t>4</a:t>
                      </a:r>
                    </a:p>
                  </a:txBody>
                  <a:tcPr>
                    <a:solidFill>
                      <a:srgbClr val="FFFFFF"/>
                    </a:solidFill>
                  </a:tcPr>
                </a:tc>
                <a:tc>
                  <a:txBody>
                    <a:bodyPr/>
                    <a:lstStyle/>
                    <a:p>
                      <a:pPr algn="ctr">
                        <a:defRPr sz="900">
                          <a:latin typeface="Montserrat"/>
                        </a:defRPr>
                      </a:pPr>
                      <a:r>
                        <a:t>32</a:t>
                      </a:r>
                    </a:p>
                  </a:txBody>
                  <a:tcPr>
                    <a:solidFill>
                      <a:srgbClr val="FFFFFF"/>
                    </a:solidFill>
                  </a:tcPr>
                </a:tc>
              </a:tr>
              <a:tr h="324000">
                <a:tc>
                  <a:txBody>
                    <a:bodyPr/>
                    <a:lstStyle/>
                    <a:p>
                      <a:pPr algn="ctr">
                        <a:defRPr sz="900">
                          <a:latin typeface="Montserrat"/>
                        </a:defRPr>
                      </a:pPr>
                      <a:r>
                        <a:t>HGZMF 50 Lerdo Tejada</a:t>
                      </a:r>
                    </a:p>
                  </a:txBody>
                  <a:tcPr>
                    <a:solidFill>
                      <a:srgbClr val="EFEFEF"/>
                    </a:solidFill>
                  </a:tcPr>
                </a:tc>
                <a:tc>
                  <a:txBody>
                    <a:bodyPr/>
                    <a:lstStyle/>
                    <a:p>
                      <a:pPr algn="ctr">
                        <a:defRPr sz="900">
                          <a:latin typeface="Montserrat"/>
                        </a:defRPr>
                      </a:pPr>
                      <a:r>
                        <a:t>Diciembre de 1963</a:t>
                      </a:r>
                    </a:p>
                  </a:txBody>
                  <a:tcPr>
                    <a:solidFill>
                      <a:srgbClr val="EFEFEF"/>
                    </a:solidFill>
                  </a:tcPr>
                </a:tc>
                <a:tc>
                  <a:txBody>
                    <a:bodyPr/>
                    <a:lstStyle/>
                    <a:p>
                      <a:pPr algn="ctr">
                        <a:defRPr sz="900">
                          <a:latin typeface="Montserrat"/>
                        </a:defRPr>
                      </a:pPr>
                      <a:r>
                        <a:t>48</a:t>
                      </a:r>
                    </a:p>
                  </a:txBody>
                  <a:tcPr>
                    <a:solidFill>
                      <a:srgbClr val="EFEFEF"/>
                    </a:solidFill>
                  </a:tcPr>
                </a:tc>
                <a:tc>
                  <a:txBody>
                    <a:bodyPr/>
                    <a:lstStyle/>
                    <a:p>
                      <a:pPr algn="ctr">
                        <a:defRPr sz="900">
                          <a:latin typeface="Montserrat"/>
                        </a:defRPr>
                      </a:pPr>
                      <a:r>
                        <a:t>19</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1</a:t>
                      </a:r>
                    </a:p>
                  </a:txBody>
                  <a:tcPr>
                    <a:solidFill>
                      <a:srgbClr val="EFEFEF"/>
                    </a:solidFill>
                  </a:tcPr>
                </a:tc>
                <a:tc>
                  <a:txBody>
                    <a:bodyPr/>
                    <a:lstStyle/>
                    <a:p>
                      <a:pPr algn="ctr">
                        <a:defRPr sz="900">
                          <a:latin typeface="Montserrat"/>
                        </a:defRPr>
                      </a:pPr>
                      <a:r>
                        <a:t>8</a:t>
                      </a:r>
                    </a:p>
                  </a:txBody>
                  <a:tcPr>
                    <a:solidFill>
                      <a:srgbClr val="EFEFEF"/>
                    </a:solidFill>
                  </a:tcPr>
                </a:tc>
              </a:tr>
              <a:tr h="324000">
                <a:tc>
                  <a:txBody>
                    <a:bodyPr/>
                    <a:lstStyle/>
                    <a:p>
                      <a:pPr algn="ctr">
                        <a:defRPr sz="900">
                          <a:latin typeface="Montserrat"/>
                        </a:defRPr>
                      </a:pPr>
                      <a:r>
                        <a:t>HGZ 8 Córdoba</a:t>
                      </a:r>
                    </a:p>
                  </a:txBody>
                  <a:tcPr>
                    <a:solidFill>
                      <a:srgbClr val="FFFFFF"/>
                    </a:solidFill>
                  </a:tcPr>
                </a:tc>
                <a:tc>
                  <a:txBody>
                    <a:bodyPr/>
                    <a:lstStyle/>
                    <a:p>
                      <a:pPr algn="ctr">
                        <a:defRPr sz="900">
                          <a:latin typeface="Montserrat"/>
                        </a:defRPr>
                      </a:pPr>
                      <a:r>
                        <a:t>Julio de 1964</a:t>
                      </a:r>
                    </a:p>
                  </a:txBody>
                  <a:tcPr>
                    <a:solidFill>
                      <a:srgbClr val="FFFFFF"/>
                    </a:solidFill>
                  </a:tcPr>
                </a:tc>
                <a:tc>
                  <a:txBody>
                    <a:bodyPr/>
                    <a:lstStyle/>
                    <a:p>
                      <a:pPr algn="ctr">
                        <a:defRPr sz="900">
                          <a:latin typeface="Montserrat"/>
                        </a:defRPr>
                      </a:pPr>
                      <a:r>
                        <a:t>130</a:t>
                      </a:r>
                    </a:p>
                  </a:txBody>
                  <a:tcPr>
                    <a:solidFill>
                      <a:srgbClr val="FFFFFF"/>
                    </a:solidFill>
                  </a:tcPr>
                </a:tc>
                <a:tc>
                  <a:txBody>
                    <a:bodyPr/>
                    <a:lstStyle/>
                    <a:p>
                      <a:pPr algn="ctr">
                        <a:defRPr sz="900">
                          <a:latin typeface="Montserrat"/>
                        </a:defRPr>
                      </a:pPr>
                      <a:r>
                        <a:t>59</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3</a:t>
                      </a:r>
                    </a:p>
                  </a:txBody>
                  <a:tcPr>
                    <a:solidFill>
                      <a:srgbClr val="FFFFFF"/>
                    </a:solidFill>
                  </a:tcPr>
                </a:tc>
                <a:tc>
                  <a:txBody>
                    <a:bodyPr/>
                    <a:lstStyle/>
                    <a:p>
                      <a:pPr algn="ctr">
                        <a:defRPr sz="900">
                          <a:latin typeface="Montserrat"/>
                        </a:defRPr>
                      </a:pPr>
                      <a:r>
                        <a:t>29</a:t>
                      </a:r>
                    </a:p>
                  </a:txBody>
                  <a:tcPr>
                    <a:solidFill>
                      <a:srgbClr val="FFFFFF"/>
                    </a:solidFill>
                  </a:tcPr>
                </a:tc>
              </a:tr>
              <a:tr h="324000">
                <a:tc>
                  <a:txBody>
                    <a:bodyPr/>
                    <a:lstStyle/>
                    <a:p>
                      <a:pPr algn="ctr">
                        <a:defRPr sz="900">
                          <a:latin typeface="Montserrat"/>
                        </a:defRPr>
                      </a:pPr>
                      <a:r>
                        <a:t>HGSMF 16 Omealca</a:t>
                      </a:r>
                    </a:p>
                  </a:txBody>
                  <a:tcPr>
                    <a:solidFill>
                      <a:srgbClr val="EFEFEF"/>
                    </a:solidFill>
                  </a:tcPr>
                </a:tc>
                <a:tc>
                  <a:txBody>
                    <a:bodyPr/>
                    <a:lstStyle/>
                    <a:p>
                      <a:pPr algn="ctr">
                        <a:defRPr sz="900">
                          <a:latin typeface="Montserrat"/>
                        </a:defRPr>
                      </a:pPr>
                      <a:r>
                        <a:t>Julio de 1964</a:t>
                      </a:r>
                    </a:p>
                  </a:txBody>
                  <a:tcPr>
                    <a:solidFill>
                      <a:srgbClr val="EFEFEF"/>
                    </a:solidFill>
                  </a:tcPr>
                </a:tc>
                <a:tc>
                  <a:txBody>
                    <a:bodyPr/>
                    <a:lstStyle/>
                    <a:p>
                      <a:pPr algn="ctr">
                        <a:defRPr sz="900">
                          <a:latin typeface="Montserrat"/>
                        </a:defRPr>
                      </a:pPr>
                      <a:r>
                        <a:t>5</a:t>
                      </a:r>
                    </a:p>
                  </a:txBody>
                  <a:tcPr>
                    <a:solidFill>
                      <a:srgbClr val="EFEFEF"/>
                    </a:solidFill>
                  </a:tcPr>
                </a:tc>
                <a:tc>
                  <a:txBody>
                    <a:bodyPr/>
                    <a:lstStyle/>
                    <a:p>
                      <a:pPr algn="ctr">
                        <a:defRPr sz="900">
                          <a:latin typeface="Montserrat"/>
                        </a:defRPr>
                      </a:pPr>
                      <a:r>
                        <a:t>1</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1</a:t>
                      </a:r>
                    </a:p>
                  </a:txBody>
                  <a:tcPr>
                    <a:solidFill>
                      <a:srgbClr val="EFEFEF"/>
                    </a:solidFill>
                  </a:tcPr>
                </a:tc>
                <a:tc>
                  <a:txBody>
                    <a:bodyPr/>
                    <a:lstStyle/>
                    <a:p>
                      <a:pPr algn="ctr">
                        <a:defRPr sz="900">
                          <a:latin typeface="Montserrat"/>
                        </a:defRPr>
                      </a:pPr>
                      <a:r>
                        <a:t>1</a:t>
                      </a:r>
                    </a:p>
                  </a:txBody>
                  <a:tcPr>
                    <a:solidFill>
                      <a:srgbClr val="EFEFEF"/>
                    </a:solidFill>
                  </a:tcPr>
                </a:tc>
              </a:tr>
              <a:tr h="324000">
                <a:tc>
                  <a:txBody>
                    <a:bodyPr/>
                    <a:lstStyle/>
                    <a:p>
                      <a:pPr algn="ctr">
                        <a:defRPr sz="900">
                          <a:latin typeface="Montserrat"/>
                        </a:defRPr>
                      </a:pPr>
                      <a:r>
                        <a:t>HGSMF 12 Potrero</a:t>
                      </a:r>
                    </a:p>
                  </a:txBody>
                  <a:tcPr>
                    <a:solidFill>
                      <a:srgbClr val="FFFFFF"/>
                    </a:solidFill>
                  </a:tcPr>
                </a:tc>
                <a:tc>
                  <a:txBody>
                    <a:bodyPr/>
                    <a:lstStyle/>
                    <a:p>
                      <a:pPr algn="ctr">
                        <a:defRPr sz="900">
                          <a:latin typeface="Montserrat"/>
                        </a:defRPr>
                      </a:pPr>
                      <a:r>
                        <a:t>Julio de 1964</a:t>
                      </a:r>
                    </a:p>
                  </a:txBody>
                  <a:tcPr>
                    <a:solidFill>
                      <a:srgbClr val="FFFFFF"/>
                    </a:solidFill>
                  </a:tcPr>
                </a:tc>
                <a:tc>
                  <a:txBody>
                    <a:bodyPr/>
                    <a:lstStyle/>
                    <a:p>
                      <a:pPr algn="ctr">
                        <a:defRPr sz="900">
                          <a:latin typeface="Montserrat"/>
                        </a:defRPr>
                      </a:pPr>
                      <a:r>
                        <a:t>16</a:t>
                      </a:r>
                    </a:p>
                  </a:txBody>
                  <a:tcPr>
                    <a:solidFill>
                      <a:srgbClr val="FFFFFF"/>
                    </a:solidFill>
                  </a:tcPr>
                </a:tc>
                <a:tc>
                  <a:txBody>
                    <a:bodyPr/>
                    <a:lstStyle/>
                    <a:p>
                      <a:pPr algn="ctr">
                        <a:defRPr sz="900">
                          <a:latin typeface="Montserrat"/>
                        </a:defRPr>
                      </a:pPr>
                      <a:r>
                        <a:t>9</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1</a:t>
                      </a:r>
                    </a:p>
                  </a:txBody>
                  <a:tcPr>
                    <a:solidFill>
                      <a:srgbClr val="FFFFFF"/>
                    </a:solidFill>
                  </a:tcPr>
                </a:tc>
                <a:tc>
                  <a:txBody>
                    <a:bodyPr/>
                    <a:lstStyle/>
                    <a:p>
                      <a:pPr algn="ctr">
                        <a:defRPr sz="900">
                          <a:latin typeface="Montserrat"/>
                        </a:defRPr>
                      </a:pPr>
                      <a:r>
                        <a:t>1</a:t>
                      </a:r>
                    </a:p>
                  </a:txBody>
                  <a:tcPr>
                    <a:solidFill>
                      <a:srgbClr val="FFFFFF"/>
                    </a:solidFill>
                  </a:tcPr>
                </a:tc>
              </a:tr>
              <a:tr h="324000">
                <a:tc>
                  <a:txBody>
                    <a:bodyPr/>
                    <a:lstStyle/>
                    <a:p>
                      <a:pPr algn="ctr">
                        <a:defRPr sz="900">
                          <a:latin typeface="Montserrat"/>
                        </a:defRPr>
                      </a:pPr>
                      <a:r>
                        <a:t>HGZMF 35 Cosamaloapan</a:t>
                      </a:r>
                    </a:p>
                  </a:txBody>
                  <a:tcPr>
                    <a:solidFill>
                      <a:srgbClr val="EFEFEF"/>
                    </a:solidFill>
                  </a:tcPr>
                </a:tc>
                <a:tc>
                  <a:txBody>
                    <a:bodyPr/>
                    <a:lstStyle/>
                    <a:p>
                      <a:pPr algn="ctr">
                        <a:defRPr sz="900">
                          <a:latin typeface="Montserrat"/>
                        </a:defRPr>
                      </a:pPr>
                      <a:r>
                        <a:t>Julio de 1964</a:t>
                      </a:r>
                    </a:p>
                  </a:txBody>
                  <a:tcPr>
                    <a:solidFill>
                      <a:srgbClr val="EFEFEF"/>
                    </a:solidFill>
                  </a:tcPr>
                </a:tc>
                <a:tc>
                  <a:txBody>
                    <a:bodyPr/>
                    <a:lstStyle/>
                    <a:p>
                      <a:pPr algn="ctr">
                        <a:defRPr sz="900">
                          <a:latin typeface="Montserrat"/>
                        </a:defRPr>
                      </a:pPr>
                      <a:r>
                        <a:t>78</a:t>
                      </a:r>
                    </a:p>
                  </a:txBody>
                  <a:tcPr>
                    <a:solidFill>
                      <a:srgbClr val="EFEFEF"/>
                    </a:solidFill>
                  </a:tcPr>
                </a:tc>
                <a:tc>
                  <a:txBody>
                    <a:bodyPr/>
                    <a:lstStyle/>
                    <a:p>
                      <a:pPr algn="ctr">
                        <a:defRPr sz="900">
                          <a:latin typeface="Montserrat"/>
                        </a:defRPr>
                      </a:pPr>
                      <a:r>
                        <a:t>39</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3</a:t>
                      </a:r>
                    </a:p>
                  </a:txBody>
                  <a:tcPr>
                    <a:solidFill>
                      <a:srgbClr val="EFEFEF"/>
                    </a:solidFill>
                  </a:tcPr>
                </a:tc>
                <a:tc>
                  <a:txBody>
                    <a:bodyPr/>
                    <a:lstStyle/>
                    <a:p>
                      <a:pPr algn="ctr">
                        <a:defRPr sz="900">
                          <a:latin typeface="Montserrat"/>
                        </a:defRPr>
                      </a:pPr>
                      <a:r>
                        <a:t>13</a:t>
                      </a:r>
                    </a:p>
                  </a:txBody>
                  <a:tcPr>
                    <a:solidFill>
                      <a:srgbClr val="EFEFEF"/>
                    </a:solidFill>
                  </a:tcPr>
                </a:tc>
              </a:tr>
              <a:tr h="324000">
                <a:tc>
                  <a:txBody>
                    <a:bodyPr/>
                    <a:lstStyle/>
                    <a:p>
                      <a:pPr algn="ctr">
                        <a:defRPr sz="900">
                          <a:latin typeface="Montserrat"/>
                        </a:defRPr>
                      </a:pPr>
                      <a:r>
                        <a:t>HGZ 11 Jalapa.</a:t>
                      </a:r>
                    </a:p>
                  </a:txBody>
                  <a:tcPr>
                    <a:solidFill>
                      <a:srgbClr val="FFFFFF"/>
                    </a:solidFill>
                  </a:tcPr>
                </a:tc>
                <a:tc>
                  <a:txBody>
                    <a:bodyPr/>
                    <a:lstStyle/>
                    <a:p>
                      <a:pPr algn="ctr">
                        <a:defRPr sz="900">
                          <a:latin typeface="Montserrat"/>
                        </a:defRPr>
                      </a:pPr>
                      <a:r>
                        <a:t>Noviembre de 1964</a:t>
                      </a:r>
                    </a:p>
                  </a:txBody>
                  <a:tcPr>
                    <a:solidFill>
                      <a:srgbClr val="FFFFFF"/>
                    </a:solidFill>
                  </a:tcPr>
                </a:tc>
                <a:tc>
                  <a:txBody>
                    <a:bodyPr/>
                    <a:lstStyle/>
                    <a:p>
                      <a:pPr algn="ctr">
                        <a:defRPr sz="900">
                          <a:latin typeface="Montserrat"/>
                        </a:defRPr>
                      </a:pPr>
                      <a:r>
                        <a:t>188</a:t>
                      </a:r>
                    </a:p>
                  </a:txBody>
                  <a:tcPr>
                    <a:solidFill>
                      <a:srgbClr val="FFFFFF"/>
                    </a:solidFill>
                  </a:tcPr>
                </a:tc>
                <a:tc>
                  <a:txBody>
                    <a:bodyPr/>
                    <a:lstStyle/>
                    <a:p>
                      <a:pPr algn="ctr">
                        <a:defRPr sz="900">
                          <a:latin typeface="Montserrat"/>
                        </a:defRPr>
                      </a:pPr>
                      <a:r>
                        <a:t>69</a:t>
                      </a:r>
                    </a:p>
                  </a:txBody>
                  <a:tcPr>
                    <a:solidFill>
                      <a:srgbClr val="FFFFFF"/>
                    </a:solidFill>
                  </a:tcPr>
                </a:tc>
                <a:tc>
                  <a:txBody>
                    <a:bodyPr/>
                    <a:lstStyle/>
                    <a:p>
                      <a:pPr algn="ctr">
                        <a:defRPr sz="900">
                          <a:latin typeface="Montserrat"/>
                        </a:defRPr>
                      </a:pPr>
                      <a:r>
                        <a:t>4</a:t>
                      </a:r>
                    </a:p>
                  </a:txBody>
                  <a:tcPr>
                    <a:solidFill>
                      <a:srgbClr val="FFFFFF"/>
                    </a:solidFill>
                  </a:tcPr>
                </a:tc>
                <a:tc>
                  <a:txBody>
                    <a:bodyPr/>
                    <a:lstStyle/>
                    <a:p>
                      <a:pPr algn="ctr">
                        <a:defRPr sz="900">
                          <a:latin typeface="Montserrat"/>
                        </a:defRPr>
                      </a:pPr>
                      <a:r>
                        <a:t>5</a:t>
                      </a:r>
                    </a:p>
                  </a:txBody>
                  <a:tcPr>
                    <a:solidFill>
                      <a:srgbClr val="FFFFFF"/>
                    </a:solidFill>
                  </a:tcPr>
                </a:tc>
                <a:tc>
                  <a:txBody>
                    <a:bodyPr/>
                    <a:lstStyle/>
                    <a:p>
                      <a:pPr algn="ctr">
                        <a:defRPr sz="900">
                          <a:latin typeface="Montserrat"/>
                        </a:defRPr>
                      </a:pPr>
                      <a:r>
                        <a:t>27</a:t>
                      </a:r>
                    </a:p>
                  </a:txBody>
                  <a:tcPr>
                    <a:solidFill>
                      <a:srgbClr val="FFFFFF"/>
                    </a:solidFill>
                  </a:tcPr>
                </a:tc>
              </a:tr>
              <a:tr h="324000">
                <a:tc>
                  <a:txBody>
                    <a:bodyPr/>
                    <a:lstStyle/>
                    <a:p>
                      <a:pPr algn="ctr">
                        <a:defRPr sz="900">
                          <a:latin typeface="Montserrat"/>
                        </a:defRPr>
                      </a:pPr>
                      <a:r>
                        <a:t>HGZMF 32 Minatitlán</a:t>
                      </a:r>
                    </a:p>
                  </a:txBody>
                  <a:tcPr>
                    <a:solidFill>
                      <a:srgbClr val="EFEFEF"/>
                    </a:solidFill>
                  </a:tcPr>
                </a:tc>
                <a:tc>
                  <a:txBody>
                    <a:bodyPr/>
                    <a:lstStyle/>
                    <a:p>
                      <a:pPr algn="ctr">
                        <a:defRPr sz="900">
                          <a:latin typeface="Montserrat"/>
                        </a:defRPr>
                      </a:pPr>
                      <a:r>
                        <a:t>Septiembre de 1969</a:t>
                      </a:r>
                    </a:p>
                  </a:txBody>
                  <a:tcPr>
                    <a:solidFill>
                      <a:srgbClr val="EFEFEF"/>
                    </a:solidFill>
                  </a:tcPr>
                </a:tc>
                <a:tc>
                  <a:txBody>
                    <a:bodyPr/>
                    <a:lstStyle/>
                    <a:p>
                      <a:pPr algn="ctr">
                        <a:defRPr sz="900">
                          <a:latin typeface="Montserrat"/>
                        </a:defRPr>
                      </a:pPr>
                      <a:r>
                        <a:t>62</a:t>
                      </a:r>
                    </a:p>
                  </a:txBody>
                  <a:tcPr>
                    <a:solidFill>
                      <a:srgbClr val="EFEFEF"/>
                    </a:solidFill>
                  </a:tcPr>
                </a:tc>
                <a:tc>
                  <a:txBody>
                    <a:bodyPr/>
                    <a:lstStyle/>
                    <a:p>
                      <a:pPr algn="ctr">
                        <a:defRPr sz="900">
                          <a:latin typeface="Montserrat"/>
                        </a:defRPr>
                      </a:pPr>
                      <a:r>
                        <a:t>52</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2</a:t>
                      </a:r>
                    </a:p>
                  </a:txBody>
                  <a:tcPr>
                    <a:solidFill>
                      <a:srgbClr val="EFEFEF"/>
                    </a:solidFill>
                  </a:tcPr>
                </a:tc>
                <a:tc>
                  <a:txBody>
                    <a:bodyPr/>
                    <a:lstStyle/>
                    <a:p>
                      <a:pPr algn="ctr">
                        <a:defRPr sz="900">
                          <a:latin typeface="Montserrat"/>
                        </a:defRPr>
                      </a:pPr>
                      <a:r>
                        <a:t>13</a:t>
                      </a:r>
                    </a:p>
                  </a:txBody>
                  <a:tcPr>
                    <a:solidFill>
                      <a:srgbClr val="EFEFEF"/>
                    </a:solidFill>
                  </a:tcPr>
                </a:tc>
              </a:tr>
              <a:tr h="324000">
                <a:tc>
                  <a:txBody>
                    <a:bodyPr/>
                    <a:lstStyle/>
                    <a:p>
                      <a:pPr algn="ctr">
                        <a:defRPr sz="900">
                          <a:latin typeface="Montserrat"/>
                        </a:defRPr>
                      </a:pPr>
                      <a:r>
                        <a:t>HGS 33 Tierra Blanca</a:t>
                      </a:r>
                    </a:p>
                  </a:txBody>
                  <a:tcPr>
                    <a:solidFill>
                      <a:srgbClr val="FFFFFF"/>
                    </a:solidFill>
                  </a:tcPr>
                </a:tc>
                <a:tc>
                  <a:txBody>
                    <a:bodyPr/>
                    <a:lstStyle/>
                    <a:p>
                      <a:pPr algn="ctr">
                        <a:defRPr sz="900">
                          <a:latin typeface="Montserrat"/>
                        </a:defRPr>
                      </a:pPr>
                      <a:r>
                        <a:t>Mayo de 1972</a:t>
                      </a:r>
                    </a:p>
                  </a:txBody>
                  <a:tcPr>
                    <a:solidFill>
                      <a:srgbClr val="FFFFFF"/>
                    </a:solidFill>
                  </a:tcPr>
                </a:tc>
                <a:tc>
                  <a:txBody>
                    <a:bodyPr/>
                    <a:lstStyle/>
                    <a:p>
                      <a:pPr algn="ctr">
                        <a:defRPr sz="900">
                          <a:latin typeface="Montserrat"/>
                        </a:defRPr>
                      </a:pPr>
                      <a:r>
                        <a:t>21</a:t>
                      </a:r>
                    </a:p>
                  </a:txBody>
                  <a:tcPr>
                    <a:solidFill>
                      <a:srgbClr val="FFFFFF"/>
                    </a:solidFill>
                  </a:tcPr>
                </a:tc>
                <a:tc>
                  <a:txBody>
                    <a:bodyPr/>
                    <a:lstStyle/>
                    <a:p>
                      <a:pPr algn="ctr">
                        <a:defRPr sz="900">
                          <a:latin typeface="Montserrat"/>
                        </a:defRPr>
                      </a:pPr>
                      <a:r>
                        <a:t>12</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1</a:t>
                      </a:r>
                    </a:p>
                  </a:txBody>
                  <a:tcPr>
                    <a:solidFill>
                      <a:srgbClr val="FFFFFF"/>
                    </a:solidFill>
                  </a:tcPr>
                </a:tc>
                <a:tc>
                  <a:txBody>
                    <a:bodyPr/>
                    <a:lstStyle/>
                    <a:p>
                      <a:pPr algn="ctr">
                        <a:defRPr sz="900">
                          <a:latin typeface="Montserrat"/>
                        </a:defRPr>
                      </a:pPr>
                      <a:r>
                        <a:t>5</a:t>
                      </a:r>
                    </a:p>
                  </a:txBody>
                  <a:tcPr>
                    <a:solidFill>
                      <a:srgbClr val="FFFFFF"/>
                    </a:solidFill>
                  </a:tcPr>
                </a:tc>
              </a:tr>
              <a:tr h="324000">
                <a:tc>
                  <a:txBody>
                    <a:bodyPr/>
                    <a:lstStyle/>
                    <a:p>
                      <a:pPr algn="ctr">
                        <a:defRPr sz="900">
                          <a:latin typeface="Montserrat"/>
                        </a:defRPr>
                      </a:pPr>
                      <a:r>
                        <a:t>HGSMF 7 Panuco</a:t>
                      </a:r>
                    </a:p>
                  </a:txBody>
                  <a:tcPr>
                    <a:solidFill>
                      <a:srgbClr val="EFEFEF"/>
                    </a:solidFill>
                  </a:tcPr>
                </a:tc>
                <a:tc>
                  <a:txBody>
                    <a:bodyPr/>
                    <a:lstStyle/>
                    <a:p>
                      <a:pPr algn="ctr">
                        <a:defRPr sz="900">
                          <a:latin typeface="Montserrat"/>
                        </a:defRPr>
                      </a:pPr>
                      <a:r>
                        <a:t>Marzo de 1973</a:t>
                      </a:r>
                    </a:p>
                  </a:txBody>
                  <a:tcPr>
                    <a:solidFill>
                      <a:srgbClr val="EFEFEF"/>
                    </a:solidFill>
                  </a:tcPr>
                </a:tc>
                <a:tc>
                  <a:txBody>
                    <a:bodyPr/>
                    <a:lstStyle/>
                    <a:p>
                      <a:pPr algn="ctr">
                        <a:defRPr sz="900">
                          <a:latin typeface="Montserrat"/>
                        </a:defRPr>
                      </a:pPr>
                      <a:r>
                        <a:t>16</a:t>
                      </a:r>
                    </a:p>
                  </a:txBody>
                  <a:tcPr>
                    <a:solidFill>
                      <a:srgbClr val="EFEFEF"/>
                    </a:solidFill>
                  </a:tcPr>
                </a:tc>
                <a:tc>
                  <a:txBody>
                    <a:bodyPr/>
                    <a:lstStyle/>
                    <a:p>
                      <a:pPr algn="ctr">
                        <a:defRPr sz="900">
                          <a:latin typeface="Montserrat"/>
                        </a:defRPr>
                      </a:pPr>
                      <a:r>
                        <a:t>8</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1</a:t>
                      </a:r>
                    </a:p>
                  </a:txBody>
                  <a:tcPr>
                    <a:solidFill>
                      <a:srgbClr val="EFEFEF"/>
                    </a:solidFill>
                  </a:tcPr>
                </a:tc>
                <a:tc>
                  <a:txBody>
                    <a:bodyPr/>
                    <a:lstStyle/>
                    <a:p>
                      <a:pPr algn="ctr">
                        <a:defRPr sz="900">
                          <a:latin typeface="Montserrat"/>
                        </a:defRPr>
                      </a:pPr>
                      <a:r>
                        <a:t>3</a:t>
                      </a:r>
                    </a:p>
                  </a:txBody>
                  <a:tcPr>
                    <a:solidFill>
                      <a:srgbClr val="EFEFEF"/>
                    </a:solidFill>
                  </a:tcPr>
                </a:tc>
              </a:tr>
              <a:tr h="324000">
                <a:tc>
                  <a:txBody>
                    <a:bodyPr/>
                    <a:lstStyle/>
                    <a:p>
                      <a:pPr algn="ctr">
                        <a:defRPr sz="900">
                          <a:latin typeface="Montserrat"/>
                        </a:defRPr>
                      </a:pPr>
                      <a:r>
                        <a:t>HGR Orizaba</a:t>
                      </a:r>
                    </a:p>
                  </a:txBody>
                  <a:tcPr>
                    <a:solidFill>
                      <a:srgbClr val="FFFFFF"/>
                    </a:solidFill>
                  </a:tcPr>
                </a:tc>
                <a:tc>
                  <a:txBody>
                    <a:bodyPr/>
                    <a:lstStyle/>
                    <a:p>
                      <a:pPr algn="ctr">
                        <a:defRPr sz="900">
                          <a:latin typeface="Montserrat"/>
                        </a:defRPr>
                      </a:pPr>
                      <a:r>
                        <a:t>Diciembre de 1975</a:t>
                      </a:r>
                    </a:p>
                  </a:txBody>
                  <a:tcPr>
                    <a:solidFill>
                      <a:srgbClr val="FFFFFF"/>
                    </a:solidFill>
                  </a:tcPr>
                </a:tc>
                <a:tc>
                  <a:txBody>
                    <a:bodyPr/>
                    <a:lstStyle/>
                    <a:p>
                      <a:pPr algn="ctr">
                        <a:defRPr sz="900">
                          <a:latin typeface="Montserrat"/>
                        </a:defRPr>
                      </a:pPr>
                      <a:r>
                        <a:t>231</a:t>
                      </a:r>
                    </a:p>
                  </a:txBody>
                  <a:tcPr>
                    <a:solidFill>
                      <a:srgbClr val="FFFFFF"/>
                    </a:solidFill>
                  </a:tcPr>
                </a:tc>
                <a:tc>
                  <a:txBody>
                    <a:bodyPr/>
                    <a:lstStyle/>
                    <a:p>
                      <a:pPr algn="ctr">
                        <a:defRPr sz="900">
                          <a:latin typeface="Montserrat"/>
                        </a:defRPr>
                      </a:pPr>
                      <a:r>
                        <a:t>106</a:t>
                      </a:r>
                    </a:p>
                  </a:txBody>
                  <a:tcPr>
                    <a:solidFill>
                      <a:srgbClr val="FFFFFF"/>
                    </a:solidFill>
                  </a:tcPr>
                </a:tc>
                <a:tc>
                  <a:txBody>
                    <a:bodyPr/>
                    <a:lstStyle/>
                    <a:p>
                      <a:pPr algn="ctr">
                        <a:defRPr sz="900">
                          <a:latin typeface="Montserrat"/>
                        </a:defRPr>
                      </a:pPr>
                      <a:r>
                        <a:t>16</a:t>
                      </a:r>
                    </a:p>
                  </a:txBody>
                  <a:tcPr>
                    <a:solidFill>
                      <a:srgbClr val="FFFFFF"/>
                    </a:solidFill>
                  </a:tcPr>
                </a:tc>
                <a:tc>
                  <a:txBody>
                    <a:bodyPr/>
                    <a:lstStyle/>
                    <a:p>
                      <a:pPr algn="ctr">
                        <a:defRPr sz="900">
                          <a:latin typeface="Montserrat"/>
                        </a:defRPr>
                      </a:pPr>
                      <a:r>
                        <a:t>6</a:t>
                      </a:r>
                    </a:p>
                  </a:txBody>
                  <a:tcPr>
                    <a:solidFill>
                      <a:srgbClr val="FFFFFF"/>
                    </a:solidFill>
                  </a:tcPr>
                </a:tc>
                <a:tc>
                  <a:txBody>
                    <a:bodyPr/>
                    <a:lstStyle/>
                    <a:p>
                      <a:pPr algn="ctr">
                        <a:defRPr sz="900">
                          <a:latin typeface="Montserrat"/>
                        </a:defRPr>
                      </a:pPr>
                      <a:r>
                        <a:t>29</a:t>
                      </a:r>
                    </a:p>
                  </a:txBody>
                  <a:tcPr>
                    <a:solidFill>
                      <a:srgbClr val="FFFFFF"/>
                    </a:solidFill>
                  </a:tcPr>
                </a:tc>
              </a:tr>
              <a:tr h="324000">
                <a:tc>
                  <a:txBody>
                    <a:bodyPr/>
                    <a:lstStyle/>
                    <a:p>
                      <a:pPr algn="ctr">
                        <a:defRPr sz="900">
                          <a:latin typeface="Montserrat"/>
                        </a:defRPr>
                      </a:pPr>
                      <a:r>
                        <a:t>HGZMF 28 Martínez de la Torre</a:t>
                      </a:r>
                    </a:p>
                  </a:txBody>
                  <a:tcPr>
                    <a:solidFill>
                      <a:srgbClr val="EFEFEF"/>
                    </a:solidFill>
                  </a:tcPr>
                </a:tc>
                <a:tc>
                  <a:txBody>
                    <a:bodyPr/>
                    <a:lstStyle/>
                    <a:p>
                      <a:pPr algn="ctr">
                        <a:defRPr sz="900">
                          <a:latin typeface="Montserrat"/>
                        </a:defRPr>
                      </a:pPr>
                      <a:r>
                        <a:t>Febrero de 1976</a:t>
                      </a:r>
                    </a:p>
                  </a:txBody>
                  <a:tcPr>
                    <a:solidFill>
                      <a:srgbClr val="EFEFEF"/>
                    </a:solidFill>
                  </a:tcPr>
                </a:tc>
                <a:tc>
                  <a:txBody>
                    <a:bodyPr/>
                    <a:lstStyle/>
                    <a:p>
                      <a:pPr algn="ctr">
                        <a:defRPr sz="900">
                          <a:latin typeface="Montserrat"/>
                        </a:defRPr>
                      </a:pPr>
                      <a:r>
                        <a:t>53</a:t>
                      </a:r>
                    </a:p>
                  </a:txBody>
                  <a:tcPr>
                    <a:solidFill>
                      <a:srgbClr val="EFEFEF"/>
                    </a:solidFill>
                  </a:tcPr>
                </a:tc>
                <a:tc>
                  <a:txBody>
                    <a:bodyPr/>
                    <a:lstStyle/>
                    <a:p>
                      <a:pPr algn="ctr">
                        <a:defRPr sz="900">
                          <a:latin typeface="Montserrat"/>
                        </a:defRPr>
                      </a:pPr>
                      <a:r>
                        <a:t>27</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1</a:t>
                      </a:r>
                    </a:p>
                  </a:txBody>
                  <a:tcPr>
                    <a:solidFill>
                      <a:srgbClr val="EFEFEF"/>
                    </a:solidFill>
                  </a:tcPr>
                </a:tc>
                <a:tc>
                  <a:txBody>
                    <a:bodyPr/>
                    <a:lstStyle/>
                    <a:p>
                      <a:pPr algn="ctr">
                        <a:defRPr sz="900">
                          <a:latin typeface="Montserrat"/>
                        </a:defRPr>
                      </a:pPr>
                      <a:r>
                        <a:t>9</a:t>
                      </a:r>
                    </a:p>
                  </a:txBody>
                  <a:tcPr>
                    <a:solidFill>
                      <a:srgbClr val="EFEFEF"/>
                    </a:solidFill>
                  </a:tcPr>
                </a:tc>
              </a:tr>
              <a:tr h="324000">
                <a:tc>
                  <a:txBody>
                    <a:bodyPr/>
                    <a:lstStyle/>
                    <a:p>
                      <a:pPr algn="ctr">
                        <a:defRPr sz="900">
                          <a:latin typeface="Montserrat"/>
                        </a:defRPr>
                      </a:pPr>
                      <a:r>
                        <a:t>HGZ 24 Poza Rica</a:t>
                      </a:r>
                    </a:p>
                  </a:txBody>
                  <a:tcPr>
                    <a:solidFill>
                      <a:srgbClr val="FFFFFF"/>
                    </a:solidFill>
                  </a:tcPr>
                </a:tc>
                <a:tc>
                  <a:txBody>
                    <a:bodyPr/>
                    <a:lstStyle/>
                    <a:p>
                      <a:pPr algn="ctr">
                        <a:defRPr sz="900">
                          <a:latin typeface="Montserrat"/>
                        </a:defRPr>
                      </a:pPr>
                      <a:r>
                        <a:t>Noviembre de 1976</a:t>
                      </a:r>
                    </a:p>
                  </a:txBody>
                  <a:tcPr>
                    <a:solidFill>
                      <a:srgbClr val="FFFFFF"/>
                    </a:solidFill>
                  </a:tcPr>
                </a:tc>
                <a:tc>
                  <a:txBody>
                    <a:bodyPr/>
                    <a:lstStyle/>
                    <a:p>
                      <a:pPr algn="ctr">
                        <a:defRPr sz="900">
                          <a:latin typeface="Montserrat"/>
                        </a:defRPr>
                      </a:pPr>
                      <a:r>
                        <a:t>126</a:t>
                      </a:r>
                    </a:p>
                  </a:txBody>
                  <a:tcPr>
                    <a:solidFill>
                      <a:srgbClr val="FFFFFF"/>
                    </a:solidFill>
                  </a:tcPr>
                </a:tc>
                <a:tc>
                  <a:txBody>
                    <a:bodyPr/>
                    <a:lstStyle/>
                    <a:p>
                      <a:pPr algn="ctr">
                        <a:defRPr sz="900">
                          <a:latin typeface="Montserrat"/>
                        </a:defRPr>
                      </a:pPr>
                      <a:r>
                        <a:t>58</a:t>
                      </a:r>
                    </a:p>
                  </a:txBody>
                  <a:tcPr>
                    <a:solidFill>
                      <a:srgbClr val="FFFFFF"/>
                    </a:solidFill>
                  </a:tcPr>
                </a:tc>
                <a:tc>
                  <a:txBody>
                    <a:bodyPr/>
                    <a:lstStyle/>
                    <a:p>
                      <a:pPr algn="ctr">
                        <a:defRPr sz="900">
                          <a:latin typeface="Montserrat"/>
                        </a:defRPr>
                      </a:pPr>
                      <a:r>
                        <a:t>8</a:t>
                      </a:r>
                    </a:p>
                  </a:txBody>
                  <a:tcPr>
                    <a:solidFill>
                      <a:srgbClr val="FFFFFF"/>
                    </a:solidFill>
                  </a:tcPr>
                </a:tc>
                <a:tc>
                  <a:txBody>
                    <a:bodyPr/>
                    <a:lstStyle/>
                    <a:p>
                      <a:pPr algn="ctr">
                        <a:defRPr sz="900">
                          <a:latin typeface="Montserrat"/>
                        </a:defRPr>
                      </a:pPr>
                      <a:r>
                        <a:t>3</a:t>
                      </a:r>
                    </a:p>
                  </a:txBody>
                  <a:tcPr>
                    <a:solidFill>
                      <a:srgbClr val="FFFFFF"/>
                    </a:solidFill>
                  </a:tcPr>
                </a:tc>
                <a:tc>
                  <a:txBody>
                    <a:bodyPr/>
                    <a:lstStyle/>
                    <a:p>
                      <a:pPr algn="ctr">
                        <a:defRPr sz="900">
                          <a:latin typeface="Montserrat"/>
                        </a:defRPr>
                      </a:pPr>
                      <a:r>
                        <a:t>24</a:t>
                      </a:r>
                    </a:p>
                  </a:txBody>
                  <a:tcPr>
                    <a:solidFill>
                      <a:srgbClr val="FFFFFF"/>
                    </a:solidFill>
                  </a:tcPr>
                </a:tc>
              </a:tr>
              <a:tr h="324000">
                <a:tc>
                  <a:txBody>
                    <a:bodyPr/>
                    <a:lstStyle/>
                    <a:p>
                      <a:pPr algn="ctr">
                        <a:defRPr sz="900">
                          <a:latin typeface="Montserrat"/>
                        </a:defRPr>
                      </a:pPr>
                      <a:r>
                        <a:t>HGSMF 33 S. Andrés Tuxtla</a:t>
                      </a:r>
                    </a:p>
                  </a:txBody>
                  <a:tcPr>
                    <a:solidFill>
                      <a:srgbClr val="EFEFEF"/>
                    </a:solidFill>
                  </a:tcPr>
                </a:tc>
                <a:tc>
                  <a:txBody>
                    <a:bodyPr/>
                    <a:lstStyle/>
                    <a:p>
                      <a:pPr algn="ctr">
                        <a:defRPr sz="900">
                          <a:latin typeface="Montserrat"/>
                        </a:defRPr>
                      </a:pPr>
                      <a:r>
                        <a:t>Noviembre de 1979</a:t>
                      </a:r>
                    </a:p>
                  </a:txBody>
                  <a:tcPr>
                    <a:solidFill>
                      <a:srgbClr val="EFEFEF"/>
                    </a:solidFill>
                  </a:tcPr>
                </a:tc>
                <a:tc>
                  <a:txBody>
                    <a:bodyPr/>
                    <a:lstStyle/>
                    <a:p>
                      <a:pPr algn="ctr">
                        <a:defRPr sz="900">
                          <a:latin typeface="Montserrat"/>
                        </a:defRPr>
                      </a:pPr>
                      <a:r>
                        <a:t>45</a:t>
                      </a:r>
                    </a:p>
                  </a:txBody>
                  <a:tcPr>
                    <a:solidFill>
                      <a:srgbClr val="EFEFEF"/>
                    </a:solidFill>
                  </a:tcPr>
                </a:tc>
                <a:tc>
                  <a:txBody>
                    <a:bodyPr/>
                    <a:lstStyle/>
                    <a:p>
                      <a:pPr algn="ctr">
                        <a:defRPr sz="900">
                          <a:latin typeface="Montserrat"/>
                        </a:defRPr>
                      </a:pPr>
                      <a:r>
                        <a:t>14</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1</a:t>
                      </a:r>
                    </a:p>
                  </a:txBody>
                  <a:tcPr>
                    <a:solidFill>
                      <a:srgbClr val="EFEFEF"/>
                    </a:solidFill>
                  </a:tcPr>
                </a:tc>
                <a:tc>
                  <a:txBody>
                    <a:bodyPr/>
                    <a:lstStyle/>
                    <a:p>
                      <a:pPr algn="ctr">
                        <a:defRPr sz="900">
                          <a:latin typeface="Montserrat"/>
                        </a:defRPr>
                      </a:pPr>
                      <a:r>
                        <a:t>6</a:t>
                      </a:r>
                    </a:p>
                  </a:txBody>
                  <a:tcPr>
                    <a:solidFill>
                      <a:srgbClr val="EFEFEF"/>
                    </a:solidFill>
                  </a:tcPr>
                </a:tc>
              </a:tr>
              <a:tr h="324000">
                <a:tc>
                  <a:txBody>
                    <a:bodyPr/>
                    <a:lstStyle/>
                    <a:p>
                      <a:pPr algn="ctr">
                        <a:defRPr sz="900">
                          <a:latin typeface="Montserrat"/>
                        </a:defRPr>
                      </a:pPr>
                      <a:r>
                        <a:t>HGZMF 36 José Cardel</a:t>
                      </a:r>
                    </a:p>
                  </a:txBody>
                  <a:tcPr>
                    <a:solidFill>
                      <a:srgbClr val="FFFFFF"/>
                    </a:solidFill>
                  </a:tcPr>
                </a:tc>
                <a:tc>
                  <a:txBody>
                    <a:bodyPr/>
                    <a:lstStyle/>
                    <a:p>
                      <a:pPr algn="ctr">
                        <a:defRPr sz="900">
                          <a:latin typeface="Montserrat"/>
                        </a:defRPr>
                      </a:pPr>
                      <a:r>
                        <a:t>Mayo de 1985</a:t>
                      </a:r>
                    </a:p>
                  </a:txBody>
                  <a:tcPr>
                    <a:solidFill>
                      <a:srgbClr val="FFFFFF"/>
                    </a:solidFill>
                  </a:tcPr>
                </a:tc>
                <a:tc>
                  <a:txBody>
                    <a:bodyPr/>
                    <a:lstStyle/>
                    <a:p>
                      <a:pPr algn="ctr">
                        <a:defRPr sz="900">
                          <a:latin typeface="Montserrat"/>
                        </a:defRPr>
                      </a:pPr>
                      <a:r>
                        <a:t>62</a:t>
                      </a:r>
                    </a:p>
                  </a:txBody>
                  <a:tcPr>
                    <a:solidFill>
                      <a:srgbClr val="FFFFFF"/>
                    </a:solidFill>
                  </a:tcPr>
                </a:tc>
                <a:tc>
                  <a:txBody>
                    <a:bodyPr/>
                    <a:lstStyle/>
                    <a:p>
                      <a:pPr algn="ctr">
                        <a:defRPr sz="900">
                          <a:latin typeface="Montserrat"/>
                        </a:defRPr>
                      </a:pPr>
                      <a:r>
                        <a:t>24</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1</a:t>
                      </a:r>
                    </a:p>
                  </a:txBody>
                  <a:tcPr>
                    <a:solidFill>
                      <a:srgbClr val="FFFFFF"/>
                    </a:solidFill>
                  </a:tcPr>
                </a:tc>
                <a:tc>
                  <a:txBody>
                    <a:bodyPr/>
                    <a:lstStyle/>
                    <a:p>
                      <a:pPr algn="ctr">
                        <a:defRPr sz="900">
                          <a:latin typeface="Montserrat"/>
                        </a:defRPr>
                      </a:pPr>
                      <a:r>
                        <a:t>12</a:t>
                      </a:r>
                    </a:p>
                  </a:txBody>
                  <a:tcPr>
                    <a:solidFill>
                      <a:srgbClr val="FFFFFF"/>
                    </a:solidFill>
                  </a:tcPr>
                </a:tc>
              </a:tr>
              <a:tr h="324000">
                <a:tc>
                  <a:txBody>
                    <a:bodyPr/>
                    <a:lstStyle/>
                    <a:p>
                      <a:pPr algn="ctr">
                        <a:defRPr sz="900">
                          <a:latin typeface="Montserrat"/>
                        </a:defRPr>
                      </a:pPr>
                      <a:r>
                        <a:t>HGZ 71 Veracruz</a:t>
                      </a:r>
                    </a:p>
                  </a:txBody>
                  <a:tcPr>
                    <a:solidFill>
                      <a:srgbClr val="EFEFEF"/>
                    </a:solidFill>
                  </a:tcPr>
                </a:tc>
                <a:tc>
                  <a:txBody>
                    <a:bodyPr/>
                    <a:lstStyle/>
                    <a:p>
                      <a:pPr algn="ctr">
                        <a:defRPr sz="900">
                          <a:latin typeface="Montserrat"/>
                        </a:defRPr>
                      </a:pPr>
                      <a:r>
                        <a:t>Octubre de 1994</a:t>
                      </a:r>
                    </a:p>
                  </a:txBody>
                  <a:tcPr>
                    <a:solidFill>
                      <a:srgbClr val="EFEFEF"/>
                    </a:solidFill>
                  </a:tcPr>
                </a:tc>
                <a:tc>
                  <a:txBody>
                    <a:bodyPr/>
                    <a:lstStyle/>
                    <a:p>
                      <a:pPr algn="ctr">
                        <a:defRPr sz="900">
                          <a:latin typeface="Montserrat"/>
                        </a:defRPr>
                      </a:pPr>
                      <a:r>
                        <a:t>238</a:t>
                      </a:r>
                    </a:p>
                  </a:txBody>
                  <a:tcPr>
                    <a:solidFill>
                      <a:srgbClr val="EFEFEF"/>
                    </a:solidFill>
                  </a:tcPr>
                </a:tc>
                <a:tc>
                  <a:txBody>
                    <a:bodyPr/>
                    <a:lstStyle/>
                    <a:p>
                      <a:pPr algn="ctr">
                        <a:defRPr sz="900">
                          <a:latin typeface="Montserrat"/>
                        </a:defRPr>
                      </a:pPr>
                      <a:r>
                        <a:t>95</a:t>
                      </a:r>
                    </a:p>
                  </a:txBody>
                  <a:tcPr>
                    <a:solidFill>
                      <a:srgbClr val="EFEFEF"/>
                    </a:solidFill>
                  </a:tcPr>
                </a:tc>
                <a:tc>
                  <a:txBody>
                    <a:bodyPr/>
                    <a:lstStyle/>
                    <a:p>
                      <a:pPr algn="ctr">
                        <a:defRPr sz="900">
                          <a:latin typeface="Montserrat"/>
                        </a:defRPr>
                      </a:pPr>
                      <a:r>
                        <a:t>10</a:t>
                      </a:r>
                    </a:p>
                  </a:txBody>
                  <a:tcPr>
                    <a:solidFill>
                      <a:srgbClr val="EFEFEF"/>
                    </a:solidFill>
                  </a:tcPr>
                </a:tc>
                <a:tc>
                  <a:txBody>
                    <a:bodyPr/>
                    <a:lstStyle/>
                    <a:p>
                      <a:pPr algn="ctr">
                        <a:defRPr sz="900">
                          <a:latin typeface="Montserrat"/>
                        </a:defRPr>
                      </a:pPr>
                      <a:r>
                        <a:t>4</a:t>
                      </a:r>
                    </a:p>
                  </a:txBody>
                  <a:tcPr>
                    <a:solidFill>
                      <a:srgbClr val="EFEFEF"/>
                    </a:solidFill>
                  </a:tcPr>
                </a:tc>
                <a:tc>
                  <a:txBody>
                    <a:bodyPr/>
                    <a:lstStyle/>
                    <a:p>
                      <a:pPr algn="ctr">
                        <a:defRPr sz="900">
                          <a:latin typeface="Montserrat"/>
                        </a:defRPr>
                      </a:pPr>
                      <a:r>
                        <a:t>22</a:t>
                      </a:r>
                    </a:p>
                  </a:txBody>
                  <a:tcPr>
                    <a:solidFill>
                      <a:srgbClr val="EFEFEF"/>
                    </a:solidFill>
                  </a:tcPr>
                </a:tc>
              </a:tr>
              <a:tr h="324000">
                <a:tc>
                  <a:txBody>
                    <a:bodyPr/>
                    <a:lstStyle/>
                    <a:p>
                      <a:pPr algn="ctr">
                        <a:defRPr sz="900">
                          <a:latin typeface="Montserrat"/>
                        </a:defRPr>
                      </a:pPr>
                      <a:r>
                        <a:t>HGSMF 26 Tuxpan</a:t>
                      </a:r>
                    </a:p>
                  </a:txBody>
                  <a:tcPr>
                    <a:solidFill>
                      <a:srgbClr val="FFFFFF"/>
                    </a:solidFill>
                  </a:tcPr>
                </a:tc>
                <a:tc>
                  <a:txBody>
                    <a:bodyPr/>
                    <a:lstStyle/>
                    <a:p>
                      <a:pPr algn="ctr">
                        <a:defRPr sz="900">
                          <a:latin typeface="Montserrat"/>
                        </a:defRPr>
                      </a:pPr>
                      <a:r>
                        <a:t>Octubre de 1996</a:t>
                      </a:r>
                    </a:p>
                  </a:txBody>
                  <a:tcPr>
                    <a:solidFill>
                      <a:srgbClr val="FFFFFF"/>
                    </a:solidFill>
                  </a:tcPr>
                </a:tc>
                <a:tc>
                  <a:txBody>
                    <a:bodyPr/>
                    <a:lstStyle/>
                    <a:p>
                      <a:pPr algn="ctr">
                        <a:defRPr sz="900">
                          <a:latin typeface="Montserrat"/>
                        </a:defRPr>
                      </a:pPr>
                      <a:r>
                        <a:t>60</a:t>
                      </a:r>
                    </a:p>
                  </a:txBody>
                  <a:tcPr>
                    <a:solidFill>
                      <a:srgbClr val="FFFFFF"/>
                    </a:solidFill>
                  </a:tcPr>
                </a:tc>
                <a:tc>
                  <a:txBody>
                    <a:bodyPr/>
                    <a:lstStyle/>
                    <a:p>
                      <a:pPr algn="ctr">
                        <a:defRPr sz="900">
                          <a:latin typeface="Montserrat"/>
                        </a:defRPr>
                      </a:pPr>
                      <a:r>
                        <a:t>19</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1</a:t>
                      </a:r>
                    </a:p>
                  </a:txBody>
                  <a:tcPr>
                    <a:solidFill>
                      <a:srgbClr val="FFFFFF"/>
                    </a:solidFill>
                  </a:tcPr>
                </a:tc>
                <a:tc>
                  <a:txBody>
                    <a:bodyPr/>
                    <a:lstStyle/>
                    <a:p>
                      <a:pPr algn="ctr">
                        <a:defRPr sz="900">
                          <a:latin typeface="Montserrat"/>
                        </a:defRPr>
                      </a:pPr>
                      <a:r>
                        <a:t>6</a:t>
                      </a:r>
                    </a:p>
                  </a:txBody>
                  <a:tcPr>
                    <a:solidFill>
                      <a:srgbClr val="FFFFFF"/>
                    </a:solidFill>
                  </a:tcPr>
                </a:tc>
              </a:tr>
              <a:tr h="324000">
                <a:tc>
                  <a:txBody>
                    <a:bodyPr/>
                    <a:lstStyle/>
                    <a:p>
                      <a:pPr algn="ctr">
                        <a:defRPr sz="900">
                          <a:latin typeface="Montserrat"/>
                        </a:defRPr>
                      </a:pPr>
                      <a:r>
                        <a:t>HR Plan De Arroyos</a:t>
                      </a:r>
                    </a:p>
                  </a:txBody>
                  <a:tcPr>
                    <a:solidFill>
                      <a:srgbClr val="EFEFEF"/>
                    </a:solidFill>
                  </a:tcPr>
                </a:tc>
                <a:tc>
                  <a:txBody>
                    <a:bodyPr/>
                    <a:lstStyle/>
                    <a:p>
                      <a:pPr algn="ctr">
                        <a:defRPr sz="900">
                          <a:latin typeface="Montserrat"/>
                        </a:defRPr>
                      </a:pPr>
                      <a:r>
                        <a:t>Julio de 2025</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0</a:t>
                      </a:r>
                    </a:p>
                  </a:txBody>
                  <a:tcPr>
                    <a:solidFill>
                      <a:srgbClr val="EFEFEF"/>
                    </a:solidFill>
                  </a:tcPr>
                </a:tc>
              </a:tr>
              <a:tr h="324000">
                <a:tc>
                  <a:txBody>
                    <a:bodyPr/>
                    <a:lstStyle/>
                    <a:p>
                      <a:pPr algn="ctr">
                        <a:defRPr sz="900">
                          <a:latin typeface="Montserrat"/>
                        </a:defRPr>
                      </a:pPr>
                      <a:r>
                        <a:t>HR Chicontepec De Tejeda</a:t>
                      </a:r>
                    </a:p>
                  </a:txBody>
                  <a:tcPr>
                    <a:solidFill>
                      <a:srgbClr val="FFFFFF"/>
                    </a:solidFill>
                  </a:tcPr>
                </a:tc>
                <a:tc>
                  <a:txBody>
                    <a:bodyPr/>
                    <a:lstStyle/>
                    <a:p>
                      <a:pPr algn="ctr">
                        <a:defRPr sz="900">
                          <a:latin typeface="Montserrat"/>
                        </a:defRPr>
                      </a:pPr>
                      <a:r>
                        <a:t>Julio de 2025</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0</a:t>
                      </a:r>
                    </a:p>
                  </a:txBody>
                  <a:tcPr>
                    <a:solidFill>
                      <a:srgbClr val="FFFFFF"/>
                    </a:solidFill>
                  </a:tcPr>
                </a:tc>
              </a:tr>
              <a:tr h="324000">
                <a:tc>
                  <a:txBody>
                    <a:bodyPr/>
                    <a:lstStyle/>
                    <a:p>
                      <a:pPr algn="ctr">
                        <a:defRPr sz="900">
                          <a:latin typeface="Montserrat"/>
                        </a:defRPr>
                      </a:pPr>
                      <a:r>
                        <a:t>HR Papantla De Olarte</a:t>
                      </a:r>
                    </a:p>
                  </a:txBody>
                  <a:tcPr>
                    <a:solidFill>
                      <a:srgbClr val="EFEFEF"/>
                    </a:solidFill>
                  </a:tcPr>
                </a:tc>
                <a:tc>
                  <a:txBody>
                    <a:bodyPr/>
                    <a:lstStyle/>
                    <a:p>
                      <a:pPr algn="ctr">
                        <a:defRPr sz="900">
                          <a:latin typeface="Montserrat"/>
                        </a:defRPr>
                      </a:pPr>
                      <a:r>
                        <a:t>Julio de 2025</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0</a:t>
                      </a:r>
                    </a:p>
                  </a:txBody>
                  <a:tcPr>
                    <a:solidFill>
                      <a:srgbClr val="EFEFEF"/>
                    </a:solidFill>
                  </a:tcPr>
                </a:tc>
              </a:tr>
              <a:tr h="324000">
                <a:tc>
                  <a:txBody>
                    <a:bodyPr/>
                    <a:lstStyle/>
                    <a:p>
                      <a:pPr algn="ctr">
                        <a:defRPr sz="900">
                          <a:latin typeface="Montserrat"/>
                        </a:defRPr>
                      </a:pPr>
                      <a:r>
                        <a:t>HR Zongolica</a:t>
                      </a:r>
                    </a:p>
                  </a:txBody>
                  <a:tcPr>
                    <a:solidFill>
                      <a:srgbClr val="FFFFFF"/>
                    </a:solidFill>
                  </a:tcPr>
                </a:tc>
                <a:tc>
                  <a:txBody>
                    <a:bodyPr/>
                    <a:lstStyle/>
                    <a:p>
                      <a:pPr algn="ctr">
                        <a:defRPr sz="900">
                          <a:latin typeface="Montserrat"/>
                        </a:defRPr>
                      </a:pPr>
                      <a:r>
                        <a:t>Julio de 2025</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0</a:t>
                      </a:r>
                    </a:p>
                  </a:txBody>
                  <a:tcPr>
                    <a:solidFill>
                      <a:srgbClr val="FFFFFF"/>
                    </a:solidFill>
                  </a:tcPr>
                </a:tc>
              </a:tr>
              <a:tr h="324000">
                <a:tc>
                  <a:txBody>
                    <a:bodyPr/>
                    <a:lstStyle/>
                    <a:p>
                      <a:pPr algn="ctr">
                        <a:defRPr sz="900">
                          <a:latin typeface="Montserrat"/>
                        </a:defRPr>
                      </a:pPr>
                      <a:r>
                        <a:t>HR Coscomatepec De Bravo</a:t>
                      </a:r>
                    </a:p>
                  </a:txBody>
                  <a:tcPr>
                    <a:solidFill>
                      <a:srgbClr val="EFEFEF"/>
                    </a:solidFill>
                  </a:tcPr>
                </a:tc>
                <a:tc>
                  <a:txBody>
                    <a:bodyPr/>
                    <a:lstStyle/>
                    <a:p>
                      <a:pPr algn="ctr">
                        <a:defRPr sz="900">
                          <a:latin typeface="Montserrat"/>
                        </a:defRPr>
                      </a:pPr>
                      <a:r>
                        <a:t>Julio de 2025</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0</a:t>
                      </a:r>
                    </a:p>
                  </a:txBody>
                  <a:tcPr>
                    <a:solidFill>
                      <a:srgbClr val="EFEFEF"/>
                    </a:solidFill>
                  </a:tcPr>
                </a:tc>
                <a:tc>
                  <a:txBody>
                    <a:bodyPr/>
                    <a:lstStyle/>
                    <a:p>
                      <a:pPr algn="ctr">
                        <a:defRPr sz="900">
                          <a:latin typeface="Montserrat"/>
                        </a:defRPr>
                      </a:pPr>
                      <a:r>
                        <a:t>0</a:t>
                      </a:r>
                    </a:p>
                  </a:txBody>
                  <a:tcPr>
                    <a:solidFill>
                      <a:srgbClr val="EFEFEF"/>
                    </a:solidFill>
                  </a:tcPr>
                </a:tc>
              </a:tr>
              <a:tr h="324000">
                <a:tc>
                  <a:txBody>
                    <a:bodyPr/>
                    <a:lstStyle/>
                    <a:p>
                      <a:pPr algn="ctr">
                        <a:defRPr sz="900">
                          <a:latin typeface="Montserrat"/>
                        </a:defRPr>
                      </a:pPr>
                      <a:r>
                        <a:t>HR Jáltipan De Morelos</a:t>
                      </a:r>
                    </a:p>
                  </a:txBody>
                  <a:tcPr>
                    <a:solidFill>
                      <a:srgbClr val="FFFFFF"/>
                    </a:solidFill>
                  </a:tcPr>
                </a:tc>
                <a:tc>
                  <a:txBody>
                    <a:bodyPr/>
                    <a:lstStyle/>
                    <a:p>
                      <a:pPr algn="ctr">
                        <a:defRPr sz="900">
                          <a:latin typeface="Montserrat"/>
                        </a:defRPr>
                      </a:pPr>
                      <a:r>
                        <a:t>Julio de 2025</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0</a:t>
                      </a:r>
                    </a:p>
                  </a:txBody>
                  <a:tcPr>
                    <a:solidFill>
                      <a:srgbClr val="FFFFFF"/>
                    </a:solidFill>
                  </a:tcPr>
                </a:tc>
                <a:tc>
                  <a:txBody>
                    <a:bodyPr/>
                    <a:lstStyle/>
                    <a:p>
                      <a:pPr algn="ctr">
                        <a:defRPr sz="900">
                          <a:latin typeface="Montserrat"/>
                        </a:defRPr>
                      </a:pPr>
                      <a:r>
                        <a:t>0</a:t>
                      </a:r>
                    </a:p>
                  </a:txBody>
                  <a:tcPr>
                    <a:solidFill>
                      <a:srgbClr val="FFFFFF"/>
                    </a:solidFill>
                  </a:tcPr>
                </a:tc>
              </a:tr>
              <a:tr h="324000">
                <a:tc>
                  <a:txBody>
                    <a:bodyPr/>
                    <a:lstStyle/>
                    <a:p>
                      <a:pPr algn="ctr">
                        <a:defRPr sz="900" b="1">
                          <a:solidFill>
                            <a:srgbClr val="006556"/>
                          </a:solidFill>
                          <a:latin typeface="Montserrat"/>
                        </a:defRPr>
                      </a:pPr>
                      <a:r>
                        <a:t>Subtotal</a:t>
                      </a:r>
                    </a:p>
                  </a:txBody>
                  <a:tcPr>
                    <a:solidFill>
                      <a:srgbClr val="D3E9E7"/>
                    </a:solidFill>
                  </a:tcPr>
                </a:tc>
                <a:tc>
                  <a:txBody>
                    <a:bodyPr/>
                    <a:lstStyle/>
                    <a:p>
                      <a:pPr algn="ctr">
                        <a:defRPr sz="900" b="1">
                          <a:solidFill>
                            <a:srgbClr val="006556"/>
                          </a:solidFill>
                          <a:latin typeface="Montserrat"/>
                        </a:defRPr>
                      </a:pPr>
                    </a:p>
                  </a:txBody>
                  <a:tcPr>
                    <a:solidFill>
                      <a:srgbClr val="D3E9E7"/>
                    </a:solidFill>
                  </a:tcPr>
                </a:tc>
                <a:tc>
                  <a:txBody>
                    <a:bodyPr/>
                    <a:lstStyle/>
                    <a:p>
                      <a:pPr algn="ctr">
                        <a:defRPr sz="900" b="1">
                          <a:solidFill>
                            <a:srgbClr val="006556"/>
                          </a:solidFill>
                          <a:latin typeface="Montserrat"/>
                        </a:defRPr>
                      </a:pPr>
                      <a:r>
                        <a:t>1,529</a:t>
                      </a:r>
                    </a:p>
                  </a:txBody>
                  <a:tcPr>
                    <a:solidFill>
                      <a:srgbClr val="D3E9E7"/>
                    </a:solidFill>
                  </a:tcPr>
                </a:tc>
                <a:tc>
                  <a:txBody>
                    <a:bodyPr/>
                    <a:lstStyle/>
                    <a:p>
                      <a:pPr algn="ctr">
                        <a:defRPr sz="900" b="1">
                          <a:solidFill>
                            <a:srgbClr val="006556"/>
                          </a:solidFill>
                          <a:latin typeface="Montserrat"/>
                        </a:defRPr>
                      </a:pPr>
                      <a:r>
                        <a:t>676</a:t>
                      </a:r>
                    </a:p>
                  </a:txBody>
                  <a:tcPr>
                    <a:solidFill>
                      <a:srgbClr val="D3E9E7"/>
                    </a:solidFill>
                  </a:tcPr>
                </a:tc>
                <a:tc>
                  <a:txBody>
                    <a:bodyPr/>
                    <a:lstStyle/>
                    <a:p>
                      <a:pPr algn="ctr">
                        <a:defRPr sz="900" b="1">
                          <a:solidFill>
                            <a:srgbClr val="006556"/>
                          </a:solidFill>
                          <a:latin typeface="Montserrat"/>
                        </a:defRPr>
                      </a:pPr>
                      <a:r>
                        <a:t>42</a:t>
                      </a:r>
                    </a:p>
                  </a:txBody>
                  <a:tcPr>
                    <a:solidFill>
                      <a:srgbClr val="D3E9E7"/>
                    </a:solidFill>
                  </a:tcPr>
                </a:tc>
                <a:tc>
                  <a:txBody>
                    <a:bodyPr/>
                    <a:lstStyle/>
                    <a:p>
                      <a:pPr algn="ctr">
                        <a:defRPr sz="900" b="1">
                          <a:solidFill>
                            <a:srgbClr val="006556"/>
                          </a:solidFill>
                          <a:latin typeface="Montserrat"/>
                        </a:defRPr>
                      </a:pPr>
                      <a:r>
                        <a:t>39</a:t>
                      </a:r>
                    </a:p>
                  </a:txBody>
                  <a:tcPr>
                    <a:solidFill>
                      <a:srgbClr val="D3E9E7"/>
                    </a:solidFill>
                  </a:tcPr>
                </a:tc>
                <a:tc>
                  <a:txBody>
                    <a:bodyPr/>
                    <a:lstStyle/>
                    <a:p>
                      <a:pPr algn="ctr">
                        <a:defRPr sz="900" b="1">
                          <a:solidFill>
                            <a:srgbClr val="006556"/>
                          </a:solidFill>
                          <a:latin typeface="Montserrat"/>
                        </a:defRPr>
                      </a:pPr>
                      <a:r>
                        <a:t>240</a:t>
                      </a:r>
                    </a:p>
                  </a:txBody>
                  <a:tcPr>
                    <a:solidFill>
                      <a:srgbClr val="D3E9E7"/>
                    </a:solidFill>
                  </a:tcPr>
                </a:tc>
              </a:tr>
            </a:tbl>
          </a:graphicData>
        </a:graphic>
      </p:graphicFrame>
      <p:sp>
        <p:nvSpPr>
          <p:cNvPr id="148" name="TextBox 147"/>
          <p:cNvSpPr txBox="1"/>
          <p:nvPr/>
        </p:nvSpPr>
        <p:spPr>
          <a:xfrm>
            <a:off x="370800" y="9302400"/>
            <a:ext cx="3600000" cy="288000"/>
          </a:xfrm>
          <a:prstGeom prst="rect">
            <a:avLst/>
          </a:prstGeom>
          <a:noFill/>
        </p:spPr>
        <p:txBody>
          <a:bodyPr wrap="square" tIns="0" bIns="0" lIns="0" rIns="0">
            <a:spAutoFit/>
          </a:bodyPr>
          <a:lstStyle/>
          <a:p>
            <a:pPr algn="l">
              <a:defRPr sz="800">
                <a:solidFill>
                  <a:srgbClr val="000000"/>
                </a:solidFill>
                <a:latin typeface="Noto Sans"/>
              </a:defRPr>
            </a:pPr>
            <a:r>
              <a:t>Corte de Información: enero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154" name="Table 153"/>
          <p:cNvGraphicFramePr>
            <a:graphicFrameLocks noGrp="1"/>
          </p:cNvGraphicFramePr>
          <p:nvPr/>
        </p:nvGraphicFramePr>
        <p:xfrm>
          <a:off x="280800" y="1274400"/>
          <a:ext cx="7286400" cy="5760000"/>
        </p:xfrm>
        <a:graphic>
          <a:graphicData uri="http://schemas.openxmlformats.org/drawingml/2006/table">
            <a:tbl>
              <a:tblPr firstRow="1" bandRow="1">
                <a:tableStyleId>{5C22544A-7EE6-4342-B048-85BDC9FD1C3A}</a:tableStyleId>
              </a:tblPr>
              <a:tblGrid>
                <a:gridCol w="1483200"/>
                <a:gridCol w="1018800"/>
                <a:gridCol w="997200"/>
                <a:gridCol w="939600"/>
                <a:gridCol w="640800"/>
                <a:gridCol w="1072800"/>
                <a:gridCol w="1134000"/>
              </a:tblGrid>
              <a:tr h="230400">
                <a:tc>
                  <a:txBody>
                    <a:bodyPr/>
                    <a:lstStyle/>
                    <a:p>
                      <a:pPr algn="ctr">
                        <a:defRPr b="1" sz="900">
                          <a:solidFill>
                            <a:srgbClr val="FFFFFF"/>
                          </a:solidFill>
                          <a:latin typeface="Montserrat"/>
                        </a:defRPr>
                      </a:pPr>
                      <a:r>
                        <a:t>Segundo nivel</a:t>
                      </a:r>
                    </a:p>
                  </a:txBody>
                  <a:tcPr>
                    <a:solidFill>
                      <a:srgbClr val="006455"/>
                    </a:solidFill>
                  </a:tcPr>
                </a:tc>
                <a:tc>
                  <a:txBody>
                    <a:bodyPr/>
                    <a:lstStyle/>
                    <a:p>
                      <a:pPr algn="ctr">
                        <a:defRPr b="1" sz="900">
                          <a:solidFill>
                            <a:srgbClr val="FFFFFF"/>
                          </a:solidFill>
                          <a:latin typeface="Montserrat"/>
                        </a:defRPr>
                      </a:pPr>
                      <a:r>
                        <a:t>Aparatos de Tomografía</a:t>
                      </a:r>
                    </a:p>
                  </a:txBody>
                  <a:tcPr>
                    <a:solidFill>
                      <a:srgbClr val="006455"/>
                    </a:solidFill>
                  </a:tcPr>
                </a:tc>
                <a:tc>
                  <a:txBody>
                    <a:bodyPr/>
                    <a:lstStyle/>
                    <a:p>
                      <a:pPr algn="ctr">
                        <a:defRPr b="1" sz="900">
                          <a:solidFill>
                            <a:srgbClr val="FFFFFF"/>
                          </a:solidFill>
                          <a:latin typeface="Montserrat"/>
                        </a:defRPr>
                      </a:pPr>
                      <a:r>
                        <a:t>Equipos de Resonancia Magnética</a:t>
                      </a:r>
                    </a:p>
                  </a:txBody>
                  <a:tcPr>
                    <a:solidFill>
                      <a:srgbClr val="006455"/>
                    </a:solidFill>
                  </a:tcPr>
                </a:tc>
                <a:tc>
                  <a:txBody>
                    <a:bodyPr/>
                    <a:lstStyle/>
                    <a:p>
                      <a:pPr algn="ctr">
                        <a:defRPr b="1" sz="900">
                          <a:solidFill>
                            <a:srgbClr val="FFFFFF"/>
                          </a:solidFill>
                          <a:latin typeface="Montserrat"/>
                        </a:defRPr>
                      </a:pPr>
                      <a:r>
                        <a:t>Mastógrafo</a:t>
                      </a:r>
                    </a:p>
                  </a:txBody>
                  <a:tcPr>
                    <a:solidFill>
                      <a:srgbClr val="006455"/>
                    </a:solidFill>
                  </a:tcPr>
                </a:tc>
                <a:tc>
                  <a:txBody>
                    <a:bodyPr/>
                    <a:lstStyle/>
                    <a:p>
                      <a:pPr algn="ctr">
                        <a:defRPr b="1" sz="900">
                          <a:solidFill>
                            <a:srgbClr val="FFFFFF"/>
                          </a:solidFill>
                          <a:latin typeface="Montserrat"/>
                        </a:defRPr>
                      </a:pPr>
                      <a:r>
                        <a:t>Arcos en C</a:t>
                      </a:r>
                    </a:p>
                  </a:txBody>
                  <a:tcPr>
                    <a:solidFill>
                      <a:srgbClr val="006455"/>
                    </a:solidFill>
                  </a:tcPr>
                </a:tc>
                <a:tc>
                  <a:txBody>
                    <a:bodyPr/>
                    <a:lstStyle/>
                    <a:p>
                      <a:pPr algn="ctr">
                        <a:defRPr b="1" sz="900">
                          <a:solidFill>
                            <a:srgbClr val="FFFFFF"/>
                          </a:solidFill>
                          <a:latin typeface="Montserrat"/>
                        </a:defRPr>
                      </a:pPr>
                      <a:r>
                        <a:t>Máquinas de Hemodiálisis</a:t>
                      </a:r>
                    </a:p>
                  </a:txBody>
                  <a:tcPr>
                    <a:solidFill>
                      <a:srgbClr val="006455"/>
                    </a:solidFill>
                  </a:tcPr>
                </a:tc>
                <a:tc>
                  <a:txBody>
                    <a:bodyPr/>
                    <a:lstStyle/>
                    <a:p>
                      <a:pPr algn="ctr">
                        <a:defRPr b="1" sz="900">
                          <a:solidFill>
                            <a:srgbClr val="FFFFFF"/>
                          </a:solidFill>
                          <a:latin typeface="Montserrat"/>
                        </a:defRPr>
                      </a:pPr>
                      <a:r>
                        <a:t>Sala de Hemodinamia</a:t>
                      </a:r>
                    </a:p>
                  </a:txBody>
                  <a:tcPr>
                    <a:solidFill>
                      <a:srgbClr val="006455"/>
                    </a:solidFill>
                  </a:tcPr>
                </a:tc>
              </a:tr>
              <a:tr h="230400">
                <a:tc>
                  <a:txBody>
                    <a:bodyPr/>
                    <a:lstStyle/>
                    <a:p>
                      <a:pPr algn="ctr">
                        <a:defRPr sz="1000">
                          <a:latin typeface="Montserrat"/>
                        </a:defRPr>
                      </a:pPr>
                      <a:r>
                        <a:t>HGR Orizaba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12</a:t>
                      </a:r>
                    </a:p>
                  </a:txBody>
                  <a:tcPr>
                    <a:solidFill>
                      <a:srgbClr val="FFFFFF"/>
                    </a:solidFill>
                  </a:tcPr>
                </a:tc>
                <a:tc>
                  <a:txBody>
                    <a:bodyPr/>
                    <a:lstStyle/>
                    <a:p>
                      <a:pPr algn="ctr">
                        <a:defRPr sz="1000">
                          <a:latin typeface="Montserrat"/>
                        </a:defRPr>
                      </a:pPr>
                      <a:r>
                        <a:t>1</a:t>
                      </a:r>
                    </a:p>
                  </a:txBody>
                  <a:tcPr>
                    <a:solidFill>
                      <a:srgbClr val="FFFFFF"/>
                    </a:solidFill>
                  </a:tcPr>
                </a:tc>
              </a:tr>
              <a:tr h="230400">
                <a:tc>
                  <a:txBody>
                    <a:bodyPr/>
                    <a:lstStyle/>
                    <a:p>
                      <a:pPr algn="ctr">
                        <a:defRPr sz="1000">
                          <a:latin typeface="Montserrat"/>
                        </a:defRPr>
                      </a:pPr>
                      <a:r>
                        <a:t>HGSMF 12 Potrero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30400">
                <a:tc>
                  <a:txBody>
                    <a:bodyPr/>
                    <a:lstStyle/>
                    <a:p>
                      <a:pPr algn="ctr">
                        <a:defRPr sz="1000">
                          <a:latin typeface="Montserrat"/>
                        </a:defRPr>
                      </a:pPr>
                      <a:r>
                        <a:t>HR Zongolica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30400">
                <a:tc>
                  <a:txBody>
                    <a:bodyPr/>
                    <a:lstStyle/>
                    <a:p>
                      <a:pPr algn="ctr">
                        <a:defRPr sz="1000">
                          <a:latin typeface="Montserrat"/>
                        </a:defRPr>
                      </a:pPr>
                      <a:r>
                        <a:t>HR Coscomatepec De Bravo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30400">
                <a:tc>
                  <a:txBody>
                    <a:bodyPr/>
                    <a:lstStyle/>
                    <a:p>
                      <a:pPr algn="ctr">
                        <a:defRPr sz="1000">
                          <a:latin typeface="Montserrat"/>
                        </a:defRPr>
                      </a:pPr>
                      <a:r>
                        <a:t>HGS 33 Tierra Blanca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9</a:t>
                      </a:r>
                    </a:p>
                  </a:txBody>
                  <a:tcPr>
                    <a:solidFill>
                      <a:srgbClr val="FFFFFF"/>
                    </a:solidFill>
                  </a:tcPr>
                </a:tc>
                <a:tc>
                  <a:txBody>
                    <a:bodyPr/>
                    <a:lstStyle/>
                    <a:p>
                      <a:pPr algn="ctr">
                        <a:defRPr sz="1000">
                          <a:latin typeface="Montserrat"/>
                        </a:defRPr>
                      </a:pPr>
                      <a:r>
                        <a:t>0</a:t>
                      </a:r>
                    </a:p>
                  </a:txBody>
                  <a:tcPr>
                    <a:solidFill>
                      <a:srgbClr val="FFFFFF"/>
                    </a:solidFill>
                  </a:tcPr>
                </a:tc>
              </a:tr>
              <a:tr h="230400">
                <a:tc>
                  <a:txBody>
                    <a:bodyPr/>
                    <a:lstStyle/>
                    <a:p>
                      <a:pPr algn="ctr">
                        <a:defRPr sz="1000">
                          <a:latin typeface="Montserrat"/>
                        </a:defRPr>
                      </a:pPr>
                      <a:r>
                        <a:t>HGZMF 35 Cosamaloapan</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30400">
                <a:tc>
                  <a:txBody>
                    <a:bodyPr/>
                    <a:lstStyle/>
                    <a:p>
                      <a:pPr algn="ctr">
                        <a:defRPr sz="1000">
                          <a:latin typeface="Montserrat"/>
                        </a:defRPr>
                      </a:pPr>
                      <a:r>
                        <a:t>HGZ 36 Coatzacoalos</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10</a:t>
                      </a:r>
                    </a:p>
                  </a:txBody>
                  <a:tcPr>
                    <a:solidFill>
                      <a:srgbClr val="FFFFFF"/>
                    </a:solidFill>
                  </a:tcPr>
                </a:tc>
                <a:tc>
                  <a:txBody>
                    <a:bodyPr/>
                    <a:lstStyle/>
                    <a:p>
                      <a:pPr algn="ctr">
                        <a:defRPr sz="1000">
                          <a:latin typeface="Montserrat"/>
                        </a:defRPr>
                      </a:pPr>
                      <a:r>
                        <a:t>0</a:t>
                      </a:r>
                    </a:p>
                  </a:txBody>
                  <a:tcPr>
                    <a:solidFill>
                      <a:srgbClr val="FFFFFF"/>
                    </a:solidFill>
                  </a:tcPr>
                </a:tc>
              </a:tr>
              <a:tr h="230400">
                <a:tc>
                  <a:txBody>
                    <a:bodyPr/>
                    <a:lstStyle/>
                    <a:p>
                      <a:pPr algn="ctr">
                        <a:defRPr sz="1000">
                          <a:latin typeface="Montserrat"/>
                        </a:defRPr>
                      </a:pPr>
                      <a:r>
                        <a:t>HGZMF 32 Minatitlán</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30400">
                <a:tc>
                  <a:txBody>
                    <a:bodyPr/>
                    <a:lstStyle/>
                    <a:p>
                      <a:pPr algn="ctr">
                        <a:defRPr sz="1000">
                          <a:latin typeface="Montserrat"/>
                        </a:defRPr>
                      </a:pPr>
                      <a:r>
                        <a:t>HR Jáltipan De Morelos</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30400">
                <a:tc>
                  <a:txBody>
                    <a:bodyPr/>
                    <a:lstStyle/>
                    <a:p>
                      <a:pPr algn="ctr">
                        <a:defRPr sz="1000">
                          <a:latin typeface="Montserrat"/>
                        </a:defRPr>
                      </a:pPr>
                      <a:r>
                        <a:t>HGSMF 7 Panuco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30400">
                <a:tc>
                  <a:txBody>
                    <a:bodyPr/>
                    <a:lstStyle/>
                    <a:p>
                      <a:pPr algn="ctr">
                        <a:defRPr sz="1000">
                          <a:latin typeface="Montserrat"/>
                        </a:defRPr>
                      </a:pPr>
                      <a:r>
                        <a:t>HR Plan De Arroyos</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30400">
                <a:tc>
                  <a:txBody>
                    <a:bodyPr/>
                    <a:lstStyle/>
                    <a:p>
                      <a:pPr algn="ctr">
                        <a:defRPr sz="1000">
                          <a:latin typeface="Montserrat"/>
                        </a:defRPr>
                      </a:pPr>
                      <a:r>
                        <a:t>HGSMF 26 Tuxpan</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30400">
                <a:tc>
                  <a:txBody>
                    <a:bodyPr/>
                    <a:lstStyle/>
                    <a:p>
                      <a:pPr algn="ctr">
                        <a:defRPr sz="1000">
                          <a:latin typeface="Montserrat"/>
                        </a:defRPr>
                      </a:pPr>
                      <a:r>
                        <a:t>HGZ 24 Poza Rica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7</a:t>
                      </a:r>
                    </a:p>
                  </a:txBody>
                  <a:tcPr>
                    <a:solidFill>
                      <a:srgbClr val="FFFFFF"/>
                    </a:solidFill>
                  </a:tcPr>
                </a:tc>
                <a:tc>
                  <a:txBody>
                    <a:bodyPr/>
                    <a:lstStyle/>
                    <a:p>
                      <a:pPr algn="ctr">
                        <a:defRPr sz="1000">
                          <a:latin typeface="Montserrat"/>
                        </a:defRPr>
                      </a:pPr>
                      <a:r>
                        <a:t>0</a:t>
                      </a:r>
                    </a:p>
                  </a:txBody>
                  <a:tcPr>
                    <a:solidFill>
                      <a:srgbClr val="FFFFFF"/>
                    </a:solidFill>
                  </a:tcPr>
                </a:tc>
              </a:tr>
              <a:tr h="230400">
                <a:tc>
                  <a:txBody>
                    <a:bodyPr/>
                    <a:lstStyle/>
                    <a:p>
                      <a:pPr algn="ctr">
                        <a:defRPr sz="1000">
                          <a:latin typeface="Montserrat"/>
                        </a:defRPr>
                      </a:pPr>
                      <a:r>
                        <a:t>HR Chicontepec De Tejeda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30400">
                <a:tc>
                  <a:txBody>
                    <a:bodyPr/>
                    <a:lstStyle/>
                    <a:p>
                      <a:pPr algn="ctr">
                        <a:defRPr sz="1000">
                          <a:latin typeface="Montserrat"/>
                        </a:defRPr>
                      </a:pPr>
                      <a:r>
                        <a:t>HGZMF 28 Martínez de la Torre</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30400">
                <a:tc>
                  <a:txBody>
                    <a:bodyPr/>
                    <a:lstStyle/>
                    <a:p>
                      <a:pPr algn="ctr">
                        <a:defRPr sz="1000">
                          <a:latin typeface="Montserrat"/>
                        </a:defRPr>
                      </a:pPr>
                      <a:r>
                        <a:t>HGZ 71 Veracruz</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30400">
                <a:tc>
                  <a:txBody>
                    <a:bodyPr/>
                    <a:lstStyle/>
                    <a:p>
                      <a:pPr algn="ctr">
                        <a:defRPr sz="1000">
                          <a:latin typeface="Montserrat"/>
                        </a:defRPr>
                      </a:pPr>
                      <a:r>
                        <a:t>HGZ 11 Jalapa.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3</a:t>
                      </a:r>
                    </a:p>
                  </a:txBody>
                  <a:tcPr>
                    <a:solidFill>
                      <a:srgbClr val="FFFFFF"/>
                    </a:solidFill>
                  </a:tcPr>
                </a:tc>
                <a:tc>
                  <a:txBody>
                    <a:bodyPr/>
                    <a:lstStyle/>
                    <a:p>
                      <a:pPr algn="ctr">
                        <a:defRPr sz="1000">
                          <a:latin typeface="Montserrat"/>
                        </a:defRPr>
                      </a:pPr>
                      <a:r>
                        <a:t>18</a:t>
                      </a:r>
                    </a:p>
                  </a:txBody>
                  <a:tcPr>
                    <a:solidFill>
                      <a:srgbClr val="FFFFFF"/>
                    </a:solidFill>
                  </a:tcPr>
                </a:tc>
                <a:tc>
                  <a:txBody>
                    <a:bodyPr/>
                    <a:lstStyle/>
                    <a:p>
                      <a:pPr algn="ctr">
                        <a:defRPr sz="1000">
                          <a:latin typeface="Montserrat"/>
                        </a:defRPr>
                      </a:pPr>
                      <a:r>
                        <a:t>1</a:t>
                      </a:r>
                    </a:p>
                  </a:txBody>
                  <a:tcPr>
                    <a:solidFill>
                      <a:srgbClr val="FFFFFF"/>
                    </a:solidFill>
                  </a:tcPr>
                </a:tc>
              </a:tr>
              <a:tr h="230400">
                <a:tc>
                  <a:txBody>
                    <a:bodyPr/>
                    <a:lstStyle/>
                    <a:p>
                      <a:pPr algn="ctr">
                        <a:defRPr sz="1000">
                          <a:latin typeface="Montserrat"/>
                        </a:defRPr>
                      </a:pPr>
                      <a:r>
                        <a:t>HGSMF 33 S. Andrés Tuxtla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30400">
                <a:tc>
                  <a:txBody>
                    <a:bodyPr/>
                    <a:lstStyle/>
                    <a:p>
                      <a:pPr algn="ctr">
                        <a:defRPr sz="1000">
                          <a:latin typeface="Montserrat"/>
                        </a:defRPr>
                      </a:pPr>
                      <a:r>
                        <a:t>HGZ 8 Córdoba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6</a:t>
                      </a:r>
                    </a:p>
                  </a:txBody>
                  <a:tcPr>
                    <a:solidFill>
                      <a:srgbClr val="FFFFFF"/>
                    </a:solidFill>
                  </a:tcPr>
                </a:tc>
                <a:tc>
                  <a:txBody>
                    <a:bodyPr/>
                    <a:lstStyle/>
                    <a:p>
                      <a:pPr algn="ctr">
                        <a:defRPr sz="1000">
                          <a:latin typeface="Montserrat"/>
                        </a:defRPr>
                      </a:pPr>
                      <a:r>
                        <a:t>0</a:t>
                      </a:r>
                    </a:p>
                  </a:txBody>
                  <a:tcPr>
                    <a:solidFill>
                      <a:srgbClr val="FFFFFF"/>
                    </a:solidFill>
                  </a:tcPr>
                </a:tc>
              </a:tr>
              <a:tr h="230400">
                <a:tc>
                  <a:txBody>
                    <a:bodyPr/>
                    <a:lstStyle/>
                    <a:p>
                      <a:pPr algn="ctr">
                        <a:defRPr sz="1000">
                          <a:latin typeface="Montserrat"/>
                        </a:defRPr>
                      </a:pPr>
                      <a:r>
                        <a:t>HGSMF 16 Omealca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30400">
                <a:tc>
                  <a:txBody>
                    <a:bodyPr/>
                    <a:lstStyle/>
                    <a:p>
                      <a:pPr algn="ctr">
                        <a:defRPr sz="1000">
                          <a:latin typeface="Montserrat"/>
                        </a:defRPr>
                      </a:pPr>
                      <a:r>
                        <a:t>HGZMF 50 Lerdo Tejada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30400">
                <a:tc>
                  <a:txBody>
                    <a:bodyPr/>
                    <a:lstStyle/>
                    <a:p>
                      <a:pPr algn="ctr">
                        <a:defRPr sz="1000">
                          <a:latin typeface="Montserrat"/>
                        </a:defRPr>
                      </a:pPr>
                      <a:r>
                        <a:t>HR Papantla De Olarte</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30400">
                <a:tc>
                  <a:txBody>
                    <a:bodyPr/>
                    <a:lstStyle/>
                    <a:p>
                      <a:pPr algn="ctr">
                        <a:defRPr sz="1000">
                          <a:latin typeface="Montserrat"/>
                        </a:defRPr>
                      </a:pPr>
                      <a:r>
                        <a:t>HGZMF 36 José Cardel</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30400">
                <a:tc>
                  <a:txBody>
                    <a:bodyPr/>
                    <a:lstStyle/>
                    <a:p>
                      <a:pPr algn="ctr">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c>
                  <a:txBody>
                    <a:bodyPr/>
                    <a:lstStyle/>
                    <a:p>
                      <a:pPr algn="ctr">
                        <a:defRPr sz="1000" b="1">
                          <a:solidFill>
                            <a:srgbClr val="006556"/>
                          </a:solidFill>
                          <a:latin typeface="Montserrat"/>
                        </a:defRPr>
                      </a:pPr>
                      <a:r>
                        <a:t>62</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22800" y="8949600"/>
            <a:ext cx="5320800" cy="3708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a:t>
            </a:r>
            <a:br/>
            <a:r>
              <a:t>Fuente: Cédula de actualización de variables seleccionadas del IFU, enviadas por el OOAD.</a:t>
            </a:r>
            <a:br/>
            <a:r>
              <a:t>Corte de información: enero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graphicFrame>
        <p:nvGraphicFramePr>
          <p:cNvPr id="2" name="Google Shape;164;g370e87ffe7a_2_8">
            <a:extLst>
              <a:ext uri="{FF2B5EF4-FFF2-40B4-BE49-F238E27FC236}">
                <a16:creationId xmlns:a16="http://schemas.microsoft.com/office/drawing/2014/main" id="{507FEF15-F208-7692-1DD1-CC69917AAAE9}"/>
              </a:ext>
            </a:extLst>
          </p:cNvPr>
          <p:cNvGraphicFramePr/>
          <p:nvPr>
            <p:extLst>
              <p:ext uri="{D42A27DB-BD31-4B8C-83A1-F6EECF244321}">
                <p14:modId xmlns:p14="http://schemas.microsoft.com/office/powerpoint/2010/main" val="2111448324"/>
              </p:ext>
            </p:extLst>
          </p:nvPr>
        </p:nvGraphicFramePr>
        <p:xfrm>
          <a:off x="149075" y="649350"/>
          <a:ext cx="7474250" cy="64008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 </a:t>
                      </a:r>
                    </a:p>
                    <a:p>
                      <a:pPr marL="0" marR="0" lvl="0" indent="0" algn="l" rtl="0">
                        <a:lnSpc>
                          <a:spcPct val="100000"/>
                        </a:lnSpc>
                        <a:spcBef>
                          <a:spcPts val="0"/>
                        </a:spcBef>
                        <a:spcAft>
                          <a:spcPts val="0"/>
                        </a:spcAft>
                        <a:buClr>
                          <a:srgbClr val="000000"/>
                        </a:buClr>
                        <a:buSzPts val="1100"/>
                        <a:buFont typeface="Arial"/>
                        <a:buNone/>
                      </a:pP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4" name="TextBox 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5" name="TextBox 4"/>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88 Unidades Médicas de lunes a viernes</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Noto Sans"/>
              </a:defRPr>
            </a:pPr>
            <a:r>
              <a:t>No incluye Unidades Auxiliares de Medicina Familiar</a:t>
            </a:r>
            <a:br/>
            <a:r>
              <a:t>Corte de información: Semana 9 febrero 2026</a:t>
            </a:r>
          </a:p>
        </p:txBody>
      </p:sp>
      <p:graphicFrame>
        <p:nvGraphicFramePr>
          <p:cNvPr id="7" name="Table 6"/>
          <p:cNvGraphicFramePr>
            <a:graphicFrameLocks noGrp="1"/>
          </p:cNvGraphicFramePr>
          <p:nvPr/>
        </p:nvGraphicFramePr>
        <p:xfrm>
          <a:off x="151200" y="1378800"/>
          <a:ext cx="7290000" cy="7106400"/>
        </p:xfrm>
        <a:graphic>
          <a:graphicData uri="http://schemas.openxmlformats.org/drawingml/2006/table">
            <a:tbl>
              <a:tblPr firstRow="1" bandRow="1">
                <a:tableStyleId>{5C22544A-7EE6-4342-B048-85BDC9FD1C3A}</a:tableStyleId>
              </a:tblPr>
              <a:tblGrid>
                <a:gridCol w="2653200"/>
                <a:gridCol w="1584000"/>
                <a:gridCol w="1522800"/>
                <a:gridCol w="1530000"/>
              </a:tblGrid>
              <a:tr h="151200">
                <a:tc>
                  <a:txBody>
                    <a:bodyPr/>
                    <a:lstStyle/>
                    <a:p>
                      <a:pPr algn="ctr">
                        <a:defRPr b="1" sz="1000">
                          <a:solidFill>
                            <a:srgbClr val="FFFFFF"/>
                          </a:solidFill>
                          <a:latin typeface="Montserrat"/>
                        </a:defRPr>
                      </a:pPr>
                      <a:r>
                        <a:t>Unidad Médica</a:t>
                      </a:r>
                    </a:p>
                  </a:txBody>
                  <a:tcPr>
                    <a:solidFill>
                      <a:srgbClr val="006455"/>
                    </a:solidFill>
                  </a:tcPr>
                </a:tc>
                <a:tc>
                  <a:txBody>
                    <a:bodyPr/>
                    <a:lstStyle/>
                    <a:p>
                      <a:pPr algn="ctr">
                        <a:defRPr b="1" sz="1000">
                          <a:solidFill>
                            <a:srgbClr val="FFFFFF"/>
                          </a:solidFill>
                          <a:latin typeface="Montserrat"/>
                        </a:defRPr>
                      </a:pPr>
                      <a:r>
                        <a:t>Antigüedad</a:t>
                      </a:r>
                    </a:p>
                  </a:txBody>
                  <a:tcPr>
                    <a:solidFill>
                      <a:srgbClr val="006455"/>
                    </a:solidFill>
                  </a:tcPr>
                </a:tc>
                <a:tc>
                  <a:txBody>
                    <a:bodyPr/>
                    <a:lstStyle/>
                    <a:p>
                      <a:pPr algn="ctr">
                        <a:defRPr b="1" sz="1000">
                          <a:solidFill>
                            <a:srgbClr val="FFFFFF"/>
                          </a:solidFill>
                          <a:latin typeface="Montserrat"/>
                        </a:defRPr>
                      </a:pPr>
                      <a:r>
                        <a:t>Consultorios de Medicina Familiar</a:t>
                      </a:r>
                    </a:p>
                  </a:txBody>
                  <a:tcPr>
                    <a:solidFill>
                      <a:srgbClr val="006455"/>
                    </a:solidFill>
                  </a:tcPr>
                </a:tc>
                <a:tc>
                  <a:txBody>
                    <a:bodyPr/>
                    <a:lstStyle/>
                    <a:p>
                      <a:pPr algn="ctr">
                        <a:defRPr b="1" sz="1000">
                          <a:solidFill>
                            <a:srgbClr val="FFFFFF"/>
                          </a:solidFill>
                          <a:latin typeface="Montserrat"/>
                        </a:defRPr>
                      </a:pPr>
                      <a:r>
                        <a:t>Productividad a febrero</a:t>
                      </a:r>
                    </a:p>
                  </a:txBody>
                  <a:tcPr>
                    <a:solidFill>
                      <a:srgbClr val="006455"/>
                    </a:solidFill>
                  </a:tcPr>
                </a:tc>
              </a:tr>
              <a:tr h="151200">
                <a:tc>
                  <a:txBody>
                    <a:bodyPr/>
                    <a:lstStyle/>
                    <a:p>
                      <a:pPr algn="ctr">
                        <a:defRPr sz="1000">
                          <a:latin typeface="Montserrat"/>
                        </a:defRPr>
                      </a:pPr>
                      <a:r>
                        <a:t>UMF 9 Yanga</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2,304</a:t>
                      </a:r>
                    </a:p>
                  </a:txBody>
                  <a:tcPr marL="0" marR="0" marT="0" marB="0">
                    <a:solidFill>
                      <a:srgbClr val="FFFFFF"/>
                    </a:solidFill>
                  </a:tcPr>
                </a:tc>
              </a:tr>
              <a:tr h="151200">
                <a:tc>
                  <a:txBody>
                    <a:bodyPr/>
                    <a:lstStyle/>
                    <a:p>
                      <a:pPr algn="ctr">
                        <a:defRPr sz="1000">
                          <a:latin typeface="Montserrat"/>
                        </a:defRPr>
                      </a:pPr>
                      <a:r>
                        <a:t>UMF 9 El Hígo</a:t>
                      </a:r>
                    </a:p>
                  </a:txBody>
                  <a:tcPr marL="0" marR="0" marT="0" marB="0">
                    <a:solidFill>
                      <a:srgbClr val="EFEFEF"/>
                    </a:solidFill>
                  </a:tcPr>
                </a:tc>
                <a:tc>
                  <a:txBody>
                    <a:bodyPr/>
                    <a:lstStyle/>
                    <a:p>
                      <a:pPr algn="ctr">
                        <a:defRPr sz="1000">
                          <a:latin typeface="Montserrat"/>
                        </a:defRPr>
                      </a:pPr>
                      <a:r>
                        <a:t>62</a:t>
                      </a:r>
                    </a:p>
                  </a:txBody>
                  <a:tcPr marL="0" marR="0" marT="0" marB="0">
                    <a:solidFill>
                      <a:srgbClr val="EFEFEF"/>
                    </a:solidFill>
                  </a:tcPr>
                </a:tc>
                <a:tc>
                  <a:txBody>
                    <a:bodyPr/>
                    <a:lstStyle/>
                    <a:p>
                      <a:pPr algn="ctr">
                        <a:defRPr sz="1000">
                          <a:latin typeface="Montserrat"/>
                        </a:defRPr>
                      </a:pPr>
                      <a:r>
                        <a:t>3</a:t>
                      </a:r>
                    </a:p>
                  </a:txBody>
                  <a:tcPr marL="0" marR="0" marT="0" marB="0">
                    <a:solidFill>
                      <a:srgbClr val="EFEFEF"/>
                    </a:solidFill>
                  </a:tcPr>
                </a:tc>
                <a:tc>
                  <a:txBody>
                    <a:bodyPr/>
                    <a:lstStyle/>
                    <a:p>
                      <a:pPr algn="ctr">
                        <a:defRPr sz="1000">
                          <a:latin typeface="Montserrat"/>
                        </a:defRPr>
                      </a:pPr>
                      <a:r>
                        <a:t>2,330</a:t>
                      </a:r>
                    </a:p>
                  </a:txBody>
                  <a:tcPr marL="0" marR="0" marT="0" marB="0">
                    <a:solidFill>
                      <a:srgbClr val="EFEFEF"/>
                    </a:solidFill>
                  </a:tcPr>
                </a:tc>
              </a:tr>
              <a:tr h="151200">
                <a:tc>
                  <a:txBody>
                    <a:bodyPr/>
                    <a:lstStyle/>
                    <a:p>
                      <a:pPr algn="ctr">
                        <a:defRPr sz="1000">
                          <a:latin typeface="Montserrat"/>
                        </a:defRPr>
                      </a:pPr>
                      <a:r>
                        <a:t>UMF 75 Pueblo Viejo</a:t>
                      </a:r>
                    </a:p>
                  </a:txBody>
                  <a:tcPr marL="0" marR="0" marT="0" marB="0">
                    <a:solidFill>
                      <a:srgbClr val="FFFFFF"/>
                    </a:solidFill>
                  </a:tcPr>
                </a:tc>
                <a:tc>
                  <a:txBody>
                    <a:bodyPr/>
                    <a:lstStyle/>
                    <a:p>
                      <a:pPr algn="ctr">
                        <a:defRPr sz="1000">
                          <a:latin typeface="Montserrat"/>
                        </a:defRPr>
                      </a:pPr>
                      <a:r>
                        <a:t>45</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1,688</a:t>
                      </a:r>
                    </a:p>
                  </a:txBody>
                  <a:tcPr marL="0" marR="0" marT="0" marB="0">
                    <a:solidFill>
                      <a:srgbClr val="FFFFFF"/>
                    </a:solidFill>
                  </a:tcPr>
                </a:tc>
              </a:tr>
              <a:tr h="151200">
                <a:tc>
                  <a:txBody>
                    <a:bodyPr/>
                    <a:lstStyle/>
                    <a:p>
                      <a:pPr algn="ctr">
                        <a:defRPr sz="1000">
                          <a:latin typeface="Montserrat"/>
                        </a:defRPr>
                      </a:pPr>
                      <a:r>
                        <a:t>UMF 74 Tampico Alto</a:t>
                      </a:r>
                    </a:p>
                  </a:txBody>
                  <a:tcPr marL="0" marR="0" marT="0" marB="0">
                    <a:solidFill>
                      <a:srgbClr val="EFEFEF"/>
                    </a:solidFill>
                  </a:tcPr>
                </a:tc>
                <a:tc>
                  <a:txBody>
                    <a:bodyPr/>
                    <a:lstStyle/>
                    <a:p>
                      <a:pPr algn="ctr">
                        <a:defRPr sz="1000">
                          <a:latin typeface="Montserrat"/>
                        </a:defRPr>
                      </a:pPr>
                      <a:r>
                        <a:t>44</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976</a:t>
                      </a:r>
                    </a:p>
                  </a:txBody>
                  <a:tcPr marL="0" marR="0" marT="0" marB="0">
                    <a:solidFill>
                      <a:srgbClr val="EFEFEF"/>
                    </a:solidFill>
                  </a:tcPr>
                </a:tc>
              </a:tr>
              <a:tr h="151200">
                <a:tc>
                  <a:txBody>
                    <a:bodyPr/>
                    <a:lstStyle/>
                    <a:p>
                      <a:pPr algn="ctr">
                        <a:defRPr sz="1000">
                          <a:latin typeface="Montserrat"/>
                        </a:defRPr>
                      </a:pPr>
                      <a:r>
                        <a:t>UMF 70 Tres Zapotes</a:t>
                      </a:r>
                    </a:p>
                  </a:txBody>
                  <a:tcPr marL="0" marR="0" marT="0" marB="0">
                    <a:solidFill>
                      <a:srgbClr val="FFFFFF"/>
                    </a:solidFill>
                  </a:tcPr>
                </a:tc>
                <a:tc>
                  <a:txBody>
                    <a:bodyPr/>
                    <a:lstStyle/>
                    <a:p>
                      <a:pPr algn="ctr">
                        <a:defRPr sz="1000">
                          <a:latin typeface="Montserrat"/>
                        </a:defRPr>
                      </a:pPr>
                      <a:r>
                        <a:t>36</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1,118</a:t>
                      </a:r>
                    </a:p>
                  </a:txBody>
                  <a:tcPr marL="0" marR="0" marT="0" marB="0">
                    <a:solidFill>
                      <a:srgbClr val="FFFFFF"/>
                    </a:solidFill>
                  </a:tcPr>
                </a:tc>
              </a:tr>
              <a:tr h="151200">
                <a:tc>
                  <a:txBody>
                    <a:bodyPr/>
                    <a:lstStyle/>
                    <a:p>
                      <a:pPr algn="ctr">
                        <a:defRPr sz="1000">
                          <a:latin typeface="Montserrat"/>
                        </a:defRPr>
                      </a:pPr>
                      <a:r>
                        <a:t>UMF 7 Orizaba</a:t>
                      </a:r>
                    </a:p>
                  </a:txBody>
                  <a:tcPr marL="0" marR="0" marT="0" marB="0">
                    <a:solidFill>
                      <a:srgbClr val="EFEFEF"/>
                    </a:solidFill>
                  </a:tcPr>
                </a:tc>
                <a:tc>
                  <a:txBody>
                    <a:bodyPr/>
                    <a:lstStyle/>
                    <a:p>
                      <a:pPr algn="ctr">
                        <a:defRPr sz="1000">
                          <a:latin typeface="Montserrat"/>
                        </a:defRPr>
                      </a:pPr>
                      <a:r>
                        <a:t>61</a:t>
                      </a:r>
                    </a:p>
                  </a:txBody>
                  <a:tcPr marL="0" marR="0" marT="0" marB="0">
                    <a:solidFill>
                      <a:srgbClr val="EFEFEF"/>
                    </a:solidFill>
                  </a:tcPr>
                </a:tc>
                <a:tc>
                  <a:txBody>
                    <a:bodyPr/>
                    <a:lstStyle/>
                    <a:p>
                      <a:pPr algn="ctr">
                        <a:defRPr sz="1000">
                          <a:latin typeface="Montserrat"/>
                        </a:defRPr>
                      </a:pPr>
                      <a:r>
                        <a:t>5</a:t>
                      </a:r>
                    </a:p>
                  </a:txBody>
                  <a:tcPr marL="0" marR="0" marT="0" marB="0">
                    <a:solidFill>
                      <a:srgbClr val="EFEFEF"/>
                    </a:solidFill>
                  </a:tcPr>
                </a:tc>
                <a:tc>
                  <a:txBody>
                    <a:bodyPr/>
                    <a:lstStyle/>
                    <a:p>
                      <a:pPr algn="ctr">
                        <a:defRPr sz="1000">
                          <a:latin typeface="Montserrat"/>
                        </a:defRPr>
                      </a:pPr>
                      <a:r>
                        <a:t>8,019</a:t>
                      </a:r>
                    </a:p>
                  </a:txBody>
                  <a:tcPr marL="0" marR="0" marT="0" marB="0">
                    <a:solidFill>
                      <a:srgbClr val="EFEFEF"/>
                    </a:solidFill>
                  </a:tcPr>
                </a:tc>
              </a:tr>
              <a:tr h="151200">
                <a:tc>
                  <a:txBody>
                    <a:bodyPr/>
                    <a:lstStyle/>
                    <a:p>
                      <a:pPr algn="ctr">
                        <a:defRPr sz="1000">
                          <a:latin typeface="Montserrat"/>
                        </a:defRPr>
                      </a:pPr>
                      <a:r>
                        <a:t>UMF 68 Veracruz</a:t>
                      </a:r>
                    </a:p>
                  </a:txBody>
                  <a:tcPr marL="0" marR="0" marT="0" marB="0">
                    <a:solidFill>
                      <a:srgbClr val="FFFFFF"/>
                    </a:solidFill>
                  </a:tcPr>
                </a:tc>
                <a:tc>
                  <a:txBody>
                    <a:bodyPr/>
                    <a:lstStyle/>
                    <a:p>
                      <a:pPr algn="ctr">
                        <a:defRPr sz="1000">
                          <a:latin typeface="Montserrat"/>
                        </a:defRPr>
                      </a:pPr>
                      <a:r>
                        <a:t>51</a:t>
                      </a:r>
                    </a:p>
                  </a:txBody>
                  <a:tcPr marL="0" marR="0" marT="0" marB="0">
                    <a:solidFill>
                      <a:srgbClr val="FFFFFF"/>
                    </a:solidFill>
                  </a:tcPr>
                </a:tc>
                <a:tc>
                  <a:txBody>
                    <a:bodyPr/>
                    <a:lstStyle/>
                    <a:p>
                      <a:pPr algn="ctr">
                        <a:defRPr sz="1000">
                          <a:latin typeface="Montserrat"/>
                        </a:defRPr>
                      </a:pPr>
                      <a:r>
                        <a:t>20</a:t>
                      </a:r>
                    </a:p>
                  </a:txBody>
                  <a:tcPr marL="0" marR="0" marT="0" marB="0">
                    <a:solidFill>
                      <a:srgbClr val="FFFFFF"/>
                    </a:solidFill>
                  </a:tcPr>
                </a:tc>
                <a:tc>
                  <a:txBody>
                    <a:bodyPr/>
                    <a:lstStyle/>
                    <a:p>
                      <a:pPr algn="ctr">
                        <a:defRPr sz="1000">
                          <a:latin typeface="Montserrat"/>
                        </a:defRPr>
                      </a:pPr>
                      <a:r>
                        <a:t>24,090</a:t>
                      </a:r>
                    </a:p>
                  </a:txBody>
                  <a:tcPr marL="0" marR="0" marT="0" marB="0">
                    <a:solidFill>
                      <a:srgbClr val="FFFFFF"/>
                    </a:solidFill>
                  </a:tcPr>
                </a:tc>
              </a:tr>
              <a:tr h="151200">
                <a:tc>
                  <a:txBody>
                    <a:bodyPr/>
                    <a:lstStyle/>
                    <a:p>
                      <a:pPr algn="ctr">
                        <a:defRPr sz="1000">
                          <a:latin typeface="Montserrat"/>
                        </a:defRPr>
                      </a:pPr>
                      <a:r>
                        <a:t>UMF 67 Revolución</a:t>
                      </a:r>
                    </a:p>
                  </a:txBody>
                  <a:tcPr marL="0" marR="0" marT="0" marB="0">
                    <a:solidFill>
                      <a:srgbClr val="EFEFEF"/>
                    </a:solidFill>
                  </a:tcPr>
                </a:tc>
                <a:tc>
                  <a:txBody>
                    <a:bodyPr/>
                    <a:lstStyle/>
                    <a:p>
                      <a:pPr algn="ctr">
                        <a:defRPr sz="1000">
                          <a:latin typeface="Montserrat"/>
                        </a:defRPr>
                      </a:pPr>
                      <a:r>
                        <a:t>27</a:t>
                      </a:r>
                    </a:p>
                  </a:txBody>
                  <a:tcPr marL="0" marR="0" marT="0" marB="0">
                    <a:solidFill>
                      <a:srgbClr val="EFEFEF"/>
                    </a:solidFill>
                  </a:tcPr>
                </a:tc>
                <a:tc>
                  <a:txBody>
                    <a:bodyPr/>
                    <a:lstStyle/>
                    <a:p>
                      <a:pPr algn="ctr">
                        <a:defRPr sz="1000">
                          <a:latin typeface="Montserrat"/>
                        </a:defRPr>
                      </a:pPr>
                      <a:r>
                        <a:t>10</a:t>
                      </a:r>
                    </a:p>
                  </a:txBody>
                  <a:tcPr marL="0" marR="0" marT="0" marB="0">
                    <a:solidFill>
                      <a:srgbClr val="EFEFEF"/>
                    </a:solidFill>
                  </a:tcPr>
                </a:tc>
                <a:tc>
                  <a:txBody>
                    <a:bodyPr/>
                    <a:lstStyle/>
                    <a:p>
                      <a:pPr algn="ctr">
                        <a:defRPr sz="1000">
                          <a:latin typeface="Montserrat"/>
                        </a:defRPr>
                      </a:pPr>
                      <a:r>
                        <a:t>11,012</a:t>
                      </a:r>
                    </a:p>
                  </a:txBody>
                  <a:tcPr marL="0" marR="0" marT="0" marB="0">
                    <a:solidFill>
                      <a:srgbClr val="EFEFEF"/>
                    </a:solidFill>
                  </a:tcPr>
                </a:tc>
              </a:tr>
              <a:tr h="151200">
                <a:tc>
                  <a:txBody>
                    <a:bodyPr/>
                    <a:lstStyle/>
                    <a:p>
                      <a:pPr algn="ctr">
                        <a:defRPr sz="1000">
                          <a:latin typeface="Montserrat"/>
                        </a:defRPr>
                      </a:pPr>
                      <a:r>
                        <a:t>UMF 67 Jalapa</a:t>
                      </a:r>
                    </a:p>
                  </a:txBody>
                  <a:tcPr marL="0" marR="0" marT="0" marB="0">
                    <a:solidFill>
                      <a:srgbClr val="FFFFFF"/>
                    </a:solidFill>
                  </a:tcPr>
                </a:tc>
                <a:tc>
                  <a:txBody>
                    <a:bodyPr/>
                    <a:lstStyle/>
                    <a:p>
                      <a:pPr algn="ctr">
                        <a:defRPr sz="1000">
                          <a:latin typeface="Montserrat"/>
                        </a:defRPr>
                      </a:pPr>
                      <a:r>
                        <a:t>45</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2,546</a:t>
                      </a:r>
                    </a:p>
                  </a:txBody>
                  <a:tcPr marL="0" marR="0" marT="0" marB="0">
                    <a:solidFill>
                      <a:srgbClr val="FFFFFF"/>
                    </a:solidFill>
                  </a:tcPr>
                </a:tc>
              </a:tr>
              <a:tr h="151200">
                <a:tc>
                  <a:txBody>
                    <a:bodyPr/>
                    <a:lstStyle/>
                    <a:p>
                      <a:pPr algn="ctr">
                        <a:defRPr sz="1000">
                          <a:latin typeface="Montserrat"/>
                        </a:defRPr>
                      </a:pPr>
                      <a:r>
                        <a:t>UMF 66 Nanchital</a:t>
                      </a:r>
                    </a:p>
                  </a:txBody>
                  <a:tcPr marL="0" marR="0" marT="0" marB="0">
                    <a:solidFill>
                      <a:srgbClr val="EFEFEF"/>
                    </a:solidFill>
                  </a:tcPr>
                </a:tc>
                <a:tc>
                  <a:txBody>
                    <a:bodyPr/>
                    <a:lstStyle/>
                    <a:p>
                      <a:pPr algn="ctr">
                        <a:defRPr sz="1000">
                          <a:latin typeface="Montserrat"/>
                        </a:defRPr>
                      </a:pPr>
                      <a:r>
                        <a:t>27</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922</a:t>
                      </a:r>
                    </a:p>
                  </a:txBody>
                  <a:tcPr marL="0" marR="0" marT="0" marB="0">
                    <a:solidFill>
                      <a:srgbClr val="EFEFEF"/>
                    </a:solidFill>
                  </a:tcPr>
                </a:tc>
              </a:tr>
              <a:tr h="151200">
                <a:tc>
                  <a:txBody>
                    <a:bodyPr/>
                    <a:lstStyle/>
                    <a:p>
                      <a:pPr algn="ctr">
                        <a:defRPr sz="1000">
                          <a:latin typeface="Montserrat"/>
                        </a:defRPr>
                      </a:pPr>
                      <a:r>
                        <a:t>UMF 65 Congregación</a:t>
                      </a:r>
                    </a:p>
                  </a:txBody>
                  <a:tcPr marL="0" marR="0" marT="0" marB="0">
                    <a:solidFill>
                      <a:srgbClr val="FFFFFF"/>
                    </a:solidFill>
                  </a:tcPr>
                </a:tc>
                <a:tc>
                  <a:txBody>
                    <a:bodyPr/>
                    <a:lstStyle/>
                    <a:p>
                      <a:pPr algn="ctr">
                        <a:defRPr sz="1000">
                          <a:latin typeface="Montserrat"/>
                        </a:defRPr>
                      </a:pPr>
                      <a:r>
                        <a:t>27</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2,016</a:t>
                      </a:r>
                    </a:p>
                  </a:txBody>
                  <a:tcPr marL="0" marR="0" marT="0" marB="0">
                    <a:solidFill>
                      <a:srgbClr val="FFFFFF"/>
                    </a:solidFill>
                  </a:tcPr>
                </a:tc>
              </a:tr>
              <a:tr h="151200">
                <a:tc>
                  <a:txBody>
                    <a:bodyPr/>
                    <a:lstStyle/>
                    <a:p>
                      <a:pPr algn="ctr">
                        <a:defRPr sz="1000">
                          <a:latin typeface="Montserrat"/>
                        </a:defRPr>
                      </a:pPr>
                      <a:r>
                        <a:t>UMF 64 Córdoba</a:t>
                      </a:r>
                    </a:p>
                  </a:txBody>
                  <a:tcPr marL="0" marR="0" marT="0" marB="0">
                    <a:solidFill>
                      <a:srgbClr val="EFEFEF"/>
                    </a:solidFill>
                  </a:tcPr>
                </a:tc>
                <a:tc>
                  <a:txBody>
                    <a:bodyPr/>
                    <a:lstStyle/>
                    <a:p>
                      <a:pPr algn="ctr">
                        <a:defRPr sz="1000">
                          <a:latin typeface="Montserrat"/>
                        </a:defRPr>
                      </a:pPr>
                      <a:r>
                        <a:t>27</a:t>
                      </a:r>
                    </a:p>
                  </a:txBody>
                  <a:tcPr marL="0" marR="0" marT="0" marB="0">
                    <a:solidFill>
                      <a:srgbClr val="EFEFEF"/>
                    </a:solidFill>
                  </a:tcPr>
                </a:tc>
                <a:tc>
                  <a:txBody>
                    <a:bodyPr/>
                    <a:lstStyle/>
                    <a:p>
                      <a:pPr algn="ctr">
                        <a:defRPr sz="1000">
                          <a:latin typeface="Montserrat"/>
                        </a:defRPr>
                      </a:pPr>
                      <a:r>
                        <a:t>10</a:t>
                      </a:r>
                    </a:p>
                  </a:txBody>
                  <a:tcPr marL="0" marR="0" marT="0" marB="0">
                    <a:solidFill>
                      <a:srgbClr val="EFEFEF"/>
                    </a:solidFill>
                  </a:tcPr>
                </a:tc>
                <a:tc>
                  <a:txBody>
                    <a:bodyPr/>
                    <a:lstStyle/>
                    <a:p>
                      <a:pPr algn="ctr">
                        <a:defRPr sz="1000">
                          <a:latin typeface="Montserrat"/>
                        </a:defRPr>
                      </a:pPr>
                      <a:r>
                        <a:t>13,805</a:t>
                      </a:r>
                    </a:p>
                  </a:txBody>
                  <a:tcPr marL="0" marR="0" marT="0" marB="0">
                    <a:solidFill>
                      <a:srgbClr val="EFEFEF"/>
                    </a:solidFill>
                  </a:tcPr>
                </a:tc>
              </a:tr>
              <a:tr h="151200">
                <a:tc>
                  <a:txBody>
                    <a:bodyPr/>
                    <a:lstStyle/>
                    <a:p>
                      <a:pPr algn="ctr">
                        <a:defRPr sz="1000">
                          <a:latin typeface="Montserrat"/>
                        </a:defRPr>
                      </a:pPr>
                      <a:r>
                        <a:t>UMF 63 Tierra Blanca</a:t>
                      </a:r>
                    </a:p>
                  </a:txBody>
                  <a:tcPr marL="0" marR="0" marT="0" marB="0">
                    <a:solidFill>
                      <a:srgbClr val="FFFFFF"/>
                    </a:solidFill>
                  </a:tcPr>
                </a:tc>
                <a:tc>
                  <a:txBody>
                    <a:bodyPr/>
                    <a:lstStyle/>
                    <a:p>
                      <a:pPr algn="ctr">
                        <a:defRPr sz="1000">
                          <a:latin typeface="Montserrat"/>
                        </a:defRPr>
                      </a:pPr>
                      <a:r>
                        <a:t>30</a:t>
                      </a:r>
                    </a:p>
                  </a:txBody>
                  <a:tcPr marL="0" marR="0" marT="0" marB="0">
                    <a:solidFill>
                      <a:srgbClr val="FFFFFF"/>
                    </a:solidFill>
                  </a:tcPr>
                </a:tc>
                <a:tc>
                  <a:txBody>
                    <a:bodyPr/>
                    <a:lstStyle/>
                    <a:p>
                      <a:pPr algn="ctr">
                        <a:defRPr sz="1000">
                          <a:latin typeface="Montserrat"/>
                        </a:defRPr>
                      </a:pPr>
                      <a:r>
                        <a:t>5</a:t>
                      </a:r>
                    </a:p>
                  </a:txBody>
                  <a:tcPr marL="0" marR="0" marT="0" marB="0">
                    <a:solidFill>
                      <a:srgbClr val="FFFFFF"/>
                    </a:solidFill>
                  </a:tcPr>
                </a:tc>
                <a:tc>
                  <a:txBody>
                    <a:bodyPr/>
                    <a:lstStyle/>
                    <a:p>
                      <a:pPr algn="ctr">
                        <a:defRPr sz="1000">
                          <a:latin typeface="Montserrat"/>
                        </a:defRPr>
                      </a:pPr>
                      <a:r>
                        <a:t>7,168</a:t>
                      </a:r>
                    </a:p>
                  </a:txBody>
                  <a:tcPr marL="0" marR="0" marT="0" marB="0">
                    <a:solidFill>
                      <a:srgbClr val="FFFFFF"/>
                    </a:solidFill>
                  </a:tcPr>
                </a:tc>
              </a:tr>
              <a:tr h="151200">
                <a:tc>
                  <a:txBody>
                    <a:bodyPr/>
                    <a:lstStyle/>
                    <a:p>
                      <a:pPr algn="ctr">
                        <a:defRPr sz="1000">
                          <a:latin typeface="Montserrat"/>
                        </a:defRPr>
                      </a:pPr>
                      <a:r>
                        <a:t>UMF 63 El Farallón</a:t>
                      </a:r>
                    </a:p>
                  </a:txBody>
                  <a:tcPr marL="0" marR="0" marT="0" marB="0">
                    <a:solidFill>
                      <a:srgbClr val="EFEFEF"/>
                    </a:solidFill>
                  </a:tcPr>
                </a:tc>
                <a:tc>
                  <a:txBody>
                    <a:bodyPr/>
                    <a:lstStyle/>
                    <a:p>
                      <a:pPr algn="ctr">
                        <a:defRPr sz="1000">
                          <a:latin typeface="Montserrat"/>
                        </a:defRPr>
                      </a:pPr>
                      <a:r>
                        <a:t>33</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585</a:t>
                      </a:r>
                    </a:p>
                  </a:txBody>
                  <a:tcPr marL="0" marR="0" marT="0" marB="0">
                    <a:solidFill>
                      <a:srgbClr val="EFEFEF"/>
                    </a:solidFill>
                  </a:tcPr>
                </a:tc>
              </a:tr>
              <a:tr h="151200">
                <a:tc>
                  <a:txBody>
                    <a:bodyPr/>
                    <a:lstStyle/>
                    <a:p>
                      <a:pPr algn="ctr">
                        <a:defRPr sz="1000">
                          <a:latin typeface="Montserrat"/>
                        </a:defRPr>
                      </a:pPr>
                      <a:r>
                        <a:t>UMF 62 Medias Aguas</a:t>
                      </a:r>
                    </a:p>
                  </a:txBody>
                  <a:tcPr marL="0" marR="0" marT="0" marB="0">
                    <a:solidFill>
                      <a:srgbClr val="FFFFFF"/>
                    </a:solidFill>
                  </a:tcPr>
                </a:tc>
                <a:tc>
                  <a:txBody>
                    <a:bodyPr/>
                    <a:lstStyle/>
                    <a:p>
                      <a:pPr algn="ctr">
                        <a:defRPr sz="1000">
                          <a:latin typeface="Montserrat"/>
                        </a:defRPr>
                      </a:pPr>
                      <a:r>
                        <a:t>43</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110</a:t>
                      </a:r>
                    </a:p>
                  </a:txBody>
                  <a:tcPr marL="0" marR="0" marT="0" marB="0">
                    <a:solidFill>
                      <a:srgbClr val="FFFFFF"/>
                    </a:solidFill>
                  </a:tcPr>
                </a:tc>
              </a:tr>
              <a:tr h="151200">
                <a:tc>
                  <a:txBody>
                    <a:bodyPr/>
                    <a:lstStyle/>
                    <a:p>
                      <a:pPr algn="ctr">
                        <a:defRPr sz="1000">
                          <a:latin typeface="Montserrat"/>
                        </a:defRPr>
                      </a:pPr>
                      <a:r>
                        <a:t>UMF 60 Platón Sánchez</a:t>
                      </a:r>
                    </a:p>
                  </a:txBody>
                  <a:tcPr marL="0" marR="0" marT="0" marB="0">
                    <a:solidFill>
                      <a:srgbClr val="EFEFEF"/>
                    </a:solidFill>
                  </a:tcPr>
                </a:tc>
                <a:tc>
                  <a:txBody>
                    <a:bodyPr/>
                    <a:lstStyle/>
                    <a:p>
                      <a:pPr algn="ctr">
                        <a:defRPr sz="1000">
                          <a:latin typeface="Montserrat"/>
                        </a:defRPr>
                      </a:pPr>
                      <a:r>
                        <a:t>45</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1,367</a:t>
                      </a:r>
                    </a:p>
                  </a:txBody>
                  <a:tcPr marL="0" marR="0" marT="0" marB="0">
                    <a:solidFill>
                      <a:srgbClr val="EFEFEF"/>
                    </a:solidFill>
                  </a:tcPr>
                </a:tc>
              </a:tr>
              <a:tr h="151200">
                <a:tc>
                  <a:txBody>
                    <a:bodyPr/>
                    <a:lstStyle/>
                    <a:p>
                      <a:pPr algn="ctr">
                        <a:defRPr sz="1000">
                          <a:latin typeface="Montserrat"/>
                        </a:defRPr>
                      </a:pPr>
                      <a:r>
                        <a:t>UMF 60 Coatzacoalcos</a:t>
                      </a:r>
                    </a:p>
                  </a:txBody>
                  <a:tcPr marL="0" marR="0" marT="0" marB="0">
                    <a:solidFill>
                      <a:srgbClr val="FFFFFF"/>
                    </a:solidFill>
                  </a:tcPr>
                </a:tc>
                <a:tc>
                  <a:txBody>
                    <a:bodyPr/>
                    <a:lstStyle/>
                    <a:p>
                      <a:pPr algn="ctr">
                        <a:defRPr sz="1000">
                          <a:latin typeface="Montserrat"/>
                        </a:defRPr>
                      </a:pPr>
                      <a:r>
                        <a:t>27</a:t>
                      </a:r>
                    </a:p>
                  </a:txBody>
                  <a:tcPr marL="0" marR="0" marT="0" marB="0">
                    <a:solidFill>
                      <a:srgbClr val="FFFFFF"/>
                    </a:solidFill>
                  </a:tcPr>
                </a:tc>
                <a:tc>
                  <a:txBody>
                    <a:bodyPr/>
                    <a:lstStyle/>
                    <a:p>
                      <a:pPr algn="ctr">
                        <a:defRPr sz="1000">
                          <a:latin typeface="Montserrat"/>
                        </a:defRPr>
                      </a:pPr>
                      <a:r>
                        <a:t>6</a:t>
                      </a:r>
                    </a:p>
                  </a:txBody>
                  <a:tcPr marL="0" marR="0" marT="0" marB="0">
                    <a:solidFill>
                      <a:srgbClr val="FFFFFF"/>
                    </a:solidFill>
                  </a:tcPr>
                </a:tc>
                <a:tc>
                  <a:txBody>
                    <a:bodyPr/>
                    <a:lstStyle/>
                    <a:p>
                      <a:pPr algn="ctr">
                        <a:defRPr sz="1000">
                          <a:latin typeface="Montserrat"/>
                        </a:defRPr>
                      </a:pPr>
                      <a:r>
                        <a:t>9,806</a:t>
                      </a:r>
                    </a:p>
                  </a:txBody>
                  <a:tcPr marL="0" marR="0" marT="0" marB="0">
                    <a:solidFill>
                      <a:srgbClr val="FFFFFF"/>
                    </a:solidFill>
                  </a:tcPr>
                </a:tc>
              </a:tr>
              <a:tr h="151200">
                <a:tc>
                  <a:txBody>
                    <a:bodyPr/>
                    <a:lstStyle/>
                    <a:p>
                      <a:pPr algn="ctr">
                        <a:defRPr sz="1000">
                          <a:latin typeface="Montserrat"/>
                        </a:defRPr>
                      </a:pPr>
                      <a:r>
                        <a:t>UMF 6 Ixhuatlancillo</a:t>
                      </a:r>
                    </a:p>
                  </a:txBody>
                  <a:tcPr marL="0" marR="0" marT="0" marB="0">
                    <a:solidFill>
                      <a:srgbClr val="EFEFEF"/>
                    </a:solidFill>
                  </a:tcPr>
                </a:tc>
                <a:tc>
                  <a:txBody>
                    <a:bodyPr/>
                    <a:lstStyle/>
                    <a:p>
                      <a:pPr algn="ctr">
                        <a:defRPr sz="1000">
                          <a:latin typeface="Montserrat"/>
                        </a:defRPr>
                      </a:pPr>
                      <a:r>
                        <a:t>51</a:t>
                      </a:r>
                    </a:p>
                  </a:txBody>
                  <a:tcPr marL="0" marR="0" marT="0" marB="0">
                    <a:solidFill>
                      <a:srgbClr val="EFEFEF"/>
                    </a:solidFill>
                  </a:tcPr>
                </a:tc>
                <a:tc>
                  <a:txBody>
                    <a:bodyPr/>
                    <a:lstStyle/>
                    <a:p>
                      <a:pPr algn="ctr">
                        <a:defRPr sz="1000">
                          <a:latin typeface="Montserrat"/>
                        </a:defRPr>
                      </a:pPr>
                      <a:r>
                        <a:t>5</a:t>
                      </a:r>
                    </a:p>
                  </a:txBody>
                  <a:tcPr marL="0" marR="0" marT="0" marB="0">
                    <a:solidFill>
                      <a:srgbClr val="EFEFEF"/>
                    </a:solidFill>
                  </a:tcPr>
                </a:tc>
                <a:tc>
                  <a:txBody>
                    <a:bodyPr/>
                    <a:lstStyle/>
                    <a:p>
                      <a:pPr algn="ctr">
                        <a:defRPr sz="1000">
                          <a:latin typeface="Montserrat"/>
                        </a:defRPr>
                      </a:pPr>
                      <a:r>
                        <a:t>8,834</a:t>
                      </a:r>
                    </a:p>
                  </a:txBody>
                  <a:tcPr marL="0" marR="0" marT="0" marB="0">
                    <a:solidFill>
                      <a:srgbClr val="EFEFEF"/>
                    </a:solidFill>
                  </a:tcPr>
                </a:tc>
              </a:tr>
              <a:tr h="151200">
                <a:tc>
                  <a:txBody>
                    <a:bodyPr/>
                    <a:lstStyle/>
                    <a:p>
                      <a:pPr algn="ctr">
                        <a:defRPr sz="1000">
                          <a:latin typeface="Montserrat"/>
                        </a:defRPr>
                      </a:pPr>
                      <a:r>
                        <a:t>UMF 59 Tantoyuca</a:t>
                      </a:r>
                    </a:p>
                  </a:txBody>
                  <a:tcPr marL="0" marR="0" marT="0" marB="0">
                    <a:solidFill>
                      <a:srgbClr val="FFFFFF"/>
                    </a:solidFill>
                  </a:tcPr>
                </a:tc>
                <a:tc>
                  <a:txBody>
                    <a:bodyPr/>
                    <a:lstStyle/>
                    <a:p>
                      <a:pPr algn="ctr">
                        <a:defRPr sz="1000">
                          <a:latin typeface="Montserrat"/>
                        </a:defRPr>
                      </a:pPr>
                      <a:r>
                        <a:t>45</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2,410</a:t>
                      </a:r>
                    </a:p>
                  </a:txBody>
                  <a:tcPr marL="0" marR="0" marT="0" marB="0">
                    <a:solidFill>
                      <a:srgbClr val="FFFFFF"/>
                    </a:solidFill>
                  </a:tcPr>
                </a:tc>
              </a:tr>
              <a:tr h="151200">
                <a:tc>
                  <a:txBody>
                    <a:bodyPr/>
                    <a:lstStyle/>
                    <a:p>
                      <a:pPr algn="ctr">
                        <a:defRPr sz="1000">
                          <a:latin typeface="Montserrat"/>
                        </a:defRPr>
                      </a:pPr>
                      <a:r>
                        <a:t>UMF 59 Choapas</a:t>
                      </a:r>
                    </a:p>
                  </a:txBody>
                  <a:tcPr marL="0" marR="0" marT="0" marB="0">
                    <a:solidFill>
                      <a:srgbClr val="EFEFEF"/>
                    </a:solidFill>
                  </a:tcPr>
                </a:tc>
                <a:tc>
                  <a:txBody>
                    <a:bodyPr/>
                    <a:lstStyle/>
                    <a:p>
                      <a:pPr algn="ctr">
                        <a:defRPr sz="1000">
                          <a:latin typeface="Montserrat"/>
                        </a:defRPr>
                      </a:pPr>
                      <a:r>
                        <a:t>46</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1,547</a:t>
                      </a:r>
                    </a:p>
                  </a:txBody>
                  <a:tcPr marL="0" marR="0" marT="0" marB="0">
                    <a:solidFill>
                      <a:srgbClr val="EFEFEF"/>
                    </a:solidFill>
                  </a:tcPr>
                </a:tc>
              </a:tr>
              <a:tr h="151200">
                <a:tc>
                  <a:txBody>
                    <a:bodyPr/>
                    <a:lstStyle/>
                    <a:p>
                      <a:pPr algn="ctr">
                        <a:defRPr sz="1000">
                          <a:latin typeface="Montserrat"/>
                        </a:defRPr>
                      </a:pPr>
                      <a:r>
                        <a:t>UMF 58 Jalapa</a:t>
                      </a:r>
                    </a:p>
                  </a:txBody>
                  <a:tcPr marL="0" marR="0" marT="0" marB="0">
                    <a:solidFill>
                      <a:srgbClr val="FFFFFF"/>
                    </a:solidFill>
                  </a:tcPr>
                </a:tc>
                <a:tc>
                  <a:txBody>
                    <a:bodyPr/>
                    <a:lstStyle/>
                    <a:p>
                      <a:pPr algn="ctr">
                        <a:defRPr sz="1000">
                          <a:latin typeface="Montserrat"/>
                        </a:defRPr>
                      </a:pPr>
                      <a:r>
                        <a:t>64</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2,094</a:t>
                      </a:r>
                    </a:p>
                  </a:txBody>
                  <a:tcPr marL="0" marR="0" marT="0" marB="0">
                    <a:solidFill>
                      <a:srgbClr val="FFFFFF"/>
                    </a:solidFill>
                  </a:tcPr>
                </a:tc>
              </a:tr>
              <a:tr h="151200">
                <a:tc>
                  <a:txBody>
                    <a:bodyPr/>
                    <a:lstStyle/>
                    <a:p>
                      <a:pPr algn="ctr">
                        <a:defRPr sz="1000">
                          <a:latin typeface="Montserrat"/>
                        </a:defRPr>
                      </a:pPr>
                      <a:r>
                        <a:t>UMF 58 Huatusco</a:t>
                      </a:r>
                    </a:p>
                  </a:txBody>
                  <a:tcPr marL="0" marR="0" marT="0" marB="0">
                    <a:solidFill>
                      <a:srgbClr val="EFEFEF"/>
                    </a:solidFill>
                  </a:tcPr>
                </a:tc>
                <a:tc>
                  <a:txBody>
                    <a:bodyPr/>
                    <a:lstStyle/>
                    <a:p>
                      <a:pPr algn="ctr">
                        <a:defRPr sz="1000">
                          <a:latin typeface="Montserrat"/>
                        </a:defRPr>
                      </a:pPr>
                      <a:r>
                        <a:t>46</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1,982</a:t>
                      </a:r>
                    </a:p>
                  </a:txBody>
                  <a:tcPr marL="0" marR="0" marT="0" marB="0">
                    <a:solidFill>
                      <a:srgbClr val="EFEFEF"/>
                    </a:solidFill>
                  </a:tcPr>
                </a:tc>
              </a:tr>
              <a:tr h="151200">
                <a:tc>
                  <a:txBody>
                    <a:bodyPr/>
                    <a:lstStyle/>
                    <a:p>
                      <a:pPr algn="ctr">
                        <a:defRPr sz="1000">
                          <a:latin typeface="Montserrat"/>
                        </a:defRPr>
                      </a:pPr>
                      <a:r>
                        <a:t>UMF 57 Jaltipan</a:t>
                      </a:r>
                    </a:p>
                  </a:txBody>
                  <a:tcPr marL="0" marR="0" marT="0" marB="0">
                    <a:solidFill>
                      <a:srgbClr val="FFFFFF"/>
                    </a:solidFill>
                  </a:tcPr>
                </a:tc>
                <a:tc>
                  <a:txBody>
                    <a:bodyPr/>
                    <a:lstStyle/>
                    <a:p>
                      <a:pPr algn="ctr">
                        <a:defRPr sz="1000">
                          <a:latin typeface="Montserrat"/>
                        </a:defRPr>
                      </a:pPr>
                      <a:r>
                        <a:t>48</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2,652</a:t>
                      </a:r>
                    </a:p>
                  </a:txBody>
                  <a:tcPr marL="0" marR="0" marT="0" marB="0">
                    <a:solidFill>
                      <a:srgbClr val="FFFFFF"/>
                    </a:solidFill>
                  </a:tcPr>
                </a:tc>
              </a:tr>
              <a:tr h="151200">
                <a:tc>
                  <a:txBody>
                    <a:bodyPr/>
                    <a:lstStyle/>
                    <a:p>
                      <a:pPr algn="ctr">
                        <a:defRPr sz="1000">
                          <a:latin typeface="Montserrat"/>
                        </a:defRPr>
                      </a:pPr>
                      <a:r>
                        <a:t>UMF 56 V. Islas</a:t>
                      </a:r>
                    </a:p>
                  </a:txBody>
                  <a:tcPr marL="0" marR="0" marT="0" marB="0">
                    <a:solidFill>
                      <a:srgbClr val="EFEFEF"/>
                    </a:solidFill>
                  </a:tcPr>
                </a:tc>
                <a:tc>
                  <a:txBody>
                    <a:bodyPr/>
                    <a:lstStyle/>
                    <a:p>
                      <a:pPr algn="ctr">
                        <a:defRPr sz="1000">
                          <a:latin typeface="Montserrat"/>
                        </a:defRPr>
                      </a:pPr>
                      <a:r>
                        <a:t>47</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2,965</a:t>
                      </a:r>
                    </a:p>
                  </a:txBody>
                  <a:tcPr marL="0" marR="0" marT="0" marB="0">
                    <a:solidFill>
                      <a:srgbClr val="EFEFEF"/>
                    </a:solidFill>
                  </a:tcPr>
                </a:tc>
              </a:tr>
              <a:tr h="151200">
                <a:tc>
                  <a:txBody>
                    <a:bodyPr/>
                    <a:lstStyle/>
                    <a:p>
                      <a:pPr algn="ctr">
                        <a:defRPr sz="1000">
                          <a:latin typeface="Montserrat"/>
                        </a:defRPr>
                      </a:pPr>
                      <a:r>
                        <a:t>UMF 56 Actopan</a:t>
                      </a:r>
                    </a:p>
                  </a:txBody>
                  <a:tcPr marL="0" marR="0" marT="0" marB="0">
                    <a:solidFill>
                      <a:srgbClr val="FFFFFF"/>
                    </a:solidFill>
                  </a:tcPr>
                </a:tc>
                <a:tc>
                  <a:txBody>
                    <a:bodyPr/>
                    <a:lstStyle/>
                    <a:p>
                      <a:pPr algn="ctr">
                        <a:defRPr sz="1000">
                          <a:latin typeface="Montserrat"/>
                        </a:defRPr>
                      </a:pPr>
                      <a:r>
                        <a:t>37</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532</a:t>
                      </a:r>
                    </a:p>
                  </a:txBody>
                  <a:tcPr marL="0" marR="0" marT="0" marB="0">
                    <a:solidFill>
                      <a:srgbClr val="FFFFFF"/>
                    </a:solidFill>
                  </a:tcPr>
                </a:tc>
              </a:tr>
              <a:tr h="151200">
                <a:tc>
                  <a:txBody>
                    <a:bodyPr/>
                    <a:lstStyle/>
                    <a:p>
                      <a:pPr algn="ctr">
                        <a:defRPr sz="1000">
                          <a:latin typeface="Montserrat"/>
                        </a:defRPr>
                      </a:pPr>
                      <a:r>
                        <a:t>UMF 55 Texistepec</a:t>
                      </a:r>
                    </a:p>
                  </a:txBody>
                  <a:tcPr marL="0" marR="0" marT="0" marB="0">
                    <a:solidFill>
                      <a:srgbClr val="EFEFEF"/>
                    </a:solidFill>
                  </a:tcPr>
                </a:tc>
                <a:tc>
                  <a:txBody>
                    <a:bodyPr/>
                    <a:lstStyle/>
                    <a:p>
                      <a:pPr algn="ctr">
                        <a:defRPr sz="1000">
                          <a:latin typeface="Montserrat"/>
                        </a:defRPr>
                      </a:pPr>
                      <a:r>
                        <a:t>38</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94</a:t>
                      </a:r>
                    </a:p>
                  </a:txBody>
                  <a:tcPr marL="0" marR="0" marT="0" marB="0">
                    <a:solidFill>
                      <a:srgbClr val="EFEFEF"/>
                    </a:solidFill>
                  </a:tcPr>
                </a:tc>
              </a:tr>
              <a:tr h="151200">
                <a:tc>
                  <a:txBody>
                    <a:bodyPr/>
                    <a:lstStyle/>
                    <a:p>
                      <a:pPr algn="ctr">
                        <a:defRPr sz="1000">
                          <a:latin typeface="Montserrat"/>
                        </a:defRPr>
                      </a:pPr>
                      <a:r>
                        <a:t>UMF 54 Mahuixtlán</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1,134</a:t>
                      </a:r>
                    </a:p>
                  </a:txBody>
                  <a:tcPr marL="0" marR="0" marT="0" marB="0">
                    <a:solidFill>
                      <a:srgbClr val="FFFFFF"/>
                    </a:solidFill>
                  </a:tcPr>
                </a:tc>
              </a:tr>
              <a:tr h="151200">
                <a:tc>
                  <a:txBody>
                    <a:bodyPr/>
                    <a:lstStyle/>
                    <a:p>
                      <a:pPr algn="ctr">
                        <a:defRPr sz="1000">
                          <a:latin typeface="Montserrat"/>
                        </a:defRPr>
                      </a:pPr>
                      <a:r>
                        <a:t>UMF 54 Ixmatlahuaca</a:t>
                      </a:r>
                    </a:p>
                  </a:txBody>
                  <a:tcPr marL="0" marR="0" marT="0" marB="0">
                    <a:solidFill>
                      <a:srgbClr val="EFEFEF"/>
                    </a:solidFill>
                  </a:tcPr>
                </a:tc>
                <a:tc>
                  <a:txBody>
                    <a:bodyPr/>
                    <a:lstStyle/>
                    <a:p>
                      <a:pPr algn="ctr">
                        <a:defRPr sz="1000">
                          <a:latin typeface="Montserrat"/>
                        </a:defRPr>
                      </a:pPr>
                      <a:r>
                        <a:t>58</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350</a:t>
                      </a:r>
                    </a:p>
                  </a:txBody>
                  <a:tcPr marL="0" marR="0" marT="0" marB="0">
                    <a:solidFill>
                      <a:srgbClr val="EFEFEF"/>
                    </a:solidFill>
                  </a:tcPr>
                </a:tc>
              </a:tr>
              <a:tr h="151200">
                <a:tc>
                  <a:txBody>
                    <a:bodyPr/>
                    <a:lstStyle/>
                    <a:p>
                      <a:pPr algn="ctr">
                        <a:defRPr sz="1000">
                          <a:latin typeface="Montserrat"/>
                        </a:defRPr>
                      </a:pPr>
                      <a:r>
                        <a:t>UMF 53 Aguadulce</a:t>
                      </a:r>
                    </a:p>
                  </a:txBody>
                  <a:tcPr marL="0" marR="0" marT="0" marB="0">
                    <a:solidFill>
                      <a:srgbClr val="FFFFFF"/>
                    </a:solidFill>
                  </a:tcPr>
                </a:tc>
                <a:tc>
                  <a:txBody>
                    <a:bodyPr/>
                    <a:lstStyle/>
                    <a:p>
                      <a:pPr algn="ctr">
                        <a:defRPr sz="1000">
                          <a:latin typeface="Montserrat"/>
                        </a:defRPr>
                      </a:pPr>
                      <a:r>
                        <a:t>52</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1,418</a:t>
                      </a:r>
                    </a:p>
                  </a:txBody>
                  <a:tcPr marL="0" marR="0" marT="0" marB="0">
                    <a:solidFill>
                      <a:srgbClr val="FFFFFF"/>
                    </a:solidFill>
                  </a:tcPr>
                </a:tc>
              </a:tr>
              <a:tr h="151200">
                <a:tc>
                  <a:txBody>
                    <a:bodyPr/>
                    <a:lstStyle/>
                    <a:p>
                      <a:pPr algn="ctr">
                        <a:defRPr sz="1000">
                          <a:latin typeface="Montserrat"/>
                        </a:defRPr>
                      </a:pPr>
                      <a:r>
                        <a:t>UMF 52 Cosoleacaque</a:t>
                      </a:r>
                    </a:p>
                  </a:txBody>
                  <a:tcPr marL="0" marR="0" marT="0" marB="0">
                    <a:solidFill>
                      <a:srgbClr val="EFEFEF"/>
                    </a:solidFill>
                  </a:tcPr>
                </a:tc>
                <a:tc>
                  <a:txBody>
                    <a:bodyPr/>
                    <a:lstStyle/>
                    <a:p>
                      <a:pPr algn="ctr">
                        <a:defRPr sz="1000">
                          <a:latin typeface="Montserrat"/>
                        </a:defRPr>
                      </a:pPr>
                      <a:r>
                        <a:t>27</a:t>
                      </a:r>
                    </a:p>
                  </a:txBody>
                  <a:tcPr marL="0" marR="0" marT="0" marB="0">
                    <a:solidFill>
                      <a:srgbClr val="EFEFEF"/>
                    </a:solidFill>
                  </a:tcPr>
                </a:tc>
                <a:tc>
                  <a:txBody>
                    <a:bodyPr/>
                    <a:lstStyle/>
                    <a:p>
                      <a:pPr algn="ctr">
                        <a:defRPr sz="1000">
                          <a:latin typeface="Montserrat"/>
                        </a:defRPr>
                      </a:pPr>
                      <a:r>
                        <a:t>5</a:t>
                      </a:r>
                    </a:p>
                  </a:txBody>
                  <a:tcPr marL="0" marR="0" marT="0" marB="0">
                    <a:solidFill>
                      <a:srgbClr val="EFEFEF"/>
                    </a:solidFill>
                  </a:tcPr>
                </a:tc>
                <a:tc>
                  <a:txBody>
                    <a:bodyPr/>
                    <a:lstStyle/>
                    <a:p>
                      <a:pPr algn="ctr">
                        <a:defRPr sz="1000">
                          <a:latin typeface="Montserrat"/>
                        </a:defRPr>
                      </a:pPr>
                      <a:r>
                        <a:t>7,925</a:t>
                      </a:r>
                    </a:p>
                  </a:txBody>
                  <a:tcPr marL="0" marR="0" marT="0" marB="0">
                    <a:solidFill>
                      <a:srgbClr val="EFEFEF"/>
                    </a:solidFill>
                  </a:tcPr>
                </a:tc>
              </a:tr>
              <a:tr h="151200">
                <a:tc>
                  <a:txBody>
                    <a:bodyPr/>
                    <a:lstStyle/>
                    <a:p>
                      <a:pPr algn="ctr">
                        <a:defRPr sz="1000">
                          <a:latin typeface="Montserrat"/>
                        </a:defRPr>
                      </a:pPr>
                      <a:r>
                        <a:t>UMF 51 Ángel R. Cabada</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4</a:t>
                      </a:r>
                    </a:p>
                  </a:txBody>
                  <a:tcPr marL="0" marR="0" marT="0" marB="0">
                    <a:solidFill>
                      <a:srgbClr val="FFFFFF"/>
                    </a:solidFill>
                  </a:tcPr>
                </a:tc>
                <a:tc>
                  <a:txBody>
                    <a:bodyPr/>
                    <a:lstStyle/>
                    <a:p>
                      <a:pPr algn="ctr">
                        <a:defRPr sz="1000">
                          <a:latin typeface="Montserrat"/>
                        </a:defRPr>
                      </a:pPr>
                      <a:r>
                        <a:t>4,692</a:t>
                      </a:r>
                    </a:p>
                  </a:txBody>
                  <a:tcPr marL="0" marR="0" marT="0" marB="0">
                    <a:solidFill>
                      <a:srgbClr val="FFFFFF"/>
                    </a:solidFill>
                  </a:tcPr>
                </a:tc>
              </a:tr>
              <a:tr h="151200">
                <a:tc>
                  <a:txBody>
                    <a:bodyPr/>
                    <a:lstStyle/>
                    <a:p>
                      <a:pPr algn="ctr">
                        <a:defRPr sz="1000">
                          <a:latin typeface="Montserrat"/>
                        </a:defRPr>
                      </a:pPr>
                      <a:r>
                        <a:t>UMF 51 Acayucan</a:t>
                      </a:r>
                    </a:p>
                  </a:txBody>
                  <a:tcPr marL="0" marR="0" marT="0" marB="0">
                    <a:solidFill>
                      <a:srgbClr val="EFEFEF"/>
                    </a:solidFill>
                  </a:tcPr>
                </a:tc>
                <a:tc>
                  <a:txBody>
                    <a:bodyPr/>
                    <a:lstStyle/>
                    <a:p>
                      <a:pPr algn="ctr">
                        <a:defRPr sz="1000">
                          <a:latin typeface="Montserrat"/>
                        </a:defRPr>
                      </a:pPr>
                      <a:r>
                        <a:t>53</a:t>
                      </a:r>
                    </a:p>
                  </a:txBody>
                  <a:tcPr marL="0" marR="0" marT="0" marB="0">
                    <a:solidFill>
                      <a:srgbClr val="EFEFEF"/>
                    </a:solidFill>
                  </a:tcPr>
                </a:tc>
                <a:tc>
                  <a:txBody>
                    <a:bodyPr/>
                    <a:lstStyle/>
                    <a:p>
                      <a:pPr algn="ctr">
                        <a:defRPr sz="1000">
                          <a:latin typeface="Montserrat"/>
                        </a:defRPr>
                      </a:pPr>
                      <a:r>
                        <a:t>5</a:t>
                      </a:r>
                    </a:p>
                  </a:txBody>
                  <a:tcPr marL="0" marR="0" marT="0" marB="0">
                    <a:solidFill>
                      <a:srgbClr val="EFEFEF"/>
                    </a:solidFill>
                  </a:tcPr>
                </a:tc>
                <a:tc>
                  <a:txBody>
                    <a:bodyPr/>
                    <a:lstStyle/>
                    <a:p>
                      <a:pPr algn="ctr">
                        <a:defRPr sz="1000">
                          <a:latin typeface="Montserrat"/>
                        </a:defRPr>
                      </a:pPr>
                      <a:r>
                        <a:t>7,603</a:t>
                      </a:r>
                    </a:p>
                  </a:txBody>
                  <a:tcPr marL="0" marR="0" marT="0" marB="0">
                    <a:solidFill>
                      <a:srgbClr val="EFEFEF"/>
                    </a:solidFill>
                  </a:tcPr>
                </a:tc>
              </a:tr>
              <a:tr h="151200">
                <a:tc>
                  <a:txBody>
                    <a:bodyPr/>
                    <a:lstStyle/>
                    <a:p>
                      <a:pPr algn="ctr">
                        <a:defRPr sz="1000">
                          <a:latin typeface="Montserrat"/>
                        </a:defRPr>
                      </a:pPr>
                      <a:r>
                        <a:t>UMF 50 Cuatotolapan</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327</a:t>
                      </a:r>
                    </a:p>
                  </a:txBody>
                  <a:tcPr marL="0" marR="0" marT="0" marB="0">
                    <a:solidFill>
                      <a:srgbClr val="FFFFFF"/>
                    </a:solidFill>
                  </a:tcPr>
                </a:tc>
              </a:tr>
              <a:tr h="151200">
                <a:tc>
                  <a:txBody>
                    <a:bodyPr/>
                    <a:lstStyle/>
                    <a:p>
                      <a:pPr algn="ctr">
                        <a:defRPr sz="1000">
                          <a:latin typeface="Montserrat"/>
                        </a:defRPr>
                      </a:pPr>
                      <a:r>
                        <a:t>UMF 5 Ixtaczoquitlán</a:t>
                      </a:r>
                    </a:p>
                  </a:txBody>
                  <a:tcPr marL="0" marR="0" marT="0" marB="0">
                    <a:solidFill>
                      <a:srgbClr val="EFEFEF"/>
                    </a:solidFill>
                  </a:tcPr>
                </a:tc>
                <a:tc>
                  <a:txBody>
                    <a:bodyPr/>
                    <a:lstStyle/>
                    <a:p>
                      <a:pPr algn="ctr">
                        <a:defRPr sz="1000">
                          <a:latin typeface="Montserrat"/>
                        </a:defRPr>
                      </a:pPr>
                      <a:r>
                        <a:t>34</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1,932</a:t>
                      </a:r>
                    </a:p>
                  </a:txBody>
                  <a:tcPr marL="0" marR="0" marT="0" marB="0">
                    <a:solidFill>
                      <a:srgbClr val="EFEFEF"/>
                    </a:solidFill>
                  </a:tcPr>
                </a:tc>
              </a:tr>
              <a:tr h="151200">
                <a:tc>
                  <a:txBody>
                    <a:bodyPr/>
                    <a:lstStyle/>
                    <a:p>
                      <a:pPr algn="ctr">
                        <a:defRPr sz="1000">
                          <a:latin typeface="Montserrat"/>
                        </a:defRPr>
                      </a:pPr>
                      <a:r>
                        <a:t>UMF 49 Gabino Barreda</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561</a:t>
                      </a:r>
                    </a:p>
                  </a:txBody>
                  <a:tcPr marL="0" marR="0" marT="0" marB="0">
                    <a:solidFill>
                      <a:srgbClr val="FFFFFF"/>
                    </a:solidFill>
                  </a:tcPr>
                </a:tc>
              </a:tr>
              <a:tr h="151200">
                <a:tc>
                  <a:txBody>
                    <a:bodyPr/>
                    <a:lstStyle/>
                    <a:p>
                      <a:pPr algn="ctr">
                        <a:defRPr sz="1000">
                          <a:latin typeface="Montserrat"/>
                        </a:defRPr>
                      </a:pPr>
                      <a:r>
                        <a:t>UMF 49 Cerro Azul</a:t>
                      </a:r>
                    </a:p>
                  </a:txBody>
                  <a:tcPr marL="0" marR="0" marT="0" marB="0">
                    <a:solidFill>
                      <a:srgbClr val="EFEFEF"/>
                    </a:solidFill>
                  </a:tcPr>
                </a:tc>
                <a:tc>
                  <a:txBody>
                    <a:bodyPr/>
                    <a:lstStyle/>
                    <a:p>
                      <a:pPr algn="ctr">
                        <a:defRPr sz="1000">
                          <a:latin typeface="Montserrat"/>
                        </a:defRPr>
                      </a:pPr>
                      <a:r>
                        <a:t>45</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1,550</a:t>
                      </a:r>
                    </a:p>
                  </a:txBody>
                  <a:tcPr marL="0" marR="0" marT="0" marB="0">
                    <a:solidFill>
                      <a:srgbClr val="EFEFEF"/>
                    </a:solidFill>
                  </a:tcPr>
                </a:tc>
              </a:tr>
              <a:tr h="151200">
                <a:tc>
                  <a:txBody>
                    <a:bodyPr/>
                    <a:lstStyle/>
                    <a:p>
                      <a:pPr algn="ctr">
                        <a:defRPr sz="1000">
                          <a:latin typeface="Montserrat"/>
                        </a:defRPr>
                      </a:pPr>
                      <a:r>
                        <a:t>UMF 48 Tamiahua</a:t>
                      </a:r>
                    </a:p>
                  </a:txBody>
                  <a:tcPr marL="0" marR="0" marT="0" marB="0">
                    <a:solidFill>
                      <a:srgbClr val="FFFFFF"/>
                    </a:solidFill>
                  </a:tcPr>
                </a:tc>
                <a:tc>
                  <a:txBody>
                    <a:bodyPr/>
                    <a:lstStyle/>
                    <a:p>
                      <a:pPr algn="ctr">
                        <a:defRPr sz="1000">
                          <a:latin typeface="Montserrat"/>
                        </a:defRPr>
                      </a:pPr>
                      <a:r>
                        <a:t>45</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1,229</a:t>
                      </a:r>
                    </a:p>
                  </a:txBody>
                  <a:tcPr marL="0" marR="0" marT="0" marB="0">
                    <a:solidFill>
                      <a:srgbClr val="FFFFFF"/>
                    </a:solidFill>
                  </a:tcPr>
                </a:tc>
              </a:tr>
              <a:tr h="151200">
                <a:tc>
                  <a:txBody>
                    <a:bodyPr/>
                    <a:lstStyle/>
                    <a:p>
                      <a:pPr algn="ctr">
                        <a:defRPr sz="1000">
                          <a:latin typeface="Montserrat"/>
                        </a:defRPr>
                      </a:pPr>
                      <a:r>
                        <a:t>UMF 48 Carlos Carrillo</a:t>
                      </a:r>
                    </a:p>
                  </a:txBody>
                  <a:tcPr marL="0" marR="0" marT="0" marB="0">
                    <a:solidFill>
                      <a:srgbClr val="EFEFEF"/>
                    </a:solidFill>
                  </a:tcPr>
                </a:tc>
                <a:tc>
                  <a:txBody>
                    <a:bodyPr/>
                    <a:lstStyle/>
                    <a:p>
                      <a:pPr algn="ctr">
                        <a:defRPr sz="1000">
                          <a:latin typeface="Montserrat"/>
                        </a:defRPr>
                      </a:pPr>
                      <a:r>
                        <a:t>58</a:t>
                      </a:r>
                    </a:p>
                  </a:txBody>
                  <a:tcPr marL="0" marR="0" marT="0" marB="0">
                    <a:solidFill>
                      <a:srgbClr val="EFEFEF"/>
                    </a:solidFill>
                  </a:tcPr>
                </a:tc>
                <a:tc>
                  <a:txBody>
                    <a:bodyPr/>
                    <a:lstStyle/>
                    <a:p>
                      <a:pPr algn="ctr">
                        <a:defRPr sz="1000">
                          <a:latin typeface="Montserrat"/>
                        </a:defRPr>
                      </a:pPr>
                      <a:r>
                        <a:t>3</a:t>
                      </a:r>
                    </a:p>
                  </a:txBody>
                  <a:tcPr marL="0" marR="0" marT="0" marB="0">
                    <a:solidFill>
                      <a:srgbClr val="EFEFEF"/>
                    </a:solidFill>
                  </a:tcPr>
                </a:tc>
                <a:tc>
                  <a:txBody>
                    <a:bodyPr/>
                    <a:lstStyle/>
                    <a:p>
                      <a:pPr algn="ctr">
                        <a:defRPr sz="1000">
                          <a:latin typeface="Montserrat"/>
                        </a:defRPr>
                      </a:pPr>
                      <a:r>
                        <a:t>3,076</a:t>
                      </a:r>
                    </a:p>
                  </a:txBody>
                  <a:tcPr marL="0" marR="0" marT="0" marB="0">
                    <a:solidFill>
                      <a:srgbClr val="EFEFEF"/>
                    </a:solidFill>
                  </a:tcPr>
                </a:tc>
              </a:tr>
              <a:tr h="151200">
                <a:tc>
                  <a:txBody>
                    <a:bodyPr/>
                    <a:lstStyle/>
                    <a:p>
                      <a:pPr algn="ctr">
                        <a:defRPr sz="1000">
                          <a:latin typeface="Montserrat"/>
                        </a:defRPr>
                      </a:pPr>
                      <a:r>
                        <a:t>UMF 47 Amatitlan</a:t>
                      </a:r>
                    </a:p>
                  </a:txBody>
                  <a:tcPr marL="0" marR="0" marT="0" marB="0">
                    <a:solidFill>
                      <a:srgbClr val="FFFFFF"/>
                    </a:solidFill>
                  </a:tcPr>
                </a:tc>
                <a:tc>
                  <a:txBody>
                    <a:bodyPr/>
                    <a:lstStyle/>
                    <a:p>
                      <a:pPr algn="ctr">
                        <a:defRPr sz="1000">
                          <a:latin typeface="Montserrat"/>
                        </a:defRPr>
                      </a:pPr>
                      <a:r>
                        <a:t>62</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926</a:t>
                      </a:r>
                    </a:p>
                  </a:txBody>
                  <a:tcPr marL="0" marR="0" marT="0" marB="0">
                    <a:solidFill>
                      <a:srgbClr val="FFFFFF"/>
                    </a:solidFill>
                  </a:tcPr>
                </a:tc>
              </a:tr>
              <a:tr h="151200">
                <a:tc>
                  <a:txBody>
                    <a:bodyPr/>
                    <a:lstStyle/>
                    <a:p>
                      <a:pPr algn="ctr">
                        <a:defRPr sz="1000">
                          <a:latin typeface="Montserrat"/>
                        </a:defRPr>
                      </a:pPr>
                      <a:r>
                        <a:t>UMF 46 Gutiérrez</a:t>
                      </a:r>
                    </a:p>
                  </a:txBody>
                  <a:tcPr marL="0" marR="0" marT="0" marB="0">
                    <a:solidFill>
                      <a:srgbClr val="EFEFEF"/>
                    </a:solidFill>
                  </a:tcPr>
                </a:tc>
                <a:tc>
                  <a:txBody>
                    <a:bodyPr/>
                    <a:lstStyle/>
                    <a:p>
                      <a:pPr algn="ctr">
                        <a:defRPr sz="1000">
                          <a:latin typeface="Montserrat"/>
                        </a:defRPr>
                      </a:pPr>
                      <a:r>
                        <a:t>45</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1,111</a:t>
                      </a:r>
                    </a:p>
                  </a:txBody>
                  <a:tcPr marL="0" marR="0" marT="0" marB="0">
                    <a:solidFill>
                      <a:srgbClr val="EFEFEF"/>
                    </a:solidFill>
                  </a:tcPr>
                </a:tc>
              </a:tr>
              <a:tr h="151200">
                <a:tc>
                  <a:txBody>
                    <a:bodyPr/>
                    <a:lstStyle/>
                    <a:p>
                      <a:pPr algn="ctr">
                        <a:defRPr sz="1000">
                          <a:latin typeface="Montserrat"/>
                        </a:defRPr>
                      </a:pPr>
                      <a:r>
                        <a:t>UMF 46 Acula</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675</a:t>
                      </a:r>
                    </a:p>
                  </a:txBody>
                  <a:tcPr marL="0" marR="0" marT="0" marB="0">
                    <a:solidFill>
                      <a:srgbClr val="FFFFFF"/>
                    </a:solidFill>
                  </a:tcPr>
                </a:tc>
              </a:tr>
              <a:tr h="151200">
                <a:tc>
                  <a:txBody>
                    <a:bodyPr/>
                    <a:lstStyle/>
                    <a:p>
                      <a:pPr algn="ctr">
                        <a:defRPr sz="1000">
                          <a:latin typeface="Montserrat"/>
                        </a:defRPr>
                      </a:pPr>
                      <a:r>
                        <a:t>UMF 45 Tlacojalpan</a:t>
                      </a:r>
                    </a:p>
                  </a:txBody>
                  <a:tcPr marL="0" marR="0" marT="0" marB="0">
                    <a:solidFill>
                      <a:srgbClr val="EFEFEF"/>
                    </a:solidFill>
                  </a:tcPr>
                </a:tc>
                <a:tc>
                  <a:txBody>
                    <a:bodyPr/>
                    <a:lstStyle/>
                    <a:p>
                      <a:pPr algn="ctr">
                        <a:defRPr sz="1000">
                          <a:latin typeface="Montserrat"/>
                        </a:defRPr>
                      </a:pPr>
                      <a:r>
                        <a:t>37</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456</a:t>
                      </a:r>
                    </a:p>
                  </a:txBody>
                  <a:tcPr marL="0" marR="0" marT="0" marB="0">
                    <a:solidFill>
                      <a:srgbClr val="EFEFEF"/>
                    </a:solidFill>
                  </a:tcPr>
                </a:tc>
              </a:tr>
              <a:tr h="151200">
                <a:tc>
                  <a:txBody>
                    <a:bodyPr/>
                    <a:lstStyle/>
                    <a:p>
                      <a:pPr algn="ctr">
                        <a:defRPr sz="1000">
                          <a:latin typeface="Montserrat"/>
                        </a:defRPr>
                      </a:pPr>
                      <a:r>
                        <a:t>UMF 45 Misantla</a:t>
                      </a:r>
                    </a:p>
                  </a:txBody>
                  <a:tcPr marL="0" marR="0" marT="0" marB="0">
                    <a:solidFill>
                      <a:srgbClr val="FFFFFF"/>
                    </a:solidFill>
                  </a:tcPr>
                </a:tc>
                <a:tc>
                  <a:txBody>
                    <a:bodyPr/>
                    <a:lstStyle/>
                    <a:p>
                      <a:pPr algn="ctr">
                        <a:defRPr sz="1000">
                          <a:latin typeface="Montserrat"/>
                        </a:defRPr>
                      </a:pPr>
                      <a:r>
                        <a:t>45</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1,908</a:t>
                      </a:r>
                    </a:p>
                  </a:txBody>
                  <a:tcPr marL="0" marR="0" marT="0" marB="0">
                    <a:solidFill>
                      <a:srgbClr val="FFFFFF"/>
                    </a:solidFill>
                  </a:tcPr>
                </a:tc>
              </a:tr>
              <a:tr h="151200">
                <a:tc>
                  <a:txBody>
                    <a:bodyPr/>
                    <a:lstStyle/>
                    <a:p>
                      <a:pPr algn="ctr">
                        <a:defRPr sz="1000">
                          <a:latin typeface="Montserrat"/>
                        </a:defRPr>
                      </a:pPr>
                      <a:r>
                        <a:t>UMF 44 Tuxtilla</a:t>
                      </a:r>
                    </a:p>
                  </a:txBody>
                  <a:tcPr marL="0" marR="0" marT="0" marB="0">
                    <a:solidFill>
                      <a:srgbClr val="EFEFEF"/>
                    </a:solidFill>
                  </a:tcPr>
                </a:tc>
                <a:tc>
                  <a:txBody>
                    <a:bodyPr/>
                    <a:lstStyle/>
                    <a:p>
                      <a:pPr algn="ctr">
                        <a:defRPr sz="1000">
                          <a:latin typeface="Montserrat"/>
                        </a:defRPr>
                      </a:pPr>
                      <a:r>
                        <a:t>61</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457</a:t>
                      </a:r>
                    </a:p>
                  </a:txBody>
                  <a:tcPr marL="0" marR="0" marT="0" marB="0">
                    <a:solidFill>
                      <a:srgbClr val="EFEFEF"/>
                    </a:solidFill>
                  </a:tcPr>
                </a:tc>
              </a:tr>
              <a:tr h="151200">
                <a:tc>
                  <a:txBody>
                    <a:bodyPr/>
                    <a:lstStyle/>
                    <a:p>
                      <a:pPr algn="ctr">
                        <a:defRPr sz="1000">
                          <a:latin typeface="Montserrat"/>
                        </a:defRPr>
                      </a:pPr>
                      <a:r>
                        <a:t>UMF 44 Tlapacoyan</a:t>
                      </a:r>
                    </a:p>
                  </a:txBody>
                  <a:tcPr marL="0" marR="0" marT="0" marB="0">
                    <a:solidFill>
                      <a:srgbClr val="FFFFFF"/>
                    </a:solidFill>
                  </a:tcPr>
                </a:tc>
                <a:tc>
                  <a:txBody>
                    <a:bodyPr/>
                    <a:lstStyle/>
                    <a:p>
                      <a:pPr algn="ctr">
                        <a:defRPr sz="1000">
                          <a:latin typeface="Montserrat"/>
                        </a:defRPr>
                      </a:pPr>
                      <a:r>
                        <a:t>45</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1,276</a:t>
                      </a:r>
                    </a:p>
                  </a:txBody>
                  <a:tcPr marL="0" marR="0" marT="0" marB="0">
                    <a:solidFill>
                      <a:srgbClr val="FFFFFF"/>
                    </a:solidFill>
                  </a:tcPr>
                </a:tc>
              </a:tr>
              <a:tr h="151200">
                <a:tc>
                  <a:txBody>
                    <a:bodyPr/>
                    <a:lstStyle/>
                    <a:p>
                      <a:pPr algn="ctr">
                        <a:defRPr sz="1000">
                          <a:latin typeface="Montserrat"/>
                        </a:defRPr>
                      </a:pPr>
                      <a:r>
                        <a:t>UMF 43 Tres Valles</a:t>
                      </a:r>
                    </a:p>
                  </a:txBody>
                  <a:tcPr marL="0" marR="0" marT="0" marB="0">
                    <a:solidFill>
                      <a:srgbClr val="EFEFEF"/>
                    </a:solidFill>
                  </a:tcPr>
                </a:tc>
                <a:tc>
                  <a:txBody>
                    <a:bodyPr/>
                    <a:lstStyle/>
                    <a:p>
                      <a:pPr algn="ctr">
                        <a:defRPr sz="1000">
                          <a:latin typeface="Montserrat"/>
                        </a:defRPr>
                      </a:pPr>
                      <a:r>
                        <a:t>61</a:t>
                      </a:r>
                    </a:p>
                  </a:txBody>
                  <a:tcPr marL="0" marR="0" marT="0" marB="0">
                    <a:solidFill>
                      <a:srgbClr val="EFEFEF"/>
                    </a:solidFill>
                  </a:tcPr>
                </a:tc>
                <a:tc>
                  <a:txBody>
                    <a:bodyPr/>
                    <a:lstStyle/>
                    <a:p>
                      <a:pPr algn="ctr">
                        <a:defRPr sz="1000">
                          <a:latin typeface="Montserrat"/>
                        </a:defRPr>
                      </a:pPr>
                      <a:r>
                        <a:t>3</a:t>
                      </a:r>
                    </a:p>
                  </a:txBody>
                  <a:tcPr marL="0" marR="0" marT="0" marB="0">
                    <a:solidFill>
                      <a:srgbClr val="EFEFEF"/>
                    </a:solidFill>
                  </a:tcPr>
                </a:tc>
                <a:tc>
                  <a:txBody>
                    <a:bodyPr/>
                    <a:lstStyle/>
                    <a:p>
                      <a:pPr algn="ctr">
                        <a:defRPr sz="1000">
                          <a:latin typeface="Montserrat"/>
                        </a:defRPr>
                      </a:pPr>
                      <a:r>
                        <a:t>4,149</a:t>
                      </a:r>
                    </a:p>
                  </a:txBody>
                  <a:tcPr marL="0" marR="0" marT="0" marB="0">
                    <a:solidFill>
                      <a:srgbClr val="EFEFE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graphicFrame>
        <p:nvGraphicFramePr>
          <p:cNvPr id="172" name="Google Shape;172;g374dacdbb20_1_49"/>
          <p:cNvGraphicFramePr/>
          <p:nvPr>
            <p:extLst>
              <p:ext uri="{D42A27DB-BD31-4B8C-83A1-F6EECF244321}">
                <p14:modId xmlns:p14="http://schemas.microsoft.com/office/powerpoint/2010/main" val="2424095382"/>
              </p:ext>
            </p:extLst>
          </p:nvPr>
        </p:nvGraphicFramePr>
        <p:xfrm>
          <a:off x="149075" y="703350"/>
          <a:ext cx="7474250" cy="64008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700"/>
                        <a:buFont typeface="Arial"/>
                        <a:buNone/>
                      </a:pPr>
                      <a:endParaRPr lang="es-MX" sz="2100" b="1" u="none" strike="noStrike" cap="none" dirty="0">
                        <a:solidFill>
                          <a:srgbClr val="BC955C"/>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700"/>
                        <a:buFont typeface="Arial"/>
                        <a:buNone/>
                      </a:pP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73" name="TextBox 17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174" name="TextBox 17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175" name="TextBox 174"/>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16 Unidades Médicas de tiempo completo</a:t>
            </a:r>
          </a:p>
        </p:txBody>
      </p:sp>
      <p:sp>
        <p:nvSpPr>
          <p:cNvPr id="176" name="TextBox 17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Noto Sans"/>
              </a:defRPr>
            </a:pPr>
            <a:r>
              <a:t>No incluye Unidades Auxiliares de Medicina Familiar</a:t>
            </a:r>
            <a:br/>
            <a:r>
              <a:t>Corte de información: Semana 9 febrero 2026</a:t>
            </a:r>
          </a:p>
        </p:txBody>
      </p:sp>
      <p:graphicFrame>
        <p:nvGraphicFramePr>
          <p:cNvPr id="177" name="Table 176"/>
          <p:cNvGraphicFramePr>
            <a:graphicFrameLocks noGrp="1"/>
          </p:cNvGraphicFramePr>
          <p:nvPr/>
        </p:nvGraphicFramePr>
        <p:xfrm>
          <a:off x="151200" y="1378800"/>
          <a:ext cx="7473600" cy="2721600"/>
        </p:xfrm>
        <a:graphic>
          <a:graphicData uri="http://schemas.openxmlformats.org/drawingml/2006/table">
            <a:tbl>
              <a:tblPr firstRow="1" bandRow="1">
                <a:tableStyleId>{5C22544A-7EE6-4342-B048-85BDC9FD1C3A}</a:tableStyleId>
              </a:tblPr>
              <a:tblGrid>
                <a:gridCol w="2289600"/>
                <a:gridCol w="1285200"/>
                <a:gridCol w="1411200"/>
                <a:gridCol w="1018800"/>
                <a:gridCol w="1468800"/>
              </a:tblGrid>
              <a:tr h="151200">
                <a:tc>
                  <a:txBody>
                    <a:bodyPr/>
                    <a:lstStyle/>
                    <a:p>
                      <a:pPr algn="ctr">
                        <a:defRPr b="1" sz="1000">
                          <a:solidFill>
                            <a:srgbClr val="FFFFFF"/>
                          </a:solidFill>
                          <a:latin typeface="Montserrat"/>
                        </a:defRPr>
                      </a:pPr>
                      <a:r>
                        <a:t>Unidad Médica</a:t>
                      </a:r>
                    </a:p>
                  </a:txBody>
                  <a:tcPr>
                    <a:solidFill>
                      <a:srgbClr val="006455"/>
                    </a:solidFill>
                  </a:tcPr>
                </a:tc>
                <a:tc>
                  <a:txBody>
                    <a:bodyPr/>
                    <a:lstStyle/>
                    <a:p>
                      <a:pPr algn="ctr">
                        <a:defRPr b="1" sz="1000">
                          <a:solidFill>
                            <a:srgbClr val="FFFFFF"/>
                          </a:solidFill>
                          <a:latin typeface="Montserrat"/>
                        </a:defRPr>
                      </a:pPr>
                      <a:r>
                        <a:t>Antigüedad</a:t>
                      </a:r>
                    </a:p>
                  </a:txBody>
                  <a:tcPr>
                    <a:solidFill>
                      <a:srgbClr val="006455"/>
                    </a:solidFill>
                  </a:tcPr>
                </a:tc>
                <a:tc>
                  <a:txBody>
                    <a:bodyPr/>
                    <a:lstStyle/>
                    <a:p>
                      <a:pPr algn="ctr">
                        <a:defRPr b="1" sz="1000">
                          <a:solidFill>
                            <a:srgbClr val="FFFFFF"/>
                          </a:solidFill>
                          <a:latin typeface="Montserrat"/>
                        </a:defRPr>
                      </a:pPr>
                      <a:r>
                        <a:t>Consultorios de Medicina Familiar</a:t>
                      </a:r>
                    </a:p>
                  </a:txBody>
                  <a:tcPr>
                    <a:solidFill>
                      <a:srgbClr val="006455"/>
                    </a:solidFill>
                  </a:tcPr>
                </a:tc>
                <a:tc>
                  <a:txBody>
                    <a:bodyPr/>
                    <a:lstStyle/>
                    <a:p>
                      <a:pPr algn="ctr">
                        <a:defRPr b="1" sz="1000">
                          <a:solidFill>
                            <a:srgbClr val="FFFFFF"/>
                          </a:solidFill>
                          <a:latin typeface="Montserrat"/>
                        </a:defRPr>
                      </a:pPr>
                      <a:r>
                        <a:t>Consultorios de TC</a:t>
                      </a:r>
                    </a:p>
                  </a:txBody>
                  <a:tcPr>
                    <a:solidFill>
                      <a:srgbClr val="006455"/>
                    </a:solidFill>
                  </a:tcPr>
                </a:tc>
                <a:tc>
                  <a:txBody>
                    <a:bodyPr/>
                    <a:lstStyle/>
                    <a:p>
                      <a:pPr algn="ctr">
                        <a:defRPr b="1" sz="1000">
                          <a:solidFill>
                            <a:srgbClr val="FFFFFF"/>
                          </a:solidFill>
                          <a:latin typeface="Montserrat"/>
                        </a:defRPr>
                      </a:pPr>
                      <a:r>
                        <a:t>Productividad a febrero</a:t>
                      </a:r>
                    </a:p>
                  </a:txBody>
                  <a:tcPr>
                    <a:solidFill>
                      <a:srgbClr val="006455"/>
                    </a:solidFill>
                  </a:tcPr>
                </a:tc>
              </a:tr>
              <a:tr h="151200">
                <a:tc>
                  <a:txBody>
                    <a:bodyPr/>
                    <a:lstStyle/>
                    <a:p>
                      <a:pPr algn="ctr">
                        <a:defRPr sz="1000">
                          <a:latin typeface="Montserrat"/>
                        </a:defRPr>
                      </a:pPr>
                      <a:r>
                        <a:t>UMF 17 Coatepec</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7</a:t>
                      </a:r>
                    </a:p>
                  </a:txBody>
                  <a:tcPr marL="0" marR="0" marT="0" marB="0">
                    <a:solidFill>
                      <a:srgbClr val="FFFFFF"/>
                    </a:solidFill>
                  </a:tcPr>
                </a:tc>
                <a:tc>
                  <a:txBody>
                    <a:bodyPr/>
                    <a:lstStyle/>
                    <a:p>
                      <a:pPr algn="ctr">
                        <a:defRPr sz="1000">
                          <a:latin typeface="Montserrat"/>
                        </a:defRPr>
                      </a:pPr>
                      <a:r>
                        <a:t>3</a:t>
                      </a:r>
                    </a:p>
                  </a:txBody>
                  <a:tcPr marL="0" marR="0" marT="0" marB="0">
                    <a:solidFill>
                      <a:srgbClr val="FFFFFF"/>
                    </a:solidFill>
                  </a:tcPr>
                </a:tc>
                <a:tc>
                  <a:txBody>
                    <a:bodyPr/>
                    <a:lstStyle/>
                    <a:p>
                      <a:pPr algn="ctr">
                        <a:defRPr sz="1000">
                          <a:latin typeface="Montserrat"/>
                        </a:defRPr>
                      </a:pPr>
                      <a:r>
                        <a:t>16,410</a:t>
                      </a:r>
                    </a:p>
                  </a:txBody>
                  <a:tcPr marL="0" marR="0" marT="0" marB="0">
                    <a:solidFill>
                      <a:srgbClr val="FFFFFF"/>
                    </a:solidFill>
                  </a:tcPr>
                </a:tc>
              </a:tr>
              <a:tr h="151200">
                <a:tc>
                  <a:txBody>
                    <a:bodyPr/>
                    <a:lstStyle/>
                    <a:p>
                      <a:pPr algn="ctr">
                        <a:defRPr sz="1000">
                          <a:latin typeface="Montserrat"/>
                        </a:defRPr>
                      </a:pPr>
                      <a:r>
                        <a:t>UMF 1 Orizaba</a:t>
                      </a:r>
                    </a:p>
                  </a:txBody>
                  <a:tcPr marL="0" marR="0" marT="0" marB="0">
                    <a:solidFill>
                      <a:srgbClr val="EFEFEF"/>
                    </a:solidFill>
                  </a:tcPr>
                </a:tc>
                <a:tc>
                  <a:txBody>
                    <a:bodyPr/>
                    <a:lstStyle/>
                    <a:p>
                      <a:pPr algn="ctr">
                        <a:defRPr sz="1000">
                          <a:latin typeface="Montserrat"/>
                        </a:defRPr>
                      </a:pPr>
                      <a:r>
                        <a:t>61</a:t>
                      </a:r>
                    </a:p>
                  </a:txBody>
                  <a:tcPr marL="0" marR="0" marT="0" marB="0">
                    <a:solidFill>
                      <a:srgbClr val="EFEFEF"/>
                    </a:solidFill>
                  </a:tcPr>
                </a:tc>
                <a:tc>
                  <a:txBody>
                    <a:bodyPr/>
                    <a:lstStyle/>
                    <a:p>
                      <a:pPr algn="ctr">
                        <a:defRPr sz="1000">
                          <a:latin typeface="Montserrat"/>
                        </a:defRPr>
                      </a:pPr>
                      <a:r>
                        <a:t>10</a:t>
                      </a:r>
                    </a:p>
                  </a:txBody>
                  <a:tcPr marL="0" marR="0" marT="0" marB="0">
                    <a:solidFill>
                      <a:srgbClr val="EFEFEF"/>
                    </a:solidFill>
                  </a:tcPr>
                </a:tc>
                <a:tc>
                  <a:txBody>
                    <a:bodyPr/>
                    <a:lstStyle/>
                    <a:p>
                      <a:pPr algn="ctr">
                        <a:defRPr sz="1000">
                          <a:latin typeface="Montserrat"/>
                        </a:defRPr>
                      </a:pPr>
                      <a:r>
                        <a:t>5</a:t>
                      </a:r>
                    </a:p>
                  </a:txBody>
                  <a:tcPr marL="0" marR="0" marT="0" marB="0">
                    <a:solidFill>
                      <a:srgbClr val="EFEFEF"/>
                    </a:solidFill>
                  </a:tcPr>
                </a:tc>
                <a:tc>
                  <a:txBody>
                    <a:bodyPr/>
                    <a:lstStyle/>
                    <a:p>
                      <a:pPr algn="ctr">
                        <a:defRPr sz="1000">
                          <a:latin typeface="Montserrat"/>
                        </a:defRPr>
                      </a:pPr>
                      <a:r>
                        <a:t>26,871</a:t>
                      </a:r>
                    </a:p>
                  </a:txBody>
                  <a:tcPr marL="0" marR="0" marT="0" marB="0">
                    <a:solidFill>
                      <a:srgbClr val="EFEFEF"/>
                    </a:solidFill>
                  </a:tcPr>
                </a:tc>
              </a:tr>
              <a:tr h="151200">
                <a:tc>
                  <a:txBody>
                    <a:bodyPr/>
                    <a:lstStyle/>
                    <a:p>
                      <a:pPr algn="ctr">
                        <a:defRPr sz="1000">
                          <a:latin typeface="Montserrat"/>
                        </a:defRPr>
                      </a:pPr>
                      <a:r>
                        <a:t>UMF 57 Veracruz</a:t>
                      </a:r>
                    </a:p>
                  </a:txBody>
                  <a:tcPr marL="0" marR="0" marT="0" marB="0">
                    <a:solidFill>
                      <a:srgbClr val="FFFFFF"/>
                    </a:solidFill>
                  </a:tcPr>
                </a:tc>
                <a:tc>
                  <a:txBody>
                    <a:bodyPr/>
                    <a:lstStyle/>
                    <a:p>
                      <a:pPr algn="ctr">
                        <a:defRPr sz="1000">
                          <a:latin typeface="Montserrat"/>
                        </a:defRPr>
                      </a:pPr>
                      <a:r>
                        <a:t>46</a:t>
                      </a:r>
                    </a:p>
                  </a:txBody>
                  <a:tcPr marL="0" marR="0" marT="0" marB="0">
                    <a:solidFill>
                      <a:srgbClr val="FFFFFF"/>
                    </a:solidFill>
                  </a:tcPr>
                </a:tc>
                <a:tc>
                  <a:txBody>
                    <a:bodyPr/>
                    <a:lstStyle/>
                    <a:p>
                      <a:pPr algn="ctr">
                        <a:defRPr sz="1000">
                          <a:latin typeface="Montserrat"/>
                        </a:defRPr>
                      </a:pPr>
                      <a:r>
                        <a:t>24</a:t>
                      </a:r>
                    </a:p>
                  </a:txBody>
                  <a:tcPr marL="0" marR="0" marT="0" marB="0">
                    <a:solidFill>
                      <a:srgbClr val="FFFFFF"/>
                    </a:solidFill>
                  </a:tcPr>
                </a:tc>
                <a:tc>
                  <a:txBody>
                    <a:bodyPr/>
                    <a:lstStyle/>
                    <a:p>
                      <a:pPr algn="ctr">
                        <a:defRPr sz="1000">
                          <a:latin typeface="Montserrat"/>
                        </a:defRPr>
                      </a:pPr>
                      <a:r>
                        <a:t>3</a:t>
                      </a:r>
                    </a:p>
                  </a:txBody>
                  <a:tcPr marL="0" marR="0" marT="0" marB="0">
                    <a:solidFill>
                      <a:srgbClr val="FFFFFF"/>
                    </a:solidFill>
                  </a:tcPr>
                </a:tc>
                <a:tc>
                  <a:txBody>
                    <a:bodyPr/>
                    <a:lstStyle/>
                    <a:p>
                      <a:pPr algn="ctr">
                        <a:defRPr sz="1000">
                          <a:latin typeface="Montserrat"/>
                        </a:defRPr>
                      </a:pPr>
                      <a:r>
                        <a:t>48,754</a:t>
                      </a:r>
                    </a:p>
                  </a:txBody>
                  <a:tcPr marL="0" marR="0" marT="0" marB="0">
                    <a:solidFill>
                      <a:srgbClr val="FFFFFF"/>
                    </a:solidFill>
                  </a:tcPr>
                </a:tc>
              </a:tr>
              <a:tr h="151200">
                <a:tc>
                  <a:txBody>
                    <a:bodyPr/>
                    <a:lstStyle/>
                    <a:p>
                      <a:pPr algn="ctr">
                        <a:defRPr sz="1000">
                          <a:latin typeface="Montserrat"/>
                        </a:defRPr>
                      </a:pPr>
                      <a:r>
                        <a:t>UMF 47 Alamo</a:t>
                      </a:r>
                    </a:p>
                  </a:txBody>
                  <a:tcPr marL="0" marR="0" marT="0" marB="0">
                    <a:solidFill>
                      <a:srgbClr val="EFEFEF"/>
                    </a:solidFill>
                  </a:tcPr>
                </a:tc>
                <a:tc>
                  <a:txBody>
                    <a:bodyPr/>
                    <a:lstStyle/>
                    <a:p>
                      <a:pPr algn="ctr">
                        <a:defRPr sz="1000">
                          <a:latin typeface="Montserrat"/>
                        </a:defRPr>
                      </a:pPr>
                      <a:r>
                        <a:t>45</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4,291</a:t>
                      </a:r>
                    </a:p>
                  </a:txBody>
                  <a:tcPr marL="0" marR="0" marT="0" marB="0">
                    <a:solidFill>
                      <a:srgbClr val="EFEFEF"/>
                    </a:solidFill>
                  </a:tcPr>
                </a:tc>
              </a:tr>
              <a:tr h="151200">
                <a:tc>
                  <a:txBody>
                    <a:bodyPr/>
                    <a:lstStyle/>
                    <a:p>
                      <a:pPr algn="ctr">
                        <a:defRPr sz="1000">
                          <a:latin typeface="Montserrat"/>
                        </a:defRPr>
                      </a:pPr>
                      <a:r>
                        <a:t>UMF 40 Manlio Fabio Altamirano</a:t>
                      </a:r>
                    </a:p>
                  </a:txBody>
                  <a:tcPr marL="0" marR="0" marT="0" marB="0">
                    <a:solidFill>
                      <a:srgbClr val="FFFFFF"/>
                    </a:solidFill>
                  </a:tcPr>
                </a:tc>
                <a:tc>
                  <a:txBody>
                    <a:bodyPr/>
                    <a:lstStyle/>
                    <a:p>
                      <a:pPr algn="ctr">
                        <a:defRPr sz="1000">
                          <a:latin typeface="Montserrat"/>
                        </a:defRPr>
                      </a:pPr>
                      <a:r>
                        <a:t>45</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5,060</a:t>
                      </a:r>
                    </a:p>
                  </a:txBody>
                  <a:tcPr marL="0" marR="0" marT="0" marB="0">
                    <a:solidFill>
                      <a:srgbClr val="FFFFFF"/>
                    </a:solidFill>
                  </a:tcPr>
                </a:tc>
              </a:tr>
              <a:tr h="151200">
                <a:tc>
                  <a:txBody>
                    <a:bodyPr/>
                    <a:lstStyle/>
                    <a:p>
                      <a:pPr algn="ctr">
                        <a:defRPr sz="1000">
                          <a:latin typeface="Montserrat"/>
                        </a:defRPr>
                      </a:pPr>
                      <a:r>
                        <a:t>UMF 66 Jalapa</a:t>
                      </a:r>
                    </a:p>
                  </a:txBody>
                  <a:tcPr marL="0" marR="0" marT="0" marB="0">
                    <a:solidFill>
                      <a:srgbClr val="EFEFEF"/>
                    </a:solidFill>
                  </a:tcPr>
                </a:tc>
                <a:tc>
                  <a:txBody>
                    <a:bodyPr/>
                    <a:lstStyle/>
                    <a:p>
                      <a:pPr algn="ctr">
                        <a:defRPr sz="1000">
                          <a:latin typeface="Montserrat"/>
                        </a:defRPr>
                      </a:pPr>
                      <a:r>
                        <a:t>44</a:t>
                      </a:r>
                    </a:p>
                  </a:txBody>
                  <a:tcPr marL="0" marR="0" marT="0" marB="0">
                    <a:solidFill>
                      <a:srgbClr val="EFEFEF"/>
                    </a:solidFill>
                  </a:tcPr>
                </a:tc>
                <a:tc>
                  <a:txBody>
                    <a:bodyPr/>
                    <a:lstStyle/>
                    <a:p>
                      <a:pPr algn="ctr">
                        <a:defRPr sz="1000">
                          <a:latin typeface="Montserrat"/>
                        </a:defRPr>
                      </a:pPr>
                      <a:r>
                        <a:t>28</a:t>
                      </a:r>
                    </a:p>
                  </a:txBody>
                  <a:tcPr marL="0" marR="0" marT="0" marB="0">
                    <a:solidFill>
                      <a:srgbClr val="EFEFEF"/>
                    </a:solidFill>
                  </a:tcPr>
                </a:tc>
                <a:tc>
                  <a:txBody>
                    <a:bodyPr/>
                    <a:lstStyle/>
                    <a:p>
                      <a:pPr algn="ctr">
                        <a:defRPr sz="1000">
                          <a:latin typeface="Montserrat"/>
                        </a:defRPr>
                      </a:pPr>
                      <a:r>
                        <a:t>10</a:t>
                      </a:r>
                    </a:p>
                  </a:txBody>
                  <a:tcPr marL="0" marR="0" marT="0" marB="0">
                    <a:solidFill>
                      <a:srgbClr val="EFEFEF"/>
                    </a:solidFill>
                  </a:tcPr>
                </a:tc>
                <a:tc>
                  <a:txBody>
                    <a:bodyPr/>
                    <a:lstStyle/>
                    <a:p>
                      <a:pPr algn="ctr">
                        <a:defRPr sz="1000">
                          <a:latin typeface="Montserrat"/>
                        </a:defRPr>
                      </a:pPr>
                      <a:r>
                        <a:t>59,964</a:t>
                      </a:r>
                    </a:p>
                  </a:txBody>
                  <a:tcPr marL="0" marR="0" marT="0" marB="0">
                    <a:solidFill>
                      <a:srgbClr val="EFEFEF"/>
                    </a:solidFill>
                  </a:tcPr>
                </a:tc>
              </a:tr>
              <a:tr h="151200">
                <a:tc>
                  <a:txBody>
                    <a:bodyPr/>
                    <a:lstStyle/>
                    <a:p>
                      <a:pPr algn="ctr">
                        <a:defRPr sz="1000">
                          <a:latin typeface="Montserrat"/>
                        </a:defRPr>
                      </a:pPr>
                      <a:r>
                        <a:t>UMF 61 Veracruz</a:t>
                      </a:r>
                    </a:p>
                  </a:txBody>
                  <a:tcPr marL="0" marR="0" marT="0" marB="0">
                    <a:solidFill>
                      <a:srgbClr val="FFFFFF"/>
                    </a:solidFill>
                  </a:tcPr>
                </a:tc>
                <a:tc>
                  <a:txBody>
                    <a:bodyPr/>
                    <a:lstStyle/>
                    <a:p>
                      <a:pPr algn="ctr">
                        <a:defRPr sz="1000">
                          <a:latin typeface="Montserrat"/>
                        </a:defRPr>
                      </a:pPr>
                      <a:r>
                        <a:t>43</a:t>
                      </a:r>
                    </a:p>
                  </a:txBody>
                  <a:tcPr marL="0" marR="0" marT="0" marB="0">
                    <a:solidFill>
                      <a:srgbClr val="FFFFFF"/>
                    </a:solidFill>
                  </a:tcPr>
                </a:tc>
                <a:tc>
                  <a:txBody>
                    <a:bodyPr/>
                    <a:lstStyle/>
                    <a:p>
                      <a:pPr algn="ctr">
                        <a:defRPr sz="1000">
                          <a:latin typeface="Montserrat"/>
                        </a:defRPr>
                      </a:pPr>
                      <a:r>
                        <a:t>21</a:t>
                      </a:r>
                    </a:p>
                  </a:txBody>
                  <a:tcPr marL="0" marR="0" marT="0" marB="0">
                    <a:solidFill>
                      <a:srgbClr val="FFFFFF"/>
                    </a:solidFill>
                  </a:tcPr>
                </a:tc>
                <a:tc>
                  <a:txBody>
                    <a:bodyPr/>
                    <a:lstStyle/>
                    <a:p>
                      <a:pPr algn="ctr">
                        <a:defRPr sz="1000">
                          <a:latin typeface="Montserrat"/>
                        </a:defRPr>
                      </a:pPr>
                      <a:r>
                        <a:t>8</a:t>
                      </a:r>
                    </a:p>
                  </a:txBody>
                  <a:tcPr marL="0" marR="0" marT="0" marB="0">
                    <a:solidFill>
                      <a:srgbClr val="FFFFFF"/>
                    </a:solidFill>
                  </a:tcPr>
                </a:tc>
                <a:tc>
                  <a:txBody>
                    <a:bodyPr/>
                    <a:lstStyle/>
                    <a:p>
                      <a:pPr algn="ctr">
                        <a:defRPr sz="1000">
                          <a:latin typeface="Montserrat"/>
                        </a:defRPr>
                      </a:pPr>
                      <a:r>
                        <a:t>49,576</a:t>
                      </a:r>
                    </a:p>
                  </a:txBody>
                  <a:tcPr marL="0" marR="0" marT="0" marB="0">
                    <a:solidFill>
                      <a:srgbClr val="FFFFFF"/>
                    </a:solidFill>
                  </a:tcPr>
                </a:tc>
              </a:tr>
              <a:tr h="151200">
                <a:tc>
                  <a:txBody>
                    <a:bodyPr/>
                    <a:lstStyle/>
                    <a:p>
                      <a:pPr algn="ctr">
                        <a:defRPr sz="1000">
                          <a:latin typeface="Montserrat"/>
                        </a:defRPr>
                      </a:pPr>
                      <a:r>
                        <a:t>UMF 61 Córdoba</a:t>
                      </a:r>
                    </a:p>
                  </a:txBody>
                  <a:tcPr marL="0" marR="0" marT="0" marB="0">
                    <a:solidFill>
                      <a:srgbClr val="EFEFEF"/>
                    </a:solidFill>
                  </a:tcPr>
                </a:tc>
                <a:tc>
                  <a:txBody>
                    <a:bodyPr/>
                    <a:lstStyle/>
                    <a:p>
                      <a:pPr algn="ctr">
                        <a:defRPr sz="1000">
                          <a:latin typeface="Montserrat"/>
                        </a:defRPr>
                      </a:pPr>
                      <a:r>
                        <a:t>43</a:t>
                      </a:r>
                    </a:p>
                  </a:txBody>
                  <a:tcPr marL="0" marR="0" marT="0" marB="0">
                    <a:solidFill>
                      <a:srgbClr val="EFEFEF"/>
                    </a:solidFill>
                  </a:tcPr>
                </a:tc>
                <a:tc>
                  <a:txBody>
                    <a:bodyPr/>
                    <a:lstStyle/>
                    <a:p>
                      <a:pPr algn="ctr">
                        <a:defRPr sz="1000">
                          <a:latin typeface="Montserrat"/>
                        </a:defRPr>
                      </a:pPr>
                      <a:r>
                        <a:t>15</a:t>
                      </a:r>
                    </a:p>
                  </a:txBody>
                  <a:tcPr marL="0" marR="0" marT="0" marB="0">
                    <a:solidFill>
                      <a:srgbClr val="EFEFEF"/>
                    </a:solidFill>
                  </a:tcPr>
                </a:tc>
                <a:tc>
                  <a:txBody>
                    <a:bodyPr/>
                    <a:lstStyle/>
                    <a:p>
                      <a:pPr algn="ctr">
                        <a:defRPr sz="1000">
                          <a:latin typeface="Montserrat"/>
                        </a:defRPr>
                      </a:pPr>
                      <a:r>
                        <a:t>5</a:t>
                      </a:r>
                    </a:p>
                  </a:txBody>
                  <a:tcPr marL="0" marR="0" marT="0" marB="0">
                    <a:solidFill>
                      <a:srgbClr val="EFEFEF"/>
                    </a:solidFill>
                  </a:tcPr>
                </a:tc>
                <a:tc>
                  <a:txBody>
                    <a:bodyPr/>
                    <a:lstStyle/>
                    <a:p>
                      <a:pPr algn="ctr">
                        <a:defRPr sz="1000">
                          <a:latin typeface="Montserrat"/>
                        </a:defRPr>
                      </a:pPr>
                      <a:r>
                        <a:t>34,393</a:t>
                      </a:r>
                    </a:p>
                  </a:txBody>
                  <a:tcPr marL="0" marR="0" marT="0" marB="0">
                    <a:solidFill>
                      <a:srgbClr val="EFEFEF"/>
                    </a:solidFill>
                  </a:tcPr>
                </a:tc>
              </a:tr>
              <a:tr h="151200">
                <a:tc>
                  <a:txBody>
                    <a:bodyPr/>
                    <a:lstStyle/>
                    <a:p>
                      <a:pPr algn="ctr">
                        <a:defRPr sz="1000">
                          <a:latin typeface="Montserrat"/>
                        </a:defRPr>
                      </a:pPr>
                      <a:r>
                        <a:t>UMF 10 Jalapa</a:t>
                      </a:r>
                    </a:p>
                  </a:txBody>
                  <a:tcPr marL="0" marR="0" marT="0" marB="0">
                    <a:solidFill>
                      <a:srgbClr val="FFFFFF"/>
                    </a:solidFill>
                  </a:tcPr>
                </a:tc>
                <a:tc>
                  <a:txBody>
                    <a:bodyPr/>
                    <a:lstStyle/>
                    <a:p>
                      <a:pPr algn="ctr">
                        <a:defRPr sz="1000">
                          <a:latin typeface="Montserrat"/>
                        </a:defRPr>
                      </a:pPr>
                      <a:r>
                        <a:t>39</a:t>
                      </a:r>
                    </a:p>
                  </a:txBody>
                  <a:tcPr marL="0" marR="0" marT="0" marB="0">
                    <a:solidFill>
                      <a:srgbClr val="FFFFFF"/>
                    </a:solidFill>
                  </a:tcPr>
                </a:tc>
                <a:tc>
                  <a:txBody>
                    <a:bodyPr/>
                    <a:lstStyle/>
                    <a:p>
                      <a:pPr algn="ctr">
                        <a:defRPr sz="1000">
                          <a:latin typeface="Montserrat"/>
                        </a:defRPr>
                      </a:pPr>
                      <a:r>
                        <a:t>10</a:t>
                      </a:r>
                    </a:p>
                  </a:txBody>
                  <a:tcPr marL="0" marR="0" marT="0" marB="0">
                    <a:solidFill>
                      <a:srgbClr val="FFFFFF"/>
                    </a:solidFill>
                  </a:tcPr>
                </a:tc>
                <a:tc>
                  <a:txBody>
                    <a:bodyPr/>
                    <a:lstStyle/>
                    <a:p>
                      <a:pPr algn="ctr">
                        <a:defRPr sz="1000">
                          <a:latin typeface="Montserrat"/>
                        </a:defRPr>
                      </a:pPr>
                      <a:r>
                        <a:t>9</a:t>
                      </a:r>
                    </a:p>
                  </a:txBody>
                  <a:tcPr marL="0" marR="0" marT="0" marB="0">
                    <a:solidFill>
                      <a:srgbClr val="FFFFFF"/>
                    </a:solidFill>
                  </a:tcPr>
                </a:tc>
                <a:tc>
                  <a:txBody>
                    <a:bodyPr/>
                    <a:lstStyle/>
                    <a:p>
                      <a:pPr algn="ctr">
                        <a:defRPr sz="1000">
                          <a:latin typeface="Montserrat"/>
                        </a:defRPr>
                      </a:pPr>
                      <a:r>
                        <a:t>29,131</a:t>
                      </a:r>
                    </a:p>
                  </a:txBody>
                  <a:tcPr marL="0" marR="0" marT="0" marB="0">
                    <a:solidFill>
                      <a:srgbClr val="FFFFFF"/>
                    </a:solidFill>
                  </a:tcPr>
                </a:tc>
              </a:tr>
              <a:tr h="151200">
                <a:tc>
                  <a:txBody>
                    <a:bodyPr/>
                    <a:lstStyle/>
                    <a:p>
                      <a:pPr algn="ctr">
                        <a:defRPr sz="1000">
                          <a:latin typeface="Montserrat"/>
                        </a:defRPr>
                      </a:pPr>
                      <a:r>
                        <a:t>UMF 52 Naranjos</a:t>
                      </a:r>
                    </a:p>
                  </a:txBody>
                  <a:tcPr marL="0" marR="0" marT="0" marB="0">
                    <a:solidFill>
                      <a:srgbClr val="EFEFEF"/>
                    </a:solidFill>
                  </a:tcPr>
                </a:tc>
                <a:tc>
                  <a:txBody>
                    <a:bodyPr/>
                    <a:lstStyle/>
                    <a:p>
                      <a:pPr algn="ctr">
                        <a:defRPr sz="1000">
                          <a:latin typeface="Montserrat"/>
                        </a:defRPr>
                      </a:pPr>
                      <a:r>
                        <a:t>33</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3,408</a:t>
                      </a:r>
                    </a:p>
                  </a:txBody>
                  <a:tcPr marL="0" marR="0" marT="0" marB="0">
                    <a:solidFill>
                      <a:srgbClr val="EFEFEF"/>
                    </a:solidFill>
                  </a:tcPr>
                </a:tc>
              </a:tr>
              <a:tr h="151200">
                <a:tc>
                  <a:txBody>
                    <a:bodyPr/>
                    <a:lstStyle/>
                    <a:p>
                      <a:pPr algn="ctr">
                        <a:defRPr sz="1000">
                          <a:latin typeface="Montserrat"/>
                        </a:defRPr>
                      </a:pPr>
                      <a:r>
                        <a:t>UMF 30 Perote</a:t>
                      </a:r>
                    </a:p>
                  </a:txBody>
                  <a:tcPr marL="0" marR="0" marT="0" marB="0">
                    <a:solidFill>
                      <a:srgbClr val="FFFFFF"/>
                    </a:solidFill>
                  </a:tcPr>
                </a:tc>
                <a:tc>
                  <a:txBody>
                    <a:bodyPr/>
                    <a:lstStyle/>
                    <a:p>
                      <a:pPr algn="ctr">
                        <a:defRPr sz="1000">
                          <a:latin typeface="Montserrat"/>
                        </a:defRPr>
                      </a:pPr>
                      <a:r>
                        <a:t>32</a:t>
                      </a:r>
                    </a:p>
                  </a:txBody>
                  <a:tcPr marL="0" marR="0" marT="0" marB="0">
                    <a:solidFill>
                      <a:srgbClr val="FFFFFF"/>
                    </a:solidFill>
                  </a:tcPr>
                </a:tc>
                <a:tc>
                  <a:txBody>
                    <a:bodyPr/>
                    <a:lstStyle/>
                    <a:p>
                      <a:pPr algn="ctr">
                        <a:defRPr sz="1000">
                          <a:latin typeface="Montserrat"/>
                        </a:defRPr>
                      </a:pPr>
                      <a:r>
                        <a:t>4</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7,639</a:t>
                      </a:r>
                    </a:p>
                  </a:txBody>
                  <a:tcPr marL="0" marR="0" marT="0" marB="0">
                    <a:solidFill>
                      <a:srgbClr val="FFFFFF"/>
                    </a:solidFill>
                  </a:tcPr>
                </a:tc>
              </a:tr>
              <a:tr h="151200">
                <a:tc>
                  <a:txBody>
                    <a:bodyPr/>
                    <a:lstStyle/>
                    <a:p>
                      <a:pPr algn="ctr">
                        <a:defRPr sz="1000">
                          <a:latin typeface="Montserrat"/>
                        </a:defRPr>
                      </a:pPr>
                      <a:r>
                        <a:t>UMF-UMAA 15 Tejería</a:t>
                      </a:r>
                    </a:p>
                  </a:txBody>
                  <a:tcPr marL="0" marR="0" marT="0" marB="0">
                    <a:solidFill>
                      <a:srgbClr val="EFEFEF"/>
                    </a:solidFill>
                  </a:tcPr>
                </a:tc>
                <a:tc>
                  <a:txBody>
                    <a:bodyPr/>
                    <a:lstStyle/>
                    <a:p>
                      <a:pPr algn="ctr">
                        <a:defRPr sz="1000">
                          <a:latin typeface="Montserrat"/>
                        </a:defRPr>
                      </a:pPr>
                      <a:r>
                        <a:t>18</a:t>
                      </a:r>
                    </a:p>
                  </a:txBody>
                  <a:tcPr marL="0" marR="0" marT="0" marB="0">
                    <a:solidFill>
                      <a:srgbClr val="EFEFEF"/>
                    </a:solidFill>
                  </a:tcPr>
                </a:tc>
                <a:tc>
                  <a:txBody>
                    <a:bodyPr/>
                    <a:lstStyle/>
                    <a:p>
                      <a:pPr algn="ctr">
                        <a:defRPr sz="1000">
                          <a:latin typeface="Montserrat"/>
                        </a:defRPr>
                      </a:pPr>
                      <a:r>
                        <a:t>6</a:t>
                      </a:r>
                    </a:p>
                  </a:txBody>
                  <a:tcPr marL="0" marR="0" marT="0" marB="0">
                    <a:solidFill>
                      <a:srgbClr val="EFEFEF"/>
                    </a:solidFill>
                  </a:tcPr>
                </a:tc>
                <a:tc>
                  <a:txBody>
                    <a:bodyPr/>
                    <a:lstStyle/>
                    <a:p>
                      <a:pPr algn="ctr">
                        <a:defRPr sz="1000">
                          <a:latin typeface="Montserrat"/>
                        </a:defRPr>
                      </a:pPr>
                      <a:r>
                        <a:t>5</a:t>
                      </a:r>
                    </a:p>
                  </a:txBody>
                  <a:tcPr marL="0" marR="0" marT="0" marB="0">
                    <a:solidFill>
                      <a:srgbClr val="EFEFEF"/>
                    </a:solidFill>
                  </a:tcPr>
                </a:tc>
                <a:tc>
                  <a:txBody>
                    <a:bodyPr/>
                    <a:lstStyle/>
                    <a:p>
                      <a:pPr algn="ctr">
                        <a:defRPr sz="1000">
                          <a:latin typeface="Montserrat"/>
                        </a:defRPr>
                      </a:pPr>
                      <a:r>
                        <a:t>15,375</a:t>
                      </a:r>
                    </a:p>
                  </a:txBody>
                  <a:tcPr marL="0" marR="0" marT="0" marB="0">
                    <a:solidFill>
                      <a:srgbClr val="EFEFEF"/>
                    </a:solidFill>
                  </a:tcPr>
                </a:tc>
              </a:tr>
              <a:tr h="151200">
                <a:tc>
                  <a:txBody>
                    <a:bodyPr/>
                    <a:lstStyle/>
                    <a:p>
                      <a:pPr algn="ctr">
                        <a:defRPr sz="1000">
                          <a:latin typeface="Montserrat"/>
                        </a:defRPr>
                      </a:pPr>
                      <a:r>
                        <a:t>UMF 74 Coatzintla</a:t>
                      </a:r>
                    </a:p>
                  </a:txBody>
                  <a:tcPr marL="0" marR="0" marT="0" marB="0">
                    <a:solidFill>
                      <a:srgbClr val="FFFFFF"/>
                    </a:solidFill>
                  </a:tcPr>
                </a:tc>
                <a:tc>
                  <a:txBody>
                    <a:bodyPr/>
                    <a:lstStyle/>
                    <a:p>
                      <a:pPr algn="ctr">
                        <a:defRPr sz="1000">
                          <a:latin typeface="Montserrat"/>
                        </a:defRPr>
                      </a:pPr>
                      <a:r>
                        <a:t>17</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6,270</a:t>
                      </a:r>
                    </a:p>
                  </a:txBody>
                  <a:tcPr marL="0" marR="0" marT="0" marB="0">
                    <a:solidFill>
                      <a:srgbClr val="FFFFFF"/>
                    </a:solidFill>
                  </a:tcPr>
                </a:tc>
              </a:tr>
              <a:tr h="151200">
                <a:tc>
                  <a:txBody>
                    <a:bodyPr/>
                    <a:lstStyle/>
                    <a:p>
                      <a:pPr algn="ctr">
                        <a:defRPr sz="1000">
                          <a:latin typeface="Montserrat"/>
                        </a:defRPr>
                      </a:pPr>
                      <a:r>
                        <a:t>UMF 73 Poza Rica</a:t>
                      </a:r>
                    </a:p>
                  </a:txBody>
                  <a:tcPr marL="0" marR="0" marT="0" marB="0">
                    <a:solidFill>
                      <a:srgbClr val="EFEFEF"/>
                    </a:solidFill>
                  </a:tcPr>
                </a:tc>
                <a:tc>
                  <a:txBody>
                    <a:bodyPr/>
                    <a:lstStyle/>
                    <a:p>
                      <a:pPr algn="ctr">
                        <a:defRPr sz="1000">
                          <a:latin typeface="Montserrat"/>
                        </a:defRPr>
                      </a:pPr>
                      <a:r>
                        <a:t>15</a:t>
                      </a:r>
                    </a:p>
                  </a:txBody>
                  <a:tcPr marL="0" marR="0" marT="0" marB="0">
                    <a:solidFill>
                      <a:srgbClr val="EFEFEF"/>
                    </a:solidFill>
                  </a:tcPr>
                </a:tc>
                <a:tc>
                  <a:txBody>
                    <a:bodyPr/>
                    <a:lstStyle/>
                    <a:p>
                      <a:pPr algn="ctr">
                        <a:defRPr sz="1000">
                          <a:latin typeface="Montserrat"/>
                        </a:defRPr>
                      </a:pPr>
                      <a:r>
                        <a:t>20</a:t>
                      </a:r>
                    </a:p>
                  </a:txBody>
                  <a:tcPr marL="0" marR="0" marT="0" marB="0">
                    <a:solidFill>
                      <a:srgbClr val="EFEFEF"/>
                    </a:solidFill>
                  </a:tcPr>
                </a:tc>
                <a:tc>
                  <a:txBody>
                    <a:bodyPr/>
                    <a:lstStyle/>
                    <a:p>
                      <a:pPr algn="ctr">
                        <a:defRPr sz="1000">
                          <a:latin typeface="Montserrat"/>
                        </a:defRPr>
                      </a:pPr>
                      <a:r>
                        <a:t>5</a:t>
                      </a:r>
                    </a:p>
                  </a:txBody>
                  <a:tcPr marL="0" marR="0" marT="0" marB="0">
                    <a:solidFill>
                      <a:srgbClr val="EFEFEF"/>
                    </a:solidFill>
                  </a:tcPr>
                </a:tc>
                <a:tc>
                  <a:txBody>
                    <a:bodyPr/>
                    <a:lstStyle/>
                    <a:p>
                      <a:pPr algn="ctr">
                        <a:defRPr sz="1000">
                          <a:latin typeface="Montserrat"/>
                        </a:defRPr>
                      </a:pPr>
                      <a:r>
                        <a:t>38,268</a:t>
                      </a:r>
                    </a:p>
                  </a:txBody>
                  <a:tcPr marL="0" marR="0" marT="0" marB="0">
                    <a:solidFill>
                      <a:srgbClr val="EFEFEF"/>
                    </a:solidFill>
                  </a:tcPr>
                </a:tc>
              </a:tr>
              <a:tr h="151200">
                <a:tc>
                  <a:txBody>
                    <a:bodyPr/>
                    <a:lstStyle/>
                    <a:p>
                      <a:pPr algn="ctr">
                        <a:defRPr sz="1000">
                          <a:latin typeface="Montserrat"/>
                        </a:defRPr>
                      </a:pPr>
                      <a:r>
                        <a:t>UMF 37 Coatzacoalcos</a:t>
                      </a:r>
                    </a:p>
                  </a:txBody>
                  <a:tcPr marL="0" marR="0" marT="0" marB="0">
                    <a:solidFill>
                      <a:srgbClr val="FFFFFF"/>
                    </a:solidFill>
                  </a:tcPr>
                </a:tc>
                <a:tc>
                  <a:txBody>
                    <a:bodyPr/>
                    <a:lstStyle/>
                    <a:p>
                      <a:pPr algn="ctr">
                        <a:defRPr sz="1000">
                          <a:latin typeface="Montserrat"/>
                        </a:defRPr>
                      </a:pPr>
                      <a:r>
                        <a:t>15</a:t>
                      </a:r>
                    </a:p>
                  </a:txBody>
                  <a:tcPr marL="0" marR="0" marT="0" marB="0">
                    <a:solidFill>
                      <a:srgbClr val="FFFFFF"/>
                    </a:solidFill>
                  </a:tcPr>
                </a:tc>
                <a:tc>
                  <a:txBody>
                    <a:bodyPr/>
                    <a:lstStyle/>
                    <a:p>
                      <a:pPr algn="ctr">
                        <a:defRPr sz="1000">
                          <a:latin typeface="Montserrat"/>
                        </a:defRPr>
                      </a:pPr>
                      <a:r>
                        <a:t>5</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11,651</a:t>
                      </a:r>
                    </a:p>
                  </a:txBody>
                  <a:tcPr marL="0" marR="0" marT="0" marB="0">
                    <a:solidFill>
                      <a:srgbClr val="FFFFFF"/>
                    </a:solidFill>
                  </a:tcPr>
                </a:tc>
              </a:tr>
              <a:tr h="151200">
                <a:tc>
                  <a:txBody>
                    <a:bodyPr/>
                    <a:lstStyle/>
                    <a:p>
                      <a:pPr algn="ctr">
                        <a:defRPr sz="1000">
                          <a:latin typeface="Montserrat"/>
                        </a:defRPr>
                      </a:pPr>
                      <a:r>
                        <a:t>UMF 69 Coatzacoalcos</a:t>
                      </a:r>
                    </a:p>
                  </a:txBody>
                  <a:tcPr marL="0" marR="0" marT="0" marB="0">
                    <a:solidFill>
                      <a:srgbClr val="EFEFEF"/>
                    </a:solidFill>
                  </a:tcPr>
                </a:tc>
                <a:tc>
                  <a:txBody>
                    <a:bodyPr/>
                    <a:lstStyle/>
                    <a:p>
                      <a:pPr algn="ctr">
                        <a:defRPr sz="1000">
                          <a:latin typeface="Montserrat"/>
                        </a:defRPr>
                      </a:pPr>
                      <a:r>
                        <a:t>6</a:t>
                      </a:r>
                    </a:p>
                  </a:txBody>
                  <a:tcPr marL="0" marR="0" marT="0" marB="0">
                    <a:solidFill>
                      <a:srgbClr val="EFEFEF"/>
                    </a:solidFill>
                  </a:tcPr>
                </a:tc>
                <a:tc>
                  <a:txBody>
                    <a:bodyPr/>
                    <a:lstStyle/>
                    <a:p>
                      <a:pPr algn="ctr">
                        <a:defRPr sz="1000">
                          <a:latin typeface="Montserrat"/>
                        </a:defRPr>
                      </a:pPr>
                      <a:r>
                        <a:t>10</a:t>
                      </a:r>
                    </a:p>
                  </a:txBody>
                  <a:tcPr marL="0" marR="0" marT="0" marB="0">
                    <a:solidFill>
                      <a:srgbClr val="EFEFEF"/>
                    </a:solidFill>
                  </a:tcPr>
                </a:tc>
                <a:tc>
                  <a:txBody>
                    <a:bodyPr/>
                    <a:lstStyle/>
                    <a:p>
                      <a:pPr algn="ctr">
                        <a:defRPr sz="1000">
                          <a:latin typeface="Montserrat"/>
                        </a:defRPr>
                      </a:pPr>
                      <a:r>
                        <a:t>3</a:t>
                      </a:r>
                    </a:p>
                  </a:txBody>
                  <a:tcPr marL="0" marR="0" marT="0" marB="0">
                    <a:solidFill>
                      <a:srgbClr val="EFEFEF"/>
                    </a:solidFill>
                  </a:tcPr>
                </a:tc>
                <a:tc>
                  <a:txBody>
                    <a:bodyPr/>
                    <a:lstStyle/>
                    <a:p>
                      <a:pPr algn="ctr">
                        <a:defRPr sz="1000">
                          <a:latin typeface="Montserrat"/>
                        </a:defRPr>
                      </a:pPr>
                      <a:r>
                        <a:t>22,844</a:t>
                      </a:r>
                    </a:p>
                  </a:txBody>
                  <a:tcPr marL="0" marR="0" marT="0" marB="0">
                    <a:solidFill>
                      <a:srgbClr val="EFEFEF"/>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35.0</a:t>
                      </a:r>
                    </a:p>
                  </a:txBody>
                  <a:tcPr marL="0" marR="0" marT="0" marB="0">
                    <a:solidFill>
                      <a:srgbClr val="D3E9E7"/>
                    </a:solidFill>
                  </a:tcPr>
                </a:tc>
                <a:tc>
                  <a:txBody>
                    <a:bodyPr/>
                    <a:lstStyle/>
                    <a:p>
                      <a:pPr algn="ctr">
                        <a:defRPr sz="1000" b="1">
                          <a:solidFill>
                            <a:srgbClr val="006556"/>
                          </a:solidFill>
                          <a:latin typeface="Montserrat"/>
                        </a:defRPr>
                      </a:pPr>
                      <a:r>
                        <a:t>167</a:t>
                      </a:r>
                    </a:p>
                  </a:txBody>
                  <a:tcPr marL="0" marR="0" marT="0" marB="0">
                    <a:solidFill>
                      <a:srgbClr val="D3E9E7"/>
                    </a:solidFill>
                  </a:tcPr>
                </a:tc>
                <a:tc>
                  <a:txBody>
                    <a:bodyPr/>
                    <a:lstStyle/>
                    <a:p>
                      <a:pPr algn="ctr">
                        <a:defRPr sz="1000" b="1">
                          <a:solidFill>
                            <a:srgbClr val="006556"/>
                          </a:solidFill>
                          <a:latin typeface="Montserrat"/>
                        </a:defRPr>
                      </a:pPr>
                      <a:r>
                        <a:t>67</a:t>
                      </a:r>
                    </a:p>
                  </a:txBody>
                  <a:tcPr marL="0" marR="0" marT="0" marB="0">
                    <a:solidFill>
                      <a:srgbClr val="D3E9E7"/>
                    </a:solidFill>
                  </a:tcPr>
                </a:tc>
                <a:tc>
                  <a:txBody>
                    <a:bodyPr/>
                    <a:lstStyle/>
                    <a:p>
                      <a:pPr algn="ctr">
                        <a:defRPr sz="1000" b="1">
                          <a:solidFill>
                            <a:srgbClr val="006556"/>
                          </a:solidFill>
                          <a:latin typeface="Montserrat"/>
                        </a:defRPr>
                      </a:pPr>
                      <a:r>
                        <a:t>379,905</a:t>
                      </a:r>
                    </a:p>
                  </a:txBody>
                  <a:tcPr marL="0" marR="0" marT="0" marB="0">
                    <a:solidFill>
                      <a:srgbClr val="D3E9E7"/>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 2025</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49808" y="1984248"/>
            <a:ext cx="1984248" cy="525780"/>
          </a:xfrm>
          <a:prstGeom prst="roundRect">
            <a:avLst/>
          </a:prstGeom>
          <a:solidFill>
            <a:srgbClr val="6011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Montserrat"/>
              </a:defRPr>
            </a:pPr>
            <a:r>
              <a:t>Total</a:t>
            </a:r>
          </a:p>
        </p:txBody>
      </p:sp>
      <p:sp>
        <p:nvSpPr>
          <p:cNvPr id="6" name="Rounded Rectangle 5"/>
          <p:cNvSpPr/>
          <p:nvPr/>
        </p:nvSpPr>
        <p:spPr>
          <a:xfrm>
            <a:off x="749808" y="2510028"/>
            <a:ext cx="1984248" cy="278892"/>
          </a:xfrm>
          <a:prstGeom prst="roundRect">
            <a:avLst/>
          </a:prstGeom>
          <a:solidFill>
            <a:srgbClr val="9F2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Montserrat"/>
              </a:defRPr>
            </a:pPr>
            <a:r>
              <a:t>419</a:t>
            </a:r>
          </a:p>
        </p:txBody>
      </p:sp>
      <p:pic>
        <p:nvPicPr>
          <p:cNvPr id="7" name="Picture 6" descr="Flecha_para_diapositiva_9.png"/>
          <p:cNvPicPr>
            <a:picLocks noChangeAspect="1"/>
          </p:cNvPicPr>
          <p:nvPr/>
        </p:nvPicPr>
        <p:blipFill>
          <a:blip r:embed="rId4"/>
          <a:stretch>
            <a:fillRect/>
          </a:stretch>
        </p:blipFill>
        <p:spPr>
          <a:xfrm>
            <a:off x="3401568" y="2167128"/>
            <a:ext cx="365760" cy="283651"/>
          </a:xfrm>
          <a:prstGeom prst="rect">
            <a:avLst/>
          </a:prstGeom>
        </p:spPr>
      </p:pic>
      <p:sp>
        <p:nvSpPr>
          <p:cNvPr id="8" name="Rounded Rectangle 7"/>
          <p:cNvSpPr/>
          <p:nvPr/>
        </p:nvSpPr>
        <p:spPr>
          <a:xfrm>
            <a:off x="4572000" y="1344168"/>
            <a:ext cx="1984248" cy="52578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9F2241"/>
                </a:solidFill>
                <a:latin typeface="Montserrat"/>
              </a:defRPr>
            </a:pPr>
            <a:r>
              <a:t>Plazas</a:t>
            </a:r>
          </a:p>
        </p:txBody>
      </p:sp>
      <p:sp>
        <p:nvSpPr>
          <p:cNvPr id="9" name="Rounded Rectangle 8"/>
          <p:cNvSpPr/>
          <p:nvPr/>
        </p:nvSpPr>
        <p:spPr>
          <a:xfrm>
            <a:off x="4572000" y="1869948"/>
            <a:ext cx="1984248" cy="278892"/>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Montserrat"/>
              </a:defRPr>
            </a:pPr>
            <a:r>
              <a:t>254</a:t>
            </a:r>
          </a:p>
        </p:txBody>
      </p:sp>
      <p:sp>
        <p:nvSpPr>
          <p:cNvPr id="10" name="Rounded Rectangle 9"/>
          <p:cNvSpPr/>
          <p:nvPr/>
        </p:nvSpPr>
        <p:spPr>
          <a:xfrm>
            <a:off x="4572000" y="2670048"/>
            <a:ext cx="1984248" cy="52578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9F2241"/>
                </a:solidFill>
                <a:latin typeface="Montserrat"/>
              </a:defRPr>
            </a:pPr>
            <a:r>
              <a:t>Sustitución</a:t>
            </a:r>
          </a:p>
        </p:txBody>
      </p:sp>
      <p:sp>
        <p:nvSpPr>
          <p:cNvPr id="11" name="Rounded Rectangle 10"/>
          <p:cNvSpPr/>
          <p:nvPr/>
        </p:nvSpPr>
        <p:spPr>
          <a:xfrm>
            <a:off x="4572000" y="3195828"/>
            <a:ext cx="1984248" cy="278892"/>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Montserrat"/>
              </a:defRPr>
            </a:pPr>
            <a:r>
              <a:t>165</a:t>
            </a:r>
          </a:p>
        </p:txBody>
      </p:sp>
      <p:pic>
        <p:nvPicPr>
          <p:cNvPr id="12" name="Picture 11" descr="Mapa_draft_etiquetas_30.png"/>
          <p:cNvPicPr>
            <a:picLocks noChangeAspect="1"/>
          </p:cNvPicPr>
          <p:nvPr/>
        </p:nvPicPr>
        <p:blipFill>
          <a:blip r:embed="rId5"/>
          <a:stretch>
            <a:fillRect/>
          </a:stretch>
        </p:blipFill>
        <p:spPr>
          <a:xfrm>
            <a:off x="283464" y="3721608"/>
            <a:ext cx="7187184" cy="4714622"/>
          </a:xfrm>
          <a:prstGeom prst="rect">
            <a:avLst/>
          </a:prstGeom>
        </p:spPr>
      </p:pic>
      <p:sp>
        <p:nvSpPr>
          <p:cNvPr id="13" name="TextBox 12"/>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Noto Sans"/>
              </a:defRPr>
            </a:pPr>
            <a:r>
              <a:t>Corte de Información: marzo 2025</a:t>
            </a:r>
          </a:p>
        </p:txBody>
      </p:sp>
    </p:spTree>
    <p:extLst>
      <p:ext uri="{BB962C8B-B14F-4D97-AF65-F5344CB8AC3E}">
        <p14:creationId xmlns:p14="http://schemas.microsoft.com/office/powerpoint/2010/main" val="3828482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2608776540"/>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Meta: </a:t>
                      </a:r>
                      <a:r>
                        <a:rPr lang="es" sz="2100" b="1" u="none" strike="noStrike" cap="none" dirty="0">
                          <a:solidFill>
                            <a:srgbClr val="980000"/>
                          </a:solidFill>
                          <a:latin typeface="Montserrat"/>
                          <a:ea typeface="Montserrat"/>
                          <a:cs typeface="Montserrat"/>
                          <a:sym typeface="Montserrat"/>
                        </a:rPr>
                        <a:t>Cirugías</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Noto Sans"/>
              </a:defRPr>
            </a:pPr>
            <a:r>
              <a:t>Avance alcanzado respecto a la meta establecida para el mismo periodo.</a:t>
            </a:r>
            <a:br/>
            <a:r>
              <a:t>Corte de información: Semana: 9 febrero 2026</a:t>
            </a:r>
          </a:p>
        </p:txBody>
      </p:sp>
      <p:graphicFrame>
        <p:nvGraphicFramePr>
          <p:cNvPr id="233" name="Table 232"/>
          <p:cNvGraphicFramePr>
            <a:graphicFrameLocks noGrp="1"/>
          </p:cNvGraphicFramePr>
          <p:nvPr/>
        </p:nvGraphicFramePr>
        <p:xfrm>
          <a:off x="144000" y="1137600"/>
          <a:ext cx="7477200" cy="5688000"/>
        </p:xfrm>
        <a:graphic>
          <a:graphicData uri="http://schemas.openxmlformats.org/drawingml/2006/table">
            <a:tbl>
              <a:tblPr firstRow="1" bandRow="1">
                <a:tableStyleId>{5C22544A-7EE6-4342-B048-85BDC9FD1C3A}</a:tableStyleId>
              </a:tblPr>
              <a:tblGrid>
                <a:gridCol w="1533600"/>
                <a:gridCol w="968400"/>
                <a:gridCol w="968400"/>
                <a:gridCol w="968400"/>
                <a:gridCol w="968400"/>
                <a:gridCol w="968400"/>
                <a:gridCol w="1101600"/>
              </a:tblGrid>
              <a:tr h="284400">
                <a:tc>
                  <a:txBody>
                    <a:bodyPr/>
                    <a:lstStyle/>
                    <a:p>
                      <a:pPr algn="ctr">
                        <a:defRPr b="1" sz="900">
                          <a:solidFill>
                            <a:srgbClr val="FFFFFF"/>
                          </a:solidFill>
                          <a:latin typeface="Montserrat"/>
                        </a:defRPr>
                      </a:pPr>
                      <a:r>
                        <a:t>Unidad medica</a:t>
                      </a:r>
                    </a:p>
                  </a:txBody>
                  <a:tcPr>
                    <a:solidFill>
                      <a:srgbClr val="FFFFFF"/>
                    </a:solidFill>
                  </a:tcPr>
                </a:tc>
                <a:tc>
                  <a:txBody>
                    <a:bodyPr/>
                    <a:lstStyle/>
                    <a:p>
                      <a:pPr algn="ctr">
                        <a:defRPr b="1" sz="900">
                          <a:solidFill>
                            <a:srgbClr val="FFFFFF"/>
                          </a:solidFill>
                          <a:latin typeface="Montserrat"/>
                        </a:defRPr>
                      </a:pPr>
                      <a:r>
                        <a:t>Qx</a:t>
                      </a:r>
                    </a:p>
                  </a:txBody>
                  <a:tcPr>
                    <a:solidFill>
                      <a:srgbClr val="006455"/>
                    </a:solidFill>
                  </a:tcPr>
                </a:tc>
                <a:tc>
                  <a:txBody>
                    <a:bodyPr/>
                    <a:lstStyle/>
                    <a:p>
                      <a:pPr algn="ctr">
                        <a:defRPr b="1" sz="900">
                          <a:solidFill>
                            <a:srgbClr val="FFFFFF"/>
                          </a:solidFill>
                          <a:latin typeface="Montserrat"/>
                        </a:defRPr>
                      </a:pPr>
                      <a:r>
                        <a:t>Meta anual</a:t>
                      </a:r>
                    </a:p>
                  </a:txBody>
                  <a:tcPr>
                    <a:solidFill>
                      <a:srgbClr val="006455"/>
                    </a:solidFill>
                  </a:tcPr>
                </a:tc>
                <a:tc>
                  <a:txBody>
                    <a:bodyPr/>
                    <a:lstStyle/>
                    <a:p>
                      <a:pPr algn="ctr">
                        <a:defRPr b="1" sz="900">
                          <a:solidFill>
                            <a:srgbClr val="FFFFFF"/>
                          </a:solidFill>
                          <a:latin typeface="Montserrat"/>
                        </a:defRPr>
                      </a:pPr>
                      <a:r>
                        <a:t>Avance a fecha Actual</a:t>
                      </a:r>
                    </a:p>
                  </a:txBody>
                  <a:tcPr>
                    <a:solidFill>
                      <a:srgbClr val="006455"/>
                    </a:solidFill>
                  </a:tcPr>
                </a:tc>
                <a:tc>
                  <a:txBody>
                    <a:bodyPr/>
                    <a:lstStyle/>
                    <a:p>
                      <a:pPr algn="ctr">
                        <a:defRPr b="1" sz="900">
                          <a:solidFill>
                            <a:srgbClr val="FFFFFF"/>
                          </a:solidFill>
                          <a:latin typeface="Montserrat"/>
                        </a:defRPr>
                      </a:pPr>
                      <a:r>
                        <a:t>Meta a fecha Actual</a:t>
                      </a:r>
                    </a:p>
                  </a:txBody>
                  <a:tcPr>
                    <a:solidFill>
                      <a:srgbClr val="006455"/>
                    </a:solidFill>
                  </a:tcPr>
                </a:tc>
                <a:tc>
                  <a:txBody>
                    <a:bodyPr/>
                    <a:lstStyle/>
                    <a:p>
                      <a:pPr algn="ctr">
                        <a:defRPr b="1" sz="900">
                          <a:solidFill>
                            <a:srgbClr val="FFFFFF"/>
                          </a:solidFill>
                          <a:latin typeface="Montserrat"/>
                        </a:defRPr>
                      </a:pPr>
                      <a:r>
                        <a:t>% Avance a mes actual</a:t>
                      </a:r>
                    </a:p>
                  </a:txBody>
                  <a:tcPr>
                    <a:solidFill>
                      <a:srgbClr val="006455"/>
                    </a:solidFill>
                  </a:tcPr>
                </a:tc>
                <a:tc>
                  <a:txBody>
                    <a:bodyPr/>
                    <a:lstStyle/>
                    <a:p>
                      <a:pPr algn="ctr">
                        <a:defRPr b="1" sz="900">
                          <a:solidFill>
                            <a:srgbClr val="FFFFFF"/>
                          </a:solidFill>
                          <a:latin typeface="Montserrat"/>
                        </a:defRPr>
                      </a:pPr>
                      <a:r>
                        <a:t>% Avance anual</a:t>
                      </a:r>
                    </a:p>
                  </a:txBody>
                  <a:tcPr>
                    <a:solidFill>
                      <a:srgbClr val="980000"/>
                    </a:solidFill>
                  </a:tcPr>
                </a:tc>
              </a:tr>
              <a:tr h="284400">
                <a:tc>
                  <a:txBody>
                    <a:bodyPr/>
                    <a:lstStyle/>
                    <a:p>
                      <a:pPr algn="ctr">
                        <a:defRPr sz="1000">
                          <a:latin typeface="Montserrat"/>
                        </a:defRPr>
                      </a:pPr>
                      <a:r>
                        <a:t>HGSMF 33 S. Andrés Tuxtla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1,825</a:t>
                      </a:r>
                    </a:p>
                  </a:txBody>
                  <a:tcPr>
                    <a:solidFill>
                      <a:srgbClr val="FFFFFF"/>
                    </a:solidFill>
                  </a:tcPr>
                </a:tc>
                <a:tc>
                  <a:txBody>
                    <a:bodyPr/>
                    <a:lstStyle/>
                    <a:p>
                      <a:pPr algn="ctr">
                        <a:defRPr sz="1000">
                          <a:latin typeface="Montserrat"/>
                        </a:defRPr>
                      </a:pPr>
                      <a:r>
                        <a:t>188</a:t>
                      </a:r>
                    </a:p>
                  </a:txBody>
                  <a:tcPr>
                    <a:solidFill>
                      <a:srgbClr val="FFFFFF"/>
                    </a:solidFill>
                  </a:tcPr>
                </a:tc>
                <a:tc>
                  <a:txBody>
                    <a:bodyPr/>
                    <a:lstStyle/>
                    <a:p>
                      <a:pPr algn="ctr">
                        <a:defRPr sz="1000">
                          <a:latin typeface="Montserrat"/>
                        </a:defRPr>
                      </a:pPr>
                      <a:r>
                        <a:t>283</a:t>
                      </a:r>
                    </a:p>
                  </a:txBody>
                  <a:tcPr>
                    <a:solidFill>
                      <a:srgbClr val="FFFFFF"/>
                    </a:solidFill>
                  </a:tcPr>
                </a:tc>
                <a:tc>
                  <a:txBody>
                    <a:bodyPr/>
                    <a:lstStyle/>
                    <a:p>
                      <a:pPr algn="ctr">
                        <a:defRPr sz="1000">
                          <a:latin typeface="Montserrat"/>
                        </a:defRPr>
                      </a:pPr>
                      <a:r>
                        <a:t>66%</a:t>
                      </a:r>
                    </a:p>
                  </a:txBody>
                  <a:tcPr>
                    <a:solidFill>
                      <a:srgbClr val="FFFFFF"/>
                    </a:solidFill>
                  </a:tcPr>
                </a:tc>
                <a:tc>
                  <a:txBody>
                    <a:bodyPr/>
                    <a:lstStyle/>
                    <a:p>
                      <a:pPr algn="ctr">
                        <a:defRPr sz="1000">
                          <a:latin typeface="Montserrat"/>
                        </a:defRPr>
                      </a:pPr>
                      <a:r>
                        <a:t>10%</a:t>
                      </a:r>
                    </a:p>
                  </a:txBody>
                  <a:tcPr>
                    <a:solidFill>
                      <a:srgbClr val="FFFFFF"/>
                    </a:solidFill>
                  </a:tcPr>
                </a:tc>
              </a:tr>
              <a:tr h="284400">
                <a:tc>
                  <a:txBody>
                    <a:bodyPr/>
                    <a:lstStyle/>
                    <a:p>
                      <a:pPr algn="ctr">
                        <a:defRPr sz="1000">
                          <a:latin typeface="Montserrat"/>
                        </a:defRPr>
                      </a:pPr>
                      <a:r>
                        <a:t>HGSMF 26 Tuxpan</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1,825</a:t>
                      </a:r>
                    </a:p>
                  </a:txBody>
                  <a:tcPr>
                    <a:solidFill>
                      <a:srgbClr val="EFEFEF"/>
                    </a:solidFill>
                  </a:tcPr>
                </a:tc>
                <a:tc>
                  <a:txBody>
                    <a:bodyPr/>
                    <a:lstStyle/>
                    <a:p>
                      <a:pPr algn="ctr">
                        <a:defRPr sz="1000">
                          <a:latin typeface="Montserrat"/>
                        </a:defRPr>
                      </a:pPr>
                      <a:r>
                        <a:t>187</a:t>
                      </a:r>
                    </a:p>
                  </a:txBody>
                  <a:tcPr>
                    <a:solidFill>
                      <a:srgbClr val="EFEFEF"/>
                    </a:solidFill>
                  </a:tcPr>
                </a:tc>
                <a:tc>
                  <a:txBody>
                    <a:bodyPr/>
                    <a:lstStyle/>
                    <a:p>
                      <a:pPr algn="ctr">
                        <a:defRPr sz="1000">
                          <a:latin typeface="Montserrat"/>
                        </a:defRPr>
                      </a:pPr>
                      <a:r>
                        <a:t>300</a:t>
                      </a:r>
                    </a:p>
                  </a:txBody>
                  <a:tcPr>
                    <a:solidFill>
                      <a:srgbClr val="EFEFEF"/>
                    </a:solidFill>
                  </a:tcPr>
                </a:tc>
                <a:tc>
                  <a:txBody>
                    <a:bodyPr/>
                    <a:lstStyle/>
                    <a:p>
                      <a:pPr algn="ctr">
                        <a:defRPr sz="1000">
                          <a:latin typeface="Montserrat"/>
                        </a:defRPr>
                      </a:pPr>
                      <a:r>
                        <a:t>62%</a:t>
                      </a:r>
                    </a:p>
                  </a:txBody>
                  <a:tcPr>
                    <a:solidFill>
                      <a:srgbClr val="EFEFEF"/>
                    </a:solidFill>
                  </a:tcPr>
                </a:tc>
                <a:tc>
                  <a:txBody>
                    <a:bodyPr/>
                    <a:lstStyle/>
                    <a:p>
                      <a:pPr algn="ctr">
                        <a:defRPr sz="1000">
                          <a:latin typeface="Montserrat"/>
                        </a:defRPr>
                      </a:pPr>
                      <a:r>
                        <a:t>10%</a:t>
                      </a:r>
                    </a:p>
                  </a:txBody>
                  <a:tcPr>
                    <a:solidFill>
                      <a:srgbClr val="EFEFEF"/>
                    </a:solidFill>
                  </a:tcPr>
                </a:tc>
              </a:tr>
              <a:tr h="284400">
                <a:tc>
                  <a:txBody>
                    <a:bodyPr/>
                    <a:lstStyle/>
                    <a:p>
                      <a:pPr algn="ctr">
                        <a:defRPr sz="1000">
                          <a:latin typeface="Montserrat"/>
                        </a:defRPr>
                      </a:pPr>
                      <a:r>
                        <a:t>HGSMF 19 Cosolapa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1,825</a:t>
                      </a:r>
                    </a:p>
                  </a:txBody>
                  <a:tcPr>
                    <a:solidFill>
                      <a:srgbClr val="FFFFFF"/>
                    </a:solidFill>
                  </a:tcPr>
                </a:tc>
                <a:tc>
                  <a:txBody>
                    <a:bodyPr/>
                    <a:lstStyle/>
                    <a:p>
                      <a:pPr algn="ctr">
                        <a:defRPr sz="1000">
                          <a:latin typeface="Montserrat"/>
                        </a:defRPr>
                      </a:pPr>
                      <a:r>
                        <a:t>173</a:t>
                      </a:r>
                    </a:p>
                  </a:txBody>
                  <a:tcPr>
                    <a:solidFill>
                      <a:srgbClr val="FFFFFF"/>
                    </a:solidFill>
                  </a:tcPr>
                </a:tc>
                <a:tc>
                  <a:txBody>
                    <a:bodyPr/>
                    <a:lstStyle/>
                    <a:p>
                      <a:pPr algn="ctr">
                        <a:defRPr sz="1000">
                          <a:latin typeface="Montserrat"/>
                        </a:defRPr>
                      </a:pPr>
                      <a:r>
                        <a:t>205</a:t>
                      </a:r>
                    </a:p>
                  </a:txBody>
                  <a:tcPr>
                    <a:solidFill>
                      <a:srgbClr val="FFFFFF"/>
                    </a:solidFill>
                  </a:tcPr>
                </a:tc>
                <a:tc>
                  <a:txBody>
                    <a:bodyPr/>
                    <a:lstStyle/>
                    <a:p>
                      <a:pPr algn="ctr">
                        <a:defRPr sz="1000">
                          <a:latin typeface="Montserrat"/>
                        </a:defRPr>
                      </a:pPr>
                      <a:r>
                        <a:t>84%</a:t>
                      </a:r>
                    </a:p>
                  </a:txBody>
                  <a:tcPr>
                    <a:solidFill>
                      <a:srgbClr val="FFFFFF"/>
                    </a:solidFill>
                  </a:tcPr>
                </a:tc>
                <a:tc>
                  <a:txBody>
                    <a:bodyPr/>
                    <a:lstStyle/>
                    <a:p>
                      <a:pPr algn="ctr">
                        <a:defRPr sz="1000">
                          <a:latin typeface="Montserrat"/>
                        </a:defRPr>
                      </a:pPr>
                      <a:r>
                        <a:t>9%</a:t>
                      </a:r>
                    </a:p>
                  </a:txBody>
                  <a:tcPr>
                    <a:solidFill>
                      <a:srgbClr val="FFFFFF"/>
                    </a:solidFill>
                  </a:tcPr>
                </a:tc>
              </a:tr>
              <a:tr h="284400">
                <a:tc>
                  <a:txBody>
                    <a:bodyPr/>
                    <a:lstStyle/>
                    <a:p>
                      <a:pPr algn="ctr">
                        <a:defRPr sz="1000">
                          <a:latin typeface="Montserrat"/>
                        </a:defRPr>
                      </a:pPr>
                      <a:r>
                        <a:t>HGZ 71 Veracruz</a:t>
                      </a:r>
                    </a:p>
                  </a:txBody>
                  <a:tcPr>
                    <a:solidFill>
                      <a:srgbClr val="EFEFEF"/>
                    </a:solidFill>
                  </a:tcPr>
                </a:tc>
                <a:tc>
                  <a:txBody>
                    <a:bodyPr/>
                    <a:lstStyle/>
                    <a:p>
                      <a:pPr algn="ctr">
                        <a:defRPr sz="1000">
                          <a:latin typeface="Montserrat"/>
                        </a:defRPr>
                      </a:pPr>
                      <a:r>
                        <a:t>6</a:t>
                      </a:r>
                    </a:p>
                  </a:txBody>
                  <a:tcPr>
                    <a:solidFill>
                      <a:srgbClr val="EFEFEF"/>
                    </a:solidFill>
                  </a:tcPr>
                </a:tc>
                <a:tc>
                  <a:txBody>
                    <a:bodyPr/>
                    <a:lstStyle/>
                    <a:p>
                      <a:pPr algn="ctr">
                        <a:defRPr sz="1000">
                          <a:latin typeface="Montserrat"/>
                        </a:defRPr>
                      </a:pPr>
                      <a:r>
                        <a:t>10,950</a:t>
                      </a:r>
                    </a:p>
                  </a:txBody>
                  <a:tcPr>
                    <a:solidFill>
                      <a:srgbClr val="EFEFEF"/>
                    </a:solidFill>
                  </a:tcPr>
                </a:tc>
                <a:tc>
                  <a:txBody>
                    <a:bodyPr/>
                    <a:lstStyle/>
                    <a:p>
                      <a:pPr algn="ctr">
                        <a:defRPr sz="1000">
                          <a:latin typeface="Montserrat"/>
                        </a:defRPr>
                      </a:pPr>
                      <a:r>
                        <a:t>943</a:t>
                      </a:r>
                    </a:p>
                  </a:txBody>
                  <a:tcPr>
                    <a:solidFill>
                      <a:srgbClr val="EFEFEF"/>
                    </a:solidFill>
                  </a:tcPr>
                </a:tc>
                <a:tc>
                  <a:txBody>
                    <a:bodyPr/>
                    <a:lstStyle/>
                    <a:p>
                      <a:pPr algn="ctr">
                        <a:defRPr sz="1000">
                          <a:latin typeface="Montserrat"/>
                        </a:defRPr>
                      </a:pPr>
                      <a:r>
                        <a:t>1,694</a:t>
                      </a:r>
                    </a:p>
                  </a:txBody>
                  <a:tcPr>
                    <a:solidFill>
                      <a:srgbClr val="EFEFEF"/>
                    </a:solidFill>
                  </a:tcPr>
                </a:tc>
                <a:tc>
                  <a:txBody>
                    <a:bodyPr/>
                    <a:lstStyle/>
                    <a:p>
                      <a:pPr algn="ctr">
                        <a:defRPr sz="1000">
                          <a:latin typeface="Montserrat"/>
                        </a:defRPr>
                      </a:pPr>
                      <a:r>
                        <a:t>56%</a:t>
                      </a:r>
                    </a:p>
                  </a:txBody>
                  <a:tcPr>
                    <a:solidFill>
                      <a:srgbClr val="EFEFEF"/>
                    </a:solidFill>
                  </a:tcPr>
                </a:tc>
                <a:tc>
                  <a:txBody>
                    <a:bodyPr/>
                    <a:lstStyle/>
                    <a:p>
                      <a:pPr algn="ctr">
                        <a:defRPr sz="1000">
                          <a:latin typeface="Montserrat"/>
                        </a:defRPr>
                      </a:pPr>
                      <a:r>
                        <a:t>9%</a:t>
                      </a:r>
                    </a:p>
                  </a:txBody>
                  <a:tcPr>
                    <a:solidFill>
                      <a:srgbClr val="EFEFEF"/>
                    </a:solidFill>
                  </a:tcPr>
                </a:tc>
              </a:tr>
              <a:tr h="284400">
                <a:tc>
                  <a:txBody>
                    <a:bodyPr/>
                    <a:lstStyle/>
                    <a:p>
                      <a:pPr algn="ctr">
                        <a:defRPr sz="1000">
                          <a:latin typeface="Montserrat"/>
                        </a:defRPr>
                      </a:pPr>
                      <a:r>
                        <a:t>HGZ 11 Jalapa.</a:t>
                      </a:r>
                    </a:p>
                  </a:txBody>
                  <a:tcPr>
                    <a:solidFill>
                      <a:srgbClr val="FFFFFF"/>
                    </a:solidFill>
                  </a:tcPr>
                </a:tc>
                <a:tc>
                  <a:txBody>
                    <a:bodyPr/>
                    <a:lstStyle/>
                    <a:p>
                      <a:pPr algn="ctr">
                        <a:defRPr sz="1000">
                          <a:latin typeface="Montserrat"/>
                        </a:defRPr>
                      </a:pPr>
                      <a:r>
                        <a:t>6</a:t>
                      </a:r>
                    </a:p>
                  </a:txBody>
                  <a:tcPr>
                    <a:solidFill>
                      <a:srgbClr val="FFFFFF"/>
                    </a:solidFill>
                  </a:tcPr>
                </a:tc>
                <a:tc>
                  <a:txBody>
                    <a:bodyPr/>
                    <a:lstStyle/>
                    <a:p>
                      <a:pPr algn="ctr">
                        <a:defRPr sz="1000">
                          <a:latin typeface="Montserrat"/>
                        </a:defRPr>
                      </a:pPr>
                      <a:r>
                        <a:t>10,950</a:t>
                      </a:r>
                    </a:p>
                  </a:txBody>
                  <a:tcPr>
                    <a:solidFill>
                      <a:srgbClr val="FFFFFF"/>
                    </a:solidFill>
                  </a:tcPr>
                </a:tc>
                <a:tc>
                  <a:txBody>
                    <a:bodyPr/>
                    <a:lstStyle/>
                    <a:p>
                      <a:pPr algn="ctr">
                        <a:defRPr sz="1000">
                          <a:latin typeface="Montserrat"/>
                        </a:defRPr>
                      </a:pPr>
                      <a:r>
                        <a:t>887</a:t>
                      </a:r>
                    </a:p>
                  </a:txBody>
                  <a:tcPr>
                    <a:solidFill>
                      <a:srgbClr val="FFFFFF"/>
                    </a:solidFill>
                  </a:tcPr>
                </a:tc>
                <a:tc>
                  <a:txBody>
                    <a:bodyPr/>
                    <a:lstStyle/>
                    <a:p>
                      <a:pPr algn="ctr">
                        <a:defRPr sz="1000">
                          <a:latin typeface="Montserrat"/>
                        </a:defRPr>
                      </a:pPr>
                      <a:r>
                        <a:t>1,753</a:t>
                      </a:r>
                    </a:p>
                  </a:txBody>
                  <a:tcPr>
                    <a:solidFill>
                      <a:srgbClr val="FFFFFF"/>
                    </a:solidFill>
                  </a:tcPr>
                </a:tc>
                <a:tc>
                  <a:txBody>
                    <a:bodyPr/>
                    <a:lstStyle/>
                    <a:p>
                      <a:pPr algn="ctr">
                        <a:defRPr sz="1000">
                          <a:latin typeface="Montserrat"/>
                        </a:defRPr>
                      </a:pPr>
                      <a:r>
                        <a:t>51%</a:t>
                      </a:r>
                    </a:p>
                  </a:txBody>
                  <a:tcPr>
                    <a:solidFill>
                      <a:srgbClr val="FFFFFF"/>
                    </a:solidFill>
                  </a:tcPr>
                </a:tc>
                <a:tc>
                  <a:txBody>
                    <a:bodyPr/>
                    <a:lstStyle/>
                    <a:p>
                      <a:pPr algn="ctr">
                        <a:defRPr sz="1000">
                          <a:latin typeface="Montserrat"/>
                        </a:defRPr>
                      </a:pPr>
                      <a:r>
                        <a:t>8%</a:t>
                      </a:r>
                    </a:p>
                  </a:txBody>
                  <a:tcPr>
                    <a:solidFill>
                      <a:srgbClr val="FFFFFF"/>
                    </a:solidFill>
                  </a:tcPr>
                </a:tc>
              </a:tr>
              <a:tr h="284400">
                <a:tc>
                  <a:txBody>
                    <a:bodyPr/>
                    <a:lstStyle/>
                    <a:p>
                      <a:pPr algn="ctr">
                        <a:defRPr sz="1000">
                          <a:latin typeface="Montserrat"/>
                        </a:defRPr>
                      </a:pPr>
                      <a:r>
                        <a:t>HGZMF 32 Minatitlán</a:t>
                      </a:r>
                    </a:p>
                  </a:txBody>
                  <a:tcPr>
                    <a:solidFill>
                      <a:srgbClr val="EFEFEF"/>
                    </a:solidFill>
                  </a:tcPr>
                </a:tc>
                <a:tc>
                  <a:txBody>
                    <a:bodyPr/>
                    <a:lstStyle/>
                    <a:p>
                      <a:pPr algn="ctr">
                        <a:defRPr sz="1000">
                          <a:latin typeface="Montserrat"/>
                        </a:defRPr>
                      </a:pPr>
                      <a:r>
                        <a:t>3</a:t>
                      </a:r>
                    </a:p>
                  </a:txBody>
                  <a:tcPr>
                    <a:solidFill>
                      <a:srgbClr val="EFEFEF"/>
                    </a:solidFill>
                  </a:tcPr>
                </a:tc>
                <a:tc>
                  <a:txBody>
                    <a:bodyPr/>
                    <a:lstStyle/>
                    <a:p>
                      <a:pPr algn="ctr">
                        <a:defRPr sz="1000">
                          <a:latin typeface="Montserrat"/>
                        </a:defRPr>
                      </a:pPr>
                      <a:r>
                        <a:t>5,475</a:t>
                      </a:r>
                    </a:p>
                  </a:txBody>
                  <a:tcPr>
                    <a:solidFill>
                      <a:srgbClr val="EFEFEF"/>
                    </a:solidFill>
                  </a:tcPr>
                </a:tc>
                <a:tc>
                  <a:txBody>
                    <a:bodyPr/>
                    <a:lstStyle/>
                    <a:p>
                      <a:pPr algn="ctr">
                        <a:defRPr sz="1000">
                          <a:latin typeface="Montserrat"/>
                        </a:defRPr>
                      </a:pPr>
                      <a:r>
                        <a:t>422</a:t>
                      </a:r>
                    </a:p>
                  </a:txBody>
                  <a:tcPr>
                    <a:solidFill>
                      <a:srgbClr val="EFEFEF"/>
                    </a:solidFill>
                  </a:tcPr>
                </a:tc>
                <a:tc>
                  <a:txBody>
                    <a:bodyPr/>
                    <a:lstStyle/>
                    <a:p>
                      <a:pPr algn="ctr">
                        <a:defRPr sz="1000">
                          <a:latin typeface="Montserrat"/>
                        </a:defRPr>
                      </a:pPr>
                      <a:r>
                        <a:t>847</a:t>
                      </a:r>
                    </a:p>
                  </a:txBody>
                  <a:tcPr>
                    <a:solidFill>
                      <a:srgbClr val="EFEFEF"/>
                    </a:solidFill>
                  </a:tcPr>
                </a:tc>
                <a:tc>
                  <a:txBody>
                    <a:bodyPr/>
                    <a:lstStyle/>
                    <a:p>
                      <a:pPr algn="ctr">
                        <a:defRPr sz="1000">
                          <a:latin typeface="Montserrat"/>
                        </a:defRPr>
                      </a:pPr>
                      <a:r>
                        <a:t>50%</a:t>
                      </a:r>
                    </a:p>
                  </a:txBody>
                  <a:tcPr>
                    <a:solidFill>
                      <a:srgbClr val="EFEFEF"/>
                    </a:solidFill>
                  </a:tcPr>
                </a:tc>
                <a:tc>
                  <a:txBody>
                    <a:bodyPr/>
                    <a:lstStyle/>
                    <a:p>
                      <a:pPr algn="ctr">
                        <a:defRPr sz="1000">
                          <a:latin typeface="Montserrat"/>
                        </a:defRPr>
                      </a:pPr>
                      <a:r>
                        <a:t>8%</a:t>
                      </a:r>
                    </a:p>
                  </a:txBody>
                  <a:tcPr>
                    <a:solidFill>
                      <a:srgbClr val="EFEFEF"/>
                    </a:solidFill>
                  </a:tcPr>
                </a:tc>
              </a:tr>
              <a:tr h="284400">
                <a:tc>
                  <a:txBody>
                    <a:bodyPr/>
                    <a:lstStyle/>
                    <a:p>
                      <a:pPr algn="ctr">
                        <a:defRPr sz="1000">
                          <a:latin typeface="Montserrat"/>
                        </a:defRPr>
                      </a:pPr>
                      <a:r>
                        <a:t>UMAA 15 Tejería</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3,650</a:t>
                      </a:r>
                    </a:p>
                  </a:txBody>
                  <a:tcPr>
                    <a:solidFill>
                      <a:srgbClr val="FFFFFF"/>
                    </a:solidFill>
                  </a:tcPr>
                </a:tc>
                <a:tc>
                  <a:txBody>
                    <a:bodyPr/>
                    <a:lstStyle/>
                    <a:p>
                      <a:pPr algn="ctr">
                        <a:defRPr sz="1000">
                          <a:latin typeface="Montserrat"/>
                        </a:defRPr>
                      </a:pPr>
                      <a:r>
                        <a:t>279</a:t>
                      </a:r>
                    </a:p>
                  </a:txBody>
                  <a:tcPr>
                    <a:solidFill>
                      <a:srgbClr val="FFFFFF"/>
                    </a:solidFill>
                  </a:tcPr>
                </a:tc>
                <a:tc>
                  <a:txBody>
                    <a:bodyPr/>
                    <a:lstStyle/>
                    <a:p>
                      <a:pPr algn="ctr">
                        <a:defRPr sz="1000">
                          <a:latin typeface="Montserrat"/>
                        </a:defRPr>
                      </a:pPr>
                      <a:r>
                        <a:t>510</a:t>
                      </a:r>
                    </a:p>
                  </a:txBody>
                  <a:tcPr>
                    <a:solidFill>
                      <a:srgbClr val="FFFFFF"/>
                    </a:solidFill>
                  </a:tcPr>
                </a:tc>
                <a:tc>
                  <a:txBody>
                    <a:bodyPr/>
                    <a:lstStyle/>
                    <a:p>
                      <a:pPr algn="ctr">
                        <a:defRPr sz="1000">
                          <a:latin typeface="Montserrat"/>
                        </a:defRPr>
                      </a:pPr>
                      <a:r>
                        <a:t>55%</a:t>
                      </a:r>
                    </a:p>
                  </a:txBody>
                  <a:tcPr>
                    <a:solidFill>
                      <a:srgbClr val="FFFFFF"/>
                    </a:solidFill>
                  </a:tcPr>
                </a:tc>
                <a:tc>
                  <a:txBody>
                    <a:bodyPr/>
                    <a:lstStyle/>
                    <a:p>
                      <a:pPr algn="ctr">
                        <a:defRPr sz="1000">
                          <a:latin typeface="Montserrat"/>
                        </a:defRPr>
                      </a:pPr>
                      <a:r>
                        <a:t>8%</a:t>
                      </a:r>
                    </a:p>
                  </a:txBody>
                  <a:tcPr>
                    <a:solidFill>
                      <a:srgbClr val="FFFFFF"/>
                    </a:solidFill>
                  </a:tcPr>
                </a:tc>
              </a:tr>
              <a:tr h="284400">
                <a:tc>
                  <a:txBody>
                    <a:bodyPr/>
                    <a:lstStyle/>
                    <a:p>
                      <a:pPr algn="ctr">
                        <a:defRPr sz="1000">
                          <a:latin typeface="Montserrat"/>
                        </a:defRPr>
                      </a:pPr>
                      <a:r>
                        <a:t>HGR Orizaba</a:t>
                      </a:r>
                    </a:p>
                  </a:txBody>
                  <a:tcPr>
                    <a:solidFill>
                      <a:srgbClr val="EFEFEF"/>
                    </a:solidFill>
                  </a:tcPr>
                </a:tc>
                <a:tc>
                  <a:txBody>
                    <a:bodyPr/>
                    <a:lstStyle/>
                    <a:p>
                      <a:pPr algn="ctr">
                        <a:defRPr sz="1000">
                          <a:latin typeface="Montserrat"/>
                        </a:defRPr>
                      </a:pPr>
                      <a:r>
                        <a:t>8</a:t>
                      </a:r>
                    </a:p>
                  </a:txBody>
                  <a:tcPr>
                    <a:solidFill>
                      <a:srgbClr val="EFEFEF"/>
                    </a:solidFill>
                  </a:tcPr>
                </a:tc>
                <a:tc>
                  <a:txBody>
                    <a:bodyPr/>
                    <a:lstStyle/>
                    <a:p>
                      <a:pPr algn="ctr">
                        <a:defRPr sz="1000">
                          <a:latin typeface="Montserrat"/>
                        </a:defRPr>
                      </a:pPr>
                      <a:r>
                        <a:t>14,600</a:t>
                      </a:r>
                    </a:p>
                  </a:txBody>
                  <a:tcPr>
                    <a:solidFill>
                      <a:srgbClr val="EFEFEF"/>
                    </a:solidFill>
                  </a:tcPr>
                </a:tc>
                <a:tc>
                  <a:txBody>
                    <a:bodyPr/>
                    <a:lstStyle/>
                    <a:p>
                      <a:pPr algn="ctr">
                        <a:defRPr sz="1000">
                          <a:latin typeface="Montserrat"/>
                        </a:defRPr>
                      </a:pPr>
                      <a:r>
                        <a:t>1,028</a:t>
                      </a:r>
                    </a:p>
                  </a:txBody>
                  <a:tcPr>
                    <a:solidFill>
                      <a:srgbClr val="EFEFEF"/>
                    </a:solidFill>
                  </a:tcPr>
                </a:tc>
                <a:tc>
                  <a:txBody>
                    <a:bodyPr/>
                    <a:lstStyle/>
                    <a:p>
                      <a:pPr algn="ctr">
                        <a:defRPr sz="1000">
                          <a:latin typeface="Montserrat"/>
                        </a:defRPr>
                      </a:pPr>
                      <a:r>
                        <a:t>2,318</a:t>
                      </a:r>
                    </a:p>
                  </a:txBody>
                  <a:tcPr>
                    <a:solidFill>
                      <a:srgbClr val="EFEFEF"/>
                    </a:solidFill>
                  </a:tcPr>
                </a:tc>
                <a:tc>
                  <a:txBody>
                    <a:bodyPr/>
                    <a:lstStyle/>
                    <a:p>
                      <a:pPr algn="ctr">
                        <a:defRPr sz="1000">
                          <a:latin typeface="Montserrat"/>
                        </a:defRPr>
                      </a:pPr>
                      <a:r>
                        <a:t>44%</a:t>
                      </a:r>
                    </a:p>
                  </a:txBody>
                  <a:tcPr>
                    <a:solidFill>
                      <a:srgbClr val="EFEFEF"/>
                    </a:solidFill>
                  </a:tcPr>
                </a:tc>
                <a:tc>
                  <a:txBody>
                    <a:bodyPr/>
                    <a:lstStyle/>
                    <a:p>
                      <a:pPr algn="ctr">
                        <a:defRPr sz="1000">
                          <a:latin typeface="Montserrat"/>
                        </a:defRPr>
                      </a:pPr>
                      <a:r>
                        <a:t>7%</a:t>
                      </a:r>
                    </a:p>
                  </a:txBody>
                  <a:tcPr>
                    <a:solidFill>
                      <a:srgbClr val="EFEFEF"/>
                    </a:solidFill>
                  </a:tcPr>
                </a:tc>
              </a:tr>
              <a:tr h="284400">
                <a:tc>
                  <a:txBody>
                    <a:bodyPr/>
                    <a:lstStyle/>
                    <a:p>
                      <a:pPr algn="ctr">
                        <a:defRPr sz="1000">
                          <a:latin typeface="Montserrat"/>
                        </a:defRPr>
                      </a:pPr>
                      <a:r>
                        <a:t>HGZMF 36 José Cardel</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3,650</a:t>
                      </a:r>
                    </a:p>
                  </a:txBody>
                  <a:tcPr>
                    <a:solidFill>
                      <a:srgbClr val="FFFFFF"/>
                    </a:solidFill>
                  </a:tcPr>
                </a:tc>
                <a:tc>
                  <a:txBody>
                    <a:bodyPr/>
                    <a:lstStyle/>
                    <a:p>
                      <a:pPr algn="ctr">
                        <a:defRPr sz="1000">
                          <a:latin typeface="Montserrat"/>
                        </a:defRPr>
                      </a:pPr>
                      <a:r>
                        <a:t>229</a:t>
                      </a:r>
                    </a:p>
                  </a:txBody>
                  <a:tcPr>
                    <a:solidFill>
                      <a:srgbClr val="FFFFFF"/>
                    </a:solidFill>
                  </a:tcPr>
                </a:tc>
                <a:tc>
                  <a:txBody>
                    <a:bodyPr/>
                    <a:lstStyle/>
                    <a:p>
                      <a:pPr algn="ctr">
                        <a:defRPr sz="1000">
                          <a:latin typeface="Montserrat"/>
                        </a:defRPr>
                      </a:pPr>
                      <a:r>
                        <a:t>445</a:t>
                      </a:r>
                    </a:p>
                  </a:txBody>
                  <a:tcPr>
                    <a:solidFill>
                      <a:srgbClr val="FFFFFF"/>
                    </a:solidFill>
                  </a:tcPr>
                </a:tc>
                <a:tc>
                  <a:txBody>
                    <a:bodyPr/>
                    <a:lstStyle/>
                    <a:p>
                      <a:pPr algn="ctr">
                        <a:defRPr sz="1000">
                          <a:latin typeface="Montserrat"/>
                        </a:defRPr>
                      </a:pPr>
                      <a:r>
                        <a:t>51%</a:t>
                      </a:r>
                    </a:p>
                  </a:txBody>
                  <a:tcPr>
                    <a:solidFill>
                      <a:srgbClr val="FFFFFF"/>
                    </a:solidFill>
                  </a:tcPr>
                </a:tc>
                <a:tc>
                  <a:txBody>
                    <a:bodyPr/>
                    <a:lstStyle/>
                    <a:p>
                      <a:pPr algn="ctr">
                        <a:defRPr sz="1000">
                          <a:latin typeface="Montserrat"/>
                        </a:defRPr>
                      </a:pPr>
                      <a:r>
                        <a:t>6%</a:t>
                      </a:r>
                    </a:p>
                  </a:txBody>
                  <a:tcPr>
                    <a:solidFill>
                      <a:srgbClr val="FFFFFF"/>
                    </a:solidFill>
                  </a:tcPr>
                </a:tc>
              </a:tr>
              <a:tr h="284400">
                <a:tc>
                  <a:txBody>
                    <a:bodyPr/>
                    <a:lstStyle/>
                    <a:p>
                      <a:pPr algn="ctr">
                        <a:defRPr sz="1000">
                          <a:latin typeface="Montserrat"/>
                        </a:defRPr>
                      </a:pPr>
                      <a:r>
                        <a:t>HGZ 8 Córdoba</a:t>
                      </a:r>
                    </a:p>
                  </a:txBody>
                  <a:tcPr>
                    <a:solidFill>
                      <a:srgbClr val="EFEFEF"/>
                    </a:solidFill>
                  </a:tcPr>
                </a:tc>
                <a:tc>
                  <a:txBody>
                    <a:bodyPr/>
                    <a:lstStyle/>
                    <a:p>
                      <a:pPr algn="ctr">
                        <a:defRPr sz="1000">
                          <a:latin typeface="Montserrat"/>
                        </a:defRPr>
                      </a:pPr>
                      <a:r>
                        <a:t>5</a:t>
                      </a:r>
                    </a:p>
                  </a:txBody>
                  <a:tcPr>
                    <a:solidFill>
                      <a:srgbClr val="EFEFEF"/>
                    </a:solidFill>
                  </a:tcPr>
                </a:tc>
                <a:tc>
                  <a:txBody>
                    <a:bodyPr/>
                    <a:lstStyle/>
                    <a:p>
                      <a:pPr algn="ctr">
                        <a:defRPr sz="1000">
                          <a:latin typeface="Montserrat"/>
                        </a:defRPr>
                      </a:pPr>
                      <a:r>
                        <a:t>9,125</a:t>
                      </a:r>
                    </a:p>
                  </a:txBody>
                  <a:tcPr>
                    <a:solidFill>
                      <a:srgbClr val="EFEFEF"/>
                    </a:solidFill>
                  </a:tcPr>
                </a:tc>
                <a:tc>
                  <a:txBody>
                    <a:bodyPr/>
                    <a:lstStyle/>
                    <a:p>
                      <a:pPr algn="ctr">
                        <a:defRPr sz="1000">
                          <a:latin typeface="Montserrat"/>
                        </a:defRPr>
                      </a:pPr>
                      <a:r>
                        <a:t>566</a:t>
                      </a:r>
                    </a:p>
                  </a:txBody>
                  <a:tcPr>
                    <a:solidFill>
                      <a:srgbClr val="EFEFEF"/>
                    </a:solidFill>
                  </a:tcPr>
                </a:tc>
                <a:tc>
                  <a:txBody>
                    <a:bodyPr/>
                    <a:lstStyle/>
                    <a:p>
                      <a:pPr algn="ctr">
                        <a:defRPr sz="1000">
                          <a:latin typeface="Montserrat"/>
                        </a:defRPr>
                      </a:pPr>
                      <a:r>
                        <a:t>1,200</a:t>
                      </a:r>
                    </a:p>
                  </a:txBody>
                  <a:tcPr>
                    <a:solidFill>
                      <a:srgbClr val="EFEFEF"/>
                    </a:solidFill>
                  </a:tcPr>
                </a:tc>
                <a:tc>
                  <a:txBody>
                    <a:bodyPr/>
                    <a:lstStyle/>
                    <a:p>
                      <a:pPr algn="ctr">
                        <a:defRPr sz="1000">
                          <a:latin typeface="Montserrat"/>
                        </a:defRPr>
                      </a:pPr>
                      <a:r>
                        <a:t>47%</a:t>
                      </a:r>
                    </a:p>
                  </a:txBody>
                  <a:tcPr>
                    <a:solidFill>
                      <a:srgbClr val="EFEFEF"/>
                    </a:solidFill>
                  </a:tcPr>
                </a:tc>
                <a:tc>
                  <a:txBody>
                    <a:bodyPr/>
                    <a:lstStyle/>
                    <a:p>
                      <a:pPr algn="ctr">
                        <a:defRPr sz="1000">
                          <a:latin typeface="Montserrat"/>
                        </a:defRPr>
                      </a:pPr>
                      <a:r>
                        <a:t>6%</a:t>
                      </a:r>
                    </a:p>
                  </a:txBody>
                  <a:tcPr>
                    <a:solidFill>
                      <a:srgbClr val="EFEFEF"/>
                    </a:solidFill>
                  </a:tcPr>
                </a:tc>
              </a:tr>
              <a:tr h="284400">
                <a:tc>
                  <a:txBody>
                    <a:bodyPr/>
                    <a:lstStyle/>
                    <a:p>
                      <a:pPr algn="ctr">
                        <a:defRPr sz="1000">
                          <a:latin typeface="Montserrat"/>
                        </a:defRPr>
                      </a:pPr>
                      <a:r>
                        <a:t>HGZMF 35 Cosamaloapan</a:t>
                      </a:r>
                    </a:p>
                  </a:txBody>
                  <a:tcPr>
                    <a:solidFill>
                      <a:srgbClr val="FFFFFF"/>
                    </a:solidFill>
                  </a:tcPr>
                </a:tc>
                <a:tc>
                  <a:txBody>
                    <a:bodyPr/>
                    <a:lstStyle/>
                    <a:p>
                      <a:pPr algn="ctr">
                        <a:defRPr sz="1000">
                          <a:latin typeface="Montserrat"/>
                        </a:defRPr>
                      </a:pPr>
                      <a:r>
                        <a:t>4</a:t>
                      </a:r>
                    </a:p>
                  </a:txBody>
                  <a:tcPr>
                    <a:solidFill>
                      <a:srgbClr val="FFFFFF"/>
                    </a:solidFill>
                  </a:tcPr>
                </a:tc>
                <a:tc>
                  <a:txBody>
                    <a:bodyPr/>
                    <a:lstStyle/>
                    <a:p>
                      <a:pPr algn="ctr">
                        <a:defRPr sz="1000">
                          <a:latin typeface="Montserrat"/>
                        </a:defRPr>
                      </a:pPr>
                      <a:r>
                        <a:t>7,300</a:t>
                      </a:r>
                    </a:p>
                  </a:txBody>
                  <a:tcPr>
                    <a:solidFill>
                      <a:srgbClr val="FFFFFF"/>
                    </a:solidFill>
                  </a:tcPr>
                </a:tc>
                <a:tc>
                  <a:txBody>
                    <a:bodyPr/>
                    <a:lstStyle/>
                    <a:p>
                      <a:pPr algn="ctr">
                        <a:defRPr sz="1000">
                          <a:latin typeface="Montserrat"/>
                        </a:defRPr>
                      </a:pPr>
                      <a:r>
                        <a:t>449</a:t>
                      </a:r>
                    </a:p>
                  </a:txBody>
                  <a:tcPr>
                    <a:solidFill>
                      <a:srgbClr val="FFFFFF"/>
                    </a:solidFill>
                  </a:tcPr>
                </a:tc>
                <a:tc>
                  <a:txBody>
                    <a:bodyPr/>
                    <a:lstStyle/>
                    <a:p>
                      <a:pPr algn="ctr">
                        <a:defRPr sz="1000">
                          <a:latin typeface="Montserrat"/>
                        </a:defRPr>
                      </a:pPr>
                      <a:r>
                        <a:t>890</a:t>
                      </a:r>
                    </a:p>
                  </a:txBody>
                  <a:tcPr>
                    <a:solidFill>
                      <a:srgbClr val="FFFFFF"/>
                    </a:solidFill>
                  </a:tcPr>
                </a:tc>
                <a:tc>
                  <a:txBody>
                    <a:bodyPr/>
                    <a:lstStyle/>
                    <a:p>
                      <a:pPr algn="ctr">
                        <a:defRPr sz="1000">
                          <a:latin typeface="Montserrat"/>
                        </a:defRPr>
                      </a:pPr>
                      <a:r>
                        <a:t>50%</a:t>
                      </a:r>
                    </a:p>
                  </a:txBody>
                  <a:tcPr>
                    <a:solidFill>
                      <a:srgbClr val="FFFFFF"/>
                    </a:solidFill>
                  </a:tcPr>
                </a:tc>
                <a:tc>
                  <a:txBody>
                    <a:bodyPr/>
                    <a:lstStyle/>
                    <a:p>
                      <a:pPr algn="ctr">
                        <a:defRPr sz="1000">
                          <a:latin typeface="Montserrat"/>
                        </a:defRPr>
                      </a:pPr>
                      <a:r>
                        <a:t>6%</a:t>
                      </a:r>
                    </a:p>
                  </a:txBody>
                  <a:tcPr>
                    <a:solidFill>
                      <a:srgbClr val="FFFFFF"/>
                    </a:solidFill>
                  </a:tcPr>
                </a:tc>
              </a:tr>
              <a:tr h="284400">
                <a:tc>
                  <a:txBody>
                    <a:bodyPr/>
                    <a:lstStyle/>
                    <a:p>
                      <a:pPr algn="ctr">
                        <a:defRPr sz="1000">
                          <a:latin typeface="Montserrat"/>
                        </a:defRPr>
                      </a:pPr>
                      <a:r>
                        <a:t>HGZ 24 Poza Rica</a:t>
                      </a:r>
                    </a:p>
                  </a:txBody>
                  <a:tcPr>
                    <a:solidFill>
                      <a:srgbClr val="EFEFEF"/>
                    </a:solidFill>
                  </a:tcPr>
                </a:tc>
                <a:tc>
                  <a:txBody>
                    <a:bodyPr/>
                    <a:lstStyle/>
                    <a:p>
                      <a:pPr algn="ctr">
                        <a:defRPr sz="1000">
                          <a:latin typeface="Montserrat"/>
                        </a:defRPr>
                      </a:pPr>
                      <a:r>
                        <a:t>3</a:t>
                      </a:r>
                    </a:p>
                  </a:txBody>
                  <a:tcPr>
                    <a:solidFill>
                      <a:srgbClr val="EFEFEF"/>
                    </a:solidFill>
                  </a:tcPr>
                </a:tc>
                <a:tc>
                  <a:txBody>
                    <a:bodyPr/>
                    <a:lstStyle/>
                    <a:p>
                      <a:pPr algn="ctr">
                        <a:defRPr sz="1000">
                          <a:latin typeface="Montserrat"/>
                        </a:defRPr>
                      </a:pPr>
                      <a:r>
                        <a:t>5,475</a:t>
                      </a:r>
                    </a:p>
                  </a:txBody>
                  <a:tcPr>
                    <a:solidFill>
                      <a:srgbClr val="EFEFEF"/>
                    </a:solidFill>
                  </a:tcPr>
                </a:tc>
                <a:tc>
                  <a:txBody>
                    <a:bodyPr/>
                    <a:lstStyle/>
                    <a:p>
                      <a:pPr algn="ctr">
                        <a:defRPr sz="1000">
                          <a:latin typeface="Montserrat"/>
                        </a:defRPr>
                      </a:pPr>
                      <a:r>
                        <a:t>323</a:t>
                      </a:r>
                    </a:p>
                  </a:txBody>
                  <a:tcPr>
                    <a:solidFill>
                      <a:srgbClr val="EFEFEF"/>
                    </a:solidFill>
                  </a:tcPr>
                </a:tc>
                <a:tc>
                  <a:txBody>
                    <a:bodyPr/>
                    <a:lstStyle/>
                    <a:p>
                      <a:pPr algn="ctr">
                        <a:defRPr sz="1000">
                          <a:latin typeface="Montserrat"/>
                        </a:defRPr>
                      </a:pPr>
                      <a:r>
                        <a:t>720</a:t>
                      </a:r>
                    </a:p>
                  </a:txBody>
                  <a:tcPr>
                    <a:solidFill>
                      <a:srgbClr val="EFEFEF"/>
                    </a:solidFill>
                  </a:tcPr>
                </a:tc>
                <a:tc>
                  <a:txBody>
                    <a:bodyPr/>
                    <a:lstStyle/>
                    <a:p>
                      <a:pPr algn="ctr">
                        <a:defRPr sz="1000">
                          <a:latin typeface="Montserrat"/>
                        </a:defRPr>
                      </a:pPr>
                      <a:r>
                        <a:t>45%</a:t>
                      </a:r>
                    </a:p>
                  </a:txBody>
                  <a:tcPr>
                    <a:solidFill>
                      <a:srgbClr val="EFEFEF"/>
                    </a:solidFill>
                  </a:tcPr>
                </a:tc>
                <a:tc>
                  <a:txBody>
                    <a:bodyPr/>
                    <a:lstStyle/>
                    <a:p>
                      <a:pPr algn="ctr">
                        <a:defRPr sz="1000">
                          <a:latin typeface="Montserrat"/>
                        </a:defRPr>
                      </a:pPr>
                      <a:r>
                        <a:t>6%</a:t>
                      </a:r>
                    </a:p>
                  </a:txBody>
                  <a:tcPr>
                    <a:solidFill>
                      <a:srgbClr val="EFEFEF"/>
                    </a:solidFill>
                  </a:tcPr>
                </a:tc>
              </a:tr>
              <a:tr h="284400">
                <a:tc>
                  <a:txBody>
                    <a:bodyPr/>
                    <a:lstStyle/>
                    <a:p>
                      <a:pPr algn="ctr">
                        <a:defRPr sz="1000">
                          <a:latin typeface="Montserrat"/>
                        </a:defRPr>
                      </a:pPr>
                      <a:r>
                        <a:t>HGZMF 28 Martínez de la Torre</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3,650</a:t>
                      </a:r>
                    </a:p>
                  </a:txBody>
                  <a:tcPr>
                    <a:solidFill>
                      <a:srgbClr val="FFFFFF"/>
                    </a:solidFill>
                  </a:tcPr>
                </a:tc>
                <a:tc>
                  <a:txBody>
                    <a:bodyPr/>
                    <a:lstStyle/>
                    <a:p>
                      <a:pPr algn="ctr">
                        <a:defRPr sz="1000">
                          <a:latin typeface="Montserrat"/>
                        </a:defRPr>
                      </a:pPr>
                      <a:r>
                        <a:t>215</a:t>
                      </a:r>
                    </a:p>
                  </a:txBody>
                  <a:tcPr>
                    <a:solidFill>
                      <a:srgbClr val="FFFFFF"/>
                    </a:solidFill>
                  </a:tcPr>
                </a:tc>
                <a:tc>
                  <a:txBody>
                    <a:bodyPr/>
                    <a:lstStyle/>
                    <a:p>
                      <a:pPr algn="ctr">
                        <a:defRPr sz="1000">
                          <a:latin typeface="Montserrat"/>
                        </a:defRPr>
                      </a:pPr>
                      <a:r>
                        <a:t>445</a:t>
                      </a:r>
                    </a:p>
                  </a:txBody>
                  <a:tcPr>
                    <a:solidFill>
                      <a:srgbClr val="FFFFFF"/>
                    </a:solidFill>
                  </a:tcPr>
                </a:tc>
                <a:tc>
                  <a:txBody>
                    <a:bodyPr/>
                    <a:lstStyle/>
                    <a:p>
                      <a:pPr algn="ctr">
                        <a:defRPr sz="1000">
                          <a:latin typeface="Montserrat"/>
                        </a:defRPr>
                      </a:pPr>
                      <a:r>
                        <a:t>48%</a:t>
                      </a:r>
                    </a:p>
                  </a:txBody>
                  <a:tcPr>
                    <a:solidFill>
                      <a:srgbClr val="FFFFFF"/>
                    </a:solidFill>
                  </a:tcPr>
                </a:tc>
                <a:tc>
                  <a:txBody>
                    <a:bodyPr/>
                    <a:lstStyle/>
                    <a:p>
                      <a:pPr algn="ctr">
                        <a:defRPr sz="1000">
                          <a:latin typeface="Montserrat"/>
                        </a:defRPr>
                      </a:pPr>
                      <a:r>
                        <a:t>6%</a:t>
                      </a:r>
                    </a:p>
                  </a:txBody>
                  <a:tcPr>
                    <a:solidFill>
                      <a:srgbClr val="FFFFFF"/>
                    </a:solidFill>
                  </a:tcPr>
                </a:tc>
              </a:tr>
              <a:tr h="284400">
                <a:tc>
                  <a:txBody>
                    <a:bodyPr/>
                    <a:lstStyle/>
                    <a:p>
                      <a:pPr algn="ctr">
                        <a:defRPr sz="1000">
                          <a:latin typeface="Montserrat"/>
                        </a:defRPr>
                      </a:pPr>
                      <a:r>
                        <a:t>HGZ 36 Coatzacoalos</a:t>
                      </a:r>
                    </a:p>
                  </a:txBody>
                  <a:tcPr>
                    <a:solidFill>
                      <a:srgbClr val="EFEFEF"/>
                    </a:solidFill>
                  </a:tcPr>
                </a:tc>
                <a:tc>
                  <a:txBody>
                    <a:bodyPr/>
                    <a:lstStyle/>
                    <a:p>
                      <a:pPr algn="ctr">
                        <a:defRPr sz="1000">
                          <a:latin typeface="Montserrat"/>
                        </a:defRPr>
                      </a:pPr>
                      <a:r>
                        <a:t>9</a:t>
                      </a:r>
                    </a:p>
                  </a:txBody>
                  <a:tcPr>
                    <a:solidFill>
                      <a:srgbClr val="EFEFEF"/>
                    </a:solidFill>
                  </a:tcPr>
                </a:tc>
                <a:tc>
                  <a:txBody>
                    <a:bodyPr/>
                    <a:lstStyle/>
                    <a:p>
                      <a:pPr algn="ctr">
                        <a:defRPr sz="1000">
                          <a:latin typeface="Montserrat"/>
                        </a:defRPr>
                      </a:pPr>
                      <a:r>
                        <a:t>16,425</a:t>
                      </a:r>
                    </a:p>
                  </a:txBody>
                  <a:tcPr>
                    <a:solidFill>
                      <a:srgbClr val="EFEFEF"/>
                    </a:solidFill>
                  </a:tcPr>
                </a:tc>
                <a:tc>
                  <a:txBody>
                    <a:bodyPr/>
                    <a:lstStyle/>
                    <a:p>
                      <a:pPr algn="ctr">
                        <a:defRPr sz="1000">
                          <a:latin typeface="Montserrat"/>
                        </a:defRPr>
                      </a:pPr>
                      <a:r>
                        <a:t>918</a:t>
                      </a:r>
                    </a:p>
                  </a:txBody>
                  <a:tcPr>
                    <a:solidFill>
                      <a:srgbClr val="EFEFEF"/>
                    </a:solidFill>
                  </a:tcPr>
                </a:tc>
                <a:tc>
                  <a:txBody>
                    <a:bodyPr/>
                    <a:lstStyle/>
                    <a:p>
                      <a:pPr algn="ctr">
                        <a:defRPr sz="1000">
                          <a:latin typeface="Montserrat"/>
                        </a:defRPr>
                      </a:pPr>
                      <a:r>
                        <a:t>2,001</a:t>
                      </a:r>
                    </a:p>
                  </a:txBody>
                  <a:tcPr>
                    <a:solidFill>
                      <a:srgbClr val="EFEFEF"/>
                    </a:solidFill>
                  </a:tcPr>
                </a:tc>
                <a:tc>
                  <a:txBody>
                    <a:bodyPr/>
                    <a:lstStyle/>
                    <a:p>
                      <a:pPr algn="ctr">
                        <a:defRPr sz="1000">
                          <a:latin typeface="Montserrat"/>
                        </a:defRPr>
                      </a:pPr>
                      <a:r>
                        <a:t>46%</a:t>
                      </a:r>
                    </a:p>
                  </a:txBody>
                  <a:tcPr>
                    <a:solidFill>
                      <a:srgbClr val="EFEFEF"/>
                    </a:solidFill>
                  </a:tcPr>
                </a:tc>
                <a:tc>
                  <a:txBody>
                    <a:bodyPr/>
                    <a:lstStyle/>
                    <a:p>
                      <a:pPr algn="ctr">
                        <a:defRPr sz="1000">
                          <a:latin typeface="Montserrat"/>
                        </a:defRPr>
                      </a:pPr>
                      <a:r>
                        <a:t>6%</a:t>
                      </a:r>
                    </a:p>
                  </a:txBody>
                  <a:tcPr>
                    <a:solidFill>
                      <a:srgbClr val="EFEFEF"/>
                    </a:solidFill>
                  </a:tcPr>
                </a:tc>
              </a:tr>
              <a:tr h="284400">
                <a:tc>
                  <a:txBody>
                    <a:bodyPr/>
                    <a:lstStyle/>
                    <a:p>
                      <a:pPr algn="ctr">
                        <a:defRPr sz="1000">
                          <a:latin typeface="Montserrat"/>
                        </a:defRPr>
                      </a:pPr>
                      <a:r>
                        <a:t>HGZMF 50 Lerdo Tejada</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3,650</a:t>
                      </a:r>
                    </a:p>
                  </a:txBody>
                  <a:tcPr>
                    <a:solidFill>
                      <a:srgbClr val="FFFFFF"/>
                    </a:solidFill>
                  </a:tcPr>
                </a:tc>
                <a:tc>
                  <a:txBody>
                    <a:bodyPr/>
                    <a:lstStyle/>
                    <a:p>
                      <a:pPr algn="ctr">
                        <a:defRPr sz="1000">
                          <a:latin typeface="Montserrat"/>
                        </a:defRPr>
                      </a:pPr>
                      <a:r>
                        <a:t>200</a:t>
                      </a:r>
                    </a:p>
                  </a:txBody>
                  <a:tcPr>
                    <a:solidFill>
                      <a:srgbClr val="FFFFFF"/>
                    </a:solidFill>
                  </a:tcPr>
                </a:tc>
                <a:tc>
                  <a:txBody>
                    <a:bodyPr/>
                    <a:lstStyle/>
                    <a:p>
                      <a:pPr algn="ctr">
                        <a:defRPr sz="1000">
                          <a:latin typeface="Montserrat"/>
                        </a:defRPr>
                      </a:pPr>
                      <a:r>
                        <a:t>445</a:t>
                      </a:r>
                    </a:p>
                  </a:txBody>
                  <a:tcPr>
                    <a:solidFill>
                      <a:srgbClr val="FFFFFF"/>
                    </a:solidFill>
                  </a:tcPr>
                </a:tc>
                <a:tc>
                  <a:txBody>
                    <a:bodyPr/>
                    <a:lstStyle/>
                    <a:p>
                      <a:pPr algn="ctr">
                        <a:defRPr sz="1000">
                          <a:latin typeface="Montserrat"/>
                        </a:defRPr>
                      </a:pPr>
                      <a:r>
                        <a:t>45%</a:t>
                      </a:r>
                    </a:p>
                  </a:txBody>
                  <a:tcPr>
                    <a:solidFill>
                      <a:srgbClr val="FFFFFF"/>
                    </a:solidFill>
                  </a:tcPr>
                </a:tc>
                <a:tc>
                  <a:txBody>
                    <a:bodyPr/>
                    <a:lstStyle/>
                    <a:p>
                      <a:pPr algn="ctr">
                        <a:defRPr sz="1000">
                          <a:latin typeface="Montserrat"/>
                        </a:defRPr>
                      </a:pPr>
                      <a:r>
                        <a:t>5%</a:t>
                      </a:r>
                    </a:p>
                  </a:txBody>
                  <a:tcPr>
                    <a:solidFill>
                      <a:srgbClr val="FFFFFF"/>
                    </a:solidFill>
                  </a:tcPr>
                </a:tc>
              </a:tr>
              <a:tr h="284400">
                <a:tc>
                  <a:txBody>
                    <a:bodyPr/>
                    <a:lstStyle/>
                    <a:p>
                      <a:pPr algn="ctr">
                        <a:defRPr sz="1000">
                          <a:latin typeface="Montserrat"/>
                        </a:defRPr>
                      </a:pPr>
                      <a:r>
                        <a:t>HGSMF 12 Potrero</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3,650</a:t>
                      </a:r>
                    </a:p>
                  </a:txBody>
                  <a:tcPr>
                    <a:solidFill>
                      <a:srgbClr val="EFEFEF"/>
                    </a:solidFill>
                  </a:tcPr>
                </a:tc>
                <a:tc>
                  <a:txBody>
                    <a:bodyPr/>
                    <a:lstStyle/>
                    <a:p>
                      <a:pPr algn="ctr">
                        <a:defRPr sz="1000">
                          <a:latin typeface="Montserrat"/>
                        </a:defRPr>
                      </a:pPr>
                      <a:r>
                        <a:t>165</a:t>
                      </a:r>
                    </a:p>
                  </a:txBody>
                  <a:tcPr>
                    <a:solidFill>
                      <a:srgbClr val="EFEFEF"/>
                    </a:solidFill>
                  </a:tcPr>
                </a:tc>
                <a:tc>
                  <a:txBody>
                    <a:bodyPr/>
                    <a:lstStyle/>
                    <a:p>
                      <a:pPr algn="ctr">
                        <a:defRPr sz="1000">
                          <a:latin typeface="Montserrat"/>
                        </a:defRPr>
                      </a:pPr>
                      <a:r>
                        <a:t>255</a:t>
                      </a:r>
                    </a:p>
                  </a:txBody>
                  <a:tcPr>
                    <a:solidFill>
                      <a:srgbClr val="EFEFEF"/>
                    </a:solidFill>
                  </a:tcPr>
                </a:tc>
                <a:tc>
                  <a:txBody>
                    <a:bodyPr/>
                    <a:lstStyle/>
                    <a:p>
                      <a:pPr algn="ctr">
                        <a:defRPr sz="1000">
                          <a:latin typeface="Montserrat"/>
                        </a:defRPr>
                      </a:pPr>
                      <a:r>
                        <a:t>65%</a:t>
                      </a:r>
                    </a:p>
                  </a:txBody>
                  <a:tcPr>
                    <a:solidFill>
                      <a:srgbClr val="EFEFEF"/>
                    </a:solidFill>
                  </a:tcPr>
                </a:tc>
                <a:tc>
                  <a:txBody>
                    <a:bodyPr/>
                    <a:lstStyle/>
                    <a:p>
                      <a:pPr algn="ctr">
                        <a:defRPr sz="1000">
                          <a:latin typeface="Montserrat"/>
                        </a:defRPr>
                      </a:pPr>
                      <a:r>
                        <a:t>5%</a:t>
                      </a:r>
                    </a:p>
                  </a:txBody>
                  <a:tcPr>
                    <a:solidFill>
                      <a:srgbClr val="EFEFEF"/>
                    </a:solidFill>
                  </a:tcPr>
                </a:tc>
              </a:tr>
              <a:tr h="284400">
                <a:tc>
                  <a:txBody>
                    <a:bodyPr/>
                    <a:lstStyle/>
                    <a:p>
                      <a:pPr algn="ctr">
                        <a:defRPr sz="1000">
                          <a:latin typeface="Montserrat"/>
                        </a:defRPr>
                      </a:pPr>
                      <a:r>
                        <a:t>HGSMF 16 Omealca</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3,650</a:t>
                      </a:r>
                    </a:p>
                  </a:txBody>
                  <a:tcPr>
                    <a:solidFill>
                      <a:srgbClr val="FFFFFF"/>
                    </a:solidFill>
                  </a:tcPr>
                </a:tc>
                <a:tc>
                  <a:txBody>
                    <a:bodyPr/>
                    <a:lstStyle/>
                    <a:p>
                      <a:pPr algn="ctr">
                        <a:defRPr sz="1000">
                          <a:latin typeface="Montserrat"/>
                        </a:defRPr>
                      </a:pPr>
                      <a:r>
                        <a:t>128</a:t>
                      </a:r>
                    </a:p>
                  </a:txBody>
                  <a:tcPr>
                    <a:solidFill>
                      <a:srgbClr val="FFFFFF"/>
                    </a:solidFill>
                  </a:tcPr>
                </a:tc>
                <a:tc>
                  <a:txBody>
                    <a:bodyPr/>
                    <a:lstStyle/>
                    <a:p>
                      <a:pPr algn="ctr">
                        <a:defRPr sz="1000">
                          <a:latin typeface="Montserrat"/>
                        </a:defRPr>
                      </a:pPr>
                      <a:r>
                        <a:t>255</a:t>
                      </a:r>
                    </a:p>
                  </a:txBody>
                  <a:tcPr>
                    <a:solidFill>
                      <a:srgbClr val="FFFFFF"/>
                    </a:solidFill>
                  </a:tcPr>
                </a:tc>
                <a:tc>
                  <a:txBody>
                    <a:bodyPr/>
                    <a:lstStyle/>
                    <a:p>
                      <a:pPr algn="ctr">
                        <a:defRPr sz="1000">
                          <a:latin typeface="Montserrat"/>
                        </a:defRPr>
                      </a:pPr>
                      <a:r>
                        <a:t>50%</a:t>
                      </a:r>
                    </a:p>
                  </a:txBody>
                  <a:tcPr>
                    <a:solidFill>
                      <a:srgbClr val="FFFFFF"/>
                    </a:solidFill>
                  </a:tcPr>
                </a:tc>
                <a:tc>
                  <a:txBody>
                    <a:bodyPr/>
                    <a:lstStyle/>
                    <a:p>
                      <a:pPr algn="ctr">
                        <a:defRPr sz="1000">
                          <a:latin typeface="Montserrat"/>
                        </a:defRPr>
                      </a:pPr>
                      <a:r>
                        <a:t>4%</a:t>
                      </a:r>
                    </a:p>
                  </a:txBody>
                  <a:tcPr>
                    <a:solidFill>
                      <a:srgbClr val="FFFFFF"/>
                    </a:solidFill>
                  </a:tcPr>
                </a:tc>
              </a:tr>
              <a:tr h="284400">
                <a:tc>
                  <a:txBody>
                    <a:bodyPr/>
                    <a:lstStyle/>
                    <a:p>
                      <a:pPr algn="ctr">
                        <a:defRPr sz="1000">
                          <a:latin typeface="Montserrat"/>
                        </a:defRPr>
                      </a:pPr>
                      <a:r>
                        <a:t>HGS 33 Tierra Blanca</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3,650</a:t>
                      </a:r>
                    </a:p>
                  </a:txBody>
                  <a:tcPr>
                    <a:solidFill>
                      <a:srgbClr val="EFEFEF"/>
                    </a:solidFill>
                  </a:tcPr>
                </a:tc>
                <a:tc>
                  <a:txBody>
                    <a:bodyPr/>
                    <a:lstStyle/>
                    <a:p>
                      <a:pPr algn="ctr">
                        <a:defRPr sz="1000">
                          <a:latin typeface="Montserrat"/>
                        </a:defRPr>
                      </a:pPr>
                      <a:r>
                        <a:t>99</a:t>
                      </a:r>
                    </a:p>
                  </a:txBody>
                  <a:tcPr>
                    <a:solidFill>
                      <a:srgbClr val="EFEFEF"/>
                    </a:solidFill>
                  </a:tcPr>
                </a:tc>
                <a:tc>
                  <a:txBody>
                    <a:bodyPr/>
                    <a:lstStyle/>
                    <a:p>
                      <a:pPr algn="ctr">
                        <a:defRPr sz="1000">
                          <a:latin typeface="Montserrat"/>
                        </a:defRPr>
                      </a:pPr>
                      <a:r>
                        <a:t>410</a:t>
                      </a:r>
                    </a:p>
                  </a:txBody>
                  <a:tcPr>
                    <a:solidFill>
                      <a:srgbClr val="EFEFEF"/>
                    </a:solidFill>
                  </a:tcPr>
                </a:tc>
                <a:tc>
                  <a:txBody>
                    <a:bodyPr/>
                    <a:lstStyle/>
                    <a:p>
                      <a:pPr algn="ctr">
                        <a:defRPr sz="1000">
                          <a:latin typeface="Montserrat"/>
                        </a:defRPr>
                      </a:pPr>
                      <a:r>
                        <a:t>24%</a:t>
                      </a:r>
                    </a:p>
                  </a:txBody>
                  <a:tcPr>
                    <a:solidFill>
                      <a:srgbClr val="EFEFEF"/>
                    </a:solidFill>
                  </a:tcPr>
                </a:tc>
                <a:tc>
                  <a:txBody>
                    <a:bodyPr/>
                    <a:lstStyle/>
                    <a:p>
                      <a:pPr algn="ctr">
                        <a:defRPr sz="1000">
                          <a:latin typeface="Montserrat"/>
                        </a:defRPr>
                      </a:pPr>
                      <a:r>
                        <a:t>3%</a:t>
                      </a:r>
                    </a:p>
                  </a:txBody>
                  <a:tcPr>
                    <a:solidFill>
                      <a:srgbClr val="EFEFEF"/>
                    </a:solidFill>
                  </a:tcPr>
                </a:tc>
              </a:tr>
              <a:tr h="284400">
                <a:tc>
                  <a:txBody>
                    <a:bodyPr/>
                    <a:lstStyle/>
                    <a:p>
                      <a:pPr algn="ctr">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61</a:t>
                      </a:r>
                    </a:p>
                  </a:txBody>
                  <a:tcPr>
                    <a:solidFill>
                      <a:srgbClr val="D3E9E7"/>
                    </a:solidFill>
                  </a:tcPr>
                </a:tc>
                <a:tc>
                  <a:txBody>
                    <a:bodyPr/>
                    <a:lstStyle/>
                    <a:p>
                      <a:pPr algn="ctr">
                        <a:defRPr sz="1000" b="1">
                          <a:solidFill>
                            <a:srgbClr val="006556"/>
                          </a:solidFill>
                          <a:latin typeface="Montserrat"/>
                        </a:defRPr>
                      </a:pPr>
                      <a:r>
                        <a:t>111,325</a:t>
                      </a:r>
                    </a:p>
                  </a:txBody>
                  <a:tcPr>
                    <a:solidFill>
                      <a:srgbClr val="D3E9E7"/>
                    </a:solidFill>
                  </a:tcPr>
                </a:tc>
                <a:tc>
                  <a:txBody>
                    <a:bodyPr/>
                    <a:lstStyle/>
                    <a:p>
                      <a:pPr algn="ctr">
                        <a:defRPr sz="1000" b="1">
                          <a:solidFill>
                            <a:srgbClr val="006556"/>
                          </a:solidFill>
                          <a:latin typeface="Montserrat"/>
                        </a:defRPr>
                      </a:pPr>
                      <a:r>
                        <a:t>7,399</a:t>
                      </a:r>
                    </a:p>
                  </a:txBody>
                  <a:tcPr>
                    <a:solidFill>
                      <a:srgbClr val="D3E9E7"/>
                    </a:solidFill>
                  </a:tcPr>
                </a:tc>
                <a:tc>
                  <a:txBody>
                    <a:bodyPr/>
                    <a:lstStyle/>
                    <a:p>
                      <a:pPr algn="ctr">
                        <a:defRPr sz="1000" b="1">
                          <a:solidFill>
                            <a:srgbClr val="006556"/>
                          </a:solidFill>
                          <a:latin typeface="Montserrat"/>
                        </a:defRPr>
                      </a:pPr>
                      <a:r>
                        <a:t>14,976</a:t>
                      </a:r>
                    </a:p>
                  </a:txBody>
                  <a:tcPr>
                    <a:solidFill>
                      <a:srgbClr val="D3E9E7"/>
                    </a:solidFill>
                  </a:tcPr>
                </a:tc>
                <a:tc>
                  <a:txBody>
                    <a:bodyPr/>
                    <a:lstStyle/>
                    <a:p>
                      <a:pPr algn="ctr">
                        <a:defRPr sz="1000" b="1">
                          <a:solidFill>
                            <a:srgbClr val="006556"/>
                          </a:solidFill>
                          <a:latin typeface="Montserrat"/>
                        </a:defRPr>
                      </a:pPr>
                      <a:r>
                        <a:t>52%</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411541327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Meta</a:t>
                      </a:r>
                      <a:r>
                        <a:rPr lang="es" sz="2100" b="1" u="none" strike="noStrike" cap="none">
                          <a:solidFill>
                            <a:srgbClr val="BC955C"/>
                          </a:solidFill>
                          <a:latin typeface="Montserrat"/>
                          <a:ea typeface="Montserrat"/>
                          <a:cs typeface="Montserrat"/>
                          <a:sym typeface="Montserrat"/>
                        </a:rPr>
                        <a:t>: </a:t>
                      </a:r>
                      <a:r>
                        <a:rPr lang="es" sz="2100" b="1" u="none" strike="noStrike" cap="none">
                          <a:solidFill>
                            <a:srgbClr val="980000"/>
                          </a:solidFill>
                          <a:latin typeface="Montserrat"/>
                          <a:ea typeface="Montserrat"/>
                          <a:cs typeface="Montserrat"/>
                          <a:sym typeface="Montserrat"/>
                        </a:rPr>
                        <a:t>Consultas </a:t>
                      </a:r>
                      <a:r>
                        <a:rPr lang="es" sz="2100" b="1" u="none" strike="noStrike" cap="none" dirty="0">
                          <a:solidFill>
                            <a:srgbClr val="980000"/>
                          </a:solidFill>
                          <a:latin typeface="Montserrat"/>
                          <a:ea typeface="Montserrat"/>
                          <a:cs typeface="Montserrat"/>
                          <a:sym typeface="Montserrat"/>
                        </a:rPr>
                        <a:t>de especialidad</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Noto Sans"/>
              </a:defRPr>
            </a:pPr>
            <a:r>
              <a:t>Avance alcanzado respecto a la meta establecida para el mismo periodo.</a:t>
            </a:r>
            <a:br/>
            <a:r>
              <a:t>Corte de información: Semana: 9 febrero 2026</a:t>
            </a:r>
          </a:p>
        </p:txBody>
      </p:sp>
      <p:graphicFrame>
        <p:nvGraphicFramePr>
          <p:cNvPr id="233" name="Table 232"/>
          <p:cNvGraphicFramePr>
            <a:graphicFrameLocks noGrp="1"/>
          </p:cNvGraphicFramePr>
          <p:nvPr/>
        </p:nvGraphicFramePr>
        <p:xfrm>
          <a:off x="144000" y="1137600"/>
          <a:ext cx="7477200" cy="5688000"/>
        </p:xfrm>
        <a:graphic>
          <a:graphicData uri="http://schemas.openxmlformats.org/drawingml/2006/table">
            <a:tbl>
              <a:tblPr firstRow="1" bandRow="1">
                <a:tableStyleId>{5C22544A-7EE6-4342-B048-85BDC9FD1C3A}</a:tableStyleId>
              </a:tblPr>
              <a:tblGrid>
                <a:gridCol w="1533600"/>
                <a:gridCol w="968400"/>
                <a:gridCol w="968400"/>
                <a:gridCol w="968400"/>
                <a:gridCol w="968400"/>
                <a:gridCol w="968400"/>
                <a:gridCol w="1101600"/>
              </a:tblGrid>
              <a:tr h="284400">
                <a:tc>
                  <a:txBody>
                    <a:bodyPr/>
                    <a:lstStyle/>
                    <a:p>
                      <a:pPr algn="ctr">
                        <a:defRPr b="1" sz="900">
                          <a:solidFill>
                            <a:srgbClr val="FFFFFF"/>
                          </a:solidFill>
                          <a:latin typeface="Montserrat"/>
                        </a:defRPr>
                      </a:pPr>
                      <a:r>
                        <a:t>Unidad medica</a:t>
                      </a:r>
                    </a:p>
                  </a:txBody>
                  <a:tcPr>
                    <a:solidFill>
                      <a:srgbClr val="FFFFFF"/>
                    </a:solidFill>
                  </a:tcPr>
                </a:tc>
                <a:tc>
                  <a:txBody>
                    <a:bodyPr/>
                    <a:lstStyle/>
                    <a:p>
                      <a:pPr algn="ctr">
                        <a:defRPr b="1" sz="900">
                          <a:solidFill>
                            <a:srgbClr val="FFFFFF"/>
                          </a:solidFill>
                          <a:latin typeface="Montserrat"/>
                        </a:defRPr>
                      </a:pPr>
                      <a:r>
                        <a:t>Consultorios</a:t>
                      </a:r>
                    </a:p>
                  </a:txBody>
                  <a:tcPr>
                    <a:solidFill>
                      <a:srgbClr val="006455"/>
                    </a:solidFill>
                  </a:tcPr>
                </a:tc>
                <a:tc>
                  <a:txBody>
                    <a:bodyPr/>
                    <a:lstStyle/>
                    <a:p>
                      <a:pPr algn="ctr">
                        <a:defRPr b="1" sz="900">
                          <a:solidFill>
                            <a:srgbClr val="FFFFFF"/>
                          </a:solidFill>
                          <a:latin typeface="Montserrat"/>
                        </a:defRPr>
                      </a:pPr>
                      <a:r>
                        <a:t>Meta Anual</a:t>
                      </a:r>
                    </a:p>
                  </a:txBody>
                  <a:tcPr>
                    <a:solidFill>
                      <a:srgbClr val="006455"/>
                    </a:solidFill>
                  </a:tcPr>
                </a:tc>
                <a:tc>
                  <a:txBody>
                    <a:bodyPr/>
                    <a:lstStyle/>
                    <a:p>
                      <a:pPr algn="ctr">
                        <a:defRPr b="1" sz="900">
                          <a:solidFill>
                            <a:srgbClr val="FFFFFF"/>
                          </a:solidFill>
                          <a:latin typeface="Montserrat"/>
                        </a:defRPr>
                      </a:pPr>
                      <a:r>
                        <a:t>Atenciones a la fecha</a:t>
                      </a:r>
                    </a:p>
                  </a:txBody>
                  <a:tcPr>
                    <a:solidFill>
                      <a:srgbClr val="006455"/>
                    </a:solidFill>
                  </a:tcPr>
                </a:tc>
                <a:tc>
                  <a:txBody>
                    <a:bodyPr/>
                    <a:lstStyle/>
                    <a:p>
                      <a:pPr algn="ctr">
                        <a:defRPr b="1" sz="900">
                          <a:solidFill>
                            <a:srgbClr val="FFFFFF"/>
                          </a:solidFill>
                          <a:latin typeface="Montserrat"/>
                        </a:defRPr>
                      </a:pPr>
                      <a:r>
                        <a:t>Meta a la fecha</a:t>
                      </a:r>
                    </a:p>
                  </a:txBody>
                  <a:tcPr>
                    <a:solidFill>
                      <a:srgbClr val="006455"/>
                    </a:solidFill>
                  </a:tcPr>
                </a:tc>
                <a:tc>
                  <a:txBody>
                    <a:bodyPr/>
                    <a:lstStyle/>
                    <a:p>
                      <a:pPr algn="ctr">
                        <a:defRPr b="1" sz="900">
                          <a:solidFill>
                            <a:srgbClr val="FFFFFF"/>
                          </a:solidFill>
                          <a:latin typeface="Montserrat"/>
                        </a:defRPr>
                      </a:pPr>
                      <a:r>
                        <a:t>% Avance a mes actual</a:t>
                      </a:r>
                    </a:p>
                  </a:txBody>
                  <a:tcPr>
                    <a:solidFill>
                      <a:srgbClr val="006455"/>
                    </a:solidFill>
                  </a:tcPr>
                </a:tc>
                <a:tc>
                  <a:txBody>
                    <a:bodyPr/>
                    <a:lstStyle/>
                    <a:p>
                      <a:pPr algn="ctr">
                        <a:defRPr b="1" sz="900">
                          <a:solidFill>
                            <a:srgbClr val="FFFFFF"/>
                          </a:solidFill>
                          <a:latin typeface="Montserrat"/>
                        </a:defRPr>
                      </a:pPr>
                      <a:r>
                        <a:t>% Avance anual</a:t>
                      </a:r>
                    </a:p>
                  </a:txBody>
                  <a:tcPr>
                    <a:solidFill>
                      <a:srgbClr val="980000"/>
                    </a:solidFill>
                  </a:tcPr>
                </a:tc>
              </a:tr>
              <a:tr h="284400">
                <a:tc>
                  <a:txBody>
                    <a:bodyPr/>
                    <a:lstStyle/>
                    <a:p>
                      <a:pPr algn="ctr">
                        <a:defRPr sz="1000">
                          <a:latin typeface="Montserrat"/>
                        </a:defRPr>
                      </a:pPr>
                      <a:r>
                        <a:t>HGSMF 12 Potrero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6,570</a:t>
                      </a:r>
                    </a:p>
                  </a:txBody>
                  <a:tcPr>
                    <a:solidFill>
                      <a:srgbClr val="FFFFFF"/>
                    </a:solidFill>
                  </a:tcPr>
                </a:tc>
                <a:tc>
                  <a:txBody>
                    <a:bodyPr/>
                    <a:lstStyle/>
                    <a:p>
                      <a:pPr algn="ctr">
                        <a:defRPr sz="1000">
                          <a:latin typeface="Montserrat"/>
                        </a:defRPr>
                      </a:pPr>
                      <a:r>
                        <a:t>850</a:t>
                      </a:r>
                    </a:p>
                  </a:txBody>
                  <a:tcPr>
                    <a:solidFill>
                      <a:srgbClr val="FFFFFF"/>
                    </a:solidFill>
                  </a:tcPr>
                </a:tc>
                <a:tc>
                  <a:txBody>
                    <a:bodyPr/>
                    <a:lstStyle/>
                    <a:p>
                      <a:pPr algn="ctr">
                        <a:defRPr sz="1000">
                          <a:latin typeface="Montserrat"/>
                        </a:defRPr>
                      </a:pPr>
                      <a:r>
                        <a:t>2,124</a:t>
                      </a:r>
                    </a:p>
                  </a:txBody>
                  <a:tcPr>
                    <a:solidFill>
                      <a:srgbClr val="FFFFFF"/>
                    </a:solidFill>
                  </a:tcPr>
                </a:tc>
                <a:tc>
                  <a:txBody>
                    <a:bodyPr/>
                    <a:lstStyle/>
                    <a:p>
                      <a:pPr algn="ctr">
                        <a:defRPr sz="1000">
                          <a:latin typeface="Montserrat"/>
                        </a:defRPr>
                      </a:pPr>
                      <a:r>
                        <a:t>40%</a:t>
                      </a:r>
                    </a:p>
                  </a:txBody>
                  <a:tcPr>
                    <a:solidFill>
                      <a:srgbClr val="FFFFFF"/>
                    </a:solidFill>
                  </a:tcPr>
                </a:tc>
                <a:tc>
                  <a:txBody>
                    <a:bodyPr/>
                    <a:lstStyle/>
                    <a:p>
                      <a:pPr algn="ctr">
                        <a:defRPr sz="1000">
                          <a:latin typeface="Montserrat"/>
                        </a:defRPr>
                      </a:pPr>
                      <a:r>
                        <a:t>13%</a:t>
                      </a:r>
                    </a:p>
                  </a:txBody>
                  <a:tcPr>
                    <a:solidFill>
                      <a:srgbClr val="FFFFFF"/>
                    </a:solidFill>
                  </a:tcPr>
                </a:tc>
              </a:tr>
              <a:tr h="284400">
                <a:tc>
                  <a:txBody>
                    <a:bodyPr/>
                    <a:lstStyle/>
                    <a:p>
                      <a:pPr algn="ctr">
                        <a:defRPr sz="1000">
                          <a:latin typeface="Montserrat"/>
                        </a:defRPr>
                      </a:pPr>
                      <a:r>
                        <a:t>HGZMF 32 Minatitlán</a:t>
                      </a:r>
                    </a:p>
                  </a:txBody>
                  <a:tcPr>
                    <a:solidFill>
                      <a:srgbClr val="EFEFEF"/>
                    </a:solidFill>
                  </a:tcPr>
                </a:tc>
                <a:tc>
                  <a:txBody>
                    <a:bodyPr/>
                    <a:lstStyle/>
                    <a:p>
                      <a:pPr algn="ctr">
                        <a:defRPr sz="1000">
                          <a:latin typeface="Montserrat"/>
                        </a:defRPr>
                      </a:pPr>
                      <a:r>
                        <a:t>8</a:t>
                      </a:r>
                    </a:p>
                  </a:txBody>
                  <a:tcPr>
                    <a:solidFill>
                      <a:srgbClr val="EFEFEF"/>
                    </a:solidFill>
                  </a:tcPr>
                </a:tc>
                <a:tc>
                  <a:txBody>
                    <a:bodyPr/>
                    <a:lstStyle/>
                    <a:p>
                      <a:pPr algn="ctr">
                        <a:defRPr sz="1000">
                          <a:latin typeface="Montserrat"/>
                        </a:defRPr>
                      </a:pPr>
                      <a:r>
                        <a:t>52,560</a:t>
                      </a:r>
                    </a:p>
                  </a:txBody>
                  <a:tcPr>
                    <a:solidFill>
                      <a:srgbClr val="EFEFEF"/>
                    </a:solidFill>
                  </a:tcPr>
                </a:tc>
                <a:tc>
                  <a:txBody>
                    <a:bodyPr/>
                    <a:lstStyle/>
                    <a:p>
                      <a:pPr algn="ctr">
                        <a:defRPr sz="1000">
                          <a:latin typeface="Montserrat"/>
                        </a:defRPr>
                      </a:pPr>
                      <a:r>
                        <a:t>6,753</a:t>
                      </a:r>
                    </a:p>
                  </a:txBody>
                  <a:tcPr>
                    <a:solidFill>
                      <a:srgbClr val="EFEFEF"/>
                    </a:solidFill>
                  </a:tcPr>
                </a:tc>
                <a:tc>
                  <a:txBody>
                    <a:bodyPr/>
                    <a:lstStyle/>
                    <a:p>
                      <a:pPr algn="ctr">
                        <a:defRPr sz="1000">
                          <a:latin typeface="Montserrat"/>
                        </a:defRPr>
                      </a:pPr>
                      <a:r>
                        <a:t>11,682</a:t>
                      </a:r>
                    </a:p>
                  </a:txBody>
                  <a:tcPr>
                    <a:solidFill>
                      <a:srgbClr val="EFEFEF"/>
                    </a:solidFill>
                  </a:tcPr>
                </a:tc>
                <a:tc>
                  <a:txBody>
                    <a:bodyPr/>
                    <a:lstStyle/>
                    <a:p>
                      <a:pPr algn="ctr">
                        <a:defRPr sz="1000">
                          <a:latin typeface="Montserrat"/>
                        </a:defRPr>
                      </a:pPr>
                      <a:r>
                        <a:t>58%</a:t>
                      </a:r>
                    </a:p>
                  </a:txBody>
                  <a:tcPr>
                    <a:solidFill>
                      <a:srgbClr val="EFEFEF"/>
                    </a:solidFill>
                  </a:tcPr>
                </a:tc>
                <a:tc>
                  <a:txBody>
                    <a:bodyPr/>
                    <a:lstStyle/>
                    <a:p>
                      <a:pPr algn="ctr">
                        <a:defRPr sz="1000">
                          <a:latin typeface="Montserrat"/>
                        </a:defRPr>
                      </a:pPr>
                      <a:r>
                        <a:t>13%</a:t>
                      </a:r>
                    </a:p>
                  </a:txBody>
                  <a:tcPr>
                    <a:solidFill>
                      <a:srgbClr val="EFEFEF"/>
                    </a:solidFill>
                  </a:tcPr>
                </a:tc>
              </a:tr>
              <a:tr h="284400">
                <a:tc>
                  <a:txBody>
                    <a:bodyPr/>
                    <a:lstStyle/>
                    <a:p>
                      <a:pPr algn="ctr">
                        <a:defRPr sz="1000">
                          <a:latin typeface="Montserrat"/>
                        </a:defRPr>
                      </a:pPr>
                      <a:r>
                        <a:t>HGZ 71 Veracruz</a:t>
                      </a:r>
                    </a:p>
                  </a:txBody>
                  <a:tcPr>
                    <a:solidFill>
                      <a:srgbClr val="FFFFFF"/>
                    </a:solidFill>
                  </a:tcPr>
                </a:tc>
                <a:tc>
                  <a:txBody>
                    <a:bodyPr/>
                    <a:lstStyle/>
                    <a:p>
                      <a:pPr algn="ctr">
                        <a:defRPr sz="1000">
                          <a:latin typeface="Montserrat"/>
                        </a:defRPr>
                      </a:pPr>
                      <a:r>
                        <a:t>16</a:t>
                      </a:r>
                    </a:p>
                  </a:txBody>
                  <a:tcPr>
                    <a:solidFill>
                      <a:srgbClr val="FFFFFF"/>
                    </a:solidFill>
                  </a:tcPr>
                </a:tc>
                <a:tc>
                  <a:txBody>
                    <a:bodyPr/>
                    <a:lstStyle/>
                    <a:p>
                      <a:pPr algn="ctr">
                        <a:defRPr sz="1000">
                          <a:latin typeface="Montserrat"/>
                        </a:defRPr>
                      </a:pPr>
                      <a:r>
                        <a:t>105,120</a:t>
                      </a:r>
                    </a:p>
                  </a:txBody>
                  <a:tcPr>
                    <a:solidFill>
                      <a:srgbClr val="FFFFFF"/>
                    </a:solidFill>
                  </a:tcPr>
                </a:tc>
                <a:tc>
                  <a:txBody>
                    <a:bodyPr/>
                    <a:lstStyle/>
                    <a:p>
                      <a:pPr algn="ctr">
                        <a:defRPr sz="1000">
                          <a:latin typeface="Montserrat"/>
                        </a:defRPr>
                      </a:pPr>
                      <a:r>
                        <a:t>13,198</a:t>
                      </a:r>
                    </a:p>
                  </a:txBody>
                  <a:tcPr>
                    <a:solidFill>
                      <a:srgbClr val="FFFFFF"/>
                    </a:solidFill>
                  </a:tcPr>
                </a:tc>
                <a:tc>
                  <a:txBody>
                    <a:bodyPr/>
                    <a:lstStyle/>
                    <a:p>
                      <a:pPr algn="ctr">
                        <a:defRPr sz="1000">
                          <a:latin typeface="Montserrat"/>
                        </a:defRPr>
                      </a:pPr>
                      <a:r>
                        <a:t>23,364</a:t>
                      </a:r>
                    </a:p>
                  </a:txBody>
                  <a:tcPr>
                    <a:solidFill>
                      <a:srgbClr val="FFFFFF"/>
                    </a:solidFill>
                  </a:tcPr>
                </a:tc>
                <a:tc>
                  <a:txBody>
                    <a:bodyPr/>
                    <a:lstStyle/>
                    <a:p>
                      <a:pPr algn="ctr">
                        <a:defRPr sz="1000">
                          <a:latin typeface="Montserrat"/>
                        </a:defRPr>
                      </a:pPr>
                      <a:r>
                        <a:t>56%</a:t>
                      </a:r>
                    </a:p>
                  </a:txBody>
                  <a:tcPr>
                    <a:solidFill>
                      <a:srgbClr val="FFFFFF"/>
                    </a:solidFill>
                  </a:tcPr>
                </a:tc>
                <a:tc>
                  <a:txBody>
                    <a:bodyPr/>
                    <a:lstStyle/>
                    <a:p>
                      <a:pPr algn="ctr">
                        <a:defRPr sz="1000">
                          <a:latin typeface="Montserrat"/>
                        </a:defRPr>
                      </a:pPr>
                      <a:r>
                        <a:t>13%</a:t>
                      </a:r>
                    </a:p>
                  </a:txBody>
                  <a:tcPr>
                    <a:solidFill>
                      <a:srgbClr val="FFFFFF"/>
                    </a:solidFill>
                  </a:tcPr>
                </a:tc>
              </a:tr>
              <a:tr h="284400">
                <a:tc>
                  <a:txBody>
                    <a:bodyPr/>
                    <a:lstStyle/>
                    <a:p>
                      <a:pPr algn="ctr">
                        <a:defRPr sz="1000">
                          <a:latin typeface="Montserrat"/>
                        </a:defRPr>
                      </a:pPr>
                      <a:r>
                        <a:t>HGR Orizaba</a:t>
                      </a:r>
                    </a:p>
                  </a:txBody>
                  <a:tcPr>
                    <a:solidFill>
                      <a:srgbClr val="EFEFEF"/>
                    </a:solidFill>
                  </a:tcPr>
                </a:tc>
                <a:tc>
                  <a:txBody>
                    <a:bodyPr/>
                    <a:lstStyle/>
                    <a:p>
                      <a:pPr algn="ctr">
                        <a:defRPr sz="1000">
                          <a:latin typeface="Montserrat"/>
                        </a:defRPr>
                      </a:pPr>
                      <a:r>
                        <a:t>24</a:t>
                      </a:r>
                    </a:p>
                  </a:txBody>
                  <a:tcPr>
                    <a:solidFill>
                      <a:srgbClr val="EFEFEF"/>
                    </a:solidFill>
                  </a:tcPr>
                </a:tc>
                <a:tc>
                  <a:txBody>
                    <a:bodyPr/>
                    <a:lstStyle/>
                    <a:p>
                      <a:pPr algn="ctr">
                        <a:defRPr sz="1000">
                          <a:latin typeface="Montserrat"/>
                        </a:defRPr>
                      </a:pPr>
                      <a:r>
                        <a:t>157,680</a:t>
                      </a:r>
                    </a:p>
                  </a:txBody>
                  <a:tcPr>
                    <a:solidFill>
                      <a:srgbClr val="EFEFEF"/>
                    </a:solidFill>
                  </a:tcPr>
                </a:tc>
                <a:tc>
                  <a:txBody>
                    <a:bodyPr/>
                    <a:lstStyle/>
                    <a:p>
                      <a:pPr algn="ctr">
                        <a:defRPr sz="1000">
                          <a:latin typeface="Montserrat"/>
                        </a:defRPr>
                      </a:pPr>
                      <a:r>
                        <a:t>17,294</a:t>
                      </a:r>
                    </a:p>
                  </a:txBody>
                  <a:tcPr>
                    <a:solidFill>
                      <a:srgbClr val="EFEFEF"/>
                    </a:solidFill>
                  </a:tcPr>
                </a:tc>
                <a:tc>
                  <a:txBody>
                    <a:bodyPr/>
                    <a:lstStyle/>
                    <a:p>
                      <a:pPr algn="ctr">
                        <a:defRPr sz="1000">
                          <a:latin typeface="Montserrat"/>
                        </a:defRPr>
                      </a:pPr>
                      <a:r>
                        <a:t>29,736</a:t>
                      </a:r>
                    </a:p>
                  </a:txBody>
                  <a:tcPr>
                    <a:solidFill>
                      <a:srgbClr val="EFEFEF"/>
                    </a:solidFill>
                  </a:tcPr>
                </a:tc>
                <a:tc>
                  <a:txBody>
                    <a:bodyPr/>
                    <a:lstStyle/>
                    <a:p>
                      <a:pPr algn="ctr">
                        <a:defRPr sz="1000">
                          <a:latin typeface="Montserrat"/>
                        </a:defRPr>
                      </a:pPr>
                      <a:r>
                        <a:t>58%</a:t>
                      </a:r>
                    </a:p>
                  </a:txBody>
                  <a:tcPr>
                    <a:solidFill>
                      <a:srgbClr val="EFEFEF"/>
                    </a:solidFill>
                  </a:tcPr>
                </a:tc>
                <a:tc>
                  <a:txBody>
                    <a:bodyPr/>
                    <a:lstStyle/>
                    <a:p>
                      <a:pPr algn="ctr">
                        <a:defRPr sz="1000">
                          <a:latin typeface="Montserrat"/>
                        </a:defRPr>
                      </a:pPr>
                      <a:r>
                        <a:t>11%</a:t>
                      </a:r>
                    </a:p>
                  </a:txBody>
                  <a:tcPr>
                    <a:solidFill>
                      <a:srgbClr val="EFEFEF"/>
                    </a:solidFill>
                  </a:tcPr>
                </a:tc>
              </a:tr>
              <a:tr h="284400">
                <a:tc>
                  <a:txBody>
                    <a:bodyPr/>
                    <a:lstStyle/>
                    <a:p>
                      <a:pPr algn="ctr">
                        <a:defRPr sz="1000">
                          <a:latin typeface="Montserrat"/>
                        </a:defRPr>
                      </a:pPr>
                      <a:r>
                        <a:t>HGSMF 26 Tuxpan</a:t>
                      </a:r>
                    </a:p>
                  </a:txBody>
                  <a:tcPr>
                    <a:solidFill>
                      <a:srgbClr val="FFFFFF"/>
                    </a:solidFill>
                  </a:tcPr>
                </a:tc>
                <a:tc>
                  <a:txBody>
                    <a:bodyPr/>
                    <a:lstStyle/>
                    <a:p>
                      <a:pPr algn="ctr">
                        <a:defRPr sz="1000">
                          <a:latin typeface="Montserrat"/>
                        </a:defRPr>
                      </a:pPr>
                      <a:r>
                        <a:t>3</a:t>
                      </a:r>
                    </a:p>
                  </a:txBody>
                  <a:tcPr>
                    <a:solidFill>
                      <a:srgbClr val="FFFFFF"/>
                    </a:solidFill>
                  </a:tcPr>
                </a:tc>
                <a:tc>
                  <a:txBody>
                    <a:bodyPr/>
                    <a:lstStyle/>
                    <a:p>
                      <a:pPr algn="ctr">
                        <a:defRPr sz="1000">
                          <a:latin typeface="Montserrat"/>
                        </a:defRPr>
                      </a:pPr>
                      <a:r>
                        <a:t>19,710</a:t>
                      </a:r>
                    </a:p>
                  </a:txBody>
                  <a:tcPr>
                    <a:solidFill>
                      <a:srgbClr val="FFFFFF"/>
                    </a:solidFill>
                  </a:tcPr>
                </a:tc>
                <a:tc>
                  <a:txBody>
                    <a:bodyPr/>
                    <a:lstStyle/>
                    <a:p>
                      <a:pPr algn="ctr">
                        <a:defRPr sz="1000">
                          <a:latin typeface="Montserrat"/>
                        </a:defRPr>
                      </a:pPr>
                      <a:r>
                        <a:t>2,058</a:t>
                      </a:r>
                    </a:p>
                  </a:txBody>
                  <a:tcPr>
                    <a:solidFill>
                      <a:srgbClr val="FFFFFF"/>
                    </a:solidFill>
                  </a:tcPr>
                </a:tc>
                <a:tc>
                  <a:txBody>
                    <a:bodyPr/>
                    <a:lstStyle/>
                    <a:p>
                      <a:pPr algn="ctr">
                        <a:defRPr sz="1000">
                          <a:latin typeface="Montserrat"/>
                        </a:defRPr>
                      </a:pPr>
                      <a:r>
                        <a:t>4,248</a:t>
                      </a:r>
                    </a:p>
                  </a:txBody>
                  <a:tcPr>
                    <a:solidFill>
                      <a:srgbClr val="FFFFFF"/>
                    </a:solidFill>
                  </a:tcPr>
                </a:tc>
                <a:tc>
                  <a:txBody>
                    <a:bodyPr/>
                    <a:lstStyle/>
                    <a:p>
                      <a:pPr algn="ctr">
                        <a:defRPr sz="1000">
                          <a:latin typeface="Montserrat"/>
                        </a:defRPr>
                      </a:pPr>
                      <a:r>
                        <a:t>48%</a:t>
                      </a:r>
                    </a:p>
                  </a:txBody>
                  <a:tcPr>
                    <a:solidFill>
                      <a:srgbClr val="FFFFFF"/>
                    </a:solidFill>
                  </a:tcPr>
                </a:tc>
                <a:tc>
                  <a:txBody>
                    <a:bodyPr/>
                    <a:lstStyle/>
                    <a:p>
                      <a:pPr algn="ctr">
                        <a:defRPr sz="1000">
                          <a:latin typeface="Montserrat"/>
                        </a:defRPr>
                      </a:pPr>
                      <a:r>
                        <a:t>10%</a:t>
                      </a:r>
                    </a:p>
                  </a:txBody>
                  <a:tcPr>
                    <a:solidFill>
                      <a:srgbClr val="FFFFFF"/>
                    </a:solidFill>
                  </a:tcPr>
                </a:tc>
              </a:tr>
              <a:tr h="284400">
                <a:tc>
                  <a:txBody>
                    <a:bodyPr/>
                    <a:lstStyle/>
                    <a:p>
                      <a:pPr algn="ctr">
                        <a:defRPr sz="1000">
                          <a:latin typeface="Montserrat"/>
                        </a:defRPr>
                      </a:pPr>
                      <a:r>
                        <a:t>HGZ 11 Jalapa.</a:t>
                      </a:r>
                    </a:p>
                  </a:txBody>
                  <a:tcPr>
                    <a:solidFill>
                      <a:srgbClr val="EFEFEF"/>
                    </a:solidFill>
                  </a:tcPr>
                </a:tc>
                <a:tc>
                  <a:txBody>
                    <a:bodyPr/>
                    <a:lstStyle/>
                    <a:p>
                      <a:pPr algn="ctr">
                        <a:defRPr sz="1000">
                          <a:latin typeface="Montserrat"/>
                        </a:defRPr>
                      </a:pPr>
                      <a:r>
                        <a:t>25</a:t>
                      </a:r>
                    </a:p>
                  </a:txBody>
                  <a:tcPr>
                    <a:solidFill>
                      <a:srgbClr val="EFEFEF"/>
                    </a:solidFill>
                  </a:tcPr>
                </a:tc>
                <a:tc>
                  <a:txBody>
                    <a:bodyPr/>
                    <a:lstStyle/>
                    <a:p>
                      <a:pPr algn="ctr">
                        <a:defRPr sz="1000">
                          <a:latin typeface="Montserrat"/>
                        </a:defRPr>
                      </a:pPr>
                      <a:r>
                        <a:t>164,250</a:t>
                      </a:r>
                    </a:p>
                  </a:txBody>
                  <a:tcPr>
                    <a:solidFill>
                      <a:srgbClr val="EFEFEF"/>
                    </a:solidFill>
                  </a:tcPr>
                </a:tc>
                <a:tc>
                  <a:txBody>
                    <a:bodyPr/>
                    <a:lstStyle/>
                    <a:p>
                      <a:pPr algn="ctr">
                        <a:defRPr sz="1000">
                          <a:latin typeface="Montserrat"/>
                        </a:defRPr>
                      </a:pPr>
                      <a:r>
                        <a:t>17,131</a:t>
                      </a:r>
                    </a:p>
                  </a:txBody>
                  <a:tcPr>
                    <a:solidFill>
                      <a:srgbClr val="EFEFEF"/>
                    </a:solidFill>
                  </a:tcPr>
                </a:tc>
                <a:tc>
                  <a:txBody>
                    <a:bodyPr/>
                    <a:lstStyle/>
                    <a:p>
                      <a:pPr algn="ctr">
                        <a:defRPr sz="1000">
                          <a:latin typeface="Montserrat"/>
                        </a:defRPr>
                      </a:pPr>
                      <a:r>
                        <a:t>27,612</a:t>
                      </a:r>
                    </a:p>
                  </a:txBody>
                  <a:tcPr>
                    <a:solidFill>
                      <a:srgbClr val="EFEFEF"/>
                    </a:solidFill>
                  </a:tcPr>
                </a:tc>
                <a:tc>
                  <a:txBody>
                    <a:bodyPr/>
                    <a:lstStyle/>
                    <a:p>
                      <a:pPr algn="ctr">
                        <a:defRPr sz="1000">
                          <a:latin typeface="Montserrat"/>
                        </a:defRPr>
                      </a:pPr>
                      <a:r>
                        <a:t>62%</a:t>
                      </a:r>
                    </a:p>
                  </a:txBody>
                  <a:tcPr>
                    <a:solidFill>
                      <a:srgbClr val="EFEFEF"/>
                    </a:solidFill>
                  </a:tcPr>
                </a:tc>
                <a:tc>
                  <a:txBody>
                    <a:bodyPr/>
                    <a:lstStyle/>
                    <a:p>
                      <a:pPr algn="ctr">
                        <a:defRPr sz="1000">
                          <a:latin typeface="Montserrat"/>
                        </a:defRPr>
                      </a:pPr>
                      <a:r>
                        <a:t>10%</a:t>
                      </a:r>
                    </a:p>
                  </a:txBody>
                  <a:tcPr>
                    <a:solidFill>
                      <a:srgbClr val="EFEFEF"/>
                    </a:solidFill>
                  </a:tcPr>
                </a:tc>
              </a:tr>
              <a:tr h="284400">
                <a:tc>
                  <a:txBody>
                    <a:bodyPr/>
                    <a:lstStyle/>
                    <a:p>
                      <a:pPr algn="ctr">
                        <a:defRPr sz="1000">
                          <a:latin typeface="Montserrat"/>
                        </a:defRPr>
                      </a:pPr>
                      <a:r>
                        <a:t>HGZMF 35 Cosamaloapan</a:t>
                      </a:r>
                    </a:p>
                  </a:txBody>
                  <a:tcPr>
                    <a:solidFill>
                      <a:srgbClr val="FFFFFF"/>
                    </a:solidFill>
                  </a:tcPr>
                </a:tc>
                <a:tc>
                  <a:txBody>
                    <a:bodyPr/>
                    <a:lstStyle/>
                    <a:p>
                      <a:pPr algn="ctr">
                        <a:defRPr sz="1000">
                          <a:latin typeface="Montserrat"/>
                        </a:defRPr>
                      </a:pPr>
                      <a:r>
                        <a:t>9</a:t>
                      </a:r>
                    </a:p>
                  </a:txBody>
                  <a:tcPr>
                    <a:solidFill>
                      <a:srgbClr val="FFFFFF"/>
                    </a:solidFill>
                  </a:tcPr>
                </a:tc>
                <a:tc>
                  <a:txBody>
                    <a:bodyPr/>
                    <a:lstStyle/>
                    <a:p>
                      <a:pPr algn="ctr">
                        <a:defRPr sz="1000">
                          <a:latin typeface="Montserrat"/>
                        </a:defRPr>
                      </a:pPr>
                      <a:r>
                        <a:t>59,130</a:t>
                      </a:r>
                    </a:p>
                  </a:txBody>
                  <a:tcPr>
                    <a:solidFill>
                      <a:srgbClr val="FFFFFF"/>
                    </a:solidFill>
                  </a:tcPr>
                </a:tc>
                <a:tc>
                  <a:txBody>
                    <a:bodyPr/>
                    <a:lstStyle/>
                    <a:p>
                      <a:pPr algn="ctr">
                        <a:defRPr sz="1000">
                          <a:latin typeface="Montserrat"/>
                        </a:defRPr>
                      </a:pPr>
                      <a:r>
                        <a:t>5,819</a:t>
                      </a:r>
                    </a:p>
                  </a:txBody>
                  <a:tcPr>
                    <a:solidFill>
                      <a:srgbClr val="FFFFFF"/>
                    </a:solidFill>
                  </a:tcPr>
                </a:tc>
                <a:tc>
                  <a:txBody>
                    <a:bodyPr/>
                    <a:lstStyle/>
                    <a:p>
                      <a:pPr algn="ctr">
                        <a:defRPr sz="1000">
                          <a:latin typeface="Montserrat"/>
                        </a:defRPr>
                      </a:pPr>
                      <a:r>
                        <a:t>11,682</a:t>
                      </a:r>
                    </a:p>
                  </a:txBody>
                  <a:tcPr>
                    <a:solidFill>
                      <a:srgbClr val="FFFFFF"/>
                    </a:solidFill>
                  </a:tcPr>
                </a:tc>
                <a:tc>
                  <a:txBody>
                    <a:bodyPr/>
                    <a:lstStyle/>
                    <a:p>
                      <a:pPr algn="ctr">
                        <a:defRPr sz="1000">
                          <a:latin typeface="Montserrat"/>
                        </a:defRPr>
                      </a:pPr>
                      <a:r>
                        <a:t>50%</a:t>
                      </a:r>
                    </a:p>
                  </a:txBody>
                  <a:tcPr>
                    <a:solidFill>
                      <a:srgbClr val="FFFFFF"/>
                    </a:solidFill>
                  </a:tcPr>
                </a:tc>
                <a:tc>
                  <a:txBody>
                    <a:bodyPr/>
                    <a:lstStyle/>
                    <a:p>
                      <a:pPr algn="ctr">
                        <a:defRPr sz="1000">
                          <a:latin typeface="Montserrat"/>
                        </a:defRPr>
                      </a:pPr>
                      <a:r>
                        <a:t>10%</a:t>
                      </a:r>
                    </a:p>
                  </a:txBody>
                  <a:tcPr>
                    <a:solidFill>
                      <a:srgbClr val="FFFFFF"/>
                    </a:solidFill>
                  </a:tcPr>
                </a:tc>
              </a:tr>
              <a:tr h="284400">
                <a:tc>
                  <a:txBody>
                    <a:bodyPr/>
                    <a:lstStyle/>
                    <a:p>
                      <a:pPr algn="ctr">
                        <a:defRPr sz="1000">
                          <a:latin typeface="Montserrat"/>
                        </a:defRPr>
                      </a:pPr>
                      <a:r>
                        <a:t>HGZ 36 Coatzacoalos</a:t>
                      </a:r>
                    </a:p>
                  </a:txBody>
                  <a:tcPr>
                    <a:solidFill>
                      <a:srgbClr val="EFEFEF"/>
                    </a:solidFill>
                  </a:tcPr>
                </a:tc>
                <a:tc>
                  <a:txBody>
                    <a:bodyPr/>
                    <a:lstStyle/>
                    <a:p>
                      <a:pPr algn="ctr">
                        <a:defRPr sz="1000">
                          <a:latin typeface="Montserrat"/>
                        </a:defRPr>
                      </a:pPr>
                      <a:r>
                        <a:t>24</a:t>
                      </a:r>
                    </a:p>
                  </a:txBody>
                  <a:tcPr>
                    <a:solidFill>
                      <a:srgbClr val="EFEFEF"/>
                    </a:solidFill>
                  </a:tcPr>
                </a:tc>
                <a:tc>
                  <a:txBody>
                    <a:bodyPr/>
                    <a:lstStyle/>
                    <a:p>
                      <a:pPr algn="ctr">
                        <a:defRPr sz="1000">
                          <a:latin typeface="Montserrat"/>
                        </a:defRPr>
                      </a:pPr>
                      <a:r>
                        <a:t>157,680</a:t>
                      </a:r>
                    </a:p>
                  </a:txBody>
                  <a:tcPr>
                    <a:solidFill>
                      <a:srgbClr val="EFEFEF"/>
                    </a:solidFill>
                  </a:tcPr>
                </a:tc>
                <a:tc>
                  <a:txBody>
                    <a:bodyPr/>
                    <a:lstStyle/>
                    <a:p>
                      <a:pPr algn="ctr">
                        <a:defRPr sz="1000">
                          <a:latin typeface="Montserrat"/>
                        </a:defRPr>
                      </a:pPr>
                      <a:r>
                        <a:t>14,375</a:t>
                      </a:r>
                    </a:p>
                  </a:txBody>
                  <a:tcPr>
                    <a:solidFill>
                      <a:srgbClr val="EFEFEF"/>
                    </a:solidFill>
                  </a:tcPr>
                </a:tc>
                <a:tc>
                  <a:txBody>
                    <a:bodyPr/>
                    <a:lstStyle/>
                    <a:p>
                      <a:pPr algn="ctr">
                        <a:defRPr sz="1000">
                          <a:latin typeface="Montserrat"/>
                        </a:defRPr>
                      </a:pPr>
                      <a:r>
                        <a:t>33,984</a:t>
                      </a:r>
                    </a:p>
                  </a:txBody>
                  <a:tcPr>
                    <a:solidFill>
                      <a:srgbClr val="EFEFEF"/>
                    </a:solidFill>
                  </a:tcPr>
                </a:tc>
                <a:tc>
                  <a:txBody>
                    <a:bodyPr/>
                    <a:lstStyle/>
                    <a:p>
                      <a:pPr algn="ctr">
                        <a:defRPr sz="1000">
                          <a:latin typeface="Montserrat"/>
                        </a:defRPr>
                      </a:pPr>
                      <a:r>
                        <a:t>42%</a:t>
                      </a:r>
                    </a:p>
                  </a:txBody>
                  <a:tcPr>
                    <a:solidFill>
                      <a:srgbClr val="EFEFEF"/>
                    </a:solidFill>
                  </a:tcPr>
                </a:tc>
                <a:tc>
                  <a:txBody>
                    <a:bodyPr/>
                    <a:lstStyle/>
                    <a:p>
                      <a:pPr algn="ctr">
                        <a:defRPr sz="1000">
                          <a:latin typeface="Montserrat"/>
                        </a:defRPr>
                      </a:pPr>
                      <a:r>
                        <a:t>9%</a:t>
                      </a:r>
                    </a:p>
                  </a:txBody>
                  <a:tcPr>
                    <a:solidFill>
                      <a:srgbClr val="EFEFEF"/>
                    </a:solidFill>
                  </a:tcPr>
                </a:tc>
              </a:tr>
              <a:tr h="284400">
                <a:tc>
                  <a:txBody>
                    <a:bodyPr/>
                    <a:lstStyle/>
                    <a:p>
                      <a:pPr algn="ctr">
                        <a:defRPr sz="1000">
                          <a:latin typeface="Montserrat"/>
                        </a:defRPr>
                      </a:pPr>
                      <a:r>
                        <a:t>HGZ 8 Córdoba</a:t>
                      </a:r>
                    </a:p>
                  </a:txBody>
                  <a:tcPr>
                    <a:solidFill>
                      <a:srgbClr val="FFFFFF"/>
                    </a:solidFill>
                  </a:tcPr>
                </a:tc>
                <a:tc>
                  <a:txBody>
                    <a:bodyPr/>
                    <a:lstStyle/>
                    <a:p>
                      <a:pPr algn="ctr">
                        <a:defRPr sz="1000">
                          <a:latin typeface="Montserrat"/>
                        </a:defRPr>
                      </a:pPr>
                      <a:r>
                        <a:t>22</a:t>
                      </a:r>
                    </a:p>
                  </a:txBody>
                  <a:tcPr>
                    <a:solidFill>
                      <a:srgbClr val="FFFFFF"/>
                    </a:solidFill>
                  </a:tcPr>
                </a:tc>
                <a:tc>
                  <a:txBody>
                    <a:bodyPr/>
                    <a:lstStyle/>
                    <a:p>
                      <a:pPr algn="ctr">
                        <a:defRPr sz="1000">
                          <a:latin typeface="Montserrat"/>
                        </a:defRPr>
                      </a:pPr>
                      <a:r>
                        <a:t>144,540</a:t>
                      </a:r>
                    </a:p>
                  </a:txBody>
                  <a:tcPr>
                    <a:solidFill>
                      <a:srgbClr val="FFFFFF"/>
                    </a:solidFill>
                  </a:tcPr>
                </a:tc>
                <a:tc>
                  <a:txBody>
                    <a:bodyPr/>
                    <a:lstStyle/>
                    <a:p>
                      <a:pPr algn="ctr">
                        <a:defRPr sz="1000">
                          <a:latin typeface="Montserrat"/>
                        </a:defRPr>
                      </a:pPr>
                      <a:r>
                        <a:t>11,482</a:t>
                      </a:r>
                    </a:p>
                  </a:txBody>
                  <a:tcPr>
                    <a:solidFill>
                      <a:srgbClr val="FFFFFF"/>
                    </a:solidFill>
                  </a:tcPr>
                </a:tc>
                <a:tc>
                  <a:txBody>
                    <a:bodyPr/>
                    <a:lstStyle/>
                    <a:p>
                      <a:pPr algn="ctr">
                        <a:defRPr sz="1000">
                          <a:latin typeface="Montserrat"/>
                        </a:defRPr>
                      </a:pPr>
                      <a:r>
                        <a:t>23,364</a:t>
                      </a:r>
                    </a:p>
                  </a:txBody>
                  <a:tcPr>
                    <a:solidFill>
                      <a:srgbClr val="FFFFFF"/>
                    </a:solidFill>
                  </a:tcPr>
                </a:tc>
                <a:tc>
                  <a:txBody>
                    <a:bodyPr/>
                    <a:lstStyle/>
                    <a:p>
                      <a:pPr algn="ctr">
                        <a:defRPr sz="1000">
                          <a:latin typeface="Montserrat"/>
                        </a:defRPr>
                      </a:pPr>
                      <a:r>
                        <a:t>49%</a:t>
                      </a:r>
                    </a:p>
                  </a:txBody>
                  <a:tcPr>
                    <a:solidFill>
                      <a:srgbClr val="FFFFFF"/>
                    </a:solidFill>
                  </a:tcPr>
                </a:tc>
                <a:tc>
                  <a:txBody>
                    <a:bodyPr/>
                    <a:lstStyle/>
                    <a:p>
                      <a:pPr algn="ctr">
                        <a:defRPr sz="1000">
                          <a:latin typeface="Montserrat"/>
                        </a:defRPr>
                      </a:pPr>
                      <a:r>
                        <a:t>8%</a:t>
                      </a:r>
                    </a:p>
                  </a:txBody>
                  <a:tcPr>
                    <a:solidFill>
                      <a:srgbClr val="FFFFFF"/>
                    </a:solidFill>
                  </a:tcPr>
                </a:tc>
              </a:tr>
              <a:tr h="284400">
                <a:tc>
                  <a:txBody>
                    <a:bodyPr/>
                    <a:lstStyle/>
                    <a:p>
                      <a:pPr algn="ctr">
                        <a:defRPr sz="1000">
                          <a:latin typeface="Montserrat"/>
                        </a:defRPr>
                      </a:pPr>
                      <a:r>
                        <a:t>HGZMF 50 Lerdo Tejada</a:t>
                      </a:r>
                    </a:p>
                  </a:txBody>
                  <a:tcPr>
                    <a:solidFill>
                      <a:srgbClr val="EFEFEF"/>
                    </a:solidFill>
                  </a:tcPr>
                </a:tc>
                <a:tc>
                  <a:txBody>
                    <a:bodyPr/>
                    <a:lstStyle/>
                    <a:p>
                      <a:pPr algn="ctr">
                        <a:defRPr sz="1000">
                          <a:latin typeface="Montserrat"/>
                        </a:defRPr>
                      </a:pPr>
                      <a:r>
                        <a:t>5</a:t>
                      </a:r>
                    </a:p>
                  </a:txBody>
                  <a:tcPr>
                    <a:solidFill>
                      <a:srgbClr val="EFEFEF"/>
                    </a:solidFill>
                  </a:tcPr>
                </a:tc>
                <a:tc>
                  <a:txBody>
                    <a:bodyPr/>
                    <a:lstStyle/>
                    <a:p>
                      <a:pPr algn="ctr">
                        <a:defRPr sz="1000">
                          <a:latin typeface="Montserrat"/>
                        </a:defRPr>
                      </a:pPr>
                      <a:r>
                        <a:t>32,850</a:t>
                      </a:r>
                    </a:p>
                  </a:txBody>
                  <a:tcPr>
                    <a:solidFill>
                      <a:srgbClr val="EFEFEF"/>
                    </a:solidFill>
                  </a:tcPr>
                </a:tc>
                <a:tc>
                  <a:txBody>
                    <a:bodyPr/>
                    <a:lstStyle/>
                    <a:p>
                      <a:pPr algn="ctr">
                        <a:defRPr sz="1000">
                          <a:latin typeface="Montserrat"/>
                        </a:defRPr>
                      </a:pPr>
                      <a:r>
                        <a:t>2,569</a:t>
                      </a:r>
                    </a:p>
                  </a:txBody>
                  <a:tcPr>
                    <a:solidFill>
                      <a:srgbClr val="EFEFEF"/>
                    </a:solidFill>
                  </a:tcPr>
                </a:tc>
                <a:tc>
                  <a:txBody>
                    <a:bodyPr/>
                    <a:lstStyle/>
                    <a:p>
                      <a:pPr algn="ctr">
                        <a:defRPr sz="1000">
                          <a:latin typeface="Montserrat"/>
                        </a:defRPr>
                      </a:pPr>
                      <a:r>
                        <a:t>6,372</a:t>
                      </a:r>
                    </a:p>
                  </a:txBody>
                  <a:tcPr>
                    <a:solidFill>
                      <a:srgbClr val="EFEFEF"/>
                    </a:solidFill>
                  </a:tcPr>
                </a:tc>
                <a:tc>
                  <a:txBody>
                    <a:bodyPr/>
                    <a:lstStyle/>
                    <a:p>
                      <a:pPr algn="ctr">
                        <a:defRPr sz="1000">
                          <a:latin typeface="Montserrat"/>
                        </a:defRPr>
                      </a:pPr>
                      <a:r>
                        <a:t>40%</a:t>
                      </a:r>
                    </a:p>
                  </a:txBody>
                  <a:tcPr>
                    <a:solidFill>
                      <a:srgbClr val="EFEFEF"/>
                    </a:solidFill>
                  </a:tcPr>
                </a:tc>
                <a:tc>
                  <a:txBody>
                    <a:bodyPr/>
                    <a:lstStyle/>
                    <a:p>
                      <a:pPr algn="ctr">
                        <a:defRPr sz="1000">
                          <a:latin typeface="Montserrat"/>
                        </a:defRPr>
                      </a:pPr>
                      <a:r>
                        <a:t>8%</a:t>
                      </a:r>
                    </a:p>
                  </a:txBody>
                  <a:tcPr>
                    <a:solidFill>
                      <a:srgbClr val="EFEFEF"/>
                    </a:solidFill>
                  </a:tcPr>
                </a:tc>
              </a:tr>
              <a:tr h="284400">
                <a:tc>
                  <a:txBody>
                    <a:bodyPr/>
                    <a:lstStyle/>
                    <a:p>
                      <a:pPr algn="ctr">
                        <a:defRPr sz="1000">
                          <a:latin typeface="Montserrat"/>
                        </a:defRPr>
                      </a:pPr>
                      <a:r>
                        <a:t>HGZMF 36 José Cardel</a:t>
                      </a:r>
                    </a:p>
                  </a:txBody>
                  <a:tcPr>
                    <a:solidFill>
                      <a:srgbClr val="FFFFFF"/>
                    </a:solidFill>
                  </a:tcPr>
                </a:tc>
                <a:tc>
                  <a:txBody>
                    <a:bodyPr/>
                    <a:lstStyle/>
                    <a:p>
                      <a:pPr algn="ctr">
                        <a:defRPr sz="1000">
                          <a:latin typeface="Montserrat"/>
                        </a:defRPr>
                      </a:pPr>
                      <a:r>
                        <a:t>8</a:t>
                      </a:r>
                    </a:p>
                  </a:txBody>
                  <a:tcPr>
                    <a:solidFill>
                      <a:srgbClr val="FFFFFF"/>
                    </a:solidFill>
                  </a:tcPr>
                </a:tc>
                <a:tc>
                  <a:txBody>
                    <a:bodyPr/>
                    <a:lstStyle/>
                    <a:p>
                      <a:pPr algn="ctr">
                        <a:defRPr sz="1000">
                          <a:latin typeface="Montserrat"/>
                        </a:defRPr>
                      </a:pPr>
                      <a:r>
                        <a:t>52,560</a:t>
                      </a:r>
                    </a:p>
                  </a:txBody>
                  <a:tcPr>
                    <a:solidFill>
                      <a:srgbClr val="FFFFFF"/>
                    </a:solidFill>
                  </a:tcPr>
                </a:tc>
                <a:tc>
                  <a:txBody>
                    <a:bodyPr/>
                    <a:lstStyle/>
                    <a:p>
                      <a:pPr algn="ctr">
                        <a:defRPr sz="1000">
                          <a:latin typeface="Montserrat"/>
                        </a:defRPr>
                      </a:pPr>
                      <a:r>
                        <a:t>3,921</a:t>
                      </a:r>
                    </a:p>
                  </a:txBody>
                  <a:tcPr>
                    <a:solidFill>
                      <a:srgbClr val="FFFFFF"/>
                    </a:solidFill>
                  </a:tcPr>
                </a:tc>
                <a:tc>
                  <a:txBody>
                    <a:bodyPr/>
                    <a:lstStyle/>
                    <a:p>
                      <a:pPr algn="ctr">
                        <a:defRPr sz="1000">
                          <a:latin typeface="Montserrat"/>
                        </a:defRPr>
                      </a:pPr>
                      <a:r>
                        <a:t>8,024</a:t>
                      </a:r>
                    </a:p>
                  </a:txBody>
                  <a:tcPr>
                    <a:solidFill>
                      <a:srgbClr val="FFFFFF"/>
                    </a:solidFill>
                  </a:tcPr>
                </a:tc>
                <a:tc>
                  <a:txBody>
                    <a:bodyPr/>
                    <a:lstStyle/>
                    <a:p>
                      <a:pPr algn="ctr">
                        <a:defRPr sz="1000">
                          <a:latin typeface="Montserrat"/>
                        </a:defRPr>
                      </a:pPr>
                      <a:r>
                        <a:t>49%</a:t>
                      </a:r>
                    </a:p>
                  </a:txBody>
                  <a:tcPr>
                    <a:solidFill>
                      <a:srgbClr val="FFFFFF"/>
                    </a:solidFill>
                  </a:tcPr>
                </a:tc>
                <a:tc>
                  <a:txBody>
                    <a:bodyPr/>
                    <a:lstStyle/>
                    <a:p>
                      <a:pPr algn="ctr">
                        <a:defRPr sz="1000">
                          <a:latin typeface="Montserrat"/>
                        </a:defRPr>
                      </a:pPr>
                      <a:r>
                        <a:t>7%</a:t>
                      </a:r>
                    </a:p>
                  </a:txBody>
                  <a:tcPr>
                    <a:solidFill>
                      <a:srgbClr val="FFFFFF"/>
                    </a:solidFill>
                  </a:tcPr>
                </a:tc>
              </a:tr>
              <a:tr h="284400">
                <a:tc>
                  <a:txBody>
                    <a:bodyPr/>
                    <a:lstStyle/>
                    <a:p>
                      <a:pPr algn="ctr">
                        <a:defRPr sz="1000">
                          <a:latin typeface="Montserrat"/>
                        </a:defRPr>
                      </a:pPr>
                      <a:r>
                        <a:t>UMAA 15 Tejería</a:t>
                      </a:r>
                    </a:p>
                  </a:txBody>
                  <a:tcPr>
                    <a:solidFill>
                      <a:srgbClr val="EFEFEF"/>
                    </a:solidFill>
                  </a:tcPr>
                </a:tc>
                <a:tc>
                  <a:txBody>
                    <a:bodyPr/>
                    <a:lstStyle/>
                    <a:p>
                      <a:pPr algn="ctr">
                        <a:defRPr sz="1000">
                          <a:latin typeface="Montserrat"/>
                        </a:defRPr>
                      </a:pPr>
                      <a:r>
                        <a:t>7</a:t>
                      </a:r>
                    </a:p>
                  </a:txBody>
                  <a:tcPr>
                    <a:solidFill>
                      <a:srgbClr val="EFEFEF"/>
                    </a:solidFill>
                  </a:tcPr>
                </a:tc>
                <a:tc>
                  <a:txBody>
                    <a:bodyPr/>
                    <a:lstStyle/>
                    <a:p>
                      <a:pPr algn="ctr">
                        <a:defRPr sz="1000">
                          <a:latin typeface="Montserrat"/>
                        </a:defRPr>
                      </a:pPr>
                      <a:r>
                        <a:t>45,990</a:t>
                      </a:r>
                    </a:p>
                  </a:txBody>
                  <a:tcPr>
                    <a:solidFill>
                      <a:srgbClr val="EFEFEF"/>
                    </a:solidFill>
                  </a:tcPr>
                </a:tc>
                <a:tc>
                  <a:txBody>
                    <a:bodyPr/>
                    <a:lstStyle/>
                    <a:p>
                      <a:pPr algn="ctr">
                        <a:defRPr sz="1000">
                          <a:latin typeface="Montserrat"/>
                        </a:defRPr>
                      </a:pPr>
                      <a:r>
                        <a:t>3,086</a:t>
                      </a:r>
                    </a:p>
                  </a:txBody>
                  <a:tcPr>
                    <a:solidFill>
                      <a:srgbClr val="EFEFEF"/>
                    </a:solidFill>
                  </a:tcPr>
                </a:tc>
                <a:tc>
                  <a:txBody>
                    <a:bodyPr/>
                    <a:lstStyle/>
                    <a:p>
                      <a:pPr algn="ctr">
                        <a:defRPr sz="1000">
                          <a:latin typeface="Montserrat"/>
                        </a:defRPr>
                      </a:pPr>
                      <a:r>
                        <a:t>6,608</a:t>
                      </a:r>
                    </a:p>
                  </a:txBody>
                  <a:tcPr>
                    <a:solidFill>
                      <a:srgbClr val="EFEFEF"/>
                    </a:solidFill>
                  </a:tcPr>
                </a:tc>
                <a:tc>
                  <a:txBody>
                    <a:bodyPr/>
                    <a:lstStyle/>
                    <a:p>
                      <a:pPr algn="ctr">
                        <a:defRPr sz="1000">
                          <a:latin typeface="Montserrat"/>
                        </a:defRPr>
                      </a:pPr>
                      <a:r>
                        <a:t>47%</a:t>
                      </a:r>
                    </a:p>
                  </a:txBody>
                  <a:tcPr>
                    <a:solidFill>
                      <a:srgbClr val="EFEFEF"/>
                    </a:solidFill>
                  </a:tcPr>
                </a:tc>
                <a:tc>
                  <a:txBody>
                    <a:bodyPr/>
                    <a:lstStyle/>
                    <a:p>
                      <a:pPr algn="ctr">
                        <a:defRPr sz="1000">
                          <a:latin typeface="Montserrat"/>
                        </a:defRPr>
                      </a:pPr>
                      <a:r>
                        <a:t>7%</a:t>
                      </a:r>
                    </a:p>
                  </a:txBody>
                  <a:tcPr>
                    <a:solidFill>
                      <a:srgbClr val="EFEFEF"/>
                    </a:solidFill>
                  </a:tcPr>
                </a:tc>
              </a:tr>
              <a:tr h="284400">
                <a:tc>
                  <a:txBody>
                    <a:bodyPr/>
                    <a:lstStyle/>
                    <a:p>
                      <a:pPr algn="ctr">
                        <a:defRPr sz="1000">
                          <a:latin typeface="Montserrat"/>
                        </a:defRPr>
                      </a:pPr>
                      <a:r>
                        <a:t>HGS 33 Tierra Blanca</a:t>
                      </a:r>
                    </a:p>
                  </a:txBody>
                  <a:tcPr>
                    <a:solidFill>
                      <a:srgbClr val="FFFFFF"/>
                    </a:solidFill>
                  </a:tcPr>
                </a:tc>
                <a:tc>
                  <a:txBody>
                    <a:bodyPr/>
                    <a:lstStyle/>
                    <a:p>
                      <a:pPr algn="ctr">
                        <a:defRPr sz="1000">
                          <a:latin typeface="Montserrat"/>
                        </a:defRPr>
                      </a:pPr>
                      <a:r>
                        <a:t>4</a:t>
                      </a:r>
                    </a:p>
                  </a:txBody>
                  <a:tcPr>
                    <a:solidFill>
                      <a:srgbClr val="FFFFFF"/>
                    </a:solidFill>
                  </a:tcPr>
                </a:tc>
                <a:tc>
                  <a:txBody>
                    <a:bodyPr/>
                    <a:lstStyle/>
                    <a:p>
                      <a:pPr algn="ctr">
                        <a:defRPr sz="1000">
                          <a:latin typeface="Montserrat"/>
                        </a:defRPr>
                      </a:pPr>
                      <a:r>
                        <a:t>26,280</a:t>
                      </a:r>
                    </a:p>
                  </a:txBody>
                  <a:tcPr>
                    <a:solidFill>
                      <a:srgbClr val="FFFFFF"/>
                    </a:solidFill>
                  </a:tcPr>
                </a:tc>
                <a:tc>
                  <a:txBody>
                    <a:bodyPr/>
                    <a:lstStyle/>
                    <a:p>
                      <a:pPr algn="ctr">
                        <a:defRPr sz="1000">
                          <a:latin typeface="Montserrat"/>
                        </a:defRPr>
                      </a:pPr>
                      <a:r>
                        <a:t>1,761</a:t>
                      </a:r>
                    </a:p>
                  </a:txBody>
                  <a:tcPr>
                    <a:solidFill>
                      <a:srgbClr val="FFFFFF"/>
                    </a:solidFill>
                  </a:tcPr>
                </a:tc>
                <a:tc>
                  <a:txBody>
                    <a:bodyPr/>
                    <a:lstStyle/>
                    <a:p>
                      <a:pPr algn="ctr">
                        <a:defRPr sz="1000">
                          <a:latin typeface="Montserrat"/>
                        </a:defRPr>
                      </a:pPr>
                      <a:r>
                        <a:t>3,776</a:t>
                      </a:r>
                    </a:p>
                  </a:txBody>
                  <a:tcPr>
                    <a:solidFill>
                      <a:srgbClr val="FFFFFF"/>
                    </a:solidFill>
                  </a:tcPr>
                </a:tc>
                <a:tc>
                  <a:txBody>
                    <a:bodyPr/>
                    <a:lstStyle/>
                    <a:p>
                      <a:pPr algn="ctr">
                        <a:defRPr sz="1000">
                          <a:latin typeface="Montserrat"/>
                        </a:defRPr>
                      </a:pPr>
                      <a:r>
                        <a:t>47%</a:t>
                      </a:r>
                    </a:p>
                  </a:txBody>
                  <a:tcPr>
                    <a:solidFill>
                      <a:srgbClr val="FFFFFF"/>
                    </a:solidFill>
                  </a:tcPr>
                </a:tc>
                <a:tc>
                  <a:txBody>
                    <a:bodyPr/>
                    <a:lstStyle/>
                    <a:p>
                      <a:pPr algn="ctr">
                        <a:defRPr sz="1000">
                          <a:latin typeface="Montserrat"/>
                        </a:defRPr>
                      </a:pPr>
                      <a:r>
                        <a:t>7%</a:t>
                      </a:r>
                    </a:p>
                  </a:txBody>
                  <a:tcPr>
                    <a:solidFill>
                      <a:srgbClr val="FFFFFF"/>
                    </a:solidFill>
                  </a:tcPr>
                </a:tc>
              </a:tr>
              <a:tr h="284400">
                <a:tc>
                  <a:txBody>
                    <a:bodyPr/>
                    <a:lstStyle/>
                    <a:p>
                      <a:pPr algn="ctr">
                        <a:defRPr sz="1000">
                          <a:latin typeface="Montserrat"/>
                        </a:defRPr>
                      </a:pPr>
                      <a:r>
                        <a:t>HGZ 24 Poza Rica</a:t>
                      </a:r>
                    </a:p>
                  </a:txBody>
                  <a:tcPr>
                    <a:solidFill>
                      <a:srgbClr val="EFEFEF"/>
                    </a:solidFill>
                  </a:tcPr>
                </a:tc>
                <a:tc>
                  <a:txBody>
                    <a:bodyPr/>
                    <a:lstStyle/>
                    <a:p>
                      <a:pPr algn="ctr">
                        <a:defRPr sz="1000">
                          <a:latin typeface="Montserrat"/>
                        </a:defRPr>
                      </a:pPr>
                      <a:r>
                        <a:t>16</a:t>
                      </a:r>
                    </a:p>
                  </a:txBody>
                  <a:tcPr>
                    <a:solidFill>
                      <a:srgbClr val="EFEFEF"/>
                    </a:solidFill>
                  </a:tcPr>
                </a:tc>
                <a:tc>
                  <a:txBody>
                    <a:bodyPr/>
                    <a:lstStyle/>
                    <a:p>
                      <a:pPr algn="ctr">
                        <a:defRPr sz="1000">
                          <a:latin typeface="Montserrat"/>
                        </a:defRPr>
                      </a:pPr>
                      <a:r>
                        <a:t>105,120</a:t>
                      </a:r>
                    </a:p>
                  </a:txBody>
                  <a:tcPr>
                    <a:solidFill>
                      <a:srgbClr val="EFEFEF"/>
                    </a:solidFill>
                  </a:tcPr>
                </a:tc>
                <a:tc>
                  <a:txBody>
                    <a:bodyPr/>
                    <a:lstStyle/>
                    <a:p>
                      <a:pPr algn="ctr">
                        <a:defRPr sz="1000">
                          <a:latin typeface="Montserrat"/>
                        </a:defRPr>
                      </a:pPr>
                      <a:r>
                        <a:t>6,722</a:t>
                      </a:r>
                    </a:p>
                  </a:txBody>
                  <a:tcPr>
                    <a:solidFill>
                      <a:srgbClr val="EFEFEF"/>
                    </a:solidFill>
                  </a:tcPr>
                </a:tc>
                <a:tc>
                  <a:txBody>
                    <a:bodyPr/>
                    <a:lstStyle/>
                    <a:p>
                      <a:pPr algn="ctr">
                        <a:defRPr sz="1000">
                          <a:latin typeface="Montserrat"/>
                        </a:defRPr>
                      </a:pPr>
                      <a:r>
                        <a:t>16,048</a:t>
                      </a:r>
                    </a:p>
                  </a:txBody>
                  <a:tcPr>
                    <a:solidFill>
                      <a:srgbClr val="EFEFEF"/>
                    </a:solidFill>
                  </a:tcPr>
                </a:tc>
                <a:tc>
                  <a:txBody>
                    <a:bodyPr/>
                    <a:lstStyle/>
                    <a:p>
                      <a:pPr algn="ctr">
                        <a:defRPr sz="1000">
                          <a:latin typeface="Montserrat"/>
                        </a:defRPr>
                      </a:pPr>
                      <a:r>
                        <a:t>42%</a:t>
                      </a:r>
                    </a:p>
                  </a:txBody>
                  <a:tcPr>
                    <a:solidFill>
                      <a:srgbClr val="EFEFEF"/>
                    </a:solidFill>
                  </a:tcPr>
                </a:tc>
                <a:tc>
                  <a:txBody>
                    <a:bodyPr/>
                    <a:lstStyle/>
                    <a:p>
                      <a:pPr algn="ctr">
                        <a:defRPr sz="1000">
                          <a:latin typeface="Montserrat"/>
                        </a:defRPr>
                      </a:pPr>
                      <a:r>
                        <a:t>6%</a:t>
                      </a:r>
                    </a:p>
                  </a:txBody>
                  <a:tcPr>
                    <a:solidFill>
                      <a:srgbClr val="EFEFEF"/>
                    </a:solidFill>
                  </a:tcPr>
                </a:tc>
              </a:tr>
              <a:tr h="284400">
                <a:tc>
                  <a:txBody>
                    <a:bodyPr/>
                    <a:lstStyle/>
                    <a:p>
                      <a:pPr algn="ctr">
                        <a:defRPr sz="1000">
                          <a:latin typeface="Montserrat"/>
                        </a:defRPr>
                      </a:pPr>
                      <a:r>
                        <a:t>HGSMF 33 S. Andrés Tuxtla</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32,850</a:t>
                      </a:r>
                    </a:p>
                  </a:txBody>
                  <a:tcPr>
                    <a:solidFill>
                      <a:srgbClr val="FFFFFF"/>
                    </a:solidFill>
                  </a:tcPr>
                </a:tc>
                <a:tc>
                  <a:txBody>
                    <a:bodyPr/>
                    <a:lstStyle/>
                    <a:p>
                      <a:pPr algn="ctr">
                        <a:defRPr sz="1000">
                          <a:latin typeface="Montserrat"/>
                        </a:defRPr>
                      </a:pPr>
                      <a:r>
                        <a:t>1,882</a:t>
                      </a:r>
                    </a:p>
                  </a:txBody>
                  <a:tcPr>
                    <a:solidFill>
                      <a:srgbClr val="FFFFFF"/>
                    </a:solidFill>
                  </a:tcPr>
                </a:tc>
                <a:tc>
                  <a:txBody>
                    <a:bodyPr/>
                    <a:lstStyle/>
                    <a:p>
                      <a:pPr algn="ctr">
                        <a:defRPr sz="1000">
                          <a:latin typeface="Montserrat"/>
                        </a:defRPr>
                      </a:pPr>
                      <a:r>
                        <a:t>4,720</a:t>
                      </a:r>
                    </a:p>
                  </a:txBody>
                  <a:tcPr>
                    <a:solidFill>
                      <a:srgbClr val="FFFFFF"/>
                    </a:solidFill>
                  </a:tcPr>
                </a:tc>
                <a:tc>
                  <a:txBody>
                    <a:bodyPr/>
                    <a:lstStyle/>
                    <a:p>
                      <a:pPr algn="ctr">
                        <a:defRPr sz="1000">
                          <a:latin typeface="Montserrat"/>
                        </a:defRPr>
                      </a:pPr>
                      <a:r>
                        <a:t>40%</a:t>
                      </a:r>
                    </a:p>
                  </a:txBody>
                  <a:tcPr>
                    <a:solidFill>
                      <a:srgbClr val="FFFFFF"/>
                    </a:solidFill>
                  </a:tcPr>
                </a:tc>
                <a:tc>
                  <a:txBody>
                    <a:bodyPr/>
                    <a:lstStyle/>
                    <a:p>
                      <a:pPr algn="ctr">
                        <a:defRPr sz="1000">
                          <a:latin typeface="Montserrat"/>
                        </a:defRPr>
                      </a:pPr>
                      <a:r>
                        <a:t>6%</a:t>
                      </a:r>
                    </a:p>
                  </a:txBody>
                  <a:tcPr>
                    <a:solidFill>
                      <a:srgbClr val="FFFFFF"/>
                    </a:solidFill>
                  </a:tcPr>
                </a:tc>
              </a:tr>
              <a:tr h="284400">
                <a:tc>
                  <a:txBody>
                    <a:bodyPr/>
                    <a:lstStyle/>
                    <a:p>
                      <a:pPr algn="ctr">
                        <a:defRPr sz="1000">
                          <a:latin typeface="Montserrat"/>
                        </a:defRPr>
                      </a:pPr>
                      <a:r>
                        <a:t>HGSMF 16 Omealca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6,570</a:t>
                      </a:r>
                    </a:p>
                  </a:txBody>
                  <a:tcPr>
                    <a:solidFill>
                      <a:srgbClr val="EFEFEF"/>
                    </a:solidFill>
                  </a:tcPr>
                </a:tc>
                <a:tc>
                  <a:txBody>
                    <a:bodyPr/>
                    <a:lstStyle/>
                    <a:p>
                      <a:pPr algn="ctr">
                        <a:defRPr sz="1000">
                          <a:latin typeface="Montserrat"/>
                        </a:defRPr>
                      </a:pPr>
                      <a:r>
                        <a:t>302</a:t>
                      </a:r>
                    </a:p>
                  </a:txBody>
                  <a:tcPr>
                    <a:solidFill>
                      <a:srgbClr val="EFEFEF"/>
                    </a:solidFill>
                  </a:tcPr>
                </a:tc>
                <a:tc>
                  <a:txBody>
                    <a:bodyPr/>
                    <a:lstStyle/>
                    <a:p>
                      <a:pPr algn="ctr">
                        <a:defRPr sz="1000">
                          <a:latin typeface="Montserrat"/>
                        </a:defRPr>
                      </a:pPr>
                      <a:r>
                        <a:t>944</a:t>
                      </a:r>
                    </a:p>
                  </a:txBody>
                  <a:tcPr>
                    <a:solidFill>
                      <a:srgbClr val="EFEFEF"/>
                    </a:solidFill>
                  </a:tcPr>
                </a:tc>
                <a:tc>
                  <a:txBody>
                    <a:bodyPr/>
                    <a:lstStyle/>
                    <a:p>
                      <a:pPr algn="ctr">
                        <a:defRPr sz="1000">
                          <a:latin typeface="Montserrat"/>
                        </a:defRPr>
                      </a:pPr>
                      <a:r>
                        <a:t>32%</a:t>
                      </a:r>
                    </a:p>
                  </a:txBody>
                  <a:tcPr>
                    <a:solidFill>
                      <a:srgbClr val="EFEFEF"/>
                    </a:solidFill>
                  </a:tcPr>
                </a:tc>
                <a:tc>
                  <a:txBody>
                    <a:bodyPr/>
                    <a:lstStyle/>
                    <a:p>
                      <a:pPr algn="ctr">
                        <a:defRPr sz="1000">
                          <a:latin typeface="Montserrat"/>
                        </a:defRPr>
                      </a:pPr>
                      <a:r>
                        <a:t>5%</a:t>
                      </a:r>
                    </a:p>
                  </a:txBody>
                  <a:tcPr>
                    <a:solidFill>
                      <a:srgbClr val="EFEFEF"/>
                    </a:solidFill>
                  </a:tcPr>
                </a:tc>
              </a:tr>
              <a:tr h="284400">
                <a:tc>
                  <a:txBody>
                    <a:bodyPr/>
                    <a:lstStyle/>
                    <a:p>
                      <a:pPr algn="ctr">
                        <a:defRPr sz="1000">
                          <a:latin typeface="Montserrat"/>
                        </a:defRPr>
                      </a:pPr>
                      <a:r>
                        <a:t>HGZMF 28 Martínez de la Torre</a:t>
                      </a:r>
                    </a:p>
                  </a:txBody>
                  <a:tcPr>
                    <a:solidFill>
                      <a:srgbClr val="FFFFFF"/>
                    </a:solidFill>
                  </a:tcPr>
                </a:tc>
                <a:tc>
                  <a:txBody>
                    <a:bodyPr/>
                    <a:lstStyle/>
                    <a:p>
                      <a:pPr algn="ctr">
                        <a:defRPr sz="1000">
                          <a:latin typeface="Montserrat"/>
                        </a:defRPr>
                      </a:pPr>
                      <a:r>
                        <a:t>6</a:t>
                      </a:r>
                    </a:p>
                  </a:txBody>
                  <a:tcPr>
                    <a:solidFill>
                      <a:srgbClr val="FFFFFF"/>
                    </a:solidFill>
                  </a:tcPr>
                </a:tc>
                <a:tc>
                  <a:txBody>
                    <a:bodyPr/>
                    <a:lstStyle/>
                    <a:p>
                      <a:pPr algn="ctr">
                        <a:defRPr sz="1000">
                          <a:latin typeface="Montserrat"/>
                        </a:defRPr>
                      </a:pPr>
                      <a:r>
                        <a:t>39,420</a:t>
                      </a:r>
                    </a:p>
                  </a:txBody>
                  <a:tcPr>
                    <a:solidFill>
                      <a:srgbClr val="FFFFFF"/>
                    </a:solidFill>
                  </a:tcPr>
                </a:tc>
                <a:tc>
                  <a:txBody>
                    <a:bodyPr/>
                    <a:lstStyle/>
                    <a:p>
                      <a:pPr algn="ctr">
                        <a:defRPr sz="1000">
                          <a:latin typeface="Montserrat"/>
                        </a:defRPr>
                      </a:pPr>
                      <a:r>
                        <a:t>1,525</a:t>
                      </a:r>
                    </a:p>
                  </a:txBody>
                  <a:tcPr>
                    <a:solidFill>
                      <a:srgbClr val="FFFFFF"/>
                    </a:solidFill>
                  </a:tcPr>
                </a:tc>
                <a:tc>
                  <a:txBody>
                    <a:bodyPr/>
                    <a:lstStyle/>
                    <a:p>
                      <a:pPr algn="ctr">
                        <a:defRPr sz="1000">
                          <a:latin typeface="Montserrat"/>
                        </a:defRPr>
                      </a:pPr>
                      <a:r>
                        <a:t>6,018</a:t>
                      </a:r>
                    </a:p>
                  </a:txBody>
                  <a:tcPr>
                    <a:solidFill>
                      <a:srgbClr val="FFFFFF"/>
                    </a:solidFill>
                  </a:tcPr>
                </a:tc>
                <a:tc>
                  <a:txBody>
                    <a:bodyPr/>
                    <a:lstStyle/>
                    <a:p>
                      <a:pPr algn="ctr">
                        <a:defRPr sz="1000">
                          <a:latin typeface="Montserrat"/>
                        </a:defRPr>
                      </a:pPr>
                      <a:r>
                        <a:t>25%</a:t>
                      </a:r>
                    </a:p>
                  </a:txBody>
                  <a:tcPr>
                    <a:solidFill>
                      <a:srgbClr val="FFFFFF"/>
                    </a:solidFill>
                  </a:tcPr>
                </a:tc>
                <a:tc>
                  <a:txBody>
                    <a:bodyPr/>
                    <a:lstStyle/>
                    <a:p>
                      <a:pPr algn="ctr">
                        <a:defRPr sz="1000">
                          <a:latin typeface="Montserrat"/>
                        </a:defRPr>
                      </a:pPr>
                      <a:r>
                        <a:t>4%</a:t>
                      </a:r>
                    </a:p>
                  </a:txBody>
                  <a:tcPr>
                    <a:solidFill>
                      <a:srgbClr val="FFFFFF"/>
                    </a:solidFill>
                  </a:tcPr>
                </a:tc>
              </a:tr>
              <a:tr h="284400">
                <a:tc>
                  <a:txBody>
                    <a:bodyPr/>
                    <a:lstStyle/>
                    <a:p>
                      <a:pPr algn="ctr">
                        <a:defRPr sz="1000">
                          <a:latin typeface="Montserrat"/>
                        </a:defRPr>
                      </a:pPr>
                      <a:r>
                        <a:t>HGSMF 19 Cosolapa</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13,140</a:t>
                      </a:r>
                    </a:p>
                  </a:txBody>
                  <a:tcPr>
                    <a:solidFill>
                      <a:srgbClr val="EFEFEF"/>
                    </a:solidFill>
                  </a:tcPr>
                </a:tc>
                <a:tc>
                  <a:txBody>
                    <a:bodyPr/>
                    <a:lstStyle/>
                    <a:p>
                      <a:pPr algn="ctr">
                        <a:defRPr sz="1000">
                          <a:latin typeface="Montserrat"/>
                        </a:defRPr>
                      </a:pPr>
                      <a:r>
                        <a:t>308</a:t>
                      </a:r>
                    </a:p>
                  </a:txBody>
                  <a:tcPr>
                    <a:solidFill>
                      <a:srgbClr val="EFEFEF"/>
                    </a:solidFill>
                  </a:tcPr>
                </a:tc>
                <a:tc>
                  <a:txBody>
                    <a:bodyPr/>
                    <a:lstStyle/>
                    <a:p>
                      <a:pPr algn="ctr">
                        <a:defRPr sz="1000">
                          <a:latin typeface="Montserrat"/>
                        </a:defRPr>
                      </a:pPr>
                      <a:r>
                        <a:t>1,888</a:t>
                      </a:r>
                    </a:p>
                  </a:txBody>
                  <a:tcPr>
                    <a:solidFill>
                      <a:srgbClr val="EFEFEF"/>
                    </a:solidFill>
                  </a:tcPr>
                </a:tc>
                <a:tc>
                  <a:txBody>
                    <a:bodyPr/>
                    <a:lstStyle/>
                    <a:p>
                      <a:pPr algn="ctr">
                        <a:defRPr sz="1000">
                          <a:latin typeface="Montserrat"/>
                        </a:defRPr>
                      </a:pPr>
                      <a:r>
                        <a:t>16%</a:t>
                      </a:r>
                    </a:p>
                  </a:txBody>
                  <a:tcPr>
                    <a:solidFill>
                      <a:srgbClr val="EFEFEF"/>
                    </a:solidFill>
                  </a:tcPr>
                </a:tc>
                <a:tc>
                  <a:txBody>
                    <a:bodyPr/>
                    <a:lstStyle/>
                    <a:p>
                      <a:pPr algn="ctr">
                        <a:defRPr sz="1000">
                          <a:latin typeface="Montserrat"/>
                        </a:defRPr>
                      </a:pPr>
                      <a:r>
                        <a:t>2%</a:t>
                      </a:r>
                    </a:p>
                  </a:txBody>
                  <a:tcPr>
                    <a:solidFill>
                      <a:srgbClr val="EFEFEF"/>
                    </a:solidFill>
                  </a:tcPr>
                </a:tc>
              </a:tr>
              <a:tr h="284400">
                <a:tc>
                  <a:txBody>
                    <a:bodyPr/>
                    <a:lstStyle/>
                    <a:p>
                      <a:pPr algn="ctr">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186</a:t>
                      </a:r>
                    </a:p>
                  </a:txBody>
                  <a:tcPr>
                    <a:solidFill>
                      <a:srgbClr val="D3E9E7"/>
                    </a:solidFill>
                  </a:tcPr>
                </a:tc>
                <a:tc>
                  <a:txBody>
                    <a:bodyPr/>
                    <a:lstStyle/>
                    <a:p>
                      <a:pPr algn="ctr">
                        <a:defRPr sz="1000" b="1">
                          <a:solidFill>
                            <a:srgbClr val="006556"/>
                          </a:solidFill>
                          <a:latin typeface="Montserrat"/>
                        </a:defRPr>
                      </a:pPr>
                      <a:r>
                        <a:t>1,222,020</a:t>
                      </a:r>
                    </a:p>
                  </a:txBody>
                  <a:tcPr>
                    <a:solidFill>
                      <a:srgbClr val="D3E9E7"/>
                    </a:solidFill>
                  </a:tcPr>
                </a:tc>
                <a:tc>
                  <a:txBody>
                    <a:bodyPr/>
                    <a:lstStyle/>
                    <a:p>
                      <a:pPr algn="ctr">
                        <a:defRPr sz="1000" b="1">
                          <a:solidFill>
                            <a:srgbClr val="006556"/>
                          </a:solidFill>
                          <a:latin typeface="Montserrat"/>
                        </a:defRPr>
                      </a:pPr>
                      <a:r>
                        <a:t>111,036</a:t>
                      </a:r>
                    </a:p>
                  </a:txBody>
                  <a:tcPr>
                    <a:solidFill>
                      <a:srgbClr val="D3E9E7"/>
                    </a:solidFill>
                  </a:tcPr>
                </a:tc>
                <a:tc>
                  <a:txBody>
                    <a:bodyPr/>
                    <a:lstStyle/>
                    <a:p>
                      <a:pPr algn="ctr">
                        <a:defRPr sz="1000" b="1">
                          <a:solidFill>
                            <a:srgbClr val="006556"/>
                          </a:solidFill>
                          <a:latin typeface="Montserrat"/>
                        </a:defRPr>
                      </a:pPr>
                      <a:r>
                        <a:t>222,194</a:t>
                      </a:r>
                    </a:p>
                  </a:txBody>
                  <a:tcPr>
                    <a:solidFill>
                      <a:srgbClr val="D3E9E7"/>
                    </a:solidFill>
                  </a:tcPr>
                </a:tc>
                <a:tc>
                  <a:txBody>
                    <a:bodyPr/>
                    <a:lstStyle/>
                    <a:p>
                      <a:pPr algn="ctr">
                        <a:defRPr sz="1000" b="1">
                          <a:solidFill>
                            <a:srgbClr val="006556"/>
                          </a:solidFill>
                          <a:latin typeface="Montserrat"/>
                        </a:defRPr>
                      </a:pPr>
                      <a:r>
                        <a:t>45%</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r>
            </a:tbl>
          </a:graphicData>
        </a:graphic>
      </p:graphicFrame>
    </p:spTree>
    <p:extLst>
      <p:ext uri="{BB962C8B-B14F-4D97-AF65-F5344CB8AC3E}">
        <p14:creationId xmlns:p14="http://schemas.microsoft.com/office/powerpoint/2010/main" val="540716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72540884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Meta: </a:t>
                      </a:r>
                      <a:r>
                        <a:rPr lang="es" sz="2100" b="1" u="none" strike="noStrike" cap="none" dirty="0">
                          <a:solidFill>
                            <a:srgbClr val="980000"/>
                          </a:solidFill>
                          <a:latin typeface="Montserrat"/>
                          <a:ea typeface="Montserrat"/>
                          <a:cs typeface="Montserrat"/>
                          <a:sym typeface="Montserrat"/>
                        </a:rPr>
                        <a:t>Resumen</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Noto Sans"/>
              </a:defRPr>
            </a:pPr>
            <a:r>
              <a:t>Corte de información: semana 9, febrero 2026</a:t>
            </a:r>
          </a:p>
        </p:txBody>
      </p:sp>
      <p:sp>
        <p:nvSpPr>
          <p:cNvPr id="233" name="TextBox 232"/>
          <p:cNvSpPr txBox="1"/>
          <p:nvPr/>
        </p:nvSpPr>
        <p:spPr>
          <a:xfrm>
            <a:off x="147600" y="1238400"/>
            <a:ext cx="7473600" cy="381600"/>
          </a:xfrm>
          <a:prstGeom prst="rect">
            <a:avLst/>
          </a:prstGeom>
          <a:noFill/>
        </p:spPr>
        <p:txBody>
          <a:bodyPr wrap="none">
            <a:spAutoFit/>
          </a:bodyPr>
          <a:lstStyle/>
          <a:p>
            <a:pPr algn="l">
              <a:defRPr sz="2100" b="1">
                <a:solidFill>
                  <a:srgbClr val="BC955C"/>
                </a:solidFill>
                <a:latin typeface="Montserrat"/>
              </a:defRPr>
            </a:pPr>
            <a:r>
              <a:t>OOAD</a:t>
            </a:r>
          </a:p>
        </p:txBody>
      </p:sp>
      <p:graphicFrame>
        <p:nvGraphicFramePr>
          <p:cNvPr id="234" name="Table 233"/>
          <p:cNvGraphicFramePr>
            <a:graphicFrameLocks noGrp="1"/>
          </p:cNvGraphicFramePr>
          <p:nvPr/>
        </p:nvGraphicFramePr>
        <p:xfrm>
          <a:off x="144000" y="1238400"/>
          <a:ext cx="7488000" cy="2520000"/>
        </p:xfrm>
        <a:graphic>
          <a:graphicData uri="http://schemas.openxmlformats.org/drawingml/2006/table">
            <a:tbl>
              <a:tblPr firstRow="1" bandRow="1">
                <a:tableStyleId>{5C22544A-7EE6-4342-B048-85BDC9FD1C3A}</a:tableStyleId>
              </a:tblPr>
              <a:tblGrid>
                <a:gridCol w="1872000"/>
                <a:gridCol w="936000"/>
                <a:gridCol w="1144800"/>
                <a:gridCol w="1335600"/>
                <a:gridCol w="1263600"/>
                <a:gridCol w="936000"/>
              </a:tblGrid>
              <a:tr h="360000">
                <a:tc>
                  <a:txBody>
                    <a:bodyPr/>
                    <a:lstStyle/>
                    <a:p>
                      <a:pPr algn="ctr">
                        <a:defRPr b="1" sz="900">
                          <a:solidFill>
                            <a:srgbClr val="FFFFFF"/>
                          </a:solidFill>
                          <a:latin typeface="Montserrat"/>
                        </a:defRPr>
                      </a:pPr>
                    </a:p>
                  </a:txBody>
                  <a:tcPr>
                    <a:noFill/>
                  </a:tcPr>
                </a:tc>
                <a:tc>
                  <a:txBody>
                    <a:bodyPr/>
                    <a:lstStyle/>
                    <a:p>
                      <a:pPr algn="ctr">
                        <a:defRPr b="1" sz="900">
                          <a:solidFill>
                            <a:srgbClr val="FFFFFF"/>
                          </a:solidFill>
                          <a:latin typeface="Montserrat"/>
                        </a:defRPr>
                      </a:pPr>
                      <a:r>
                        <a:t>Metas anuales</a:t>
                      </a:r>
                    </a:p>
                  </a:txBody>
                  <a:tcPr>
                    <a:solidFill>
                      <a:srgbClr val="006455"/>
                    </a:solidFill>
                  </a:tcPr>
                </a:tc>
                <a:tc>
                  <a:txBody>
                    <a:bodyPr/>
                    <a:lstStyle/>
                    <a:p>
                      <a:pPr algn="ctr">
                        <a:defRPr b="1" sz="900">
                          <a:solidFill>
                            <a:srgbClr val="FFFFFF"/>
                          </a:solidFill>
                          <a:latin typeface="Montserrat"/>
                        </a:defRPr>
                      </a:pPr>
                      <a:r>
                        <a:t>Productividad esperada a la fecha</a:t>
                      </a:r>
                    </a:p>
                  </a:txBody>
                  <a:tcPr>
                    <a:solidFill>
                      <a:srgbClr val="006455"/>
                    </a:solidFill>
                  </a:tcPr>
                </a:tc>
                <a:tc>
                  <a:txBody>
                    <a:bodyPr/>
                    <a:lstStyle/>
                    <a:p>
                      <a:pPr algn="ctr">
                        <a:defRPr b="1" sz="900">
                          <a:solidFill>
                            <a:srgbClr val="FFFFFF"/>
                          </a:solidFill>
                          <a:latin typeface="Montserrat"/>
                        </a:defRPr>
                      </a:pPr>
                      <a:r>
                        <a:t>Productividad a la fecha</a:t>
                      </a:r>
                    </a:p>
                  </a:txBody>
                  <a:tcPr>
                    <a:solidFill>
                      <a:srgbClr val="006455"/>
                    </a:solidFill>
                  </a:tcPr>
                </a:tc>
                <a:tc>
                  <a:txBody>
                    <a:bodyPr/>
                    <a:lstStyle/>
                    <a:p>
                      <a:pPr algn="ctr">
                        <a:defRPr b="1" sz="900">
                          <a:solidFill>
                            <a:srgbClr val="FFFFFF"/>
                          </a:solidFill>
                          <a:latin typeface="Montserrat"/>
                        </a:defRPr>
                      </a:pPr>
                      <a:r>
                        <a:t>% de avance a la fecha</a:t>
                      </a:r>
                    </a:p>
                  </a:txBody>
                  <a:tcPr>
                    <a:solidFill>
                      <a:srgbClr val="006455"/>
                    </a:solidFill>
                  </a:tcPr>
                </a:tc>
                <a:tc>
                  <a:txBody>
                    <a:bodyPr/>
                    <a:lstStyle/>
                    <a:p>
                      <a:pPr algn="ctr">
                        <a:defRPr b="1" sz="900">
                          <a:solidFill>
                            <a:srgbClr val="FFFFFF"/>
                          </a:solidFill>
                          <a:latin typeface="Montserrat"/>
                        </a:defRPr>
                      </a:pPr>
                      <a:r>
                        <a:t>% avance anual</a:t>
                      </a:r>
                    </a:p>
                  </a:txBody>
                  <a:tcPr>
                    <a:solidFill>
                      <a:srgbClr val="006455"/>
                    </a:solidFill>
                  </a:tcPr>
                </a:tc>
              </a:tr>
              <a:tr h="360000">
                <a:tc>
                  <a:txBody>
                    <a:bodyPr/>
                    <a:lstStyle/>
                    <a:p>
                      <a:pPr algn="ctr">
                        <a:defRPr sz="1000">
                          <a:latin typeface="Montserrat"/>
                        </a:defRPr>
                      </a:pPr>
                      <a:r>
                        <a:t>Consulta de Medicina Familiar</a:t>
                      </a:r>
                    </a:p>
                  </a:txBody>
                  <a:tcPr>
                    <a:solidFill>
                      <a:srgbClr val="FFFFFF"/>
                    </a:solidFill>
                  </a:tcPr>
                </a:tc>
                <a:tc>
                  <a:txBody>
                    <a:bodyPr/>
                    <a:lstStyle/>
                    <a:p>
                      <a:pPr algn="ctr">
                        <a:defRPr sz="1000">
                          <a:latin typeface="Montserrat"/>
                        </a:defRPr>
                      </a:pPr>
                      <a:r>
                        <a:t>701,568</a:t>
                      </a:r>
                    </a:p>
                  </a:txBody>
                  <a:tcPr>
                    <a:solidFill>
                      <a:srgbClr val="FFFFFF"/>
                    </a:solidFill>
                  </a:tcPr>
                </a:tc>
                <a:tc>
                  <a:txBody>
                    <a:bodyPr/>
                    <a:lstStyle/>
                    <a:p>
                      <a:pPr algn="ctr">
                        <a:defRPr sz="1000">
                          <a:latin typeface="Montserrat"/>
                        </a:defRPr>
                      </a:pPr>
                      <a:r>
                        <a:t>119,335</a:t>
                      </a:r>
                    </a:p>
                  </a:txBody>
                  <a:tcPr>
                    <a:solidFill>
                      <a:srgbClr val="FFFFFF"/>
                    </a:solidFill>
                  </a:tcPr>
                </a:tc>
                <a:tc>
                  <a:txBody>
                    <a:bodyPr/>
                    <a:lstStyle/>
                    <a:p>
                      <a:pPr algn="ctr">
                        <a:defRPr sz="1000">
                          <a:latin typeface="Montserrat"/>
                        </a:defRPr>
                      </a:pPr>
                      <a:r>
                        <a:t>74,248</a:t>
                      </a:r>
                    </a:p>
                  </a:txBody>
                  <a:tcPr>
                    <a:solidFill>
                      <a:srgbClr val="FFFFFF"/>
                    </a:solidFill>
                  </a:tcPr>
                </a:tc>
                <a:tc>
                  <a:txBody>
                    <a:bodyPr/>
                    <a:lstStyle/>
                    <a:p>
                      <a:pPr algn="ctr">
                        <a:defRPr sz="1000">
                          <a:latin typeface="Montserrat"/>
                        </a:defRPr>
                      </a:pPr>
                      <a:r>
                        <a:t>62%</a:t>
                      </a:r>
                    </a:p>
                  </a:txBody>
                  <a:tcPr>
                    <a:solidFill>
                      <a:srgbClr val="FFFFFF"/>
                    </a:solidFill>
                  </a:tcPr>
                </a:tc>
                <a:tc>
                  <a:txBody>
                    <a:bodyPr/>
                    <a:lstStyle/>
                    <a:p>
                      <a:pPr algn="ctr">
                        <a:defRPr sz="1000">
                          <a:latin typeface="Montserrat"/>
                        </a:defRPr>
                      </a:pPr>
                      <a:r>
                        <a:t>11%</a:t>
                      </a:r>
                    </a:p>
                  </a:txBody>
                  <a:tcPr>
                    <a:solidFill>
                      <a:srgbClr val="FFFFFF"/>
                    </a:solidFill>
                  </a:tcPr>
                </a:tc>
              </a:tr>
              <a:tr h="360000">
                <a:tc>
                  <a:txBody>
                    <a:bodyPr/>
                    <a:lstStyle/>
                    <a:p>
                      <a:pPr algn="ctr">
                        <a:defRPr sz="1000">
                          <a:latin typeface="Montserrat"/>
                        </a:defRPr>
                      </a:pPr>
                      <a:r>
                        <a:t>Consulta de Medicina Familiar</a:t>
                      </a:r>
                    </a:p>
                  </a:txBody>
                  <a:tcPr>
                    <a:solidFill>
                      <a:srgbClr val="EFEFEF"/>
                    </a:solidFill>
                  </a:tcPr>
                </a:tc>
                <a:tc>
                  <a:txBody>
                    <a:bodyPr/>
                    <a:lstStyle/>
                    <a:p>
                      <a:pPr algn="ctr">
                        <a:defRPr sz="1000">
                          <a:latin typeface="Montserrat"/>
                        </a:defRPr>
                      </a:pPr>
                      <a:r>
                        <a:t>4,610,304</a:t>
                      </a:r>
                    </a:p>
                  </a:txBody>
                  <a:tcPr>
                    <a:solidFill>
                      <a:srgbClr val="EFEFEF"/>
                    </a:solidFill>
                  </a:tcPr>
                </a:tc>
                <a:tc>
                  <a:txBody>
                    <a:bodyPr/>
                    <a:lstStyle/>
                    <a:p>
                      <a:pPr algn="ctr">
                        <a:defRPr sz="1000">
                          <a:latin typeface="Montserrat"/>
                        </a:defRPr>
                      </a:pPr>
                      <a:r>
                        <a:t>773,137</a:t>
                      </a:r>
                    </a:p>
                  </a:txBody>
                  <a:tcPr>
                    <a:solidFill>
                      <a:srgbClr val="EFEFEF"/>
                    </a:solidFill>
                  </a:tcPr>
                </a:tc>
                <a:tc>
                  <a:txBody>
                    <a:bodyPr/>
                    <a:lstStyle/>
                    <a:p>
                      <a:pPr algn="ctr">
                        <a:defRPr sz="1000">
                          <a:latin typeface="Montserrat"/>
                        </a:defRPr>
                      </a:pPr>
                      <a:r>
                        <a:t>464,708</a:t>
                      </a:r>
                    </a:p>
                  </a:txBody>
                  <a:tcPr>
                    <a:solidFill>
                      <a:srgbClr val="EFEFEF"/>
                    </a:solidFill>
                  </a:tcPr>
                </a:tc>
                <a:tc>
                  <a:txBody>
                    <a:bodyPr/>
                    <a:lstStyle/>
                    <a:p>
                      <a:pPr algn="ctr">
                        <a:defRPr sz="1000">
                          <a:latin typeface="Montserrat"/>
                        </a:defRPr>
                      </a:pPr>
                      <a:r>
                        <a:t>60%</a:t>
                      </a:r>
                    </a:p>
                  </a:txBody>
                  <a:tcPr>
                    <a:solidFill>
                      <a:srgbClr val="EFEFEF"/>
                    </a:solidFill>
                  </a:tcPr>
                </a:tc>
                <a:tc>
                  <a:txBody>
                    <a:bodyPr/>
                    <a:lstStyle/>
                    <a:p>
                      <a:pPr algn="ctr">
                        <a:defRPr sz="1000">
                          <a:latin typeface="Montserrat"/>
                        </a:defRPr>
                      </a:pPr>
                      <a:r>
                        <a:t>10%</a:t>
                      </a:r>
                    </a:p>
                  </a:txBody>
                  <a:tcPr>
                    <a:solidFill>
                      <a:srgbClr val="EFEFEF"/>
                    </a:solidFill>
                  </a:tcPr>
                </a:tc>
              </a:tr>
              <a:tr h="360000">
                <a:tc>
                  <a:txBody>
                    <a:bodyPr/>
                    <a:lstStyle/>
                    <a:p>
                      <a:pPr algn="ctr">
                        <a:defRPr sz="1000">
                          <a:latin typeface="Montserrat"/>
                        </a:defRPr>
                      </a:pPr>
                      <a:r>
                        <a:t>Consulta de especialidad</a:t>
                      </a:r>
                    </a:p>
                  </a:txBody>
                  <a:tcPr>
                    <a:solidFill>
                      <a:srgbClr val="FFFFFF"/>
                    </a:solidFill>
                  </a:tcPr>
                </a:tc>
                <a:tc>
                  <a:txBody>
                    <a:bodyPr/>
                    <a:lstStyle/>
                    <a:p>
                      <a:pPr algn="ctr">
                        <a:defRPr sz="1000">
                          <a:latin typeface="Montserrat"/>
                        </a:defRPr>
                      </a:pPr>
                      <a:r>
                        <a:t>1,222,020</a:t>
                      </a:r>
                    </a:p>
                  </a:txBody>
                  <a:tcPr>
                    <a:solidFill>
                      <a:srgbClr val="FFFFFF"/>
                    </a:solidFill>
                  </a:tcPr>
                </a:tc>
                <a:tc>
                  <a:txBody>
                    <a:bodyPr/>
                    <a:lstStyle/>
                    <a:p>
                      <a:pPr algn="ctr">
                        <a:defRPr sz="1000">
                          <a:latin typeface="Montserrat"/>
                        </a:defRPr>
                      </a:pPr>
                      <a:r>
                        <a:t>222,194</a:t>
                      </a:r>
                    </a:p>
                  </a:txBody>
                  <a:tcPr>
                    <a:solidFill>
                      <a:srgbClr val="FFFFFF"/>
                    </a:solidFill>
                  </a:tcPr>
                </a:tc>
                <a:tc>
                  <a:txBody>
                    <a:bodyPr/>
                    <a:lstStyle/>
                    <a:p>
                      <a:pPr algn="ctr">
                        <a:defRPr sz="1000">
                          <a:latin typeface="Montserrat"/>
                        </a:defRPr>
                      </a:pPr>
                      <a:r>
                        <a:t>111,036</a:t>
                      </a:r>
                    </a:p>
                  </a:txBody>
                  <a:tcPr>
                    <a:solidFill>
                      <a:srgbClr val="FFFFFF"/>
                    </a:solidFill>
                  </a:tcPr>
                </a:tc>
                <a:tc>
                  <a:txBody>
                    <a:bodyPr/>
                    <a:lstStyle/>
                    <a:p>
                      <a:pPr algn="ctr">
                        <a:defRPr sz="1000">
                          <a:latin typeface="Montserrat"/>
                        </a:defRPr>
                      </a:pPr>
                      <a:r>
                        <a:t>50%</a:t>
                      </a:r>
                    </a:p>
                  </a:txBody>
                  <a:tcPr>
                    <a:solidFill>
                      <a:srgbClr val="FFFFFF"/>
                    </a:solidFill>
                  </a:tcPr>
                </a:tc>
                <a:tc>
                  <a:txBody>
                    <a:bodyPr/>
                    <a:lstStyle/>
                    <a:p>
                      <a:pPr algn="ctr">
                        <a:defRPr sz="1000">
                          <a:latin typeface="Montserrat"/>
                        </a:defRPr>
                      </a:pPr>
                      <a:r>
                        <a:t>9%</a:t>
                      </a:r>
                    </a:p>
                  </a:txBody>
                  <a:tcPr>
                    <a:solidFill>
                      <a:srgbClr val="FFFFFF"/>
                    </a:solidFill>
                  </a:tcPr>
                </a:tc>
              </a:tr>
              <a:tr h="360000">
                <a:tc>
                  <a:txBody>
                    <a:bodyPr/>
                    <a:lstStyle/>
                    <a:p>
                      <a:pPr algn="ctr">
                        <a:defRPr sz="1000">
                          <a:latin typeface="Montserrat"/>
                        </a:defRPr>
                      </a:pPr>
                      <a:r>
                        <a:t>Consulta de especialidad</a:t>
                      </a:r>
                    </a:p>
                  </a:txBody>
                  <a:tcPr>
                    <a:solidFill>
                      <a:srgbClr val="EFEFEF"/>
                    </a:solidFill>
                  </a:tcPr>
                </a:tc>
                <a:tc>
                  <a:txBody>
                    <a:bodyPr/>
                    <a:lstStyle/>
                    <a:p>
                      <a:pPr algn="ctr">
                        <a:defRPr sz="1000">
                          <a:latin typeface="Montserrat"/>
                        </a:defRPr>
                      </a:pPr>
                      <a:r>
                        <a:t>282,510</a:t>
                      </a:r>
                    </a:p>
                  </a:txBody>
                  <a:tcPr>
                    <a:solidFill>
                      <a:srgbClr val="EFEFEF"/>
                    </a:solidFill>
                  </a:tcPr>
                </a:tc>
                <a:tc>
                  <a:txBody>
                    <a:bodyPr/>
                    <a:lstStyle/>
                    <a:p>
                      <a:pPr algn="ctr">
                        <a:defRPr sz="1000">
                          <a:latin typeface="Montserrat"/>
                        </a:defRPr>
                      </a:pPr>
                      <a:r>
                        <a:t>45,666</a:t>
                      </a:r>
                    </a:p>
                  </a:txBody>
                  <a:tcPr>
                    <a:solidFill>
                      <a:srgbClr val="EFEFEF"/>
                    </a:solidFill>
                  </a:tcPr>
                </a:tc>
                <a:tc>
                  <a:txBody>
                    <a:bodyPr/>
                    <a:lstStyle/>
                    <a:p>
                      <a:pPr algn="ctr">
                        <a:defRPr sz="1000">
                          <a:latin typeface="Montserrat"/>
                        </a:defRPr>
                      </a:pPr>
                      <a:r>
                        <a:t>20,976</a:t>
                      </a:r>
                    </a:p>
                  </a:txBody>
                  <a:tcPr>
                    <a:solidFill>
                      <a:srgbClr val="EFEFEF"/>
                    </a:solidFill>
                  </a:tcPr>
                </a:tc>
                <a:tc>
                  <a:txBody>
                    <a:bodyPr/>
                    <a:lstStyle/>
                    <a:p>
                      <a:pPr algn="ctr">
                        <a:defRPr sz="1000">
                          <a:latin typeface="Montserrat"/>
                        </a:defRPr>
                      </a:pPr>
                      <a:r>
                        <a:t>46%</a:t>
                      </a:r>
                    </a:p>
                  </a:txBody>
                  <a:tcPr>
                    <a:solidFill>
                      <a:srgbClr val="EFEFEF"/>
                    </a:solidFill>
                  </a:tcPr>
                </a:tc>
                <a:tc>
                  <a:txBody>
                    <a:bodyPr/>
                    <a:lstStyle/>
                    <a:p>
                      <a:pPr algn="ctr">
                        <a:defRPr sz="1000">
                          <a:latin typeface="Montserrat"/>
                        </a:defRPr>
                      </a:pPr>
                      <a:r>
                        <a:t>7%</a:t>
                      </a:r>
                    </a:p>
                  </a:txBody>
                  <a:tcPr>
                    <a:solidFill>
                      <a:srgbClr val="EFEFEF"/>
                    </a:solidFill>
                  </a:tcPr>
                </a:tc>
              </a:tr>
              <a:tr h="360000">
                <a:tc>
                  <a:txBody>
                    <a:bodyPr/>
                    <a:lstStyle/>
                    <a:p>
                      <a:pPr algn="ctr">
                        <a:defRPr sz="1000">
                          <a:latin typeface="Montserrat"/>
                        </a:defRPr>
                      </a:pPr>
                      <a:r>
                        <a:t>Cirugías electivas</a:t>
                      </a:r>
                    </a:p>
                  </a:txBody>
                  <a:tcPr>
                    <a:solidFill>
                      <a:srgbClr val="FFFFFF"/>
                    </a:solidFill>
                  </a:tcPr>
                </a:tc>
                <a:tc>
                  <a:txBody>
                    <a:bodyPr/>
                    <a:lstStyle/>
                    <a:p>
                      <a:pPr algn="ctr">
                        <a:defRPr sz="1000">
                          <a:latin typeface="Montserrat"/>
                        </a:defRPr>
                      </a:pPr>
                      <a:r>
                        <a:t>111,325</a:t>
                      </a:r>
                    </a:p>
                  </a:txBody>
                  <a:tcPr>
                    <a:solidFill>
                      <a:srgbClr val="FFFFFF"/>
                    </a:solidFill>
                  </a:tcPr>
                </a:tc>
                <a:tc>
                  <a:txBody>
                    <a:bodyPr/>
                    <a:lstStyle/>
                    <a:p>
                      <a:pPr algn="ctr">
                        <a:defRPr sz="1000">
                          <a:latin typeface="Montserrat"/>
                        </a:defRPr>
                      </a:pPr>
                      <a:r>
                        <a:t>14,976</a:t>
                      </a:r>
                    </a:p>
                  </a:txBody>
                  <a:tcPr>
                    <a:solidFill>
                      <a:srgbClr val="FFFFFF"/>
                    </a:solidFill>
                  </a:tcPr>
                </a:tc>
                <a:tc>
                  <a:txBody>
                    <a:bodyPr/>
                    <a:lstStyle/>
                    <a:p>
                      <a:pPr algn="ctr">
                        <a:defRPr sz="1000">
                          <a:latin typeface="Montserrat"/>
                        </a:defRPr>
                      </a:pPr>
                      <a:r>
                        <a:t>7,399</a:t>
                      </a:r>
                    </a:p>
                  </a:txBody>
                  <a:tcPr>
                    <a:solidFill>
                      <a:srgbClr val="FFFFFF"/>
                    </a:solidFill>
                  </a:tcPr>
                </a:tc>
                <a:tc>
                  <a:txBody>
                    <a:bodyPr/>
                    <a:lstStyle/>
                    <a:p>
                      <a:pPr algn="ctr">
                        <a:defRPr sz="1000">
                          <a:latin typeface="Montserrat"/>
                        </a:defRPr>
                      </a:pPr>
                      <a:r>
                        <a:t>49%</a:t>
                      </a:r>
                    </a:p>
                  </a:txBody>
                  <a:tcPr>
                    <a:solidFill>
                      <a:srgbClr val="FFFFFF"/>
                    </a:solidFill>
                  </a:tcPr>
                </a:tc>
                <a:tc>
                  <a:txBody>
                    <a:bodyPr/>
                    <a:lstStyle/>
                    <a:p>
                      <a:pPr algn="ctr">
                        <a:defRPr sz="1000">
                          <a:latin typeface="Montserrat"/>
                        </a:defRPr>
                      </a:pPr>
                      <a:r>
                        <a:t>7%</a:t>
                      </a:r>
                    </a:p>
                  </a:txBody>
                  <a:tcPr>
                    <a:solidFill>
                      <a:srgbClr val="FFFFFF"/>
                    </a:solidFill>
                  </a:tcPr>
                </a:tc>
              </a:tr>
              <a:tr h="360000">
                <a:tc>
                  <a:txBody>
                    <a:bodyPr/>
                    <a:lstStyle/>
                    <a:p>
                      <a:pPr algn="ctr">
                        <a:defRPr sz="1000">
                          <a:latin typeface="Montserrat"/>
                        </a:defRPr>
                      </a:pPr>
                      <a:r>
                        <a:t>Cirugías electivas</a:t>
                      </a:r>
                    </a:p>
                  </a:txBody>
                  <a:tcPr>
                    <a:solidFill>
                      <a:srgbClr val="EFEFEF"/>
                    </a:solidFill>
                  </a:tcPr>
                </a:tc>
                <a:tc>
                  <a:txBody>
                    <a:bodyPr/>
                    <a:lstStyle/>
                    <a:p>
                      <a:pPr algn="ctr">
                        <a:defRPr sz="1000">
                          <a:latin typeface="Montserrat"/>
                        </a:defRPr>
                      </a:pPr>
                      <a:r>
                        <a:t>21,900</a:t>
                      </a:r>
                    </a:p>
                  </a:txBody>
                  <a:tcPr>
                    <a:solidFill>
                      <a:srgbClr val="EFEFEF"/>
                    </a:solidFill>
                  </a:tcPr>
                </a:tc>
                <a:tc>
                  <a:txBody>
                    <a:bodyPr/>
                    <a:lstStyle/>
                    <a:p>
                      <a:pPr algn="ctr">
                        <a:defRPr sz="1000">
                          <a:latin typeface="Montserrat"/>
                        </a:defRPr>
                      </a:pPr>
                      <a:r>
                        <a:t>3,388</a:t>
                      </a:r>
                    </a:p>
                  </a:txBody>
                  <a:tcPr>
                    <a:solidFill>
                      <a:srgbClr val="EFEFEF"/>
                    </a:solidFill>
                  </a:tcPr>
                </a:tc>
                <a:tc>
                  <a:txBody>
                    <a:bodyPr/>
                    <a:lstStyle/>
                    <a:p>
                      <a:pPr algn="ctr">
                        <a:defRPr sz="1000">
                          <a:latin typeface="Montserrat"/>
                        </a:defRPr>
                      </a:pPr>
                      <a:r>
                        <a:t>1,183</a:t>
                      </a:r>
                    </a:p>
                  </a:txBody>
                  <a:tcPr>
                    <a:solidFill>
                      <a:srgbClr val="EFEFEF"/>
                    </a:solidFill>
                  </a:tcPr>
                </a:tc>
                <a:tc>
                  <a:txBody>
                    <a:bodyPr/>
                    <a:lstStyle/>
                    <a:p>
                      <a:pPr algn="ctr">
                        <a:defRPr sz="1000">
                          <a:latin typeface="Montserrat"/>
                        </a:defRPr>
                      </a:pPr>
                      <a:r>
                        <a:t>35%</a:t>
                      </a:r>
                    </a:p>
                  </a:txBody>
                  <a:tcPr>
                    <a:solidFill>
                      <a:srgbClr val="EFEFEF"/>
                    </a:solidFill>
                  </a:tcPr>
                </a:tc>
                <a:tc>
                  <a:txBody>
                    <a:bodyPr/>
                    <a:lstStyle/>
                    <a:p>
                      <a:pPr algn="ctr">
                        <a:defRPr sz="1000">
                          <a:latin typeface="Montserrat"/>
                        </a:defRPr>
                      </a:pPr>
                      <a:r>
                        <a:t>5%</a:t>
                      </a:r>
                    </a:p>
                  </a:txBody>
                  <a:tcPr>
                    <a:solidFill>
                      <a:srgbClr val="EFEFEF"/>
                    </a:solidFill>
                  </a:tcPr>
                </a:tc>
              </a:tr>
            </a:tbl>
          </a:graphicData>
        </a:graphic>
      </p:graphicFrame>
      <p:graphicFrame>
        <p:nvGraphicFramePr>
          <p:cNvPr id="235" name="Table 234"/>
          <p:cNvGraphicFramePr>
            <a:graphicFrameLocks noGrp="1"/>
          </p:cNvGraphicFramePr>
          <p:nvPr/>
        </p:nvGraphicFramePr>
        <p:xfrm>
          <a:off x="144000" y="4500000"/>
          <a:ext cx="7488000" cy="1080000"/>
        </p:xfrm>
        <a:graphic>
          <a:graphicData uri="http://schemas.openxmlformats.org/drawingml/2006/table">
            <a:tbl>
              <a:tblPr firstRow="1" bandRow="1">
                <a:tableStyleId>{5C22544A-7EE6-4342-B048-85BDC9FD1C3A}</a:tableStyleId>
              </a:tblPr>
              <a:tblGrid>
                <a:gridCol w="1872000"/>
                <a:gridCol w="936000"/>
                <a:gridCol w="1144800"/>
                <a:gridCol w="1335600"/>
                <a:gridCol w="1263600"/>
                <a:gridCol w="936000"/>
              </a:tblGrid>
              <a:tr h="360000">
                <a:tc>
                  <a:txBody>
                    <a:bodyPr/>
                    <a:lstStyle/>
                    <a:p>
                      <a:pPr algn="ctr">
                        <a:defRPr b="1" sz="900">
                          <a:solidFill>
                            <a:srgbClr val="FFFFFF"/>
                          </a:solidFill>
                          <a:latin typeface="Montserrat"/>
                        </a:defRPr>
                      </a:pPr>
                    </a:p>
                  </a:txBody>
                  <a:tcPr>
                    <a:noFill/>
                  </a:tcPr>
                </a:tc>
                <a:tc>
                  <a:txBody>
                    <a:bodyPr/>
                    <a:lstStyle/>
                    <a:p>
                      <a:pPr algn="ctr">
                        <a:defRPr b="1" sz="900">
                          <a:solidFill>
                            <a:srgbClr val="FFFFFF"/>
                          </a:solidFill>
                          <a:latin typeface="Montserrat"/>
                        </a:defRPr>
                      </a:pPr>
                      <a:r>
                        <a:t>Metas anuales</a:t>
                      </a:r>
                    </a:p>
                  </a:txBody>
                  <a:tcPr>
                    <a:solidFill>
                      <a:srgbClr val="006455"/>
                    </a:solidFill>
                  </a:tcPr>
                </a:tc>
                <a:tc>
                  <a:txBody>
                    <a:bodyPr/>
                    <a:lstStyle/>
                    <a:p>
                      <a:pPr algn="ctr">
                        <a:defRPr b="1" sz="900">
                          <a:solidFill>
                            <a:srgbClr val="FFFFFF"/>
                          </a:solidFill>
                          <a:latin typeface="Montserrat"/>
                        </a:defRPr>
                      </a:pPr>
                      <a:r>
                        <a:t>Productividad esperada a la fecha</a:t>
                      </a:r>
                    </a:p>
                  </a:txBody>
                  <a:tcPr>
                    <a:solidFill>
                      <a:srgbClr val="006455"/>
                    </a:solidFill>
                  </a:tcPr>
                </a:tc>
                <a:tc>
                  <a:txBody>
                    <a:bodyPr/>
                    <a:lstStyle/>
                    <a:p>
                      <a:pPr algn="ctr">
                        <a:defRPr b="1" sz="900">
                          <a:solidFill>
                            <a:srgbClr val="FFFFFF"/>
                          </a:solidFill>
                          <a:latin typeface="Montserrat"/>
                        </a:defRPr>
                      </a:pPr>
                      <a:r>
                        <a:t>Productividad a la fecha</a:t>
                      </a:r>
                    </a:p>
                  </a:txBody>
                  <a:tcPr>
                    <a:solidFill>
                      <a:srgbClr val="006455"/>
                    </a:solidFill>
                  </a:tcPr>
                </a:tc>
                <a:tc>
                  <a:txBody>
                    <a:bodyPr/>
                    <a:lstStyle/>
                    <a:p>
                      <a:pPr algn="ctr">
                        <a:defRPr b="1" sz="900">
                          <a:solidFill>
                            <a:srgbClr val="FFFFFF"/>
                          </a:solidFill>
                          <a:latin typeface="Montserrat"/>
                        </a:defRPr>
                      </a:pPr>
                      <a:r>
                        <a:t>% de avance a la fecha</a:t>
                      </a:r>
                    </a:p>
                  </a:txBody>
                  <a:tcPr>
                    <a:solidFill>
                      <a:srgbClr val="006455"/>
                    </a:solidFill>
                  </a:tcPr>
                </a:tc>
                <a:tc>
                  <a:txBody>
                    <a:bodyPr/>
                    <a:lstStyle/>
                    <a:p>
                      <a:pPr algn="ctr">
                        <a:defRPr b="1" sz="900">
                          <a:solidFill>
                            <a:srgbClr val="FFFFFF"/>
                          </a:solidFill>
                          <a:latin typeface="Montserrat"/>
                        </a:defRPr>
                      </a:pPr>
                      <a:r>
                        <a:t>% avance anual</a:t>
                      </a:r>
                    </a:p>
                  </a:txBody>
                  <a:tcPr>
                    <a:solidFill>
                      <a:srgbClr val="006455"/>
                    </a:solidFill>
                  </a:tcPr>
                </a:tc>
              </a:tr>
              <a:tr h="360000">
                <a:tc>
                  <a:txBody>
                    <a:bodyPr/>
                    <a:lstStyle/>
                    <a:p>
                      <a:pPr algn="ctr">
                        <a:defRPr sz="1000">
                          <a:latin typeface="Montserrat"/>
                        </a:defRPr>
                      </a:pPr>
                      <a:r>
                        <a:t>Consulta de especialidad</a:t>
                      </a:r>
                    </a:p>
                  </a:txBody>
                  <a:tcPr>
                    <a:solidFill>
                      <a:srgbClr val="FFFFFF"/>
                    </a:solidFill>
                  </a:tcPr>
                </a:tc>
                <a:tc>
                  <a:txBody>
                    <a:bodyPr/>
                    <a:lstStyle/>
                    <a:p>
                      <a:pPr algn="ctr">
                        <a:defRPr sz="1000">
                          <a:latin typeface="Montserrat"/>
                        </a:defRPr>
                      </a:pPr>
                      <a:r>
                        <a:t>282,510</a:t>
                      </a:r>
                    </a:p>
                  </a:txBody>
                  <a:tcPr>
                    <a:solidFill>
                      <a:srgbClr val="FFFFFF"/>
                    </a:solidFill>
                  </a:tcPr>
                </a:tc>
                <a:tc>
                  <a:txBody>
                    <a:bodyPr/>
                    <a:lstStyle/>
                    <a:p>
                      <a:pPr algn="ctr">
                        <a:defRPr sz="1000">
                          <a:latin typeface="Montserrat"/>
                        </a:defRPr>
                      </a:pPr>
                      <a:r>
                        <a:t>45,666</a:t>
                      </a:r>
                    </a:p>
                  </a:txBody>
                  <a:tcPr>
                    <a:solidFill>
                      <a:srgbClr val="FFFFFF"/>
                    </a:solidFill>
                  </a:tcPr>
                </a:tc>
                <a:tc>
                  <a:txBody>
                    <a:bodyPr/>
                    <a:lstStyle/>
                    <a:p>
                      <a:pPr algn="ctr">
                        <a:defRPr sz="1000">
                          <a:latin typeface="Montserrat"/>
                        </a:defRPr>
                      </a:pPr>
                      <a:r>
                        <a:t>20,976</a:t>
                      </a:r>
                    </a:p>
                  </a:txBody>
                  <a:tcPr>
                    <a:solidFill>
                      <a:srgbClr val="FFFFFF"/>
                    </a:solidFill>
                  </a:tcPr>
                </a:tc>
                <a:tc>
                  <a:txBody>
                    <a:bodyPr/>
                    <a:lstStyle/>
                    <a:p>
                      <a:pPr algn="ctr">
                        <a:defRPr sz="1000">
                          <a:latin typeface="Montserrat"/>
                        </a:defRPr>
                      </a:pPr>
                      <a:r>
                        <a:t>46%</a:t>
                      </a:r>
                    </a:p>
                  </a:txBody>
                  <a:tcPr>
                    <a:solidFill>
                      <a:srgbClr val="FFFFFF"/>
                    </a:solidFill>
                  </a:tcPr>
                </a:tc>
                <a:tc>
                  <a:txBody>
                    <a:bodyPr/>
                    <a:lstStyle/>
                    <a:p>
                      <a:pPr algn="ctr">
                        <a:defRPr sz="1000">
                          <a:latin typeface="Montserrat"/>
                        </a:defRPr>
                      </a:pPr>
                      <a:r>
                        <a:t>7%</a:t>
                      </a:r>
                    </a:p>
                  </a:txBody>
                  <a:tcPr>
                    <a:solidFill>
                      <a:srgbClr val="FFFFFF"/>
                    </a:solidFill>
                  </a:tcPr>
                </a:tc>
              </a:tr>
              <a:tr h="360000">
                <a:tc>
                  <a:txBody>
                    <a:bodyPr/>
                    <a:lstStyle/>
                    <a:p>
                      <a:pPr algn="ctr">
                        <a:defRPr sz="1000">
                          <a:latin typeface="Montserrat"/>
                        </a:defRPr>
                      </a:pPr>
                      <a:r>
                        <a:t>Cirugías electivas</a:t>
                      </a:r>
                    </a:p>
                  </a:txBody>
                  <a:tcPr>
                    <a:solidFill>
                      <a:srgbClr val="EFEFEF"/>
                    </a:solidFill>
                  </a:tcPr>
                </a:tc>
                <a:tc>
                  <a:txBody>
                    <a:bodyPr/>
                    <a:lstStyle/>
                    <a:p>
                      <a:pPr algn="ctr">
                        <a:defRPr sz="1000">
                          <a:latin typeface="Montserrat"/>
                        </a:defRPr>
                      </a:pPr>
                      <a:r>
                        <a:t>21,900</a:t>
                      </a:r>
                    </a:p>
                  </a:txBody>
                  <a:tcPr>
                    <a:solidFill>
                      <a:srgbClr val="EFEFEF"/>
                    </a:solidFill>
                  </a:tcPr>
                </a:tc>
                <a:tc>
                  <a:txBody>
                    <a:bodyPr/>
                    <a:lstStyle/>
                    <a:p>
                      <a:pPr algn="ctr">
                        <a:defRPr sz="1000">
                          <a:latin typeface="Montserrat"/>
                        </a:defRPr>
                      </a:pPr>
                      <a:r>
                        <a:t>3,388</a:t>
                      </a:r>
                    </a:p>
                  </a:txBody>
                  <a:tcPr>
                    <a:solidFill>
                      <a:srgbClr val="EFEFEF"/>
                    </a:solidFill>
                  </a:tcPr>
                </a:tc>
                <a:tc>
                  <a:txBody>
                    <a:bodyPr/>
                    <a:lstStyle/>
                    <a:p>
                      <a:pPr algn="ctr">
                        <a:defRPr sz="1000">
                          <a:latin typeface="Montserrat"/>
                        </a:defRPr>
                      </a:pPr>
                      <a:r>
                        <a:t>1,183</a:t>
                      </a:r>
                    </a:p>
                  </a:txBody>
                  <a:tcPr>
                    <a:solidFill>
                      <a:srgbClr val="EFEFEF"/>
                    </a:solidFill>
                  </a:tcPr>
                </a:tc>
                <a:tc>
                  <a:txBody>
                    <a:bodyPr/>
                    <a:lstStyle/>
                    <a:p>
                      <a:pPr algn="ctr">
                        <a:defRPr sz="1000">
                          <a:latin typeface="Montserrat"/>
                        </a:defRPr>
                      </a:pPr>
                      <a:r>
                        <a:t>35%</a:t>
                      </a:r>
                    </a:p>
                  </a:txBody>
                  <a:tcPr>
                    <a:solidFill>
                      <a:srgbClr val="EFEFEF"/>
                    </a:solidFill>
                  </a:tcPr>
                </a:tc>
                <a:tc>
                  <a:txBody>
                    <a:bodyPr/>
                    <a:lstStyle/>
                    <a:p>
                      <a:pPr algn="ctr">
                        <a:defRPr sz="1000">
                          <a:latin typeface="Montserrat"/>
                        </a:defRPr>
                      </a:pPr>
                      <a:r>
                        <a:t>5%</a:t>
                      </a:r>
                    </a:p>
                  </a:txBody>
                  <a:tcPr>
                    <a:solidFill>
                      <a:srgbClr val="EFEFEF"/>
                    </a:solidFill>
                  </a:tcPr>
                </a:tc>
              </a:tr>
            </a:tbl>
          </a:graphicData>
        </a:graphic>
      </p:graphicFrame>
      <p:sp>
        <p:nvSpPr>
          <p:cNvPr id="236" name="TextBox 235"/>
          <p:cNvSpPr txBox="1"/>
          <p:nvPr/>
        </p:nvSpPr>
        <p:spPr>
          <a:xfrm>
            <a:off x="147600" y="4500000"/>
            <a:ext cx="7473600" cy="381600"/>
          </a:xfrm>
          <a:prstGeom prst="rect">
            <a:avLst/>
          </a:prstGeom>
          <a:noFill/>
        </p:spPr>
        <p:txBody>
          <a:bodyPr wrap="none">
            <a:spAutoFit/>
          </a:bodyPr>
          <a:lstStyle/>
          <a:p>
            <a:pPr algn="l">
              <a:defRPr sz="2100" b="1">
                <a:solidFill>
                  <a:srgbClr val="BC955C"/>
                </a:solidFill>
                <a:latin typeface="Montserrat"/>
              </a:defRPr>
            </a:pPr>
            <a:r>
              <a:t>UMAE</a:t>
            </a:r>
          </a:p>
        </p:txBody>
      </p:sp>
    </p:spTree>
    <p:extLst>
      <p:ext uri="{BB962C8B-B14F-4D97-AF65-F5344CB8AC3E}">
        <p14:creationId xmlns:p14="http://schemas.microsoft.com/office/powerpoint/2010/main" val="748044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3C790683-245A-1FE6-35AC-FBB0C23942D1}"/>
              </a:ext>
            </a:extLst>
          </p:cNvPr>
          <p:cNvGraphicFramePr/>
          <p:nvPr>
            <p:extLst>
              <p:ext uri="{D42A27DB-BD31-4B8C-83A1-F6EECF244321}">
                <p14:modId xmlns:p14="http://schemas.microsoft.com/office/powerpoint/2010/main" val="2152461893"/>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Tiempos de espera</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Noto Sans"/>
              </a:defRPr>
            </a:pPr>
            <a:r>
              <a:t>Corte de información: semana 9, febrero 2026</a:t>
            </a:r>
          </a:p>
        </p:txBody>
      </p:sp>
      <p:graphicFrame>
        <p:nvGraphicFramePr>
          <p:cNvPr id="233" name="Table 232"/>
          <p:cNvGraphicFramePr>
            <a:graphicFrameLocks noGrp="1"/>
          </p:cNvGraphicFramePr>
          <p:nvPr/>
        </p:nvGraphicFramePr>
        <p:xfrm>
          <a:off x="1584000" y="1591200"/>
          <a:ext cx="5040000" cy="3456000"/>
        </p:xfrm>
        <a:graphic>
          <a:graphicData uri="http://schemas.openxmlformats.org/drawingml/2006/table">
            <a:tbl>
              <a:tblPr firstRow="1" bandRow="1">
                <a:tableStyleId>{5C22544A-7EE6-4342-B048-85BDC9FD1C3A}</a:tableStyleId>
              </a:tblPr>
              <a:tblGrid>
                <a:gridCol w="3600000"/>
                <a:gridCol w="1440000"/>
              </a:tblGrid>
              <a:tr h="288000">
                <a:tc>
                  <a:txBody>
                    <a:bodyPr/>
                    <a:lstStyle/>
                    <a:p>
                      <a:pPr algn="ctr">
                        <a:defRPr b="1" sz="1100">
                          <a:solidFill>
                            <a:srgbClr val="FFFFFF"/>
                          </a:solidFill>
                          <a:latin typeface="Montserrat"/>
                        </a:defRPr>
                      </a:pPr>
                      <a:r>
                        <a:t>Especialidad</a:t>
                      </a:r>
                    </a:p>
                  </a:txBody>
                  <a:tcPr marL="14400" marR="14400">
                    <a:solidFill>
                      <a:srgbClr val="006455"/>
                    </a:solidFill>
                  </a:tcPr>
                </a:tc>
                <a:tc>
                  <a:txBody>
                    <a:bodyPr/>
                    <a:lstStyle/>
                    <a:p>
                      <a:pPr algn="ctr">
                        <a:defRPr b="1" sz="1100">
                          <a:solidFill>
                            <a:srgbClr val="FFFFFF"/>
                          </a:solidFill>
                          <a:latin typeface="Montserrat"/>
                        </a:defRPr>
                      </a:pPr>
                      <a:r>
                        <a:t>Total</a:t>
                      </a:r>
                    </a:p>
                  </a:txBody>
                  <a:tcPr marL="14400" marR="14400">
                    <a:solidFill>
                      <a:srgbClr val="006455"/>
                    </a:solidFill>
                  </a:tcPr>
                </a:tc>
              </a:tr>
              <a:tr h="288000">
                <a:tc>
                  <a:txBody>
                    <a:bodyPr/>
                    <a:lstStyle/>
                    <a:p>
                      <a:pPr algn="l">
                        <a:defRPr sz="1000">
                          <a:latin typeface="Montserrat"/>
                        </a:defRPr>
                      </a:pPr>
                      <a:r>
                        <a:t>Cirugía General</a:t>
                      </a:r>
                    </a:p>
                  </a:txBody>
                  <a:tcPr>
                    <a:solidFill>
                      <a:srgbClr val="FFFFFF"/>
                    </a:solidFill>
                  </a:tcPr>
                </a:tc>
                <a:tc>
                  <a:txBody>
                    <a:bodyPr/>
                    <a:lstStyle/>
                    <a:p>
                      <a:pPr algn="ctr">
                        <a:defRPr sz="1000">
                          <a:latin typeface="Montserrat"/>
                        </a:defRPr>
                      </a:pPr>
                      <a:r>
                        <a:t>4,163</a:t>
                      </a:r>
                    </a:p>
                  </a:txBody>
                  <a:tcPr>
                    <a:solidFill>
                      <a:srgbClr val="FFFFFF"/>
                    </a:solidFill>
                  </a:tcPr>
                </a:tc>
              </a:tr>
              <a:tr h="288000">
                <a:tc>
                  <a:txBody>
                    <a:bodyPr/>
                    <a:lstStyle/>
                    <a:p>
                      <a:pPr algn="l">
                        <a:defRPr sz="1000">
                          <a:latin typeface="Montserrat"/>
                        </a:defRPr>
                      </a:pPr>
                      <a:r>
                        <a:t>Traumatología y ortopedia</a:t>
                      </a:r>
                    </a:p>
                  </a:txBody>
                  <a:tcPr>
                    <a:solidFill>
                      <a:srgbClr val="D9D9D9"/>
                    </a:solidFill>
                  </a:tcPr>
                </a:tc>
                <a:tc>
                  <a:txBody>
                    <a:bodyPr/>
                    <a:lstStyle/>
                    <a:p>
                      <a:pPr algn="ctr">
                        <a:defRPr sz="1000">
                          <a:latin typeface="Montserrat"/>
                        </a:defRPr>
                      </a:pPr>
                      <a:r>
                        <a:t>2,346</a:t>
                      </a:r>
                    </a:p>
                  </a:txBody>
                  <a:tcPr>
                    <a:solidFill>
                      <a:srgbClr val="D9D9D9"/>
                    </a:solidFill>
                  </a:tcPr>
                </a:tc>
              </a:tr>
              <a:tr h="288000">
                <a:tc>
                  <a:txBody>
                    <a:bodyPr/>
                    <a:lstStyle/>
                    <a:p>
                      <a:pPr algn="l">
                        <a:defRPr sz="1000">
                          <a:latin typeface="Montserrat"/>
                        </a:defRPr>
                      </a:pPr>
                      <a:r>
                        <a:t>Oftalmología</a:t>
                      </a:r>
                    </a:p>
                  </a:txBody>
                  <a:tcPr>
                    <a:solidFill>
                      <a:srgbClr val="FFFFFF"/>
                    </a:solidFill>
                  </a:tcPr>
                </a:tc>
                <a:tc>
                  <a:txBody>
                    <a:bodyPr/>
                    <a:lstStyle/>
                    <a:p>
                      <a:pPr algn="ctr">
                        <a:defRPr sz="1000">
                          <a:latin typeface="Montserrat"/>
                        </a:defRPr>
                      </a:pPr>
                      <a:r>
                        <a:t>1,088</a:t>
                      </a:r>
                    </a:p>
                  </a:txBody>
                  <a:tcPr>
                    <a:solidFill>
                      <a:srgbClr val="FFFFFF"/>
                    </a:solidFill>
                  </a:tcPr>
                </a:tc>
              </a:tr>
              <a:tr h="288000">
                <a:tc>
                  <a:txBody>
                    <a:bodyPr/>
                    <a:lstStyle/>
                    <a:p>
                      <a:pPr algn="l">
                        <a:defRPr sz="1000">
                          <a:latin typeface="Montserrat"/>
                        </a:defRPr>
                      </a:pPr>
                      <a:r>
                        <a:t>Ginecología</a:t>
                      </a:r>
                    </a:p>
                  </a:txBody>
                  <a:tcPr>
                    <a:solidFill>
                      <a:srgbClr val="D9D9D9"/>
                    </a:solidFill>
                  </a:tcPr>
                </a:tc>
                <a:tc>
                  <a:txBody>
                    <a:bodyPr/>
                    <a:lstStyle/>
                    <a:p>
                      <a:pPr algn="ctr">
                        <a:defRPr sz="1000">
                          <a:latin typeface="Montserrat"/>
                        </a:defRPr>
                      </a:pPr>
                      <a:r>
                        <a:t>840</a:t>
                      </a:r>
                    </a:p>
                  </a:txBody>
                  <a:tcPr>
                    <a:solidFill>
                      <a:srgbClr val="D9D9D9"/>
                    </a:solidFill>
                  </a:tcPr>
                </a:tc>
              </a:tr>
              <a:tr h="288000">
                <a:tc>
                  <a:txBody>
                    <a:bodyPr/>
                    <a:lstStyle/>
                    <a:p>
                      <a:pPr algn="l">
                        <a:defRPr sz="1000">
                          <a:latin typeface="Montserrat"/>
                        </a:defRPr>
                      </a:pPr>
                      <a:r>
                        <a:t>Obstetricia</a:t>
                      </a:r>
                    </a:p>
                  </a:txBody>
                  <a:tcPr>
                    <a:solidFill>
                      <a:srgbClr val="FFFFFF"/>
                    </a:solidFill>
                  </a:tcPr>
                </a:tc>
                <a:tc>
                  <a:txBody>
                    <a:bodyPr/>
                    <a:lstStyle/>
                    <a:p>
                      <a:pPr algn="ctr">
                        <a:defRPr sz="1000">
                          <a:latin typeface="Montserrat"/>
                        </a:defRPr>
                      </a:pPr>
                      <a:r>
                        <a:t>777</a:t>
                      </a:r>
                    </a:p>
                  </a:txBody>
                  <a:tcPr>
                    <a:solidFill>
                      <a:srgbClr val="FFFFFF"/>
                    </a:solidFill>
                  </a:tcPr>
                </a:tc>
              </a:tr>
              <a:tr h="288000">
                <a:tc>
                  <a:txBody>
                    <a:bodyPr/>
                    <a:lstStyle/>
                    <a:p>
                      <a:pPr algn="l">
                        <a:defRPr sz="1000">
                          <a:latin typeface="Montserrat"/>
                        </a:defRPr>
                      </a:pPr>
                      <a:r>
                        <a:t>Urología  </a:t>
                      </a:r>
                    </a:p>
                  </a:txBody>
                  <a:tcPr>
                    <a:solidFill>
                      <a:srgbClr val="D9D9D9"/>
                    </a:solidFill>
                  </a:tcPr>
                </a:tc>
                <a:tc>
                  <a:txBody>
                    <a:bodyPr/>
                    <a:lstStyle/>
                    <a:p>
                      <a:pPr algn="ctr">
                        <a:defRPr sz="1000">
                          <a:latin typeface="Montserrat"/>
                        </a:defRPr>
                      </a:pPr>
                      <a:r>
                        <a:t>536</a:t>
                      </a:r>
                    </a:p>
                  </a:txBody>
                  <a:tcPr>
                    <a:solidFill>
                      <a:srgbClr val="D9D9D9"/>
                    </a:solidFill>
                  </a:tcPr>
                </a:tc>
              </a:tr>
              <a:tr h="288000">
                <a:tc>
                  <a:txBody>
                    <a:bodyPr/>
                    <a:lstStyle/>
                    <a:p>
                      <a:pPr algn="l">
                        <a:defRPr sz="1000">
                          <a:latin typeface="Montserrat"/>
                        </a:defRPr>
                      </a:pPr>
                      <a:r>
                        <a:t>Otorrinolaringología</a:t>
                      </a:r>
                    </a:p>
                  </a:txBody>
                  <a:tcPr>
                    <a:solidFill>
                      <a:srgbClr val="FFFFFF"/>
                    </a:solidFill>
                  </a:tcPr>
                </a:tc>
                <a:tc>
                  <a:txBody>
                    <a:bodyPr/>
                    <a:lstStyle/>
                    <a:p>
                      <a:pPr algn="ctr">
                        <a:defRPr sz="1000">
                          <a:latin typeface="Montserrat"/>
                        </a:defRPr>
                      </a:pPr>
                      <a:r>
                        <a:t>416</a:t>
                      </a:r>
                    </a:p>
                  </a:txBody>
                  <a:tcPr>
                    <a:solidFill>
                      <a:srgbClr val="FFFFFF"/>
                    </a:solidFill>
                  </a:tcPr>
                </a:tc>
              </a:tr>
              <a:tr h="288000">
                <a:tc>
                  <a:txBody>
                    <a:bodyPr/>
                    <a:lstStyle/>
                    <a:p>
                      <a:pPr algn="l">
                        <a:defRPr sz="1000">
                          <a:latin typeface="Montserrat"/>
                        </a:defRPr>
                      </a:pPr>
                      <a:r>
                        <a:t>Cardiología</a:t>
                      </a:r>
                    </a:p>
                  </a:txBody>
                  <a:tcPr>
                    <a:solidFill>
                      <a:srgbClr val="D9D9D9"/>
                    </a:solidFill>
                  </a:tcPr>
                </a:tc>
                <a:tc>
                  <a:txBody>
                    <a:bodyPr/>
                    <a:lstStyle/>
                    <a:p>
                      <a:pPr algn="ctr">
                        <a:defRPr sz="1000">
                          <a:latin typeface="Montserrat"/>
                        </a:defRPr>
                      </a:pPr>
                      <a:r>
                        <a:t>263</a:t>
                      </a:r>
                    </a:p>
                  </a:txBody>
                  <a:tcPr>
                    <a:solidFill>
                      <a:srgbClr val="D9D9D9"/>
                    </a:solidFill>
                  </a:tcPr>
                </a:tc>
              </a:tr>
              <a:tr h="288000">
                <a:tc>
                  <a:txBody>
                    <a:bodyPr/>
                    <a:lstStyle/>
                    <a:p>
                      <a:pPr algn="l">
                        <a:defRPr sz="1000">
                          <a:latin typeface="Montserrat"/>
                        </a:defRPr>
                      </a:pPr>
                      <a:r>
                        <a:t>Cirugía oncológica</a:t>
                      </a:r>
                    </a:p>
                  </a:txBody>
                  <a:tcPr>
                    <a:solidFill>
                      <a:srgbClr val="FFFFFF"/>
                    </a:solidFill>
                  </a:tcPr>
                </a:tc>
                <a:tc>
                  <a:txBody>
                    <a:bodyPr/>
                    <a:lstStyle/>
                    <a:p>
                      <a:pPr algn="ctr">
                        <a:defRPr sz="1000">
                          <a:latin typeface="Montserrat"/>
                        </a:defRPr>
                      </a:pPr>
                      <a:r>
                        <a:t>210</a:t>
                      </a:r>
                    </a:p>
                  </a:txBody>
                  <a:tcPr>
                    <a:solidFill>
                      <a:srgbClr val="FFFFFF"/>
                    </a:solidFill>
                  </a:tcPr>
                </a:tc>
              </a:tr>
              <a:tr h="288000">
                <a:tc>
                  <a:txBody>
                    <a:bodyPr/>
                    <a:lstStyle/>
                    <a:p>
                      <a:pPr algn="l">
                        <a:defRPr sz="1000">
                          <a:latin typeface="Montserrat"/>
                        </a:defRPr>
                      </a:pPr>
                      <a:r>
                        <a:t>Cirugía Pediátrica  </a:t>
                      </a:r>
                    </a:p>
                  </a:txBody>
                  <a:tcPr>
                    <a:solidFill>
                      <a:srgbClr val="D9D9D9"/>
                    </a:solidFill>
                  </a:tcPr>
                </a:tc>
                <a:tc>
                  <a:txBody>
                    <a:bodyPr/>
                    <a:lstStyle/>
                    <a:p>
                      <a:pPr algn="ctr">
                        <a:defRPr sz="1000">
                          <a:latin typeface="Montserrat"/>
                        </a:defRPr>
                      </a:pPr>
                      <a:r>
                        <a:t>170</a:t>
                      </a:r>
                    </a:p>
                  </a:txBody>
                  <a:tcPr>
                    <a:solidFill>
                      <a:srgbClr val="D9D9D9"/>
                    </a:solidFill>
                  </a:tcPr>
                </a:tc>
              </a:tr>
              <a:tr h="288000">
                <a:tc>
                  <a:txBody>
                    <a:bodyPr/>
                    <a:lstStyle/>
                    <a:p>
                      <a:pPr algn="r">
                        <a:defRPr sz="1000" b="1">
                          <a:solidFill>
                            <a:srgbClr val="008C8C"/>
                          </a:solidFill>
                          <a:latin typeface="Montserrat"/>
                        </a:defRPr>
                      </a:pPr>
                      <a:r>
                        <a:t>Total</a:t>
                      </a:r>
                    </a:p>
                  </a:txBody>
                  <a:tcPr>
                    <a:solidFill>
                      <a:srgbClr val="CBE6E1"/>
                    </a:solidFill>
                  </a:tcPr>
                </a:tc>
                <a:tc>
                  <a:txBody>
                    <a:bodyPr/>
                    <a:lstStyle/>
                    <a:p>
                      <a:pPr algn="ctr">
                        <a:defRPr sz="1000" b="1">
                          <a:solidFill>
                            <a:srgbClr val="008C8C"/>
                          </a:solidFill>
                          <a:latin typeface="Montserrat"/>
                        </a:defRPr>
                      </a:pPr>
                      <a:r>
                        <a:t>10,809</a:t>
                      </a:r>
                    </a:p>
                  </a:txBody>
                  <a:tcPr>
                    <a:solidFill>
                      <a:srgbClr val="CBE6E1"/>
                    </a:solidFill>
                  </a:tcPr>
                </a:tc>
              </a:tr>
            </a:tbl>
          </a:graphicData>
        </a:graphic>
      </p:graphicFrame>
      <p:graphicFrame>
        <p:nvGraphicFramePr>
          <p:cNvPr id="234" name="Table 233"/>
          <p:cNvGraphicFramePr>
            <a:graphicFrameLocks noGrp="1"/>
          </p:cNvGraphicFramePr>
          <p:nvPr/>
        </p:nvGraphicFramePr>
        <p:xfrm>
          <a:off x="1584000" y="6083999"/>
          <a:ext cx="5040000" cy="2592000"/>
        </p:xfrm>
        <a:graphic>
          <a:graphicData uri="http://schemas.openxmlformats.org/drawingml/2006/table">
            <a:tbl>
              <a:tblPr firstRow="1" bandRow="1">
                <a:tableStyleId>{5C22544A-7EE6-4342-B048-85BDC9FD1C3A}</a:tableStyleId>
              </a:tblPr>
              <a:tblGrid>
                <a:gridCol w="3600000"/>
                <a:gridCol w="1440000"/>
              </a:tblGrid>
              <a:tr h="288000">
                <a:tc>
                  <a:txBody>
                    <a:bodyPr/>
                    <a:lstStyle/>
                    <a:p>
                      <a:pPr algn="ctr">
                        <a:defRPr b="1" sz="1100">
                          <a:solidFill>
                            <a:srgbClr val="FFFFFF"/>
                          </a:solidFill>
                          <a:latin typeface="Montserrat"/>
                        </a:defRPr>
                      </a:pPr>
                      <a:r>
                        <a:t>Cirugía prioritaria</a:t>
                      </a:r>
                    </a:p>
                  </a:txBody>
                  <a:tcPr marL="14400" marR="14400">
                    <a:solidFill>
                      <a:srgbClr val="006455"/>
                    </a:solidFill>
                  </a:tcPr>
                </a:tc>
                <a:tc>
                  <a:txBody>
                    <a:bodyPr/>
                    <a:lstStyle/>
                    <a:p>
                      <a:pPr algn="ctr">
                        <a:defRPr b="1" sz="1100">
                          <a:solidFill>
                            <a:srgbClr val="FFFFFF"/>
                          </a:solidFill>
                          <a:latin typeface="Montserrat"/>
                        </a:defRPr>
                      </a:pPr>
                      <a:r>
                        <a:t>Total</a:t>
                      </a:r>
                    </a:p>
                  </a:txBody>
                  <a:tcPr marL="14400" marR="14400">
                    <a:solidFill>
                      <a:srgbClr val="006455"/>
                    </a:solidFill>
                  </a:tcPr>
                </a:tc>
              </a:tr>
              <a:tr h="288000">
                <a:tc>
                  <a:txBody>
                    <a:bodyPr/>
                    <a:lstStyle/>
                    <a:p>
                      <a:pPr algn="l">
                        <a:defRPr sz="1000">
                          <a:latin typeface="Montserrat"/>
                        </a:defRPr>
                      </a:pPr>
                      <a:r>
                        <a:t>Colecistectomías</a:t>
                      </a:r>
                    </a:p>
                  </a:txBody>
                  <a:tcPr>
                    <a:solidFill>
                      <a:srgbClr val="FFFFFF"/>
                    </a:solidFill>
                  </a:tcPr>
                </a:tc>
                <a:tc>
                  <a:txBody>
                    <a:bodyPr/>
                    <a:lstStyle/>
                    <a:p>
                      <a:pPr algn="ctr">
                        <a:defRPr sz="1000">
                          <a:latin typeface="Montserrat"/>
                        </a:defRPr>
                      </a:pPr>
                      <a:r>
                        <a:t>946</a:t>
                      </a:r>
                    </a:p>
                  </a:txBody>
                  <a:tcPr>
                    <a:solidFill>
                      <a:srgbClr val="FFFFFF"/>
                    </a:solidFill>
                  </a:tcPr>
                </a:tc>
              </a:tr>
              <a:tr h="288000">
                <a:tc>
                  <a:txBody>
                    <a:bodyPr/>
                    <a:lstStyle/>
                    <a:p>
                      <a:pPr algn="l">
                        <a:defRPr sz="1000">
                          <a:latin typeface="Montserrat"/>
                        </a:defRPr>
                      </a:pPr>
                      <a:r>
                        <a:t>Catarata</a:t>
                      </a:r>
                    </a:p>
                  </a:txBody>
                  <a:tcPr>
                    <a:solidFill>
                      <a:srgbClr val="D9D9D9"/>
                    </a:solidFill>
                  </a:tcPr>
                </a:tc>
                <a:tc>
                  <a:txBody>
                    <a:bodyPr/>
                    <a:lstStyle/>
                    <a:p>
                      <a:pPr algn="ctr">
                        <a:defRPr sz="1000">
                          <a:latin typeface="Montserrat"/>
                        </a:defRPr>
                      </a:pPr>
                      <a:r>
                        <a:t>633</a:t>
                      </a:r>
                    </a:p>
                  </a:txBody>
                  <a:tcPr>
                    <a:solidFill>
                      <a:srgbClr val="D9D9D9"/>
                    </a:solidFill>
                  </a:tcPr>
                </a:tc>
              </a:tr>
              <a:tr h="288000">
                <a:tc>
                  <a:txBody>
                    <a:bodyPr/>
                    <a:lstStyle/>
                    <a:p>
                      <a:pPr algn="l">
                        <a:defRPr sz="1000">
                          <a:latin typeface="Montserrat"/>
                        </a:defRPr>
                      </a:pPr>
                      <a:r>
                        <a:t>Hernioplastías abdominales</a:t>
                      </a:r>
                    </a:p>
                  </a:txBody>
                  <a:tcPr>
                    <a:solidFill>
                      <a:srgbClr val="FFFFFF"/>
                    </a:solidFill>
                  </a:tcPr>
                </a:tc>
                <a:tc>
                  <a:txBody>
                    <a:bodyPr/>
                    <a:lstStyle/>
                    <a:p>
                      <a:pPr algn="ctr">
                        <a:defRPr sz="1000">
                          <a:latin typeface="Montserrat"/>
                        </a:defRPr>
                      </a:pPr>
                      <a:r>
                        <a:t>538</a:t>
                      </a:r>
                    </a:p>
                  </a:txBody>
                  <a:tcPr>
                    <a:solidFill>
                      <a:srgbClr val="FFFFFF"/>
                    </a:solidFill>
                  </a:tcPr>
                </a:tc>
              </a:tr>
              <a:tr h="288000">
                <a:tc>
                  <a:txBody>
                    <a:bodyPr/>
                    <a:lstStyle/>
                    <a:p>
                      <a:pPr algn="l">
                        <a:defRPr sz="1000">
                          <a:latin typeface="Montserrat"/>
                        </a:defRPr>
                      </a:pPr>
                      <a:r>
                        <a:t>Sustitución de rodilla</a:t>
                      </a:r>
                    </a:p>
                  </a:txBody>
                  <a:tcPr>
                    <a:solidFill>
                      <a:srgbClr val="D9D9D9"/>
                    </a:solidFill>
                  </a:tcPr>
                </a:tc>
                <a:tc>
                  <a:txBody>
                    <a:bodyPr/>
                    <a:lstStyle/>
                    <a:p>
                      <a:pPr algn="ctr">
                        <a:defRPr sz="1000">
                          <a:latin typeface="Montserrat"/>
                        </a:defRPr>
                      </a:pPr>
                      <a:r>
                        <a:t>348</a:t>
                      </a:r>
                    </a:p>
                  </a:txBody>
                  <a:tcPr>
                    <a:solidFill>
                      <a:srgbClr val="D9D9D9"/>
                    </a:solidFill>
                  </a:tcPr>
                </a:tc>
              </a:tr>
              <a:tr h="288000">
                <a:tc>
                  <a:txBody>
                    <a:bodyPr/>
                    <a:lstStyle/>
                    <a:p>
                      <a:pPr algn="l">
                        <a:defRPr sz="1000">
                          <a:latin typeface="Montserrat"/>
                        </a:defRPr>
                      </a:pPr>
                      <a:r>
                        <a:t>Histerectomías</a:t>
                      </a:r>
                    </a:p>
                  </a:txBody>
                  <a:tcPr>
                    <a:solidFill>
                      <a:srgbClr val="FFFFFF"/>
                    </a:solidFill>
                  </a:tcPr>
                </a:tc>
                <a:tc>
                  <a:txBody>
                    <a:bodyPr/>
                    <a:lstStyle/>
                    <a:p>
                      <a:pPr algn="ctr">
                        <a:defRPr sz="1000">
                          <a:latin typeface="Montserrat"/>
                        </a:defRPr>
                      </a:pPr>
                      <a:r>
                        <a:t>283</a:t>
                      </a:r>
                    </a:p>
                  </a:txBody>
                  <a:tcPr>
                    <a:solidFill>
                      <a:srgbClr val="FFFFFF"/>
                    </a:solidFill>
                  </a:tcPr>
                </a:tc>
              </a:tr>
              <a:tr h="288000">
                <a:tc>
                  <a:txBody>
                    <a:bodyPr/>
                    <a:lstStyle/>
                    <a:p>
                      <a:pPr algn="l">
                        <a:defRPr sz="1000">
                          <a:latin typeface="Montserrat"/>
                        </a:defRPr>
                      </a:pPr>
                      <a:r>
                        <a:t>Sustitución de cadera</a:t>
                      </a:r>
                    </a:p>
                  </a:txBody>
                  <a:tcPr>
                    <a:solidFill>
                      <a:srgbClr val="D9D9D9"/>
                    </a:solidFill>
                  </a:tcPr>
                </a:tc>
                <a:tc>
                  <a:txBody>
                    <a:bodyPr/>
                    <a:lstStyle/>
                    <a:p>
                      <a:pPr algn="ctr">
                        <a:defRPr sz="1000">
                          <a:latin typeface="Montserrat"/>
                        </a:defRPr>
                      </a:pPr>
                      <a:r>
                        <a:t>161</a:t>
                      </a:r>
                    </a:p>
                  </a:txBody>
                  <a:tcPr>
                    <a:solidFill>
                      <a:srgbClr val="D9D9D9"/>
                    </a:solidFill>
                  </a:tcPr>
                </a:tc>
              </a:tr>
              <a:tr h="288000">
                <a:tc>
                  <a:txBody>
                    <a:bodyPr/>
                    <a:lstStyle/>
                    <a:p>
                      <a:pPr algn="l">
                        <a:defRPr sz="1000">
                          <a:latin typeface="Montserrat"/>
                        </a:defRPr>
                      </a:pPr>
                      <a:r>
                        <a:t>Mastectomías</a:t>
                      </a:r>
                    </a:p>
                  </a:txBody>
                  <a:tcPr>
                    <a:solidFill>
                      <a:srgbClr val="FFFFFF"/>
                    </a:solidFill>
                  </a:tcPr>
                </a:tc>
                <a:tc>
                  <a:txBody>
                    <a:bodyPr/>
                    <a:lstStyle/>
                    <a:p>
                      <a:pPr algn="ctr">
                        <a:defRPr sz="1000">
                          <a:latin typeface="Montserrat"/>
                        </a:defRPr>
                      </a:pPr>
                      <a:r>
                        <a:t>69</a:t>
                      </a:r>
                    </a:p>
                  </a:txBody>
                  <a:tcPr>
                    <a:solidFill>
                      <a:srgbClr val="FFFFFF"/>
                    </a:solidFill>
                  </a:tcPr>
                </a:tc>
              </a:tr>
              <a:tr h="288000">
                <a:tc>
                  <a:txBody>
                    <a:bodyPr/>
                    <a:lstStyle/>
                    <a:p>
                      <a:pPr algn="r">
                        <a:defRPr sz="1000" b="1">
                          <a:solidFill>
                            <a:srgbClr val="008C8C"/>
                          </a:solidFill>
                          <a:latin typeface="Montserrat"/>
                        </a:defRPr>
                      </a:pPr>
                      <a:r>
                        <a:t>Total</a:t>
                      </a:r>
                    </a:p>
                  </a:txBody>
                  <a:tcPr>
                    <a:solidFill>
                      <a:srgbClr val="CBE6E1"/>
                    </a:solidFill>
                  </a:tcPr>
                </a:tc>
                <a:tc>
                  <a:txBody>
                    <a:bodyPr/>
                    <a:lstStyle/>
                    <a:p>
                      <a:pPr algn="ctr">
                        <a:defRPr sz="1000" b="1">
                          <a:solidFill>
                            <a:srgbClr val="008C8C"/>
                          </a:solidFill>
                          <a:latin typeface="Montserrat"/>
                        </a:defRPr>
                      </a:pPr>
                      <a:r>
                        <a:t>2,978</a:t>
                      </a:r>
                    </a:p>
                  </a:txBody>
                  <a:tcPr>
                    <a:solidFill>
                      <a:srgbClr val="CBE6E1"/>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VERACRUZ</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16,060	 Personal de Salud: 26,465</a:t>
            </a:r>
          </a:p>
        </p:txBody>
      </p:sp>
      <p:cxnSp>
        <p:nvCxnSpPr>
          <p:cNvPr id="298" name="Connector 297"/>
          <p:cNvCxnSpPr/>
          <p:nvPr/>
        </p:nvCxnSpPr>
        <p:spPr>
          <a:xfrm>
            <a:off x="137160" y="1106424"/>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+65.1%</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241</a:t>
                      </a:r>
                    </a:p>
                  </a:txBody>
                  <a:tcPr marL="0" marR="0" marT="0" marB="0">
                    <a:noFill/>
                  </a:tcPr>
                </a:tc>
                <a:tc>
                  <a:txBody>
                    <a:bodyPr/>
                    <a:lstStyle/>
                    <a:p>
                      <a:pPr algn="ctr">
                        <a:defRPr b="1" sz="1500">
                          <a:solidFill>
                            <a:srgbClr val="B4975A"/>
                          </a:solidFill>
                          <a:latin typeface="Montserrat"/>
                        </a:defRPr>
                      </a:pPr>
                      <a:r>
                        <a:t>398</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+31.4%</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2,797</a:t>
                      </a:r>
                    </a:p>
                  </a:txBody>
                  <a:tcPr marL="0" marR="0" marT="0" marB="0">
                    <a:noFill/>
                  </a:tcPr>
                </a:tc>
                <a:tc>
                  <a:txBody>
                    <a:bodyPr/>
                    <a:lstStyle/>
                    <a:p>
                      <a:pPr algn="ctr">
                        <a:defRPr b="1" sz="1500">
                          <a:solidFill>
                            <a:srgbClr val="B4975A"/>
                          </a:solidFill>
                          <a:latin typeface="Montserrat"/>
                        </a:defRPr>
                      </a:pPr>
                      <a:r>
                        <a:t>3,674</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+10.0%</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5,250</a:t>
                      </a:r>
                    </a:p>
                  </a:txBody>
                  <a:tcPr marL="0" marR="0" marT="0" marB="0">
                    <a:noFill/>
                  </a:tcPr>
                </a:tc>
                <a:tc>
                  <a:txBody>
                    <a:bodyPr/>
                    <a:lstStyle/>
                    <a:p>
                      <a:pPr algn="ctr">
                        <a:defRPr b="1" sz="1500">
                          <a:solidFill>
                            <a:srgbClr val="B4975A"/>
                          </a:solidFill>
                          <a:latin typeface="Montserrat"/>
                        </a:defRPr>
                      </a:pPr>
                      <a:r>
                        <a:t>5,776</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+14.4%</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3,772</a:t>
                      </a:r>
                    </a:p>
                  </a:txBody>
                  <a:tcPr marL="0" marR="0" marT="0" marB="0">
                    <a:noFill/>
                  </a:tcPr>
                </a:tc>
                <a:tc>
                  <a:txBody>
                    <a:bodyPr/>
                    <a:lstStyle/>
                    <a:p>
                      <a:pPr algn="ctr">
                        <a:defRPr b="1" sz="1500">
                          <a:solidFill>
                            <a:srgbClr val="B4975A"/>
                          </a:solidFill>
                          <a:latin typeface="Montserrat"/>
                        </a:defRPr>
                      </a:pPr>
                      <a:r>
                        <a:t>4,316</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+46.7%</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706</a:t>
                      </a:r>
                    </a:p>
                  </a:txBody>
                  <a:tcPr marL="0" marR="0" marT="0" marB="0">
                    <a:noFill/>
                  </a:tcPr>
                </a:tc>
                <a:tc>
                  <a:txBody>
                    <a:bodyPr/>
                    <a:lstStyle/>
                    <a:p>
                      <a:pPr algn="ctr">
                        <a:defRPr b="1" sz="1500">
                          <a:solidFill>
                            <a:srgbClr val="B4975A"/>
                          </a:solidFill>
                          <a:latin typeface="Montserrat"/>
                        </a:defRPr>
                      </a:pPr>
                      <a:r>
                        <a:t>1,036</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-7.4%</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929</a:t>
                      </a:r>
                    </a:p>
                  </a:txBody>
                  <a:tcPr marL="0" marR="0" marT="0" marB="0">
                    <a:noFill/>
                  </a:tcPr>
                </a:tc>
                <a:tc>
                  <a:txBody>
                    <a:bodyPr/>
                    <a:lstStyle/>
                    <a:p>
                      <a:pPr algn="ctr">
                        <a:defRPr b="1" sz="1500">
                          <a:solidFill>
                            <a:srgbClr val="B4975A"/>
                          </a:solidFill>
                          <a:latin typeface="Montserrat"/>
                        </a:defRPr>
                      </a:pPr>
                      <a:r>
                        <a:t>860</a:t>
                      </a:r>
                    </a:p>
                  </a:txBody>
                  <a:tcPr marL="0" marR="0" marT="0" marB="0">
                    <a:noFill/>
                  </a:tcPr>
                </a:tc>
              </a:tr>
            </a:tbl>
          </a:graphicData>
        </a:graphic>
      </p:graphicFrame>
      <p:graphicFrame>
        <p:nvGraphicFramePr>
          <p:cNvPr id="317" name="Table 316"/>
          <p:cNvGraphicFramePr>
            <a:graphicFrameLocks noGrp="1"/>
          </p:cNvGraphicFramePr>
          <p:nvPr/>
        </p:nvGraphicFramePr>
        <p:xfrm>
          <a:off x="4837176" y="5513832"/>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900">
                          <a:latin typeface="Montserrat"/>
                        </a:defRPr>
                      </a:pPr>
                      <a:r>
                        <a:t>Medicina Familiar</a:t>
                      </a:r>
                    </a:p>
                  </a:txBody>
                  <a:tcPr marL="36576" marR="36576" marT="36576" marB="36576">
                    <a:solidFill>
                      <a:srgbClr val="FFFFFF"/>
                    </a:solidFill>
                  </a:tcPr>
                </a:tc>
                <a:tc>
                  <a:txBody>
                    <a:bodyPr/>
                    <a:lstStyle/>
                    <a:p>
                      <a:pPr algn="ctr">
                        <a:defRPr sz="900">
                          <a:latin typeface="Montserrat"/>
                        </a:defRPr>
                      </a:pPr>
                      <a:r>
                        <a:t>91</a:t>
                      </a:r>
                    </a:p>
                  </a:txBody>
                  <a:tcPr marL="36576" marR="36576" marT="36576" marB="36576">
                    <a:solidFill>
                      <a:srgbClr val="FFFFFF"/>
                    </a:solidFill>
                  </a:tcPr>
                </a:tc>
              </a:tr>
              <a:tr h="18288">
                <a:tc>
                  <a:txBody>
                    <a:bodyPr/>
                    <a:lstStyle/>
                    <a:p>
                      <a:pPr algn="l">
                        <a:defRPr sz="900">
                          <a:latin typeface="Montserrat"/>
                        </a:defRPr>
                      </a:pPr>
                      <a:r>
                        <a:t>Medicina de Urgencias</a:t>
                      </a:r>
                    </a:p>
                  </a:txBody>
                  <a:tcPr marL="36576" marR="36576" marT="36576" marB="36576">
                    <a:solidFill>
                      <a:srgbClr val="EFEFEF"/>
                    </a:solidFill>
                  </a:tcPr>
                </a:tc>
                <a:tc>
                  <a:txBody>
                    <a:bodyPr/>
                    <a:lstStyle/>
                    <a:p>
                      <a:pPr algn="ctr">
                        <a:defRPr sz="900">
                          <a:latin typeface="Montserrat"/>
                        </a:defRPr>
                      </a:pPr>
                      <a:r>
                        <a:t>77</a:t>
                      </a:r>
                    </a:p>
                  </a:txBody>
                  <a:tcPr marL="36576" marR="36576" marT="36576" marB="36576">
                    <a:solidFill>
                      <a:srgbClr val="EFEFEF"/>
                    </a:solidFill>
                  </a:tcPr>
                </a:tc>
              </a:tr>
              <a:tr h="18288">
                <a:tc>
                  <a:txBody>
                    <a:bodyPr/>
                    <a:lstStyle/>
                    <a:p>
                      <a:pPr algn="l">
                        <a:defRPr sz="900">
                          <a:latin typeface="Montserrat"/>
                        </a:defRPr>
                      </a:pPr>
                      <a:r>
                        <a:t>Medicina Interna</a:t>
                      </a:r>
                    </a:p>
                  </a:txBody>
                  <a:tcPr marL="36576" marR="36576" marT="36576" marB="36576">
                    <a:solidFill>
                      <a:srgbClr val="FFFFFF"/>
                    </a:solidFill>
                  </a:tcPr>
                </a:tc>
                <a:tc>
                  <a:txBody>
                    <a:bodyPr/>
                    <a:lstStyle/>
                    <a:p>
                      <a:pPr algn="ctr">
                        <a:defRPr sz="900">
                          <a:latin typeface="Montserrat"/>
                        </a:defRPr>
                      </a:pPr>
                      <a:r>
                        <a:t>31</a:t>
                      </a:r>
                    </a:p>
                  </a:txBody>
                  <a:tcPr marL="36576" marR="36576" marT="36576" marB="36576">
                    <a:solidFill>
                      <a:srgbClr val="FFFFFF"/>
                    </a:solidFill>
                  </a:tcPr>
                </a:tc>
              </a:tr>
              <a:tr h="18288">
                <a:tc>
                  <a:txBody>
                    <a:bodyPr/>
                    <a:lstStyle/>
                    <a:p>
                      <a:pPr algn="l">
                        <a:defRPr sz="900">
                          <a:latin typeface="Montserrat"/>
                        </a:defRPr>
                      </a:pPr>
                      <a:r>
                        <a:t>Anestesiología</a:t>
                      </a:r>
                    </a:p>
                  </a:txBody>
                  <a:tcPr marL="36576" marR="36576" marT="36576" marB="36576">
                    <a:solidFill>
                      <a:srgbClr val="EFEFEF"/>
                    </a:solidFill>
                  </a:tcPr>
                </a:tc>
                <a:tc>
                  <a:txBody>
                    <a:bodyPr/>
                    <a:lstStyle/>
                    <a:p>
                      <a:pPr algn="ctr">
                        <a:defRPr sz="900">
                          <a:latin typeface="Montserrat"/>
                        </a:defRPr>
                      </a:pPr>
                      <a:r>
                        <a:t>26</a:t>
                      </a:r>
                    </a:p>
                  </a:txBody>
                  <a:tcPr marL="36576" marR="36576" marT="36576" marB="36576">
                    <a:solidFill>
                      <a:srgbClr val="EFEFEF"/>
                    </a:solidFill>
                  </a:tcPr>
                </a:tc>
              </a:tr>
              <a:tr h="18288">
                <a:tc>
                  <a:txBody>
                    <a:bodyPr/>
                    <a:lstStyle/>
                    <a:p>
                      <a:pPr algn="l">
                        <a:defRPr sz="900">
                          <a:latin typeface="Montserrat"/>
                        </a:defRPr>
                      </a:pPr>
                      <a:r>
                        <a:t>Traumatología y Ortopedia</a:t>
                      </a:r>
                    </a:p>
                  </a:txBody>
                  <a:tcPr marL="36576" marR="36576" marT="36576" marB="36576">
                    <a:solidFill>
                      <a:srgbClr val="FFFFFF"/>
                    </a:solidFill>
                  </a:tcPr>
                </a:tc>
                <a:tc>
                  <a:txBody>
                    <a:bodyPr/>
                    <a:lstStyle/>
                    <a:p>
                      <a:pPr algn="ctr">
                        <a:defRPr sz="900">
                          <a:latin typeface="Montserrat"/>
                        </a:defRPr>
                      </a:pPr>
                      <a:r>
                        <a:t>20</a:t>
                      </a:r>
                    </a:p>
                  </a:txBody>
                  <a:tcPr marL="36576" marR="36576" marT="36576" marB="36576">
                    <a:solidFill>
                      <a:srgbClr val="FFFFFF"/>
                    </a:solidFill>
                  </a:tcPr>
                </a:tc>
              </a:tr>
            </a:tbl>
          </a:graphicData>
        </a:graphic>
      </p:graphicFrame>
      <p:graphicFrame>
        <p:nvGraphicFramePr>
          <p:cNvPr id="318" name="Table 317"/>
          <p:cNvGraphicFramePr>
            <a:graphicFrameLocks noGrp="1"/>
          </p:cNvGraphicFramePr>
          <p:nvPr/>
        </p:nvGraphicFramePr>
        <p:xfrm>
          <a:off x="4837176" y="6848856"/>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2026</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900">
                          <a:latin typeface="Montserrat"/>
                        </a:defRPr>
                      </a:pPr>
                      <a:r>
                        <a:t>Medicina Familiar</a:t>
                      </a:r>
                    </a:p>
                  </a:txBody>
                  <a:tcPr marL="36576" marR="36576" marT="36576" marB="36576">
                    <a:solidFill>
                      <a:srgbClr val="FFFFFF"/>
                    </a:solidFill>
                  </a:tcPr>
                </a:tc>
                <a:tc>
                  <a:txBody>
                    <a:bodyPr/>
                    <a:lstStyle/>
                    <a:p>
                      <a:pPr algn="ctr">
                        <a:defRPr sz="900">
                          <a:latin typeface="Montserrat"/>
                        </a:defRPr>
                      </a:pPr>
                      <a:r>
                        <a:t>92</a:t>
                      </a:r>
                    </a:p>
                  </a:txBody>
                  <a:tcPr marL="36576" marR="36576" marT="36576" marB="36576">
                    <a:solidFill>
                      <a:srgbClr val="FFFFFF"/>
                    </a:solidFill>
                  </a:tcPr>
                </a:tc>
              </a:tr>
              <a:tr h="18288">
                <a:tc>
                  <a:txBody>
                    <a:bodyPr/>
                    <a:lstStyle/>
                    <a:p>
                      <a:pPr algn="l">
                        <a:defRPr sz="900">
                          <a:latin typeface="Montserrat"/>
                        </a:defRPr>
                      </a:pPr>
                      <a:r>
                        <a:t>Medicina de Urgencias</a:t>
                      </a:r>
                    </a:p>
                  </a:txBody>
                  <a:tcPr marL="36576" marR="36576" marT="36576" marB="36576">
                    <a:solidFill>
                      <a:srgbClr val="EFEFEF"/>
                    </a:solidFill>
                  </a:tcPr>
                </a:tc>
                <a:tc>
                  <a:txBody>
                    <a:bodyPr/>
                    <a:lstStyle/>
                    <a:p>
                      <a:pPr algn="ctr">
                        <a:defRPr sz="900">
                          <a:latin typeface="Montserrat"/>
                        </a:defRPr>
                      </a:pPr>
                      <a:r>
                        <a:t>64</a:t>
                      </a:r>
                    </a:p>
                  </a:txBody>
                  <a:tcPr marL="36576" marR="36576" marT="36576" marB="36576">
                    <a:solidFill>
                      <a:srgbClr val="EFEFEF"/>
                    </a:solidFill>
                  </a:tcPr>
                </a:tc>
              </a:tr>
              <a:tr h="18288">
                <a:tc>
                  <a:txBody>
                    <a:bodyPr/>
                    <a:lstStyle/>
                    <a:p>
                      <a:pPr algn="l">
                        <a:defRPr sz="900">
                          <a:latin typeface="Montserrat"/>
                        </a:defRPr>
                      </a:pPr>
                      <a:r>
                        <a:t>Cirugía General</a:t>
                      </a:r>
                    </a:p>
                  </a:txBody>
                  <a:tcPr marL="36576" marR="36576" marT="36576" marB="36576">
                    <a:solidFill>
                      <a:srgbClr val="FFFFFF"/>
                    </a:solidFill>
                  </a:tcPr>
                </a:tc>
                <a:tc>
                  <a:txBody>
                    <a:bodyPr/>
                    <a:lstStyle/>
                    <a:p>
                      <a:pPr algn="ctr">
                        <a:defRPr sz="900">
                          <a:latin typeface="Montserrat"/>
                        </a:defRPr>
                      </a:pPr>
                      <a:r>
                        <a:t>26</a:t>
                      </a:r>
                    </a:p>
                  </a:txBody>
                  <a:tcPr marL="36576" marR="36576" marT="36576" marB="36576">
                    <a:solidFill>
                      <a:srgbClr val="FFFFFF"/>
                    </a:solidFill>
                  </a:tcPr>
                </a:tc>
              </a:tr>
              <a:tr h="18288">
                <a:tc>
                  <a:txBody>
                    <a:bodyPr/>
                    <a:lstStyle/>
                    <a:p>
                      <a:pPr algn="l">
                        <a:defRPr sz="900">
                          <a:latin typeface="Montserrat"/>
                        </a:defRPr>
                      </a:pPr>
                      <a:r>
                        <a:t>Anestesiología</a:t>
                      </a:r>
                    </a:p>
                  </a:txBody>
                  <a:tcPr marL="36576" marR="36576" marT="36576" marB="36576">
                    <a:solidFill>
                      <a:srgbClr val="EFEFEF"/>
                    </a:solidFill>
                  </a:tcPr>
                </a:tc>
                <a:tc>
                  <a:txBody>
                    <a:bodyPr/>
                    <a:lstStyle/>
                    <a:p>
                      <a:pPr algn="ctr">
                        <a:defRPr sz="900">
                          <a:latin typeface="Montserrat"/>
                        </a:defRPr>
                      </a:pPr>
                      <a:r>
                        <a:t>24</a:t>
                      </a:r>
                    </a:p>
                  </a:txBody>
                  <a:tcPr marL="36576" marR="36576" marT="36576" marB="36576">
                    <a:solidFill>
                      <a:srgbClr val="EFEFEF"/>
                    </a:solidFill>
                  </a:tcPr>
                </a:tc>
              </a:tr>
              <a:tr h="18288">
                <a:tc>
                  <a:txBody>
                    <a:bodyPr/>
                    <a:lstStyle/>
                    <a:p>
                      <a:pPr algn="l">
                        <a:defRPr sz="900">
                          <a:latin typeface="Montserrat"/>
                        </a:defRPr>
                      </a:pPr>
                      <a:r>
                        <a:t>Epidemiología</a:t>
                      </a:r>
                    </a:p>
                  </a:txBody>
                  <a:tcPr marL="36576" marR="36576" marT="36576" marB="36576">
                    <a:solidFill>
                      <a:srgbClr val="FFFFFF"/>
                    </a:solidFill>
                  </a:tcPr>
                </a:tc>
                <a:tc>
                  <a:txBody>
                    <a:bodyPr/>
                    <a:lstStyle/>
                    <a:p>
                      <a:pPr algn="ctr">
                        <a:defRPr sz="900">
                          <a:latin typeface="Montserrat"/>
                        </a:defRPr>
                      </a:pPr>
                      <a:r>
                        <a:t>23</a:t>
                      </a:r>
                    </a:p>
                  </a:txBody>
                  <a:tcPr marL="36576" marR="36576" marT="36576" marB="36576">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416</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142</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266</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158</a:t>
                      </a:r>
                    </a:p>
                  </a:txBody>
                  <a:tcPr anchor="ctr" marL="36576" marR="36576" marT="36576" marB="36576">
                    <a:solidFill>
                      <a:srgbClr val="FFFFFF"/>
                    </a:solidFill>
                  </a:tcPr>
                </a:tc>
              </a:tr>
              <a:tr h="18288">
                <a:tc>
                  <a:txBody>
                    <a:bodyPr/>
                    <a:lstStyle/>
                    <a:p>
                      <a:pPr algn="l">
                        <a:defRPr b="1" sz="1000">
                          <a:solidFill>
                            <a:srgbClr val="000000"/>
                          </a:solidFill>
                          <a:latin typeface="Montserrat"/>
                        </a:defRPr>
                      </a:pPr>
                      <a:r>
                        <a:t>Total</a:t>
                      </a:r>
                    </a:p>
                  </a:txBody>
                  <a:tcPr anchor="ctr" marL="36576" marR="36576" marT="36576" marB="36576">
                    <a:solidFill>
                      <a:srgbClr val="D3E9E7"/>
                    </a:solidFill>
                  </a:tcPr>
                </a:tc>
                <a:tc>
                  <a:txBody>
                    <a:bodyPr/>
                    <a:lstStyle/>
                    <a:p>
                      <a:pPr algn="ctr">
                        <a:defRPr b="1" sz="1000">
                          <a:solidFill>
                            <a:srgbClr val="000000"/>
                          </a:solidFill>
                          <a:latin typeface="Montserrat"/>
                        </a:defRPr>
                      </a:pPr>
                      <a:r>
                        <a:t>982</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Noto Sans"/>
              </a:defRPr>
            </a:pPr>
            <a:r>
              <a:t>Fuente: Dirección de Administración. Base SIAP comparativa del diciembre 2018 con el febrero 2026.</a:t>
            </a:r>
          </a:p>
        </p:txBody>
      </p:sp>
      <p:sp>
        <p:nvSpPr>
          <p:cNvPr id="322" name="TextBox 321"/>
          <p:cNvSpPr txBox="1"/>
          <p:nvPr/>
        </p:nvSpPr>
        <p:spPr>
          <a:xfrm>
            <a:off x="162000" y="7405200"/>
            <a:ext cx="4370400" cy="594000"/>
          </a:xfrm>
          <a:prstGeom prst="rect">
            <a:avLst/>
          </a:prstGeom>
          <a:noFill/>
        </p:spPr>
        <p:txBody>
          <a:bodyPr wrap="square" tIns="0" bIns="0" lIns="0" rIns="0">
            <a:spAutoFit/>
          </a:bodyPr>
          <a:lstStyle/>
          <a:p>
            <a:pPr algn="l">
              <a:defRPr sz="800">
                <a:solidFill>
                  <a:srgbClr val="000000"/>
                </a:solidFill>
                <a:latin typeface="Noto Sans"/>
              </a:defRPr>
            </a:pPr>
            <a:r>
              <a:t>Se muestra el total de egresos en la entidad y sólo las cinco especialidades con mayor egresos de cada año. Corte de información febrero 2026. 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Noto Sans"/>
              </a:defRPr>
            </a:pPr>
            <a:r>
              <a:t>Fuente: Sistema de Información Operativa. Personal de base. Corte de información: enero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21,645</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1,589</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229</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329</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5,950</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2,990</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29</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32,174</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solidFill>
                      <a:srgbClr val="006455"/>
                    </a:solidFill>
                  </a:tcPr>
                </a:tc>
                <a:tc>
                  <a:txBody>
                    <a:bodyPr/>
                    <a:lstStyle/>
                    <a:p>
                      <a:pPr algn="ctr">
                        <a:defRPr b="1" sz="1000">
                          <a:solidFill>
                            <a:srgbClr val="FFFFFF"/>
                          </a:solidFill>
                          <a:latin typeface="Montserrat"/>
                        </a:defRPr>
                      </a:pPr>
                      <a:r>
                        <a:t>Especialidades</a:t>
                      </a:r>
                    </a:p>
                  </a:txBody>
                  <a:tcPr>
                    <a:solidFill>
                      <a:srgbClr val="006455"/>
                    </a:solidFill>
                  </a:tcPr>
                </a:tc>
                <a:tc>
                  <a:txBody>
                    <a:bodyPr/>
                    <a:lstStyle/>
                    <a:p>
                      <a:pPr algn="ctr">
                        <a:defRPr b="1" sz="1000">
                          <a:solidFill>
                            <a:srgbClr val="FFFFFF"/>
                          </a:solidFill>
                          <a:latin typeface="Montserrat"/>
                        </a:defRPr>
                      </a:pPr>
                      <a:r>
                        <a:t>Cirugías</a:t>
                      </a:r>
                    </a:p>
                  </a:txBody>
                  <a:tcPr>
                    <a:solidFill>
                      <a:srgbClr val="006455"/>
                    </a:solidFill>
                  </a:tcPr>
                </a:tc>
                <a:tc>
                  <a:txBody>
                    <a:bodyPr/>
                    <a:lstStyle/>
                    <a:p>
                      <a:pPr algn="ctr">
                        <a:defRPr b="1" sz="1000">
                          <a:solidFill>
                            <a:srgbClr val="FFFFFF"/>
                          </a:solidFill>
                          <a:latin typeface="Montserrat"/>
                        </a:defRPr>
                      </a:pPr>
                      <a:r>
                        <a:t>Egresos</a:t>
                      </a:r>
                    </a:p>
                  </a:txBody>
                  <a:tcPr>
                    <a:solidFill>
                      <a:srgbClr val="006455"/>
                    </a:solidFill>
                  </a:tcPr>
                </a:tc>
                <a:tc>
                  <a:txBody>
                    <a:bodyPr/>
                    <a:lstStyle/>
                    <a:p>
                      <a:pPr algn="ctr">
                        <a:defRPr b="1" sz="1000">
                          <a:solidFill>
                            <a:srgbClr val="FFFFFF"/>
                          </a:solidFill>
                          <a:latin typeface="Montserrat"/>
                        </a:defRPr>
                      </a:pPr>
                      <a:r>
                        <a:t>Defunciones</a:t>
                      </a:r>
                    </a:p>
                  </a:txBody>
                  <a:tcPr>
                    <a:solidFill>
                      <a:srgbClr val="006455"/>
                    </a:solidFill>
                  </a:tcPr>
                </a:tc>
              </a:tr>
              <a:tr h="489600">
                <a:tc>
                  <a:txBody>
                    <a:bodyPr/>
                    <a:lstStyle/>
                    <a:p>
                      <a:pPr algn="ctr">
                        <a:defRPr sz="1000">
                          <a:latin typeface="Montserrat"/>
                        </a:defRPr>
                      </a:pPr>
                      <a:r>
                        <a:t>Enfermedades del corazón   (1,123,531)</a:t>
                      </a:r>
                    </a:p>
                  </a:txBody>
                  <a:tcPr>
                    <a:solidFill>
                      <a:srgbClr val="FFFFFF"/>
                    </a:solidFill>
                  </a:tcPr>
                </a:tc>
                <a:tc>
                  <a:txBody>
                    <a:bodyPr/>
                    <a:lstStyle/>
                    <a:p>
                      <a:pPr algn="ctr">
                        <a:defRPr sz="1000">
                          <a:latin typeface="Montserrat"/>
                        </a:defRPr>
                      </a:pPr>
                      <a:r>
                        <a:t>Traumatismos e intoxicaciones   (102,303)</a:t>
                      </a:r>
                    </a:p>
                  </a:txBody>
                  <a:tcPr>
                    <a:solidFill>
                      <a:srgbClr val="FFFFFF"/>
                    </a:solidFill>
                  </a:tcPr>
                </a:tc>
                <a:tc>
                  <a:txBody>
                    <a:bodyPr/>
                    <a:lstStyle/>
                    <a:p>
                      <a:pPr algn="ctr">
                        <a:defRPr sz="1000">
                          <a:latin typeface="Montserrat"/>
                        </a:defRPr>
                      </a:pPr>
                      <a:r>
                        <a:t>Traumatismos y envenenamientos   (14,863)</a:t>
                      </a:r>
                    </a:p>
                  </a:txBody>
                  <a:tcPr>
                    <a:solidFill>
                      <a:srgbClr val="FFFFFF"/>
                    </a:solidFill>
                  </a:tcPr>
                </a:tc>
                <a:tc>
                  <a:txBody>
                    <a:bodyPr/>
                    <a:lstStyle/>
                    <a:p>
                      <a:pPr algn="ctr">
                        <a:defRPr sz="1000">
                          <a:latin typeface="Montserrat"/>
                        </a:defRPr>
                      </a:pPr>
                      <a:r>
                        <a:t>Traumatismos e intoxicaciones   (16,277)</a:t>
                      </a:r>
                    </a:p>
                  </a:txBody>
                  <a:tcPr>
                    <a:solidFill>
                      <a:srgbClr val="FFFFFF"/>
                    </a:solidFill>
                  </a:tcPr>
                </a:tc>
                <a:tc>
                  <a:txBody>
                    <a:bodyPr/>
                    <a:lstStyle/>
                    <a:p>
                      <a:pPr algn="ctr">
                        <a:defRPr sz="1000">
                          <a:latin typeface="Montserrat"/>
                        </a:defRPr>
                      </a:pPr>
                      <a:r>
                        <a:t>Enfermedades del corazón  (1,087)</a:t>
                      </a:r>
                    </a:p>
                  </a:txBody>
                  <a:tcPr>
                    <a:solidFill>
                      <a:srgbClr val="FFFFFF"/>
                    </a:solidFill>
                  </a:tcPr>
                </a:tc>
              </a:tr>
              <a:tr h="489600">
                <a:tc>
                  <a:txBody>
                    <a:bodyPr/>
                    <a:lstStyle/>
                    <a:p>
                      <a:pPr algn="ctr">
                        <a:defRPr sz="1000">
                          <a:latin typeface="Montserrat"/>
                        </a:defRPr>
                      </a:pPr>
                      <a:r>
                        <a:t>Diabetes mellitus   (1,074,619)</a:t>
                      </a:r>
                    </a:p>
                  </a:txBody>
                  <a:tcPr>
                    <a:solidFill>
                      <a:srgbClr val="EFEFEF"/>
                    </a:solidFill>
                  </a:tcPr>
                </a:tc>
                <a:tc>
                  <a:txBody>
                    <a:bodyPr/>
                    <a:lstStyle/>
                    <a:p>
                      <a:pPr algn="ctr">
                        <a:defRPr sz="1000">
                          <a:latin typeface="Montserrat"/>
                        </a:defRPr>
                      </a:pPr>
                      <a:r>
                        <a:t>Tumores malignos   (97,817)</a:t>
                      </a:r>
                    </a:p>
                  </a:txBody>
                  <a:tcPr>
                    <a:solidFill>
                      <a:srgbClr val="EFEFEF"/>
                    </a:solidFill>
                  </a:tcPr>
                </a:tc>
                <a:tc>
                  <a:txBody>
                    <a:bodyPr/>
                    <a:lstStyle/>
                    <a:p>
                      <a:pPr algn="ctr">
                        <a:defRPr sz="1000">
                          <a:latin typeface="Montserrat"/>
                        </a:defRPr>
                      </a:pPr>
                      <a:r>
                        <a:t>Cesárea   (9,009)</a:t>
                      </a:r>
                    </a:p>
                  </a:txBody>
                  <a:tcPr>
                    <a:solidFill>
                      <a:srgbClr val="EFEFEF"/>
                    </a:solidFill>
                  </a:tcPr>
                </a:tc>
                <a:tc>
                  <a:txBody>
                    <a:bodyPr/>
                    <a:lstStyle/>
                    <a:p>
                      <a:pPr algn="ctr">
                        <a:defRPr sz="1000">
                          <a:latin typeface="Montserrat"/>
                        </a:defRPr>
                      </a:pPr>
                      <a:r>
                        <a:t>Embarazo, parto y puerperio   (13,590)</a:t>
                      </a:r>
                    </a:p>
                  </a:txBody>
                  <a:tcPr>
                    <a:solidFill>
                      <a:srgbClr val="EFEFEF"/>
                    </a:solidFill>
                  </a:tcPr>
                </a:tc>
                <a:tc>
                  <a:txBody>
                    <a:bodyPr/>
                    <a:lstStyle/>
                    <a:p>
                      <a:pPr algn="ctr">
                        <a:defRPr sz="1000">
                          <a:latin typeface="Montserrat"/>
                        </a:defRPr>
                      </a:pPr>
                      <a:r>
                        <a:t>Tumores malignos  (793)</a:t>
                      </a:r>
                    </a:p>
                  </a:txBody>
                  <a:tcPr>
                    <a:solidFill>
                      <a:srgbClr val="EFEFEF"/>
                    </a:solidFill>
                  </a:tcPr>
                </a:tc>
              </a:tr>
              <a:tr h="489600">
                <a:tc>
                  <a:txBody>
                    <a:bodyPr/>
                    <a:lstStyle/>
                    <a:p>
                      <a:pPr algn="ctr">
                        <a:defRPr sz="1000">
                          <a:latin typeface="Montserrat"/>
                        </a:defRPr>
                      </a:pPr>
                      <a:r>
                        <a:t>Infecciones respiratorias agudas   (196,194)</a:t>
                      </a:r>
                    </a:p>
                  </a:txBody>
                  <a:tcPr>
                    <a:solidFill>
                      <a:srgbClr val="FFFFFF"/>
                    </a:solidFill>
                  </a:tcPr>
                </a:tc>
                <a:tc>
                  <a:txBody>
                    <a:bodyPr/>
                    <a:lstStyle/>
                    <a:p>
                      <a:pPr algn="ctr">
                        <a:defRPr sz="1000">
                          <a:latin typeface="Montserrat"/>
                        </a:defRPr>
                      </a:pPr>
                      <a:r>
                        <a:t>Enfermedades y trastornos de las articulaciones   (69,271)</a:t>
                      </a:r>
                    </a:p>
                  </a:txBody>
                  <a:tcPr>
                    <a:solidFill>
                      <a:srgbClr val="FFFFFF"/>
                    </a:solidFill>
                  </a:tcPr>
                </a:tc>
                <a:tc>
                  <a:txBody>
                    <a:bodyPr/>
                    <a:lstStyle/>
                    <a:p>
                      <a:pPr algn="ctr">
                        <a:defRPr sz="1000">
                          <a:latin typeface="Montserrat"/>
                        </a:defRPr>
                      </a:pPr>
                      <a:r>
                        <a:t>Cirugía de cataratas (Facoemulsificación con implante de lente intraocular)   (6,101)</a:t>
                      </a:r>
                    </a:p>
                  </a:txBody>
                  <a:tcPr>
                    <a:solidFill>
                      <a:srgbClr val="FFFFFF"/>
                    </a:solidFill>
                  </a:tcPr>
                </a:tc>
                <a:tc>
                  <a:txBody>
                    <a:bodyPr/>
                    <a:lstStyle/>
                    <a:p>
                      <a:pPr algn="ctr">
                        <a:defRPr sz="1000">
                          <a:latin typeface="Montserrat"/>
                        </a:defRPr>
                      </a:pPr>
                      <a:r>
                        <a:t>Insuficiencia renal   (10,611)</a:t>
                      </a:r>
                    </a:p>
                  </a:txBody>
                  <a:tcPr>
                    <a:solidFill>
                      <a:srgbClr val="FFFFFF"/>
                    </a:solidFill>
                  </a:tcPr>
                </a:tc>
                <a:tc>
                  <a:txBody>
                    <a:bodyPr/>
                    <a:lstStyle/>
                    <a:p>
                      <a:pPr algn="ctr">
                        <a:defRPr sz="1000">
                          <a:latin typeface="Montserrat"/>
                        </a:defRPr>
                      </a:pPr>
                      <a:r>
                        <a:t>Diabetes mellitus  (765)</a:t>
                      </a:r>
                    </a:p>
                  </a:txBody>
                  <a:tcPr>
                    <a:solidFill>
                      <a:srgbClr val="FFFFFF"/>
                    </a:solidFill>
                  </a:tcPr>
                </a:tc>
              </a:tr>
              <a:tr h="489600">
                <a:tc>
                  <a:txBody>
                    <a:bodyPr/>
                    <a:lstStyle/>
                    <a:p>
                      <a:pPr algn="ctr">
                        <a:defRPr sz="1000">
                          <a:latin typeface="Montserrat"/>
                        </a:defRPr>
                      </a:pPr>
                      <a:r>
                        <a:t>traumatismos e intoxicaciones   (159,355)</a:t>
                      </a:r>
                    </a:p>
                  </a:txBody>
                  <a:tcPr>
                    <a:solidFill>
                      <a:srgbClr val="EFEFEF"/>
                    </a:solidFill>
                  </a:tcPr>
                </a:tc>
                <a:tc>
                  <a:txBody>
                    <a:bodyPr/>
                    <a:lstStyle/>
                    <a:p>
                      <a:pPr algn="ctr">
                        <a:defRPr sz="1000">
                          <a:latin typeface="Montserrat"/>
                        </a:defRPr>
                      </a:pPr>
                      <a:r>
                        <a:t>Insuficiencia renal   (62,635)</a:t>
                      </a:r>
                    </a:p>
                  </a:txBody>
                  <a:tcPr>
                    <a:solidFill>
                      <a:srgbClr val="EFEFEF"/>
                    </a:solidFill>
                  </a:tcPr>
                </a:tc>
                <a:tc>
                  <a:txBody>
                    <a:bodyPr/>
                    <a:lstStyle/>
                    <a:p>
                      <a:pPr algn="ctr">
                        <a:defRPr sz="1000">
                          <a:latin typeface="Montserrat"/>
                        </a:defRPr>
                      </a:pPr>
                      <a:r>
                        <a:t>Cirugía de Hernias (Hernioplastía)   (5,210)</a:t>
                      </a:r>
                    </a:p>
                  </a:txBody>
                  <a:tcPr>
                    <a:solidFill>
                      <a:srgbClr val="EFEFEF"/>
                    </a:solidFill>
                  </a:tcPr>
                </a:tc>
                <a:tc>
                  <a:txBody>
                    <a:bodyPr/>
                    <a:lstStyle/>
                    <a:p>
                      <a:pPr algn="ctr">
                        <a:defRPr sz="1000">
                          <a:latin typeface="Montserrat"/>
                        </a:defRPr>
                      </a:pPr>
                      <a:r>
                        <a:t>Tumores malignos   (6,119)</a:t>
                      </a:r>
                    </a:p>
                  </a:txBody>
                  <a:tcPr>
                    <a:solidFill>
                      <a:srgbClr val="EFEFEF"/>
                    </a:solidFill>
                  </a:tcPr>
                </a:tc>
                <a:tc>
                  <a:txBody>
                    <a:bodyPr/>
                    <a:lstStyle/>
                    <a:p>
                      <a:pPr algn="ctr">
                        <a:defRPr sz="1000">
                          <a:latin typeface="Montserrat"/>
                        </a:defRPr>
                      </a:pPr>
                      <a:r>
                        <a:t>Neumonía e influenza  (749)</a:t>
                      </a:r>
                    </a:p>
                  </a:txBody>
                  <a:tcPr>
                    <a:solidFill>
                      <a:srgbClr val="EFEFEF"/>
                    </a:solidFill>
                  </a:tcPr>
                </a:tc>
              </a:tr>
              <a:tr h="489600">
                <a:tc>
                  <a:txBody>
                    <a:bodyPr/>
                    <a:lstStyle/>
                    <a:p>
                      <a:pPr algn="ctr">
                        <a:defRPr sz="1000">
                          <a:latin typeface="Montserrat"/>
                        </a:defRPr>
                      </a:pPr>
                      <a:r>
                        <a:t>Enfermedades mentales   (156,387)</a:t>
                      </a:r>
                    </a:p>
                  </a:txBody>
                  <a:tcPr>
                    <a:solidFill>
                      <a:srgbClr val="FFFFFF"/>
                    </a:solidFill>
                  </a:tcPr>
                </a:tc>
                <a:tc>
                  <a:txBody>
                    <a:bodyPr/>
                    <a:lstStyle/>
                    <a:p>
                      <a:pPr algn="ctr">
                        <a:defRPr sz="1000">
                          <a:latin typeface="Montserrat"/>
                        </a:defRPr>
                      </a:pPr>
                      <a:r>
                        <a:t>Enfermedades del corazón   (61,859)</a:t>
                      </a:r>
                    </a:p>
                  </a:txBody>
                  <a:tcPr>
                    <a:solidFill>
                      <a:srgbClr val="FFFFFF"/>
                    </a:solidFill>
                  </a:tcPr>
                </a:tc>
                <a:tc>
                  <a:txBody>
                    <a:bodyPr/>
                    <a:lstStyle/>
                    <a:p>
                      <a:pPr algn="ctr">
                        <a:defRPr sz="1000">
                          <a:latin typeface="Montserrat"/>
                        </a:defRPr>
                      </a:pPr>
                      <a:r>
                        <a:t>Enfermedades de la piel y del tejido subcutáneo   (5,009)</a:t>
                      </a:r>
                    </a:p>
                  </a:txBody>
                  <a:tcPr>
                    <a:solidFill>
                      <a:srgbClr val="FFFFFF"/>
                    </a:solidFill>
                  </a:tcPr>
                </a:tc>
                <a:tc>
                  <a:txBody>
                    <a:bodyPr/>
                    <a:lstStyle/>
                    <a:p>
                      <a:pPr algn="ctr">
                        <a:defRPr sz="1000">
                          <a:latin typeface="Montserrat"/>
                        </a:defRPr>
                      </a:pPr>
                      <a:r>
                        <a:t>Enfermedades de la vesicula biliar   (5,276)</a:t>
                      </a:r>
                    </a:p>
                  </a:txBody>
                  <a:tcPr>
                    <a:solidFill>
                      <a:srgbClr val="FFFFFF"/>
                    </a:solidFill>
                  </a:tcPr>
                </a:tc>
                <a:tc>
                  <a:txBody>
                    <a:bodyPr/>
                    <a:lstStyle/>
                    <a:p>
                      <a:pPr algn="ctr">
                        <a:defRPr sz="1000">
                          <a:latin typeface="Montserrat"/>
                        </a:defRPr>
                      </a:pPr>
                      <a:r>
                        <a:t>Insuficiencia renal  (639)</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Noto Sans"/>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Noto Sans"/>
              </a:defRPr>
            </a:pPr>
            <a:r>
              <a:t>Corte de información: noviembre 2025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74320" y="731520"/>
            <a:ext cx="4572000" cy="365760"/>
          </a:xfrm>
          <a:prstGeom prst="rect">
            <a:avLst/>
          </a:prstGeom>
          <a:noFill/>
        </p:spPr>
        <p:txBody>
          <a:bodyPr wrap="none">
            <a:spAutoFit/>
          </a:bodyPr>
          <a:lstStyle/>
          <a:p>
            <a:pPr algn="l">
              <a:defRPr sz="2200" b="1">
                <a:solidFill>
                  <a:srgbClr val="BC955C"/>
                </a:solidFill>
                <a:latin typeface="Montserrat"/>
              </a:defRPr>
            </a:pPr>
            <a:r>
              <a:t>Abasto Recetas</a:t>
            </a:r>
          </a:p>
        </p:txBody>
      </p:sp>
      <p:cxnSp>
        <p:nvCxnSpPr>
          <p:cNvPr id="4" name="Connector 3"/>
          <p:cNvCxnSpPr/>
          <p:nvPr/>
        </p:nvCxnSpPr>
        <p:spPr>
          <a:xfrm>
            <a:off x="274320" y="1097280"/>
            <a:ext cx="7223760" cy="0"/>
          </a:xfrm>
          <a:prstGeom prst="line">
            <a:avLst/>
          </a:prstGeom>
          <a:ln w="19050">
            <a:solidFill>
              <a:srgbClr val="BC95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188720"/>
            <a:ext cx="4572000" cy="365760"/>
          </a:xfrm>
          <a:prstGeom prst="rect">
            <a:avLst/>
          </a:prstGeom>
          <a:noFill/>
        </p:spPr>
        <p:txBody>
          <a:bodyPr wrap="none">
            <a:spAutoFit/>
          </a:bodyPr>
          <a:lstStyle/>
          <a:p>
            <a:pPr algn="l">
              <a:defRPr sz="1800" b="0">
                <a:solidFill>
                  <a:srgbClr val="BC955C"/>
                </a:solidFill>
                <a:latin typeface="Montserrat"/>
              </a:defRPr>
            </a:pPr>
            <a:r>
              <a:t>Recetas surtidas y negadas</a:t>
            </a:r>
          </a:p>
        </p:txBody>
      </p:sp>
      <p:cxnSp>
        <p:nvCxnSpPr>
          <p:cNvPr id="6" name="Connector 5"/>
          <p:cNvCxnSpPr/>
          <p:nvPr/>
        </p:nvCxnSpPr>
        <p:spPr>
          <a:xfrm>
            <a:off x="457200" y="1554480"/>
            <a:ext cx="7040880" cy="0"/>
          </a:xfrm>
          <a:prstGeom prst="line">
            <a:avLst/>
          </a:prstGeom>
          <a:ln w="19050">
            <a:solidFill>
              <a:srgbClr val="BC95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febrero de cada año</a:t>
            </a:r>
          </a:p>
        </p:txBody>
      </p:sp>
      <p:pic>
        <p:nvPicPr>
          <p:cNvPr id="8" name="Picture 7" descr="grafica_recetas_30.png"/>
          <p:cNvPicPr>
            <a:picLocks noChangeAspect="1"/>
          </p:cNvPicPr>
          <p:nvPr/>
        </p:nvPicPr>
        <p:blipFill>
          <a:blip r:embed="rId4"/>
          <a:stretch>
            <a:fillRect/>
          </a:stretch>
        </p:blipFill>
        <p:spPr>
          <a:xfrm>
            <a:off x="122400" y="1717199"/>
            <a:ext cx="7347600" cy="3927962"/>
          </a:xfrm>
          <a:prstGeom prst="rect">
            <a:avLst/>
          </a:prstGeom>
        </p:spPr>
      </p:pic>
      <p:sp>
        <p:nvSpPr>
          <p:cNvPr id="9" name="TextBox 8"/>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28 de febrero de 2026.</a:t>
            </a:r>
          </a:p>
        </p:txBody>
      </p:sp>
      <p:sp>
        <p:nvSpPr>
          <p:cNvPr id="10" name="TextBox 9"/>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11" name="Connector 10"/>
          <p:cNvCxnSpPr/>
          <p:nvPr/>
        </p:nvCxnSpPr>
        <p:spPr>
          <a:xfrm>
            <a:off x="274320" y="6309360"/>
            <a:ext cx="7223760" cy="0"/>
          </a:xfrm>
          <a:prstGeom prst="line">
            <a:avLst/>
          </a:prstGeom>
          <a:ln w="19050">
            <a:solidFill>
              <a:srgbClr val="BC955C"/>
            </a:solidFill>
          </a:ln>
        </p:spPr>
        <p:style>
          <a:lnRef idx="2">
            <a:schemeClr val="accent1"/>
          </a:lnRef>
          <a:fillRef idx="0">
            <a:schemeClr val="accent1"/>
          </a:fillRef>
          <a:effectRef idx="1">
            <a:schemeClr val="accent1"/>
          </a:effectRef>
          <a:fontRef idx="minor">
            <a:schemeClr val="tx1"/>
          </a:fontRef>
        </p:style>
      </p:cxnSp>
      <p:graphicFrame>
        <p:nvGraphicFramePr>
          <p:cNvPr id="12" name="Table 11"/>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solidFill>
                      <a:srgbClr val="006455"/>
                    </a:solidFill>
                  </a:tcPr>
                </a:tc>
                <a:tc>
                  <a:txBody>
                    <a:bodyPr/>
                    <a:lstStyle/>
                    <a:p>
                      <a:pPr algn="ctr"/>
                      <a:r>
                        <a:rPr sz="1100" b="1">
                          <a:solidFill>
                            <a:srgbClr val="FFFFFF"/>
                          </a:solidFill>
                          <a:latin typeface="Montserrat"/>
                        </a:rPr>
                        <a:t>Manuales</a:t>
                      </a:r>
                    </a:p>
                  </a:txBody>
                  <a:tcPr>
                    <a:solidFill>
                      <a:srgbClr val="006455"/>
                    </a:solidFill>
                  </a:tcPr>
                </a:tc>
                <a:tc>
                  <a:txBody>
                    <a:bodyPr/>
                    <a:lstStyle/>
                    <a:p>
                      <a:pPr algn="ctr"/>
                      <a:r>
                        <a:rPr sz="1100" b="1">
                          <a:solidFill>
                            <a:srgbClr val="FFFFFF"/>
                          </a:solidFill>
                          <a:latin typeface="Montserrat"/>
                        </a:rPr>
                        <a:t>Electrónicas</a:t>
                      </a:r>
                    </a:p>
                  </a:txBody>
                  <a:tcPr>
                    <a:solidFill>
                      <a:srgbClr val="006455"/>
                    </a:solidFill>
                  </a:tcPr>
                </a:tc>
                <a:tc>
                  <a:txBody>
                    <a:bodyPr/>
                    <a:lstStyle/>
                    <a:p>
                      <a:pPr algn="ctr"/>
                      <a:r>
                        <a:rPr sz="1100" b="1">
                          <a:solidFill>
                            <a:srgbClr val="FFFFFF"/>
                          </a:solidFill>
                          <a:latin typeface="Montserrat"/>
                        </a:rPr>
                        <a:t>Porcentaje de electrónicas</a:t>
                      </a:r>
                    </a:p>
                  </a:txBody>
                  <a:tcP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164,872</a:t>
                      </a:r>
                    </a:p>
                  </a:txBody>
                  <a:tcPr>
                    <a:solidFill>
                      <a:srgbClr val="FFFFFF"/>
                    </a:solidFill>
                  </a:tcPr>
                </a:tc>
                <a:tc>
                  <a:txBody>
                    <a:bodyPr/>
                    <a:lstStyle/>
                    <a:p>
                      <a:pPr algn="ctr"/>
                      <a:r>
                        <a:rPr sz="1100" b="0">
                          <a:solidFill>
                            <a:srgbClr val="434343"/>
                          </a:solidFill>
                          <a:latin typeface="Montserrat"/>
                        </a:rPr>
                        <a:t>1,791,472</a:t>
                      </a:r>
                    </a:p>
                  </a:txBody>
                  <a:tcPr>
                    <a:solidFill>
                      <a:srgbClr val="FFFFFF"/>
                    </a:solidFill>
                  </a:tcPr>
                </a:tc>
                <a:tc>
                  <a:txBody>
                    <a:bodyPr/>
                    <a:lstStyle/>
                    <a:p>
                      <a:pPr algn="ctr"/>
                      <a:r>
                        <a:rPr sz="1100" b="0">
                          <a:solidFill>
                            <a:srgbClr val="434343"/>
                          </a:solidFill>
                          <a:latin typeface="Montserrat"/>
                        </a:rPr>
                        <a:t>91.6%</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115,673</a:t>
                      </a:r>
                    </a:p>
                  </a:txBody>
                  <a:tcPr>
                    <a:solidFill>
                      <a:srgbClr val="D9D9D9"/>
                    </a:solidFill>
                  </a:tcPr>
                </a:tc>
                <a:tc>
                  <a:txBody>
                    <a:bodyPr/>
                    <a:lstStyle/>
                    <a:p>
                      <a:pPr algn="ctr"/>
                      <a:r>
                        <a:rPr sz="1100" b="1">
                          <a:solidFill>
                            <a:srgbClr val="006455"/>
                          </a:solidFill>
                          <a:latin typeface="Montserrat"/>
                        </a:rPr>
                        <a:t>1,765,969</a:t>
                      </a:r>
                    </a:p>
                  </a:txBody>
                  <a:tcPr>
                    <a:solidFill>
                      <a:srgbClr val="D9D9D9"/>
                    </a:solidFill>
                  </a:tcPr>
                </a:tc>
                <a:tc>
                  <a:txBody>
                    <a:bodyPr/>
                    <a:lstStyle/>
                    <a:p>
                      <a:pPr algn="ctr"/>
                      <a:r>
                        <a:rPr sz="1100" b="1">
                          <a:solidFill>
                            <a:srgbClr val="006455"/>
                          </a:solidFill>
                          <a:latin typeface="Montserrat"/>
                        </a:rPr>
                        <a:t>93.9%</a:t>
                      </a:r>
                    </a:p>
                  </a:txBody>
                  <a:tcPr>
                    <a:solidFill>
                      <a:srgbClr val="D9D9D9"/>
                    </a:solidFill>
                  </a:tcPr>
                </a:tc>
              </a:tr>
            </a:tbl>
          </a:graphicData>
        </a:graphic>
      </p:graphicFrame>
      <p:sp>
        <p:nvSpPr>
          <p:cNvPr id="13" name="TextBox 12"/>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28 de febrero de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172F45EF-806A-7DEF-DC63-351C21F80D2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3" name="Google Shape;395;p15">
            <a:extLst>
              <a:ext uri="{FF2B5EF4-FFF2-40B4-BE49-F238E27FC236}">
                <a16:creationId xmlns:a16="http://schemas.microsoft.com/office/drawing/2014/main" id="{E9B6FDE2-AB5C-C52C-B0E2-79E103108501}"/>
              </a:ext>
            </a:extLst>
          </p:cNvPr>
          <p:cNvPicPr preferRelativeResize="0"/>
          <p:nvPr/>
        </p:nvPicPr>
        <p:blipFill rotWithShape="1">
          <a:blip r:embed="rId4">
            <a:alphaModFix/>
          </a:blip>
          <a:srcRect/>
          <a:stretch/>
        </p:blipFill>
        <p:spPr>
          <a:xfrm>
            <a:off x="176470" y="2231023"/>
            <a:ext cx="1599000" cy="599606"/>
          </a:xfrm>
          <a:prstGeom prst="rect">
            <a:avLst/>
          </a:prstGeom>
          <a:noFill/>
          <a:ln>
            <a:noFill/>
          </a:ln>
        </p:spPr>
      </p:pic>
      <p:sp>
        <p:nvSpPr>
          <p:cNvPr id="4" name="Google Shape;396;p15">
            <a:extLst>
              <a:ext uri="{FF2B5EF4-FFF2-40B4-BE49-F238E27FC236}">
                <a16:creationId xmlns:a16="http://schemas.microsoft.com/office/drawing/2014/main" id="{0583F7E9-F9AC-9429-DAFB-7DAA10EEDC5C}"/>
              </a:ext>
            </a:extLst>
          </p:cNvPr>
          <p:cNvSpPr txBox="1"/>
          <p:nvPr/>
        </p:nvSpPr>
        <p:spPr>
          <a:xfrm>
            <a:off x="137120" y="1813354"/>
            <a:ext cx="1599000" cy="32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 sz="1200" b="1" i="0" u="none" strike="noStrike" cap="none">
                <a:solidFill>
                  <a:srgbClr val="BC955C"/>
                </a:solidFill>
                <a:latin typeface="Montserrat"/>
                <a:ea typeface="Montserrat"/>
                <a:cs typeface="Montserrat"/>
                <a:sym typeface="Montserrat"/>
              </a:rPr>
              <a:t> ¿Qué se hará? </a:t>
            </a:r>
            <a:endParaRPr sz="1200" b="1" i="0" u="none" strike="noStrike" cap="none">
              <a:solidFill>
                <a:srgbClr val="BC955C"/>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000"/>
              <a:buFont typeface="Arial"/>
              <a:buNone/>
            </a:pPr>
            <a:r>
              <a:rPr lang="es" sz="1200" b="1" i="0" u="none" strike="noStrike" cap="none">
                <a:solidFill>
                  <a:srgbClr val="BC955C"/>
                </a:solidFill>
                <a:latin typeface="Montserrat"/>
                <a:ea typeface="Montserrat"/>
                <a:cs typeface="Montserrat"/>
                <a:sym typeface="Montserrat"/>
              </a:rPr>
              <a:t>2025</a:t>
            </a:r>
            <a:endParaRPr sz="1200" b="0" i="0" u="none" strike="noStrike" cap="none">
              <a:solidFill>
                <a:srgbClr val="BC955C"/>
              </a:solidFill>
              <a:latin typeface="Arial"/>
              <a:ea typeface="Arial"/>
              <a:cs typeface="Arial"/>
              <a:sym typeface="Arial"/>
            </a:endParaRPr>
          </a:p>
        </p:txBody>
      </p:sp>
      <p:sp>
        <p:nvSpPr>
          <p:cNvPr id="5" name="TextBox 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6" name="Table 5"/>
          <p:cNvGraphicFramePr>
            <a:graphicFrameLocks noGrp="1"/>
          </p:cNvGraphicFramePr>
          <p:nvPr/>
        </p:nvGraphicFramePr>
        <p:xfrm>
          <a:off x="1886400" y="1584000"/>
          <a:ext cx="5670000" cy="3600000"/>
        </p:xfrm>
        <a:graphic>
          <a:graphicData uri="http://schemas.openxmlformats.org/drawingml/2006/table">
            <a:tbl>
              <a:tblPr firstRow="1" bandRow="1">
                <a:tableStyleId>{5C22544A-7EE6-4342-B048-85BDC9FD1C3A}</a:tableStyleId>
              </a:tblPr>
              <a:tblGrid>
                <a:gridCol w="4795200"/>
                <a:gridCol w="874800"/>
              </a:tblGrid>
              <a:tr h="150000">
                <a:tc>
                  <a:txBody>
                    <a:bodyPr/>
                    <a:lstStyle/>
                    <a:p>
                      <a:pPr algn="ctr">
                        <a:defRPr b="1" sz="1000">
                          <a:solidFill>
                            <a:srgbClr val="FFFFFF"/>
                          </a:solidFill>
                          <a:latin typeface="Montserrat"/>
                        </a:defRPr>
                      </a:pPr>
                      <a:r>
                        <a:t>Descripción</a:t>
                      </a:r>
                    </a:p>
                  </a:txBody>
                  <a:tcPr>
                    <a:solidFill>
                      <a:srgbClr val="BC955C"/>
                    </a:solidFill>
                  </a:tcPr>
                </a:tc>
                <a:tc>
                  <a:txBody>
                    <a:bodyPr/>
                    <a:lstStyle/>
                    <a:p>
                      <a:pPr algn="ctr">
                        <a:defRPr b="1" sz="1000">
                          <a:solidFill>
                            <a:srgbClr val="FFFFFF"/>
                          </a:solidFill>
                          <a:latin typeface="Montserrat"/>
                        </a:defRPr>
                      </a:pPr>
                      <a:r>
                        <a:t>Monto (mdp)</a:t>
                      </a:r>
                    </a:p>
                  </a:txBody>
                  <a:tcPr>
                    <a:solidFill>
                      <a:srgbClr val="BC955C"/>
                    </a:solidFill>
                  </a:tcPr>
                </a:tc>
              </a:tr>
              <a:tr h="150000">
                <a:tc>
                  <a:txBody>
                    <a:bodyPr/>
                    <a:lstStyle/>
                    <a:p>
                      <a:pPr>
                        <a:defRPr sz="1100" b="1">
                          <a:latin typeface="Montserrat"/>
                        </a:defRPr>
                      </a:pPr>
                      <a:r>
                        <a:t>Equipo médico y electromecánico</a:t>
                      </a:r>
                    </a:p>
                  </a:txBody>
                  <a:tcPr>
                    <a:solidFill>
                      <a:srgbClr val="ADADAD"/>
                    </a:solidFill>
                  </a:tcPr>
                </a:tc>
                <a:tc>
                  <a:txBody>
                    <a:bodyPr/>
                    <a:lstStyle/>
                    <a:p>
                      <a:pPr>
                        <a:defRPr sz="1100" b="1">
                          <a:latin typeface="Montserrat"/>
                        </a:defRPr>
                      </a:pPr>
                    </a:p>
                  </a:txBody>
                  <a:tcPr>
                    <a:solidFill>
                      <a:srgbClr val="ADADAD"/>
                    </a:solidFill>
                  </a:tcPr>
                </a:tc>
              </a:tr>
              <a:tr h="150000">
                <a:tc>
                  <a:txBody>
                    <a:bodyPr/>
                    <a:lstStyle/>
                    <a:p>
                      <a:pPr>
                        <a:defRPr sz="1100">
                          <a:latin typeface="Montserrat"/>
                        </a:defRPr>
                      </a:pPr>
                      <a:r>
                        <a:t>Adquisición de 529 piezas de equipo médico: 392 camillas, 119 sillas de ruedas, 8 refrigeradores para vacunas, 6 mastógrafos, 2 congeladores para vacunas, 1 angiógrafo y 1 tomógrafo.</a:t>
                      </a:r>
                    </a:p>
                  </a:txBody>
                  <a:tcPr>
                    <a:solidFill>
                      <a:srgbClr val="EFEFEF"/>
                    </a:solidFill>
                  </a:tcPr>
                </a:tc>
                <a:tc>
                  <a:txBody>
                    <a:bodyPr/>
                    <a:lstStyle/>
                    <a:p>
                      <a:pPr>
                        <a:defRPr sz="1100">
                          <a:latin typeface="Montserrat"/>
                        </a:defRPr>
                      </a:pPr>
                      <a:r>
                        <a:t>$157.3</a:t>
                      </a:r>
                    </a:p>
                  </a:txBody>
                  <a:tcPr>
                    <a:solidFill>
                      <a:srgbClr val="EFEFEF"/>
                    </a:solidFill>
                  </a:tcPr>
                </a:tc>
              </a:tr>
              <a:tr h="150000">
                <a:tc>
                  <a:txBody>
                    <a:bodyPr/>
                    <a:lstStyle/>
                    <a:p>
                      <a:pPr>
                        <a:defRPr sz="1100">
                          <a:latin typeface="Montserrat"/>
                        </a:defRPr>
                      </a:pPr>
                      <a:r>
                        <a:t>Adquisición de 63 piezas de equipo electromecánico: 39 aires acondicionados, 11 plantas de lavado, 8 elevadores y 5 cuartos de máquinas.</a:t>
                      </a:r>
                    </a:p>
                  </a:txBody>
                  <a:tcPr>
                    <a:solidFill>
                      <a:srgbClr val="FFFFFF"/>
                    </a:solidFill>
                  </a:tcPr>
                </a:tc>
                <a:tc>
                  <a:txBody>
                    <a:bodyPr/>
                    <a:lstStyle/>
                    <a:p>
                      <a:pPr>
                        <a:defRPr sz="1100">
                          <a:latin typeface="Montserrat"/>
                        </a:defRPr>
                      </a:pPr>
                      <a:r>
                        <a:t>$508.5</a:t>
                      </a:r>
                    </a:p>
                  </a:txBody>
                  <a:tcPr>
                    <a:solidFill>
                      <a:srgbClr val="FFFFFF"/>
                    </a:solidFill>
                  </a:tcPr>
                </a:tc>
              </a:tr>
              <a:tr h="150000">
                <a:tc>
                  <a:txBody>
                    <a:bodyPr/>
                    <a:lstStyle/>
                    <a:p>
                      <a:pPr>
                        <a:defRPr sz="1100" b="1">
                          <a:latin typeface="Montserrat"/>
                        </a:defRPr>
                      </a:pPr>
                      <a:r>
                        <a:t>Inversión conservación</a:t>
                      </a:r>
                    </a:p>
                  </a:txBody>
                  <a:tcPr>
                    <a:solidFill>
                      <a:srgbClr val="ADADAD"/>
                    </a:solidFill>
                  </a:tcPr>
                </a:tc>
                <a:tc>
                  <a:txBody>
                    <a:bodyPr/>
                    <a:lstStyle/>
                    <a:p>
                      <a:pPr>
                        <a:defRPr sz="1100" b="1">
                          <a:latin typeface="Montserrat"/>
                        </a:defRPr>
                      </a:pPr>
                    </a:p>
                  </a:txBody>
                  <a:tcPr>
                    <a:solidFill>
                      <a:srgbClr val="ADADAD"/>
                    </a:solidFill>
                  </a:tcPr>
                </a:tc>
              </a:tr>
              <a:tr h="150000">
                <a:tc>
                  <a:txBody>
                    <a:bodyPr/>
                    <a:lstStyle/>
                    <a:p>
                      <a:pPr>
                        <a:defRPr sz="1100">
                          <a:latin typeface="Montserrat"/>
                        </a:defRPr>
                      </a:pPr>
                      <a:r>
                        <a:t>Intervención en áreas de Accesibilidad (rampas) en 1 unidad</a:t>
                      </a:r>
                    </a:p>
                  </a:txBody>
                  <a:tcPr>
                    <a:solidFill>
                      <a:srgbClr val="EFEFEF"/>
                    </a:solidFill>
                  </a:tcPr>
                </a:tc>
                <a:tc>
                  <a:txBody>
                    <a:bodyPr/>
                    <a:lstStyle/>
                    <a:p>
                      <a:pPr>
                        <a:defRPr sz="1100">
                          <a:latin typeface="Montserrat"/>
                        </a:defRPr>
                      </a:pPr>
                      <a:r>
                        <a:t>$4.5</a:t>
                      </a:r>
                    </a:p>
                  </a:txBody>
                  <a:tcPr>
                    <a:solidFill>
                      <a:srgbClr val="EFEFEF"/>
                    </a:solidFill>
                  </a:tcPr>
                </a:tc>
              </a:tr>
              <a:tr h="150000">
                <a:tc>
                  <a:txBody>
                    <a:bodyPr/>
                    <a:lstStyle/>
                    <a:p>
                      <a:pPr>
                        <a:defRPr sz="1100">
                          <a:latin typeface="Montserrat"/>
                        </a:defRPr>
                      </a:pPr>
                      <a:r>
                        <a:t>Intervención en áreas de Accesibilidad (rampas) en 2 unidades</a:t>
                      </a:r>
                    </a:p>
                  </a:txBody>
                  <a:tcPr>
                    <a:solidFill>
                      <a:srgbClr val="FFFFFF"/>
                    </a:solidFill>
                  </a:tcPr>
                </a:tc>
                <a:tc>
                  <a:txBody>
                    <a:bodyPr/>
                    <a:lstStyle/>
                    <a:p>
                      <a:pPr>
                        <a:defRPr sz="1100">
                          <a:latin typeface="Montserrat"/>
                        </a:defRPr>
                      </a:pPr>
                      <a:r>
                        <a:t>$2.4</a:t>
                      </a:r>
                    </a:p>
                  </a:txBody>
                  <a:tcPr>
                    <a:solidFill>
                      <a:srgbClr val="FFFFFF"/>
                    </a:solidFill>
                  </a:tcPr>
                </a:tc>
              </a:tr>
              <a:tr h="150000">
                <a:tc>
                  <a:txBody>
                    <a:bodyPr/>
                    <a:lstStyle/>
                    <a:p>
                      <a:pPr>
                        <a:defRPr sz="1100">
                          <a:latin typeface="Montserrat"/>
                        </a:defRPr>
                      </a:pPr>
                      <a:r>
                        <a:t>Intervención en áreas de Hemodiálisis Interna en 1 unidad</a:t>
                      </a:r>
                    </a:p>
                  </a:txBody>
                  <a:tcPr>
                    <a:solidFill>
                      <a:srgbClr val="EFEFEF"/>
                    </a:solidFill>
                  </a:tcPr>
                </a:tc>
                <a:tc>
                  <a:txBody>
                    <a:bodyPr/>
                    <a:lstStyle/>
                    <a:p>
                      <a:pPr>
                        <a:defRPr sz="1100">
                          <a:latin typeface="Montserrat"/>
                        </a:defRPr>
                      </a:pPr>
                      <a:r>
                        <a:t>$11.6</a:t>
                      </a:r>
                    </a:p>
                  </a:txBody>
                  <a:tcPr>
                    <a:solidFill>
                      <a:srgbClr val="EFEFEF"/>
                    </a:solidFill>
                  </a:tcPr>
                </a:tc>
              </a:tr>
              <a:tr h="150000">
                <a:tc>
                  <a:txBody>
                    <a:bodyPr/>
                    <a:lstStyle/>
                    <a:p>
                      <a:pPr>
                        <a:defRPr sz="1100">
                          <a:latin typeface="Montserrat"/>
                        </a:defRPr>
                      </a:pPr>
                      <a:r>
                        <a:t>Intervención en áreas de Hemodiálisis Interna en 2 unidades</a:t>
                      </a:r>
                    </a:p>
                  </a:txBody>
                  <a:tcPr>
                    <a:solidFill>
                      <a:srgbClr val="FFFFFF"/>
                    </a:solidFill>
                  </a:tcPr>
                </a:tc>
                <a:tc>
                  <a:txBody>
                    <a:bodyPr/>
                    <a:lstStyle/>
                    <a:p>
                      <a:pPr>
                        <a:defRPr sz="1100">
                          <a:latin typeface="Montserrat"/>
                        </a:defRPr>
                      </a:pPr>
                      <a:r>
                        <a:t>$6.7</a:t>
                      </a:r>
                    </a:p>
                  </a:txBody>
                  <a:tcPr>
                    <a:solidFill>
                      <a:srgbClr val="FFFFFF"/>
                    </a:solidFill>
                  </a:tcPr>
                </a:tc>
              </a:tr>
              <a:tr h="150000">
                <a:tc>
                  <a:txBody>
                    <a:bodyPr/>
                    <a:lstStyle/>
                    <a:p>
                      <a:pPr>
                        <a:defRPr sz="1100">
                          <a:latin typeface="Montserrat"/>
                        </a:defRPr>
                      </a:pPr>
                      <a:r>
                        <a:t>Intervención en áreas de Hemodiálisis Interna en 5 unidades</a:t>
                      </a:r>
                    </a:p>
                  </a:txBody>
                  <a:tcPr>
                    <a:solidFill>
                      <a:srgbClr val="EFEFEF"/>
                    </a:solidFill>
                  </a:tcPr>
                </a:tc>
                <a:tc>
                  <a:txBody>
                    <a:bodyPr/>
                    <a:lstStyle/>
                    <a:p>
                      <a:pPr>
                        <a:defRPr sz="1100">
                          <a:latin typeface="Montserrat"/>
                        </a:defRPr>
                      </a:pPr>
                      <a:r>
                        <a:t>$29.1</a:t>
                      </a:r>
                    </a:p>
                  </a:txBody>
                  <a:tcPr>
                    <a:solidFill>
                      <a:srgbClr val="EFEFEF"/>
                    </a:solidFill>
                  </a:tcPr>
                </a:tc>
              </a:tr>
              <a:tr h="150000">
                <a:tc>
                  <a:txBody>
                    <a:bodyPr/>
                    <a:lstStyle/>
                    <a:p>
                      <a:pPr>
                        <a:defRPr sz="1100">
                          <a:latin typeface="Montserrat"/>
                        </a:defRPr>
                      </a:pPr>
                      <a:r>
                        <a:t>Intervención en áreas de Mejora en Subdelegaciones en 1 unidad</a:t>
                      </a:r>
                    </a:p>
                  </a:txBody>
                  <a:tcPr>
                    <a:solidFill>
                      <a:srgbClr val="FFFFFF"/>
                    </a:solidFill>
                  </a:tcPr>
                </a:tc>
                <a:tc>
                  <a:txBody>
                    <a:bodyPr/>
                    <a:lstStyle/>
                    <a:p>
                      <a:pPr>
                        <a:defRPr sz="1100">
                          <a:latin typeface="Montserrat"/>
                        </a:defRPr>
                      </a:pPr>
                      <a:r>
                        <a:t>$2.5</a:t>
                      </a:r>
                    </a:p>
                  </a:txBody>
                  <a:tcPr>
                    <a:solidFill>
                      <a:srgbClr val="FFFFFF"/>
                    </a:solidFill>
                  </a:tcPr>
                </a:tc>
              </a:tr>
              <a:tr h="150000">
                <a:tc>
                  <a:txBody>
                    <a:bodyPr/>
                    <a:lstStyle/>
                    <a:p>
                      <a:pPr>
                        <a:defRPr sz="1100">
                          <a:latin typeface="Montserrat"/>
                        </a:defRPr>
                      </a:pPr>
                      <a:r>
                        <a:t>Intervención en áreas de Mejora en Subdelegaciones en 3 unidades</a:t>
                      </a:r>
                    </a:p>
                  </a:txBody>
                  <a:tcPr>
                    <a:solidFill>
                      <a:srgbClr val="EFEFEF"/>
                    </a:solidFill>
                  </a:tcPr>
                </a:tc>
                <a:tc>
                  <a:txBody>
                    <a:bodyPr/>
                    <a:lstStyle/>
                    <a:p>
                      <a:pPr>
                        <a:defRPr sz="1100">
                          <a:latin typeface="Montserrat"/>
                        </a:defRPr>
                      </a:pPr>
                      <a:r>
                        <a:t>$16.7</a:t>
                      </a:r>
                    </a:p>
                  </a:txBody>
                  <a:tcPr>
                    <a:solidFill>
                      <a:srgbClr val="EFEFEF"/>
                    </a:solidFill>
                  </a:tcPr>
                </a:tc>
              </a:tr>
              <a:tr h="150000">
                <a:tc>
                  <a:txBody>
                    <a:bodyPr/>
                    <a:lstStyle/>
                    <a:p>
                      <a:pPr>
                        <a:defRPr sz="1100">
                          <a:latin typeface="Montserrat"/>
                        </a:defRPr>
                      </a:pPr>
                      <a:r>
                        <a:t>Intervención en áreas de Residencias Médicas en 2 unidades</a:t>
                      </a:r>
                    </a:p>
                  </a:txBody>
                  <a:tcPr>
                    <a:solidFill>
                      <a:srgbClr val="FFFFFF"/>
                    </a:solidFill>
                  </a:tcPr>
                </a:tc>
                <a:tc>
                  <a:txBody>
                    <a:bodyPr/>
                    <a:lstStyle/>
                    <a:p>
                      <a:pPr>
                        <a:defRPr sz="1100">
                          <a:latin typeface="Montserrat"/>
                        </a:defRPr>
                      </a:pPr>
                      <a:r>
                        <a:t>$21.8</a:t>
                      </a:r>
                    </a:p>
                  </a:txBody>
                  <a:tcPr>
                    <a:solidFill>
                      <a:srgbClr val="FFFFFF"/>
                    </a:solidFill>
                  </a:tcPr>
                </a:tc>
              </a:tr>
              <a:tr h="150000">
                <a:tc>
                  <a:txBody>
                    <a:bodyPr/>
                    <a:lstStyle/>
                    <a:p>
                      <a:pPr>
                        <a:defRPr sz="1100">
                          <a:latin typeface="Montserrat"/>
                        </a:defRPr>
                      </a:pPr>
                      <a:r>
                        <a:t>Intervención en áreas de Residencias Médicas en 20 unidades</a:t>
                      </a:r>
                    </a:p>
                  </a:txBody>
                  <a:tcPr>
                    <a:solidFill>
                      <a:srgbClr val="EFEFEF"/>
                    </a:solidFill>
                  </a:tcPr>
                </a:tc>
                <a:tc>
                  <a:txBody>
                    <a:bodyPr/>
                    <a:lstStyle/>
                    <a:p>
                      <a:pPr>
                        <a:defRPr sz="1100">
                          <a:latin typeface="Montserrat"/>
                        </a:defRPr>
                      </a:pPr>
                      <a:r>
                        <a:t>$25.5</a:t>
                      </a:r>
                    </a:p>
                  </a:txBody>
                  <a:tcPr>
                    <a:solidFill>
                      <a:srgbClr val="EFEFEF"/>
                    </a:solidFill>
                  </a:tcPr>
                </a:tc>
              </a:tr>
              <a:tr h="150000">
                <a:tc>
                  <a:txBody>
                    <a:bodyPr/>
                    <a:lstStyle/>
                    <a:p>
                      <a:pPr>
                        <a:defRPr sz="1100">
                          <a:latin typeface="Montserrat"/>
                        </a:defRPr>
                      </a:pPr>
                      <a:r>
                        <a:t>Intervención en áreas de Residencias Médicas en 4 unidades</a:t>
                      </a:r>
                    </a:p>
                  </a:txBody>
                  <a:tcPr>
                    <a:solidFill>
                      <a:srgbClr val="FFFFFF"/>
                    </a:solidFill>
                  </a:tcPr>
                </a:tc>
                <a:tc>
                  <a:txBody>
                    <a:bodyPr/>
                    <a:lstStyle/>
                    <a:p>
                      <a:pPr>
                        <a:defRPr sz="1100">
                          <a:latin typeface="Montserrat"/>
                        </a:defRPr>
                      </a:pPr>
                      <a:r>
                        <a:t>$3.9</a:t>
                      </a:r>
                    </a:p>
                  </a:txBody>
                  <a:tcPr>
                    <a:solidFill>
                      <a:srgbClr val="FFFFFF"/>
                    </a:solidFill>
                  </a:tcPr>
                </a:tc>
              </a:tr>
              <a:tr h="150000">
                <a:tc>
                  <a:txBody>
                    <a:bodyPr/>
                    <a:lstStyle/>
                    <a:p>
                      <a:pPr>
                        <a:defRPr sz="1100">
                          <a:latin typeface="Montserrat"/>
                        </a:defRPr>
                      </a:pPr>
                      <a:r>
                        <a:t>Intervención en áreas de Salud Mental en 1 unidad</a:t>
                      </a:r>
                    </a:p>
                  </a:txBody>
                  <a:tcPr>
                    <a:solidFill>
                      <a:srgbClr val="EFEFEF"/>
                    </a:solidFill>
                  </a:tcPr>
                </a:tc>
                <a:tc>
                  <a:txBody>
                    <a:bodyPr/>
                    <a:lstStyle/>
                    <a:p>
                      <a:pPr>
                        <a:defRPr sz="1100">
                          <a:latin typeface="Montserrat"/>
                        </a:defRPr>
                      </a:pPr>
                      <a:r>
                        <a:t>$5.1</a:t>
                      </a:r>
                    </a:p>
                  </a:txBody>
                  <a:tcPr>
                    <a:solidFill>
                      <a:srgbClr val="EFEFEF"/>
                    </a:solidFill>
                  </a:tcPr>
                </a:tc>
              </a:tr>
              <a:tr h="150000">
                <a:tc>
                  <a:txBody>
                    <a:bodyPr/>
                    <a:lstStyle/>
                    <a:p>
                      <a:pPr>
                        <a:defRPr sz="1100">
                          <a:latin typeface="Montserrat"/>
                        </a:defRPr>
                      </a:pPr>
                      <a:r>
                        <a:t>Intervención en áreas de Salud Mental en 1 unidad</a:t>
                      </a:r>
                    </a:p>
                  </a:txBody>
                  <a:tcPr>
                    <a:solidFill>
                      <a:srgbClr val="FFFFFF"/>
                    </a:solidFill>
                  </a:tcPr>
                </a:tc>
                <a:tc>
                  <a:txBody>
                    <a:bodyPr/>
                    <a:lstStyle/>
                    <a:p>
                      <a:pPr>
                        <a:defRPr sz="1100">
                          <a:latin typeface="Montserrat"/>
                        </a:defRPr>
                      </a:pPr>
                      <a:r>
                        <a:t>$0.7</a:t>
                      </a:r>
                    </a:p>
                  </a:txBody>
                  <a:tcPr>
                    <a:solidFill>
                      <a:srgbClr val="FFFFFF"/>
                    </a:solidFill>
                  </a:tcPr>
                </a:tc>
              </a:tr>
              <a:tr h="150000">
                <a:tc>
                  <a:txBody>
                    <a:bodyPr/>
                    <a:lstStyle/>
                    <a:p>
                      <a:pPr>
                        <a:defRPr sz="1100">
                          <a:latin typeface="Montserrat"/>
                        </a:defRPr>
                      </a:pPr>
                      <a:r>
                        <a:t>Intervención en áreas de Salud Mental en 4 unidades</a:t>
                      </a:r>
                    </a:p>
                  </a:txBody>
                  <a:tcPr>
                    <a:solidFill>
                      <a:srgbClr val="EFEFEF"/>
                    </a:solidFill>
                  </a:tcPr>
                </a:tc>
                <a:tc>
                  <a:txBody>
                    <a:bodyPr/>
                    <a:lstStyle/>
                    <a:p>
                      <a:pPr>
                        <a:defRPr sz="1100">
                          <a:latin typeface="Montserrat"/>
                        </a:defRPr>
                      </a:pPr>
                      <a:r>
                        <a:t>$4.3</a:t>
                      </a:r>
                    </a:p>
                  </a:txBody>
                  <a:tcPr>
                    <a:solidFill>
                      <a:srgbClr val="EFEFEF"/>
                    </a:solidFill>
                  </a:tcPr>
                </a:tc>
              </a:tr>
              <a:tr h="150000">
                <a:tc>
                  <a:txBody>
                    <a:bodyPr/>
                    <a:lstStyle/>
                    <a:p>
                      <a:pPr>
                        <a:defRPr sz="1100">
                          <a:latin typeface="Montserrat"/>
                        </a:defRPr>
                      </a:pPr>
                      <a:r>
                        <a:t>Intervención en áreas de Terapia Intensiva en 1 unidad</a:t>
                      </a:r>
                    </a:p>
                  </a:txBody>
                  <a:tcPr>
                    <a:solidFill>
                      <a:srgbClr val="FFFFFF"/>
                    </a:solidFill>
                  </a:tcPr>
                </a:tc>
                <a:tc>
                  <a:txBody>
                    <a:bodyPr/>
                    <a:lstStyle/>
                    <a:p>
                      <a:pPr>
                        <a:defRPr sz="1100">
                          <a:latin typeface="Montserrat"/>
                        </a:defRPr>
                      </a:pPr>
                      <a:r>
                        <a:t>$45.8</a:t>
                      </a:r>
                    </a:p>
                  </a:txBody>
                  <a:tcPr>
                    <a:solidFill>
                      <a:srgbClr val="FFFFFF"/>
                    </a:solidFill>
                  </a:tcPr>
                </a:tc>
              </a:tr>
              <a:tr h="150000">
                <a:tc>
                  <a:txBody>
                    <a:bodyPr/>
                    <a:lstStyle/>
                    <a:p>
                      <a:pPr>
                        <a:defRPr sz="1100">
                          <a:latin typeface="Montserrat"/>
                        </a:defRPr>
                      </a:pPr>
                      <a:r>
                        <a:t>Intervención en áreas de Terapia Intensiva en 1 unidad</a:t>
                      </a:r>
                    </a:p>
                  </a:txBody>
                  <a:tcPr>
                    <a:solidFill>
                      <a:srgbClr val="EFEFEF"/>
                    </a:solidFill>
                  </a:tcPr>
                </a:tc>
                <a:tc>
                  <a:txBody>
                    <a:bodyPr/>
                    <a:lstStyle/>
                    <a:p>
                      <a:pPr>
                        <a:defRPr sz="1100">
                          <a:latin typeface="Montserrat"/>
                        </a:defRPr>
                      </a:pPr>
                      <a:r>
                        <a:t>$1.8</a:t>
                      </a:r>
                    </a:p>
                  </a:txBody>
                  <a:tcPr>
                    <a:solidFill>
                      <a:srgbClr val="EFEFEF"/>
                    </a:solidFill>
                  </a:tcPr>
                </a:tc>
              </a:tr>
              <a:tr h="150000">
                <a:tc>
                  <a:txBody>
                    <a:bodyPr/>
                    <a:lstStyle/>
                    <a:p>
                      <a:pPr>
                        <a:defRPr sz="1100" b="1">
                          <a:latin typeface="Montserrat"/>
                        </a:defRPr>
                      </a:pPr>
                      <a:r>
                        <a:t>Programa Anual de Operaciones</a:t>
                      </a:r>
                    </a:p>
                  </a:txBody>
                  <a:tcPr>
                    <a:solidFill>
                      <a:srgbClr val="ADADAD"/>
                    </a:solidFill>
                  </a:tcPr>
                </a:tc>
                <a:tc>
                  <a:txBody>
                    <a:bodyPr/>
                    <a:lstStyle/>
                    <a:p>
                      <a:pPr>
                        <a:defRPr sz="1100" b="1">
                          <a:latin typeface="Montserrat"/>
                        </a:defRPr>
                      </a:pPr>
                    </a:p>
                  </a:txBody>
                  <a:tcPr>
                    <a:solidFill>
                      <a:srgbClr val="ADADAD"/>
                    </a:solidFill>
                  </a:tcPr>
                </a:tc>
              </a:tr>
              <a:tr h="150000">
                <a:tc>
                  <a:txBody>
                    <a:bodyPr/>
                    <a:lstStyle/>
                    <a:p>
                      <a:pPr>
                        <a:defRPr sz="1100">
                          <a:latin typeface="Montserrat"/>
                        </a:defRPr>
                      </a:pPr>
                      <a:r>
                        <a:t>Mantenimiento a equipo médico, onda de calor, mantenimiento a centrales de aire grado médico, entre otros</a:t>
                      </a:r>
                    </a:p>
                  </a:txBody>
                  <a:tcPr>
                    <a:solidFill>
                      <a:srgbClr val="EFEFEF"/>
                    </a:solidFill>
                  </a:tcPr>
                </a:tc>
                <a:tc>
                  <a:txBody>
                    <a:bodyPr/>
                    <a:lstStyle/>
                    <a:p>
                      <a:pPr>
                        <a:defRPr sz="1100">
                          <a:latin typeface="Montserrat"/>
                        </a:defRPr>
                      </a:pPr>
                      <a:r>
                        <a:t>$564.5</a:t>
                      </a:r>
                    </a:p>
                  </a:txBody>
                  <a:tcPr>
                    <a:solidFill>
                      <a:srgbClr val="EFEFEF"/>
                    </a:solidFill>
                  </a:tcPr>
                </a:tc>
              </a:tr>
              <a:tr h="150000">
                <a:tc>
                  <a:txBody>
                    <a:bodyPr/>
                    <a:lstStyle/>
                    <a:p>
                      <a:pPr>
                        <a:defRPr sz="1100" b="1">
                          <a:latin typeface="Montserrat"/>
                        </a:defRPr>
                      </a:pPr>
                      <a:r>
                        <a:t>Proyectos de infraestructura</a:t>
                      </a:r>
                    </a:p>
                  </a:txBody>
                  <a:tcPr>
                    <a:solidFill>
                      <a:srgbClr val="ADADAD"/>
                    </a:solidFill>
                  </a:tcPr>
                </a:tc>
                <a:tc>
                  <a:txBody>
                    <a:bodyPr/>
                    <a:lstStyle/>
                    <a:p>
                      <a:pPr>
                        <a:defRPr sz="1100" b="1">
                          <a:latin typeface="Montserrat"/>
                        </a:defRPr>
                      </a:pPr>
                    </a:p>
                  </a:txBody>
                  <a:tcPr>
                    <a:solidFill>
                      <a:srgbClr val="ADADAD"/>
                    </a:solidFill>
                  </a:tcPr>
                </a:tc>
              </a:tr>
              <a:tr h="150000">
                <a:tc>
                  <a:txBody>
                    <a:bodyPr/>
                    <a:lstStyle/>
                    <a:p>
                      <a:pPr>
                        <a:defRPr sz="1100">
                          <a:latin typeface="Montserrat"/>
                        </a:defRPr>
                      </a:pPr>
                      <a:r>
                        <a:t>HGZ de 144 camas, Minatitlán</a:t>
                      </a:r>
                    </a:p>
                  </a:txBody>
                  <a:tcPr>
                    <a:solidFill>
                      <a:srgbClr val="EFEFEF"/>
                    </a:solidFill>
                  </a:tcPr>
                </a:tc>
                <a:tc>
                  <a:txBody>
                    <a:bodyPr/>
                    <a:lstStyle/>
                    <a:p>
                      <a:pPr>
                        <a:defRPr sz="1100">
                          <a:latin typeface="Montserrat"/>
                        </a:defRPr>
                      </a:pPr>
                      <a:r>
                        <a:t>$3,538.3</a:t>
                      </a:r>
                    </a:p>
                  </a:txBody>
                  <a:tcPr>
                    <a:solidFill>
                      <a:srgbClr val="EFEFEF"/>
                    </a:solidFill>
                  </a:tcPr>
                </a:tc>
              </a:tr>
            </a:tbl>
          </a:graphicData>
        </a:graphic>
      </p:graphicFrame>
      <p:sp>
        <p:nvSpPr>
          <p:cNvPr id="7" name="TextBox 6"/>
          <p:cNvSpPr txBox="1"/>
          <p:nvPr/>
        </p:nvSpPr>
        <p:spPr>
          <a:xfrm>
            <a:off x="522000" y="2361600"/>
            <a:ext cx="1306800" cy="338400"/>
          </a:xfrm>
          <a:prstGeom prst="rect">
            <a:avLst/>
          </a:prstGeom>
          <a:noFill/>
        </p:spPr>
        <p:txBody>
          <a:bodyPr wrap="none">
            <a:spAutoFit/>
          </a:bodyPr>
          <a:lstStyle/>
          <a:p>
            <a:pPr algn="ctr">
              <a:defRPr sz="1400" b="1">
                <a:solidFill>
                  <a:srgbClr val="FFFFFF"/>
                </a:solidFill>
                <a:latin typeface="Montserrat"/>
              </a:defRPr>
            </a:pPr>
            <a:r>
              <a:t>4,951.0 mdp</a:t>
            </a:r>
          </a:p>
        </p:txBody>
      </p:sp>
    </p:spTree>
    <p:extLst>
      <p:ext uri="{BB962C8B-B14F-4D97-AF65-F5344CB8AC3E}">
        <p14:creationId xmlns:p14="http://schemas.microsoft.com/office/powerpoint/2010/main" val="364733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graphicFrame>
        <p:nvGraphicFramePr>
          <p:cNvPr id="5" name="Google Shape;370;p14">
            <a:extLst>
              <a:ext uri="{FF2B5EF4-FFF2-40B4-BE49-F238E27FC236}">
                <a16:creationId xmlns:a16="http://schemas.microsoft.com/office/drawing/2014/main" id="{B709195D-5962-6442-81D8-2EFB6D8D7190}"/>
              </a:ext>
            </a:extLst>
          </p:cNvPr>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Inversión, 2019-2024</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371;p14">
            <a:extLst>
              <a:ext uri="{FF2B5EF4-FFF2-40B4-BE49-F238E27FC236}">
                <a16:creationId xmlns:a16="http://schemas.microsoft.com/office/drawing/2014/main" id="{6AC64192-1EFE-6740-4042-23283E03A151}"/>
              </a:ext>
            </a:extLst>
          </p:cNvPr>
          <p:cNvPicPr preferRelativeResize="0"/>
          <p:nvPr/>
        </p:nvPicPr>
        <p:blipFill rotWithShape="1">
          <a:blip r:embed="rId4">
            <a:alphaModFix/>
          </a:blip>
          <a:srcRect/>
          <a:stretch/>
        </p:blipFill>
        <p:spPr>
          <a:xfrm>
            <a:off x="172834" y="2245621"/>
            <a:ext cx="1599006" cy="585000"/>
          </a:xfrm>
          <a:prstGeom prst="rect">
            <a:avLst/>
          </a:prstGeom>
          <a:noFill/>
          <a:ln>
            <a:noFill/>
          </a:ln>
        </p:spPr>
      </p:pic>
      <p:sp>
        <p:nvSpPr>
          <p:cNvPr id="7" name="Google Shape;373;p14">
            <a:extLst>
              <a:ext uri="{FF2B5EF4-FFF2-40B4-BE49-F238E27FC236}">
                <a16:creationId xmlns:a16="http://schemas.microsoft.com/office/drawing/2014/main" id="{E7E32C0D-5A5C-F971-661D-A7FFF038D554}"/>
              </a:ext>
            </a:extLst>
          </p:cNvPr>
          <p:cNvSpPr txBox="1"/>
          <p:nvPr/>
        </p:nvSpPr>
        <p:spPr>
          <a:xfrm>
            <a:off x="363901" y="1991425"/>
            <a:ext cx="1304400" cy="286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s" sz="1200" b="1" i="0" u="none" strike="noStrike" cap="none">
                <a:solidFill>
                  <a:srgbClr val="006455"/>
                </a:solidFill>
                <a:latin typeface="Montserrat"/>
                <a:ea typeface="Montserrat"/>
                <a:cs typeface="Montserrat"/>
                <a:sym typeface="Montserrat"/>
              </a:rPr>
              <a:t>¿Qué se hizo? </a:t>
            </a:r>
            <a:br>
              <a:rPr lang="es" sz="1200" b="1" i="0" u="none" strike="noStrike" cap="none">
                <a:solidFill>
                  <a:srgbClr val="006455"/>
                </a:solidFill>
                <a:latin typeface="Montserrat"/>
                <a:ea typeface="Montserrat"/>
                <a:cs typeface="Montserrat"/>
                <a:sym typeface="Montserrat"/>
              </a:rPr>
            </a:br>
            <a:r>
              <a:rPr lang="es" sz="1200" b="1" i="0" u="none" strike="noStrike" cap="none">
                <a:solidFill>
                  <a:srgbClr val="006455"/>
                </a:solidFill>
                <a:latin typeface="Montserrat"/>
                <a:ea typeface="Montserrat"/>
                <a:cs typeface="Montserrat"/>
                <a:sym typeface="Montserrat"/>
              </a:rPr>
              <a:t>2019-2024</a:t>
            </a:r>
            <a:endParaRPr sz="1200" b="0" i="0" u="none" strike="noStrike" cap="none">
              <a:solidFill>
                <a:srgbClr val="595959"/>
              </a:solidFill>
              <a:latin typeface="Arial"/>
              <a:ea typeface="Arial"/>
              <a:cs typeface="Arial"/>
              <a:sym typeface="Arial"/>
            </a:endParaRP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9" name="Table 8"/>
          <p:cNvGraphicFramePr>
            <a:graphicFrameLocks noGrp="1"/>
          </p:cNvGraphicFramePr>
          <p:nvPr/>
        </p:nvGraphicFramePr>
        <p:xfrm>
          <a:off x="1886400" y="1584000"/>
          <a:ext cx="5670000" cy="3600000"/>
        </p:xfrm>
        <a:graphic>
          <a:graphicData uri="http://schemas.openxmlformats.org/drawingml/2006/table">
            <a:tbl>
              <a:tblPr firstRow="1" bandRow="1">
                <a:tableStyleId>{5C22544A-7EE6-4342-B048-85BDC9FD1C3A}</a:tableStyleId>
              </a:tblPr>
              <a:tblGrid>
                <a:gridCol w="4795200"/>
                <a:gridCol w="874800"/>
              </a:tblGrid>
              <a:tr h="200000">
                <a:tc>
                  <a:txBody>
                    <a:bodyPr/>
                    <a:lstStyle/>
                    <a:p>
                      <a:pPr algn="ctr">
                        <a:defRPr b="1" sz="1000">
                          <a:solidFill>
                            <a:srgbClr val="FFFFFF"/>
                          </a:solidFill>
                          <a:latin typeface="Montserrat"/>
                        </a:defRPr>
                      </a:pPr>
                      <a:r>
                        <a:t>Descripción</a:t>
                      </a:r>
                    </a:p>
                  </a:txBody>
                  <a:tcPr>
                    <a:solidFill>
                      <a:srgbClr val="006455"/>
                    </a:solidFill>
                  </a:tcPr>
                </a:tc>
                <a:tc>
                  <a:txBody>
                    <a:bodyPr/>
                    <a:lstStyle/>
                    <a:p>
                      <a:pPr algn="ctr">
                        <a:defRPr b="1" sz="1000">
                          <a:solidFill>
                            <a:srgbClr val="FFFFFF"/>
                          </a:solidFill>
                          <a:latin typeface="Montserrat"/>
                        </a:defRPr>
                      </a:pPr>
                      <a:r>
                        <a:t>Monto (mdp)</a:t>
                      </a:r>
                    </a:p>
                  </a:txBody>
                  <a:tcPr>
                    <a:solidFill>
                      <a:srgbClr val="006455"/>
                    </a:solidFill>
                  </a:tcPr>
                </a:tc>
              </a:tr>
              <a:tr h="200000">
                <a:tc>
                  <a:txBody>
                    <a:bodyPr/>
                    <a:lstStyle/>
                    <a:p>
                      <a:pPr>
                        <a:defRPr sz="1000" b="1">
                          <a:latin typeface="Montserrat"/>
                        </a:defRPr>
                      </a:pPr>
                      <a:r>
                        <a:t>Obras de infraestructura</a:t>
                      </a:r>
                    </a:p>
                  </a:txBody>
                  <a:tcPr>
                    <a:solidFill>
                      <a:srgbClr val="ADADAD"/>
                    </a:solidFill>
                  </a:tcPr>
                </a:tc>
                <a:tc>
                  <a:txBody>
                    <a:bodyPr/>
                    <a:lstStyle/>
                    <a:p>
                      <a:pPr>
                        <a:defRPr sz="1000" b="1">
                          <a:latin typeface="Montserrat"/>
                        </a:defRPr>
                      </a:pPr>
                    </a:p>
                  </a:txBody>
                  <a:tcPr>
                    <a:solidFill>
                      <a:srgbClr val="ADADAD"/>
                    </a:solidFill>
                  </a:tcPr>
                </a:tc>
              </a:tr>
              <a:tr h="200000">
                <a:tc>
                  <a:txBody>
                    <a:bodyPr/>
                    <a:lstStyle/>
                    <a:p>
                      <a:pPr>
                        <a:defRPr sz="1000">
                          <a:latin typeface="Montserrat"/>
                        </a:defRPr>
                      </a:pPr>
                      <a:r>
                        <a:t>Albergue Comunitario 60 camas Programa IMSS-Bienestar, Chicontepec</a:t>
                      </a:r>
                    </a:p>
                  </a:txBody>
                  <a:tcPr>
                    <a:solidFill>
                      <a:srgbClr val="EFEFEF"/>
                    </a:solidFill>
                  </a:tcPr>
                </a:tc>
                <a:tc>
                  <a:txBody>
                    <a:bodyPr/>
                    <a:lstStyle/>
                    <a:p>
                      <a:pPr>
                        <a:defRPr sz="1000">
                          <a:latin typeface="Montserrat"/>
                        </a:defRPr>
                      </a:pPr>
                      <a:r>
                        <a:t>$45.0</a:t>
                      </a:r>
                    </a:p>
                  </a:txBody>
                  <a:tcPr>
                    <a:solidFill>
                      <a:srgbClr val="EFEFEF"/>
                    </a:solidFill>
                  </a:tcPr>
                </a:tc>
              </a:tr>
              <a:tr h="200000">
                <a:tc>
                  <a:txBody>
                    <a:bodyPr/>
                    <a:lstStyle/>
                    <a:p>
                      <a:pPr>
                        <a:defRPr sz="1000">
                          <a:latin typeface="Montserrat"/>
                        </a:defRPr>
                      </a:pPr>
                      <a:r>
                        <a:t>Ampliación y Remodelación de UCIN HGR 1, Orizaba</a:t>
                      </a:r>
                    </a:p>
                  </a:txBody>
                  <a:tcPr>
                    <a:solidFill>
                      <a:srgbClr val="FFFFFF"/>
                    </a:solidFill>
                  </a:tcPr>
                </a:tc>
                <a:tc>
                  <a:txBody>
                    <a:bodyPr/>
                    <a:lstStyle/>
                    <a:p>
                      <a:pPr>
                        <a:defRPr sz="1000">
                          <a:latin typeface="Montserrat"/>
                        </a:defRPr>
                      </a:pPr>
                      <a:r>
                        <a:t>$12.4</a:t>
                      </a:r>
                    </a:p>
                  </a:txBody>
                  <a:tcPr>
                    <a:solidFill>
                      <a:srgbClr val="FFFFFF"/>
                    </a:solidFill>
                  </a:tcPr>
                </a:tc>
              </a:tr>
              <a:tr h="200000">
                <a:tc>
                  <a:txBody>
                    <a:bodyPr/>
                    <a:lstStyle/>
                    <a:p>
                      <a:pPr>
                        <a:defRPr sz="1000">
                          <a:latin typeface="Montserrat"/>
                        </a:defRPr>
                      </a:pPr>
                      <a:r>
                        <a:t>Clínica de Detección y Diagnóstico del Cáncer de Mama en Veracruz Norte</a:t>
                      </a:r>
                    </a:p>
                  </a:txBody>
                  <a:tcPr>
                    <a:solidFill>
                      <a:srgbClr val="EFEFEF"/>
                    </a:solidFill>
                  </a:tcPr>
                </a:tc>
                <a:tc>
                  <a:txBody>
                    <a:bodyPr/>
                    <a:lstStyle/>
                    <a:p>
                      <a:pPr>
                        <a:defRPr sz="1000">
                          <a:latin typeface="Montserrat"/>
                        </a:defRPr>
                      </a:pPr>
                      <a:r>
                        <a:t>$85.2</a:t>
                      </a:r>
                    </a:p>
                  </a:txBody>
                  <a:tcPr>
                    <a:solidFill>
                      <a:srgbClr val="EFEFEF"/>
                    </a:solidFill>
                  </a:tcPr>
                </a:tc>
              </a:tr>
              <a:tr h="200000">
                <a:tc>
                  <a:txBody>
                    <a:bodyPr/>
                    <a:lstStyle/>
                    <a:p>
                      <a:pPr>
                        <a:defRPr sz="1000">
                          <a:latin typeface="Montserrat"/>
                        </a:defRPr>
                      </a:pPr>
                      <a:r>
                        <a:t>Mejora en Guarderías, Veracruz, Xalapa, Poza Rica</a:t>
                      </a:r>
                    </a:p>
                  </a:txBody>
                  <a:tcPr>
                    <a:solidFill>
                      <a:srgbClr val="FFFFFF"/>
                    </a:solidFill>
                  </a:tcPr>
                </a:tc>
                <a:tc>
                  <a:txBody>
                    <a:bodyPr/>
                    <a:lstStyle/>
                    <a:p>
                      <a:pPr>
                        <a:defRPr sz="1000">
                          <a:latin typeface="Montserrat"/>
                        </a:defRPr>
                      </a:pPr>
                      <a:r>
                        <a:t>$10.3</a:t>
                      </a:r>
                    </a:p>
                  </a:txBody>
                  <a:tcPr>
                    <a:solidFill>
                      <a:srgbClr val="FFFFFF"/>
                    </a:solidFill>
                  </a:tcPr>
                </a:tc>
              </a:tr>
              <a:tr h="200000">
                <a:tc>
                  <a:txBody>
                    <a:bodyPr/>
                    <a:lstStyle/>
                    <a:p>
                      <a:pPr>
                        <a:defRPr sz="1000">
                          <a:latin typeface="Montserrat"/>
                        </a:defRPr>
                      </a:pPr>
                      <a:r>
                        <a:t>Nueva Sala de Hemodinamia en HGR 1 Orizaba</a:t>
                      </a:r>
                    </a:p>
                  </a:txBody>
                  <a:tcPr>
                    <a:solidFill>
                      <a:srgbClr val="EFEFEF"/>
                    </a:solidFill>
                  </a:tcPr>
                </a:tc>
                <a:tc>
                  <a:txBody>
                    <a:bodyPr/>
                    <a:lstStyle/>
                    <a:p>
                      <a:pPr>
                        <a:defRPr sz="1000">
                          <a:latin typeface="Montserrat"/>
                        </a:defRPr>
                      </a:pPr>
                      <a:r>
                        <a:t>$47.9</a:t>
                      </a:r>
                    </a:p>
                  </a:txBody>
                  <a:tcPr>
                    <a:solidFill>
                      <a:srgbClr val="EFEFEF"/>
                    </a:solidFill>
                  </a:tcPr>
                </a:tc>
              </a:tr>
              <a:tr h="200000">
                <a:tc>
                  <a:txBody>
                    <a:bodyPr/>
                    <a:lstStyle/>
                    <a:p>
                      <a:pPr>
                        <a:defRPr sz="1000">
                          <a:latin typeface="Montserrat"/>
                        </a:defRPr>
                      </a:pPr>
                      <a:r>
                        <a:t>Remodelación de Sala de Hemodiálisis HGR 1, Orizaba </a:t>
                      </a:r>
                    </a:p>
                  </a:txBody>
                  <a:tcPr>
                    <a:solidFill>
                      <a:srgbClr val="FFFFFF"/>
                    </a:solidFill>
                  </a:tcPr>
                </a:tc>
                <a:tc>
                  <a:txBody>
                    <a:bodyPr/>
                    <a:lstStyle/>
                    <a:p>
                      <a:pPr>
                        <a:defRPr sz="1000">
                          <a:latin typeface="Montserrat"/>
                        </a:defRPr>
                      </a:pPr>
                      <a:r>
                        <a:t>$9.5</a:t>
                      </a:r>
                    </a:p>
                  </a:txBody>
                  <a:tcPr>
                    <a:solidFill>
                      <a:srgbClr val="FFFFFF"/>
                    </a:solidFill>
                  </a:tcPr>
                </a:tc>
              </a:tr>
              <a:tr h="200000">
                <a:tc>
                  <a:txBody>
                    <a:bodyPr/>
                    <a:lstStyle/>
                    <a:p>
                      <a:pPr>
                        <a:defRPr sz="1000">
                          <a:latin typeface="Montserrat"/>
                        </a:defRPr>
                      </a:pPr>
                      <a:r>
                        <a:t>Remodelación integral de baños en los Centro de Seguridad Social de Xalapa, Coatepec y Tuxpan</a:t>
                      </a:r>
                    </a:p>
                  </a:txBody>
                  <a:tcPr>
                    <a:solidFill>
                      <a:srgbClr val="EFEFEF"/>
                    </a:solidFill>
                  </a:tcPr>
                </a:tc>
                <a:tc>
                  <a:txBody>
                    <a:bodyPr/>
                    <a:lstStyle/>
                    <a:p>
                      <a:pPr>
                        <a:defRPr sz="1000">
                          <a:latin typeface="Montserrat"/>
                        </a:defRPr>
                      </a:pPr>
                      <a:r>
                        <a:t>$5.9</a:t>
                      </a:r>
                    </a:p>
                  </a:txBody>
                  <a:tcPr>
                    <a:solidFill>
                      <a:srgbClr val="EFEFEF"/>
                    </a:solidFill>
                  </a:tcPr>
                </a:tc>
              </a:tr>
              <a:tr h="200000">
                <a:tc>
                  <a:txBody>
                    <a:bodyPr/>
                    <a:lstStyle/>
                    <a:p>
                      <a:pPr>
                        <a:defRPr sz="1000">
                          <a:latin typeface="Montserrat"/>
                        </a:defRPr>
                      </a:pPr>
                      <a:r>
                        <a:t>UMF de 10 consultorios en Coatzacoalcos</a:t>
                      </a:r>
                    </a:p>
                  </a:txBody>
                  <a:tcPr>
                    <a:solidFill>
                      <a:srgbClr val="FFFFFF"/>
                    </a:solidFill>
                  </a:tcPr>
                </a:tc>
                <a:tc>
                  <a:txBody>
                    <a:bodyPr/>
                    <a:lstStyle/>
                    <a:p>
                      <a:pPr>
                        <a:defRPr sz="1000">
                          <a:latin typeface="Montserrat"/>
                        </a:defRPr>
                      </a:pPr>
                      <a:r>
                        <a:t>$189.8</a:t>
                      </a:r>
                    </a:p>
                  </a:txBody>
                  <a:tcPr>
                    <a:solidFill>
                      <a:srgbClr val="FFFFFF"/>
                    </a:solidFill>
                  </a:tcPr>
                </a:tc>
              </a:tr>
              <a:tr h="200000">
                <a:tc>
                  <a:txBody>
                    <a:bodyPr/>
                    <a:lstStyle/>
                    <a:p>
                      <a:pPr>
                        <a:defRPr sz="1000">
                          <a:latin typeface="Montserrat"/>
                        </a:defRPr>
                      </a:pPr>
                      <a:r>
                        <a:t>Unidad de Trasplante Hematopoyético HES 14 CMN "Adolfo Ruiz Cortines" </a:t>
                      </a:r>
                    </a:p>
                  </a:txBody>
                  <a:tcPr>
                    <a:solidFill>
                      <a:srgbClr val="EFEFEF"/>
                    </a:solidFill>
                  </a:tcPr>
                </a:tc>
                <a:tc>
                  <a:txBody>
                    <a:bodyPr/>
                    <a:lstStyle/>
                    <a:p>
                      <a:pPr>
                        <a:defRPr sz="1000">
                          <a:latin typeface="Montserrat"/>
                        </a:defRPr>
                      </a:pPr>
                      <a:r>
                        <a:t>$17.0</a:t>
                      </a:r>
                    </a:p>
                  </a:txBody>
                  <a:tcPr>
                    <a:solidFill>
                      <a:srgbClr val="EFEFEF"/>
                    </a:solidFill>
                  </a:tcPr>
                </a:tc>
              </a:tr>
              <a:tr h="200000">
                <a:tc>
                  <a:txBody>
                    <a:bodyPr/>
                    <a:lstStyle/>
                    <a:p>
                      <a:pPr>
                        <a:defRPr sz="1000" b="1">
                          <a:latin typeface="Montserrat"/>
                        </a:defRPr>
                      </a:pPr>
                      <a:r>
                        <a:t>Proyectos de conservación</a:t>
                      </a:r>
                    </a:p>
                  </a:txBody>
                  <a:tcPr>
                    <a:solidFill>
                      <a:srgbClr val="ADADAD"/>
                    </a:solidFill>
                  </a:tcPr>
                </a:tc>
                <a:tc>
                  <a:txBody>
                    <a:bodyPr/>
                    <a:lstStyle/>
                    <a:p>
                      <a:pPr>
                        <a:defRPr sz="1000" b="1">
                          <a:latin typeface="Montserrat"/>
                        </a:defRPr>
                      </a:pPr>
                    </a:p>
                  </a:txBody>
                  <a:tcPr>
                    <a:solidFill>
                      <a:srgbClr val="ADADAD"/>
                    </a:solidFill>
                  </a:tcPr>
                </a:tc>
              </a:tr>
              <a:tr h="200000">
                <a:tc>
                  <a:txBody>
                    <a:bodyPr/>
                    <a:lstStyle/>
                    <a:p>
                      <a:pPr>
                        <a:defRPr sz="1000">
                          <a:latin typeface="Montserrat"/>
                        </a:defRPr>
                      </a:pPr>
                      <a:r>
                        <a:t>Adquisición y sustitución de equipo electromecánico: 32 lavadoras, 26 secadoras, 21 componentes de aire acondicionado, 14 elevadores, 13 generadores de vapor, 4 cámaras de refrigeración y 2 montacargas.</a:t>
                      </a:r>
                    </a:p>
                  </a:txBody>
                  <a:tcPr>
                    <a:solidFill>
                      <a:srgbClr val="EFEFEF"/>
                    </a:solidFill>
                  </a:tcPr>
                </a:tc>
                <a:tc>
                  <a:txBody>
                    <a:bodyPr/>
                    <a:lstStyle/>
                    <a:p>
                      <a:pPr>
                        <a:defRPr sz="1000">
                          <a:latin typeface="Montserrat"/>
                        </a:defRPr>
                      </a:pPr>
                      <a:r>
                        <a:t>$451.1</a:t>
                      </a:r>
                    </a:p>
                  </a:txBody>
                  <a:tcPr>
                    <a:solidFill>
                      <a:srgbClr val="EFEFEF"/>
                    </a:solidFill>
                  </a:tcPr>
                </a:tc>
              </a:tr>
              <a:tr h="200000">
                <a:tc>
                  <a:txBody>
                    <a:bodyPr/>
                    <a:lstStyle/>
                    <a:p>
                      <a:pPr>
                        <a:defRPr sz="1000">
                          <a:latin typeface="Montserrat"/>
                        </a:defRPr>
                      </a:pPr>
                      <a:r>
                        <a:t>Dignificación y Rehabilitación en 32 Unidades de Medicina Familiar </a:t>
                      </a:r>
                    </a:p>
                  </a:txBody>
                  <a:tcPr>
                    <a:solidFill>
                      <a:srgbClr val="FFFFFF"/>
                    </a:solidFill>
                  </a:tcPr>
                </a:tc>
                <a:tc>
                  <a:txBody>
                    <a:bodyPr/>
                    <a:lstStyle/>
                    <a:p>
                      <a:pPr>
                        <a:defRPr sz="1000">
                          <a:latin typeface="Montserrat"/>
                        </a:defRPr>
                      </a:pPr>
                      <a:r>
                        <a:t>$83.9</a:t>
                      </a:r>
                    </a:p>
                  </a:txBody>
                  <a:tcPr>
                    <a:solidFill>
                      <a:srgbClr val="FFFFFF"/>
                    </a:solidFill>
                  </a:tcPr>
                </a:tc>
              </a:tr>
              <a:tr h="200000">
                <a:tc>
                  <a:txBody>
                    <a:bodyPr/>
                    <a:lstStyle/>
                    <a:p>
                      <a:pPr>
                        <a:defRPr sz="1000">
                          <a:latin typeface="Montserrat"/>
                        </a:defRPr>
                      </a:pPr>
                      <a:r>
                        <a:t>Intervención de 47 salas de quirófanos, tococirugía y expulsión en 13 unidades médicas: HGR Orizaba (7 salas), HGZ 71 Veracruz (6), HGZ 35 Cosamaloapan (6), HGZ 8 Córdoba (4), HGZ 11 Xalapa (3), HGZ 26 Tuxpan (3), HGZ 28 Mtz. de la Torre (3), HGZ 33 Tierra Blanca (3), HGZ 36 Coatzacoalcos (3), HGZ 50 Lerdo de Tejada (3), HGZ 24 Poza Rica (2), HGZ 32 Minatitlán (2) y UMMA 242 Veracruz (2).</a:t>
                      </a:r>
                    </a:p>
                  </a:txBody>
                  <a:tcPr>
                    <a:solidFill>
                      <a:srgbClr val="EFEFEF"/>
                    </a:solidFill>
                  </a:tcPr>
                </a:tc>
                <a:tc>
                  <a:txBody>
                    <a:bodyPr/>
                    <a:lstStyle/>
                    <a:p>
                      <a:pPr>
                        <a:defRPr sz="1000">
                          <a:latin typeface="Montserrat"/>
                        </a:defRPr>
                      </a:pPr>
                      <a:r>
                        <a:t>$21.7</a:t>
                      </a:r>
                    </a:p>
                  </a:txBody>
                  <a:tcPr>
                    <a:solidFill>
                      <a:srgbClr val="EFEFEF"/>
                    </a:solidFill>
                  </a:tcPr>
                </a:tc>
              </a:tr>
              <a:tr h="200000">
                <a:tc>
                  <a:txBody>
                    <a:bodyPr/>
                    <a:lstStyle/>
                    <a:p>
                      <a:pPr>
                        <a:defRPr sz="1000">
                          <a:latin typeface="Montserrat"/>
                        </a:defRPr>
                      </a:pPr>
                      <a:r>
                        <a:t>Recurso para mantenimiento de infraestructura</a:t>
                      </a:r>
                    </a:p>
                  </a:txBody>
                  <a:tcPr>
                    <a:solidFill>
                      <a:srgbClr val="FFFFFF"/>
                    </a:solidFill>
                  </a:tcPr>
                </a:tc>
                <a:tc>
                  <a:txBody>
                    <a:bodyPr/>
                    <a:lstStyle/>
                    <a:p>
                      <a:pPr>
                        <a:defRPr sz="1000">
                          <a:latin typeface="Montserrat"/>
                        </a:defRPr>
                      </a:pPr>
                      <a:r>
                        <a:t>$500.9</a:t>
                      </a:r>
                    </a:p>
                  </a:txBody>
                  <a:tcPr>
                    <a:solidFill>
                      <a:srgbClr val="FFFFFF"/>
                    </a:solidFill>
                  </a:tcPr>
                </a:tc>
              </a:tr>
              <a:tr h="200000">
                <a:tc>
                  <a:txBody>
                    <a:bodyPr/>
                    <a:lstStyle/>
                    <a:p>
                      <a:pPr>
                        <a:defRPr sz="1000">
                          <a:latin typeface="Montserrat"/>
                        </a:defRPr>
                      </a:pPr>
                      <a:r>
                        <a:t>Rehabilitación de almacenes, residencias y unidades médicas</a:t>
                      </a:r>
                    </a:p>
                  </a:txBody>
                  <a:tcPr>
                    <a:solidFill>
                      <a:srgbClr val="EFEFEF"/>
                    </a:solidFill>
                  </a:tcPr>
                </a:tc>
                <a:tc>
                  <a:txBody>
                    <a:bodyPr/>
                    <a:lstStyle/>
                    <a:p>
                      <a:pPr>
                        <a:defRPr sz="1000">
                          <a:latin typeface="Montserrat"/>
                        </a:defRPr>
                      </a:pPr>
                      <a:r>
                        <a:t>$124.0</a:t>
                      </a:r>
                    </a:p>
                  </a:txBody>
                  <a:tcPr>
                    <a:solidFill>
                      <a:srgbClr val="EFEFEF"/>
                    </a:solidFill>
                  </a:tcPr>
                </a:tc>
              </a:tr>
              <a:tr h="200000">
                <a:tc>
                  <a:txBody>
                    <a:bodyPr/>
                    <a:lstStyle/>
                    <a:p>
                      <a:pPr>
                        <a:defRPr sz="1000">
                          <a:latin typeface="Montserrat"/>
                        </a:defRPr>
                      </a:pPr>
                      <a:r>
                        <a:t>Rehabilitación mayor de 5 hospitales prioritarios, HGZ 36 Coatzacoalcos, HGR 1 Orizaba, HGZ 8 Córdoba, HGSZ 26 Tuxpan, HGSZ 33 San Andrés Tuxtla.</a:t>
                      </a:r>
                    </a:p>
                  </a:txBody>
                  <a:tcPr>
                    <a:solidFill>
                      <a:srgbClr val="FFFFFF"/>
                    </a:solidFill>
                  </a:tcPr>
                </a:tc>
                <a:tc>
                  <a:txBody>
                    <a:bodyPr/>
                    <a:lstStyle/>
                    <a:p>
                      <a:pPr>
                        <a:defRPr sz="1000">
                          <a:latin typeface="Montserrat"/>
                        </a:defRPr>
                      </a:pPr>
                      <a:r>
                        <a:t>$58.5</a:t>
                      </a:r>
                    </a:p>
                  </a:txBody>
                  <a:tcPr>
                    <a:solidFill>
                      <a:srgbClr val="FFFFFF"/>
                    </a:solidFill>
                  </a:tcPr>
                </a:tc>
              </a:tr>
            </a:tbl>
          </a:graphicData>
        </a:graphic>
      </p:graphicFrame>
      <p:sp>
        <p:nvSpPr>
          <p:cNvPr id="10" name="TextBox 9"/>
          <p:cNvSpPr txBox="1"/>
          <p:nvPr/>
        </p:nvSpPr>
        <p:spPr>
          <a:xfrm>
            <a:off x="601200" y="2365200"/>
            <a:ext cx="1227600" cy="435600"/>
          </a:xfrm>
          <a:prstGeom prst="rect">
            <a:avLst/>
          </a:prstGeom>
          <a:noFill/>
        </p:spPr>
        <p:txBody>
          <a:bodyPr wrap="none">
            <a:spAutoFit/>
          </a:bodyPr>
          <a:lstStyle/>
          <a:p>
            <a:pPr algn="ctr">
              <a:defRPr sz="1450" b="1">
                <a:solidFill>
                  <a:srgbClr val="FFFFFF"/>
                </a:solidFill>
                <a:latin typeface="Montserrat"/>
              </a:defRPr>
            </a:pPr>
            <a:r>
              <a:t>1,663.1 mdp</a:t>
            </a:r>
          </a:p>
        </p:txBody>
      </p:sp>
    </p:spTree>
    <p:extLst>
      <p:ext uri="{BB962C8B-B14F-4D97-AF65-F5344CB8AC3E}">
        <p14:creationId xmlns:p14="http://schemas.microsoft.com/office/powerpoint/2010/main" val="3258074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VERACRUZ</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57 </a:t>
                      </a:r>
                      <a:r>
                        <a:rPr b="1" sz="1000">
                          <a:latin typeface="Montserrat"/>
                        </a:rPr>
                        <a:t>unidades</a:t>
                      </a:r>
                    </a:p>
                    <a:p>
                      <a:pPr algn="ctr">
                        <a:defRPr sz="1000">
                          <a:solidFill>
                            <a:srgbClr val="505050"/>
                          </a:solidFill>
                          <a:latin typeface="Montserrat"/>
                        </a:defRPr>
                      </a:pPr>
                      <a:r>
                        <a:t>3 directas</a:t>
                      </a:r>
                    </a:p>
                    <a:p>
                      <a:pPr algn="ctr">
                        <a:defRPr sz="1000">
                          <a:solidFill>
                            <a:srgbClr val="505050"/>
                          </a:solidFill>
                          <a:latin typeface="Montserrat"/>
                        </a:defRPr>
                      </a:pPr>
                      <a:r>
                        <a:t>54 indirectas</a:t>
                      </a:r>
                    </a:p>
                  </a:txBody>
                  <a:tcPr anchor="ctr">
                    <a:solidFill>
                      <a:srgbClr val="FFFFFF"/>
                    </a:solidFill>
                  </a:tcPr>
                </a:tc>
                <a:tc>
                  <a:txBody>
                    <a:bodyPr/>
                    <a:lstStyle/>
                    <a:p>
                      <a:pPr algn="ctr"/>
                      <a:r>
                        <a:rPr b="1" sz="1000">
                          <a:latin typeface="Montserrat"/>
                        </a:rPr>
                        <a:t>6,339 </a:t>
                      </a:r>
                      <a:r>
                        <a:rPr b="1" sz="1000">
                          <a:latin typeface="Montserrat"/>
                        </a:rPr>
                        <a:t>inscritos</a:t>
                      </a:r>
                    </a:p>
                    <a:p>
                      <a:pPr algn="ctr">
                        <a:defRPr sz="1000">
                          <a:solidFill>
                            <a:srgbClr val="505050"/>
                          </a:solidFill>
                          <a:latin typeface="Montserrat"/>
                        </a:defRPr>
                      </a:pPr>
                      <a:r>
                        <a:t>382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41831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418319">
                <a:tc>
                  <a:txBody>
                    <a:bodyPr/>
                    <a:lstStyle/>
                    <a:p>
                      <a:pPr algn="ctr">
                        <a:defRPr sz="1000" b="1">
                          <a:latin typeface="Montserrat"/>
                        </a:defRPr>
                      </a:pPr>
                      <a:r>
                        <a:t>1 CRESTCAP</a:t>
                      </a:r>
                    </a:p>
                  </a:txBody>
                  <a:tcPr anchor="ctr" marL="28800" marR="28800" marT="0" marB="0">
                    <a:solidFill>
                      <a:srgbClr val="FFFFFF"/>
                    </a:solidFill>
                  </a:tcPr>
                </a:tc>
                <a:tc>
                  <a:txBody>
                    <a:bodyPr/>
                    <a:lstStyle/>
                    <a:p>
                      <a:pPr algn="ctr">
                        <a:defRPr sz="1000">
                          <a:latin typeface="Montserrat"/>
                        </a:defRPr>
                      </a:pPr>
                      <a:r>
                        <a:t>Jalapa</a:t>
                      </a:r>
                    </a:p>
                  </a:txBody>
                  <a:tcPr anchor="ctr" marL="28800" marR="28800" marT="0" marB="0">
                    <a:solidFill>
                      <a:srgbClr val="FFFFFF"/>
                    </a:solidFill>
                  </a:tcPr>
                </a:tc>
              </a:tr>
              <a:tr h="418319">
                <a:tc>
                  <a:txBody>
                    <a:bodyPr/>
                    <a:lstStyle/>
                    <a:p>
                      <a:pPr algn="ctr">
                        <a:defRPr sz="1000" b="1">
                          <a:latin typeface="Montserrat"/>
                        </a:defRPr>
                      </a:pPr>
                      <a:r>
                        <a:t>1 CRESTCAP</a:t>
                      </a:r>
                    </a:p>
                  </a:txBody>
                  <a:tcPr anchor="ctr" marL="28800" marR="28800" marT="0" marB="0">
                    <a:solidFill>
                      <a:srgbClr val="EFEFEF"/>
                    </a:solidFill>
                  </a:tcPr>
                </a:tc>
                <a:tc>
                  <a:txBody>
                    <a:bodyPr/>
                    <a:lstStyle/>
                    <a:p>
                      <a:pPr algn="ctr">
                        <a:defRPr sz="1000">
                          <a:latin typeface="Montserrat"/>
                        </a:defRPr>
                      </a:pPr>
                      <a:r>
                        <a:t>Coatzacoalcos</a:t>
                      </a:r>
                    </a:p>
                  </a:txBody>
                  <a:tcPr anchor="ctr" marL="28800" marR="28800" marT="0" marB="0">
                    <a:solidFill>
                      <a:srgbClr val="EFEFEF"/>
                    </a:solidFill>
                  </a:tcPr>
                </a:tc>
              </a:tr>
              <a:tr h="418319">
                <a:tc>
                  <a:txBody>
                    <a:bodyPr/>
                    <a:lstStyle/>
                    <a:p>
                      <a:pPr algn="ctr">
                        <a:defRPr sz="1000" b="1">
                          <a:latin typeface="Montserrat"/>
                        </a:defRPr>
                      </a:pPr>
                      <a:r>
                        <a:t>10  Centros de Seguridad Social</a:t>
                      </a:r>
                    </a:p>
                  </a:txBody>
                  <a:tcPr anchor="ctr" marL="28800" marR="28800" marT="0" marB="0">
                    <a:solidFill>
                      <a:srgbClr val="FFFFFF"/>
                    </a:solidFill>
                  </a:tcPr>
                </a:tc>
                <a:tc>
                  <a:txBody>
                    <a:bodyPr/>
                    <a:lstStyle/>
                    <a:p>
                      <a:pPr algn="ctr">
                        <a:defRPr sz="1000">
                          <a:latin typeface="Montserrat"/>
                        </a:defRPr>
                      </a:pPr>
                      <a:r>
                        <a:t>Coatepec, Xalapa, Tuxpan, Boca del Río, Tlapacoyan, Poza Rica, Córdoba, Coatzacoalcos, Cosamaloapan y Orizaba</a:t>
                      </a:r>
                    </a:p>
                  </a:txBody>
                  <a:tcPr anchor="ctr" marL="28800" marR="28800" marT="0" marB="0">
                    <a:solidFill>
                      <a:srgbClr val="FFFFFF"/>
                    </a:solidFill>
                  </a:tcPr>
                </a:tc>
              </a:tr>
              <a:tr h="418323">
                <a:tc>
                  <a:txBody>
                    <a:bodyPr/>
                    <a:lstStyle/>
                    <a:p>
                      <a:pPr algn="ctr">
                        <a:defRPr sz="1000" b="1">
                          <a:latin typeface="Montserrat"/>
                        </a:defRPr>
                      </a:pPr>
                      <a:r>
                        <a:t>1 Teatro</a:t>
                      </a:r>
                    </a:p>
                  </a:txBody>
                  <a:tcPr anchor="ctr" marL="28800" marR="28800" marT="0" marB="0">
                    <a:solidFill>
                      <a:srgbClr val="EFEFEF"/>
                    </a:solidFill>
                  </a:tcPr>
                </a:tc>
                <a:tc>
                  <a:txBody>
                    <a:bodyPr/>
                    <a:lstStyle/>
                    <a:p>
                      <a:pPr algn="ctr">
                        <a:defRPr sz="1000">
                          <a:latin typeface="Montserrat"/>
                        </a:defRPr>
                      </a:pPr>
                      <a:r>
                        <a:t>Córdoba</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1000" b="1">
                          <a:latin typeface="Montserrat"/>
                        </a:defRPr>
                      </a:pPr>
                      <a:r>
                        <a:t>6 Tiendas IMSS-SNTSS</a:t>
                      </a:r>
                    </a:p>
                  </a:txBody>
                  <a:tcPr anchor="ctr" marL="28800" marR="28800" marT="0" marB="0">
                    <a:solidFill>
                      <a:srgbClr val="FFFFFF"/>
                    </a:solidFill>
                  </a:tcPr>
                </a:tc>
                <a:tc>
                  <a:txBody>
                    <a:bodyPr/>
                    <a:lstStyle/>
                    <a:p>
                      <a:pPr algn="ctr">
                        <a:defRPr sz="1000">
                          <a:latin typeface="Montserrat"/>
                        </a:defRPr>
                      </a:pPr>
                      <a:r>
                        <a:t>No. 84 Cosamaloapan, No. 124 Minatitlán, No. 57 Orizaba, No. 160 Tierra Blanca, No. 54 Xalapa y 55 Veracruz</a:t>
                      </a:r>
                    </a:p>
                  </a:txBody>
                  <a:tcPr anchor="ctr" marL="28800" marR="28800" marT="0" marB="0">
                    <a:solidFill>
                      <a:srgbClr val="FFFFFF"/>
                    </a:solidFill>
                  </a:tcPr>
                </a:tc>
              </a:tr>
              <a:tr h="272400">
                <a:tc>
                  <a:txBody>
                    <a:bodyPr/>
                    <a:lstStyle/>
                    <a:p>
                      <a:pPr algn="ctr">
                        <a:defRPr sz="1000" b="1">
                          <a:latin typeface="Montserrat"/>
                        </a:defRPr>
                      </a:pPr>
                      <a:r>
                        <a:t>1 Velatorio</a:t>
                      </a:r>
                    </a:p>
                  </a:txBody>
                  <a:tcPr anchor="ctr" marL="28800" marR="28800" marT="0" marB="0">
                    <a:solidFill>
                      <a:srgbClr val="EFEFEF"/>
                    </a:solidFill>
                  </a:tcPr>
                </a:tc>
                <a:tc>
                  <a:txBody>
                    <a:bodyPr/>
                    <a:lstStyle/>
                    <a:p>
                      <a:pPr algn="ctr">
                        <a:defRPr sz="1000">
                          <a:latin typeface="Montserrat"/>
                        </a:defRPr>
                      </a:pPr>
                      <a:r>
                        <a:t>Veracruz</a:t>
                      </a:r>
                    </a:p>
                  </a:txBody>
                  <a:tcPr anchor="ctr" marL="28800" marR="28800" marT="0" marB="0">
                    <a:solidFill>
                      <a:srgbClr val="EFEFEF"/>
                    </a:solidFill>
                  </a:tcPr>
                </a:tc>
              </a:tr>
            </a:tbl>
          </a:graphicData>
        </a:graphic>
      </p:graphicFrame>
      <p:pic>
        <p:nvPicPr>
          <p:cNvPr id="470" name="Picture 469" descr="map_tipo2_30_ver.png"/>
          <p:cNvPicPr>
            <a:picLocks noChangeAspect="1"/>
          </p:cNvPicPr>
          <p:nvPr/>
        </p:nvPicPr>
        <p:blipFill>
          <a:blip r:embed="rId6"/>
          <a:stretch>
            <a:fillRect/>
          </a:stretch>
        </p:blipFill>
        <p:spPr>
          <a:xfrm>
            <a:off x="1742400" y="5832000"/>
            <a:ext cx="4608000" cy="3560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57</a:t>
            </a:r>
          </a:p>
        </p:txBody>
      </p:sp>
      <p:sp>
        <p:nvSpPr>
          <p:cNvPr id="472" name="TextBox 471"/>
          <p:cNvSpPr txBox="1"/>
          <p:nvPr/>
        </p:nvSpPr>
        <p:spPr>
          <a:xfrm>
            <a:off x="0" y="9273600"/>
            <a:ext cx="3538800" cy="230400"/>
          </a:xfrm>
          <a:prstGeom prst="rect">
            <a:avLst/>
          </a:prstGeom>
          <a:noFill/>
        </p:spPr>
        <p:txBody>
          <a:bodyPr wrap="square" tIns="0" bIns="0" lIns="0" rIns="0">
            <a:spAutoFit/>
          </a:bodyPr>
          <a:lstStyle/>
          <a:p>
            <a:pPr algn="l">
              <a:defRPr sz="900">
                <a:solidFill>
                  <a:srgbClr val="000000"/>
                </a:solidFill>
                <a:latin typeface="Noto Sans"/>
              </a:defRPr>
            </a:pPr>
            <a:r>
              <a:t>Fuente: Boletín de guarderías enero de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479" name="Table 478"/>
          <p:cNvGraphicFramePr>
            <a:graphicFrameLocks noGrp="1"/>
          </p:cNvGraphicFramePr>
          <p:nvPr/>
        </p:nvGraphicFramePr>
        <p:xfrm>
          <a:off x="284400" y="1087200"/>
          <a:ext cx="6984000" cy="147599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solidFill>
                      <a:srgbClr val="BC955C"/>
                    </a:solidFill>
                  </a:tcPr>
                </a:tc>
                <a:tc>
                  <a:txBody>
                    <a:bodyPr/>
                    <a:lstStyle/>
                    <a:p>
                      <a:pPr algn="ctr">
                        <a:defRPr b="1" sz="850">
                          <a:solidFill>
                            <a:srgbClr val="FFFFFF"/>
                          </a:solidFill>
                          <a:latin typeface="Montserrat"/>
                        </a:defRPr>
                      </a:pPr>
                      <a:r>
                        <a:t>Empleos Anterior</a:t>
                      </a:r>
                    </a:p>
                  </a:txBody>
                  <a:tcPr>
                    <a:solidFill>
                      <a:srgbClr val="BC955C"/>
                    </a:solidFill>
                  </a:tcPr>
                </a:tc>
                <a:tc>
                  <a:txBody>
                    <a:bodyPr/>
                    <a:lstStyle/>
                    <a:p>
                      <a:pPr algn="ctr">
                        <a:defRPr b="1" sz="850">
                          <a:solidFill>
                            <a:srgbClr val="FFFFFF"/>
                          </a:solidFill>
                          <a:latin typeface="Montserrat"/>
                        </a:defRPr>
                      </a:pPr>
                      <a:r>
                        <a:t>Empleos Actual</a:t>
                      </a:r>
                    </a:p>
                  </a:txBody>
                  <a:tcPr>
                    <a:solidFill>
                      <a:srgbClr val="BC955C"/>
                    </a:solidFill>
                  </a:tcPr>
                </a:tc>
                <a:tc>
                  <a:txBody>
                    <a:bodyPr/>
                    <a:lstStyle/>
                    <a:p>
                      <a:pPr algn="ctr">
                        <a:defRPr b="1" sz="850">
                          <a:solidFill>
                            <a:srgbClr val="FFFFFF"/>
                          </a:solidFill>
                          <a:latin typeface="Montserrat"/>
                        </a:defRPr>
                      </a:pPr>
                      <a:r>
                        <a:t>Variación</a:t>
                      </a:r>
                    </a:p>
                  </a:txBody>
                  <a:tcPr>
                    <a:solidFill>
                      <a:srgbClr val="BC955C"/>
                    </a:solidFill>
                  </a:tcPr>
                </a:tc>
                <a:tc>
                  <a:txBody>
                    <a:bodyPr/>
                    <a:lstStyle/>
                    <a:p>
                      <a:pPr algn="ctr">
                        <a:defRPr b="1" sz="850">
                          <a:solidFill>
                            <a:srgbClr val="FFFFFF"/>
                          </a:solidFill>
                          <a:latin typeface="Montserrat"/>
                        </a:defRPr>
                      </a:pPr>
                      <a:r>
                        <a:t>Empleador Privado</a:t>
                      </a:r>
                    </a:p>
                  </a:txBody>
                  <a:tcPr>
                    <a:solidFill>
                      <a:srgbClr val="BC955C"/>
                    </a:solidFill>
                  </a:tcPr>
                </a:tc>
                <a:tc>
                  <a:txBody>
                    <a:bodyPr/>
                    <a:lstStyle/>
                    <a:p>
                      <a:pPr algn="ctr">
                        <a:defRPr b="1" sz="850">
                          <a:solidFill>
                            <a:srgbClr val="FFFFFF"/>
                          </a:solidFill>
                          <a:latin typeface="Montserrat"/>
                        </a:defRPr>
                      </a:pPr>
                      <a:r>
                        <a:t>Empleos Anterior</a:t>
                      </a:r>
                    </a:p>
                  </a:txBody>
                  <a:tcPr>
                    <a:solidFill>
                      <a:srgbClr val="BC955C"/>
                    </a:solidFill>
                  </a:tcPr>
                </a:tc>
                <a:tc>
                  <a:txBody>
                    <a:bodyPr/>
                    <a:lstStyle/>
                    <a:p>
                      <a:pPr algn="ctr">
                        <a:defRPr b="1" sz="850">
                          <a:solidFill>
                            <a:srgbClr val="FFFFFF"/>
                          </a:solidFill>
                          <a:latin typeface="Montserrat"/>
                        </a:defRPr>
                      </a:pPr>
                      <a:r>
                        <a:t>Empleos Actual</a:t>
                      </a:r>
                    </a:p>
                  </a:txBody>
                  <a:tcPr>
                    <a:solidFill>
                      <a:srgbClr val="BC955C"/>
                    </a:solidFill>
                  </a:tcPr>
                </a:tc>
                <a:tc>
                  <a:txBody>
                    <a:bodyPr/>
                    <a:lstStyle/>
                    <a:p>
                      <a:pPr algn="ctr">
                        <a:defRPr b="1" sz="850">
                          <a:solidFill>
                            <a:srgbClr val="FFFFFF"/>
                          </a:solidFill>
                          <a:latin typeface="Montserrat"/>
                        </a:defRPr>
                      </a:pPr>
                      <a:r>
                        <a:t>Variación</a:t>
                      </a:r>
                    </a:p>
                  </a:txBody>
                  <a:tcPr>
                    <a:solidFill>
                      <a:srgbClr val="BC955C"/>
                    </a:solidFill>
                  </a:tcPr>
                </a:tc>
              </a:tr>
              <a:tr h="288000">
                <a:tc>
                  <a:txBody>
                    <a:bodyPr/>
                    <a:lstStyle/>
                    <a:p>
                      <a:pPr algn="ctr">
                        <a:defRPr sz="850">
                          <a:latin typeface="Montserrat"/>
                        </a:defRPr>
                      </a:pPr>
                      <a:r>
                        <a:t>SECRETARIA DE EDUCACION</a:t>
                      </a:r>
                    </a:p>
                  </a:txBody>
                  <a:tcPr>
                    <a:solidFill>
                      <a:srgbClr val="D9D9D9"/>
                    </a:solidFill>
                  </a:tcPr>
                </a:tc>
                <a:tc>
                  <a:txBody>
                    <a:bodyPr/>
                    <a:lstStyle/>
                    <a:p>
                      <a:pPr algn="ctr">
                        <a:defRPr sz="850">
                          <a:latin typeface="Montserrat"/>
                        </a:defRPr>
                      </a:pPr>
                      <a:r>
                        <a:t>55,642</a:t>
                      </a:r>
                    </a:p>
                  </a:txBody>
                  <a:tcPr>
                    <a:solidFill>
                      <a:srgbClr val="D9D9D9"/>
                    </a:solidFill>
                  </a:tcPr>
                </a:tc>
                <a:tc>
                  <a:txBody>
                    <a:bodyPr/>
                    <a:lstStyle/>
                    <a:p>
                      <a:pPr algn="ctr">
                        <a:defRPr sz="850">
                          <a:latin typeface="Montserrat"/>
                        </a:defRPr>
                      </a:pPr>
                      <a:r>
                        <a:t>55,575</a:t>
                      </a:r>
                    </a:p>
                  </a:txBody>
                  <a:tcPr>
                    <a:solidFill>
                      <a:srgbClr val="D9D9D9"/>
                    </a:solidFill>
                  </a:tcPr>
                </a:tc>
                <a:tc>
                  <a:txBody>
                    <a:bodyPr/>
                    <a:lstStyle/>
                    <a:p>
                      <a:pPr algn="ctr">
                        <a:defRPr sz="850" b="0">
                          <a:solidFill>
                            <a:srgbClr val="691C32"/>
                          </a:solidFill>
                          <a:latin typeface="Montserrat"/>
                        </a:defRPr>
                      </a:pPr>
                      <a:r>
                        <a:t>-0.1%</a:t>
                      </a:r>
                    </a:p>
                  </a:txBody>
                  <a:tcPr>
                    <a:solidFill>
                      <a:srgbClr val="D9D9D9"/>
                    </a:solidFill>
                  </a:tcPr>
                </a:tc>
                <a:tc>
                  <a:txBody>
                    <a:bodyPr/>
                    <a:lstStyle/>
                    <a:p>
                      <a:pPr algn="ctr">
                        <a:defRPr sz="850">
                          <a:latin typeface="Montserrat"/>
                        </a:defRPr>
                      </a:pPr>
                      <a:r>
                        <a:t>CADENA COMERCIAL OXXO SA DE CV</a:t>
                      </a:r>
                    </a:p>
                  </a:txBody>
                  <a:tcPr>
                    <a:solidFill>
                      <a:srgbClr val="D9D9D9"/>
                    </a:solidFill>
                  </a:tcPr>
                </a:tc>
                <a:tc>
                  <a:txBody>
                    <a:bodyPr/>
                    <a:lstStyle/>
                    <a:p>
                      <a:pPr algn="ctr">
                        <a:defRPr sz="850">
                          <a:latin typeface="Montserrat"/>
                        </a:defRPr>
                      </a:pPr>
                      <a:r>
                        <a:t>8,684</a:t>
                      </a:r>
                    </a:p>
                  </a:txBody>
                  <a:tcPr>
                    <a:solidFill>
                      <a:srgbClr val="D9D9D9"/>
                    </a:solidFill>
                  </a:tcPr>
                </a:tc>
                <a:tc>
                  <a:txBody>
                    <a:bodyPr/>
                    <a:lstStyle/>
                    <a:p>
                      <a:pPr algn="ctr">
                        <a:defRPr sz="850">
                          <a:latin typeface="Montserrat"/>
                        </a:defRPr>
                      </a:pPr>
                      <a:r>
                        <a:t>8,680</a:t>
                      </a:r>
                    </a:p>
                  </a:txBody>
                  <a:tcPr>
                    <a:solidFill>
                      <a:srgbClr val="D9D9D9"/>
                    </a:solidFill>
                  </a:tcPr>
                </a:tc>
                <a:tc>
                  <a:txBody>
                    <a:bodyPr/>
                    <a:lstStyle/>
                    <a:p>
                      <a:pPr algn="ctr">
                        <a:defRPr sz="850" b="0">
                          <a:solidFill>
                            <a:srgbClr val="691C32"/>
                          </a:solidFill>
                          <a:latin typeface="Montserrat"/>
                        </a:defRPr>
                      </a:pPr>
                      <a:r>
                        <a:t>-0.1%</a:t>
                      </a:r>
                    </a:p>
                  </a:txBody>
                  <a:tcPr>
                    <a:solidFill>
                      <a:srgbClr val="D9D9D9"/>
                    </a:solidFill>
                  </a:tcPr>
                </a:tc>
              </a:tr>
              <a:tr h="288000">
                <a:tc>
                  <a:txBody>
                    <a:bodyPr/>
                    <a:lstStyle/>
                    <a:p>
                      <a:pPr algn="ctr">
                        <a:defRPr sz="850">
                          <a:latin typeface="Montserrat"/>
                        </a:defRPr>
                      </a:pPr>
                      <a:r>
                        <a:t>INSTITUTO MEXICANO DEL SEGURO SOCIAL</a:t>
                      </a:r>
                    </a:p>
                  </a:txBody>
                  <a:tcPr>
                    <a:solidFill>
                      <a:srgbClr val="FFFFFF"/>
                    </a:solidFill>
                  </a:tcPr>
                </a:tc>
                <a:tc>
                  <a:txBody>
                    <a:bodyPr/>
                    <a:lstStyle/>
                    <a:p>
                      <a:pPr algn="ctr">
                        <a:defRPr sz="850">
                          <a:latin typeface="Montserrat"/>
                        </a:defRPr>
                      </a:pPr>
                      <a:r>
                        <a:t>26,621</a:t>
                      </a:r>
                    </a:p>
                  </a:txBody>
                  <a:tcPr>
                    <a:solidFill>
                      <a:srgbClr val="FFFFFF"/>
                    </a:solidFill>
                  </a:tcPr>
                </a:tc>
                <a:tc>
                  <a:txBody>
                    <a:bodyPr/>
                    <a:lstStyle/>
                    <a:p>
                      <a:pPr algn="ctr">
                        <a:defRPr sz="850">
                          <a:latin typeface="Montserrat"/>
                        </a:defRPr>
                      </a:pPr>
                      <a:r>
                        <a:t>26,465</a:t>
                      </a:r>
                    </a:p>
                  </a:txBody>
                  <a:tcPr>
                    <a:solidFill>
                      <a:srgbClr val="FFFFFF"/>
                    </a:solidFill>
                  </a:tcPr>
                </a:tc>
                <a:tc>
                  <a:txBody>
                    <a:bodyPr/>
                    <a:lstStyle/>
                    <a:p>
                      <a:pPr algn="ctr">
                        <a:defRPr sz="850" b="0">
                          <a:solidFill>
                            <a:srgbClr val="691C32"/>
                          </a:solidFill>
                          <a:latin typeface="Montserrat"/>
                        </a:defRPr>
                      </a:pPr>
                      <a:r>
                        <a:t>-0.6%</a:t>
                      </a:r>
                    </a:p>
                  </a:txBody>
                  <a:tcPr>
                    <a:solidFill>
                      <a:srgbClr val="FFFFFF"/>
                    </a:solidFill>
                  </a:tcPr>
                </a:tc>
                <a:tc>
                  <a:txBody>
                    <a:bodyPr/>
                    <a:lstStyle/>
                    <a:p>
                      <a:pPr algn="ctr">
                        <a:defRPr sz="850">
                          <a:latin typeface="Montserrat"/>
                        </a:defRPr>
                      </a:pPr>
                      <a:r>
                        <a:t>TIENDAS CHEDRAUI SA DE CV</a:t>
                      </a:r>
                    </a:p>
                  </a:txBody>
                  <a:tcPr>
                    <a:solidFill>
                      <a:srgbClr val="FFFFFF"/>
                    </a:solidFill>
                  </a:tcPr>
                </a:tc>
                <a:tc>
                  <a:txBody>
                    <a:bodyPr/>
                    <a:lstStyle/>
                    <a:p>
                      <a:pPr algn="ctr">
                        <a:defRPr sz="850">
                          <a:latin typeface="Montserrat"/>
                        </a:defRPr>
                      </a:pPr>
                      <a:r>
                        <a:t>8,566</a:t>
                      </a:r>
                    </a:p>
                  </a:txBody>
                  <a:tcPr>
                    <a:solidFill>
                      <a:srgbClr val="FFFFFF"/>
                    </a:solidFill>
                  </a:tcPr>
                </a:tc>
                <a:tc>
                  <a:txBody>
                    <a:bodyPr/>
                    <a:lstStyle/>
                    <a:p>
                      <a:pPr algn="ctr">
                        <a:defRPr sz="850">
                          <a:latin typeface="Montserrat"/>
                        </a:defRPr>
                      </a:pPr>
                      <a:r>
                        <a:t>8,193</a:t>
                      </a:r>
                    </a:p>
                  </a:txBody>
                  <a:tcPr>
                    <a:solidFill>
                      <a:srgbClr val="FFFFFF"/>
                    </a:solidFill>
                  </a:tcPr>
                </a:tc>
                <a:tc>
                  <a:txBody>
                    <a:bodyPr/>
                    <a:lstStyle/>
                    <a:p>
                      <a:pPr algn="ctr">
                        <a:defRPr sz="850" b="0">
                          <a:solidFill>
                            <a:srgbClr val="691C32"/>
                          </a:solidFill>
                          <a:latin typeface="Montserrat"/>
                        </a:defRPr>
                      </a:pPr>
                      <a:r>
                        <a:t>-4.4%</a:t>
                      </a:r>
                    </a:p>
                  </a:txBody>
                  <a:tcPr>
                    <a:solidFill>
                      <a:srgbClr val="FFFFFF"/>
                    </a:solidFill>
                  </a:tcPr>
                </a:tc>
              </a:tr>
              <a:tr h="288000">
                <a:tc>
                  <a:txBody>
                    <a:bodyPr/>
                    <a:lstStyle/>
                    <a:p>
                      <a:pPr algn="ctr">
                        <a:defRPr sz="850">
                          <a:latin typeface="Montserrat"/>
                        </a:defRPr>
                      </a:pPr>
                      <a:r>
                        <a:t>GOBIERNO DEL ESTADO DE VERACRUZ PODER EJECUTIVO</a:t>
                      </a:r>
                    </a:p>
                  </a:txBody>
                  <a:tcPr>
                    <a:solidFill>
                      <a:srgbClr val="D9D9D9"/>
                    </a:solidFill>
                  </a:tcPr>
                </a:tc>
                <a:tc>
                  <a:txBody>
                    <a:bodyPr/>
                    <a:lstStyle/>
                    <a:p>
                      <a:pPr algn="ctr">
                        <a:defRPr sz="850">
                          <a:latin typeface="Montserrat"/>
                        </a:defRPr>
                      </a:pPr>
                      <a:r>
                        <a:t>21,090</a:t>
                      </a:r>
                    </a:p>
                  </a:txBody>
                  <a:tcPr>
                    <a:solidFill>
                      <a:srgbClr val="D9D9D9"/>
                    </a:solidFill>
                  </a:tcPr>
                </a:tc>
                <a:tc>
                  <a:txBody>
                    <a:bodyPr/>
                    <a:lstStyle/>
                    <a:p>
                      <a:pPr algn="ctr">
                        <a:defRPr sz="850">
                          <a:latin typeface="Montserrat"/>
                        </a:defRPr>
                      </a:pPr>
                      <a:r>
                        <a:t>21,087</a:t>
                      </a:r>
                    </a:p>
                  </a:txBody>
                  <a:tcPr>
                    <a:solidFill>
                      <a:srgbClr val="D9D9D9"/>
                    </a:solidFill>
                  </a:tcPr>
                </a:tc>
                <a:tc>
                  <a:txBody>
                    <a:bodyPr/>
                    <a:lstStyle/>
                    <a:p>
                      <a:pPr algn="ctr">
                        <a:defRPr sz="850">
                          <a:latin typeface="Montserrat"/>
                        </a:defRPr>
                      </a:pPr>
                      <a:r>
                        <a:t>0.0%</a:t>
                      </a:r>
                    </a:p>
                  </a:txBody>
                  <a:tcPr>
                    <a:solidFill>
                      <a:srgbClr val="D9D9D9"/>
                    </a:solidFill>
                  </a:tcPr>
                </a:tc>
                <a:tc>
                  <a:txBody>
                    <a:bodyPr/>
                    <a:lstStyle/>
                    <a:p>
                      <a:pPr algn="ctr">
                        <a:defRPr sz="850">
                          <a:latin typeface="Montserrat"/>
                        </a:defRPr>
                      </a:pPr>
                      <a:r>
                        <a:t>NUEVA WAL MART DE MEXICO S DE RL DE CV</a:t>
                      </a:r>
                    </a:p>
                  </a:txBody>
                  <a:tcPr>
                    <a:solidFill>
                      <a:srgbClr val="D9D9D9"/>
                    </a:solidFill>
                  </a:tcPr>
                </a:tc>
                <a:tc>
                  <a:txBody>
                    <a:bodyPr/>
                    <a:lstStyle/>
                    <a:p>
                      <a:pPr algn="ctr">
                        <a:defRPr sz="850">
                          <a:latin typeface="Montserrat"/>
                        </a:defRPr>
                      </a:pPr>
                      <a:r>
                        <a:t>7,258</a:t>
                      </a:r>
                    </a:p>
                  </a:txBody>
                  <a:tcPr>
                    <a:solidFill>
                      <a:srgbClr val="D9D9D9"/>
                    </a:solidFill>
                  </a:tcPr>
                </a:tc>
                <a:tc>
                  <a:txBody>
                    <a:bodyPr/>
                    <a:lstStyle/>
                    <a:p>
                      <a:pPr algn="ctr">
                        <a:defRPr sz="850">
                          <a:latin typeface="Montserrat"/>
                        </a:defRPr>
                      </a:pPr>
                      <a:r>
                        <a:t>7,037</a:t>
                      </a:r>
                    </a:p>
                  </a:txBody>
                  <a:tcPr>
                    <a:solidFill>
                      <a:srgbClr val="D9D9D9"/>
                    </a:solidFill>
                  </a:tcPr>
                </a:tc>
                <a:tc>
                  <a:txBody>
                    <a:bodyPr/>
                    <a:lstStyle/>
                    <a:p>
                      <a:pPr algn="ctr">
                        <a:defRPr sz="850" b="0">
                          <a:solidFill>
                            <a:srgbClr val="691C32"/>
                          </a:solidFill>
                          <a:latin typeface="Montserrat"/>
                        </a:defRPr>
                      </a:pPr>
                      <a:r>
                        <a:t>-3.0%</a:t>
                      </a:r>
                    </a:p>
                  </a:txBody>
                  <a:tcPr>
                    <a:solidFill>
                      <a:srgbClr val="D9D9D9"/>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-7.15%</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-1.74%</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-1.50%</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-0.65%</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-0.24%</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+1.06%</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+2.70%</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+3.05%</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Noto Sans Black"/>
              </a:defRPr>
            </a:pPr>
            <a:r>
              <a:t>+6.97%</a:t>
            </a:r>
          </a:p>
        </p:txBody>
      </p:sp>
      <p:sp>
        <p:nvSpPr>
          <p:cNvPr id="490" name="Rounded Rectangle 489"/>
          <p:cNvSpPr/>
          <p:nvPr/>
        </p:nvSpPr>
        <p:spPr>
          <a:xfrm>
            <a:off x="4852800" y="7390800"/>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Feb 2025</a:t>
            </a:r>
          </a:p>
        </p:txBody>
      </p:sp>
      <p:sp>
        <p:nvSpPr>
          <p:cNvPr id="491" name="Rounded Rectangle 490"/>
          <p:cNvSpPr/>
          <p:nvPr/>
        </p:nvSpPr>
        <p:spPr>
          <a:xfrm>
            <a:off x="5774400" y="7390800"/>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Feb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Feb 2025</a:t>
                      </a:r>
                    </a:p>
                  </a:txBody>
                  <a:tcPr>
                    <a:solidFill>
                      <a:srgbClr val="D9D9D9"/>
                    </a:solidFill>
                  </a:tcPr>
                </a:tc>
                <a:tc>
                  <a:txBody>
                    <a:bodyPr/>
                    <a:lstStyle/>
                    <a:p>
                      <a:pPr algn="ctr">
                        <a:defRPr sz="900">
                          <a:latin typeface="Montserrat"/>
                        </a:defRPr>
                      </a:pPr>
                      <a:r>
                        <a:t>624,452</a:t>
                      </a:r>
                    </a:p>
                  </a:txBody>
                  <a:tcPr>
                    <a:solidFill>
                      <a:srgbClr val="D9D9D9"/>
                    </a:solidFill>
                  </a:tcPr>
                </a:tc>
                <a:tc>
                  <a:txBody>
                    <a:bodyPr/>
                    <a:lstStyle/>
                    <a:p>
                      <a:pPr algn="ctr">
                        <a:defRPr sz="900">
                          <a:latin typeface="Montserrat"/>
                        </a:defRPr>
                      </a:pPr>
                      <a:r>
                        <a:t>29,834</a:t>
                      </a:r>
                    </a:p>
                  </a:txBody>
                  <a:tcPr>
                    <a:solidFill>
                      <a:srgbClr val="D9D9D9"/>
                    </a:solidFill>
                  </a:tcPr>
                </a:tc>
                <a:tc>
                  <a:txBody>
                    <a:bodyPr/>
                    <a:lstStyle/>
                    <a:p>
                      <a:pPr algn="ctr">
                        <a:defRPr sz="900">
                          <a:latin typeface="Montserrat"/>
                        </a:defRPr>
                      </a:pPr>
                      <a:r>
                        <a:t>108,763</a:t>
                      </a:r>
                    </a:p>
                  </a:txBody>
                  <a:tcPr>
                    <a:solidFill>
                      <a:srgbClr val="D9D9D9"/>
                    </a:solidFill>
                  </a:tcPr>
                </a:tc>
                <a:tc>
                  <a:txBody>
                    <a:bodyPr/>
                    <a:lstStyle/>
                    <a:p>
                      <a:pPr algn="ctr">
                        <a:defRPr sz="900">
                          <a:latin typeface="Montserrat"/>
                        </a:defRPr>
                      </a:pPr>
                      <a:r>
                        <a:t>19,284</a:t>
                      </a:r>
                    </a:p>
                  </a:txBody>
                  <a:tcPr>
                    <a:solidFill>
                      <a:srgbClr val="D9D9D9"/>
                    </a:solidFill>
                  </a:tcPr>
                </a:tc>
                <a:tc>
                  <a:txBody>
                    <a:bodyPr/>
                    <a:lstStyle/>
                    <a:p>
                      <a:pPr algn="ctr">
                        <a:defRPr sz="900">
                          <a:latin typeface="Montserrat"/>
                        </a:defRPr>
                      </a:pPr>
                      <a:r>
                        <a:t>782,333</a:t>
                      </a:r>
                    </a:p>
                  </a:txBody>
                  <a:tcPr>
                    <a:solidFill>
                      <a:srgbClr val="D9D9D9"/>
                    </a:solidFill>
                  </a:tcPr>
                </a:tc>
              </a:tr>
              <a:tr h="270000">
                <a:tc>
                  <a:txBody>
                    <a:bodyPr/>
                    <a:lstStyle/>
                    <a:p>
                      <a:pPr algn="ctr">
                        <a:defRPr sz="900">
                          <a:latin typeface="Montserrat"/>
                        </a:defRPr>
                      </a:pPr>
                      <a:r>
                        <a:t>Feb 2026</a:t>
                      </a:r>
                    </a:p>
                  </a:txBody>
                  <a:tcPr>
                    <a:solidFill>
                      <a:srgbClr val="FFFFFF"/>
                    </a:solidFill>
                  </a:tcPr>
                </a:tc>
                <a:tc>
                  <a:txBody>
                    <a:bodyPr/>
                    <a:lstStyle/>
                    <a:p>
                      <a:pPr algn="ctr">
                        <a:defRPr sz="900">
                          <a:latin typeface="Montserrat"/>
                        </a:defRPr>
                      </a:pPr>
                      <a:r>
                        <a:t>642,009</a:t>
                      </a:r>
                    </a:p>
                  </a:txBody>
                  <a:tcPr>
                    <a:solidFill>
                      <a:srgbClr val="FFFFFF"/>
                    </a:solidFill>
                  </a:tcPr>
                </a:tc>
                <a:tc>
                  <a:txBody>
                    <a:bodyPr/>
                    <a:lstStyle/>
                    <a:p>
                      <a:pPr algn="ctr">
                        <a:defRPr sz="900">
                          <a:latin typeface="Montserrat"/>
                        </a:defRPr>
                      </a:pPr>
                      <a:r>
                        <a:t>26,714</a:t>
                      </a:r>
                    </a:p>
                  </a:txBody>
                  <a:tcPr>
                    <a:solidFill>
                      <a:srgbClr val="FFFFFF"/>
                    </a:solidFill>
                  </a:tcPr>
                </a:tc>
                <a:tc>
                  <a:txBody>
                    <a:bodyPr/>
                    <a:lstStyle/>
                    <a:p>
                      <a:pPr algn="ctr">
                        <a:defRPr sz="900">
                          <a:latin typeface="Montserrat"/>
                        </a:defRPr>
                      </a:pPr>
                      <a:r>
                        <a:t>101,329</a:t>
                      </a:r>
                    </a:p>
                  </a:txBody>
                  <a:tcPr>
                    <a:solidFill>
                      <a:srgbClr val="FFFFFF"/>
                    </a:solidFill>
                  </a:tcPr>
                </a:tc>
                <a:tc>
                  <a:txBody>
                    <a:bodyPr/>
                    <a:lstStyle/>
                    <a:p>
                      <a:pPr algn="ctr">
                        <a:defRPr sz="900">
                          <a:latin typeface="Montserrat"/>
                        </a:defRPr>
                      </a:pPr>
                      <a:r>
                        <a:t>18,923</a:t>
                      </a:r>
                    </a:p>
                  </a:txBody>
                  <a:tcPr>
                    <a:solidFill>
                      <a:srgbClr val="FFFFFF"/>
                    </a:solidFill>
                  </a:tcPr>
                </a:tc>
                <a:tc>
                  <a:txBody>
                    <a:bodyPr/>
                    <a:lstStyle/>
                    <a:p>
                      <a:pPr algn="ctr">
                        <a:defRPr sz="900">
                          <a:latin typeface="Montserrat"/>
                        </a:defRPr>
                      </a:pPr>
                      <a:r>
                        <a:t>788,975</a:t>
                      </a:r>
                    </a:p>
                  </a:txBody>
                  <a:tcPr>
                    <a:solidFill>
                      <a:srgbClr val="FFFFFF"/>
                    </a:solidFill>
                  </a:tcPr>
                </a:tc>
              </a:tr>
              <a:tr h="270000">
                <a:tc>
                  <a:txBody>
                    <a:bodyPr/>
                    <a:lstStyle/>
                    <a:p>
                      <a:pPr algn="ctr">
                        <a:defRPr sz="900">
                          <a:latin typeface="Montserrat"/>
                        </a:defRPr>
                      </a:pPr>
                      <a:r>
                        <a:t>Variación %</a:t>
                      </a:r>
                    </a:p>
                  </a:txBody>
                  <a:tcPr>
                    <a:solidFill>
                      <a:srgbClr val="D9D9D9"/>
                    </a:solidFill>
                  </a:tcPr>
                </a:tc>
                <a:tc>
                  <a:txBody>
                    <a:bodyPr/>
                    <a:lstStyle/>
                    <a:p>
                      <a:pPr algn="ctr">
                        <a:defRPr sz="900" b="1">
                          <a:solidFill>
                            <a:srgbClr val="006455"/>
                          </a:solidFill>
                          <a:latin typeface="Montserrat"/>
                        </a:defRPr>
                      </a:pPr>
                      <a:r>
                        <a:t>+3%</a:t>
                      </a:r>
                    </a:p>
                  </a:txBody>
                  <a:tcPr>
                    <a:solidFill>
                      <a:srgbClr val="D9D9D9"/>
                    </a:solidFill>
                  </a:tcPr>
                </a:tc>
                <a:tc>
                  <a:txBody>
                    <a:bodyPr/>
                    <a:lstStyle/>
                    <a:p>
                      <a:pPr algn="ctr">
                        <a:defRPr sz="900" b="0">
                          <a:solidFill>
                            <a:srgbClr val="691C32"/>
                          </a:solidFill>
                          <a:latin typeface="Montserrat"/>
                        </a:defRPr>
                      </a:pPr>
                      <a:r>
                        <a:t>-10%</a:t>
                      </a:r>
                    </a:p>
                  </a:txBody>
                  <a:tcPr>
                    <a:solidFill>
                      <a:srgbClr val="D9D9D9"/>
                    </a:solidFill>
                  </a:tcPr>
                </a:tc>
                <a:tc>
                  <a:txBody>
                    <a:bodyPr/>
                    <a:lstStyle/>
                    <a:p>
                      <a:pPr algn="ctr">
                        <a:defRPr sz="900" b="0">
                          <a:solidFill>
                            <a:srgbClr val="691C32"/>
                          </a:solidFill>
                          <a:latin typeface="Montserrat"/>
                        </a:defRPr>
                      </a:pPr>
                      <a:r>
                        <a:t>-7%</a:t>
                      </a:r>
                    </a:p>
                  </a:txBody>
                  <a:tcPr>
                    <a:solidFill>
                      <a:srgbClr val="D9D9D9"/>
                    </a:solidFill>
                  </a:tcPr>
                </a:tc>
                <a:tc>
                  <a:txBody>
                    <a:bodyPr/>
                    <a:lstStyle/>
                    <a:p>
                      <a:pPr algn="ctr">
                        <a:defRPr sz="900" b="0">
                          <a:solidFill>
                            <a:srgbClr val="691C32"/>
                          </a:solidFill>
                          <a:latin typeface="Montserrat"/>
                        </a:defRPr>
                      </a:pPr>
                      <a:r>
                        <a:t>-2%</a:t>
                      </a:r>
                    </a:p>
                  </a:txBody>
                  <a:tcPr>
                    <a:solidFill>
                      <a:srgbClr val="D9D9D9"/>
                    </a:solidFill>
                  </a:tcPr>
                </a:tc>
                <a:tc>
                  <a:txBody>
                    <a:bodyPr/>
                    <a:lstStyle/>
                    <a:p>
                      <a:pPr algn="ctr">
                        <a:defRPr sz="900" b="1">
                          <a:solidFill>
                            <a:srgbClr val="006455"/>
                          </a:solidFill>
                          <a:latin typeface="Montserrat"/>
                        </a:defRPr>
                      </a:pPr>
                      <a:r>
                        <a:t>+1%</a:t>
                      </a:r>
                    </a:p>
                  </a:txBody>
                  <a:tcPr>
                    <a:solidFill>
                      <a:srgbClr val="D9D9D9"/>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Noto Sans"/>
              </a:defRPr>
            </a:pPr>
            <a:r>
              <a:t>Fuente: Dirección de Incoporación y Recaudación.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496" name="Google Shape;496;g370e87ffe7a_2_319"/>
          <p:cNvSpPr/>
          <p:nvPr/>
        </p:nvSpPr>
        <p:spPr>
          <a:xfrm>
            <a:off x="744125" y="1129296"/>
            <a:ext cx="609033" cy="528897"/>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0" name="Google Shape;500;g370e87ffe7a_2_319"/>
          <p:cNvSpPr txBox="1"/>
          <p:nvPr/>
        </p:nvSpPr>
        <p:spPr>
          <a:xfrm>
            <a:off x="320200" y="24503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$653.20</a:t>
            </a:r>
          </a:p>
          <a:p>
            <a:pPr algn="ctr">
              <a:defRPr sz="800" b="1">
                <a:solidFill>
                  <a:srgbClr val="FFFFFF"/>
                </a:solidFill>
                <a:latin typeface="Montserrat"/>
              </a:defRPr>
            </a:pPr>
            <a:r>
              <a:t>SBC</a:t>
            </a:r>
          </a:p>
          <a:p>
            <a:pPr algn="ctr">
              <a:defRPr sz="800" b="0">
                <a:solidFill>
                  <a:srgbClr val="FFFFFF"/>
                </a:solidFill>
                <a:latin typeface="Montserrat"/>
              </a:defRPr>
            </a:pPr>
            <a:r>
              <a:t>Febrero</a:t>
            </a:r>
          </a:p>
        </p:txBody>
      </p:sp>
      <p:graphicFrame>
        <p:nvGraphicFramePr>
          <p:cNvPr id="503" name="Table 502"/>
          <p:cNvGraphicFramePr>
            <a:graphicFrameLocks noGrp="1"/>
          </p:cNvGraphicFramePr>
          <p:nvPr/>
        </p:nvGraphicFramePr>
        <p:xfrm>
          <a:off x="478800" y="1130400"/>
          <a:ext cx="6638400" cy="1224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612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Febrero</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Febrero</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612000">
                <a:tc>
                  <a:txBody>
                    <a:bodyPr/>
                    <a:lstStyle/>
                    <a:p>
                      <a:pPr algn="ctr">
                        <a:defRPr sz="1100" b="1">
                          <a:solidFill>
                            <a:srgbClr val="FFFFFF"/>
                          </a:solidFill>
                          <a:latin typeface="Montserrat"/>
                        </a:defRPr>
                      </a:pPr>
                      <a:r>
                        <a:t>Salario Base de Cotización</a:t>
                      </a:r>
                    </a:p>
                  </a:txBody>
                  <a:tcPr>
                    <a:solidFill>
                      <a:srgbClr val="A42145"/>
                    </a:solidFill>
                  </a:tcPr>
                </a:tc>
                <a:tc>
                  <a:txBody>
                    <a:bodyPr/>
                    <a:lstStyle/>
                    <a:p>
                      <a:pPr algn="ctr">
                        <a:defRPr sz="1100">
                          <a:latin typeface="Montserrat"/>
                        </a:defRPr>
                      </a:pPr>
                      <a:r>
                        <a:t>$361.66</a:t>
                      </a:r>
                    </a:p>
                  </a:txBody>
                  <a:tcPr>
                    <a:solidFill>
                      <a:srgbClr val="EEEEEE"/>
                    </a:solidFill>
                  </a:tcPr>
                </a:tc>
                <a:tc>
                  <a:txBody>
                    <a:bodyPr/>
                    <a:lstStyle/>
                    <a:p>
                      <a:pPr algn="ctr">
                        <a:defRPr sz="1100" b="1">
                          <a:latin typeface="Montserrat"/>
                        </a:defRPr>
                      </a:pPr>
                      <a:r>
                        <a:t>$653.20</a:t>
                      </a:r>
                    </a:p>
                  </a:txBody>
                  <a:tcPr>
                    <a:solidFill>
                      <a:srgbClr val="EEEEEE"/>
                    </a:solidFill>
                  </a:tcPr>
                </a:tc>
                <a:tc>
                  <a:txBody>
                    <a:bodyPr/>
                    <a:lstStyle/>
                    <a:p>
                      <a:pPr algn="ctr">
                        <a:defRPr sz="1100">
                          <a:latin typeface="Montserrat"/>
                        </a:defRPr>
                      </a:pPr>
                      <a:r>
                        <a:t>0.3%</a:t>
                      </a:r>
                    </a:p>
                  </a:txBody>
                  <a:tcPr>
                    <a:solidFill>
                      <a:srgbClr val="EEEEEE"/>
                    </a:solidFill>
                  </a:tcPr>
                </a:tc>
                <a:tc>
                  <a:txBody>
                    <a:bodyPr/>
                    <a:lstStyle/>
                    <a:p>
                      <a:pPr algn="ctr">
                        <a:defRPr sz="1100" b="1">
                          <a:latin typeface="Montserrat"/>
                        </a:defRPr>
                      </a:pPr>
                      <a:r>
                        <a:t>$664.09</a:t>
                      </a:r>
                    </a:p>
                  </a:txBody>
                  <a:tcPr>
                    <a:solidFill>
                      <a:srgbClr val="EEEEEE"/>
                    </a:solidFill>
                  </a:tcPr>
                </a:tc>
                <a:tc>
                  <a:txBody>
                    <a:bodyPr/>
                    <a:lstStyle/>
                    <a:p>
                      <a:pPr algn="ctr">
                        <a:defRPr sz="1100" b="1">
                          <a:solidFill>
                            <a:srgbClr val="9F2241"/>
                          </a:solidFill>
                          <a:latin typeface="Montserrat"/>
                        </a:defRPr>
                      </a:pPr>
                      <a:r>
                        <a:t>$19,596.0</a:t>
                      </a:r>
                    </a:p>
                  </a:txBody>
                  <a:tcP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ASOCIACION DE CAÑEROS PROPIETARIOS R EJ Y COM DEL ING LA MARGARITA, A.C.</a:t>
                      </a:r>
                    </a:p>
                  </a:txBody>
                  <a:tcPr>
                    <a:solidFill>
                      <a:srgbClr val="FFFFFF"/>
                    </a:solidFill>
                  </a:tcPr>
                </a:tc>
                <a:tc>
                  <a:txBody>
                    <a:bodyPr/>
                    <a:lstStyle/>
                    <a:p>
                      <a:pPr algn="ctr">
                        <a:defRPr sz="900">
                          <a:latin typeface="Montserrat"/>
                        </a:defRPr>
                      </a:pPr>
                      <a:r>
                        <a:t>$22,820.21</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ARAB SEGURIDAD PRIVADA SA DE CV</a:t>
                      </a:r>
                    </a:p>
                  </a:txBody>
                  <a:tcPr>
                    <a:solidFill>
                      <a:srgbClr val="EEEEEE"/>
                    </a:solidFill>
                  </a:tcPr>
                </a:tc>
                <a:tc>
                  <a:txBody>
                    <a:bodyPr/>
                    <a:lstStyle/>
                    <a:p>
                      <a:pPr algn="ctr">
                        <a:defRPr sz="900">
                          <a:latin typeface="Montserrat"/>
                        </a:defRPr>
                      </a:pPr>
                      <a:r>
                        <a:t>$19,444.95</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TRANSPORTES RAFAGAS DEL GOLFO SA DE CV</a:t>
                      </a:r>
                    </a:p>
                  </a:txBody>
                  <a:tcPr>
                    <a:solidFill>
                      <a:srgbClr val="FFFFFF"/>
                    </a:solidFill>
                  </a:tcPr>
                </a:tc>
                <a:tc>
                  <a:txBody>
                    <a:bodyPr/>
                    <a:lstStyle/>
                    <a:p>
                      <a:pPr algn="ctr">
                        <a:defRPr sz="900">
                          <a:latin typeface="Montserrat"/>
                        </a:defRPr>
                      </a:pPr>
                      <a:r>
                        <a:t>$17,642.68</a:t>
                      </a:r>
                    </a:p>
                  </a:txBody>
                  <a:tcPr>
                    <a:solidFill>
                      <a:srgbClr val="FFFFFF"/>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Comisión Municipal de Agua y Sanemiento de Las Flores</a:t>
                      </a:r>
                    </a:p>
                  </a:txBody>
                  <a:tcPr>
                    <a:solidFill>
                      <a:srgbClr val="EEEEEE"/>
                    </a:solidFill>
                  </a:tcPr>
                </a:tc>
                <a:tc>
                  <a:txBody>
                    <a:bodyPr/>
                    <a:lstStyle/>
                    <a:p>
                      <a:pPr algn="ctr">
                        <a:defRPr sz="900">
                          <a:latin typeface="Montserrat"/>
                        </a:defRPr>
                      </a:pPr>
                      <a:r>
                        <a:t>$1,051.67</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Comisión Municipal de Agua Potable y Saneamiento de Lerdo de Tejada</a:t>
                      </a:r>
                    </a:p>
                  </a:txBody>
                  <a:tcPr>
                    <a:solidFill>
                      <a:srgbClr val="FFFFFF"/>
                    </a:solidFill>
                  </a:tcPr>
                </a:tc>
                <a:tc>
                  <a:txBody>
                    <a:bodyPr/>
                    <a:lstStyle/>
                    <a:p>
                      <a:pPr algn="ctr">
                        <a:defRPr sz="900">
                          <a:latin typeface="Montserrat"/>
                        </a:defRPr>
                      </a:pPr>
                      <a:r>
                        <a:t>$2,092.26</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Instituto del Fondo Nacional de la Vivienda para los Trabajadores Sin Tipo de Sociedad</a:t>
                      </a:r>
                    </a:p>
                  </a:txBody>
                  <a:tcPr>
                    <a:solidFill>
                      <a:srgbClr val="EEEEEE"/>
                    </a:solidFill>
                  </a:tcPr>
                </a:tc>
                <a:tc>
                  <a:txBody>
                    <a:bodyPr/>
                    <a:lstStyle/>
                    <a:p>
                      <a:pPr algn="ctr">
                        <a:defRPr sz="900">
                          <a:latin typeface="Montserrat"/>
                        </a:defRPr>
                      </a:pPr>
                      <a:r>
                        <a:t>$3.14</a:t>
                      </a:r>
                    </a:p>
                  </a:txBody>
                  <a:tcPr>
                    <a:solidFill>
                      <a:srgbClr val="EEEEEE"/>
                    </a:solidFill>
                  </a:tcPr>
                </a:tc>
              </a:tr>
            </a:tbl>
          </a:graphicData>
        </a:graphic>
      </p:graphicFrame>
      <p:sp>
        <p:nvSpPr>
          <p:cNvPr id="515" name="TextBox 514"/>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Noto Sans"/>
              </a:defRPr>
            </a:pPr>
            <a:r>
              <a:t>Salario base de cotización: se utilizo para deflactar el INPC a febrero de 2026 144.307, para diciembre 2018 es 103.02, el indice para dividir diciembre 2018 es de 0.713895.</a:t>
            </a:r>
          </a:p>
        </p:txBody>
      </p:sp>
      <p:sp>
        <p:nvSpPr>
          <p:cNvPr id="516" name="TextBox 515"/>
          <p:cNvSpPr txBox="1"/>
          <p:nvPr/>
        </p:nvSpPr>
        <p:spPr>
          <a:xfrm>
            <a:off x="251999" y="9813600"/>
            <a:ext cx="4316400" cy="244800"/>
          </a:xfrm>
          <a:prstGeom prst="rect">
            <a:avLst/>
          </a:prstGeom>
          <a:noFill/>
        </p:spPr>
        <p:txBody>
          <a:bodyPr wrap="square" tIns="0" bIns="0" lIns="0" rIns="0">
            <a:spAutoFit/>
          </a:bodyPr>
          <a:lstStyle/>
          <a:p>
            <a:pPr algn="l">
              <a:defRPr sz="800">
                <a:solidFill>
                  <a:srgbClr val="FFFFFF"/>
                </a:solidFill>
                <a:latin typeface="Noto Sans"/>
              </a:defRPr>
            </a:pPr>
            <a:r>
              <a:t>Fuente: Dirección de Incorporación y Recaudación enero 2026.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VERACRUZ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Noto Sans"/>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Noto Sans"/>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20726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726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6</a:t>
                      </a:r>
                    </a:p>
                  </a:txBody>
                  <a:tcPr anchor="ctr" marL="73152" marR="73152" marT="0" marB="0">
                    <a:solidFill>
                      <a:srgbClr val="D3E9E7"/>
                    </a:solidFill>
                  </a:tcPr>
                </a:tc>
              </a:tr>
              <a:tr h="20726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520</a:t>
                      </a:r>
                    </a:p>
                  </a:txBody>
                  <a:tcPr anchor="ctr" marL="73152" marR="73152" marT="0" marB="0">
                    <a:solidFill>
                      <a:srgbClr val="D3E9E7"/>
                    </a:solidFill>
                  </a:tcPr>
                </a:tc>
              </a:tr>
              <a:tr h="20726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33</a:t>
                      </a:r>
                    </a:p>
                  </a:txBody>
                  <a:tcPr anchor="ctr" marL="73152" marR="73152" marT="0" marB="0">
                    <a:solidFill>
                      <a:srgbClr val="D3E9E7"/>
                    </a:solidFill>
                  </a:tcPr>
                </a:tc>
              </a:tr>
              <a:tr h="20726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15</a:t>
                      </a:r>
                    </a:p>
                  </a:txBody>
                  <a:tcPr anchor="ctr" marL="73152" marR="73152" marT="0" marB="0">
                    <a:solidFill>
                      <a:srgbClr val="D3E9E7"/>
                    </a:solidFill>
                  </a:tcPr>
                </a:tc>
              </a:tr>
              <a:tr h="207264">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581</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133,604</a:t>
                      </a:r>
                    </a:p>
                  </a:txBody>
                  <a:tcPr anchor="ctr" marL="73152" marR="73152" marT="0" marB="0">
                    <a:solidFill>
                      <a:srgbClr val="D3E9E7"/>
                    </a:solidFill>
                  </a:tcPr>
                </a:tc>
                <a:tc>
                  <a:txBody>
                    <a:bodyPr/>
                    <a:lstStyle/>
                    <a:p>
                      <a:pPr algn="ctr">
                        <a:defRPr b="1" sz="1000">
                          <a:solidFill>
                            <a:srgbClr val="006455"/>
                          </a:solidFill>
                          <a:latin typeface="Montserrat"/>
                        </a:defRPr>
                      </a:pPr>
                      <a:r>
                        <a:t>480</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55,697</a:t>
                      </a:r>
                    </a:p>
                  </a:txBody>
                  <a:tcPr anchor="ctr" marL="73152" marR="73152" marT="0" marB="0">
                    <a:solidFill>
                      <a:srgbClr val="FFFFFF"/>
                    </a:solidFill>
                  </a:tcPr>
                </a:tc>
                <a:tc>
                  <a:txBody>
                    <a:bodyPr/>
                    <a:lstStyle/>
                    <a:p>
                      <a:pPr algn="ctr">
                        <a:defRPr b="0" sz="1000">
                          <a:solidFill>
                            <a:srgbClr val="000000"/>
                          </a:solidFill>
                          <a:latin typeface="Montserrat"/>
                        </a:defRPr>
                      </a:pPr>
                      <a:r>
                        <a:t>214</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18,372</a:t>
                      </a:r>
                    </a:p>
                  </a:txBody>
                  <a:tcPr anchor="ctr" marL="73152" marR="73152" marT="0" marB="0">
                    <a:solidFill>
                      <a:srgbClr val="EFEFEF"/>
                    </a:solidFill>
                  </a:tcPr>
                </a:tc>
                <a:tc>
                  <a:txBody>
                    <a:bodyPr/>
                    <a:lstStyle/>
                    <a:p>
                      <a:pPr algn="ctr">
                        <a:defRPr b="0" sz="1000">
                          <a:solidFill>
                            <a:srgbClr val="000000"/>
                          </a:solidFill>
                          <a:latin typeface="Montserrat"/>
                        </a:defRPr>
                      </a:pPr>
                      <a:r>
                        <a:t>71</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29,716</a:t>
                      </a:r>
                    </a:p>
                  </a:txBody>
                  <a:tcPr anchor="ctr" marL="73152" marR="73152" marT="0" marB="0">
                    <a:solidFill>
                      <a:srgbClr val="FFFFFF"/>
                    </a:solidFill>
                  </a:tcPr>
                </a:tc>
                <a:tc>
                  <a:txBody>
                    <a:bodyPr/>
                    <a:lstStyle/>
                    <a:p>
                      <a:pPr algn="ctr">
                        <a:defRPr b="0" sz="1000">
                          <a:solidFill>
                            <a:srgbClr val="000000"/>
                          </a:solidFill>
                          <a:latin typeface="Montserrat"/>
                        </a:defRPr>
                      </a:pPr>
                      <a:r>
                        <a:t>82</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29,819</a:t>
                      </a:r>
                    </a:p>
                  </a:txBody>
                  <a:tcPr anchor="ctr" marL="73152" marR="73152" marT="0" marB="0">
                    <a:solidFill>
                      <a:srgbClr val="EFEFEF"/>
                    </a:solidFill>
                  </a:tcPr>
                </a:tc>
                <a:tc>
                  <a:txBody>
                    <a:bodyPr/>
                    <a:lstStyle/>
                    <a:p>
                      <a:pPr algn="ctr">
                        <a:defRPr b="0" sz="1000">
                          <a:solidFill>
                            <a:srgbClr val="000000"/>
                          </a:solidFill>
                          <a:latin typeface="Montserrat"/>
                        </a:defRPr>
                      </a:pPr>
                      <a:r>
                        <a:t>115</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7,131</a:t>
                      </a:r>
                    </a:p>
                  </a:txBody>
                  <a:tcPr anchor="ctr" marL="73152" marR="73152" marT="0" marB="0">
                    <a:solidFill>
                      <a:srgbClr val="FFFFFF"/>
                    </a:solidFill>
                  </a:tcPr>
                </a:tc>
                <a:tc>
                  <a:txBody>
                    <a:bodyPr/>
                    <a:lstStyle/>
                    <a:p>
                      <a:pPr algn="ctr">
                        <a:defRPr b="0" sz="1000">
                          <a:solidFill>
                            <a:srgbClr val="000000"/>
                          </a:solidFill>
                          <a:latin typeface="Montserrat"/>
                        </a:defRPr>
                      </a:pPr>
                      <a:r>
                        <a:t>20</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5,987</a:t>
                      </a:r>
                    </a:p>
                  </a:txBody>
                  <a:tcPr anchor="ctr" marL="73152" marR="73152" marT="0" marB="0">
                    <a:solidFill>
                      <a:srgbClr val="EFEFEF"/>
                    </a:solidFill>
                  </a:tcPr>
                </a:tc>
                <a:tc>
                  <a:txBody>
                    <a:bodyPr/>
                    <a:lstStyle/>
                    <a:p>
                      <a:pPr algn="ctr">
                        <a:defRPr b="0" sz="1000">
                          <a:solidFill>
                            <a:srgbClr val="000000"/>
                          </a:solidFill>
                          <a:latin typeface="Montserrat"/>
                        </a:defRPr>
                      </a:pPr>
                      <a:r>
                        <a:t>17</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14,193</a:t>
                      </a:r>
                    </a:p>
                  </a:txBody>
                  <a:tcPr anchor="ctr" marL="73152" marR="73152" marT="0" marB="0">
                    <a:solidFill>
                      <a:srgbClr val="FFFFFF"/>
                    </a:solidFill>
                  </a:tcPr>
                </a:tc>
                <a:tc>
                  <a:txBody>
                    <a:bodyPr/>
                    <a:lstStyle/>
                    <a:p>
                      <a:pPr algn="ctr">
                        <a:defRPr b="0" sz="1000">
                          <a:solidFill>
                            <a:srgbClr val="000000"/>
                          </a:solidFill>
                          <a:latin typeface="Montserrat"/>
                        </a:defRPr>
                      </a:pPr>
                      <a:r>
                        <a:t>39</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489</a:t>
                      </a:r>
                    </a:p>
                  </a:txBody>
                  <a:tcPr anchor="ctr" marL="73152" marR="73152" marT="0" marB="0">
                    <a:solidFill>
                      <a:srgbClr val="FFFFFF"/>
                    </a:solidFill>
                  </a:tcPr>
                </a:tc>
                <a:tc>
                  <a:txBody>
                    <a:bodyPr/>
                    <a:lstStyle/>
                    <a:p>
                      <a:pPr algn="ctr">
                        <a:defRPr b="0" sz="1000">
                          <a:solidFill>
                            <a:srgbClr val="000000"/>
                          </a:solidFill>
                          <a:latin typeface="Montserrat"/>
                        </a:defRPr>
                      </a:pPr>
                      <a:r>
                        <a:t>11</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41</a:t>
                      </a:r>
                    </a:p>
                  </a:txBody>
                  <a:tcPr anchor="ctr" marL="73152" marR="73152" marT="0" marB="0">
                    <a:solidFill>
                      <a:srgbClr val="FFFFFF"/>
                    </a:solidFill>
                  </a:tcPr>
                </a:tc>
                <a:tc>
                  <a:txBody>
                    <a:bodyPr/>
                    <a:lstStyle/>
                    <a:p>
                      <a:pPr algn="ctr">
                        <a:defRPr b="1" sz="1000">
                          <a:solidFill>
                            <a:srgbClr val="006455"/>
                          </a:solidFill>
                          <a:latin typeface="Montserrat"/>
                        </a:defRPr>
                      </a:pPr>
                      <a:r>
                        <a:t>543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727</a:t>
                      </a:r>
                    </a:p>
                  </a:txBody>
                  <a:tcPr anchor="ctr" marL="73152" marR="73152" marT="0" marB="0">
                    <a:solidFill>
                      <a:srgbClr val="EFEFEF"/>
                    </a:solidFill>
                  </a:tcPr>
                </a:tc>
                <a:tc>
                  <a:txBody>
                    <a:bodyPr/>
                    <a:lstStyle/>
                    <a:p>
                      <a:pPr algn="ctr">
                        <a:defRPr b="0" sz="1000">
                          <a:solidFill>
                            <a:srgbClr val="000000"/>
                          </a:solidFill>
                          <a:latin typeface="Montserrat"/>
                        </a:defRPr>
                      </a:pPr>
                      <a:r>
                        <a:t>5</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528</a:t>
                      </a:r>
                    </a:p>
                  </a:txBody>
                  <a:tcPr anchor="ctr" marL="73152" marR="73152" marT="0" marB="0">
                    <a:solidFill>
                      <a:srgbClr val="EFEFEF"/>
                    </a:solidFill>
                  </a:tcPr>
                </a:tc>
                <a:tc>
                  <a:txBody>
                    <a:bodyPr/>
                    <a:lstStyle/>
                    <a:p>
                      <a:pPr algn="ctr">
                        <a:defRPr b="1" sz="1000">
                          <a:solidFill>
                            <a:srgbClr val="006455"/>
                          </a:solidFill>
                          <a:latin typeface="Montserrat"/>
                        </a:defRPr>
                      </a:pPr>
                      <a:r>
                        <a:t>1,261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66</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22</a:t>
                      </a:r>
                    </a:p>
                  </a:txBody>
                  <a:tcPr anchor="ctr" marL="73152" marR="73152" marT="0" marB="0">
                    <a:solidFill>
                      <a:srgbClr val="FFFFFF"/>
                    </a:solidFill>
                  </a:tcPr>
                </a:tc>
                <a:tc>
                  <a:txBody>
                    <a:bodyPr/>
                    <a:lstStyle/>
                    <a:p>
                      <a:pPr algn="ctr">
                        <a:defRPr b="1" sz="1000">
                          <a:solidFill>
                            <a:srgbClr val="006455"/>
                          </a:solidFill>
                          <a:latin typeface="Montserrat"/>
                        </a:defRPr>
                      </a:pPr>
                      <a:r>
                        <a:t>94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54</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14</a:t>
                      </a:r>
                    </a:p>
                  </a:txBody>
                  <a:tcPr anchor="ctr" marL="73152" marR="73152" marT="0" marB="0">
                    <a:solidFill>
                      <a:srgbClr val="EFEFEF"/>
                    </a:solidFill>
                  </a:tcPr>
                </a:tc>
                <a:tc>
                  <a:txBody>
                    <a:bodyPr/>
                    <a:lstStyle/>
                    <a:p>
                      <a:pPr algn="ctr">
                        <a:defRPr b="0" sz="1000">
                          <a:solidFill>
                            <a:srgbClr val="000000"/>
                          </a:solidFill>
                          <a:latin typeface="Montserrat"/>
                        </a:defRPr>
                      </a:pPr>
                      <a:r>
                        <a:t>12</a:t>
                      </a:r>
                    </a:p>
                  </a:txBody>
                  <a:tcPr anchor="ctr" marL="73152" marR="73152" marT="0" marB="0">
                    <a:solidFill>
                      <a:srgbClr val="EFEFEF"/>
                    </a:solidFill>
                  </a:tcPr>
                </a:tc>
                <a:tc>
                  <a:txBody>
                    <a:bodyPr/>
                    <a:lstStyle/>
                    <a:p>
                      <a:pPr algn="ctr">
                        <a:defRPr b="1" sz="1000">
                          <a:solidFill>
                            <a:srgbClr val="006455"/>
                          </a:solidFill>
                          <a:latin typeface="Montserrat"/>
                        </a:defRPr>
                      </a:pPr>
                      <a:r>
                        <a:t>83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187</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4</a:t>
                      </a:r>
                    </a:p>
                  </a:txBody>
                  <a:tcPr anchor="ctr" marL="73152" marR="73152" marT="0" marB="0">
                    <a:solidFill>
                      <a:srgbClr val="FFFFFF"/>
                    </a:solidFill>
                  </a:tcPr>
                </a:tc>
                <a:tc>
                  <a:txBody>
                    <a:bodyPr/>
                    <a:lstStyle/>
                    <a:p>
                      <a:pPr algn="ctr">
                        <a:defRPr b="0" sz="1000">
                          <a:solidFill>
                            <a:srgbClr val="000000"/>
                          </a:solidFill>
                          <a:latin typeface="Montserrat"/>
                        </a:defRPr>
                      </a:pPr>
                      <a:r>
                        <a:t>66</a:t>
                      </a:r>
                    </a:p>
                  </a:txBody>
                  <a:tcPr anchor="ctr" marL="73152" marR="73152" marT="0" marB="0">
                    <a:solidFill>
                      <a:srgbClr val="FFFFFF"/>
                    </a:solidFill>
                  </a:tcPr>
                </a:tc>
                <a:tc>
                  <a:txBody>
                    <a:bodyPr/>
                    <a:lstStyle/>
                    <a:p>
                      <a:pPr algn="ctr">
                        <a:defRPr b="1" sz="1000">
                          <a:solidFill>
                            <a:srgbClr val="006455"/>
                          </a:solidFill>
                          <a:latin typeface="Montserrat"/>
                        </a:defRPr>
                      </a:pPr>
                      <a:r>
                        <a:t>259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6</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1,523</a:t>
                      </a:r>
                    </a:p>
                  </a:txBody>
                  <a:tcPr anchor="ctr" marL="73152" marR="73152" marT="0" marB="0">
                    <a:solidFill>
                      <a:srgbClr val="D3E9E7"/>
                    </a:solidFill>
                  </a:tcPr>
                </a:tc>
                <a:tc>
                  <a:txBody>
                    <a:bodyPr/>
                    <a:lstStyle/>
                    <a:p>
                      <a:pPr algn="ctr">
                        <a:defRPr b="1" sz="1000">
                          <a:solidFill>
                            <a:srgbClr val="006455"/>
                          </a:solidFill>
                          <a:latin typeface="Montserrat"/>
                        </a:defRPr>
                      </a:pPr>
                      <a:r>
                        <a:t>24</a:t>
                      </a:r>
                    </a:p>
                  </a:txBody>
                  <a:tcPr anchor="ctr" marL="73152" marR="73152" marT="0" marB="0">
                    <a:solidFill>
                      <a:srgbClr val="D3E9E7"/>
                    </a:solidFill>
                  </a:tcPr>
                </a:tc>
                <a:tc>
                  <a:txBody>
                    <a:bodyPr/>
                    <a:lstStyle/>
                    <a:p>
                      <a:pPr algn="ctr">
                        <a:defRPr b="1" sz="1000">
                          <a:solidFill>
                            <a:srgbClr val="006455"/>
                          </a:solidFill>
                          <a:latin typeface="Montserrat"/>
                        </a:defRPr>
                      </a:pPr>
                      <a:r>
                        <a:t>30</a:t>
                      </a:r>
                    </a:p>
                  </a:txBody>
                  <a:tcPr anchor="ctr" marL="73152" marR="73152" marT="0" marB="0">
                    <a:solidFill>
                      <a:srgbClr val="D3E9E7"/>
                    </a:solidFill>
                  </a:tcPr>
                </a:tc>
                <a:tc>
                  <a:txBody>
                    <a:bodyPr/>
                    <a:lstStyle/>
                    <a:p>
                      <a:pPr algn="ctr">
                        <a:defRPr b="1" sz="1000">
                          <a:solidFill>
                            <a:srgbClr val="006455"/>
                          </a:solidFill>
                          <a:latin typeface="Montserrat"/>
                        </a:defRPr>
                      </a:pPr>
                      <a:r>
                        <a:t>669</a:t>
                      </a:r>
                    </a:p>
                  </a:txBody>
                  <a:tcPr anchor="ctr" marL="73152" marR="73152" marT="0" marB="0">
                    <a:solidFill>
                      <a:srgbClr val="D3E9E7"/>
                    </a:solidFill>
                  </a:tcPr>
                </a:tc>
                <a:tc>
                  <a:txBody>
                    <a:bodyPr/>
                    <a:lstStyle/>
                    <a:p>
                      <a:pPr algn="ctr">
                        <a:defRPr b="1" sz="1000">
                          <a:solidFill>
                            <a:srgbClr val="006455"/>
                          </a:solidFill>
                          <a:latin typeface="Montserrat"/>
                        </a:defRPr>
                      </a:pPr>
                      <a:r>
                        <a:t>2,246</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204216">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204216">
                <a:tc>
                  <a:txBody>
                    <a:bodyPr/>
                    <a:lstStyle/>
                    <a:p>
                      <a:pPr>
                        <a:defRPr>
                          <a:latin typeface="Montserrat"/>
                        </a:defRPr>
                      </a:pPr>
                      <a:r>
                        <a:t>Total Programa</a:t>
                      </a:r>
                    </a:p>
                  </a:txBody>
                  <a:tcPr anchor="ctr" marL="73152" marR="73152" marT="0" marB="0"/>
                </a:tc>
                <a:tc>
                  <a:txBody>
                    <a:bodyPr/>
                    <a:lstStyle/>
                    <a:p>
                      <a:pPr>
                        <a:defRPr>
                          <a:latin typeface="Montserrat"/>
                        </a:defRPr>
                      </a:pPr>
                      <a:r>
                        <a:t>1,250</a:t>
                      </a:r>
                    </a:p>
                  </a:txBody>
                  <a:tcPr anchor="ctr" marL="73152" marR="73152" marT="0" marB="0"/>
                </a:tc>
                <a:tc>
                  <a:txBody>
                    <a:bodyPr/>
                    <a:lstStyle/>
                    <a:p>
                      <a:pPr>
                        <a:defRPr>
                          <a:latin typeface="Montserrat"/>
                        </a:defRPr>
                      </a:pPr>
                      <a:r>
                        <a:t>1,498</a:t>
                      </a:r>
                    </a:p>
                  </a:txBody>
                  <a:tcPr anchor="ctr" marL="73152" marR="73152" marT="0" marB="0"/>
                </a:tc>
                <a:tc>
                  <a:txBody>
                    <a:bodyPr/>
                    <a:lstStyle/>
                    <a:p>
                      <a:pPr>
                        <a:defRPr>
                          <a:latin typeface="Montserrat"/>
                        </a:defRPr>
                      </a:pPr>
                      <a:r>
                        <a:t>9,258</a:t>
                      </a:r>
                    </a:p>
                  </a:txBody>
                  <a:tcPr anchor="ctr" marL="73152" marR="73152" marT="0" marB="0"/>
                </a:tc>
                <a:tc>
                  <a:txBody>
                    <a:bodyPr/>
                    <a:lstStyle/>
                    <a:p>
                      <a:pPr>
                        <a:defRPr>
                          <a:latin typeface="Montserrat"/>
                        </a:defRPr>
                      </a:pPr>
                      <a:r>
                        <a:t>13,311</a:t>
                      </a:r>
                    </a:p>
                  </a:txBody>
                  <a:tcPr anchor="ctr" marL="73152" marR="73152" marT="0" marB="0"/>
                </a:tc>
                <a:tc>
                  <a:txBody>
                    <a:bodyPr/>
                    <a:lstStyle/>
                    <a:p>
                      <a:pPr>
                        <a:defRPr>
                          <a:latin typeface="Montserrat"/>
                        </a:defRPr>
                      </a:pPr>
                      <a:r>
                        <a:t>448</a:t>
                      </a:r>
                    </a:p>
                  </a:txBody>
                  <a:tcPr anchor="ctr" marL="73152" marR="73152" marT="0" marB="0"/>
                </a:tc>
                <a:tc>
                  <a:txBody>
                    <a:bodyPr/>
                    <a:lstStyle/>
                    <a:p>
                      <a:pPr>
                        <a:defRPr>
                          <a:latin typeface="Montserrat"/>
                        </a:defRPr>
                      </a:pPr>
                      <a:r>
                        <a:t>63</a:t>
                      </a:r>
                    </a:p>
                  </a:txBody>
                  <a:tcPr anchor="ctr" marL="73152" marR="73152" marT="0" marB="0"/>
                </a:tc>
              </a:tr>
              <a:tr h="204216">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1,193</a:t>
                      </a:r>
                    </a:p>
                  </a:txBody>
                  <a:tcPr anchor="ctr" marL="73152" marR="73152" marT="0" marB="0">
                    <a:solidFill>
                      <a:srgbClr val="D3E9E7"/>
                    </a:solidFill>
                  </a:tcPr>
                </a:tc>
                <a:tc>
                  <a:txBody>
                    <a:bodyPr/>
                    <a:lstStyle/>
                    <a:p>
                      <a:pPr algn="ctr">
                        <a:defRPr b="1" sz="1000">
                          <a:solidFill>
                            <a:srgbClr val="006455"/>
                          </a:solidFill>
                          <a:latin typeface="Montserrat"/>
                        </a:defRPr>
                      </a:pPr>
                      <a:r>
                        <a:t>1,293</a:t>
                      </a:r>
                    </a:p>
                  </a:txBody>
                  <a:tcPr anchor="ctr" marL="73152" marR="73152" marT="0" marB="0">
                    <a:solidFill>
                      <a:srgbClr val="D3E9E7"/>
                    </a:solidFill>
                  </a:tcPr>
                </a:tc>
                <a:tc>
                  <a:txBody>
                    <a:bodyPr/>
                    <a:lstStyle/>
                    <a:p>
                      <a:pPr algn="ctr">
                        <a:defRPr b="1" sz="1000">
                          <a:solidFill>
                            <a:srgbClr val="006455"/>
                          </a:solidFill>
                          <a:latin typeface="Montserrat"/>
                        </a:defRPr>
                      </a:pPr>
                      <a:r>
                        <a:t>7,913</a:t>
                      </a:r>
                    </a:p>
                  </a:txBody>
                  <a:tcPr anchor="ctr" marL="73152" marR="73152" marT="0" marB="0">
                    <a:solidFill>
                      <a:srgbClr val="D3E9E7"/>
                    </a:solidFill>
                  </a:tcPr>
                </a:tc>
                <a:tc>
                  <a:txBody>
                    <a:bodyPr/>
                    <a:lstStyle/>
                    <a:p>
                      <a:pPr algn="ctr">
                        <a:defRPr b="1" sz="1000">
                          <a:solidFill>
                            <a:srgbClr val="006455"/>
                          </a:solidFill>
                          <a:latin typeface="Montserrat"/>
                        </a:defRPr>
                      </a:pPr>
                      <a:r>
                        <a:t>12,932</a:t>
                      </a:r>
                    </a:p>
                  </a:txBody>
                  <a:tcPr anchor="ctr" marL="73152" marR="73152" marT="0" marB="0">
                    <a:solidFill>
                      <a:srgbClr val="D3E9E7"/>
                    </a:solidFill>
                  </a:tcPr>
                </a:tc>
                <a:tc>
                  <a:txBody>
                    <a:bodyPr/>
                    <a:lstStyle/>
                    <a:p>
                      <a:pPr algn="ctr">
                        <a:defRPr b="1" sz="1000">
                          <a:solidFill>
                            <a:srgbClr val="006455"/>
                          </a:solidFill>
                          <a:latin typeface="Montserrat"/>
                        </a:defRPr>
                      </a:pPr>
                      <a:r>
                        <a:t>648</a:t>
                      </a:r>
                    </a:p>
                  </a:txBody>
                  <a:tcPr anchor="ctr" marL="73152" marR="73152" marT="0" marB="0">
                    <a:solidFill>
                      <a:srgbClr val="D3E9E7"/>
                    </a:solidFill>
                  </a:tcPr>
                </a:tc>
                <a:tc>
                  <a:txBody>
                    <a:bodyPr/>
                    <a:lstStyle/>
                    <a:p>
                      <a:pPr algn="ctr">
                        <a:defRPr b="1" sz="1000">
                          <a:solidFill>
                            <a:srgbClr val="006455"/>
                          </a:solidFill>
                          <a:latin typeface="Montserrat"/>
                        </a:defRPr>
                      </a:pPr>
                      <a:r>
                        <a:t>64</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1,449,130</a:t>
            </a:r>
          </a:p>
          <a:p>
            <a:pPr algn="ctr">
              <a:defRPr sz="1000">
                <a:solidFill>
                  <a:srgbClr val="A08250"/>
                </a:solidFill>
                <a:latin typeface="Montserrat"/>
              </a:defRPr>
            </a:pPr>
            <a:r>
              <a:t>Población adscrita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379,440</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1,069,690</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524,103</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133,604</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7,131</a:t>
            </a:r>
          </a:p>
          <a:p>
            <a:pPr algn="ctr">
              <a:defRPr sz="1600">
                <a:solidFill>
                  <a:srgbClr val="CFC48C"/>
                </a:solidFill>
                <a:latin typeface="Montserrat"/>
              </a:defRPr>
            </a:pPr>
            <a:r>
              <a:t>cirugías anuales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a:extLst>
            <a:ext uri="{FF2B5EF4-FFF2-40B4-BE49-F238E27FC236}">
              <a16:creationId xmlns:a16="http://schemas.microsoft.com/office/drawing/2014/main" id="{8B7BFF1B-B63F-1B89-9135-525643179BF1}"/>
            </a:ext>
          </a:extLst>
        </p:cNvPr>
        <p:cNvGrpSpPr/>
        <p:nvPr/>
      </p:nvGrpSpPr>
      <p:grpSpPr>
        <a:xfrm>
          <a:off x="0" y="0"/>
          <a:ext cx="0" cy="0"/>
          <a:chOff x="0" y="0"/>
          <a:chExt cx="0" cy="0"/>
        </a:xfrm>
      </p:grpSpPr>
      <p:sp>
        <p:nvSpPr>
          <p:cNvPr id="2" name="TextBox 1"/>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4" name="TextBox 3"/>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5" name="Connector 4"/>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Sur</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4"/>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5"/>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6"/>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7"/>
          </a:graphicData>
        </a:graphic>
      </p:graphicFrame>
    </p:spTree>
    <p:extLst>
      <p:ext uri="{BB962C8B-B14F-4D97-AF65-F5344CB8AC3E}">
        <p14:creationId xmlns:p14="http://schemas.microsoft.com/office/powerpoint/2010/main" val="1490408621"/>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19050">
            <a:solidFill>
              <a:srgbClr val="BC955C"/>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363600" y="1692000"/>
          <a:ext cx="7200000" cy="1296000"/>
        </p:xfrm>
        <a:graphic>
          <a:graphicData uri="http://schemas.openxmlformats.org/drawingml/2006/table">
            <a:tbl>
              <a:tblPr firstRow="1" bandRow="1">
                <a:tableStyleId>{5C22544A-7EE6-4342-B048-85BDC9FD1C3A}</a:tableStyleId>
              </a:tblPr>
              <a:tblGrid>
                <a:gridCol w="1612800"/>
                <a:gridCol w="1198800"/>
                <a:gridCol w="622800"/>
                <a:gridCol w="824400"/>
                <a:gridCol w="824400"/>
                <a:gridCol w="658800"/>
                <a:gridCol w="1458000"/>
              </a:tblGrid>
              <a:tr h="324000">
                <a:tc>
                  <a:txBody>
                    <a:bodyPr/>
                    <a:lstStyle/>
                    <a:p>
                      <a:pPr algn="ctr">
                        <a:defRPr b="1" sz="900">
                          <a:solidFill>
                            <a:srgbClr val="FFFFFF"/>
                          </a:solidFill>
                          <a:latin typeface="Montserrat"/>
                        </a:defRPr>
                      </a:pPr>
                      <a:r>
                        <a:t>UMAE</a:t>
                      </a:r>
                    </a:p>
                  </a:txBody>
                  <a:tcPr>
                    <a:solidFill>
                      <a:srgbClr val="006455"/>
                    </a:solidFill>
                  </a:tcPr>
                </a:tc>
                <a:tc>
                  <a:txBody>
                    <a:bodyPr/>
                    <a:lstStyle/>
                    <a:p>
                      <a:pPr algn="ctr">
                        <a:defRPr b="1" sz="900">
                          <a:solidFill>
                            <a:srgbClr val="FFFFFF"/>
                          </a:solidFill>
                          <a:latin typeface="Montserrat"/>
                        </a:defRPr>
                      </a:pPr>
                      <a:r>
                        <a:t>Inicio de Productividad</a:t>
                      </a:r>
                    </a:p>
                  </a:txBody>
                  <a:tcPr>
                    <a:solidFill>
                      <a:srgbClr val="006455"/>
                    </a:solidFill>
                  </a:tcPr>
                </a:tc>
                <a:tc>
                  <a:txBody>
                    <a:bodyPr/>
                    <a:lstStyle/>
                    <a:p>
                      <a:pPr algn="ctr">
                        <a:defRPr b="1" sz="900">
                          <a:solidFill>
                            <a:srgbClr val="FFFFFF"/>
                          </a:solidFill>
                          <a:latin typeface="Montserrat"/>
                        </a:defRPr>
                      </a:pPr>
                      <a:r>
                        <a:t>Camas</a:t>
                      </a:r>
                    </a:p>
                  </a:txBody>
                  <a:tcPr>
                    <a:solidFill>
                      <a:srgbClr val="006455"/>
                    </a:solidFill>
                  </a:tcPr>
                </a:tc>
                <a:tc>
                  <a:txBody>
                    <a:bodyPr/>
                    <a:lstStyle/>
                    <a:p>
                      <a:pPr algn="ctr">
                        <a:defRPr b="1" sz="900">
                          <a:solidFill>
                            <a:srgbClr val="FFFFFF"/>
                          </a:solidFill>
                          <a:latin typeface="Montserrat"/>
                        </a:defRPr>
                      </a:pPr>
                      <a:r>
                        <a:t>Camas no censables</a:t>
                      </a:r>
                    </a:p>
                  </a:txBody>
                  <a:tcPr>
                    <a:solidFill>
                      <a:srgbClr val="006455"/>
                    </a:solidFill>
                  </a:tcPr>
                </a:tc>
                <a:tc>
                  <a:txBody>
                    <a:bodyPr/>
                    <a:lstStyle/>
                    <a:p>
                      <a:pPr algn="ctr">
                        <a:defRPr b="1" sz="900">
                          <a:solidFill>
                            <a:srgbClr val="FFFFFF"/>
                          </a:solidFill>
                          <a:latin typeface="Montserrat"/>
                        </a:defRPr>
                      </a:pPr>
                      <a:r>
                        <a:t>Camas de cuidados intensivos</a:t>
                      </a:r>
                    </a:p>
                  </a:txBody>
                  <a:tcPr>
                    <a:solidFill>
                      <a:srgbClr val="006455"/>
                    </a:solidFill>
                  </a:tcPr>
                </a:tc>
                <a:tc>
                  <a:txBody>
                    <a:bodyPr/>
                    <a:lstStyle/>
                    <a:p>
                      <a:pPr algn="ctr">
                        <a:defRPr b="1" sz="900">
                          <a:solidFill>
                            <a:srgbClr val="FFFFFF"/>
                          </a:solidFill>
                          <a:latin typeface="Montserrat"/>
                        </a:defRPr>
                      </a:pPr>
                      <a:r>
                        <a:t>Qx*</a:t>
                      </a:r>
                    </a:p>
                  </a:txBody>
                  <a:tcPr>
                    <a:solidFill>
                      <a:srgbClr val="006455"/>
                    </a:solidFill>
                  </a:tcPr>
                </a:tc>
                <a:tc>
                  <a:txBody>
                    <a:bodyPr/>
                    <a:lstStyle/>
                    <a:p>
                      <a:pPr algn="ctr">
                        <a:defRPr b="1" sz="900">
                          <a:solidFill>
                            <a:srgbClr val="FFFFFF"/>
                          </a:solidFill>
                          <a:latin typeface="Montserrat"/>
                        </a:defRPr>
                      </a:pPr>
                      <a:r>
                        <a:t>Consultorios de especialidades</a:t>
                      </a:r>
                    </a:p>
                  </a:txBody>
                  <a:tcPr>
                    <a:solidFill>
                      <a:srgbClr val="006455"/>
                    </a:solidFill>
                  </a:tcPr>
                </a:tc>
              </a:tr>
              <a:tr h="324000">
                <a:tc>
                  <a:txBody>
                    <a:bodyPr/>
                    <a:lstStyle/>
                    <a:p>
                      <a:pPr algn="ctr">
                        <a:defRPr sz="900">
                          <a:latin typeface="Montserrat"/>
                        </a:defRPr>
                      </a:pPr>
                      <a:r>
                        <a:t>HES 14 Veracruz</a:t>
                      </a:r>
                    </a:p>
                  </a:txBody>
                  <a:tcPr>
                    <a:solidFill>
                      <a:srgbClr val="FFFFFF"/>
                    </a:solidFill>
                  </a:tcPr>
                </a:tc>
                <a:tc>
                  <a:txBody>
                    <a:bodyPr/>
                    <a:lstStyle/>
                    <a:p>
                      <a:pPr algn="ctr">
                        <a:defRPr sz="900">
                          <a:latin typeface="Montserrat"/>
                        </a:defRPr>
                      </a:pPr>
                      <a:r>
                        <a:t>Marzo de 1970</a:t>
                      </a:r>
                    </a:p>
                  </a:txBody>
                  <a:tcPr>
                    <a:solidFill>
                      <a:srgbClr val="FFFFFF"/>
                    </a:solidFill>
                  </a:tcPr>
                </a:tc>
                <a:tc>
                  <a:txBody>
                    <a:bodyPr/>
                    <a:lstStyle/>
                    <a:p>
                      <a:pPr algn="ctr">
                        <a:defRPr sz="900">
                          <a:latin typeface="Montserrat"/>
                        </a:defRPr>
                      </a:pPr>
                      <a:r>
                        <a:t>329</a:t>
                      </a:r>
                    </a:p>
                  </a:txBody>
                  <a:tcPr>
                    <a:solidFill>
                      <a:srgbClr val="FFFFFF"/>
                    </a:solidFill>
                  </a:tcPr>
                </a:tc>
                <a:tc>
                  <a:txBody>
                    <a:bodyPr/>
                    <a:lstStyle/>
                    <a:p>
                      <a:pPr algn="ctr">
                        <a:defRPr sz="900">
                          <a:latin typeface="Montserrat"/>
                        </a:defRPr>
                      </a:pPr>
                      <a:r>
                        <a:t>107</a:t>
                      </a:r>
                    </a:p>
                  </a:txBody>
                  <a:tcPr>
                    <a:solidFill>
                      <a:srgbClr val="FFFFFF"/>
                    </a:solidFill>
                  </a:tcPr>
                </a:tc>
                <a:tc>
                  <a:txBody>
                    <a:bodyPr/>
                    <a:lstStyle/>
                    <a:p>
                      <a:pPr algn="ctr">
                        <a:defRPr sz="900">
                          <a:latin typeface="Montserrat"/>
                        </a:defRPr>
                      </a:pPr>
                      <a:r>
                        <a:t>22</a:t>
                      </a:r>
                    </a:p>
                  </a:txBody>
                  <a:tcPr>
                    <a:solidFill>
                      <a:srgbClr val="FFFFFF"/>
                    </a:solidFill>
                  </a:tcPr>
                </a:tc>
                <a:tc>
                  <a:txBody>
                    <a:bodyPr/>
                    <a:lstStyle/>
                    <a:p>
                      <a:pPr algn="ctr">
                        <a:defRPr sz="900">
                          <a:latin typeface="Montserrat"/>
                        </a:defRPr>
                      </a:pPr>
                      <a:r>
                        <a:t>12</a:t>
                      </a:r>
                    </a:p>
                  </a:txBody>
                  <a:tcPr>
                    <a:solidFill>
                      <a:srgbClr val="FFFFFF"/>
                    </a:solidFill>
                  </a:tcPr>
                </a:tc>
                <a:tc>
                  <a:txBody>
                    <a:bodyPr/>
                    <a:lstStyle/>
                    <a:p>
                      <a:pPr algn="ctr">
                        <a:defRPr sz="900">
                          <a:latin typeface="Montserrat"/>
                        </a:defRPr>
                      </a:pPr>
                      <a:r>
                        <a:t>63</a:t>
                      </a:r>
                    </a:p>
                  </a:txBody>
                  <a:tcPr>
                    <a:solidFill>
                      <a:srgbClr val="FFFFFF"/>
                    </a:solidFill>
                  </a:tcPr>
                </a:tc>
              </a:tr>
              <a:tr h="324000">
                <a:tc>
                  <a:txBody>
                    <a:bodyPr/>
                    <a:lstStyle/>
                    <a:p>
                      <a:pPr algn="ctr">
                        <a:defRPr sz="900" b="1">
                          <a:solidFill>
                            <a:srgbClr val="006556"/>
                          </a:solidFill>
                          <a:latin typeface="Montserrat"/>
                        </a:defRPr>
                      </a:pPr>
                      <a:r>
                        <a:t>Subtotal</a:t>
                      </a:r>
                    </a:p>
                  </a:txBody>
                  <a:tcPr>
                    <a:solidFill>
                      <a:srgbClr val="D3E9E7"/>
                    </a:solidFill>
                  </a:tcPr>
                </a:tc>
                <a:tc>
                  <a:txBody>
                    <a:bodyPr/>
                    <a:lstStyle/>
                    <a:p>
                      <a:pPr algn="ctr">
                        <a:defRPr sz="900" b="1">
                          <a:solidFill>
                            <a:srgbClr val="006556"/>
                          </a:solidFill>
                          <a:latin typeface="Montserrat"/>
                        </a:defRPr>
                      </a:pPr>
                    </a:p>
                  </a:txBody>
                  <a:tcPr>
                    <a:solidFill>
                      <a:srgbClr val="D3E9E7"/>
                    </a:solidFill>
                  </a:tcPr>
                </a:tc>
                <a:tc>
                  <a:txBody>
                    <a:bodyPr/>
                    <a:lstStyle/>
                    <a:p>
                      <a:pPr algn="ctr">
                        <a:defRPr sz="900" b="1">
                          <a:solidFill>
                            <a:srgbClr val="006556"/>
                          </a:solidFill>
                          <a:latin typeface="Montserrat"/>
                        </a:defRPr>
                      </a:pPr>
                      <a:r>
                        <a:t>329</a:t>
                      </a:r>
                    </a:p>
                  </a:txBody>
                  <a:tcPr>
                    <a:solidFill>
                      <a:srgbClr val="D3E9E7"/>
                    </a:solidFill>
                  </a:tcPr>
                </a:tc>
                <a:tc>
                  <a:txBody>
                    <a:bodyPr/>
                    <a:lstStyle/>
                    <a:p>
                      <a:pPr algn="ctr">
                        <a:defRPr sz="900" b="1">
                          <a:solidFill>
                            <a:srgbClr val="006556"/>
                          </a:solidFill>
                          <a:latin typeface="Montserrat"/>
                        </a:defRPr>
                      </a:pPr>
                      <a:r>
                        <a:t>107</a:t>
                      </a:r>
                    </a:p>
                  </a:txBody>
                  <a:tcPr>
                    <a:solidFill>
                      <a:srgbClr val="D3E9E7"/>
                    </a:solidFill>
                  </a:tcPr>
                </a:tc>
                <a:tc>
                  <a:txBody>
                    <a:bodyPr/>
                    <a:lstStyle/>
                    <a:p>
                      <a:pPr algn="ctr">
                        <a:defRPr sz="900" b="1">
                          <a:solidFill>
                            <a:srgbClr val="006556"/>
                          </a:solidFill>
                          <a:latin typeface="Montserrat"/>
                        </a:defRPr>
                      </a:pPr>
                      <a:r>
                        <a:t>22</a:t>
                      </a:r>
                    </a:p>
                  </a:txBody>
                  <a:tcPr>
                    <a:solidFill>
                      <a:srgbClr val="D3E9E7"/>
                    </a:solidFill>
                  </a:tcPr>
                </a:tc>
                <a:tc>
                  <a:txBody>
                    <a:bodyPr/>
                    <a:lstStyle/>
                    <a:p>
                      <a:pPr algn="ctr">
                        <a:defRPr sz="900" b="1">
                          <a:solidFill>
                            <a:srgbClr val="006556"/>
                          </a:solidFill>
                          <a:latin typeface="Montserrat"/>
                        </a:defRPr>
                      </a:pPr>
                      <a:r>
                        <a:t>12</a:t>
                      </a:r>
                    </a:p>
                  </a:txBody>
                  <a:tcPr>
                    <a:solidFill>
                      <a:srgbClr val="D3E9E7"/>
                    </a:solidFill>
                  </a:tcPr>
                </a:tc>
                <a:tc>
                  <a:txBody>
                    <a:bodyPr/>
                    <a:lstStyle/>
                    <a:p>
                      <a:pPr algn="ctr">
                        <a:defRPr sz="900" b="1">
                          <a:solidFill>
                            <a:srgbClr val="006556"/>
                          </a:solidFill>
                          <a:latin typeface="Montserrat"/>
                        </a:defRPr>
                      </a:pPr>
                      <a:r>
                        <a:t>63</a:t>
                      </a:r>
                    </a:p>
                  </a:txBody>
                  <a:tcPr>
                    <a:solidFill>
                      <a:srgbClr val="D3E9E7"/>
                    </a:solidFill>
                  </a:tcPr>
                </a:tc>
              </a:tr>
              <a:tr h="324000">
                <a:tc>
                  <a:txBody>
                    <a:bodyPr/>
                    <a:lstStyle/>
                    <a:p>
                      <a:pPr algn="ctr">
                        <a:defRPr sz="900" b="1">
                          <a:solidFill>
                            <a:srgbClr val="006556"/>
                          </a:solidFill>
                          <a:latin typeface="Montserrat"/>
                        </a:defRPr>
                      </a:pPr>
                      <a:r>
                        <a:t>Total</a:t>
                      </a:r>
                    </a:p>
                  </a:txBody>
                  <a:tcPr>
                    <a:solidFill>
                      <a:srgbClr val="D3E9E7"/>
                    </a:solidFill>
                  </a:tcPr>
                </a:tc>
                <a:tc>
                  <a:txBody>
                    <a:bodyPr/>
                    <a:lstStyle/>
                    <a:p>
                      <a:pPr algn="ctr">
                        <a:defRPr sz="900" b="1">
                          <a:solidFill>
                            <a:srgbClr val="006556"/>
                          </a:solidFill>
                          <a:latin typeface="Montserrat"/>
                        </a:defRPr>
                      </a:pPr>
                    </a:p>
                  </a:txBody>
                  <a:tcPr>
                    <a:solidFill>
                      <a:srgbClr val="D3E9E7"/>
                    </a:solidFill>
                  </a:tcPr>
                </a:tc>
                <a:tc>
                  <a:txBody>
                    <a:bodyPr/>
                    <a:lstStyle/>
                    <a:p>
                      <a:pPr algn="ctr">
                        <a:defRPr sz="900" b="1">
                          <a:solidFill>
                            <a:srgbClr val="006556"/>
                          </a:solidFill>
                          <a:latin typeface="Montserrat"/>
                        </a:defRPr>
                      </a:pPr>
                      <a:r>
                        <a:t>1,858</a:t>
                      </a:r>
                    </a:p>
                  </a:txBody>
                  <a:tcPr>
                    <a:solidFill>
                      <a:srgbClr val="D3E9E7"/>
                    </a:solidFill>
                  </a:tcPr>
                </a:tc>
                <a:tc>
                  <a:txBody>
                    <a:bodyPr/>
                    <a:lstStyle/>
                    <a:p>
                      <a:pPr algn="ctr">
                        <a:defRPr sz="900" b="1">
                          <a:solidFill>
                            <a:srgbClr val="006556"/>
                          </a:solidFill>
                          <a:latin typeface="Montserrat"/>
                        </a:defRPr>
                      </a:pPr>
                      <a:r>
                        <a:t>783</a:t>
                      </a:r>
                    </a:p>
                  </a:txBody>
                  <a:tcPr>
                    <a:solidFill>
                      <a:srgbClr val="D3E9E7"/>
                    </a:solidFill>
                  </a:tcPr>
                </a:tc>
                <a:tc>
                  <a:txBody>
                    <a:bodyPr/>
                    <a:lstStyle/>
                    <a:p>
                      <a:pPr algn="ctr">
                        <a:defRPr sz="900" b="1">
                          <a:solidFill>
                            <a:srgbClr val="006556"/>
                          </a:solidFill>
                          <a:latin typeface="Montserrat"/>
                        </a:defRPr>
                      </a:pPr>
                      <a:r>
                        <a:t>64</a:t>
                      </a:r>
                    </a:p>
                  </a:txBody>
                  <a:tcPr>
                    <a:solidFill>
                      <a:srgbClr val="D3E9E7"/>
                    </a:solidFill>
                  </a:tcPr>
                </a:tc>
                <a:tc>
                  <a:txBody>
                    <a:bodyPr/>
                    <a:lstStyle/>
                    <a:p>
                      <a:pPr algn="ctr">
                        <a:defRPr sz="900" b="1">
                          <a:solidFill>
                            <a:srgbClr val="006556"/>
                          </a:solidFill>
                          <a:latin typeface="Montserrat"/>
                        </a:defRPr>
                      </a:pPr>
                      <a:r>
                        <a:t>51</a:t>
                      </a:r>
                    </a:p>
                  </a:txBody>
                  <a:tcPr>
                    <a:solidFill>
                      <a:srgbClr val="D3E9E7"/>
                    </a:solidFill>
                  </a:tcPr>
                </a:tc>
                <a:tc>
                  <a:txBody>
                    <a:bodyPr/>
                    <a:lstStyle/>
                    <a:p>
                      <a:pPr algn="ctr">
                        <a:defRPr sz="900" b="1">
                          <a:solidFill>
                            <a:srgbClr val="006556"/>
                          </a:solidFill>
                          <a:latin typeface="Montserrat"/>
                        </a:defRPr>
                      </a:pPr>
                      <a:r>
                        <a:t>303</a:t>
                      </a:r>
                    </a:p>
                  </a:txBody>
                  <a:tcPr>
                    <a:solidFill>
                      <a:srgbClr val="D3E9E7"/>
                    </a:solidFill>
                  </a:tcPr>
                </a:tc>
              </a:tr>
            </a:tbl>
          </a:graphicData>
        </a:graphic>
      </p:graphicFrame>
      <p:sp>
        <p:nvSpPr>
          <p:cNvPr id="6" name="TextBox 5"/>
          <p:cNvSpPr txBox="1"/>
          <p:nvPr/>
        </p:nvSpPr>
        <p:spPr>
          <a:xfrm>
            <a:off x="370800" y="9302400"/>
            <a:ext cx="3600000" cy="288000"/>
          </a:xfrm>
          <a:prstGeom prst="rect">
            <a:avLst/>
          </a:prstGeom>
          <a:noFill/>
        </p:spPr>
        <p:txBody>
          <a:bodyPr wrap="square" tIns="0" bIns="0" lIns="0" rIns="0">
            <a:spAutoFit/>
          </a:bodyPr>
          <a:lstStyle/>
          <a:p>
            <a:pPr algn="l">
              <a:defRPr sz="800">
                <a:solidFill>
                  <a:srgbClr val="000000"/>
                </a:solidFill>
                <a:latin typeface="Noto Sans"/>
              </a:defRPr>
            </a:pPr>
            <a:r>
              <a:t>Corte de Información: enero de 2026</a:t>
            </a:r>
          </a:p>
        </p:txBody>
      </p:sp>
      <p:sp>
        <p:nvSpPr>
          <p:cNvPr id="7" name="TextBox 6"/>
          <p:cNvSpPr txBox="1"/>
          <p:nvPr/>
        </p:nvSpPr>
        <p:spPr>
          <a:xfrm>
            <a:off x="370800" y="9522000"/>
            <a:ext cx="3600000" cy="288000"/>
          </a:xfrm>
          <a:prstGeom prst="rect">
            <a:avLst/>
          </a:prstGeom>
          <a:noFill/>
        </p:spPr>
        <p:txBody>
          <a:bodyPr wrap="square" tIns="0" bIns="0" lIns="0" rIns="0">
            <a:spAutoFit/>
          </a:bodyPr>
          <a:lstStyle/>
          <a:p>
            <a:pPr algn="l">
              <a:defRPr sz="800">
                <a:solidFill>
                  <a:srgbClr val="FFFFFF"/>
                </a:solidFill>
                <a:latin typeface="Montserrat"/>
              </a:defRPr>
            </a:pPr>
            <a:r>
              <a:t>* No se consideran salas de tococirugía, expulsión y recuperación.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6304" y="1024128"/>
            <a:ext cx="7470648" cy="0"/>
          </a:xfrm>
          <a:prstGeom prst="line">
            <a:avLst/>
          </a:prstGeom>
          <a:ln w="19050">
            <a:solidFill>
              <a:srgbClr val="BC955C"/>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280800" y="1692000"/>
          <a:ext cx="7286400" cy="921600"/>
        </p:xfrm>
        <a:graphic>
          <a:graphicData uri="http://schemas.openxmlformats.org/drawingml/2006/table">
            <a:tbl>
              <a:tblPr firstRow="1" bandRow="1">
                <a:tableStyleId>{5C22544A-7EE6-4342-B048-85BDC9FD1C3A}</a:tableStyleId>
              </a:tblPr>
              <a:tblGrid>
                <a:gridCol w="1483200"/>
                <a:gridCol w="1018800"/>
                <a:gridCol w="997200"/>
                <a:gridCol w="939600"/>
                <a:gridCol w="640800"/>
                <a:gridCol w="1072800"/>
                <a:gridCol w="1134000"/>
              </a:tblGrid>
              <a:tr h="230400">
                <a:tc>
                  <a:txBody>
                    <a:bodyPr/>
                    <a:lstStyle/>
                    <a:p>
                      <a:pPr algn="ctr">
                        <a:defRPr b="1" sz="900">
                          <a:solidFill>
                            <a:srgbClr val="FFFFFF"/>
                          </a:solidFill>
                          <a:latin typeface="Montserrat"/>
                        </a:defRPr>
                      </a:pPr>
                      <a:r>
                        <a:t>UMAE</a:t>
                      </a:r>
                    </a:p>
                  </a:txBody>
                  <a:tcPr>
                    <a:solidFill>
                      <a:srgbClr val="006455"/>
                    </a:solidFill>
                  </a:tcPr>
                </a:tc>
                <a:tc>
                  <a:txBody>
                    <a:bodyPr/>
                    <a:lstStyle/>
                    <a:p>
                      <a:pPr algn="ctr">
                        <a:defRPr b="1" sz="900">
                          <a:solidFill>
                            <a:srgbClr val="FFFFFF"/>
                          </a:solidFill>
                          <a:latin typeface="Montserrat"/>
                        </a:defRPr>
                      </a:pPr>
                      <a:r>
                        <a:t>Aparatos de Tomografía</a:t>
                      </a:r>
                    </a:p>
                  </a:txBody>
                  <a:tcPr>
                    <a:solidFill>
                      <a:srgbClr val="006455"/>
                    </a:solidFill>
                  </a:tcPr>
                </a:tc>
                <a:tc>
                  <a:txBody>
                    <a:bodyPr/>
                    <a:lstStyle/>
                    <a:p>
                      <a:pPr algn="ctr">
                        <a:defRPr b="1" sz="900">
                          <a:solidFill>
                            <a:srgbClr val="FFFFFF"/>
                          </a:solidFill>
                          <a:latin typeface="Montserrat"/>
                        </a:defRPr>
                      </a:pPr>
                      <a:r>
                        <a:t>Equipos de Resonancia Magnética</a:t>
                      </a:r>
                    </a:p>
                  </a:txBody>
                  <a:tcPr>
                    <a:solidFill>
                      <a:srgbClr val="006455"/>
                    </a:solidFill>
                  </a:tcPr>
                </a:tc>
                <a:tc>
                  <a:txBody>
                    <a:bodyPr/>
                    <a:lstStyle/>
                    <a:p>
                      <a:pPr algn="ctr">
                        <a:defRPr b="1" sz="900">
                          <a:solidFill>
                            <a:srgbClr val="FFFFFF"/>
                          </a:solidFill>
                          <a:latin typeface="Montserrat"/>
                        </a:defRPr>
                      </a:pPr>
                      <a:r>
                        <a:t>Mastógrafo</a:t>
                      </a:r>
                    </a:p>
                  </a:txBody>
                  <a:tcPr>
                    <a:solidFill>
                      <a:srgbClr val="006455"/>
                    </a:solidFill>
                  </a:tcPr>
                </a:tc>
                <a:tc>
                  <a:txBody>
                    <a:bodyPr/>
                    <a:lstStyle/>
                    <a:p>
                      <a:pPr algn="ctr">
                        <a:defRPr b="1" sz="900">
                          <a:solidFill>
                            <a:srgbClr val="FFFFFF"/>
                          </a:solidFill>
                          <a:latin typeface="Montserrat"/>
                        </a:defRPr>
                      </a:pPr>
                      <a:r>
                        <a:t>Arcos en C</a:t>
                      </a:r>
                    </a:p>
                  </a:txBody>
                  <a:tcPr>
                    <a:solidFill>
                      <a:srgbClr val="006455"/>
                    </a:solidFill>
                  </a:tcPr>
                </a:tc>
                <a:tc>
                  <a:txBody>
                    <a:bodyPr/>
                    <a:lstStyle/>
                    <a:p>
                      <a:pPr algn="ctr">
                        <a:defRPr b="1" sz="900">
                          <a:solidFill>
                            <a:srgbClr val="FFFFFF"/>
                          </a:solidFill>
                          <a:latin typeface="Montserrat"/>
                        </a:defRPr>
                      </a:pPr>
                      <a:r>
                        <a:t>Máquinas de Hemodiálisis</a:t>
                      </a:r>
                    </a:p>
                  </a:txBody>
                  <a:tcPr>
                    <a:solidFill>
                      <a:srgbClr val="006455"/>
                    </a:solidFill>
                  </a:tcPr>
                </a:tc>
                <a:tc>
                  <a:txBody>
                    <a:bodyPr/>
                    <a:lstStyle/>
                    <a:p>
                      <a:pPr algn="ctr">
                        <a:defRPr b="1" sz="900">
                          <a:solidFill>
                            <a:srgbClr val="FFFFFF"/>
                          </a:solidFill>
                          <a:latin typeface="Montserrat"/>
                        </a:defRPr>
                      </a:pPr>
                      <a:r>
                        <a:t>Sala de Hemodinamia</a:t>
                      </a:r>
                    </a:p>
                  </a:txBody>
                  <a:tcPr>
                    <a:solidFill>
                      <a:srgbClr val="006455"/>
                    </a:solidFill>
                  </a:tcPr>
                </a:tc>
              </a:tr>
              <a:tr h="230400">
                <a:tc>
                  <a:txBody>
                    <a:bodyPr/>
                    <a:lstStyle/>
                    <a:p>
                      <a:pPr algn="ctr">
                        <a:defRPr sz="1000">
                          <a:latin typeface="Montserrat"/>
                        </a:defRPr>
                      </a:pPr>
                      <a:r>
                        <a:t>HES 14 Veracruz</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13</a:t>
                      </a:r>
                    </a:p>
                  </a:txBody>
                  <a:tcPr>
                    <a:solidFill>
                      <a:srgbClr val="FFFFFF"/>
                    </a:solidFill>
                  </a:tcPr>
                </a:tc>
                <a:tc>
                  <a:txBody>
                    <a:bodyPr/>
                    <a:lstStyle/>
                    <a:p>
                      <a:pPr algn="ctr">
                        <a:defRPr sz="1000">
                          <a:latin typeface="Montserrat"/>
                        </a:defRPr>
                      </a:pPr>
                      <a:r>
                        <a:t>2</a:t>
                      </a:r>
                    </a:p>
                  </a:txBody>
                  <a:tcPr>
                    <a:solidFill>
                      <a:srgbClr val="E6D194"/>
                    </a:solidFill>
                  </a:tcPr>
                </a:tc>
              </a:tr>
              <a:tr h="230400">
                <a:tc>
                  <a:txBody>
                    <a:bodyPr/>
                    <a:lstStyle/>
                    <a:p>
                      <a:pPr algn="ctr">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13</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r h="230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13</a:t>
                      </a:r>
                    </a:p>
                  </a:txBody>
                  <a:tcPr>
                    <a:solidFill>
                      <a:srgbClr val="D3E9E7"/>
                    </a:solidFill>
                  </a:tcPr>
                </a:tc>
                <a:tc>
                  <a:txBody>
                    <a:bodyPr/>
                    <a:lstStyle/>
                    <a:p>
                      <a:pPr algn="ctr">
                        <a:defRPr sz="1000" b="1">
                          <a:solidFill>
                            <a:srgbClr val="006556"/>
                          </a:solidFill>
                          <a:latin typeface="Montserrat"/>
                        </a:defRPr>
                      </a:pPr>
                      <a:r>
                        <a:t>75</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2800" y="8949600"/>
            <a:ext cx="5320800" cy="3708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a:t>
            </a:r>
            <a:br/>
            <a:r>
              <a:t>Fuente: Cédula de actualización de variables seleccionadas del IFU, enviadas por el OOAD.</a:t>
            </a:r>
            <a:br/>
            <a:r>
              <a:t>Corte de información: enero de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6" name="TextBox 5"/>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88 Unidades Médicas de lunes a viernes</a:t>
            </a:r>
          </a:p>
        </p:txBody>
      </p:sp>
      <p:graphicFrame>
        <p:nvGraphicFramePr>
          <p:cNvPr id="7" name="Table 6"/>
          <p:cNvGraphicFramePr>
            <a:graphicFrameLocks noGrp="1"/>
          </p:cNvGraphicFramePr>
          <p:nvPr/>
        </p:nvGraphicFramePr>
        <p:xfrm>
          <a:off x="151200" y="1378800"/>
          <a:ext cx="7290000" cy="6652800"/>
        </p:xfrm>
        <a:graphic>
          <a:graphicData uri="http://schemas.openxmlformats.org/drawingml/2006/table">
            <a:tbl>
              <a:tblPr firstRow="1" bandRow="1">
                <a:tableStyleId>{5C22544A-7EE6-4342-B048-85BDC9FD1C3A}</a:tableStyleId>
              </a:tblPr>
              <a:tblGrid>
                <a:gridCol w="2653200"/>
                <a:gridCol w="1584000"/>
                <a:gridCol w="1522800"/>
                <a:gridCol w="1530000"/>
              </a:tblGrid>
              <a:tr h="151200">
                <a:tc>
                  <a:txBody>
                    <a:bodyPr/>
                    <a:lstStyle/>
                    <a:p>
                      <a:pPr algn="ctr">
                        <a:defRPr b="1" sz="1000">
                          <a:solidFill>
                            <a:srgbClr val="FFFFFF"/>
                          </a:solidFill>
                          <a:latin typeface="Montserrat"/>
                        </a:defRPr>
                      </a:pPr>
                      <a:r>
                        <a:t>Unidad Médica</a:t>
                      </a:r>
                    </a:p>
                  </a:txBody>
                  <a:tcPr>
                    <a:solidFill>
                      <a:srgbClr val="006455"/>
                    </a:solidFill>
                  </a:tcPr>
                </a:tc>
                <a:tc>
                  <a:txBody>
                    <a:bodyPr/>
                    <a:lstStyle/>
                    <a:p>
                      <a:pPr algn="ctr">
                        <a:defRPr b="1" sz="1000">
                          <a:solidFill>
                            <a:srgbClr val="FFFFFF"/>
                          </a:solidFill>
                          <a:latin typeface="Montserrat"/>
                        </a:defRPr>
                      </a:pPr>
                      <a:r>
                        <a:t>Antigüedad</a:t>
                      </a:r>
                    </a:p>
                  </a:txBody>
                  <a:tcPr>
                    <a:solidFill>
                      <a:srgbClr val="006455"/>
                    </a:solidFill>
                  </a:tcPr>
                </a:tc>
                <a:tc>
                  <a:txBody>
                    <a:bodyPr/>
                    <a:lstStyle/>
                    <a:p>
                      <a:pPr algn="ctr">
                        <a:defRPr b="1" sz="1000">
                          <a:solidFill>
                            <a:srgbClr val="FFFFFF"/>
                          </a:solidFill>
                          <a:latin typeface="Montserrat"/>
                        </a:defRPr>
                      </a:pPr>
                      <a:r>
                        <a:t>Consultorios de Medicina Familiar</a:t>
                      </a:r>
                    </a:p>
                  </a:txBody>
                  <a:tcPr>
                    <a:solidFill>
                      <a:srgbClr val="006455"/>
                    </a:solidFill>
                  </a:tcPr>
                </a:tc>
                <a:tc>
                  <a:txBody>
                    <a:bodyPr/>
                    <a:lstStyle/>
                    <a:p>
                      <a:pPr algn="ctr">
                        <a:defRPr b="1" sz="1000">
                          <a:solidFill>
                            <a:srgbClr val="FFFFFF"/>
                          </a:solidFill>
                          <a:latin typeface="Montserrat"/>
                        </a:defRPr>
                      </a:pPr>
                      <a:r>
                        <a:t>Productividad a febrero</a:t>
                      </a:r>
                    </a:p>
                  </a:txBody>
                  <a:tcPr>
                    <a:solidFill>
                      <a:srgbClr val="006455"/>
                    </a:solidFill>
                  </a:tcPr>
                </a:tc>
              </a:tr>
              <a:tr h="151200">
                <a:tc>
                  <a:txBody>
                    <a:bodyPr/>
                    <a:lstStyle/>
                    <a:p>
                      <a:pPr algn="ctr">
                        <a:defRPr sz="1000">
                          <a:latin typeface="Montserrat"/>
                        </a:defRPr>
                      </a:pPr>
                      <a:r>
                        <a:t>UMF 43 Altotonga</a:t>
                      </a:r>
                    </a:p>
                  </a:txBody>
                  <a:tcPr marL="0" marR="0" marT="0" marB="0">
                    <a:solidFill>
                      <a:srgbClr val="FFFFFF"/>
                    </a:solidFill>
                  </a:tcPr>
                </a:tc>
                <a:tc>
                  <a:txBody>
                    <a:bodyPr/>
                    <a:lstStyle/>
                    <a:p>
                      <a:pPr algn="ctr">
                        <a:defRPr sz="1000">
                          <a:latin typeface="Montserrat"/>
                        </a:defRPr>
                      </a:pPr>
                      <a:r>
                        <a:t>45</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1,257</a:t>
                      </a:r>
                    </a:p>
                  </a:txBody>
                  <a:tcPr marL="0" marR="0" marT="0" marB="0">
                    <a:solidFill>
                      <a:srgbClr val="FFFFFF"/>
                    </a:solidFill>
                  </a:tcPr>
                </a:tc>
              </a:tr>
              <a:tr h="151200">
                <a:tc>
                  <a:txBody>
                    <a:bodyPr/>
                    <a:lstStyle/>
                    <a:p>
                      <a:pPr algn="ctr">
                        <a:defRPr sz="1000">
                          <a:latin typeface="Montserrat"/>
                        </a:defRPr>
                      </a:pPr>
                      <a:r>
                        <a:t>UMF 42 Paraiso Nuevo</a:t>
                      </a:r>
                    </a:p>
                  </a:txBody>
                  <a:tcPr marL="0" marR="0" marT="0" marB="0">
                    <a:solidFill>
                      <a:srgbClr val="EFEFEF"/>
                    </a:solidFill>
                  </a:tcPr>
                </a:tc>
                <a:tc>
                  <a:txBody>
                    <a:bodyPr/>
                    <a:lstStyle/>
                    <a:p>
                      <a:pPr algn="ctr">
                        <a:defRPr sz="1000">
                          <a:latin typeface="Montserrat"/>
                        </a:defRPr>
                      </a:pPr>
                      <a:r>
                        <a:t>37</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682</a:t>
                      </a:r>
                    </a:p>
                  </a:txBody>
                  <a:tcPr marL="0" marR="0" marT="0" marB="0">
                    <a:solidFill>
                      <a:srgbClr val="EFEFEF"/>
                    </a:solidFill>
                  </a:tcPr>
                </a:tc>
              </a:tr>
              <a:tr h="151200">
                <a:tc>
                  <a:txBody>
                    <a:bodyPr/>
                    <a:lstStyle/>
                    <a:p>
                      <a:pPr algn="ctr">
                        <a:defRPr sz="1000">
                          <a:latin typeface="Montserrat"/>
                        </a:defRPr>
                      </a:pPr>
                      <a:r>
                        <a:t>UMF 41 Otatitlán</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803</a:t>
                      </a:r>
                    </a:p>
                  </a:txBody>
                  <a:tcPr marL="0" marR="0" marT="0" marB="0">
                    <a:solidFill>
                      <a:srgbClr val="FFFFFF"/>
                    </a:solidFill>
                  </a:tcPr>
                </a:tc>
              </a:tr>
              <a:tr h="151200">
                <a:tc>
                  <a:txBody>
                    <a:bodyPr/>
                    <a:lstStyle/>
                    <a:p>
                      <a:pPr algn="ctr">
                        <a:defRPr sz="1000">
                          <a:latin typeface="Montserrat"/>
                        </a:defRPr>
                      </a:pPr>
                      <a:r>
                        <a:t>UMF 40 Nopaltepec</a:t>
                      </a:r>
                    </a:p>
                  </a:txBody>
                  <a:tcPr marL="0" marR="0" marT="0" marB="0">
                    <a:solidFill>
                      <a:srgbClr val="EFEFEF"/>
                    </a:solidFill>
                  </a:tcPr>
                </a:tc>
                <a:tc>
                  <a:txBody>
                    <a:bodyPr/>
                    <a:lstStyle/>
                    <a:p>
                      <a:pPr algn="ctr">
                        <a:defRPr sz="1000">
                          <a:latin typeface="Montserrat"/>
                        </a:defRPr>
                      </a:pPr>
                      <a:r>
                        <a:t>62</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756</a:t>
                      </a:r>
                    </a:p>
                  </a:txBody>
                  <a:tcPr marL="0" marR="0" marT="0" marB="0">
                    <a:solidFill>
                      <a:srgbClr val="EFEFEF"/>
                    </a:solidFill>
                  </a:tcPr>
                </a:tc>
              </a:tr>
              <a:tr h="151200">
                <a:tc>
                  <a:txBody>
                    <a:bodyPr/>
                    <a:lstStyle/>
                    <a:p>
                      <a:pPr algn="ctr">
                        <a:defRPr sz="1000">
                          <a:latin typeface="Montserrat"/>
                        </a:defRPr>
                      </a:pPr>
                      <a:r>
                        <a:t>UMF 4 Cd. Mendoza</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4</a:t>
                      </a:r>
                    </a:p>
                  </a:txBody>
                  <a:tcPr marL="0" marR="0" marT="0" marB="0">
                    <a:solidFill>
                      <a:srgbClr val="FFFFFF"/>
                    </a:solidFill>
                  </a:tcPr>
                </a:tc>
                <a:tc>
                  <a:txBody>
                    <a:bodyPr/>
                    <a:lstStyle/>
                    <a:p>
                      <a:pPr algn="ctr">
                        <a:defRPr sz="1000">
                          <a:latin typeface="Montserrat"/>
                        </a:defRPr>
                      </a:pPr>
                      <a:r>
                        <a:t>5,411</a:t>
                      </a:r>
                    </a:p>
                  </a:txBody>
                  <a:tcPr marL="0" marR="0" marT="0" marB="0">
                    <a:solidFill>
                      <a:srgbClr val="FFFFFF"/>
                    </a:solidFill>
                  </a:tcPr>
                </a:tc>
              </a:tr>
              <a:tr h="151200">
                <a:tc>
                  <a:txBody>
                    <a:bodyPr/>
                    <a:lstStyle/>
                    <a:p>
                      <a:pPr algn="ctr">
                        <a:defRPr sz="1000">
                          <a:latin typeface="Montserrat"/>
                        </a:defRPr>
                      </a:pPr>
                      <a:r>
                        <a:t>UMF 39 Paso Ovejas</a:t>
                      </a:r>
                    </a:p>
                  </a:txBody>
                  <a:tcPr marL="0" marR="0" marT="0" marB="0">
                    <a:solidFill>
                      <a:srgbClr val="EFEFEF"/>
                    </a:solidFill>
                  </a:tcPr>
                </a:tc>
                <a:tc>
                  <a:txBody>
                    <a:bodyPr/>
                    <a:lstStyle/>
                    <a:p>
                      <a:pPr algn="ctr">
                        <a:defRPr sz="1000">
                          <a:latin typeface="Montserrat"/>
                        </a:defRPr>
                      </a:pPr>
                      <a:r>
                        <a:t>45</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2,090</a:t>
                      </a:r>
                    </a:p>
                  </a:txBody>
                  <a:tcPr marL="0" marR="0" marT="0" marB="0">
                    <a:solidFill>
                      <a:srgbClr val="EFEFEF"/>
                    </a:solidFill>
                  </a:tcPr>
                </a:tc>
              </a:tr>
              <a:tr h="151200">
                <a:tc>
                  <a:txBody>
                    <a:bodyPr/>
                    <a:lstStyle/>
                    <a:p>
                      <a:pPr algn="ctr">
                        <a:defRPr sz="1000">
                          <a:latin typeface="Montserrat"/>
                        </a:defRPr>
                      </a:pPr>
                      <a:r>
                        <a:t>UMF 39 Chacaltianguis</a:t>
                      </a:r>
                    </a:p>
                  </a:txBody>
                  <a:tcPr marL="0" marR="0" marT="0" marB="0">
                    <a:solidFill>
                      <a:srgbClr val="FFFFFF"/>
                    </a:solidFill>
                  </a:tcPr>
                </a:tc>
                <a:tc>
                  <a:txBody>
                    <a:bodyPr/>
                    <a:lstStyle/>
                    <a:p>
                      <a:pPr algn="ctr">
                        <a:defRPr sz="1000">
                          <a:latin typeface="Montserrat"/>
                        </a:defRPr>
                      </a:pPr>
                      <a:r>
                        <a:t>62</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980</a:t>
                      </a:r>
                    </a:p>
                  </a:txBody>
                  <a:tcPr marL="0" marR="0" marT="0" marB="0">
                    <a:solidFill>
                      <a:srgbClr val="FFFFFF"/>
                    </a:solidFill>
                  </a:tcPr>
                </a:tc>
              </a:tr>
              <a:tr h="151200">
                <a:tc>
                  <a:txBody>
                    <a:bodyPr/>
                    <a:lstStyle/>
                    <a:p>
                      <a:pPr algn="ctr">
                        <a:defRPr sz="1000">
                          <a:latin typeface="Montserrat"/>
                        </a:defRPr>
                      </a:pPr>
                      <a:r>
                        <a:t>UMF 38 Tenejapan</a:t>
                      </a:r>
                    </a:p>
                  </a:txBody>
                  <a:tcPr marL="0" marR="0" marT="0" marB="0">
                    <a:solidFill>
                      <a:srgbClr val="EFEFEF"/>
                    </a:solidFill>
                  </a:tcPr>
                </a:tc>
                <a:tc>
                  <a:txBody>
                    <a:bodyPr/>
                    <a:lstStyle/>
                    <a:p>
                      <a:pPr algn="ctr">
                        <a:defRPr sz="1000">
                          <a:latin typeface="Montserrat"/>
                        </a:defRPr>
                      </a:pPr>
                      <a:r>
                        <a:t>37</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363</a:t>
                      </a:r>
                    </a:p>
                  </a:txBody>
                  <a:tcPr marL="0" marR="0" marT="0" marB="0">
                    <a:solidFill>
                      <a:srgbClr val="EFEFEF"/>
                    </a:solidFill>
                  </a:tcPr>
                </a:tc>
              </a:tr>
              <a:tr h="151200">
                <a:tc>
                  <a:txBody>
                    <a:bodyPr/>
                    <a:lstStyle/>
                    <a:p>
                      <a:pPr algn="ctr">
                        <a:defRPr sz="1000">
                          <a:latin typeface="Montserrat"/>
                        </a:defRPr>
                      </a:pPr>
                      <a:r>
                        <a:t>UMF 38 I. Gloria</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1,590</a:t>
                      </a:r>
                    </a:p>
                  </a:txBody>
                  <a:tcPr marL="0" marR="0" marT="0" marB="0">
                    <a:solidFill>
                      <a:srgbClr val="FFFFFF"/>
                    </a:solidFill>
                  </a:tcPr>
                </a:tc>
              </a:tr>
              <a:tr h="151200">
                <a:tc>
                  <a:txBody>
                    <a:bodyPr/>
                    <a:lstStyle/>
                    <a:p>
                      <a:pPr algn="ctr">
                        <a:defRPr sz="1000">
                          <a:latin typeface="Montserrat"/>
                        </a:defRPr>
                      </a:pPr>
                      <a:r>
                        <a:t>UMF 37 Rinconada</a:t>
                      </a:r>
                    </a:p>
                  </a:txBody>
                  <a:tcPr marL="0" marR="0" marT="0" marB="0">
                    <a:solidFill>
                      <a:srgbClr val="EFEFEF"/>
                    </a:solidFill>
                  </a:tcPr>
                </a:tc>
                <a:tc>
                  <a:txBody>
                    <a:bodyPr/>
                    <a:lstStyle/>
                    <a:p>
                      <a:pPr algn="ctr">
                        <a:defRPr sz="1000">
                          <a:latin typeface="Montserrat"/>
                        </a:defRPr>
                      </a:pPr>
                      <a:r>
                        <a:t>45</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1,449</a:t>
                      </a:r>
                    </a:p>
                  </a:txBody>
                  <a:tcPr marL="0" marR="0" marT="0" marB="0">
                    <a:solidFill>
                      <a:srgbClr val="EFEFEF"/>
                    </a:solidFill>
                  </a:tcPr>
                </a:tc>
              </a:tr>
              <a:tr h="151200">
                <a:tc>
                  <a:txBody>
                    <a:bodyPr/>
                    <a:lstStyle/>
                    <a:p>
                      <a:pPr algn="ctr">
                        <a:defRPr sz="1000">
                          <a:latin typeface="Montserrat"/>
                        </a:defRPr>
                      </a:pPr>
                      <a:r>
                        <a:t>UMF 37 Ciudad Cuauhtémoc</a:t>
                      </a:r>
                    </a:p>
                  </a:txBody>
                  <a:tcPr marL="0" marR="0" marT="0" marB="0">
                    <a:solidFill>
                      <a:srgbClr val="FFFFFF"/>
                    </a:solidFill>
                  </a:tcPr>
                </a:tc>
                <a:tc>
                  <a:txBody>
                    <a:bodyPr/>
                    <a:lstStyle/>
                    <a:p>
                      <a:pPr algn="ctr">
                        <a:defRPr sz="1000">
                          <a:latin typeface="Montserrat"/>
                        </a:defRPr>
                      </a:pPr>
                      <a:r>
                        <a:t>36</a:t>
                      </a:r>
                    </a:p>
                  </a:txBody>
                  <a:tcPr marL="0" marR="0" marT="0" marB="0">
                    <a:solidFill>
                      <a:srgbClr val="FFFFFF"/>
                    </a:solidFill>
                  </a:tcPr>
                </a:tc>
                <a:tc>
                  <a:txBody>
                    <a:bodyPr/>
                    <a:lstStyle/>
                    <a:p>
                      <a:pPr algn="ctr">
                        <a:defRPr sz="1000">
                          <a:latin typeface="Montserrat"/>
                        </a:defRPr>
                      </a:pPr>
                      <a:r>
                        <a:t>3</a:t>
                      </a:r>
                    </a:p>
                  </a:txBody>
                  <a:tcPr marL="0" marR="0" marT="0" marB="0">
                    <a:solidFill>
                      <a:srgbClr val="FFFFFF"/>
                    </a:solidFill>
                  </a:tcPr>
                </a:tc>
                <a:tc>
                  <a:txBody>
                    <a:bodyPr/>
                    <a:lstStyle/>
                    <a:p>
                      <a:pPr algn="ctr">
                        <a:defRPr sz="1000">
                          <a:latin typeface="Montserrat"/>
                        </a:defRPr>
                      </a:pPr>
                      <a:r>
                        <a:t>2,198</a:t>
                      </a:r>
                    </a:p>
                  </a:txBody>
                  <a:tcPr marL="0" marR="0" marT="0" marB="0">
                    <a:solidFill>
                      <a:srgbClr val="FFFFFF"/>
                    </a:solidFill>
                  </a:tcPr>
                </a:tc>
              </a:tr>
              <a:tr h="151200">
                <a:tc>
                  <a:txBody>
                    <a:bodyPr/>
                    <a:lstStyle/>
                    <a:p>
                      <a:pPr algn="ctr">
                        <a:defRPr sz="1000">
                          <a:latin typeface="Montserrat"/>
                        </a:defRPr>
                      </a:pPr>
                      <a:r>
                        <a:t>UMF 35 Santiago Tuxtla</a:t>
                      </a:r>
                    </a:p>
                  </a:txBody>
                  <a:tcPr marL="0" marR="0" marT="0" marB="0">
                    <a:solidFill>
                      <a:srgbClr val="EFEFEF"/>
                    </a:solidFill>
                  </a:tcPr>
                </a:tc>
                <a:tc>
                  <a:txBody>
                    <a:bodyPr/>
                    <a:lstStyle/>
                    <a:p>
                      <a:pPr algn="ctr">
                        <a:defRPr sz="1000">
                          <a:latin typeface="Montserrat"/>
                        </a:defRPr>
                      </a:pPr>
                      <a:r>
                        <a:t>42</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2,008</a:t>
                      </a:r>
                    </a:p>
                  </a:txBody>
                  <a:tcPr marL="0" marR="0" marT="0" marB="0">
                    <a:solidFill>
                      <a:srgbClr val="EFEFEF"/>
                    </a:solidFill>
                  </a:tcPr>
                </a:tc>
              </a:tr>
              <a:tr h="151200">
                <a:tc>
                  <a:txBody>
                    <a:bodyPr/>
                    <a:lstStyle/>
                    <a:p>
                      <a:pPr algn="ctr">
                        <a:defRPr sz="1000">
                          <a:latin typeface="Montserrat"/>
                        </a:defRPr>
                      </a:pPr>
                      <a:r>
                        <a:t>UMF 34 Juan Díaz</a:t>
                      </a:r>
                    </a:p>
                  </a:txBody>
                  <a:tcPr marL="0" marR="0" marT="0" marB="0">
                    <a:solidFill>
                      <a:srgbClr val="FFFFFF"/>
                    </a:solidFill>
                  </a:tcPr>
                </a:tc>
                <a:tc>
                  <a:txBody>
                    <a:bodyPr/>
                    <a:lstStyle/>
                    <a:p>
                      <a:pPr algn="ctr">
                        <a:defRPr sz="1000">
                          <a:latin typeface="Montserrat"/>
                        </a:defRPr>
                      </a:pPr>
                      <a:r>
                        <a:t>22</a:t>
                      </a:r>
                    </a:p>
                  </a:txBody>
                  <a:tcPr marL="0" marR="0" marT="0" marB="0">
                    <a:solidFill>
                      <a:srgbClr val="FFFFFF"/>
                    </a:solidFill>
                  </a:tcPr>
                </a:tc>
                <a:tc>
                  <a:txBody>
                    <a:bodyPr/>
                    <a:lstStyle/>
                    <a:p>
                      <a:pPr algn="ctr">
                        <a:defRPr sz="1000">
                          <a:latin typeface="Montserrat"/>
                        </a:defRPr>
                      </a:pPr>
                      <a:r>
                        <a:t>3</a:t>
                      </a:r>
                    </a:p>
                  </a:txBody>
                  <a:tcPr marL="0" marR="0" marT="0" marB="0">
                    <a:solidFill>
                      <a:srgbClr val="FFFFFF"/>
                    </a:solidFill>
                  </a:tcPr>
                </a:tc>
                <a:tc>
                  <a:txBody>
                    <a:bodyPr/>
                    <a:lstStyle/>
                    <a:p>
                      <a:pPr algn="ctr">
                        <a:defRPr sz="1000">
                          <a:latin typeface="Montserrat"/>
                        </a:defRPr>
                      </a:pPr>
                      <a:r>
                        <a:t>2,865</a:t>
                      </a:r>
                    </a:p>
                  </a:txBody>
                  <a:tcPr marL="0" marR="0" marT="0" marB="0">
                    <a:solidFill>
                      <a:srgbClr val="FFFFFF"/>
                    </a:solidFill>
                  </a:tcPr>
                </a:tc>
              </a:tr>
              <a:tr h="151200">
                <a:tc>
                  <a:txBody>
                    <a:bodyPr/>
                    <a:lstStyle/>
                    <a:p>
                      <a:pPr algn="ctr">
                        <a:defRPr sz="1000">
                          <a:latin typeface="Montserrat"/>
                        </a:defRPr>
                      </a:pPr>
                      <a:r>
                        <a:t>UMF 34 Catemaco</a:t>
                      </a:r>
                    </a:p>
                  </a:txBody>
                  <a:tcPr marL="0" marR="0" marT="0" marB="0">
                    <a:solidFill>
                      <a:srgbClr val="EFEFEF"/>
                    </a:solidFill>
                  </a:tcPr>
                </a:tc>
                <a:tc>
                  <a:txBody>
                    <a:bodyPr/>
                    <a:lstStyle/>
                    <a:p>
                      <a:pPr algn="ctr">
                        <a:defRPr sz="1000">
                          <a:latin typeface="Montserrat"/>
                        </a:defRPr>
                      </a:pPr>
                      <a:r>
                        <a:t>47</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1,385</a:t>
                      </a:r>
                    </a:p>
                  </a:txBody>
                  <a:tcPr marL="0" marR="0" marT="0" marB="0">
                    <a:solidFill>
                      <a:srgbClr val="EFEFEF"/>
                    </a:solidFill>
                  </a:tcPr>
                </a:tc>
              </a:tr>
              <a:tr h="151200">
                <a:tc>
                  <a:txBody>
                    <a:bodyPr/>
                    <a:lstStyle/>
                    <a:p>
                      <a:pPr algn="ctr">
                        <a:defRPr sz="1000">
                          <a:latin typeface="Montserrat"/>
                        </a:defRPr>
                      </a:pPr>
                      <a:r>
                        <a:t>UMF 32 Alvarado</a:t>
                      </a:r>
                    </a:p>
                  </a:txBody>
                  <a:tcPr marL="0" marR="0" marT="0" marB="0">
                    <a:solidFill>
                      <a:srgbClr val="FFFFFF"/>
                    </a:solidFill>
                  </a:tcPr>
                </a:tc>
                <a:tc>
                  <a:txBody>
                    <a:bodyPr/>
                    <a:lstStyle/>
                    <a:p>
                      <a:pPr algn="ctr">
                        <a:defRPr sz="1000">
                          <a:latin typeface="Montserrat"/>
                        </a:defRPr>
                      </a:pPr>
                      <a:r>
                        <a:t>50</a:t>
                      </a:r>
                    </a:p>
                  </a:txBody>
                  <a:tcPr marL="0" marR="0" marT="0" marB="0">
                    <a:solidFill>
                      <a:srgbClr val="FFFFFF"/>
                    </a:solidFill>
                  </a:tcPr>
                </a:tc>
                <a:tc>
                  <a:txBody>
                    <a:bodyPr/>
                    <a:lstStyle/>
                    <a:p>
                      <a:pPr algn="ctr">
                        <a:defRPr sz="1000">
                          <a:latin typeface="Montserrat"/>
                        </a:defRPr>
                      </a:pPr>
                      <a:r>
                        <a:t>3</a:t>
                      </a:r>
                    </a:p>
                  </a:txBody>
                  <a:tcPr marL="0" marR="0" marT="0" marB="0">
                    <a:solidFill>
                      <a:srgbClr val="FFFFFF"/>
                    </a:solidFill>
                  </a:tcPr>
                </a:tc>
                <a:tc>
                  <a:txBody>
                    <a:bodyPr/>
                    <a:lstStyle/>
                    <a:p>
                      <a:pPr algn="ctr">
                        <a:defRPr sz="1000">
                          <a:latin typeface="Montserrat"/>
                        </a:defRPr>
                      </a:pPr>
                      <a:r>
                        <a:t>3,907</a:t>
                      </a:r>
                    </a:p>
                  </a:txBody>
                  <a:tcPr marL="0" marR="0" marT="0" marB="0">
                    <a:solidFill>
                      <a:srgbClr val="FFFFFF"/>
                    </a:solidFill>
                  </a:tcPr>
                </a:tc>
              </a:tr>
              <a:tr h="151200">
                <a:tc>
                  <a:txBody>
                    <a:bodyPr/>
                    <a:lstStyle/>
                    <a:p>
                      <a:pPr algn="ctr">
                        <a:defRPr sz="1000">
                          <a:latin typeface="Montserrat"/>
                        </a:defRPr>
                      </a:pPr>
                      <a:r>
                        <a:t>UMF 31 Los Robles</a:t>
                      </a:r>
                    </a:p>
                  </a:txBody>
                  <a:tcPr marL="0" marR="0" marT="0" marB="0">
                    <a:solidFill>
                      <a:srgbClr val="EFEFEF"/>
                    </a:solidFill>
                  </a:tcPr>
                </a:tc>
                <a:tc>
                  <a:txBody>
                    <a:bodyPr/>
                    <a:lstStyle/>
                    <a:p>
                      <a:pPr algn="ctr">
                        <a:defRPr sz="1000">
                          <a:latin typeface="Montserrat"/>
                        </a:defRPr>
                      </a:pPr>
                      <a:r>
                        <a:t>63</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1,030</a:t>
                      </a:r>
                    </a:p>
                  </a:txBody>
                  <a:tcPr marL="0" marR="0" marT="0" marB="0">
                    <a:solidFill>
                      <a:srgbClr val="EFEFEF"/>
                    </a:solidFill>
                  </a:tcPr>
                </a:tc>
              </a:tr>
              <a:tr h="151200">
                <a:tc>
                  <a:txBody>
                    <a:bodyPr/>
                    <a:lstStyle/>
                    <a:p>
                      <a:pPr algn="ctr">
                        <a:defRPr sz="1000">
                          <a:latin typeface="Montserrat"/>
                        </a:defRPr>
                      </a:pPr>
                      <a:r>
                        <a:t>UMF 30 Piedras Negras</a:t>
                      </a:r>
                    </a:p>
                  </a:txBody>
                  <a:tcPr marL="0" marR="0" marT="0" marB="0">
                    <a:solidFill>
                      <a:srgbClr val="FFFFFF"/>
                    </a:solidFill>
                  </a:tcPr>
                </a:tc>
                <a:tc>
                  <a:txBody>
                    <a:bodyPr/>
                    <a:lstStyle/>
                    <a:p>
                      <a:pPr algn="ctr">
                        <a:defRPr sz="1000">
                          <a:latin typeface="Montserrat"/>
                        </a:defRPr>
                      </a:pPr>
                      <a:r>
                        <a:t>58</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346</a:t>
                      </a:r>
                    </a:p>
                  </a:txBody>
                  <a:tcPr marL="0" marR="0" marT="0" marB="0">
                    <a:solidFill>
                      <a:srgbClr val="FFFFFF"/>
                    </a:solidFill>
                  </a:tcPr>
                </a:tc>
              </a:tr>
              <a:tr h="151200">
                <a:tc>
                  <a:txBody>
                    <a:bodyPr/>
                    <a:lstStyle/>
                    <a:p>
                      <a:pPr algn="ctr">
                        <a:defRPr sz="1000">
                          <a:latin typeface="Montserrat"/>
                        </a:defRPr>
                      </a:pPr>
                      <a:r>
                        <a:t>UMF 3 Nogales</a:t>
                      </a:r>
                    </a:p>
                  </a:txBody>
                  <a:tcPr marL="0" marR="0" marT="0" marB="0">
                    <a:solidFill>
                      <a:srgbClr val="EFEFEF"/>
                    </a:solidFill>
                  </a:tcPr>
                </a:tc>
                <a:tc>
                  <a:txBody>
                    <a:bodyPr/>
                    <a:lstStyle/>
                    <a:p>
                      <a:pPr algn="ctr">
                        <a:defRPr sz="1000">
                          <a:latin typeface="Montserrat"/>
                        </a:defRPr>
                      </a:pPr>
                      <a:r>
                        <a:t>61</a:t>
                      </a:r>
                    </a:p>
                  </a:txBody>
                  <a:tcPr marL="0" marR="0" marT="0" marB="0">
                    <a:solidFill>
                      <a:srgbClr val="EFEFEF"/>
                    </a:solidFill>
                  </a:tcPr>
                </a:tc>
                <a:tc>
                  <a:txBody>
                    <a:bodyPr/>
                    <a:lstStyle/>
                    <a:p>
                      <a:pPr algn="ctr">
                        <a:defRPr sz="1000">
                          <a:latin typeface="Montserrat"/>
                        </a:defRPr>
                      </a:pPr>
                      <a:r>
                        <a:t>3</a:t>
                      </a:r>
                    </a:p>
                  </a:txBody>
                  <a:tcPr marL="0" marR="0" marT="0" marB="0">
                    <a:solidFill>
                      <a:srgbClr val="EFEFEF"/>
                    </a:solidFill>
                  </a:tcPr>
                </a:tc>
                <a:tc>
                  <a:txBody>
                    <a:bodyPr/>
                    <a:lstStyle/>
                    <a:p>
                      <a:pPr algn="ctr">
                        <a:defRPr sz="1000">
                          <a:latin typeface="Montserrat"/>
                        </a:defRPr>
                      </a:pPr>
                      <a:r>
                        <a:t>4,579</a:t>
                      </a:r>
                    </a:p>
                  </a:txBody>
                  <a:tcPr marL="0" marR="0" marT="0" marB="0">
                    <a:solidFill>
                      <a:srgbClr val="EFEFEF"/>
                    </a:solidFill>
                  </a:tcPr>
                </a:tc>
              </a:tr>
              <a:tr h="151200">
                <a:tc>
                  <a:txBody>
                    <a:bodyPr/>
                    <a:lstStyle/>
                    <a:p>
                      <a:pPr algn="ctr">
                        <a:defRPr sz="1000">
                          <a:latin typeface="Montserrat"/>
                        </a:defRPr>
                      </a:pPr>
                      <a:r>
                        <a:t>UMF 29 Los Naranjos</a:t>
                      </a:r>
                    </a:p>
                  </a:txBody>
                  <a:tcPr marL="0" marR="0" marT="0" marB="0">
                    <a:solidFill>
                      <a:srgbClr val="FFFFFF"/>
                    </a:solidFill>
                  </a:tcPr>
                </a:tc>
                <a:tc>
                  <a:txBody>
                    <a:bodyPr/>
                    <a:lstStyle/>
                    <a:p>
                      <a:pPr algn="ctr">
                        <a:defRPr sz="1000">
                          <a:latin typeface="Montserrat"/>
                        </a:defRPr>
                      </a:pPr>
                      <a:r>
                        <a:t>51</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539</a:t>
                      </a:r>
                    </a:p>
                  </a:txBody>
                  <a:tcPr marL="0" marR="0" marT="0" marB="0">
                    <a:solidFill>
                      <a:srgbClr val="FFFFFF"/>
                    </a:solidFill>
                  </a:tcPr>
                </a:tc>
              </a:tr>
              <a:tr h="151200">
                <a:tc>
                  <a:txBody>
                    <a:bodyPr/>
                    <a:lstStyle/>
                    <a:p>
                      <a:pPr algn="ctr">
                        <a:defRPr sz="1000">
                          <a:latin typeface="Montserrat"/>
                        </a:defRPr>
                      </a:pPr>
                      <a:r>
                        <a:t>UMF 28 Joachin</a:t>
                      </a:r>
                    </a:p>
                  </a:txBody>
                  <a:tcPr marL="0" marR="0" marT="0" marB="0">
                    <a:solidFill>
                      <a:srgbClr val="EFEFEF"/>
                    </a:solidFill>
                  </a:tcPr>
                </a:tc>
                <a:tc>
                  <a:txBody>
                    <a:bodyPr/>
                    <a:lstStyle/>
                    <a:p>
                      <a:pPr algn="ctr">
                        <a:defRPr sz="1000">
                          <a:latin typeface="Montserrat"/>
                        </a:defRPr>
                      </a:pPr>
                      <a:r>
                        <a:t>63</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505</a:t>
                      </a:r>
                    </a:p>
                  </a:txBody>
                  <a:tcPr marL="0" marR="0" marT="0" marB="0">
                    <a:solidFill>
                      <a:srgbClr val="EFEFEF"/>
                    </a:solidFill>
                  </a:tcPr>
                </a:tc>
              </a:tr>
              <a:tr h="151200">
                <a:tc>
                  <a:txBody>
                    <a:bodyPr/>
                    <a:lstStyle/>
                    <a:p>
                      <a:pPr algn="ctr">
                        <a:defRPr sz="1000">
                          <a:latin typeface="Montserrat"/>
                        </a:defRPr>
                      </a:pPr>
                      <a:r>
                        <a:t>UMF 27 Papantla</a:t>
                      </a:r>
                    </a:p>
                  </a:txBody>
                  <a:tcPr marL="0" marR="0" marT="0" marB="0">
                    <a:solidFill>
                      <a:srgbClr val="FFFFFF"/>
                    </a:solidFill>
                  </a:tcPr>
                </a:tc>
                <a:tc>
                  <a:txBody>
                    <a:bodyPr/>
                    <a:lstStyle/>
                    <a:p>
                      <a:pPr algn="ctr">
                        <a:defRPr sz="1000">
                          <a:latin typeface="Montserrat"/>
                        </a:defRPr>
                      </a:pPr>
                      <a:r>
                        <a:t>53</a:t>
                      </a:r>
                    </a:p>
                  </a:txBody>
                  <a:tcPr marL="0" marR="0" marT="0" marB="0">
                    <a:solidFill>
                      <a:srgbClr val="FFFFFF"/>
                    </a:solidFill>
                  </a:tcPr>
                </a:tc>
                <a:tc>
                  <a:txBody>
                    <a:bodyPr/>
                    <a:lstStyle/>
                    <a:p>
                      <a:pPr algn="ctr">
                        <a:defRPr sz="1000">
                          <a:latin typeface="Montserrat"/>
                        </a:defRPr>
                      </a:pPr>
                      <a:r>
                        <a:t>3</a:t>
                      </a:r>
                    </a:p>
                  </a:txBody>
                  <a:tcPr marL="0" marR="0" marT="0" marB="0">
                    <a:solidFill>
                      <a:srgbClr val="FFFFFF"/>
                    </a:solidFill>
                  </a:tcPr>
                </a:tc>
                <a:tc>
                  <a:txBody>
                    <a:bodyPr/>
                    <a:lstStyle/>
                    <a:p>
                      <a:pPr algn="ctr">
                        <a:defRPr sz="1000">
                          <a:latin typeface="Montserrat"/>
                        </a:defRPr>
                      </a:pPr>
                      <a:r>
                        <a:t>3,469</a:t>
                      </a:r>
                    </a:p>
                  </a:txBody>
                  <a:tcPr marL="0" marR="0" marT="0" marB="0">
                    <a:solidFill>
                      <a:srgbClr val="FFFFFF"/>
                    </a:solidFill>
                  </a:tcPr>
                </a:tc>
              </a:tr>
              <a:tr h="151200">
                <a:tc>
                  <a:txBody>
                    <a:bodyPr/>
                    <a:lstStyle/>
                    <a:p>
                      <a:pPr algn="ctr">
                        <a:defRPr sz="1000">
                          <a:latin typeface="Montserrat"/>
                        </a:defRPr>
                      </a:pPr>
                      <a:r>
                        <a:t>UMF 26 I. Providencia</a:t>
                      </a:r>
                    </a:p>
                  </a:txBody>
                  <a:tcPr marL="0" marR="0" marT="0" marB="0">
                    <a:solidFill>
                      <a:srgbClr val="EFEFEF"/>
                    </a:solidFill>
                  </a:tcPr>
                </a:tc>
                <a:tc>
                  <a:txBody>
                    <a:bodyPr/>
                    <a:lstStyle/>
                    <a:p>
                      <a:pPr algn="ctr">
                        <a:defRPr sz="1000">
                          <a:latin typeface="Montserrat"/>
                        </a:defRPr>
                      </a:pPr>
                      <a:r>
                        <a:t>61</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504</a:t>
                      </a:r>
                    </a:p>
                  </a:txBody>
                  <a:tcPr marL="0" marR="0" marT="0" marB="0">
                    <a:solidFill>
                      <a:srgbClr val="EFEFEF"/>
                    </a:solidFill>
                  </a:tcPr>
                </a:tc>
              </a:tr>
              <a:tr h="151200">
                <a:tc>
                  <a:txBody>
                    <a:bodyPr/>
                    <a:lstStyle/>
                    <a:p>
                      <a:pPr algn="ctr">
                        <a:defRPr sz="1000">
                          <a:latin typeface="Montserrat"/>
                        </a:defRPr>
                      </a:pPr>
                      <a:r>
                        <a:t>UMF 25 S. José Abajo</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492</a:t>
                      </a:r>
                    </a:p>
                  </a:txBody>
                  <a:tcPr marL="0" marR="0" marT="0" marB="0">
                    <a:solidFill>
                      <a:srgbClr val="FFFFFF"/>
                    </a:solidFill>
                  </a:tcPr>
                </a:tc>
              </a:tr>
              <a:tr h="151200">
                <a:tc>
                  <a:txBody>
                    <a:bodyPr/>
                    <a:lstStyle/>
                    <a:p>
                      <a:pPr algn="ctr">
                        <a:defRPr sz="1000">
                          <a:latin typeface="Montserrat"/>
                        </a:defRPr>
                      </a:pPr>
                      <a:r>
                        <a:t>UMF 25 Cotaxtla</a:t>
                      </a:r>
                    </a:p>
                  </a:txBody>
                  <a:tcPr marL="0" marR="0" marT="0" marB="0">
                    <a:solidFill>
                      <a:srgbClr val="EFEFEF"/>
                    </a:solidFill>
                  </a:tcPr>
                </a:tc>
                <a:tc>
                  <a:txBody>
                    <a:bodyPr/>
                    <a:lstStyle/>
                    <a:p>
                      <a:pPr algn="ctr">
                        <a:defRPr sz="1000">
                          <a:latin typeface="Montserrat"/>
                        </a:defRPr>
                      </a:pPr>
                      <a:r>
                        <a:t>33</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817</a:t>
                      </a:r>
                    </a:p>
                  </a:txBody>
                  <a:tcPr marL="0" marR="0" marT="0" marB="0">
                    <a:solidFill>
                      <a:srgbClr val="EFEFEF"/>
                    </a:solidFill>
                  </a:tcPr>
                </a:tc>
              </a:tr>
              <a:tr h="151200">
                <a:tc>
                  <a:txBody>
                    <a:bodyPr/>
                    <a:lstStyle/>
                    <a:p>
                      <a:pPr algn="ctr">
                        <a:defRPr sz="1000">
                          <a:latin typeface="Montserrat"/>
                        </a:defRPr>
                      </a:pPr>
                      <a:r>
                        <a:t>UMF 24 S. Miguel</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319</a:t>
                      </a:r>
                    </a:p>
                  </a:txBody>
                  <a:tcPr marL="0" marR="0" marT="0" marB="0">
                    <a:solidFill>
                      <a:srgbClr val="FFFFFF"/>
                    </a:solidFill>
                  </a:tcPr>
                </a:tc>
              </a:tr>
              <a:tr h="151200">
                <a:tc>
                  <a:txBody>
                    <a:bodyPr/>
                    <a:lstStyle/>
                    <a:p>
                      <a:pPr algn="ctr">
                        <a:defRPr sz="1000">
                          <a:latin typeface="Montserrat"/>
                        </a:defRPr>
                      </a:pPr>
                      <a:r>
                        <a:t>UMF 23 S. Rafael</a:t>
                      </a:r>
                    </a:p>
                  </a:txBody>
                  <a:tcPr marL="0" marR="0" marT="0" marB="0">
                    <a:solidFill>
                      <a:srgbClr val="EFEFEF"/>
                    </a:solidFill>
                  </a:tcPr>
                </a:tc>
                <a:tc>
                  <a:txBody>
                    <a:bodyPr/>
                    <a:lstStyle/>
                    <a:p>
                      <a:pPr algn="ctr">
                        <a:defRPr sz="1000">
                          <a:latin typeface="Montserrat"/>
                        </a:defRPr>
                      </a:pPr>
                      <a:r>
                        <a:t>44</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2,212</a:t>
                      </a:r>
                    </a:p>
                  </a:txBody>
                  <a:tcPr marL="0" marR="0" marT="0" marB="0">
                    <a:solidFill>
                      <a:srgbClr val="EFEFEF"/>
                    </a:solidFill>
                  </a:tcPr>
                </a:tc>
              </a:tr>
              <a:tr h="151200">
                <a:tc>
                  <a:txBody>
                    <a:bodyPr/>
                    <a:lstStyle/>
                    <a:p>
                      <a:pPr algn="ctr">
                        <a:defRPr sz="1000">
                          <a:latin typeface="Montserrat"/>
                        </a:defRPr>
                      </a:pPr>
                      <a:r>
                        <a:t>UMF 23 S. José Tapia</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380</a:t>
                      </a:r>
                    </a:p>
                  </a:txBody>
                  <a:tcPr marL="0" marR="0" marT="0" marB="0">
                    <a:solidFill>
                      <a:srgbClr val="FFFFFF"/>
                    </a:solidFill>
                  </a:tcPr>
                </a:tc>
              </a:tr>
              <a:tr h="151200">
                <a:tc>
                  <a:txBody>
                    <a:bodyPr/>
                    <a:lstStyle/>
                    <a:p>
                      <a:pPr algn="ctr">
                        <a:defRPr sz="1000">
                          <a:latin typeface="Montserrat"/>
                        </a:defRPr>
                      </a:pPr>
                      <a:r>
                        <a:t>UMF 22 Palmas</a:t>
                      </a:r>
                    </a:p>
                  </a:txBody>
                  <a:tcPr marL="0" marR="0" marT="0" marB="0">
                    <a:solidFill>
                      <a:srgbClr val="EFEFEF"/>
                    </a:solidFill>
                  </a:tcPr>
                </a:tc>
                <a:tc>
                  <a:txBody>
                    <a:bodyPr/>
                    <a:lstStyle/>
                    <a:p>
                      <a:pPr algn="ctr">
                        <a:defRPr sz="1000">
                          <a:latin typeface="Montserrat"/>
                        </a:defRPr>
                      </a:pPr>
                      <a:r>
                        <a:t>34</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1,170</a:t>
                      </a:r>
                    </a:p>
                  </a:txBody>
                  <a:tcPr marL="0" marR="0" marT="0" marB="0">
                    <a:solidFill>
                      <a:srgbClr val="EFEFEF"/>
                    </a:solidFill>
                  </a:tcPr>
                </a:tc>
              </a:tr>
              <a:tr h="151200">
                <a:tc>
                  <a:txBody>
                    <a:bodyPr/>
                    <a:lstStyle/>
                    <a:p>
                      <a:pPr algn="ctr">
                        <a:defRPr sz="1000">
                          <a:latin typeface="Montserrat"/>
                        </a:defRPr>
                      </a:pPr>
                      <a:r>
                        <a:t>UMF 22 Cuatlapan</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994</a:t>
                      </a:r>
                    </a:p>
                  </a:txBody>
                  <a:tcPr marL="0" marR="0" marT="0" marB="0">
                    <a:solidFill>
                      <a:srgbClr val="FFFFFF"/>
                    </a:solidFill>
                  </a:tcPr>
                </a:tc>
              </a:tr>
              <a:tr h="151200">
                <a:tc>
                  <a:txBody>
                    <a:bodyPr/>
                    <a:lstStyle/>
                    <a:p>
                      <a:pPr algn="ctr">
                        <a:defRPr sz="1000">
                          <a:latin typeface="Montserrat"/>
                        </a:defRPr>
                      </a:pPr>
                      <a:r>
                        <a:t>UMF 21 Zempoala</a:t>
                      </a:r>
                    </a:p>
                  </a:txBody>
                  <a:tcPr marL="0" marR="0" marT="0" marB="0">
                    <a:solidFill>
                      <a:srgbClr val="EFEFEF"/>
                    </a:solidFill>
                  </a:tcPr>
                </a:tc>
                <a:tc>
                  <a:txBody>
                    <a:bodyPr/>
                    <a:lstStyle/>
                    <a:p>
                      <a:pPr algn="ctr">
                        <a:defRPr sz="1000">
                          <a:latin typeface="Montserrat"/>
                        </a:defRPr>
                      </a:pPr>
                      <a:r>
                        <a:t>49</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1,927</a:t>
                      </a:r>
                    </a:p>
                  </a:txBody>
                  <a:tcPr marL="0" marR="0" marT="0" marB="0">
                    <a:solidFill>
                      <a:srgbClr val="EFEFEF"/>
                    </a:solidFill>
                  </a:tcPr>
                </a:tc>
              </a:tr>
              <a:tr h="151200">
                <a:tc>
                  <a:txBody>
                    <a:bodyPr/>
                    <a:lstStyle/>
                    <a:p>
                      <a:pPr algn="ctr">
                        <a:defRPr sz="1000">
                          <a:latin typeface="Montserrat"/>
                        </a:defRPr>
                      </a:pPr>
                      <a:r>
                        <a:t>UMF 20 Saltabarranca</a:t>
                      </a:r>
                    </a:p>
                  </a:txBody>
                  <a:tcPr marL="0" marR="0" marT="0" marB="0">
                    <a:solidFill>
                      <a:srgbClr val="FFFFFF"/>
                    </a:solidFill>
                  </a:tcPr>
                </a:tc>
                <a:tc>
                  <a:txBody>
                    <a:bodyPr/>
                    <a:lstStyle/>
                    <a:p>
                      <a:pPr algn="ctr">
                        <a:defRPr sz="1000">
                          <a:latin typeface="Montserrat"/>
                        </a:defRPr>
                      </a:pPr>
                      <a:r>
                        <a:t>45</a:t>
                      </a:r>
                    </a:p>
                  </a:txBody>
                  <a:tcPr marL="0" marR="0" marT="0" marB="0">
                    <a:solidFill>
                      <a:srgbClr val="FFFFFF"/>
                    </a:solidFill>
                  </a:tcPr>
                </a:tc>
                <a:tc>
                  <a:txBody>
                    <a:bodyPr/>
                    <a:lstStyle/>
                    <a:p>
                      <a:pPr algn="ctr">
                        <a:defRPr sz="1000">
                          <a:latin typeface="Montserrat"/>
                        </a:defRPr>
                      </a:pPr>
                      <a:r>
                        <a:t>2</a:t>
                      </a:r>
                    </a:p>
                  </a:txBody>
                  <a:tcPr marL="0" marR="0" marT="0" marB="0">
                    <a:solidFill>
                      <a:srgbClr val="FFFFFF"/>
                    </a:solidFill>
                  </a:tcPr>
                </a:tc>
                <a:tc>
                  <a:txBody>
                    <a:bodyPr/>
                    <a:lstStyle/>
                    <a:p>
                      <a:pPr algn="ctr">
                        <a:defRPr sz="1000">
                          <a:latin typeface="Montserrat"/>
                        </a:defRPr>
                      </a:pPr>
                      <a:r>
                        <a:t>1,286</a:t>
                      </a:r>
                    </a:p>
                  </a:txBody>
                  <a:tcPr marL="0" marR="0" marT="0" marB="0">
                    <a:solidFill>
                      <a:srgbClr val="FFFFFF"/>
                    </a:solidFill>
                  </a:tcPr>
                </a:tc>
              </a:tr>
              <a:tr h="151200">
                <a:tc>
                  <a:txBody>
                    <a:bodyPr/>
                    <a:lstStyle/>
                    <a:p>
                      <a:pPr algn="ctr">
                        <a:defRPr sz="1000">
                          <a:latin typeface="Montserrat"/>
                        </a:defRPr>
                      </a:pPr>
                      <a:r>
                        <a:t>UMF 2 Río Blanco</a:t>
                      </a:r>
                    </a:p>
                  </a:txBody>
                  <a:tcPr marL="0" marR="0" marT="0" marB="0">
                    <a:solidFill>
                      <a:srgbClr val="EFEFEF"/>
                    </a:solidFill>
                  </a:tcPr>
                </a:tc>
                <a:tc>
                  <a:txBody>
                    <a:bodyPr/>
                    <a:lstStyle/>
                    <a:p>
                      <a:pPr algn="ctr">
                        <a:defRPr sz="1000">
                          <a:latin typeface="Montserrat"/>
                        </a:defRPr>
                      </a:pPr>
                      <a:r>
                        <a:t>61</a:t>
                      </a:r>
                    </a:p>
                  </a:txBody>
                  <a:tcPr marL="0" marR="0" marT="0" marB="0">
                    <a:solidFill>
                      <a:srgbClr val="EFEFEF"/>
                    </a:solidFill>
                  </a:tcPr>
                </a:tc>
                <a:tc>
                  <a:txBody>
                    <a:bodyPr/>
                    <a:lstStyle/>
                    <a:p>
                      <a:pPr algn="ctr">
                        <a:defRPr sz="1000">
                          <a:latin typeface="Montserrat"/>
                        </a:defRPr>
                      </a:pPr>
                      <a:r>
                        <a:t>3</a:t>
                      </a:r>
                    </a:p>
                  </a:txBody>
                  <a:tcPr marL="0" marR="0" marT="0" marB="0">
                    <a:solidFill>
                      <a:srgbClr val="EFEFEF"/>
                    </a:solidFill>
                  </a:tcPr>
                </a:tc>
                <a:tc>
                  <a:txBody>
                    <a:bodyPr/>
                    <a:lstStyle/>
                    <a:p>
                      <a:pPr algn="ctr">
                        <a:defRPr sz="1000">
                          <a:latin typeface="Montserrat"/>
                        </a:defRPr>
                      </a:pPr>
                      <a:r>
                        <a:t>4,928</a:t>
                      </a:r>
                    </a:p>
                  </a:txBody>
                  <a:tcPr marL="0" marR="0" marT="0" marB="0">
                    <a:solidFill>
                      <a:srgbClr val="EFEFEF"/>
                    </a:solidFill>
                  </a:tcPr>
                </a:tc>
              </a:tr>
              <a:tr h="151200">
                <a:tc>
                  <a:txBody>
                    <a:bodyPr/>
                    <a:lstStyle/>
                    <a:p>
                      <a:pPr algn="ctr">
                        <a:defRPr sz="1000">
                          <a:latin typeface="Montserrat"/>
                        </a:defRPr>
                      </a:pPr>
                      <a:r>
                        <a:t>UMF 19 Banderilla</a:t>
                      </a:r>
                    </a:p>
                  </a:txBody>
                  <a:tcPr marL="0" marR="0" marT="0" marB="0">
                    <a:solidFill>
                      <a:srgbClr val="FFFFFF"/>
                    </a:solidFill>
                  </a:tcPr>
                </a:tc>
                <a:tc>
                  <a:txBody>
                    <a:bodyPr/>
                    <a:lstStyle/>
                    <a:p>
                      <a:pPr algn="ctr">
                        <a:defRPr sz="1000">
                          <a:latin typeface="Montserrat"/>
                        </a:defRPr>
                      </a:pPr>
                      <a:r>
                        <a:t>64</a:t>
                      </a:r>
                    </a:p>
                  </a:txBody>
                  <a:tcPr marL="0" marR="0" marT="0" marB="0">
                    <a:solidFill>
                      <a:srgbClr val="FFFFFF"/>
                    </a:solidFill>
                  </a:tcPr>
                </a:tc>
                <a:tc>
                  <a:txBody>
                    <a:bodyPr/>
                    <a:lstStyle/>
                    <a:p>
                      <a:pPr algn="ctr">
                        <a:defRPr sz="1000">
                          <a:latin typeface="Montserrat"/>
                        </a:defRPr>
                      </a:pPr>
                      <a:r>
                        <a:t>4</a:t>
                      </a:r>
                    </a:p>
                  </a:txBody>
                  <a:tcPr marL="0" marR="0" marT="0" marB="0">
                    <a:solidFill>
                      <a:srgbClr val="FFFFFF"/>
                    </a:solidFill>
                  </a:tcPr>
                </a:tc>
                <a:tc>
                  <a:txBody>
                    <a:bodyPr/>
                    <a:lstStyle/>
                    <a:p>
                      <a:pPr algn="ctr">
                        <a:defRPr sz="1000">
                          <a:latin typeface="Montserrat"/>
                        </a:defRPr>
                      </a:pPr>
                      <a:r>
                        <a:t>4,141</a:t>
                      </a:r>
                    </a:p>
                  </a:txBody>
                  <a:tcPr marL="0" marR="0" marT="0" marB="0">
                    <a:solidFill>
                      <a:srgbClr val="FFFFFF"/>
                    </a:solidFill>
                  </a:tcPr>
                </a:tc>
              </a:tr>
              <a:tr h="151200">
                <a:tc>
                  <a:txBody>
                    <a:bodyPr/>
                    <a:lstStyle/>
                    <a:p>
                      <a:pPr algn="ctr">
                        <a:defRPr sz="1000">
                          <a:latin typeface="Montserrat"/>
                        </a:defRPr>
                      </a:pPr>
                      <a:r>
                        <a:t>UMF 18 Tuzamapan</a:t>
                      </a:r>
                    </a:p>
                  </a:txBody>
                  <a:tcPr marL="0" marR="0" marT="0" marB="0">
                    <a:solidFill>
                      <a:srgbClr val="EFEFEF"/>
                    </a:solidFill>
                  </a:tcPr>
                </a:tc>
                <a:tc>
                  <a:txBody>
                    <a:bodyPr/>
                    <a:lstStyle/>
                    <a:p>
                      <a:pPr algn="ctr">
                        <a:defRPr sz="1000">
                          <a:latin typeface="Montserrat"/>
                        </a:defRPr>
                      </a:pPr>
                      <a:r>
                        <a:t>61</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1,366</a:t>
                      </a:r>
                    </a:p>
                  </a:txBody>
                  <a:tcPr marL="0" marR="0" marT="0" marB="0">
                    <a:solidFill>
                      <a:srgbClr val="EFEFEF"/>
                    </a:solidFill>
                  </a:tcPr>
                </a:tc>
              </a:tr>
              <a:tr h="151200">
                <a:tc>
                  <a:txBody>
                    <a:bodyPr/>
                    <a:lstStyle/>
                    <a:p>
                      <a:pPr algn="ctr">
                        <a:defRPr sz="1000">
                          <a:latin typeface="Montserrat"/>
                        </a:defRPr>
                      </a:pPr>
                      <a:r>
                        <a:t>UMF 18 Motzorongo</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720</a:t>
                      </a:r>
                    </a:p>
                  </a:txBody>
                  <a:tcPr marL="0" marR="0" marT="0" marB="0">
                    <a:solidFill>
                      <a:srgbClr val="FFFFFF"/>
                    </a:solidFill>
                  </a:tcPr>
                </a:tc>
              </a:tr>
              <a:tr h="151200">
                <a:tc>
                  <a:txBody>
                    <a:bodyPr/>
                    <a:lstStyle/>
                    <a:p>
                      <a:pPr algn="ctr">
                        <a:defRPr sz="1000">
                          <a:latin typeface="Montserrat"/>
                        </a:defRPr>
                      </a:pPr>
                      <a:r>
                        <a:t>UMF 17 Laguna Chica</a:t>
                      </a:r>
                    </a:p>
                  </a:txBody>
                  <a:tcPr marL="0" marR="0" marT="0" marB="0">
                    <a:solidFill>
                      <a:srgbClr val="EFEFEF"/>
                    </a:solidFill>
                  </a:tcPr>
                </a:tc>
                <a:tc>
                  <a:txBody>
                    <a:bodyPr/>
                    <a:lstStyle/>
                    <a:p>
                      <a:pPr algn="ctr">
                        <a:defRPr sz="1000">
                          <a:latin typeface="Montserrat"/>
                        </a:defRPr>
                      </a:pPr>
                      <a:r>
                        <a:t>61</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650</a:t>
                      </a:r>
                    </a:p>
                  </a:txBody>
                  <a:tcPr marL="0" marR="0" marT="0" marB="0">
                    <a:solidFill>
                      <a:srgbClr val="EFEFEF"/>
                    </a:solidFill>
                  </a:tcPr>
                </a:tc>
              </a:tr>
              <a:tr h="151200">
                <a:tc>
                  <a:txBody>
                    <a:bodyPr/>
                    <a:lstStyle/>
                    <a:p>
                      <a:pPr algn="ctr">
                        <a:defRPr sz="1000">
                          <a:latin typeface="Montserrat"/>
                        </a:defRPr>
                      </a:pPr>
                      <a:r>
                        <a:t>UMF 15 Cuichapa</a:t>
                      </a:r>
                    </a:p>
                  </a:txBody>
                  <a:tcPr marL="0" marR="0" marT="0" marB="0">
                    <a:solidFill>
                      <a:srgbClr val="FFFFFF"/>
                    </a:solidFill>
                  </a:tcPr>
                </a:tc>
                <a:tc>
                  <a:txBody>
                    <a:bodyPr/>
                    <a:lstStyle/>
                    <a:p>
                      <a:pPr algn="ctr">
                        <a:defRPr sz="1000">
                          <a:latin typeface="Montserrat"/>
                        </a:defRPr>
                      </a:pPr>
                      <a:r>
                        <a:t>61</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472</a:t>
                      </a:r>
                    </a:p>
                  </a:txBody>
                  <a:tcPr marL="0" marR="0" marT="0" marB="0">
                    <a:solidFill>
                      <a:srgbClr val="FFFFFF"/>
                    </a:solidFill>
                  </a:tcPr>
                </a:tc>
              </a:tr>
              <a:tr h="151200">
                <a:tc>
                  <a:txBody>
                    <a:bodyPr/>
                    <a:lstStyle/>
                    <a:p>
                      <a:pPr algn="ctr">
                        <a:defRPr sz="1000">
                          <a:latin typeface="Montserrat"/>
                        </a:defRPr>
                      </a:pPr>
                      <a:r>
                        <a:t>UMF 14 Amatlán</a:t>
                      </a:r>
                    </a:p>
                  </a:txBody>
                  <a:tcPr marL="0" marR="0" marT="0" marB="0">
                    <a:solidFill>
                      <a:srgbClr val="EFEFEF"/>
                    </a:solidFill>
                  </a:tcPr>
                </a:tc>
                <a:tc>
                  <a:txBody>
                    <a:bodyPr/>
                    <a:lstStyle/>
                    <a:p>
                      <a:pPr algn="ctr">
                        <a:defRPr sz="1000">
                          <a:latin typeface="Montserrat"/>
                        </a:defRPr>
                      </a:pPr>
                      <a:r>
                        <a:t>62</a:t>
                      </a:r>
                    </a:p>
                  </a:txBody>
                  <a:tcPr marL="0" marR="0" marT="0" marB="0">
                    <a:solidFill>
                      <a:srgbClr val="EFEFEF"/>
                    </a:solidFill>
                  </a:tcPr>
                </a:tc>
                <a:tc>
                  <a:txBody>
                    <a:bodyPr/>
                    <a:lstStyle/>
                    <a:p>
                      <a:pPr algn="ctr">
                        <a:defRPr sz="1000">
                          <a:latin typeface="Montserrat"/>
                        </a:defRPr>
                      </a:pPr>
                      <a:r>
                        <a:t>1</a:t>
                      </a:r>
                    </a:p>
                  </a:txBody>
                  <a:tcPr marL="0" marR="0" marT="0" marB="0">
                    <a:solidFill>
                      <a:srgbClr val="EFEFEF"/>
                    </a:solidFill>
                  </a:tcPr>
                </a:tc>
                <a:tc>
                  <a:txBody>
                    <a:bodyPr/>
                    <a:lstStyle/>
                    <a:p>
                      <a:pPr algn="ctr">
                        <a:defRPr sz="1000">
                          <a:latin typeface="Montserrat"/>
                        </a:defRPr>
                      </a:pPr>
                      <a:r>
                        <a:t>938</a:t>
                      </a:r>
                    </a:p>
                  </a:txBody>
                  <a:tcPr marL="0" marR="0" marT="0" marB="0">
                    <a:solidFill>
                      <a:srgbClr val="EFEFEF"/>
                    </a:solidFill>
                  </a:tcPr>
                </a:tc>
              </a:tr>
              <a:tr h="151200">
                <a:tc>
                  <a:txBody>
                    <a:bodyPr/>
                    <a:lstStyle/>
                    <a:p>
                      <a:pPr algn="ctr">
                        <a:defRPr sz="1000">
                          <a:latin typeface="Montserrat"/>
                        </a:defRPr>
                      </a:pPr>
                      <a:r>
                        <a:t>UMF 13 Paso del Macho</a:t>
                      </a:r>
                    </a:p>
                  </a:txBody>
                  <a:tcPr marL="0" marR="0" marT="0" marB="0">
                    <a:solidFill>
                      <a:srgbClr val="FFFFFF"/>
                    </a:solidFill>
                  </a:tcPr>
                </a:tc>
                <a:tc>
                  <a:txBody>
                    <a:bodyPr/>
                    <a:lstStyle/>
                    <a:p>
                      <a:pPr algn="ctr">
                        <a:defRPr sz="1000">
                          <a:latin typeface="Montserrat"/>
                        </a:defRPr>
                      </a:pPr>
                      <a:r>
                        <a:t>37</a:t>
                      </a:r>
                    </a:p>
                  </a:txBody>
                  <a:tcPr marL="0" marR="0" marT="0" marB="0">
                    <a:solidFill>
                      <a:srgbClr val="FFFFFF"/>
                    </a:solidFill>
                  </a:tcPr>
                </a:tc>
                <a:tc>
                  <a:txBody>
                    <a:bodyPr/>
                    <a:lstStyle/>
                    <a:p>
                      <a:pPr algn="ctr">
                        <a:defRPr sz="1000">
                          <a:latin typeface="Montserrat"/>
                        </a:defRPr>
                      </a:pPr>
                      <a:r>
                        <a:t>3</a:t>
                      </a:r>
                    </a:p>
                  </a:txBody>
                  <a:tcPr marL="0" marR="0" marT="0" marB="0">
                    <a:solidFill>
                      <a:srgbClr val="FFFFFF"/>
                    </a:solidFill>
                  </a:tcPr>
                </a:tc>
                <a:tc>
                  <a:txBody>
                    <a:bodyPr/>
                    <a:lstStyle/>
                    <a:p>
                      <a:pPr algn="ctr">
                        <a:defRPr sz="1000">
                          <a:latin typeface="Montserrat"/>
                        </a:defRPr>
                      </a:pPr>
                      <a:r>
                        <a:t>3,479</a:t>
                      </a:r>
                    </a:p>
                  </a:txBody>
                  <a:tcPr marL="0" marR="0" marT="0" marB="0">
                    <a:solidFill>
                      <a:srgbClr val="FFFFFF"/>
                    </a:solidFill>
                  </a:tcPr>
                </a:tc>
              </a:tr>
              <a:tr h="151200">
                <a:tc>
                  <a:txBody>
                    <a:bodyPr/>
                    <a:lstStyle/>
                    <a:p>
                      <a:pPr algn="ctr">
                        <a:defRPr sz="1000">
                          <a:latin typeface="Montserrat"/>
                        </a:defRPr>
                      </a:pPr>
                      <a:r>
                        <a:t>UMF 12 La Concepción</a:t>
                      </a:r>
                    </a:p>
                  </a:txBody>
                  <a:tcPr marL="0" marR="0" marT="0" marB="0">
                    <a:solidFill>
                      <a:srgbClr val="EFEFEF"/>
                    </a:solidFill>
                  </a:tcPr>
                </a:tc>
                <a:tc>
                  <a:txBody>
                    <a:bodyPr/>
                    <a:lstStyle/>
                    <a:p>
                      <a:pPr algn="ctr">
                        <a:defRPr sz="1000">
                          <a:latin typeface="Montserrat"/>
                        </a:defRPr>
                      </a:pPr>
                      <a:r>
                        <a:t>33</a:t>
                      </a:r>
                    </a:p>
                  </a:txBody>
                  <a:tcPr marL="0" marR="0" marT="0" marB="0">
                    <a:solidFill>
                      <a:srgbClr val="EFEFEF"/>
                    </a:solidFill>
                  </a:tcPr>
                </a:tc>
                <a:tc>
                  <a:txBody>
                    <a:bodyPr/>
                    <a:lstStyle/>
                    <a:p>
                      <a:pPr algn="ctr">
                        <a:defRPr sz="1000">
                          <a:latin typeface="Montserrat"/>
                        </a:defRPr>
                      </a:pPr>
                      <a:r>
                        <a:t>2</a:t>
                      </a:r>
                    </a:p>
                  </a:txBody>
                  <a:tcPr marL="0" marR="0" marT="0" marB="0">
                    <a:solidFill>
                      <a:srgbClr val="EFEFEF"/>
                    </a:solidFill>
                  </a:tcPr>
                </a:tc>
                <a:tc>
                  <a:txBody>
                    <a:bodyPr/>
                    <a:lstStyle/>
                    <a:p>
                      <a:pPr algn="ctr">
                        <a:defRPr sz="1000">
                          <a:latin typeface="Montserrat"/>
                        </a:defRPr>
                      </a:pPr>
                      <a:r>
                        <a:t>2,805</a:t>
                      </a:r>
                    </a:p>
                  </a:txBody>
                  <a:tcPr marL="0" marR="0" marT="0" marB="0">
                    <a:solidFill>
                      <a:srgbClr val="EFEFEF"/>
                    </a:solidFill>
                  </a:tcPr>
                </a:tc>
              </a:tr>
              <a:tr h="151200">
                <a:tc>
                  <a:txBody>
                    <a:bodyPr/>
                    <a:lstStyle/>
                    <a:p>
                      <a:pPr algn="ctr">
                        <a:defRPr sz="1000">
                          <a:latin typeface="Montserrat"/>
                        </a:defRPr>
                      </a:pPr>
                      <a:r>
                        <a:t>UMF 11 Paraje Nuevo</a:t>
                      </a:r>
                    </a:p>
                  </a:txBody>
                  <a:tcPr marL="0" marR="0" marT="0" marB="0">
                    <a:solidFill>
                      <a:srgbClr val="FFFFFF"/>
                    </a:solidFill>
                  </a:tcPr>
                </a:tc>
                <a:tc>
                  <a:txBody>
                    <a:bodyPr/>
                    <a:lstStyle/>
                    <a:p>
                      <a:pPr algn="ctr">
                        <a:defRPr sz="1000">
                          <a:latin typeface="Montserrat"/>
                        </a:defRPr>
                      </a:pPr>
                      <a:r>
                        <a:t>62</a:t>
                      </a:r>
                    </a:p>
                  </a:txBody>
                  <a:tcPr marL="0" marR="0" marT="0" marB="0">
                    <a:solidFill>
                      <a:srgbClr val="FFFFFF"/>
                    </a:solidFill>
                  </a:tcPr>
                </a:tc>
                <a:tc>
                  <a:txBody>
                    <a:bodyPr/>
                    <a:lstStyle/>
                    <a:p>
                      <a:pPr algn="ctr">
                        <a:defRPr sz="1000">
                          <a:latin typeface="Montserrat"/>
                        </a:defRPr>
                      </a:pPr>
                      <a:r>
                        <a:t>1</a:t>
                      </a:r>
                    </a:p>
                  </a:txBody>
                  <a:tcPr marL="0" marR="0" marT="0" marB="0">
                    <a:solidFill>
                      <a:srgbClr val="FFFFFF"/>
                    </a:solidFill>
                  </a:tcPr>
                </a:tc>
                <a:tc>
                  <a:txBody>
                    <a:bodyPr/>
                    <a:lstStyle/>
                    <a:p>
                      <a:pPr algn="ctr">
                        <a:defRPr sz="1000">
                          <a:latin typeface="Montserrat"/>
                        </a:defRPr>
                      </a:pPr>
                      <a:r>
                        <a:t>823</a:t>
                      </a:r>
                    </a:p>
                  </a:txBody>
                  <a:tcPr marL="0" marR="0" marT="0" marB="0">
                    <a:solidFill>
                      <a:srgbClr val="FFFFFF"/>
                    </a:solidFill>
                  </a:tcPr>
                </a:tc>
              </a:tr>
              <a:tr h="151200">
                <a:tc>
                  <a:txBody>
                    <a:bodyPr/>
                    <a:lstStyle/>
                    <a:p>
                      <a:pPr algn="ctr">
                        <a:defRPr sz="1000">
                          <a:latin typeface="Montserrat"/>
                        </a:defRPr>
                      </a:pPr>
                      <a:r>
                        <a:t>UMF 10 Cuitlahuac</a:t>
                      </a:r>
                    </a:p>
                  </a:txBody>
                  <a:tcPr marL="0" marR="0" marT="0" marB="0">
                    <a:solidFill>
                      <a:srgbClr val="EFEFEF"/>
                    </a:solidFill>
                  </a:tcPr>
                </a:tc>
                <a:tc>
                  <a:txBody>
                    <a:bodyPr/>
                    <a:lstStyle/>
                    <a:p>
                      <a:pPr algn="ctr">
                        <a:defRPr sz="1000">
                          <a:latin typeface="Montserrat"/>
                        </a:defRPr>
                      </a:pPr>
                      <a:r>
                        <a:t>61</a:t>
                      </a:r>
                    </a:p>
                  </a:txBody>
                  <a:tcPr marL="0" marR="0" marT="0" marB="0">
                    <a:solidFill>
                      <a:srgbClr val="EFEFEF"/>
                    </a:solidFill>
                  </a:tcPr>
                </a:tc>
                <a:tc>
                  <a:txBody>
                    <a:bodyPr/>
                    <a:lstStyle/>
                    <a:p>
                      <a:pPr algn="ctr">
                        <a:defRPr sz="1000">
                          <a:latin typeface="Montserrat"/>
                        </a:defRPr>
                      </a:pPr>
                      <a:r>
                        <a:t>3</a:t>
                      </a:r>
                    </a:p>
                  </a:txBody>
                  <a:tcPr marL="0" marR="0" marT="0" marB="0">
                    <a:solidFill>
                      <a:srgbClr val="EFEFEF"/>
                    </a:solidFill>
                  </a:tcPr>
                </a:tc>
                <a:tc>
                  <a:txBody>
                    <a:bodyPr/>
                    <a:lstStyle/>
                    <a:p>
                      <a:pPr algn="ctr">
                        <a:defRPr sz="1000">
                          <a:latin typeface="Montserrat"/>
                        </a:defRPr>
                      </a:pPr>
                      <a:r>
                        <a:t>2,972</a:t>
                      </a:r>
                    </a:p>
                  </a:txBody>
                  <a:tcPr marL="0" marR="0" marT="0" marB="0">
                    <a:solidFill>
                      <a:srgbClr val="EFEFEF"/>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49.0</a:t>
                      </a:r>
                    </a:p>
                  </a:txBody>
                  <a:tcPr marL="0" marR="0" marT="0" marB="0">
                    <a:solidFill>
                      <a:srgbClr val="D3E9E7"/>
                    </a:solidFill>
                  </a:tcPr>
                </a:tc>
                <a:tc>
                  <a:txBody>
                    <a:bodyPr/>
                    <a:lstStyle/>
                    <a:p>
                      <a:pPr algn="ctr">
                        <a:defRPr sz="1000" b="1">
                          <a:solidFill>
                            <a:srgbClr val="006556"/>
                          </a:solidFill>
                          <a:latin typeface="Montserrat"/>
                        </a:defRPr>
                      </a:pPr>
                      <a:r>
                        <a:t>204</a:t>
                      </a:r>
                    </a:p>
                  </a:txBody>
                  <a:tcPr marL="0" marR="0" marT="0" marB="0">
                    <a:solidFill>
                      <a:srgbClr val="D3E9E7"/>
                    </a:solidFill>
                  </a:tcPr>
                </a:tc>
                <a:tc>
                  <a:txBody>
                    <a:bodyPr/>
                    <a:lstStyle/>
                    <a:p>
                      <a:pPr algn="ctr">
                        <a:defRPr sz="1000" b="1">
                          <a:solidFill>
                            <a:srgbClr val="006556"/>
                          </a:solidFill>
                          <a:latin typeface="Montserrat"/>
                        </a:defRPr>
                      </a:pPr>
                      <a:r>
                        <a:t>227,334</a:t>
                      </a:r>
                    </a:p>
                  </a:txBody>
                  <a:tcPr marL="0" marR="0" marT="0" marB="0">
                    <a:solidFill>
                      <a:srgbClr val="D3E9E7"/>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BC955C"/>
                </a:solidFill>
                <a:latin typeface="Montserrat"/>
              </a:rPr>
              <a:t>Meta: </a:t>
            </a:r>
            <a:r>
              <a:rPr sz="2100" b="1">
                <a:solidFill>
                  <a:srgbClr val="9F2241"/>
                </a:solidFill>
                <a:latin typeface="Montserrat"/>
              </a:rPr>
              <a:t>Cirugías</a:t>
            </a:r>
          </a:p>
        </p:txBody>
      </p:sp>
      <p:cxnSp>
        <p:nvCxnSpPr>
          <p:cNvPr id="4" name="Connector 3"/>
          <p:cNvCxnSpPr/>
          <p:nvPr/>
        </p:nvCxnSpPr>
        <p:spPr>
          <a:xfrm>
            <a:off x="61200" y="986400"/>
            <a:ext cx="7470000" cy="0"/>
          </a:xfrm>
          <a:prstGeom prst="line">
            <a:avLst/>
          </a:prstGeom>
          <a:ln w="9525">
            <a:solidFill>
              <a:srgbClr val="BC95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Noto Sans"/>
              </a:defRPr>
            </a:pPr>
            <a:r>
              <a:t>Avance alcanzado respecto a la meta establecida para el mismo periodo.</a:t>
            </a:r>
            <a:br/>
            <a:r>
              <a:t>Corte de información: Semana: 9 febrero 2026</a:t>
            </a:r>
          </a:p>
        </p:txBody>
      </p:sp>
      <p:graphicFrame>
        <p:nvGraphicFramePr>
          <p:cNvPr id="6" name="Table 5"/>
          <p:cNvGraphicFramePr>
            <a:graphicFrameLocks noGrp="1"/>
          </p:cNvGraphicFramePr>
          <p:nvPr/>
        </p:nvGraphicFramePr>
        <p:xfrm>
          <a:off x="144000" y="1137600"/>
          <a:ext cx="7477200" cy="1137600"/>
        </p:xfrm>
        <a:graphic>
          <a:graphicData uri="http://schemas.openxmlformats.org/drawingml/2006/table">
            <a:tbl>
              <a:tblPr firstRow="1" bandRow="1">
                <a:tableStyleId>{5C22544A-7EE6-4342-B048-85BDC9FD1C3A}</a:tableStyleId>
              </a:tblPr>
              <a:tblGrid>
                <a:gridCol w="1533600"/>
                <a:gridCol w="968400"/>
                <a:gridCol w="968400"/>
                <a:gridCol w="968400"/>
                <a:gridCol w="968400"/>
                <a:gridCol w="968400"/>
                <a:gridCol w="1101600"/>
              </a:tblGrid>
              <a:tr h="284400">
                <a:tc>
                  <a:txBody>
                    <a:bodyPr/>
                    <a:lstStyle/>
                    <a:p>
                      <a:pPr algn="ctr">
                        <a:defRPr b="1" sz="900">
                          <a:solidFill>
                            <a:srgbClr val="FFFFFF"/>
                          </a:solidFill>
                          <a:latin typeface="Montserrat"/>
                        </a:defRPr>
                      </a:pPr>
                      <a:r>
                        <a:t>Unidad medica</a:t>
                      </a:r>
                    </a:p>
                  </a:txBody>
                  <a:tcPr>
                    <a:solidFill>
                      <a:srgbClr val="FFFFFF"/>
                    </a:solidFill>
                  </a:tcPr>
                </a:tc>
                <a:tc>
                  <a:txBody>
                    <a:bodyPr/>
                    <a:lstStyle/>
                    <a:p>
                      <a:pPr algn="ctr">
                        <a:defRPr b="1" sz="900">
                          <a:solidFill>
                            <a:srgbClr val="FFFFFF"/>
                          </a:solidFill>
                          <a:latin typeface="Montserrat"/>
                        </a:defRPr>
                      </a:pPr>
                      <a:r>
                        <a:t>Qx</a:t>
                      </a:r>
                    </a:p>
                  </a:txBody>
                  <a:tcPr>
                    <a:solidFill>
                      <a:srgbClr val="006455"/>
                    </a:solidFill>
                  </a:tcPr>
                </a:tc>
                <a:tc>
                  <a:txBody>
                    <a:bodyPr/>
                    <a:lstStyle/>
                    <a:p>
                      <a:pPr algn="ctr">
                        <a:defRPr b="1" sz="900">
                          <a:solidFill>
                            <a:srgbClr val="FFFFFF"/>
                          </a:solidFill>
                          <a:latin typeface="Montserrat"/>
                        </a:defRPr>
                      </a:pPr>
                      <a:r>
                        <a:t>Meta anual</a:t>
                      </a:r>
                    </a:p>
                  </a:txBody>
                  <a:tcPr>
                    <a:solidFill>
                      <a:srgbClr val="006455"/>
                    </a:solidFill>
                  </a:tcPr>
                </a:tc>
                <a:tc>
                  <a:txBody>
                    <a:bodyPr/>
                    <a:lstStyle/>
                    <a:p>
                      <a:pPr algn="ctr">
                        <a:defRPr b="1" sz="900">
                          <a:solidFill>
                            <a:srgbClr val="FFFFFF"/>
                          </a:solidFill>
                          <a:latin typeface="Montserrat"/>
                        </a:defRPr>
                      </a:pPr>
                      <a:r>
                        <a:t>Avance a fecha Actual</a:t>
                      </a:r>
                    </a:p>
                  </a:txBody>
                  <a:tcPr>
                    <a:solidFill>
                      <a:srgbClr val="006455"/>
                    </a:solidFill>
                  </a:tcPr>
                </a:tc>
                <a:tc>
                  <a:txBody>
                    <a:bodyPr/>
                    <a:lstStyle/>
                    <a:p>
                      <a:pPr algn="ctr">
                        <a:defRPr b="1" sz="900">
                          <a:solidFill>
                            <a:srgbClr val="FFFFFF"/>
                          </a:solidFill>
                          <a:latin typeface="Montserrat"/>
                        </a:defRPr>
                      </a:pPr>
                      <a:r>
                        <a:t>Meta a fecha Actual</a:t>
                      </a:r>
                    </a:p>
                  </a:txBody>
                  <a:tcPr>
                    <a:solidFill>
                      <a:srgbClr val="006455"/>
                    </a:solidFill>
                  </a:tcPr>
                </a:tc>
                <a:tc>
                  <a:txBody>
                    <a:bodyPr/>
                    <a:lstStyle/>
                    <a:p>
                      <a:pPr algn="ctr">
                        <a:defRPr b="1" sz="900">
                          <a:solidFill>
                            <a:srgbClr val="FFFFFF"/>
                          </a:solidFill>
                          <a:latin typeface="Montserrat"/>
                        </a:defRPr>
                      </a:pPr>
                      <a:r>
                        <a:t>% Avance a mes actual</a:t>
                      </a:r>
                    </a:p>
                  </a:txBody>
                  <a:tcPr>
                    <a:solidFill>
                      <a:srgbClr val="006455"/>
                    </a:solidFill>
                  </a:tcPr>
                </a:tc>
                <a:tc>
                  <a:txBody>
                    <a:bodyPr/>
                    <a:lstStyle/>
                    <a:p>
                      <a:pPr algn="ctr">
                        <a:defRPr b="1" sz="900">
                          <a:solidFill>
                            <a:srgbClr val="FFFFFF"/>
                          </a:solidFill>
                          <a:latin typeface="Montserrat"/>
                        </a:defRPr>
                      </a:pPr>
                      <a:r>
                        <a:t>% Avance anual</a:t>
                      </a:r>
                    </a:p>
                  </a:txBody>
                  <a:tcPr>
                    <a:solidFill>
                      <a:srgbClr val="980000"/>
                    </a:solidFill>
                  </a:tcPr>
                </a:tc>
              </a:tr>
              <a:tr h="284400">
                <a:tc>
                  <a:txBody>
                    <a:bodyPr/>
                    <a:lstStyle/>
                    <a:p>
                      <a:pPr algn="ctr">
                        <a:defRPr sz="1000">
                          <a:latin typeface="Montserrat"/>
                        </a:defRPr>
                      </a:pPr>
                      <a:r>
                        <a:t>HES 14 Veracruz</a:t>
                      </a:r>
                    </a:p>
                  </a:txBody>
                  <a:tcPr>
                    <a:solidFill>
                      <a:srgbClr val="FFFFFF"/>
                    </a:solidFill>
                  </a:tcPr>
                </a:tc>
                <a:tc>
                  <a:txBody>
                    <a:bodyPr/>
                    <a:lstStyle/>
                    <a:p>
                      <a:pPr algn="ctr">
                        <a:defRPr sz="1000">
                          <a:latin typeface="Montserrat"/>
                        </a:defRPr>
                      </a:pPr>
                      <a:r>
                        <a:t>12</a:t>
                      </a:r>
                    </a:p>
                  </a:txBody>
                  <a:tcPr>
                    <a:solidFill>
                      <a:srgbClr val="FFFFFF"/>
                    </a:solidFill>
                  </a:tcPr>
                </a:tc>
                <a:tc>
                  <a:txBody>
                    <a:bodyPr/>
                    <a:lstStyle/>
                    <a:p>
                      <a:pPr algn="ctr">
                        <a:defRPr sz="1000">
                          <a:latin typeface="Montserrat"/>
                        </a:defRPr>
                      </a:pPr>
                      <a:r>
                        <a:t>21,900</a:t>
                      </a:r>
                    </a:p>
                  </a:txBody>
                  <a:tcPr>
                    <a:solidFill>
                      <a:srgbClr val="FFFFFF"/>
                    </a:solidFill>
                  </a:tcPr>
                </a:tc>
                <a:tc>
                  <a:txBody>
                    <a:bodyPr/>
                    <a:lstStyle/>
                    <a:p>
                      <a:pPr algn="ctr">
                        <a:defRPr sz="1000">
                          <a:latin typeface="Montserrat"/>
                        </a:defRPr>
                      </a:pPr>
                      <a:r>
                        <a:t>1,183</a:t>
                      </a:r>
                    </a:p>
                  </a:txBody>
                  <a:tcPr>
                    <a:solidFill>
                      <a:srgbClr val="FFFFFF"/>
                    </a:solidFill>
                  </a:tcPr>
                </a:tc>
                <a:tc>
                  <a:txBody>
                    <a:bodyPr/>
                    <a:lstStyle/>
                    <a:p>
                      <a:pPr algn="ctr">
                        <a:defRPr sz="1000">
                          <a:latin typeface="Montserrat"/>
                        </a:defRPr>
                      </a:pPr>
                      <a:r>
                        <a:t>3,388</a:t>
                      </a:r>
                    </a:p>
                  </a:txBody>
                  <a:tcPr>
                    <a:solidFill>
                      <a:srgbClr val="FFFFFF"/>
                    </a:solidFill>
                  </a:tcPr>
                </a:tc>
                <a:tc>
                  <a:txBody>
                    <a:bodyPr/>
                    <a:lstStyle/>
                    <a:p>
                      <a:pPr algn="ctr">
                        <a:defRPr sz="1000">
                          <a:latin typeface="Montserrat"/>
                        </a:defRPr>
                      </a:pPr>
                      <a:r>
                        <a:t>35%</a:t>
                      </a:r>
                    </a:p>
                  </a:txBody>
                  <a:tcPr>
                    <a:solidFill>
                      <a:srgbClr val="FFFFFF"/>
                    </a:solidFill>
                  </a:tcPr>
                </a:tc>
                <a:tc>
                  <a:txBody>
                    <a:bodyPr/>
                    <a:lstStyle/>
                    <a:p>
                      <a:pPr algn="ctr">
                        <a:defRPr sz="1000">
                          <a:latin typeface="Montserrat"/>
                        </a:defRPr>
                      </a:pPr>
                      <a:r>
                        <a:t>5%</a:t>
                      </a:r>
                    </a:p>
                  </a:txBody>
                  <a:tcPr>
                    <a:solidFill>
                      <a:srgbClr val="FFFFFF"/>
                    </a:solidFill>
                  </a:tcPr>
                </a:tc>
              </a:tr>
              <a:tr h="284400">
                <a:tc>
                  <a:txBody>
                    <a:bodyPr/>
                    <a:lstStyle/>
                    <a:p>
                      <a:pPr algn="ctr">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tc>
                  <a:txBody>
                    <a:bodyPr/>
                    <a:lstStyle/>
                    <a:p>
                      <a:pPr algn="ctr">
                        <a:defRPr sz="1000" b="1">
                          <a:solidFill>
                            <a:srgbClr val="006556"/>
                          </a:solidFill>
                          <a:latin typeface="Montserrat"/>
                        </a:defRPr>
                      </a:pPr>
                      <a:r>
                        <a:t>21,900</a:t>
                      </a:r>
                    </a:p>
                  </a:txBody>
                  <a:tcPr>
                    <a:solidFill>
                      <a:srgbClr val="D3E9E7"/>
                    </a:solidFill>
                  </a:tcPr>
                </a:tc>
                <a:tc>
                  <a:txBody>
                    <a:bodyPr/>
                    <a:lstStyle/>
                    <a:p>
                      <a:pPr algn="ctr">
                        <a:defRPr sz="1000" b="1">
                          <a:solidFill>
                            <a:srgbClr val="006556"/>
                          </a:solidFill>
                          <a:latin typeface="Montserrat"/>
                        </a:defRPr>
                      </a:pPr>
                      <a:r>
                        <a:t>1,183</a:t>
                      </a:r>
                    </a:p>
                  </a:txBody>
                  <a:tcPr>
                    <a:solidFill>
                      <a:srgbClr val="D3E9E7"/>
                    </a:solidFill>
                  </a:tcPr>
                </a:tc>
                <a:tc>
                  <a:txBody>
                    <a:bodyPr/>
                    <a:lstStyle/>
                    <a:p>
                      <a:pPr algn="ctr">
                        <a:defRPr sz="1000" b="1">
                          <a:solidFill>
                            <a:srgbClr val="006556"/>
                          </a:solidFill>
                          <a:latin typeface="Montserrat"/>
                        </a:defRPr>
                      </a:pPr>
                      <a:r>
                        <a:t>3,388</a:t>
                      </a:r>
                    </a:p>
                  </a:txBody>
                  <a:tcPr>
                    <a:solidFill>
                      <a:srgbClr val="D3E9E7"/>
                    </a:solidFill>
                  </a:tcPr>
                </a:tc>
                <a:tc>
                  <a:txBody>
                    <a:bodyPr/>
                    <a:lstStyle/>
                    <a:p>
                      <a:pPr algn="ctr">
                        <a:defRPr sz="1000" b="1">
                          <a:solidFill>
                            <a:srgbClr val="006556"/>
                          </a:solidFill>
                          <a:latin typeface="Montserrat"/>
                        </a:defRPr>
                      </a:pPr>
                      <a:r>
                        <a:t>35%</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r>
              <a:tr h="284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73</a:t>
                      </a:r>
                    </a:p>
                  </a:txBody>
                  <a:tcPr>
                    <a:solidFill>
                      <a:srgbClr val="D3E9E7"/>
                    </a:solidFill>
                  </a:tcPr>
                </a:tc>
                <a:tc>
                  <a:txBody>
                    <a:bodyPr/>
                    <a:lstStyle/>
                    <a:p>
                      <a:pPr algn="ctr">
                        <a:defRPr sz="1000" b="1">
                          <a:solidFill>
                            <a:srgbClr val="006556"/>
                          </a:solidFill>
                          <a:latin typeface="Montserrat"/>
                        </a:defRPr>
                      </a:pPr>
                      <a:r>
                        <a:t>133,225</a:t>
                      </a:r>
                    </a:p>
                  </a:txBody>
                  <a:tcPr>
                    <a:solidFill>
                      <a:srgbClr val="D3E9E7"/>
                    </a:solidFill>
                  </a:tcPr>
                </a:tc>
                <a:tc>
                  <a:txBody>
                    <a:bodyPr/>
                    <a:lstStyle/>
                    <a:p>
                      <a:pPr algn="ctr">
                        <a:defRPr sz="1000" b="1">
                          <a:solidFill>
                            <a:srgbClr val="006556"/>
                          </a:solidFill>
                          <a:latin typeface="Montserrat"/>
                        </a:defRPr>
                      </a:pPr>
                      <a:r>
                        <a:t>8,582</a:t>
                      </a:r>
                    </a:p>
                  </a:txBody>
                  <a:tcPr>
                    <a:solidFill>
                      <a:srgbClr val="D3E9E7"/>
                    </a:solidFill>
                  </a:tcPr>
                </a:tc>
                <a:tc>
                  <a:txBody>
                    <a:bodyPr/>
                    <a:lstStyle/>
                    <a:p>
                      <a:pPr algn="ctr">
                        <a:defRPr sz="1000" b="1">
                          <a:solidFill>
                            <a:srgbClr val="006556"/>
                          </a:solidFill>
                          <a:latin typeface="Montserrat"/>
                        </a:defRPr>
                      </a:pPr>
                      <a:r>
                        <a:t>18,364</a:t>
                      </a:r>
                    </a:p>
                  </a:txBody>
                  <a:tcPr>
                    <a:solidFill>
                      <a:srgbClr val="D3E9E7"/>
                    </a:solidFill>
                  </a:tcPr>
                </a:tc>
                <a:tc>
                  <a:txBody>
                    <a:bodyPr/>
                    <a:lstStyle/>
                    <a:p>
                      <a:pPr algn="ctr">
                        <a:defRPr sz="1000" b="1">
                          <a:solidFill>
                            <a:srgbClr val="006556"/>
                          </a:solidFill>
                          <a:latin typeface="Montserrat"/>
                        </a:defRPr>
                      </a:pPr>
                      <a:r>
                        <a:t>50%</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BC955C"/>
                </a:solidFill>
                <a:latin typeface="Montserrat"/>
              </a:rPr>
              <a:t>Meta: </a:t>
            </a:r>
            <a:r>
              <a:rPr sz="2100" b="1">
                <a:solidFill>
                  <a:srgbClr val="9F2241"/>
                </a:solidFill>
                <a:latin typeface="Montserrat"/>
              </a:rPr>
              <a:t>Consultas de especialidad</a:t>
            </a:r>
          </a:p>
        </p:txBody>
      </p:sp>
      <p:cxnSp>
        <p:nvCxnSpPr>
          <p:cNvPr id="4" name="Connector 3"/>
          <p:cNvCxnSpPr/>
          <p:nvPr/>
        </p:nvCxnSpPr>
        <p:spPr>
          <a:xfrm>
            <a:off x="61200" y="986400"/>
            <a:ext cx="7470000" cy="0"/>
          </a:xfrm>
          <a:prstGeom prst="line">
            <a:avLst/>
          </a:prstGeom>
          <a:ln w="9525">
            <a:solidFill>
              <a:srgbClr val="BC95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Noto Sans"/>
              </a:defRPr>
            </a:pPr>
            <a:r>
              <a:t>Avance alcanzado respecto a la meta establecida para el mismo periodo.</a:t>
            </a:r>
            <a:br/>
            <a:r>
              <a:t>Corte de información: Semana: 9 febrero 2026</a:t>
            </a:r>
          </a:p>
        </p:txBody>
      </p:sp>
      <p:graphicFrame>
        <p:nvGraphicFramePr>
          <p:cNvPr id="6" name="Table 5"/>
          <p:cNvGraphicFramePr>
            <a:graphicFrameLocks noGrp="1"/>
          </p:cNvGraphicFramePr>
          <p:nvPr/>
        </p:nvGraphicFramePr>
        <p:xfrm>
          <a:off x="144000" y="1137600"/>
          <a:ext cx="7477200" cy="1137600"/>
        </p:xfrm>
        <a:graphic>
          <a:graphicData uri="http://schemas.openxmlformats.org/drawingml/2006/table">
            <a:tbl>
              <a:tblPr firstRow="1" bandRow="1">
                <a:tableStyleId>{5C22544A-7EE6-4342-B048-85BDC9FD1C3A}</a:tableStyleId>
              </a:tblPr>
              <a:tblGrid>
                <a:gridCol w="1533600"/>
                <a:gridCol w="968400"/>
                <a:gridCol w="968400"/>
                <a:gridCol w="968400"/>
                <a:gridCol w="968400"/>
                <a:gridCol w="968400"/>
                <a:gridCol w="1101600"/>
              </a:tblGrid>
              <a:tr h="284400">
                <a:tc>
                  <a:txBody>
                    <a:bodyPr/>
                    <a:lstStyle/>
                    <a:p>
                      <a:pPr algn="ctr">
                        <a:defRPr b="1" sz="900">
                          <a:solidFill>
                            <a:srgbClr val="FFFFFF"/>
                          </a:solidFill>
                          <a:latin typeface="Montserrat"/>
                        </a:defRPr>
                      </a:pPr>
                      <a:r>
                        <a:t>Unidad medica</a:t>
                      </a:r>
                    </a:p>
                  </a:txBody>
                  <a:tcPr>
                    <a:solidFill>
                      <a:srgbClr val="FFFFFF"/>
                    </a:solidFill>
                  </a:tcPr>
                </a:tc>
                <a:tc>
                  <a:txBody>
                    <a:bodyPr/>
                    <a:lstStyle/>
                    <a:p>
                      <a:pPr algn="ctr">
                        <a:defRPr b="1" sz="900">
                          <a:solidFill>
                            <a:srgbClr val="FFFFFF"/>
                          </a:solidFill>
                          <a:latin typeface="Montserrat"/>
                        </a:defRPr>
                      </a:pPr>
                      <a:r>
                        <a:t>Consultorios</a:t>
                      </a:r>
                    </a:p>
                  </a:txBody>
                  <a:tcPr>
                    <a:solidFill>
                      <a:srgbClr val="006455"/>
                    </a:solidFill>
                  </a:tcPr>
                </a:tc>
                <a:tc>
                  <a:txBody>
                    <a:bodyPr/>
                    <a:lstStyle/>
                    <a:p>
                      <a:pPr algn="ctr">
                        <a:defRPr b="1" sz="900">
                          <a:solidFill>
                            <a:srgbClr val="FFFFFF"/>
                          </a:solidFill>
                          <a:latin typeface="Montserrat"/>
                        </a:defRPr>
                      </a:pPr>
                      <a:r>
                        <a:t>Meta Anual</a:t>
                      </a:r>
                    </a:p>
                  </a:txBody>
                  <a:tcPr>
                    <a:solidFill>
                      <a:srgbClr val="006455"/>
                    </a:solidFill>
                  </a:tcPr>
                </a:tc>
                <a:tc>
                  <a:txBody>
                    <a:bodyPr/>
                    <a:lstStyle/>
                    <a:p>
                      <a:pPr algn="ctr">
                        <a:defRPr b="1" sz="900">
                          <a:solidFill>
                            <a:srgbClr val="FFFFFF"/>
                          </a:solidFill>
                          <a:latin typeface="Montserrat"/>
                        </a:defRPr>
                      </a:pPr>
                      <a:r>
                        <a:t>Atenciones a la fecha</a:t>
                      </a:r>
                    </a:p>
                  </a:txBody>
                  <a:tcPr>
                    <a:solidFill>
                      <a:srgbClr val="006455"/>
                    </a:solidFill>
                  </a:tcPr>
                </a:tc>
                <a:tc>
                  <a:txBody>
                    <a:bodyPr/>
                    <a:lstStyle/>
                    <a:p>
                      <a:pPr algn="ctr">
                        <a:defRPr b="1" sz="900">
                          <a:solidFill>
                            <a:srgbClr val="FFFFFF"/>
                          </a:solidFill>
                          <a:latin typeface="Montserrat"/>
                        </a:defRPr>
                      </a:pPr>
                      <a:r>
                        <a:t>Meta a la fecha</a:t>
                      </a:r>
                    </a:p>
                  </a:txBody>
                  <a:tcPr>
                    <a:solidFill>
                      <a:srgbClr val="006455"/>
                    </a:solidFill>
                  </a:tcPr>
                </a:tc>
                <a:tc>
                  <a:txBody>
                    <a:bodyPr/>
                    <a:lstStyle/>
                    <a:p>
                      <a:pPr algn="ctr">
                        <a:defRPr b="1" sz="900">
                          <a:solidFill>
                            <a:srgbClr val="FFFFFF"/>
                          </a:solidFill>
                          <a:latin typeface="Montserrat"/>
                        </a:defRPr>
                      </a:pPr>
                      <a:r>
                        <a:t>% Avance a mes actual</a:t>
                      </a:r>
                    </a:p>
                  </a:txBody>
                  <a:tcPr>
                    <a:solidFill>
                      <a:srgbClr val="006455"/>
                    </a:solidFill>
                  </a:tcPr>
                </a:tc>
                <a:tc>
                  <a:txBody>
                    <a:bodyPr/>
                    <a:lstStyle/>
                    <a:p>
                      <a:pPr algn="ctr">
                        <a:defRPr b="1" sz="900">
                          <a:solidFill>
                            <a:srgbClr val="FFFFFF"/>
                          </a:solidFill>
                          <a:latin typeface="Montserrat"/>
                        </a:defRPr>
                      </a:pPr>
                      <a:r>
                        <a:t>% Avance anual</a:t>
                      </a:r>
                    </a:p>
                  </a:txBody>
                  <a:tcPr>
                    <a:solidFill>
                      <a:srgbClr val="980000"/>
                    </a:solidFill>
                  </a:tcPr>
                </a:tc>
              </a:tr>
              <a:tr h="284400">
                <a:tc>
                  <a:txBody>
                    <a:bodyPr/>
                    <a:lstStyle/>
                    <a:p>
                      <a:pPr algn="ctr">
                        <a:defRPr sz="1000">
                          <a:latin typeface="Montserrat"/>
                        </a:defRPr>
                      </a:pPr>
                      <a:r>
                        <a:t>HES 14 Veracruz</a:t>
                      </a:r>
                    </a:p>
                  </a:txBody>
                  <a:tcPr>
                    <a:solidFill>
                      <a:srgbClr val="FFFFFF"/>
                    </a:solidFill>
                  </a:tcPr>
                </a:tc>
                <a:tc>
                  <a:txBody>
                    <a:bodyPr/>
                    <a:lstStyle/>
                    <a:p>
                      <a:pPr algn="ctr">
                        <a:defRPr sz="1000">
                          <a:latin typeface="Montserrat"/>
                        </a:defRPr>
                      </a:pPr>
                      <a:r>
                        <a:t>43</a:t>
                      </a:r>
                    </a:p>
                  </a:txBody>
                  <a:tcPr>
                    <a:solidFill>
                      <a:srgbClr val="FFFFFF"/>
                    </a:solidFill>
                  </a:tcPr>
                </a:tc>
                <a:tc>
                  <a:txBody>
                    <a:bodyPr/>
                    <a:lstStyle/>
                    <a:p>
                      <a:pPr algn="ctr">
                        <a:defRPr sz="1000">
                          <a:latin typeface="Montserrat"/>
                        </a:defRPr>
                      </a:pPr>
                      <a:r>
                        <a:t>282,510</a:t>
                      </a:r>
                    </a:p>
                  </a:txBody>
                  <a:tcPr>
                    <a:solidFill>
                      <a:srgbClr val="FFFFFF"/>
                    </a:solidFill>
                  </a:tcPr>
                </a:tc>
                <a:tc>
                  <a:txBody>
                    <a:bodyPr/>
                    <a:lstStyle/>
                    <a:p>
                      <a:pPr algn="ctr">
                        <a:defRPr sz="1000">
                          <a:latin typeface="Montserrat"/>
                        </a:defRPr>
                      </a:pPr>
                      <a:r>
                        <a:t>20,976</a:t>
                      </a:r>
                    </a:p>
                  </a:txBody>
                  <a:tcPr>
                    <a:solidFill>
                      <a:srgbClr val="FFFFFF"/>
                    </a:solidFill>
                  </a:tcPr>
                </a:tc>
                <a:tc>
                  <a:txBody>
                    <a:bodyPr/>
                    <a:lstStyle/>
                    <a:p>
                      <a:pPr algn="ctr">
                        <a:defRPr sz="1000">
                          <a:latin typeface="Montserrat"/>
                        </a:defRPr>
                      </a:pPr>
                      <a:r>
                        <a:t>45,666</a:t>
                      </a:r>
                    </a:p>
                  </a:txBody>
                  <a:tcPr>
                    <a:solidFill>
                      <a:srgbClr val="FFFFFF"/>
                    </a:solidFill>
                  </a:tcPr>
                </a:tc>
                <a:tc>
                  <a:txBody>
                    <a:bodyPr/>
                    <a:lstStyle/>
                    <a:p>
                      <a:pPr algn="ctr">
                        <a:defRPr sz="1000">
                          <a:latin typeface="Montserrat"/>
                        </a:defRPr>
                      </a:pPr>
                      <a:r>
                        <a:t>46%</a:t>
                      </a:r>
                    </a:p>
                  </a:txBody>
                  <a:tcPr>
                    <a:solidFill>
                      <a:srgbClr val="FFFFFF"/>
                    </a:solidFill>
                  </a:tcPr>
                </a:tc>
                <a:tc>
                  <a:txBody>
                    <a:bodyPr/>
                    <a:lstStyle/>
                    <a:p>
                      <a:pPr algn="ctr">
                        <a:defRPr sz="1000">
                          <a:latin typeface="Montserrat"/>
                        </a:defRPr>
                      </a:pPr>
                      <a:r>
                        <a:t>7%</a:t>
                      </a:r>
                    </a:p>
                  </a:txBody>
                  <a:tcPr>
                    <a:solidFill>
                      <a:srgbClr val="FFFFFF"/>
                    </a:solidFill>
                  </a:tcPr>
                </a:tc>
              </a:tr>
              <a:tr h="284400">
                <a:tc>
                  <a:txBody>
                    <a:bodyPr/>
                    <a:lstStyle/>
                    <a:p>
                      <a:pPr algn="ctr">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43</a:t>
                      </a:r>
                    </a:p>
                  </a:txBody>
                  <a:tcPr>
                    <a:solidFill>
                      <a:srgbClr val="D3E9E7"/>
                    </a:solidFill>
                  </a:tcPr>
                </a:tc>
                <a:tc>
                  <a:txBody>
                    <a:bodyPr/>
                    <a:lstStyle/>
                    <a:p>
                      <a:pPr algn="ctr">
                        <a:defRPr sz="1000" b="1">
                          <a:solidFill>
                            <a:srgbClr val="006556"/>
                          </a:solidFill>
                          <a:latin typeface="Montserrat"/>
                        </a:defRPr>
                      </a:pPr>
                      <a:r>
                        <a:t>282,510</a:t>
                      </a:r>
                    </a:p>
                  </a:txBody>
                  <a:tcPr>
                    <a:solidFill>
                      <a:srgbClr val="D3E9E7"/>
                    </a:solidFill>
                  </a:tcPr>
                </a:tc>
                <a:tc>
                  <a:txBody>
                    <a:bodyPr/>
                    <a:lstStyle/>
                    <a:p>
                      <a:pPr algn="ctr">
                        <a:defRPr sz="1000" b="1">
                          <a:solidFill>
                            <a:srgbClr val="006556"/>
                          </a:solidFill>
                          <a:latin typeface="Montserrat"/>
                        </a:defRPr>
                      </a:pPr>
                      <a:r>
                        <a:t>20,976</a:t>
                      </a:r>
                    </a:p>
                  </a:txBody>
                  <a:tcPr>
                    <a:solidFill>
                      <a:srgbClr val="D3E9E7"/>
                    </a:solidFill>
                  </a:tcPr>
                </a:tc>
                <a:tc>
                  <a:txBody>
                    <a:bodyPr/>
                    <a:lstStyle/>
                    <a:p>
                      <a:pPr algn="ctr">
                        <a:defRPr sz="1000" b="1">
                          <a:solidFill>
                            <a:srgbClr val="006556"/>
                          </a:solidFill>
                          <a:latin typeface="Montserrat"/>
                        </a:defRPr>
                      </a:pPr>
                      <a:r>
                        <a:t>45,666</a:t>
                      </a:r>
                    </a:p>
                  </a:txBody>
                  <a:tcPr>
                    <a:solidFill>
                      <a:srgbClr val="D3E9E7"/>
                    </a:solidFill>
                  </a:tcPr>
                </a:tc>
                <a:tc>
                  <a:txBody>
                    <a:bodyPr/>
                    <a:lstStyle/>
                    <a:p>
                      <a:pPr algn="ctr">
                        <a:defRPr sz="1000" b="1">
                          <a:solidFill>
                            <a:srgbClr val="006556"/>
                          </a:solidFill>
                          <a:latin typeface="Montserrat"/>
                        </a:defRPr>
                      </a:pPr>
                      <a:r>
                        <a:t>46%</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r>
              <a:tr h="284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229</a:t>
                      </a:r>
                    </a:p>
                  </a:txBody>
                  <a:tcPr>
                    <a:solidFill>
                      <a:srgbClr val="D3E9E7"/>
                    </a:solidFill>
                  </a:tcPr>
                </a:tc>
                <a:tc>
                  <a:txBody>
                    <a:bodyPr/>
                    <a:lstStyle/>
                    <a:p>
                      <a:pPr algn="ctr">
                        <a:defRPr sz="1000" b="1">
                          <a:solidFill>
                            <a:srgbClr val="006556"/>
                          </a:solidFill>
                          <a:latin typeface="Montserrat"/>
                        </a:defRPr>
                      </a:pPr>
                      <a:r>
                        <a:t>1,504,530</a:t>
                      </a:r>
                    </a:p>
                  </a:txBody>
                  <a:tcPr>
                    <a:solidFill>
                      <a:srgbClr val="D3E9E7"/>
                    </a:solidFill>
                  </a:tcPr>
                </a:tc>
                <a:tc>
                  <a:txBody>
                    <a:bodyPr/>
                    <a:lstStyle/>
                    <a:p>
                      <a:pPr algn="ctr">
                        <a:defRPr sz="1000" b="1">
                          <a:solidFill>
                            <a:srgbClr val="006556"/>
                          </a:solidFill>
                          <a:latin typeface="Montserrat"/>
                        </a:defRPr>
                      </a:pPr>
                      <a:r>
                        <a:t>132,012</a:t>
                      </a:r>
                    </a:p>
                  </a:txBody>
                  <a:tcPr>
                    <a:solidFill>
                      <a:srgbClr val="D3E9E7"/>
                    </a:solidFill>
                  </a:tcPr>
                </a:tc>
                <a:tc>
                  <a:txBody>
                    <a:bodyPr/>
                    <a:lstStyle/>
                    <a:p>
                      <a:pPr algn="ctr">
                        <a:defRPr sz="1000" b="1">
                          <a:solidFill>
                            <a:srgbClr val="006556"/>
                          </a:solidFill>
                          <a:latin typeface="Montserrat"/>
                        </a:defRPr>
                      </a:pPr>
                      <a:r>
                        <a:t>267,860</a:t>
                      </a:r>
                    </a:p>
                  </a:txBody>
                  <a:tcPr>
                    <a:solidFill>
                      <a:srgbClr val="D3E9E7"/>
                    </a:solidFill>
                  </a:tcPr>
                </a:tc>
                <a:tc>
                  <a:txBody>
                    <a:bodyPr/>
                    <a:lstStyle/>
                    <a:p>
                      <a:pPr algn="ctr">
                        <a:defRPr sz="1000" b="1">
                          <a:solidFill>
                            <a:srgbClr val="006556"/>
                          </a:solidFill>
                          <a:latin typeface="Montserrat"/>
                        </a:defRPr>
                      </a:pPr>
                      <a:r>
                        <a:t>49%</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Sur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4"/>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5"/>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Sur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4"/>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5"/>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Sur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sp>
        <p:nvSpPr>
          <p:cNvPr id="9" name="TextBox 8"/>
          <p:cNvSpPr txBox="1"/>
          <p:nvPr/>
        </p:nvSpPr>
        <p:spPr>
          <a:xfrm>
            <a:off x="1746504" y="576072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Norte</a:t>
            </a:r>
          </a:p>
        </p:txBody>
      </p:sp>
      <p:graphicFrame>
        <p:nvGraphicFramePr>
          <p:cNvPr id="10" name="Chart 9"/>
          <p:cNvGraphicFramePr>
            <a:graphicFrameLocks noGrp="1"/>
          </p:cNvGraphicFramePr>
          <p:nvPr/>
        </p:nvGraphicFramePr>
        <p:xfrm>
          <a:off x="0" y="6035040"/>
          <a:ext cx="3913632" cy="3657600"/>
        </p:xfrm>
        <a:graphic>
          <a:graphicData uri="http://schemas.openxmlformats.org/drawingml/2006/chart">
            <c:chart xmlns:c="http://schemas.openxmlformats.org/drawingml/2006/chart" r:id="rId4"/>
          </a:graphicData>
        </a:graphic>
      </p:graphicFrame>
      <p:graphicFrame>
        <p:nvGraphicFramePr>
          <p:cNvPr id="11" name="Chart 10"/>
          <p:cNvGraphicFramePr>
            <a:graphicFrameLocks noGrp="1"/>
          </p:cNvGraphicFramePr>
          <p:nvPr/>
        </p:nvGraphicFramePr>
        <p:xfrm>
          <a:off x="3959352" y="6035040"/>
          <a:ext cx="3913632" cy="3657600"/>
        </p:xfrm>
        <a:graphic>
          <a:graphicData uri="http://schemas.openxmlformats.org/drawingml/2006/chart">
            <c:chart xmlns:c="http://schemas.openxmlformats.org/drawingml/2006/chart" r:id="rId5"/>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Norte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4"/>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5"/>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Norte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4"/>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5"/>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Norte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4"/>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5"/>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Norte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4"/>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5"/>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Norte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4"/>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5"/>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Norte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4"/>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5"/>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Norte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4"/>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5"/>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Norte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4"/>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5"/>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Veracruz Norte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4"/>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5"/>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3" name="Connector 2"/>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 Ordinario UMAE 09 HES Veracruz</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sp>
        <p:nvSpPr>
          <p:cNvPr id="8" name="TextBox 7"/>
          <p:cNvSpPr txBox="1"/>
          <p:nvPr/>
        </p:nvSpPr>
        <p:spPr>
          <a:xfrm>
            <a:off x="1746504" y="6035040"/>
            <a:ext cx="4645152" cy="182880"/>
          </a:xfrm>
          <a:prstGeom prst="rect">
            <a:avLst/>
          </a:prstGeom>
          <a:noFill/>
        </p:spPr>
        <p:txBody>
          <a:bodyPr wrap="none">
            <a:spAutoFit/>
          </a:bodyPr>
          <a:lstStyle/>
          <a:p>
            <a:pPr algn="ctr">
              <a:defRPr b="1" sz="1400">
                <a:solidFill>
                  <a:srgbClr val="006455"/>
                </a:solidFill>
                <a:latin typeface="Noto Sans"/>
              </a:defRPr>
            </a:pPr>
            <a:r>
              <a:t>Programa IMSS--Coplamar</a:t>
            </a:r>
          </a:p>
        </p:txBody>
      </p:sp>
      <p:graphicFrame>
        <p:nvGraphicFramePr>
          <p:cNvPr id="9" name="Chart 8"/>
          <p:cNvGraphicFramePr>
            <a:graphicFrameLocks noGrp="1"/>
          </p:cNvGraphicFramePr>
          <p:nvPr/>
        </p:nvGraphicFramePr>
        <p:xfrm>
          <a:off x="0" y="6309360"/>
          <a:ext cx="3913632" cy="3657600"/>
        </p:xfrm>
        <a:graphic>
          <a:graphicData uri="http://schemas.openxmlformats.org/drawingml/2006/chart">
            <c:chart xmlns:c="http://schemas.openxmlformats.org/drawingml/2006/chart" r:id="rId3"/>
          </a:graphicData>
        </a:graphic>
      </p:graphicFrame>
      <p:graphicFrame>
        <p:nvGraphicFramePr>
          <p:cNvPr id="10" name="Chart 9"/>
          <p:cNvGraphicFramePr>
            <a:graphicFrameLocks noGrp="1"/>
          </p:cNvGraphicFramePr>
          <p:nvPr/>
        </p:nvGraphicFramePr>
        <p:xfrm>
          <a:off x="3959352" y="6309360"/>
          <a:ext cx="3913632" cy="3657600"/>
        </p:xfrm>
        <a:graphic>
          <a:graphicData uri="http://schemas.openxmlformats.org/drawingml/2006/chart">
            <c:chart xmlns:c="http://schemas.openxmlformats.org/drawingml/2006/chart" r:id="rId4"/>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IMSS--Coplamar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0" y="5760720"/>
          <a:ext cx="3913632" cy="3657600"/>
        </p:xfrm>
        <a:graphic>
          <a:graphicData uri="http://schemas.openxmlformats.org/drawingml/2006/chart">
            <c:chart xmlns:c="http://schemas.openxmlformats.org/drawingml/2006/chart" r:id="rId4"/>
          </a:graphicData>
        </a:graphic>
      </p:graphicFrame>
      <p:graphicFrame>
        <p:nvGraphicFramePr>
          <p:cNvPr id="10" name="Chart 9"/>
          <p:cNvGraphicFramePr>
            <a:graphicFrameLocks noGrp="1"/>
          </p:cNvGraphicFramePr>
          <p:nvPr/>
        </p:nvGraphicFramePr>
        <p:xfrm>
          <a:off x="3959352" y="5760720"/>
          <a:ext cx="3913632" cy="3657600"/>
        </p:xfrm>
        <a:graphic>
          <a:graphicData uri="http://schemas.openxmlformats.org/drawingml/2006/chart">
            <c:chart xmlns:c="http://schemas.openxmlformats.org/drawingml/2006/chart" r:id="rId5"/>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83464" y="649224"/>
            <a:ext cx="7470648" cy="384048"/>
          </a:xfrm>
          <a:prstGeom prst="rect">
            <a:avLst/>
          </a:prstGeom>
          <a:noFill/>
        </p:spPr>
        <p:txBody>
          <a:bodyPr wrap="none">
            <a:spAutoFit/>
          </a:bodyPr>
          <a:lstStyle/>
          <a:p>
            <a:pPr algn="l">
              <a:defRPr sz="2100" b="1">
                <a:solidFill>
                  <a:srgbClr val="B4975A"/>
                </a:solidFill>
                <a:latin typeface="Montserrat"/>
              </a:defRPr>
            </a:pPr>
            <a:r>
              <a:t>Especialistas, Draft</a:t>
            </a:r>
          </a:p>
        </p:txBody>
      </p:sp>
      <p:cxnSp>
        <p:nvCxnSpPr>
          <p:cNvPr id="4" name="Connector 3"/>
          <p:cNvCxnSpPr/>
          <p:nvPr/>
        </p:nvCxnSpPr>
        <p:spPr>
          <a:xfrm>
            <a:off x="283464" y="1033272"/>
            <a:ext cx="7470648" cy="0"/>
          </a:xfrm>
          <a:prstGeom prst="line">
            <a:avLst/>
          </a:prstGeom>
          <a:ln w="18288">
            <a:solidFill>
              <a:srgbClr val="B497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1200" y="9658800"/>
            <a:ext cx="7473600" cy="399600"/>
          </a:xfrm>
          <a:prstGeom prst="rect">
            <a:avLst/>
          </a:prstGeom>
          <a:noFill/>
        </p:spPr>
        <p:txBody>
          <a:bodyPr wrap="square" tIns="0" bIns="0" lIns="0" rIns="0">
            <a:spAutoFit/>
          </a:bodyPr>
          <a:lstStyle/>
          <a:p>
            <a:pPr algn="l">
              <a:defRPr sz="800">
                <a:solidFill>
                  <a:srgbClr val="FFFFFF"/>
                </a:solidFill>
                <a:latin typeface="Noto Sans"/>
              </a:defRPr>
            </a:pPr>
            <a:r>
              <a:t>Corte de Información: marzo 2025</a:t>
            </a:r>
          </a:p>
        </p:txBody>
      </p:sp>
      <p:sp>
        <p:nvSpPr>
          <p:cNvPr id="6" name="TextBox 5"/>
          <p:cNvSpPr txBox="1"/>
          <p:nvPr/>
        </p:nvSpPr>
        <p:spPr>
          <a:xfrm>
            <a:off x="1746504" y="1371600"/>
            <a:ext cx="4645152" cy="182880"/>
          </a:xfrm>
          <a:prstGeom prst="rect">
            <a:avLst/>
          </a:prstGeom>
          <a:noFill/>
        </p:spPr>
        <p:txBody>
          <a:bodyPr wrap="none">
            <a:spAutoFit/>
          </a:bodyPr>
          <a:lstStyle/>
          <a:p>
            <a:pPr algn="ctr">
              <a:defRPr b="1" sz="1400">
                <a:solidFill>
                  <a:srgbClr val="006455"/>
                </a:solidFill>
                <a:latin typeface="Noto Sans"/>
              </a:defRPr>
            </a:pPr>
            <a:r>
              <a:t>Programa IMSS--Coplamar (cont.)</a:t>
            </a:r>
          </a:p>
        </p:txBody>
      </p:sp>
      <p:graphicFrame>
        <p:nvGraphicFramePr>
          <p:cNvPr id="7" name="Chart 6"/>
          <p:cNvGraphicFramePr>
            <a:graphicFrameLocks noGrp="1"/>
          </p:cNvGraphicFramePr>
          <p:nvPr/>
        </p:nvGraphicFramePr>
        <p:xfrm>
          <a:off x="0" y="1645920"/>
          <a:ext cx="3913632" cy="36576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959352" y="1645920"/>
          <a:ext cx="3913632" cy="3657600"/>
        </p:xfrm>
        <a:graphic>
          <a:graphicData uri="http://schemas.openxmlformats.org/drawingml/2006/chart">
            <c:chart xmlns:c="http://schemas.openxmlformats.org/drawingml/2006/chart" r:id="rId3"/>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TotalTime>
  <Words>191</Words>
  <Application>Microsoft Office PowerPoint</Application>
  <PresentationFormat>Personalizado</PresentationFormat>
  <Paragraphs>69</Paragraphs>
  <Slides>23</Slides>
  <Notes>22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Noto Sans</vt:lpstr>
      <vt:lpstr>Montserrat</vt:lpstr>
      <vt:lpstr>Calibri</vt:lpstr>
      <vt:lpstr>Arial</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Rohan Myron Oprisko</cp:lastModifiedBy>
  <cp:revision>61</cp:revision>
  <dcterms:modified xsi:type="dcterms:W3CDTF">2026-03-12T18:39:06Z</dcterms:modified>
</cp:coreProperties>
</file>