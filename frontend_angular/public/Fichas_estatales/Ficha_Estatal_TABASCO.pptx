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1" r:id="rId40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40" Type="http://schemas.openxmlformats.org/officeDocument/2006/relationships/slide" Target="slides/slide23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796053.0</c:v>
                </c:pt>
                <c:pt idx="1">
                  <c:v>227859.0</c:v>
                </c:pt>
                <c:pt idx="2">
                  <c:v>1350687.0</c:v>
                </c:pt>
                <c:pt idx="3">
                  <c:v>98069.0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69</c:v>
                </c:pt>
                <c:pt idx="2">
                  <c:v>64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 Eléctrica y Captación y Suministro de Agua Potable</c:v>
                </c:pt>
                <c:pt idx="1">
                  <c:v>Agricultura, Ganaderia, Silvicultura, Pesca y Caza</c:v>
                </c:pt>
                <c:pt idx="2">
                  <c:v>Industria de la Construcción</c:v>
                </c:pt>
                <c:pt idx="3">
                  <c:v>Servicios para Empresas, Personas y el Hogar</c:v>
                </c:pt>
                <c:pt idx="4">
                  <c:v>Comercio</c:v>
                </c:pt>
                <c:pt idx="5">
                  <c:v>Transportes y Comunicaciones</c:v>
                </c:pt>
                <c:pt idx="6">
                  <c:v>Servicios Sociales y Comunales</c:v>
                </c:pt>
                <c:pt idx="7">
                  <c:v>Industrias Extractivas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1744</c:v>
                </c:pt>
                <c:pt idx="1">
                  <c:v>8446</c:v>
                </c:pt>
                <c:pt idx="2">
                  <c:v>30776</c:v>
                </c:pt>
                <c:pt idx="3">
                  <c:v>36140</c:v>
                </c:pt>
                <c:pt idx="4">
                  <c:v>67710</c:v>
                </c:pt>
                <c:pt idx="5">
                  <c:v>19080</c:v>
                </c:pt>
                <c:pt idx="6">
                  <c:v>18611</c:v>
                </c:pt>
                <c:pt idx="7">
                  <c:v>5142</c:v>
                </c:pt>
                <c:pt idx="8">
                  <c:v>16321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 Eléctrica y Captación y Suministro de Agua Potable</c:v>
                </c:pt>
                <c:pt idx="1">
                  <c:v>Agricultura, Ganaderia, Silvicultura, Pesca y Caza</c:v>
                </c:pt>
                <c:pt idx="2">
                  <c:v>Industria de la Construcción</c:v>
                </c:pt>
                <c:pt idx="3">
                  <c:v>Servicios para Empresas, Personas y el Hogar</c:v>
                </c:pt>
                <c:pt idx="4">
                  <c:v>Comercio</c:v>
                </c:pt>
                <c:pt idx="5">
                  <c:v>Transportes y Comunicaciones</c:v>
                </c:pt>
                <c:pt idx="6">
                  <c:v>Servicios Sociales y Comunales</c:v>
                </c:pt>
                <c:pt idx="7">
                  <c:v>Industrias Extractivas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1623</c:v>
                </c:pt>
                <c:pt idx="1">
                  <c:v>7896</c:v>
                </c:pt>
                <c:pt idx="2">
                  <c:v>28812</c:v>
                </c:pt>
                <c:pt idx="3">
                  <c:v>34901</c:v>
                </c:pt>
                <c:pt idx="4">
                  <c:v>67362</c:v>
                </c:pt>
                <c:pt idx="5">
                  <c:v>18983</c:v>
                </c:pt>
                <c:pt idx="6">
                  <c:v>19052</c:v>
                </c:pt>
                <c:pt idx="7">
                  <c:v>5297</c:v>
                </c:pt>
                <c:pt idx="8">
                  <c:v>17804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167478</c:v>
                </c:pt>
                <c:pt idx="1">
                  <c:v>166176</c:v>
                </c:pt>
                <c:pt idx="2">
                  <c:v>173223</c:v>
                </c:pt>
                <c:pt idx="3">
                  <c:v>179307</c:v>
                </c:pt>
                <c:pt idx="4">
                  <c:v>218065</c:v>
                </c:pt>
                <c:pt idx="5">
                  <c:v>240999</c:v>
                </c:pt>
                <c:pt idx="6">
                  <c:v>225114</c:v>
                </c:pt>
                <c:pt idx="7">
                  <c:v>203970</c:v>
                </c:pt>
                <c:pt idx="8">
                  <c:v>201730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4 Tenosique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Medicina Interna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7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 Cárdenas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Del Enfermo En Estado Critico</c:v>
                </c:pt>
                <c:pt idx="1">
                  <c:v>Medicina De Urgencias</c:v>
                </c:pt>
                <c:pt idx="2">
                  <c:v>Geriatria Directa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2A Cárdenas (Total: 19)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Traumatologia Y Ortopedia</c:v>
                </c:pt>
                <c:pt idx="1">
                  <c:v>Medicina De Urgencias</c:v>
                </c:pt>
                <c:pt idx="2">
                  <c:v>Medicina Interna</c:v>
                </c:pt>
                <c:pt idx="3">
                  <c:v>Imagenologia Diagnostica Y Terapeutica</c:v>
                </c:pt>
                <c:pt idx="4">
                  <c:v>Hematologia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8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46 Villahermosa (Total: 18)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Neumologia Directa</c:v>
                </c:pt>
                <c:pt idx="1">
                  <c:v>Cardiologia</c:v>
                </c:pt>
                <c:pt idx="2">
                  <c:v>Otorrinolaringologia Y Cirugia De Cabeza Y Cuello</c:v>
                </c:pt>
                <c:pt idx="3">
                  <c:v>Cirugia General</c:v>
                </c:pt>
                <c:pt idx="4">
                  <c:v>Traumatologia Y Ortopedia</c:v>
                </c:pt>
                <c:pt idx="5">
                  <c:v>Medicina De Urgencias</c:v>
                </c:pt>
                <c:pt idx="6">
                  <c:v>Medicina Interna</c:v>
                </c:pt>
                <c:pt idx="7">
                  <c:v>Cirugia Plastica Y Reconstructiva</c:v>
                </c:pt>
                <c:pt idx="8">
                  <c:v>Endocrinologia</c:v>
                </c:pt>
                <c:pt idx="9">
                  <c:v>Cirugia Oncologica</c:v>
                </c:pt>
                <c:pt idx="10">
                  <c:v>Pediatria</c:v>
                </c:pt>
                <c:pt idx="11">
                  <c:v>Oncologia Pediatrica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48 Pomoca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Tabasco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7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796,053</a:t>
            </a:r>
            <a:br/>
            <a:r>
              <a:t>32%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227,859</a:t>
            </a:r>
            <a:br/>
            <a:r>
              <a:t>9%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1,350,687</a:t>
            </a:r>
            <a:br/>
            <a:r>
              <a:t>55%</a:t>
            </a:r>
          </a:p>
        </p:txBody>
      </p:sp>
      <p:pic>
        <p:nvPicPr>
          <p:cNvPr id="132" name="Picture 131" descr="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98,069</a:t>
            </a:r>
            <a:br/>
            <a:r>
              <a:t>4%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2,472,668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639,196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796,053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373,285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500,814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199,830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165,599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181,471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180,323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1,136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265,911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295,239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133,211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128,353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7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31 UMF, 0 UMFH y 0 UMF-UMAA, y no incluye 2 Unidades Auxiliares de Medicina Familiar.</a:t>
            </a:r>
            <a:br/>
            <a:r>
              <a:t>2. Incluye la UMAA0,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3960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Emiliano Zapata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Plutarco Elías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I. Sta.Rosalía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Benito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36 Balancan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Emiliano Zapata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La Venta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Jonuta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Tacotalpa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Macuspana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Sánchez Magallanes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 Huimanguillo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Paraíso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Frontera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Teapa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Cd. Pemex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20 de Noviembre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Francisco Villa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Pedro Colorado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Vicente Guerrero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39,258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Cunduacan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Comalcalco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Jalpa Méndez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31,251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47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25,335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48 Pomoca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144,342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117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62</a:t>
            </a:r>
          </a:p>
        </p:txBody>
      </p:sp>
      <p:pic>
        <p:nvPicPr>
          <p:cNvPr id="12" name="Picture 11" descr="Mapa_draft_etiquetas_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611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34,675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2,717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4,365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39,294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37,812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59,590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1,302,912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206,455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34,675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1,635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298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3,782	 Personal de Salud: 5,992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+82.8%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+47.7%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+40.2%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1,389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986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+152.4%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Epidemiologia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5,099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272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64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1,322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597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7,290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(251,402)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(28,241)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(3,568)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(6,396)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(218,133)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(18,081)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(2,993)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(3,277)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(181)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(66,409)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(14,234)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(2,916)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(2,817)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(106)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(48,314)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(13,253)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Artropatias   (2,555)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(2,518)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(100)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(42,534)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(12,378)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(1,343)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(1,462)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33,457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312,209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23,370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402,725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7692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40 piezas de equipo electromecánico: 32 aires acondicionados, 3 plantas de lavado, 3 cuartos de máquinas y 2 elevadores.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$292.3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77 piezas de equipo médico: 1 Angiografo, 1 Tomógrafo, 73 Camilla, 2 Refrigerador para vacunas.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14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$21.3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$109.3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510.3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Oncocrean HGZ No. 46, Villahermosa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sala de usos múltiples maternales Guardería,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Unidad de Expansión HGZ 2A,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$877.9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9 Unidades de Medicina Familiar (UMF 9, 25, 32, 20, 48, 30, 33, 36 y 47), de: Benito Juárez, Villahermosa, Balancán, Emiliano Zapata y La Venta.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$17.9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Electromecánico (2 elevadores, 19 unidades manejadoras de aire, 5 lavadoras y 5 secadoras, 1 montacargas y 3 cámaras frías)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$280.5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Unidades Médicas HGZ 46,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$30.3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13 quirófanos (HGZ 2 HGZ 46 y HGSZ 04) Cardenas, Tenosique y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áreas de Patología en HGZ 46, Villahermosa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cocinas y Comedores en HGZ No. 46, HGZ No. 2 y HGSZ No. 4, Cardenas, Tenosique y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 médicas, almacenes y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$80.1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HGZ 46,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integral HGZSM 4, Tenosique        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1,359.8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815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105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Gaviota San José y El Triunfo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46 Villa Hermosa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7_t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CORPORACION SANCHEZ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6,080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JUAREZ AUTONOMA DE TABASCO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CHEDRAUI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4,031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-6.94%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-6.51%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-6.38%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-3.43%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-0.51%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-0.51%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+2.37%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+3.01%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+9.09%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169,409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4,697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26,859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3,005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203,970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166,366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201,730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$598.22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$297.14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$598.22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$17,946.6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176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ALVARGA CONSTRUCCIONES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$11,793.23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MATERIALES Y EQUIPO PETROLERO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$10,746.14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Y MAQUINARIA DE MEXICO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$9,030.78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Administración Portuaria Integral de Tabasco S.A. de C.V.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$1,193.02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Tabasco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Tabasco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