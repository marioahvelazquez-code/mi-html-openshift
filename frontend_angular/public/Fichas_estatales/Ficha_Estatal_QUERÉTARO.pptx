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90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3" r:id="rId23"/>
    <p:sldId id="291" r:id="rId40"/>
    <p:sldId id="292" r:id="rId41"/>
    <p:sldId id="293" r:id="rId42"/>
  </p:sldIdLst>
  <p:sldSz cx="7772400" cy="10058400"/>
  <p:notesSz cx="6858000" cy="9144000"/>
  <p:embeddedFontLst>
    <p:embeddedFont>
      <p:font typeface="Montserrat" pitchFamily="2" charset="0"/>
      <p:regular r:id="rId25"/>
      <p:bold r:id="rId26"/>
      <p:italic r:id="rId27"/>
      <p:boldItalic r:id="rId28"/>
    </p:embeddedFont>
    <p:embeddedFont>
      <p:font typeface="Noto Sans" panose="020B0502040504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DD846-E312-4F47-9C7E-25E94B8F68C5}" v="1" dt="2026-03-12T17:51:04.33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3-12T18:40:08.203" v="5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1:19.513" v="2" actId="1076"/>
        <pc:sldMkLst>
          <pc:docMk/>
          <pc:sldMk cId="0" sldId="258"/>
        </pc:sldMkLst>
        <pc:graphicFrameChg chg="add mod">
          <ac:chgData name="Rohan Myron Oprisko" userId="a7c52ab4-f8b1-4d15-aaf6-6388cc510347" providerId="ADAL" clId="{EEEE6C0E-EB18-4E43-B633-E5F95274828B}" dt="2026-03-12T17:51:19.513" v="2" actId="1076"/>
          <ac:graphicFrameMkLst>
            <pc:docMk/>
            <pc:sldMk cId="0" sldId="258"/>
            <ac:graphicFrameMk id="2" creationId="{A74BA5C1-2E6F-DDDD-FFBA-AAF34461C16E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40:08.203" v="5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40:08.203" v="5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0:58.875" v="0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0:58.875" v="0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undo custSel addSld delSld modSld">
      <pc:chgData name="David Arturo Baltazar Sanchez" userId="25f522d3-6b93-447f-8e87-5af7c1a8f0db" providerId="ADAL" clId="{1167E2C4-85EE-4FA3-A5C3-376395AAEEB6}" dt="2026-03-11T19:03:13.610" v="70" actId="20577"/>
      <pc:docMkLst>
        <pc:docMk/>
      </pc:docMkLst>
      <pc:sldChg chg="del">
        <pc:chgData name="David Arturo Baltazar Sanchez" userId="25f522d3-6b93-447f-8e87-5af7c1a8f0db" providerId="ADAL" clId="{1167E2C4-85EE-4FA3-A5C3-376395AAEEB6}" dt="2026-03-11T00:35:35.738" v="67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3:13.610" v="70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3:13.610" v="70" actId="20577"/>
          <ac:spMkLst>
            <pc:docMk/>
            <pc:sldMk cId="0" sldId="260"/>
            <ac:spMk id="145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1T00:23:45.133" v="29" actId="478"/>
        <pc:sldMkLst>
          <pc:docMk/>
          <pc:sldMk cId="0" sldId="261"/>
        </pc:sldMkLst>
        <pc:spChg chg="del">
          <ac:chgData name="David Arturo Baltazar Sanchez" userId="25f522d3-6b93-447f-8e87-5af7c1a8f0db" providerId="ADAL" clId="{1167E2C4-85EE-4FA3-A5C3-376395AAEEB6}" dt="2026-03-11T00:23:45.133" v="29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43.974" v="28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new del">
        <pc:chgData name="David Arturo Baltazar Sanchez" userId="25f522d3-6b93-447f-8e87-5af7c1a8f0db" providerId="ADAL" clId="{1167E2C4-85EE-4FA3-A5C3-376395AAEEB6}" dt="2026-03-11T00:26:23.643" v="31" actId="47"/>
        <pc:sldMkLst>
          <pc:docMk/>
          <pc:sldMk cId="928051043" sldId="288"/>
        </pc:sldMkLst>
      </pc:sldChg>
      <pc:sldChg chg="new del">
        <pc:chgData name="David Arturo Baltazar Sanchez" userId="25f522d3-6b93-447f-8e87-5af7c1a8f0db" providerId="ADAL" clId="{1167E2C4-85EE-4FA3-A5C3-376395AAEEB6}" dt="2026-03-11T00:47:14.693" v="68" actId="47"/>
        <pc:sldMkLst>
          <pc:docMk/>
          <pc:sldMk cId="1080931811" sldId="288"/>
        </pc:sldMkLst>
      </pc:sldChg>
      <pc:sldChg chg="new del">
        <pc:chgData name="David Arturo Baltazar Sanchez" userId="25f522d3-6b93-447f-8e87-5af7c1a8f0db" providerId="ADAL" clId="{1167E2C4-85EE-4FA3-A5C3-376395AAEEB6}" dt="2026-03-11T00:26:36.074" v="33" actId="47"/>
        <pc:sldMkLst>
          <pc:docMk/>
          <pc:sldMk cId="1478125461" sldId="288"/>
        </pc:sldMkLst>
      </pc:sldChg>
      <pc:sldChg chg="new del">
        <pc:chgData name="David Arturo Baltazar Sanchez" userId="25f522d3-6b93-447f-8e87-5af7c1a8f0db" providerId="ADAL" clId="{1167E2C4-85EE-4FA3-A5C3-376395AAEEB6}" dt="2026-03-11T00:28:44.016" v="35" actId="680"/>
        <pc:sldMkLst>
          <pc:docMk/>
          <pc:sldMk cId="2538647063" sldId="288"/>
        </pc:sldMkLst>
      </pc:sldChg>
      <pc:sldChg chg="new">
        <pc:chgData name="David Arturo Baltazar Sanchez" userId="25f522d3-6b93-447f-8e87-5af7c1a8f0db" providerId="ADAL" clId="{1167E2C4-85EE-4FA3-A5C3-376395AAEEB6}" dt="2026-03-11T00:29:46.743" v="37" actId="680"/>
        <pc:sldMkLst>
          <pc:docMk/>
          <pc:sldMk cId="1990800304" sldId="289"/>
        </pc:sldMkLst>
      </pc:sldChg>
      <pc:sldChg chg="new del">
        <pc:chgData name="David Arturo Baltazar Sanchez" userId="25f522d3-6b93-447f-8e87-5af7c1a8f0db" providerId="ADAL" clId="{1167E2C4-85EE-4FA3-A5C3-376395AAEEB6}" dt="2026-03-11T00:32:03.604" v="43" actId="680"/>
        <pc:sldMkLst>
          <pc:docMk/>
          <pc:sldMk cId="419254101" sldId="290"/>
        </pc:sldMkLst>
      </pc:sldChg>
      <pc:sldChg chg="new del">
        <pc:chgData name="David Arturo Baltazar Sanchez" userId="25f522d3-6b93-447f-8e87-5af7c1a8f0db" providerId="ADAL" clId="{1167E2C4-85EE-4FA3-A5C3-376395AAEEB6}" dt="2026-03-11T00:31:06.802" v="41" actId="47"/>
        <pc:sldMkLst>
          <pc:docMk/>
          <pc:sldMk cId="1188354318" sldId="290"/>
        </pc:sldMkLst>
      </pc:sldChg>
      <pc:sldChg chg="addSp modSp new mod">
        <pc:chgData name="David Arturo Baltazar Sanchez" userId="25f522d3-6b93-447f-8e87-5af7c1a8f0db" providerId="ADAL" clId="{1167E2C4-85EE-4FA3-A5C3-376395AAEEB6}" dt="2026-03-11T00:34:00.644" v="66" actId="20577"/>
        <pc:sldMkLst>
          <pc:docMk/>
          <pc:sldMk cId="2277926431" sldId="290"/>
        </pc:sldMkLst>
        <pc:graphicFrameChg chg="add mod modGraphic">
          <ac:chgData name="David Arturo Baltazar Sanchez" userId="25f522d3-6b93-447f-8e87-5af7c1a8f0db" providerId="ADAL" clId="{1167E2C4-85EE-4FA3-A5C3-376395AAEEB6}" dt="2026-03-11T00:34:00.644" v="66" actId="20577"/>
          <ac:graphicFrameMkLst>
            <pc:docMk/>
            <pc:sldMk cId="2277926431" sldId="290"/>
            <ac:graphicFrameMk id="2" creationId="{47ECCB65-5E51-65E2-D82B-1623D1CC8DFA}"/>
          </ac:graphicFrameMkLst>
        </pc:graphicFrameChg>
      </pc:sldChg>
      <pc:sldChg chg="new del">
        <pc:chgData name="David Arturo Baltazar Sanchez" userId="25f522d3-6b93-447f-8e87-5af7c1a8f0db" providerId="ADAL" clId="{1167E2C4-85EE-4FA3-A5C3-376395AAEEB6}" dt="2026-03-11T00:32:47.754" v="45" actId="680"/>
        <pc:sldMkLst>
          <pc:docMk/>
          <pc:sldMk cId="2915184652" sldId="290"/>
        </pc:sldMkLst>
      </pc:sldChg>
      <pc:sldChg chg="new del">
        <pc:chgData name="David Arturo Baltazar Sanchez" userId="25f522d3-6b93-447f-8e87-5af7c1a8f0db" providerId="ADAL" clId="{1167E2C4-85EE-4FA3-A5C3-376395AAEEB6}" dt="2026-03-11T00:32:56.047" v="47" actId="680"/>
        <pc:sldMkLst>
          <pc:docMk/>
          <pc:sldMk cId="3598547803" sldId="290"/>
        </pc:sldMkLst>
      </pc:sldChg>
      <pc:sldChg chg="new del">
        <pc:chgData name="David Arturo Baltazar Sanchez" userId="25f522d3-6b93-447f-8e87-5af7c1a8f0db" providerId="ADAL" clId="{1167E2C4-85EE-4FA3-A5C3-376395AAEEB6}" dt="2026-03-11T00:31:02.012" v="39" actId="47"/>
        <pc:sldMkLst>
          <pc:docMk/>
          <pc:sldMk cId="3776525890" sldId="290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1635744.0</c:v>
                </c:pt>
                <c:pt idx="1">
                  <c:v>191529.0</c:v>
                </c:pt>
                <c:pt idx="2">
                  <c:v>861609.0</c:v>
                </c:pt>
                <c:pt idx="3">
                  <c:v>12096.0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189</c:v>
                </c:pt>
                <c:pt idx="2">
                  <c:v>200</c:v>
                </c:pt>
                <c:pt idx="3">
                  <c:v>188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de la Transformación</c:v>
                </c:pt>
                <c:pt idx="2">
                  <c:v>Servicios para Empresas, Personas y el Hogar</c:v>
                </c:pt>
                <c:pt idx="3">
                  <c:v>Industria de la Construcción</c:v>
                </c:pt>
                <c:pt idx="4">
                  <c:v>Servicios Sociales y Comunales</c:v>
                </c:pt>
                <c:pt idx="5">
                  <c:v>Industrias Extractivas</c:v>
                </c:pt>
                <c:pt idx="6">
                  <c:v>Comercio</c:v>
                </c:pt>
                <c:pt idx="7">
                  <c:v>Transportes y Comunicaciones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22626</c:v>
                </c:pt>
                <c:pt idx="1">
                  <c:v>248999</c:v>
                </c:pt>
                <c:pt idx="2">
                  <c:v>137971</c:v>
                </c:pt>
                <c:pt idx="3">
                  <c:v>62615</c:v>
                </c:pt>
                <c:pt idx="4">
                  <c:v>66145</c:v>
                </c:pt>
                <c:pt idx="5">
                  <c:v>2172</c:v>
                </c:pt>
                <c:pt idx="6">
                  <c:v>124402</c:v>
                </c:pt>
                <c:pt idx="7">
                  <c:v>46620</c:v>
                </c:pt>
                <c:pt idx="8">
                  <c:v>4258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de la Transformación</c:v>
                </c:pt>
                <c:pt idx="2">
                  <c:v>Servicios para Empresas, Personas y el Hogar</c:v>
                </c:pt>
                <c:pt idx="3">
                  <c:v>Industria de la Construcción</c:v>
                </c:pt>
                <c:pt idx="4">
                  <c:v>Servicios Sociales y Comunales</c:v>
                </c:pt>
                <c:pt idx="5">
                  <c:v>Industrias Extractivas</c:v>
                </c:pt>
                <c:pt idx="6">
                  <c:v>Comercio</c:v>
                </c:pt>
                <c:pt idx="7">
                  <c:v>Transportes y Comunicaciones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21854</c:v>
                </c:pt>
                <c:pt idx="1">
                  <c:v>246653</c:v>
                </c:pt>
                <c:pt idx="2">
                  <c:v>138347</c:v>
                </c:pt>
                <c:pt idx="3">
                  <c:v>62853</c:v>
                </c:pt>
                <c:pt idx="4">
                  <c:v>67098</c:v>
                </c:pt>
                <c:pt idx="5">
                  <c:v>2208</c:v>
                </c:pt>
                <c:pt idx="6">
                  <c:v>126669</c:v>
                </c:pt>
                <c:pt idx="7">
                  <c:v>50330</c:v>
                </c:pt>
                <c:pt idx="8">
                  <c:v>4635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562681</c:v>
                </c:pt>
                <c:pt idx="1">
                  <c:v>593984</c:v>
                </c:pt>
                <c:pt idx="2">
                  <c:v>615585</c:v>
                </c:pt>
                <c:pt idx="3">
                  <c:v>606706</c:v>
                </c:pt>
                <c:pt idx="4">
                  <c:v>641638</c:v>
                </c:pt>
                <c:pt idx="5">
                  <c:v>676216</c:v>
                </c:pt>
                <c:pt idx="6">
                  <c:v>708177</c:v>
                </c:pt>
                <c:pt idx="7">
                  <c:v>715808</c:v>
                </c:pt>
                <c:pt idx="8">
                  <c:v>720647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1 Querétaro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Cardiologia</c:v>
                </c:pt>
                <c:pt idx="1">
                  <c:v>Medicina Del Enfermo Pediatrico En Estado Critico</c:v>
                </c:pt>
                <c:pt idx="2">
                  <c:v>Pediatria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2 El Marqués (Total: 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Dermatologia</c:v>
                </c:pt>
                <c:pt idx="1">
                  <c:v>Endocrinologia</c:v>
                </c:pt>
                <c:pt idx="2">
                  <c:v>Traumatologia Y Ortopedia</c:v>
                </c:pt>
                <c:pt idx="3">
                  <c:v>Otorrinolaringologia Y Cirugia De Cabeza Y Cuello</c:v>
                </c:pt>
                <c:pt idx="4">
                  <c:v>Neurocirugia</c:v>
                </c:pt>
                <c:pt idx="5">
                  <c:v>Anatomia Patologica</c:v>
                </c:pt>
                <c:pt idx="6">
                  <c:v>Imagenologia Diagnostica Y Terapeutica</c:v>
                </c:pt>
                <c:pt idx="7">
                  <c:v>Geriatria Directa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3 S. Juan del Río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Medicina Familiar</c:v>
                </c:pt>
                <c:pt idx="1">
                  <c:v>Otorrinolaringologia Y Cirugia De Cabeza Y Cuello</c:v>
                </c:pt>
                <c:pt idx="2">
                  <c:v>Traumatologia Y Ortopedia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10 S. Gregorio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13 Querétaro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15 Querétaro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16 Querétaro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17 Corregidora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 San Cayetano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 S. Juan del Río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 S. Juan del Río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 El Marqués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Del Trabajo Y Ambiental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9 Del Tintero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Medicina Del Trabajo Y Ambiental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Querétaro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22_q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</p:spTree>
    <p:extLst>
      <p:ext uri="{BB962C8B-B14F-4D97-AF65-F5344CB8AC3E}">
        <p14:creationId xmlns:p14="http://schemas.microsoft.com/office/powerpoint/2010/main" val="199080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74BA5C1-2E6F-DDDD-FFBA-AAF34461C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528153"/>
              </p:ext>
            </p:extLst>
          </p:nvPr>
        </p:nvGraphicFramePr>
        <p:xfrm>
          <a:off x="313125" y="60833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4806387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794185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1,635,744</a:t>
            </a:r>
            <a:br/>
            <a:r>
              <a:t>61%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191,529</a:t>
            </a:r>
            <a:br/>
            <a:r>
              <a:t>7%</a:t>
            </a:r>
          </a:p>
        </p:txBody>
      </p:sp>
      <p:pic>
        <p:nvPicPr>
          <p:cNvPr id="129" name="Picture 128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861,609</a:t>
            </a:r>
            <a:br/>
            <a:r>
              <a:t>32%</a:t>
            </a:r>
          </a:p>
        </p:txBody>
      </p:sp>
      <p:pic>
        <p:nvPicPr>
          <p:cNvPr id="132" name="Picture 131" descr="2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393116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12,096</a:t>
            </a:r>
            <a:br/>
            <a:r>
              <a:t>0.45%</a:t>
            </a:r>
          </a:p>
        </p:txBody>
      </p:sp>
      <p:pic>
        <p:nvPicPr>
          <p:cNvPr id="135" name="Picture 134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2,700,978</a:t>
            </a: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1,371,919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1,635,744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797,662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999,169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576,858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717,732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128,565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177,014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119,676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5,103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3,895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-24%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574,257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636,575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187,077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224,974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294,089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276,365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135,236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2_q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168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701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361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701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21 UMF, 1 UMFH y 0 UMF-UMAA, y no incluye 4 Unidades Auxiliares de Medicina Familiar.</a:t>
            </a:r>
            <a:br/>
            <a:r>
              <a:t>2. Incluye la UMAA1,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/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1 Querétaro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3 S. Juan del Río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UMAA 1 Querétaro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2 El Marqués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701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3960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 El Marqués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 Querétaro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Querétaro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S. Juan del Río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22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10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4 Tequisquiapan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66 Maconi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64 Toliman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63 S. Joaquín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59 Huimilpan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58 E. Montes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57 Colón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56 Amealco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P. Escobedo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 Cadereyta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28,159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22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12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 San Cayetano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19,879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 S. Juan del Río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30,763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 Querétaro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41,425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 Querétaro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33,316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 S. R. Jaúregui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 Del Tintero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45,228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El Pueblito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15 Querétaro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32,503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10 S. Gregorio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16,237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 S. Juan del Río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30,315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 El Marqués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26,709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Corregidora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331,893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156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116</a:t>
            </a:r>
          </a:p>
        </p:txBody>
      </p:sp>
      <p:pic>
        <p:nvPicPr>
          <p:cNvPr id="12" name="Picture 11" descr="Mapa_draft_etiquetas_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53194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Querétaro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 El Marqués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 Querétaro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S. Juan del Río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43,800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3,151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6,453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03780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 El Marqués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44,604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Querétaro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216,810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20,229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36,108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S. Juan del Río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 Querétaro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571,590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57,613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102,306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2,104,704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383,894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244,686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571,590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102,306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57,613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7ECCB65-5E51-65E2-D82B-1623D1CC8D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8879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Medicina Interna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5,509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1,299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926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6,659	 Personal de Salud: 9,892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+247.4%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+45.3%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1,537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+46.3%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1,665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2,436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+46.7%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1,151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1,688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+208.2%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638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+8.9%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270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294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9,407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695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144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2,483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955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13,540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(426,245)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(50,462)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(7,448)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(9,849)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(460)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(382,193)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(50,283)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(6,455)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(5,819)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(403)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(122,984)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(48,008)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(3,191)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(2,528)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(353)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(112,501)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Problemas y enfermedades de la columna vertebral   (43,727)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(2,846)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 la vesicula biliar   (2,511)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(231)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(69,314)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Trastornos de la piel y tejidos superficiales   (30,952)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(2,423)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(2,108)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Otras enfermedades digestivas  (165)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47,799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597,369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49,100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684,066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32727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29 piezas de equipo electromecánico: 4 Plantas de lavado, 13 Cuarto de Maquinas, 12 Aires Acondicionados.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$73.5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67 piezas de equipo médico: 38 camillas, 21 sillas de ruedas, 5 refrigeradores para vacunas, 1 mastógrafo, 1 unidad de anestesia y 1 monitor de signos vitales.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$0.2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Hospitales Prioritarios en el HGZ 3 S. Juan del Río y HGR 1 Querétaro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$161.3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2728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$241.1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497.3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de 261 equipos médicos (32 equipos de hemodinamia, 7 esterilizadores, entre otros)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$134.9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de equipo electromecánico (6 aires acondicionados, 2 calderas, 2 cámaras de refrigeración, 2 lavadoras, 1 secadora, 1 montacargas)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Ampliación y remodelación de  Guardería G-001, Querétaro 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Sala de Hemodinamia en HGR No. 2, El Marqués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Velatorio No. 13, Querétaro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$29.7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Acciones de mantenimiento de infraestructura (PAO)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$331.5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17 UMF´s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imagen en HGR No. 1, Querétaro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13 salas quirúrgicas (HGR No. 1 Querétaro,  HGZ No. 3 San Juan del Río  y  UMAA No. 1 Querétaro)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16 módulos de baños en UMF No. 9 Del Tintero  y UMF No.  16 Querétaro)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2 hospitales (HGZ No. 1 Querétaro y HGZ No. 3 San Juan del Río)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área de patología HGR No.1, Querétaro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infraestructura Social, Querétaro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residencias médicas y almacenes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$19.8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792.3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31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30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5,587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1,797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CECEM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San Pedrito Peñuelas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Querétaro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Querétaro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Querétaro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35 Querétaro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Querétaro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2_q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31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PODER EJECUTIVO DEL ESTADO DE QUERETARO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14,235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14,731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BANCO SANTANDER MEXICO S.A., INSTITUCION DE BANCA MULTIPLE, GRUPO FINANCIERO SAN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4,900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4,847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MEXICO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QUERETARO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5,469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5,462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AUTOLIV STEERING WHEELS MEXICO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4,813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4,779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-3.41%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-0.94%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+0.27%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+0.38%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+1.44%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+1.66%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+1.82%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+7.96%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+8.85%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582,716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16,216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114,656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2,220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715,808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589,394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15,805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113,973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720,647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$715.82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$391.51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$715.82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$21,474.6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SEGURITECH PRIVADA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$36,388.84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MEXICO DATA PROPERTIES S DE RL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$20,355.07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RISING FARMS S A P I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$18,552.82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de Querétaro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$7.92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Poder Ejecutivo del Estado de Querétaro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Comité Estatal de Sanidad Vegetal del Estado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$196.26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Querétaro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Querétaro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Querétaro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QUERÉTARO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Querétaro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174</Words>
  <Application>Microsoft Office PowerPoint</Application>
  <PresentationFormat>Personalizado</PresentationFormat>
  <Paragraphs>62</Paragraphs>
  <Slides>22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Montserrat</vt:lpstr>
      <vt:lpstr>Noto Sans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2026-03-12T18:40:10Z</dcterms:modified>
</cp:coreProperties>
</file>