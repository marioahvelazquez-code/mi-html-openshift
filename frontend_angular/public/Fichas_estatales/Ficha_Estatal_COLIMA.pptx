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90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3" r:id="rId23"/>
    <p:sldId id="291" r:id="rId40"/>
  </p:sldIdLst>
  <p:sldSz cx="7772400" cy="10058400"/>
  <p:notesSz cx="6858000" cy="9144000"/>
  <p:embeddedFontLst>
    <p:embeddedFont>
      <p:font typeface="Montserrat" pitchFamily="2" charset="0"/>
      <p:regular r:id="rId25"/>
      <p:bold r:id="rId26"/>
      <p:italic r:id="rId27"/>
      <p:boldItalic r:id="rId28"/>
    </p:embeddedFont>
    <p:embeddedFont>
      <p:font typeface="Noto Sans" panose="020B0502040504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DD846-E312-4F47-9C7E-25E94B8F68C5}" v="1" dt="2026-03-12T17:51:04.33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40" Type="http://schemas.openxmlformats.org/officeDocument/2006/relationships/slide" Target="slides/slide23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3-12T18:40:08.203" v="5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1:19.513" v="2" actId="1076"/>
        <pc:sldMkLst>
          <pc:docMk/>
          <pc:sldMk cId="0" sldId="258"/>
        </pc:sldMkLst>
        <pc:graphicFrameChg chg="add mod">
          <ac:chgData name="Rohan Myron Oprisko" userId="a7c52ab4-f8b1-4d15-aaf6-6388cc510347" providerId="ADAL" clId="{EEEE6C0E-EB18-4E43-B633-E5F95274828B}" dt="2026-03-12T17:51:19.513" v="2" actId="1076"/>
          <ac:graphicFrameMkLst>
            <pc:docMk/>
            <pc:sldMk cId="0" sldId="258"/>
            <ac:graphicFrameMk id="2" creationId="{A74BA5C1-2E6F-DDDD-FFBA-AAF34461C16E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40:08.203" v="5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40:08.203" v="5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0:58.875" v="0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0:58.875" v="0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undo custSel addSld delSld modSld">
      <pc:chgData name="David Arturo Baltazar Sanchez" userId="25f522d3-6b93-447f-8e87-5af7c1a8f0db" providerId="ADAL" clId="{1167E2C4-85EE-4FA3-A5C3-376395AAEEB6}" dt="2026-03-11T19:03:13.610" v="70" actId="20577"/>
      <pc:docMkLst>
        <pc:docMk/>
      </pc:docMkLst>
      <pc:sldChg chg="del">
        <pc:chgData name="David Arturo Baltazar Sanchez" userId="25f522d3-6b93-447f-8e87-5af7c1a8f0db" providerId="ADAL" clId="{1167E2C4-85EE-4FA3-A5C3-376395AAEEB6}" dt="2026-03-11T00:35:35.738" v="67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3:13.610" v="70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3:13.610" v="70" actId="20577"/>
          <ac:spMkLst>
            <pc:docMk/>
            <pc:sldMk cId="0" sldId="260"/>
            <ac:spMk id="145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1T00:23:45.133" v="29" actId="478"/>
        <pc:sldMkLst>
          <pc:docMk/>
          <pc:sldMk cId="0" sldId="261"/>
        </pc:sldMkLst>
        <pc:spChg chg="del">
          <ac:chgData name="David Arturo Baltazar Sanchez" userId="25f522d3-6b93-447f-8e87-5af7c1a8f0db" providerId="ADAL" clId="{1167E2C4-85EE-4FA3-A5C3-376395AAEEB6}" dt="2026-03-11T00:23:45.133" v="29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43.974" v="28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new del">
        <pc:chgData name="David Arturo Baltazar Sanchez" userId="25f522d3-6b93-447f-8e87-5af7c1a8f0db" providerId="ADAL" clId="{1167E2C4-85EE-4FA3-A5C3-376395AAEEB6}" dt="2026-03-11T00:26:23.643" v="31" actId="47"/>
        <pc:sldMkLst>
          <pc:docMk/>
          <pc:sldMk cId="928051043" sldId="288"/>
        </pc:sldMkLst>
      </pc:sldChg>
      <pc:sldChg chg="new del">
        <pc:chgData name="David Arturo Baltazar Sanchez" userId="25f522d3-6b93-447f-8e87-5af7c1a8f0db" providerId="ADAL" clId="{1167E2C4-85EE-4FA3-A5C3-376395AAEEB6}" dt="2026-03-11T00:47:14.693" v="68" actId="47"/>
        <pc:sldMkLst>
          <pc:docMk/>
          <pc:sldMk cId="1080931811" sldId="288"/>
        </pc:sldMkLst>
      </pc:sldChg>
      <pc:sldChg chg="new del">
        <pc:chgData name="David Arturo Baltazar Sanchez" userId="25f522d3-6b93-447f-8e87-5af7c1a8f0db" providerId="ADAL" clId="{1167E2C4-85EE-4FA3-A5C3-376395AAEEB6}" dt="2026-03-11T00:26:36.074" v="33" actId="47"/>
        <pc:sldMkLst>
          <pc:docMk/>
          <pc:sldMk cId="1478125461" sldId="288"/>
        </pc:sldMkLst>
      </pc:sldChg>
      <pc:sldChg chg="new del">
        <pc:chgData name="David Arturo Baltazar Sanchez" userId="25f522d3-6b93-447f-8e87-5af7c1a8f0db" providerId="ADAL" clId="{1167E2C4-85EE-4FA3-A5C3-376395AAEEB6}" dt="2026-03-11T00:28:44.016" v="35" actId="680"/>
        <pc:sldMkLst>
          <pc:docMk/>
          <pc:sldMk cId="2538647063" sldId="288"/>
        </pc:sldMkLst>
      </pc:sldChg>
      <pc:sldChg chg="new">
        <pc:chgData name="David Arturo Baltazar Sanchez" userId="25f522d3-6b93-447f-8e87-5af7c1a8f0db" providerId="ADAL" clId="{1167E2C4-85EE-4FA3-A5C3-376395AAEEB6}" dt="2026-03-11T00:29:46.743" v="37" actId="680"/>
        <pc:sldMkLst>
          <pc:docMk/>
          <pc:sldMk cId="1990800304" sldId="289"/>
        </pc:sldMkLst>
      </pc:sldChg>
      <pc:sldChg chg="new del">
        <pc:chgData name="David Arturo Baltazar Sanchez" userId="25f522d3-6b93-447f-8e87-5af7c1a8f0db" providerId="ADAL" clId="{1167E2C4-85EE-4FA3-A5C3-376395AAEEB6}" dt="2026-03-11T00:32:03.604" v="43" actId="680"/>
        <pc:sldMkLst>
          <pc:docMk/>
          <pc:sldMk cId="419254101" sldId="290"/>
        </pc:sldMkLst>
      </pc:sldChg>
      <pc:sldChg chg="new del">
        <pc:chgData name="David Arturo Baltazar Sanchez" userId="25f522d3-6b93-447f-8e87-5af7c1a8f0db" providerId="ADAL" clId="{1167E2C4-85EE-4FA3-A5C3-376395AAEEB6}" dt="2026-03-11T00:31:06.802" v="41" actId="47"/>
        <pc:sldMkLst>
          <pc:docMk/>
          <pc:sldMk cId="1188354318" sldId="290"/>
        </pc:sldMkLst>
      </pc:sldChg>
      <pc:sldChg chg="addSp modSp new mod">
        <pc:chgData name="David Arturo Baltazar Sanchez" userId="25f522d3-6b93-447f-8e87-5af7c1a8f0db" providerId="ADAL" clId="{1167E2C4-85EE-4FA3-A5C3-376395AAEEB6}" dt="2026-03-11T00:34:00.644" v="66" actId="20577"/>
        <pc:sldMkLst>
          <pc:docMk/>
          <pc:sldMk cId="2277926431" sldId="290"/>
        </pc:sldMkLst>
        <pc:graphicFrameChg chg="add mod modGraphic">
          <ac:chgData name="David Arturo Baltazar Sanchez" userId="25f522d3-6b93-447f-8e87-5af7c1a8f0db" providerId="ADAL" clId="{1167E2C4-85EE-4FA3-A5C3-376395AAEEB6}" dt="2026-03-11T00:34:00.644" v="66" actId="20577"/>
          <ac:graphicFrameMkLst>
            <pc:docMk/>
            <pc:sldMk cId="2277926431" sldId="290"/>
            <ac:graphicFrameMk id="2" creationId="{47ECCB65-5E51-65E2-D82B-1623D1CC8DFA}"/>
          </ac:graphicFrameMkLst>
        </pc:graphicFrameChg>
      </pc:sldChg>
      <pc:sldChg chg="new del">
        <pc:chgData name="David Arturo Baltazar Sanchez" userId="25f522d3-6b93-447f-8e87-5af7c1a8f0db" providerId="ADAL" clId="{1167E2C4-85EE-4FA3-A5C3-376395AAEEB6}" dt="2026-03-11T00:32:47.754" v="45" actId="680"/>
        <pc:sldMkLst>
          <pc:docMk/>
          <pc:sldMk cId="2915184652" sldId="290"/>
        </pc:sldMkLst>
      </pc:sldChg>
      <pc:sldChg chg="new del">
        <pc:chgData name="David Arturo Baltazar Sanchez" userId="25f522d3-6b93-447f-8e87-5af7c1a8f0db" providerId="ADAL" clId="{1167E2C4-85EE-4FA3-A5C3-376395AAEEB6}" dt="2026-03-11T00:32:56.047" v="47" actId="680"/>
        <pc:sldMkLst>
          <pc:docMk/>
          <pc:sldMk cId="3598547803" sldId="290"/>
        </pc:sldMkLst>
      </pc:sldChg>
      <pc:sldChg chg="new del">
        <pc:chgData name="David Arturo Baltazar Sanchez" userId="25f522d3-6b93-447f-8e87-5af7c1a8f0db" providerId="ADAL" clId="{1167E2C4-85EE-4FA3-A5C3-376395AAEEB6}" dt="2026-03-11T00:31:02.012" v="39" actId="47"/>
        <pc:sldMkLst>
          <pc:docMk/>
          <pc:sldMk cId="3776525890" sldId="290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496569.0</c:v>
                </c:pt>
                <c:pt idx="1">
                  <c:v>95724.0</c:v>
                </c:pt>
                <c:pt idx="2">
                  <c:v>169896.0</c:v>
                </c:pt>
                <c:pt idx="3">
                  <c:v>9349.0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61</c:v>
                </c:pt>
                <c:pt idx="2">
                  <c:v>49</c:v>
                </c:pt>
                <c:pt idx="3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Servicios Sociales y Comunales</c:v>
                </c:pt>
                <c:pt idx="2">
                  <c:v>Servicios para Empresas, Personas y el Hogar</c:v>
                </c:pt>
                <c:pt idx="3">
                  <c:v>Ind Eléctrica y Captación y Suministro de Agua Potable</c:v>
                </c:pt>
                <c:pt idx="4">
                  <c:v>Transportes y Comunicaciones</c:v>
                </c:pt>
                <c:pt idx="5">
                  <c:v>Industrias Extractivas</c:v>
                </c:pt>
                <c:pt idx="6">
                  <c:v>Industrias de la Transformación</c:v>
                </c:pt>
                <c:pt idx="7">
                  <c:v>Comercio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13828</c:v>
                </c:pt>
                <c:pt idx="1">
                  <c:v>30684</c:v>
                </c:pt>
                <c:pt idx="2">
                  <c:v>24099</c:v>
                </c:pt>
                <c:pt idx="3">
                  <c:v>2319</c:v>
                </c:pt>
                <c:pt idx="4">
                  <c:v>27187</c:v>
                </c:pt>
                <c:pt idx="5">
                  <c:v>2775</c:v>
                </c:pt>
                <c:pt idx="6">
                  <c:v>14828</c:v>
                </c:pt>
                <c:pt idx="7">
                  <c:v>29576</c:v>
                </c:pt>
                <c:pt idx="8">
                  <c:v>10356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Servicios Sociales y Comunales</c:v>
                </c:pt>
                <c:pt idx="2">
                  <c:v>Servicios para Empresas, Personas y el Hogar</c:v>
                </c:pt>
                <c:pt idx="3">
                  <c:v>Ind Eléctrica y Captación y Suministro de Agua Potable</c:v>
                </c:pt>
                <c:pt idx="4">
                  <c:v>Transportes y Comunicaciones</c:v>
                </c:pt>
                <c:pt idx="5">
                  <c:v>Industrias Extractivas</c:v>
                </c:pt>
                <c:pt idx="6">
                  <c:v>Industrias de la Transformación</c:v>
                </c:pt>
                <c:pt idx="7">
                  <c:v>Comercio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13280</c:v>
                </c:pt>
                <c:pt idx="1">
                  <c:v>30460</c:v>
                </c:pt>
                <c:pt idx="2">
                  <c:v>24142</c:v>
                </c:pt>
                <c:pt idx="3">
                  <c:v>2339</c:v>
                </c:pt>
                <c:pt idx="4">
                  <c:v>27577</c:v>
                </c:pt>
                <c:pt idx="5">
                  <c:v>2820</c:v>
                </c:pt>
                <c:pt idx="6">
                  <c:v>15131</c:v>
                </c:pt>
                <c:pt idx="7">
                  <c:v>30232</c:v>
                </c:pt>
                <c:pt idx="8">
                  <c:v>11070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2018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131812</c:v>
                </c:pt>
                <c:pt idx="1">
                  <c:v>134121</c:v>
                </c:pt>
                <c:pt idx="2">
                  <c:v>134731</c:v>
                </c:pt>
                <c:pt idx="3">
                  <c:v>138525</c:v>
                </c:pt>
                <c:pt idx="4">
                  <c:v>136160</c:v>
                </c:pt>
                <c:pt idx="5">
                  <c:v>141808</c:v>
                </c:pt>
                <c:pt idx="6">
                  <c:v>147989</c:v>
                </c:pt>
                <c:pt idx="7">
                  <c:v>151407</c:v>
                </c:pt>
                <c:pt idx="8">
                  <c:v>155652</c:v>
                </c:pt>
                <c:pt idx="9">
                  <c:v>157051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4 Tecomán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Cirugia General</c:v>
                </c:pt>
                <c:pt idx="1">
                  <c:v>Ginecologia Y Obstetricia</c:v>
                </c:pt>
                <c:pt idx="2">
                  <c:v>Medicina Familiar</c:v>
                </c:pt>
                <c:pt idx="3">
                  <c:v>Medicina De Urgencias</c:v>
                </c:pt>
                <c:pt idx="4">
                  <c:v>Imagenologia Diagnostica Y Terapeutica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 Villa de Álvarez (Total: 17)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Psiquiatria</c:v>
                </c:pt>
                <c:pt idx="1">
                  <c:v>Medicina Del Trabajo Y Ambiental</c:v>
                </c:pt>
                <c:pt idx="2">
                  <c:v>Urologia</c:v>
                </c:pt>
                <c:pt idx="3">
                  <c:v>Traumatologia Y Ortopedia</c:v>
                </c:pt>
                <c:pt idx="4">
                  <c:v>Patologia Pediatrica</c:v>
                </c:pt>
                <c:pt idx="5">
                  <c:v>Alergia E Inmunologia Clinica</c:v>
                </c:pt>
                <c:pt idx="6">
                  <c:v>Ginecologia Oncologica</c:v>
                </c:pt>
                <c:pt idx="7">
                  <c:v>Medicina Del Enfermo Pediatrico En Estado Critico</c:v>
                </c:pt>
                <c:pt idx="8">
                  <c:v>Medicina De Urgencias</c:v>
                </c:pt>
                <c:pt idx="9">
                  <c:v>Audiologia, Otoneurologia Y Foniatria</c:v>
                </c:pt>
                <c:pt idx="10">
                  <c:v>Cirugia General</c:v>
                </c:pt>
                <c:pt idx="11">
                  <c:v>Imagenologia Diagnostica Y Terapeutica</c:v>
                </c:pt>
                <c:pt idx="12">
                  <c:v>Anatomia Patologica</c:v>
                </c:pt>
                <c:pt idx="13">
                  <c:v>Nefrologia</c:v>
                </c:pt>
                <c:pt idx="14">
                  <c:v>Calidad De La Atencion Clinica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10 Manzanillo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Cirugia General</c:v>
                </c:pt>
                <c:pt idx="1">
                  <c:v>Nefrologia</c:v>
                </c:pt>
                <c:pt idx="2">
                  <c:v>Medicina De Urgencias</c:v>
                </c:pt>
                <c:pt idx="3">
                  <c:v>Imagenologia Diagnostica Y Terapeutica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11 Colima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17 Manzanillo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19 Colima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 Manzanillo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Colima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06_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</p:spTree>
    <p:extLst>
      <p:ext uri="{BB962C8B-B14F-4D97-AF65-F5344CB8AC3E}">
        <p14:creationId xmlns:p14="http://schemas.microsoft.com/office/powerpoint/2010/main" val="199080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74BA5C1-2E6F-DDDD-FFBA-AAF34461C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528153"/>
              </p:ext>
            </p:extLst>
          </p:nvPr>
        </p:nvGraphicFramePr>
        <p:xfrm>
          <a:off x="313125" y="60833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4806387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794185"/>
                  </a:ext>
                </a:extLst>
              </a:tr>
            </a:tbl>
          </a:graphicData>
        </a:graphic>
      </p:graphicFrame>
      <p:sp>
        <p:nvSpPr>
          <p:cNvPr id="124" name="TextBox 123"/>
          <p:cNvSpPr txBox="1"/>
          <p:nvPr/>
        </p:nvSpPr>
        <p:spPr>
          <a:xfrm>
            <a:off x="298800" y="6120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IMSS atiende 64% de la población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298800" y="9972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6" name="Chart 125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7" name="TextBox 126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496,569</a:t>
            </a:r>
            <a:br/>
            <a:r>
              <a:t>64%</a:t>
            </a:r>
          </a:p>
        </p:txBody>
      </p:sp>
      <p:pic>
        <p:nvPicPr>
          <p:cNvPr id="128" name="Picture 127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95,724</a:t>
            </a:r>
            <a:br/>
            <a:r>
              <a:t>12%</a:t>
            </a:r>
          </a:p>
        </p:txBody>
      </p:sp>
      <p:pic>
        <p:nvPicPr>
          <p:cNvPr id="131" name="Picture 130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169,896</a:t>
            </a:r>
            <a:br/>
            <a:r>
              <a:t>22%</a:t>
            </a:r>
          </a:p>
        </p:txBody>
      </p:sp>
      <p:pic>
        <p:nvPicPr>
          <p:cNvPr id="134" name="Picture 133" descr="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5" name="Rectangle 134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9,349</a:t>
            </a:r>
            <a:br/>
            <a:r>
              <a:t>1%</a:t>
            </a:r>
          </a:p>
        </p:txBody>
      </p:sp>
      <p:pic>
        <p:nvPicPr>
          <p:cNvPr id="137" name="Picture 136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8" name="Rectangle 137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771,538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412,460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496,569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220,185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286,506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134,121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157,086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47,829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49,248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55,491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1,352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-84%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192,275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210,063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75,630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96,995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88,851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2" name="Table 141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583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481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4" name="TextBox 143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65200" y="9536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** PTPD que superaron el umbral de ingreso mínimo neto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6_c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10 UMF y no incluye 4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/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3582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Cédula de actualización de variables seleccionados del IFU</a:t>
            </a:r>
            <a:br/>
            <a:r>
              <a:t>enviados por el OOAD. Corte de Información: enero de 2026</a:t>
            </a:r>
            <a:br/>
            <a:r>
              <a:t>No se consideran slas de expulsión, tococirugía y rehabilitación.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7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Minatitlán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 Quesería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Cuauhtémoc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 Armería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 Manzanillo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Colima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Colima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31,122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Manzanillo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Colima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18,147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 Colima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25,819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66,046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67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28</a:t>
            </a:r>
          </a:p>
        </p:txBody>
      </p:sp>
      <p:pic>
        <p:nvPicPr>
          <p:cNvPr id="12" name="Picture 11" descr="Mapa_draft_etiquetas_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5960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2,347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0378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302,220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24,752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48,734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acumulada semanal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714,096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132,141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83,977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302,220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48,734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24,752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7ECCB65-5E51-65E2-D82B-1623D1CC8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8879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1,893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7,371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2,147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926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5,003	 Personal de Salud: 3,123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+60.0%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+32.5%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730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+10.6%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1,039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1,149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+24.2%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623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774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+95.9%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237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-4.5%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3,227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241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33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58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1,120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524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5,112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(155,919)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(18,410)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(2,160)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(3,177)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(131,553)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(15,513)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(2,029)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(2,218)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(140)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(42,109)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(15,199)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(1,734)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(1,358)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(25,859)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(10,600)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(900)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 la vesicula biliar   (924)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(61)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(24,692)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(9,618)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(844)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(873)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hígado  (41)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25,555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264,578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12,563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303,251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96.0%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6 piezas de equipo electromecánico:  Supresión de incendios, 3 Aires Acondicionados, 3 Plantas de lavado.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$64.5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77 piezas de equipo médico: 1 Tomógrafo, 1 Mastógrafo, 24 Camilla, 50 Silla de ruedas, 1 Refrigerador para vacunas.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17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$11.3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3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3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$7.7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5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3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$120.2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HGZ de 72 camas, Manzanillo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$2,563.0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2,838.5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2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Cámara fría en Almacén Delegacional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Demolición del Antiguo HGZ 10, Manzanillo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Centro SS y Techado de alberca, Colima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$12.1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Centro SS y Techado de alberca, Tecomán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electromecánico (Cámara Fría, Lavadoras, Secadoras, montacargas)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$41.7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5 Unidades de Medicina Familiar, Cuauhtémoc, Colima, Armería y Manzanillo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en 8 Salas de Quirófanos, en 3 Hospitales, Villa Álvarez, Tecomán y Manzanillo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1 Hospital de Subzona, HGSZMF 4, Tecomán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almacenes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baños en 9 unidades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$18.9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cocinas y comedores en 2 unidades médicas, Villa de Álvarez y Manzanillo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servicio de patología en 1 unidad médica, Villa de Álvarez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$0.5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211.2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15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2,505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382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10457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0458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Colima, Manzanillo y Tecomán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10 Colima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6_c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Prestaciones Económicas y Sociales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COLIMA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6,441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6,387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GRUPO YAZAKI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4,395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4,492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SSA MEXICO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DE COLIMA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3,989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3,982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UNION LOCAL DE PRODUCTORES DE CA#A DE AZUCAR DEL INGENIO QUESERIA, A.C.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1,639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1,780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-3.96%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-0.73%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+0.18%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+0.86%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+1.43%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+1.62%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+2.04%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+2.22%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+6.89%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123,503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6,677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23,099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2,373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155,652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126,703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6,899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20,659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157,051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$591.14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$295.25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$591.14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$17,734.2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36152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197784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59416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21048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382680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44312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05944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567576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629208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5" name="Table 514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VACACION CON MAS DIVERSION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$19.79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SERVINDLIZ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$3.58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COMPAÑIA ISDAMAR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Villa de Álvarez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$55,541.55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de Colima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$30,295.66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 Educación Inicial del Estado de Colima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$13,387.49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Colima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Colima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174</Words>
  <Application>Microsoft Office PowerPoint</Application>
  <PresentationFormat>Personalizado</PresentationFormat>
  <Paragraphs>62</Paragraphs>
  <Slides>22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Montserrat</vt:lpstr>
      <vt:lpstr>Noto Sans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2026-03-12T18:40:10Z</dcterms:modified>
</cp:coreProperties>
</file>