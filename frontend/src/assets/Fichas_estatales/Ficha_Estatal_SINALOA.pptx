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25"/>
    <p:sldId id="291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68"/>
        <p:guide pos="244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7T18:02:48.601" v="30" actId="1076"/>
      <pc:docMkLst>
        <pc:docMk/>
      </pc:docMkLst>
      <pc:sldChg chg="addSp delSp modSp mod">
        <pc:chgData name="Rohan Myron Oprisko" userId="a7c52ab4-f8b1-4d15-aaf6-6388cc510347" providerId="ADAL" clId="{EEEE6C0E-EB18-4E43-B633-E5F95274828B}" dt="2026-03-17T18:02:48.601" v="30" actId="1076"/>
        <pc:sldMkLst>
          <pc:docMk/>
          <pc:sldMk cId="0" sldId="258"/>
        </pc:sldMkLst>
        <pc:spChg chg="mod">
          <ac:chgData name="Rohan Myron Oprisko" userId="a7c52ab4-f8b1-4d15-aaf6-6388cc510347" providerId="ADAL" clId="{EEEE6C0E-EB18-4E43-B633-E5F95274828B}" dt="2026-03-17T18:02:48.601" v="30" actId="1076"/>
          <ac:spMkLst>
            <pc:docMk/>
            <pc:sldMk cId="0" sldId="258"/>
            <ac:spMk id="124" creationId="{00000000-0000-0000-0000-000000000000}"/>
          </ac:spMkLst>
        </pc:spChg>
        <pc:graphicFrameChg chg="add del mod modGraphic">
          <ac:chgData name="Rohan Myron Oprisko" userId="a7c52ab4-f8b1-4d15-aaf6-6388cc510347" providerId="ADAL" clId="{EEEE6C0E-EB18-4E43-B633-E5F95274828B}" dt="2026-03-17T18:02:42.816" v="29" actId="478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A9CF-44C6-A277-57E9DCFC1C5A}"/>
              </c:ext>
            </c:extLst>
          </c:dPt>
          <c:dPt>
            <c:idx val="1"/>
            <c:bubble3D val="0"/>
            <c:spPr>
              <a:solidFill>
                <a:srgbClr val="549ECF"/>
              </a:solidFill>
            </c:spPr>
            <c:extLst>
              <c:ext xmlns:c16="http://schemas.microsoft.com/office/drawing/2014/chart" uri="{C3380CC4-5D6E-409C-BE32-E72D297353CC}">
                <c16:uniqueId val="{00000003-A9CF-44C6-A277-57E9DCFC1C5A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A9CF-44C6-A277-57E9DCFC1C5A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A9CF-44C6-A277-57E9DCFC1C5A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A9CF-44C6-A277-57E9DCFC1C5A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2044873</c:v>
                </c:pt>
                <c:pt idx="1">
                  <c:v>233545</c:v>
                </c:pt>
                <c:pt idx="2">
                  <c:v>587758</c:v>
                </c:pt>
                <c:pt idx="3">
                  <c:v>325795</c:v>
                </c:pt>
                <c:pt idx="4">
                  <c:v>16068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9CF-44C6-A277-57E9DCFC1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A146-4E49-97C6-804733ECE4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177</c:v>
                </c:pt>
                <c:pt idx="3">
                  <c:v>205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146-4E49-97C6-804733ECE4C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Sociales y Comunales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92090</c:v>
                </c:pt>
                <c:pt idx="1">
                  <c:v>79387</c:v>
                </c:pt>
                <c:pt idx="2">
                  <c:v>53109</c:v>
                </c:pt>
                <c:pt idx="3">
                  <c:v>85534</c:v>
                </c:pt>
                <c:pt idx="4">
                  <c:v>3617</c:v>
                </c:pt>
                <c:pt idx="5">
                  <c:v>107894</c:v>
                </c:pt>
                <c:pt idx="6">
                  <c:v>154304</c:v>
                </c:pt>
                <c:pt idx="7">
                  <c:v>4306</c:v>
                </c:pt>
                <c:pt idx="8">
                  <c:v>34622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E8B-4092-AA95-19A74E14F8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Sociales y Comunales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82781</c:v>
                </c:pt>
                <c:pt idx="1">
                  <c:v>76592</c:v>
                </c:pt>
                <c:pt idx="2">
                  <c:v>51296</c:v>
                </c:pt>
                <c:pt idx="3">
                  <c:v>83564</c:v>
                </c:pt>
                <c:pt idx="4">
                  <c:v>3534</c:v>
                </c:pt>
                <c:pt idx="5">
                  <c:v>107695</c:v>
                </c:pt>
                <c:pt idx="6">
                  <c:v>154559</c:v>
                </c:pt>
                <c:pt idx="7">
                  <c:v>4318</c:v>
                </c:pt>
                <c:pt idx="8">
                  <c:v>35723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E8B-4092-AA95-19A74E14F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542629</c:v>
                </c:pt>
                <c:pt idx="1">
                  <c:v>562199</c:v>
                </c:pt>
                <c:pt idx="2">
                  <c:v>571139</c:v>
                </c:pt>
                <c:pt idx="3">
                  <c:v>587810</c:v>
                </c:pt>
                <c:pt idx="4">
                  <c:v>581325</c:v>
                </c:pt>
                <c:pt idx="5">
                  <c:v>607676</c:v>
                </c:pt>
                <c:pt idx="6">
                  <c:v>610874</c:v>
                </c:pt>
                <c:pt idx="7">
                  <c:v>626138</c:v>
                </c:pt>
                <c:pt idx="8">
                  <c:v>614863</c:v>
                </c:pt>
                <c:pt idx="9">
                  <c:v>600062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E2-4861-93B0-251015885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2 Los Mochis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Medicina Del Enfermo Pediatrico En Estado Critico</c:v>
                </c:pt>
                <c:pt idx="1">
                  <c:v>Imagenologia Diagnostica Y Terapeutica</c:v>
                </c:pt>
                <c:pt idx="2">
                  <c:v>Medicina Del Enfermo En Estado Critico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DCE-463B-BEF2-EBF9FE1BD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Culiacán (Total: 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Neurologia</c:v>
                </c:pt>
                <c:pt idx="1">
                  <c:v>Medicina Interna</c:v>
                </c:pt>
                <c:pt idx="2">
                  <c:v>Cirugia Plastica Y Reconstructiva</c:v>
                </c:pt>
                <c:pt idx="3">
                  <c:v>Geriatria Directa</c:v>
                </c:pt>
                <c:pt idx="4">
                  <c:v>Imagenologia Diagnostica Y Terapeutica</c:v>
                </c:pt>
                <c:pt idx="5">
                  <c:v>Gastroenterologia Y Nutricion Pediatrica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9BD-45A4-BD2E-8E068C6A1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30 Guamuchil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Medicina Del Enfermo En Estado Critico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8F-4FC5-8973-E88E2DF2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49 Los Mochis (Total: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Cardiologia</c:v>
                </c:pt>
                <c:pt idx="1">
                  <c:v>Otorrinolaringologia Y Cirugia De Cabeza Y Cuello</c:v>
                </c:pt>
                <c:pt idx="2">
                  <c:v>Urologia</c:v>
                </c:pt>
                <c:pt idx="3">
                  <c:v>Imagenologia Diagnostica Y Terapeutica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1D-4FC3-9211-D05FE1572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3 Mazatlán (Total: 9)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Medicina Del Trabajo Y Ambiental</c:v>
                </c:pt>
                <c:pt idx="1">
                  <c:v>Traumatologia Y Ortopedia</c:v>
                </c:pt>
                <c:pt idx="2">
                  <c:v>Urologia</c:v>
                </c:pt>
                <c:pt idx="3">
                  <c:v>Neurocirugia</c:v>
                </c:pt>
                <c:pt idx="4">
                  <c:v>Oftalmologia</c:v>
                </c:pt>
                <c:pt idx="5">
                  <c:v>Geriatria Directa</c:v>
                </c:pt>
                <c:pt idx="6">
                  <c:v>Neonatologia</c:v>
                </c:pt>
                <c:pt idx="7">
                  <c:v>Medicina De Rehabilitacion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20B-49B3-BF08-4A74FBDF9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32 Guasave (Total: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Medicina De Rehabilitacion</c:v>
                </c:pt>
                <c:pt idx="1">
                  <c:v>Urologia</c:v>
                </c:pt>
                <c:pt idx="2">
                  <c:v>Cirugia Pediatrica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22C-46BC-A0B1-20794688BE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49 Los Mochis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Hematologia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CB3-4849-87E2-D292C9114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El Fuerte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Ginecologia Y Obstetricia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B10-4E29-8BC9-3EEC929D3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Villa Unión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Pediatria</c:v>
                </c:pt>
                <c:pt idx="1">
                  <c:v>Medicina Interna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AA9-4349-AF5D-62174F7D25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chart" Target="../charts/chart2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Sinaloa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5_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200" y="611999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IMSS </a:t>
            </a:r>
            <a:r>
              <a:rPr err="1"/>
              <a:t>atiende</a:t>
            </a:r>
            <a:r>
              <a:t> 71% de la población (</a:t>
            </a:r>
            <a:r>
              <a:rPr err="1"/>
              <a:t>incluye</a:t>
            </a:r>
            <a:r>
              <a:t> COPLAMAR)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98800" y="9972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2,044,873</a:t>
            </a:r>
            <a:br/>
            <a:r>
              <a:t>64%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233,545</a:t>
            </a:r>
            <a:br/>
            <a:r>
              <a:t>7%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587,758</a:t>
            </a:r>
            <a:br/>
            <a:r>
              <a:t>18%</a:t>
            </a:r>
          </a:p>
        </p:txBody>
      </p:sp>
      <p:pic>
        <p:nvPicPr>
          <p:cNvPr id="134" name="Picture 133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5" name="Rectangle 134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325,795</a:t>
            </a:r>
            <a:br/>
            <a:r>
              <a:t>10%</a:t>
            </a:r>
          </a:p>
        </p:txBody>
      </p:sp>
      <p:pic>
        <p:nvPicPr>
          <p:cNvPr id="137" name="Picture 136" descr="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16,068</a:t>
            </a:r>
            <a:br/>
            <a:r>
              <a:t>0.50%</a:t>
            </a:r>
          </a:p>
        </p:txBody>
      </p:sp>
      <p:pic>
        <p:nvPicPr>
          <p:cNvPr id="140" name="Picture 139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3,208,039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1,839,188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2,044,873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1,007,415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1,187,593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562,199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605,260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268,627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318,766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932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831,773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857,280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317,802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390,931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349,066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1,737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1,337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5_s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1,103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28 UMF, 13 UMFH, 1 UMF-UMAA y no incluye 28 Unidades Auxiliares de Medicina Familiar.</a:t>
            </a:r>
            <a:br/>
            <a:r>
              <a:t>2. Incluye la UMAA 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41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6228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Cédula de actualización de variables seleccionados del IFU</a:t>
            </a:r>
            <a:br/>
            <a:r>
              <a:t>enviados por el OOAD. 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36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57060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9 Ruíz Cortínez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8 Mochicahui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7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6 Ahome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33 El Carrizo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31 El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29 Escuinapa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23 La Reforma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22 El Dorado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18 El Colorado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15 Juan José Ríos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13 San Miguel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11 Villa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Mocorito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53 Inf. Barran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La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Cosala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Topolobampo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Mazatlan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San Blas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Bamoa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Jahuara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Chávez Talaman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La Concordia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E. Marmol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San Ignacio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La Entrada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Tamazula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Bachoco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La Cruz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Pericos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Cabezón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Choix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Santa Rosa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Villa Ángel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90,944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618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Los Mochis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59,576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44,411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46,138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55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Prados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235,940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148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110</a:t>
            </a:r>
          </a:p>
        </p:txBody>
      </p:sp>
      <p:pic>
        <p:nvPicPr>
          <p:cNvPr id="12" name="Picture 11" descr="Mapa_draft_etiquetas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6139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12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55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60,225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7,236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8,575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12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55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775,260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129,105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135,818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acumulada semanal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775,260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3,269,808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552,195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538,716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15,008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3,693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14,228	 Personal de Salud: 9,181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+14.2%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3,394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2,435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+268.2%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707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13,595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1,083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3,205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1,669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19,552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(930,822)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(67,760)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(7,340)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(13,124)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(740)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(599,645)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(66,086)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(5,812)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(9,091)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(604)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(118,371)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(49,977)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(4,069)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perinatales   (3,782)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(460)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(102,336)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(44,338)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(2,507)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(3,759)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(444)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(90,864)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(32,121)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(1,937)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(2,837)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1,393,733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28,576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1,339,472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97.9%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226 piezas de equipo médico: 136 camillas, 80 sillas de ruedas, 7 refrigeradores para vacunas, 1 mastógrafo, 1 unidad de anestesia y 1 monitor de signos vitales.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74 piezas de equipo electromecánico: 38 aires acondicionados, 30 plantas de lavado, 5 elevadores y 1 cuarto de máquinas.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y proyecto ejecutivo para el HGR de 216 camas,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$22.3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216 camas,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$3,588.0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4,257.2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en HGR1,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Desarrollo de Albergue Comunitario 30 camas en HR 16, Villa Unión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UCIN en el HGZMF 3,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$38.2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24 Unidades Médicas Familiares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(13 lavadoras y secadoras, 2 cámaras días, 2 generadores de vapor, 1 Central de aire grado médico, 1 montacargas, 1 unidad condensadora)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10 quirófanos en 5 hospitales: HGZ Mazatlán, HGR 1 Culiacán, HGZ 28 Costa Rica, HGZ 32 Guasave y HGZ 49 Los Mochis.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HGS/MF No. 30 en Guamuchil y HGS/MF No. 4 en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502.8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10,657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3,451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Culiacán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El Rosario, Navolato y Guamúchil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Culiacán, Ahome, Los Mochis, Guasave, Mazatlán, Navolato, Ruiz Cortines y Juan José Ríos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Teatro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Culiacán, Los Mochis y Mazatlán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42 Culiacán, No. 40 Los Mochis y No. 41 Mazatlán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70" name="Picture 469" descr="map_tipo2_25_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60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Prestaciones Económicas y Sociales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AUTONOMA DE SINALOA NIVEL SUPERIOR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14,637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14,509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18,201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16,969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CULIACAN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CONDUCTORES TECNOLOGICOS DE JUAREZ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9,872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10,072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-10.11%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-3.52%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-3.41%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-2.30%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-2.29%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-0.18%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+0.17%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+3.18%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484,265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18,420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52,264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59,914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614,863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480,094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600,062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$531.17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$256.58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$531.17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107.0%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$15,935.1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3615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9778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5941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2104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8268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4431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594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757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62920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5" name="Table 514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PAPELERO LA UNION 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DANIEL CARDENAS CEVALLOS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$63.82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AGRICOLA LA CAPILLA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Sinaloa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$456,020.40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Potable y Alcantarillado de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$152,115.13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Guasave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$151,420.35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77,972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36,986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26,597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9,479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4,933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233,545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101,387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132,158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10,270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77,972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Sinaloa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Sinaloa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3092</Words>
  <Application>Microsoft Office PowerPoint</Application>
  <PresentationFormat>Personalizado</PresentationFormat>
  <Paragraphs>1224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Montserrat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Juan Manuel Alvarez Damian</cp:lastModifiedBy>
  <cp:revision>1</cp:revision>
  <dcterms:modified xsi:type="dcterms:W3CDTF">2026-03-18T00:54:27Z</dcterms:modified>
</cp:coreProperties>
</file>