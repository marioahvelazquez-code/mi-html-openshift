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694070.0</c:v>
                </c:pt>
                <c:pt idx="1">
                  <c:v>409391.0</c:v>
                </c:pt>
                <c:pt idx="2">
                  <c:v>229210.0</c:v>
                </c:pt>
                <c:pt idx="3">
                  <c:v>390191.0</c:v>
                </c:pt>
                <c:pt idx="4">
                  <c:v>4036.0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75</c:v>
                </c:pt>
                <c:pt idx="2">
                  <c:v>56</c:v>
                </c:pt>
                <c:pt idx="3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Servicios Sociales y Comunales</c:v>
                </c:pt>
                <c:pt idx="2">
                  <c:v>Comercio</c:v>
                </c:pt>
                <c:pt idx="3">
                  <c:v>Industrias Extractivas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Transportes y Comunicaciones</c:v>
                </c:pt>
                <c:pt idx="7">
                  <c:v>Industrias de la Transformación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8529</c:v>
                </c:pt>
                <c:pt idx="1">
                  <c:v>49983</c:v>
                </c:pt>
                <c:pt idx="2">
                  <c:v>36169</c:v>
                </c:pt>
                <c:pt idx="3">
                  <c:v>14666</c:v>
                </c:pt>
                <c:pt idx="4">
                  <c:v>1951</c:v>
                </c:pt>
                <c:pt idx="5">
                  <c:v>16337</c:v>
                </c:pt>
                <c:pt idx="6">
                  <c:v>8296</c:v>
                </c:pt>
                <c:pt idx="7">
                  <c:v>37110</c:v>
                </c:pt>
                <c:pt idx="8">
                  <c:v>17968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Servicios Sociales y Comunales</c:v>
                </c:pt>
                <c:pt idx="2">
                  <c:v>Comercio</c:v>
                </c:pt>
                <c:pt idx="3">
                  <c:v>Industrias Extractivas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Transportes y Comunicaciones</c:v>
                </c:pt>
                <c:pt idx="7">
                  <c:v>Industrias de la Transformación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3948</c:v>
                </c:pt>
                <c:pt idx="1">
                  <c:v>50019</c:v>
                </c:pt>
                <c:pt idx="2">
                  <c:v>36311</c:v>
                </c:pt>
                <c:pt idx="3">
                  <c:v>15024</c:v>
                </c:pt>
                <c:pt idx="4">
                  <c:v>2011</c:v>
                </c:pt>
                <c:pt idx="5">
                  <c:v>16935</c:v>
                </c:pt>
                <c:pt idx="6">
                  <c:v>8669</c:v>
                </c:pt>
                <c:pt idx="7">
                  <c:v>39202</c:v>
                </c:pt>
                <c:pt idx="8">
                  <c:v>22649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179577</c:v>
                </c:pt>
                <c:pt idx="1">
                  <c:v>186608</c:v>
                </c:pt>
                <c:pt idx="2">
                  <c:v>189057</c:v>
                </c:pt>
                <c:pt idx="3">
                  <c:v>187902</c:v>
                </c:pt>
                <c:pt idx="4">
                  <c:v>196230</c:v>
                </c:pt>
                <c:pt idx="5">
                  <c:v>195650</c:v>
                </c:pt>
                <c:pt idx="6">
                  <c:v>197132</c:v>
                </c:pt>
                <c:pt idx="7">
                  <c:v>191009</c:v>
                </c:pt>
                <c:pt idx="8">
                  <c:v>194768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Zacatecas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Cardiologia</c:v>
                </c:pt>
                <c:pt idx="1">
                  <c:v>Gastroenterologia</c:v>
                </c:pt>
                <c:pt idx="2">
                  <c:v>Otorrinolaringologia Y Cirugia De Cabeza Y Cuello</c:v>
                </c:pt>
                <c:pt idx="3">
                  <c:v>Oftalmologia</c:v>
                </c:pt>
                <c:pt idx="4">
                  <c:v>Endocrinologia</c:v>
                </c:pt>
                <c:pt idx="5">
                  <c:v>Cirugia General</c:v>
                </c:pt>
                <c:pt idx="6">
                  <c:v>Hemodinamia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Fresnillo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Interna</c:v>
                </c:pt>
                <c:pt idx="1">
                  <c:v>Ginecologia Y Obstetricia</c:v>
                </c:pt>
                <c:pt idx="2">
                  <c:v>Otorrinolaringologia Y Cirugia De Cabeza Y Cuello</c:v>
                </c:pt>
                <c:pt idx="3">
                  <c:v>Oftalmologia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Fresnillo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Oftalmologia</c:v>
                </c:pt>
                <c:pt idx="1">
                  <c:v>Cirugia General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Concepción Del Oro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Fresnillo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Pinos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Río Grande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Tlaltenango De Sánchez Román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Medicina Interna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Villanueva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Pediatria</c:v>
                </c:pt>
                <c:pt idx="1">
                  <c:v>Cirugia General</c:v>
                </c:pt>
                <c:pt idx="2">
                  <c:v>Ginecologia Y Obstetricia</c:v>
                </c:pt>
                <c:pt idx="3">
                  <c:v>Medicina Interna</c:v>
                </c:pt>
                <c:pt idx="4">
                  <c:v>Medicina De Urgencias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Zacatecas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32_z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694,070</a:t>
            </a:r>
            <a:br/>
            <a:r>
              <a:t>40%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409,391</a:t>
            </a:r>
            <a:br/>
            <a:r>
              <a:t>24%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229,210</a:t>
            </a:r>
            <a:br/>
            <a:r>
              <a:t>13%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390,191</a:t>
            </a:r>
            <a:br/>
            <a:r>
              <a:t>23%</a:t>
            </a:r>
          </a:p>
        </p:txBody>
      </p:sp>
      <p:pic>
        <p:nvPicPr>
          <p:cNvPr id="135" name="Picture 134" descr="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904118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4,036</a:t>
            </a:r>
            <a:br/>
            <a:r>
              <a:t>0.23%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1,726,898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606,471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694,070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315,444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393,435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185,244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189,480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85,541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113,179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2,435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300,635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149,682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134,238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32_z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35 UMF, 0 UMFH y 0 UMF-UMAA, y no incluye 1 Unidades Auxiliares de Medicina Familiar.</a:t>
            </a:r>
            <a:br/>
            <a:r>
              <a:t>2. Incluye la UMAA0,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Zacatecas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Pinos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Río Grande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Villanueva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Tlaltenango De Sánchez Román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Concepción Del Oro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547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Pinos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Río Grande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Villanueva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Tlaltenango De Sánchez Román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Zacatecas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Concepción Del Oro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Fresnillo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35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32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51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Concepción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Sombrerete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Río grande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Villa Fontana 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Zacatecas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Cañitas de F. Pescador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Jerez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Sain Alto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Valparaiso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Tlaltenango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Teul González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Tabasco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Ojocaliente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Noria Ángeles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Momax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Luis Moya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Loreto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Juchipila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Juan Aldama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Huanusco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Florencia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S. Martín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Colorada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Chalchihuetes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Terminal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Salaverna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Noche Buena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Nochistan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Jalpa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Zacatecas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79,858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35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Víctor Rosales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Fresnillo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38,475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74,853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91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54</a:t>
            </a:r>
          </a:p>
        </p:txBody>
      </p:sp>
      <p:pic>
        <p:nvPicPr>
          <p:cNvPr id="12" name="Picture 11" descr="Mapa_draft_etiquetas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2578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Fresnillo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Zacatecas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Zacatecas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295,650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23,921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45,843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1,340,496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208,192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295,650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45,843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23,921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2,537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615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2,951	 Personal de Salud: 6,262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+82.6%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+44.0%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733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+34.7%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+51.0%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535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+86.4%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-16.2%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7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4,877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286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35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1,061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6,781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(286,518)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(19,181)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(1,619)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(4,908)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(163)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(211,963)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(16,963)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(1,341)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(1,866)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(128)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(51,547)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(16,838)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(1,287)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(1,305)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(49,513)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(11,334)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(1,088)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(962)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(35,489)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(11,017)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(831)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(953)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28,398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433,013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22,965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468,918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12 piezas de equipo electromecánico: 6 Cuarto de Maquinas, 6 Plantas de lavado.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$58.9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31 piezas de equipo médico: 2 Tomógrafo, 2 Mastógrafo, 13 Camilla, 1 Refrigerador para vacunas, 13 Silla de ruedas.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 1 Zacatecas y HGZ 2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$210.4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6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$316.4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Construcción del Centro de Investigación en Biomedicina Molecular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$145.0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Estudios de preinversión del HGR de 216 camas,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216 Camas, Guadalupe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$3,721.0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4,541.2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8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Adecuación área Hemodiálisis en HGZ 2,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UCIN en HGZ No. 1, Zacatecas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 en HGZ 1, Zacatecas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UMF No. 58 6+3 consultorios,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Reestructuración de la UMF 49, Sain Alto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(3 elevadores, 2 bombas, 2 calderas y 1 tanque hidroneumático)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$46.5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25 Unidades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8 Quirófanos (4 en HGZ1 y 4 en HGZ 2), Zacatecas y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Mantenimiento correctivo integral a elevadores, Zacatecas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HGZ 2,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en cocinas y comedores en 2 unidades (HGZ 1 y HGZ 2) Zactecas y Fresnillo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$44.4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Zacatecas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áreas de Patología en HGZ 2 Fresnillo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34 modulos de baños en 8 unidades (HGZ 1, UMF 1, UMF 50, UMF 55, UMF 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y adquisición de aires acondicionados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316.9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28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3,566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6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González Ortega, Felipe Angeles,Jerez, Río Grande, Emiliano Zapata, Calera de Víctor Rosales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Zacatecas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Zacatecas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4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140 Concepción del Oro, No. 143 Río Grande, No. 100 Sombrerete y No. 60 Zacatecas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32_z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28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SECRETARIA DE EDUCACION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16,042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15,668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APTIV CONTRACT SERVICES ZACATECAS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9,490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9,869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ENTRADA GROUP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FRESNILLO ZACATECAS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1,657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1,671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MINERA PE#ASQUITO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-53.71%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+0.07%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+0.39%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+2.44%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+3.08%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+3.66%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+4.50%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+5.64%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+26.05%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155,724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4,316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27,821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3,148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191,009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163,432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194,768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$596.16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$314.65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$596.16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$17,884.8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CONCRETO LANZADO DE LOS MOCHIS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$8,520.48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DE REPOSTERIA MEDINA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$7,522.13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CESANTONI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$4,532.78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Gobierno del Estado de Zacatecas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$155.29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Cañitas de Felipe Pescador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$4,828.59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Concepción del Oro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$4,937.99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116,077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51,612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10,990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30,470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2,575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1,857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8,048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3,866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4,743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409,391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129,722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279,669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69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116,077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2,575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Zacatecas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ZACATECAS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