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  <p:sldId id="292" r:id="rId43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2062323.0</c:v>
                </c:pt>
                <c:pt idx="1">
                  <c:v>244977.0</c:v>
                </c:pt>
                <c:pt idx="2">
                  <c:v>419881.0</c:v>
                </c:pt>
                <c:pt idx="3">
                  <c:v>946753.0</c:v>
                </c:pt>
                <c:pt idx="4">
                  <c:v>103538.0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156</c:v>
                </c:pt>
                <c:pt idx="2">
                  <c:v>131</c:v>
                </c:pt>
                <c:pt idx="3">
                  <c:v>128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Agricultura, Ganaderia, Silvicultura, Pesca y Caza</c:v>
                </c:pt>
                <c:pt idx="5">
                  <c:v>Servicios Sociales y Comunales</c:v>
                </c:pt>
                <c:pt idx="6">
                  <c:v>Industria de la Construcción</c:v>
                </c:pt>
                <c:pt idx="7">
                  <c:v>Comercio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1476</c:v>
                </c:pt>
                <c:pt idx="1">
                  <c:v>81594</c:v>
                </c:pt>
                <c:pt idx="2">
                  <c:v>76896</c:v>
                </c:pt>
                <c:pt idx="3">
                  <c:v>287122</c:v>
                </c:pt>
                <c:pt idx="4">
                  <c:v>10056</c:v>
                </c:pt>
                <c:pt idx="5">
                  <c:v>54981</c:v>
                </c:pt>
                <c:pt idx="6">
                  <c:v>43051</c:v>
                </c:pt>
                <c:pt idx="7">
                  <c:v>130521</c:v>
                </c:pt>
                <c:pt idx="8">
                  <c:v>9928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Agricultura, Ganaderia, Silvicultura, Pesca y Caza</c:v>
                </c:pt>
                <c:pt idx="5">
                  <c:v>Servicios Sociales y Comunales</c:v>
                </c:pt>
                <c:pt idx="6">
                  <c:v>Industria de la Construcción</c:v>
                </c:pt>
                <c:pt idx="7">
                  <c:v>Comercio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1386</c:v>
                </c:pt>
                <c:pt idx="1">
                  <c:v>77726</c:v>
                </c:pt>
                <c:pt idx="2">
                  <c:v>73911</c:v>
                </c:pt>
                <c:pt idx="3">
                  <c:v>279689</c:v>
                </c:pt>
                <c:pt idx="4">
                  <c:v>9823</c:v>
                </c:pt>
                <c:pt idx="5">
                  <c:v>55019</c:v>
                </c:pt>
                <c:pt idx="6">
                  <c:v>43404</c:v>
                </c:pt>
                <c:pt idx="7">
                  <c:v>131899</c:v>
                </c:pt>
                <c:pt idx="8">
                  <c:v>10089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660817</c:v>
                </c:pt>
                <c:pt idx="1">
                  <c:v>682122</c:v>
                </c:pt>
                <c:pt idx="2">
                  <c:v>685991</c:v>
                </c:pt>
                <c:pt idx="3">
                  <c:v>666820</c:v>
                </c:pt>
                <c:pt idx="4">
                  <c:v>696124</c:v>
                </c:pt>
                <c:pt idx="5">
                  <c:v>696614</c:v>
                </c:pt>
                <c:pt idx="6">
                  <c:v>697712</c:v>
                </c:pt>
                <c:pt idx="7">
                  <c:v>695625</c:v>
                </c:pt>
                <c:pt idx="8">
                  <c:v>682946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270 Reynosa (Total: 16)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Traumatologia Y Ortopedia</c:v>
                </c:pt>
                <c:pt idx="1">
                  <c:v>Cirugia General</c:v>
                </c:pt>
                <c:pt idx="2">
                  <c:v>Ginecologia Y Obstetricia</c:v>
                </c:pt>
                <c:pt idx="3">
                  <c:v>Pediatria</c:v>
                </c:pt>
                <c:pt idx="4">
                  <c:v>Medicina De Rehabilitacion</c:v>
                </c:pt>
                <c:pt idx="5">
                  <c:v>Gastroenterologia</c:v>
                </c:pt>
                <c:pt idx="6">
                  <c:v>Medicina Interna</c:v>
                </c:pt>
                <c:pt idx="7">
                  <c:v>Medicina Del Enfermo En Estado Critico</c:v>
                </c:pt>
                <c:pt idx="8">
                  <c:v>Medicina De Urgencias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3</c:v>
                </c:pt>
                <c:pt idx="7">
                  <c:v>1</c:v>
                </c:pt>
                <c:pt idx="8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6 Ciudad Madero.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Cardiologia</c:v>
                </c:pt>
                <c:pt idx="1">
                  <c:v>Hematologia</c:v>
                </c:pt>
                <c:pt idx="2">
                  <c:v>Imagenologia Diagnostica Y Terapeutica</c:v>
                </c:pt>
                <c:pt idx="3">
                  <c:v>Pediatria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17 Miguel Alemán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Traumatologia Y Ortopedia</c:v>
                </c:pt>
                <c:pt idx="1">
                  <c:v>Medicina De Urgencias</c:v>
                </c:pt>
                <c:pt idx="2">
                  <c:v>Cirugia General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11 Nuevo Laredo (Total: 18)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Medicina Interna</c:v>
                </c:pt>
                <c:pt idx="1">
                  <c:v>Urologia</c:v>
                </c:pt>
                <c:pt idx="2">
                  <c:v>Traumatologia Y Ortopedia</c:v>
                </c:pt>
                <c:pt idx="3">
                  <c:v>Anestesiologia</c:v>
                </c:pt>
                <c:pt idx="4">
                  <c:v>Cirugia General</c:v>
                </c:pt>
                <c:pt idx="5">
                  <c:v>Medicina De Urgencias</c:v>
                </c:pt>
                <c:pt idx="6">
                  <c:v>Cardiologia Pediatrica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9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13 Matamoros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Pediatria</c:v>
                </c:pt>
                <c:pt idx="1">
                  <c:v>Oftalmologia</c:v>
                </c:pt>
                <c:pt idx="2">
                  <c:v>Cirugia General</c:v>
                </c:pt>
                <c:pt idx="3">
                  <c:v>Imagenologia Diagnostica Y Terapeutica</c:v>
                </c:pt>
                <c:pt idx="4">
                  <c:v>Medicina De Urgencias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HGZ-UMAA 15 Ciudad Reynosa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Neumologia Directa</c:v>
                </c:pt>
                <c:pt idx="1">
                  <c:v>Ginecologia Y Obstetricia</c:v>
                </c:pt>
                <c:pt idx="2">
                  <c:v>Pediatria</c:v>
                </c:pt>
                <c:pt idx="3">
                  <c:v>Traumatologia Y Ortopedia</c:v>
                </c:pt>
                <c:pt idx="4">
                  <c:v>Cirugia General</c:v>
                </c:pt>
                <c:pt idx="5">
                  <c:v>Imagenologia Diagnostica Y Terapeutica</c:v>
                </c:pt>
                <c:pt idx="6">
                  <c:v>Medicina Del Trabajo Y Ambiental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 Ciudad Victoria (Total: 20)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Medicina Interna</c:v>
                </c:pt>
                <c:pt idx="1">
                  <c:v>Ginecologia Y Obstetricia</c:v>
                </c:pt>
                <c:pt idx="2">
                  <c:v>Medicina Materno Fetal</c:v>
                </c:pt>
                <c:pt idx="3">
                  <c:v>Traumatologia Y Ortopedia</c:v>
                </c:pt>
                <c:pt idx="4">
                  <c:v>Cirugia General</c:v>
                </c:pt>
                <c:pt idx="5">
                  <c:v>Medicina Del Enfermo En Estado Critico</c:v>
                </c:pt>
                <c:pt idx="6">
                  <c:v>Pediatria</c:v>
                </c:pt>
                <c:pt idx="7">
                  <c:v>Imagenologia Diagnostica Y Terapeutica</c:v>
                </c:pt>
                <c:pt idx="8">
                  <c:v>Geriatria Directa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36 Matamoros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Imagenologia Diagnostica Y Terapeutica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78 Nuevo Laredo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Epidemiologia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76 Nuevo Laredo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Nefrologia</c:v>
                </c:pt>
                <c:pt idx="1">
                  <c:v>Anestesiologia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 Ciudad Victoria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Urgencias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San Carlos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Anestesiologia</c:v>
                </c:pt>
                <c:pt idx="1">
                  <c:v>Medicina Interna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Soto La Marina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Ginecologia Y Obstetricia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39 y Rehab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Urgencias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Tamaulipas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28_tam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2,062,323</a:t>
            </a:r>
            <a:br/>
            <a:r>
              <a:t>55%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244,977</a:t>
            </a:r>
            <a:br/>
            <a:r>
              <a:t>6%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419,881</a:t>
            </a:r>
            <a:br/>
            <a:r>
              <a:t>11%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946,753</a:t>
            </a:r>
            <a:br/>
            <a:r>
              <a:t>25%</a:t>
            </a:r>
          </a:p>
        </p:txBody>
      </p:sp>
      <p:pic>
        <p:nvPicPr>
          <p:cNvPr id="135" name="Picture 134" descr="2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904118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103,538</a:t>
            </a:r>
            <a:br/>
            <a:r>
              <a:t>3%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3,777,472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1,928,671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2,062,323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1,013,374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1,182,984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674,263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681,913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176,639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202,528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168,148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195,137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5,021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1,439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915,297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879,339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302,364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316,886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458,579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377,287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185,166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8_tam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273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1,043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1,043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40 UMF, 0 UMFH y 2 UMF-UMAA, y no incluye 6 Unidades Auxiliares de Medicina Familiar.</a:t>
            </a:r>
            <a:br/>
            <a:r>
              <a:t>2. Incluye la UMAA3,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45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 Mante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11 Nuevo Laredo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1 Ciudad Victoria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HGZ-UMAA 15 Ciudad Reynosa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6 Ciudad Madero.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13 Matamoros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17 Miguel Alemán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270 Reynosa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Tula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San Carlos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Soto La Marina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Hidalgo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1,203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6984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32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Ciudad Victoria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17 Miguel Alemán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Tula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HGZ-UMAA 15 Ciudad Reynosa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270 Reynosa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6 Ciudad Madero.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San Carlos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Soto La Marina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Mante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Hidalgo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11 Nuevo Laredo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13 Matamoros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42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34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54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76 Nuevo Laredo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E. Cuauhtémoc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79 Matamoros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73 Villagran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72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70 Soto la Marina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69 Abasolo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68 Jiménez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67 Ciudad Victoria c/Rehab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16,674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66 San Fernando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Xicotencatl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Balcones de Alcalá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I. Guayalejo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36 Matamoros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Nuevo Morelos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Antiguo Morelos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Guemez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30 Villa Aldama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E. Manuel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28 Villa Llera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Ocampo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Loma Alta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E. González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 Mante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 Ciudad Gustavo Díaz Ordaz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Ciudad Mier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Nueva Cd. Guerrero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Ciudad Camargo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 Ciudad Limón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C. Miguel Aleman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Valle Hermoso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Nva. Apoloria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E. Ramírez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Altamira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155,177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42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Río Bravo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21,671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77 Ciudad Madero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100,253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78 Nuevo Laredo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58,814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33 Ciudad Reynosa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77,392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38 Tampico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27,834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Jarachina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28,346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Altamira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30,251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39 y Rehab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32,510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377,071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240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137</a:t>
            </a:r>
          </a:p>
        </p:txBody>
      </p:sp>
      <p:pic>
        <p:nvPicPr>
          <p:cNvPr id="12" name="Picture 11" descr="Mapa_draft_etiquetas_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8511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15 Ciudad Reynosa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6 Ciudad Madero.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270 Reynosa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Mante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HGZ-UMAA 15 Ciudad Reynosa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13 Matamoros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39 y Rehab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11 Nuevo Laredo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Ciudad Victoria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7 Panuco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17 Miguel Alemán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76 Nuevo Laredo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80,300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4,891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10,427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13 Matamoros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6 Ciudad Madero.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21,816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40,356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Mante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Ciudad Victoria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270 Reynosa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11 Nuevo Laredo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HGZ-UMAA 15 Ciudad Reynosa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15 Ciudad Reynosa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39 y Rehab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7 Panuco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76 Nuevo Laredo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17 Miguel Alemán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886,950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69,970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158,297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263,088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3,520,368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642,787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395,234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886,950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158,297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4,618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1,078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10,445	 Personal de Salud: 16,314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+68.4%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+29.0%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1,677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2,163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3,277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4,151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+25.5%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2,296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2,881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+15.5%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321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656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705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16,520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799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124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157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3,331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1,109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22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21,759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(742,321)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(65,453)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(7,555)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(11,416)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(887)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(706,720)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(53,468)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(6,027)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(5,863)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(779)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(161,229)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(51,603)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(2,832)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(3,268)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(661)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(161,001)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(33,036)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Artropatias   (2,826)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(2,915)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(436)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(117,438)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(31,117)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(2,779)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(2,733)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(375)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190,713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1,050,969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104,515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1,080,354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91.2%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76923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136 piezas de equipo médico: 119 camillas, 8 refrigeradores para vacunas, 3 congeladores para vacunas, 3 sillas de ruedas, 2 tomógrafos y 1 resonador magnético.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$126.9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52 piezas de equipo electromecánico: 41 Aires Acondicionados,  Supresión de incendios, 2 Elevadores, 9 Cuarto de Maquinas.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$265.6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52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$11.6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Atención Médica Continua en 4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8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$25.8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Urgencias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$264.6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Ampliación y Remodelación de la UMF 17, Río Bravo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$266.9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973.1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2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Mezclas, Cd. Madero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$43.8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Habilitación de ONCOCREAN en HGR 270, Reynosa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Sala de Hemodinamia, HGR 6, Cd. Madero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$30.7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UMF 10 consultorios, Reynosa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 (18 secadoras, 16 lavadoras, 7elevadores, 2 cámaras de refrigeración)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$140.6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en 47 Quirófanos en 7 Hospitales ( HGR  270, HGZ  11,  HGSZ 17, UMF/UMAA 39, HGZMF 1, HGZ 15, HGZ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en 8 hospitales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$290.9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Recuperación y Dignificación de 22 UMF y el HGSMF 7 Tampico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manteniento de infraestructura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$185.2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Reestructuración del Cuerpo de Casa de Máquinas en el HGZ 11, Nuevo Laredo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4 Unidades Hospitalarias, HGZ 15 Reynosa, HGZ 3 Cd. Mante, HGR 6 Cd. Madero y HGZMF 1 Cd. Victoria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$267.8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almacenes, residencias y unidades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en 30 Unidades de Medicina Familiar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$135.9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1,254.4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64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9,149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542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Pánuco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Ciudad Mante y Nuevo Laredo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Cd. Mante, Nuevo Laredo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47 Tampico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Tampico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8_tam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16,410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16,314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CORNING OPTICAL COMMUNICATIONS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25,818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25,410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AUTONOMA DE TAMAULIPAS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COMISION FEDERAL DE ELECTRICIDAD EPE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3,394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3,372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APTIV CONTRACT SERVICES NUEVO LAREDO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8,191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-6.10%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-4.74%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-3.88%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-2.59%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-2.32%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+0.07%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+0.82%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+1.06%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+1.62%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622,118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5,816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65,704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1,987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695,625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615,323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682,946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$690.82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$323.70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$690.82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$20,724.6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CIPEMEX TRAINING,CONSULTING,INDUSTRIAL,AND BUSINESS CONSTRUCTION OF MEXICO SAS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$43,697.22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TNL EXPRESS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$29,675.67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ARRENDAMIENTOS EQUIPOS Y MONTAJES DEL PUERTO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$27,179.07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Comisión Municipal de Agua Potable y Alcantarillado de Victoria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$74,759.21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Comisión Municipal de Agua Potable y Alcantarillado Guerrero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$141.24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Comisión Municipal de Agua Potable y Alcantarillado de Diaz Ordaz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80,165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45,517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6,885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15,674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12,089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1,601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2,578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541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3,327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1,917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244,977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102,055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142,922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28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80,165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1,601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Tamaulipas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Tamaulipas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Tamaulipas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46504" y="576072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0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959352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TAMAULIPAS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