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863152.0</c:v>
                </c:pt>
                <c:pt idx="1">
                  <c:v>1166968.0</c:v>
                </c:pt>
                <c:pt idx="2">
                  <c:v>538673.0</c:v>
                </c:pt>
                <c:pt idx="3">
                  <c:v>1744781.0</c:v>
                </c:pt>
                <c:pt idx="4">
                  <c:v>55423.0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80</c:v>
                </c:pt>
                <c:pt idx="2">
                  <c:v>64</c:v>
                </c:pt>
                <c:pt idx="3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 Eléctrica y Captación y Suministro de Agua Potable</c:v>
                </c:pt>
                <c:pt idx="4">
                  <c:v>Servicios Sociales y Comunales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23855</c:v>
                </c:pt>
                <c:pt idx="1">
                  <c:v>8885</c:v>
                </c:pt>
                <c:pt idx="2">
                  <c:v>17262</c:v>
                </c:pt>
                <c:pt idx="3">
                  <c:v>2868</c:v>
                </c:pt>
                <c:pt idx="4">
                  <c:v>67801</c:v>
                </c:pt>
                <c:pt idx="5">
                  <c:v>46476</c:v>
                </c:pt>
                <c:pt idx="6">
                  <c:v>57931</c:v>
                </c:pt>
                <c:pt idx="7">
                  <c:v>9465</c:v>
                </c:pt>
                <c:pt idx="8">
                  <c:v>1092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Agricultura, Ganaderia, Silvicultura, Pesca y Caza</c:v>
                </c:pt>
                <c:pt idx="2">
                  <c:v>Industrias de la Transformación</c:v>
                </c:pt>
                <c:pt idx="3">
                  <c:v>Ind Eléctrica y Captación y Suministro de Agua Potable</c:v>
                </c:pt>
                <c:pt idx="4">
                  <c:v>Servicios Sociales y Comunales</c:v>
                </c:pt>
                <c:pt idx="5">
                  <c:v>Servicios para Empresas, Personas y el Hogar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20418</c:v>
                </c:pt>
                <c:pt idx="1">
                  <c:v>8773</c:v>
                </c:pt>
                <c:pt idx="2">
                  <c:v>17102</c:v>
                </c:pt>
                <c:pt idx="3">
                  <c:v>2843</c:v>
                </c:pt>
                <c:pt idx="4">
                  <c:v>69531</c:v>
                </c:pt>
                <c:pt idx="5">
                  <c:v>47692</c:v>
                </c:pt>
                <c:pt idx="6">
                  <c:v>59586</c:v>
                </c:pt>
                <c:pt idx="7">
                  <c:v>10128</c:v>
                </c:pt>
                <c:pt idx="8">
                  <c:v>1545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216590</c:v>
                </c:pt>
                <c:pt idx="1">
                  <c:v>215412</c:v>
                </c:pt>
                <c:pt idx="2">
                  <c:v>222355</c:v>
                </c:pt>
                <c:pt idx="3">
                  <c:v>213960</c:v>
                </c:pt>
                <c:pt idx="4">
                  <c:v>216717</c:v>
                </c:pt>
                <c:pt idx="5">
                  <c:v>226566</c:v>
                </c:pt>
                <c:pt idx="6">
                  <c:v>233355</c:v>
                </c:pt>
                <c:pt idx="7">
                  <c:v>235635</c:v>
                </c:pt>
                <c:pt idx="8">
                  <c:v>237618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19 Cosolapa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Ginecologia Y Obstetricia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41 Huatulco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Geriatria Directa</c:v>
                </c:pt>
                <c:pt idx="1">
                  <c:v>Traumatologia Y Ortopedia</c:v>
                </c:pt>
                <c:pt idx="2">
                  <c:v>Medicina Interna</c:v>
                </c:pt>
                <c:pt idx="3">
                  <c:v>Medicina Del Trabajo Y Ambiental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 Tuxtepec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Otorrinolaringologia Y Cirugia De Cabeza Y Cuello</c:v>
                </c:pt>
                <c:pt idx="1">
                  <c:v>Ginecologia Y Obstetricia</c:v>
                </c:pt>
                <c:pt idx="2">
                  <c:v>Geriatria Directa</c:v>
                </c:pt>
                <c:pt idx="3">
                  <c:v>Medicina Del Trabajo Y Ambiental</c:v>
                </c:pt>
                <c:pt idx="4">
                  <c:v>Cirugia Oncologica</c:v>
                </c:pt>
                <c:pt idx="5">
                  <c:v>Cardiologia</c:v>
                </c:pt>
                <c:pt idx="6">
                  <c:v>Neumologia Directa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 Salina Cruz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Miahuatlán De Porfirio Díaz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38 FF.CC.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41 Huatulco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Pediatria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3 Tuxtepec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Urologia</c:v>
                </c:pt>
                <c:pt idx="1">
                  <c:v>Hematologia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Heroica Ciudad De Huajuapan De León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Heroica Ciudad De Tlaxiaco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Oftalmologia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Huautla De Jiménez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Ginecologia Y Obstetricia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Matías Romero Avendaño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 Ildefonso Villa Alta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Ginecologia Y Obstetricia</c:v>
                </c:pt>
                <c:pt idx="2">
                  <c:v>Medicina De Urgencias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Santiago Jamiltepec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Cirugia General</c:v>
                </c:pt>
                <c:pt idx="1">
                  <c:v>Ginecologia Y Obstetricia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Relationship Id="rId4" Type="http://schemas.openxmlformats.org/officeDocument/2006/relationships/chart" Target="../charts/chart13.xml"/><Relationship Id="rId5" Type="http://schemas.openxmlformats.org/officeDocument/2006/relationships/chart" Target="../charts/chart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Oaxaca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20_o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863,152</a:t>
            </a:r>
            <a:br/>
            <a:r>
              <a:t>20%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1,166,968</a:t>
            </a:r>
            <a:br/>
            <a:r>
              <a:t>27%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538,673</a:t>
            </a:r>
            <a:br/>
            <a:r>
              <a:t>12%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1,744,781</a:t>
            </a:r>
            <a:br/>
            <a:r>
              <a:t>40%</a:t>
            </a:r>
          </a:p>
        </p:txBody>
      </p:sp>
      <p:pic>
        <p:nvPicPr>
          <p:cNvPr id="135" name="Picture 134" descr="2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55,423</a:t>
            </a:r>
            <a:br/>
            <a:r>
              <a:t>1%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4,368,997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746,140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863,152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453,621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560,925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215,491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237,427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184,301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206,920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201,882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3,767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292,519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302,227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144,458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125,895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2,924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3,870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0_oa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26 UMF, 0 UMFH y 0 UMF-UMAA, y no incluye 8 Unidades Auxiliares de Medicina Familiar.</a:t>
            </a:r>
            <a:br/>
            <a:r>
              <a:t>2. Incluye la UMAA1,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51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Tlacolula De Matamoros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Santiago Jamiltepec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Matías Romero Avendaño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Santiago Juxtlahuaca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Huautla De Jiménez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Miahuatlán De Porfirio Díaz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Heroica Ciudad De Tlaxiaco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Heroica Ciudad De Huajuapan De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Ildefonso Villa Alta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7740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36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Huautla De Jiménez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Cosolapa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Miahuatlán De Porfirio Díaz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Heroica Ciudad De Tlaxiaco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Santiago Jamiltepec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Matías Romero Avendaño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Santiago Juxtlahuaca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Heroica Ciudad De Huajuapan De León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Ildefonso Villa Alta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Tlacolula De Matamoros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20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33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UMRM 21 Tamazulapan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59 Loma Bonita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Teotitlán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San Pablo Villa de Etla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56 San Pablo Huitzo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Sto. Domingo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Ixtlan de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Pedro Pochutla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Zimatlán de Álvarez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Temazcal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30 San Pedro Tapanatepec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Barrio La Soledad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Ocotlán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Estación El Refugio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Cd. Ixtpepec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Vicente Oax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Magdalena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Cuicatlán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Sto. Domingo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27,167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27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7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13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Juchitan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64 Tuxtepec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31,445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Pinotepa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65 Sta Lucía del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32 Puerto Escondido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38 FF.CC.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29,977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Oaxaca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132,315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121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78</a:t>
            </a:r>
          </a:p>
        </p:txBody>
      </p:sp>
      <p:pic>
        <p:nvPicPr>
          <p:cNvPr id="12" name="Picture 11" descr="Mapa_draft_etiquetas_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36760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25,550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3,792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1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HGZ-UMAA 1 Oaxaca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31,860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3 Tuxtepec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41 Huatulco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Salina Cruz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354,780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27,182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62,894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1,014,768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169,241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100,224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17,118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354,780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62,894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27,182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Ambulatoria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4,872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3,496	 Personal de Salud: 8,460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+175.8%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638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880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+15.7%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1,271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905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+252.8%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-15.6%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162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4,755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361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1,397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616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7,129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(253,031)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(27,544)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(2,863)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(4,436)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(250)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(203,103)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(27,111)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(2,256)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(3,375)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(181)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(57,109)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(17,066)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(1,282)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(43,561)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(16,633)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vesicula biliar (Colecistectomía)   (1,115)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(2,148)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(65)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(34,504)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(13,482)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Artropatias   (1,090)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 la vesicula biliar   (1,304)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45,936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330,906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60,528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420,809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87.4%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207 piezas de equipo médico: 165 Camilla, 1 Mastógrafo, 5 Refrigerador para vacunas, 36 Silla de ruedas.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$32.4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9 piezas de equipo electromecánico: 6 Aires Acondicionados, 3 Elevadores.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5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5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$133.8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225.6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7692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del Hospital Rural 18, Huajuapan de León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Recursos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Almacén Delegacional, Oaxaca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$378.2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Sala de hemodinamia en el HGZ 1,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(3 elevadores, 2 Generadores de vapor, 13 lavadoras, 11 secadoras, 2 cámaras de refrigreración)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$97.5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y Rehabilitación de 4 UMFs, Salina Cruz, Tamazulapan, Tehuantepec y San Pedro Tapanatepec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19 Salas de Quirófanos, en 4 hospitales y 1 UMAA, Tuxtepec, Huatulco y Oaxaca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$66.1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16 Unidades Hospitalarias IMSS Bienestar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4 hospitales prioritarios, HGZ 1, 2 y 3, HGSZMF 41, Tuxtepec, Huatulco y Oaxaca 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$72.9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Rehablitación de residencias médicas y unidades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809.9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13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1,400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5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San Martín Mexicapan,  Santa Lucia del Camino, Salina Cruz, San Juan Bautista y Santa Cruz Xoxocotlán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Oaxaca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6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133 Huajuapan de León, No. 161 Matías Romero, No. 33 Oaxaca de Juárez, No. 135 Puerto Escondido, No. 52 Tlaxiaco y No. 110 Tuxtepec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0_oa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LIBRE Y SOBERANO DE OAXACA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32,306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32,161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OAXACA DE JUAREZ OAXACA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EQUIPOS ESPECIALIZADOS AH MUN EN LINEA SC DE RL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2,014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-14.41%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-1.26%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-0.93%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-0.87%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+2.55%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+2.62%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+2.86%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+7.00%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+41.48%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193,318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4,131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34,260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3,926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235,635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198,342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237,618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-0%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$550.22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$283.17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$550.22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$16,506.6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ABCD ARQUITECTURA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$41,520.35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ALTA MANUFACTURA EN POLIETILENO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$6,916.89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TRAYECTORIA E IMAGEN SOFISTICADA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$5,665.15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Oaxaca de Juárez Oaxaca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$4.62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Benito Juárez de Oaxaca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$5,858.13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para el Desarrollo Integral de la Familia del Estado de Oaxaca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$9.93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283,634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130,339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30,610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67,788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54,897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13,389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11,471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24,065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2,055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3,024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9,234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13,288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1,166,968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206,801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960,167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755,074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283,634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13,389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Veracruz Sur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46504" y="603504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Oaxaca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630936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Oaxaca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OAXACA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