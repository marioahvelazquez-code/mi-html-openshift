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3.xml" ContentType="application/vnd.openxmlformats-officedocument.drawingml.chart+xml"/>
  <Override PartName="/ppt/notesSlides/notesSlide20.xml" ContentType="application/vnd.openxmlformats-officedocument.presentationml.notesSlide+xml"/>
  <Override PartName="/ppt/charts/chart4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7" r:id="rId11"/>
    <p:sldId id="280" r:id="rId12"/>
    <p:sldId id="287" r:id="rId13"/>
    <p:sldId id="288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2" r:id="rId23"/>
    <p:sldId id="283" r:id="rId24"/>
    <p:sldId id="290" r:id="rId25"/>
    <p:sldId id="291" r:id="rId26"/>
    <p:sldId id="292" r:id="rId27"/>
    <p:sldId id="293" r:id="rId28"/>
  </p:sldIdLst>
  <p:sldSz cx="7772400" cy="10058400"/>
  <p:notesSz cx="6858000" cy="9144000"/>
  <p:embeddedFontLst>
    <p:embeddedFont>
      <p:font typeface="Montserrat" pitchFamily="2" charset="0"/>
      <p:regular r:id="rId30"/>
      <p:bold r:id="rId31"/>
      <p:italic r:id="rId32"/>
      <p:boldItalic r:id="rId33"/>
    </p:embeddedFont>
    <p:embeddedFont>
      <p:font typeface="Noto Sans" panose="020B050204050402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undo custSel modSld">
      <pc:chgData name="Rohan Myron Oprisko" userId="a7c52ab4-f8b1-4d15-aaf6-6388cc510347" providerId="ADAL" clId="{EEEE6C0E-EB18-4E43-B633-E5F95274828B}" dt="2026-03-18T01:43:11.266" v="35" actId="14100"/>
      <pc:docMkLst>
        <pc:docMk/>
      </pc:docMkLst>
      <pc:sldChg chg="addSp delSp modSp mod">
        <pc:chgData name="Rohan Myron Oprisko" userId="a7c52ab4-f8b1-4d15-aaf6-6388cc510347" providerId="ADAL" clId="{EEEE6C0E-EB18-4E43-B633-E5F95274828B}" dt="2026-03-18T01:41:56.907" v="29" actId="1076"/>
        <pc:sldMkLst>
          <pc:docMk/>
          <pc:sldMk cId="0" sldId="258"/>
        </pc:sldMkLst>
        <pc:spChg chg="mod">
          <ac:chgData name="Rohan Myron Oprisko" userId="a7c52ab4-f8b1-4d15-aaf6-6388cc510347" providerId="ADAL" clId="{EEEE6C0E-EB18-4E43-B633-E5F95274828B}" dt="2026-03-18T01:41:53.802" v="28" actId="1076"/>
          <ac:spMkLst>
            <pc:docMk/>
            <pc:sldMk cId="0" sldId="258"/>
            <ac:spMk id="124" creationId="{00000000-0000-0000-0000-000000000000}"/>
          </ac:spMkLst>
        </pc:spChg>
        <pc:graphicFrameChg chg="add del mod modGraphic">
          <ac:chgData name="Rohan Myron Oprisko" userId="a7c52ab4-f8b1-4d15-aaf6-6388cc510347" providerId="ADAL" clId="{EEEE6C0E-EB18-4E43-B633-E5F95274828B}" dt="2026-03-17T18:02:22.788" v="27" actId="478"/>
          <ac:graphicFrameMkLst>
            <pc:docMk/>
            <pc:sldMk cId="0" sldId="258"/>
            <ac:graphicFrameMk id="2" creationId="{D110EB92-D53B-B721-7239-F76E3C239AC9}"/>
          </ac:graphicFrameMkLst>
        </pc:graphicFrameChg>
        <pc:graphicFrameChg chg="mod">
          <ac:chgData name="Rohan Myron Oprisko" userId="a7c52ab4-f8b1-4d15-aaf6-6388cc510347" providerId="ADAL" clId="{EEEE6C0E-EB18-4E43-B633-E5F95274828B}" dt="2026-03-12T17:49:34.333" v="5" actId="1076"/>
          <ac:graphicFrameMkLst>
            <pc:docMk/>
            <pc:sldMk cId="0" sldId="258"/>
            <ac:graphicFrameMk id="111" creationId="{00000000-0000-0000-0000-000000000000}"/>
          </ac:graphicFrameMkLst>
        </pc:graphicFrameChg>
        <pc:cxnChg chg="mod">
          <ac:chgData name="Rohan Myron Oprisko" userId="a7c52ab4-f8b1-4d15-aaf6-6388cc510347" providerId="ADAL" clId="{EEEE6C0E-EB18-4E43-B633-E5F95274828B}" dt="2026-03-18T01:41:56.907" v="29" actId="1076"/>
          <ac:cxnSpMkLst>
            <pc:docMk/>
            <pc:sldMk cId="0" sldId="258"/>
            <ac:cxnSpMk id="125" creationId="{00000000-0000-0000-0000-000000000000}"/>
          </ac:cxnSpMkLst>
        </pc:cxnChg>
      </pc:sldChg>
      <pc:sldChg chg="modSp mod">
        <pc:chgData name="Rohan Myron Oprisko" userId="a7c52ab4-f8b1-4d15-aaf6-6388cc510347" providerId="ADAL" clId="{EEEE6C0E-EB18-4E43-B633-E5F95274828B}" dt="2026-03-18T01:43:11.266" v="35" actId="14100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39:03.412" v="26" actId="20577"/>
          <ac:spMkLst>
            <pc:docMk/>
            <pc:sldMk cId="0" sldId="279"/>
            <ac:spMk id="500" creationId="{00000000-0000-0000-0000-000000000000}"/>
          </ac:spMkLst>
        </pc:spChg>
        <pc:graphicFrameChg chg="mod modGraphic">
          <ac:chgData name="Rohan Myron Oprisko" userId="a7c52ab4-f8b1-4d15-aaf6-6388cc510347" providerId="ADAL" clId="{EEEE6C0E-EB18-4E43-B633-E5F95274828B}" dt="2026-03-18T01:43:11.266" v="35" actId="14100"/>
          <ac:graphicFrameMkLst>
            <pc:docMk/>
            <pc:sldMk cId="0" sldId="279"/>
            <ac:graphicFrameMk id="503" creationId="{00000000-0000-0000-0000-000000000000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0T21:41:16.170" v="2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1:16.170" v="2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custSel addSld delSld modSld">
      <pc:chgData name="David Arturo Baltazar Sanchez" userId="25f522d3-6b93-447f-8e87-5af7c1a8f0db" providerId="ADAL" clId="{1167E2C4-85EE-4FA3-A5C3-376395AAEEB6}" dt="2026-03-11T19:27:03.417" v="60"/>
      <pc:docMkLst>
        <pc:docMk/>
      </pc:docMkLst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2:36.979" v="59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2:36.979" v="59" actId="20577"/>
          <ac:spMkLst>
            <pc:docMk/>
            <pc:sldMk cId="0" sldId="260"/>
            <ac:spMk id="145" creationId="{00000000-0000-0000-0000-000000000000}"/>
          </ac:spMkLst>
        </pc:spChg>
        <pc:graphicFrameChg chg="mod modGraphic">
          <ac:chgData name="David Arturo Baltazar Sanchez" userId="25f522d3-6b93-447f-8e87-5af7c1a8f0db" providerId="ADAL" clId="{1167E2C4-85EE-4FA3-A5C3-376395AAEEB6}" dt="2026-03-11T18:59:37.205" v="57"/>
          <ac:graphicFrameMkLst>
            <pc:docMk/>
            <pc:sldMk cId="0" sldId="260"/>
            <ac:graphicFrameMk id="143" creationId="{00000000-0000-0000-0000-000000000000}"/>
          </ac:graphicFrameMkLst>
        </pc:graphicFrameChg>
      </pc:sldChg>
      <pc:sldChg chg="addSp delSp modSp mod">
        <pc:chgData name="David Arturo Baltazar Sanchez" userId="25f522d3-6b93-447f-8e87-5af7c1a8f0db" providerId="ADAL" clId="{1167E2C4-85EE-4FA3-A5C3-376395AAEEB6}" dt="2026-03-11T19:27:03.417" v="60"/>
        <pc:sldMkLst>
          <pc:docMk/>
          <pc:sldMk cId="0" sldId="261"/>
        </pc:sldMkLst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modSp add mod">
        <pc:chgData name="David Arturo Baltazar Sanchez" userId="25f522d3-6b93-447f-8e87-5af7c1a8f0db" providerId="ADAL" clId="{1167E2C4-85EE-4FA3-A5C3-376395AAEEB6}" dt="2026-03-11T00:26:00.875" v="50" actId="20577"/>
        <pc:sldMkLst>
          <pc:docMk/>
          <pc:sldMk cId="3805655920" sldId="288"/>
        </pc:sldMkLst>
        <pc:graphicFrameChg chg="modGraphic">
          <ac:chgData name="David Arturo Baltazar Sanchez" userId="25f522d3-6b93-447f-8e87-5af7c1a8f0db" providerId="ADAL" clId="{1167E2C4-85EE-4FA3-A5C3-376395AAEEB6}" dt="2026-03-11T00:26:00.875" v="50" actId="20577"/>
          <ac:graphicFrameMkLst>
            <pc:docMk/>
            <pc:sldMk cId="3805655920" sldId="288"/>
            <ac:graphicFrameMk id="230" creationId="{3C790683-245A-1FE6-35AC-FBB0C23942D1}"/>
          </ac:graphicFrameMkLst>
        </pc:graphicFrameChg>
      </pc:sldChg>
      <pc:sldChg chg="new">
        <pc:chgData name="David Arturo Baltazar Sanchez" userId="25f522d3-6b93-447f-8e87-5af7c1a8f0db" providerId="ADAL" clId="{1167E2C4-85EE-4FA3-A5C3-376395AAEEB6}" dt="2026-03-11T00:29:35.143" v="53" actId="680"/>
        <pc:sldMkLst>
          <pc:docMk/>
          <pc:sldMk cId="3763779569" sldId="289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006455"/>
              </a:solidFill>
            </c:spPr>
            <c:extLst>
              <c:ext xmlns:c16="http://schemas.microsoft.com/office/drawing/2014/chart" uri="{C3380CC4-5D6E-409C-BE32-E72D297353CC}">
                <c16:uniqueId val="{00000001-9269-4E47-8149-95D3782EB3A5}"/>
              </c:ext>
            </c:extLst>
          </c:dPt>
          <c:dPt>
            <c:idx val="1"/>
            <c:bubble3D val="0"/>
            <c:spPr>
              <a:solidFill>
                <a:srgbClr val="549ECF"/>
              </a:solidFill>
            </c:spPr>
            <c:extLst>
              <c:ext xmlns:c16="http://schemas.microsoft.com/office/drawing/2014/chart" uri="{C3380CC4-5D6E-409C-BE32-E72D297353CC}">
                <c16:uniqueId val="{00000003-9269-4E47-8149-95D3782EB3A5}"/>
              </c:ext>
            </c:extLst>
          </c:dPt>
          <c:dPt>
            <c:idx val="2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5-9269-4E47-8149-95D3782EB3A5}"/>
              </c:ext>
            </c:extLst>
          </c:dPt>
          <c:dPt>
            <c:idx val="3"/>
            <c:bubble3D val="0"/>
            <c:spPr>
              <a:solidFill>
                <a:srgbClr val="BC955C"/>
              </a:solidFill>
            </c:spPr>
            <c:extLst>
              <c:ext xmlns:c16="http://schemas.microsoft.com/office/drawing/2014/chart" uri="{C3380CC4-5D6E-409C-BE32-E72D297353CC}">
                <c16:uniqueId val="{00000007-9269-4E47-8149-95D3782EB3A5}"/>
              </c:ext>
            </c:extLst>
          </c:dPt>
          <c:dPt>
            <c:idx val="4"/>
            <c:bubble3D val="0"/>
            <c:spPr>
              <a:solidFill>
                <a:srgbClr val="9E9E9E"/>
              </a:solidFill>
            </c:spPr>
            <c:extLst>
              <c:ext xmlns:c16="http://schemas.microsoft.com/office/drawing/2014/chart" uri="{C3380CC4-5D6E-409C-BE32-E72D297353CC}">
                <c16:uniqueId val="{00000009-9269-4E47-8149-95D3782EB3A5}"/>
              </c:ext>
            </c:extLst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1063757</c:v>
                </c:pt>
                <c:pt idx="1">
                  <c:v>1952597</c:v>
                </c:pt>
                <c:pt idx="2">
                  <c:v>494805</c:v>
                </c:pt>
                <c:pt idx="3">
                  <c:v>2638667</c:v>
                </c:pt>
                <c:pt idx="4">
                  <c:v>35643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269-4E47-8149-95D3782EB3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1-FD9C-4E88-A5E7-EA5E4717E13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102</c:v>
                </c:pt>
                <c:pt idx="2">
                  <c:v>116</c:v>
                </c:pt>
                <c:pt idx="3">
                  <c:v>103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FD9C-4E88-A5E7-EA5E4717E13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Servicios para Empresas, Personas y el Hogar</c:v>
                </c:pt>
                <c:pt idx="2">
                  <c:v>Industrias Extractivas</c:v>
                </c:pt>
                <c:pt idx="3">
                  <c:v>Agricultura, Ganaderia, Silvicultura, Pesca y Caza</c:v>
                </c:pt>
                <c:pt idx="4">
                  <c:v>Transportes y Comunicaciones</c:v>
                </c:pt>
                <c:pt idx="5">
                  <c:v>Ind Eléctrica y Captación y Suministro de Agua Potable</c:v>
                </c:pt>
                <c:pt idx="6">
                  <c:v>Comercio</c:v>
                </c:pt>
                <c:pt idx="7">
                  <c:v>Servicios Sociales y Comunales</c:v>
                </c:pt>
                <c:pt idx="8">
                  <c:v>Industrias de la Transformación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22461</c:v>
                </c:pt>
                <c:pt idx="1">
                  <c:v>47620</c:v>
                </c:pt>
                <c:pt idx="2">
                  <c:v>1147</c:v>
                </c:pt>
                <c:pt idx="3">
                  <c:v>17834</c:v>
                </c:pt>
                <c:pt idx="4">
                  <c:v>8926</c:v>
                </c:pt>
                <c:pt idx="5">
                  <c:v>3238</c:v>
                </c:pt>
                <c:pt idx="6">
                  <c:v>76191</c:v>
                </c:pt>
                <c:pt idx="7">
                  <c:v>61272</c:v>
                </c:pt>
                <c:pt idx="8">
                  <c:v>27507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FAC-48BE-A849-7A84771EE9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Servicios para Empresas, Personas y el Hogar</c:v>
                </c:pt>
                <c:pt idx="2">
                  <c:v>Industrias Extractivas</c:v>
                </c:pt>
                <c:pt idx="3">
                  <c:v>Agricultura, Ganaderia, Silvicultura, Pesca y Caza</c:v>
                </c:pt>
                <c:pt idx="4">
                  <c:v>Transportes y Comunicaciones</c:v>
                </c:pt>
                <c:pt idx="5">
                  <c:v>Ind Eléctrica y Captación y Suministro de Agua Potable</c:v>
                </c:pt>
                <c:pt idx="6">
                  <c:v>Comercio</c:v>
                </c:pt>
                <c:pt idx="7">
                  <c:v>Servicios Sociales y Comunales</c:v>
                </c:pt>
                <c:pt idx="8">
                  <c:v>Industrias de la Transformación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18069</c:v>
                </c:pt>
                <c:pt idx="1">
                  <c:v>40475</c:v>
                </c:pt>
                <c:pt idx="2">
                  <c:v>1053</c:v>
                </c:pt>
                <c:pt idx="3">
                  <c:v>17172</c:v>
                </c:pt>
                <c:pt idx="4">
                  <c:v>8872</c:v>
                </c:pt>
                <c:pt idx="5">
                  <c:v>3226</c:v>
                </c:pt>
                <c:pt idx="6">
                  <c:v>76827</c:v>
                </c:pt>
                <c:pt idx="7">
                  <c:v>63346</c:v>
                </c:pt>
                <c:pt idx="8">
                  <c:v>28960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FAC-48BE-A849-7A84771EE9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2018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220224</c:v>
                </c:pt>
                <c:pt idx="1">
                  <c:v>225667</c:v>
                </c:pt>
                <c:pt idx="2">
                  <c:v>222041</c:v>
                </c:pt>
                <c:pt idx="3">
                  <c:v>225972</c:v>
                </c:pt>
                <c:pt idx="4">
                  <c:v>223027</c:v>
                </c:pt>
                <c:pt idx="5">
                  <c:v>234202</c:v>
                </c:pt>
                <c:pt idx="6">
                  <c:v>241547</c:v>
                </c:pt>
                <c:pt idx="7">
                  <c:v>256060</c:v>
                </c:pt>
                <c:pt idx="8">
                  <c:v>266196</c:v>
                </c:pt>
                <c:pt idx="9">
                  <c:v>258000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CD3-4F9E-BF46-67E755BCEA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13 Tuxtla Gutiérrez (Total: 97)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Sheet1!$A$2:$A$30</c:f>
              <c:strCache>
                <c:ptCount val="29"/>
                <c:pt idx="0">
                  <c:v>Patologia Clinica</c:v>
                </c:pt>
                <c:pt idx="1">
                  <c:v>Angiologia Y Cirugia Vascular</c:v>
                </c:pt>
                <c:pt idx="2">
                  <c:v>Cirugia General</c:v>
                </c:pt>
                <c:pt idx="3">
                  <c:v>Oftalmologia</c:v>
                </c:pt>
                <c:pt idx="4">
                  <c:v>Otorrinolaringologia Y Cirugia De Cabeza Y Cuello</c:v>
                </c:pt>
                <c:pt idx="5">
                  <c:v>Urologia</c:v>
                </c:pt>
                <c:pt idx="6">
                  <c:v>Cirugia Plastica Y Reconstructiva</c:v>
                </c:pt>
                <c:pt idx="7">
                  <c:v>Anestesiologia</c:v>
                </c:pt>
                <c:pt idx="8">
                  <c:v>Anestesiologia Pediatrica</c:v>
                </c:pt>
                <c:pt idx="9">
                  <c:v>Ginecologia Y Obstetricia</c:v>
                </c:pt>
                <c:pt idx="10">
                  <c:v>Ginecologia Oncologica</c:v>
                </c:pt>
                <c:pt idx="11">
                  <c:v>Pediatria</c:v>
                </c:pt>
                <c:pt idx="12">
                  <c:v>Cardiologia Pediatrica</c:v>
                </c:pt>
                <c:pt idx="13">
                  <c:v>Neonatologia</c:v>
                </c:pt>
                <c:pt idx="14">
                  <c:v>Medicina Del Enfermo Pediatrico En Estado Critico</c:v>
                </c:pt>
                <c:pt idx="15">
                  <c:v>Hematologia Pediatrica</c:v>
                </c:pt>
                <c:pt idx="16">
                  <c:v>Cardiologia</c:v>
                </c:pt>
                <c:pt idx="17">
                  <c:v>Infectologia</c:v>
                </c:pt>
                <c:pt idx="18">
                  <c:v>Medicina Interna</c:v>
                </c:pt>
                <c:pt idx="19">
                  <c:v>Nefrologia</c:v>
                </c:pt>
                <c:pt idx="20">
                  <c:v>Neumologia Directa</c:v>
                </c:pt>
                <c:pt idx="21">
                  <c:v>Psiquiatria</c:v>
                </c:pt>
                <c:pt idx="22">
                  <c:v>Oncologia Medica</c:v>
                </c:pt>
                <c:pt idx="23">
                  <c:v>Medicina Del Enfermo En Estado Critico</c:v>
                </c:pt>
                <c:pt idx="24">
                  <c:v>Urgencias Pediatrica</c:v>
                </c:pt>
                <c:pt idx="25">
                  <c:v>Audiologia, Otoneurologia Y Foniatria</c:v>
                </c:pt>
                <c:pt idx="26">
                  <c:v>Hemodinamia</c:v>
                </c:pt>
                <c:pt idx="27">
                  <c:v>Imagenologia Diagnostica Y Terapeutica</c:v>
                </c:pt>
                <c:pt idx="28">
                  <c:v>Anatomia Patologica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1</c:v>
                </c:pt>
                <c:pt idx="1">
                  <c:v>1</c:v>
                </c:pt>
                <c:pt idx="2">
                  <c:v>5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1</c:v>
                </c:pt>
                <c:pt idx="7">
                  <c:v>11</c:v>
                </c:pt>
                <c:pt idx="8">
                  <c:v>1</c:v>
                </c:pt>
                <c:pt idx="9">
                  <c:v>4</c:v>
                </c:pt>
                <c:pt idx="10">
                  <c:v>2</c:v>
                </c:pt>
                <c:pt idx="11">
                  <c:v>7</c:v>
                </c:pt>
                <c:pt idx="12">
                  <c:v>1</c:v>
                </c:pt>
                <c:pt idx="13">
                  <c:v>2</c:v>
                </c:pt>
                <c:pt idx="14">
                  <c:v>4</c:v>
                </c:pt>
                <c:pt idx="15">
                  <c:v>1</c:v>
                </c:pt>
                <c:pt idx="16">
                  <c:v>3</c:v>
                </c:pt>
                <c:pt idx="17">
                  <c:v>1</c:v>
                </c:pt>
                <c:pt idx="18">
                  <c:v>16</c:v>
                </c:pt>
                <c:pt idx="19">
                  <c:v>1</c:v>
                </c:pt>
                <c:pt idx="20">
                  <c:v>2</c:v>
                </c:pt>
                <c:pt idx="21">
                  <c:v>1</c:v>
                </c:pt>
                <c:pt idx="22">
                  <c:v>1</c:v>
                </c:pt>
                <c:pt idx="23">
                  <c:v>5</c:v>
                </c:pt>
                <c:pt idx="24">
                  <c:v>4</c:v>
                </c:pt>
                <c:pt idx="25">
                  <c:v>1</c:v>
                </c:pt>
                <c:pt idx="26">
                  <c:v>1</c:v>
                </c:pt>
                <c:pt idx="27">
                  <c:v>11</c:v>
                </c:pt>
                <c:pt idx="28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E78-4970-A178-4B2C6913C5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15 Tonala (Total: 1)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Cirugia General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FB3-4B95-B2FD-424D26FF7D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19 Huixtla (Total: 2)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Urgencias Pediatrica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644-4964-8729-6B6FFDB34A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1 Nueva Frontera (Total: 15)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Cirugia General</c:v>
                </c:pt>
                <c:pt idx="1">
                  <c:v>Medicina Interna</c:v>
                </c:pt>
                <c:pt idx="2">
                  <c:v>Imagenologia Diagnostica Y Terapeutica</c:v>
                </c:pt>
                <c:pt idx="3">
                  <c:v>Urologia Ginecologica</c:v>
                </c:pt>
                <c:pt idx="4">
                  <c:v>Anatomia Patologica</c:v>
                </c:pt>
                <c:pt idx="5">
                  <c:v>Urgencias Pediatrica</c:v>
                </c:pt>
                <c:pt idx="6">
                  <c:v>Pediatria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2</c:v>
                </c:pt>
                <c:pt idx="5">
                  <c:v>3</c:v>
                </c:pt>
                <c:pt idx="6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DF1-4130-9FBB-DA75758ECF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2 Tuxtla Gutiérrez (Total: 2)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Oftalmologia</c:v>
                </c:pt>
                <c:pt idx="1">
                  <c:v>Neumologia Directa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FE5-43D6-BD5E-A1E83540E2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 Tapachula (Total: 1)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BA8-46BE-848D-D73B06A741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11 Tapachula (Total: 2)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AF7-4631-8003-37848DAB2E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26 Escuintha (Total: 1)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1B8-48E1-822D-F3B8C92258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40 Cd. Reforma (Total: 1)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Medicina Familiar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E78-4220-BF77-2A8C7E1EC0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UMF-UMAA 23 Tuxtla Gutiérrez (Total: 3)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Medicina Del Trabajo Y Ambiental</c:v>
                </c:pt>
                <c:pt idx="1">
                  <c:v>Cirugia General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150-4C7F-8719-CAB5606769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 2 Tuxtla Gutiérrez (Total: 2)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Neonatologia</c:v>
                </c:pt>
                <c:pt idx="1">
                  <c:v>Oftalmologia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C06-4691-AAB8-5C0DDFD846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Altamirano (Total: 2)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Anestesiologia</c:v>
                </c:pt>
                <c:pt idx="1">
                  <c:v>Ginecologia Y Obstetricia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7BC-462E-A85B-79176A0682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Bochil (Total: 3)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Ginecologia Y Obstetricia</c:v>
                </c:pt>
                <c:pt idx="1">
                  <c:v>Medicina De Urgencias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1C3-438C-B80C-094AF94DD6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Mapastepec (Total: 5)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Ginecologia Y Obstetricia</c:v>
                </c:pt>
                <c:pt idx="1">
                  <c:v>Medicina De Urgencias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746-4B00-9B73-DC4E11C783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Motozintla De Mendoza (Total: 1)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Ginecologia Y Obstetricia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765-47DC-828B-1DF64E82B6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Ocosingo (Total: 2)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Medicina Interna</c:v>
                </c:pt>
                <c:pt idx="1">
                  <c:v>Medicina De Urgencias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0B2-40DD-8F24-91B41AD810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San Felipe Ecatepec (Total: 2)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Pediatria</c:v>
                </c:pt>
                <c:pt idx="1">
                  <c:v>Medicina De Urgencias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237-4A82-8A6B-74611E30A0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Venustiano Carranza (Total: 4)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Ginecologia Y Obstetricia</c:v>
                </c:pt>
                <c:pt idx="1">
                  <c:v>Medicina De Urgencias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243-4492-9B81-71C1CC3D8A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chart" Target="../charts/chart1.xml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chart" Target="../charts/chart2.xml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4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8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6.xml"/><Relationship Id="rId4" Type="http://schemas.openxmlformats.org/officeDocument/2006/relationships/chart" Target="../charts/char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0.xml"/><Relationship Id="rId4" Type="http://schemas.openxmlformats.org/officeDocument/2006/relationships/chart" Target="../charts/char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Chiapas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07_ch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0" y="584495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IMSS </a:t>
            </a:r>
            <a:r>
              <a:rPr dirty="0" err="1"/>
              <a:t>atiende</a:t>
            </a:r>
            <a:r>
              <a:rPr dirty="0"/>
              <a:t> 49% de la población (</a:t>
            </a:r>
            <a:r>
              <a:rPr dirty="0" err="1"/>
              <a:t>incluye</a:t>
            </a:r>
            <a:r>
              <a:rPr dirty="0"/>
              <a:t> COPLAMAR)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82800" y="969695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6" name="Chart 125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7" name="TextBox 126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1,063,757</a:t>
            </a:r>
            <a:br/>
            <a:r>
              <a:t>17%</a:t>
            </a:r>
          </a:p>
        </p:txBody>
      </p:sp>
      <p:pic>
        <p:nvPicPr>
          <p:cNvPr id="128" name="Picture 127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1,952,597</a:t>
            </a:r>
            <a:br/>
            <a:r>
              <a:t>32%</a:t>
            </a:r>
          </a:p>
        </p:txBody>
      </p:sp>
      <p:pic>
        <p:nvPicPr>
          <p:cNvPr id="131" name="Picture 130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494,805</a:t>
            </a:r>
            <a:br/>
            <a:r>
              <a:t>8%</a:t>
            </a:r>
          </a:p>
        </p:txBody>
      </p:sp>
      <p:pic>
        <p:nvPicPr>
          <p:cNvPr id="134" name="Picture 133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5" name="Rectangle 134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2,638,667</a:t>
            </a:r>
            <a:br/>
            <a:r>
              <a:t>43%</a:t>
            </a:r>
          </a:p>
        </p:txBody>
      </p:sp>
      <p:pic>
        <p:nvPicPr>
          <p:cNvPr id="137" name="Picture 136" descr="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38" name="Rectangle 137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35,643</a:t>
            </a:r>
            <a:br/>
            <a:r>
              <a:t>0.58%</a:t>
            </a:r>
          </a:p>
        </p:txBody>
      </p:sp>
      <p:pic>
        <p:nvPicPr>
          <p:cNvPr id="140" name="Picture 139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41" name="Rectangle 140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6,185,469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803,426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1,063,757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480,798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681,446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225,667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257,577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203,237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295,461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199,867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293,833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2,610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454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-83%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322,628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382,311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104,040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122,629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151,689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154,757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66,899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104,925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44" name="TextBox 143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5" name="Table 14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1,032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879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6" name="Table 14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3,411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4,834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5947200" y="8733600"/>
          <a:ext cx="1738800" cy="57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065200" y="9536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** PTPD que superaron el umbral de ingreso mínimo neto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7_ch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2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422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273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422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334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578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566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332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588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603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332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28 UMF, 1 UMF-UMAA y no incluye 13 Unidades Auxiliares de Medicina Familiar.</a:t>
            </a:r>
            <a:br/>
            <a:r>
              <a:t>2. Incluye la UMAA 1,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>
            <p:extLst>
              <p:ext uri="{D42A27DB-BD31-4B8C-83A1-F6EECF244321}">
                <p14:modId xmlns:p14="http://schemas.microsoft.com/office/powerpoint/2010/main" val="3415909809"/>
              </p:ext>
            </p:extLst>
          </p:nvPr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589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5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2 Tuxtla Gutiérrez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15 Tonala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19 Huixtla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 1 Nueva Frontera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2020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Ocozocoautla De Espinosa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Altamirano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Ocosingo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Benemérito De Las Américas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Venustiano Carranza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Guadalupe Tepeyac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Motozintla De Mendoza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Bochil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Mapastepec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San Felipe Ecatepec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HGRE No 13 "XIV de Septiembre"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8118000"/>
            <a:ext cx="3600000" cy="28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Cédula de actualización de variables seleccionados del IFU</a:t>
            </a:r>
            <a:br/>
            <a:r>
              <a:t>enviados por el OOAD. 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577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3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HGRE No 13 "XIV de Septiembre"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Nueva Frontera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15 Tonala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 Tuxtla Gutiérrez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Altamirano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Ocosingo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Benemérito De Las Américas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19 Huixtla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Venustiano Carranza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Guadalupe Tepeyac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Motozintla De Mendoza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Bochil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Mapastepec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San Felipe Ecatepec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Ocozocoautla De Espinosa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29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26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5706000" cy="451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 Mazatán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6 F. Chapultepec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5 Cd. Hidalgo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45 Palenque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44 Estación Júarez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43 Pichucalco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42 Peñitas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41 Mal Paso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40 Cd. Reforma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3,375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4 E. Sto. Domingo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34 Villaflores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33 Pijijiapan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2,635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29 Mapastepec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27 Frontera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26 Escuintha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24 Cintalapa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22 Acapetahua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21 Chicoasén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20 Angostura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18 Comitan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10,121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17 S.Cristobal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16 Arriaga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14 I. Pujiltic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5,308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12 Cacahoatan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2,291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11 Tapachula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25,512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 Tapachula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26,702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131,041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29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6188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13 Tuxtla Gutiérrez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32,829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UMF-UMAA 23 Tuxtla Gutiérrez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38,249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25 Tuxtla Gutiérrez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23,714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94,792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260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114</a:t>
            </a:r>
          </a:p>
        </p:txBody>
      </p:sp>
      <p:pic>
        <p:nvPicPr>
          <p:cNvPr id="12" name="Picture 11" descr="Mapa_draft_etiquetas_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432167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280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HGRE No 13 "XIV de Septiembre"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23 Tuxtla Gutiérrez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Nueva Frontera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 Tuxtla Gutiérrez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19 Huixtla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15 Tonala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29,200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2,791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3,844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69%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54132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240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8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23 Tuxtla Gutiérrez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2 Tuxtla Gutiérrez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183,960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20,598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28,674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 1 Nueva Frontera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190,530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19 Huixtla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1,069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15 Tonala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446,760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47,919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68,381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161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acumulada semanal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1,540,944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259,769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241,667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446,760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68,381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47,919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3C790683-245A-1FE6-35AC-FBB0C2394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246189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Tiempos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2,979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563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11,368	 Personal de Salud: 5,634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+106.3%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99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+80.4%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765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1,380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+58.0%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1,317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2,081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+63.7%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856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1,401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+248.0%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355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+10.0%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289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318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261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112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206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348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295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273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1,122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6,424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380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50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75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1,396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585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8,785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341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(285,051)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(25,533)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(3,995)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(5,110)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(287)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(257,984)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(16,610)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(2,594)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(2,591)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(232)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(64,462)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(15,562)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cataratas (Facoemulsificación con implante de lente intraocular)   (1,326)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(2,000)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(224)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(46,917)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(13,337)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(1,143)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(1,396)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(148)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(40,239)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(12,287)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(1,073)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Hernias   (1,151)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hígado  (76)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56,860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436,449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58,058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531,804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90.2%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537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176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24 piezas de equipo médico: 19 Camilla, 1 Refrigerador para vacunas, 4 Silla de ruedas.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59 piezas de equipo electromecánico: 42 Aires Acondicionados, 17 Plantas de lavado.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$383.9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2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Hospitales Prioritarios en el HGSMF 15 Tonala, HGSMF 19 Huixtla y HGZ 2 Tuxtla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$45.7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Mejora en Subdelegaciones en 2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$47.8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7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$13.5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Salud Mental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$31.9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$36.4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$295.1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Proyectos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176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Estudios de preinversión proyecto HGZ 60 camas, Comitán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1776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HGZ 144 camas, Tuxtla Gutiérrez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$4,317.3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5,196.1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731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4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Adaptación del área de hemodiálisis del HGZ 15, Tonalá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$15.9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Barda perimetral CSS "Los Pinos", San Cristóbal de las Casas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Centro de Mezclas (HGZ No. 2), Tuxtla Gutiérrez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$39.2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HGZ 1 Tapachula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$2,627.6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integral áreas de urgencias y ginecología del HGZ 2, Tuxtla Gutiérrez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$39.9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integral áreas de urgencias y quirófanos del HGZ 15, Tonalá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$14.8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integral CSS Tapachula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$6.0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integral de la Alberca olímpica y Casa de Máquinas de la unidad deportiva "Panchón Contreras", Tuxtla Gutiérrez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$12.2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integral de las áreas de urgencias, quirófanos y hospitalización del HGSZ 19, Huixtla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$34.4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integral del área de quirófanos y hemodiálisis de la UMF 23/UMAA, Tuxtla Gutiérrez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integral del CSS "Linda Vista Shanka”, Tuxtla Gutiérrez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y sustitución de equipo electomecánico (14 equipos de aire acondicionado, 4 camaras de refrigeración, 2 montacargas, 2 elevadores)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$146.4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de Primer Nivel de Atención en 30 UMF´s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$130.5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Intervención de 9 Quirófanos en 3 Hospitales y 1 UMAA, Tuxtla Gutiérrez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$15.6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Recurso para mantenimiento de infraestructura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$124.9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Almacenes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$33.4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almacenes, residencias y unidades médicas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$228.4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Hospitales prioritarios (HGZ No. 2 Tuxtla Gutiérrez, HGSZ No. 15 Tonalá y HGSZ No. 19 Huixtla)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$235.4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UMF No. 2, Tuxtla Gutiérrez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36 módulos de baños en 35 unidades médicas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$68.7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área de Patología en HGZ No.2 Tuxtla Gutiérrez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Remodelación de Cocinas y Comedores en 13 unidades médicas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$23.7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3,812.6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88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13 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12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1,294 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165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7199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71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3 Centros de Seguridad Social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Tapachula, Los Pinos, Linda Vista Shanka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201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Unidad Deportiva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Tuxtla Gutiérrez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4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12 Tapachula (Cierre Temporal) y No. 13 Tuxtla Gutiérrez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4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Tapachula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70" name="Picture 469" descr="map_tipo2_07_chi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ontserrat"/>
              </a:defRPr>
            </a:pPr>
            <a:r>
              <a:t>Guarderías    13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Prestaciones Económicas y Sociales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23112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PODER EJECUTIVO DEL GOBIERNO DEL ESTADO DE CHIAPAS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16,576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16,446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ARNECOM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5,639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5,742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11,334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11,368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MEXICO S DE RL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4,917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COLEGIO DE BACHILLERES DE CHIAPAS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6,927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6,337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-8.5%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SERVICIOS INDUSTRIALES E INSTITUCIONALES SA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3,017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3,066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-19.55%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-15.00%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-8.20%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-3.71%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-0.60%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-0.37%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+0.83%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+3.38%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+5.28%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222,987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10,711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29,033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3,465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266,196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217,264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10,063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27,317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$586.81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044707"/>
              </p:ext>
            </p:extLst>
          </p:nvPr>
        </p:nvGraphicFramePr>
        <p:xfrm>
          <a:off x="478800" y="1130399"/>
          <a:ext cx="6638400" cy="1375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49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82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$304.39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$586.81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92.8%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rPr dirty="0"/>
                        <a:t>$17,604.3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36152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197784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59416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21048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382680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44312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05944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567576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4" name="TextBox 513"/>
          <p:cNvSpPr txBox="1"/>
          <p:nvPr/>
        </p:nvSpPr>
        <p:spPr>
          <a:xfrm>
            <a:off x="6292080" y="6271200"/>
            <a:ext cx="61632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5" name="Table 514"/>
          <p:cNvGraphicFramePr>
            <a:graphicFrameLocks noGrp="1"/>
          </p:cNvGraphicFramePr>
          <p:nvPr/>
        </p:nvGraphicFramePr>
        <p:xfrm>
          <a:off x="320400" y="6649200"/>
          <a:ext cx="7038000" cy="272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CAJA POPULAR SAN JUAN BOSCO SC DE AP DE RL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$34,192.57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PROCESAMIENTO ESPECIALIZADO DE ALIMENTOS S A P I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$10,288.98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ESCALA DISEÑO Y CONSTRUCCION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$6,651.29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Colegio de Bachilleres de Chiapas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$2,014.64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Colegio de Estudios Científicos y Tecnológicos del Estado de Chiapas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$402.24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Comité de Agua Potable y Alcantarillado de Tapachula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$360.02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7" name="TextBox 516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febrero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26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26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26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564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26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26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264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607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74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218,707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769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96,421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23,006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63,626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35,654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9,711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10,533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20,588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48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752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1,639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388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2,062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925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3,076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714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2,577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2,665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16,903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24,435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2,680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1,952,597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adscrita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367,076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1,585,521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881,356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218,707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9,711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6455"/>
                </a:solidFill>
                <a:latin typeface="Noto Sans"/>
              </a:defRPr>
            </a:pPr>
            <a:r>
              <a:t>Programa IMSS Ordinario Chiapas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6455"/>
                </a:solidFill>
                <a:latin typeface="Noto Sans"/>
              </a:defRPr>
            </a:pPr>
            <a:r>
              <a:t>Programa IMSS Ordinario Chiapas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6455"/>
                </a:solidFill>
                <a:latin typeface="Noto Sans"/>
              </a:defRPr>
            </a:pPr>
            <a:r>
              <a:t>Programa IMSS Ordinario Chiapas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746504" y="576072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6455"/>
                </a:solidFill>
                <a:latin typeface="Noto Sans"/>
              </a:defRPr>
            </a:pPr>
            <a:r>
              <a:t>Programa IMSS--Coplamar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0" y="603504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959352" y="603504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6455"/>
                </a:solidFill>
                <a:latin typeface="Noto Sans"/>
              </a:defRPr>
            </a:pPr>
            <a:r>
              <a:t>Programa IMSS--Coplamar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6455"/>
                </a:solidFill>
                <a:latin typeface="Noto Sans"/>
              </a:defRPr>
            </a:pPr>
            <a:r>
              <a:t>Programa IMSS--Coplamar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3330</Words>
  <Application>Microsoft Office PowerPoint</Application>
  <PresentationFormat>Personalizado</PresentationFormat>
  <Paragraphs>1254</Paragraphs>
  <Slides>27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2" baseType="lpstr">
      <vt:lpstr>Noto Sans</vt:lpstr>
      <vt:lpstr>Calibri</vt:lpstr>
      <vt:lpstr>Arial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2026-03-18T01:43:16Z</dcterms:modified>
</cp:coreProperties>
</file>