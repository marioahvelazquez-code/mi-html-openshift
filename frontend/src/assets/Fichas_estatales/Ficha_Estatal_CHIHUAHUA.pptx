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89" r:id="rId3"/>
    <p:sldId id="258" r:id="rId4"/>
    <p:sldId id="259" r:id="rId5"/>
    <p:sldId id="260" r:id="rId6"/>
    <p:sldId id="261" r:id="rId7"/>
    <p:sldId id="262" r:id="rId8"/>
    <p:sldId id="263" r:id="rId9"/>
    <p:sldId id="281" r:id="rId10"/>
    <p:sldId id="267" r:id="rId11"/>
    <p:sldId id="280" r:id="rId12"/>
    <p:sldId id="287" r:id="rId13"/>
    <p:sldId id="288" r:id="rId14"/>
    <p:sldId id="270" r:id="rId15"/>
    <p:sldId id="271" r:id="rId16"/>
    <p:sldId id="272" r:id="rId17"/>
    <p:sldId id="284" r:id="rId18"/>
    <p:sldId id="286" r:id="rId19"/>
    <p:sldId id="277" r:id="rId20"/>
    <p:sldId id="278" r:id="rId21"/>
    <p:sldId id="279" r:id="rId22"/>
    <p:sldId id="282" r:id="rId23"/>
    <p:sldId id="283" r:id="rId24"/>
    <p:sldId id="290" r:id="rId41"/>
    <p:sldId id="291" r:id="rId42"/>
    <p:sldId id="292" r:id="rId43"/>
    <p:sldId id="293" r:id="rId44"/>
    <p:sldId id="294" r:id="rId45"/>
    <p:sldId id="295" r:id="rId46"/>
  </p:sldIdLst>
  <p:sldSz cx="7772400" cy="10058400"/>
  <p:notesSz cx="6858000" cy="9144000"/>
  <p:embeddedFontLst>
    <p:embeddedFont>
      <p:font typeface="Montserrat" pitchFamily="2" charset="0"/>
      <p:regular r:id="rId26"/>
      <p:bold r:id="rId27"/>
      <p:italic r:id="rId28"/>
      <p:boldItalic r:id="rId29"/>
    </p:embeddedFont>
    <p:embeddedFont>
      <p:font typeface="Noto Sans" panose="020B050204050402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EC9A72-6D89-4937-A652-928CE657584B}" v="3" dt="2026-03-11T19:27:17.845"/>
    <p1510:client id="{A819846E-28C8-43DB-A040-8EFEFF3890ED}" v="3" dt="2026-03-12T17:49:38.141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719"/>
  </p:normalViewPr>
  <p:slideViewPr>
    <p:cSldViewPr snapToGrid="0">
      <p:cViewPr varScale="1">
        <p:scale>
          <a:sx n="73" d="100"/>
          <a:sy n="73" d="100"/>
        </p:scale>
        <p:origin x="3012" y="60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font" Target="fonts/font1.fntdata"/><Relationship Id="rId27" Type="http://schemas.openxmlformats.org/officeDocument/2006/relationships/font" Target="fonts/font2.fntdata"/><Relationship Id="rId28" Type="http://schemas.openxmlformats.org/officeDocument/2006/relationships/font" Target="fonts/font3.fntdata"/><Relationship Id="rId29" Type="http://schemas.openxmlformats.org/officeDocument/2006/relationships/font" Target="fonts/font4.fntdata"/><Relationship Id="rId30" Type="http://schemas.openxmlformats.org/officeDocument/2006/relationships/font" Target="fonts/font5.fntdata"/><Relationship Id="rId31" Type="http://schemas.openxmlformats.org/officeDocument/2006/relationships/font" Target="fonts/font6.fntdata"/><Relationship Id="rId32" Type="http://schemas.openxmlformats.org/officeDocument/2006/relationships/font" Target="fonts/font7.fntdata"/><Relationship Id="rId33" Type="http://schemas.openxmlformats.org/officeDocument/2006/relationships/font" Target="fonts/font8.fntdata"/><Relationship Id="rId41" Type="http://schemas.openxmlformats.org/officeDocument/2006/relationships/slide" Target="slides/slide24.xml"/><Relationship Id="rId42" Type="http://schemas.openxmlformats.org/officeDocument/2006/relationships/slide" Target="slides/slide25.xml"/><Relationship Id="rId43" Type="http://schemas.openxmlformats.org/officeDocument/2006/relationships/slide" Target="slides/slide26.xml"/><Relationship Id="rId44" Type="http://schemas.openxmlformats.org/officeDocument/2006/relationships/slide" Target="slides/slide27.xml"/><Relationship Id="rId45" Type="http://schemas.openxmlformats.org/officeDocument/2006/relationships/slide" Target="slides/slide28.xml"/><Relationship Id="rId46" Type="http://schemas.openxmlformats.org/officeDocument/2006/relationships/slide" Target="slides/slide29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Martinez Flores" userId="30adb457-ddd6-417b-a46d-fe5915593ae3" providerId="ADAL" clId="{57A466FF-9DDA-4DB6-AA66-2AF3F6FE414B}"/>
    <pc:docChg chg="custSel addSld modSld">
      <pc:chgData name="Guillermo Martinez Flores" userId="30adb457-ddd6-417b-a46d-fe5915593ae3" providerId="ADAL" clId="{57A466FF-9DDA-4DB6-AA66-2AF3F6FE414B}" dt="2026-03-10T16:02:31.328" v="25" actId="20577"/>
      <pc:docMkLst>
        <pc:docMk/>
      </pc:docMkLst>
      <pc:sldChg chg="modSp mod">
        <pc:chgData name="Guillermo Martinez Flores" userId="30adb457-ddd6-417b-a46d-fe5915593ae3" providerId="ADAL" clId="{57A466FF-9DDA-4DB6-AA66-2AF3F6FE414B}" dt="2026-03-03T17:01:10.960" v="13" actId="20577"/>
        <pc:sldMkLst>
          <pc:docMk/>
          <pc:sldMk cId="0" sldId="271"/>
        </pc:sldMkLst>
        <pc:graphicFrameChg chg="modGraphic">
          <ac:chgData name="Guillermo Martinez Flores" userId="30adb457-ddd6-417b-a46d-fe5915593ae3" providerId="ADAL" clId="{57A466FF-9DDA-4DB6-AA66-2AF3F6FE414B}" dt="2026-03-03T17:01:10.960" v="13" actId="20577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addSp delSp modSp add mod">
        <pc:chgData name="Guillermo Martinez Flores" userId="30adb457-ddd6-417b-a46d-fe5915593ae3" providerId="ADAL" clId="{57A466FF-9DDA-4DB6-AA66-2AF3F6FE414B}" dt="2026-03-10T16:01:41.078" v="17" actId="478"/>
        <pc:sldMkLst>
          <pc:docMk/>
          <pc:sldMk cId="3258074767" sldId="286"/>
        </pc:sldMkLst>
        <pc:spChg chg="add mod">
          <ac:chgData name="Guillermo Martinez Flores" userId="30adb457-ddd6-417b-a46d-fe5915593ae3" providerId="ADAL" clId="{57A466FF-9DDA-4DB6-AA66-2AF3F6FE414B}" dt="2026-03-10T16:01:36.094" v="16"/>
          <ac:spMkLst>
            <pc:docMk/>
            <pc:sldMk cId="3258074767" sldId="286"/>
            <ac:spMk id="7" creationId="{E7E32C0D-5A5C-F971-661D-A7FFF038D554}"/>
          </ac:spMkLst>
        </pc:spChg>
        <pc:graphicFrameChg chg="add mod">
          <ac:chgData name="Guillermo Martinez Flores" userId="30adb457-ddd6-417b-a46d-fe5915593ae3" providerId="ADAL" clId="{57A466FF-9DDA-4DB6-AA66-2AF3F6FE414B}" dt="2026-03-10T16:01:36.094" v="16"/>
          <ac:graphicFrameMkLst>
            <pc:docMk/>
            <pc:sldMk cId="3258074767" sldId="286"/>
            <ac:graphicFrameMk id="5" creationId="{B709195D-5962-6442-81D8-2EFB6D8D7190}"/>
          </ac:graphicFrameMkLst>
        </pc:graphicFrameChg>
        <pc:picChg chg="add mod">
          <ac:chgData name="Guillermo Martinez Flores" userId="30adb457-ddd6-417b-a46d-fe5915593ae3" providerId="ADAL" clId="{57A466FF-9DDA-4DB6-AA66-2AF3F6FE414B}" dt="2026-03-10T16:01:36.094" v="16"/>
          <ac:picMkLst>
            <pc:docMk/>
            <pc:sldMk cId="3258074767" sldId="286"/>
            <ac:picMk id="6" creationId="{6AC64192-1EFE-6740-4042-23283E03A151}"/>
          </ac:picMkLst>
        </pc:picChg>
      </pc:sldChg>
      <pc:sldChg chg="modSp add mod">
        <pc:chgData name="Guillermo Martinez Flores" userId="30adb457-ddd6-417b-a46d-fe5915593ae3" providerId="ADAL" clId="{57A466FF-9DDA-4DB6-AA66-2AF3F6FE414B}" dt="2026-03-10T16:02:31.328" v="25" actId="20577"/>
        <pc:sldMkLst>
          <pc:docMk/>
          <pc:sldMk cId="748044913" sldId="287"/>
        </pc:sldMkLst>
        <pc:graphicFrameChg chg="modGraphic">
          <ac:chgData name="Guillermo Martinez Flores" userId="30adb457-ddd6-417b-a46d-fe5915593ae3" providerId="ADAL" clId="{57A466FF-9DDA-4DB6-AA66-2AF3F6FE414B}" dt="2026-03-10T16:02:31.328" v="25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</pc:docChg>
  </pc:docChgLst>
  <pc:docChgLst>
    <pc:chgData name="Rohan Myron Oprisko" userId="a7c52ab4-f8b1-4d15-aaf6-6388cc510347" providerId="ADAL" clId="{EEEE6C0E-EB18-4E43-B633-E5F95274828B}"/>
    <pc:docChg chg="undo custSel modSld">
      <pc:chgData name="Rohan Myron Oprisko" userId="a7c52ab4-f8b1-4d15-aaf6-6388cc510347" providerId="ADAL" clId="{EEEE6C0E-EB18-4E43-B633-E5F95274828B}" dt="2026-03-12T18:39:03.412" v="26" actId="20577"/>
      <pc:docMkLst>
        <pc:docMk/>
      </pc:docMkLst>
      <pc:sldChg chg="addSp modSp mod">
        <pc:chgData name="Rohan Myron Oprisko" userId="a7c52ab4-f8b1-4d15-aaf6-6388cc510347" providerId="ADAL" clId="{EEEE6C0E-EB18-4E43-B633-E5F95274828B}" dt="2026-03-12T17:50:44.492" v="17" actId="20577"/>
        <pc:sldMkLst>
          <pc:docMk/>
          <pc:sldMk cId="0" sldId="258"/>
        </pc:sldMkLst>
        <pc:graphicFrameChg chg="add mod modGraphic">
          <ac:chgData name="Rohan Myron Oprisko" userId="a7c52ab4-f8b1-4d15-aaf6-6388cc510347" providerId="ADAL" clId="{EEEE6C0E-EB18-4E43-B633-E5F95274828B}" dt="2026-03-12T17:50:44.492" v="17" actId="20577"/>
          <ac:graphicFrameMkLst>
            <pc:docMk/>
            <pc:sldMk cId="0" sldId="258"/>
            <ac:graphicFrameMk id="2" creationId="{D110EB92-D53B-B721-7239-F76E3C239AC9}"/>
          </ac:graphicFrameMkLst>
        </pc:graphicFrameChg>
        <pc:graphicFrameChg chg="mod">
          <ac:chgData name="Rohan Myron Oprisko" userId="a7c52ab4-f8b1-4d15-aaf6-6388cc510347" providerId="ADAL" clId="{EEEE6C0E-EB18-4E43-B633-E5F95274828B}" dt="2026-03-12T17:49:34.333" v="5" actId="1076"/>
          <ac:graphicFrameMkLst>
            <pc:docMk/>
            <pc:sldMk cId="0" sldId="258"/>
            <ac:graphicFrameMk id="111" creationId="{00000000-0000-0000-0000-000000000000}"/>
          </ac:graphicFrameMkLst>
        </pc:graphicFrameChg>
      </pc:sldChg>
      <pc:sldChg chg="modSp mod">
        <pc:chgData name="Rohan Myron Oprisko" userId="a7c52ab4-f8b1-4d15-aaf6-6388cc510347" providerId="ADAL" clId="{EEEE6C0E-EB18-4E43-B633-E5F95274828B}" dt="2026-03-12T18:39:03.412" v="26" actId="20577"/>
        <pc:sldMkLst>
          <pc:docMk/>
          <pc:sldMk cId="0" sldId="279"/>
        </pc:sldMkLst>
        <pc:spChg chg="mod">
          <ac:chgData name="Rohan Myron Oprisko" userId="a7c52ab4-f8b1-4d15-aaf6-6388cc510347" providerId="ADAL" clId="{EEEE6C0E-EB18-4E43-B633-E5F95274828B}" dt="2026-03-12T18:39:03.412" v="26" actId="20577"/>
          <ac:spMkLst>
            <pc:docMk/>
            <pc:sldMk cId="0" sldId="279"/>
            <ac:spMk id="500" creationId="{00000000-0000-0000-0000-000000000000}"/>
          </ac:spMkLst>
        </pc:spChg>
      </pc:sldChg>
      <pc:sldChg chg="modSp mod">
        <pc:chgData name="Rohan Myron Oprisko" userId="a7c52ab4-f8b1-4d15-aaf6-6388cc510347" providerId="ADAL" clId="{EEEE6C0E-EB18-4E43-B633-E5F95274828B}" dt="2026-03-10T21:41:16.170" v="2" actId="20577"/>
        <pc:sldMkLst>
          <pc:docMk/>
          <pc:sldMk cId="540716406" sldId="280"/>
        </pc:sldMkLst>
        <pc:graphicFrameChg chg="modGraphic">
          <ac:chgData name="Rohan Myron Oprisko" userId="a7c52ab4-f8b1-4d15-aaf6-6388cc510347" providerId="ADAL" clId="{EEEE6C0E-EB18-4E43-B633-E5F95274828B}" dt="2026-03-10T21:41:16.170" v="2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</pc:docChg>
  </pc:docChgLst>
  <pc:docChgLst>
    <pc:chgData name="asesores.dg" userId="9234a6e6-864c-49e9-8fd1-6d0df70c34f2" providerId="ADAL" clId="{6846A1DD-3EC1-5A12-B3C5-9C410579EE4F}"/>
    <pc:docChg chg="modMainMaster">
      <pc:chgData name="asesores.dg" userId="9234a6e6-864c-49e9-8fd1-6d0df70c34f2" providerId="ADAL" clId="{6846A1DD-3EC1-5A12-B3C5-9C410579EE4F}" dt="2026-03-10T15:38:38.374" v="2" actId="962"/>
      <pc:docMkLst>
        <pc:docMk/>
      </pc:docMkLst>
      <pc:sldMasterChg chg="modSldLayout">
        <pc:chgData name="asesores.dg" userId="9234a6e6-864c-49e9-8fd1-6d0df70c34f2" providerId="ADAL" clId="{6846A1DD-3EC1-5A12-B3C5-9C410579EE4F}" dt="2026-03-10T15:38:38.374" v="2" actId="962"/>
        <pc:sldMasterMkLst>
          <pc:docMk/>
          <pc:sldMasterMk cId="0" sldId="2147483648"/>
        </pc:sldMasterMkLst>
        <pc:sldLayoutChg chg="addSp modSp mod">
          <pc:chgData name="asesores.dg" userId="9234a6e6-864c-49e9-8fd1-6d0df70c34f2" providerId="ADAL" clId="{6846A1DD-3EC1-5A12-B3C5-9C410579EE4F}" dt="2026-03-10T15:38:38.374" v="2" actId="962"/>
          <pc:sldLayoutMkLst>
            <pc:docMk/>
            <pc:sldMasterMk cId="0" sldId="2147483648"/>
            <pc:sldLayoutMk cId="0" sldId="2147483650"/>
          </pc:sldLayoutMkLst>
          <pc:picChg chg="add mod">
            <ac:chgData name="asesores.dg" userId="9234a6e6-864c-49e9-8fd1-6d0df70c34f2" providerId="ADAL" clId="{6846A1DD-3EC1-5A12-B3C5-9C410579EE4F}" dt="2026-03-10T15:38:38.374" v="2" actId="962"/>
            <ac:picMkLst>
              <pc:docMk/>
              <pc:sldMasterMk cId="0" sldId="2147483648"/>
              <pc:sldLayoutMk cId="0" sldId="2147483650"/>
              <ac:picMk id="3" creationId="{A0ABD2DF-B429-0564-31D9-12741B10B2D0}"/>
            </ac:picMkLst>
          </pc:picChg>
        </pc:sldLayoutChg>
      </pc:sldMasterChg>
    </pc:docChg>
  </pc:docChgLst>
  <pc:docChgLst>
    <pc:chgData name="David Arturo Baltazar Sanchez" userId="25f522d3-6b93-447f-8e87-5af7c1a8f0db" providerId="ADAL" clId="{1167E2C4-85EE-4FA3-A5C3-376395AAEEB6}"/>
    <pc:docChg chg="custSel addSld delSld modSld">
      <pc:chgData name="David Arturo Baltazar Sanchez" userId="25f522d3-6b93-447f-8e87-5af7c1a8f0db" providerId="ADAL" clId="{1167E2C4-85EE-4FA3-A5C3-376395AAEEB6}" dt="2026-03-11T19:27:03.417" v="60"/>
      <pc:docMkLst>
        <pc:docMk/>
      </pc:docMkLst>
      <pc:sldChg chg="del">
        <pc:chgData name="David Arturo Baltazar Sanchez" userId="25f522d3-6b93-447f-8e87-5af7c1a8f0db" providerId="ADAL" clId="{1167E2C4-85EE-4FA3-A5C3-376395AAEEB6}" dt="2026-03-11T00:45:27.304" v="54" actId="47"/>
        <pc:sldMkLst>
          <pc:docMk/>
          <pc:sldMk cId="0" sldId="257"/>
        </pc:sldMkLst>
      </pc:sldChg>
      <pc:sldChg chg="delSp mod">
        <pc:chgData name="David Arturo Baltazar Sanchez" userId="25f522d3-6b93-447f-8e87-5af7c1a8f0db" providerId="ADAL" clId="{1167E2C4-85EE-4FA3-A5C3-376395AAEEB6}" dt="2026-03-10T16:34:48.659" v="2" actId="478"/>
        <pc:sldMkLst>
          <pc:docMk/>
          <pc:sldMk cId="0" sldId="258"/>
        </pc:sldMkLst>
      </pc:sldChg>
      <pc:sldChg chg="modSp mod">
        <pc:chgData name="David Arturo Baltazar Sanchez" userId="25f522d3-6b93-447f-8e87-5af7c1a8f0db" providerId="ADAL" clId="{1167E2C4-85EE-4FA3-A5C3-376395AAEEB6}" dt="2026-03-11T19:02:36.979" v="59" actId="20577"/>
        <pc:sldMkLst>
          <pc:docMk/>
          <pc:sldMk cId="0" sldId="260"/>
        </pc:sldMkLst>
        <pc:spChg chg="mod">
          <ac:chgData name="David Arturo Baltazar Sanchez" userId="25f522d3-6b93-447f-8e87-5af7c1a8f0db" providerId="ADAL" clId="{1167E2C4-85EE-4FA3-A5C3-376395AAEEB6}" dt="2026-03-11T19:02:36.979" v="59" actId="20577"/>
          <ac:spMkLst>
            <pc:docMk/>
            <pc:sldMk cId="0" sldId="260"/>
            <ac:spMk id="145" creationId="{00000000-0000-0000-0000-000000000000}"/>
          </ac:spMkLst>
        </pc:spChg>
        <pc:graphicFrameChg chg="mod modGraphic">
          <ac:chgData name="David Arturo Baltazar Sanchez" userId="25f522d3-6b93-447f-8e87-5af7c1a8f0db" providerId="ADAL" clId="{1167E2C4-85EE-4FA3-A5C3-376395AAEEB6}" dt="2026-03-11T18:59:37.205" v="57"/>
          <ac:graphicFrameMkLst>
            <pc:docMk/>
            <pc:sldMk cId="0" sldId="260"/>
            <ac:graphicFrameMk id="143" creationId="{00000000-0000-0000-0000-000000000000}"/>
          </ac:graphicFrameMkLst>
        </pc:graphicFrameChg>
      </pc:sldChg>
      <pc:sldChg chg="addSp delSp modSp mod">
        <pc:chgData name="David Arturo Baltazar Sanchez" userId="25f522d3-6b93-447f-8e87-5af7c1a8f0db" providerId="ADAL" clId="{1167E2C4-85EE-4FA3-A5C3-376395AAEEB6}" dt="2026-03-11T19:27:03.417" v="60"/>
        <pc:sldMkLst>
          <pc:docMk/>
          <pc:sldMk cId="0" sldId="261"/>
        </pc:sldMkLst>
        <pc:spChg chg="add mod">
          <ac:chgData name="David Arturo Baltazar Sanchez" userId="25f522d3-6b93-447f-8e87-5af7c1a8f0db" providerId="ADAL" clId="{1167E2C4-85EE-4FA3-A5C3-376395AAEEB6}" dt="2026-03-11T19:27:03.417" v="60"/>
          <ac:spMkLst>
            <pc:docMk/>
            <pc:sldMk cId="0" sldId="261"/>
            <ac:spMk id="2" creationId="{7C20637C-AE23-01C3-8BD5-A524B7FEEE8F}"/>
          </ac:spMkLst>
        </pc:spChg>
        <pc:spChg chg="del">
          <ac:chgData name="David Arturo Baltazar Sanchez" userId="25f522d3-6b93-447f-8e87-5af7c1a8f0db" providerId="ADAL" clId="{1167E2C4-85EE-4FA3-A5C3-376395AAEEB6}" dt="2026-03-11T00:23:27.499" v="28" actId="478"/>
          <ac:spMkLst>
            <pc:docMk/>
            <pc:sldMk cId="0" sldId="261"/>
            <ac:spMk id="154" creationId="{00000000-0000-0000-0000-000000000000}"/>
          </ac:spMkLst>
        </pc:spChg>
        <pc:spChg chg="del">
          <ac:chgData name="David Arturo Baltazar Sanchez" userId="25f522d3-6b93-447f-8e87-5af7c1a8f0db" providerId="ADAL" clId="{1167E2C4-85EE-4FA3-A5C3-376395AAEEB6}" dt="2026-03-11T00:23:25.389" v="27" actId="478"/>
          <ac:spMkLst>
            <pc:docMk/>
            <pc:sldMk cId="0" sldId="261"/>
            <ac:spMk id="157" creationId="{00000000-0000-0000-0000-000000000000}"/>
          </ac:spMkLst>
        </pc:spChg>
      </pc:sldChg>
      <pc:sldChg chg="delSp mod">
        <pc:chgData name="David Arturo Baltazar Sanchez" userId="25f522d3-6b93-447f-8e87-5af7c1a8f0db" providerId="ADAL" clId="{1167E2C4-85EE-4FA3-A5C3-376395AAEEB6}" dt="2026-03-10T16:37:14.096" v="3" actId="478"/>
        <pc:sldMkLst>
          <pc:docMk/>
          <pc:sldMk cId="0" sldId="262"/>
        </pc:sldMkLst>
      </pc:sldChg>
      <pc:sldChg chg="delSp mod">
        <pc:chgData name="David Arturo Baltazar Sanchez" userId="25f522d3-6b93-447f-8e87-5af7c1a8f0db" providerId="ADAL" clId="{1167E2C4-85EE-4FA3-A5C3-376395AAEEB6}" dt="2026-03-10T16:37:51.689" v="4" actId="478"/>
        <pc:sldMkLst>
          <pc:docMk/>
          <pc:sldMk cId="0" sldId="267"/>
        </pc:sldMkLst>
      </pc:sldChg>
      <pc:sldChg chg="delSp modSp mod">
        <pc:chgData name="David Arturo Baltazar Sanchez" userId="25f522d3-6b93-447f-8e87-5af7c1a8f0db" providerId="ADAL" clId="{1167E2C4-85EE-4FA3-A5C3-376395AAEEB6}" dt="2026-03-10T16:38:46.943" v="25" actId="1035"/>
        <pc:sldMkLst>
          <pc:docMk/>
          <pc:sldMk cId="0" sldId="271"/>
        </pc:sldMkLst>
        <pc:graphicFrameChg chg="mod">
          <ac:chgData name="David Arturo Baltazar Sanchez" userId="25f522d3-6b93-447f-8e87-5af7c1a8f0db" providerId="ADAL" clId="{1167E2C4-85EE-4FA3-A5C3-376395AAEEB6}" dt="2026-03-10T16:38:46.943" v="25" actId="1035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delSp mod">
        <pc:chgData name="David Arturo Baltazar Sanchez" userId="25f522d3-6b93-447f-8e87-5af7c1a8f0db" providerId="ADAL" clId="{1167E2C4-85EE-4FA3-A5C3-376395AAEEB6}" dt="2026-03-10T16:39:47.282" v="26" actId="478"/>
        <pc:sldMkLst>
          <pc:docMk/>
          <pc:sldMk cId="0" sldId="278"/>
        </pc:sldMkLst>
      </pc:sldChg>
      <pc:sldChg chg="modSp add mod">
        <pc:chgData name="David Arturo Baltazar Sanchez" userId="25f522d3-6b93-447f-8e87-5af7c1a8f0db" providerId="ADAL" clId="{1167E2C4-85EE-4FA3-A5C3-376395AAEEB6}" dt="2026-03-11T00:26:00.875" v="50" actId="20577"/>
        <pc:sldMkLst>
          <pc:docMk/>
          <pc:sldMk cId="3805655920" sldId="288"/>
        </pc:sldMkLst>
        <pc:graphicFrameChg chg="modGraphic">
          <ac:chgData name="David Arturo Baltazar Sanchez" userId="25f522d3-6b93-447f-8e87-5af7c1a8f0db" providerId="ADAL" clId="{1167E2C4-85EE-4FA3-A5C3-376395AAEEB6}" dt="2026-03-11T00:26:00.875" v="50" actId="20577"/>
          <ac:graphicFrameMkLst>
            <pc:docMk/>
            <pc:sldMk cId="3805655920" sldId="288"/>
            <ac:graphicFrameMk id="230" creationId="{3C790683-245A-1FE6-35AC-FBB0C23942D1}"/>
          </ac:graphicFrameMkLst>
        </pc:graphicFrameChg>
      </pc:sldChg>
      <pc:sldChg chg="new">
        <pc:chgData name="David Arturo Baltazar Sanchez" userId="25f522d3-6b93-447f-8e87-5af7c1a8f0db" providerId="ADAL" clId="{1167E2C4-85EE-4FA3-A5C3-376395AAEEB6}" dt="2026-03-11T00:29:35.143" v="53" actId="680"/>
        <pc:sldMkLst>
          <pc:docMk/>
          <pc:sldMk cId="3763779569" sldId="289"/>
        </pc:sldMkLst>
      </pc:sldChg>
      <pc:sldChg chg="new del">
        <pc:chgData name="David Arturo Baltazar Sanchez" userId="25f522d3-6b93-447f-8e87-5af7c1a8f0db" providerId="ADAL" clId="{1167E2C4-85EE-4FA3-A5C3-376395AAEEB6}" dt="2026-03-11T00:29:01.835" v="52" actId="47"/>
        <pc:sldMkLst>
          <pc:docMk/>
          <pc:sldMk cId="4174642915" sldId="289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6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7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8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9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0.xlsx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1.xlsx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2606808.0</c:v>
                </c:pt>
                <c:pt idx="1">
                  <c:v>208368.0</c:v>
                </c:pt>
                <c:pt idx="2">
                  <c:v>349885.0</c:v>
                </c:pt>
                <c:pt idx="3">
                  <c:v>910508.0</c:v>
                </c:pt>
                <c:pt idx="4">
                  <c:v>11737.0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69</c:v>
                </c:pt>
                <c:pt idx="1">
                  <c:v>221</c:v>
                </c:pt>
                <c:pt idx="2">
                  <c:v>215</c:v>
                </c:pt>
                <c:pt idx="3">
                  <c:v>237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de la Transformación</c:v>
                </c:pt>
                <c:pt idx="1">
                  <c:v>Agricultura, Ganaderia, Silvicultura, Pesca y Caza</c:v>
                </c:pt>
                <c:pt idx="2">
                  <c:v>Industria de la Construcción</c:v>
                </c:pt>
                <c:pt idx="3">
                  <c:v>Servicios para Empresas, Personas y el Hogar</c:v>
                </c:pt>
                <c:pt idx="4">
                  <c:v>Ind Eléctrica y Captación y Suministro de Agua Potable</c:v>
                </c:pt>
                <c:pt idx="5">
                  <c:v>Transportes y Comunicaciones</c:v>
                </c:pt>
                <c:pt idx="6">
                  <c:v>Servicios Sociales y Comunales</c:v>
                </c:pt>
                <c:pt idx="7">
                  <c:v>Comercio</c:v>
                </c:pt>
                <c:pt idx="8">
                  <c:v>Industrias Extractivas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486268</c:v>
                </c:pt>
                <c:pt idx="1">
                  <c:v>19048</c:v>
                </c:pt>
                <c:pt idx="2">
                  <c:v>47791</c:v>
                </c:pt>
                <c:pt idx="3">
                  <c:v>125674</c:v>
                </c:pt>
                <c:pt idx="4">
                  <c:v>5274</c:v>
                </c:pt>
                <c:pt idx="5">
                  <c:v>50091</c:v>
                </c:pt>
                <c:pt idx="6">
                  <c:v>65190</c:v>
                </c:pt>
                <c:pt idx="7">
                  <c:v>163085</c:v>
                </c:pt>
                <c:pt idx="8">
                  <c:v>10353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de la Transformación</c:v>
                </c:pt>
                <c:pt idx="1">
                  <c:v>Agricultura, Ganaderia, Silvicultura, Pesca y Caza</c:v>
                </c:pt>
                <c:pt idx="2">
                  <c:v>Industria de la Construcción</c:v>
                </c:pt>
                <c:pt idx="3">
                  <c:v>Servicios para Empresas, Personas y el Hogar</c:v>
                </c:pt>
                <c:pt idx="4">
                  <c:v>Ind Eléctrica y Captación y Suministro de Agua Potable</c:v>
                </c:pt>
                <c:pt idx="5">
                  <c:v>Transportes y Comunicaciones</c:v>
                </c:pt>
                <c:pt idx="6">
                  <c:v>Servicios Sociales y Comunales</c:v>
                </c:pt>
                <c:pt idx="7">
                  <c:v>Comercio</c:v>
                </c:pt>
                <c:pt idx="8">
                  <c:v>Industrias Extractivas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470547</c:v>
                </c:pt>
                <c:pt idx="1">
                  <c:v>18735</c:v>
                </c:pt>
                <c:pt idx="2">
                  <c:v>47056</c:v>
                </c:pt>
                <c:pt idx="3">
                  <c:v>125024</c:v>
                </c:pt>
                <c:pt idx="4">
                  <c:v>5328</c:v>
                </c:pt>
                <c:pt idx="5">
                  <c:v>50984</c:v>
                </c:pt>
                <c:pt idx="6">
                  <c:v>66382</c:v>
                </c:pt>
                <c:pt idx="7">
                  <c:v>166353</c:v>
                </c:pt>
                <c:pt idx="8">
                  <c:v>11025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870979</c:v>
                </c:pt>
                <c:pt idx="1">
                  <c:v>897834</c:v>
                </c:pt>
                <c:pt idx="2">
                  <c:v>902039</c:v>
                </c:pt>
                <c:pt idx="3">
                  <c:v>915962</c:v>
                </c:pt>
                <c:pt idx="4">
                  <c:v>955326</c:v>
                </c:pt>
                <c:pt idx="5">
                  <c:v>981673</c:v>
                </c:pt>
                <c:pt idx="6">
                  <c:v>980496</c:v>
                </c:pt>
                <c:pt idx="7">
                  <c:v>972774</c:v>
                </c:pt>
                <c:pt idx="8">
                  <c:v>961434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HGO 15 Chihuahua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Neonatologia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HGR 1 Chihuahua (Total: 22)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Neurologia</c:v>
                </c:pt>
                <c:pt idx="1">
                  <c:v>Endocrinologia</c:v>
                </c:pt>
                <c:pt idx="2">
                  <c:v>Psiquiatria</c:v>
                </c:pt>
                <c:pt idx="3">
                  <c:v>Cirugia Plastica Y Reconstructiva</c:v>
                </c:pt>
                <c:pt idx="4">
                  <c:v>Urologia</c:v>
                </c:pt>
                <c:pt idx="5">
                  <c:v>Medicina De Urgencias</c:v>
                </c:pt>
                <c:pt idx="6">
                  <c:v>Medicina Del Trabajo Y Ambiental</c:v>
                </c:pt>
                <c:pt idx="7">
                  <c:v>Medicina Interna</c:v>
                </c:pt>
                <c:pt idx="8">
                  <c:v>Neurocirugia</c:v>
                </c:pt>
                <c:pt idx="9">
                  <c:v>Infectologia</c:v>
                </c:pt>
                <c:pt idx="10">
                  <c:v>Medicina Familiar</c:v>
                </c:pt>
                <c:pt idx="11">
                  <c:v>Cirugia Pediatrica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4</c:v>
                </c:pt>
                <c:pt idx="6">
                  <c:v>1</c:v>
                </c:pt>
                <c:pt idx="7">
                  <c:v>4</c:v>
                </c:pt>
                <c:pt idx="8">
                  <c:v>1</c:v>
                </c:pt>
                <c:pt idx="9">
                  <c:v>1</c:v>
                </c:pt>
                <c:pt idx="10">
                  <c:v>4</c:v>
                </c:pt>
                <c:pt idx="11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HGR 2 (Total: 175)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Sheet1!$A$2:$A$32</c:f>
              <c:strCache>
                <c:ptCount val="31"/>
                <c:pt idx="0">
                  <c:v>Nefrologia</c:v>
                </c:pt>
                <c:pt idx="1">
                  <c:v>Imagenologia Diagnostica Y Terapeutica</c:v>
                </c:pt>
                <c:pt idx="2">
                  <c:v>Angiologia Y Cirugia Vascular</c:v>
                </c:pt>
                <c:pt idx="3">
                  <c:v>Coloproctologia</c:v>
                </c:pt>
                <c:pt idx="4">
                  <c:v>Neurocirugia</c:v>
                </c:pt>
                <c:pt idx="5">
                  <c:v>Cirugia Plastica Y Reconstructiva</c:v>
                </c:pt>
                <c:pt idx="6">
                  <c:v>Traumatologia Y Ortopedia</c:v>
                </c:pt>
                <c:pt idx="7">
                  <c:v>Cirugia General</c:v>
                </c:pt>
                <c:pt idx="8">
                  <c:v>Anestesiologia Pediatrica</c:v>
                </c:pt>
                <c:pt idx="9">
                  <c:v>Anestesiologia</c:v>
                </c:pt>
                <c:pt idx="10">
                  <c:v>Medicina Del Enfermo En Estado Critico</c:v>
                </c:pt>
                <c:pt idx="11">
                  <c:v>Ginecologia Y Obstetricia</c:v>
                </c:pt>
                <c:pt idx="12">
                  <c:v>Medicina Materno Fetal</c:v>
                </c:pt>
                <c:pt idx="13">
                  <c:v>Nefrologia Pediatrica</c:v>
                </c:pt>
                <c:pt idx="14">
                  <c:v>Gastroenterologia Y Nutricion Pediatrica</c:v>
                </c:pt>
                <c:pt idx="15">
                  <c:v>Neonatologia</c:v>
                </c:pt>
                <c:pt idx="16">
                  <c:v>Medicina Del Enfermo Pediatrico En Estado Critico</c:v>
                </c:pt>
                <c:pt idx="17">
                  <c:v>Pediatria</c:v>
                </c:pt>
                <c:pt idx="18">
                  <c:v>Cardiologia Pediatrica</c:v>
                </c:pt>
                <c:pt idx="19">
                  <c:v>Alergia E Inmunologia Clinica</c:v>
                </c:pt>
                <c:pt idx="20">
                  <c:v>Endocrinologia</c:v>
                </c:pt>
                <c:pt idx="21">
                  <c:v>Gastroenterologia</c:v>
                </c:pt>
                <c:pt idx="22">
                  <c:v>Medicina Interna</c:v>
                </c:pt>
                <c:pt idx="23">
                  <c:v>Neumologia Directa</c:v>
                </c:pt>
                <c:pt idx="24">
                  <c:v>Neurologia</c:v>
                </c:pt>
                <c:pt idx="25">
                  <c:v>Reumatologia</c:v>
                </c:pt>
                <c:pt idx="26">
                  <c:v>Geriatria Directa</c:v>
                </c:pt>
                <c:pt idx="27">
                  <c:v>Medicina De Urgencias</c:v>
                </c:pt>
                <c:pt idx="28">
                  <c:v>Urgencias Pediatrica</c:v>
                </c:pt>
                <c:pt idx="29">
                  <c:v>Hematologia</c:v>
                </c:pt>
                <c:pt idx="30">
                  <c:v>Radioncologia Directa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2</c:v>
                </c:pt>
                <c:pt idx="1">
                  <c:v>9</c:v>
                </c:pt>
                <c:pt idx="2">
                  <c:v>1</c:v>
                </c:pt>
                <c:pt idx="3">
                  <c:v>2</c:v>
                </c:pt>
                <c:pt idx="4">
                  <c:v>2</c:v>
                </c:pt>
                <c:pt idx="5">
                  <c:v>1</c:v>
                </c:pt>
                <c:pt idx="6">
                  <c:v>4</c:v>
                </c:pt>
                <c:pt idx="7">
                  <c:v>16</c:v>
                </c:pt>
                <c:pt idx="8">
                  <c:v>3</c:v>
                </c:pt>
                <c:pt idx="9">
                  <c:v>18</c:v>
                </c:pt>
                <c:pt idx="10">
                  <c:v>5</c:v>
                </c:pt>
                <c:pt idx="11">
                  <c:v>25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7</c:v>
                </c:pt>
                <c:pt idx="18">
                  <c:v>1</c:v>
                </c:pt>
                <c:pt idx="19">
                  <c:v>1</c:v>
                </c:pt>
                <c:pt idx="20">
                  <c:v>2</c:v>
                </c:pt>
                <c:pt idx="21">
                  <c:v>1</c:v>
                </c:pt>
                <c:pt idx="22">
                  <c:v>10</c:v>
                </c:pt>
                <c:pt idx="23">
                  <c:v>1</c:v>
                </c:pt>
                <c:pt idx="24">
                  <c:v>2</c:v>
                </c:pt>
                <c:pt idx="25">
                  <c:v>2</c:v>
                </c:pt>
                <c:pt idx="26">
                  <c:v>4</c:v>
                </c:pt>
                <c:pt idx="27">
                  <c:v>47</c:v>
                </c:pt>
                <c:pt idx="28">
                  <c:v>1</c:v>
                </c:pt>
                <c:pt idx="29">
                  <c:v>2</c:v>
                </c:pt>
                <c:pt idx="3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HGR 66 Cd. Juárez (Total: 35)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Laboratorio De Analisis Clinicos</c:v>
                </c:pt>
                <c:pt idx="1">
                  <c:v>Geriatria Directa</c:v>
                </c:pt>
                <c:pt idx="2">
                  <c:v>Cirugia General</c:v>
                </c:pt>
                <c:pt idx="3">
                  <c:v>Traumatologia Y Ortopedia</c:v>
                </c:pt>
                <c:pt idx="4">
                  <c:v>Urologia</c:v>
                </c:pt>
                <c:pt idx="5">
                  <c:v>Anestesiologia</c:v>
                </c:pt>
                <c:pt idx="6">
                  <c:v>Ginecologia Y Obstetricia</c:v>
                </c:pt>
                <c:pt idx="7">
                  <c:v>Medicina De Urgencias</c:v>
                </c:pt>
                <c:pt idx="8">
                  <c:v>Pediatria</c:v>
                </c:pt>
                <c:pt idx="9">
                  <c:v>Medicina De Rehabilitacion</c:v>
                </c:pt>
                <c:pt idx="10">
                  <c:v>Medicina Interna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5</c:v>
                </c:pt>
                <c:pt idx="3">
                  <c:v>4</c:v>
                </c:pt>
                <c:pt idx="4">
                  <c:v>2</c:v>
                </c:pt>
                <c:pt idx="5">
                  <c:v>5</c:v>
                </c:pt>
                <c:pt idx="6">
                  <c:v>3</c:v>
                </c:pt>
                <c:pt idx="7">
                  <c:v>9</c:v>
                </c:pt>
                <c:pt idx="8">
                  <c:v>1</c:v>
                </c:pt>
                <c:pt idx="9">
                  <c:v>2</c:v>
                </c:pt>
                <c:pt idx="1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 22 N. Casas Grandes (Total: 6)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Pediatria</c:v>
                </c:pt>
                <c:pt idx="1">
                  <c:v>Cirugia General</c:v>
                </c:pt>
                <c:pt idx="2">
                  <c:v>Ginecologia Y Obstetricia</c:v>
                </c:pt>
                <c:pt idx="3">
                  <c:v>Medicina De Urgencias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6 Cd. Juárez (Total: 47)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Epidemiologia</c:v>
                </c:pt>
                <c:pt idx="1">
                  <c:v>Cirugia Oncologica</c:v>
                </c:pt>
                <c:pt idx="2">
                  <c:v>Medicina De Urgencias</c:v>
                </c:pt>
                <c:pt idx="3">
                  <c:v>Endocrinologia</c:v>
                </c:pt>
                <c:pt idx="4">
                  <c:v>Medicina Interna</c:v>
                </c:pt>
                <c:pt idx="5">
                  <c:v>Cirugia Pediatrica</c:v>
                </c:pt>
                <c:pt idx="6">
                  <c:v>Traumatologia Y Ortopedia</c:v>
                </c:pt>
                <c:pt idx="7">
                  <c:v>Cirugia General</c:v>
                </c:pt>
                <c:pt idx="8">
                  <c:v>Anestesiologia</c:v>
                </c:pt>
                <c:pt idx="9">
                  <c:v>Hematologia</c:v>
                </c:pt>
                <c:pt idx="10">
                  <c:v>Geriatria Directa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</c:v>
                </c:pt>
                <c:pt idx="1">
                  <c:v>1</c:v>
                </c:pt>
                <c:pt idx="2">
                  <c:v>21</c:v>
                </c:pt>
                <c:pt idx="3">
                  <c:v>1</c:v>
                </c:pt>
                <c:pt idx="4">
                  <c:v>5</c:v>
                </c:pt>
                <c:pt idx="5">
                  <c:v>1</c:v>
                </c:pt>
                <c:pt idx="6">
                  <c:v>1</c:v>
                </c:pt>
                <c:pt idx="7">
                  <c:v>7</c:v>
                </c:pt>
                <c:pt idx="8">
                  <c:v>6</c:v>
                </c:pt>
                <c:pt idx="9">
                  <c:v>1</c:v>
                </c:pt>
                <c:pt idx="1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11 Cd. Delicias (Total: 13)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Medicina Familiar</c:v>
                </c:pt>
                <c:pt idx="1">
                  <c:v>Cirugia Oncologica</c:v>
                </c:pt>
                <c:pt idx="2">
                  <c:v>Medicina De Rehabilitacion</c:v>
                </c:pt>
                <c:pt idx="3">
                  <c:v>Imagenologia Diagnostica Y Terapeutica</c:v>
                </c:pt>
                <c:pt idx="4">
                  <c:v>Medicina Interna</c:v>
                </c:pt>
                <c:pt idx="5">
                  <c:v>Medicina De Urgencias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  <c:pt idx="5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16 Cd. Cuauhtémoc (Total: 12)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Epidemiologia</c:v>
                </c:pt>
                <c:pt idx="1">
                  <c:v>Medicina Familiar</c:v>
                </c:pt>
                <c:pt idx="2">
                  <c:v>Medicina De Urgencias</c:v>
                </c:pt>
                <c:pt idx="3">
                  <c:v>Cirugia General</c:v>
                </c:pt>
                <c:pt idx="4">
                  <c:v>Medicina Del Trabajo Y Ambiental</c:v>
                </c:pt>
                <c:pt idx="5">
                  <c:v>Ginecologia Y Obstetricia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23 Hidalgo Parral (Total: 13)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Epidemiologia</c:v>
                </c:pt>
                <c:pt idx="1">
                  <c:v>Medicina Interna</c:v>
                </c:pt>
                <c:pt idx="2">
                  <c:v>Cirugia General</c:v>
                </c:pt>
                <c:pt idx="3">
                  <c:v>Medicina De Urgencias</c:v>
                </c:pt>
                <c:pt idx="4">
                  <c:v>Imagenologia Diagnostica Y Terapeutica</c:v>
                </c:pt>
                <c:pt idx="5">
                  <c:v>Urgencias Pediatrica</c:v>
                </c:pt>
                <c:pt idx="6">
                  <c:v>Medicina De Rehabilitacion</c:v>
                </c:pt>
                <c:pt idx="7">
                  <c:v>Geriatria Directa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4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13 Saucillo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 Nombre de Dios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20 Delicias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27 Lázaro Cárdenas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28 Fco. Portillo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34 Cd. Juárez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4 Ávalos (Total: 4)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44 Chihuahua (Total: 8)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48 Cd. Juárez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54 N. Casas Grandes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64 Cd. Juárez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65 Cd. Juárez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67 Cd. Juárez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Epidemiologia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69 Chihuahua (Total: 6)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70 Cd. Juárez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UMF-UMAA 33 Chihuahua (Total: 6)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UMFH 21 C. Camargo (Total: 6)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UMFH 30 Ojinaga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UMFH 5 C. Madera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2CFBA485-6AB8-C95C-6FC6-870DE2829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>
            <a:extLst>
              <a:ext uri="{FF2B5EF4-FFF2-40B4-BE49-F238E27FC236}">
                <a16:creationId xmlns:a16="http://schemas.microsoft.com/office/drawing/2014/main" id="{CE3AE7D4-7572-A7B3-84F1-BC75FF1AC0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>
            <a:extLst>
              <a:ext uri="{FF2B5EF4-FFF2-40B4-BE49-F238E27FC236}">
                <a16:creationId xmlns:a16="http://schemas.microsoft.com/office/drawing/2014/main" id="{FC426675-DF29-BF6F-0E9A-926272F58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>
            <a:extLst>
              <a:ext uri="{FF2B5EF4-FFF2-40B4-BE49-F238E27FC236}">
                <a16:creationId xmlns:a16="http://schemas.microsoft.com/office/drawing/2014/main" id="{AFDE3BE2-6DCD-4F64-B774-F5FF7BF05A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22583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chart" Target="../charts/char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chart" Target="../charts/chart5.xml"/><Relationship Id="rId5" Type="http://schemas.openxmlformats.org/officeDocument/2006/relationships/chart" Target="../charts/chart6.xml"/><Relationship Id="rId6" Type="http://schemas.openxmlformats.org/officeDocument/2006/relationships/chart" Target="../charts/chart7.xml"/><Relationship Id="rId7" Type="http://schemas.openxmlformats.org/officeDocument/2006/relationships/chart" Target="../charts/char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chart" Target="../charts/chart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Relationship Id="rId4" Type="http://schemas.openxmlformats.org/officeDocument/2006/relationships/chart" Target="../charts/chart15.xml"/><Relationship Id="rId5" Type="http://schemas.openxmlformats.org/officeDocument/2006/relationships/chart" Target="../charts/chart1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7.xml"/><Relationship Id="rId3" Type="http://schemas.openxmlformats.org/officeDocument/2006/relationships/chart" Target="../charts/chart18.xml"/><Relationship Id="rId4" Type="http://schemas.openxmlformats.org/officeDocument/2006/relationships/chart" Target="../charts/chart19.xml"/><Relationship Id="rId5" Type="http://schemas.openxmlformats.org/officeDocument/2006/relationships/chart" Target="../charts/chart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1.xml"/><Relationship Id="rId3" Type="http://schemas.openxmlformats.org/officeDocument/2006/relationships/chart" Target="../charts/chart22.xml"/><Relationship Id="rId4" Type="http://schemas.openxmlformats.org/officeDocument/2006/relationships/chart" Target="../charts/chart23.xml"/><Relationship Id="rId5" Type="http://schemas.openxmlformats.org/officeDocument/2006/relationships/chart" Target="../charts/chart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5.xml"/><Relationship Id="rId3" Type="http://schemas.openxmlformats.org/officeDocument/2006/relationships/chart" Target="../charts/chart26.xml"/><Relationship Id="rId4" Type="http://schemas.openxmlformats.org/officeDocument/2006/relationships/chart" Target="../charts/chart27.xml"/><Relationship Id="rId5" Type="http://schemas.openxmlformats.org/officeDocument/2006/relationships/chart" Target="../charts/chart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9.xml"/><Relationship Id="rId3" Type="http://schemas.openxmlformats.org/officeDocument/2006/relationships/chart" Target="../charts/chart30.xml"/><Relationship Id="rId4" Type="http://schemas.openxmlformats.org/officeDocument/2006/relationships/chart" Target="../charts/chart31.xml"/><Relationship Id="rId5" Type="http://schemas.openxmlformats.org/officeDocument/2006/relationships/chart" Target="../charts/char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Chihuahua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Marzo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ganigrama_08_chi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" name="Google Shape;111;p2"/>
          <p:cNvGraphicFramePr/>
          <p:nvPr/>
        </p:nvGraphicFramePr>
        <p:xfrm>
          <a:off x="313125" y="462212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Datos generales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19" name="Google Shape;119;p2"/>
          <p:cNvGrpSpPr/>
          <p:nvPr/>
        </p:nvGrpSpPr>
        <p:grpSpPr>
          <a:xfrm>
            <a:off x="6079441" y="8191625"/>
            <a:ext cx="321904" cy="457782"/>
            <a:chOff x="3342725" y="2620775"/>
            <a:chExt cx="338775" cy="481825"/>
          </a:xfrm>
        </p:grpSpPr>
        <p:sp>
          <p:nvSpPr>
            <p:cNvPr id="120" name="Google Shape;120;p2"/>
            <p:cNvSpPr/>
            <p:nvPr/>
          </p:nvSpPr>
          <p:spPr>
            <a:xfrm>
              <a:off x="3342725" y="2620775"/>
              <a:ext cx="338775" cy="56475"/>
            </a:xfrm>
            <a:custGeom>
              <a:avLst/>
              <a:gdLst/>
              <a:ahLst/>
              <a:cxnLst/>
              <a:rect l="l" t="t" r="r" b="b"/>
              <a:pathLst>
                <a:path w="13551" h="2259" extrusionOk="0">
                  <a:moveTo>
                    <a:pt x="1693" y="0"/>
                  </a:moveTo>
                  <a:cubicBezTo>
                    <a:pt x="756" y="0"/>
                    <a:pt x="0" y="759"/>
                    <a:pt x="0" y="1695"/>
                  </a:cubicBezTo>
                  <a:lnTo>
                    <a:pt x="0" y="2259"/>
                  </a:lnTo>
                  <a:lnTo>
                    <a:pt x="13551" y="2259"/>
                  </a:lnTo>
                  <a:lnTo>
                    <a:pt x="13551" y="1695"/>
                  </a:lnTo>
                  <a:cubicBezTo>
                    <a:pt x="13548" y="759"/>
                    <a:pt x="12792" y="0"/>
                    <a:pt x="11855" y="0"/>
                  </a:cubicBez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3342725" y="2705450"/>
              <a:ext cx="338775" cy="284225"/>
            </a:xfrm>
            <a:custGeom>
              <a:avLst/>
              <a:gdLst/>
              <a:ahLst/>
              <a:cxnLst/>
              <a:rect l="l" t="t" r="r" b="b"/>
              <a:pathLst>
                <a:path w="13551" h="11369" extrusionOk="0">
                  <a:moveTo>
                    <a:pt x="0" y="1"/>
                  </a:moveTo>
                  <a:lnTo>
                    <a:pt x="0" y="11368"/>
                  </a:lnTo>
                  <a:lnTo>
                    <a:pt x="13551" y="11368"/>
                  </a:lnTo>
                  <a:lnTo>
                    <a:pt x="13551" y="1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3342725" y="3017875"/>
              <a:ext cx="338775" cy="84725"/>
            </a:xfrm>
            <a:custGeom>
              <a:avLst/>
              <a:gdLst/>
              <a:ahLst/>
              <a:cxnLst/>
              <a:rect l="l" t="t" r="r" b="b"/>
              <a:pathLst>
                <a:path w="13551" h="3389" extrusionOk="0">
                  <a:moveTo>
                    <a:pt x="8224" y="1205"/>
                  </a:moveTo>
                  <a:cubicBezTo>
                    <a:pt x="8534" y="1205"/>
                    <a:pt x="8787" y="1458"/>
                    <a:pt x="8787" y="1771"/>
                  </a:cubicBezTo>
                  <a:cubicBezTo>
                    <a:pt x="8787" y="2081"/>
                    <a:pt x="8534" y="2334"/>
                    <a:pt x="8224" y="2334"/>
                  </a:cubicBezTo>
                  <a:lnTo>
                    <a:pt x="5324" y="2334"/>
                  </a:lnTo>
                  <a:cubicBezTo>
                    <a:pt x="5014" y="2334"/>
                    <a:pt x="4761" y="2081"/>
                    <a:pt x="4761" y="1771"/>
                  </a:cubicBezTo>
                  <a:cubicBezTo>
                    <a:pt x="4761" y="1458"/>
                    <a:pt x="5014" y="1205"/>
                    <a:pt x="5324" y="1205"/>
                  </a:cubicBezTo>
                  <a:close/>
                  <a:moveTo>
                    <a:pt x="0" y="0"/>
                  </a:moveTo>
                  <a:lnTo>
                    <a:pt x="0" y="1696"/>
                  </a:lnTo>
                  <a:cubicBezTo>
                    <a:pt x="0" y="2629"/>
                    <a:pt x="756" y="3388"/>
                    <a:pt x="1693" y="3388"/>
                  </a:cubicBezTo>
                  <a:lnTo>
                    <a:pt x="11855" y="3388"/>
                  </a:lnTo>
                  <a:cubicBezTo>
                    <a:pt x="12792" y="3388"/>
                    <a:pt x="13548" y="2629"/>
                    <a:pt x="13551" y="1696"/>
                  </a:cubicBezTo>
                  <a:lnTo>
                    <a:pt x="13551" y="0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2"/>
          <p:cNvSpPr txBox="1"/>
          <p:nvPr/>
        </p:nvSpPr>
        <p:spPr>
          <a:xfrm>
            <a:off x="6537950" y="8161875"/>
            <a:ext cx="1209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de Plataformas Digitales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2" name="Google Shape;111;p2">
            <a:extLst>
              <a:ext uri="{FF2B5EF4-FFF2-40B4-BE49-F238E27FC236}">
                <a16:creationId xmlns:a16="http://schemas.microsoft.com/office/drawing/2014/main" id="{D110EB92-D53B-B721-7239-F76E3C239A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3068722"/>
              </p:ext>
            </p:extLst>
          </p:nvPr>
        </p:nvGraphicFramePr>
        <p:xfrm>
          <a:off x="313125" y="56828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Población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4" name="Chart 123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25" name="TextBox 124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2,606,808</a:t>
            </a:r>
            <a:br/>
            <a:r>
              <a:t>64%</a:t>
            </a:r>
          </a:p>
        </p:txBody>
      </p:sp>
      <p:pic>
        <p:nvPicPr>
          <p:cNvPr id="126" name="Picture 125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7" name="Rectangle 126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208,368</a:t>
            </a:r>
            <a:br/>
            <a:r>
              <a:t>5%</a:t>
            </a:r>
          </a:p>
        </p:txBody>
      </p:sp>
      <p:pic>
        <p:nvPicPr>
          <p:cNvPr id="129" name="Picture 128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5" cy="468000"/>
          </a:xfrm>
          <a:prstGeom prst="rect">
            <a:avLst/>
          </a:prstGeom>
        </p:spPr>
      </p:pic>
      <p:sp>
        <p:nvSpPr>
          <p:cNvPr id="130" name="Rectangle 129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349,885</a:t>
            </a:r>
            <a:br/>
            <a:r>
              <a:t>9%</a:t>
            </a:r>
          </a:p>
        </p:txBody>
      </p:sp>
      <p:pic>
        <p:nvPicPr>
          <p:cNvPr id="132" name="Picture 131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33" name="Rectangle 132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910,508</a:t>
            </a:r>
            <a:br/>
            <a:r>
              <a:t>22%</a:t>
            </a:r>
          </a:p>
        </p:txBody>
      </p:sp>
      <p:pic>
        <p:nvPicPr>
          <p:cNvPr id="135" name="Picture 134" descr="0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124842" cy="468000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11,737</a:t>
            </a:r>
            <a:br/>
            <a:r>
              <a:t>0.29%</a:t>
            </a:r>
          </a:p>
        </p:txBody>
      </p:sp>
      <p:pic>
        <p:nvPicPr>
          <p:cNvPr id="138" name="Picture 137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9" name="Rectangle 138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4,087,306</a:t>
            </a:r>
          </a:p>
        </p:txBody>
      </p:sp>
      <p:graphicFrame>
        <p:nvGraphicFramePr>
          <p:cNvPr id="141" name="Table 140"/>
          <p:cNvGraphicFramePr>
            <a:graphicFrameLocks noGrp="1"/>
          </p:cNvGraphicFramePr>
          <p:nvPr/>
        </p:nvGraphicFramePr>
        <p:xfrm>
          <a:off x="313200" y="5270400"/>
          <a:ext cx="54108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/>
                <a:gridCol w="1047600"/>
                <a:gridCol w="1047600"/>
                <a:gridCol w="10476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2,410,625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2,606,808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1,327,036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1,544,845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882,868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958,533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190,911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284,272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31,421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40,697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221,836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226,320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209,515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213,162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Seguro de Salud de Familia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6,696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1,269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-81%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5,625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11,889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1,083,589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1,061,963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-2%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353,645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377,454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565,585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490,878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164,359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193,631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2" name="TextBox 141"/>
          <p:cNvSpPr txBox="1"/>
          <p:nvPr/>
        </p:nvSpPr>
        <p:spPr>
          <a:xfrm>
            <a:off x="82800" y="876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Incorporación y Recaudación, IMSS, datos abiertos con información mensual del número de personas derechohabientes adscritas a clínicas del IMSS. Corte enero de 2026.</a:t>
            </a:r>
          </a:p>
        </p:txBody>
      </p:sp>
      <p:graphicFrame>
        <p:nvGraphicFramePr>
          <p:cNvPr id="143" name="Table 142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2,286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2,157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-5%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4" name="Table 143"/>
          <p:cNvGraphicFramePr>
            <a:graphicFrameLocks noGrp="1"/>
          </p:cNvGraphicFramePr>
          <p:nvPr/>
        </p:nvGraphicFramePr>
        <p:xfrm>
          <a:off x="5947200" y="8733600"/>
          <a:ext cx="1738800" cy="55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 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5" name="TextBox 144"/>
          <p:cNvSpPr txBox="1"/>
          <p:nvPr/>
        </p:nvSpPr>
        <p:spPr>
          <a:xfrm>
            <a:off x="82800" y="9093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*La afiliación al Seguro de Salud de Familia disminuye en virtud del incremento en los nuevos esquemas de aseguramiento.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08_chi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944000"/>
            <a:ext cx="5886000" cy="4543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301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101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1,605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589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333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1,625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690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2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48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155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145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158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159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93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67657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6765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607600"/>
            <a:ext cx="7200000" cy="90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1. Incluye 41 UMF, 7 UMFH y 1 UMF-UMAA, y no incluye 3 Unidades Auxiliares de Medicina Familiar.</a:t>
            </a:r>
            <a:br/>
            <a:r>
              <a:t>2. Incluye la UMAA2,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Corte de información: enero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Google Shape;143;g370e475fb19_0_77"/>
          <p:cNvGraphicFramePr/>
          <p:nvPr>
            <p:extLst>
              <p:ext uri="{D42A27DB-BD31-4B8C-83A1-F6EECF244321}">
                <p14:modId xmlns:p14="http://schemas.microsoft.com/office/powerpoint/2010/main" val="3415909809"/>
              </p:ext>
            </p:extLst>
          </p:nvPr>
        </p:nvGraphicFramePr>
        <p:xfrm>
          <a:off x="149075" y="6490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Capacidad médica instalada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5" name="Google Shape;145;g370e475fb19_0_77"/>
          <p:cNvSpPr txBox="1"/>
          <p:nvPr/>
        </p:nvSpPr>
        <p:spPr>
          <a:xfrm>
            <a:off x="361950" y="9522000"/>
            <a:ext cx="7048500" cy="307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 b="0" i="0" u="none" strike="noStrike" cap="none" baseline="300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s" sz="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No se consideran salas de tococirugía, expulsión y recuperación.</a:t>
            </a:r>
            <a:endParaRPr sz="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graphicFrame>
        <p:nvGraphicFramePr>
          <p:cNvPr id="147" name="Table 146"/>
          <p:cNvGraphicFramePr>
            <a:graphicFrameLocks noGrp="1"/>
          </p:cNvGraphicFramePr>
          <p:nvPr/>
        </p:nvGraphicFramePr>
        <p:xfrm>
          <a:off x="363600" y="1134000"/>
          <a:ext cx="7200000" cy="51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00"/>
                <a:gridCol w="1198800"/>
                <a:gridCol w="622800"/>
                <a:gridCol w="824400"/>
                <a:gridCol w="824400"/>
                <a:gridCol w="658800"/>
                <a:gridCol w="14580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Productividad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Qx*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HGR 1 Chihuahua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HGZMF 11 Cd. Delicias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1958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6 Cd. Juárez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17 Anáhuac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HGZMF 23 Hidalgo Parral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HGZ-UMAA 35 Cd. Juárez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HGZMF 16 Cd. Cuauhtémoc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HGO 15 Chihuahua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HGR 66 Cd. Juárez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2006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 22 N. Casas Grandes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2009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HGR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Guachochi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San Juanito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Valle De Ignacio Allende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1,833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686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48" name="TextBox 147"/>
          <p:cNvSpPr txBox="1"/>
          <p:nvPr/>
        </p:nvSpPr>
        <p:spPr>
          <a:xfrm>
            <a:off x="370800" y="7740000"/>
            <a:ext cx="36000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280800" y="1274400"/>
          <a:ext cx="7286400" cy="36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200"/>
                <a:gridCol w="1018800"/>
                <a:gridCol w="997200"/>
                <a:gridCol w="939600"/>
                <a:gridCol w="640800"/>
                <a:gridCol w="1072800"/>
                <a:gridCol w="1134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66 Cd. Juárez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17 Anáhuac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Valle De Ignacio Allende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23 Hidalgo Parral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6 Cd. Juárez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HGZ-UMAA 35 Cd. Juárez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1 Chihuahua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HGO 15 Chihuahua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San Juanito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16 Cd. Cuauhtémoc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11 Cd. Delicias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 22 N. Casas Grandes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Guachochi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22800" y="8949600"/>
            <a:ext cx="5320800" cy="37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64;g370e87ffe7a_2_8">
            <a:extLst>
              <a:ext uri="{FF2B5EF4-FFF2-40B4-BE49-F238E27FC236}">
                <a16:creationId xmlns:a16="http://schemas.microsoft.com/office/drawing/2014/main" id="{507FEF15-F208-7692-1DD1-CC69917AAA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448324"/>
              </p:ext>
            </p:extLst>
          </p:nvPr>
        </p:nvGraphicFramePr>
        <p:xfrm>
          <a:off x="149075" y="649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49 Unidades de Medicina Familiar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37 Unidades Médicas de lunes a viernes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1200" y="1378800"/>
          <a:ext cx="7290000" cy="589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200"/>
                <a:gridCol w="1584000"/>
                <a:gridCol w="1522800"/>
                <a:gridCol w="15300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7 Mesa Huracán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5 C. Madera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31 La Junta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1,806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30 Ojinaga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1,698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25 Naica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24 C. Jiménez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4,549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9 S. Fco. del Oro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 Sta. Barbara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1,586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63 Cd.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2,878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62 Cd.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6,715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61 Cd.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7,131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58 Chihuahua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57 Delicias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55 Valle Buenaventura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54 N. Casas Grandes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7,619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50 Cd.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1,106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48 Cd.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28,481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47 Cd.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26,334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46 Cd.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22,770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45 Rodrigo M. Quevedo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43 Gpe Distrito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1,725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42 Casas Grandes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41 Gómez Farias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1,496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40 Ricardo Flores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39 El Molino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1,048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38 Guerrero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37 Ascención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34 Cd.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15,211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32 E. Creel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 Villa Aldama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29 Chihuahua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28 Fco. Portillo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1,306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27 Lázaro Cárdenas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1,839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14 Rosales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13 Saucillo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1,915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12 Meoqui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10 V. Ahumada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1,193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45.0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164,542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Google Shape;172;g374dacdbb20_1_49"/>
          <p:cNvGraphicFramePr/>
          <p:nvPr>
            <p:extLst>
              <p:ext uri="{D42A27DB-BD31-4B8C-83A1-F6EECF244321}">
                <p14:modId xmlns:p14="http://schemas.microsoft.com/office/powerpoint/2010/main" val="2424095382"/>
              </p:ext>
            </p:extLst>
          </p:nvPr>
        </p:nvGraphicFramePr>
        <p:xfrm>
          <a:off x="149075" y="703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lang="es-MX"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3" name="TextBox 17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49 Unidades de Medicina Familiar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12 Unidades Médicas de tiempo completo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177" name="Table 176"/>
          <p:cNvGraphicFramePr>
            <a:graphicFrameLocks noGrp="1"/>
          </p:cNvGraphicFramePr>
          <p:nvPr/>
        </p:nvGraphicFramePr>
        <p:xfrm>
          <a:off x="151200" y="1378800"/>
          <a:ext cx="7473600" cy="211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600"/>
                <a:gridCol w="1285200"/>
                <a:gridCol w="1411200"/>
                <a:gridCol w="1018800"/>
                <a:gridCol w="14688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TC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21 C. Camargo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9,598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 Ávalos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23,362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UMF-UMAA 33 Chihuahua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63,095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44 Chihuahua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44,073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 Nombre de Dios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22,632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56 Cd.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15,416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64 Cd.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12,673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20 Delicias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14,332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67 Cd.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22,167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65 Cd.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23,182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70 Cd.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22,346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69 Chihuahua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23,030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32.0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295,906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 2025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49808" y="1984248"/>
            <a:ext cx="1984248" cy="525780"/>
          </a:xfrm>
          <a:prstGeom prst="roundRect">
            <a:avLst/>
          </a:prstGeom>
          <a:solidFill>
            <a:srgbClr val="60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Montserrat"/>
              </a:defRPr>
            </a:pPr>
            <a:r>
              <a:t>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510028"/>
            <a:ext cx="1984248" cy="278892"/>
          </a:xfrm>
          <a:prstGeom prst="roundRect">
            <a:avLst/>
          </a:prstGeom>
          <a:solidFill>
            <a:srgbClr val="9F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459</a:t>
            </a:r>
          </a:p>
        </p:txBody>
      </p:sp>
      <p:pic>
        <p:nvPicPr>
          <p:cNvPr id="7" name="Picture 6" descr="Flecha_para_diapositiva_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2167128"/>
            <a:ext cx="365760" cy="28365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0" y="134416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Plazas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6994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379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67004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Sustitución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19582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80</a:t>
            </a:r>
          </a:p>
        </p:txBody>
      </p:sp>
      <p:pic>
        <p:nvPicPr>
          <p:cNvPr id="12" name="Picture 11" descr="Mapa_draft_etiquetas_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" y="3721608"/>
            <a:ext cx="7187184" cy="517973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60877654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39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HGO 15 Chihuahua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33 Chihuahua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1,019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16 Cd. Cuauhtémoc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11 Cd. Delicias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23 Hidalgo Parral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1 Chihuahua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16,425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2,159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6 Cd. Juárez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1,334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HGZ-UMAA 35 Cd. Juárez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66 Cd. Juárez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21,900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2,879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 22 N. Casas Grandes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17 Anáhuac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116,800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5,952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14,589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541327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</a:t>
                      </a: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: </a:t>
                      </a: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especialidad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39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HGO 15 Chihuahua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7,434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23 Hidalgo Parral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52,560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1 Chihuahua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243,090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22,344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44,604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66 Cd. Juárez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177,390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13,832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28,674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HGZ-UMAA 35 Cd. Juárez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124,830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9,611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6 Cd. Juárez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137,970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10,600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22,302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33 Chihuahua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16 Cd. Cuauhtémoc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2,649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7,434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262,800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14,927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42,480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11 Cd. Delicias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111,690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5,031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17,051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 22 N. Casas Grandes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17 Anáhuac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13,140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1,888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1,287,720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92,626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211,397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540884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47600" y="12384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OOAD</a:t>
            </a:r>
          </a:p>
        </p:txBody>
      </p:sp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1238400"/>
          <a:ext cx="7488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/>
                <a:gridCol w="936000"/>
                <a:gridCol w="1144800"/>
                <a:gridCol w="1335600"/>
                <a:gridCol w="1263600"/>
                <a:gridCol w="936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Metas 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esperada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 avance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400,896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71,293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44,745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3,770,928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616,469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351,156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1,287,720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211,397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92,626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116,800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14,589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3C790683-245A-1FE6-35AC-FBB0C23942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246189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Tiempos de espera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584000" y="1591200"/>
          <a:ext cx="5040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2,300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10,975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584000" y="6083999"/>
          <a:ext cx="5040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3,091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14,477	 Personal de Salud: 22,277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+72.8%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213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368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+41.3%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1,867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2,639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+37.7%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4,236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5,834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+26.8%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2,909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3,690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+317.5%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206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860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+8.9%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997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1,086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837176" y="5513832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837176" y="6848856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498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176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236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228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1,138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Dirección de Administración. Base SIAP comparativa del diciembre 2018 con el febrero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43704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Se muestra el total de egresos en la entidad y sólo las cinco especialidades con mayor egresos de cada año. Corte de información febrero 2026. 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Sistema de Información Operativa. Personal de base. Corte de información: enero 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15,837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719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152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260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4,283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1,877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35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22,716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(922,623)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(92,925)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y envenenamientos   (7,073)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(17,368)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(897)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 (734,472)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(69,045)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Hernias (Hernioplastía)   (4,477)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(8,528)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(630)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(162,437)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y trastornos de las articulaciones   (68,550)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Cesárea   (3,807)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perinatales   (5,014)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Neumonía e influenza  (615)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mentales   (142,403)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Problemas y enfermedades de la columna vertebral   (56,912)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cataratas (Facoemulsificación con implante de lente intraocular)   (3,547)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Hernias   (4,222)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(465)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(113,444)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mentales   (54,677)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vesicula biliar (Colecistectomía)   (3,124)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(4,115)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cerebrovasculares  (363)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Corte de información: noviembre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BC955C"/>
                </a:solidFill>
                <a:latin typeface="Montserrat"/>
              </a:defRPr>
            </a:pPr>
            <a:r>
              <a:t>Abasto Recetas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554480"/>
            <a:ext cx="704088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febrero de cada año</a:t>
            </a:r>
          </a:p>
        </p:txBody>
      </p:sp>
      <p:pic>
        <p:nvPicPr>
          <p:cNvPr id="8" name="Picture 7" descr="grafica_recetas_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247,679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1,441,293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59,228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1,418,980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96.0%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172F45EF-806A-7DEF-DC63-351C21F80D2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Google Shape;395;p15">
            <a:extLst>
              <a:ext uri="{FF2B5EF4-FFF2-40B4-BE49-F238E27FC236}">
                <a16:creationId xmlns:a16="http://schemas.microsoft.com/office/drawing/2014/main" id="{E9B6FDE2-AB5C-C52C-B0E2-79E10310850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470" y="2231023"/>
            <a:ext cx="1599000" cy="59960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96;p15">
            <a:extLst>
              <a:ext uri="{FF2B5EF4-FFF2-40B4-BE49-F238E27FC236}">
                <a16:creationId xmlns:a16="http://schemas.microsoft.com/office/drawing/2014/main" id="{0583F7E9-F9AC-9429-DAFB-7DAA10EEDC5C}"/>
              </a:ext>
            </a:extLst>
          </p:cNvPr>
          <p:cNvSpPr txBox="1"/>
          <p:nvPr/>
        </p:nvSpPr>
        <p:spPr>
          <a:xfrm>
            <a:off x="137120" y="1813354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sz="1200" b="1" i="0" u="none" strike="noStrike" cap="none">
              <a:solidFill>
                <a:srgbClr val="BC95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sz="1200" b="0" i="0" u="none" strike="noStrike" cap="none">
              <a:solidFill>
                <a:srgbClr val="BC95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24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Equipo médico y electromecánico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538 piezas de equipo médico: 390 camillas, 138 sillas de ruedas, 3 tomógrafos, 3 refrigeradores para vacunas, 2 monitores de signos vitales, 1 mastógrafo y 1 unidad de anestesia.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$152.1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75 piezas de equipo electromecánico: 62 Aires Acondicionados, 8 Plantas de lavado, 4 Elevadores, 1 Cuarto de Maquinas.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$826.0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Inversión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Accesibilidad (rampas) en 24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$15.3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Atención Médica Continua en 2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Hemodiálisis Interna en 7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$36.5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Mejora en Subdelegaciones en 2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$4.3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Residencias Médicas en 14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$36.9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Salud Mental en 7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$15.2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Terapia Intensiva en 10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$42.6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Urgencias en 1 unidad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$7.1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Programa Anual de Operaciones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Mantenimiento a equipo médico, onda de calor, mantenimiento a centrales de aire grado médico, entre otros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$408.9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22000" y="23616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1,550.4 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70;p14">
            <a:extLst>
              <a:ext uri="{FF2B5EF4-FFF2-40B4-BE49-F238E27FC236}">
                <a16:creationId xmlns:a16="http://schemas.microsoft.com/office/drawing/2014/main" id="{B709195D-5962-6442-81D8-2EFB6D8D7190}"/>
              </a:ext>
            </a:extLst>
          </p:cNvPr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Inversión, 2019-2024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371;p14">
            <a:extLst>
              <a:ext uri="{FF2B5EF4-FFF2-40B4-BE49-F238E27FC236}">
                <a16:creationId xmlns:a16="http://schemas.microsoft.com/office/drawing/2014/main" id="{6AC64192-1EFE-6740-4042-23283E03A1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834" y="2245621"/>
            <a:ext cx="15990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73;p14">
            <a:extLst>
              <a:ext uri="{FF2B5EF4-FFF2-40B4-BE49-F238E27FC236}">
                <a16:creationId xmlns:a16="http://schemas.microsoft.com/office/drawing/2014/main" id="{E7E32C0D-5A5C-F971-661D-A7FFF038D554}"/>
              </a:ext>
            </a:extLst>
          </p:cNvPr>
          <p:cNvSpPr txBox="1"/>
          <p:nvPr/>
        </p:nvSpPr>
        <p:spPr>
          <a:xfrm>
            <a:off x="363901" y="1991425"/>
            <a:ext cx="13044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¿Qué se hizo? </a:t>
            </a:r>
            <a:b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2019-2024</a:t>
            </a:r>
            <a:endParaRPr sz="1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138461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38461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138461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Conservación de Proyectos Estratégicos 2023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$40.1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38461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Construcción de la clínica de detección y diagnósticco del cáncer de mama, Delegación Chihuahua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$88.3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8461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Construcción y Equipamiento de la UMF 69 de 10 consultorios en Chihuahua, Chihuahua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$60.4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38461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Construcción y Equipamiento de la UMF 70 de 10 consultorios, Ciudad Juárez, Chihuahua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$59.0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8461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Creación de un Centro de Mezclas, Cd Juárez Chihuahua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$43.0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38461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Proyectos de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138461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Adquisición de 1 Caldera Generadora de Vapor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$9.8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38461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Adquisición de 10 Unidades generadoras de Agua helada y refrigerada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$232.4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8461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Adquisición de 19 unidades manejadoras de aire y agua helada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$88.1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38461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Adquisición de 3 equipos de refrigeración centrífugos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$181.1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8461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Adquisición de 30 lavadoras y secadoras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$87.3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38461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Adquisición de 4 montacargas eléctrico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8461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Adquisición de 9 unidades manejadoras de aire de doble pared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$85.0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38461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Dignificación de áreas de Patología en HGR No. 1, HGR No. 66 y HGZ No. 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$6.1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8461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Dignificación de cocinas y comedores en 3 unidades médicas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$11.2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38461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Intervención de 30 salas de Quirófano en 5 Hospitales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8461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Mejora de imagen en HGZ No. 11 Cd. Delicias y HGZ No. 16 Cd. Cuauhtémoc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$6.3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38461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Modernización de 5 elevadores eléctricos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$27.8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8461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Otros proyectos de conservación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38461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Recurso para mantener infraestructura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$173.0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8461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25 UMF´s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$37.2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38461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baños en 5 unidades médicas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$34.6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8461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HGSMF No. 16 y HGSZNo. 22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$8.0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38475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Sustitución de 3 elevadores marca HITRA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$173.0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1200" y="2365200"/>
            <a:ext cx="1227600" cy="43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Montserrat"/>
              </a:defRPr>
            </a:pPr>
            <a:r>
              <a:t>1,477.9 mdp</a:t>
            </a:r>
          </a:p>
        </p:txBody>
      </p:sp>
    </p:spTree>
    <p:extLst>
      <p:ext uri="{BB962C8B-B14F-4D97-AF65-F5344CB8AC3E}">
        <p14:creationId xmlns:p14="http://schemas.microsoft.com/office/powerpoint/2010/main" val="3258074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86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9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77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10,951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866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485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2 CECEM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Nvo Casas Grandes y Parral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CRESTCAP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Chihuahua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3 CEBIS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Cd. Cuauhtémoc, Delicias e Hidalgo del Parral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5 Centros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Chihuahua, Ciudad Delicias, Ciudad Juárez, Col. Anáhuac y Ciudad Parral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348604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Ciudad Juárez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2 Tiendas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No. 14 Chihuahua y No. 97 Cd. Juárez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2 Velatorios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Chihuahua y Ciudad. Juárez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08_chi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2400" y="5832000"/>
            <a:ext cx="4608000" cy="3560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86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353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Boletín de guarderías enero de 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47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22,212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22,277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CORDIS DE MEXICO SA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13,868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13,847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LEAR MEXICAN TRIM OPERATIONS S DE RL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12,629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12,560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OPERADORA FUTURAMA SA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10,650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10,657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-3.23%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-1.64%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-1.54%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-0.52%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+1.02%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+1.78%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+1.83%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+2.00%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+6.49%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852800" y="7390800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774400" y="7390800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888,795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13,354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68,289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2,336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972,774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884,156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12,157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63,008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961,434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-9%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-8%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-10%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Incoporación y Recaudación.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g370e87ffe7a_2_319"/>
          <p:cNvSpPr/>
          <p:nvPr/>
        </p:nvSpPr>
        <p:spPr>
          <a:xfrm>
            <a:off x="744125" y="1129296"/>
            <a:ext cx="609033" cy="528897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70e87ffe7a_2_319"/>
          <p:cNvSpPr txBox="1"/>
          <p:nvPr/>
        </p:nvSpPr>
        <p:spPr>
          <a:xfrm>
            <a:off x="320200" y="24503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$691.59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Febrero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612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$328.55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$691.59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0.4%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$20,747.7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VRP TRANSPORTES DE MEXICO S DE RL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$11,353.38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TRANSPORTES ENLACE INTERNACIONAL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$9,777.48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CERBERO AXIUM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$7,162.72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Secretaria de Comunicaciones y Obras Publicas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$5.71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Junta Municipal de Agua y Saneamiento de Juárez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$14.60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Aldama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$1,892.91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Salario base de cotización: se utilizo para deflactar el INPC a febrero de 2026 144.307, para diciembre 2018 es 103.02, el indice para dividir diciembre 2018 es de 0.713895.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813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Fuente: Dirección de Incorporación y Recaudación enero 2026.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20726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86,269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310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45,180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7,789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19,038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14,262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2,433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1,479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5,896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439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416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285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723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639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648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3,500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2,423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208,368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adscrita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55,960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152,408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44,540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86,269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2,433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>
          <a:extLst>
            <a:ext uri="{FF2B5EF4-FFF2-40B4-BE49-F238E27FC236}">
              <a16:creationId xmlns:a16="http://schemas.microsoft.com/office/drawing/2014/main" id="{8B7BFF1B-B63F-1B89-9135-52564317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Chihuahua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  <p:extLst>
      <p:ext uri="{BB962C8B-B14F-4D97-AF65-F5344CB8AC3E}">
        <p14:creationId xmlns:p14="http://schemas.microsoft.com/office/powerpoint/2010/main" val="1490408621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Chihuahua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Chihuahua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Chihuahua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Chihuahua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Chihuahua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Chihuahua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191</Words>
  <Application>Microsoft Office PowerPoint</Application>
  <PresentationFormat>Personalizado</PresentationFormat>
  <Paragraphs>69</Paragraphs>
  <Slides>23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8" baseType="lpstr">
      <vt:lpstr>Noto Sans</vt:lpstr>
      <vt:lpstr>Montserrat</vt:lpstr>
      <vt:lpstr>Calibri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Rohan Myron Oprisko</cp:lastModifiedBy>
  <cp:revision>61</cp:revision>
  <dcterms:modified xsi:type="dcterms:W3CDTF">2026-03-12T18:39:06Z</dcterms:modified>
</cp:coreProperties>
</file>