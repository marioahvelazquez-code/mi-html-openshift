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2_0.xml" ContentType="application/vnd.ms-powerpoint.comments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4_0.xml" ContentType="application/vnd.ms-powerpoint.comments+xml"/>
  <Override PartName="/ppt/notesSlides/notesSlide5.xml" ContentType="application/vnd.openxmlformats-officedocument.presentationml.notesSlide+xml"/>
  <Override PartName="/ppt/comments/modernComment_105_0.xml" ContentType="application/vnd.ms-powerpoint.comments+xml"/>
  <Override PartName="/ppt/notesSlides/notesSlide6.xml" ContentType="application/vnd.openxmlformats-officedocument.presentationml.notesSlide+xml"/>
  <Override PartName="/ppt/comments/modernComment_106_0.xml" ContentType="application/vnd.ms-powerpoint.comments+xml"/>
  <Override PartName="/ppt/notesSlides/notesSlide7.xml" ContentType="application/vnd.openxmlformats-officedocument.presentationml.notesSlide+xml"/>
  <Override PartName="/ppt/comments/modernComment_107_0.xml" ContentType="application/vnd.ms-powerpoint.comments+xml"/>
  <Override PartName="/ppt/notesSlides/notesSlide8.xml" ContentType="application/vnd.openxmlformats-officedocument.presentationml.notesSlide+xml"/>
  <Override PartName="/ppt/comments/modernComment_126_954A718B.xml" ContentType="application/vnd.ms-powerpoint.comments+xml"/>
  <Override PartName="/ppt/notesSlides/notesSlide9.xml" ContentType="application/vnd.openxmlformats-officedocument.presentationml.notesSlide+xml"/>
  <Override PartName="/ppt/comments/modernComment_10B_0.xml" ContentType="application/vnd.ms-powerpoint.comments+xml"/>
  <Override PartName="/ppt/notesSlides/notesSlide10.xml" ContentType="application/vnd.openxmlformats-officedocument.presentationml.notesSlide+xml"/>
  <Override PartName="/ppt/comments/modernComment_118_203AAD76.xml" ContentType="application/vnd.ms-powerpoint.comments+xml"/>
  <Override PartName="/ppt/notesSlides/notesSlide11.xml" ContentType="application/vnd.openxmlformats-officedocument.presentationml.notesSlide+xml"/>
  <Override PartName="/ppt/comments/modernComment_11F_2C964271.xml" ContentType="application/vnd.ms-powerpoint.comments+xml"/>
  <Override PartName="/ppt/notesSlides/notesSlide12.xml" ContentType="application/vnd.openxmlformats-officedocument.presentationml.notesSlide+xml"/>
  <Override PartName="/ppt/comments/modernComment_120_E2D5B370.xml" ContentType="application/vnd.ms-powerpoint.comments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omments/modernComment_116_0.xml" ContentType="application/vnd.ms-powerpoint.comments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ppt/comments/modernComment_117_0.xml" ContentType="application/vnd.ms-powerpoint.comments+xml"/>
  <Override PartName="/ppt/charts/chart4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omments/modernComment_11B_58D5D4AD.xml" ContentType="application/vnd.ms-powerpoint.comment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94" r:id="rId11"/>
    <p:sldId id="267" r:id="rId12"/>
    <p:sldId id="280" r:id="rId13"/>
    <p:sldId id="287" r:id="rId14"/>
    <p:sldId id="288" r:id="rId15"/>
    <p:sldId id="270" r:id="rId16"/>
    <p:sldId id="271" r:id="rId17"/>
    <p:sldId id="272" r:id="rId18"/>
    <p:sldId id="284" r:id="rId19"/>
    <p:sldId id="286" r:id="rId20"/>
    <p:sldId id="295" r:id="rId21"/>
    <p:sldId id="296" r:id="rId22"/>
    <p:sldId id="277" r:id="rId23"/>
    <p:sldId id="278" r:id="rId24"/>
    <p:sldId id="279" r:id="rId25"/>
    <p:sldId id="282" r:id="rId26"/>
    <p:sldId id="283" r:id="rId27"/>
    <p:sldId id="290" r:id="rId28"/>
    <p:sldId id="291" r:id="rId29"/>
    <p:sldId id="292" r:id="rId30"/>
    <p:sldId id="293" r:id="rId31"/>
  </p:sldIdLst>
  <p:sldSz cx="7772400" cy="10058400"/>
  <p:notesSz cx="6858000" cy="9144000"/>
  <p:embeddedFontLst>
    <p:embeddedFont>
      <p:font typeface="Montserrat" pitchFamily="2" charset="0"/>
      <p:regular r:id="rId33"/>
      <p:bold r:id="rId34"/>
      <p:italic r:id="rId35"/>
      <p:boldItalic r:id="rId36"/>
    </p:embeddedFont>
    <p:embeddedFont>
      <p:font typeface="Noto Sans" panose="020B050204050402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F65A333-98EF-11BD-D300-6CAEEB75937E}" name="Rohan Myron Oprisko" initials="RO" userId="S::rohan.oprisko@imss.gob.mx::a7c52ab4-f8b1-4d15-aaf6-6388cc51034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BE78FA-7ED2-4B8C-A3EC-3E1707C9D028}" v="1" dt="2026-03-18T16:48:03.500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1956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59" Type="http://schemas.microsoft.com/office/2018/10/relationships/authors" Target="authors.xml"/><Relationship Id="rId20" Type="http://schemas.openxmlformats.org/officeDocument/2006/relationships/slide" Target="slides/slide19.xml"/><Relationship Id="rId5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Myron Oprisko" userId="a7c52ab4-f8b1-4d15-aaf6-6388cc510347" providerId="ADAL" clId="{EEEE6C0E-EB18-4E43-B633-E5F95274828B}"/>
    <pc:docChg chg="custSel addSld modSld">
      <pc:chgData name="Rohan Myron Oprisko" userId="a7c52ab4-f8b1-4d15-aaf6-6388cc510347" providerId="ADAL" clId="{EEEE6C0E-EB18-4E43-B633-E5F95274828B}" dt="2026-03-18T17:00:37.996" v="47" actId="1076"/>
      <pc:docMkLst>
        <pc:docMk/>
      </pc:docMkLst>
      <pc:sldChg chg="addSp modSp mod">
        <pc:chgData name="Rohan Myron Oprisko" userId="a7c52ab4-f8b1-4d15-aaf6-6388cc510347" providerId="ADAL" clId="{EEEE6C0E-EB18-4E43-B633-E5F95274828B}" dt="2026-03-18T16:43:49.520" v="3" actId="14100"/>
        <pc:sldMkLst>
          <pc:docMk/>
          <pc:sldMk cId="0" sldId="260"/>
        </pc:sldMkLst>
        <pc:picChg chg="add mod">
          <ac:chgData name="Rohan Myron Oprisko" userId="a7c52ab4-f8b1-4d15-aaf6-6388cc510347" providerId="ADAL" clId="{EEEE6C0E-EB18-4E43-B633-E5F95274828B}" dt="2026-03-18T16:43:49.520" v="3" actId="14100"/>
          <ac:picMkLst>
            <pc:docMk/>
            <pc:sldMk cId="0" sldId="260"/>
            <ac:picMk id="3" creationId="{F5C38A88-9671-2E6D-7FF7-F6E45E5EF9E3}"/>
          </ac:picMkLst>
        </pc:picChg>
      </pc:sldChg>
      <pc:sldChg chg="addSp modSp mod">
        <pc:chgData name="Rohan Myron Oprisko" userId="a7c52ab4-f8b1-4d15-aaf6-6388cc510347" providerId="ADAL" clId="{EEEE6C0E-EB18-4E43-B633-E5F95274828B}" dt="2026-03-18T16:46:00.428" v="11" actId="1076"/>
        <pc:sldMkLst>
          <pc:docMk/>
          <pc:sldMk cId="0" sldId="261"/>
        </pc:sldMkLst>
        <pc:picChg chg="add mod modCrop">
          <ac:chgData name="Rohan Myron Oprisko" userId="a7c52ab4-f8b1-4d15-aaf6-6388cc510347" providerId="ADAL" clId="{EEEE6C0E-EB18-4E43-B633-E5F95274828B}" dt="2026-03-18T16:46:00.428" v="11" actId="1076"/>
          <ac:picMkLst>
            <pc:docMk/>
            <pc:sldMk cId="0" sldId="261"/>
            <ac:picMk id="3" creationId="{21E8EF9E-3DF4-669D-5CDE-5E86D083204F}"/>
          </ac:picMkLst>
        </pc:picChg>
      </pc:sldChg>
      <pc:sldChg chg="addSp modSp mod">
        <pc:chgData name="Rohan Myron Oprisko" userId="a7c52ab4-f8b1-4d15-aaf6-6388cc510347" providerId="ADAL" clId="{EEEE6C0E-EB18-4E43-B633-E5F95274828B}" dt="2026-03-18T16:46:59.370" v="13" actId="1076"/>
        <pc:sldMkLst>
          <pc:docMk/>
          <pc:sldMk cId="0" sldId="262"/>
        </pc:sldMkLst>
        <pc:picChg chg="add mod">
          <ac:chgData name="Rohan Myron Oprisko" userId="a7c52ab4-f8b1-4d15-aaf6-6388cc510347" providerId="ADAL" clId="{EEEE6C0E-EB18-4E43-B633-E5F95274828B}" dt="2026-03-18T16:46:59.370" v="13" actId="1076"/>
          <ac:picMkLst>
            <pc:docMk/>
            <pc:sldMk cId="0" sldId="262"/>
            <ac:picMk id="9" creationId="{DFCB6DD6-ED1B-6791-2761-3BF181548641}"/>
          </ac:picMkLst>
        </pc:picChg>
      </pc:sldChg>
      <pc:sldChg chg="addSp delSp modSp mod">
        <pc:chgData name="Rohan Myron Oprisko" userId="a7c52ab4-f8b1-4d15-aaf6-6388cc510347" providerId="ADAL" clId="{EEEE6C0E-EB18-4E43-B633-E5F95274828B}" dt="2026-03-18T16:49:42.499" v="20" actId="14100"/>
        <pc:sldMkLst>
          <pc:docMk/>
          <pc:sldMk cId="0" sldId="263"/>
        </pc:sldMkLst>
        <pc:picChg chg="add del mod">
          <ac:chgData name="Rohan Myron Oprisko" userId="a7c52ab4-f8b1-4d15-aaf6-6388cc510347" providerId="ADAL" clId="{EEEE6C0E-EB18-4E43-B633-E5F95274828B}" dt="2026-03-18T16:49:37.490" v="18" actId="478"/>
          <ac:picMkLst>
            <pc:docMk/>
            <pc:sldMk cId="0" sldId="263"/>
            <ac:picMk id="2" creationId="{D8D994CC-DB7B-E4AF-6F6F-C253032E01DD}"/>
          </ac:picMkLst>
        </pc:picChg>
        <pc:picChg chg="add mod">
          <ac:chgData name="Rohan Myron Oprisko" userId="a7c52ab4-f8b1-4d15-aaf6-6388cc510347" providerId="ADAL" clId="{EEEE6C0E-EB18-4E43-B633-E5F95274828B}" dt="2026-03-18T16:49:42.499" v="20" actId="14100"/>
          <ac:picMkLst>
            <pc:docMk/>
            <pc:sldMk cId="0" sldId="263"/>
            <ac:picMk id="4" creationId="{EFD2C953-9872-6C7E-FF71-6348AEE9AB98}"/>
          </ac:picMkLst>
        </pc:picChg>
      </pc:sldChg>
      <pc:sldChg chg="addSp modSp mod">
        <pc:chgData name="Rohan Myron Oprisko" userId="a7c52ab4-f8b1-4d15-aaf6-6388cc510347" providerId="ADAL" clId="{EEEE6C0E-EB18-4E43-B633-E5F95274828B}" dt="2026-03-18T16:53:25.420" v="27" actId="1076"/>
        <pc:sldMkLst>
          <pc:docMk/>
          <pc:sldMk cId="748044913" sldId="287"/>
        </pc:sldMkLst>
        <pc:picChg chg="add mod">
          <ac:chgData name="Rohan Myron Oprisko" userId="a7c52ab4-f8b1-4d15-aaf6-6388cc510347" providerId="ADAL" clId="{EEEE6C0E-EB18-4E43-B633-E5F95274828B}" dt="2026-03-18T16:53:25.420" v="27" actId="1076"/>
          <ac:picMkLst>
            <pc:docMk/>
            <pc:sldMk cId="748044913" sldId="287"/>
            <ac:picMk id="3" creationId="{897C8F71-3EB1-6A1D-4FC5-3D708163A48B}"/>
          </ac:picMkLst>
        </pc:picChg>
      </pc:sldChg>
      <pc:sldChg chg="addSp modSp mod">
        <pc:chgData name="Rohan Myron Oprisko" userId="a7c52ab4-f8b1-4d15-aaf6-6388cc510347" providerId="ADAL" clId="{EEEE6C0E-EB18-4E43-B633-E5F95274828B}" dt="2026-03-18T16:54:35.499" v="31" actId="1076"/>
        <pc:sldMkLst>
          <pc:docMk/>
          <pc:sldMk cId="3805655920" sldId="288"/>
        </pc:sldMkLst>
        <pc:picChg chg="add mod">
          <ac:chgData name="Rohan Myron Oprisko" userId="a7c52ab4-f8b1-4d15-aaf6-6388cc510347" providerId="ADAL" clId="{EEEE6C0E-EB18-4E43-B633-E5F95274828B}" dt="2026-03-18T16:54:35.499" v="31" actId="1076"/>
          <ac:picMkLst>
            <pc:docMk/>
            <pc:sldMk cId="3805655920" sldId="288"/>
            <ac:picMk id="3" creationId="{A63A10D1-FEAE-9BD8-E287-8270B563ADE0}"/>
          </ac:picMkLst>
        </pc:picChg>
      </pc:sldChg>
      <pc:sldChg chg="addSp modSp new mod">
        <pc:chgData name="Rohan Myron Oprisko" userId="a7c52ab4-f8b1-4d15-aaf6-6388cc510347" providerId="ADAL" clId="{EEEE6C0E-EB18-4E43-B633-E5F95274828B}" dt="2026-03-18T16:50:48.949" v="25" actId="14100"/>
        <pc:sldMkLst>
          <pc:docMk/>
          <pc:sldMk cId="2504683915" sldId="294"/>
        </pc:sldMkLst>
        <pc:picChg chg="add mod">
          <ac:chgData name="Rohan Myron Oprisko" userId="a7c52ab4-f8b1-4d15-aaf6-6388cc510347" providerId="ADAL" clId="{EEEE6C0E-EB18-4E43-B633-E5F95274828B}" dt="2026-03-18T16:50:48.949" v="25" actId="14100"/>
          <ac:picMkLst>
            <pc:docMk/>
            <pc:sldMk cId="2504683915" sldId="294"/>
            <ac:picMk id="3" creationId="{A19EB874-4940-6B28-9CF4-9A1659AE30D1}"/>
          </ac:picMkLst>
        </pc:picChg>
      </pc:sldChg>
      <pc:sldChg chg="addSp modSp new mod">
        <pc:chgData name="Rohan Myron Oprisko" userId="a7c52ab4-f8b1-4d15-aaf6-6388cc510347" providerId="ADAL" clId="{EEEE6C0E-EB18-4E43-B633-E5F95274828B}" dt="2026-03-18T16:57:56.405" v="39" actId="1076"/>
        <pc:sldMkLst>
          <pc:docMk/>
          <pc:sldMk cId="3796911937" sldId="295"/>
        </pc:sldMkLst>
        <pc:picChg chg="add mod">
          <ac:chgData name="Rohan Myron Oprisko" userId="a7c52ab4-f8b1-4d15-aaf6-6388cc510347" providerId="ADAL" clId="{EEEE6C0E-EB18-4E43-B633-E5F95274828B}" dt="2026-03-18T16:57:56.405" v="39" actId="1076"/>
          <ac:picMkLst>
            <pc:docMk/>
            <pc:sldMk cId="3796911937" sldId="295"/>
            <ac:picMk id="3" creationId="{16E7C744-43D2-D09C-ABE6-B929CE8671E4}"/>
          </ac:picMkLst>
        </pc:picChg>
      </pc:sldChg>
      <pc:sldChg chg="addSp modSp new mod">
        <pc:chgData name="Rohan Myron Oprisko" userId="a7c52ab4-f8b1-4d15-aaf6-6388cc510347" providerId="ADAL" clId="{EEEE6C0E-EB18-4E43-B633-E5F95274828B}" dt="2026-03-18T17:00:37.996" v="47" actId="1076"/>
        <pc:sldMkLst>
          <pc:docMk/>
          <pc:sldMk cId="1457246672" sldId="296"/>
        </pc:sldMkLst>
        <pc:picChg chg="add mod">
          <ac:chgData name="Rohan Myron Oprisko" userId="a7c52ab4-f8b1-4d15-aaf6-6388cc510347" providerId="ADAL" clId="{EEEE6C0E-EB18-4E43-B633-E5F95274828B}" dt="2026-03-18T17:00:37.996" v="47" actId="1076"/>
          <ac:picMkLst>
            <pc:docMk/>
            <pc:sldMk cId="1457246672" sldId="296"/>
            <ac:picMk id="3" creationId="{611A1FE5-18BE-4300-B943-6472988388F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9269-4E47-8149-95D3782EB3A5}"/>
              </c:ext>
            </c:extLst>
          </c:dPt>
          <c:dPt>
            <c:idx val="1"/>
            <c:bubble3D val="0"/>
            <c:spPr>
              <a:solidFill>
                <a:srgbClr val="549ECF"/>
              </a:solidFill>
            </c:spPr>
            <c:extLst>
              <c:ext xmlns:c16="http://schemas.microsoft.com/office/drawing/2014/chart" uri="{C3380CC4-5D6E-409C-BE32-E72D297353CC}">
                <c16:uniqueId val="{00000003-9269-4E47-8149-95D3782EB3A5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9269-4E47-8149-95D3782EB3A5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9269-4E47-8149-95D3782EB3A5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9269-4E47-8149-95D3782EB3A5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1063757</c:v>
                </c:pt>
                <c:pt idx="1">
                  <c:v>1952597</c:v>
                </c:pt>
                <c:pt idx="2">
                  <c:v>494805</c:v>
                </c:pt>
                <c:pt idx="3">
                  <c:v>2638667</c:v>
                </c:pt>
                <c:pt idx="4">
                  <c:v>35643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269-4E47-8149-95D3782EB3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FD9C-4E88-A5E7-EA5E4717E1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102</c:v>
                </c:pt>
                <c:pt idx="2">
                  <c:v>116</c:v>
                </c:pt>
                <c:pt idx="3">
                  <c:v>103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D9C-4E88-A5E7-EA5E4717E13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para Empresas, Personas y el Hogar</c:v>
                </c:pt>
                <c:pt idx="2">
                  <c:v>Industrias Extractivas</c:v>
                </c:pt>
                <c:pt idx="3">
                  <c:v>Agricultura, Ganaderia, Silvicultura, Pesca y Caza</c:v>
                </c:pt>
                <c:pt idx="4">
                  <c:v>Transportes y Comunicaciones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22461</c:v>
                </c:pt>
                <c:pt idx="1">
                  <c:v>47620</c:v>
                </c:pt>
                <c:pt idx="2">
                  <c:v>1147</c:v>
                </c:pt>
                <c:pt idx="3">
                  <c:v>17834</c:v>
                </c:pt>
                <c:pt idx="4">
                  <c:v>8926</c:v>
                </c:pt>
                <c:pt idx="5">
                  <c:v>3238</c:v>
                </c:pt>
                <c:pt idx="6">
                  <c:v>76191</c:v>
                </c:pt>
                <c:pt idx="7">
                  <c:v>61272</c:v>
                </c:pt>
                <c:pt idx="8">
                  <c:v>27507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FAC-48BE-A849-7A84771EE9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para Empresas, Personas y el Hogar</c:v>
                </c:pt>
                <c:pt idx="2">
                  <c:v>Industrias Extractivas</c:v>
                </c:pt>
                <c:pt idx="3">
                  <c:v>Agricultura, Ganaderia, Silvicultura, Pesca y Caza</c:v>
                </c:pt>
                <c:pt idx="4">
                  <c:v>Transportes y Comunicaciones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18069</c:v>
                </c:pt>
                <c:pt idx="1">
                  <c:v>40475</c:v>
                </c:pt>
                <c:pt idx="2">
                  <c:v>1053</c:v>
                </c:pt>
                <c:pt idx="3">
                  <c:v>17172</c:v>
                </c:pt>
                <c:pt idx="4">
                  <c:v>8872</c:v>
                </c:pt>
                <c:pt idx="5">
                  <c:v>3226</c:v>
                </c:pt>
                <c:pt idx="6">
                  <c:v>76827</c:v>
                </c:pt>
                <c:pt idx="7">
                  <c:v>63346</c:v>
                </c:pt>
                <c:pt idx="8">
                  <c:v>28960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FAC-48BE-A849-7A84771EE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2018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220224</c:v>
                </c:pt>
                <c:pt idx="1">
                  <c:v>225667</c:v>
                </c:pt>
                <c:pt idx="2">
                  <c:v>222041</c:v>
                </c:pt>
                <c:pt idx="3">
                  <c:v>225972</c:v>
                </c:pt>
                <c:pt idx="4">
                  <c:v>223027</c:v>
                </c:pt>
                <c:pt idx="5">
                  <c:v>234202</c:v>
                </c:pt>
                <c:pt idx="6">
                  <c:v>241547</c:v>
                </c:pt>
                <c:pt idx="7">
                  <c:v>256060</c:v>
                </c:pt>
                <c:pt idx="8">
                  <c:v>266196</c:v>
                </c:pt>
                <c:pt idx="9">
                  <c:v>258000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CD3-4F9E-BF46-67E755BCEA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rPr lang="es-MX"/>
              <a:t>HGR 13 Tuxtla Gutiérrez (Total: 97)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Sheet1!$A$2:$A$30</c:f>
              <c:strCache>
                <c:ptCount val="29"/>
                <c:pt idx="0">
                  <c:v>Patologia Clinica</c:v>
                </c:pt>
                <c:pt idx="1">
                  <c:v>Angiologia Y Cirugia Vascular</c:v>
                </c:pt>
                <c:pt idx="2">
                  <c:v>Cirugia General</c:v>
                </c:pt>
                <c:pt idx="3">
                  <c:v>Oftalmologia</c:v>
                </c:pt>
                <c:pt idx="4">
                  <c:v>Otorrinolaringologia Y Cirugia De Cabeza Y Cuello</c:v>
                </c:pt>
                <c:pt idx="5">
                  <c:v>Urologia</c:v>
                </c:pt>
                <c:pt idx="6">
                  <c:v>Cirugia Plastica Y Reconstructiva</c:v>
                </c:pt>
                <c:pt idx="7">
                  <c:v>Anestesiologia</c:v>
                </c:pt>
                <c:pt idx="8">
                  <c:v>Anestesiologia Pediatrica</c:v>
                </c:pt>
                <c:pt idx="9">
                  <c:v>Ginecologia Y Obstetricia</c:v>
                </c:pt>
                <c:pt idx="10">
                  <c:v>Ginecologia Oncologica</c:v>
                </c:pt>
                <c:pt idx="11">
                  <c:v>Pediatria</c:v>
                </c:pt>
                <c:pt idx="12">
                  <c:v>Cardiologia Pediatrica</c:v>
                </c:pt>
                <c:pt idx="13">
                  <c:v>Neonatologia</c:v>
                </c:pt>
                <c:pt idx="14">
                  <c:v>Medicina Del Enfermo Pediatrico En Estado Critico</c:v>
                </c:pt>
                <c:pt idx="15">
                  <c:v>Hematologia Pediatrica</c:v>
                </c:pt>
                <c:pt idx="16">
                  <c:v>Cardiologia</c:v>
                </c:pt>
                <c:pt idx="17">
                  <c:v>Infectologia</c:v>
                </c:pt>
                <c:pt idx="18">
                  <c:v>Medicina Interna</c:v>
                </c:pt>
                <c:pt idx="19">
                  <c:v>Nefrologia</c:v>
                </c:pt>
                <c:pt idx="20">
                  <c:v>Neumologia Directa</c:v>
                </c:pt>
                <c:pt idx="21">
                  <c:v>Psiquiatria</c:v>
                </c:pt>
                <c:pt idx="22">
                  <c:v>Oncologia Medica</c:v>
                </c:pt>
                <c:pt idx="23">
                  <c:v>Medicina Del Enfermo En Estado Critico</c:v>
                </c:pt>
                <c:pt idx="24">
                  <c:v>Urgencias Pediatrica</c:v>
                </c:pt>
                <c:pt idx="25">
                  <c:v>Audiologia, Otoneurologia Y Foniatria</c:v>
                </c:pt>
                <c:pt idx="26">
                  <c:v>Hemodinamia</c:v>
                </c:pt>
                <c:pt idx="27">
                  <c:v>Imagenologia Diagnostica Y Terapeutica</c:v>
                </c:pt>
                <c:pt idx="28">
                  <c:v>Anatomia Patologica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11</c:v>
                </c:pt>
                <c:pt idx="8">
                  <c:v>1</c:v>
                </c:pt>
                <c:pt idx="9">
                  <c:v>4</c:v>
                </c:pt>
                <c:pt idx="10">
                  <c:v>2</c:v>
                </c:pt>
                <c:pt idx="11">
                  <c:v>7</c:v>
                </c:pt>
                <c:pt idx="12">
                  <c:v>1</c:v>
                </c:pt>
                <c:pt idx="13">
                  <c:v>2</c:v>
                </c:pt>
                <c:pt idx="14">
                  <c:v>4</c:v>
                </c:pt>
                <c:pt idx="15">
                  <c:v>1</c:v>
                </c:pt>
                <c:pt idx="16">
                  <c:v>3</c:v>
                </c:pt>
                <c:pt idx="17">
                  <c:v>1</c:v>
                </c:pt>
                <c:pt idx="18">
                  <c:v>16</c:v>
                </c:pt>
                <c:pt idx="19">
                  <c:v>1</c:v>
                </c:pt>
                <c:pt idx="20">
                  <c:v>2</c:v>
                </c:pt>
                <c:pt idx="21">
                  <c:v>1</c:v>
                </c:pt>
                <c:pt idx="22">
                  <c:v>1</c:v>
                </c:pt>
                <c:pt idx="23">
                  <c:v>5</c:v>
                </c:pt>
                <c:pt idx="24">
                  <c:v>4</c:v>
                </c:pt>
                <c:pt idx="25">
                  <c:v>1</c:v>
                </c:pt>
                <c:pt idx="26">
                  <c:v>1</c:v>
                </c:pt>
                <c:pt idx="27">
                  <c:v>11</c:v>
                </c:pt>
                <c:pt idx="28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E78-4970-A178-4B2C6913C5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rPr lang="es-MX"/>
              <a:t>HGSMF 15 Tonala (Total: 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Cirugia General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FB3-4B95-B2FD-424D26FF7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rPr lang="es-MX"/>
              <a:t>HGSMF 19 Huixtla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Urgencias Pediatrica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644-4964-8729-6B6FFDB34A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rPr lang="es-MX"/>
              <a:t>HGZ 1 Nueva Frontera (Total: 15)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Cirugia General</c:v>
                </c:pt>
                <c:pt idx="1">
                  <c:v>Medicina Interna</c:v>
                </c:pt>
                <c:pt idx="2">
                  <c:v>Imagenologia Diagnostica Y Terapeutica</c:v>
                </c:pt>
                <c:pt idx="3">
                  <c:v>Urologia Ginecologica</c:v>
                </c:pt>
                <c:pt idx="4">
                  <c:v>Anatomia Patologica</c:v>
                </c:pt>
                <c:pt idx="5">
                  <c:v>Urgencias Pediatrica</c:v>
                </c:pt>
                <c:pt idx="6">
                  <c:v>Pediatria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DF1-4130-9FBB-DA75758ECF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rPr lang="es-MX"/>
              <a:t>HGZ 2 Tuxtla Gutiérrez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Oftalmologia</c:v>
                </c:pt>
                <c:pt idx="1">
                  <c:v>Neumologia Directa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FE5-43D6-BD5E-A1E83540E2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rPr lang="es-MX"/>
              <a:t>UMF 1 Tapachula (Total: 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BA8-46BE-848D-D73B06A741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rPr lang="es-MX"/>
              <a:t>UMF 11 Tapachula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AF7-4631-8003-37848DAB2E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rPr lang="pt-BR"/>
              <a:t>UMF 26 Escuintha (Total: 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1B8-48E1-822D-F3B8C9225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rPr lang="es-MX"/>
              <a:t>UMF 40 Cd. Reforma (Total: 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E78-4220-BF77-2A8C7E1EC0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rPr lang="es-MX"/>
              <a:t>UMF-UMAA 23 Tuxtla Gutiérrez (Total: 3)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Cirugia General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150-4C7F-8719-CAB560676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rPr lang="es-MX"/>
              <a:t>HGZ 2 Tuxtla Gutiérrez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Neonatologia</c:v>
                </c:pt>
                <c:pt idx="1">
                  <c:v>Oftalmologia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C06-4691-AAB8-5C0DDFD846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rPr lang="es-MX"/>
              <a:t>HR Altamirano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Anestesiologia</c:v>
                </c:pt>
                <c:pt idx="1">
                  <c:v>Ginecologia Y Obstetricia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7BC-462E-A85B-79176A0682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Bochil (Total: 3)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C3-438C-B80C-094AF94DD6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Mapastepec (Total: 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746-4B00-9B73-DC4E11C783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Motozintla De Mendoza (Total: 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Ginecologia Y Obstetricia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765-47DC-828B-1DF64E82B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Ocosingo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Medicina Interna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0B2-40DD-8F24-91B41AD810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San Felipe Ecatepec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Pediatria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237-4A82-8A6B-74611E30A0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Venustiano Carranza (Total: 4)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243-4492-9B81-71C1CC3D8A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58B41C-6742-43A2-A1A5-9F2C175BDDB9}" authorId="{7F65A333-98EF-11BD-D300-6CAEEB75937E}" created="2026-03-18T16:51:41.200">
    <pc:sldMkLst xmlns:pc="http://schemas.microsoft.com/office/powerpoint/2013/main/command">
      <pc:docMk/>
      <pc:sldMk cId="0" sldId="267"/>
    </pc:sldMkLst>
    <p188:txBody>
      <a:bodyPr/>
      <a:lstStyle/>
      <a:p>
        <a:r>
          <a:rPr lang="es-MX"/>
          <a:t>Añadir 2026 al título y cambiar % avances a un rojo claro.También añadir 2025.</a:t>
        </a:r>
      </a:p>
    </p188:txBody>
  </p188:cm>
</p188:cmLst>
</file>

<file path=ppt/comments/modernComment_11B_58D5D4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420821-8E21-4186-829B-715B79837CCB}" authorId="{7F65A333-98EF-11BD-D300-6CAEEB75937E}" created="2026-03-18T17:06:17.940">
    <pc:sldMkLst xmlns:pc="http://schemas.microsoft.com/office/powerpoint/2013/main/command">
      <pc:docMk/>
      <pc:sldMk cId="1490408621" sldId="283"/>
    </pc:sldMkLst>
    <p188:txBody>
      <a:bodyPr/>
      <a:lstStyle/>
      <a:p>
        <a:r>
          <a:rPr lang="es-MX"/>
          <a:t>Poner números afuera de la barras y en negro para que no pasa lo que está pasando con esta hoja.</a:t>
        </a:r>
      </a:p>
    </p188:txBody>
  </p188:cm>
</p188:cmLst>
</file>

<file path=ppt/comments/modernComment_11F_2C9642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957BDE9-7BBA-42EC-9AB9-CF7EEA6F895D}" authorId="{7F65A333-98EF-11BD-D300-6CAEEB75937E}" created="2026-03-18T16:53:11.660">
    <pc:sldMkLst xmlns:pc="http://schemas.microsoft.com/office/powerpoint/2013/main/command">
      <pc:docMk/>
      <pc:sldMk cId="748044913" sldId="287"/>
    </pc:sldMkLst>
    <p188:replyLst>
      <p188:reply id="{775F3A8D-95DC-424A-8475-80E5AEE5BBE9}" authorId="{7F65A333-98EF-11BD-D300-6CAEEB75937E}" created="2026-03-18T16:53:40.010">
        <p188:txBody>
          <a:bodyPr/>
          <a:lstStyle/>
          <a:p>
            <a:r>
              <a:rPr lang="es-MX"/>
              <a:t>Pero sin esa gráfica de 2-3-100 porque no lo necesitamos.</a:t>
            </a:r>
          </a:p>
        </p188:txBody>
      </p188:reply>
      <p188:reply id="{E1CCF67C-38ED-4108-93CC-7754E073F23C}" authorId="{7F65A333-98EF-11BD-D300-6CAEEB75937E}" created="2026-03-18T18:42:58.254">
        <p188:txBody>
          <a:bodyPr/>
          <a:lstStyle/>
          <a:p>
            <a:r>
              <a:rPr lang="es-MX"/>
              <a:t>También añadir 2025.</a:t>
            </a:r>
          </a:p>
        </p188:txBody>
      </p188:reply>
    </p188:replyLst>
    <p188:txBody>
      <a:bodyPr/>
      <a:lstStyle/>
      <a:p>
        <a:r>
          <a:rPr lang="es-MX"/>
          <a:t>Que % avance sea en rojo. También que tenemos Gráficas Horizontales de 2025 como la foto.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12F7D1-2B99-45F8-9A09-B1078DEEE3F9}" authorId="{7F65A333-98EF-11BD-D300-6CAEEB75937E}" created="2026-03-18T16:33:00.201">
    <pc:sldMkLst xmlns:pc="http://schemas.microsoft.com/office/powerpoint/2013/main/command">
      <pc:docMk/>
      <pc:sldMk cId="0" sldId="258"/>
    </pc:sldMkLst>
    <p188:txBody>
      <a:bodyPr/>
      <a:lstStyle/>
      <a:p>
        <a:r>
          <a:rPr lang="es-MX"/>
          <a:t>Título tiene que ser mejor alineado</a:t>
        </a:r>
      </a:p>
    </p188:txBody>
  </p188:cm>
  <p188:cm id="{1340E4F6-64D7-482C-834A-D86C730E8023}" authorId="{7F65A333-98EF-11BD-D300-6CAEEB75937E}" created="2026-03-18T16:33:29.150">
    <pc:sldMkLst xmlns:pc="http://schemas.microsoft.com/office/powerpoint/2013/main/command">
      <pc:docMk/>
      <pc:sldMk cId="0" sldId="258"/>
    </pc:sldMkLst>
    <p188:txBody>
      <a:bodyPr/>
      <a:lstStyle/>
      <a:p>
        <a:r>
          <a:rPr lang="es-MX"/>
          <a:t>Ya arreglamos los de los servicios en estados en que no hay IMMS bienestar?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28C1DA-4D74-4A0E-B59C-329FEB6DB209}" authorId="{7F65A333-98EF-11BD-D300-6CAEEB75937E}" created="2026-03-18T16:43:07.030">
    <pc:sldMkLst xmlns:pc="http://schemas.microsoft.com/office/powerpoint/2013/main/command">
      <pc:docMk/>
      <pc:sldMk cId="0" sldId="260"/>
    </pc:sldMkLst>
    <p188:replyLst>
      <p188:reply id="{859F1D12-DF28-487E-A8C5-EA5E108771A8}" authorId="{7F65A333-98EF-11BD-D300-6CAEEB75937E}" created="2026-03-18T16:43:58.170">
        <p188:txBody>
          <a:bodyPr/>
          <a:lstStyle/>
          <a:p>
            <a:r>
              <a:rPr lang="es-MX"/>
              <a:t>Está a la izquierda</a:t>
            </a:r>
          </a:p>
        </p188:txBody>
      </p188:reply>
    </p188:replyLst>
    <p188:txBody>
      <a:bodyPr/>
      <a:lstStyle/>
      <a:p>
        <a:r>
          <a:rPr lang="es-MX"/>
          <a:t>Nuevo título y separación entre IMSS y IMSS Coplamar. Hay que bajar el tamaño de la letra para que cabe una imagén abajo.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58ED17-1B90-4580-8EA1-D56FE5DDF835}" authorId="{7F65A333-98EF-11BD-D300-6CAEEB75937E}" created="2026-03-18T16:45:32.620">
    <pc:sldMkLst xmlns:pc="http://schemas.microsoft.com/office/powerpoint/2013/main/command">
      <pc:docMk/>
      <pc:sldMk cId="0" sldId="261"/>
    </pc:sldMkLst>
    <p188:txBody>
      <a:bodyPr/>
      <a:lstStyle/>
      <a:p>
        <a:r>
          <a:rPr lang="es-MX"/>
          <a:t>Subir esa nota a que siempre está a una cierta distancia debajo de la tabla. También bajaría el tamaño de la letra para que se pueden caber las próximas fotos.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93BBD6-04E8-4C46-80F4-EAFCBB12F387}" authorId="{7F65A333-98EF-11BD-D300-6CAEEB75937E}" created="2026-03-18T16:46:47.740">
    <pc:sldMkLst xmlns:pc="http://schemas.microsoft.com/office/powerpoint/2013/main/command">
      <pc:docMk/>
      <pc:sldMk cId="0" sldId="262"/>
    </pc:sldMkLst>
    <p188:replyLst>
      <p188:reply id="{61B5810E-03C1-442C-B7CB-7855E3AF7395}" authorId="{7F65A333-98EF-11BD-D300-6CAEEB75937E}" created="2026-03-18T16:47:04.425">
        <p188:txBody>
          <a:bodyPr/>
          <a:lstStyle/>
          <a:p>
            <a:r>
              <a:rPr lang="es-MX"/>
              <a:t>Como la foto</a:t>
            </a:r>
          </a:p>
        </p188:txBody>
      </p188:reply>
    </p188:replyLst>
    <p188:txBody>
      <a:bodyPr/>
      <a:lstStyle/>
      <a:p>
        <a:r>
          <a:rPr lang="es-MX"/>
          <a:t>Insertar % avance actual. Colorizar Productividad 2026 y % avance actual con rojo claro. También añadir 2025.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53D623-00C5-4EC3-9353-3EDE014757B5}" authorId="{7F65A333-98EF-11BD-D300-6CAEEB75937E}" created="2026-03-18T16:47:59.690">
    <pc:sldMkLst xmlns:pc="http://schemas.microsoft.com/office/powerpoint/2013/main/command">
      <pc:docMk/>
      <pc:sldMk cId="0" sldId="263"/>
    </pc:sldMkLst>
    <p188:replyLst>
      <p188:reply id="{7B4D48F3-FB4A-4C67-9E07-E1DF9B80C11B}" authorId="{7F65A333-98EF-11BD-D300-6CAEEB75937E}" created="2026-03-18T16:48:38.220">
        <p188:txBody>
          <a:bodyPr/>
          <a:lstStyle/>
          <a:p>
            <a:r>
              <a:rPr lang="es-MX"/>
              <a:t>Subir notas para que siguen a una cierta distancia de la tabla. Necesitamos crear espacio para una imagen que nos va a mandar Edith.</a:t>
            </a:r>
          </a:p>
        </p188:txBody>
      </p188:reply>
      <p188:reply id="{7FF20AFF-3EC5-43DC-93BC-1729A27A0F52}" authorId="{7F65A333-98EF-11BD-D300-6CAEEB75937E}" created="2026-03-18T16:49:58.430">
        <p188:txBody>
          <a:bodyPr/>
          <a:lstStyle/>
          <a:p>
            <a:r>
              <a:rPr lang="es-MX"/>
              <a:t>NO CAMBIAR LA TABLA A QUE ESTÁ EN LA FOTO.</a:t>
            </a:r>
          </a:p>
        </p188:txBody>
      </p188:reply>
      <p188:reply id="{1B7B1CF5-2562-4041-A169-17FEDBBC5A27}" authorId="{7F65A333-98EF-11BD-D300-6CAEEB75937E}" created="2026-03-18T18:42:44.248">
        <p188:txBody>
          <a:bodyPr/>
          <a:lstStyle/>
          <a:p>
            <a:r>
              <a:rPr lang="es-MX"/>
              <a:t>También añadir 2025.</a:t>
            </a:r>
          </a:p>
        </p188:txBody>
      </p188:reply>
    </p188:replyLst>
    <p188:txBody>
      <a:bodyPr/>
      <a:lstStyle/>
      <a:p>
        <a:r>
          <a:rPr lang="es-MX"/>
          <a:t>Añadir % Avance Actual y meta 2026. Color en rojo también. Como la foto. También alterar partes de los encabezados para que se ven igual a la diapositiva de Sinaloa.</a:t>
        </a:r>
      </a:p>
    </p188:txBody>
  </p188:cm>
</p188:cmLst>
</file>

<file path=ppt/comments/modernComment_11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41DD6C-E1FF-4BDC-BDF7-9B7978C8111E}" authorId="{7F65A333-98EF-11BD-D300-6CAEEB75937E}" created="2026-03-18T17:03:53.547">
    <pc:sldMkLst xmlns:pc="http://schemas.microsoft.com/office/powerpoint/2013/main/command">
      <pc:docMk/>
      <pc:sldMk cId="0" sldId="278"/>
    </pc:sldMkLst>
    <p188:replyLst>
      <p188:reply id="{385C4B8E-6BB1-4659-A1A0-B0E4F3725450}" authorId="{7F65A333-98EF-11BD-D300-6CAEEB75937E}" created="2026-03-18T17:04:41.481">
        <p188:txBody>
          <a:bodyPr/>
          <a:lstStyle/>
          <a:p>
            <a:r>
              <a:rPr lang="es-MX"/>
              <a:t>También que los valores están centralizados verticalmente en sus celdas.</a:t>
            </a:r>
          </a:p>
        </p188:txBody>
      </p188:reply>
    </p188:replyLst>
    <p188:txBody>
      <a:bodyPr/>
      <a:lstStyle/>
      <a:p>
        <a:r>
          <a:rPr lang="es-MX"/>
          <a:t>Subir para que está en línea con el título Puestos de trabajo, por tipo de sector.</a:t>
        </a:r>
      </a:p>
    </p188:txBody>
  </p188:cm>
</p188:cmLst>
</file>

<file path=ppt/comments/modernComment_11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2C3BD41-3425-4612-88CF-5484DC9F151F}" authorId="{7F65A333-98EF-11BD-D300-6CAEEB75937E}" created="2026-03-18T17:05:17.941">
    <pc:sldMkLst xmlns:pc="http://schemas.microsoft.com/office/powerpoint/2013/main/command">
      <pc:docMk/>
      <pc:sldMk cId="0" sldId="279"/>
    </pc:sldMkLst>
    <p188:txBody>
      <a:bodyPr/>
      <a:lstStyle/>
      <a:p>
        <a:r>
          <a:rPr lang="es-MX"/>
          <a:t>Centralizar valores en sus celdas verticalmente como horizontalmente.</a:t>
        </a:r>
      </a:p>
    </p188:txBody>
  </p188:cm>
</p188:cmLst>
</file>

<file path=ppt/comments/modernComment_118_203AAD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25EEF14-C114-43FA-858B-3AB12E437226}" authorId="{7F65A333-98EF-11BD-D300-6CAEEB75937E}" created="2026-03-18T16:52:10.954">
    <pc:sldMkLst xmlns:pc="http://schemas.microsoft.com/office/powerpoint/2013/main/command">
      <pc:docMk/>
      <pc:sldMk cId="540716406" sldId="280"/>
    </pc:sldMkLst>
    <p188:replyLst>
      <p188:reply id="{03377E96-34F6-4CE4-88EB-03CD1577FC30}" authorId="{7F65A333-98EF-11BD-D300-6CAEEB75937E}" created="2026-03-18T18:42:55.079">
        <p188:txBody>
          <a:bodyPr/>
          <a:lstStyle/>
          <a:p>
            <a:r>
              <a:rPr lang="es-MX"/>
              <a:t>También añadir 2025.</a:t>
            </a:r>
          </a:p>
        </p188:txBody>
      </p188:reply>
    </p188:replyLst>
    <p188:txBody>
      <a:bodyPr/>
      <a:lstStyle/>
      <a:p>
        <a:r>
          <a:rPr lang="es-MX"/>
          <a:t>Añadir 2026 al título y cambiar % avances a un rojo claro</a:t>
        </a:r>
      </a:p>
    </p188:txBody>
  </p188:cm>
</p188:cmLst>
</file>

<file path=ppt/comments/modernComment_120_E2D5B37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EACCC9D-A9CF-4E68-BE65-38194814A4E3}" authorId="{7F65A333-98EF-11BD-D300-6CAEEB75937E}" created="2026-03-18T16:54:30.442">
    <pc:sldMkLst xmlns:pc="http://schemas.microsoft.com/office/powerpoint/2013/main/command">
      <pc:docMk/>
      <pc:sldMk cId="3805655920" sldId="288"/>
    </pc:sldMkLst>
    <p188:txBody>
      <a:bodyPr/>
      <a:lstStyle/>
      <a:p>
        <a:r>
          <a:rPr lang="es-MX"/>
          <a:t>Cambiar a Lista de Espera, y añadir % acumulado del total, como la foto</a:t>
        </a:r>
      </a:p>
    </p188:txBody>
  </p188:cm>
</p188:cmLst>
</file>

<file path=ppt/comments/modernComment_126_954A718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773BF1-CE86-4DE0-BF2C-363CA4626827}" authorId="{7F65A333-98EF-11BD-D300-6CAEEB75937E}" created="2026-03-18T16:51:01.69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04683915" sldId="294"/>
      <ac:picMk id="3" creationId="{A19EB874-4940-6B28-9CF4-9A1659AE30D1}"/>
    </ac:deMkLst>
    <p188:txBody>
      <a:bodyPr/>
      <a:lstStyle/>
      <a:p>
        <a:r>
          <a:rPr lang="es-MX"/>
          <a:t>Crear esta nueva diapositiva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18/10/relationships/comments" Target="../comments/modernComment_102_0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microsoft.com/office/2018/10/relationships/comments" Target="../comments/modernComment_126_954A718B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203AAD7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F_2C96427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0_E2D5B37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chart" Target="../charts/chart2.xml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6_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7_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4.xml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microsoft.com/office/2018/10/relationships/comments" Target="../comments/modernComment_11B_58D5D4AD.xml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Chiapas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07_ch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0" y="584495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IMSS </a:t>
            </a:r>
            <a:r>
              <a:rPr dirty="0" err="1"/>
              <a:t>atiende</a:t>
            </a:r>
            <a:r>
              <a:rPr dirty="0"/>
              <a:t> 49% de la población (</a:t>
            </a:r>
            <a:r>
              <a:rPr dirty="0" err="1"/>
              <a:t>incluye</a:t>
            </a:r>
            <a:r>
              <a:rPr dirty="0"/>
              <a:t> COPLAMAR)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82800" y="969695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Chart 125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7" name="TextBox 126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1,063,757</a:t>
            </a:r>
            <a:br/>
            <a:r>
              <a:t>17%</a:t>
            </a:r>
          </a:p>
        </p:txBody>
      </p:sp>
      <p:pic>
        <p:nvPicPr>
          <p:cNvPr id="128" name="Picture 127" descr="im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1,952,597</a:t>
            </a:r>
            <a:br/>
            <a:r>
              <a:t>32%</a:t>
            </a:r>
          </a:p>
        </p:txBody>
      </p:sp>
      <p:pic>
        <p:nvPicPr>
          <p:cNvPr id="131" name="Picture 130" descr="imss_coplam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494,805</a:t>
            </a:r>
            <a:br/>
            <a:r>
              <a:t>8%</a:t>
            </a:r>
          </a:p>
        </p:txBody>
      </p:sp>
      <p:pic>
        <p:nvPicPr>
          <p:cNvPr id="134" name="Picture 133" descr="isss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5" name="Rectangle 134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2,638,667</a:t>
            </a:r>
            <a:br/>
            <a:r>
              <a:t>43%</a:t>
            </a:r>
          </a:p>
        </p:txBody>
      </p:sp>
      <p:pic>
        <p:nvPicPr>
          <p:cNvPr id="137" name="Picture 136" descr="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8" name="Rectangle 137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35,643</a:t>
            </a:r>
            <a:br/>
            <a:r>
              <a:t>0.58%</a:t>
            </a:r>
          </a:p>
        </p:txBody>
      </p:sp>
      <p:pic>
        <p:nvPicPr>
          <p:cNvPr id="140" name="Picture 139" descr="otro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41" name="Rectangle 140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6,185,469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803,426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1,063,757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480,798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681,446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225,667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257,577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203,237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295,461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293,833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322,628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382,311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122,629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5" name="Table 14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1,032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879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3,411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4,834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5947200" y="8733600"/>
          <a:ext cx="1738800" cy="57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065200" y="9536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que superaron el umbral de ingreso mínimo neto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7_ch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28 UMF, 1 UMF-UMAA y no incluye 13 Unidades Auxiliares de Medicina Familiar.</a:t>
            </a:r>
            <a:br/>
            <a:r>
              <a:t>2. Incluye la UMAA 1,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589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Ocozocoautla De Espinosa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Altamirano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Ocosingo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Benemérito De Las Américas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Venustiano Carranza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Guadalupe Tepeyac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Motozintla De Mendoza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Bochil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Mapastepec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San Felipe Ecatepec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HGRE No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8118000"/>
            <a:ext cx="36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Cédula de actualización de variables seleccionados del IFU</a:t>
            </a:r>
            <a:br/>
            <a:r>
              <a:t>enviados por el OOAD. Corte de Información: enero de 2026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5C38A88-9671-2E6D-7FF7-F6E45E5EF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154" y="1030000"/>
            <a:ext cx="5537722" cy="6664039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577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HGRE No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Altamirano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Ocosingo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Benemérito De Las Américas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Venustiano Carranza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Guadalupe Tepeyac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Motozintla De Mendoza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Bochil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Mapastepec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San Felipe Ecatepec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Ocozocoautla De Espinosa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1E8EF9E-3DF4-669D-5CDE-5E86D08320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640" t="5439" r="13228" b="2199"/>
          <a:stretch>
            <a:fillRect/>
          </a:stretch>
        </p:blipFill>
        <p:spPr>
          <a:xfrm>
            <a:off x="7995245" y="1274400"/>
            <a:ext cx="5651359" cy="7269532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29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26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5706000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Mazatán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F. Chapultepec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Cd.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45 Palenque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44 Estación Júarez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Pichucalco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42 Peñitas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Mal Paso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Cd. Reforma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E. Sto. Domingo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Villaflores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33 Pijijiapan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Mapastepec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Frontera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Escuintha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 Cintalapa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Acapetahua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Chicoasén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Angostura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Comitan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S.Cristobal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Arriaga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I. Pujiltic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Cacahoatan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Tapachula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25,512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 Tapachula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26,702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131,041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</a:tbl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DFCB6DD6-ED1B-6791-2761-3BF1815486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6729" y="2351219"/>
            <a:ext cx="1467055" cy="4601217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29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6188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Tuxtla Gutiérrez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23 Tuxtla Gutiérrez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38,249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Tuxtla Gutiérrez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94,792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EFD2C953-9872-6C7E-FF71-6348AEE9AB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372" y="300600"/>
            <a:ext cx="5267771" cy="681140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260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114</a:t>
            </a:r>
          </a:p>
        </p:txBody>
      </p:sp>
      <p:pic>
        <p:nvPicPr>
          <p:cNvPr id="12" name="Picture 11" descr="Mapa_draft_etiquetas_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3216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19EB874-4940-6B28-9CF4-9A1659AE3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40" y="232229"/>
            <a:ext cx="7134074" cy="927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6839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80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HGRE No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23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2,791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3,844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40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23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183,960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20,598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446,760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47,919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68,381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61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acumulada semanal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1,540,944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259,769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241,667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446,760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68,381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47,919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897C8F71-3EB1-6A1D-4FC5-3D708163A4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4237" y="2857560"/>
            <a:ext cx="4620270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2,979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563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A63A10D1-FEAE-9BD8-E287-8270B563A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0905" y="1677599"/>
            <a:ext cx="5482822" cy="708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11,368	 Personal de Salud: 5,634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+106.3%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+80.4%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1,380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+58.0%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2,081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+63.7%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856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1,401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+248.0%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273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1,122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6,424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380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75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1,396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585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8,785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41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(285,051)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(25,533)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(3,995)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(5,110)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(287)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(257,984)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(16,610)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(2,594)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(2,591)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(232)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(64,462)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(15,562)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(1,326)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(2,000)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(224)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(46,917)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(13,337)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(1,143)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(1,396)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(148)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(40,239)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(12,287)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(1,073)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(1,151)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hígado  (76)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56,860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436,449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58,058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531,804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90.2%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537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76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24 piezas de equipo médico: 19 Camilla, 1 Refrigerador para vacunas, 4 Silla de ruedas.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59 piezas de equipo electromecánico: 42 Aires Acondicionados, 17 Plantas de lavado.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$383.9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Hospitales Prioritarios en el HGSMF 15 Tonala, HGSMF 19 Huixtla y HGZ 2 Tuxtla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$45.7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7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$13.5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$36.4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$295.1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Estudios de preinversión proyecto HGZ 60 camas, Comitán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1776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HGZ 144 camas,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$4,317.3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5,196.1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Adaptación del área de hemodiálisis del HGZ 15, Tonalá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$15.9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Barda perimetral CSS "Los Pinos", San Cristóbal de las Casas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de Mezclas (HGZ No. 2),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$39.2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HGZ 1 Tapachula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$2,627.6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áreas de urgencias y ginecología del HGZ 2,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$39.9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áreas de urgencias y quirófanos del HGZ 15, Tonalá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CSS Tapachula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de la Alberca olímpica y Casa de Máquinas de la unidad deportiva "Panchón Contreras",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de las áreas de urgencias, quirófanos y hospitalización del HGSZ 19,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$34.4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del área de quirófanos y hemodiálisis de la UMF 23/UMAA,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del CSS "Linda Vista Shanka”,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electomecánico (14 equipos de aire acondicionado, 4 camaras de refrigeración, 2 montacargas, 2 elevadores)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$146.4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Primer Nivel de Atención en 30 UMF´s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9 Quirófanos en 3 Hospitales y 1 UMAA,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$15.6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$124.9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$33.4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almacenes, residencias y unidades médicas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$228.4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Hospitales prioritarios (HGZ No. 2 Tuxtla Gutiérrez, HGSZ No. 15 Tonalá y HGSZ No. 19 Huixtla)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$235.4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UMF No. 2,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36 módulos de baños en 35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$68.7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área de Patología en HGZ No.2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Cocinas y Comedores en 13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$23.7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3,812.6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6E7C744-43D2-D09C-ABE6-B929CE867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64" y="481967"/>
            <a:ext cx="6986672" cy="909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11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11A1FE5-18BE-4300-B943-647298838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01" y="543727"/>
            <a:ext cx="6935398" cy="897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46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12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1,294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165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1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Tapachula, Los Pinos, Linda Vista Shanka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01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Tuxtla Gutiérrez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12 Tapachula (Cierre Temporal) y No. 13 Tuxtla Gutiérrez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Tapachula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70" name="Picture 469" descr="map_tipo2_07_ch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13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Prestaciones Económicas y Sociales enero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311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GOBIERNO DEL ESTADO DE CHIAPAS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16,576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16,446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ARNECOM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5,742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MEXICO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COLEGIO DE BACHILLERES DE CHIAPAS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6,927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6,337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-8.5%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INDUSTRIALES E INSTITUCIONALES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3,017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3,066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-19.55%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-15.00%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-8.20%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-3.71%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-0.60%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-0.37%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+0.83%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+3.38%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+5.28%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222,987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10,711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29,033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3,465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266,196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217,264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$586.81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044707"/>
              </p:ext>
            </p:extLst>
          </p:nvPr>
        </p:nvGraphicFramePr>
        <p:xfrm>
          <a:off x="478800" y="1130399"/>
          <a:ext cx="6638400" cy="137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49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82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$304.39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$586.81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rPr dirty="0"/>
                        <a:t>$17,604.3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36152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197784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59416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21048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382680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44312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05944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567576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629208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5" name="Table 514"/>
          <p:cNvGraphicFramePr>
            <a:graphicFrameLocks noGrp="1"/>
          </p:cNvGraphicFramePr>
          <p:nvPr/>
        </p:nvGraphicFramePr>
        <p:xfrm>
          <a:off x="320400" y="6649200"/>
          <a:ext cx="7038000" cy="272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CAJA POPULAR SAN JUAN BOSCO SC DE AP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$34,192.57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PROCESAMIENTO ESPECIALIZADO DE ALIMENTOS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$10,288.98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ESCALA DISEÑO Y CONSTRUCCION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$6,651.29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Colegio de Bachilleres de Chiapas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$2,014.64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Colegio de Estudios Científicos y Tecnológicos del Estado de Chiapas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$402.24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Comité de Agua Potable y Alcantarillado de Tapachula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$360.02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febrero 2026.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607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218,707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769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96,421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23,006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63,626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35,654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9,711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10,533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20,588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1,639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2,062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925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3,076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2,577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2,665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16,903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24,435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2,680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1,952,597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367,076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1,585,521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881,356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218,707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9,711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 Ordinario Chiapas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 Ordinario Chiapas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 Ordinario Chiapas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46504" y="576072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0" y="603504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959352" y="603504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3330</Words>
  <Application>Microsoft Office PowerPoint</Application>
  <PresentationFormat>Personalizado</PresentationFormat>
  <Paragraphs>1254</Paragraphs>
  <Slides>30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Calibri</vt:lpstr>
      <vt:lpstr>Noto Sans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63</cp:revision>
  <dcterms:modified xsi:type="dcterms:W3CDTF">2026-03-18T18:43:02Z</dcterms:modified>
</cp:coreProperties>
</file>