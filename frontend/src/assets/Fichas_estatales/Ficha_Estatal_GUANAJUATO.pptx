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  <p:sldId id="292" r:id="rId41"/>
    <p:sldId id="293" r:id="rId42"/>
    <p:sldId id="294" r:id="rId43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2936947.0</c:v>
                </c:pt>
                <c:pt idx="1">
                  <c:v>559956.0</c:v>
                </c:pt>
                <c:pt idx="2">
                  <c:v>3057317.0</c:v>
                </c:pt>
                <c:pt idx="3">
                  <c:v>36529.0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289</c:v>
                </c:pt>
                <c:pt idx="2">
                  <c:v>299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52024</c:v>
                </c:pt>
                <c:pt idx="1">
                  <c:v>3388</c:v>
                </c:pt>
                <c:pt idx="2">
                  <c:v>468279</c:v>
                </c:pt>
                <c:pt idx="3">
                  <c:v>73803</c:v>
                </c:pt>
                <c:pt idx="4">
                  <c:v>8412</c:v>
                </c:pt>
                <c:pt idx="5">
                  <c:v>94576</c:v>
                </c:pt>
                <c:pt idx="6">
                  <c:v>193287</c:v>
                </c:pt>
                <c:pt idx="7">
                  <c:v>76315</c:v>
                </c:pt>
                <c:pt idx="8">
                  <c:v>152261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50638</c:v>
                </c:pt>
                <c:pt idx="1">
                  <c:v>3300</c:v>
                </c:pt>
                <c:pt idx="2">
                  <c:v>458706</c:v>
                </c:pt>
                <c:pt idx="3">
                  <c:v>73143</c:v>
                </c:pt>
                <c:pt idx="4">
                  <c:v>8436</c:v>
                </c:pt>
                <c:pt idx="5">
                  <c:v>95370</c:v>
                </c:pt>
                <c:pt idx="6">
                  <c:v>196120</c:v>
                </c:pt>
                <c:pt idx="7">
                  <c:v>78454</c:v>
                </c:pt>
                <c:pt idx="8">
                  <c:v>157658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961860</c:v>
                </c:pt>
                <c:pt idx="1">
                  <c:v>1007325</c:v>
                </c:pt>
                <c:pt idx="2">
                  <c:v>1017386</c:v>
                </c:pt>
                <c:pt idx="3">
                  <c:v>988887</c:v>
                </c:pt>
                <c:pt idx="4">
                  <c:v>1036473</c:v>
                </c:pt>
                <c:pt idx="5">
                  <c:v>1065032</c:v>
                </c:pt>
                <c:pt idx="6">
                  <c:v>1103644</c:v>
                </c:pt>
                <c:pt idx="7">
                  <c:v>1122345</c:v>
                </c:pt>
                <c:pt idx="8">
                  <c:v>1121825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58 León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Medicina Interna</c:v>
                </c:pt>
                <c:pt idx="1">
                  <c:v>Urgencias Pediatrica</c:v>
                </c:pt>
                <c:pt idx="2">
                  <c:v>Epidemiologia</c:v>
                </c:pt>
                <c:pt idx="3">
                  <c:v>Otorrinolaringologia Y Cirugia De Cabeza Y Cuello</c:v>
                </c:pt>
                <c:pt idx="4">
                  <c:v>Endocrinologia Pediatrica</c:v>
                </c:pt>
                <c:pt idx="5">
                  <c:v>Anestesiologia Pediatrica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10 Guanajuato (Total: 148)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Sheet1!$A$2:$A$34</c:f>
              <c:strCache>
                <c:ptCount val="33"/>
                <c:pt idx="0">
                  <c:v>Cardiologia</c:v>
                </c:pt>
                <c:pt idx="1">
                  <c:v>Infectologia</c:v>
                </c:pt>
                <c:pt idx="2">
                  <c:v>Medicina Interna</c:v>
                </c:pt>
                <c:pt idx="3">
                  <c:v>Nefrologia</c:v>
                </c:pt>
                <c:pt idx="4">
                  <c:v>Neumologia Directa</c:v>
                </c:pt>
                <c:pt idx="5">
                  <c:v>Medicina De Urgencias</c:v>
                </c:pt>
                <c:pt idx="6">
                  <c:v>Medicina Del Enfermo En Estado Critico</c:v>
                </c:pt>
                <c:pt idx="7">
                  <c:v>Urgencias Pediatrica</c:v>
                </c:pt>
                <c:pt idx="8">
                  <c:v>Psiquiatria</c:v>
                </c:pt>
                <c:pt idx="9">
                  <c:v>Geriatria Directa</c:v>
                </c:pt>
                <c:pt idx="10">
                  <c:v>Oncologia Medica</c:v>
                </c:pt>
                <c:pt idx="11">
                  <c:v>Epidemiologia</c:v>
                </c:pt>
                <c:pt idx="12">
                  <c:v>Cirugia General</c:v>
                </c:pt>
                <c:pt idx="13">
                  <c:v>Oftalmologia</c:v>
                </c:pt>
                <c:pt idx="14">
                  <c:v>Otorrinolaringologia Y Cirugia De Cabeza Y Cuello</c:v>
                </c:pt>
                <c:pt idx="15">
                  <c:v>Traumatologia Y Ortopedia</c:v>
                </c:pt>
                <c:pt idx="16">
                  <c:v>Angiologia Y Cirugia Vascular</c:v>
                </c:pt>
                <c:pt idx="17">
                  <c:v>Urologia</c:v>
                </c:pt>
                <c:pt idx="18">
                  <c:v>Audiologia, Otoneurologia Y Foniatria</c:v>
                </c:pt>
                <c:pt idx="19">
                  <c:v>Cirugia Oncologica</c:v>
                </c:pt>
                <c:pt idx="20">
                  <c:v>Anestesiologia</c:v>
                </c:pt>
                <c:pt idx="21">
                  <c:v>Medicina Paliativa Y Del Dolor</c:v>
                </c:pt>
                <c:pt idx="22">
                  <c:v>Ginecologia Oncologica</c:v>
                </c:pt>
                <c:pt idx="23">
                  <c:v>Ginecologia Y Obstetricia</c:v>
                </c:pt>
                <c:pt idx="24">
                  <c:v>Medicina Materno Fetal</c:v>
                </c:pt>
                <c:pt idx="25">
                  <c:v>Biologia De La Reproduccion Humana</c:v>
                </c:pt>
                <c:pt idx="26">
                  <c:v>Pediatria</c:v>
                </c:pt>
                <c:pt idx="27">
                  <c:v>Cardiologia Pediatrica</c:v>
                </c:pt>
                <c:pt idx="28">
                  <c:v>Neonatologia</c:v>
                </c:pt>
                <c:pt idx="29">
                  <c:v>Imagenologia Diagnostica Y Terapeutica</c:v>
                </c:pt>
                <c:pt idx="30">
                  <c:v>Hematologia</c:v>
                </c:pt>
                <c:pt idx="31">
                  <c:v>Anatomia Patologica</c:v>
                </c:pt>
                <c:pt idx="32">
                  <c:v>Patologia Clinica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3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  <c:pt idx="5">
                  <c:v>13</c:v>
                </c:pt>
                <c:pt idx="6">
                  <c:v>7</c:v>
                </c:pt>
                <c:pt idx="7">
                  <c:v>2</c:v>
                </c:pt>
                <c:pt idx="8">
                  <c:v>3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3</c:v>
                </c:pt>
                <c:pt idx="13">
                  <c:v>3</c:v>
                </c:pt>
                <c:pt idx="14">
                  <c:v>1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28</c:v>
                </c:pt>
                <c:pt idx="21">
                  <c:v>1</c:v>
                </c:pt>
                <c:pt idx="22">
                  <c:v>1</c:v>
                </c:pt>
                <c:pt idx="23">
                  <c:v>19</c:v>
                </c:pt>
                <c:pt idx="24">
                  <c:v>3</c:v>
                </c:pt>
                <c:pt idx="25">
                  <c:v>1</c:v>
                </c:pt>
                <c:pt idx="26">
                  <c:v>12</c:v>
                </c:pt>
                <c:pt idx="27">
                  <c:v>1</c:v>
                </c:pt>
                <c:pt idx="28">
                  <c:v>5</c:v>
                </c:pt>
                <c:pt idx="29">
                  <c:v>12</c:v>
                </c:pt>
                <c:pt idx="30">
                  <c:v>1</c:v>
                </c:pt>
                <c:pt idx="31">
                  <c:v>3</c:v>
                </c:pt>
                <c:pt idx="3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54 Silao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13 Acambaro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Medicina Familiar</c:v>
                </c:pt>
                <c:pt idx="2">
                  <c:v>Medicina Interna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15 MoroLeón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7 Sn. Fco. del Rincón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 Celaya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Psiquiatria</c:v>
                </c:pt>
                <c:pt idx="1">
                  <c:v>Neumologia Directa</c:v>
                </c:pt>
                <c:pt idx="2">
                  <c:v>Medicina Interna</c:v>
                </c:pt>
                <c:pt idx="3">
                  <c:v>Cirugia General</c:v>
                </c:pt>
                <c:pt idx="4">
                  <c:v>Nefrologia</c:v>
                </c:pt>
                <c:pt idx="5">
                  <c:v>Urgencias Pediatrica</c:v>
                </c:pt>
                <c:pt idx="6">
                  <c:v>Patologia Clinica</c:v>
                </c:pt>
                <c:pt idx="7">
                  <c:v>Cirugia Pediatrica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 Irapuato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Medicina Del Trabajo Y Ambiental</c:v>
                </c:pt>
                <c:pt idx="1">
                  <c:v>Ginecologia Y Obstetricia</c:v>
                </c:pt>
                <c:pt idx="2">
                  <c:v>Cirugia General</c:v>
                </c:pt>
                <c:pt idx="3">
                  <c:v>Traumatologia Y Ortopedia</c:v>
                </c:pt>
                <c:pt idx="4">
                  <c:v>Medicina Interna</c:v>
                </c:pt>
                <c:pt idx="5">
                  <c:v>Neurologia</c:v>
                </c:pt>
                <c:pt idx="6">
                  <c:v>Psiquiatria</c:v>
                </c:pt>
                <c:pt idx="7">
                  <c:v>Imagenologia Diagnostica Y Terapeutica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21 León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Otorrinolaringologia Y Cirugia De Cabeza Y Cuello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3 Salamanca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Geriatria Directa</c:v>
                </c:pt>
                <c:pt idx="1">
                  <c:v>Medicina Interna</c:v>
                </c:pt>
                <c:pt idx="2">
                  <c:v>Medicina Familiar</c:v>
                </c:pt>
                <c:pt idx="3">
                  <c:v>Medicina Del Trabajo Y Ambiental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 Apaseo Grande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47 León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50 Guanajuato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57 Irapuato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12 Dolores Hidalgo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 48 CMN del Bajío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Urgencias Pediatrica</c:v>
                </c:pt>
                <c:pt idx="1">
                  <c:v>Medicina Paliativa Y Del Dolor</c:v>
                </c:pt>
                <c:pt idx="2">
                  <c:v>Biologia De La Reproduccion Humana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1 CMN del Bajío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Neurologia</c:v>
                </c:pt>
                <c:pt idx="1">
                  <c:v>Medicina Interna</c:v>
                </c:pt>
                <c:pt idx="2">
                  <c:v>Neurocirugia</c:v>
                </c:pt>
                <c:pt idx="3">
                  <c:v>Audiologia, Otoneurologia Y Foniatria</c:v>
                </c:pt>
                <c:pt idx="4">
                  <c:v>Hemodinamia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Guanajuato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1_g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2,936,947</a:t>
            </a:r>
            <a:br/>
            <a:r>
              <a:t>45%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559,956</a:t>
            </a:r>
            <a:br/>
            <a:r>
              <a:t>8%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3,057,317</a:t>
            </a:r>
            <a:br/>
            <a:r>
              <a:t>46%</a:t>
            </a:r>
          </a:p>
        </p:txBody>
      </p:sp>
      <p:pic>
        <p:nvPicPr>
          <p:cNvPr id="132" name="Picture 131" descr="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023254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36,529</a:t>
            </a:r>
            <a:br/>
            <a:r>
              <a:t>0.55%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6,590,749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2,697,616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2,936,947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1,473,883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1,740,624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994,870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1,115,974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274,963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296,810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1,223,733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1,196,323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457,551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646,188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556,071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15,832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1_g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1,535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34 UMF, 5 UMFH y 0 UMF-UMAA, y no incluye 4 Unidades Auxiliares de Medicina Familiar.</a:t>
            </a:r>
            <a:br/>
            <a:r>
              <a:t>2. Incluye la UMAA1,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No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363600" y="7433999"/>
          <a:ext cx="72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148"/>
          <p:cNvSpPr txBox="1"/>
          <p:nvPr/>
        </p:nvSpPr>
        <p:spPr>
          <a:xfrm>
            <a:off x="370800" y="988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No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280800" y="6062400"/>
          <a:ext cx="72864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29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468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9 Penjamo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8 Salvatierra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6 Cortazar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11 S. Miguel Allende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60 Los Naranjos 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Irapuato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Comonfort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Celaya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Guanajuato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Tarimoro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Villagran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S. José Iturbide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Yuriria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Jaral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Cueramaro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S.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San Diego de la Unión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Romita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Purísima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Ocampo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Jaral de Berrios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Manuel Doblado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Abasolo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V. Santiago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Apaseo el Alto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Soria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150,748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S. Cruz Juventino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12 Dolores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Silao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Apaseo Grande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Guanajuato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78,511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53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50,098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Las Mandarinas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236,407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375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163</a:t>
            </a:r>
          </a:p>
        </p:txBody>
      </p:sp>
      <p:pic>
        <p:nvPicPr>
          <p:cNvPr id="12" name="Picture 11" descr="Mapa_draft_etiquetas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8073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78,475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9,804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673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34,675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2,505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5,365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113,150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7,201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15,169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24,919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42,480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886,950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78,833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145,789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673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289,080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28,600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69,030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1,314,000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107,433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214,819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1,064,880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2,919,024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494,235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34,675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10,722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2,804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12,980	 Personal de Salud: 19,201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+84.1%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+24.2%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2,458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3,053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4,802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2,880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3,231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+70.6%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1,097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-0.8%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Imagenología Diagnostica y Terapéutica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16,768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1,244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281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4,588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1,971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24,571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(844,789)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(85,194)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(12,000)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(19,826)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(838)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(794,723)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(68,262)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(10,974)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(12,235)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(551)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(221,169)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(56,117)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(8,166)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(4,782)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(483)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(145,745)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(41,890)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(4,765)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(4,763)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(464)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(134,285)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(41,787)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(3,523)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(4,602)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224,691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1,345,554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244,793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1,353,718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84.7%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249 piezas de equipo médico: 193 camillas, 22 sillas de ruedas, 8 refrigeradores para vacunas, 8 monitores de radiación, 2 monitores de signos vitales, 1 acelerador lineal, 1 angiógrafo, 7 contadores gamma, 4 barreras móviles, 1 unidad de anestesia y 1 tomógrafo.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$279.6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41 piezas de equipo electromecánico: 25 aires acondicionados, 11 elevadores y 5 plantas de lavado.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$224.4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9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$43.7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$364.2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1,044.2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1,015 equipos médicos (1 resonador magnético, 5 mastógrafos y 15 camas hospitalarias, entre otros)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$514.1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(13 elevadores, 8 generadores de vapor y 1 montacargas, entre otros)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Gasto e inversión en obras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No. 60 Los Naranjos,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almacenes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de 11 hospitales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Recuperación y dignificación de 27 UMF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$119.5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ordinario para mantenimiento (PAO)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$852.3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31 quirófanos en 11 hospitales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 de patología en la UMAE, HE 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la UMAE HE 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aire acondicionado en 10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residencias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2,008.4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12,031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920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Irapuato, Celaya y Salamanca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19 León, No. 20 Irapuato y No. 21 Celaya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1_g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19,201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ECODELI INDUSTRIAL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LEON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TRANSPORTES CASTORES DE BAJA CALIFORNIA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ARNESES ELECTRICOS AUTOMOTRICES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8,386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-2.66%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-2.60%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-2.04%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-0.89%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+0.84%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+2.80%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+3.54%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950,730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37,995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124,263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9,357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1,122,345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955,507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120,133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-0%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$581.78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$297.34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$581.78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$17,453.4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AGUILA BICEFALA DE TRANSPORTES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$47,497.51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HORTICOLA CIMARRON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$37,786.51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COORDINADORA DE LOGISTICA TERRESTRE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$14,432.44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y Alcantarillado de León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$18.47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Celaya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Ayuntamiento del Municipio de Guanajuato, Gto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$31.08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Guanajuato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Guanajuato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Guanajuato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Guanajuato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23 HGP CMN del Bajío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07 HES CMN del Bajío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