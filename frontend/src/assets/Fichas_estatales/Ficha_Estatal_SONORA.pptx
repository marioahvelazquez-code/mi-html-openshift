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89" r:id="rId3"/>
    <p:sldId id="258" r:id="rId4"/>
    <p:sldId id="259" r:id="rId5"/>
    <p:sldId id="260" r:id="rId6"/>
    <p:sldId id="291" r:id="rId40"/>
    <p:sldId id="261" r:id="rId7"/>
    <p:sldId id="262" r:id="rId8"/>
    <p:sldId id="292" r:id="rId41"/>
    <p:sldId id="263" r:id="rId9"/>
    <p:sldId id="281" r:id="rId10"/>
    <p:sldId id="267" r:id="rId11"/>
    <p:sldId id="280" r:id="rId12"/>
    <p:sldId id="287" r:id="rId13"/>
    <p:sldId id="290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3" r:id="rId23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</p:sldIdLst>
  <p:sldSz cx="7772400" cy="10058400"/>
  <p:notesSz cx="6858000" cy="9144000"/>
  <p:embeddedFontLst>
    <p:embeddedFont>
      <p:font typeface="Montserrat" pitchFamily="2" charset="0"/>
      <p:regular r:id="rId25"/>
      <p:bold r:id="rId26"/>
      <p:italic r:id="rId27"/>
      <p:boldItalic r:id="rId28"/>
    </p:embeddedFont>
    <p:embeddedFont>
      <p:font typeface="Noto Sans" panose="020B05020405040202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1DD846-E312-4F47-9C7E-25E94B8F68C5}" v="1" dt="2026-03-12T17:51:04.335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30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40" Type="http://schemas.openxmlformats.org/officeDocument/2006/relationships/slide" Target="slides/slide23.xml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0.xml"/><Relationship Id="rId48" Type="http://schemas.openxmlformats.org/officeDocument/2006/relationships/slide" Target="slides/slide31.xml"/><Relationship Id="rId49" Type="http://schemas.openxmlformats.org/officeDocument/2006/relationships/slide" Target="slides/slide32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modSld">
      <pc:chgData name="Rohan Myron Oprisko" userId="a7c52ab4-f8b1-4d15-aaf6-6388cc510347" providerId="ADAL" clId="{EEEE6C0E-EB18-4E43-B633-E5F95274828B}" dt="2026-03-12T18:40:08.203" v="5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3-12T17:51:19.513" v="2" actId="1076"/>
        <pc:sldMkLst>
          <pc:docMk/>
          <pc:sldMk cId="0" sldId="258"/>
        </pc:sldMkLst>
        <pc:graphicFrameChg chg="add mod">
          <ac:chgData name="Rohan Myron Oprisko" userId="a7c52ab4-f8b1-4d15-aaf6-6388cc510347" providerId="ADAL" clId="{EEEE6C0E-EB18-4E43-B633-E5F95274828B}" dt="2026-03-12T17:51:19.513" v="2" actId="1076"/>
          <ac:graphicFrameMkLst>
            <pc:docMk/>
            <pc:sldMk cId="0" sldId="258"/>
            <ac:graphicFrameMk id="2" creationId="{A74BA5C1-2E6F-DDDD-FFBA-AAF34461C16E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2T18:40:08.203" v="5" actId="20577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40:08.203" v="5" actId="20577"/>
          <ac:spMkLst>
            <pc:docMk/>
            <pc:sldMk cId="0" sldId="279"/>
            <ac:spMk id="500" creationId="{00000000-0000-0000-0000-000000000000}"/>
          </ac:spMkLst>
        </pc:spChg>
      </pc:sldChg>
      <pc:sldChg chg="modSp mod">
        <pc:chgData name="Rohan Myron Oprisko" userId="a7c52ab4-f8b1-4d15-aaf6-6388cc510347" providerId="ADAL" clId="{EEEE6C0E-EB18-4E43-B633-E5F95274828B}" dt="2026-03-10T21:40:58.875" v="0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0:58.875" v="0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David Arturo Baltazar Sanchez" userId="25f522d3-6b93-447f-8e87-5af7c1a8f0db" providerId="ADAL" clId="{1167E2C4-85EE-4FA3-A5C3-376395AAEEB6}"/>
    <pc:docChg chg="undo custSel addSld delSld modSld">
      <pc:chgData name="David Arturo Baltazar Sanchez" userId="25f522d3-6b93-447f-8e87-5af7c1a8f0db" providerId="ADAL" clId="{1167E2C4-85EE-4FA3-A5C3-376395AAEEB6}" dt="2026-03-11T19:03:13.610" v="70" actId="20577"/>
      <pc:docMkLst>
        <pc:docMk/>
      </pc:docMkLst>
      <pc:sldChg chg="del">
        <pc:chgData name="David Arturo Baltazar Sanchez" userId="25f522d3-6b93-447f-8e87-5af7c1a8f0db" providerId="ADAL" clId="{1167E2C4-85EE-4FA3-A5C3-376395AAEEB6}" dt="2026-03-11T00:35:35.738" v="67" actId="47"/>
        <pc:sldMkLst>
          <pc:docMk/>
          <pc:sldMk cId="0" sldId="257"/>
        </pc:sldMkLst>
      </pc:sldChg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3:13.610" v="70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3:13.610" v="70" actId="20577"/>
          <ac:spMkLst>
            <pc:docMk/>
            <pc:sldMk cId="0" sldId="260"/>
            <ac:spMk id="145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1T00:23:45.133" v="29" actId="478"/>
        <pc:sldMkLst>
          <pc:docMk/>
          <pc:sldMk cId="0" sldId="261"/>
        </pc:sldMkLst>
        <pc:spChg chg="del">
          <ac:chgData name="David Arturo Baltazar Sanchez" userId="25f522d3-6b93-447f-8e87-5af7c1a8f0db" providerId="ADAL" clId="{1167E2C4-85EE-4FA3-A5C3-376395AAEEB6}" dt="2026-03-11T00:23:45.133" v="29" actId="478"/>
          <ac:spMkLst>
            <pc:docMk/>
            <pc:sldMk cId="0" sldId="261"/>
            <ac:spMk id="154" creationId="{00000000-0000-0000-0000-000000000000}"/>
          </ac:spMkLst>
        </pc:spChg>
        <pc:spChg chg="del">
          <ac:chgData name="David Arturo Baltazar Sanchez" userId="25f522d3-6b93-447f-8e87-5af7c1a8f0db" providerId="ADAL" clId="{1167E2C4-85EE-4FA3-A5C3-376395AAEEB6}" dt="2026-03-11T00:23:43.974" v="28" actId="478"/>
          <ac:spMkLst>
            <pc:docMk/>
            <pc:sldMk cId="0" sldId="261"/>
            <ac:spMk id="157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new del">
        <pc:chgData name="David Arturo Baltazar Sanchez" userId="25f522d3-6b93-447f-8e87-5af7c1a8f0db" providerId="ADAL" clId="{1167E2C4-85EE-4FA3-A5C3-376395AAEEB6}" dt="2026-03-11T00:26:23.643" v="31" actId="47"/>
        <pc:sldMkLst>
          <pc:docMk/>
          <pc:sldMk cId="928051043" sldId="288"/>
        </pc:sldMkLst>
      </pc:sldChg>
      <pc:sldChg chg="new del">
        <pc:chgData name="David Arturo Baltazar Sanchez" userId="25f522d3-6b93-447f-8e87-5af7c1a8f0db" providerId="ADAL" clId="{1167E2C4-85EE-4FA3-A5C3-376395AAEEB6}" dt="2026-03-11T00:47:14.693" v="68" actId="47"/>
        <pc:sldMkLst>
          <pc:docMk/>
          <pc:sldMk cId="1080931811" sldId="288"/>
        </pc:sldMkLst>
      </pc:sldChg>
      <pc:sldChg chg="new del">
        <pc:chgData name="David Arturo Baltazar Sanchez" userId="25f522d3-6b93-447f-8e87-5af7c1a8f0db" providerId="ADAL" clId="{1167E2C4-85EE-4FA3-A5C3-376395AAEEB6}" dt="2026-03-11T00:26:36.074" v="33" actId="47"/>
        <pc:sldMkLst>
          <pc:docMk/>
          <pc:sldMk cId="1478125461" sldId="288"/>
        </pc:sldMkLst>
      </pc:sldChg>
      <pc:sldChg chg="new del">
        <pc:chgData name="David Arturo Baltazar Sanchez" userId="25f522d3-6b93-447f-8e87-5af7c1a8f0db" providerId="ADAL" clId="{1167E2C4-85EE-4FA3-A5C3-376395AAEEB6}" dt="2026-03-11T00:28:44.016" v="35" actId="680"/>
        <pc:sldMkLst>
          <pc:docMk/>
          <pc:sldMk cId="2538647063" sldId="288"/>
        </pc:sldMkLst>
      </pc:sldChg>
      <pc:sldChg chg="new">
        <pc:chgData name="David Arturo Baltazar Sanchez" userId="25f522d3-6b93-447f-8e87-5af7c1a8f0db" providerId="ADAL" clId="{1167E2C4-85EE-4FA3-A5C3-376395AAEEB6}" dt="2026-03-11T00:29:46.743" v="37" actId="680"/>
        <pc:sldMkLst>
          <pc:docMk/>
          <pc:sldMk cId="1990800304" sldId="289"/>
        </pc:sldMkLst>
      </pc:sldChg>
      <pc:sldChg chg="new del">
        <pc:chgData name="David Arturo Baltazar Sanchez" userId="25f522d3-6b93-447f-8e87-5af7c1a8f0db" providerId="ADAL" clId="{1167E2C4-85EE-4FA3-A5C3-376395AAEEB6}" dt="2026-03-11T00:32:03.604" v="43" actId="680"/>
        <pc:sldMkLst>
          <pc:docMk/>
          <pc:sldMk cId="419254101" sldId="290"/>
        </pc:sldMkLst>
      </pc:sldChg>
      <pc:sldChg chg="new del">
        <pc:chgData name="David Arturo Baltazar Sanchez" userId="25f522d3-6b93-447f-8e87-5af7c1a8f0db" providerId="ADAL" clId="{1167E2C4-85EE-4FA3-A5C3-376395AAEEB6}" dt="2026-03-11T00:31:06.802" v="41" actId="47"/>
        <pc:sldMkLst>
          <pc:docMk/>
          <pc:sldMk cId="1188354318" sldId="290"/>
        </pc:sldMkLst>
      </pc:sldChg>
      <pc:sldChg chg="addSp modSp new mod">
        <pc:chgData name="David Arturo Baltazar Sanchez" userId="25f522d3-6b93-447f-8e87-5af7c1a8f0db" providerId="ADAL" clId="{1167E2C4-85EE-4FA3-A5C3-376395AAEEB6}" dt="2026-03-11T00:34:00.644" v="66" actId="20577"/>
        <pc:sldMkLst>
          <pc:docMk/>
          <pc:sldMk cId="2277926431" sldId="290"/>
        </pc:sldMkLst>
        <pc:graphicFrameChg chg="add mod modGraphic">
          <ac:chgData name="David Arturo Baltazar Sanchez" userId="25f522d3-6b93-447f-8e87-5af7c1a8f0db" providerId="ADAL" clId="{1167E2C4-85EE-4FA3-A5C3-376395AAEEB6}" dt="2026-03-11T00:34:00.644" v="66" actId="20577"/>
          <ac:graphicFrameMkLst>
            <pc:docMk/>
            <pc:sldMk cId="2277926431" sldId="290"/>
            <ac:graphicFrameMk id="2" creationId="{47ECCB65-5E51-65E2-D82B-1623D1CC8DFA}"/>
          </ac:graphicFrameMkLst>
        </pc:graphicFrameChg>
      </pc:sldChg>
      <pc:sldChg chg="new del">
        <pc:chgData name="David Arturo Baltazar Sanchez" userId="25f522d3-6b93-447f-8e87-5af7c1a8f0db" providerId="ADAL" clId="{1167E2C4-85EE-4FA3-A5C3-376395AAEEB6}" dt="2026-03-11T00:32:47.754" v="45" actId="680"/>
        <pc:sldMkLst>
          <pc:docMk/>
          <pc:sldMk cId="2915184652" sldId="290"/>
        </pc:sldMkLst>
      </pc:sldChg>
      <pc:sldChg chg="new del">
        <pc:chgData name="David Arturo Baltazar Sanchez" userId="25f522d3-6b93-447f-8e87-5af7c1a8f0db" providerId="ADAL" clId="{1167E2C4-85EE-4FA3-A5C3-376395AAEEB6}" dt="2026-03-11T00:32:56.047" v="47" actId="680"/>
        <pc:sldMkLst>
          <pc:docMk/>
          <pc:sldMk cId="3598547803" sldId="290"/>
        </pc:sldMkLst>
      </pc:sldChg>
      <pc:sldChg chg="new del">
        <pc:chgData name="David Arturo Baltazar Sanchez" userId="25f522d3-6b93-447f-8e87-5af7c1a8f0db" providerId="ADAL" clId="{1167E2C4-85EE-4FA3-A5C3-376395AAEEB6}" dt="2026-03-11T00:31:02.012" v="39" actId="47"/>
        <pc:sldMkLst>
          <pc:docMk/>
          <pc:sldMk cId="3776525890" sldId="290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4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5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2035937.0</c:v>
                </c:pt>
                <c:pt idx="1">
                  <c:v>295070.0</c:v>
                </c:pt>
                <c:pt idx="2">
                  <c:v>828256.0</c:v>
                </c:pt>
                <c:pt idx="3">
                  <c:v>9361.0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167</c:v>
                </c:pt>
                <c:pt idx="1">
                  <c:v>304</c:v>
                </c:pt>
                <c:pt idx="2">
                  <c:v>316</c:v>
                </c:pt>
                <c:pt idx="3">
                  <c:v>277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Industrias de la Transformación</c:v>
                </c:pt>
                <c:pt idx="2">
                  <c:v>Servicios para Empresas, Personas y el Hogar</c:v>
                </c:pt>
                <c:pt idx="3">
                  <c:v>Servicios Sociales y Comunales</c:v>
                </c:pt>
                <c:pt idx="4">
                  <c:v>Comercio</c:v>
                </c:pt>
                <c:pt idx="5">
                  <c:v>Transportes y Comunicaciones</c:v>
                </c:pt>
                <c:pt idx="6">
                  <c:v>Ind Eléctrica y Captación y Suministro de Agua Potable</c:v>
                </c:pt>
                <c:pt idx="7">
                  <c:v>Industrias Extractivas</c:v>
                </c:pt>
                <c:pt idx="8">
                  <c:v>Agricultura, Ganaderia, Silvicultura, Pesca y Caza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57539</c:v>
                </c:pt>
                <c:pt idx="1">
                  <c:v>193180</c:v>
                </c:pt>
                <c:pt idx="2">
                  <c:v>107085</c:v>
                </c:pt>
                <c:pt idx="3">
                  <c:v>49745</c:v>
                </c:pt>
                <c:pt idx="4">
                  <c:v>141761</c:v>
                </c:pt>
                <c:pt idx="5">
                  <c:v>31191</c:v>
                </c:pt>
                <c:pt idx="6">
                  <c:v>6628</c:v>
                </c:pt>
                <c:pt idx="7">
                  <c:v>13778</c:v>
                </c:pt>
                <c:pt idx="8">
                  <c:v>63730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Industrias de la Transformación</c:v>
                </c:pt>
                <c:pt idx="2">
                  <c:v>Servicios para Empresas, Personas y el Hogar</c:v>
                </c:pt>
                <c:pt idx="3">
                  <c:v>Servicios Sociales y Comunales</c:v>
                </c:pt>
                <c:pt idx="4">
                  <c:v>Comercio</c:v>
                </c:pt>
                <c:pt idx="5">
                  <c:v>Transportes y Comunicaciones</c:v>
                </c:pt>
                <c:pt idx="6">
                  <c:v>Ind Eléctrica y Captación y Suministro de Agua Potable</c:v>
                </c:pt>
                <c:pt idx="7">
                  <c:v>Industrias Extractivas</c:v>
                </c:pt>
                <c:pt idx="8">
                  <c:v>Agricultura, Ganaderia, Silvicultura, Pesca y Caza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51854</c:v>
                </c:pt>
                <c:pt idx="1">
                  <c:v>184217</c:v>
                </c:pt>
                <c:pt idx="2">
                  <c:v>105127</c:v>
                </c:pt>
                <c:pt idx="3">
                  <c:v>49857</c:v>
                </c:pt>
                <c:pt idx="4">
                  <c:v>142698</c:v>
                </c:pt>
                <c:pt idx="5">
                  <c:v>31549</c:v>
                </c:pt>
                <c:pt idx="6">
                  <c:v>6770</c:v>
                </c:pt>
                <c:pt idx="7">
                  <c:v>14558</c:v>
                </c:pt>
                <c:pt idx="8">
                  <c:v>68851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606762</c:v>
                </c:pt>
                <c:pt idx="1">
                  <c:v>623110</c:v>
                </c:pt>
                <c:pt idx="2">
                  <c:v>641137</c:v>
                </c:pt>
                <c:pt idx="3">
                  <c:v>626253</c:v>
                </c:pt>
                <c:pt idx="4">
                  <c:v>657200</c:v>
                </c:pt>
                <c:pt idx="5">
                  <c:v>662599</c:v>
                </c:pt>
                <c:pt idx="6">
                  <c:v>670365</c:v>
                </c:pt>
                <c:pt idx="7">
                  <c:v>664637</c:v>
                </c:pt>
                <c:pt idx="8">
                  <c:v>655481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HGP Hermosillo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Medicina Del Enfermo En Estado Critico</c:v>
                </c:pt>
                <c:pt idx="1">
                  <c:v>Otorrinolaringologia Y Cirugia De Cabeza Y Cuello</c:v>
                </c:pt>
                <c:pt idx="2">
                  <c:v>Medicina Del Enfermo Pediatrico En Estado Critico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1 Cd. Obregón (Total: 31)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Pediatria</c:v>
                </c:pt>
                <c:pt idx="1">
                  <c:v>Medicina Interna</c:v>
                </c:pt>
                <c:pt idx="2">
                  <c:v>Cirugia Pediatrica</c:v>
                </c:pt>
                <c:pt idx="3">
                  <c:v>Traumatologia Y Ortopedia</c:v>
                </c:pt>
                <c:pt idx="4">
                  <c:v>Cirugia Oncologica</c:v>
                </c:pt>
                <c:pt idx="5">
                  <c:v>Cirugia General</c:v>
                </c:pt>
                <c:pt idx="6">
                  <c:v>Coloproctologia</c:v>
                </c:pt>
                <c:pt idx="7">
                  <c:v>Medicina De Urgencias</c:v>
                </c:pt>
                <c:pt idx="8">
                  <c:v>Imagenologia Diagnostica Y Terapeutica</c:v>
                </c:pt>
                <c:pt idx="9">
                  <c:v>Geriatria Directa</c:v>
                </c:pt>
                <c:pt idx="10">
                  <c:v>Neumologia Pediatrica</c:v>
                </c:pt>
                <c:pt idx="11">
                  <c:v>Medicina Familiar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6</c:v>
                </c:pt>
                <c:pt idx="4">
                  <c:v>1</c:v>
                </c:pt>
                <c:pt idx="5">
                  <c:v>2</c:v>
                </c:pt>
                <c:pt idx="6">
                  <c:v>1</c:v>
                </c:pt>
                <c:pt idx="7">
                  <c:v>7</c:v>
                </c:pt>
                <c:pt idx="8">
                  <c:v>3</c:v>
                </c:pt>
                <c:pt idx="9">
                  <c:v>2</c:v>
                </c:pt>
                <c:pt idx="10">
                  <c:v>1</c:v>
                </c:pt>
                <c:pt idx="1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 9 Puerto Peñasco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Cirugia General</c:v>
                </c:pt>
                <c:pt idx="1">
                  <c:v>Medicina Familiar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12 Aguaprieta (Total: 9)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De Urgencias</c:v>
                </c:pt>
                <c:pt idx="1">
                  <c:v>Medicina Familiar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23 Nacozari (Total: 21)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Medicina De Urgencias</c:v>
                </c:pt>
                <c:pt idx="1">
                  <c:v>Anestesiologia</c:v>
                </c:pt>
                <c:pt idx="2">
                  <c:v>Imagenologia Diagnostica Y Terapeutica</c:v>
                </c:pt>
                <c:pt idx="3">
                  <c:v>Medicina Familiar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1</c:v>
                </c:pt>
                <c:pt idx="2">
                  <c:v>1</c:v>
                </c:pt>
                <c:pt idx="3">
                  <c:v>5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54 Empalme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Medicina Del Trabajo Y Ambiental</c:v>
                </c:pt>
                <c:pt idx="1">
                  <c:v>Medicina Familiar</c:v>
                </c:pt>
                <c:pt idx="2">
                  <c:v>Urgencias Pediatrica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7 Huatabampo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Medicina De Urgencias</c:v>
                </c:pt>
                <c:pt idx="1">
                  <c:v>Urgencias Pediatrica</c:v>
                </c:pt>
                <c:pt idx="2">
                  <c:v>Medicina Familiar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1</c:v>
                </c:pt>
                <c:pt idx="2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14 Hermosillo C/U quemados (Total: 7)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Biologia De La Reproduccion Humana</c:v>
                </c:pt>
                <c:pt idx="1">
                  <c:v>Imagenologia Diagnostica Y Terapeutica</c:v>
                </c:pt>
                <c:pt idx="2">
                  <c:v>Traumatologia Y Ortopedia</c:v>
                </c:pt>
                <c:pt idx="3">
                  <c:v>Dermatologia</c:v>
                </c:pt>
                <c:pt idx="4">
                  <c:v>Endoscopia</c:v>
                </c:pt>
                <c:pt idx="5">
                  <c:v>Laboratorio De Analisis Clinicos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2 Hermosillo (Total: 9)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Neurocirugia</c:v>
                </c:pt>
                <c:pt idx="1">
                  <c:v>Otorrinolaringologia Y Cirugia De Cabeza Y Cuello</c:v>
                </c:pt>
                <c:pt idx="2">
                  <c:v>Cirugia General</c:v>
                </c:pt>
                <c:pt idx="3">
                  <c:v>Medicina De Urgencias</c:v>
                </c:pt>
                <c:pt idx="4">
                  <c:v>Urologia</c:v>
                </c:pt>
                <c:pt idx="5">
                  <c:v>Angiologia Y Cirugia Vascular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3</c:v>
                </c:pt>
                <c:pt idx="3">
                  <c:v>1</c:v>
                </c:pt>
                <c:pt idx="4">
                  <c:v>1</c:v>
                </c:pt>
                <c:pt idx="5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3 Navojoa (Total: 7)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Otorrinolaringologia Y Cirugia De Cabeza Y Cuello</c:v>
                </c:pt>
                <c:pt idx="1">
                  <c:v>Medicina De Urgencias</c:v>
                </c:pt>
                <c:pt idx="2">
                  <c:v>Medicina Familiar</c:v>
                </c:pt>
                <c:pt idx="3">
                  <c:v>Pediatria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4 Guaymas (Total: 7)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Cirugia General</c:v>
                </c:pt>
                <c:pt idx="1">
                  <c:v>Medicina Interna</c:v>
                </c:pt>
                <c:pt idx="2">
                  <c:v>Geriatria Directa</c:v>
                </c:pt>
                <c:pt idx="3">
                  <c:v>Medicina De Urgencias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5 Nogales (Total: 18)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Medicina De Urgencias</c:v>
                </c:pt>
                <c:pt idx="1">
                  <c:v>Medicina Interna</c:v>
                </c:pt>
                <c:pt idx="2">
                  <c:v>Cirugia General</c:v>
                </c:pt>
                <c:pt idx="3">
                  <c:v>Geriatria Directa</c:v>
                </c:pt>
                <c:pt idx="4">
                  <c:v>Medicina De Rehabilitacion</c:v>
                </c:pt>
                <c:pt idx="5">
                  <c:v>Imagenologia Diagnostica Y Terapeutica</c:v>
                </c:pt>
                <c:pt idx="6">
                  <c:v>Hematologia Pediatrica</c:v>
                </c:pt>
                <c:pt idx="7">
                  <c:v>Urgencias Pediatrica</c:v>
                </c:pt>
                <c:pt idx="8">
                  <c:v>Medicina Familiar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8 Caborca (Total: 15)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Cirugia General</c:v>
                </c:pt>
                <c:pt idx="1">
                  <c:v>Medicina De Urgencias</c:v>
                </c:pt>
                <c:pt idx="2">
                  <c:v>Medicina Familiar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11</c:v>
                </c:pt>
                <c:pt idx="2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 Obregón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Familiar</c:v>
                </c:pt>
                <c:pt idx="1">
                  <c:v>Medicina Del Trabajo Y Ambiental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13 Palma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19 Agua Prieta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21 Magdalena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24 Santa Ana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37 Hermosillo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Del Trabajo Y Ambiental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 Guaymas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43 Rosario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48 Moctezuma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49 Cumpas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5 Nogales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Del Trabajo Y Ambiental</c:v>
                </c:pt>
                <c:pt idx="1">
                  <c:v>Medicina Familiar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52 Sonoita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55 Cananea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Del Trabajo Y Ambiental</c:v>
                </c:pt>
                <c:pt idx="1">
                  <c:v>Medicina Familiar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66 Cd Obregón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Del Trabajo Y Ambiental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UMF-UMAA 68 Hermosillo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Urologia</c:v>
                </c:pt>
                <c:pt idx="1">
                  <c:v>Medicina Del Trabajo Y Ambiental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UMFH 10 Benjamín Hill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 12 S. Luis Rio Colorado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Medicina De Urgencias</c:v>
                </c:pt>
                <c:pt idx="1">
                  <c:v>Oftalmologia</c:v>
                </c:pt>
                <c:pt idx="2">
                  <c:v>Urgencias Pediatrica</c:v>
                </c:pt>
                <c:pt idx="3">
                  <c:v>Pediatria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38 S. Luis Rio Colorado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HES 2 CMN Noroeste Obregón (Total: 16)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Audiologia, Otoneurologia Y Foniatria</c:v>
                </c:pt>
                <c:pt idx="1">
                  <c:v>Neurofisiologia Clinica</c:v>
                </c:pt>
                <c:pt idx="2">
                  <c:v>Cirugia General</c:v>
                </c:pt>
                <c:pt idx="3">
                  <c:v>Oftalmologia</c:v>
                </c:pt>
                <c:pt idx="4">
                  <c:v>Cirugia Cardiotoracica</c:v>
                </c:pt>
                <c:pt idx="5">
                  <c:v>Patologia Clinica</c:v>
                </c:pt>
                <c:pt idx="6">
                  <c:v>Medicina Nuclear E Imagenologia Molecular</c:v>
                </c:pt>
                <c:pt idx="7">
                  <c:v>Medicina Interna</c:v>
                </c:pt>
                <c:pt idx="8">
                  <c:v>Calidad De La Atencion Clinica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6</c:v>
                </c:pt>
                <c:pt idx="8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Relationship Id="rId5" Type="http://schemas.openxmlformats.org/officeDocument/2006/relationships/chart" Target="../charts/chart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Relationship Id="rId4" Type="http://schemas.openxmlformats.org/officeDocument/2006/relationships/chart" Target="../charts/chart19.xml"/><Relationship Id="rId5" Type="http://schemas.openxmlformats.org/officeDocument/2006/relationships/chart" Target="../charts/chart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1.xml"/><Relationship Id="rId3" Type="http://schemas.openxmlformats.org/officeDocument/2006/relationships/chart" Target="../charts/chart22.xml"/><Relationship Id="rId4" Type="http://schemas.openxmlformats.org/officeDocument/2006/relationships/chart" Target="../charts/chart23.xml"/><Relationship Id="rId5" Type="http://schemas.openxmlformats.org/officeDocument/2006/relationships/chart" Target="../charts/chart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5.xml"/><Relationship Id="rId3" Type="http://schemas.openxmlformats.org/officeDocument/2006/relationships/chart" Target="../charts/chart26.xml"/><Relationship Id="rId4" Type="http://schemas.openxmlformats.org/officeDocument/2006/relationships/chart" Target="../charts/chart27.xml"/><Relationship Id="rId5" Type="http://schemas.openxmlformats.org/officeDocument/2006/relationships/chart" Target="../charts/chart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9.xml"/><Relationship Id="rId3" Type="http://schemas.openxmlformats.org/officeDocument/2006/relationships/chart" Target="../charts/chart30.xml"/><Relationship Id="rId4" Type="http://schemas.openxmlformats.org/officeDocument/2006/relationships/chart" Target="../charts/chart31.xml"/><Relationship Id="rId5" Type="http://schemas.openxmlformats.org/officeDocument/2006/relationships/chart" Target="../charts/chart3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3.xml"/><Relationship Id="rId3" Type="http://schemas.openxmlformats.org/officeDocument/2006/relationships/chart" Target="../charts/chart34.xml"/><Relationship Id="rId4" Type="http://schemas.openxmlformats.org/officeDocument/2006/relationships/chart" Target="../charts/chart3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Sonora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26_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</p:spTree>
    <p:extLst>
      <p:ext uri="{BB962C8B-B14F-4D97-AF65-F5344CB8AC3E}">
        <p14:creationId xmlns:p14="http://schemas.microsoft.com/office/powerpoint/2010/main" val="1990800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74BA5C1-2E6F-DDDD-FFBA-AAF34461C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528153"/>
              </p:ext>
            </p:extLst>
          </p:nvPr>
        </p:nvGraphicFramePr>
        <p:xfrm>
          <a:off x="313125" y="60833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4806387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Población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2794185"/>
                  </a:ext>
                </a:extLst>
              </a:tr>
            </a:tbl>
          </a:graphicData>
        </a:graphic>
      </p:graphicFrame>
      <p:graphicFrame>
        <p:nvGraphicFramePr>
          <p:cNvPr id="124" name="Chart 123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2,035,937</a:t>
            </a:r>
            <a:br/>
            <a:r>
              <a:t>64%</a:t>
            </a:r>
          </a:p>
        </p:txBody>
      </p:sp>
      <p:pic>
        <p:nvPicPr>
          <p:cNvPr id="126" name="Picture 125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295,070</a:t>
            </a:r>
            <a:br/>
            <a:r>
              <a:t>9%</a:t>
            </a:r>
          </a:p>
        </p:txBody>
      </p:sp>
      <p:pic>
        <p:nvPicPr>
          <p:cNvPr id="129" name="Picture 128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0" name="Rectangle 129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828,256</a:t>
            </a:r>
            <a:br/>
            <a:r>
              <a:t>26%</a:t>
            </a:r>
          </a:p>
        </p:txBody>
      </p:sp>
      <p:pic>
        <p:nvPicPr>
          <p:cNvPr id="132" name="Picture 131" descr="2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33" name="Rectangle 132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9,361</a:t>
            </a:r>
            <a:br/>
            <a:r>
              <a:t>0.30%</a:t>
            </a:r>
          </a:p>
        </p:txBody>
      </p:sp>
      <p:pic>
        <p:nvPicPr>
          <p:cNvPr id="135" name="Picture 134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3,168,624</a:t>
            </a:r>
          </a:p>
        </p:txBody>
      </p:sp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  <a:gridCol w="1047600"/>
                <a:gridCol w="1047600"/>
                <a:gridCol w="10476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1,839,183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2,035,937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989,213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1,169,824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607,140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644,260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155,322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224,380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24,914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201,837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227,157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192,124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215,959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4,522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1,253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-72%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5,191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9,945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849,970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866,113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283,081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312,273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426,839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366,298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140,050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187,542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9" name="TextBox 138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0" name="Table 139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1" name="TextBox 140"/>
          <p:cNvSpPr txBox="1"/>
          <p:nvPr/>
        </p:nvSpPr>
        <p:spPr>
          <a:xfrm>
            <a:off x="82800" y="9093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*La afiliación al Seguro de Salud de Familia disminuye en virtud del incremento en los nuevos esquemas de aseguramiento.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6_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1,269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716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Tercer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188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253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1,480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913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58 UMF, 4 UMFH y 1 UMF-UMAA, y no incluye 6 Unidades Auxiliares de Medicina Familiar.</a:t>
            </a:r>
            <a:br/>
            <a:r>
              <a:t>2. Incluye la UMAA1,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/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58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2 Hermosillo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3 Navojoa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4 Guaymas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6 Valle Hermosillo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1964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7 Huatabampo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1 Cd. Obregón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1969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HGP Hermosillo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8 Caborca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 9 Puerto Peñasco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23 Nacozari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54 Empalme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12 Aguaprieta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1985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 12 S. Luis Rio Colorado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14 Hermosillo C/U quemados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2013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5 Nogales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No 15 Dr. Ernesto Ramos Johnson Bours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2026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1,269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370800" y="93024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414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9 Puerto Peñasco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6 Valle Hermosillo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 Hermosillo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HGP Hermosillo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14 Hermosillo C/U quemados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 Guaymas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7 Huatabampo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5 Nogales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8 Caborca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12 S. Luis Rio Colorado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12 Aguaprieta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23 Nacozari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54 Empalme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 Cd. Obregón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 Navojoa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No 15 Dr. Ernesto Ramos Johnson Bours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  <p:graphicFrame>
        <p:nvGraphicFramePr>
          <p:cNvPr id="157" name="Table 156"/>
          <p:cNvGraphicFramePr>
            <a:graphicFrameLocks noGrp="1"/>
          </p:cNvGraphicFramePr>
          <p:nvPr/>
        </p:nvGraphicFramePr>
        <p:xfrm>
          <a:off x="280800" y="6872400"/>
          <a:ext cx="7286400" cy="92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HES 2 CMN Noroeste Obregón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62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54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71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9 Luis B. Sánchez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1,777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51 C. Libertad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11 Vicam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10 Benjamín Hill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 Puerto Peñasco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 Caborca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67 Obregón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6,026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66 Cd Obregón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12,490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65 Hermosillo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64 Nogales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63 Hermosillo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62 Navojoa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60 Navojoa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57 Navojoa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3,878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56 E. Ortíz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55 Cananea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53 Marte R. Gómez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52 Sonoita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50 Esqueda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1,052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49 Cumpas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48 Moctezuma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47 Aconchi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46 Sahuaripa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45 Bahía Lobos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44 Naco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43 Rosario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42 Alamos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41 P. Colorado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40 F. Sarabia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39 Atotonilco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38 Altar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36 Quetchehueca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35 Pueblo Yaqui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34 Cuauhtémoc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33 Cocorit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32 El Coyote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31 1o. de Mayo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30 José Bacum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29 E. Fco. J. Mina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28 Bacum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27 Potam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26 Yavaros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25 Ures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24 Santa Ana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22 Pitiquito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21 Magdalena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2,696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62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8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74736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/>
                <a:gridCol w="1285200"/>
                <a:gridCol w="1411200"/>
                <a:gridCol w="1018800"/>
                <a:gridCol w="14688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 Guaymas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28,028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 Obregón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65,144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 Hermosillo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45,465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37 Hermosillo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46,481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59 Navojoa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61 Navojoa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6,716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38 S. Luis Rio Colorado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26,881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UMF-UMAA 68 Hermosillo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32,005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257,147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456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320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136</a:t>
            </a:r>
          </a:p>
        </p:txBody>
      </p:sp>
      <p:pic>
        <p:nvPicPr>
          <p:cNvPr id="12" name="Picture 11" descr="Mapa_draft_etiquetas_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472585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483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23 Nacozari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8 Caborca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 Cd. Obregón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14 Hermosillo C/U quemados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1,978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HGP Hermosillo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5 Nogales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7 Huatabampo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68 Hermosillo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6 Valle Hermosillo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12 Aguaprieta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 Hermosillo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 Navojoa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9 Puerto Peñasco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 Guaymas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54 Empalme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89,425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4,751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11,628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6645600"/>
          <a:ext cx="7477200" cy="11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HES 2 CMN Noroeste Obregón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18,250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1,244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2,823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107,675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5,995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14,451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403780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483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12 Aguaprieta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 Cd. Obregón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197,100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17,932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32,922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 Hermosillo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157,680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7 Huatabampo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1,093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3,186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23 Nacozari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HGP Hermosillo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65,700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4,647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14 Hermosillo C/U quemados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9 Puerto Peñasco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1,276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5 Nogales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190,530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 Guaymas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72,270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4,384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11,033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 Navojoa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6 Valle Hermosillo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3,186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68 Hermosillo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8 Caborca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32,850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54 Empalme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1,097,190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75,836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175,938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6645600"/>
          <a:ext cx="7477200" cy="11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HES 2 CMN Noroeste Obregón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223,380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223,380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15,544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36,108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1,320,570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91,380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212,046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2,706,048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462,764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283,509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288,144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48,236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27,010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223,380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1,097,190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175,938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75,836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89,425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4,751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5" name="Table 234"/>
          <p:cNvGraphicFramePr>
            <a:graphicFrameLocks noGrp="1"/>
          </p:cNvGraphicFramePr>
          <p:nvPr/>
        </p:nvGraphicFramePr>
        <p:xfrm>
          <a:off x="144000" y="4500000"/>
          <a:ext cx="7488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223,380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18,250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36" name="TextBox 235"/>
          <p:cNvSpPr txBox="1"/>
          <p:nvPr/>
        </p:nvSpPr>
        <p:spPr>
          <a:xfrm>
            <a:off x="147600" y="4500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UMAE</a:t>
            </a:r>
          </a:p>
        </p:txBody>
      </p:sp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47ECCB65-5E51-65E2-D82B-1623D1CC8D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18879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2,124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8,150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84000" y="6083999"/>
          <a:ext cx="504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2,138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926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12,742	 Personal de Salud: 19,395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+71.3%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150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257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+45.0%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1,920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2,784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+15.0%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4,151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4,775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+21.2%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2,605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3,156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+53.1%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629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963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-1.2%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817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807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588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228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352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303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1,471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13,066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889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191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241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4,510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1,838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29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20,303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(932,400)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(79,782)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(7,700)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(15,294)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(897)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(547,497)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(72,808)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cataratas (Facoemulsificación con implante de lente intraocular)   (6,010)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(8,548)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(712)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(120,483)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(58,477)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(4,614)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(4,779)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Neumonía e influenza  (678)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Infecciones respiratorias agudas   (103,940)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(57,496)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(3,788)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 la vesicula biliar   (4,404)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(350)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mentales   (100,576)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Problemas y enfermedades de la columna vertebral   (53,536)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vesicula biliar (Colecistectomía)   (3,764)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(4,078)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(342)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163,113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1,229,576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103,306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1,225,837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92.2%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156521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310 piezas de equipo médico: 199 camillas, 44 sillas de ruedas, 15 barreras móviles, 13 refrigeradores para vacunas, 13 vidrios de plomo, 12 monitores de radiación, 3 contadores gamma, 3 mastógrafos, 2 congeladores para vacunas, 1 acelerador lineal, 1 tomógrafo, 1 resonador magnético, 1 unidad de anestesia, 1 monitor de signos vitales y 1 cofre de plomo.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$449.8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90 piezas de equipo electromecánico: 66 aires acondicionados, 14 plantas de lavado, 7 cuartos de máquinas y 3 elevadores.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$823.1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$0.1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22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Hemodiálisis Interna en 2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Hospitales Prioritarios en el HGZ 3 Navojoa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$103.1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Mejora en Subdelegaciones en 2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$11.2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2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8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$55.0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Salud Mental en 1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$7.5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3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$39.7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$445.2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Proyectos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Estudios de Preinversión para el HGZ de 120 camas, Guaymas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$20.9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Estudios de Preinversión y proyecto ejecutivo para el HGZ de 120 camas, San Luis Río Colorado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$85.5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HGZ de 120 camas, Guaymas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$3,962.4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HGZ de 120 camas, San Luis Rio Colorado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$2,719.0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6538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HGZ de 90 Camas, Navojoa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$1,548.0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10,290.3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133333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33333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3333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Ampliación y remodelación de la Unidad de Emergencias en el HGSZ 12, San Luis Río Colorado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$61.5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3333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Ampliación y Remodelación Escalera de Emergencia HGR 1, Cajeme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333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Centro de Atención Inmediata para Casos Especiales (CAICE), Hermosillo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$88.7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3333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Centro de Mezclas en el HGZ 14, Hermosillo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$53.7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333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Habilitación de ONCOCREAN en HGP Hermosillo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3333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Nueva Sala Hemodinamia HGZ 14, Hermosillo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333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Sustitucción UMF 51 con 1 Consultorio con AMC, Pitiquito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$115.4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3333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Sustitución de Acelerador Lineal en HGR 1, Cd. Obregón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$295.7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333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UMF 10+4 consultorios, Cajeme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$101.9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3333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UMF 19 4+ 2 Consultorios, Agua Prieta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333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UMF 66 de 10+4 Consultorios de AMC (Sustitución), Ciudad Obregón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$103.8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33333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3333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Adecuación área confinada HGZ 5 y área Hemodiálisis de UMF 5, Nogales 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3333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y sustitución de equipo electromecánico: 14 lavadoras, 11 secadoras, 11 generadores de vapor, 6 elevadores, 3 torres de enfriamiento, 3 equipos de aire acondicionado y 1 montacargas.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$445.9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333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y Rehabilitación de 43 Unidades de Medicina Familiar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$30.7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3333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Intervención de 44 Quirófanos en 11 hospitales y UMAE HE 2 Cd. Obregón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333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Mejora de Guarderías en Cd. Obregón y Hermosillo 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$7.0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3333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Recurso para mantenimiento de infraestructura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$160.8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333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3 Hospitales Prioritarios HGR 1 Cd. Obregón, HGZ 2 Hermosillo y HGZ 3 Navojoa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$355.4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3333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almacen, residencias y unidades médicas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$55.5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333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baños en 18 UMF y UMAE HE 2 Cd. Obregón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$80.2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3333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Cocinas y Comedores de 2 unidades(HGR1 y HGR 2) de Cd. Obregón y Hermosillo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333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del HGS/MF No. 30 en Guamuchil y HGS/MF No. 4 en Navolato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$11.8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3333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integral del HGZ 3, Navajoa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3342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Suministro e instalación y mantenimiento mayor a equipos de Aire Acondicionado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$30.0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2,207.1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56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51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10,011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3,361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10457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0458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6 Centros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Ciudad Obregón, Hermosillo, Huatabampo, Navojoa, Nogales y Empalme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No. 43 Ciudad Obregón y No. 44 Hermosillo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26_s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56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353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Boletín de guarderías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19,363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19,395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MAQUILAS TETA KAWI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14,807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14,872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COMISION FEDERAL DE ELECTRICIDAD EPE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4,259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4,209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GRUPO YAZAKI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12,526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12,307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AMP AMERMEX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6,064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6,288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3.7%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-9.88%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-4.64%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-1.83%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+0.23%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+0.66%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+1.15%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+2.14%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+5.66%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+8.04%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548,585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18,615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64,926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32,511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664,637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543,258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19,377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56,516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36,330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655,481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$625.09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61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$301.08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$625.09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0.4%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$18,752.7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VIDEXPORT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$70,837.79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SERVICIOS ESPECIALIZADOS DE PERSONAL ADMINISTRATIVO DEL PITIC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$16,813.83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PRODUCTORA HORTICOLA ALBORO EXPORT S.P.R. DE R.L.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$15,955.10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Agua de Hermosillo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$59.91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Comisión Estatal del Agua de Guaymas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$1,696.85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Organismo Operador Municipal de Agua Potable, Alcantarillado y Saneamiento de Bácum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$2,118.03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enero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Sonora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3600" y="1692000"/>
          <a:ext cx="7200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HES 2 CMN Noroeste Obregón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1,457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844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70800" y="93024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800" y="95220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* No se consideran salas de tococirugía, expulsión y recuperación.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62 Unidades de Medicina Familiar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54 Unidades Médicas de lunes a viernes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20 Jupare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19 Agua Prieta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4,347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18 C. Militar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1,196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17 Villa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2,604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16 San Pedro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15 Etchojoa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1,408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14 Bacobampo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13 Palma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49.0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120,682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Sonora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Sonora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Sonora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Sonora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Sonora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Sonora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Sonora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46504" y="603504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Baja California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630936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630936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SONORA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UMAE 08 HES Obregón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174</Words>
  <Application>Microsoft Office PowerPoint</Application>
  <PresentationFormat>Personalizado</PresentationFormat>
  <Paragraphs>62</Paragraphs>
  <Slides>22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Montserrat</vt:lpstr>
      <vt:lpstr>Noto Sans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61</cp:revision>
  <dcterms:modified xsi:type="dcterms:W3CDTF">2026-03-12T18:40:10Z</dcterms:modified>
</cp:coreProperties>
</file>