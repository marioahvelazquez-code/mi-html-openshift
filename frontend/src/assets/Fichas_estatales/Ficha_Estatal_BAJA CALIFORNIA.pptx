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  <p:sldId id="293" r:id="rId44"/>
    <p:sldId id="294" r:id="rId45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2463850.0</c:v>
                </c:pt>
                <c:pt idx="1">
                  <c:v>73004.0</c:v>
                </c:pt>
                <c:pt idx="2">
                  <c:v>235486.0</c:v>
                </c:pt>
                <c:pt idx="3">
                  <c:v>1407886.0</c:v>
                </c:pt>
                <c:pt idx="4">
                  <c:v>9059.0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181</c:v>
                </c:pt>
                <c:pt idx="2">
                  <c:v>180</c:v>
                </c:pt>
                <c:pt idx="3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Industrias de la Transformación</c:v>
                </c:pt>
                <c:pt idx="5">
                  <c:v>Servicios para Empresas, Personas y el Hogar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861</c:v>
                </c:pt>
                <c:pt idx="1">
                  <c:v>56934</c:v>
                </c:pt>
                <c:pt idx="2">
                  <c:v>55283</c:v>
                </c:pt>
                <c:pt idx="3">
                  <c:v>45686</c:v>
                </c:pt>
                <c:pt idx="4">
                  <c:v>437170</c:v>
                </c:pt>
                <c:pt idx="5">
                  <c:v>168034</c:v>
                </c:pt>
                <c:pt idx="6">
                  <c:v>72452</c:v>
                </c:pt>
                <c:pt idx="7">
                  <c:v>4712</c:v>
                </c:pt>
                <c:pt idx="8">
                  <c:v>181170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 de la Construcción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Industrias de la Transformación</c:v>
                </c:pt>
                <c:pt idx="5">
                  <c:v>Servicios para Empresas, Personas y el Hogar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625</c:v>
                </c:pt>
                <c:pt idx="1">
                  <c:v>52761</c:v>
                </c:pt>
                <c:pt idx="2">
                  <c:v>52739</c:v>
                </c:pt>
                <c:pt idx="3">
                  <c:v>44372</c:v>
                </c:pt>
                <c:pt idx="4">
                  <c:v>428642</c:v>
                </c:pt>
                <c:pt idx="5">
                  <c:v>168507</c:v>
                </c:pt>
                <c:pt idx="6">
                  <c:v>72663</c:v>
                </c:pt>
                <c:pt idx="7">
                  <c:v>4847</c:v>
                </c:pt>
                <c:pt idx="8">
                  <c:v>189746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851201</c:v>
                </c:pt>
                <c:pt idx="1">
                  <c:v>895298</c:v>
                </c:pt>
                <c:pt idx="2">
                  <c:v>911767</c:v>
                </c:pt>
                <c:pt idx="3">
                  <c:v>942940</c:v>
                </c:pt>
                <c:pt idx="4">
                  <c:v>995803</c:v>
                </c:pt>
                <c:pt idx="5">
                  <c:v>1034668</c:v>
                </c:pt>
                <c:pt idx="6">
                  <c:v>1047545</c:v>
                </c:pt>
                <c:pt idx="7">
                  <c:v>1022302</c:v>
                </c:pt>
                <c:pt idx="8">
                  <c:v>1014902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HGOMF 7 Tijuana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Imagenologia Diagnostica Y Terapeutica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HGPMF 31 Mexicali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Cardiologia Pediatrica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Tijuana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Traumatologia Y Ortopedia</c:v>
                </c:pt>
                <c:pt idx="1">
                  <c:v>Imagenologia Diagnostica Y Terapeutica</c:v>
                </c:pt>
                <c:pt idx="2">
                  <c:v>Oftalmologia</c:v>
                </c:pt>
                <c:pt idx="3">
                  <c:v>Medicina Interna</c:v>
                </c:pt>
                <c:pt idx="4">
                  <c:v>Coloproctologia</c:v>
                </c:pt>
                <c:pt idx="5">
                  <c:v>Pediatria</c:v>
                </c:pt>
                <c:pt idx="6">
                  <c:v>Oncologia Pediatrica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20 Tijuana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Traumatologia Y Ortopedia</c:v>
                </c:pt>
                <c:pt idx="1">
                  <c:v>Medicina Interna</c:v>
                </c:pt>
                <c:pt idx="2">
                  <c:v>Imagenologia Diagnostica Y Terapeutica</c:v>
                </c:pt>
                <c:pt idx="3">
                  <c:v>Calidad De La Atencion Clinica</c:v>
                </c:pt>
                <c:pt idx="4">
                  <c:v>Neurofisiologia Clinica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23 (Total: 85)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Sheet1!$A$2:$A$37</c:f>
              <c:strCache>
                <c:ptCount val="36"/>
                <c:pt idx="0">
                  <c:v>Alergia E Inmunologia Clinica</c:v>
                </c:pt>
                <c:pt idx="1">
                  <c:v>Angiologia Y Cirugia Vascular</c:v>
                </c:pt>
                <c:pt idx="2">
                  <c:v>Cardiologia</c:v>
                </c:pt>
                <c:pt idx="3">
                  <c:v>Patologia Clinica</c:v>
                </c:pt>
                <c:pt idx="4">
                  <c:v>Cirugia Oncologica</c:v>
                </c:pt>
                <c:pt idx="5">
                  <c:v>Endocrinologia</c:v>
                </c:pt>
                <c:pt idx="6">
                  <c:v>Urologia Ginecologica</c:v>
                </c:pt>
                <c:pt idx="7">
                  <c:v>Infectologia</c:v>
                </c:pt>
                <c:pt idx="8">
                  <c:v>Medicina Del Enfermo En Estado Critico</c:v>
                </c:pt>
                <c:pt idx="9">
                  <c:v>Medicina Interna</c:v>
                </c:pt>
                <c:pt idx="10">
                  <c:v>Nefrologia</c:v>
                </c:pt>
                <c:pt idx="11">
                  <c:v>Neumologia Directa</c:v>
                </c:pt>
                <c:pt idx="12">
                  <c:v>Neurologia</c:v>
                </c:pt>
                <c:pt idx="13">
                  <c:v>Oncologia Pediatrica</c:v>
                </c:pt>
                <c:pt idx="14">
                  <c:v>Oftalmologia</c:v>
                </c:pt>
                <c:pt idx="15">
                  <c:v>Otorrinolaringologia Y Cirugia De Cabeza Y Cuello</c:v>
                </c:pt>
                <c:pt idx="16">
                  <c:v>Coloproctologia</c:v>
                </c:pt>
                <c:pt idx="17">
                  <c:v>Psiquiatria</c:v>
                </c:pt>
                <c:pt idx="18">
                  <c:v>Reumatologia</c:v>
                </c:pt>
                <c:pt idx="19">
                  <c:v>Traumatologia Y Ortopedia</c:v>
                </c:pt>
                <c:pt idx="20">
                  <c:v>Geriatria Directa</c:v>
                </c:pt>
                <c:pt idx="21">
                  <c:v>Urologia</c:v>
                </c:pt>
                <c:pt idx="22">
                  <c:v>Audiologia, Otoneurologia Y Foniatria</c:v>
                </c:pt>
                <c:pt idx="23">
                  <c:v>Neurocirugia</c:v>
                </c:pt>
                <c:pt idx="24">
                  <c:v>Cirugia Pediatrica</c:v>
                </c:pt>
                <c:pt idx="25">
                  <c:v>Oncologia Medica</c:v>
                </c:pt>
                <c:pt idx="26">
                  <c:v>Cirugia Plastica Y Reconstructiva</c:v>
                </c:pt>
                <c:pt idx="27">
                  <c:v>Endocrinologia Pediatrica</c:v>
                </c:pt>
                <c:pt idx="28">
                  <c:v>Epidemiologia</c:v>
                </c:pt>
                <c:pt idx="29">
                  <c:v>Medicina Paliativa Y Del Dolor</c:v>
                </c:pt>
                <c:pt idx="30">
                  <c:v>Endoscopia</c:v>
                </c:pt>
                <c:pt idx="31">
                  <c:v>Hematologia Pediatrica</c:v>
                </c:pt>
                <c:pt idx="32">
                  <c:v>Cardiologia Pediatrica</c:v>
                </c:pt>
                <c:pt idx="33">
                  <c:v>Imagenologia Diagnostica Y Terapeutica</c:v>
                </c:pt>
                <c:pt idx="34">
                  <c:v>Nefrologia Pediatrica</c:v>
                </c:pt>
                <c:pt idx="35">
                  <c:v>Gastroenterologia Y Nutricion Pediatrica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1</c:v>
                </c:pt>
                <c:pt idx="6">
                  <c:v>3</c:v>
                </c:pt>
                <c:pt idx="7">
                  <c:v>3</c:v>
                </c:pt>
                <c:pt idx="8">
                  <c:v>1</c:v>
                </c:pt>
                <c:pt idx="9">
                  <c:v>5</c:v>
                </c:pt>
                <c:pt idx="10">
                  <c:v>6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4</c:v>
                </c:pt>
                <c:pt idx="15">
                  <c:v>2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6</c:v>
                </c:pt>
                <c:pt idx="20">
                  <c:v>2</c:v>
                </c:pt>
                <c:pt idx="21">
                  <c:v>3</c:v>
                </c:pt>
                <c:pt idx="22">
                  <c:v>2</c:v>
                </c:pt>
                <c:pt idx="23">
                  <c:v>1</c:v>
                </c:pt>
                <c:pt idx="24">
                  <c:v>2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  <c:pt idx="30">
                  <c:v>2</c:v>
                </c:pt>
                <c:pt idx="31">
                  <c:v>1</c:v>
                </c:pt>
                <c:pt idx="32">
                  <c:v>2</c:v>
                </c:pt>
                <c:pt idx="33">
                  <c:v>7</c:v>
                </c:pt>
                <c:pt idx="34">
                  <c:v>2</c:v>
                </c:pt>
                <c:pt idx="35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6 Tecate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Pediatria</c:v>
                </c:pt>
                <c:pt idx="1">
                  <c:v>Cirugia General</c:v>
                </c:pt>
                <c:pt idx="2">
                  <c:v>Biologia De La Reproduccion Humana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30 Mexicali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Imagenologia Diagnostica Y Terapeutica</c:v>
                </c:pt>
                <c:pt idx="1">
                  <c:v>Medicina Interna</c:v>
                </c:pt>
                <c:pt idx="2">
                  <c:v>Neurocirugia</c:v>
                </c:pt>
                <c:pt idx="3">
                  <c:v>Medicina Del Enfermo En Estado Critico</c:v>
                </c:pt>
                <c:pt idx="4">
                  <c:v>Neurofisiologia Clinica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8 Ensenada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Oncologia Medica</c:v>
                </c:pt>
                <c:pt idx="1">
                  <c:v>Traumatologia Y Ortopedia</c:v>
                </c:pt>
                <c:pt idx="2">
                  <c:v>Imagenologia Diagnostica Y Terapeutica</c:v>
                </c:pt>
                <c:pt idx="3">
                  <c:v>Anestesiologia Pediatrica</c:v>
                </c:pt>
                <c:pt idx="4">
                  <c:v>Medicina Interna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Quintín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Pediatria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UDDX CAMA Tijuana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Imagenologia Diagnostica Y Terapeutica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18 Tijuana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Imagenologia Diagnostica Y Terapeutica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21 Rosarito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25 Ensenada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Epidemiologia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27 Tijuana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33 Tijuana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34 El Florido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39 Tecate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36 Mesa de Otay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Familiar</c:v>
                </c:pt>
                <c:pt idx="1">
                  <c:v>Otorrinolaringologia Y Cirugia De Cabeza Y Cuello</c:v>
                </c:pt>
                <c:pt idx="2">
                  <c:v>Oftalmologia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13 San Quintín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2 Benito Juárez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3 C. Morelos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15 E. Hermosillo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2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2,463,850</a:t>
            </a:r>
            <a:br/>
            <a:r>
              <a:t>59%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73,004</a:t>
            </a:r>
            <a:br/>
            <a:r>
              <a:t>2%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235,486</a:t>
            </a:r>
            <a:br/>
            <a:r>
              <a:t>6%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1,407,886</a:t>
            </a:r>
            <a:br/>
            <a:r>
              <a:t>34%</a:t>
            </a:r>
          </a:p>
        </p:txBody>
      </p:sp>
      <p:pic>
        <p:nvPicPr>
          <p:cNvPr id="135" name="Picture 134" descr="0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9,059</a:t>
            </a:r>
            <a:br/>
            <a:r>
              <a:t>0.22%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4,189,285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2,082,530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2,463,850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1,192,759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1,499,941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877,445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999,206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144,800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206,916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196,779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1,905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889,771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963,909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493,211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448,601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188,744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2_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1,379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1,414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467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21 UMF, 8 UMFH y 1 UMF-UMAA, y no incluye 3 Unidades Auxiliares de Medicina Familiar.</a:t>
            </a:r>
            <a:br/>
            <a:r>
              <a:t>2. Incluye la UMAA1,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Quintín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6228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7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Quintín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17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287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5 E. Nuevo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4 E.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 C.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24 San Felipe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15 E. Hermosillo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10 Guadalupe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Ensenada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Rosario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Mexicali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San Vicente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Tijuana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Rosarito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Mexicali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20,809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Valle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Isla de Cedros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El Sauzal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75,427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13 San Quintín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80,261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Mexicali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50,361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34,437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Los Lobos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17,152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El Florido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16,399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Palmar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36 Mesa de Otay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27,575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Tecate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Villas del 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27,985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Tijuana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Rosarito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385,629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380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218</a:t>
            </a:r>
          </a:p>
        </p:txBody>
      </p:sp>
      <p:pic>
        <p:nvPicPr>
          <p:cNvPr id="12" name="Picture 11" descr="Mapa_draft_etiquetas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3137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36 Mesa de Otay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12 S. Luis Rio Colorado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71,175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5,650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10,608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36 Mesa de Otay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12 S. Luis Rio Colorado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236,520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1,136,610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92,584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160,834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555,797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340,347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451,008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77,330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48,341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1,136,610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71,175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1,775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8,555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2,034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10,923	 Personal de Salud: 16,346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+81.0%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+34.4%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2,582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4,046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2,352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3,021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+92.1%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663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Imagenología Diagnostica y Terapéutica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14,630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154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3,824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1,983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21,401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(818,674)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(81,903)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(8,844)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(16,953)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(856)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(689,752)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(60,297)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(7,164)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(6,812)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(782)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(192,714)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(39,269)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(3,670)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(4,076)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(760)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(130,313)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Secuelas de traumatismos e intoxicaciones   (38,702)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(3,636)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(3,982)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(591)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Problemas y enfermedades de la columna vertebral   (99,410)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Trastornos de la piel y tejidos superficiales   (33,436)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(3,273)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(3,348)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(374)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90,821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1,135,459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91,816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1,166,276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252 piezas de equipo médico: 205 camillas, 31 sillas de ruedas, 5 refrigeradores para vacunas, 3 tomógrafos, 2 unidades de anestesia, 2 monitores de signos vitales, 1 resonador magnético, 1 angiógrafo, 1 mastógrafo y 1 congelador para vacunas.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$209.3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44 piezas de equipo electromecánico: 28 aires acondicionados, 7 cuartos de máquinas (sistemas de supresión de incendios), 7 plantas de lavado y 2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$448.7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8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HGPMF 31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$96.8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$38.1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$487.9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Ampliación 2da etapa y Remodelación del HR 69, San Quintín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$350.0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216 camas,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$1,384.9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Sustitución de la UMF No 2 Benito Juárez,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3,295.9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Acelerador lineal de alta y baja energía en el HGR 20,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$242.9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en UMAA 36,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de la Clínica de Detección y Diagnóstico del Cáncer de Mama,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$104.6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Construcción del cubo del elevador en el HGR 20,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en HGZ 30,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$35.0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21 con 10 consultorios y AMC, Rosarito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$162.2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Unidad de Imagen de Resonancia Magnética Intermedia del HGZ 30,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$38.2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(12 elevadores, 5 secadoras , 5 lavadoras, 6 calderas, 4 camaras de refrigeración)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$283.4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unidades de primer nivel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3 unidades médicas (HGP 31, HGZ 08, HGZ 30)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$166.3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Rehabilitaciones de residencias médicas y almacenes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1,417.7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8,525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883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Tijuana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Mexicali, San Luis Río Colorado, Tijuana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Teatros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Mexicali, Tijuana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65 Tijuana y  86 Ensenada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2_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50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16,346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10,073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10,180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AUTONOMA DEL ESTADO DE BAJA CALIFORNIA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CENTRAL DETALLISTA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4,101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4,083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PRIME WHEEL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-27.41%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-7.33%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-4.60%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-2.88%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-1.95%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+2.87%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+4.73%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921,603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5,109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67,482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28,108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1,022,302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919,307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1,014,902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-0%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$753.87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$343.96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$753.87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$22,616.1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ROBERTSON SARACHO DEL PERAL, SC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$96,008.28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DLR AUTOTRANSPORTES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$52,298.90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AUREL PROJECT SC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$77,039.06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del Estado de Baja California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$106.13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$169,556.14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del Estado de Baja California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$3,866.39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25,561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11,563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3,187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7,179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73,004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38,741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34,263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3,046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25,561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778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Baja California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