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  <p:sldId id="293" r:id="rId44"/>
    <p:sldId id="294" r:id="rId45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1119361.0</c:v>
                </c:pt>
                <c:pt idx="1">
                  <c:v>650033.0</c:v>
                </c:pt>
                <c:pt idx="2">
                  <c:v>417630.0</c:v>
                </c:pt>
                <c:pt idx="3">
                  <c:v>1108958.0</c:v>
                </c:pt>
                <c:pt idx="4">
                  <c:v>38078.0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53</c:v>
                </c:pt>
                <c:pt idx="2">
                  <c:v>49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 Eléctrica y Captación y Suministro de Agua Potable</c:v>
                </c:pt>
                <c:pt idx="4">
                  <c:v>Industrias Extractivas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35618</c:v>
                </c:pt>
                <c:pt idx="1">
                  <c:v>83710</c:v>
                </c:pt>
                <c:pt idx="2">
                  <c:v>2768</c:v>
                </c:pt>
                <c:pt idx="3">
                  <c:v>2793</c:v>
                </c:pt>
                <c:pt idx="4">
                  <c:v>4000</c:v>
                </c:pt>
                <c:pt idx="5">
                  <c:v>63458</c:v>
                </c:pt>
                <c:pt idx="6">
                  <c:v>36453</c:v>
                </c:pt>
                <c:pt idx="7">
                  <c:v>31343</c:v>
                </c:pt>
                <c:pt idx="8">
                  <c:v>23038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 Eléctrica y Captación y Suministro de Agua Potable</c:v>
                </c:pt>
                <c:pt idx="4">
                  <c:v>Industrias Extractivas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34114</c:v>
                </c:pt>
                <c:pt idx="1">
                  <c:v>80522</c:v>
                </c:pt>
                <c:pt idx="2">
                  <c:v>2755</c:v>
                </c:pt>
                <c:pt idx="3">
                  <c:v>2853</c:v>
                </c:pt>
                <c:pt idx="4">
                  <c:v>4110</c:v>
                </c:pt>
                <c:pt idx="5">
                  <c:v>65789</c:v>
                </c:pt>
                <c:pt idx="6">
                  <c:v>38352</c:v>
                </c:pt>
                <c:pt idx="7">
                  <c:v>34626</c:v>
                </c:pt>
                <c:pt idx="8">
                  <c:v>27589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226090</c:v>
                </c:pt>
                <c:pt idx="1">
                  <c:v>232747</c:v>
                </c:pt>
                <c:pt idx="2">
                  <c:v>233747</c:v>
                </c:pt>
                <c:pt idx="3">
                  <c:v>222065</c:v>
                </c:pt>
                <c:pt idx="4">
                  <c:v>247384</c:v>
                </c:pt>
                <c:pt idx="5">
                  <c:v>260429</c:v>
                </c:pt>
                <c:pt idx="6">
                  <c:v>279243</c:v>
                </c:pt>
                <c:pt idx="7">
                  <c:v>283181</c:v>
                </c:pt>
                <c:pt idx="8">
                  <c:v>290710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33 Tizayuca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General</c:v>
                </c:pt>
                <c:pt idx="1">
                  <c:v>Anestesiologia</c:v>
                </c:pt>
                <c:pt idx="2">
                  <c:v>Medicina Interna</c:v>
                </c:pt>
                <c:pt idx="3">
                  <c:v>Ginecologia Y Obstetricia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Tulancingo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Anestesiologia</c:v>
                </c:pt>
                <c:pt idx="1">
                  <c:v>Medicina Del Enfermo En Estado Critico</c:v>
                </c:pt>
                <c:pt idx="2">
                  <c:v>Ginecologia Y Obstetricia</c:v>
                </c:pt>
                <c:pt idx="3">
                  <c:v>Cirugia General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36 Pachuca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Urgencias Pediatrica</c:v>
                </c:pt>
                <c:pt idx="1">
                  <c:v>Ginecologia Y Obstetricia</c:v>
                </c:pt>
                <c:pt idx="2">
                  <c:v>Angiologia Y Cirugia Vascular</c:v>
                </c:pt>
                <c:pt idx="3">
                  <c:v>Cirugia General</c:v>
                </c:pt>
                <c:pt idx="4">
                  <c:v>Otorrinolaringologia Y Cirugia De Cabeza Y Cuello</c:v>
                </c:pt>
                <c:pt idx="5">
                  <c:v>Cirugia Oncologica</c:v>
                </c:pt>
                <c:pt idx="6">
                  <c:v>Gastroenterologia Y Nutricion Pediatrica</c:v>
                </c:pt>
                <c:pt idx="7">
                  <c:v>Infectologia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Pachuca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Ginecologia Y Obstetricia</c:v>
                </c:pt>
                <c:pt idx="1">
                  <c:v>Medicina Familiar</c:v>
                </c:pt>
                <c:pt idx="2">
                  <c:v>Neurocirugia</c:v>
                </c:pt>
                <c:pt idx="3">
                  <c:v>Otorrinolaringologia Y Cirugia De Cabeza Y Cuello</c:v>
                </c:pt>
                <c:pt idx="4">
                  <c:v>Traumatologia Y Ortopedia</c:v>
                </c:pt>
                <c:pt idx="5">
                  <c:v>Cardiologia</c:v>
                </c:pt>
                <c:pt idx="6">
                  <c:v>Cirugia General</c:v>
                </c:pt>
                <c:pt idx="7">
                  <c:v>Urologia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5 Tula de Hidalgo (Total: 136)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Sheet1!$A$2:$A$35</c:f>
              <c:strCache>
                <c:ptCount val="34"/>
                <c:pt idx="0">
                  <c:v>Oftalmologia</c:v>
                </c:pt>
                <c:pt idx="1">
                  <c:v>Anestesiologia</c:v>
                </c:pt>
                <c:pt idx="2">
                  <c:v>Cirugia General</c:v>
                </c:pt>
                <c:pt idx="3">
                  <c:v>Otorrinolaringologia Y Cirugia De Cabeza Y Cuello</c:v>
                </c:pt>
                <c:pt idx="4">
                  <c:v>Medicina Del Enfermo En Estado Critico</c:v>
                </c:pt>
                <c:pt idx="5">
                  <c:v>Ginecologia Y Obstetricia</c:v>
                </c:pt>
                <c:pt idx="6">
                  <c:v>Medicina Interna</c:v>
                </c:pt>
                <c:pt idx="7">
                  <c:v>Medicina De Urgencias</c:v>
                </c:pt>
                <c:pt idx="8">
                  <c:v>Pediatria</c:v>
                </c:pt>
                <c:pt idx="9">
                  <c:v>Urologia</c:v>
                </c:pt>
                <c:pt idx="10">
                  <c:v>Psiquiatria</c:v>
                </c:pt>
                <c:pt idx="11">
                  <c:v>Reumatologia</c:v>
                </c:pt>
                <c:pt idx="12">
                  <c:v>Neumologia Directa</c:v>
                </c:pt>
                <c:pt idx="13">
                  <c:v>Nefrologia</c:v>
                </c:pt>
                <c:pt idx="14">
                  <c:v>Geriatria Directa</c:v>
                </c:pt>
                <c:pt idx="15">
                  <c:v>Urgencias Pediatrica</c:v>
                </c:pt>
                <c:pt idx="16">
                  <c:v>Cardiologia</c:v>
                </c:pt>
                <c:pt idx="17">
                  <c:v>Hematologia</c:v>
                </c:pt>
                <c:pt idx="18">
                  <c:v>Medicina De Rehabilitacion</c:v>
                </c:pt>
                <c:pt idx="19">
                  <c:v>Patologia Clinica</c:v>
                </c:pt>
                <c:pt idx="20">
                  <c:v>Anatomia Patologica</c:v>
                </c:pt>
                <c:pt idx="21">
                  <c:v>Cirugia Pediatrica</c:v>
                </c:pt>
                <c:pt idx="22">
                  <c:v>Neurocirugia</c:v>
                </c:pt>
                <c:pt idx="23">
                  <c:v>Cirugia Oncologica</c:v>
                </c:pt>
                <c:pt idx="24">
                  <c:v>Traumatologia Y Ortopedia</c:v>
                </c:pt>
                <c:pt idx="25">
                  <c:v>Ginecologia Oncologica</c:v>
                </c:pt>
                <c:pt idx="26">
                  <c:v>Medicina Materno Fetal</c:v>
                </c:pt>
                <c:pt idx="27">
                  <c:v>Neonatologia</c:v>
                </c:pt>
                <c:pt idx="28">
                  <c:v>Medicina Del Enfermo Pediatrico En Estado Critico</c:v>
                </c:pt>
                <c:pt idx="29">
                  <c:v>Reumatologia Pediatrica</c:v>
                </c:pt>
                <c:pt idx="30">
                  <c:v>Endocrinologia Pediatrica</c:v>
                </c:pt>
                <c:pt idx="31">
                  <c:v>Cardiologia Pediatrica</c:v>
                </c:pt>
                <c:pt idx="32">
                  <c:v>Imagenologia Diagnostica Y Terapeutica</c:v>
                </c:pt>
                <c:pt idx="33">
                  <c:v>Anestesiologia Pediatrica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</c:v>
                </c:pt>
                <c:pt idx="1">
                  <c:v>12</c:v>
                </c:pt>
                <c:pt idx="2">
                  <c:v>13</c:v>
                </c:pt>
                <c:pt idx="3">
                  <c:v>2</c:v>
                </c:pt>
                <c:pt idx="4">
                  <c:v>3</c:v>
                </c:pt>
                <c:pt idx="5">
                  <c:v>20</c:v>
                </c:pt>
                <c:pt idx="6">
                  <c:v>12</c:v>
                </c:pt>
                <c:pt idx="7">
                  <c:v>1</c:v>
                </c:pt>
                <c:pt idx="8">
                  <c:v>10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5</c:v>
                </c:pt>
                <c:pt idx="16">
                  <c:v>2</c:v>
                </c:pt>
                <c:pt idx="17">
                  <c:v>2</c:v>
                </c:pt>
                <c:pt idx="18">
                  <c:v>5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3</c:v>
                </c:pt>
                <c:pt idx="24">
                  <c:v>6</c:v>
                </c:pt>
                <c:pt idx="25">
                  <c:v>3</c:v>
                </c:pt>
                <c:pt idx="26">
                  <c:v>1</c:v>
                </c:pt>
                <c:pt idx="27">
                  <c:v>2</c:v>
                </c:pt>
                <c:pt idx="28">
                  <c:v>2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14</c:v>
                </c:pt>
                <c:pt idx="3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6 Tepeji del Río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Otorrinolaringologia Y Cirugia De Cabeza Y Cuello</c:v>
                </c:pt>
                <c:pt idx="1">
                  <c:v>Cirugia General</c:v>
                </c:pt>
                <c:pt idx="2">
                  <c:v>Ginecologia Y Obstetricia</c:v>
                </c:pt>
                <c:pt idx="3">
                  <c:v>Medicina Interna</c:v>
                </c:pt>
                <c:pt idx="4">
                  <c:v>Medicina Familiar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8 Cd. Sahagún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Interna</c:v>
                </c:pt>
                <c:pt idx="1">
                  <c:v>Traumatologia Y Ortopedia</c:v>
                </c:pt>
                <c:pt idx="2">
                  <c:v>Cirugia General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 Tizayuca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25 Mineral Monte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32 Pachuca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34 Tulancingo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37 Doxey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3 Cuautepec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7 Atotonilco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36 Pachuca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Patologia Clinica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5 Tula de Hidalgo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Huejutla De Reyes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General</c:v>
                </c:pt>
                <c:pt idx="1">
                  <c:v>Medicina Interna</c:v>
                </c:pt>
                <c:pt idx="2">
                  <c:v>Pediatria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Ixmiquilpan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Ginecologia Y Obstetricia</c:v>
                </c:pt>
                <c:pt idx="2">
                  <c:v>Pediatria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Metepec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Ginecologia Y Obstetricia</c:v>
                </c:pt>
                <c:pt idx="1">
                  <c:v>Medicina De Urgencias</c:v>
                </c:pt>
                <c:pt idx="2">
                  <c:v>Cirugia General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Zacualtipán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Ginecologia Y Obstetricia</c:v>
                </c:pt>
                <c:pt idx="1">
                  <c:v>Pediatria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37 Doxey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Hidalgo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3_h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1,119,361</a:t>
            </a:r>
            <a:br/>
            <a:r>
              <a:t>34%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650,033</a:t>
            </a:r>
            <a:br/>
            <a:r>
              <a:t>19%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417,630</a:t>
            </a:r>
            <a:br/>
            <a:r>
              <a:t>13%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1,108,958</a:t>
            </a:r>
            <a:br/>
            <a:r>
              <a:t>33%</a:t>
            </a:r>
          </a:p>
        </p:txBody>
      </p:sp>
      <p:pic>
        <p:nvPicPr>
          <p:cNvPr id="135" name="Picture 134" descr="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38,078</a:t>
            </a:r>
            <a:br/>
            <a:r>
              <a:t>1%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3,334,060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834,539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1,119,361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490,444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719,713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293,151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176,875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247,613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344,095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399,648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153,845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149,160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3_h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14 UMF, 2 UMFH y 0 UMF-UMAA, y no incluye 5 Unidades Auxiliares de Medicina Familiar.</a:t>
            </a:r>
            <a:br/>
            <a:r>
              <a:t>2. Incluye la UMAA0,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42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6606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99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9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 Cuautepec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Cruz Azul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SantiagoTulant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Doxey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Zimapan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Huichapan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Tlaxcoapan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Mixquiahuala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Mineral Monte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36,539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7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Actopan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Tizayuca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Pachuca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Tulancingo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La Colonia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112,885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308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89</a:t>
            </a:r>
          </a:p>
        </p:txBody>
      </p:sp>
      <p:pic>
        <p:nvPicPr>
          <p:cNvPr id="12" name="Picture 11" descr="Mapa_draft_etiquetas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841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38,325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2,007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4,585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584,730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41,522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91,214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563,760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1,052,352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179,861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109,567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584,730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3,764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1,002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5,262	 Personal de Salud: 9,513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+113.3%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+77.7%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1,423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+59.1%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1,924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+121.2%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6,727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399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1,948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9,664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(403,088)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(62,424)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(4,129)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(4,910)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(340,342)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(30,063)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(2,803)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(3,187)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(73,122)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(29,234)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(2,521)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(2,629)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(67,724)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la piel y tejidos superficiales   (23,689)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(1,694)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(2,233)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(178)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(41,556)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(22,994)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(1,618)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(1,815)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459,467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33,044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583,801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62 piezas de equipo médico: 41 Camilla, 9 Refrigerador para vacunas, 2 Congelador para vacunas, 10 Silla de ruedas.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8 piezas de equipo electromecánico: 2 Cuarto de Maquinas, 4 Elevadores, 2 Aires Acondicionados.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HGS 33 Tizayuca, HGZMF 1 Pachuca y 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$147.7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de 144 camas, Tula (sustitución del HGZ/MF No.5)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760.2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Adecuaciones en el área de lavandería del HGZ36,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$382.2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HGZ 36 170 Camas,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$2,125.5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HGZ 36,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la UMF 18,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y Ampliación de la Unidad de Medicina Familiar 26 de 6 consultorios (6+3), Mixquiahuala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Unidad de Medicina Familiar 37, Tlaxcoapan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Adecuaciones y rehabilitación de 3 Centros de Seguridad Social, Pachuca, Tepeji del Río y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de la Unidad de Medicina Familiar 2+1 con AMC, Cruz Azul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14 Unidades de Medicina Familiar (UMF3, UMF 4, UMF 15, UMF 16, UMF 25, UMF 27, UMF 29, UMF 31, UMF 35) Apan, Actopan, Huichapan,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(24 lavadoras y secadoras, 3 motobomba, 2 elevadores, 2 sistemas de bombeo y caldera o generador de agua caliente)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2 salas de Quirófano en HGMF No. 6 y HGZM No.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en HGSZ/MF No.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HGS No. 33,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Rehabilitaciones residencias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3,186.6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2,097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Tepeji del Río, Ciudad Sahagún y Pachuca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121 Tulancingo y No. 137 Tepeji del 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Pachuca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3_h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9,496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9,513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JOSE ANTONIO CRISTOPHER MURILLO LOPEZ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625.3%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UAEH EDUCACION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3,138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-4.22%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-3.81%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-0.47%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+2.15%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+2.75%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+3.67%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+5.21%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+10.47%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+19.75%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223,385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57,546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283,181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235,023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290,710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$565.30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$302.59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$565.30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$16,959.0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CONSTRUCTOR INDUSTRIAL OIL &amp; GAS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$311,720.45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CEMEX CONCRETOS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$30,951.66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COMPAÑIA DE REAL DEL MONTE Y PACHUCA,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$29,537.05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105,696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56,725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3,792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5,009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6,498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650,033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151,754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498,279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274,537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105,696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5,155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Hidalgo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Hidalgo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Hidalgo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Hidalgo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