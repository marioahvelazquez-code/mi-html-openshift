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90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3" r:id="rId23"/>
    <p:sldId id="291" r:id="rId40"/>
  </p:sldIdLst>
  <p:sldSz cx="7772400" cy="10058400"/>
  <p:notesSz cx="6858000" cy="9144000"/>
  <p:embeddedFontLst>
    <p:embeddedFont>
      <p:font typeface="Montserrat" pitchFamily="2" charset="0"/>
      <p:regular r:id="rId25"/>
      <p:bold r:id="rId26"/>
      <p:italic r:id="rId27"/>
      <p:boldItalic r:id="rId28"/>
    </p:embeddedFont>
    <p:embeddedFont>
      <p:font typeface="Noto Sans" panose="020B0502040504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DD846-E312-4F47-9C7E-25E94B8F68C5}" v="1" dt="2026-03-12T17:51:04.33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40" Type="http://schemas.openxmlformats.org/officeDocument/2006/relationships/slide" Target="slides/slide23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3-12T18:40:08.203" v="5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1:19.513" v="2" actId="1076"/>
        <pc:sldMkLst>
          <pc:docMk/>
          <pc:sldMk cId="0" sldId="258"/>
        </pc:sldMkLst>
        <pc:graphicFrameChg chg="add mod">
          <ac:chgData name="Rohan Myron Oprisko" userId="a7c52ab4-f8b1-4d15-aaf6-6388cc510347" providerId="ADAL" clId="{EEEE6C0E-EB18-4E43-B633-E5F95274828B}" dt="2026-03-12T17:51:19.513" v="2" actId="1076"/>
          <ac:graphicFrameMkLst>
            <pc:docMk/>
            <pc:sldMk cId="0" sldId="258"/>
            <ac:graphicFrameMk id="2" creationId="{A74BA5C1-2E6F-DDDD-FFBA-AAF34461C16E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40:08.203" v="5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40:08.203" v="5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0:58.875" v="0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0:58.875" v="0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undo custSel addSld delSld modSld">
      <pc:chgData name="David Arturo Baltazar Sanchez" userId="25f522d3-6b93-447f-8e87-5af7c1a8f0db" providerId="ADAL" clId="{1167E2C4-85EE-4FA3-A5C3-376395AAEEB6}" dt="2026-03-11T19:03:13.610" v="70" actId="20577"/>
      <pc:docMkLst>
        <pc:docMk/>
      </pc:docMkLst>
      <pc:sldChg chg="del">
        <pc:chgData name="David Arturo Baltazar Sanchez" userId="25f522d3-6b93-447f-8e87-5af7c1a8f0db" providerId="ADAL" clId="{1167E2C4-85EE-4FA3-A5C3-376395AAEEB6}" dt="2026-03-11T00:35:35.738" v="67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3:13.610" v="70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3:13.610" v="70" actId="20577"/>
          <ac:spMkLst>
            <pc:docMk/>
            <pc:sldMk cId="0" sldId="260"/>
            <ac:spMk id="145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1T00:23:45.133" v="29" actId="478"/>
        <pc:sldMkLst>
          <pc:docMk/>
          <pc:sldMk cId="0" sldId="261"/>
        </pc:sldMkLst>
        <pc:spChg chg="del">
          <ac:chgData name="David Arturo Baltazar Sanchez" userId="25f522d3-6b93-447f-8e87-5af7c1a8f0db" providerId="ADAL" clId="{1167E2C4-85EE-4FA3-A5C3-376395AAEEB6}" dt="2026-03-11T00:23:45.133" v="29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43.974" v="28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new del">
        <pc:chgData name="David Arturo Baltazar Sanchez" userId="25f522d3-6b93-447f-8e87-5af7c1a8f0db" providerId="ADAL" clId="{1167E2C4-85EE-4FA3-A5C3-376395AAEEB6}" dt="2026-03-11T00:26:23.643" v="31" actId="47"/>
        <pc:sldMkLst>
          <pc:docMk/>
          <pc:sldMk cId="928051043" sldId="288"/>
        </pc:sldMkLst>
      </pc:sldChg>
      <pc:sldChg chg="new del">
        <pc:chgData name="David Arturo Baltazar Sanchez" userId="25f522d3-6b93-447f-8e87-5af7c1a8f0db" providerId="ADAL" clId="{1167E2C4-85EE-4FA3-A5C3-376395AAEEB6}" dt="2026-03-11T00:47:14.693" v="68" actId="47"/>
        <pc:sldMkLst>
          <pc:docMk/>
          <pc:sldMk cId="1080931811" sldId="288"/>
        </pc:sldMkLst>
      </pc:sldChg>
      <pc:sldChg chg="new del">
        <pc:chgData name="David Arturo Baltazar Sanchez" userId="25f522d3-6b93-447f-8e87-5af7c1a8f0db" providerId="ADAL" clId="{1167E2C4-85EE-4FA3-A5C3-376395AAEEB6}" dt="2026-03-11T00:26:36.074" v="33" actId="47"/>
        <pc:sldMkLst>
          <pc:docMk/>
          <pc:sldMk cId="1478125461" sldId="288"/>
        </pc:sldMkLst>
      </pc:sldChg>
      <pc:sldChg chg="new del">
        <pc:chgData name="David Arturo Baltazar Sanchez" userId="25f522d3-6b93-447f-8e87-5af7c1a8f0db" providerId="ADAL" clId="{1167E2C4-85EE-4FA3-A5C3-376395AAEEB6}" dt="2026-03-11T00:28:44.016" v="35" actId="680"/>
        <pc:sldMkLst>
          <pc:docMk/>
          <pc:sldMk cId="2538647063" sldId="288"/>
        </pc:sldMkLst>
      </pc:sldChg>
      <pc:sldChg chg="new">
        <pc:chgData name="David Arturo Baltazar Sanchez" userId="25f522d3-6b93-447f-8e87-5af7c1a8f0db" providerId="ADAL" clId="{1167E2C4-85EE-4FA3-A5C3-376395AAEEB6}" dt="2026-03-11T00:29:46.743" v="37" actId="680"/>
        <pc:sldMkLst>
          <pc:docMk/>
          <pc:sldMk cId="1990800304" sldId="289"/>
        </pc:sldMkLst>
      </pc:sldChg>
      <pc:sldChg chg="new del">
        <pc:chgData name="David Arturo Baltazar Sanchez" userId="25f522d3-6b93-447f-8e87-5af7c1a8f0db" providerId="ADAL" clId="{1167E2C4-85EE-4FA3-A5C3-376395AAEEB6}" dt="2026-03-11T00:32:03.604" v="43" actId="680"/>
        <pc:sldMkLst>
          <pc:docMk/>
          <pc:sldMk cId="419254101" sldId="290"/>
        </pc:sldMkLst>
      </pc:sldChg>
      <pc:sldChg chg="new del">
        <pc:chgData name="David Arturo Baltazar Sanchez" userId="25f522d3-6b93-447f-8e87-5af7c1a8f0db" providerId="ADAL" clId="{1167E2C4-85EE-4FA3-A5C3-376395AAEEB6}" dt="2026-03-11T00:31:06.802" v="41" actId="47"/>
        <pc:sldMkLst>
          <pc:docMk/>
          <pc:sldMk cId="1188354318" sldId="290"/>
        </pc:sldMkLst>
      </pc:sldChg>
      <pc:sldChg chg="addSp modSp new mod">
        <pc:chgData name="David Arturo Baltazar Sanchez" userId="25f522d3-6b93-447f-8e87-5af7c1a8f0db" providerId="ADAL" clId="{1167E2C4-85EE-4FA3-A5C3-376395AAEEB6}" dt="2026-03-11T00:34:00.644" v="66" actId="20577"/>
        <pc:sldMkLst>
          <pc:docMk/>
          <pc:sldMk cId="2277926431" sldId="290"/>
        </pc:sldMkLst>
        <pc:graphicFrameChg chg="add mod modGraphic">
          <ac:chgData name="David Arturo Baltazar Sanchez" userId="25f522d3-6b93-447f-8e87-5af7c1a8f0db" providerId="ADAL" clId="{1167E2C4-85EE-4FA3-A5C3-376395AAEEB6}" dt="2026-03-11T00:34:00.644" v="66" actId="20577"/>
          <ac:graphicFrameMkLst>
            <pc:docMk/>
            <pc:sldMk cId="2277926431" sldId="290"/>
            <ac:graphicFrameMk id="2" creationId="{47ECCB65-5E51-65E2-D82B-1623D1CC8DFA}"/>
          </ac:graphicFrameMkLst>
        </pc:graphicFrameChg>
      </pc:sldChg>
      <pc:sldChg chg="new del">
        <pc:chgData name="David Arturo Baltazar Sanchez" userId="25f522d3-6b93-447f-8e87-5af7c1a8f0db" providerId="ADAL" clId="{1167E2C4-85EE-4FA3-A5C3-376395AAEEB6}" dt="2026-03-11T00:32:47.754" v="45" actId="680"/>
        <pc:sldMkLst>
          <pc:docMk/>
          <pc:sldMk cId="2915184652" sldId="290"/>
        </pc:sldMkLst>
      </pc:sldChg>
      <pc:sldChg chg="new del">
        <pc:chgData name="David Arturo Baltazar Sanchez" userId="25f522d3-6b93-447f-8e87-5af7c1a8f0db" providerId="ADAL" clId="{1167E2C4-85EE-4FA3-A5C3-376395AAEEB6}" dt="2026-03-11T00:32:56.047" v="47" actId="680"/>
        <pc:sldMkLst>
          <pc:docMk/>
          <pc:sldMk cId="3598547803" sldId="290"/>
        </pc:sldMkLst>
      </pc:sldChg>
      <pc:sldChg chg="new del">
        <pc:chgData name="David Arturo Baltazar Sanchez" userId="25f522d3-6b93-447f-8e87-5af7c1a8f0db" providerId="ADAL" clId="{1167E2C4-85EE-4FA3-A5C3-376395AAEEB6}" dt="2026-03-11T00:31:02.012" v="39" actId="47"/>
        <pc:sldMkLst>
          <pc:docMk/>
          <pc:sldMk cId="3776525890" sldId="290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572920.0</c:v>
                </c:pt>
                <c:pt idx="1">
                  <c:v>197492.0</c:v>
                </c:pt>
                <c:pt idx="2">
                  <c:v>141352.0</c:v>
                </c:pt>
                <c:pt idx="3">
                  <c:v>9970.0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39</c:v>
                </c:pt>
                <c:pt idx="2">
                  <c:v>52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Industrias de la Transformación</c:v>
                </c:pt>
                <c:pt idx="4">
                  <c:v>Industria de la Construcción</c:v>
                </c:pt>
                <c:pt idx="5">
                  <c:v>Comercio</c:v>
                </c:pt>
                <c:pt idx="6">
                  <c:v>Servicios Sociales y Comunales</c:v>
                </c:pt>
                <c:pt idx="7">
                  <c:v>Ind Eléctrica y Captación y Suministro de Agua Potable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3418</c:v>
                </c:pt>
                <c:pt idx="1">
                  <c:v>14359</c:v>
                </c:pt>
                <c:pt idx="2">
                  <c:v>80855</c:v>
                </c:pt>
                <c:pt idx="3">
                  <c:v>9634</c:v>
                </c:pt>
                <c:pt idx="4">
                  <c:v>40436</c:v>
                </c:pt>
                <c:pt idx="5">
                  <c:v>42406</c:v>
                </c:pt>
                <c:pt idx="6">
                  <c:v>14284</c:v>
                </c:pt>
                <c:pt idx="7">
                  <c:v>1690</c:v>
                </c:pt>
                <c:pt idx="8">
                  <c:v>12278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Industrias de la Transformación</c:v>
                </c:pt>
                <c:pt idx="4">
                  <c:v>Industria de la Construcción</c:v>
                </c:pt>
                <c:pt idx="5">
                  <c:v>Comercio</c:v>
                </c:pt>
                <c:pt idx="6">
                  <c:v>Servicios Sociales y Comunales</c:v>
                </c:pt>
                <c:pt idx="7">
                  <c:v>Ind Eléctrica y Captación y Suministro de Agua Potable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2990</c:v>
                </c:pt>
                <c:pt idx="1">
                  <c:v>13747</c:v>
                </c:pt>
                <c:pt idx="2">
                  <c:v>81424</c:v>
                </c:pt>
                <c:pt idx="3">
                  <c:v>9770</c:v>
                </c:pt>
                <c:pt idx="4">
                  <c:v>41789</c:v>
                </c:pt>
                <c:pt idx="5">
                  <c:v>44136</c:v>
                </c:pt>
                <c:pt idx="6">
                  <c:v>14928</c:v>
                </c:pt>
                <c:pt idx="7">
                  <c:v>1769</c:v>
                </c:pt>
                <c:pt idx="8">
                  <c:v>12977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172330</c:v>
                </c:pt>
                <c:pt idx="1">
                  <c:v>184344</c:v>
                </c:pt>
                <c:pt idx="2">
                  <c:v>184856</c:v>
                </c:pt>
                <c:pt idx="3">
                  <c:v>167046</c:v>
                </c:pt>
                <c:pt idx="4">
                  <c:v>194402</c:v>
                </c:pt>
                <c:pt idx="5">
                  <c:v>214679</c:v>
                </c:pt>
                <c:pt idx="6">
                  <c:v>220529</c:v>
                </c:pt>
                <c:pt idx="7">
                  <c:v>219360</c:v>
                </c:pt>
                <c:pt idx="8">
                  <c:v>223530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 38 San José del Cabo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Medicina De Urgencias</c:v>
                </c:pt>
                <c:pt idx="1">
                  <c:v>Otorrinolaringologia Y Cirugia De Cabeza Y Cuello</c:v>
                </c:pt>
                <c:pt idx="2">
                  <c:v>Ginecologia Y Obstetricia</c:v>
                </c:pt>
                <c:pt idx="3">
                  <c:v>Medicina Interna</c:v>
                </c:pt>
                <c:pt idx="4">
                  <c:v>Gastroenterologia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 5 Guerrero Negro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Cirugia General</c:v>
                </c:pt>
                <c:pt idx="1">
                  <c:v>Anestesiologia</c:v>
                </c:pt>
                <c:pt idx="2">
                  <c:v>Ginecologia Y Obstetricia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2 Cd. Constitución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Anestesiologia</c:v>
                </c:pt>
                <c:pt idx="1">
                  <c:v>Oftalmologia</c:v>
                </c:pt>
                <c:pt idx="2">
                  <c:v>Medicina Interna</c:v>
                </c:pt>
                <c:pt idx="3">
                  <c:v>Ginecologia Y Obstetricia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26 Cabo San Lucas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Ginecologia Y Obstetricia</c:v>
                </c:pt>
                <c:pt idx="1">
                  <c:v>Cardiologia Pediatrica</c:v>
                </c:pt>
                <c:pt idx="2">
                  <c:v>Medicina Del Trabajo Y Ambiental</c:v>
                </c:pt>
                <c:pt idx="3">
                  <c:v>Cirugia General</c:v>
                </c:pt>
                <c:pt idx="4">
                  <c:v>Urgencias Pediatrica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 La Paz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Imagenologia Diagnostica Y Terapeutica</c:v>
                </c:pt>
                <c:pt idx="1">
                  <c:v>Oncologia Medica</c:v>
                </c:pt>
                <c:pt idx="2">
                  <c:v>Neurocirugia</c:v>
                </c:pt>
                <c:pt idx="3">
                  <c:v>Oftalmologia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19 Vizcaíno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40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Imagenologia Diagnostica Y Terapeutica</c:v>
                </c:pt>
                <c:pt idx="1">
                  <c:v>Medicina Del Trabajo Y Ambiental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UMF-UMAA 34 La Paz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Dermatologia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Baja California Sur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03_b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</p:spTree>
    <p:extLst>
      <p:ext uri="{BB962C8B-B14F-4D97-AF65-F5344CB8AC3E}">
        <p14:creationId xmlns:p14="http://schemas.microsoft.com/office/powerpoint/2010/main" val="199080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74BA5C1-2E6F-DDDD-FFBA-AAF34461C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528153"/>
              </p:ext>
            </p:extLst>
          </p:nvPr>
        </p:nvGraphicFramePr>
        <p:xfrm>
          <a:off x="313125" y="60833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4806387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794185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572,920</a:t>
            </a:r>
            <a:br/>
            <a:r>
              <a:t>62%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197,492</a:t>
            </a:r>
            <a:br/>
            <a:r>
              <a:t>21%</a:t>
            </a:r>
          </a:p>
        </p:txBody>
      </p:sp>
      <p:pic>
        <p:nvPicPr>
          <p:cNvPr id="129" name="Picture 128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141,352</a:t>
            </a:r>
            <a:br/>
            <a:r>
              <a:t>15%</a:t>
            </a:r>
          </a:p>
        </p:txBody>
      </p:sp>
      <p:pic>
        <p:nvPicPr>
          <p:cNvPr id="132" name="Picture 131" descr="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9,970</a:t>
            </a:r>
            <a:br/>
            <a:r>
              <a:t>1%</a:t>
            </a:r>
          </a:p>
        </p:txBody>
      </p:sp>
      <p:pic>
        <p:nvPicPr>
          <p:cNvPr id="135" name="Picture 134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921,734</a:t>
            </a: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486,036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572,920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272,243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342,691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181,598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222,255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36,811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58,290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60,575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1,795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479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-73%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213,793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230,229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115,767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109,359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375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482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3_b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342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162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14 UMF, 0 UMFH y 1 UMF-UMAA, y no incluye 7 Unidades Auxiliares de Medicina Familiar.</a:t>
            </a:r>
            <a:br/>
            <a:r>
              <a:t>2. Incluye la UMAA1,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/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4338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15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12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 Santa Rosalía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 Cabo San Lucas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 San Carlos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39 Cabo San Lucas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35 Guerrero Negro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 Villa Insurgentes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 Vizcaíno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 La Bocana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15 B. Asunción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B. Tortugas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 Loreto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10 Adolfo López Mateos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28,278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15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 San José del Cabo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26,695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34 La Paz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33,565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83,407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84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54</a:t>
            </a:r>
          </a:p>
        </p:txBody>
      </p:sp>
      <p:pic>
        <p:nvPicPr>
          <p:cNvPr id="12" name="Picture 11" descr="Mapa_draft_etiquetas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48803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34 La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27,375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1,748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3,479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03780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34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269,370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30,497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58,646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269,370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839,376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137,714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81,302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27,375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7ECCB65-5E51-65E2-D82B-1623D1CC8D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8879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1,921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926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3,328	 Personal de Salud: 5,567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+122.4%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129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+36.5%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572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781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+28.4%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933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1,198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+45.5%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661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962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+27.8%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-1.6%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73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36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3,826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325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48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1,397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427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5,975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(184,301)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(21,174)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(2,065)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(4,828)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(172)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(168,679)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(19,458)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(1,627)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(2,436)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(123)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(49,250)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(17,456)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(1,070)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(1,277)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(45,259)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(16,316)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(1,010)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 la vesicula biliar   (1,199)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(91)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(33,892)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(16,200)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(909)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(895)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38,708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255,627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14,953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321,214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2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141 piezas de equipo médico: 2 Mastógrafo, 54 Camilla, 83 Silla de ruedas, 2 Refrigerador para vacunas.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$21.7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23 piezas de equipo electromecánico: 23 Aires Acondicionados.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$179.7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6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$16.7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5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$25.8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4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$0.5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Urgencias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$11.0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$178.5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HGR de 260 camas, Los Cabos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$3,482.0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3,949.0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11764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Ampliación y remodelación UMF 8, Santa Rosalía 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$29.0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Centro de Lavado, La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Servicio de Hemodinamia en el HGZ/MF 1,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$40.0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Sustitución UMF No. 40 con 14+7 Consultorios, La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$202.0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UCIN del HGZ/MF 1,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$28.0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39, 10+5, Cabo San Lucas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$90.0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No. 40 14+7 consultorios La Fuente,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$71.9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electromecánico (18 componentes de equipo de aire acondicionado)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$142.0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6 unidades de primer nivel(UMF 3, UMF 34 UMAA, UMF 39, UMF 4, UMF 6, UMF 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imagen en 4 Unidades Médicas (HGSZ 5, HGSZMF 26, HGZ 1, HGZ 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$17.0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áreas de Patología en el HGZMF 1La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baños en 10 Unidades (HGSZ 38, HGSZ 5, HGSZMF 2, HGSZMF 26, HGZMF 1, UMF 3, UMF 34, UMAA UMF 39, UMF 4, UMF 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177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cocinas y comedores en el HGZMF 1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749.2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11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10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1,757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293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10457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0458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La Paz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3 La Paz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3_b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11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5,615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5,567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NEGOCIO AGRICOLA SAN ENRIQUE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1,961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2,129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COMISION FEDERAL DE ELECTRICIDAD EPE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SOLAYA HOSPITALITY MANAGEMENT GROUP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EXPORTADORA DE SAL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1,013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983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TIENDAS SORIANA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1,870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1,909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-12.52%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-4.26%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+0.70%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+1.41%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+3.35%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+4.08%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+4.51%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+4.67%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+5.69%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156,002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1,884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53,508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7,966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219,360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161,064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53,131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223,530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$643.24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$319.77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$643.24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$19,297.2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NEGOCIO AGRICOLA SAN ENRIQUE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$17,434.70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ESTRUCTURAS, CASA Y DISEÑOS D&amp;I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$13,912.30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MINERA Y METALURGICA DEL BOLEO S A P I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$13,414.74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Administración Portuaria Integral de Baja California Sur S.A. de C.V.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$13.84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Aeropuertos y Servicios Auxiliares Sin Tipo de Sociedad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$45.55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Exportadora de Sal S.A. de  C.V.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$183.25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Baja California Sur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Baja California Sur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174</Words>
  <Application>Microsoft Office PowerPoint</Application>
  <PresentationFormat>Personalizado</PresentationFormat>
  <Paragraphs>62</Paragraphs>
  <Slides>22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Montserrat</vt:lpstr>
      <vt:lpstr>Noto Sans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2026-03-12T18:40:10Z</dcterms:modified>
</cp:coreProperties>
</file>