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90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3" r:id="rId23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x="7772400" cy="10058400"/>
  <p:notesSz cx="6858000" cy="9144000"/>
  <p:embeddedFontLst>
    <p:embeddedFont>
      <p:font typeface="Montserrat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1DD846-E312-4F47-9C7E-25E94B8F68C5}" v="1" dt="2026-03-12T17:51:04.33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3-12T18:40:08.203" v="5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1:19.513" v="2" actId="1076"/>
        <pc:sldMkLst>
          <pc:docMk/>
          <pc:sldMk cId="0" sldId="258"/>
        </pc:sldMkLst>
        <pc:graphicFrameChg chg="add mod">
          <ac:chgData name="Rohan Myron Oprisko" userId="a7c52ab4-f8b1-4d15-aaf6-6388cc510347" providerId="ADAL" clId="{EEEE6C0E-EB18-4E43-B633-E5F95274828B}" dt="2026-03-12T17:51:19.513" v="2" actId="1076"/>
          <ac:graphicFrameMkLst>
            <pc:docMk/>
            <pc:sldMk cId="0" sldId="258"/>
            <ac:graphicFrameMk id="2" creationId="{A74BA5C1-2E6F-DDDD-FFBA-AAF34461C16E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40:08.203" v="5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40:08.203" v="5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0:58.875" v="0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0:58.875" v="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undo custSel addSld delSld modSld">
      <pc:chgData name="David Arturo Baltazar Sanchez" userId="25f522d3-6b93-447f-8e87-5af7c1a8f0db" providerId="ADAL" clId="{1167E2C4-85EE-4FA3-A5C3-376395AAEEB6}" dt="2026-03-11T19:03:13.610" v="70" actId="20577"/>
      <pc:docMkLst>
        <pc:docMk/>
      </pc:docMkLst>
      <pc:sldChg chg="del">
        <pc:chgData name="David Arturo Baltazar Sanchez" userId="25f522d3-6b93-447f-8e87-5af7c1a8f0db" providerId="ADAL" clId="{1167E2C4-85EE-4FA3-A5C3-376395AAEEB6}" dt="2026-03-11T00:35:35.738" v="67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3:13.610" v="70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3:13.610" v="70" actId="20577"/>
          <ac:spMkLst>
            <pc:docMk/>
            <pc:sldMk cId="0" sldId="260"/>
            <ac:spMk id="145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1T00:23:45.133" v="29" actId="478"/>
        <pc:sldMkLst>
          <pc:docMk/>
          <pc:sldMk cId="0" sldId="261"/>
        </pc:sldMkLst>
        <pc:spChg chg="del">
          <ac:chgData name="David Arturo Baltazar Sanchez" userId="25f522d3-6b93-447f-8e87-5af7c1a8f0db" providerId="ADAL" clId="{1167E2C4-85EE-4FA3-A5C3-376395AAEEB6}" dt="2026-03-11T00:23:45.133" v="29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43.974" v="28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new del">
        <pc:chgData name="David Arturo Baltazar Sanchez" userId="25f522d3-6b93-447f-8e87-5af7c1a8f0db" providerId="ADAL" clId="{1167E2C4-85EE-4FA3-A5C3-376395AAEEB6}" dt="2026-03-11T00:26:23.643" v="31" actId="47"/>
        <pc:sldMkLst>
          <pc:docMk/>
          <pc:sldMk cId="928051043" sldId="288"/>
        </pc:sldMkLst>
      </pc:sldChg>
      <pc:sldChg chg="new del">
        <pc:chgData name="David Arturo Baltazar Sanchez" userId="25f522d3-6b93-447f-8e87-5af7c1a8f0db" providerId="ADAL" clId="{1167E2C4-85EE-4FA3-A5C3-376395AAEEB6}" dt="2026-03-11T00:47:14.693" v="68" actId="47"/>
        <pc:sldMkLst>
          <pc:docMk/>
          <pc:sldMk cId="1080931811" sldId="288"/>
        </pc:sldMkLst>
      </pc:sldChg>
      <pc:sldChg chg="new del">
        <pc:chgData name="David Arturo Baltazar Sanchez" userId="25f522d3-6b93-447f-8e87-5af7c1a8f0db" providerId="ADAL" clId="{1167E2C4-85EE-4FA3-A5C3-376395AAEEB6}" dt="2026-03-11T00:26:36.074" v="33" actId="47"/>
        <pc:sldMkLst>
          <pc:docMk/>
          <pc:sldMk cId="1478125461" sldId="288"/>
        </pc:sldMkLst>
      </pc:sldChg>
      <pc:sldChg chg="new del">
        <pc:chgData name="David Arturo Baltazar Sanchez" userId="25f522d3-6b93-447f-8e87-5af7c1a8f0db" providerId="ADAL" clId="{1167E2C4-85EE-4FA3-A5C3-376395AAEEB6}" dt="2026-03-11T00:28:44.016" v="35" actId="680"/>
        <pc:sldMkLst>
          <pc:docMk/>
          <pc:sldMk cId="2538647063" sldId="288"/>
        </pc:sldMkLst>
      </pc:sldChg>
      <pc:sldChg chg="new">
        <pc:chgData name="David Arturo Baltazar Sanchez" userId="25f522d3-6b93-447f-8e87-5af7c1a8f0db" providerId="ADAL" clId="{1167E2C4-85EE-4FA3-A5C3-376395AAEEB6}" dt="2026-03-11T00:29:46.743" v="37" actId="680"/>
        <pc:sldMkLst>
          <pc:docMk/>
          <pc:sldMk cId="1990800304" sldId="289"/>
        </pc:sldMkLst>
      </pc:sldChg>
      <pc:sldChg chg="new del">
        <pc:chgData name="David Arturo Baltazar Sanchez" userId="25f522d3-6b93-447f-8e87-5af7c1a8f0db" providerId="ADAL" clId="{1167E2C4-85EE-4FA3-A5C3-376395AAEEB6}" dt="2026-03-11T00:32:03.604" v="43" actId="680"/>
        <pc:sldMkLst>
          <pc:docMk/>
          <pc:sldMk cId="419254101" sldId="290"/>
        </pc:sldMkLst>
      </pc:sldChg>
      <pc:sldChg chg="new del">
        <pc:chgData name="David Arturo Baltazar Sanchez" userId="25f522d3-6b93-447f-8e87-5af7c1a8f0db" providerId="ADAL" clId="{1167E2C4-85EE-4FA3-A5C3-376395AAEEB6}" dt="2026-03-11T00:31:06.802" v="41" actId="47"/>
        <pc:sldMkLst>
          <pc:docMk/>
          <pc:sldMk cId="1188354318" sldId="290"/>
        </pc:sldMkLst>
      </pc:sldChg>
      <pc:sldChg chg="addSp modSp new mod">
        <pc:chgData name="David Arturo Baltazar Sanchez" userId="25f522d3-6b93-447f-8e87-5af7c1a8f0db" providerId="ADAL" clId="{1167E2C4-85EE-4FA3-A5C3-376395AAEEB6}" dt="2026-03-11T00:34:00.644" v="66" actId="20577"/>
        <pc:sldMkLst>
          <pc:docMk/>
          <pc:sldMk cId="2277926431" sldId="290"/>
        </pc:sldMkLst>
        <pc:graphicFrameChg chg="add mod modGraphic">
          <ac:chgData name="David Arturo Baltazar Sanchez" userId="25f522d3-6b93-447f-8e87-5af7c1a8f0db" providerId="ADAL" clId="{1167E2C4-85EE-4FA3-A5C3-376395AAEEB6}" dt="2026-03-11T00:34:00.644" v="66" actId="20577"/>
          <ac:graphicFrameMkLst>
            <pc:docMk/>
            <pc:sldMk cId="2277926431" sldId="290"/>
            <ac:graphicFrameMk id="2" creationId="{47ECCB65-5E51-65E2-D82B-1623D1CC8DFA}"/>
          </ac:graphicFrameMkLst>
        </pc:graphicFrameChg>
      </pc:sldChg>
      <pc:sldChg chg="new del">
        <pc:chgData name="David Arturo Baltazar Sanchez" userId="25f522d3-6b93-447f-8e87-5af7c1a8f0db" providerId="ADAL" clId="{1167E2C4-85EE-4FA3-A5C3-376395AAEEB6}" dt="2026-03-11T00:32:47.754" v="45" actId="680"/>
        <pc:sldMkLst>
          <pc:docMk/>
          <pc:sldMk cId="2915184652" sldId="290"/>
        </pc:sldMkLst>
      </pc:sldChg>
      <pc:sldChg chg="new del">
        <pc:chgData name="David Arturo Baltazar Sanchez" userId="25f522d3-6b93-447f-8e87-5af7c1a8f0db" providerId="ADAL" clId="{1167E2C4-85EE-4FA3-A5C3-376395AAEEB6}" dt="2026-03-11T00:32:56.047" v="47" actId="680"/>
        <pc:sldMkLst>
          <pc:docMk/>
          <pc:sldMk cId="3598547803" sldId="290"/>
        </pc:sldMkLst>
      </pc:sldChg>
      <pc:sldChg chg="new del">
        <pc:chgData name="David Arturo Baltazar Sanchez" userId="25f522d3-6b93-447f-8e87-5af7c1a8f0db" providerId="ADAL" clId="{1167E2C4-85EE-4FA3-A5C3-376395AAEEB6}" dt="2026-03-11T00:31:02.012" v="39" actId="47"/>
        <pc:sldMkLst>
          <pc:docMk/>
          <pc:sldMk cId="3776525890" sldId="29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4431606.0</c:v>
                </c:pt>
                <c:pt idx="1">
                  <c:v>329033.0</c:v>
                </c:pt>
                <c:pt idx="2">
                  <c:v>1733423.0</c:v>
                </c:pt>
                <c:pt idx="3">
                  <c:v>22140.0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</c:v>
                </c:pt>
                <c:pt idx="1">
                  <c:v>677</c:v>
                </c:pt>
                <c:pt idx="2">
                  <c:v>637</c:v>
                </c:pt>
                <c:pt idx="3">
                  <c:v>616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4831</c:v>
                </c:pt>
                <c:pt idx="1">
                  <c:v>11468</c:v>
                </c:pt>
                <c:pt idx="2">
                  <c:v>170910</c:v>
                </c:pt>
                <c:pt idx="3">
                  <c:v>667785</c:v>
                </c:pt>
                <c:pt idx="4">
                  <c:v>176193</c:v>
                </c:pt>
                <c:pt idx="5">
                  <c:v>384085</c:v>
                </c:pt>
                <c:pt idx="6">
                  <c:v>391729</c:v>
                </c:pt>
                <c:pt idx="7">
                  <c:v>129179</c:v>
                </c:pt>
                <c:pt idx="8">
                  <c:v>12053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Industrias de la Transformación</c:v>
                </c:pt>
                <c:pt idx="4">
                  <c:v>Industria de la Construcción</c:v>
                </c:pt>
                <c:pt idx="5">
                  <c:v>Comercio</c:v>
                </c:pt>
                <c:pt idx="6">
                  <c:v>Servicios para Empresas, Personas y el Hogar</c:v>
                </c:pt>
                <c:pt idx="7">
                  <c:v>Servicios Sociales y Comunales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4338</c:v>
                </c:pt>
                <c:pt idx="1">
                  <c:v>10841</c:v>
                </c:pt>
                <c:pt idx="2">
                  <c:v>169230</c:v>
                </c:pt>
                <c:pt idx="3">
                  <c:v>669651</c:v>
                </c:pt>
                <c:pt idx="4">
                  <c:v>177593</c:v>
                </c:pt>
                <c:pt idx="5">
                  <c:v>389467</c:v>
                </c:pt>
                <c:pt idx="6">
                  <c:v>397309</c:v>
                </c:pt>
                <c:pt idx="7">
                  <c:v>132116</c:v>
                </c:pt>
                <c:pt idx="8">
                  <c:v>12487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1585283</c:v>
                </c:pt>
                <c:pt idx="1">
                  <c:v>1637084</c:v>
                </c:pt>
                <c:pt idx="2">
                  <c:v>1655126</c:v>
                </c:pt>
                <c:pt idx="3">
                  <c:v>1626099</c:v>
                </c:pt>
                <c:pt idx="4">
                  <c:v>1733020</c:v>
                </c:pt>
                <c:pt idx="5">
                  <c:v>1807149</c:v>
                </c:pt>
                <c:pt idx="6">
                  <c:v>1884748</c:v>
                </c:pt>
                <c:pt idx="7">
                  <c:v>1948233</c:v>
                </c:pt>
                <c:pt idx="8">
                  <c:v>1963032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10 Sabinas Hgo.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11 Montemorelos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 Urgencias</c:v>
                </c:pt>
                <c:pt idx="1">
                  <c:v>Urgencias Pediatrica</c:v>
                </c:pt>
                <c:pt idx="2">
                  <c:v>Medicina Familiar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12 Linares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Cirugia General</c:v>
                </c:pt>
                <c:pt idx="1">
                  <c:v>Medicina Familiar</c:v>
                </c:pt>
                <c:pt idx="2">
                  <c:v>Medicina Interna</c:v>
                </c:pt>
                <c:pt idx="3">
                  <c:v>Pediatria</c:v>
                </c:pt>
                <c:pt idx="4">
                  <c:v>Medicina De Urgencias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6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17 Monterrey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Cardiologia</c:v>
                </c:pt>
                <c:pt idx="1">
                  <c:v>Dermatologia</c:v>
                </c:pt>
                <c:pt idx="2">
                  <c:v>Medicina Del Enfermo Pediatrico En Estado Critico</c:v>
                </c:pt>
                <c:pt idx="3">
                  <c:v>Cirugia General</c:v>
                </c:pt>
                <c:pt idx="4">
                  <c:v>Medicina Interna</c:v>
                </c:pt>
                <c:pt idx="5">
                  <c:v>Medicina Del Enfermo En Estado Critico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33 Félix U. Gómez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Cardiologia</c:v>
                </c:pt>
                <c:pt idx="1">
                  <c:v>Medicina Interna</c:v>
                </c:pt>
                <c:pt idx="2">
                  <c:v>Geriatria Directa</c:v>
                </c:pt>
                <c:pt idx="3">
                  <c:v>Cirugia General</c:v>
                </c:pt>
                <c:pt idx="4">
                  <c:v>Otorrinolaringologia Y Cirugia De Cabeza Y Cuello</c:v>
                </c:pt>
                <c:pt idx="5">
                  <c:v>Audiologia, Otoneurologia Y Foniatria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 Villa Guadalupe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Gastroenterologia</c:v>
                </c:pt>
                <c:pt idx="1">
                  <c:v>Otorrinolaringologia Y Cirugia De Cabeza Y Cuello</c:v>
                </c:pt>
                <c:pt idx="2">
                  <c:v>Medicina Interna</c:v>
                </c:pt>
                <c:pt idx="3">
                  <c:v>Urgencias Pediatrica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67 Apodaca (Total: 12)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Cirugia Pediatrica</c:v>
                </c:pt>
                <c:pt idx="1">
                  <c:v>Cirugia Plastica Y Reconstructiva</c:v>
                </c:pt>
                <c:pt idx="2">
                  <c:v>Cardiologia</c:v>
                </c:pt>
                <c:pt idx="3">
                  <c:v>Medicina Interna</c:v>
                </c:pt>
                <c:pt idx="4">
                  <c:v>Geriatria Directa</c:v>
                </c:pt>
                <c:pt idx="5">
                  <c:v>Medicina Del Enfermo En Estado Critico</c:v>
                </c:pt>
                <c:pt idx="6">
                  <c:v>Imagenologia Diagnostica Y Terapeutica</c:v>
                </c:pt>
                <c:pt idx="7">
                  <c:v>Medicina Familiar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Monterrey (Total: 11)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Cirugia Oncologica</c:v>
                </c:pt>
                <c:pt idx="1">
                  <c:v>Medicina Interna</c:v>
                </c:pt>
                <c:pt idx="2">
                  <c:v>Medicina Familiar</c:v>
                </c:pt>
                <c:pt idx="3">
                  <c:v>Nefrologia</c:v>
                </c:pt>
                <c:pt idx="4">
                  <c:v>Dermatologia</c:v>
                </c:pt>
                <c:pt idx="5">
                  <c:v>Infectologia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6 S. Nicolas Garza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Interna</c:v>
                </c:pt>
                <c:pt idx="1">
                  <c:v>Geriatria Directa</c:v>
                </c:pt>
                <c:pt idx="2">
                  <c:v>Cardiologia</c:v>
                </c:pt>
                <c:pt idx="3">
                  <c:v>Medicina Del Trabajo Y Ambiental</c:v>
                </c:pt>
                <c:pt idx="4">
                  <c:v>Cirugia Pediatrica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15 Monterrey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19 Apodaca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Familiar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20 V. Juárez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24 Villa García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27 V. Guadalupe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28 Monterrey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29 V. Guadalupe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 Monterrey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31 S. Nicolas Garza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36 Monterrey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37 Monterrey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39 Monterrey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42 El Carmen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Escobedo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44 Ciénega Flores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45 Hidalgo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52 San Rafael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53 Galeana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64 Sta. Catarina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66 Pueblo Nuevo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68 Rincón de la Sierra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69 Lincoln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70 Zuazua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71 Metroplex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73 San Nicolas de los Garza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 El Cercado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 Salinas Victoria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7 San Pedro Garza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Medicina Del Trabajo Y Ambiental</c:v>
                </c:pt>
                <c:pt idx="1">
                  <c:v>Cirugia Plastica Y Reconstructiva</c:v>
                </c:pt>
                <c:pt idx="2">
                  <c:v>Endoscopia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14 Cadereyta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UMFH 16 Allende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HC 34 Monterrey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Cardiologia</c:v>
                </c:pt>
                <c:pt idx="1">
                  <c:v>Medicina Interna</c:v>
                </c:pt>
                <c:pt idx="2">
                  <c:v>Medicina Del Enfermo En Estado Critico</c:v>
                </c:pt>
                <c:pt idx="3">
                  <c:v>Medicina Nuclear E Imagenologia Molecular</c:v>
                </c:pt>
                <c:pt idx="4">
                  <c:v>Patologia Clinica</c:v>
                </c:pt>
                <c:pt idx="5">
                  <c:v>Angiologia Y Cirugia Vascular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HTO 21 Monterrey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Cirugia Plastica Y Reconstructiva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HGO 23 Monterrey (Total: 8)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Del Enfermo En Estado Critico</c:v>
                </c:pt>
                <c:pt idx="1">
                  <c:v>Neonatologia</c:v>
                </c:pt>
                <c:pt idx="2">
                  <c:v>Medicina Interna</c:v>
                </c:pt>
                <c:pt idx="3">
                  <c:v>Urologia Ginecologica</c:v>
                </c:pt>
                <c:pt idx="4">
                  <c:v>Biologia De La Reproduccion Humana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HES 25 Monterrey (Total: 7)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Endoscopia</c:v>
                </c:pt>
                <c:pt idx="1">
                  <c:v>Otorrinolaringologia Y Cirugia De Cabeza Y Cuello</c:v>
                </c:pt>
                <c:pt idx="2">
                  <c:v>Oncologia Pediatrica</c:v>
                </c:pt>
                <c:pt idx="3">
                  <c:v>Gastroenterologia Y Nutricion Pediatrica</c:v>
                </c:pt>
                <c:pt idx="4">
                  <c:v>Infectologia Pediatrica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3.xml"/><Relationship Id="rId3" Type="http://schemas.openxmlformats.org/officeDocument/2006/relationships/chart" Target="../charts/chart34.xml"/><Relationship Id="rId4" Type="http://schemas.openxmlformats.org/officeDocument/2006/relationships/chart" Target="../charts/chart35.xml"/><Relationship Id="rId5" Type="http://schemas.openxmlformats.org/officeDocument/2006/relationships/chart" Target="../charts/chart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7.xml"/><Relationship Id="rId3" Type="http://schemas.openxmlformats.org/officeDocument/2006/relationships/chart" Target="../charts/chart38.xml"/><Relationship Id="rId4" Type="http://schemas.openxmlformats.org/officeDocument/2006/relationships/chart" Target="../charts/chart39.xml"/><Relationship Id="rId5" Type="http://schemas.openxmlformats.org/officeDocument/2006/relationships/chart" Target="../charts/chart4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4.xml"/><Relationship Id="rId3" Type="http://schemas.openxmlformats.org/officeDocument/2006/relationships/chart" Target="../charts/chart4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6.xml"/><Relationship Id="rId3" Type="http://schemas.openxmlformats.org/officeDocument/2006/relationships/chart" Target="../charts/char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Nuevo León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9_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  <p:extLst>
      <p:ext uri="{BB962C8B-B14F-4D97-AF65-F5344CB8AC3E}">
        <p14:creationId xmlns:p14="http://schemas.microsoft.com/office/powerpoint/2010/main" val="199080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74BA5C1-2E6F-DDDD-FFBA-AAF34461C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528153"/>
              </p:ext>
            </p:extLst>
          </p:nvPr>
        </p:nvGraphicFramePr>
        <p:xfrm>
          <a:off x="313125" y="60833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4806387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794185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4,431,606</a:t>
            </a:r>
            <a:br/>
            <a:r>
              <a:t>68%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329,033</a:t>
            </a:r>
            <a:br/>
            <a:r>
              <a:t>5%</a:t>
            </a:r>
          </a:p>
        </p:txBody>
      </p:sp>
      <p:pic>
        <p:nvPicPr>
          <p:cNvPr id="129" name="Picture 128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1,733,423</a:t>
            </a:r>
            <a:br/>
            <a:r>
              <a:t>27%</a:t>
            </a:r>
          </a:p>
        </p:txBody>
      </p:sp>
      <p:pic>
        <p:nvPicPr>
          <p:cNvPr id="132" name="Picture 131" descr="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955500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22,140</a:t>
            </a:r>
            <a:br/>
            <a:r>
              <a:t>0.34%</a:t>
            </a:r>
          </a:p>
        </p:txBody>
      </p:sp>
      <p:pic>
        <p:nvPicPr>
          <p:cNvPr id="135" name="Picture 134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6,516,202</a:t>
            </a:r>
          </a:p>
        </p:txBody>
      </p:sp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4,122,799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4,431,606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2,310,445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2,538,336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1,608,191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1,946,300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476,385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326,998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180,706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289,905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140,857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-51%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12,699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4,547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1,812,354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1,893,270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663,871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726,027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898,001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818,233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349,010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9" name="TextBox 138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20,365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29,115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9_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Tercer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2,606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1,082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46 UMF, 3 UMFH y 1 UMF-UMAA, y no incluye 7 Unidades Auxiliares de Medicina Familiar.</a:t>
            </a:r>
            <a:br/>
            <a:r>
              <a:t>2. Incluye la UMAA2,</a:t>
            </a:r>
            <a:br/>
            <a:r>
              <a:t>3. Incluye la UMFR 1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/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8" name="Table 147"/>
          <p:cNvGraphicFramePr>
            <a:graphicFrameLocks noGrp="1"/>
          </p:cNvGraphicFramePr>
          <p:nvPr/>
        </p:nvGraphicFramePr>
        <p:xfrm>
          <a:off x="363600" y="6300000"/>
          <a:ext cx="720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9" name="TextBox 148"/>
          <p:cNvSpPr txBox="1"/>
          <p:nvPr/>
        </p:nvSpPr>
        <p:spPr>
          <a:xfrm>
            <a:off x="370800" y="9504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76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graphicFrame>
        <p:nvGraphicFramePr>
          <p:cNvPr id="157" name="Table 156"/>
          <p:cNvGraphicFramePr>
            <a:graphicFrameLocks noGrp="1"/>
          </p:cNvGraphicFramePr>
          <p:nvPr/>
        </p:nvGraphicFramePr>
        <p:xfrm>
          <a:off x="280800" y="5252400"/>
          <a:ext cx="72864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13 Gral. Teran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San Nicolas de los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72 Buena Vista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La Ascención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55 Dr. Arroyo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Aramberri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53 Galeana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51 China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Cerralvo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49 Agualeguas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Cd. Anáhuac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47 Lampazos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Villa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Dr.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36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27,925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Hualahuises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151,444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43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 El Cercado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74,355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14 Cadereyta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19 Apodaca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V.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31,783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16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Villa García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7 San Pedro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58,265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Ciénega 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V.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57,935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S. Nicolas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62,179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17,360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V.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68,245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Salinas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Pino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Escobedo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46,431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39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S. Pedro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Sta. Catarina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22,785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33,803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68 Rincón de la Sierra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27,395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69 Lincoln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Zuazua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71 Metroplex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839,432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442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251</a:t>
            </a:r>
          </a:p>
        </p:txBody>
      </p:sp>
      <p:pic>
        <p:nvPicPr>
          <p:cNvPr id="12" name="Picture 11" descr="Mapa_draft_etiquetas_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59885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 San Pedro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85,775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5,589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11,466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025600"/>
          <a:ext cx="7477200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7,170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11,348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158,775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12,759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22,814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0378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69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151,110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10,878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36,108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 San Pedro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1,116,900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104,582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194,818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5349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UMFR 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31,566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HPSIQ 22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913,230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74,789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148,326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2,030,130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179,371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343,144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6,238,944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1,079,024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677,858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726,624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124,617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78,714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1,116,900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194,818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104,582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913,230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85,775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144000" y="4500000"/>
          <a:ext cx="7488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913,230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148,326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74,789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147600" y="450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UMAE</a:t>
            </a:r>
          </a:p>
        </p:txBody>
      </p:sp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7ECCB65-5E51-65E2-D82B-1623D1CC8D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8879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Miembro Pélvico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12,173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3,152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926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21,950	 Personal de Salud: 31,804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+122.0%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+31.6%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4,559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7,203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7,888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+17.9%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5,086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5,996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1,217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29,801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1,259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7,631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3,207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47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41,898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(1,388,602)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(157,291)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(14,680)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(22,202)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(1,712)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(1,361,429)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(125,977)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(12,133)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(15,821)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(1,414)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(330,821)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(96,256)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(11,735)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(12,540)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(1,192)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(217,199)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(91,462)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(9,284)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(10,163)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(676)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(198,819)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(64,046)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(7,558)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(7,259)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(653)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153,933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2,245,951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170,709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2,058,502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92.3%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445 piezas de equipo médico: 255 camillas, 133 sillas de ruedas, 10 mastógrafos, 4 tomógrafos, 25 refrigeradores para vacunas, 4 unidades de anestesia, 4 congeladores para vacunas, 2 monitores de signos vitales, 2 monitores de radiación, 3 angiógrafos, 3 resonadores magnéticos, 2 contadores gamma, 2 vidrios de plomo, 1 acelerador lineal y 1 cofre de plomo.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$658.0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66 piezas de equipo electromecánico: 40 aires acondicionados, 12 cuartos de máquinas, 6 plantas de lavado y 8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$576.1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13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$22.0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Atención Médica Continua en 14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$123.0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9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$48.5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25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$169.6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13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$162.2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Urgencias en 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$70.6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$1,121.5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2,991.8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de 3 consultorios en el HGSZ No. 12,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18 Unidades Médicas Familiares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30 salas de quirófanos en 7 Hospitales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y mejora de imagen de 3 Hospitales, HGSMF 10, HGSMF 11, HGSMF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Modernización y mantenimiento de Torres de Enfriamiento y máquinas generadoras de Agua Helada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$149.0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área de patología en 2 Hospitales, HGZ No. 4 y HGZ No. 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5 guarderías Ordinarias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alberca semi-olímpica, en C.S.S. No.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diversas unidades para los servicios de seguridad y salud en el trabajo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del Almacén Delegacional 1 era etapa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343.9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12,155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2,776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Monterrey 1, Monterrey 2 (San Nicolás de Los Garza), Cadereyta Jiménez (No. 5), Guadalupe Cercado (No. 3), Linares (No. 7), Montemorelos (No. 6), Sabinas Hidalgo (No. 4) e Independencia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32 Monterrey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9_n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31,460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31,804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14,562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10,911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11,095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-10.20%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-5.47%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-0.98%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+0.28%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+0.79%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+1.42%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+2.27%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+3.60%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1,768,692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4,592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174,493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1,948,233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1,788,341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169,592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1,963,032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$717.79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$384.68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$717.79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$21,533.7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CORPORATIVO MEXICANO DE SEGURIDAD PRIVADA Y TRASLADO DE VALORES INTERNAC SA DE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$23,922.71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COMPARTIDOS TSM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$28,412.44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SOLUCION DE PROBLEMAS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$12,356.65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$125.61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del Agua del Estado de Nuevo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$69.09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Nuevo León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22 HC Monterrey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18 HTO Monterrey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14 HGO Monterrey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UMAE 04 HES Monterrey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174</Words>
  <Application>Microsoft Office PowerPoint</Application>
  <PresentationFormat>Personalizado</PresentationFormat>
  <Paragraphs>62</Paragraphs>
  <Slides>22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Montserrat</vt:lpstr>
      <vt:lpstr>Noto Sans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2026-03-12T18:40:10Z</dcterms:modified>
</cp:coreProperties>
</file>