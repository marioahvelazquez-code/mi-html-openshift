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9" r:id="rId3"/>
    <p:sldId id="258" r:id="rId4"/>
    <p:sldId id="259" r:id="rId5"/>
    <p:sldId id="260" r:id="rId6"/>
    <p:sldId id="291" r:id="rId40"/>
    <p:sldId id="261" r:id="rId7"/>
    <p:sldId id="292" r:id="rId41"/>
    <p:sldId id="262" r:id="rId8"/>
    <p:sldId id="293" r:id="rId42"/>
    <p:sldId id="263" r:id="rId9"/>
    <p:sldId id="281" r:id="rId10"/>
    <p:sldId id="267" r:id="rId11"/>
    <p:sldId id="294" r:id="rId43"/>
    <p:sldId id="280" r:id="rId12"/>
    <p:sldId id="295" r:id="rId44"/>
    <p:sldId id="287" r:id="rId13"/>
    <p:sldId id="290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3" r:id="rId23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39"/>
    <p:sldId id="304" r:id="rId38"/>
    <p:sldId id="305" r:id="rId37"/>
    <p:sldId id="306" r:id="rId36"/>
    <p:sldId id="307" r:id="rId35"/>
    <p:sldId id="308" r:id="rId34"/>
    <p:sldId id="309" r:id="rId33"/>
  </p:sldIdLst>
  <p:sldSz cx="7772400" cy="10058400"/>
  <p:notesSz cx="6858000" cy="9144000"/>
  <p:embeddedFontLst>
    <p:embeddedFont>
      <p:font typeface="Montserrat" pitchFamily="2" charset="0"/>
      <p:regular r:id="rId25"/>
      <p:bold r:id="rId26"/>
      <p:italic r:id="rId27"/>
      <p:boldItalic r:id="rId28"/>
    </p:embeddedFont>
    <p:embeddedFont>
      <p:font typeface="Noto Sans" panose="020B0502040504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1DD846-E312-4F47-9C7E-25E94B8F68C5}" v="1" dt="2026-03-12T17:51:04.33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slide" Target="slides/slide41.xml"/><Relationship Id="rId34" Type="http://schemas.openxmlformats.org/officeDocument/2006/relationships/slide" Target="slides/slide40.xml"/><Relationship Id="rId35" Type="http://schemas.openxmlformats.org/officeDocument/2006/relationships/slide" Target="slides/slide39.xml"/><Relationship Id="rId36" Type="http://schemas.openxmlformats.org/officeDocument/2006/relationships/slide" Target="slides/slide38.xml"/><Relationship Id="rId37" Type="http://schemas.openxmlformats.org/officeDocument/2006/relationships/slide" Target="slides/slide37.xml"/><Relationship Id="rId38" Type="http://schemas.openxmlformats.org/officeDocument/2006/relationships/slide" Target="slides/slide36.xml"/><Relationship Id="rId39" Type="http://schemas.openxmlformats.org/officeDocument/2006/relationships/slide" Target="slides/slide35.xml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3-12T18:40:08.203" v="5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1:19.513" v="2" actId="1076"/>
        <pc:sldMkLst>
          <pc:docMk/>
          <pc:sldMk cId="0" sldId="258"/>
        </pc:sldMkLst>
        <pc:graphicFrameChg chg="add mod">
          <ac:chgData name="Rohan Myron Oprisko" userId="a7c52ab4-f8b1-4d15-aaf6-6388cc510347" providerId="ADAL" clId="{EEEE6C0E-EB18-4E43-B633-E5F95274828B}" dt="2026-03-12T17:51:19.513" v="2" actId="1076"/>
          <ac:graphicFrameMkLst>
            <pc:docMk/>
            <pc:sldMk cId="0" sldId="258"/>
            <ac:graphicFrameMk id="2" creationId="{A74BA5C1-2E6F-DDDD-FFBA-AAF34461C16E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40:08.203" v="5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40:08.203" v="5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0:58.875" v="0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0:58.875" v="0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undo custSel addSld delSld modSld">
      <pc:chgData name="David Arturo Baltazar Sanchez" userId="25f522d3-6b93-447f-8e87-5af7c1a8f0db" providerId="ADAL" clId="{1167E2C4-85EE-4FA3-A5C3-376395AAEEB6}" dt="2026-03-11T19:03:13.610" v="70" actId="20577"/>
      <pc:docMkLst>
        <pc:docMk/>
      </pc:docMkLst>
      <pc:sldChg chg="del">
        <pc:chgData name="David Arturo Baltazar Sanchez" userId="25f522d3-6b93-447f-8e87-5af7c1a8f0db" providerId="ADAL" clId="{1167E2C4-85EE-4FA3-A5C3-376395AAEEB6}" dt="2026-03-11T00:35:35.738" v="67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3:13.610" v="70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3:13.610" v="70" actId="20577"/>
          <ac:spMkLst>
            <pc:docMk/>
            <pc:sldMk cId="0" sldId="260"/>
            <ac:spMk id="145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1T00:23:45.133" v="29" actId="478"/>
        <pc:sldMkLst>
          <pc:docMk/>
          <pc:sldMk cId="0" sldId="261"/>
        </pc:sldMkLst>
        <pc:spChg chg="del">
          <ac:chgData name="David Arturo Baltazar Sanchez" userId="25f522d3-6b93-447f-8e87-5af7c1a8f0db" providerId="ADAL" clId="{1167E2C4-85EE-4FA3-A5C3-376395AAEEB6}" dt="2026-03-11T00:23:45.133" v="29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43.974" v="28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new del">
        <pc:chgData name="David Arturo Baltazar Sanchez" userId="25f522d3-6b93-447f-8e87-5af7c1a8f0db" providerId="ADAL" clId="{1167E2C4-85EE-4FA3-A5C3-376395AAEEB6}" dt="2026-03-11T00:26:23.643" v="31" actId="47"/>
        <pc:sldMkLst>
          <pc:docMk/>
          <pc:sldMk cId="928051043" sldId="288"/>
        </pc:sldMkLst>
      </pc:sldChg>
      <pc:sldChg chg="new del">
        <pc:chgData name="David Arturo Baltazar Sanchez" userId="25f522d3-6b93-447f-8e87-5af7c1a8f0db" providerId="ADAL" clId="{1167E2C4-85EE-4FA3-A5C3-376395AAEEB6}" dt="2026-03-11T00:47:14.693" v="68" actId="47"/>
        <pc:sldMkLst>
          <pc:docMk/>
          <pc:sldMk cId="1080931811" sldId="288"/>
        </pc:sldMkLst>
      </pc:sldChg>
      <pc:sldChg chg="new del">
        <pc:chgData name="David Arturo Baltazar Sanchez" userId="25f522d3-6b93-447f-8e87-5af7c1a8f0db" providerId="ADAL" clId="{1167E2C4-85EE-4FA3-A5C3-376395AAEEB6}" dt="2026-03-11T00:26:36.074" v="33" actId="47"/>
        <pc:sldMkLst>
          <pc:docMk/>
          <pc:sldMk cId="1478125461" sldId="288"/>
        </pc:sldMkLst>
      </pc:sldChg>
      <pc:sldChg chg="new del">
        <pc:chgData name="David Arturo Baltazar Sanchez" userId="25f522d3-6b93-447f-8e87-5af7c1a8f0db" providerId="ADAL" clId="{1167E2C4-85EE-4FA3-A5C3-376395AAEEB6}" dt="2026-03-11T00:28:44.016" v="35" actId="680"/>
        <pc:sldMkLst>
          <pc:docMk/>
          <pc:sldMk cId="2538647063" sldId="288"/>
        </pc:sldMkLst>
      </pc:sldChg>
      <pc:sldChg chg="new">
        <pc:chgData name="David Arturo Baltazar Sanchez" userId="25f522d3-6b93-447f-8e87-5af7c1a8f0db" providerId="ADAL" clId="{1167E2C4-85EE-4FA3-A5C3-376395AAEEB6}" dt="2026-03-11T00:29:46.743" v="37" actId="680"/>
        <pc:sldMkLst>
          <pc:docMk/>
          <pc:sldMk cId="1990800304" sldId="289"/>
        </pc:sldMkLst>
      </pc:sldChg>
      <pc:sldChg chg="new del">
        <pc:chgData name="David Arturo Baltazar Sanchez" userId="25f522d3-6b93-447f-8e87-5af7c1a8f0db" providerId="ADAL" clId="{1167E2C4-85EE-4FA3-A5C3-376395AAEEB6}" dt="2026-03-11T00:32:03.604" v="43" actId="680"/>
        <pc:sldMkLst>
          <pc:docMk/>
          <pc:sldMk cId="419254101" sldId="290"/>
        </pc:sldMkLst>
      </pc:sldChg>
      <pc:sldChg chg="new del">
        <pc:chgData name="David Arturo Baltazar Sanchez" userId="25f522d3-6b93-447f-8e87-5af7c1a8f0db" providerId="ADAL" clId="{1167E2C4-85EE-4FA3-A5C3-376395AAEEB6}" dt="2026-03-11T00:31:06.802" v="41" actId="47"/>
        <pc:sldMkLst>
          <pc:docMk/>
          <pc:sldMk cId="1188354318" sldId="290"/>
        </pc:sldMkLst>
      </pc:sldChg>
      <pc:sldChg chg="addSp modSp new mod">
        <pc:chgData name="David Arturo Baltazar Sanchez" userId="25f522d3-6b93-447f-8e87-5af7c1a8f0db" providerId="ADAL" clId="{1167E2C4-85EE-4FA3-A5C3-376395AAEEB6}" dt="2026-03-11T00:34:00.644" v="66" actId="20577"/>
        <pc:sldMkLst>
          <pc:docMk/>
          <pc:sldMk cId="2277926431" sldId="290"/>
        </pc:sldMkLst>
        <pc:graphicFrameChg chg="add mod modGraphic">
          <ac:chgData name="David Arturo Baltazar Sanchez" userId="25f522d3-6b93-447f-8e87-5af7c1a8f0db" providerId="ADAL" clId="{1167E2C4-85EE-4FA3-A5C3-376395AAEEB6}" dt="2026-03-11T00:34:00.644" v="66" actId="20577"/>
          <ac:graphicFrameMkLst>
            <pc:docMk/>
            <pc:sldMk cId="2277926431" sldId="290"/>
            <ac:graphicFrameMk id="2" creationId="{47ECCB65-5E51-65E2-D82B-1623D1CC8DFA}"/>
          </ac:graphicFrameMkLst>
        </pc:graphicFrameChg>
      </pc:sldChg>
      <pc:sldChg chg="new del">
        <pc:chgData name="David Arturo Baltazar Sanchez" userId="25f522d3-6b93-447f-8e87-5af7c1a8f0db" providerId="ADAL" clId="{1167E2C4-85EE-4FA3-A5C3-376395AAEEB6}" dt="2026-03-11T00:32:47.754" v="45" actId="680"/>
        <pc:sldMkLst>
          <pc:docMk/>
          <pc:sldMk cId="2915184652" sldId="290"/>
        </pc:sldMkLst>
      </pc:sldChg>
      <pc:sldChg chg="new del">
        <pc:chgData name="David Arturo Baltazar Sanchez" userId="25f522d3-6b93-447f-8e87-5af7c1a8f0db" providerId="ADAL" clId="{1167E2C4-85EE-4FA3-A5C3-376395AAEEB6}" dt="2026-03-11T00:32:56.047" v="47" actId="680"/>
        <pc:sldMkLst>
          <pc:docMk/>
          <pc:sldMk cId="3598547803" sldId="290"/>
        </pc:sldMkLst>
      </pc:sldChg>
      <pc:sldChg chg="new del">
        <pc:chgData name="David Arturo Baltazar Sanchez" userId="25f522d3-6b93-447f-8e87-5af7c1a8f0db" providerId="ADAL" clId="{1167E2C4-85EE-4FA3-A5C3-376395AAEEB6}" dt="2026-03-11T00:31:02.012" v="39" actId="47"/>
        <pc:sldMkLst>
          <pc:docMk/>
          <pc:sldMk cId="3776525890" sldId="290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2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3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4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5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6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8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9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0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1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2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3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4.xlsx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5.xlsx"/></Relationships>
</file>

<file path=ppt/charts/_rels/chart5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6.xlsx"/></Relationships>
</file>

<file path=ppt/charts/_rels/chart5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7.xlsx"/></Relationships>
</file>

<file path=ppt/charts/_rels/chart5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5404210.0</c:v>
                </c:pt>
                <c:pt idx="1">
                  <c:v>522707.0</c:v>
                </c:pt>
                <c:pt idx="2">
                  <c:v>3028115.0</c:v>
                </c:pt>
                <c:pt idx="3">
                  <c:v>26995.0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466</c:v>
                </c:pt>
                <c:pt idx="1">
                  <c:v>799</c:v>
                </c:pt>
                <c:pt idx="2">
                  <c:v>785</c:v>
                </c:pt>
                <c:pt idx="3">
                  <c:v>859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Industria de la Construcción</c:v>
                </c:pt>
                <c:pt idx="3">
                  <c:v>Transportes y Comunicaciones</c:v>
                </c:pt>
                <c:pt idx="4">
                  <c:v>Industrias de la Transformación</c:v>
                </c:pt>
                <c:pt idx="5">
                  <c:v>Servicios para Empresas, Personas y el Hogar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3178</c:v>
                </c:pt>
                <c:pt idx="1">
                  <c:v>120791</c:v>
                </c:pt>
                <c:pt idx="2">
                  <c:v>150547</c:v>
                </c:pt>
                <c:pt idx="3">
                  <c:v>120962</c:v>
                </c:pt>
                <c:pt idx="4">
                  <c:v>525533</c:v>
                </c:pt>
                <c:pt idx="5">
                  <c:v>397298</c:v>
                </c:pt>
                <c:pt idx="6">
                  <c:v>430692</c:v>
                </c:pt>
                <c:pt idx="7">
                  <c:v>292171</c:v>
                </c:pt>
                <c:pt idx="8">
                  <c:v>10500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Industria de la Construcción</c:v>
                </c:pt>
                <c:pt idx="3">
                  <c:v>Transportes y Comunicaciones</c:v>
                </c:pt>
                <c:pt idx="4">
                  <c:v>Industrias de la Transformación</c:v>
                </c:pt>
                <c:pt idx="5">
                  <c:v>Servicios para Empresas, Personas y el Hogar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3004</c:v>
                </c:pt>
                <c:pt idx="1">
                  <c:v>115480</c:v>
                </c:pt>
                <c:pt idx="2">
                  <c:v>148468</c:v>
                </c:pt>
                <c:pt idx="3">
                  <c:v>120088</c:v>
                </c:pt>
                <c:pt idx="4">
                  <c:v>524281</c:v>
                </c:pt>
                <c:pt idx="5">
                  <c:v>399546</c:v>
                </c:pt>
                <c:pt idx="6">
                  <c:v>437017</c:v>
                </c:pt>
                <c:pt idx="7">
                  <c:v>297599</c:v>
                </c:pt>
                <c:pt idx="8">
                  <c:v>10696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1738722</c:v>
                </c:pt>
                <c:pt idx="1">
                  <c:v>1792233</c:v>
                </c:pt>
                <c:pt idx="2">
                  <c:v>1837966</c:v>
                </c:pt>
                <c:pt idx="3">
                  <c:v>1800733</c:v>
                </c:pt>
                <c:pt idx="4">
                  <c:v>1874622</c:v>
                </c:pt>
                <c:pt idx="5">
                  <c:v>1964519</c:v>
                </c:pt>
                <c:pt idx="6">
                  <c:v>2017879</c:v>
                </c:pt>
                <c:pt idx="7">
                  <c:v>2051672</c:v>
                </c:pt>
                <c:pt idx="8">
                  <c:v>2056179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110 Oblatos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Dermatologia</c:v>
                </c:pt>
                <c:pt idx="1">
                  <c:v>Medicina Interna</c:v>
                </c:pt>
                <c:pt idx="2">
                  <c:v>Neonatologia</c:v>
                </c:pt>
                <c:pt idx="3">
                  <c:v>Alergia E Inmunologia Clinica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180 Tlajomulco (Total: 10)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Angiologia Y Cirugia Vascular</c:v>
                </c:pt>
                <c:pt idx="1">
                  <c:v>Urologia</c:v>
                </c:pt>
                <c:pt idx="2">
                  <c:v>Cirugia Plastica Y Reconstructiva</c:v>
                </c:pt>
                <c:pt idx="3">
                  <c:v>Dermatologia</c:v>
                </c:pt>
                <c:pt idx="4">
                  <c:v>Medicina Interna</c:v>
                </c:pt>
                <c:pt idx="5">
                  <c:v>Infectologia</c:v>
                </c:pt>
                <c:pt idx="6">
                  <c:v>Imagenologia Diagnostica Y Terapeutica</c:v>
                </c:pt>
                <c:pt idx="7">
                  <c:v>Cirugia Pediatrica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45 Guadalajara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Imagenologia Diagnostica Y Terapeutica</c:v>
                </c:pt>
                <c:pt idx="1">
                  <c:v>Neurologia</c:v>
                </c:pt>
                <c:pt idx="2">
                  <c:v>Medicina Interna</c:v>
                </c:pt>
                <c:pt idx="3">
                  <c:v>Medicina Del Enfermo En Estado Critico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46 Guadalajara (Total: 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Angiologia Y Cirugia Vascular</c:v>
                </c:pt>
                <c:pt idx="1">
                  <c:v>Medicina Interna</c:v>
                </c:pt>
                <c:pt idx="2">
                  <c:v>Imagenologia Diagnostica Y Terapeutica</c:v>
                </c:pt>
                <c:pt idx="3">
                  <c:v>Urologia</c:v>
                </c:pt>
                <c:pt idx="4">
                  <c:v>Neumologia Directa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 185 Arandas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Ginecologia Y Obstetricia</c:v>
                </c:pt>
                <c:pt idx="1">
                  <c:v>Medicina Interna</c:v>
                </c:pt>
                <c:pt idx="2">
                  <c:v>Infectologia</c:v>
                </c:pt>
                <c:pt idx="3">
                  <c:v>Geriatria Directa</c:v>
                </c:pt>
                <c:pt idx="4">
                  <c:v>Medicina Del Enfermo En Estado Critico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15 Tamazula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 Urgencias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27 Villa Corona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Interna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28 Casimiro Castillo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Cirugia General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14 Guadalajara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Interna</c:v>
                </c:pt>
                <c:pt idx="1">
                  <c:v>Pediatria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21 Tepatitlán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Interna</c:v>
                </c:pt>
                <c:pt idx="1">
                  <c:v>Angiologia Y Cirugia Vascular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42 Pto. Vallarta (Total: 21)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Medicina Interna</c:v>
                </c:pt>
                <c:pt idx="1">
                  <c:v>Neurologia</c:v>
                </c:pt>
                <c:pt idx="2">
                  <c:v>Anestesiologia</c:v>
                </c:pt>
                <c:pt idx="3">
                  <c:v>Urologia</c:v>
                </c:pt>
                <c:pt idx="4">
                  <c:v>Gastroenterologia</c:v>
                </c:pt>
                <c:pt idx="5">
                  <c:v>Medicina Del Enfermo En Estado Critico</c:v>
                </c:pt>
                <c:pt idx="6">
                  <c:v>Ginecologia Y Obstetricia</c:v>
                </c:pt>
                <c:pt idx="7">
                  <c:v>Imagenologia Diagnostica Y Terapeutica</c:v>
                </c:pt>
                <c:pt idx="8">
                  <c:v>Medicina Familiar</c:v>
                </c:pt>
                <c:pt idx="9">
                  <c:v>Cirugia Oncologica</c:v>
                </c:pt>
                <c:pt idx="10">
                  <c:v>Angiologia Y Cirugia Vascular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89 Guadalajara (Total: 11)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Interna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HGZ-UMAA 7 Lagos de Moreno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Cirugia Oncologica</c:v>
                </c:pt>
                <c:pt idx="1">
                  <c:v>Otorrinolaringologia Y Cirugia De Cabeza Y Cuello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26 Tala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Medicina Familiar</c:v>
                </c:pt>
                <c:pt idx="1">
                  <c:v>Medicina Interna</c:v>
                </c:pt>
                <c:pt idx="2">
                  <c:v>Urgencias Pediatrica</c:v>
                </c:pt>
                <c:pt idx="3">
                  <c:v>Pediatria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6 Ocotlán (Total: 11)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Medicina Interna</c:v>
                </c:pt>
                <c:pt idx="1">
                  <c:v>Medicina Del Enfermo Pediatrico En Estado Critico</c:v>
                </c:pt>
                <c:pt idx="2">
                  <c:v>Medicina Familiar</c:v>
                </c:pt>
                <c:pt idx="3">
                  <c:v>Medicina De Urgencias</c:v>
                </c:pt>
                <c:pt idx="4">
                  <c:v>Cirugia Oncologica</c:v>
                </c:pt>
                <c:pt idx="5">
                  <c:v>Oftalmologia</c:v>
                </c:pt>
                <c:pt idx="6">
                  <c:v>Urgencias Pediatrica</c:v>
                </c:pt>
                <c:pt idx="7">
                  <c:v>Medicina Del Trabajo Y Ambiental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9 Cd. Guzmán (Total: 12)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Otorrinolaringologia Y Cirugia De Cabeza Y Cuello</c:v>
                </c:pt>
                <c:pt idx="1">
                  <c:v>Ginecologia Oncologica</c:v>
                </c:pt>
                <c:pt idx="2">
                  <c:v>Medicina De Urgencias</c:v>
                </c:pt>
                <c:pt idx="3">
                  <c:v>Neurologia Pediatrica</c:v>
                </c:pt>
                <c:pt idx="4">
                  <c:v>Pediatria</c:v>
                </c:pt>
                <c:pt idx="5">
                  <c:v>Medicina Materno Fetal</c:v>
                </c:pt>
                <c:pt idx="6">
                  <c:v>Medicina Familiar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6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130 Ojuelos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132 San Julián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133 Unión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162 Melaque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168 Tepatitlán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169 Ocotlán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Epidemiologia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170 Del Mar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171 Zapopan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177 Lagos de Moreno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179 Las Parotas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Medicina Paliativa Y Del Dolor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181 Los Sabinos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184 Cerro de la Reina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Medicina Del Trabajo Y Ambiental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 Guadalajara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30 Bella Vista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39 Tlaquepaque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41 S. Juan Lagos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43 Tomatlán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47 Zapotlanejo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51 Guadalajara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53 Zapopan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54 Tlaquepaque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Del Trabajo Y Ambiental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59 Tlajomulco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63 San Gabriel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71 Ayutla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78 Guadalajara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83 La Huerta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85 Jalostitlán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88 Guadalajara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92 Miravalle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94 Yahualica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13 Pihuamo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19 Tuxpan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22 Atotonilco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23 La Barca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24 Ameca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HP CMN Siglo XXI (Total: 16)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Cirugia Plastica Y Reconstructiva</c:v>
                </c:pt>
                <c:pt idx="1">
                  <c:v>Imagenologia Diagnostica Y Terapeutica</c:v>
                </c:pt>
                <c:pt idx="2">
                  <c:v>Urologia</c:v>
                </c:pt>
                <c:pt idx="3">
                  <c:v>Cirugia Pediatrica</c:v>
                </c:pt>
                <c:pt idx="4">
                  <c:v>Urgencias Pediatrica</c:v>
                </c:pt>
                <c:pt idx="5">
                  <c:v>Anestesiologia Pediatrica</c:v>
                </c:pt>
                <c:pt idx="6">
                  <c:v>Neonatologia</c:v>
                </c:pt>
                <c:pt idx="7">
                  <c:v>Cardiologia Pediatrica</c:v>
                </c:pt>
                <c:pt idx="8">
                  <c:v>Infectologia Pediatrica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6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HGO CMN Occidente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Biologia De La Reproduccion Humana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HES CMN Occidente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Neumologia Directa</c:v>
                </c:pt>
                <c:pt idx="1">
                  <c:v>Urologia</c:v>
                </c:pt>
                <c:pt idx="2">
                  <c:v>Medicina Nuclear E Imagenologia Molecular</c:v>
                </c:pt>
                <c:pt idx="3">
                  <c:v>Alergia E Inmunologia Clinica</c:v>
                </c:pt>
                <c:pt idx="4">
                  <c:v>Cirugia Plastica Y Reconstructiva</c:v>
                </c:pt>
                <c:pt idx="5">
                  <c:v>Imagenologia Diagnostica Y Terapeutica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Relationship Id="rId5" Type="http://schemas.openxmlformats.org/officeDocument/2006/relationships/chart" Target="../charts/chart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Relationship Id="rId4" Type="http://schemas.openxmlformats.org/officeDocument/2006/relationships/chart" Target="../charts/chart27.xml"/><Relationship Id="rId5" Type="http://schemas.openxmlformats.org/officeDocument/2006/relationships/chart" Target="../charts/chart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9.xml"/><Relationship Id="rId3" Type="http://schemas.openxmlformats.org/officeDocument/2006/relationships/chart" Target="../charts/chart30.xml"/><Relationship Id="rId4" Type="http://schemas.openxmlformats.org/officeDocument/2006/relationships/chart" Target="../charts/chart31.xml"/><Relationship Id="rId5" Type="http://schemas.openxmlformats.org/officeDocument/2006/relationships/chart" Target="../charts/chart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3.xml"/><Relationship Id="rId3" Type="http://schemas.openxmlformats.org/officeDocument/2006/relationships/chart" Target="../charts/chart34.xml"/><Relationship Id="rId4" Type="http://schemas.openxmlformats.org/officeDocument/2006/relationships/chart" Target="../charts/chart35.xml"/><Relationship Id="rId5" Type="http://schemas.openxmlformats.org/officeDocument/2006/relationships/chart" Target="../charts/chart3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7.xml"/><Relationship Id="rId3" Type="http://schemas.openxmlformats.org/officeDocument/2006/relationships/chart" Target="../charts/chart38.xml"/><Relationship Id="rId4" Type="http://schemas.openxmlformats.org/officeDocument/2006/relationships/chart" Target="../charts/chart39.xml"/><Relationship Id="rId5" Type="http://schemas.openxmlformats.org/officeDocument/2006/relationships/chart" Target="../charts/chart4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1.xml"/><Relationship Id="rId3" Type="http://schemas.openxmlformats.org/officeDocument/2006/relationships/chart" Target="../charts/chart42.xml"/><Relationship Id="rId4" Type="http://schemas.openxmlformats.org/officeDocument/2006/relationships/chart" Target="../charts/chart43.xml"/><Relationship Id="rId5" Type="http://schemas.openxmlformats.org/officeDocument/2006/relationships/chart" Target="../charts/chart4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5.xml"/><Relationship Id="rId3" Type="http://schemas.openxmlformats.org/officeDocument/2006/relationships/chart" Target="../charts/chart46.xml"/><Relationship Id="rId4" Type="http://schemas.openxmlformats.org/officeDocument/2006/relationships/chart" Target="../charts/chart47.xml"/><Relationship Id="rId5" Type="http://schemas.openxmlformats.org/officeDocument/2006/relationships/chart" Target="../charts/chart4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9.xml"/><Relationship Id="rId3" Type="http://schemas.openxmlformats.org/officeDocument/2006/relationships/chart" Target="../charts/chart50.xml"/><Relationship Id="rId4" Type="http://schemas.openxmlformats.org/officeDocument/2006/relationships/chart" Target="../charts/chart51.xml"/><Relationship Id="rId5" Type="http://schemas.openxmlformats.org/officeDocument/2006/relationships/chart" Target="../charts/chart5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3.xml"/><Relationship Id="rId3" Type="http://schemas.openxmlformats.org/officeDocument/2006/relationships/chart" Target="../charts/chart54.xml"/><Relationship Id="rId4" Type="http://schemas.openxmlformats.org/officeDocument/2006/relationships/chart" Target="../charts/chart5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6.xml"/><Relationship Id="rId3" Type="http://schemas.openxmlformats.org/officeDocument/2006/relationships/chart" Target="../charts/chart5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Jalisco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14_j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</p:spTree>
    <p:extLst>
      <p:ext uri="{BB962C8B-B14F-4D97-AF65-F5344CB8AC3E}">
        <p14:creationId xmlns:p14="http://schemas.microsoft.com/office/powerpoint/2010/main" val="199080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74BA5C1-2E6F-DDDD-FFBA-AAF34461C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528153"/>
              </p:ext>
            </p:extLst>
          </p:nvPr>
        </p:nvGraphicFramePr>
        <p:xfrm>
          <a:off x="313125" y="60833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4806387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794185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5,404,210</a:t>
            </a:r>
            <a:br/>
            <a:r>
              <a:t>60%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522,707</a:t>
            </a:r>
            <a:br/>
            <a:r>
              <a:t>6%</a:t>
            </a:r>
          </a:p>
        </p:txBody>
      </p:sp>
      <p:pic>
        <p:nvPicPr>
          <p:cNvPr id="129" name="Picture 128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3,028,115</a:t>
            </a:r>
            <a:br/>
            <a:r>
              <a:t>34%</a:t>
            </a:r>
          </a:p>
        </p:txBody>
      </p:sp>
      <p:pic>
        <p:nvPicPr>
          <p:cNvPr id="132" name="Picture 131" descr="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404000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26,995</a:t>
            </a:r>
            <a:br/>
            <a:r>
              <a:t>0.30%</a:t>
            </a:r>
          </a:p>
        </p:txBody>
      </p:sp>
      <p:pic>
        <p:nvPicPr>
          <p:cNvPr id="135" name="Picture 134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8,982,027</a:t>
            </a:r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4,758,012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5,404,210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2,558,127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3,180,150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1,761,000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2,050,755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327,058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470,787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415,790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615,885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368,682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564,616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30,573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25,037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2,199,885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2,224,060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738,686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796,261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1,112,462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969,039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348,737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458,760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4_j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606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2,551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1,019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Tercer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644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3,493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1,792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94 UMF, 12 UMFH y 1 UMF-UMAA, y no incluye 59 Unidades Auxiliares de Medicina Familiar.</a:t>
            </a:r>
            <a:br/>
            <a:r>
              <a:t>2. Incluye la UMAA2,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/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64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CCSM 1 Oblatos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HGZ-UMAA 7 Lagos de Moreno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2023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2,641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1,085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93024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46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CCSM 1 Oblatos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HGZ-UMAA 7 Lagos de Moreno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86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71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40 Chapala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31 Ahualulco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24 Ameca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23 La Barca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22 Atotonilco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19 Tuxpan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18 Zapotiltic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17 Atentique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16 Tecalitlán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13 Pihuamo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10 Tequila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98 Teuchitlán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97 Magdalena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96 Mascota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95 Poncitlán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94 Yahualica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91 El Fresno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87 Teocaltiche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86 S. Miguel 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85 Jalostitlán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84 Encarnación de Díaz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83 La Huerta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82 Unión de Tula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81 Grullo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80 Cihuatlán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 Experiencia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79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77 Zacoalco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76 Teocuitatlán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75 Tecolotlán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74 Talpa Allende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73 Martín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72 Cocula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71 Ayutla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70 Careyes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69 Etzatlán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68 Bolaños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67 Tototlán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66 Ayotlán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65 Techaluta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64 Tapalapa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63 San Gabriel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62 Sayula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61 Masamitla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60 Colotlán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58 Jocotepec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21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347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5 El Salto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20,823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168 Tepatitlán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25,287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56,255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34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67,089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39 Tlaquepaque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45,565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59 Tlajomulco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52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23,800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92 Miravalle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48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71,210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51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40,618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93 Tonalá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45,715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88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21,192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53 Zapopan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59,462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78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49,597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171 Zapopan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52,773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170 Del Mar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42,323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177 Lagos de Moreno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28,810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179 Las Parotas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25,241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181 Los Sabinos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182 Tesistán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21,979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184 Cerro de la Reina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22,875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797,754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664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472</a:t>
            </a:r>
          </a:p>
        </p:txBody>
      </p:sp>
      <p:pic>
        <p:nvPicPr>
          <p:cNvPr id="12" name="Picture 11" descr="Mapa_draft_etiquetas_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5021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56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52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HGZ-UMAA 7 Lagos de Moreno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155,125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11,064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22,082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03780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597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16,156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28,674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210,240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20,289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39,294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3,557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24,426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249,660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40,356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131,400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24,426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HGZ-UMAA 7 Lagos de Moreno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CCSM 1 Oblatos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52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1,918,440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174,339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326,447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476,064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7,591,968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1,238,594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752,368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630,720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106,200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1,918,440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326,447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174,339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155,125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Table 234"/>
          <p:cNvGraphicFramePr>
            <a:graphicFrameLocks noGrp="1"/>
          </p:cNvGraphicFramePr>
          <p:nvPr/>
        </p:nvGraphicFramePr>
        <p:xfrm>
          <a:off x="144000" y="4500000"/>
          <a:ext cx="748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630,720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106,200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54,750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147600" y="450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UMAE</a:t>
            </a:r>
          </a:p>
        </p:txBody>
      </p:sp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7ECCB65-5E51-65E2-D82B-1623D1CC8D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18879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2,299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10,444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2,723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926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26,342	 Personal de Salud: 38,547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+67.5%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382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+28.7%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4,563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5,872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+11.2%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9,308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10,352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+8.4%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5,607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6,077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+55.3%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1,661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2,580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-13.9%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1,253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1,079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451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230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1,105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31,260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1,435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437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580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10,525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4,690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62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47,910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(1,683,216)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(190,149)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(21,833)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(33,309)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(1,792)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(1,539,443)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(161,992)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(13,327)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(21,862)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(1,684)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(449,642)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(127,703)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Artropatias   (13,143)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(11,020)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(1,196)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mentales   (246,522)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(108,082)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(9,802)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(10,635)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(992)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(238,592)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Problemas y enfermedades de la columna vertebral   (94,320)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(8,936)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(9,639)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cerebrovasculares  (770)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242,768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2,953,281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175,495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2,470,296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5714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74 piezas de equipo electromecánico: 33 aires acondicionados, 9 elevadores, 7 plantas de lavado y 25 cuartos de máquinas.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$506.6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958 piezas de equipo médico: 733 camillas, 183 sillas de ruedas, 13 mastógrafos, 13 refrigeradores para vacunas, 4 angiógrafos, 3 aceleradores lineales, 2 tomógrafos, 1 resonador magnético y 1 irradiador de sangre.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$966.2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35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$29.9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7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Hospitales Prioritarios en el HGZ 89 Guadalajara y HGR 110 Oblatos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$259.9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3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20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$216.5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5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8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$180.3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5715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$921.0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3,199.8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144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Equipo electromecánico (19 elevadores, 14 secadoras, 14 lavadoras, 10 sistemas de bombeo, 3 calderas y 1 montacargas)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$385.3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$740.1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Prioritarios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Centro de Mezclas HE CMN Occidente,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$58.7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Centro de Simulación para la Excelencia Clínica y Quirúrgica,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Clínica de Detección y Diagnóstico del Cáncer de Mama, Guadalajara.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$88.2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HGSZ 185, Arandas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$127.6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Nueva Sala de Hemodinamia, HGR 46,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$46.8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3 Hospitales de Subzona (HGSMF No. 15, No. 27 y No. 28, Tamazula, Villa Corona y Casimiro Castillo)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4 Centros de Seguridad Social: Guadalajara, Ocotlán, Ciudad Guzmán y Lagos de Moreno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61 Unidades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$61.4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área de patología en UMAE HE OCC,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baños en 3 hospitales (HG No. 10 y 180, HGZ No. 14), Subdelegación y 2 UMAES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$113.7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Implementación de la UCIN, HGR No. 46,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de 123 salas quirúrgicas en 21 hospitales y 3 UMAE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$226.5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almacenes ,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Imagen en 4 hospitales y UMAE HGO, Jalisco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$103.4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Programa Hospital Rojo HGR No. 46, (rehabilitación)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$1,835.9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2 guarderías ordinarias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cocinas y comedores en 12 hospitales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$43.7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residencias médicas y programa Covid-19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4,115.9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90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85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14,113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2,659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Guadalajara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Zapopan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4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Guadalajara, Ocotlán, Lagos de Moreno, Ciudad Guzmán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23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"Ignacio López Tarzo", Guadalajara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25 Ciudad Guzmán, No.75  Guadalajara - Campesino y No. 23 Guadalajara - Centro Médico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Guadalajara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4_j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90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JALISCO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56,093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55,845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MEXICO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14,601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14,486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38,720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38,547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FLEXTRONICS MANUFACTURING MEX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DE GUADALAJARA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26,175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26,130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LABORATORIOS PISA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12,778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12,734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-5.48%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-4.40%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-1.38%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-0.72%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-0.24%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+0.57%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+1.47%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+1.86%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+1.87%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1,728,102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57,365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222,534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43,671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2,051,672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1,743,323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60,783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216,555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2,056,179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+0%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$644.65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$343.20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$644.65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$19,339.5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MARIA AZUCENA RAMIREZ RIVERA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$35,010.34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ARTABAN THERAPEDIC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$20,524.61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DIDESMA 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$17,081.55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Banco de Crédito Rural de Occidente, S.N.C.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$924.64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Para El Desarrollo Técnico de Las Haciendas Públicas Indetec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Para El Desarrollo Integral de La Familia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$2.26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Jalisco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3600" y="1692000"/>
          <a:ext cx="7200000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889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3,530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1,486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70800" y="93024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800" y="9522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* No se consideran salas de tococirugía, expulsión y recuperación.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Equipo relevante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0800" y="1692000"/>
          <a:ext cx="72864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86 Unidades Médicas de lunes a viernes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635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57 Ixtlahuacan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56 Acatlán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55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54 Tlaquepaque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50 Atotonilquillo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49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47 Zapotlanejo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44 Arandas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43 Tomatlán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41 S. Juan Lagos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 Atemajac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38 Buena Vista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37 Ing. Melchor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36 La Garita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35 Vista 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33 S. Marcos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30 Bella Vista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31,633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29 Estipac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25 La Sauceda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183 San Ignacio Cerro Gordo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178 Guadalupe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169 Ocotlán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167 H. Provincia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165 Degollado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162 Melaque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160 Capilla Gpe.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159 Jesús María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155 Tizapan 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137 Antonio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133 Unión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132 San Julián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130 Ojuelos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128 Acatic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 El Arenal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114 Gómez Farías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11 Amatitan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106 San Martín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100 Jamay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19,282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243,778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BC955C"/>
                </a:solidFill>
                <a:latin typeface="Montserrat"/>
              </a:rPr>
              <a:t>Meta: </a:t>
            </a:r>
            <a:r>
              <a:rPr sz="2100" b="1">
                <a:solidFill>
                  <a:srgbClr val="9F2241"/>
                </a:solidFill>
                <a:latin typeface="Montserrat"/>
              </a:rPr>
              <a:t>Cirugías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4000" y="1137600"/>
          <a:ext cx="7477200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54,750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4,901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8,680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209,875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15,965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30,762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BC955C"/>
                </a:solidFill>
                <a:latin typeface="Montserrat"/>
              </a:rPr>
              <a:t>Meta: </a:t>
            </a:r>
            <a:r>
              <a:rPr sz="2100" b="1">
                <a:solidFill>
                  <a:srgbClr val="9F2241"/>
                </a:solidFill>
                <a:latin typeface="Montserrat"/>
              </a:rPr>
              <a:t>Consultas de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4000" y="1137600"/>
          <a:ext cx="7477200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19,116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381,060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630,720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60,966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106,200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2,549,160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235,305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432,647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Jalisco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Jalisco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Jalisco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Jalisco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Jalisco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Jalisco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Jalisco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Jalisco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Jalisco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Jalisco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Jalisco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Jalisco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20 HP CMN Occidente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46504" y="603504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13 HGO CMN Occidente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03 HES CMN Occidente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174</Words>
  <Application>Microsoft Office PowerPoint</Application>
  <PresentationFormat>Personalizado</PresentationFormat>
  <Paragraphs>62</Paragraphs>
  <Slides>22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Montserrat</vt:lpstr>
      <vt:lpstr>Noto Sans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2026-03-12T18:40:10Z</dcterms:modified>
</cp:coreProperties>
</file>