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90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3" r:id="rId23"/>
  </p:sldIdLst>
  <p:sldSz cx="7772400" cy="10058400"/>
  <p:notesSz cx="6858000" cy="9144000"/>
  <p:embeddedFontLst>
    <p:embeddedFont>
      <p:font typeface="Montserrat" pitchFamily="2" charset="0"/>
      <p:regular r:id="rId25"/>
      <p:bold r:id="rId26"/>
      <p:italic r:id="rId27"/>
      <p:boldItalic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DD846-E312-4F47-9C7E-25E94B8F68C5}" v="1" dt="2026-03-12T17:51:04.33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3-12T18:40:08.203" v="5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1:19.513" v="2" actId="1076"/>
        <pc:sldMkLst>
          <pc:docMk/>
          <pc:sldMk cId="0" sldId="258"/>
        </pc:sldMkLst>
        <pc:graphicFrameChg chg="add mod">
          <ac:chgData name="Rohan Myron Oprisko" userId="a7c52ab4-f8b1-4d15-aaf6-6388cc510347" providerId="ADAL" clId="{EEEE6C0E-EB18-4E43-B633-E5F95274828B}" dt="2026-03-12T17:51:19.513" v="2" actId="1076"/>
          <ac:graphicFrameMkLst>
            <pc:docMk/>
            <pc:sldMk cId="0" sldId="258"/>
            <ac:graphicFrameMk id="2" creationId="{A74BA5C1-2E6F-DDDD-FFBA-AAF34461C16E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40:08.203" v="5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40:08.203" v="5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0:58.875" v="0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0:58.875" v="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undo custSel addSld delSld modSld">
      <pc:chgData name="David Arturo Baltazar Sanchez" userId="25f522d3-6b93-447f-8e87-5af7c1a8f0db" providerId="ADAL" clId="{1167E2C4-85EE-4FA3-A5C3-376395AAEEB6}" dt="2026-03-11T19:03:13.610" v="70" actId="20577"/>
      <pc:docMkLst>
        <pc:docMk/>
      </pc:docMkLst>
      <pc:sldChg chg="del">
        <pc:chgData name="David Arturo Baltazar Sanchez" userId="25f522d3-6b93-447f-8e87-5af7c1a8f0db" providerId="ADAL" clId="{1167E2C4-85EE-4FA3-A5C3-376395AAEEB6}" dt="2026-03-11T00:35:35.738" v="67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3:13.610" v="70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3:13.610" v="70" actId="20577"/>
          <ac:spMkLst>
            <pc:docMk/>
            <pc:sldMk cId="0" sldId="260"/>
            <ac:spMk id="145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1T00:23:45.133" v="29" actId="478"/>
        <pc:sldMkLst>
          <pc:docMk/>
          <pc:sldMk cId="0" sldId="261"/>
        </pc:sldMkLst>
        <pc:spChg chg="del">
          <ac:chgData name="David Arturo Baltazar Sanchez" userId="25f522d3-6b93-447f-8e87-5af7c1a8f0db" providerId="ADAL" clId="{1167E2C4-85EE-4FA3-A5C3-376395AAEEB6}" dt="2026-03-11T00:23:45.133" v="29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43.974" v="28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new del">
        <pc:chgData name="David Arturo Baltazar Sanchez" userId="25f522d3-6b93-447f-8e87-5af7c1a8f0db" providerId="ADAL" clId="{1167E2C4-85EE-4FA3-A5C3-376395AAEEB6}" dt="2026-03-11T00:26:23.643" v="31" actId="47"/>
        <pc:sldMkLst>
          <pc:docMk/>
          <pc:sldMk cId="928051043" sldId="288"/>
        </pc:sldMkLst>
      </pc:sldChg>
      <pc:sldChg chg="new del">
        <pc:chgData name="David Arturo Baltazar Sanchez" userId="25f522d3-6b93-447f-8e87-5af7c1a8f0db" providerId="ADAL" clId="{1167E2C4-85EE-4FA3-A5C3-376395AAEEB6}" dt="2026-03-11T00:47:14.693" v="68" actId="47"/>
        <pc:sldMkLst>
          <pc:docMk/>
          <pc:sldMk cId="1080931811" sldId="288"/>
        </pc:sldMkLst>
      </pc:sldChg>
      <pc:sldChg chg="new del">
        <pc:chgData name="David Arturo Baltazar Sanchez" userId="25f522d3-6b93-447f-8e87-5af7c1a8f0db" providerId="ADAL" clId="{1167E2C4-85EE-4FA3-A5C3-376395AAEEB6}" dt="2026-03-11T00:26:36.074" v="33" actId="47"/>
        <pc:sldMkLst>
          <pc:docMk/>
          <pc:sldMk cId="1478125461" sldId="288"/>
        </pc:sldMkLst>
      </pc:sldChg>
      <pc:sldChg chg="new del">
        <pc:chgData name="David Arturo Baltazar Sanchez" userId="25f522d3-6b93-447f-8e87-5af7c1a8f0db" providerId="ADAL" clId="{1167E2C4-85EE-4FA3-A5C3-376395AAEEB6}" dt="2026-03-11T00:28:44.016" v="35" actId="680"/>
        <pc:sldMkLst>
          <pc:docMk/>
          <pc:sldMk cId="2538647063" sldId="288"/>
        </pc:sldMkLst>
      </pc:sldChg>
      <pc:sldChg chg="new">
        <pc:chgData name="David Arturo Baltazar Sanchez" userId="25f522d3-6b93-447f-8e87-5af7c1a8f0db" providerId="ADAL" clId="{1167E2C4-85EE-4FA3-A5C3-376395AAEEB6}" dt="2026-03-11T00:29:46.743" v="37" actId="680"/>
        <pc:sldMkLst>
          <pc:docMk/>
          <pc:sldMk cId="1990800304" sldId="289"/>
        </pc:sldMkLst>
      </pc:sldChg>
      <pc:sldChg chg="new del">
        <pc:chgData name="David Arturo Baltazar Sanchez" userId="25f522d3-6b93-447f-8e87-5af7c1a8f0db" providerId="ADAL" clId="{1167E2C4-85EE-4FA3-A5C3-376395AAEEB6}" dt="2026-03-11T00:32:03.604" v="43" actId="680"/>
        <pc:sldMkLst>
          <pc:docMk/>
          <pc:sldMk cId="419254101" sldId="290"/>
        </pc:sldMkLst>
      </pc:sldChg>
      <pc:sldChg chg="new del">
        <pc:chgData name="David Arturo Baltazar Sanchez" userId="25f522d3-6b93-447f-8e87-5af7c1a8f0db" providerId="ADAL" clId="{1167E2C4-85EE-4FA3-A5C3-376395AAEEB6}" dt="2026-03-11T00:31:06.802" v="41" actId="47"/>
        <pc:sldMkLst>
          <pc:docMk/>
          <pc:sldMk cId="1188354318" sldId="290"/>
        </pc:sldMkLst>
      </pc:sldChg>
      <pc:sldChg chg="addSp modSp new mod">
        <pc:chgData name="David Arturo Baltazar Sanchez" userId="25f522d3-6b93-447f-8e87-5af7c1a8f0db" providerId="ADAL" clId="{1167E2C4-85EE-4FA3-A5C3-376395AAEEB6}" dt="2026-03-11T00:34:00.644" v="66" actId="20577"/>
        <pc:sldMkLst>
          <pc:docMk/>
          <pc:sldMk cId="2277926431" sldId="290"/>
        </pc:sldMkLst>
        <pc:graphicFrameChg chg="add mod modGraphic">
          <ac:chgData name="David Arturo Baltazar Sanchez" userId="25f522d3-6b93-447f-8e87-5af7c1a8f0db" providerId="ADAL" clId="{1167E2C4-85EE-4FA3-A5C3-376395AAEEB6}" dt="2026-03-11T00:34:00.644" v="66" actId="20577"/>
          <ac:graphicFrameMkLst>
            <pc:docMk/>
            <pc:sldMk cId="2277926431" sldId="290"/>
            <ac:graphicFrameMk id="2" creationId="{47ECCB65-5E51-65E2-D82B-1623D1CC8DFA}"/>
          </ac:graphicFrameMkLst>
        </pc:graphicFrameChg>
      </pc:sldChg>
      <pc:sldChg chg="new del">
        <pc:chgData name="David Arturo Baltazar Sanchez" userId="25f522d3-6b93-447f-8e87-5af7c1a8f0db" providerId="ADAL" clId="{1167E2C4-85EE-4FA3-A5C3-376395AAEEB6}" dt="2026-03-11T00:32:47.754" v="45" actId="680"/>
        <pc:sldMkLst>
          <pc:docMk/>
          <pc:sldMk cId="2915184652" sldId="290"/>
        </pc:sldMkLst>
      </pc:sldChg>
      <pc:sldChg chg="new del">
        <pc:chgData name="David Arturo Baltazar Sanchez" userId="25f522d3-6b93-447f-8e87-5af7c1a8f0db" providerId="ADAL" clId="{1167E2C4-85EE-4FA3-A5C3-376395AAEEB6}" dt="2026-03-11T00:32:56.047" v="47" actId="680"/>
        <pc:sldMkLst>
          <pc:docMk/>
          <pc:sldMk cId="3598547803" sldId="290"/>
        </pc:sldMkLst>
      </pc:sldChg>
      <pc:sldChg chg="new del">
        <pc:chgData name="David Arturo Baltazar Sanchez" userId="25f522d3-6b93-447f-8e87-5af7c1a8f0db" providerId="ADAL" clId="{1167E2C4-85EE-4FA3-A5C3-376395AAEEB6}" dt="2026-03-11T00:31:02.012" v="39" actId="47"/>
        <pc:sldMkLst>
          <pc:docMk/>
          <pc:sldMk cId="3776525890" sldId="29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1003881.0</c:v>
                </c:pt>
                <c:pt idx="1">
                  <c:v>185050.0</c:v>
                </c:pt>
                <c:pt idx="2">
                  <c:v>376323.0</c:v>
                </c:pt>
                <c:pt idx="3">
                  <c:v>2305.0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109</c:v>
                </c:pt>
                <c:pt idx="2">
                  <c:v>110</c:v>
                </c:pt>
                <c:pt idx="3">
                  <c:v>109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 de la Construcción</c:v>
                </c:pt>
                <c:pt idx="2">
                  <c:v>Transportes y Comunicaciones</c:v>
                </c:pt>
                <c:pt idx="3">
                  <c:v>Industrias de la Transformación</c:v>
                </c:pt>
                <c:pt idx="4">
                  <c:v>Servicios para Empresas, Personas y el Hogar</c:v>
                </c:pt>
                <c:pt idx="5">
                  <c:v>Ind Eléctrica y Captación y Suministro de Agua Potable</c:v>
                </c:pt>
                <c:pt idx="6">
                  <c:v>Agricultura, Ganaderia, Silvicultura, Pesca y Caza</c:v>
                </c:pt>
                <c:pt idx="7">
                  <c:v>Servicios Sociales y Comunales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675</c:v>
                </c:pt>
                <c:pt idx="1">
                  <c:v>19391</c:v>
                </c:pt>
                <c:pt idx="2">
                  <c:v>25570</c:v>
                </c:pt>
                <c:pt idx="3">
                  <c:v>136055</c:v>
                </c:pt>
                <c:pt idx="4">
                  <c:v>56771</c:v>
                </c:pt>
                <c:pt idx="5">
                  <c:v>693</c:v>
                </c:pt>
                <c:pt idx="6">
                  <c:v>8121</c:v>
                </c:pt>
                <c:pt idx="7">
                  <c:v>56181</c:v>
                </c:pt>
                <c:pt idx="8">
                  <c:v>60999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 de la Construcción</c:v>
                </c:pt>
                <c:pt idx="2">
                  <c:v>Transportes y Comunicaciones</c:v>
                </c:pt>
                <c:pt idx="3">
                  <c:v>Industrias de la Transformación</c:v>
                </c:pt>
                <c:pt idx="4">
                  <c:v>Servicios para Empresas, Personas y el Hogar</c:v>
                </c:pt>
                <c:pt idx="5">
                  <c:v>Ind Eléctrica y Captación y Suministro de Agua Potable</c:v>
                </c:pt>
                <c:pt idx="6">
                  <c:v>Agricultura, Ganaderia, Silvicultura, Pesca y Caza</c:v>
                </c:pt>
                <c:pt idx="7">
                  <c:v>Servicios Sociales y Comunales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628</c:v>
                </c:pt>
                <c:pt idx="1">
                  <c:v>18728</c:v>
                </c:pt>
                <c:pt idx="2">
                  <c:v>25049</c:v>
                </c:pt>
                <c:pt idx="3">
                  <c:v>133468</c:v>
                </c:pt>
                <c:pt idx="4">
                  <c:v>56612</c:v>
                </c:pt>
                <c:pt idx="5">
                  <c:v>706</c:v>
                </c:pt>
                <c:pt idx="6">
                  <c:v>8280</c:v>
                </c:pt>
                <c:pt idx="7">
                  <c:v>57538</c:v>
                </c:pt>
                <c:pt idx="8">
                  <c:v>64129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310545</c:v>
                </c:pt>
                <c:pt idx="1">
                  <c:v>325728</c:v>
                </c:pt>
                <c:pt idx="2">
                  <c:v>338559</c:v>
                </c:pt>
                <c:pt idx="3">
                  <c:v>330675</c:v>
                </c:pt>
                <c:pt idx="4">
                  <c:v>340944</c:v>
                </c:pt>
                <c:pt idx="5">
                  <c:v>348017</c:v>
                </c:pt>
                <c:pt idx="6">
                  <c:v>360685</c:v>
                </c:pt>
                <c:pt idx="7">
                  <c:v>364456</c:v>
                </c:pt>
                <c:pt idx="8">
                  <c:v>365138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 Aguascalientes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Oncologia Medica</c:v>
                </c:pt>
                <c:pt idx="1">
                  <c:v>Alergia E Inmunologia Clinica</c:v>
                </c:pt>
                <c:pt idx="2">
                  <c:v>Otorrinolaringologia Y Cirugia De Cabeza Y Cuello</c:v>
                </c:pt>
                <c:pt idx="3">
                  <c:v>Urgencias Pediatrica</c:v>
                </c:pt>
                <c:pt idx="4">
                  <c:v>Neurocirugia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 Aguascalientes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Interna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3 Jesús María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Interna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 Aguascalientes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Aguascalientes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01_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</p:spTree>
    <p:extLst>
      <p:ext uri="{BB962C8B-B14F-4D97-AF65-F5344CB8AC3E}">
        <p14:creationId xmlns:p14="http://schemas.microsoft.com/office/powerpoint/2010/main" val="199080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74BA5C1-2E6F-DDDD-FFBA-AAF34461C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28153"/>
              </p:ext>
            </p:extLst>
          </p:nvPr>
        </p:nvGraphicFramePr>
        <p:xfrm>
          <a:off x="313125" y="60833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4806387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794185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1,003,881</a:t>
            </a:r>
            <a:br/>
            <a:r>
              <a:t>64%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185,050</a:t>
            </a:r>
            <a:br/>
            <a:r>
              <a:t>12%</a:t>
            </a:r>
          </a:p>
        </p:txBody>
      </p:sp>
      <p:pic>
        <p:nvPicPr>
          <p:cNvPr id="129" name="Picture 128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376,323</a:t>
            </a:r>
            <a:br/>
            <a:r>
              <a:t>24%</a:t>
            </a:r>
          </a:p>
        </p:txBody>
      </p:sp>
      <p:pic>
        <p:nvPicPr>
          <p:cNvPr id="132" name="Picture 131" descr="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417000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2,305</a:t>
            </a:r>
            <a:br/>
            <a:r>
              <a:t>0.15%</a:t>
            </a:r>
          </a:p>
        </p:txBody>
      </p:sp>
      <p:pic>
        <p:nvPicPr>
          <p:cNvPr id="135" name="Picture 134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1,567,559</a:t>
            </a: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897,442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1,003,881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479,855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588,478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321,298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363,411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94,717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126,949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417,587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415,403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236,454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214,914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5,884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7,765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1_a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351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12 UMF, 0 UMFH y 0 UMF-UMAA, y no incluye 1 Unidades Auxiliares de Medicina Familiar.</a:t>
            </a:r>
            <a:br/>
            <a:r>
              <a:t>2. Incluye la UMAA1,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/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3960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12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6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28,901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Calvillo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31,375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12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10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Pabellón Arteaga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 Rincón de Romos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Asientos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49,094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42,924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 Jesús María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San Marcos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32,314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251,100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131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123</a:t>
            </a:r>
          </a:p>
        </p:txBody>
      </p:sp>
      <p:pic>
        <p:nvPicPr>
          <p:cNvPr id="12" name="Picture 11" descr="Mapa_draft_etiquetas_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803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38,325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2,248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5,158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0378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183,960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18,682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31,860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2,809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538,740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53,925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96,642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1,728,864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305,166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538,740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96,642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53,925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7ECCB65-5E51-65E2-D82B-1623D1CC8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8879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4,542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1,170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926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5,943	 Personal de Salud: 8,517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+227.3%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+31.5%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1,107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1,456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+22.4%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1,829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2,238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1,295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1,482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+177.7%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-5.6%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301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284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7,493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433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74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2,361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817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11,104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(364,008)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(38,287)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(5,496)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(6,423)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(275)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(296,832)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(34,958)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(3,958)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(4,068)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(240)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(100,654)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(28,741)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(3,274)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(1,919)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(220)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(89,547)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(24,589)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(2,764)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(1,689)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(218)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(86,231)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Problemas y enfermedades de la columna vertebral   (22,074)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(2,034)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(1,494)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(151)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68,336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663,357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38,676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749,181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2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33 piezas de equipo electromecánico: 27 Aires Acondicionados, 5 Elevadores, 1 Plantas de lavado.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$175.7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44 piezas de equipo médico: 37 Camilla, 1 Monitor de signos vitales, 2 Refrigerador para vacunas, 4 Silla de ruedas.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16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$22.7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Atención Médica Continua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3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$49.1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15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3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$11.2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6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Urgencias en 4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$63.0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$220.8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Ampliación y remodelación de la UMF No. 6 Jesús María, 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$90.4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711.8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2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y Remodelación de la Guardería Ordinaria,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$9.8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Mantenimiento y Conservación de las Instalaciones de la Alberca y Fosa de Clavados del CSS,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Mantenimiento y Conservación de las Salas de Danza del CSS,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Sala de Hemodinamia en el HGZ No. 3,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3 Unidades de Medicina Familiar (UMF 3, 4 y 5), Pabellón de Arteaga, Calvillo y Asientos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Equipo electromecánico (5 sustitución de elevadores HITRA , 4 aires acondicionados, 8 extractores, 4 manejadoreas de aire, etc)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$158.9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18 Salas Quirúrgicas 3 Hospitales,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Inversión recursos extraordinarios 2019-2022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de unidades médicas(Coord. Médicas en Delegación y HGZ 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Programa Anual de Operaciones (PAO)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áreas de Patología en HGZ 2,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baños en 9 unidades (HGZ 1, HGZ 2, UMAA, UMF 1, UMF 10, UMF 11, UMF 7, UMF 8, UMF 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y conservación de cocinas y comedores en HGZ 1,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328.4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31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30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4,416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347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Aguascalientes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Aguascalientes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8172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470" name="Picture 469" descr="map_tipo2_01_a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31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8,585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8,517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NISSAN MEXICANA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13,781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13,943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AYUNTAMIENTO DEL MUNICIPIO DE AGUASCALIENTES 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FLEXTRONICS MANUFACTURING AGUASCALIENTES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ESTADO LIBRE Y SOBERANO DE AGUASCALIENTES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5,853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6,089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SENSATA TECHNOLOGIES DE MEXICO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4,544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4,514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-6.96%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-3.42%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-2.04%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-1.90%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-0.28%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+1.88%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+1.96%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+2.42%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+5.13%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328,477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7,764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26,278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1,937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364,456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331,122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24,156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365,138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+0%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$637.20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$328.41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$637.20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$19,116.0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ISOTRON ENERGIAS MEXICO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$23,052.74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MOTO DIESEL MEXICANA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$8,914.12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ACABADOS METALICOS INNOVADORES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$7,790.10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Desarrollos Industriales de Aguascalientes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$1.08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de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$23,507.96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 Servicios de Salud del Estado de Aguascalientes Sin Tipo de Sociedad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$30.73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Aguascalientes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174</Words>
  <Application>Microsoft Office PowerPoint</Application>
  <PresentationFormat>Personalizado</PresentationFormat>
  <Paragraphs>62</Paragraphs>
  <Slides>22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Montserrat</vt:lpstr>
      <vt:lpstr>Noto Sans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2026-03-12T18:40:10Z</dcterms:modified>
</cp:coreProperties>
</file>