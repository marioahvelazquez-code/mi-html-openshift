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charts/chart1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charts/chart14.xml" ContentType="application/vnd.openxmlformats-officedocument.drawingml.chart+xml"/>
  <Override PartName="/ppt/charts/chart15.xml" ContentType="application/vnd.openxmlformats-officedocument.drawingml.chart+xml"/>
  <Override PartName="/ppt/charts/chart16.xml" ContentType="application/vnd.openxmlformats-officedocument.drawingml.chart+xml"/>
  <Override PartName="/ppt/charts/chart17.xml" ContentType="application/vnd.openxmlformats-officedocument.drawingml.chart+xml"/>
  <Override PartName="/ppt/charts/chart18.xml" ContentType="application/vnd.openxmlformats-officedocument.drawingml.chart+xml"/>
  <Override PartName="/ppt/charts/chart19.xml" ContentType="application/vnd.openxmlformats-officedocument.drawingml.chart+xml"/>
  <Override PartName="/ppt/charts/chart2.xml" ContentType="application/vnd.openxmlformats-officedocument.drawingml.chart+xml"/>
  <Override PartName="/ppt/charts/chart20.xml" ContentType="application/vnd.openxmlformats-officedocument.drawingml.chart+xml"/>
  <Override PartName="/ppt/charts/chart21.xml" ContentType="application/vnd.openxmlformats-officedocument.drawingml.chart+xml"/>
  <Override PartName="/ppt/charts/chart2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5"/>
  </p:notesMasterIdLst>
  <p:sldIdLst>
    <p:sldId id="256" r:id="rId2"/>
    <p:sldId id="289" r:id="rId3"/>
    <p:sldId id="258" r:id="rId4"/>
    <p:sldId id="259" r:id="rId5"/>
    <p:sldId id="260" r:id="rId6"/>
    <p:sldId id="290" r:id="rId41"/>
    <p:sldId id="261" r:id="rId7"/>
    <p:sldId id="262" r:id="rId8"/>
    <p:sldId id="263" r:id="rId9"/>
    <p:sldId id="281" r:id="rId10"/>
    <p:sldId id="267" r:id="rId11"/>
    <p:sldId id="280" r:id="rId12"/>
    <p:sldId id="287" r:id="rId13"/>
    <p:sldId id="288" r:id="rId14"/>
    <p:sldId id="270" r:id="rId15"/>
    <p:sldId id="271" r:id="rId16"/>
    <p:sldId id="272" r:id="rId17"/>
    <p:sldId id="284" r:id="rId18"/>
    <p:sldId id="286" r:id="rId19"/>
    <p:sldId id="277" r:id="rId20"/>
    <p:sldId id="278" r:id="rId21"/>
    <p:sldId id="279" r:id="rId22"/>
    <p:sldId id="282" r:id="rId23"/>
    <p:sldId id="283" r:id="rId24"/>
    <p:sldId id="291" r:id="rId42"/>
    <p:sldId id="292" r:id="rId43"/>
    <p:sldId id="293" r:id="rId44"/>
    <p:sldId id="294" r:id="rId45"/>
  </p:sldIdLst>
  <p:sldSz cx="7772400" cy="10058400"/>
  <p:notesSz cx="6858000" cy="9144000"/>
  <p:embeddedFontLst>
    <p:embeddedFont>
      <p:font typeface="Montserrat" pitchFamily="2" charset="0"/>
      <p:regular r:id="rId26"/>
      <p:bold r:id="rId27"/>
      <p:italic r:id="rId28"/>
      <p:boldItalic r:id="rId29"/>
    </p:embeddedFont>
    <p:embeddedFont>
      <p:font typeface="Noto Sans" panose="020B0502040504020204" pitchFamily="34" charset="0"/>
      <p:regular r:id="rId30"/>
      <p:bold r:id="rId31"/>
      <p:italic r:id="rId32"/>
      <p:boldItalic r:id="rId3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3168">
          <p15:clr>
            <a:srgbClr val="747775"/>
          </p15:clr>
        </p15:guide>
        <p15:guide id="2" pos="2448">
          <p15:clr>
            <a:srgbClr val="747775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52" roundtripDataSignature="AMtx7mgJIVYfpSqv7bc7uOu75F5IJOjBz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2EC9A72-6D89-4937-A652-928CE657584B}" v="3" dt="2026-03-11T19:27:17.845"/>
    <p1510:client id="{A819846E-28C8-43DB-A040-8EFEFF3890ED}" v="3" dt="2026-03-12T17:49:38.141"/>
  </p1510:revLst>
</p1510:revInfo>
</file>

<file path=ppt/tableStyles.xml><?xml version="1.0" encoding="utf-8"?>
<a:tblStyleLst xmlns:a="http://schemas.openxmlformats.org/drawingml/2006/main" def="{4F9E4E24-231D-441B-AD27-9C975659944D}">
  <a:tblStyle styleId="{4F9E4E24-231D-441B-AD27-9C975659944D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3C216991-1C96-4F05-AC00-DA6B9BB01C7E}" styleName="Table_1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065061A0-15E6-4003-B1DC-5A3A13AD39BA}" styleName="Table_2"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7"/>
    <p:restoredTop sz="94719"/>
  </p:normalViewPr>
  <p:slideViewPr>
    <p:cSldViewPr snapToGrid="0">
      <p:cViewPr varScale="1">
        <p:scale>
          <a:sx n="73" d="100"/>
          <a:sy n="73" d="100"/>
        </p:scale>
        <p:origin x="3012" y="60"/>
      </p:cViewPr>
      <p:guideLst>
        <p:guide orient="horz" pos="3168"/>
        <p:guide pos="244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font" Target="fonts/font1.fntdata"/><Relationship Id="rId27" Type="http://schemas.openxmlformats.org/officeDocument/2006/relationships/font" Target="fonts/font2.fntdata"/><Relationship Id="rId28" Type="http://schemas.openxmlformats.org/officeDocument/2006/relationships/font" Target="fonts/font3.fntdata"/><Relationship Id="rId29" Type="http://schemas.openxmlformats.org/officeDocument/2006/relationships/font" Target="fonts/font4.fntdata"/><Relationship Id="rId30" Type="http://schemas.openxmlformats.org/officeDocument/2006/relationships/font" Target="fonts/font5.fntdata"/><Relationship Id="rId31" Type="http://schemas.openxmlformats.org/officeDocument/2006/relationships/font" Target="fonts/font6.fntdata"/><Relationship Id="rId32" Type="http://schemas.openxmlformats.org/officeDocument/2006/relationships/font" Target="fonts/font7.fntdata"/><Relationship Id="rId33" Type="http://schemas.openxmlformats.org/officeDocument/2006/relationships/font" Target="fonts/font8.fntdata"/><Relationship Id="rId41" Type="http://schemas.openxmlformats.org/officeDocument/2006/relationships/slide" Target="slides/slide24.xml"/><Relationship Id="rId42" Type="http://schemas.openxmlformats.org/officeDocument/2006/relationships/slide" Target="slides/slide25.xml"/><Relationship Id="rId43" Type="http://schemas.openxmlformats.org/officeDocument/2006/relationships/slide" Target="slides/slide26.xml"/><Relationship Id="rId44" Type="http://schemas.openxmlformats.org/officeDocument/2006/relationships/slide" Target="slides/slide27.xml"/><Relationship Id="rId45" Type="http://schemas.openxmlformats.org/officeDocument/2006/relationships/slide" Target="slides/slide28.xml"/><Relationship Id="rId52" Type="http://customschemas.google.com/relationships/presentationmetadata" Target="metadata"/><Relationship Id="rId53" Type="http://schemas.openxmlformats.org/officeDocument/2006/relationships/presProps" Target="presProps.xml"/><Relationship Id="rId54" Type="http://schemas.openxmlformats.org/officeDocument/2006/relationships/viewProps" Target="viewProps.xml"/><Relationship Id="rId55" Type="http://schemas.openxmlformats.org/officeDocument/2006/relationships/theme" Target="theme/theme1.xml"/><Relationship Id="rId56" Type="http://schemas.openxmlformats.org/officeDocument/2006/relationships/tableStyles" Target="tableStyles.xml"/><Relationship Id="rId57" Type="http://schemas.microsoft.com/office/2016/11/relationships/changesInfo" Target="changesInfos/changesInfo1.xml"/><Relationship Id="rId58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uillermo Martinez Flores" userId="30adb457-ddd6-417b-a46d-fe5915593ae3" providerId="ADAL" clId="{57A466FF-9DDA-4DB6-AA66-2AF3F6FE414B}"/>
    <pc:docChg chg="custSel addSld modSld">
      <pc:chgData name="Guillermo Martinez Flores" userId="30adb457-ddd6-417b-a46d-fe5915593ae3" providerId="ADAL" clId="{57A466FF-9DDA-4DB6-AA66-2AF3F6FE414B}" dt="2026-03-10T16:02:31.328" v="25" actId="20577"/>
      <pc:docMkLst>
        <pc:docMk/>
      </pc:docMkLst>
      <pc:sldChg chg="modSp mod">
        <pc:chgData name="Guillermo Martinez Flores" userId="30adb457-ddd6-417b-a46d-fe5915593ae3" providerId="ADAL" clId="{57A466FF-9DDA-4DB6-AA66-2AF3F6FE414B}" dt="2026-03-03T17:01:10.960" v="13" actId="20577"/>
        <pc:sldMkLst>
          <pc:docMk/>
          <pc:sldMk cId="0" sldId="271"/>
        </pc:sldMkLst>
        <pc:graphicFrameChg chg="modGraphic">
          <ac:chgData name="Guillermo Martinez Flores" userId="30adb457-ddd6-417b-a46d-fe5915593ae3" providerId="ADAL" clId="{57A466FF-9DDA-4DB6-AA66-2AF3F6FE414B}" dt="2026-03-03T17:01:10.960" v="13" actId="20577"/>
          <ac:graphicFrameMkLst>
            <pc:docMk/>
            <pc:sldMk cId="0" sldId="271"/>
            <ac:graphicFrameMk id="311" creationId="{00000000-0000-0000-0000-000000000000}"/>
          </ac:graphicFrameMkLst>
        </pc:graphicFrameChg>
      </pc:sldChg>
      <pc:sldChg chg="addSp delSp modSp add mod">
        <pc:chgData name="Guillermo Martinez Flores" userId="30adb457-ddd6-417b-a46d-fe5915593ae3" providerId="ADAL" clId="{57A466FF-9DDA-4DB6-AA66-2AF3F6FE414B}" dt="2026-03-10T16:01:41.078" v="17" actId="478"/>
        <pc:sldMkLst>
          <pc:docMk/>
          <pc:sldMk cId="3258074767" sldId="286"/>
        </pc:sldMkLst>
        <pc:spChg chg="add mod">
          <ac:chgData name="Guillermo Martinez Flores" userId="30adb457-ddd6-417b-a46d-fe5915593ae3" providerId="ADAL" clId="{57A466FF-9DDA-4DB6-AA66-2AF3F6FE414B}" dt="2026-03-10T16:01:36.094" v="16"/>
          <ac:spMkLst>
            <pc:docMk/>
            <pc:sldMk cId="3258074767" sldId="286"/>
            <ac:spMk id="7" creationId="{E7E32C0D-5A5C-F971-661D-A7FFF038D554}"/>
          </ac:spMkLst>
        </pc:spChg>
        <pc:graphicFrameChg chg="add mod">
          <ac:chgData name="Guillermo Martinez Flores" userId="30adb457-ddd6-417b-a46d-fe5915593ae3" providerId="ADAL" clId="{57A466FF-9DDA-4DB6-AA66-2AF3F6FE414B}" dt="2026-03-10T16:01:36.094" v="16"/>
          <ac:graphicFrameMkLst>
            <pc:docMk/>
            <pc:sldMk cId="3258074767" sldId="286"/>
            <ac:graphicFrameMk id="5" creationId="{B709195D-5962-6442-81D8-2EFB6D8D7190}"/>
          </ac:graphicFrameMkLst>
        </pc:graphicFrameChg>
        <pc:picChg chg="add mod">
          <ac:chgData name="Guillermo Martinez Flores" userId="30adb457-ddd6-417b-a46d-fe5915593ae3" providerId="ADAL" clId="{57A466FF-9DDA-4DB6-AA66-2AF3F6FE414B}" dt="2026-03-10T16:01:36.094" v="16"/>
          <ac:picMkLst>
            <pc:docMk/>
            <pc:sldMk cId="3258074767" sldId="286"/>
            <ac:picMk id="6" creationId="{6AC64192-1EFE-6740-4042-23283E03A151}"/>
          </ac:picMkLst>
        </pc:picChg>
      </pc:sldChg>
      <pc:sldChg chg="modSp add mod">
        <pc:chgData name="Guillermo Martinez Flores" userId="30adb457-ddd6-417b-a46d-fe5915593ae3" providerId="ADAL" clId="{57A466FF-9DDA-4DB6-AA66-2AF3F6FE414B}" dt="2026-03-10T16:02:31.328" v="25" actId="20577"/>
        <pc:sldMkLst>
          <pc:docMk/>
          <pc:sldMk cId="748044913" sldId="287"/>
        </pc:sldMkLst>
        <pc:graphicFrameChg chg="modGraphic">
          <ac:chgData name="Guillermo Martinez Flores" userId="30adb457-ddd6-417b-a46d-fe5915593ae3" providerId="ADAL" clId="{57A466FF-9DDA-4DB6-AA66-2AF3F6FE414B}" dt="2026-03-10T16:02:31.328" v="25" actId="20577"/>
          <ac:graphicFrameMkLst>
            <pc:docMk/>
            <pc:sldMk cId="748044913" sldId="287"/>
            <ac:graphicFrameMk id="230" creationId="{AC3C5A3E-612D-5067-1D46-BCA5AE81D01D}"/>
          </ac:graphicFrameMkLst>
        </pc:graphicFrameChg>
      </pc:sldChg>
    </pc:docChg>
  </pc:docChgLst>
  <pc:docChgLst>
    <pc:chgData name="Rohan Myron Oprisko" userId="a7c52ab4-f8b1-4d15-aaf6-6388cc510347" providerId="ADAL" clId="{EEEE6C0E-EB18-4E43-B633-E5F95274828B}"/>
    <pc:docChg chg="undo custSel modSld">
      <pc:chgData name="Rohan Myron Oprisko" userId="a7c52ab4-f8b1-4d15-aaf6-6388cc510347" providerId="ADAL" clId="{EEEE6C0E-EB18-4E43-B633-E5F95274828B}" dt="2026-03-12T18:39:03.412" v="26" actId="20577"/>
      <pc:docMkLst>
        <pc:docMk/>
      </pc:docMkLst>
      <pc:sldChg chg="addSp modSp mod">
        <pc:chgData name="Rohan Myron Oprisko" userId="a7c52ab4-f8b1-4d15-aaf6-6388cc510347" providerId="ADAL" clId="{EEEE6C0E-EB18-4E43-B633-E5F95274828B}" dt="2026-03-12T17:50:44.492" v="17" actId="20577"/>
        <pc:sldMkLst>
          <pc:docMk/>
          <pc:sldMk cId="0" sldId="258"/>
        </pc:sldMkLst>
        <pc:graphicFrameChg chg="add mod modGraphic">
          <ac:chgData name="Rohan Myron Oprisko" userId="a7c52ab4-f8b1-4d15-aaf6-6388cc510347" providerId="ADAL" clId="{EEEE6C0E-EB18-4E43-B633-E5F95274828B}" dt="2026-03-12T17:50:44.492" v="17" actId="20577"/>
          <ac:graphicFrameMkLst>
            <pc:docMk/>
            <pc:sldMk cId="0" sldId="258"/>
            <ac:graphicFrameMk id="2" creationId="{D110EB92-D53B-B721-7239-F76E3C239AC9}"/>
          </ac:graphicFrameMkLst>
        </pc:graphicFrameChg>
        <pc:graphicFrameChg chg="mod">
          <ac:chgData name="Rohan Myron Oprisko" userId="a7c52ab4-f8b1-4d15-aaf6-6388cc510347" providerId="ADAL" clId="{EEEE6C0E-EB18-4E43-B633-E5F95274828B}" dt="2026-03-12T17:49:34.333" v="5" actId="1076"/>
          <ac:graphicFrameMkLst>
            <pc:docMk/>
            <pc:sldMk cId="0" sldId="258"/>
            <ac:graphicFrameMk id="111" creationId="{00000000-0000-0000-0000-000000000000}"/>
          </ac:graphicFrameMkLst>
        </pc:graphicFrameChg>
      </pc:sldChg>
      <pc:sldChg chg="modSp mod">
        <pc:chgData name="Rohan Myron Oprisko" userId="a7c52ab4-f8b1-4d15-aaf6-6388cc510347" providerId="ADAL" clId="{EEEE6C0E-EB18-4E43-B633-E5F95274828B}" dt="2026-03-12T18:39:03.412" v="26" actId="20577"/>
        <pc:sldMkLst>
          <pc:docMk/>
          <pc:sldMk cId="0" sldId="279"/>
        </pc:sldMkLst>
        <pc:spChg chg="mod">
          <ac:chgData name="Rohan Myron Oprisko" userId="a7c52ab4-f8b1-4d15-aaf6-6388cc510347" providerId="ADAL" clId="{EEEE6C0E-EB18-4E43-B633-E5F95274828B}" dt="2026-03-12T18:39:03.412" v="26" actId="20577"/>
          <ac:spMkLst>
            <pc:docMk/>
            <pc:sldMk cId="0" sldId="279"/>
            <ac:spMk id="500" creationId="{00000000-0000-0000-0000-000000000000}"/>
          </ac:spMkLst>
        </pc:spChg>
      </pc:sldChg>
      <pc:sldChg chg="modSp mod">
        <pc:chgData name="Rohan Myron Oprisko" userId="a7c52ab4-f8b1-4d15-aaf6-6388cc510347" providerId="ADAL" clId="{EEEE6C0E-EB18-4E43-B633-E5F95274828B}" dt="2026-03-10T21:41:16.170" v="2" actId="20577"/>
        <pc:sldMkLst>
          <pc:docMk/>
          <pc:sldMk cId="540716406" sldId="280"/>
        </pc:sldMkLst>
        <pc:graphicFrameChg chg="modGraphic">
          <ac:chgData name="Rohan Myron Oprisko" userId="a7c52ab4-f8b1-4d15-aaf6-6388cc510347" providerId="ADAL" clId="{EEEE6C0E-EB18-4E43-B633-E5F95274828B}" dt="2026-03-10T21:41:16.170" v="2" actId="20577"/>
          <ac:graphicFrameMkLst>
            <pc:docMk/>
            <pc:sldMk cId="540716406" sldId="280"/>
            <ac:graphicFrameMk id="230" creationId="{64EDC3BC-A199-227A-0CEC-FB808E16739F}"/>
          </ac:graphicFrameMkLst>
        </pc:graphicFrameChg>
      </pc:sldChg>
    </pc:docChg>
  </pc:docChgLst>
  <pc:docChgLst>
    <pc:chgData name="asesores.dg" userId="9234a6e6-864c-49e9-8fd1-6d0df70c34f2" providerId="ADAL" clId="{6846A1DD-3EC1-5A12-B3C5-9C410579EE4F}"/>
    <pc:docChg chg="modMainMaster">
      <pc:chgData name="asesores.dg" userId="9234a6e6-864c-49e9-8fd1-6d0df70c34f2" providerId="ADAL" clId="{6846A1DD-3EC1-5A12-B3C5-9C410579EE4F}" dt="2026-03-10T15:38:38.374" v="2" actId="962"/>
      <pc:docMkLst>
        <pc:docMk/>
      </pc:docMkLst>
      <pc:sldMasterChg chg="modSldLayout">
        <pc:chgData name="asesores.dg" userId="9234a6e6-864c-49e9-8fd1-6d0df70c34f2" providerId="ADAL" clId="{6846A1DD-3EC1-5A12-B3C5-9C410579EE4F}" dt="2026-03-10T15:38:38.374" v="2" actId="962"/>
        <pc:sldMasterMkLst>
          <pc:docMk/>
          <pc:sldMasterMk cId="0" sldId="2147483648"/>
        </pc:sldMasterMkLst>
        <pc:sldLayoutChg chg="addSp modSp mod">
          <pc:chgData name="asesores.dg" userId="9234a6e6-864c-49e9-8fd1-6d0df70c34f2" providerId="ADAL" clId="{6846A1DD-3EC1-5A12-B3C5-9C410579EE4F}" dt="2026-03-10T15:38:38.374" v="2" actId="962"/>
          <pc:sldLayoutMkLst>
            <pc:docMk/>
            <pc:sldMasterMk cId="0" sldId="2147483648"/>
            <pc:sldLayoutMk cId="0" sldId="2147483650"/>
          </pc:sldLayoutMkLst>
          <pc:picChg chg="add mod">
            <ac:chgData name="asesores.dg" userId="9234a6e6-864c-49e9-8fd1-6d0df70c34f2" providerId="ADAL" clId="{6846A1DD-3EC1-5A12-B3C5-9C410579EE4F}" dt="2026-03-10T15:38:38.374" v="2" actId="962"/>
            <ac:picMkLst>
              <pc:docMk/>
              <pc:sldMasterMk cId="0" sldId="2147483648"/>
              <pc:sldLayoutMk cId="0" sldId="2147483650"/>
              <ac:picMk id="3" creationId="{A0ABD2DF-B429-0564-31D9-12741B10B2D0}"/>
            </ac:picMkLst>
          </pc:picChg>
        </pc:sldLayoutChg>
      </pc:sldMasterChg>
    </pc:docChg>
  </pc:docChgLst>
  <pc:docChgLst>
    <pc:chgData name="David Arturo Baltazar Sanchez" userId="25f522d3-6b93-447f-8e87-5af7c1a8f0db" providerId="ADAL" clId="{1167E2C4-85EE-4FA3-A5C3-376395AAEEB6}"/>
    <pc:docChg chg="custSel addSld delSld modSld">
      <pc:chgData name="David Arturo Baltazar Sanchez" userId="25f522d3-6b93-447f-8e87-5af7c1a8f0db" providerId="ADAL" clId="{1167E2C4-85EE-4FA3-A5C3-376395AAEEB6}" dt="2026-03-11T19:27:03.417" v="60"/>
      <pc:docMkLst>
        <pc:docMk/>
      </pc:docMkLst>
      <pc:sldChg chg="del">
        <pc:chgData name="David Arturo Baltazar Sanchez" userId="25f522d3-6b93-447f-8e87-5af7c1a8f0db" providerId="ADAL" clId="{1167E2C4-85EE-4FA3-A5C3-376395AAEEB6}" dt="2026-03-11T00:45:27.304" v="54" actId="47"/>
        <pc:sldMkLst>
          <pc:docMk/>
          <pc:sldMk cId="0" sldId="257"/>
        </pc:sldMkLst>
      </pc:sldChg>
      <pc:sldChg chg="delSp mod">
        <pc:chgData name="David Arturo Baltazar Sanchez" userId="25f522d3-6b93-447f-8e87-5af7c1a8f0db" providerId="ADAL" clId="{1167E2C4-85EE-4FA3-A5C3-376395AAEEB6}" dt="2026-03-10T16:34:48.659" v="2" actId="478"/>
        <pc:sldMkLst>
          <pc:docMk/>
          <pc:sldMk cId="0" sldId="258"/>
        </pc:sldMkLst>
      </pc:sldChg>
      <pc:sldChg chg="modSp mod">
        <pc:chgData name="David Arturo Baltazar Sanchez" userId="25f522d3-6b93-447f-8e87-5af7c1a8f0db" providerId="ADAL" clId="{1167E2C4-85EE-4FA3-A5C3-376395AAEEB6}" dt="2026-03-11T19:02:36.979" v="59" actId="20577"/>
        <pc:sldMkLst>
          <pc:docMk/>
          <pc:sldMk cId="0" sldId="260"/>
        </pc:sldMkLst>
        <pc:spChg chg="mod">
          <ac:chgData name="David Arturo Baltazar Sanchez" userId="25f522d3-6b93-447f-8e87-5af7c1a8f0db" providerId="ADAL" clId="{1167E2C4-85EE-4FA3-A5C3-376395AAEEB6}" dt="2026-03-11T19:02:36.979" v="59" actId="20577"/>
          <ac:spMkLst>
            <pc:docMk/>
            <pc:sldMk cId="0" sldId="260"/>
            <ac:spMk id="145" creationId="{00000000-0000-0000-0000-000000000000}"/>
          </ac:spMkLst>
        </pc:spChg>
        <pc:graphicFrameChg chg="mod modGraphic">
          <ac:chgData name="David Arturo Baltazar Sanchez" userId="25f522d3-6b93-447f-8e87-5af7c1a8f0db" providerId="ADAL" clId="{1167E2C4-85EE-4FA3-A5C3-376395AAEEB6}" dt="2026-03-11T18:59:37.205" v="57"/>
          <ac:graphicFrameMkLst>
            <pc:docMk/>
            <pc:sldMk cId="0" sldId="260"/>
            <ac:graphicFrameMk id="143" creationId="{00000000-0000-0000-0000-000000000000}"/>
          </ac:graphicFrameMkLst>
        </pc:graphicFrameChg>
      </pc:sldChg>
      <pc:sldChg chg="addSp delSp modSp mod">
        <pc:chgData name="David Arturo Baltazar Sanchez" userId="25f522d3-6b93-447f-8e87-5af7c1a8f0db" providerId="ADAL" clId="{1167E2C4-85EE-4FA3-A5C3-376395AAEEB6}" dt="2026-03-11T19:27:03.417" v="60"/>
        <pc:sldMkLst>
          <pc:docMk/>
          <pc:sldMk cId="0" sldId="261"/>
        </pc:sldMkLst>
        <pc:spChg chg="add mod">
          <ac:chgData name="David Arturo Baltazar Sanchez" userId="25f522d3-6b93-447f-8e87-5af7c1a8f0db" providerId="ADAL" clId="{1167E2C4-85EE-4FA3-A5C3-376395AAEEB6}" dt="2026-03-11T19:27:03.417" v="60"/>
          <ac:spMkLst>
            <pc:docMk/>
            <pc:sldMk cId="0" sldId="261"/>
            <ac:spMk id="2" creationId="{7C20637C-AE23-01C3-8BD5-A524B7FEEE8F}"/>
          </ac:spMkLst>
        </pc:spChg>
        <pc:spChg chg="del">
          <ac:chgData name="David Arturo Baltazar Sanchez" userId="25f522d3-6b93-447f-8e87-5af7c1a8f0db" providerId="ADAL" clId="{1167E2C4-85EE-4FA3-A5C3-376395AAEEB6}" dt="2026-03-11T00:23:27.499" v="28" actId="478"/>
          <ac:spMkLst>
            <pc:docMk/>
            <pc:sldMk cId="0" sldId="261"/>
            <ac:spMk id="154" creationId="{00000000-0000-0000-0000-000000000000}"/>
          </ac:spMkLst>
        </pc:spChg>
        <pc:spChg chg="del">
          <ac:chgData name="David Arturo Baltazar Sanchez" userId="25f522d3-6b93-447f-8e87-5af7c1a8f0db" providerId="ADAL" clId="{1167E2C4-85EE-4FA3-A5C3-376395AAEEB6}" dt="2026-03-11T00:23:25.389" v="27" actId="478"/>
          <ac:spMkLst>
            <pc:docMk/>
            <pc:sldMk cId="0" sldId="261"/>
            <ac:spMk id="157" creationId="{00000000-0000-0000-0000-000000000000}"/>
          </ac:spMkLst>
        </pc:spChg>
      </pc:sldChg>
      <pc:sldChg chg="delSp mod">
        <pc:chgData name="David Arturo Baltazar Sanchez" userId="25f522d3-6b93-447f-8e87-5af7c1a8f0db" providerId="ADAL" clId="{1167E2C4-85EE-4FA3-A5C3-376395AAEEB6}" dt="2026-03-10T16:37:14.096" v="3" actId="478"/>
        <pc:sldMkLst>
          <pc:docMk/>
          <pc:sldMk cId="0" sldId="262"/>
        </pc:sldMkLst>
      </pc:sldChg>
      <pc:sldChg chg="delSp mod">
        <pc:chgData name="David Arturo Baltazar Sanchez" userId="25f522d3-6b93-447f-8e87-5af7c1a8f0db" providerId="ADAL" clId="{1167E2C4-85EE-4FA3-A5C3-376395AAEEB6}" dt="2026-03-10T16:37:51.689" v="4" actId="478"/>
        <pc:sldMkLst>
          <pc:docMk/>
          <pc:sldMk cId="0" sldId="267"/>
        </pc:sldMkLst>
      </pc:sldChg>
      <pc:sldChg chg="delSp modSp mod">
        <pc:chgData name="David Arturo Baltazar Sanchez" userId="25f522d3-6b93-447f-8e87-5af7c1a8f0db" providerId="ADAL" clId="{1167E2C4-85EE-4FA3-A5C3-376395AAEEB6}" dt="2026-03-10T16:38:46.943" v="25" actId="1035"/>
        <pc:sldMkLst>
          <pc:docMk/>
          <pc:sldMk cId="0" sldId="271"/>
        </pc:sldMkLst>
        <pc:graphicFrameChg chg="mod">
          <ac:chgData name="David Arturo Baltazar Sanchez" userId="25f522d3-6b93-447f-8e87-5af7c1a8f0db" providerId="ADAL" clId="{1167E2C4-85EE-4FA3-A5C3-376395AAEEB6}" dt="2026-03-10T16:38:46.943" v="25" actId="1035"/>
          <ac:graphicFrameMkLst>
            <pc:docMk/>
            <pc:sldMk cId="0" sldId="271"/>
            <ac:graphicFrameMk id="311" creationId="{00000000-0000-0000-0000-000000000000}"/>
          </ac:graphicFrameMkLst>
        </pc:graphicFrameChg>
      </pc:sldChg>
      <pc:sldChg chg="delSp mod">
        <pc:chgData name="David Arturo Baltazar Sanchez" userId="25f522d3-6b93-447f-8e87-5af7c1a8f0db" providerId="ADAL" clId="{1167E2C4-85EE-4FA3-A5C3-376395AAEEB6}" dt="2026-03-10T16:39:47.282" v="26" actId="478"/>
        <pc:sldMkLst>
          <pc:docMk/>
          <pc:sldMk cId="0" sldId="278"/>
        </pc:sldMkLst>
      </pc:sldChg>
      <pc:sldChg chg="modSp add mod">
        <pc:chgData name="David Arturo Baltazar Sanchez" userId="25f522d3-6b93-447f-8e87-5af7c1a8f0db" providerId="ADAL" clId="{1167E2C4-85EE-4FA3-A5C3-376395AAEEB6}" dt="2026-03-11T00:26:00.875" v="50" actId="20577"/>
        <pc:sldMkLst>
          <pc:docMk/>
          <pc:sldMk cId="3805655920" sldId="288"/>
        </pc:sldMkLst>
        <pc:graphicFrameChg chg="modGraphic">
          <ac:chgData name="David Arturo Baltazar Sanchez" userId="25f522d3-6b93-447f-8e87-5af7c1a8f0db" providerId="ADAL" clId="{1167E2C4-85EE-4FA3-A5C3-376395AAEEB6}" dt="2026-03-11T00:26:00.875" v="50" actId="20577"/>
          <ac:graphicFrameMkLst>
            <pc:docMk/>
            <pc:sldMk cId="3805655920" sldId="288"/>
            <ac:graphicFrameMk id="230" creationId="{3C790683-245A-1FE6-35AC-FBB0C23942D1}"/>
          </ac:graphicFrameMkLst>
        </pc:graphicFrameChg>
      </pc:sldChg>
      <pc:sldChg chg="new">
        <pc:chgData name="David Arturo Baltazar Sanchez" userId="25f522d3-6b93-447f-8e87-5af7c1a8f0db" providerId="ADAL" clId="{1167E2C4-85EE-4FA3-A5C3-376395AAEEB6}" dt="2026-03-11T00:29:35.143" v="53" actId="680"/>
        <pc:sldMkLst>
          <pc:docMk/>
          <pc:sldMk cId="3763779569" sldId="289"/>
        </pc:sldMkLst>
      </pc:sldChg>
      <pc:sldChg chg="new del">
        <pc:chgData name="David Arturo Baltazar Sanchez" userId="25f522d3-6b93-447f-8e87-5af7c1a8f0db" providerId="ADAL" clId="{1167E2C4-85EE-4FA3-A5C3-376395AAEEB6}" dt="2026-03-11T00:29:01.835" v="52" actId="47"/>
        <pc:sldMkLst>
          <pc:docMk/>
          <pc:sldMk cId="4174642915" sldId="289"/>
        </pc:sldMkLst>
      </pc:sldChg>
    </pc:docChg>
  </pc:docChgLst>
</pc:chgInfo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8.xlsx"/></Relationships>
</file>

<file path=ppt/charts/_rels/chart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9.xlsx"/></Relationships>
</file>

<file path=ppt/charts/_rels/chart1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0.xlsx"/></Relationships>
</file>

<file path=ppt/charts/_rels/chart1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1.xlsx"/></Relationships>
</file>

<file path=ppt/charts/_rels/chart1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2.xlsx"/></Relationships>
</file>

<file path=ppt/charts/_rels/chart1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3.xlsx"/></Relationships>
</file>

<file path=ppt/charts/_rels/chart1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4.xlsx"/></Relationships>
</file>

<file path=ppt/charts/_rels/chart1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5.xlsx"/></Relationships>
</file>

<file path=ppt/charts/_rels/chart1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6.xlsx"/></Relationships>
</file>

<file path=ppt/charts/_rels/chart1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7.xlsx"/></Relationships>
</file>

<file path=ppt/charts/_rels/chart1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8.xlsx"/></Relationships>
</file>

<file path=ppt/charts/_rels/chart1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9.xlsx"/></Relationships>
</file>

<file path=ppt/charts/_rels/chart2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0.xlsx"/></Relationships>
</file>

<file path=ppt/charts/_rels/chart2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1.xlsx"/></Relationships>
</file>

<file path=ppt/charts/_rels/chart2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dPt>
            <c:idx val="0"/>
            <c:spPr>
              <a:solidFill>
                <a:srgbClr val="006455"/>
              </a:solidFill>
            </c:spPr>
          </c:dPt>
          <c:dPt>
            <c:idx val="1"/>
            <c:spPr>
              <a:solidFill>
                <a:srgbClr val="549ECF"/>
              </a:solidFill>
            </c:spPr>
          </c:dPt>
          <c:dPt>
            <c:idx val="2"/>
            <c:spPr>
              <a:solidFill>
                <a:srgbClr val="691C32"/>
              </a:solidFill>
            </c:spPr>
          </c:dPt>
          <c:dPt>
            <c:idx val="3"/>
            <c:spPr>
              <a:solidFill>
                <a:srgbClr val="BC955C"/>
              </a:solidFill>
            </c:spPr>
          </c:dPt>
          <c:dPt>
            <c:idx val="4"/>
            <c:spPr>
              <a:solidFill>
                <a:srgbClr val="9E9E9E"/>
              </a:solidFill>
            </c:spPr>
          </c:dPt>
          <c:cat>
            <c:strRef>
              <c:f>Sheet1!$A$2:$A$6</c:f>
              <c:strCache>
                <c:ptCount val="5"/>
                <c:pt idx="0">
                  <c:v>IMSS</c:v>
                </c:pt>
                <c:pt idx="1">
                  <c:v>IMSS Coplamar</c:v>
                </c:pt>
                <c:pt idx="2">
                  <c:v>ISSSTE</c:v>
                </c:pt>
                <c:pt idx="3">
                  <c:v>IMSS-BIENESTAR</c:v>
                </c:pt>
                <c:pt idx="4">
                  <c:v>Otros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2234240.0</c:v>
                </c:pt>
                <c:pt idx="1">
                  <c:v>1203362.0</c:v>
                </c:pt>
                <c:pt idx="2">
                  <c:v>479627.0</c:v>
                </c:pt>
                <c:pt idx="3">
                  <c:v>3199656.0</c:v>
                </c:pt>
                <c:pt idx="4">
                  <c:v>32254.0</c:v>
                </c:pt>
              </c:numCache>
            </c:numRef>
          </c:val>
        </c:ser>
        <c:firstSliceAng val="0"/>
        <c:holeSize val="50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Pt>
            <c:idx val="3"/>
            <c:spPr>
              <a:solidFill>
                <a:srgbClr val="691C32"/>
              </a:solidFill>
            </c:spPr>
          </c:dPt>
          <c:cat>
            <c:strRef>
              <c:f>Sheet1!$A$2:$A$5</c:f>
              <c:strCache>
                <c:ptCount val="4"/>
                <c:pt idx="0">
                  <c:v>2018</c:v>
                </c:pt>
                <c:pt idx="1">
                  <c:v>2024</c:v>
                </c:pt>
                <c:pt idx="2">
                  <c:v>2025</c:v>
                </c:pt>
                <c:pt idx="3">
                  <c:v>2026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155</c:v>
                </c:pt>
                <c:pt idx="1">
                  <c:v>354</c:v>
                </c:pt>
                <c:pt idx="2">
                  <c:v>438</c:v>
                </c:pt>
                <c:pt idx="3">
                  <c:v>449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1000" b="1">
                  <a:solidFill>
                    <a:srgbClr val="FFFFFF"/>
                  </a:solidFill>
                  <a:latin typeface="Montserrat"/>
                </a:defRPr>
              </a:pPr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10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Mes Anterior</c:v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000000"/>
                    </a:solidFill>
                    <a:latin typeface="Montserra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Sheet1!$A$2:$A$10</c:f>
              <c:strCache>
                <c:ptCount val="9"/>
                <c:pt idx="0">
                  <c:v>Industrias Extractivas</c:v>
                </c:pt>
                <c:pt idx="1">
                  <c:v>Servicios para Empresas, Personas y el Hogar</c:v>
                </c:pt>
                <c:pt idx="2">
                  <c:v>Agricultura, Ganaderia, Silvicultura, Pesca y Caza</c:v>
                </c:pt>
                <c:pt idx="3">
                  <c:v>Industrias de la Transformación</c:v>
                </c:pt>
                <c:pt idx="4">
                  <c:v>Industria de la Construcción</c:v>
                </c:pt>
                <c:pt idx="5">
                  <c:v>Ind Eléctrica y Captación y Suministro de Agua Potable</c:v>
                </c:pt>
                <c:pt idx="6">
                  <c:v>Comercio</c:v>
                </c:pt>
                <c:pt idx="7">
                  <c:v>Transportes y Comunicaciones</c:v>
                </c:pt>
                <c:pt idx="8">
                  <c:v>Servicios Sociales y Comunales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1623</c:v>
                </c:pt>
                <c:pt idx="1">
                  <c:v>125431</c:v>
                </c:pt>
                <c:pt idx="2">
                  <c:v>23335</c:v>
                </c:pt>
                <c:pt idx="3">
                  <c:v>191641</c:v>
                </c:pt>
                <c:pt idx="4">
                  <c:v>48554</c:v>
                </c:pt>
                <c:pt idx="5">
                  <c:v>5816</c:v>
                </c:pt>
                <c:pt idx="6">
                  <c:v>158353</c:v>
                </c:pt>
                <c:pt idx="7">
                  <c:v>40346</c:v>
                </c:pt>
                <c:pt idx="8">
                  <c:v>64520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Mes Actual</c:v>
                </c:pt>
              </c:strCache>
            </c:strRef>
          </c:tx>
          <c:spPr>
            <a:solidFill>
              <a:srgbClr val="9F2241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000000"/>
                    </a:solidFill>
                    <a:latin typeface="Montserra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Sheet1!$A$2:$A$10</c:f>
              <c:strCache>
                <c:ptCount val="9"/>
                <c:pt idx="0">
                  <c:v>Industrias Extractivas</c:v>
                </c:pt>
                <c:pt idx="1">
                  <c:v>Servicios para Empresas, Personas y el Hogar</c:v>
                </c:pt>
                <c:pt idx="2">
                  <c:v>Agricultura, Ganaderia, Silvicultura, Pesca y Caza</c:v>
                </c:pt>
                <c:pt idx="3">
                  <c:v>Industrias de la Transformación</c:v>
                </c:pt>
                <c:pt idx="4">
                  <c:v>Industria de la Construcción</c:v>
                </c:pt>
                <c:pt idx="5">
                  <c:v>Ind Eléctrica y Captación y Suministro de Agua Potable</c:v>
                </c:pt>
                <c:pt idx="6">
                  <c:v>Comercio</c:v>
                </c:pt>
                <c:pt idx="7">
                  <c:v>Transportes y Comunicaciones</c:v>
                </c:pt>
                <c:pt idx="8">
                  <c:v>Servicios Sociales y Comunales</c:v>
                </c:pt>
              </c:strCache>
            </c:strRef>
          </c:cat>
          <c:val>
            <c:numRef>
              <c:f>Sheet1!$C$2:$C$10</c:f>
              <c:numCache>
                <c:formatCode>General</c:formatCode>
                <c:ptCount val="9"/>
                <c:pt idx="0">
                  <c:v>1538</c:v>
                </c:pt>
                <c:pt idx="1">
                  <c:v>120520</c:v>
                </c:pt>
                <c:pt idx="2">
                  <c:v>22635</c:v>
                </c:pt>
                <c:pt idx="3">
                  <c:v>186981</c:v>
                </c:pt>
                <c:pt idx="4">
                  <c:v>48249</c:v>
                </c:pt>
                <c:pt idx="5">
                  <c:v>5803</c:v>
                </c:pt>
                <c:pt idx="6">
                  <c:v>161320</c:v>
                </c:pt>
                <c:pt idx="7">
                  <c:v>41208</c:v>
                </c:pt>
                <c:pt idx="8">
                  <c:v>66213</c:v>
                </c:pt>
              </c:numCache>
            </c:numRef>
          </c:val>
        </c:ser>
        <c:gapWidth val="5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800" b="1">
                <a:solidFill>
                  <a:srgbClr val="000000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1000" b="1">
                    <a:solidFill>
                      <a:srgbClr val="006455"/>
                    </a:solidFill>
                    <a:latin typeface="Montserra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numRef>
              <c:f>Sheet1!$A$2:$A$10</c:f>
              <c:numCache>
                <c:formatCode>General</c:formatCode>
                <c:ptCount val="9"/>
                <c:pt idx="0">
                  <c:v>2018</c:v>
                </c:pt>
                <c:pt idx="1">
                  <c:v>2019</c:v>
                </c:pt>
                <c:pt idx="2">
                  <c:v>2020</c:v>
                </c:pt>
                <c:pt idx="3">
                  <c:v>2021</c:v>
                </c:pt>
                <c:pt idx="4">
                  <c:v>2022</c:v>
                </c:pt>
                <c:pt idx="5">
                  <c:v>2023</c:v>
                </c:pt>
                <c:pt idx="6">
                  <c:v>2024</c:v>
                </c:pt>
                <c:pt idx="7">
                  <c:v>2025</c:v>
                </c:pt>
                <c:pt idx="8">
                  <c:v>2026</c:v>
                </c:pt>
              </c:numCache>
            </c:numRef>
          </c:cat>
          <c:val>
            <c:numRef>
              <c:f>Sheet1!$B$2:$B$10</c:f>
              <c:numCache>
                <c:formatCode>General</c:formatCode>
                <c:ptCount val="9"/>
                <c:pt idx="0">
                  <c:v>605613</c:v>
                </c:pt>
                <c:pt idx="1">
                  <c:v>624718</c:v>
                </c:pt>
                <c:pt idx="2">
                  <c:v>628017</c:v>
                </c:pt>
                <c:pt idx="3">
                  <c:v>589535</c:v>
                </c:pt>
                <c:pt idx="4">
                  <c:v>612514</c:v>
                </c:pt>
                <c:pt idx="5">
                  <c:v>634127</c:v>
                </c:pt>
                <c:pt idx="6">
                  <c:v>653152</c:v>
                </c:pt>
                <c:pt idx="7">
                  <c:v>659619</c:v>
                </c:pt>
                <c:pt idx="8">
                  <c:v>654467</c:v>
                </c:pt>
              </c:numCache>
            </c:numRef>
          </c:val>
        </c:ser>
        <c:gapWidth val="50"/>
        <c:axId val="-2068027336"/>
        <c:axId val="-2113994440"/>
      </c:barChart>
      <c:catAx>
        <c:axId val="-2068027336"/>
        <c:scaling>
          <c:orientation val="minMax"/>
        </c:scaling>
        <c:delete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900" b="1">
                <a:latin typeface="Montserrat"/>
              </a:defRPr>
            </a:pPr>
            <a:r>
              <a:t>HGR 36 San Alejandro (Total: 31)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  <a:latin typeface="Montserra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Sheet1!$A$2:$A$18</c:f>
              <c:strCache>
                <c:ptCount val="17"/>
                <c:pt idx="0">
                  <c:v>Geriatria Directa</c:v>
                </c:pt>
                <c:pt idx="1">
                  <c:v>Coloproctologia</c:v>
                </c:pt>
                <c:pt idx="2">
                  <c:v>Medicina Interna</c:v>
                </c:pt>
                <c:pt idx="3">
                  <c:v>Medicina Materno Fetal</c:v>
                </c:pt>
                <c:pt idx="4">
                  <c:v>Infectologia</c:v>
                </c:pt>
                <c:pt idx="5">
                  <c:v>Patologia Clinica</c:v>
                </c:pt>
                <c:pt idx="6">
                  <c:v>Anestesiologia Pediatrica</c:v>
                </c:pt>
                <c:pt idx="7">
                  <c:v>Oncologia Medica</c:v>
                </c:pt>
                <c:pt idx="8">
                  <c:v>Hematologia Pediatrica</c:v>
                </c:pt>
                <c:pt idx="9">
                  <c:v>Medicina Paliativa Y Del Dolor</c:v>
                </c:pt>
                <c:pt idx="10">
                  <c:v>Cirugia Oncologica</c:v>
                </c:pt>
                <c:pt idx="11">
                  <c:v>Imagenologia Diagnostica Y Terapeutica</c:v>
                </c:pt>
                <c:pt idx="12">
                  <c:v>Urologia</c:v>
                </c:pt>
                <c:pt idx="13">
                  <c:v>Cardiologia</c:v>
                </c:pt>
                <c:pt idx="14">
                  <c:v>Oftalmologia</c:v>
                </c:pt>
                <c:pt idx="15">
                  <c:v>Neurocirugia</c:v>
                </c:pt>
                <c:pt idx="16">
                  <c:v>Cirugia Pediatrica</c:v>
                </c:pt>
              </c:strCache>
            </c:strRef>
          </c:cat>
          <c:val>
            <c:numRef>
              <c:f>Sheet1!$B$2:$B$18</c:f>
              <c:numCache>
                <c:formatCode>General</c:formatCode>
                <c:ptCount val="17"/>
                <c:pt idx="0">
                  <c:v>6</c:v>
                </c:pt>
                <c:pt idx="1">
                  <c:v>3</c:v>
                </c:pt>
                <c:pt idx="2">
                  <c:v>3</c:v>
                </c:pt>
                <c:pt idx="3">
                  <c:v>2</c:v>
                </c:pt>
                <c:pt idx="4">
                  <c:v>1</c:v>
                </c:pt>
                <c:pt idx="5">
                  <c:v>2</c:v>
                </c:pt>
                <c:pt idx="6">
                  <c:v>1</c:v>
                </c:pt>
                <c:pt idx="7">
                  <c:v>2</c:v>
                </c:pt>
                <c:pt idx="8">
                  <c:v>1</c:v>
                </c:pt>
                <c:pt idx="9">
                  <c:v>2</c:v>
                </c:pt>
                <c:pt idx="10">
                  <c:v>1</c:v>
                </c:pt>
                <c:pt idx="11">
                  <c:v>2</c:v>
                </c:pt>
                <c:pt idx="12">
                  <c:v>1</c:v>
                </c:pt>
                <c:pt idx="13">
                  <c:v>1</c:v>
                </c:pt>
                <c:pt idx="14">
                  <c:v>1</c:v>
                </c:pt>
                <c:pt idx="15">
                  <c:v>1</c:v>
                </c:pt>
                <c:pt idx="16">
                  <c:v>1</c:v>
                </c:pt>
              </c:numCache>
            </c:numRef>
          </c:val>
        </c:ser>
        <c:gapWidth val="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8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900" b="1">
                <a:latin typeface="Montserrat"/>
              </a:defRPr>
            </a:pPr>
            <a:r>
              <a:t>HGS 10 Nuevo Necaxa (Total: 2)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  <a:latin typeface="Montserra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Sheet1!$A$2:$A$3</c:f>
              <c:strCache>
                <c:ptCount val="2"/>
                <c:pt idx="0">
                  <c:v>Medicina Interna</c:v>
                </c:pt>
                <c:pt idx="1">
                  <c:v>Urgencias Pediatrica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</c:v>
                </c:pt>
                <c:pt idx="1">
                  <c:v>1</c:v>
                </c:pt>
              </c:numCache>
            </c:numRef>
          </c:val>
        </c:ser>
        <c:gapWidth val="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8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900" b="1">
                <a:latin typeface="Montserrat"/>
              </a:defRPr>
            </a:pPr>
            <a:r>
              <a:t>HGZ 15 Tehuacán (Total: 4)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  <a:latin typeface="Montserra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Medicina Interna</c:v>
                </c:pt>
                <c:pt idx="1">
                  <c:v>Cirugia General</c:v>
                </c:pt>
                <c:pt idx="2">
                  <c:v>Oftalmologia</c:v>
                </c:pt>
                <c:pt idx="3">
                  <c:v>Geriatria Directa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</c:numCache>
            </c:numRef>
          </c:val>
        </c:ser>
        <c:gapWidth val="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8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900" b="1">
                <a:latin typeface="Montserrat"/>
              </a:defRPr>
            </a:pPr>
            <a:r>
              <a:t>HGZ 20 La Margarita (Total: 6)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  <a:latin typeface="Montserra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Cirugia Oncologica</c:v>
                </c:pt>
                <c:pt idx="1">
                  <c:v>Medicina Interna</c:v>
                </c:pt>
                <c:pt idx="2">
                  <c:v>Geriatria Directa</c:v>
                </c:pt>
                <c:pt idx="3">
                  <c:v>Cirugia Pediatrica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</c:v>
                </c:pt>
                <c:pt idx="1">
                  <c:v>1</c:v>
                </c:pt>
                <c:pt idx="2">
                  <c:v>2</c:v>
                </c:pt>
                <c:pt idx="3">
                  <c:v>2</c:v>
                </c:pt>
              </c:numCache>
            </c:numRef>
          </c:val>
        </c:ser>
        <c:gapWidth val="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8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900" b="1">
                <a:latin typeface="Montserrat"/>
              </a:defRPr>
            </a:pPr>
            <a:r>
              <a:t>HGZ 23 Teziutlán (Total: 1)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  <a:latin typeface="Montserra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</c:f>
              <c:strCache>
                <c:ptCount val="1"/>
                <c:pt idx="0">
                  <c:v>Medicina Interna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1</c:v>
                </c:pt>
              </c:numCache>
            </c:numRef>
          </c:val>
        </c:ser>
        <c:gapWidth val="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8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900" b="1">
                <a:latin typeface="Montserrat"/>
              </a:defRPr>
            </a:pPr>
            <a:r>
              <a:t>HGZ 35 Cuautlancingo (Total: 6)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  <a:latin typeface="Montserra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Cirugia Oncologica</c:v>
                </c:pt>
                <c:pt idx="1">
                  <c:v>Urologia</c:v>
                </c:pt>
                <c:pt idx="2">
                  <c:v>Endoscopia</c:v>
                </c:pt>
                <c:pt idx="3">
                  <c:v>Gastroenterologia Y Nutricion Pediatrica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</c:v>
                </c:pt>
                <c:pt idx="1">
                  <c:v>1</c:v>
                </c:pt>
                <c:pt idx="2">
                  <c:v>2</c:v>
                </c:pt>
                <c:pt idx="3">
                  <c:v>1</c:v>
                </c:pt>
              </c:numCache>
            </c:numRef>
          </c:val>
        </c:ser>
        <c:gapWidth val="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8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900" b="1">
                <a:latin typeface="Montserrat"/>
              </a:defRPr>
            </a:pPr>
            <a:r>
              <a:t>HGZ 5 Metepec (Total: 1)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  <a:latin typeface="Montserra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</c:f>
              <c:strCache>
                <c:ptCount val="1"/>
                <c:pt idx="0">
                  <c:v>Medicina Interna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1</c:v>
                </c:pt>
              </c:numCache>
            </c:numRef>
          </c:val>
        </c:ser>
        <c:gapWidth val="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8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900" b="1">
                <a:latin typeface="Montserrat"/>
              </a:defRPr>
            </a:pPr>
            <a:r>
              <a:t>HR Chiautla De Tapia (Total: 1)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  <a:latin typeface="Montserra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</c:f>
              <c:strCache>
                <c:ptCount val="1"/>
                <c:pt idx="0">
                  <c:v>Cirugia General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1</c:v>
                </c:pt>
              </c:numCache>
            </c:numRef>
          </c:val>
        </c:ser>
        <c:gapWidth val="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8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900" b="1">
                <a:latin typeface="Montserrat"/>
              </a:defRPr>
            </a:pPr>
            <a:r>
              <a:t>UMF 1 Puebla (Total: 8)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  <a:latin typeface="Montserra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Sheet1!$A$2:$A$8</c:f>
              <c:strCache>
                <c:ptCount val="7"/>
                <c:pt idx="0">
                  <c:v>Medicina Interna</c:v>
                </c:pt>
                <c:pt idx="1">
                  <c:v>Imagenologia Diagnostica Y Terapeutica</c:v>
                </c:pt>
                <c:pt idx="2">
                  <c:v>Hematologia Pediatrica</c:v>
                </c:pt>
                <c:pt idx="3">
                  <c:v>Neurologia</c:v>
                </c:pt>
                <c:pt idx="4">
                  <c:v>Oncologia Pediatrica</c:v>
                </c:pt>
                <c:pt idx="5">
                  <c:v>Hemodinamia</c:v>
                </c:pt>
                <c:pt idx="6">
                  <c:v>Medicina Nuclear E Imagenologia Molecular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2</c:v>
                </c:pt>
                <c:pt idx="5">
                  <c:v>1</c:v>
                </c:pt>
                <c:pt idx="6">
                  <c:v>1</c:v>
                </c:pt>
              </c:numCache>
            </c:numRef>
          </c:val>
        </c:ser>
        <c:gapWidth val="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8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900" b="1">
                <a:latin typeface="Montserrat"/>
              </a:defRPr>
            </a:pPr>
            <a:r>
              <a:t>UMF 58 San José Chiapa (Total: 1)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  <a:latin typeface="Montserra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</c:f>
              <c:strCache>
                <c:ptCount val="1"/>
                <c:pt idx="0">
                  <c:v>Medicina Del Trabajo Y Ambiental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1</c:v>
                </c:pt>
              </c:numCache>
            </c:numRef>
          </c:val>
        </c:ser>
        <c:gapWidth val="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8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900" b="1">
                <a:latin typeface="Montserrat"/>
              </a:defRPr>
            </a:pPr>
            <a:r>
              <a:t>HGR 36 San Alejandro (Total: 1)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  <a:latin typeface="Montserra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</c:f>
              <c:strCache>
                <c:ptCount val="1"/>
                <c:pt idx="0">
                  <c:v>Imagenologia Diagnostica Y Terapeutica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1</c:v>
                </c:pt>
              </c:numCache>
            </c:numRef>
          </c:val>
        </c:ser>
        <c:gapWidth val="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8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900" b="1">
                <a:latin typeface="Montserrat"/>
              </a:defRPr>
            </a:pPr>
            <a:r>
              <a:t>HGS 10 Nuevo Necaxa (Total: 1)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  <a:latin typeface="Montserra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</c:f>
              <c:strCache>
                <c:ptCount val="1"/>
                <c:pt idx="0">
                  <c:v>Urgencias Pediatrica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1</c:v>
                </c:pt>
              </c:numCache>
            </c:numRef>
          </c:val>
        </c:ser>
        <c:gapWidth val="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8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900" b="1">
                <a:latin typeface="Montserrat"/>
              </a:defRPr>
            </a:pPr>
            <a:r>
              <a:t>HGZ 35 Cuautlancingo (Total: 1)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  <a:latin typeface="Montserra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</c:f>
              <c:strCache>
                <c:ptCount val="1"/>
                <c:pt idx="0">
                  <c:v>Pediatria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1</c:v>
                </c:pt>
              </c:numCache>
            </c:numRef>
          </c:val>
        </c:ser>
        <c:gapWidth val="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8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900" b="1">
                <a:latin typeface="Montserrat"/>
              </a:defRPr>
            </a:pPr>
            <a:r>
              <a:t>HR Chignahuapan (Total: 2)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  <a:latin typeface="Montserra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Sheet1!$A$2:$A$3</c:f>
              <c:strCache>
                <c:ptCount val="2"/>
                <c:pt idx="0">
                  <c:v>Pediatria</c:v>
                </c:pt>
                <c:pt idx="1">
                  <c:v>Medicina Interna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</c:v>
                </c:pt>
                <c:pt idx="1">
                  <c:v>1</c:v>
                </c:pt>
              </c:numCache>
            </c:numRef>
          </c:val>
        </c:ser>
        <c:gapWidth val="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8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900" b="1">
                <a:latin typeface="Montserrat"/>
              </a:defRPr>
            </a:pPr>
            <a:r>
              <a:t>HR Ixtepec (Total: 3)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  <a:latin typeface="Montserra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Sheet1!$A$2:$A$3</c:f>
              <c:strCache>
                <c:ptCount val="2"/>
                <c:pt idx="0">
                  <c:v>Medicina De Urgencias</c:v>
                </c:pt>
                <c:pt idx="1">
                  <c:v>Ginecologia Y Obstetricia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</c:v>
                </c:pt>
                <c:pt idx="1">
                  <c:v>1</c:v>
                </c:pt>
              </c:numCache>
            </c:numRef>
          </c:val>
        </c:ser>
        <c:gapWidth val="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8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900" b="1">
                <a:latin typeface="Montserrat"/>
              </a:defRPr>
            </a:pPr>
            <a:r>
              <a:t>HR Tepexi De Rodríguez (Total: 5)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  <a:latin typeface="Montserra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Sheet1!$A$2:$A$3</c:f>
              <c:strCache>
                <c:ptCount val="2"/>
                <c:pt idx="0">
                  <c:v>Ginecologia Y Obstetricia</c:v>
                </c:pt>
                <c:pt idx="1">
                  <c:v>Medicina De Urgencias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</c:v>
                </c:pt>
                <c:pt idx="1">
                  <c:v>4</c:v>
                </c:pt>
              </c:numCache>
            </c:numRef>
          </c:val>
        </c:ser>
        <c:gapWidth val="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8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900" b="1">
                <a:latin typeface="Montserrat"/>
              </a:defRPr>
            </a:pPr>
            <a:r>
              <a:t>HR Villa Ávila Camacho (La Ceiba) (Total: 2)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  <a:latin typeface="Montserra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Sheet1!$A$2:$A$3</c:f>
              <c:strCache>
                <c:ptCount val="2"/>
                <c:pt idx="0">
                  <c:v>Cirugia General</c:v>
                </c:pt>
                <c:pt idx="1">
                  <c:v>Medicina De Urgencias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</c:v>
                </c:pt>
                <c:pt idx="1">
                  <c:v>1</c:v>
                </c:pt>
              </c:numCache>
            </c:numRef>
          </c:val>
        </c:ser>
        <c:gapWidth val="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8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900" b="1">
                <a:latin typeface="Montserrat"/>
              </a:defRPr>
            </a:pPr>
            <a:r>
              <a:t>HR Zacapoaxtla (Total: 4)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  <a:latin typeface="Montserra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</c:f>
              <c:strCache>
                <c:ptCount val="1"/>
                <c:pt idx="0">
                  <c:v>Ginecologia Y Obstetricia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4</c:v>
                </c:pt>
              </c:numCache>
            </c:numRef>
          </c:val>
        </c:ser>
        <c:gapWidth val="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8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2104480" y="685800"/>
            <a:ext cx="26496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9538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4" name="Google Shape;64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9" name="Google Shape;99;p2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0" name="Google Shape;100;p2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6" name="Google Shape;126;p3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27" name="Google Shape;127;p3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70e475fb19_0_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9" name="Google Shape;139;g370e475fb19_0_77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40" name="Google Shape;140;g370e475fb19_0_77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70e475fb19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8" name="Google Shape;148;g370e475fb19_0_8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49" name="Google Shape;149;g370e475fb19_0_8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70e87ffe7a_2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0" name="Google Shape;160;g370e87ffe7a_2_8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61" name="Google Shape;161;g370e87ffe7a_2_8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7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74dacdbb20_1_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8" name="Google Shape;168;g374dacdbb20_1_49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69" name="Google Shape;169;g374dacdbb20_1_49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8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>
          <a:extLst>
            <a:ext uri="{FF2B5EF4-FFF2-40B4-BE49-F238E27FC236}">
              <a16:creationId xmlns:a16="http://schemas.microsoft.com/office/drawing/2014/main" id="{4BBC1820-6F1A-4880-262B-A409E4701C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74dacdbb20_1_49:notes">
            <a:extLst>
              <a:ext uri="{FF2B5EF4-FFF2-40B4-BE49-F238E27FC236}">
                <a16:creationId xmlns:a16="http://schemas.microsoft.com/office/drawing/2014/main" id="{BF2E40AE-DCD2-1429-6B72-57325BC9F19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8" name="Google Shape;168;g374dacdbb20_1_49:notes">
            <a:extLst>
              <a:ext uri="{FF2B5EF4-FFF2-40B4-BE49-F238E27FC236}">
                <a16:creationId xmlns:a16="http://schemas.microsoft.com/office/drawing/2014/main" id="{28567A14-31BD-9E56-867C-B69C8D2DC91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69" name="Google Shape;169;g374dacdbb20_1_49:notes">
            <a:extLst>
              <a:ext uri="{FF2B5EF4-FFF2-40B4-BE49-F238E27FC236}">
                <a16:creationId xmlns:a16="http://schemas.microsoft.com/office/drawing/2014/main" id="{3C8E11FD-DB15-A65D-65ED-FA131BC9849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9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73115613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70e87ffe7a_2_1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6" name="Google Shape;226;g370e87ffe7a_2_137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27" name="Google Shape;227;g370e87ffe7a_2_137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10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>
          <a:extLst>
            <a:ext uri="{FF2B5EF4-FFF2-40B4-BE49-F238E27FC236}">
              <a16:creationId xmlns:a16="http://schemas.microsoft.com/office/drawing/2014/main" id="{713CA8D3-B9B4-BC1B-ED04-0F0A8FB5DF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70e87ffe7a_2_137:notes">
            <a:extLst>
              <a:ext uri="{FF2B5EF4-FFF2-40B4-BE49-F238E27FC236}">
                <a16:creationId xmlns:a16="http://schemas.microsoft.com/office/drawing/2014/main" id="{0C12CFCD-9EDC-91CC-392B-3071D00822A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6" name="Google Shape;226;g370e87ffe7a_2_137:notes">
            <a:extLst>
              <a:ext uri="{FF2B5EF4-FFF2-40B4-BE49-F238E27FC236}">
                <a16:creationId xmlns:a16="http://schemas.microsoft.com/office/drawing/2014/main" id="{2AF8A86E-90FD-0940-0A54-4F37F3BBC8B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27" name="Google Shape;227;g370e87ffe7a_2_137:notes">
            <a:extLst>
              <a:ext uri="{FF2B5EF4-FFF2-40B4-BE49-F238E27FC236}">
                <a16:creationId xmlns:a16="http://schemas.microsoft.com/office/drawing/2014/main" id="{6013F875-DB71-E5E2-F8FA-6CB348085A1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11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73514581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>
          <a:extLst>
            <a:ext uri="{FF2B5EF4-FFF2-40B4-BE49-F238E27FC236}">
              <a16:creationId xmlns:a16="http://schemas.microsoft.com/office/drawing/2014/main" id="{D8CC2EB2-B4B5-DF9D-D03F-84BA219326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70e87ffe7a_2_137:notes">
            <a:extLst>
              <a:ext uri="{FF2B5EF4-FFF2-40B4-BE49-F238E27FC236}">
                <a16:creationId xmlns:a16="http://schemas.microsoft.com/office/drawing/2014/main" id="{D61FD4FA-3960-F948-705D-21ADCFA06B6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6" name="Google Shape;226;g370e87ffe7a_2_137:notes">
            <a:extLst>
              <a:ext uri="{FF2B5EF4-FFF2-40B4-BE49-F238E27FC236}">
                <a16:creationId xmlns:a16="http://schemas.microsoft.com/office/drawing/2014/main" id="{B4D1B589-042A-686D-1FA4-40E5F0171D1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27" name="Google Shape;227;g370e87ffe7a_2_137:notes">
            <a:extLst>
              <a:ext uri="{FF2B5EF4-FFF2-40B4-BE49-F238E27FC236}">
                <a16:creationId xmlns:a16="http://schemas.microsoft.com/office/drawing/2014/main" id="{85849D9F-FCA5-3D56-88F1-3CCEF7C7545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12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50610859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>
          <a:extLst>
            <a:ext uri="{FF2B5EF4-FFF2-40B4-BE49-F238E27FC236}">
              <a16:creationId xmlns:a16="http://schemas.microsoft.com/office/drawing/2014/main" id="{AFE433D0-89C5-16E2-5C15-2BF5968CA7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70e87ffe7a_2_137:notes">
            <a:extLst>
              <a:ext uri="{FF2B5EF4-FFF2-40B4-BE49-F238E27FC236}">
                <a16:creationId xmlns:a16="http://schemas.microsoft.com/office/drawing/2014/main" id="{4D0685CF-5CBC-59A9-38DF-D0644AA3C03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6" name="Google Shape;226;g370e87ffe7a_2_137:notes">
            <a:extLst>
              <a:ext uri="{FF2B5EF4-FFF2-40B4-BE49-F238E27FC236}">
                <a16:creationId xmlns:a16="http://schemas.microsoft.com/office/drawing/2014/main" id="{420B0C9D-FA1D-88D5-A07F-389E7A7CB18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27" name="Google Shape;227;g370e87ffe7a_2_137:notes">
            <a:extLst>
              <a:ext uri="{FF2B5EF4-FFF2-40B4-BE49-F238E27FC236}">
                <a16:creationId xmlns:a16="http://schemas.microsoft.com/office/drawing/2014/main" id="{3CB75F7B-DBC0-B30C-AF51-88EA51AC237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13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45252134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5" name="Google Shape;255;p8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56" name="Google Shape;256;p8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14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7" name="Google Shape;307;p9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08" name="Google Shape;308;p9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15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70e87ffe7a_2_2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9" name="Google Shape;339;g370e87ffe7a_2_218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40" name="Google Shape;340;g370e87ffe7a_2_218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16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>
          <a:extLst>
            <a:ext uri="{FF2B5EF4-FFF2-40B4-BE49-F238E27FC236}">
              <a16:creationId xmlns:a16="http://schemas.microsoft.com/office/drawing/2014/main" id="{6748FD04-E291-0974-F4E5-FC419EB554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70e87ffe7a_2_218:notes">
            <a:extLst>
              <a:ext uri="{FF2B5EF4-FFF2-40B4-BE49-F238E27FC236}">
                <a16:creationId xmlns:a16="http://schemas.microsoft.com/office/drawing/2014/main" id="{023253F0-14D4-7F0B-EE6E-A818859FFAB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9" name="Google Shape;339;g370e87ffe7a_2_218:notes">
            <a:extLst>
              <a:ext uri="{FF2B5EF4-FFF2-40B4-BE49-F238E27FC236}">
                <a16:creationId xmlns:a16="http://schemas.microsoft.com/office/drawing/2014/main" id="{471D9D08-AB58-0AA1-FB4E-ED2CE9BA972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40" name="Google Shape;340;g370e87ffe7a_2_218:notes">
            <a:extLst>
              <a:ext uri="{FF2B5EF4-FFF2-40B4-BE49-F238E27FC236}">
                <a16:creationId xmlns:a16="http://schemas.microsoft.com/office/drawing/2014/main" id="{9D7235F3-FF7F-6E66-9B6F-24EAFC762A0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17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64621163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>
          <a:extLst>
            <a:ext uri="{FF2B5EF4-FFF2-40B4-BE49-F238E27FC236}">
              <a16:creationId xmlns:a16="http://schemas.microsoft.com/office/drawing/2014/main" id="{99F6AE50-7516-062A-8150-10B1F45D6F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70e87ffe7a_2_218:notes">
            <a:extLst>
              <a:ext uri="{FF2B5EF4-FFF2-40B4-BE49-F238E27FC236}">
                <a16:creationId xmlns:a16="http://schemas.microsoft.com/office/drawing/2014/main" id="{9480E368-56B1-0B8B-C173-5B48C9CF4D3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9" name="Google Shape;339;g370e87ffe7a_2_218:notes">
            <a:extLst>
              <a:ext uri="{FF2B5EF4-FFF2-40B4-BE49-F238E27FC236}">
                <a16:creationId xmlns:a16="http://schemas.microsoft.com/office/drawing/2014/main" id="{1B9C63BB-C6A9-A587-325E-C12C2D94C1F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40" name="Google Shape;340;g370e87ffe7a_2_218:notes">
            <a:extLst>
              <a:ext uri="{FF2B5EF4-FFF2-40B4-BE49-F238E27FC236}">
                <a16:creationId xmlns:a16="http://schemas.microsoft.com/office/drawing/2014/main" id="{A359AA88-700C-9A17-FB2E-8A8735D21CF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18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67942081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53" name="Google Shape;453;p16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54" name="Google Shape;454;p16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19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g370e87ffe7a_2_2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69" name="Google Shape;469;g370e87ffe7a_2_298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70" name="Google Shape;470;g370e87ffe7a_2_298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20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g370e87ffe7a_2_3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88" name="Google Shape;488;g370e87ffe7a_2_319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89" name="Google Shape;489;g370e87ffe7a_2_319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21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g370e87ffe7a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03" name="Google Shape;503;g370e87ffe7a_0_0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504" name="Google Shape;504;g370e87ffe7a_0_0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22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1">
          <a:extLst>
            <a:ext uri="{FF2B5EF4-FFF2-40B4-BE49-F238E27FC236}">
              <a16:creationId xmlns:a16="http://schemas.microsoft.com/office/drawing/2014/main" id="{2CFBA485-6AB8-C95C-6FC6-870DE28292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g370e87ffe7a_0_0:notes">
            <a:extLst>
              <a:ext uri="{FF2B5EF4-FFF2-40B4-BE49-F238E27FC236}">
                <a16:creationId xmlns:a16="http://schemas.microsoft.com/office/drawing/2014/main" id="{CE3AE7D4-7572-A7B3-84F1-BC75FF1AC0B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03" name="Google Shape;503;g370e87ffe7a_0_0:notes">
            <a:extLst>
              <a:ext uri="{FF2B5EF4-FFF2-40B4-BE49-F238E27FC236}">
                <a16:creationId xmlns:a16="http://schemas.microsoft.com/office/drawing/2014/main" id="{FC426675-DF29-BF6F-0E9A-926272F5821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504" name="Google Shape;504;g370e87ffe7a_0_0:notes">
            <a:extLst>
              <a:ext uri="{FF2B5EF4-FFF2-40B4-BE49-F238E27FC236}">
                <a16:creationId xmlns:a16="http://schemas.microsoft.com/office/drawing/2014/main" id="{AFDE3BE2-6DCD-4F64-B774-F5FF7BF05A58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23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30225833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9"/>
          <p:cNvSpPr txBox="1">
            <a:spLocks noGrp="1"/>
          </p:cNvSpPr>
          <p:nvPr>
            <p:ph type="ctrTitle"/>
          </p:nvPr>
        </p:nvSpPr>
        <p:spPr>
          <a:xfrm>
            <a:off x="264952" y="1456058"/>
            <a:ext cx="7242600" cy="401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19"/>
          <p:cNvSpPr txBox="1">
            <a:spLocks noGrp="1"/>
          </p:cNvSpPr>
          <p:nvPr>
            <p:ph type="subTitle" idx="1"/>
          </p:nvPr>
        </p:nvSpPr>
        <p:spPr>
          <a:xfrm>
            <a:off x="264945" y="5542289"/>
            <a:ext cx="7242600" cy="155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19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1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  <p:pic>
        <p:nvPicPr>
          <p:cNvPr id="3" name="Picture 2" descr="A white background with black lines&#10;&#10;AI-generated content may be incorrect.">
            <a:extLst>
              <a:ext uri="{FF2B5EF4-FFF2-40B4-BE49-F238E27FC236}">
                <a16:creationId xmlns:a16="http://schemas.microsoft.com/office/drawing/2014/main" id="{A0ABD2DF-B429-0564-31D9-12741B10B2D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9050" y="19050"/>
            <a:ext cx="7734300" cy="100203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" type="obj">
  <p:cSld name="OBJECT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0"/>
          <p:cNvSpPr txBox="1">
            <a:spLocks noGrp="1"/>
          </p:cNvSpPr>
          <p:nvPr>
            <p:ph type="title"/>
          </p:nvPr>
        </p:nvSpPr>
        <p:spPr>
          <a:xfrm>
            <a:off x="336208" y="529073"/>
            <a:ext cx="4225800" cy="69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236"/>
              </a:buClr>
              <a:buSzPts val="4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0"/>
          <p:cNvSpPr txBox="1">
            <a:spLocks noGrp="1"/>
          </p:cNvSpPr>
          <p:nvPr>
            <p:ph type="body" idx="1"/>
          </p:nvPr>
        </p:nvSpPr>
        <p:spPr>
          <a:xfrm>
            <a:off x="840834" y="1987588"/>
            <a:ext cx="4269300" cy="659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t" anchorCtr="0">
            <a:noAutofit/>
          </a:bodyPr>
          <a:lstStyle>
            <a:lvl1pPr marL="457200" lvl="0" indent="-32385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 sz="1500">
                <a:latin typeface="Arial"/>
                <a:ea typeface="Arial"/>
                <a:cs typeface="Arial"/>
                <a:sym typeface="Arial"/>
              </a:defRPr>
            </a:lvl1pPr>
            <a:lvl2pPr marL="914400" lvl="1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  <a:defRPr sz="1500">
                <a:latin typeface="Arial"/>
                <a:ea typeface="Arial"/>
                <a:cs typeface="Arial"/>
                <a:sym typeface="Arial"/>
              </a:defRPr>
            </a:lvl2pPr>
            <a:lvl3pPr marL="1371600" lvl="2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■"/>
              <a:defRPr sz="1500">
                <a:latin typeface="Arial"/>
                <a:ea typeface="Arial"/>
                <a:cs typeface="Arial"/>
                <a:sym typeface="Arial"/>
              </a:defRPr>
            </a:lvl3pPr>
            <a:lvl4pPr marL="1828800" lvl="3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 sz="1500">
                <a:latin typeface="Arial"/>
                <a:ea typeface="Arial"/>
                <a:cs typeface="Arial"/>
                <a:sym typeface="Arial"/>
              </a:defRPr>
            </a:lvl4pPr>
            <a:lvl5pPr marL="2286000" lvl="4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  <a:defRPr sz="1500">
                <a:latin typeface="Arial"/>
                <a:ea typeface="Arial"/>
                <a:cs typeface="Arial"/>
                <a:sym typeface="Arial"/>
              </a:defRPr>
            </a:lvl5pPr>
            <a:lvl6pPr marL="2743200" lvl="5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■"/>
              <a:defRPr/>
            </a:lvl6pPr>
            <a:lvl7pPr marL="3200400" lvl="6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●"/>
              <a:defRPr/>
            </a:lvl7pPr>
            <a:lvl8pPr marL="3657600" lvl="7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○"/>
              <a:defRPr/>
            </a:lvl8pPr>
            <a:lvl9pPr marL="4114800" lvl="8" indent="-48260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4000"/>
              <a:buChar char="■"/>
              <a:defRPr/>
            </a:lvl9pPr>
          </a:lstStyle>
          <a:p>
            <a:endParaRPr/>
          </a:p>
        </p:txBody>
      </p:sp>
      <p:sp>
        <p:nvSpPr>
          <p:cNvPr id="18" name="Google Shape;18;p20"/>
          <p:cNvSpPr txBox="1">
            <a:spLocks noGrp="1"/>
          </p:cNvSpPr>
          <p:nvPr>
            <p:ph type="dt" idx="10"/>
          </p:nvPr>
        </p:nvSpPr>
        <p:spPr>
          <a:xfrm>
            <a:off x="123473" y="9370493"/>
            <a:ext cx="22902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" name="Google Shape;19;p20"/>
          <p:cNvSpPr txBox="1">
            <a:spLocks noGrp="1"/>
          </p:cNvSpPr>
          <p:nvPr>
            <p:ph type="ftr" idx="11"/>
          </p:nvPr>
        </p:nvSpPr>
        <p:spPr>
          <a:xfrm>
            <a:off x="2655586" y="9323581"/>
            <a:ext cx="24612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" name="Google Shape;20;p20"/>
          <p:cNvSpPr txBox="1">
            <a:spLocks noGrp="1"/>
          </p:cNvSpPr>
          <p:nvPr>
            <p:ph type="sldNum" idx="12"/>
          </p:nvPr>
        </p:nvSpPr>
        <p:spPr>
          <a:xfrm>
            <a:off x="5570251" y="9323581"/>
            <a:ext cx="18138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2"/>
          <p:cNvSpPr txBox="1">
            <a:spLocks noGrp="1"/>
          </p:cNvSpPr>
          <p:nvPr>
            <p:ph type="title"/>
          </p:nvPr>
        </p:nvSpPr>
        <p:spPr>
          <a:xfrm>
            <a:off x="264945" y="4206107"/>
            <a:ext cx="7242600" cy="164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9" name="Google Shape;29;p22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23"/>
          <p:cNvSpPr txBox="1">
            <a:spLocks noGrp="1"/>
          </p:cNvSpPr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23"/>
          <p:cNvSpPr txBox="1">
            <a:spLocks noGrp="1"/>
          </p:cNvSpPr>
          <p:nvPr>
            <p:ph type="body" idx="1"/>
          </p:nvPr>
        </p:nvSpPr>
        <p:spPr>
          <a:xfrm>
            <a:off x="264945" y="2253729"/>
            <a:ext cx="7242600" cy="66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33" name="Google Shape;33;p23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4"/>
          <p:cNvSpPr txBox="1">
            <a:spLocks noGrp="1"/>
          </p:cNvSpPr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24"/>
          <p:cNvSpPr txBox="1">
            <a:spLocks noGrp="1"/>
          </p:cNvSpPr>
          <p:nvPr>
            <p:ph type="body" idx="1"/>
          </p:nvPr>
        </p:nvSpPr>
        <p:spPr>
          <a:xfrm>
            <a:off x="264945" y="2253729"/>
            <a:ext cx="3399900" cy="66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7" name="Google Shape;37;p24"/>
          <p:cNvSpPr txBox="1">
            <a:spLocks noGrp="1"/>
          </p:cNvSpPr>
          <p:nvPr>
            <p:ph type="body" idx="2"/>
          </p:nvPr>
        </p:nvSpPr>
        <p:spPr>
          <a:xfrm>
            <a:off x="4107540" y="2253729"/>
            <a:ext cx="3399900" cy="66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8" name="Google Shape;38;p24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25"/>
          <p:cNvSpPr txBox="1">
            <a:spLocks noGrp="1"/>
          </p:cNvSpPr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25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26"/>
          <p:cNvSpPr txBox="1">
            <a:spLocks noGrp="1"/>
          </p:cNvSpPr>
          <p:nvPr>
            <p:ph type="title"/>
          </p:nvPr>
        </p:nvSpPr>
        <p:spPr>
          <a:xfrm>
            <a:off x="264945" y="1086507"/>
            <a:ext cx="2386800" cy="14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44" name="Google Shape;44;p26"/>
          <p:cNvSpPr txBox="1">
            <a:spLocks noGrp="1"/>
          </p:cNvSpPr>
          <p:nvPr>
            <p:ph type="body" idx="1"/>
          </p:nvPr>
        </p:nvSpPr>
        <p:spPr>
          <a:xfrm>
            <a:off x="264945" y="2717440"/>
            <a:ext cx="2386800" cy="621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45" name="Google Shape;45;p26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27"/>
          <p:cNvSpPr txBox="1">
            <a:spLocks noGrp="1"/>
          </p:cNvSpPr>
          <p:nvPr>
            <p:ph type="title"/>
          </p:nvPr>
        </p:nvSpPr>
        <p:spPr>
          <a:xfrm>
            <a:off x="416713" y="880293"/>
            <a:ext cx="5412600" cy="799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48" name="Google Shape;48;p27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8"/>
          <p:cNvSpPr/>
          <p:nvPr/>
        </p:nvSpPr>
        <p:spPr>
          <a:xfrm>
            <a:off x="3886200" y="-244"/>
            <a:ext cx="3886200" cy="10058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" name="Google Shape;51;p28"/>
          <p:cNvSpPr txBox="1">
            <a:spLocks noGrp="1"/>
          </p:cNvSpPr>
          <p:nvPr>
            <p:ph type="title"/>
          </p:nvPr>
        </p:nvSpPr>
        <p:spPr>
          <a:xfrm>
            <a:off x="225675" y="2411542"/>
            <a:ext cx="3438300" cy="289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52" name="Google Shape;52;p28"/>
          <p:cNvSpPr txBox="1">
            <a:spLocks noGrp="1"/>
          </p:cNvSpPr>
          <p:nvPr>
            <p:ph type="subTitle" idx="1"/>
          </p:nvPr>
        </p:nvSpPr>
        <p:spPr>
          <a:xfrm>
            <a:off x="225675" y="5481569"/>
            <a:ext cx="3438300" cy="241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53" name="Google Shape;53;p28"/>
          <p:cNvSpPr txBox="1">
            <a:spLocks noGrp="1"/>
          </p:cNvSpPr>
          <p:nvPr>
            <p:ph type="body" idx="2"/>
          </p:nvPr>
        </p:nvSpPr>
        <p:spPr>
          <a:xfrm>
            <a:off x="4198575" y="1415969"/>
            <a:ext cx="3261600" cy="72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4" name="Google Shape;54;p28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29"/>
          <p:cNvSpPr txBox="1">
            <a:spLocks noGrp="1"/>
          </p:cNvSpPr>
          <p:nvPr>
            <p:ph type="body" idx="1"/>
          </p:nvPr>
        </p:nvSpPr>
        <p:spPr>
          <a:xfrm>
            <a:off x="264945" y="8273124"/>
            <a:ext cx="5099100" cy="118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57" name="Google Shape;57;p29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0"/>
          <p:cNvSpPr txBox="1">
            <a:spLocks noGrp="1"/>
          </p:cNvSpPr>
          <p:nvPr>
            <p:ph type="title" hasCustomPrompt="1"/>
          </p:nvPr>
        </p:nvSpPr>
        <p:spPr>
          <a:xfrm>
            <a:off x="264945" y="2163089"/>
            <a:ext cx="7242600" cy="383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60" name="Google Shape;60;p30"/>
          <p:cNvSpPr txBox="1">
            <a:spLocks noGrp="1"/>
          </p:cNvSpPr>
          <p:nvPr>
            <p:ph type="body" idx="1"/>
          </p:nvPr>
        </p:nvSpPr>
        <p:spPr>
          <a:xfrm>
            <a:off x="264945" y="6164351"/>
            <a:ext cx="7242600" cy="254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61" name="Google Shape;61;p30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 1">
  <p:cSld name="Título y objetos 1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1"/>
          <p:cNvSpPr txBox="1">
            <a:spLocks noGrp="1"/>
          </p:cNvSpPr>
          <p:nvPr>
            <p:ph type="title"/>
          </p:nvPr>
        </p:nvSpPr>
        <p:spPr>
          <a:xfrm>
            <a:off x="336208" y="529073"/>
            <a:ext cx="4225800" cy="69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236"/>
              </a:buClr>
              <a:buSzPts val="4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21"/>
          <p:cNvSpPr txBox="1">
            <a:spLocks noGrp="1"/>
          </p:cNvSpPr>
          <p:nvPr>
            <p:ph type="body" idx="1"/>
          </p:nvPr>
        </p:nvSpPr>
        <p:spPr>
          <a:xfrm>
            <a:off x="840834" y="1987588"/>
            <a:ext cx="4269300" cy="659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t" anchorCtr="0">
            <a:noAutofit/>
          </a:bodyPr>
          <a:lstStyle>
            <a:lvl1pPr marL="457200" lvl="0" indent="-32385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 sz="1500">
                <a:latin typeface="Arial"/>
                <a:ea typeface="Arial"/>
                <a:cs typeface="Arial"/>
                <a:sym typeface="Arial"/>
              </a:defRPr>
            </a:lvl1pPr>
            <a:lvl2pPr marL="914400" lvl="1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  <a:defRPr sz="1500">
                <a:latin typeface="Arial"/>
                <a:ea typeface="Arial"/>
                <a:cs typeface="Arial"/>
                <a:sym typeface="Arial"/>
              </a:defRPr>
            </a:lvl2pPr>
            <a:lvl3pPr marL="1371600" lvl="2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■"/>
              <a:defRPr sz="1500">
                <a:latin typeface="Arial"/>
                <a:ea typeface="Arial"/>
                <a:cs typeface="Arial"/>
                <a:sym typeface="Arial"/>
              </a:defRPr>
            </a:lvl3pPr>
            <a:lvl4pPr marL="1828800" lvl="3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 sz="1500">
                <a:latin typeface="Arial"/>
                <a:ea typeface="Arial"/>
                <a:cs typeface="Arial"/>
                <a:sym typeface="Arial"/>
              </a:defRPr>
            </a:lvl4pPr>
            <a:lvl5pPr marL="2286000" lvl="4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  <a:defRPr sz="1500">
                <a:latin typeface="Arial"/>
                <a:ea typeface="Arial"/>
                <a:cs typeface="Arial"/>
                <a:sym typeface="Arial"/>
              </a:defRPr>
            </a:lvl5pPr>
            <a:lvl6pPr marL="2743200" lvl="5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■"/>
              <a:defRPr/>
            </a:lvl6pPr>
            <a:lvl7pPr marL="3200400" lvl="6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●"/>
              <a:defRPr/>
            </a:lvl7pPr>
            <a:lvl8pPr marL="3657600" lvl="7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○"/>
              <a:defRPr/>
            </a:lvl8pPr>
            <a:lvl9pPr marL="4114800" lvl="8" indent="-48260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4000"/>
              <a:buChar char="■"/>
              <a:defRPr/>
            </a:lvl9pPr>
          </a:lstStyle>
          <a:p>
            <a:endParaRPr/>
          </a:p>
        </p:txBody>
      </p:sp>
      <p:sp>
        <p:nvSpPr>
          <p:cNvPr id="24" name="Google Shape;24;p21"/>
          <p:cNvSpPr txBox="1">
            <a:spLocks noGrp="1"/>
          </p:cNvSpPr>
          <p:nvPr>
            <p:ph type="dt" idx="10"/>
          </p:nvPr>
        </p:nvSpPr>
        <p:spPr>
          <a:xfrm>
            <a:off x="123473" y="9370493"/>
            <a:ext cx="22902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5" name="Google Shape;25;p21"/>
          <p:cNvSpPr txBox="1">
            <a:spLocks noGrp="1"/>
          </p:cNvSpPr>
          <p:nvPr>
            <p:ph type="ftr" idx="11"/>
          </p:nvPr>
        </p:nvSpPr>
        <p:spPr>
          <a:xfrm>
            <a:off x="2655586" y="9323581"/>
            <a:ext cx="24612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6" name="Google Shape;26;p21"/>
          <p:cNvSpPr txBox="1">
            <a:spLocks noGrp="1"/>
          </p:cNvSpPr>
          <p:nvPr>
            <p:ph type="sldNum" idx="12"/>
          </p:nvPr>
        </p:nvSpPr>
        <p:spPr>
          <a:xfrm>
            <a:off x="5570251" y="9323581"/>
            <a:ext cx="18138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59149063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8"/>
          <p:cNvSpPr txBox="1">
            <a:spLocks noGrp="1"/>
          </p:cNvSpPr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18"/>
          <p:cNvSpPr txBox="1">
            <a:spLocks noGrp="1"/>
          </p:cNvSpPr>
          <p:nvPr>
            <p:ph type="body" idx="1"/>
          </p:nvPr>
        </p:nvSpPr>
        <p:spPr>
          <a:xfrm>
            <a:off x="264945" y="2253729"/>
            <a:ext cx="7242600" cy="66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18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  <p:sldLayoutId id="2147483661" r:id="rId12"/>
    <p:sldLayoutId id="2147483662" r:id="rId1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7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chart" Target="../charts/chart1.xml"/><Relationship Id="rId6" Type="http://schemas.openxmlformats.org/officeDocument/2006/relationships/image" Target="../media/image18.png"/><Relationship Id="rId7" Type="http://schemas.openxmlformats.org/officeDocument/2006/relationships/image" Target="../media/image19.png"/><Relationship Id="rId8" Type="http://schemas.openxmlformats.org/officeDocument/2006/relationships/image" Target="../media/image20.png"/><Relationship Id="rId9" Type="http://schemas.openxmlformats.org/officeDocument/2006/relationships/image" Target="../media/image21.png"/><Relationship Id="rId10" Type="http://schemas.openxmlformats.org/officeDocument/2006/relationships/image" Target="../media/image2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2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Relationship Id="rId4" Type="http://schemas.openxmlformats.org/officeDocument/2006/relationships/image" Target="../media/image24.png"/><Relationship Id="rId5" Type="http://schemas.openxmlformats.org/officeDocument/2006/relationships/image" Target="../media/image2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image" Target="../media/image8.png"/><Relationship Id="rId8" Type="http://schemas.openxmlformats.org/officeDocument/2006/relationships/image" Target="../media/image9.png"/><Relationship Id="rId9" Type="http://schemas.openxmlformats.org/officeDocument/2006/relationships/image" Target="../media/image10.png"/><Relationship Id="rId10" Type="http://schemas.openxmlformats.org/officeDocument/2006/relationships/chart" Target="../charts/char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png"/><Relationship Id="rId4" Type="http://schemas.openxmlformats.org/officeDocument/2006/relationships/image" Target="../media/image1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.png"/><Relationship Id="rId4" Type="http://schemas.openxmlformats.org/officeDocument/2006/relationships/image" Target="../media/image2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.png"/><Relationship Id="rId4" Type="http://schemas.openxmlformats.org/officeDocument/2006/relationships/image" Target="../media/image12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.png"/><Relationship Id="rId4" Type="http://schemas.openxmlformats.org/officeDocument/2006/relationships/image" Target="../media/image13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Relationship Id="rId6" Type="http://schemas.openxmlformats.org/officeDocument/2006/relationships/image" Target="../media/image27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.png"/><Relationship Id="rId4" Type="http://schemas.openxmlformats.org/officeDocument/2006/relationships/chart" Target="../charts/chart3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3.png"/><Relationship Id="rId4" Type="http://schemas.openxmlformats.org/officeDocument/2006/relationships/image" Target="../media/image16.png"/><Relationship Id="rId5" Type="http://schemas.openxmlformats.org/officeDocument/2006/relationships/chart" Target="../charts/chart4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3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3.png"/><Relationship Id="rId4" Type="http://schemas.openxmlformats.org/officeDocument/2006/relationships/chart" Target="../charts/chart5.xml"/><Relationship Id="rId5" Type="http://schemas.openxmlformats.org/officeDocument/2006/relationships/chart" Target="../charts/chart6.xml"/><Relationship Id="rId6" Type="http://schemas.openxmlformats.org/officeDocument/2006/relationships/chart" Target="../charts/chart7.xml"/><Relationship Id="rId7" Type="http://schemas.openxmlformats.org/officeDocument/2006/relationships/chart" Target="../charts/chart8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9.xml"/><Relationship Id="rId3" Type="http://schemas.openxmlformats.org/officeDocument/2006/relationships/chart" Target="../charts/chart10.xml"/><Relationship Id="rId4" Type="http://schemas.openxmlformats.org/officeDocument/2006/relationships/chart" Target="../charts/chart11.xml"/><Relationship Id="rId5" Type="http://schemas.openxmlformats.org/officeDocument/2006/relationships/chart" Target="../charts/chart1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13.xml"/><Relationship Id="rId3" Type="http://schemas.openxmlformats.org/officeDocument/2006/relationships/chart" Target="../charts/chart14.xml"/><Relationship Id="rId4" Type="http://schemas.openxmlformats.org/officeDocument/2006/relationships/chart" Target="../charts/chart15.xml"/><Relationship Id="rId5" Type="http://schemas.openxmlformats.org/officeDocument/2006/relationships/chart" Target="../charts/chart1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17.xml"/><Relationship Id="rId3" Type="http://schemas.openxmlformats.org/officeDocument/2006/relationships/chart" Target="../charts/chart18.xml"/><Relationship Id="rId4" Type="http://schemas.openxmlformats.org/officeDocument/2006/relationships/chart" Target="../charts/chart19.xml"/><Relationship Id="rId5" Type="http://schemas.openxmlformats.org/officeDocument/2006/relationships/chart" Target="../charts/chart20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21.xml"/><Relationship Id="rId3" Type="http://schemas.openxmlformats.org/officeDocument/2006/relationships/chart" Target="../charts/chart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8" name="Google Shape;68;p1"/>
          <p:cNvCxnSpPr/>
          <p:nvPr/>
        </p:nvCxnSpPr>
        <p:spPr>
          <a:xfrm>
            <a:off x="-9525" y="5307000"/>
            <a:ext cx="7818000" cy="0"/>
          </a:xfrm>
          <a:prstGeom prst="straightConnector1">
            <a:avLst/>
          </a:prstGeom>
          <a:noFill/>
          <a:ln w="9525" cap="flat" cmpd="sng">
            <a:solidFill>
              <a:srgbClr val="006455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9" name="TextBox 68"/>
          <p:cNvSpPr txBox="1"/>
          <p:nvPr/>
        </p:nvSpPr>
        <p:spPr>
          <a:xfrm>
            <a:off x="0" y="4323600"/>
            <a:ext cx="7772400" cy="10007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200" b="0">
                <a:solidFill>
                  <a:srgbClr val="9F2241"/>
                </a:solidFill>
                <a:latin typeface="Montserrat Medium"/>
              </a:defRPr>
            </a:pPr>
            <a:r>
              <a:t>Puebla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0" y="5472000"/>
            <a:ext cx="7772400" cy="55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0">
                <a:solidFill>
                  <a:srgbClr val="7F7F7F"/>
                </a:solidFill>
                <a:latin typeface="Montserrat"/>
              </a:defRPr>
            </a:pPr>
            <a:r>
              <a:t>Ficha Estatal</a:t>
            </a:r>
          </a:p>
          <a:p>
            <a:pPr algn="ctr">
              <a:defRPr sz="1500" b="1">
                <a:solidFill>
                  <a:srgbClr val="7F7F7F"/>
                </a:solidFill>
                <a:latin typeface="Montserrat"/>
              </a:defRPr>
            </a:pPr>
            <a:r>
              <a:t>Marzo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organigrama_21_p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99200"/>
            <a:ext cx="7793999" cy="80676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PUEBLA</a:t>
            </a:r>
          </a:p>
        </p:txBody>
      </p:sp>
    </p:spTree>
    <p:extLst>
      <p:ext uri="{BB962C8B-B14F-4D97-AF65-F5344CB8AC3E}">
        <p14:creationId xmlns:p14="http://schemas.microsoft.com/office/powerpoint/2010/main" val="37637795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" name="Google Shape;102;p2"/>
          <p:cNvGrpSpPr/>
          <p:nvPr/>
        </p:nvGrpSpPr>
        <p:grpSpPr>
          <a:xfrm>
            <a:off x="5948585" y="6692612"/>
            <a:ext cx="642477" cy="533794"/>
            <a:chOff x="3121178" y="4414994"/>
            <a:chExt cx="1106956" cy="919701"/>
          </a:xfrm>
        </p:grpSpPr>
        <p:sp>
          <p:nvSpPr>
            <p:cNvPr id="103" name="Google Shape;103;p2"/>
            <p:cNvSpPr/>
            <p:nvPr/>
          </p:nvSpPr>
          <p:spPr>
            <a:xfrm>
              <a:off x="3204464" y="4533424"/>
              <a:ext cx="101815" cy="33643"/>
            </a:xfrm>
            <a:custGeom>
              <a:avLst/>
              <a:gdLst/>
              <a:ahLst/>
              <a:cxnLst/>
              <a:rect l="l" t="t" r="r" b="b"/>
              <a:pathLst>
                <a:path w="101815" h="33643" extrusionOk="0">
                  <a:moveTo>
                    <a:pt x="18288" y="33546"/>
                  </a:moveTo>
                  <a:cubicBezTo>
                    <a:pt x="29304" y="33766"/>
                    <a:pt x="40542" y="33546"/>
                    <a:pt x="51558" y="33546"/>
                  </a:cubicBezTo>
                  <a:cubicBezTo>
                    <a:pt x="62355" y="33546"/>
                    <a:pt x="73151" y="33766"/>
                    <a:pt x="83947" y="33546"/>
                  </a:cubicBezTo>
                  <a:cubicBezTo>
                    <a:pt x="93862" y="33325"/>
                    <a:pt x="101354" y="26936"/>
                    <a:pt x="101794" y="18343"/>
                  </a:cubicBezTo>
                  <a:cubicBezTo>
                    <a:pt x="102015" y="13716"/>
                    <a:pt x="100472" y="9309"/>
                    <a:pt x="97608" y="6004"/>
                  </a:cubicBezTo>
                  <a:cubicBezTo>
                    <a:pt x="94744" y="2699"/>
                    <a:pt x="90557" y="496"/>
                    <a:pt x="85490" y="496"/>
                  </a:cubicBezTo>
                  <a:cubicBezTo>
                    <a:pt x="85490" y="496"/>
                    <a:pt x="85490" y="496"/>
                    <a:pt x="85490" y="496"/>
                  </a:cubicBezTo>
                  <a:cubicBezTo>
                    <a:pt x="62575" y="-165"/>
                    <a:pt x="39660" y="-165"/>
                    <a:pt x="16746" y="496"/>
                  </a:cubicBezTo>
                  <a:cubicBezTo>
                    <a:pt x="14322" y="496"/>
                    <a:pt x="12118" y="1157"/>
                    <a:pt x="10136" y="2038"/>
                  </a:cubicBezTo>
                  <a:cubicBezTo>
                    <a:pt x="6169" y="4021"/>
                    <a:pt x="2864" y="7326"/>
                    <a:pt x="1322" y="11292"/>
                  </a:cubicBezTo>
                  <a:cubicBezTo>
                    <a:pt x="441" y="13275"/>
                    <a:pt x="0" y="15258"/>
                    <a:pt x="0" y="17241"/>
                  </a:cubicBezTo>
                  <a:cubicBezTo>
                    <a:pt x="221" y="25834"/>
                    <a:pt x="8373" y="33325"/>
                    <a:pt x="18288" y="33546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" name="Google Shape;104;p2"/>
            <p:cNvSpPr/>
            <p:nvPr/>
          </p:nvSpPr>
          <p:spPr>
            <a:xfrm>
              <a:off x="3136160" y="4414994"/>
              <a:ext cx="238180" cy="272002"/>
            </a:xfrm>
            <a:custGeom>
              <a:avLst/>
              <a:gdLst/>
              <a:ahLst/>
              <a:cxnLst/>
              <a:rect l="l" t="t" r="r" b="b"/>
              <a:pathLst>
                <a:path w="238180" h="272002" extrusionOk="0">
                  <a:moveTo>
                    <a:pt x="21813" y="271837"/>
                  </a:moveTo>
                  <a:cubicBezTo>
                    <a:pt x="87032" y="272057"/>
                    <a:pt x="152471" y="272057"/>
                    <a:pt x="217690" y="271837"/>
                  </a:cubicBezTo>
                  <a:cubicBezTo>
                    <a:pt x="224961" y="271837"/>
                    <a:pt x="230029" y="270074"/>
                    <a:pt x="233333" y="266769"/>
                  </a:cubicBezTo>
                  <a:cubicBezTo>
                    <a:pt x="236638" y="263244"/>
                    <a:pt x="238181" y="257956"/>
                    <a:pt x="238181" y="250685"/>
                  </a:cubicBezTo>
                  <a:cubicBezTo>
                    <a:pt x="238181" y="174009"/>
                    <a:pt x="238181" y="97112"/>
                    <a:pt x="238181" y="20436"/>
                  </a:cubicBezTo>
                  <a:cubicBezTo>
                    <a:pt x="238181" y="4792"/>
                    <a:pt x="233994" y="165"/>
                    <a:pt x="218571" y="165"/>
                  </a:cubicBezTo>
                  <a:cubicBezTo>
                    <a:pt x="152471" y="-55"/>
                    <a:pt x="86591" y="-55"/>
                    <a:pt x="20491" y="165"/>
                  </a:cubicBezTo>
                  <a:cubicBezTo>
                    <a:pt x="5068" y="165"/>
                    <a:pt x="220" y="5453"/>
                    <a:pt x="0" y="21097"/>
                  </a:cubicBezTo>
                  <a:cubicBezTo>
                    <a:pt x="0" y="59215"/>
                    <a:pt x="0" y="97553"/>
                    <a:pt x="0" y="135671"/>
                  </a:cubicBezTo>
                  <a:cubicBezTo>
                    <a:pt x="0" y="173788"/>
                    <a:pt x="0" y="212126"/>
                    <a:pt x="0" y="250244"/>
                  </a:cubicBezTo>
                  <a:cubicBezTo>
                    <a:pt x="220" y="265227"/>
                    <a:pt x="6830" y="271837"/>
                    <a:pt x="21813" y="271837"/>
                  </a:cubicBezTo>
                  <a:close/>
                  <a:moveTo>
                    <a:pt x="98489" y="32775"/>
                  </a:moveTo>
                  <a:cubicBezTo>
                    <a:pt x="105099" y="32555"/>
                    <a:pt x="111709" y="32555"/>
                    <a:pt x="118319" y="32555"/>
                  </a:cubicBezTo>
                  <a:cubicBezTo>
                    <a:pt x="125810" y="32555"/>
                    <a:pt x="133522" y="32555"/>
                    <a:pt x="141014" y="32775"/>
                  </a:cubicBezTo>
                  <a:cubicBezTo>
                    <a:pt x="144539" y="32775"/>
                    <a:pt x="148285" y="33436"/>
                    <a:pt x="153132" y="33876"/>
                  </a:cubicBezTo>
                  <a:cubicBezTo>
                    <a:pt x="152250" y="36741"/>
                    <a:pt x="151369" y="39164"/>
                    <a:pt x="150268" y="41148"/>
                  </a:cubicBezTo>
                  <a:cubicBezTo>
                    <a:pt x="149827" y="41808"/>
                    <a:pt x="149386" y="42249"/>
                    <a:pt x="148946" y="42910"/>
                  </a:cubicBezTo>
                  <a:cubicBezTo>
                    <a:pt x="148064" y="44232"/>
                    <a:pt x="147183" y="45554"/>
                    <a:pt x="146302" y="46435"/>
                  </a:cubicBezTo>
                  <a:cubicBezTo>
                    <a:pt x="145641" y="46876"/>
                    <a:pt x="144980" y="47317"/>
                    <a:pt x="144319" y="47757"/>
                  </a:cubicBezTo>
                  <a:cubicBezTo>
                    <a:pt x="143217" y="48419"/>
                    <a:pt x="142335" y="49080"/>
                    <a:pt x="141014" y="49520"/>
                  </a:cubicBezTo>
                  <a:cubicBezTo>
                    <a:pt x="140132" y="49741"/>
                    <a:pt x="139251" y="49741"/>
                    <a:pt x="138149" y="49961"/>
                  </a:cubicBezTo>
                  <a:cubicBezTo>
                    <a:pt x="137268" y="50181"/>
                    <a:pt x="136387" y="50402"/>
                    <a:pt x="135285" y="50402"/>
                  </a:cubicBezTo>
                  <a:cubicBezTo>
                    <a:pt x="134624" y="50402"/>
                    <a:pt x="133742" y="50402"/>
                    <a:pt x="132861" y="50402"/>
                  </a:cubicBezTo>
                  <a:cubicBezTo>
                    <a:pt x="127794" y="49961"/>
                    <a:pt x="122726" y="49961"/>
                    <a:pt x="117658" y="49961"/>
                  </a:cubicBezTo>
                  <a:cubicBezTo>
                    <a:pt x="113472" y="49961"/>
                    <a:pt x="109065" y="50181"/>
                    <a:pt x="104879" y="50181"/>
                  </a:cubicBezTo>
                  <a:cubicBezTo>
                    <a:pt x="103777" y="50181"/>
                    <a:pt x="102675" y="50181"/>
                    <a:pt x="101574" y="50181"/>
                  </a:cubicBezTo>
                  <a:cubicBezTo>
                    <a:pt x="98930" y="50181"/>
                    <a:pt x="95184" y="50181"/>
                    <a:pt x="93642" y="48639"/>
                  </a:cubicBezTo>
                  <a:cubicBezTo>
                    <a:pt x="90557" y="45113"/>
                    <a:pt x="88574" y="40707"/>
                    <a:pt x="86150" y="36741"/>
                  </a:cubicBezTo>
                  <a:cubicBezTo>
                    <a:pt x="90777" y="34978"/>
                    <a:pt x="94523" y="32775"/>
                    <a:pt x="98489" y="32775"/>
                  </a:cubicBezTo>
                  <a:close/>
                  <a:moveTo>
                    <a:pt x="34152" y="135891"/>
                  </a:moveTo>
                  <a:cubicBezTo>
                    <a:pt x="34152" y="105264"/>
                    <a:pt x="33931" y="74638"/>
                    <a:pt x="34372" y="44012"/>
                  </a:cubicBezTo>
                  <a:cubicBezTo>
                    <a:pt x="34372" y="40487"/>
                    <a:pt x="36796" y="36961"/>
                    <a:pt x="38118" y="33215"/>
                  </a:cubicBezTo>
                  <a:cubicBezTo>
                    <a:pt x="40982" y="35419"/>
                    <a:pt x="44728" y="36961"/>
                    <a:pt x="46711" y="39825"/>
                  </a:cubicBezTo>
                  <a:cubicBezTo>
                    <a:pt x="54202" y="50181"/>
                    <a:pt x="61032" y="60977"/>
                    <a:pt x="68083" y="71774"/>
                  </a:cubicBezTo>
                  <a:cubicBezTo>
                    <a:pt x="69405" y="73757"/>
                    <a:pt x="70727" y="75520"/>
                    <a:pt x="72269" y="77062"/>
                  </a:cubicBezTo>
                  <a:cubicBezTo>
                    <a:pt x="72710" y="77502"/>
                    <a:pt x="73371" y="77943"/>
                    <a:pt x="73812" y="78384"/>
                  </a:cubicBezTo>
                  <a:cubicBezTo>
                    <a:pt x="74913" y="79265"/>
                    <a:pt x="75795" y="80367"/>
                    <a:pt x="77117" y="81028"/>
                  </a:cubicBezTo>
                  <a:cubicBezTo>
                    <a:pt x="77778" y="81469"/>
                    <a:pt x="78659" y="81689"/>
                    <a:pt x="79320" y="81909"/>
                  </a:cubicBezTo>
                  <a:cubicBezTo>
                    <a:pt x="80422" y="82350"/>
                    <a:pt x="81523" y="83011"/>
                    <a:pt x="82845" y="83231"/>
                  </a:cubicBezTo>
                  <a:cubicBezTo>
                    <a:pt x="83727" y="83452"/>
                    <a:pt x="84828" y="83452"/>
                    <a:pt x="85710" y="83672"/>
                  </a:cubicBezTo>
                  <a:cubicBezTo>
                    <a:pt x="87252" y="83892"/>
                    <a:pt x="88795" y="84113"/>
                    <a:pt x="90337" y="84113"/>
                  </a:cubicBezTo>
                  <a:cubicBezTo>
                    <a:pt x="99811" y="83672"/>
                    <a:pt x="109285" y="83452"/>
                    <a:pt x="118760" y="83452"/>
                  </a:cubicBezTo>
                  <a:cubicBezTo>
                    <a:pt x="118980" y="83452"/>
                    <a:pt x="119200" y="83452"/>
                    <a:pt x="119421" y="83452"/>
                  </a:cubicBezTo>
                  <a:cubicBezTo>
                    <a:pt x="129556" y="83452"/>
                    <a:pt x="139692" y="83672"/>
                    <a:pt x="149827" y="83892"/>
                  </a:cubicBezTo>
                  <a:cubicBezTo>
                    <a:pt x="151369" y="83892"/>
                    <a:pt x="152471" y="83672"/>
                    <a:pt x="153793" y="83672"/>
                  </a:cubicBezTo>
                  <a:cubicBezTo>
                    <a:pt x="154674" y="83672"/>
                    <a:pt x="155556" y="83672"/>
                    <a:pt x="156437" y="83452"/>
                  </a:cubicBezTo>
                  <a:cubicBezTo>
                    <a:pt x="157539" y="83231"/>
                    <a:pt x="158640" y="82791"/>
                    <a:pt x="159742" y="82350"/>
                  </a:cubicBezTo>
                  <a:cubicBezTo>
                    <a:pt x="160403" y="82130"/>
                    <a:pt x="161064" y="81909"/>
                    <a:pt x="161725" y="81689"/>
                  </a:cubicBezTo>
                  <a:cubicBezTo>
                    <a:pt x="162827" y="81028"/>
                    <a:pt x="163708" y="80367"/>
                    <a:pt x="164810" y="79485"/>
                  </a:cubicBezTo>
                  <a:cubicBezTo>
                    <a:pt x="165250" y="79045"/>
                    <a:pt x="165691" y="78824"/>
                    <a:pt x="166132" y="78384"/>
                  </a:cubicBezTo>
                  <a:cubicBezTo>
                    <a:pt x="167454" y="77062"/>
                    <a:pt x="168775" y="75520"/>
                    <a:pt x="169877" y="73757"/>
                  </a:cubicBezTo>
                  <a:cubicBezTo>
                    <a:pt x="177809" y="61859"/>
                    <a:pt x="185741" y="50181"/>
                    <a:pt x="193894" y="38503"/>
                  </a:cubicBezTo>
                  <a:cubicBezTo>
                    <a:pt x="195656" y="36080"/>
                    <a:pt x="199182" y="34978"/>
                    <a:pt x="201826" y="33215"/>
                  </a:cubicBezTo>
                  <a:cubicBezTo>
                    <a:pt x="202927" y="36080"/>
                    <a:pt x="204690" y="38724"/>
                    <a:pt x="204911" y="41588"/>
                  </a:cubicBezTo>
                  <a:cubicBezTo>
                    <a:pt x="205131" y="104163"/>
                    <a:pt x="204911" y="166738"/>
                    <a:pt x="205131" y="229312"/>
                  </a:cubicBezTo>
                  <a:cubicBezTo>
                    <a:pt x="205131" y="230855"/>
                    <a:pt x="204911" y="232397"/>
                    <a:pt x="204690" y="233499"/>
                  </a:cubicBezTo>
                  <a:cubicBezTo>
                    <a:pt x="204690" y="233940"/>
                    <a:pt x="204249" y="234160"/>
                    <a:pt x="204249" y="234601"/>
                  </a:cubicBezTo>
                  <a:cubicBezTo>
                    <a:pt x="204029" y="235262"/>
                    <a:pt x="203809" y="235923"/>
                    <a:pt x="203368" y="236363"/>
                  </a:cubicBezTo>
                  <a:cubicBezTo>
                    <a:pt x="203148" y="236584"/>
                    <a:pt x="202707" y="236804"/>
                    <a:pt x="202266" y="237024"/>
                  </a:cubicBezTo>
                  <a:cubicBezTo>
                    <a:pt x="201826" y="237465"/>
                    <a:pt x="201165" y="237905"/>
                    <a:pt x="200504" y="237905"/>
                  </a:cubicBezTo>
                  <a:cubicBezTo>
                    <a:pt x="200063" y="238126"/>
                    <a:pt x="199402" y="238126"/>
                    <a:pt x="198741" y="238126"/>
                  </a:cubicBezTo>
                  <a:cubicBezTo>
                    <a:pt x="197860" y="238346"/>
                    <a:pt x="197199" y="238346"/>
                    <a:pt x="196317" y="238346"/>
                  </a:cubicBezTo>
                  <a:cubicBezTo>
                    <a:pt x="196317" y="238346"/>
                    <a:pt x="196317" y="238346"/>
                    <a:pt x="196317" y="238346"/>
                  </a:cubicBezTo>
                  <a:cubicBezTo>
                    <a:pt x="145641" y="238126"/>
                    <a:pt x="94744" y="238126"/>
                    <a:pt x="44067" y="238346"/>
                  </a:cubicBezTo>
                  <a:cubicBezTo>
                    <a:pt x="44067" y="238346"/>
                    <a:pt x="44067" y="238346"/>
                    <a:pt x="43846" y="238346"/>
                  </a:cubicBezTo>
                  <a:cubicBezTo>
                    <a:pt x="42745" y="238346"/>
                    <a:pt x="42304" y="238126"/>
                    <a:pt x="41423" y="238126"/>
                  </a:cubicBezTo>
                  <a:cubicBezTo>
                    <a:pt x="40762" y="238126"/>
                    <a:pt x="39880" y="238126"/>
                    <a:pt x="39219" y="237905"/>
                  </a:cubicBezTo>
                  <a:cubicBezTo>
                    <a:pt x="38558" y="237685"/>
                    <a:pt x="38118" y="237245"/>
                    <a:pt x="37677" y="236804"/>
                  </a:cubicBezTo>
                  <a:cubicBezTo>
                    <a:pt x="37236" y="236584"/>
                    <a:pt x="36796" y="236363"/>
                    <a:pt x="36355" y="235923"/>
                  </a:cubicBezTo>
                  <a:cubicBezTo>
                    <a:pt x="35914" y="235482"/>
                    <a:pt x="35694" y="234601"/>
                    <a:pt x="35474" y="233940"/>
                  </a:cubicBezTo>
                  <a:cubicBezTo>
                    <a:pt x="35253" y="233499"/>
                    <a:pt x="35033" y="233279"/>
                    <a:pt x="35033" y="232838"/>
                  </a:cubicBezTo>
                  <a:cubicBezTo>
                    <a:pt x="34813" y="231516"/>
                    <a:pt x="34592" y="230194"/>
                    <a:pt x="34592" y="228431"/>
                  </a:cubicBezTo>
                  <a:cubicBezTo>
                    <a:pt x="34372" y="197805"/>
                    <a:pt x="34152" y="166738"/>
                    <a:pt x="34152" y="135891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" name="Google Shape;105;p2"/>
            <p:cNvSpPr/>
            <p:nvPr/>
          </p:nvSpPr>
          <p:spPr>
            <a:xfrm>
              <a:off x="3204459" y="4585380"/>
              <a:ext cx="101578" cy="33564"/>
            </a:xfrm>
            <a:custGeom>
              <a:avLst/>
              <a:gdLst/>
              <a:ahLst/>
              <a:cxnLst/>
              <a:rect l="l" t="t" r="r" b="b"/>
              <a:pathLst>
                <a:path w="101578" h="33564" extrusionOk="0">
                  <a:moveTo>
                    <a:pt x="83070" y="98"/>
                  </a:moveTo>
                  <a:cubicBezTo>
                    <a:pt x="62139" y="-122"/>
                    <a:pt x="41427" y="98"/>
                    <a:pt x="20496" y="98"/>
                  </a:cubicBezTo>
                  <a:cubicBezTo>
                    <a:pt x="8818" y="98"/>
                    <a:pt x="225" y="6928"/>
                    <a:pt x="4" y="16182"/>
                  </a:cubicBezTo>
                  <a:cubicBezTo>
                    <a:pt x="-216" y="25657"/>
                    <a:pt x="7936" y="32928"/>
                    <a:pt x="19614" y="33368"/>
                  </a:cubicBezTo>
                  <a:cubicBezTo>
                    <a:pt x="29970" y="33809"/>
                    <a:pt x="40546" y="33368"/>
                    <a:pt x="50901" y="33368"/>
                  </a:cubicBezTo>
                  <a:cubicBezTo>
                    <a:pt x="61037" y="33368"/>
                    <a:pt x="70952" y="33368"/>
                    <a:pt x="81087" y="33368"/>
                  </a:cubicBezTo>
                  <a:cubicBezTo>
                    <a:pt x="81748" y="33368"/>
                    <a:pt x="82409" y="33368"/>
                    <a:pt x="83070" y="33368"/>
                  </a:cubicBezTo>
                  <a:cubicBezTo>
                    <a:pt x="94528" y="32487"/>
                    <a:pt x="101578" y="26097"/>
                    <a:pt x="101578" y="16403"/>
                  </a:cubicBezTo>
                  <a:cubicBezTo>
                    <a:pt x="101578" y="13979"/>
                    <a:pt x="101138" y="11776"/>
                    <a:pt x="100256" y="9793"/>
                  </a:cubicBezTo>
                  <a:cubicBezTo>
                    <a:pt x="98053" y="3623"/>
                    <a:pt x="91884" y="98"/>
                    <a:pt x="83070" y="98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" name="Google Shape;106;p2"/>
            <p:cNvSpPr/>
            <p:nvPr/>
          </p:nvSpPr>
          <p:spPr>
            <a:xfrm>
              <a:off x="3956022" y="4464955"/>
              <a:ext cx="272112" cy="187944"/>
            </a:xfrm>
            <a:custGeom>
              <a:avLst/>
              <a:gdLst/>
              <a:ahLst/>
              <a:cxnLst/>
              <a:rect l="l" t="t" r="r" b="b"/>
              <a:pathLst>
                <a:path w="272112" h="187944" extrusionOk="0">
                  <a:moveTo>
                    <a:pt x="267045" y="5288"/>
                  </a:moveTo>
                  <a:cubicBezTo>
                    <a:pt x="263519" y="1763"/>
                    <a:pt x="257791" y="220"/>
                    <a:pt x="249859" y="0"/>
                  </a:cubicBezTo>
                  <a:cubicBezTo>
                    <a:pt x="248757" y="0"/>
                    <a:pt x="247876" y="0"/>
                    <a:pt x="246774" y="0"/>
                  </a:cubicBezTo>
                  <a:cubicBezTo>
                    <a:pt x="209978" y="0"/>
                    <a:pt x="172962" y="0"/>
                    <a:pt x="136166" y="0"/>
                  </a:cubicBezTo>
                  <a:cubicBezTo>
                    <a:pt x="97608" y="0"/>
                    <a:pt x="59050" y="0"/>
                    <a:pt x="20491" y="0"/>
                  </a:cubicBezTo>
                  <a:cubicBezTo>
                    <a:pt x="6169" y="0"/>
                    <a:pt x="0" y="5949"/>
                    <a:pt x="0" y="20050"/>
                  </a:cubicBezTo>
                  <a:cubicBezTo>
                    <a:pt x="0" y="69405"/>
                    <a:pt x="0" y="118760"/>
                    <a:pt x="0" y="168115"/>
                  </a:cubicBezTo>
                  <a:cubicBezTo>
                    <a:pt x="0" y="181775"/>
                    <a:pt x="5949" y="187945"/>
                    <a:pt x="19389" y="187945"/>
                  </a:cubicBezTo>
                  <a:cubicBezTo>
                    <a:pt x="96947" y="187945"/>
                    <a:pt x="174284" y="187945"/>
                    <a:pt x="251842" y="187945"/>
                  </a:cubicBezTo>
                  <a:cubicBezTo>
                    <a:pt x="255367" y="187945"/>
                    <a:pt x="258231" y="187504"/>
                    <a:pt x="260655" y="186623"/>
                  </a:cubicBezTo>
                  <a:cubicBezTo>
                    <a:pt x="265723" y="184860"/>
                    <a:pt x="269028" y="181555"/>
                    <a:pt x="270790" y="176487"/>
                  </a:cubicBezTo>
                  <a:cubicBezTo>
                    <a:pt x="271672" y="173843"/>
                    <a:pt x="272112" y="170979"/>
                    <a:pt x="272112" y="167674"/>
                  </a:cubicBezTo>
                  <a:cubicBezTo>
                    <a:pt x="272112" y="119421"/>
                    <a:pt x="272112" y="71168"/>
                    <a:pt x="272112" y="22915"/>
                  </a:cubicBezTo>
                  <a:cubicBezTo>
                    <a:pt x="272112" y="14542"/>
                    <a:pt x="270570" y="8813"/>
                    <a:pt x="267045" y="5288"/>
                  </a:cubicBezTo>
                  <a:close/>
                  <a:moveTo>
                    <a:pt x="66982" y="34813"/>
                  </a:moveTo>
                  <a:cubicBezTo>
                    <a:pt x="112811" y="34813"/>
                    <a:pt x="158640" y="34813"/>
                    <a:pt x="207775" y="34813"/>
                  </a:cubicBezTo>
                  <a:cubicBezTo>
                    <a:pt x="200945" y="40982"/>
                    <a:pt x="196538" y="45169"/>
                    <a:pt x="191911" y="49134"/>
                  </a:cubicBezTo>
                  <a:cubicBezTo>
                    <a:pt x="176267" y="62795"/>
                    <a:pt x="160183" y="75795"/>
                    <a:pt x="144759" y="89896"/>
                  </a:cubicBezTo>
                  <a:cubicBezTo>
                    <a:pt x="142997" y="91438"/>
                    <a:pt x="141454" y="92540"/>
                    <a:pt x="140132" y="93422"/>
                  </a:cubicBezTo>
                  <a:cubicBezTo>
                    <a:pt x="139471" y="93642"/>
                    <a:pt x="139031" y="93642"/>
                    <a:pt x="138590" y="93862"/>
                  </a:cubicBezTo>
                  <a:cubicBezTo>
                    <a:pt x="137709" y="94083"/>
                    <a:pt x="136827" y="94523"/>
                    <a:pt x="135946" y="94523"/>
                  </a:cubicBezTo>
                  <a:cubicBezTo>
                    <a:pt x="135946" y="94523"/>
                    <a:pt x="135946" y="94523"/>
                    <a:pt x="135946" y="94523"/>
                  </a:cubicBezTo>
                  <a:cubicBezTo>
                    <a:pt x="135065" y="94523"/>
                    <a:pt x="133963" y="94083"/>
                    <a:pt x="133082" y="93642"/>
                  </a:cubicBezTo>
                  <a:cubicBezTo>
                    <a:pt x="132641" y="93422"/>
                    <a:pt x="132200" y="93422"/>
                    <a:pt x="131760" y="93201"/>
                  </a:cubicBezTo>
                  <a:cubicBezTo>
                    <a:pt x="130217" y="92320"/>
                    <a:pt x="128675" y="91218"/>
                    <a:pt x="126913" y="89676"/>
                  </a:cubicBezTo>
                  <a:cubicBezTo>
                    <a:pt x="109506" y="73812"/>
                    <a:pt x="91218" y="58829"/>
                    <a:pt x="73371" y="43626"/>
                  </a:cubicBezTo>
                  <a:cubicBezTo>
                    <a:pt x="70727" y="41423"/>
                    <a:pt x="67863" y="39660"/>
                    <a:pt x="64998" y="37677"/>
                  </a:cubicBezTo>
                  <a:cubicBezTo>
                    <a:pt x="65439" y="36796"/>
                    <a:pt x="66321" y="35915"/>
                    <a:pt x="66982" y="34813"/>
                  </a:cubicBezTo>
                  <a:close/>
                  <a:moveTo>
                    <a:pt x="34813" y="55524"/>
                  </a:moveTo>
                  <a:cubicBezTo>
                    <a:pt x="50897" y="69405"/>
                    <a:pt x="64558" y="81303"/>
                    <a:pt x="79320" y="94303"/>
                  </a:cubicBezTo>
                  <a:cubicBezTo>
                    <a:pt x="64337" y="107302"/>
                    <a:pt x="50677" y="119201"/>
                    <a:pt x="34813" y="132861"/>
                  </a:cubicBezTo>
                  <a:cubicBezTo>
                    <a:pt x="34813" y="106421"/>
                    <a:pt x="34813" y="82405"/>
                    <a:pt x="34813" y="55524"/>
                  </a:cubicBezTo>
                  <a:close/>
                  <a:moveTo>
                    <a:pt x="66761" y="153353"/>
                  </a:moveTo>
                  <a:cubicBezTo>
                    <a:pt x="66321" y="152471"/>
                    <a:pt x="65880" y="151810"/>
                    <a:pt x="65439" y="150929"/>
                  </a:cubicBezTo>
                  <a:cubicBezTo>
                    <a:pt x="77998" y="140353"/>
                    <a:pt x="90557" y="129556"/>
                    <a:pt x="103337" y="119201"/>
                  </a:cubicBezTo>
                  <a:cubicBezTo>
                    <a:pt x="103557" y="118980"/>
                    <a:pt x="104218" y="118760"/>
                    <a:pt x="104659" y="118760"/>
                  </a:cubicBezTo>
                  <a:cubicBezTo>
                    <a:pt x="105099" y="118760"/>
                    <a:pt x="105540" y="118980"/>
                    <a:pt x="106201" y="118980"/>
                  </a:cubicBezTo>
                  <a:cubicBezTo>
                    <a:pt x="106642" y="118980"/>
                    <a:pt x="106862" y="118980"/>
                    <a:pt x="107082" y="119201"/>
                  </a:cubicBezTo>
                  <a:cubicBezTo>
                    <a:pt x="108404" y="119641"/>
                    <a:pt x="109506" y="120082"/>
                    <a:pt x="110387" y="120743"/>
                  </a:cubicBezTo>
                  <a:cubicBezTo>
                    <a:pt x="114353" y="123387"/>
                    <a:pt x="117879" y="126912"/>
                    <a:pt x="121624" y="129997"/>
                  </a:cubicBezTo>
                  <a:cubicBezTo>
                    <a:pt x="124048" y="131980"/>
                    <a:pt x="126472" y="133743"/>
                    <a:pt x="128895" y="134624"/>
                  </a:cubicBezTo>
                  <a:cubicBezTo>
                    <a:pt x="129777" y="135065"/>
                    <a:pt x="130438" y="134844"/>
                    <a:pt x="131319" y="135065"/>
                  </a:cubicBezTo>
                  <a:cubicBezTo>
                    <a:pt x="132861" y="135505"/>
                    <a:pt x="134404" y="136166"/>
                    <a:pt x="135946" y="136166"/>
                  </a:cubicBezTo>
                  <a:cubicBezTo>
                    <a:pt x="137488" y="136166"/>
                    <a:pt x="139031" y="135505"/>
                    <a:pt x="140793" y="135065"/>
                  </a:cubicBezTo>
                  <a:cubicBezTo>
                    <a:pt x="141454" y="134844"/>
                    <a:pt x="142336" y="134844"/>
                    <a:pt x="142997" y="134624"/>
                  </a:cubicBezTo>
                  <a:cubicBezTo>
                    <a:pt x="145420" y="133522"/>
                    <a:pt x="147844" y="131980"/>
                    <a:pt x="150268" y="129777"/>
                  </a:cubicBezTo>
                  <a:cubicBezTo>
                    <a:pt x="152912" y="127573"/>
                    <a:pt x="154895" y="125811"/>
                    <a:pt x="156878" y="124268"/>
                  </a:cubicBezTo>
                  <a:cubicBezTo>
                    <a:pt x="157759" y="123607"/>
                    <a:pt x="158640" y="122946"/>
                    <a:pt x="159302" y="122285"/>
                  </a:cubicBezTo>
                  <a:cubicBezTo>
                    <a:pt x="159742" y="122065"/>
                    <a:pt x="160183" y="121845"/>
                    <a:pt x="160624" y="121624"/>
                  </a:cubicBezTo>
                  <a:cubicBezTo>
                    <a:pt x="161285" y="121184"/>
                    <a:pt x="161946" y="120743"/>
                    <a:pt x="162606" y="120523"/>
                  </a:cubicBezTo>
                  <a:cubicBezTo>
                    <a:pt x="163047" y="120302"/>
                    <a:pt x="163488" y="120302"/>
                    <a:pt x="163928" y="120302"/>
                  </a:cubicBezTo>
                  <a:cubicBezTo>
                    <a:pt x="164369" y="120082"/>
                    <a:pt x="165030" y="120082"/>
                    <a:pt x="165471" y="120082"/>
                  </a:cubicBezTo>
                  <a:cubicBezTo>
                    <a:pt x="165471" y="120082"/>
                    <a:pt x="165471" y="120082"/>
                    <a:pt x="165471" y="120082"/>
                  </a:cubicBezTo>
                  <a:cubicBezTo>
                    <a:pt x="166132" y="120082"/>
                    <a:pt x="166572" y="120302"/>
                    <a:pt x="167234" y="120523"/>
                  </a:cubicBezTo>
                  <a:cubicBezTo>
                    <a:pt x="167674" y="120523"/>
                    <a:pt x="168115" y="120523"/>
                    <a:pt x="168556" y="120743"/>
                  </a:cubicBezTo>
                  <a:cubicBezTo>
                    <a:pt x="169217" y="120963"/>
                    <a:pt x="169878" y="121404"/>
                    <a:pt x="170539" y="121845"/>
                  </a:cubicBezTo>
                  <a:cubicBezTo>
                    <a:pt x="170979" y="122065"/>
                    <a:pt x="171420" y="122285"/>
                    <a:pt x="171860" y="122506"/>
                  </a:cubicBezTo>
                  <a:cubicBezTo>
                    <a:pt x="172742" y="123167"/>
                    <a:pt x="173623" y="123828"/>
                    <a:pt x="174725" y="124709"/>
                  </a:cubicBezTo>
                  <a:cubicBezTo>
                    <a:pt x="175165" y="125150"/>
                    <a:pt x="175606" y="125370"/>
                    <a:pt x="176047" y="125811"/>
                  </a:cubicBezTo>
                  <a:cubicBezTo>
                    <a:pt x="177589" y="127133"/>
                    <a:pt x="179352" y="128675"/>
                    <a:pt x="181335" y="130217"/>
                  </a:cubicBezTo>
                  <a:cubicBezTo>
                    <a:pt x="188606" y="136607"/>
                    <a:pt x="196097" y="142776"/>
                    <a:pt x="203148" y="149386"/>
                  </a:cubicBezTo>
                  <a:cubicBezTo>
                    <a:pt x="203809" y="150047"/>
                    <a:pt x="204029" y="151149"/>
                    <a:pt x="204690" y="153353"/>
                  </a:cubicBezTo>
                  <a:cubicBezTo>
                    <a:pt x="158420" y="153353"/>
                    <a:pt x="112591" y="153353"/>
                    <a:pt x="66761" y="153353"/>
                  </a:cubicBezTo>
                  <a:close/>
                  <a:moveTo>
                    <a:pt x="237079" y="133081"/>
                  </a:moveTo>
                  <a:cubicBezTo>
                    <a:pt x="222317" y="120302"/>
                    <a:pt x="209317" y="109506"/>
                    <a:pt x="196758" y="98269"/>
                  </a:cubicBezTo>
                  <a:cubicBezTo>
                    <a:pt x="195436" y="96947"/>
                    <a:pt x="194996" y="91659"/>
                    <a:pt x="196318" y="90557"/>
                  </a:cubicBezTo>
                  <a:cubicBezTo>
                    <a:pt x="209097" y="79100"/>
                    <a:pt x="222097" y="68083"/>
                    <a:pt x="237079" y="55083"/>
                  </a:cubicBezTo>
                  <a:cubicBezTo>
                    <a:pt x="237079" y="81964"/>
                    <a:pt x="237079" y="105981"/>
                    <a:pt x="237079" y="133081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" name="Google Shape;107;p2"/>
            <p:cNvSpPr/>
            <p:nvPr/>
          </p:nvSpPr>
          <p:spPr>
            <a:xfrm>
              <a:off x="4024106" y="4993811"/>
              <a:ext cx="136551" cy="187834"/>
            </a:xfrm>
            <a:custGeom>
              <a:avLst/>
              <a:gdLst/>
              <a:ahLst/>
              <a:cxnLst/>
              <a:rect l="l" t="t" r="r" b="b"/>
              <a:pathLst>
                <a:path w="136551" h="187834" extrusionOk="0">
                  <a:moveTo>
                    <a:pt x="115235" y="165"/>
                  </a:moveTo>
                  <a:cubicBezTo>
                    <a:pt x="83727" y="-55"/>
                    <a:pt x="52219" y="-55"/>
                    <a:pt x="20711" y="165"/>
                  </a:cubicBezTo>
                  <a:cubicBezTo>
                    <a:pt x="20491" y="165"/>
                    <a:pt x="20491" y="165"/>
                    <a:pt x="20271" y="165"/>
                  </a:cubicBezTo>
                  <a:cubicBezTo>
                    <a:pt x="16965" y="165"/>
                    <a:pt x="13881" y="606"/>
                    <a:pt x="11457" y="1487"/>
                  </a:cubicBezTo>
                  <a:cubicBezTo>
                    <a:pt x="3966" y="4131"/>
                    <a:pt x="0" y="10741"/>
                    <a:pt x="0" y="20877"/>
                  </a:cubicBezTo>
                  <a:cubicBezTo>
                    <a:pt x="0" y="45113"/>
                    <a:pt x="0" y="69571"/>
                    <a:pt x="0" y="93807"/>
                  </a:cubicBezTo>
                  <a:cubicBezTo>
                    <a:pt x="0" y="117824"/>
                    <a:pt x="0" y="141840"/>
                    <a:pt x="0" y="165856"/>
                  </a:cubicBezTo>
                  <a:cubicBezTo>
                    <a:pt x="0" y="181500"/>
                    <a:pt x="5949" y="187669"/>
                    <a:pt x="22033" y="187669"/>
                  </a:cubicBezTo>
                  <a:cubicBezTo>
                    <a:pt x="52660" y="187890"/>
                    <a:pt x="83286" y="187890"/>
                    <a:pt x="113913" y="187669"/>
                  </a:cubicBezTo>
                  <a:cubicBezTo>
                    <a:pt x="117878" y="187669"/>
                    <a:pt x="121184" y="187229"/>
                    <a:pt x="124048" y="186348"/>
                  </a:cubicBezTo>
                  <a:cubicBezTo>
                    <a:pt x="129777" y="184585"/>
                    <a:pt x="133302" y="181059"/>
                    <a:pt x="135064" y="175551"/>
                  </a:cubicBezTo>
                  <a:cubicBezTo>
                    <a:pt x="135946" y="172687"/>
                    <a:pt x="136386" y="169382"/>
                    <a:pt x="136386" y="165636"/>
                  </a:cubicBezTo>
                  <a:cubicBezTo>
                    <a:pt x="136607" y="117603"/>
                    <a:pt x="136607" y="69791"/>
                    <a:pt x="136386" y="21758"/>
                  </a:cubicBezTo>
                  <a:cubicBezTo>
                    <a:pt x="136166" y="7877"/>
                    <a:pt x="128675" y="165"/>
                    <a:pt x="115235" y="165"/>
                  </a:cubicBezTo>
                  <a:close/>
                  <a:moveTo>
                    <a:pt x="96947" y="153958"/>
                  </a:moveTo>
                  <a:cubicBezTo>
                    <a:pt x="94082" y="154399"/>
                    <a:pt x="91218" y="154399"/>
                    <a:pt x="88134" y="154399"/>
                  </a:cubicBezTo>
                  <a:cubicBezTo>
                    <a:pt x="87913" y="154399"/>
                    <a:pt x="87472" y="154399"/>
                    <a:pt x="87252" y="154399"/>
                  </a:cubicBezTo>
                  <a:cubicBezTo>
                    <a:pt x="83727" y="154399"/>
                    <a:pt x="79981" y="154179"/>
                    <a:pt x="75574" y="154179"/>
                  </a:cubicBezTo>
                  <a:cubicBezTo>
                    <a:pt x="85489" y="141179"/>
                    <a:pt x="86150" y="131044"/>
                    <a:pt x="79540" y="124874"/>
                  </a:cubicBezTo>
                  <a:cubicBezTo>
                    <a:pt x="77998" y="123332"/>
                    <a:pt x="76015" y="122230"/>
                    <a:pt x="74252" y="121569"/>
                  </a:cubicBezTo>
                  <a:cubicBezTo>
                    <a:pt x="73591" y="121349"/>
                    <a:pt x="72930" y="121349"/>
                    <a:pt x="72269" y="121129"/>
                  </a:cubicBezTo>
                  <a:cubicBezTo>
                    <a:pt x="70947" y="120908"/>
                    <a:pt x="69625" y="120468"/>
                    <a:pt x="68303" y="120468"/>
                  </a:cubicBezTo>
                  <a:cubicBezTo>
                    <a:pt x="66981" y="120468"/>
                    <a:pt x="65659" y="120908"/>
                    <a:pt x="64337" y="121129"/>
                  </a:cubicBezTo>
                  <a:cubicBezTo>
                    <a:pt x="63676" y="121349"/>
                    <a:pt x="63015" y="121349"/>
                    <a:pt x="62354" y="121569"/>
                  </a:cubicBezTo>
                  <a:cubicBezTo>
                    <a:pt x="60371" y="122230"/>
                    <a:pt x="58609" y="123332"/>
                    <a:pt x="57066" y="124654"/>
                  </a:cubicBezTo>
                  <a:cubicBezTo>
                    <a:pt x="49795" y="131264"/>
                    <a:pt x="50456" y="140077"/>
                    <a:pt x="60592" y="154399"/>
                  </a:cubicBezTo>
                  <a:cubicBezTo>
                    <a:pt x="56405" y="154399"/>
                    <a:pt x="52439" y="154619"/>
                    <a:pt x="48914" y="154619"/>
                  </a:cubicBezTo>
                  <a:cubicBezTo>
                    <a:pt x="48694" y="154619"/>
                    <a:pt x="48473" y="154619"/>
                    <a:pt x="48253" y="154619"/>
                  </a:cubicBezTo>
                  <a:cubicBezTo>
                    <a:pt x="44948" y="154619"/>
                    <a:pt x="41643" y="154619"/>
                    <a:pt x="38558" y="154179"/>
                  </a:cubicBezTo>
                  <a:cubicBezTo>
                    <a:pt x="36796" y="153958"/>
                    <a:pt x="34151" y="149772"/>
                    <a:pt x="34151" y="147348"/>
                  </a:cubicBezTo>
                  <a:cubicBezTo>
                    <a:pt x="33931" y="111875"/>
                    <a:pt x="33711" y="76401"/>
                    <a:pt x="34151" y="41147"/>
                  </a:cubicBezTo>
                  <a:cubicBezTo>
                    <a:pt x="34151" y="39385"/>
                    <a:pt x="36575" y="36520"/>
                    <a:pt x="38779" y="35198"/>
                  </a:cubicBezTo>
                  <a:cubicBezTo>
                    <a:pt x="39440" y="34758"/>
                    <a:pt x="40321" y="34538"/>
                    <a:pt x="40762" y="34538"/>
                  </a:cubicBezTo>
                  <a:cubicBezTo>
                    <a:pt x="40762" y="34538"/>
                    <a:pt x="40762" y="34538"/>
                    <a:pt x="40762" y="34538"/>
                  </a:cubicBezTo>
                  <a:cubicBezTo>
                    <a:pt x="49795" y="34317"/>
                    <a:pt x="58609" y="34097"/>
                    <a:pt x="67642" y="34097"/>
                  </a:cubicBezTo>
                  <a:cubicBezTo>
                    <a:pt x="76676" y="34097"/>
                    <a:pt x="85930" y="34317"/>
                    <a:pt x="94964" y="34538"/>
                  </a:cubicBezTo>
                  <a:cubicBezTo>
                    <a:pt x="97388" y="34538"/>
                    <a:pt x="101794" y="38503"/>
                    <a:pt x="101794" y="40707"/>
                  </a:cubicBezTo>
                  <a:cubicBezTo>
                    <a:pt x="102235" y="76401"/>
                    <a:pt x="102235" y="112315"/>
                    <a:pt x="102014" y="148009"/>
                  </a:cubicBezTo>
                  <a:cubicBezTo>
                    <a:pt x="101794" y="149992"/>
                    <a:pt x="98930" y="153738"/>
                    <a:pt x="96947" y="153958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" name="Google Shape;108;p2"/>
            <p:cNvSpPr/>
            <p:nvPr/>
          </p:nvSpPr>
          <p:spPr>
            <a:xfrm>
              <a:off x="3204188" y="4492717"/>
              <a:ext cx="956157" cy="841978"/>
            </a:xfrm>
            <a:custGeom>
              <a:avLst/>
              <a:gdLst/>
              <a:ahLst/>
              <a:cxnLst/>
              <a:rect l="l" t="t" r="r" b="b"/>
              <a:pathLst>
                <a:path w="956157" h="841978" extrusionOk="0">
                  <a:moveTo>
                    <a:pt x="898797" y="718949"/>
                  </a:moveTo>
                  <a:cubicBezTo>
                    <a:pt x="888441" y="710797"/>
                    <a:pt x="875001" y="706831"/>
                    <a:pt x="858255" y="706391"/>
                  </a:cubicBezTo>
                  <a:cubicBezTo>
                    <a:pt x="836883" y="705950"/>
                    <a:pt x="816171" y="702424"/>
                    <a:pt x="797223" y="691628"/>
                  </a:cubicBezTo>
                  <a:cubicBezTo>
                    <a:pt x="791935" y="688543"/>
                    <a:pt x="787088" y="685459"/>
                    <a:pt x="782460" y="681934"/>
                  </a:cubicBezTo>
                  <a:cubicBezTo>
                    <a:pt x="764173" y="668273"/>
                    <a:pt x="751173" y="651527"/>
                    <a:pt x="743241" y="631697"/>
                  </a:cubicBezTo>
                  <a:cubicBezTo>
                    <a:pt x="737292" y="616935"/>
                    <a:pt x="733987" y="600410"/>
                    <a:pt x="733546" y="582343"/>
                  </a:cubicBezTo>
                  <a:cubicBezTo>
                    <a:pt x="732665" y="558106"/>
                    <a:pt x="730241" y="534089"/>
                    <a:pt x="728699" y="509852"/>
                  </a:cubicBezTo>
                  <a:cubicBezTo>
                    <a:pt x="728479" y="507209"/>
                    <a:pt x="728699" y="504565"/>
                    <a:pt x="728699" y="501700"/>
                  </a:cubicBezTo>
                  <a:cubicBezTo>
                    <a:pt x="732004" y="501480"/>
                    <a:pt x="734207" y="501039"/>
                    <a:pt x="736631" y="501039"/>
                  </a:cubicBezTo>
                  <a:cubicBezTo>
                    <a:pt x="744343" y="501039"/>
                    <a:pt x="752055" y="500599"/>
                    <a:pt x="759546" y="499717"/>
                  </a:cubicBezTo>
                  <a:cubicBezTo>
                    <a:pt x="782240" y="497294"/>
                    <a:pt x="804274" y="491124"/>
                    <a:pt x="825205" y="481430"/>
                  </a:cubicBezTo>
                  <a:cubicBezTo>
                    <a:pt x="868611" y="461600"/>
                    <a:pt x="901881" y="430753"/>
                    <a:pt x="923915" y="393957"/>
                  </a:cubicBezTo>
                  <a:cubicBezTo>
                    <a:pt x="945948" y="357161"/>
                    <a:pt x="957185" y="313976"/>
                    <a:pt x="956084" y="269469"/>
                  </a:cubicBezTo>
                  <a:cubicBezTo>
                    <a:pt x="955643" y="243249"/>
                    <a:pt x="934931" y="219012"/>
                    <a:pt x="910474" y="213944"/>
                  </a:cubicBezTo>
                  <a:cubicBezTo>
                    <a:pt x="905407" y="212843"/>
                    <a:pt x="900559" y="212402"/>
                    <a:pt x="895712" y="212402"/>
                  </a:cubicBezTo>
                  <a:cubicBezTo>
                    <a:pt x="891305" y="212402"/>
                    <a:pt x="886899" y="212843"/>
                    <a:pt x="882712" y="213724"/>
                  </a:cubicBezTo>
                  <a:cubicBezTo>
                    <a:pt x="881390" y="213944"/>
                    <a:pt x="880068" y="214385"/>
                    <a:pt x="878967" y="214825"/>
                  </a:cubicBezTo>
                  <a:cubicBezTo>
                    <a:pt x="876323" y="215486"/>
                    <a:pt x="873679" y="216368"/>
                    <a:pt x="871035" y="217470"/>
                  </a:cubicBezTo>
                  <a:cubicBezTo>
                    <a:pt x="869713" y="218131"/>
                    <a:pt x="868391" y="218792"/>
                    <a:pt x="866848" y="219673"/>
                  </a:cubicBezTo>
                  <a:cubicBezTo>
                    <a:pt x="864645" y="220775"/>
                    <a:pt x="862442" y="222097"/>
                    <a:pt x="860459" y="223639"/>
                  </a:cubicBezTo>
                  <a:cubicBezTo>
                    <a:pt x="859137" y="224520"/>
                    <a:pt x="858035" y="225622"/>
                    <a:pt x="856713" y="226724"/>
                  </a:cubicBezTo>
                  <a:cubicBezTo>
                    <a:pt x="854950" y="228266"/>
                    <a:pt x="853188" y="230029"/>
                    <a:pt x="851645" y="231791"/>
                  </a:cubicBezTo>
                  <a:cubicBezTo>
                    <a:pt x="850544" y="233113"/>
                    <a:pt x="849442" y="234215"/>
                    <a:pt x="848561" y="235537"/>
                  </a:cubicBezTo>
                  <a:cubicBezTo>
                    <a:pt x="847018" y="237520"/>
                    <a:pt x="845696" y="239723"/>
                    <a:pt x="844595" y="241927"/>
                  </a:cubicBezTo>
                  <a:cubicBezTo>
                    <a:pt x="843934" y="243249"/>
                    <a:pt x="843052" y="244791"/>
                    <a:pt x="842391" y="246333"/>
                  </a:cubicBezTo>
                  <a:cubicBezTo>
                    <a:pt x="841289" y="248977"/>
                    <a:pt x="840408" y="251842"/>
                    <a:pt x="839527" y="254706"/>
                  </a:cubicBezTo>
                  <a:cubicBezTo>
                    <a:pt x="839086" y="256028"/>
                    <a:pt x="838646" y="257350"/>
                    <a:pt x="838205" y="258892"/>
                  </a:cubicBezTo>
                  <a:cubicBezTo>
                    <a:pt x="837324" y="263299"/>
                    <a:pt x="836663" y="267926"/>
                    <a:pt x="836442" y="272773"/>
                  </a:cubicBezTo>
                  <a:cubicBezTo>
                    <a:pt x="836002" y="289739"/>
                    <a:pt x="834239" y="306705"/>
                    <a:pt x="826527" y="322349"/>
                  </a:cubicBezTo>
                  <a:cubicBezTo>
                    <a:pt x="824103" y="327416"/>
                    <a:pt x="821460" y="332043"/>
                    <a:pt x="818595" y="336450"/>
                  </a:cubicBezTo>
                  <a:cubicBezTo>
                    <a:pt x="804274" y="358263"/>
                    <a:pt x="784664" y="371924"/>
                    <a:pt x="760868" y="378313"/>
                  </a:cubicBezTo>
                  <a:cubicBezTo>
                    <a:pt x="751394" y="380957"/>
                    <a:pt x="741258" y="382279"/>
                    <a:pt x="730462" y="382500"/>
                  </a:cubicBezTo>
                  <a:cubicBezTo>
                    <a:pt x="709310" y="383161"/>
                    <a:pt x="688158" y="383381"/>
                    <a:pt x="667006" y="383381"/>
                  </a:cubicBezTo>
                  <a:cubicBezTo>
                    <a:pt x="662819" y="383381"/>
                    <a:pt x="658633" y="383381"/>
                    <a:pt x="654667" y="383381"/>
                  </a:cubicBezTo>
                  <a:cubicBezTo>
                    <a:pt x="627125" y="383381"/>
                    <a:pt x="599584" y="382940"/>
                    <a:pt x="572042" y="382940"/>
                  </a:cubicBezTo>
                  <a:cubicBezTo>
                    <a:pt x="569398" y="382940"/>
                    <a:pt x="566093" y="382279"/>
                    <a:pt x="564550" y="380737"/>
                  </a:cubicBezTo>
                  <a:cubicBezTo>
                    <a:pt x="561466" y="377432"/>
                    <a:pt x="562347" y="369280"/>
                    <a:pt x="564771" y="362890"/>
                  </a:cubicBezTo>
                  <a:cubicBezTo>
                    <a:pt x="626685" y="330942"/>
                    <a:pt x="669209" y="266604"/>
                    <a:pt x="669209" y="192131"/>
                  </a:cubicBezTo>
                  <a:cubicBezTo>
                    <a:pt x="669209" y="86151"/>
                    <a:pt x="583059" y="0"/>
                    <a:pt x="477078" y="0"/>
                  </a:cubicBezTo>
                  <a:cubicBezTo>
                    <a:pt x="371097" y="0"/>
                    <a:pt x="284947" y="86151"/>
                    <a:pt x="284947" y="192131"/>
                  </a:cubicBezTo>
                  <a:cubicBezTo>
                    <a:pt x="284947" y="267706"/>
                    <a:pt x="329013" y="333145"/>
                    <a:pt x="392690" y="364432"/>
                  </a:cubicBezTo>
                  <a:cubicBezTo>
                    <a:pt x="393351" y="368839"/>
                    <a:pt x="392249" y="373466"/>
                    <a:pt x="391809" y="378093"/>
                  </a:cubicBezTo>
                  <a:cubicBezTo>
                    <a:pt x="391809" y="378534"/>
                    <a:pt x="391148" y="379195"/>
                    <a:pt x="390487" y="379635"/>
                  </a:cubicBezTo>
                  <a:cubicBezTo>
                    <a:pt x="388724" y="380737"/>
                    <a:pt x="385859" y="381839"/>
                    <a:pt x="383216" y="382279"/>
                  </a:cubicBezTo>
                  <a:cubicBezTo>
                    <a:pt x="381894" y="382500"/>
                    <a:pt x="380572" y="382720"/>
                    <a:pt x="379470" y="382720"/>
                  </a:cubicBezTo>
                  <a:cubicBezTo>
                    <a:pt x="356335" y="382940"/>
                    <a:pt x="333200" y="383161"/>
                    <a:pt x="310285" y="383161"/>
                  </a:cubicBezTo>
                  <a:cubicBezTo>
                    <a:pt x="292658" y="383161"/>
                    <a:pt x="275032" y="383161"/>
                    <a:pt x="257405" y="382940"/>
                  </a:cubicBezTo>
                  <a:cubicBezTo>
                    <a:pt x="240439" y="382720"/>
                    <a:pt x="223474" y="381398"/>
                    <a:pt x="206508" y="380076"/>
                  </a:cubicBezTo>
                  <a:cubicBezTo>
                    <a:pt x="182051" y="378093"/>
                    <a:pt x="162662" y="365754"/>
                    <a:pt x="146136" y="348348"/>
                  </a:cubicBezTo>
                  <a:cubicBezTo>
                    <a:pt x="136001" y="337552"/>
                    <a:pt x="129391" y="325653"/>
                    <a:pt x="125205" y="312874"/>
                  </a:cubicBezTo>
                  <a:cubicBezTo>
                    <a:pt x="123222" y="306484"/>
                    <a:pt x="121679" y="299874"/>
                    <a:pt x="120578" y="293044"/>
                  </a:cubicBezTo>
                  <a:cubicBezTo>
                    <a:pt x="119476" y="286214"/>
                    <a:pt x="119035" y="279163"/>
                    <a:pt x="118815" y="272112"/>
                  </a:cubicBezTo>
                  <a:cubicBezTo>
                    <a:pt x="118595" y="266824"/>
                    <a:pt x="117713" y="261977"/>
                    <a:pt x="116612" y="257130"/>
                  </a:cubicBezTo>
                  <a:cubicBezTo>
                    <a:pt x="116171" y="255808"/>
                    <a:pt x="115730" y="254265"/>
                    <a:pt x="115290" y="252943"/>
                  </a:cubicBezTo>
                  <a:cubicBezTo>
                    <a:pt x="114188" y="249638"/>
                    <a:pt x="112866" y="246554"/>
                    <a:pt x="111324" y="243469"/>
                  </a:cubicBezTo>
                  <a:cubicBezTo>
                    <a:pt x="110663" y="242147"/>
                    <a:pt x="110002" y="241045"/>
                    <a:pt x="109341" y="239723"/>
                  </a:cubicBezTo>
                  <a:cubicBezTo>
                    <a:pt x="107137" y="236198"/>
                    <a:pt x="104714" y="233113"/>
                    <a:pt x="102070" y="230249"/>
                  </a:cubicBezTo>
                  <a:cubicBezTo>
                    <a:pt x="101629" y="229808"/>
                    <a:pt x="101409" y="229368"/>
                    <a:pt x="101188" y="229147"/>
                  </a:cubicBezTo>
                  <a:cubicBezTo>
                    <a:pt x="98104" y="226063"/>
                    <a:pt x="94358" y="223418"/>
                    <a:pt x="90612" y="220995"/>
                  </a:cubicBezTo>
                  <a:cubicBezTo>
                    <a:pt x="89511" y="220334"/>
                    <a:pt x="88409" y="219893"/>
                    <a:pt x="87307" y="219232"/>
                  </a:cubicBezTo>
                  <a:cubicBezTo>
                    <a:pt x="84443" y="217690"/>
                    <a:pt x="81358" y="216368"/>
                    <a:pt x="78274" y="215266"/>
                  </a:cubicBezTo>
                  <a:cubicBezTo>
                    <a:pt x="76952" y="214825"/>
                    <a:pt x="75629" y="214385"/>
                    <a:pt x="74307" y="213944"/>
                  </a:cubicBezTo>
                  <a:cubicBezTo>
                    <a:pt x="70782" y="213063"/>
                    <a:pt x="67257" y="212402"/>
                    <a:pt x="63511" y="212402"/>
                  </a:cubicBezTo>
                  <a:cubicBezTo>
                    <a:pt x="62630" y="212402"/>
                    <a:pt x="61749" y="212182"/>
                    <a:pt x="60867" y="212182"/>
                  </a:cubicBezTo>
                  <a:cubicBezTo>
                    <a:pt x="57562" y="212182"/>
                    <a:pt x="54257" y="212843"/>
                    <a:pt x="50952" y="213283"/>
                  </a:cubicBezTo>
                  <a:cubicBezTo>
                    <a:pt x="49189" y="213504"/>
                    <a:pt x="47647" y="213504"/>
                    <a:pt x="45885" y="213944"/>
                  </a:cubicBezTo>
                  <a:cubicBezTo>
                    <a:pt x="40817" y="215266"/>
                    <a:pt x="35749" y="217029"/>
                    <a:pt x="30902" y="219893"/>
                  </a:cubicBezTo>
                  <a:cubicBezTo>
                    <a:pt x="10631" y="230910"/>
                    <a:pt x="496" y="249418"/>
                    <a:pt x="55" y="272112"/>
                  </a:cubicBezTo>
                  <a:cubicBezTo>
                    <a:pt x="-165" y="282468"/>
                    <a:pt x="275" y="292824"/>
                    <a:pt x="1377" y="302959"/>
                  </a:cubicBezTo>
                  <a:cubicBezTo>
                    <a:pt x="3580" y="323230"/>
                    <a:pt x="8428" y="343060"/>
                    <a:pt x="15919" y="361788"/>
                  </a:cubicBezTo>
                  <a:cubicBezTo>
                    <a:pt x="19665" y="371263"/>
                    <a:pt x="24292" y="380517"/>
                    <a:pt x="29580" y="389550"/>
                  </a:cubicBezTo>
                  <a:cubicBezTo>
                    <a:pt x="64392" y="448600"/>
                    <a:pt x="115510" y="485616"/>
                    <a:pt x="183593" y="497514"/>
                  </a:cubicBezTo>
                  <a:cubicBezTo>
                    <a:pt x="198135" y="500158"/>
                    <a:pt x="212898" y="501259"/>
                    <a:pt x="225897" y="502802"/>
                  </a:cubicBezTo>
                  <a:cubicBezTo>
                    <a:pt x="224795" y="531005"/>
                    <a:pt x="223694" y="558546"/>
                    <a:pt x="222592" y="586088"/>
                  </a:cubicBezTo>
                  <a:cubicBezTo>
                    <a:pt x="221050" y="624647"/>
                    <a:pt x="206508" y="656595"/>
                    <a:pt x="176102" y="680832"/>
                  </a:cubicBezTo>
                  <a:cubicBezTo>
                    <a:pt x="164204" y="690306"/>
                    <a:pt x="151424" y="696916"/>
                    <a:pt x="137764" y="701102"/>
                  </a:cubicBezTo>
                  <a:cubicBezTo>
                    <a:pt x="124103" y="705289"/>
                    <a:pt x="109781" y="707052"/>
                    <a:pt x="94578" y="707052"/>
                  </a:cubicBezTo>
                  <a:cubicBezTo>
                    <a:pt x="70562" y="707272"/>
                    <a:pt x="52935" y="719170"/>
                    <a:pt x="43020" y="735474"/>
                  </a:cubicBezTo>
                  <a:cubicBezTo>
                    <a:pt x="37071" y="745389"/>
                    <a:pt x="34207" y="756627"/>
                    <a:pt x="34207" y="768084"/>
                  </a:cubicBezTo>
                  <a:cubicBezTo>
                    <a:pt x="34647" y="798931"/>
                    <a:pt x="61528" y="825591"/>
                    <a:pt x="92816" y="825811"/>
                  </a:cubicBezTo>
                  <a:cubicBezTo>
                    <a:pt x="98324" y="825811"/>
                    <a:pt x="103832" y="825371"/>
                    <a:pt x="109561" y="824930"/>
                  </a:cubicBezTo>
                  <a:cubicBezTo>
                    <a:pt x="111544" y="824710"/>
                    <a:pt x="113747" y="824710"/>
                    <a:pt x="115730" y="824710"/>
                  </a:cubicBezTo>
                  <a:cubicBezTo>
                    <a:pt x="123001" y="824049"/>
                    <a:pt x="130272" y="823167"/>
                    <a:pt x="137543" y="822286"/>
                  </a:cubicBezTo>
                  <a:cubicBezTo>
                    <a:pt x="147899" y="821184"/>
                    <a:pt x="157814" y="819201"/>
                    <a:pt x="167729" y="816557"/>
                  </a:cubicBezTo>
                  <a:cubicBezTo>
                    <a:pt x="197034" y="808625"/>
                    <a:pt x="223694" y="794524"/>
                    <a:pt x="248151" y="775796"/>
                  </a:cubicBezTo>
                  <a:cubicBezTo>
                    <a:pt x="270184" y="759050"/>
                    <a:pt x="288252" y="738779"/>
                    <a:pt x="303455" y="715645"/>
                  </a:cubicBezTo>
                  <a:cubicBezTo>
                    <a:pt x="304556" y="715865"/>
                    <a:pt x="305658" y="715865"/>
                    <a:pt x="306540" y="716085"/>
                  </a:cubicBezTo>
                  <a:cubicBezTo>
                    <a:pt x="306980" y="720051"/>
                    <a:pt x="307641" y="723797"/>
                    <a:pt x="307641" y="727763"/>
                  </a:cubicBezTo>
                  <a:cubicBezTo>
                    <a:pt x="307641" y="759050"/>
                    <a:pt x="307641" y="790338"/>
                    <a:pt x="307861" y="821625"/>
                  </a:cubicBezTo>
                  <a:cubicBezTo>
                    <a:pt x="307861" y="825150"/>
                    <a:pt x="308302" y="828235"/>
                    <a:pt x="308963" y="830659"/>
                  </a:cubicBezTo>
                  <a:cubicBezTo>
                    <a:pt x="309183" y="831320"/>
                    <a:pt x="309624" y="831760"/>
                    <a:pt x="309844" y="832201"/>
                  </a:cubicBezTo>
                  <a:cubicBezTo>
                    <a:pt x="310505" y="833964"/>
                    <a:pt x="311166" y="835726"/>
                    <a:pt x="312268" y="836828"/>
                  </a:cubicBezTo>
                  <a:cubicBezTo>
                    <a:pt x="312929" y="837489"/>
                    <a:pt x="313811" y="837709"/>
                    <a:pt x="314472" y="838370"/>
                  </a:cubicBezTo>
                  <a:cubicBezTo>
                    <a:pt x="315573" y="839031"/>
                    <a:pt x="316234" y="840133"/>
                    <a:pt x="317556" y="840574"/>
                  </a:cubicBezTo>
                  <a:cubicBezTo>
                    <a:pt x="318437" y="841015"/>
                    <a:pt x="319759" y="841015"/>
                    <a:pt x="320861" y="841015"/>
                  </a:cubicBezTo>
                  <a:cubicBezTo>
                    <a:pt x="322183" y="841235"/>
                    <a:pt x="323285" y="841676"/>
                    <a:pt x="325047" y="841676"/>
                  </a:cubicBezTo>
                  <a:cubicBezTo>
                    <a:pt x="336505" y="841676"/>
                    <a:pt x="340691" y="836608"/>
                    <a:pt x="340691" y="822066"/>
                  </a:cubicBezTo>
                  <a:cubicBezTo>
                    <a:pt x="340691" y="744508"/>
                    <a:pt x="340691" y="666951"/>
                    <a:pt x="340691" y="589393"/>
                  </a:cubicBezTo>
                  <a:cubicBezTo>
                    <a:pt x="340691" y="577495"/>
                    <a:pt x="334522" y="570224"/>
                    <a:pt x="325268" y="569783"/>
                  </a:cubicBezTo>
                  <a:cubicBezTo>
                    <a:pt x="323946" y="569783"/>
                    <a:pt x="322624" y="570224"/>
                    <a:pt x="321302" y="570444"/>
                  </a:cubicBezTo>
                  <a:cubicBezTo>
                    <a:pt x="320420" y="570665"/>
                    <a:pt x="319539" y="570665"/>
                    <a:pt x="318658" y="570885"/>
                  </a:cubicBezTo>
                  <a:cubicBezTo>
                    <a:pt x="317556" y="571326"/>
                    <a:pt x="316675" y="572207"/>
                    <a:pt x="315573" y="573089"/>
                  </a:cubicBezTo>
                  <a:cubicBezTo>
                    <a:pt x="314912" y="573529"/>
                    <a:pt x="314251" y="573970"/>
                    <a:pt x="313590" y="574631"/>
                  </a:cubicBezTo>
                  <a:cubicBezTo>
                    <a:pt x="312709" y="575732"/>
                    <a:pt x="311827" y="577054"/>
                    <a:pt x="311166" y="578376"/>
                  </a:cubicBezTo>
                  <a:cubicBezTo>
                    <a:pt x="310726" y="579037"/>
                    <a:pt x="310285" y="579478"/>
                    <a:pt x="309844" y="580360"/>
                  </a:cubicBezTo>
                  <a:cubicBezTo>
                    <a:pt x="308963" y="582563"/>
                    <a:pt x="308082" y="585207"/>
                    <a:pt x="307861" y="588071"/>
                  </a:cubicBezTo>
                  <a:cubicBezTo>
                    <a:pt x="305658" y="603935"/>
                    <a:pt x="303895" y="619579"/>
                    <a:pt x="301031" y="635223"/>
                  </a:cubicBezTo>
                  <a:cubicBezTo>
                    <a:pt x="295082" y="666951"/>
                    <a:pt x="279659" y="694272"/>
                    <a:pt x="258947" y="718729"/>
                  </a:cubicBezTo>
                  <a:cubicBezTo>
                    <a:pt x="230524" y="752440"/>
                    <a:pt x="194830" y="774914"/>
                    <a:pt x="152306" y="785270"/>
                  </a:cubicBezTo>
                  <a:cubicBezTo>
                    <a:pt x="133577" y="789897"/>
                    <a:pt x="113968" y="790558"/>
                    <a:pt x="94578" y="791439"/>
                  </a:cubicBezTo>
                  <a:cubicBezTo>
                    <a:pt x="94138" y="791439"/>
                    <a:pt x="93917" y="791439"/>
                    <a:pt x="93477" y="791439"/>
                  </a:cubicBezTo>
                  <a:cubicBezTo>
                    <a:pt x="91934" y="791439"/>
                    <a:pt x="90612" y="790999"/>
                    <a:pt x="89070" y="790558"/>
                  </a:cubicBezTo>
                  <a:cubicBezTo>
                    <a:pt x="87968" y="790338"/>
                    <a:pt x="86646" y="790338"/>
                    <a:pt x="85545" y="789897"/>
                  </a:cubicBezTo>
                  <a:cubicBezTo>
                    <a:pt x="84002" y="789236"/>
                    <a:pt x="82460" y="788354"/>
                    <a:pt x="81138" y="787253"/>
                  </a:cubicBezTo>
                  <a:cubicBezTo>
                    <a:pt x="80257" y="786592"/>
                    <a:pt x="79155" y="786372"/>
                    <a:pt x="78274" y="785490"/>
                  </a:cubicBezTo>
                  <a:cubicBezTo>
                    <a:pt x="76731" y="784168"/>
                    <a:pt x="75629" y="782846"/>
                    <a:pt x="74528" y="781304"/>
                  </a:cubicBezTo>
                  <a:cubicBezTo>
                    <a:pt x="73867" y="780643"/>
                    <a:pt x="73206" y="779982"/>
                    <a:pt x="72765" y="779100"/>
                  </a:cubicBezTo>
                  <a:cubicBezTo>
                    <a:pt x="71223" y="776677"/>
                    <a:pt x="70121" y="774033"/>
                    <a:pt x="69240" y="771389"/>
                  </a:cubicBezTo>
                  <a:cubicBezTo>
                    <a:pt x="68579" y="769186"/>
                    <a:pt x="68359" y="766542"/>
                    <a:pt x="68579" y="764118"/>
                  </a:cubicBezTo>
                  <a:cubicBezTo>
                    <a:pt x="68799" y="761694"/>
                    <a:pt x="69240" y="759050"/>
                    <a:pt x="70121" y="756627"/>
                  </a:cubicBezTo>
                  <a:cubicBezTo>
                    <a:pt x="71884" y="751779"/>
                    <a:pt x="75189" y="747593"/>
                    <a:pt x="79816" y="745169"/>
                  </a:cubicBezTo>
                  <a:cubicBezTo>
                    <a:pt x="82900" y="743406"/>
                    <a:pt x="86206" y="742085"/>
                    <a:pt x="89731" y="741203"/>
                  </a:cubicBezTo>
                  <a:cubicBezTo>
                    <a:pt x="90832" y="740983"/>
                    <a:pt x="91934" y="740983"/>
                    <a:pt x="93256" y="740763"/>
                  </a:cubicBezTo>
                  <a:cubicBezTo>
                    <a:pt x="95460" y="740322"/>
                    <a:pt x="97883" y="739661"/>
                    <a:pt x="100086" y="739661"/>
                  </a:cubicBezTo>
                  <a:cubicBezTo>
                    <a:pt x="100307" y="739661"/>
                    <a:pt x="100307" y="739661"/>
                    <a:pt x="100527" y="739661"/>
                  </a:cubicBezTo>
                  <a:cubicBezTo>
                    <a:pt x="100527" y="739661"/>
                    <a:pt x="100527" y="739661"/>
                    <a:pt x="100527" y="739661"/>
                  </a:cubicBezTo>
                  <a:cubicBezTo>
                    <a:pt x="104493" y="739661"/>
                    <a:pt x="108239" y="739441"/>
                    <a:pt x="111985" y="739220"/>
                  </a:cubicBezTo>
                  <a:cubicBezTo>
                    <a:pt x="114408" y="739000"/>
                    <a:pt x="117052" y="739000"/>
                    <a:pt x="119476" y="738779"/>
                  </a:cubicBezTo>
                  <a:cubicBezTo>
                    <a:pt x="123001" y="738339"/>
                    <a:pt x="126306" y="737678"/>
                    <a:pt x="129832" y="737237"/>
                  </a:cubicBezTo>
                  <a:cubicBezTo>
                    <a:pt x="132035" y="736796"/>
                    <a:pt x="134459" y="736576"/>
                    <a:pt x="136662" y="736135"/>
                  </a:cubicBezTo>
                  <a:cubicBezTo>
                    <a:pt x="140408" y="735254"/>
                    <a:pt x="144153" y="734153"/>
                    <a:pt x="147679" y="733051"/>
                  </a:cubicBezTo>
                  <a:cubicBezTo>
                    <a:pt x="149662" y="732390"/>
                    <a:pt x="151424" y="731949"/>
                    <a:pt x="153408" y="731288"/>
                  </a:cubicBezTo>
                  <a:cubicBezTo>
                    <a:pt x="158916" y="729305"/>
                    <a:pt x="164424" y="726881"/>
                    <a:pt x="169712" y="724238"/>
                  </a:cubicBezTo>
                  <a:cubicBezTo>
                    <a:pt x="215982" y="700662"/>
                    <a:pt x="245066" y="663866"/>
                    <a:pt x="252998" y="612087"/>
                  </a:cubicBezTo>
                  <a:cubicBezTo>
                    <a:pt x="255863" y="593359"/>
                    <a:pt x="256083" y="573970"/>
                    <a:pt x="256083" y="555021"/>
                  </a:cubicBezTo>
                  <a:cubicBezTo>
                    <a:pt x="256303" y="515141"/>
                    <a:pt x="270184" y="480989"/>
                    <a:pt x="298828" y="453447"/>
                  </a:cubicBezTo>
                  <a:cubicBezTo>
                    <a:pt x="323285" y="429872"/>
                    <a:pt x="353470" y="418855"/>
                    <a:pt x="386961" y="415770"/>
                  </a:cubicBezTo>
                  <a:cubicBezTo>
                    <a:pt x="388504" y="415550"/>
                    <a:pt x="390266" y="415550"/>
                    <a:pt x="391809" y="415550"/>
                  </a:cubicBezTo>
                  <a:cubicBezTo>
                    <a:pt x="392249" y="415550"/>
                    <a:pt x="392470" y="415550"/>
                    <a:pt x="392910" y="415550"/>
                  </a:cubicBezTo>
                  <a:cubicBezTo>
                    <a:pt x="393571" y="415550"/>
                    <a:pt x="394232" y="415550"/>
                    <a:pt x="394893" y="415770"/>
                  </a:cubicBezTo>
                  <a:cubicBezTo>
                    <a:pt x="396215" y="415990"/>
                    <a:pt x="397317" y="415990"/>
                    <a:pt x="398639" y="416431"/>
                  </a:cubicBezTo>
                  <a:cubicBezTo>
                    <a:pt x="399300" y="416651"/>
                    <a:pt x="399961" y="416872"/>
                    <a:pt x="400622" y="417092"/>
                  </a:cubicBezTo>
                  <a:cubicBezTo>
                    <a:pt x="401724" y="417533"/>
                    <a:pt x="403045" y="418194"/>
                    <a:pt x="404147" y="418634"/>
                  </a:cubicBezTo>
                  <a:cubicBezTo>
                    <a:pt x="404588" y="418855"/>
                    <a:pt x="405249" y="419075"/>
                    <a:pt x="405690" y="419516"/>
                  </a:cubicBezTo>
                  <a:cubicBezTo>
                    <a:pt x="407232" y="420618"/>
                    <a:pt x="408774" y="421940"/>
                    <a:pt x="410317" y="423702"/>
                  </a:cubicBezTo>
                  <a:cubicBezTo>
                    <a:pt x="415605" y="430092"/>
                    <a:pt x="421774" y="435600"/>
                    <a:pt x="427723" y="441549"/>
                  </a:cubicBezTo>
                  <a:cubicBezTo>
                    <a:pt x="430147" y="443973"/>
                    <a:pt x="432791" y="445956"/>
                    <a:pt x="435435" y="447278"/>
                  </a:cubicBezTo>
                  <a:cubicBezTo>
                    <a:pt x="436316" y="447719"/>
                    <a:pt x="437197" y="447939"/>
                    <a:pt x="437858" y="448159"/>
                  </a:cubicBezTo>
                  <a:cubicBezTo>
                    <a:pt x="439621" y="448820"/>
                    <a:pt x="441384" y="449481"/>
                    <a:pt x="443367" y="449481"/>
                  </a:cubicBezTo>
                  <a:cubicBezTo>
                    <a:pt x="444689" y="449481"/>
                    <a:pt x="446231" y="449481"/>
                    <a:pt x="447553" y="449261"/>
                  </a:cubicBezTo>
                  <a:cubicBezTo>
                    <a:pt x="448214" y="449040"/>
                    <a:pt x="449096" y="449040"/>
                    <a:pt x="449756" y="448820"/>
                  </a:cubicBezTo>
                  <a:cubicBezTo>
                    <a:pt x="451960" y="448159"/>
                    <a:pt x="454383" y="447058"/>
                    <a:pt x="456807" y="445515"/>
                  </a:cubicBezTo>
                  <a:cubicBezTo>
                    <a:pt x="457248" y="445295"/>
                    <a:pt x="457468" y="445295"/>
                    <a:pt x="457909" y="445075"/>
                  </a:cubicBezTo>
                  <a:cubicBezTo>
                    <a:pt x="461214" y="442871"/>
                    <a:pt x="464519" y="441108"/>
                    <a:pt x="467603" y="440007"/>
                  </a:cubicBezTo>
                  <a:cubicBezTo>
                    <a:pt x="468705" y="439566"/>
                    <a:pt x="470027" y="439566"/>
                    <a:pt x="471129" y="439346"/>
                  </a:cubicBezTo>
                  <a:cubicBezTo>
                    <a:pt x="473332" y="438905"/>
                    <a:pt x="475756" y="438024"/>
                    <a:pt x="477959" y="438024"/>
                  </a:cubicBezTo>
                  <a:cubicBezTo>
                    <a:pt x="477959" y="438024"/>
                    <a:pt x="477959" y="438024"/>
                    <a:pt x="477959" y="438024"/>
                  </a:cubicBezTo>
                  <a:cubicBezTo>
                    <a:pt x="480383" y="438024"/>
                    <a:pt x="482807" y="438685"/>
                    <a:pt x="485010" y="439346"/>
                  </a:cubicBezTo>
                  <a:cubicBezTo>
                    <a:pt x="486111" y="439566"/>
                    <a:pt x="487213" y="439566"/>
                    <a:pt x="488535" y="440007"/>
                  </a:cubicBezTo>
                  <a:cubicBezTo>
                    <a:pt x="492061" y="441329"/>
                    <a:pt x="495806" y="443091"/>
                    <a:pt x="499332" y="445736"/>
                  </a:cubicBezTo>
                  <a:cubicBezTo>
                    <a:pt x="501755" y="447278"/>
                    <a:pt x="503958" y="448379"/>
                    <a:pt x="506162" y="449040"/>
                  </a:cubicBezTo>
                  <a:cubicBezTo>
                    <a:pt x="506823" y="449261"/>
                    <a:pt x="507484" y="449261"/>
                    <a:pt x="508365" y="449481"/>
                  </a:cubicBezTo>
                  <a:cubicBezTo>
                    <a:pt x="509687" y="449701"/>
                    <a:pt x="511229" y="449701"/>
                    <a:pt x="512551" y="449701"/>
                  </a:cubicBezTo>
                  <a:cubicBezTo>
                    <a:pt x="514314" y="449481"/>
                    <a:pt x="516297" y="449040"/>
                    <a:pt x="518060" y="448379"/>
                  </a:cubicBezTo>
                  <a:cubicBezTo>
                    <a:pt x="518941" y="447939"/>
                    <a:pt x="519822" y="447939"/>
                    <a:pt x="520483" y="447498"/>
                  </a:cubicBezTo>
                  <a:cubicBezTo>
                    <a:pt x="523128" y="446176"/>
                    <a:pt x="525772" y="444193"/>
                    <a:pt x="528195" y="441769"/>
                  </a:cubicBezTo>
                  <a:cubicBezTo>
                    <a:pt x="534805" y="435159"/>
                    <a:pt x="540975" y="427889"/>
                    <a:pt x="548246" y="422160"/>
                  </a:cubicBezTo>
                  <a:cubicBezTo>
                    <a:pt x="550008" y="420838"/>
                    <a:pt x="552212" y="419516"/>
                    <a:pt x="554415" y="418414"/>
                  </a:cubicBezTo>
                  <a:cubicBezTo>
                    <a:pt x="554635" y="418194"/>
                    <a:pt x="554856" y="418194"/>
                    <a:pt x="555296" y="417973"/>
                  </a:cubicBezTo>
                  <a:cubicBezTo>
                    <a:pt x="557500" y="417092"/>
                    <a:pt x="559483" y="416431"/>
                    <a:pt x="561686" y="416431"/>
                  </a:cubicBezTo>
                  <a:cubicBezTo>
                    <a:pt x="561906" y="416431"/>
                    <a:pt x="562127" y="416211"/>
                    <a:pt x="562347" y="416211"/>
                  </a:cubicBezTo>
                  <a:cubicBezTo>
                    <a:pt x="562788" y="416211"/>
                    <a:pt x="563449" y="416211"/>
                    <a:pt x="563889" y="416431"/>
                  </a:cubicBezTo>
                  <a:cubicBezTo>
                    <a:pt x="582618" y="419736"/>
                    <a:pt x="602227" y="421940"/>
                    <a:pt x="619193" y="429431"/>
                  </a:cubicBezTo>
                  <a:cubicBezTo>
                    <a:pt x="666124" y="450362"/>
                    <a:pt x="693225" y="487819"/>
                    <a:pt x="698734" y="539157"/>
                  </a:cubicBezTo>
                  <a:cubicBezTo>
                    <a:pt x="701378" y="563614"/>
                    <a:pt x="700276" y="588512"/>
                    <a:pt x="703140" y="612969"/>
                  </a:cubicBezTo>
                  <a:cubicBezTo>
                    <a:pt x="706886" y="647782"/>
                    <a:pt x="724072" y="676645"/>
                    <a:pt x="749631" y="700001"/>
                  </a:cubicBezTo>
                  <a:cubicBezTo>
                    <a:pt x="753377" y="703306"/>
                    <a:pt x="757122" y="706391"/>
                    <a:pt x="760868" y="709475"/>
                  </a:cubicBezTo>
                  <a:cubicBezTo>
                    <a:pt x="761970" y="710356"/>
                    <a:pt x="763291" y="711017"/>
                    <a:pt x="764393" y="711899"/>
                  </a:cubicBezTo>
                  <a:cubicBezTo>
                    <a:pt x="767037" y="713882"/>
                    <a:pt x="769902" y="715865"/>
                    <a:pt x="772545" y="717627"/>
                  </a:cubicBezTo>
                  <a:cubicBezTo>
                    <a:pt x="774088" y="718729"/>
                    <a:pt x="775851" y="719390"/>
                    <a:pt x="777393" y="720492"/>
                  </a:cubicBezTo>
                  <a:cubicBezTo>
                    <a:pt x="779816" y="721814"/>
                    <a:pt x="782240" y="723356"/>
                    <a:pt x="784884" y="724678"/>
                  </a:cubicBezTo>
                  <a:cubicBezTo>
                    <a:pt x="786647" y="725560"/>
                    <a:pt x="788410" y="726220"/>
                    <a:pt x="790172" y="727102"/>
                  </a:cubicBezTo>
                  <a:cubicBezTo>
                    <a:pt x="792596" y="728203"/>
                    <a:pt x="795240" y="729525"/>
                    <a:pt x="797663" y="730407"/>
                  </a:cubicBezTo>
                  <a:cubicBezTo>
                    <a:pt x="799426" y="731068"/>
                    <a:pt x="801409" y="731729"/>
                    <a:pt x="803392" y="732390"/>
                  </a:cubicBezTo>
                  <a:cubicBezTo>
                    <a:pt x="806036" y="733271"/>
                    <a:pt x="808460" y="734153"/>
                    <a:pt x="811104" y="735034"/>
                  </a:cubicBezTo>
                  <a:cubicBezTo>
                    <a:pt x="813087" y="735695"/>
                    <a:pt x="815290" y="735915"/>
                    <a:pt x="817273" y="736356"/>
                  </a:cubicBezTo>
                  <a:cubicBezTo>
                    <a:pt x="819917" y="737017"/>
                    <a:pt x="822341" y="737678"/>
                    <a:pt x="824985" y="738118"/>
                  </a:cubicBezTo>
                  <a:cubicBezTo>
                    <a:pt x="827188" y="738559"/>
                    <a:pt x="829392" y="738779"/>
                    <a:pt x="831595" y="739000"/>
                  </a:cubicBezTo>
                  <a:cubicBezTo>
                    <a:pt x="834239" y="739441"/>
                    <a:pt x="836663" y="739881"/>
                    <a:pt x="839307" y="740102"/>
                  </a:cubicBezTo>
                  <a:cubicBezTo>
                    <a:pt x="841510" y="740322"/>
                    <a:pt x="843934" y="740322"/>
                    <a:pt x="846137" y="740322"/>
                  </a:cubicBezTo>
                  <a:cubicBezTo>
                    <a:pt x="849001" y="740542"/>
                    <a:pt x="851866" y="740763"/>
                    <a:pt x="854730" y="740542"/>
                  </a:cubicBezTo>
                  <a:cubicBezTo>
                    <a:pt x="854730" y="740542"/>
                    <a:pt x="854730" y="740542"/>
                    <a:pt x="854950" y="740542"/>
                  </a:cubicBezTo>
                  <a:cubicBezTo>
                    <a:pt x="856052" y="740542"/>
                    <a:pt x="857374" y="740763"/>
                    <a:pt x="858476" y="740983"/>
                  </a:cubicBezTo>
                  <a:cubicBezTo>
                    <a:pt x="859357" y="741203"/>
                    <a:pt x="860459" y="741203"/>
                    <a:pt x="861340" y="741203"/>
                  </a:cubicBezTo>
                  <a:cubicBezTo>
                    <a:pt x="862662" y="741424"/>
                    <a:pt x="863764" y="741864"/>
                    <a:pt x="865086" y="742305"/>
                  </a:cubicBezTo>
                  <a:cubicBezTo>
                    <a:pt x="865967" y="742525"/>
                    <a:pt x="867069" y="742746"/>
                    <a:pt x="867950" y="743186"/>
                  </a:cubicBezTo>
                  <a:cubicBezTo>
                    <a:pt x="869272" y="743627"/>
                    <a:pt x="870374" y="744288"/>
                    <a:pt x="871696" y="744949"/>
                  </a:cubicBezTo>
                  <a:cubicBezTo>
                    <a:pt x="872577" y="745389"/>
                    <a:pt x="873458" y="745610"/>
                    <a:pt x="874340" y="746271"/>
                  </a:cubicBezTo>
                  <a:cubicBezTo>
                    <a:pt x="875441" y="746932"/>
                    <a:pt x="876543" y="747593"/>
                    <a:pt x="877645" y="748474"/>
                  </a:cubicBezTo>
                  <a:cubicBezTo>
                    <a:pt x="878526" y="748915"/>
                    <a:pt x="879187" y="749356"/>
                    <a:pt x="880068" y="750017"/>
                  </a:cubicBezTo>
                  <a:cubicBezTo>
                    <a:pt x="882051" y="751339"/>
                    <a:pt x="883594" y="753101"/>
                    <a:pt x="884695" y="754864"/>
                  </a:cubicBezTo>
                  <a:cubicBezTo>
                    <a:pt x="888441" y="760372"/>
                    <a:pt x="888882" y="767643"/>
                    <a:pt x="886018" y="774694"/>
                  </a:cubicBezTo>
                  <a:cubicBezTo>
                    <a:pt x="884916" y="777558"/>
                    <a:pt x="883373" y="779982"/>
                    <a:pt x="881831" y="782185"/>
                  </a:cubicBezTo>
                  <a:cubicBezTo>
                    <a:pt x="876763" y="788795"/>
                    <a:pt x="869713" y="792321"/>
                    <a:pt x="860459" y="792541"/>
                  </a:cubicBezTo>
                  <a:cubicBezTo>
                    <a:pt x="858696" y="792541"/>
                    <a:pt x="857154" y="792541"/>
                    <a:pt x="855391" y="792541"/>
                  </a:cubicBezTo>
                  <a:cubicBezTo>
                    <a:pt x="852527" y="792541"/>
                    <a:pt x="849662" y="792321"/>
                    <a:pt x="846578" y="792100"/>
                  </a:cubicBezTo>
                  <a:cubicBezTo>
                    <a:pt x="843713" y="791880"/>
                    <a:pt x="841069" y="791880"/>
                    <a:pt x="838205" y="791660"/>
                  </a:cubicBezTo>
                  <a:cubicBezTo>
                    <a:pt x="834239" y="791439"/>
                    <a:pt x="830273" y="790778"/>
                    <a:pt x="826527" y="790117"/>
                  </a:cubicBezTo>
                  <a:cubicBezTo>
                    <a:pt x="823883" y="789677"/>
                    <a:pt x="821460" y="789456"/>
                    <a:pt x="818816" y="789016"/>
                  </a:cubicBezTo>
                  <a:cubicBezTo>
                    <a:pt x="814629" y="788134"/>
                    <a:pt x="810223" y="787253"/>
                    <a:pt x="806036" y="786151"/>
                  </a:cubicBezTo>
                  <a:cubicBezTo>
                    <a:pt x="803833" y="785711"/>
                    <a:pt x="801850" y="785270"/>
                    <a:pt x="799646" y="784609"/>
                  </a:cubicBezTo>
                  <a:cubicBezTo>
                    <a:pt x="793257" y="782846"/>
                    <a:pt x="787088" y="780863"/>
                    <a:pt x="780918" y="778439"/>
                  </a:cubicBezTo>
                  <a:cubicBezTo>
                    <a:pt x="726055" y="757067"/>
                    <a:pt x="687497" y="718949"/>
                    <a:pt x="664141" y="665188"/>
                  </a:cubicBezTo>
                  <a:cubicBezTo>
                    <a:pt x="661497" y="658798"/>
                    <a:pt x="659074" y="652409"/>
                    <a:pt x="657311" y="646019"/>
                  </a:cubicBezTo>
                  <a:cubicBezTo>
                    <a:pt x="651803" y="626630"/>
                    <a:pt x="649599" y="606579"/>
                    <a:pt x="648057" y="586088"/>
                  </a:cubicBezTo>
                  <a:cubicBezTo>
                    <a:pt x="648057" y="586088"/>
                    <a:pt x="648057" y="586088"/>
                    <a:pt x="648057" y="586088"/>
                  </a:cubicBezTo>
                  <a:cubicBezTo>
                    <a:pt x="647836" y="583664"/>
                    <a:pt x="647175" y="581241"/>
                    <a:pt x="646294" y="579258"/>
                  </a:cubicBezTo>
                  <a:cubicBezTo>
                    <a:pt x="646074" y="578597"/>
                    <a:pt x="645413" y="578156"/>
                    <a:pt x="645193" y="577495"/>
                  </a:cubicBezTo>
                  <a:cubicBezTo>
                    <a:pt x="644532" y="576393"/>
                    <a:pt x="643871" y="575071"/>
                    <a:pt x="642769" y="574190"/>
                  </a:cubicBezTo>
                  <a:cubicBezTo>
                    <a:pt x="642108" y="573750"/>
                    <a:pt x="641447" y="573309"/>
                    <a:pt x="640786" y="572868"/>
                  </a:cubicBezTo>
                  <a:cubicBezTo>
                    <a:pt x="639684" y="572207"/>
                    <a:pt x="638803" y="571546"/>
                    <a:pt x="637701" y="571106"/>
                  </a:cubicBezTo>
                  <a:cubicBezTo>
                    <a:pt x="636820" y="570885"/>
                    <a:pt x="635939" y="570885"/>
                    <a:pt x="635057" y="570665"/>
                  </a:cubicBezTo>
                  <a:cubicBezTo>
                    <a:pt x="633735" y="570444"/>
                    <a:pt x="632413" y="570004"/>
                    <a:pt x="631091" y="570004"/>
                  </a:cubicBezTo>
                  <a:cubicBezTo>
                    <a:pt x="621837" y="570444"/>
                    <a:pt x="615668" y="577054"/>
                    <a:pt x="615668" y="587190"/>
                  </a:cubicBezTo>
                  <a:cubicBezTo>
                    <a:pt x="615668" y="666510"/>
                    <a:pt x="615447" y="745830"/>
                    <a:pt x="615668" y="824930"/>
                  </a:cubicBezTo>
                  <a:cubicBezTo>
                    <a:pt x="615668" y="828015"/>
                    <a:pt x="616329" y="830659"/>
                    <a:pt x="616990" y="832862"/>
                  </a:cubicBezTo>
                  <a:cubicBezTo>
                    <a:pt x="617210" y="833523"/>
                    <a:pt x="617651" y="834184"/>
                    <a:pt x="618092" y="834845"/>
                  </a:cubicBezTo>
                  <a:cubicBezTo>
                    <a:pt x="618753" y="836167"/>
                    <a:pt x="619634" y="837489"/>
                    <a:pt x="620735" y="838591"/>
                  </a:cubicBezTo>
                  <a:cubicBezTo>
                    <a:pt x="621396" y="839031"/>
                    <a:pt x="622057" y="839472"/>
                    <a:pt x="622718" y="839913"/>
                  </a:cubicBezTo>
                  <a:cubicBezTo>
                    <a:pt x="624040" y="840574"/>
                    <a:pt x="625363" y="841235"/>
                    <a:pt x="626685" y="841455"/>
                  </a:cubicBezTo>
                  <a:cubicBezTo>
                    <a:pt x="627566" y="841676"/>
                    <a:pt x="628227" y="841896"/>
                    <a:pt x="629108" y="841896"/>
                  </a:cubicBezTo>
                  <a:cubicBezTo>
                    <a:pt x="631532" y="842116"/>
                    <a:pt x="633956" y="841896"/>
                    <a:pt x="636600" y="841235"/>
                  </a:cubicBezTo>
                  <a:cubicBezTo>
                    <a:pt x="643871" y="839252"/>
                    <a:pt x="646514" y="834625"/>
                    <a:pt x="647616" y="828676"/>
                  </a:cubicBezTo>
                  <a:cubicBezTo>
                    <a:pt x="647836" y="826693"/>
                    <a:pt x="648057" y="824710"/>
                    <a:pt x="648057" y="822506"/>
                  </a:cubicBezTo>
                  <a:cubicBezTo>
                    <a:pt x="648057" y="790778"/>
                    <a:pt x="648057" y="759271"/>
                    <a:pt x="648057" y="727542"/>
                  </a:cubicBezTo>
                  <a:cubicBezTo>
                    <a:pt x="648057" y="723797"/>
                    <a:pt x="648718" y="719831"/>
                    <a:pt x="649379" y="713221"/>
                  </a:cubicBezTo>
                  <a:cubicBezTo>
                    <a:pt x="652904" y="717407"/>
                    <a:pt x="654226" y="718949"/>
                    <a:pt x="655768" y="720712"/>
                  </a:cubicBezTo>
                  <a:cubicBezTo>
                    <a:pt x="671633" y="738118"/>
                    <a:pt x="686175" y="757067"/>
                    <a:pt x="704022" y="772270"/>
                  </a:cubicBezTo>
                  <a:cubicBezTo>
                    <a:pt x="741919" y="804879"/>
                    <a:pt x="787528" y="821184"/>
                    <a:pt x="837103" y="824930"/>
                  </a:cubicBezTo>
                  <a:cubicBezTo>
                    <a:pt x="843273" y="825371"/>
                    <a:pt x="849662" y="825150"/>
                    <a:pt x="855832" y="824710"/>
                  </a:cubicBezTo>
                  <a:cubicBezTo>
                    <a:pt x="857815" y="824490"/>
                    <a:pt x="860018" y="824490"/>
                    <a:pt x="862001" y="824269"/>
                  </a:cubicBezTo>
                  <a:cubicBezTo>
                    <a:pt x="868831" y="823608"/>
                    <a:pt x="875662" y="822506"/>
                    <a:pt x="882272" y="821184"/>
                  </a:cubicBezTo>
                  <a:cubicBezTo>
                    <a:pt x="904305" y="816117"/>
                    <a:pt x="922373" y="788354"/>
                    <a:pt x="921932" y="764999"/>
                  </a:cubicBezTo>
                  <a:cubicBezTo>
                    <a:pt x="921932" y="761694"/>
                    <a:pt x="921491" y="758389"/>
                    <a:pt x="920610" y="755304"/>
                  </a:cubicBezTo>
                  <a:cubicBezTo>
                    <a:pt x="916423" y="739000"/>
                    <a:pt x="909152" y="727102"/>
                    <a:pt x="898797" y="718949"/>
                  </a:cubicBezTo>
                  <a:close/>
                  <a:moveTo>
                    <a:pt x="286269" y="417533"/>
                  </a:moveTo>
                  <a:cubicBezTo>
                    <a:pt x="284065" y="420177"/>
                    <a:pt x="281862" y="423041"/>
                    <a:pt x="279438" y="425685"/>
                  </a:cubicBezTo>
                  <a:cubicBezTo>
                    <a:pt x="269744" y="436922"/>
                    <a:pt x="260049" y="448379"/>
                    <a:pt x="250134" y="459176"/>
                  </a:cubicBezTo>
                  <a:cubicBezTo>
                    <a:pt x="247270" y="462481"/>
                    <a:pt x="242863" y="466226"/>
                    <a:pt x="238897" y="466447"/>
                  </a:cubicBezTo>
                  <a:cubicBezTo>
                    <a:pt x="233829" y="466667"/>
                    <a:pt x="228982" y="466887"/>
                    <a:pt x="224135" y="466887"/>
                  </a:cubicBezTo>
                  <a:cubicBezTo>
                    <a:pt x="222592" y="466887"/>
                    <a:pt x="221270" y="466667"/>
                    <a:pt x="219728" y="466667"/>
                  </a:cubicBezTo>
                  <a:cubicBezTo>
                    <a:pt x="216423" y="466667"/>
                    <a:pt x="213338" y="466447"/>
                    <a:pt x="210253" y="466226"/>
                  </a:cubicBezTo>
                  <a:cubicBezTo>
                    <a:pt x="206067" y="466006"/>
                    <a:pt x="202101" y="465566"/>
                    <a:pt x="198135" y="465125"/>
                  </a:cubicBezTo>
                  <a:cubicBezTo>
                    <a:pt x="195051" y="464684"/>
                    <a:pt x="191966" y="464244"/>
                    <a:pt x="188881" y="463803"/>
                  </a:cubicBezTo>
                  <a:cubicBezTo>
                    <a:pt x="184915" y="463142"/>
                    <a:pt x="181169" y="462261"/>
                    <a:pt x="177203" y="461379"/>
                  </a:cubicBezTo>
                  <a:cubicBezTo>
                    <a:pt x="174119" y="460718"/>
                    <a:pt x="171255" y="459837"/>
                    <a:pt x="168390" y="459176"/>
                  </a:cubicBezTo>
                  <a:cubicBezTo>
                    <a:pt x="164644" y="458074"/>
                    <a:pt x="160899" y="456752"/>
                    <a:pt x="157153" y="455430"/>
                  </a:cubicBezTo>
                  <a:cubicBezTo>
                    <a:pt x="154289" y="454329"/>
                    <a:pt x="151645" y="453447"/>
                    <a:pt x="148780" y="452345"/>
                  </a:cubicBezTo>
                  <a:cubicBezTo>
                    <a:pt x="145035" y="450803"/>
                    <a:pt x="141509" y="449040"/>
                    <a:pt x="137984" y="447278"/>
                  </a:cubicBezTo>
                  <a:cubicBezTo>
                    <a:pt x="135340" y="445956"/>
                    <a:pt x="132696" y="444634"/>
                    <a:pt x="130272" y="443312"/>
                  </a:cubicBezTo>
                  <a:cubicBezTo>
                    <a:pt x="126527" y="441329"/>
                    <a:pt x="123001" y="438905"/>
                    <a:pt x="119476" y="436482"/>
                  </a:cubicBezTo>
                  <a:cubicBezTo>
                    <a:pt x="117052" y="434939"/>
                    <a:pt x="114849" y="433617"/>
                    <a:pt x="112425" y="431854"/>
                  </a:cubicBezTo>
                  <a:cubicBezTo>
                    <a:pt x="108679" y="428990"/>
                    <a:pt x="104934" y="425905"/>
                    <a:pt x="101409" y="422821"/>
                  </a:cubicBezTo>
                  <a:cubicBezTo>
                    <a:pt x="99646" y="421279"/>
                    <a:pt x="97663" y="419736"/>
                    <a:pt x="95900" y="418194"/>
                  </a:cubicBezTo>
                  <a:cubicBezTo>
                    <a:pt x="90612" y="413126"/>
                    <a:pt x="85324" y="407838"/>
                    <a:pt x="80257" y="402109"/>
                  </a:cubicBezTo>
                  <a:cubicBezTo>
                    <a:pt x="58443" y="377212"/>
                    <a:pt x="43241" y="348568"/>
                    <a:pt x="38613" y="315298"/>
                  </a:cubicBezTo>
                  <a:cubicBezTo>
                    <a:pt x="36631" y="301858"/>
                    <a:pt x="34868" y="288417"/>
                    <a:pt x="34427" y="274977"/>
                  </a:cubicBezTo>
                  <a:cubicBezTo>
                    <a:pt x="33986" y="258011"/>
                    <a:pt x="45664" y="245452"/>
                    <a:pt x="59986" y="245452"/>
                  </a:cubicBezTo>
                  <a:cubicBezTo>
                    <a:pt x="59986" y="245452"/>
                    <a:pt x="59986" y="245452"/>
                    <a:pt x="59986" y="245452"/>
                  </a:cubicBezTo>
                  <a:cubicBezTo>
                    <a:pt x="61969" y="245452"/>
                    <a:pt x="63511" y="246113"/>
                    <a:pt x="65274" y="246554"/>
                  </a:cubicBezTo>
                  <a:cubicBezTo>
                    <a:pt x="66816" y="246994"/>
                    <a:pt x="68359" y="246994"/>
                    <a:pt x="69681" y="247435"/>
                  </a:cubicBezTo>
                  <a:cubicBezTo>
                    <a:pt x="71443" y="248316"/>
                    <a:pt x="72765" y="249638"/>
                    <a:pt x="74307" y="250740"/>
                  </a:cubicBezTo>
                  <a:cubicBezTo>
                    <a:pt x="75409" y="251622"/>
                    <a:pt x="76731" y="252283"/>
                    <a:pt x="77833" y="253384"/>
                  </a:cubicBezTo>
                  <a:cubicBezTo>
                    <a:pt x="79596" y="255147"/>
                    <a:pt x="80697" y="257570"/>
                    <a:pt x="82019" y="259994"/>
                  </a:cubicBezTo>
                  <a:cubicBezTo>
                    <a:pt x="82460" y="260876"/>
                    <a:pt x="83121" y="261536"/>
                    <a:pt x="83561" y="262418"/>
                  </a:cubicBezTo>
                  <a:cubicBezTo>
                    <a:pt x="85104" y="265943"/>
                    <a:pt x="85985" y="269689"/>
                    <a:pt x="86426" y="273655"/>
                  </a:cubicBezTo>
                  <a:cubicBezTo>
                    <a:pt x="86646" y="277180"/>
                    <a:pt x="87087" y="280926"/>
                    <a:pt x="87307" y="284451"/>
                  </a:cubicBezTo>
                  <a:cubicBezTo>
                    <a:pt x="88189" y="295248"/>
                    <a:pt x="88850" y="306264"/>
                    <a:pt x="91714" y="316620"/>
                  </a:cubicBezTo>
                  <a:cubicBezTo>
                    <a:pt x="104493" y="362670"/>
                    <a:pt x="134899" y="392855"/>
                    <a:pt x="179848" y="408719"/>
                  </a:cubicBezTo>
                  <a:cubicBezTo>
                    <a:pt x="185576" y="410702"/>
                    <a:pt x="191305" y="412025"/>
                    <a:pt x="197034" y="412906"/>
                  </a:cubicBezTo>
                  <a:cubicBezTo>
                    <a:pt x="198135" y="413126"/>
                    <a:pt x="199237" y="413346"/>
                    <a:pt x="200338" y="413346"/>
                  </a:cubicBezTo>
                  <a:cubicBezTo>
                    <a:pt x="205847" y="414007"/>
                    <a:pt x="211355" y="414448"/>
                    <a:pt x="217084" y="414668"/>
                  </a:cubicBezTo>
                  <a:cubicBezTo>
                    <a:pt x="218406" y="414668"/>
                    <a:pt x="219728" y="414668"/>
                    <a:pt x="220830" y="414668"/>
                  </a:cubicBezTo>
                  <a:cubicBezTo>
                    <a:pt x="226338" y="414668"/>
                    <a:pt x="231846" y="414668"/>
                    <a:pt x="237134" y="414668"/>
                  </a:cubicBezTo>
                  <a:cubicBezTo>
                    <a:pt x="240660" y="414668"/>
                    <a:pt x="244405" y="414668"/>
                    <a:pt x="247931" y="414668"/>
                  </a:cubicBezTo>
                  <a:cubicBezTo>
                    <a:pt x="250795" y="414668"/>
                    <a:pt x="253439" y="414668"/>
                    <a:pt x="256303" y="414668"/>
                  </a:cubicBezTo>
                  <a:cubicBezTo>
                    <a:pt x="265557" y="414889"/>
                    <a:pt x="275032" y="414668"/>
                    <a:pt x="284286" y="414668"/>
                  </a:cubicBezTo>
                  <a:cubicBezTo>
                    <a:pt x="285167" y="415990"/>
                    <a:pt x="285608" y="416872"/>
                    <a:pt x="286269" y="417533"/>
                  </a:cubicBezTo>
                  <a:lnTo>
                    <a:pt x="286269" y="417533"/>
                  </a:lnTo>
                  <a:close/>
                  <a:moveTo>
                    <a:pt x="509026" y="410482"/>
                  </a:moveTo>
                  <a:cubicBezTo>
                    <a:pt x="508586" y="410482"/>
                    <a:pt x="508145" y="410482"/>
                    <a:pt x="507704" y="410482"/>
                  </a:cubicBezTo>
                  <a:cubicBezTo>
                    <a:pt x="507484" y="410482"/>
                    <a:pt x="507264" y="410262"/>
                    <a:pt x="507043" y="410262"/>
                  </a:cubicBezTo>
                  <a:cubicBezTo>
                    <a:pt x="505280" y="410041"/>
                    <a:pt x="503297" y="409601"/>
                    <a:pt x="501535" y="408719"/>
                  </a:cubicBezTo>
                  <a:cubicBezTo>
                    <a:pt x="501315" y="408499"/>
                    <a:pt x="500874" y="408499"/>
                    <a:pt x="500654" y="408279"/>
                  </a:cubicBezTo>
                  <a:cubicBezTo>
                    <a:pt x="498671" y="407397"/>
                    <a:pt x="496908" y="406296"/>
                    <a:pt x="495145" y="405194"/>
                  </a:cubicBezTo>
                  <a:cubicBezTo>
                    <a:pt x="492281" y="403432"/>
                    <a:pt x="489637" y="401889"/>
                    <a:pt x="486772" y="401008"/>
                  </a:cubicBezTo>
                  <a:cubicBezTo>
                    <a:pt x="485891" y="400787"/>
                    <a:pt x="485010" y="400567"/>
                    <a:pt x="484129" y="400347"/>
                  </a:cubicBezTo>
                  <a:cubicBezTo>
                    <a:pt x="482366" y="399906"/>
                    <a:pt x="480383" y="399465"/>
                    <a:pt x="478620" y="399465"/>
                  </a:cubicBezTo>
                  <a:cubicBezTo>
                    <a:pt x="476857" y="399465"/>
                    <a:pt x="475095" y="399686"/>
                    <a:pt x="473332" y="400126"/>
                  </a:cubicBezTo>
                  <a:cubicBezTo>
                    <a:pt x="472451" y="400347"/>
                    <a:pt x="471569" y="400347"/>
                    <a:pt x="470688" y="400567"/>
                  </a:cubicBezTo>
                  <a:cubicBezTo>
                    <a:pt x="468044" y="401448"/>
                    <a:pt x="465400" y="402550"/>
                    <a:pt x="462536" y="404313"/>
                  </a:cubicBezTo>
                  <a:cubicBezTo>
                    <a:pt x="460773" y="405414"/>
                    <a:pt x="458570" y="406516"/>
                    <a:pt x="456146" y="407397"/>
                  </a:cubicBezTo>
                  <a:cubicBezTo>
                    <a:pt x="455705" y="407618"/>
                    <a:pt x="455265" y="407838"/>
                    <a:pt x="454604" y="408058"/>
                  </a:cubicBezTo>
                  <a:cubicBezTo>
                    <a:pt x="452180" y="408940"/>
                    <a:pt x="449977" y="409601"/>
                    <a:pt x="448214" y="409601"/>
                  </a:cubicBezTo>
                  <a:cubicBezTo>
                    <a:pt x="448214" y="409601"/>
                    <a:pt x="447994" y="409601"/>
                    <a:pt x="447773" y="409601"/>
                  </a:cubicBezTo>
                  <a:cubicBezTo>
                    <a:pt x="446672" y="409601"/>
                    <a:pt x="446011" y="409380"/>
                    <a:pt x="445350" y="408940"/>
                  </a:cubicBezTo>
                  <a:cubicBezTo>
                    <a:pt x="436316" y="401889"/>
                    <a:pt x="424198" y="395500"/>
                    <a:pt x="427062" y="380296"/>
                  </a:cubicBezTo>
                  <a:cubicBezTo>
                    <a:pt x="427282" y="379415"/>
                    <a:pt x="427503" y="378313"/>
                    <a:pt x="427723" y="377212"/>
                  </a:cubicBezTo>
                  <a:cubicBezTo>
                    <a:pt x="443587" y="381398"/>
                    <a:pt x="459892" y="383822"/>
                    <a:pt x="477078" y="383822"/>
                  </a:cubicBezTo>
                  <a:cubicBezTo>
                    <a:pt x="494484" y="383822"/>
                    <a:pt x="511229" y="381398"/>
                    <a:pt x="527094" y="376991"/>
                  </a:cubicBezTo>
                  <a:cubicBezTo>
                    <a:pt x="529517" y="390652"/>
                    <a:pt x="520263" y="408499"/>
                    <a:pt x="509026" y="410482"/>
                  </a:cubicBezTo>
                  <a:close/>
                  <a:moveTo>
                    <a:pt x="477298" y="350992"/>
                  </a:moveTo>
                  <a:cubicBezTo>
                    <a:pt x="389605" y="350992"/>
                    <a:pt x="318217" y="279604"/>
                    <a:pt x="318217" y="191911"/>
                  </a:cubicBezTo>
                  <a:cubicBezTo>
                    <a:pt x="318217" y="104218"/>
                    <a:pt x="389605" y="32830"/>
                    <a:pt x="477298" y="32830"/>
                  </a:cubicBezTo>
                  <a:cubicBezTo>
                    <a:pt x="564991" y="32830"/>
                    <a:pt x="636379" y="104218"/>
                    <a:pt x="636379" y="191911"/>
                  </a:cubicBezTo>
                  <a:cubicBezTo>
                    <a:pt x="636379" y="279604"/>
                    <a:pt x="564991" y="350992"/>
                    <a:pt x="477298" y="350992"/>
                  </a:cubicBezTo>
                  <a:close/>
                  <a:moveTo>
                    <a:pt x="708428" y="462922"/>
                  </a:moveTo>
                  <a:cubicBezTo>
                    <a:pt x="696530" y="449481"/>
                    <a:pt x="684632" y="436041"/>
                    <a:pt x="672954" y="422380"/>
                  </a:cubicBezTo>
                  <a:cubicBezTo>
                    <a:pt x="671633" y="421058"/>
                    <a:pt x="671192" y="418855"/>
                    <a:pt x="669429" y="415109"/>
                  </a:cubicBezTo>
                  <a:cubicBezTo>
                    <a:pt x="680666" y="415109"/>
                    <a:pt x="691242" y="414889"/>
                    <a:pt x="701598" y="414889"/>
                  </a:cubicBezTo>
                  <a:cubicBezTo>
                    <a:pt x="703581" y="414889"/>
                    <a:pt x="706005" y="414889"/>
                    <a:pt x="707988" y="414889"/>
                  </a:cubicBezTo>
                  <a:cubicBezTo>
                    <a:pt x="715259" y="414889"/>
                    <a:pt x="722530" y="414889"/>
                    <a:pt x="729801" y="415329"/>
                  </a:cubicBezTo>
                  <a:cubicBezTo>
                    <a:pt x="734869" y="415550"/>
                    <a:pt x="739716" y="415109"/>
                    <a:pt x="744563" y="414668"/>
                  </a:cubicBezTo>
                  <a:cubicBezTo>
                    <a:pt x="747868" y="414448"/>
                    <a:pt x="751394" y="414228"/>
                    <a:pt x="754698" y="413787"/>
                  </a:cubicBezTo>
                  <a:cubicBezTo>
                    <a:pt x="758664" y="413126"/>
                    <a:pt x="762410" y="412245"/>
                    <a:pt x="766156" y="411364"/>
                  </a:cubicBezTo>
                  <a:cubicBezTo>
                    <a:pt x="769241" y="410702"/>
                    <a:pt x="772545" y="410041"/>
                    <a:pt x="775630" y="409160"/>
                  </a:cubicBezTo>
                  <a:cubicBezTo>
                    <a:pt x="779376" y="408058"/>
                    <a:pt x="782901" y="406516"/>
                    <a:pt x="786427" y="404974"/>
                  </a:cubicBezTo>
                  <a:cubicBezTo>
                    <a:pt x="789291" y="403872"/>
                    <a:pt x="792376" y="402770"/>
                    <a:pt x="795240" y="401448"/>
                  </a:cubicBezTo>
                  <a:cubicBezTo>
                    <a:pt x="798765" y="399686"/>
                    <a:pt x="801850" y="397703"/>
                    <a:pt x="805155" y="395720"/>
                  </a:cubicBezTo>
                  <a:cubicBezTo>
                    <a:pt x="807799" y="394177"/>
                    <a:pt x="810443" y="392635"/>
                    <a:pt x="812867" y="390872"/>
                  </a:cubicBezTo>
                  <a:cubicBezTo>
                    <a:pt x="816171" y="388669"/>
                    <a:pt x="819036" y="386025"/>
                    <a:pt x="822121" y="383381"/>
                  </a:cubicBezTo>
                  <a:cubicBezTo>
                    <a:pt x="824324" y="381398"/>
                    <a:pt x="826748" y="379856"/>
                    <a:pt x="828731" y="377652"/>
                  </a:cubicBezTo>
                  <a:cubicBezTo>
                    <a:pt x="831595" y="374788"/>
                    <a:pt x="834239" y="371483"/>
                    <a:pt x="836883" y="368398"/>
                  </a:cubicBezTo>
                  <a:cubicBezTo>
                    <a:pt x="838646" y="366415"/>
                    <a:pt x="840629" y="364432"/>
                    <a:pt x="842171" y="362229"/>
                  </a:cubicBezTo>
                  <a:cubicBezTo>
                    <a:pt x="845035" y="358703"/>
                    <a:pt x="847239" y="354738"/>
                    <a:pt x="849662" y="350772"/>
                  </a:cubicBezTo>
                  <a:cubicBezTo>
                    <a:pt x="850764" y="348789"/>
                    <a:pt x="852306" y="347026"/>
                    <a:pt x="853408" y="345043"/>
                  </a:cubicBezTo>
                  <a:cubicBezTo>
                    <a:pt x="856713" y="338874"/>
                    <a:pt x="859577" y="332704"/>
                    <a:pt x="861781" y="326094"/>
                  </a:cubicBezTo>
                  <a:cubicBezTo>
                    <a:pt x="867289" y="310451"/>
                    <a:pt x="867730" y="292824"/>
                    <a:pt x="869713" y="276078"/>
                  </a:cubicBezTo>
                  <a:cubicBezTo>
                    <a:pt x="870374" y="269909"/>
                    <a:pt x="871475" y="263960"/>
                    <a:pt x="873899" y="259113"/>
                  </a:cubicBezTo>
                  <a:cubicBezTo>
                    <a:pt x="876323" y="254265"/>
                    <a:pt x="880289" y="250079"/>
                    <a:pt x="886899" y="247655"/>
                  </a:cubicBezTo>
                  <a:cubicBezTo>
                    <a:pt x="889763" y="246554"/>
                    <a:pt x="892627" y="246113"/>
                    <a:pt x="895492" y="246113"/>
                  </a:cubicBezTo>
                  <a:cubicBezTo>
                    <a:pt x="895933" y="246113"/>
                    <a:pt x="896153" y="245893"/>
                    <a:pt x="896593" y="245893"/>
                  </a:cubicBezTo>
                  <a:cubicBezTo>
                    <a:pt x="896814" y="245893"/>
                    <a:pt x="897254" y="246113"/>
                    <a:pt x="897475" y="246113"/>
                  </a:cubicBezTo>
                  <a:cubicBezTo>
                    <a:pt x="900339" y="246113"/>
                    <a:pt x="902983" y="246774"/>
                    <a:pt x="905627" y="247655"/>
                  </a:cubicBezTo>
                  <a:cubicBezTo>
                    <a:pt x="906068" y="247876"/>
                    <a:pt x="906288" y="248096"/>
                    <a:pt x="906729" y="248096"/>
                  </a:cubicBezTo>
                  <a:cubicBezTo>
                    <a:pt x="909152" y="249198"/>
                    <a:pt x="911136" y="250520"/>
                    <a:pt x="913119" y="252062"/>
                  </a:cubicBezTo>
                  <a:cubicBezTo>
                    <a:pt x="913559" y="252283"/>
                    <a:pt x="913780" y="252723"/>
                    <a:pt x="914220" y="252943"/>
                  </a:cubicBezTo>
                  <a:cubicBezTo>
                    <a:pt x="916203" y="254926"/>
                    <a:pt x="917745" y="257130"/>
                    <a:pt x="919068" y="259774"/>
                  </a:cubicBezTo>
                  <a:cubicBezTo>
                    <a:pt x="919288" y="260215"/>
                    <a:pt x="919508" y="260876"/>
                    <a:pt x="919729" y="261536"/>
                  </a:cubicBezTo>
                  <a:cubicBezTo>
                    <a:pt x="920830" y="264180"/>
                    <a:pt x="921712" y="267265"/>
                    <a:pt x="921932" y="270570"/>
                  </a:cubicBezTo>
                  <a:cubicBezTo>
                    <a:pt x="923694" y="311552"/>
                    <a:pt x="913119" y="349449"/>
                    <a:pt x="890204" y="383822"/>
                  </a:cubicBezTo>
                  <a:cubicBezTo>
                    <a:pt x="864865" y="421719"/>
                    <a:pt x="829832" y="446397"/>
                    <a:pt x="786867" y="460057"/>
                  </a:cubicBezTo>
                  <a:cubicBezTo>
                    <a:pt x="781579" y="461820"/>
                    <a:pt x="776291" y="462922"/>
                    <a:pt x="771003" y="464023"/>
                  </a:cubicBezTo>
                  <a:cubicBezTo>
                    <a:pt x="769461" y="464244"/>
                    <a:pt x="767698" y="464464"/>
                    <a:pt x="766156" y="464905"/>
                  </a:cubicBezTo>
                  <a:cubicBezTo>
                    <a:pt x="762190" y="465566"/>
                    <a:pt x="758224" y="466006"/>
                    <a:pt x="754478" y="466226"/>
                  </a:cubicBezTo>
                  <a:cubicBezTo>
                    <a:pt x="752936" y="466447"/>
                    <a:pt x="751173" y="466447"/>
                    <a:pt x="749631" y="466667"/>
                  </a:cubicBezTo>
                  <a:cubicBezTo>
                    <a:pt x="744784" y="466887"/>
                    <a:pt x="739716" y="467108"/>
                    <a:pt x="734869" y="467108"/>
                  </a:cubicBezTo>
                  <a:cubicBezTo>
                    <a:pt x="734428" y="467108"/>
                    <a:pt x="733987" y="467108"/>
                    <a:pt x="733546" y="467108"/>
                  </a:cubicBezTo>
                  <a:cubicBezTo>
                    <a:pt x="733546" y="467108"/>
                    <a:pt x="733326" y="467108"/>
                    <a:pt x="733326" y="467108"/>
                  </a:cubicBezTo>
                  <a:cubicBezTo>
                    <a:pt x="727377" y="467108"/>
                    <a:pt x="721648" y="466887"/>
                    <a:pt x="715699" y="466667"/>
                  </a:cubicBezTo>
                  <a:cubicBezTo>
                    <a:pt x="713055" y="466447"/>
                    <a:pt x="710191" y="464905"/>
                    <a:pt x="708428" y="462922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" name="Google Shape;109;p2"/>
            <p:cNvSpPr/>
            <p:nvPr/>
          </p:nvSpPr>
          <p:spPr>
            <a:xfrm>
              <a:off x="3121178" y="4996180"/>
              <a:ext cx="137929" cy="223418"/>
            </a:xfrm>
            <a:custGeom>
              <a:avLst/>
              <a:gdLst/>
              <a:ahLst/>
              <a:cxnLst/>
              <a:rect l="l" t="t" r="r" b="b"/>
              <a:pathLst>
                <a:path w="137929" h="223418" extrusionOk="0">
                  <a:moveTo>
                    <a:pt x="137929" y="146522"/>
                  </a:moveTo>
                  <a:cubicBezTo>
                    <a:pt x="137929" y="135946"/>
                    <a:pt x="135285" y="127573"/>
                    <a:pt x="129997" y="121184"/>
                  </a:cubicBezTo>
                  <a:cubicBezTo>
                    <a:pt x="124709" y="114794"/>
                    <a:pt x="118320" y="109947"/>
                    <a:pt x="110608" y="106641"/>
                  </a:cubicBezTo>
                  <a:cubicBezTo>
                    <a:pt x="102896" y="103337"/>
                    <a:pt x="93422" y="100472"/>
                    <a:pt x="82405" y="98048"/>
                  </a:cubicBezTo>
                  <a:lnTo>
                    <a:pt x="82405" y="57507"/>
                  </a:lnTo>
                  <a:cubicBezTo>
                    <a:pt x="94744" y="58829"/>
                    <a:pt x="106862" y="63015"/>
                    <a:pt x="118760" y="69846"/>
                  </a:cubicBezTo>
                  <a:lnTo>
                    <a:pt x="130658" y="40541"/>
                  </a:lnTo>
                  <a:cubicBezTo>
                    <a:pt x="117879" y="32389"/>
                    <a:pt x="101794" y="27542"/>
                    <a:pt x="82405" y="25999"/>
                  </a:cubicBezTo>
                  <a:lnTo>
                    <a:pt x="82405" y="0"/>
                  </a:lnTo>
                  <a:lnTo>
                    <a:pt x="58609" y="0"/>
                  </a:lnTo>
                  <a:lnTo>
                    <a:pt x="58609" y="26440"/>
                  </a:lnTo>
                  <a:cubicBezTo>
                    <a:pt x="40541" y="28423"/>
                    <a:pt x="26661" y="34152"/>
                    <a:pt x="17186" y="43626"/>
                  </a:cubicBezTo>
                  <a:cubicBezTo>
                    <a:pt x="7712" y="53101"/>
                    <a:pt x="2864" y="64337"/>
                    <a:pt x="2864" y="77558"/>
                  </a:cubicBezTo>
                  <a:cubicBezTo>
                    <a:pt x="2864" y="88134"/>
                    <a:pt x="5508" y="96727"/>
                    <a:pt x="10796" y="103116"/>
                  </a:cubicBezTo>
                  <a:cubicBezTo>
                    <a:pt x="16085" y="109506"/>
                    <a:pt x="22474" y="114353"/>
                    <a:pt x="30406" y="117658"/>
                  </a:cubicBezTo>
                  <a:cubicBezTo>
                    <a:pt x="38118" y="120963"/>
                    <a:pt x="47592" y="124048"/>
                    <a:pt x="59050" y="126692"/>
                  </a:cubicBezTo>
                  <a:lnTo>
                    <a:pt x="59050" y="166352"/>
                  </a:lnTo>
                  <a:cubicBezTo>
                    <a:pt x="50457" y="165471"/>
                    <a:pt x="42084" y="163708"/>
                    <a:pt x="34152" y="160623"/>
                  </a:cubicBezTo>
                  <a:cubicBezTo>
                    <a:pt x="26000" y="157539"/>
                    <a:pt x="18949" y="153793"/>
                    <a:pt x="13000" y="149386"/>
                  </a:cubicBezTo>
                  <a:lnTo>
                    <a:pt x="0" y="178471"/>
                  </a:lnTo>
                  <a:cubicBezTo>
                    <a:pt x="6610" y="183538"/>
                    <a:pt x="14983" y="187725"/>
                    <a:pt x="25779" y="191250"/>
                  </a:cubicBezTo>
                  <a:cubicBezTo>
                    <a:pt x="36575" y="194775"/>
                    <a:pt x="47592" y="196758"/>
                    <a:pt x="59270" y="197419"/>
                  </a:cubicBezTo>
                  <a:lnTo>
                    <a:pt x="59270" y="223418"/>
                  </a:lnTo>
                  <a:lnTo>
                    <a:pt x="83066" y="223418"/>
                  </a:lnTo>
                  <a:lnTo>
                    <a:pt x="83066" y="196758"/>
                  </a:lnTo>
                  <a:cubicBezTo>
                    <a:pt x="100913" y="194555"/>
                    <a:pt x="114794" y="188826"/>
                    <a:pt x="124268" y="179572"/>
                  </a:cubicBezTo>
                  <a:cubicBezTo>
                    <a:pt x="133082" y="170539"/>
                    <a:pt x="137929" y="159522"/>
                    <a:pt x="137929" y="146522"/>
                  </a:cubicBezTo>
                  <a:close/>
                  <a:moveTo>
                    <a:pt x="58609" y="91879"/>
                  </a:moveTo>
                  <a:cubicBezTo>
                    <a:pt x="52880" y="90116"/>
                    <a:pt x="48473" y="87913"/>
                    <a:pt x="45609" y="85490"/>
                  </a:cubicBezTo>
                  <a:cubicBezTo>
                    <a:pt x="42745" y="83066"/>
                    <a:pt x="40982" y="79761"/>
                    <a:pt x="40982" y="75795"/>
                  </a:cubicBezTo>
                  <a:cubicBezTo>
                    <a:pt x="40982" y="71608"/>
                    <a:pt x="42304" y="68083"/>
                    <a:pt x="45169" y="64998"/>
                  </a:cubicBezTo>
                  <a:cubicBezTo>
                    <a:pt x="48033" y="61914"/>
                    <a:pt x="52440" y="59711"/>
                    <a:pt x="58389" y="58168"/>
                  </a:cubicBezTo>
                  <a:lnTo>
                    <a:pt x="58389" y="91879"/>
                  </a:lnTo>
                  <a:close/>
                  <a:moveTo>
                    <a:pt x="95405" y="159522"/>
                  </a:moveTo>
                  <a:cubicBezTo>
                    <a:pt x="92540" y="162386"/>
                    <a:pt x="88354" y="164369"/>
                    <a:pt x="82625" y="165691"/>
                  </a:cubicBezTo>
                  <a:lnTo>
                    <a:pt x="82625" y="132861"/>
                  </a:lnTo>
                  <a:cubicBezTo>
                    <a:pt x="88134" y="134844"/>
                    <a:pt x="92320" y="137048"/>
                    <a:pt x="95405" y="139471"/>
                  </a:cubicBezTo>
                  <a:cubicBezTo>
                    <a:pt x="98489" y="141895"/>
                    <a:pt x="99811" y="145200"/>
                    <a:pt x="99811" y="149166"/>
                  </a:cubicBezTo>
                  <a:cubicBezTo>
                    <a:pt x="99591" y="153353"/>
                    <a:pt x="98269" y="156657"/>
                    <a:pt x="95405" y="159522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110" name="Google Shape;110;p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192436" y="5025201"/>
            <a:ext cx="1153699" cy="68422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11" name="Google Shape;111;p2"/>
          <p:cNvGraphicFramePr/>
          <p:nvPr/>
        </p:nvGraphicFramePr>
        <p:xfrm>
          <a:off x="313125" y="4622125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Datos generales</a:t>
                      </a:r>
                      <a:endParaRPr sz="2100" u="none" strike="noStrike" cap="none" dirty="0">
                        <a:solidFill>
                          <a:srgbClr val="BC955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13" name="Google Shape;113;p2"/>
          <p:cNvSpPr txBox="1"/>
          <p:nvPr/>
        </p:nvSpPr>
        <p:spPr>
          <a:xfrm>
            <a:off x="6810875" y="6697663"/>
            <a:ext cx="936900" cy="45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s" sz="700" b="1" i="0" u="none" strike="noStrike" cap="none" dirty="0">
                <a:solidFill>
                  <a:srgbClr val="006455"/>
                </a:solidFill>
                <a:latin typeface="Noto Sans"/>
                <a:ea typeface="Noto Sans"/>
                <a:cs typeface="Noto Sans"/>
                <a:sym typeface="Noto Sans"/>
              </a:rPr>
              <a:t>Personas Trabajadoras Independientes</a:t>
            </a:r>
            <a:endParaRPr sz="700" b="1" i="0" u="none" strike="noStrike" cap="none" dirty="0">
              <a:solidFill>
                <a:srgbClr val="006455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grpSp>
        <p:nvGrpSpPr>
          <p:cNvPr id="119" name="Google Shape;119;p2"/>
          <p:cNvGrpSpPr/>
          <p:nvPr/>
        </p:nvGrpSpPr>
        <p:grpSpPr>
          <a:xfrm>
            <a:off x="6079441" y="8191625"/>
            <a:ext cx="321904" cy="457782"/>
            <a:chOff x="3342725" y="2620775"/>
            <a:chExt cx="338775" cy="481825"/>
          </a:xfrm>
        </p:grpSpPr>
        <p:sp>
          <p:nvSpPr>
            <p:cNvPr id="120" name="Google Shape;120;p2"/>
            <p:cNvSpPr/>
            <p:nvPr/>
          </p:nvSpPr>
          <p:spPr>
            <a:xfrm>
              <a:off x="3342725" y="2620775"/>
              <a:ext cx="338775" cy="56475"/>
            </a:xfrm>
            <a:custGeom>
              <a:avLst/>
              <a:gdLst/>
              <a:ahLst/>
              <a:cxnLst/>
              <a:rect l="l" t="t" r="r" b="b"/>
              <a:pathLst>
                <a:path w="13551" h="2259" extrusionOk="0">
                  <a:moveTo>
                    <a:pt x="1693" y="0"/>
                  </a:moveTo>
                  <a:cubicBezTo>
                    <a:pt x="756" y="0"/>
                    <a:pt x="0" y="759"/>
                    <a:pt x="0" y="1695"/>
                  </a:cubicBezTo>
                  <a:lnTo>
                    <a:pt x="0" y="2259"/>
                  </a:lnTo>
                  <a:lnTo>
                    <a:pt x="13551" y="2259"/>
                  </a:lnTo>
                  <a:lnTo>
                    <a:pt x="13551" y="1695"/>
                  </a:lnTo>
                  <a:cubicBezTo>
                    <a:pt x="13548" y="759"/>
                    <a:pt x="12792" y="0"/>
                    <a:pt x="11855" y="0"/>
                  </a:cubicBezTo>
                  <a:close/>
                </a:path>
              </a:pathLst>
            </a:custGeom>
            <a:noFill/>
            <a:ln w="15850" cap="flat" cmpd="sng">
              <a:solidFill>
                <a:srgbClr val="04655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3400" tIns="123400" rIns="123400" bIns="1234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89"/>
                <a:buFont typeface="Arial"/>
                <a:buNone/>
              </a:pPr>
              <a:endParaRPr sz="1889" b="0" i="0" u="none" strike="noStrike" cap="non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" name="Google Shape;121;p2"/>
            <p:cNvSpPr/>
            <p:nvPr/>
          </p:nvSpPr>
          <p:spPr>
            <a:xfrm>
              <a:off x="3342725" y="2705450"/>
              <a:ext cx="338775" cy="284225"/>
            </a:xfrm>
            <a:custGeom>
              <a:avLst/>
              <a:gdLst/>
              <a:ahLst/>
              <a:cxnLst/>
              <a:rect l="l" t="t" r="r" b="b"/>
              <a:pathLst>
                <a:path w="13551" h="11369" extrusionOk="0">
                  <a:moveTo>
                    <a:pt x="0" y="1"/>
                  </a:moveTo>
                  <a:lnTo>
                    <a:pt x="0" y="11368"/>
                  </a:lnTo>
                  <a:lnTo>
                    <a:pt x="13551" y="11368"/>
                  </a:lnTo>
                  <a:lnTo>
                    <a:pt x="13551" y="1"/>
                  </a:lnTo>
                  <a:close/>
                </a:path>
              </a:pathLst>
            </a:custGeom>
            <a:noFill/>
            <a:ln w="15850" cap="flat" cmpd="sng">
              <a:solidFill>
                <a:srgbClr val="04655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3400" tIns="123400" rIns="123400" bIns="1234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89"/>
                <a:buFont typeface="Arial"/>
                <a:buNone/>
              </a:pPr>
              <a:endParaRPr sz="1889" b="0" i="0" u="none" strike="noStrike" cap="non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" name="Google Shape;122;p2"/>
            <p:cNvSpPr/>
            <p:nvPr/>
          </p:nvSpPr>
          <p:spPr>
            <a:xfrm>
              <a:off x="3342725" y="3017875"/>
              <a:ext cx="338775" cy="84725"/>
            </a:xfrm>
            <a:custGeom>
              <a:avLst/>
              <a:gdLst/>
              <a:ahLst/>
              <a:cxnLst/>
              <a:rect l="l" t="t" r="r" b="b"/>
              <a:pathLst>
                <a:path w="13551" h="3389" extrusionOk="0">
                  <a:moveTo>
                    <a:pt x="8224" y="1205"/>
                  </a:moveTo>
                  <a:cubicBezTo>
                    <a:pt x="8534" y="1205"/>
                    <a:pt x="8787" y="1458"/>
                    <a:pt x="8787" y="1771"/>
                  </a:cubicBezTo>
                  <a:cubicBezTo>
                    <a:pt x="8787" y="2081"/>
                    <a:pt x="8534" y="2334"/>
                    <a:pt x="8224" y="2334"/>
                  </a:cubicBezTo>
                  <a:lnTo>
                    <a:pt x="5324" y="2334"/>
                  </a:lnTo>
                  <a:cubicBezTo>
                    <a:pt x="5014" y="2334"/>
                    <a:pt x="4761" y="2081"/>
                    <a:pt x="4761" y="1771"/>
                  </a:cubicBezTo>
                  <a:cubicBezTo>
                    <a:pt x="4761" y="1458"/>
                    <a:pt x="5014" y="1205"/>
                    <a:pt x="5324" y="1205"/>
                  </a:cubicBezTo>
                  <a:close/>
                  <a:moveTo>
                    <a:pt x="0" y="0"/>
                  </a:moveTo>
                  <a:lnTo>
                    <a:pt x="0" y="1696"/>
                  </a:lnTo>
                  <a:cubicBezTo>
                    <a:pt x="0" y="2629"/>
                    <a:pt x="756" y="3388"/>
                    <a:pt x="1693" y="3388"/>
                  </a:cubicBezTo>
                  <a:lnTo>
                    <a:pt x="11855" y="3388"/>
                  </a:lnTo>
                  <a:cubicBezTo>
                    <a:pt x="12792" y="3388"/>
                    <a:pt x="13548" y="2629"/>
                    <a:pt x="13551" y="1696"/>
                  </a:cubicBezTo>
                  <a:lnTo>
                    <a:pt x="13551" y="0"/>
                  </a:lnTo>
                  <a:close/>
                </a:path>
              </a:pathLst>
            </a:custGeom>
            <a:noFill/>
            <a:ln w="15850" cap="flat" cmpd="sng">
              <a:solidFill>
                <a:srgbClr val="04655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3400" tIns="123400" rIns="123400" bIns="1234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89"/>
                <a:buFont typeface="Arial"/>
                <a:buNone/>
              </a:pPr>
              <a:endParaRPr sz="1889" b="0" i="0" u="none" strike="noStrike" cap="non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23" name="Google Shape;123;p2"/>
          <p:cNvSpPr txBox="1"/>
          <p:nvPr/>
        </p:nvSpPr>
        <p:spPr>
          <a:xfrm>
            <a:off x="6537950" y="8161875"/>
            <a:ext cx="1209900" cy="45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s" sz="700" b="1" i="0" u="none" strike="noStrike" cap="none" dirty="0">
                <a:solidFill>
                  <a:srgbClr val="006455"/>
                </a:solidFill>
                <a:latin typeface="Noto Sans"/>
                <a:ea typeface="Noto Sans"/>
                <a:cs typeface="Noto Sans"/>
                <a:sym typeface="Noto Sans"/>
              </a:rPr>
              <a:t>Personas Trabajadoras de Plataformas Digitales</a:t>
            </a:r>
            <a:endParaRPr sz="700" b="1" i="0" u="none" strike="noStrike" cap="none" dirty="0">
              <a:solidFill>
                <a:srgbClr val="006455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graphicFrame>
        <p:nvGraphicFramePr>
          <p:cNvPr id="2" name="Google Shape;111;p2">
            <a:extLst>
              <a:ext uri="{FF2B5EF4-FFF2-40B4-BE49-F238E27FC236}">
                <a16:creationId xmlns:a16="http://schemas.microsoft.com/office/drawing/2014/main" id="{D110EB92-D53B-B721-7239-F76E3C239AC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343068722"/>
              </p:ext>
            </p:extLst>
          </p:nvPr>
        </p:nvGraphicFramePr>
        <p:xfrm>
          <a:off x="313125" y="568285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Población</a:t>
                      </a:r>
                      <a:endParaRPr sz="2100" u="none" strike="noStrike" cap="none" dirty="0">
                        <a:solidFill>
                          <a:srgbClr val="BC955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24" name="Chart 123"/>
          <p:cNvGraphicFramePr>
            <a:graphicFrameLocks noGrp="1"/>
          </p:cNvGraphicFramePr>
          <p:nvPr/>
        </p:nvGraphicFramePr>
        <p:xfrm>
          <a:off x="2268000" y="1116000"/>
          <a:ext cx="3240000" cy="324000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125" name="TextBox 124"/>
          <p:cNvSpPr txBox="1"/>
          <p:nvPr/>
        </p:nvSpPr>
        <p:spPr>
          <a:xfrm>
            <a:off x="6552000" y="1465200"/>
            <a:ext cx="1188000" cy="503999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defRPr sz="1400" b="1">
                <a:solidFill>
                  <a:srgbClr val="595959"/>
                </a:solidFill>
                <a:latin typeface="Montserrat"/>
              </a:defRPr>
            </a:pPr>
            <a:r>
              <a:t>2,234,240</a:t>
            </a:r>
            <a:br/>
            <a:r>
              <a:t>31%</a:t>
            </a:r>
          </a:p>
        </p:txBody>
      </p:sp>
      <p:pic>
        <p:nvPicPr>
          <p:cNvPr id="126" name="Picture 125" descr="ims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13600" y="1461599"/>
            <a:ext cx="377265" cy="468000"/>
          </a:xfrm>
          <a:prstGeom prst="rect">
            <a:avLst/>
          </a:prstGeom>
        </p:spPr>
      </p:pic>
      <p:sp>
        <p:nvSpPr>
          <p:cNvPr id="127" name="Rectangle 126"/>
          <p:cNvSpPr/>
          <p:nvPr/>
        </p:nvSpPr>
        <p:spPr>
          <a:xfrm>
            <a:off x="5868000" y="1634400"/>
            <a:ext cx="122400" cy="122400"/>
          </a:xfrm>
          <a:prstGeom prst="rect">
            <a:avLst/>
          </a:prstGeom>
          <a:solidFill>
            <a:srgbClr val="006354"/>
          </a:solidFill>
          <a:ln>
            <a:solidFill>
              <a:srgbClr val="0063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TextBox 127"/>
          <p:cNvSpPr txBox="1"/>
          <p:nvPr/>
        </p:nvSpPr>
        <p:spPr>
          <a:xfrm>
            <a:off x="6555600" y="2487600"/>
            <a:ext cx="1188000" cy="503999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defRPr sz="1400" b="1">
                <a:solidFill>
                  <a:srgbClr val="595959"/>
                </a:solidFill>
                <a:latin typeface="Montserrat"/>
              </a:defRPr>
            </a:pPr>
            <a:r>
              <a:t>1,203,362</a:t>
            </a:r>
            <a:br/>
            <a:r>
              <a:t>17%</a:t>
            </a:r>
          </a:p>
        </p:txBody>
      </p:sp>
      <p:pic>
        <p:nvPicPr>
          <p:cNvPr id="129" name="Picture 128" descr="imss_coplamar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04800" y="2523600"/>
            <a:ext cx="586035" cy="468000"/>
          </a:xfrm>
          <a:prstGeom prst="rect">
            <a:avLst/>
          </a:prstGeom>
        </p:spPr>
      </p:pic>
      <p:sp>
        <p:nvSpPr>
          <p:cNvPr id="130" name="Rectangle 129"/>
          <p:cNvSpPr/>
          <p:nvPr/>
        </p:nvSpPr>
        <p:spPr>
          <a:xfrm>
            <a:off x="5796000" y="2696400"/>
            <a:ext cx="122400" cy="122400"/>
          </a:xfrm>
          <a:prstGeom prst="rect">
            <a:avLst/>
          </a:prstGeom>
          <a:solidFill>
            <a:srgbClr val="539ED0"/>
          </a:solidFill>
          <a:ln>
            <a:solidFill>
              <a:srgbClr val="539E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6552000" y="3754800"/>
            <a:ext cx="1188000" cy="503999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defRPr sz="1400" b="1">
                <a:solidFill>
                  <a:srgbClr val="595959"/>
                </a:solidFill>
                <a:latin typeface="Montserrat"/>
              </a:defRPr>
            </a:pPr>
            <a:r>
              <a:t>479,627</a:t>
            </a:r>
            <a:br/>
            <a:r>
              <a:t>7%</a:t>
            </a:r>
          </a:p>
        </p:txBody>
      </p:sp>
      <p:pic>
        <p:nvPicPr>
          <p:cNvPr id="132" name="Picture 131" descr="issst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151600" y="3798000"/>
            <a:ext cx="1437091" cy="468000"/>
          </a:xfrm>
          <a:prstGeom prst="rect">
            <a:avLst/>
          </a:prstGeom>
        </p:spPr>
      </p:pic>
      <p:sp>
        <p:nvSpPr>
          <p:cNvPr id="133" name="Rectangle 132"/>
          <p:cNvSpPr/>
          <p:nvPr/>
        </p:nvSpPr>
        <p:spPr>
          <a:xfrm>
            <a:off x="4942800" y="3978000"/>
            <a:ext cx="122400" cy="122400"/>
          </a:xfrm>
          <a:prstGeom prst="rect">
            <a:avLst/>
          </a:prstGeom>
          <a:solidFill>
            <a:srgbClr val="681C31"/>
          </a:solidFill>
          <a:ln>
            <a:solidFill>
              <a:srgbClr val="681C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TextBox 133"/>
          <p:cNvSpPr txBox="1"/>
          <p:nvPr/>
        </p:nvSpPr>
        <p:spPr>
          <a:xfrm>
            <a:off x="7200" y="3254399"/>
            <a:ext cx="1188000" cy="503999"/>
          </a:xfrm>
          <a:prstGeom prst="rect">
            <a:avLst/>
          </a:prstGeom>
          <a:noFill/>
        </p:spPr>
        <p:txBody>
          <a:bodyPr wrap="none"/>
          <a:lstStyle/>
          <a:p>
            <a:pPr algn="r">
              <a:defRPr sz="1400" b="1">
                <a:solidFill>
                  <a:srgbClr val="595959"/>
                </a:solidFill>
                <a:latin typeface="Montserrat"/>
              </a:defRPr>
            </a:pPr>
            <a:r>
              <a:t>3,199,656</a:t>
            </a:r>
            <a:br/>
            <a:r>
              <a:t>45%</a:t>
            </a:r>
          </a:p>
        </p:txBody>
      </p:sp>
      <p:pic>
        <p:nvPicPr>
          <p:cNvPr id="135" name="Picture 134" descr="21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20400" y="3290400"/>
            <a:ext cx="1247031" cy="468000"/>
          </a:xfrm>
          <a:prstGeom prst="rect">
            <a:avLst/>
          </a:prstGeom>
        </p:spPr>
      </p:pic>
      <p:sp>
        <p:nvSpPr>
          <p:cNvPr id="136" name="Rectangle 135"/>
          <p:cNvSpPr/>
          <p:nvPr/>
        </p:nvSpPr>
        <p:spPr>
          <a:xfrm>
            <a:off x="75600" y="3463199"/>
            <a:ext cx="122400" cy="122400"/>
          </a:xfrm>
          <a:prstGeom prst="rect">
            <a:avLst/>
          </a:prstGeom>
          <a:solidFill>
            <a:srgbClr val="B79259"/>
          </a:solidFill>
          <a:ln>
            <a:solidFill>
              <a:srgbClr val="B792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TextBox 136"/>
          <p:cNvSpPr txBox="1"/>
          <p:nvPr/>
        </p:nvSpPr>
        <p:spPr>
          <a:xfrm>
            <a:off x="7200" y="1782000"/>
            <a:ext cx="1188000" cy="503999"/>
          </a:xfrm>
          <a:prstGeom prst="rect">
            <a:avLst/>
          </a:prstGeom>
          <a:noFill/>
        </p:spPr>
        <p:txBody>
          <a:bodyPr wrap="none"/>
          <a:lstStyle/>
          <a:p>
            <a:pPr algn="r">
              <a:defRPr sz="1400" b="1">
                <a:solidFill>
                  <a:srgbClr val="595959"/>
                </a:solidFill>
                <a:latin typeface="Montserrat"/>
              </a:defRPr>
            </a:pPr>
            <a:r>
              <a:t>32,254</a:t>
            </a:r>
            <a:br/>
            <a:r>
              <a:t>0.45%</a:t>
            </a:r>
          </a:p>
        </p:txBody>
      </p:sp>
      <p:pic>
        <p:nvPicPr>
          <p:cNvPr id="138" name="Picture 137" descr="otros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220400" y="1800000"/>
            <a:ext cx="468000" cy="468000"/>
          </a:xfrm>
          <a:prstGeom prst="rect">
            <a:avLst/>
          </a:prstGeom>
        </p:spPr>
      </p:pic>
      <p:sp>
        <p:nvSpPr>
          <p:cNvPr id="139" name="Rectangle 138"/>
          <p:cNvSpPr/>
          <p:nvPr/>
        </p:nvSpPr>
        <p:spPr>
          <a:xfrm>
            <a:off x="75600" y="1868400"/>
            <a:ext cx="122400" cy="122400"/>
          </a:xfrm>
          <a:prstGeom prst="rect">
            <a:avLst/>
          </a:prstGeom>
          <a:solidFill>
            <a:srgbClr val="9E9E9E"/>
          </a:solidFill>
          <a:ln>
            <a:solidFill>
              <a:srgbClr val="9E9E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TextBox 139"/>
          <p:cNvSpPr txBox="1"/>
          <p:nvPr/>
        </p:nvSpPr>
        <p:spPr>
          <a:xfrm>
            <a:off x="2988000" y="2296800"/>
            <a:ext cx="1800000" cy="9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9F2241"/>
                </a:solidFill>
                <a:latin typeface="Montserrat"/>
              </a:defRPr>
            </a:pPr>
            <a:r>
              <a:t>Población </a:t>
            </a:r>
            <a:br/>
            <a:r>
              <a:t>estatal</a:t>
            </a:r>
            <a:br/>
            <a:r>
              <a:t>7,149,139</a:t>
            </a:r>
          </a:p>
        </p:txBody>
      </p:sp>
      <p:graphicFrame>
        <p:nvGraphicFramePr>
          <p:cNvPr id="141" name="Table 140"/>
          <p:cNvGraphicFramePr>
            <a:graphicFrameLocks noGrp="1"/>
          </p:cNvGraphicFramePr>
          <p:nvPr/>
        </p:nvGraphicFramePr>
        <p:xfrm>
          <a:off x="313200" y="5270400"/>
          <a:ext cx="5410800" cy="352798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68000"/>
                <a:gridCol w="1047600"/>
                <a:gridCol w="1047600"/>
                <a:gridCol w="1047600"/>
              </a:tblGrid>
              <a:tr h="251999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Categoría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Variación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PDA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1,954,798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2,234,240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14%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Titulares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1,196,326</a:t>
                      </a:r>
                    </a:p>
                  </a:txBody>
                  <a:tcPr>
                    <a:solidFill>
                      <a:srgbClr val="CCE0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1,423,831</a:t>
                      </a:r>
                    </a:p>
                  </a:txBody>
                  <a:tcPr>
                    <a:solidFill>
                      <a:srgbClr val="CCE0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19%</a:t>
                      </a:r>
                    </a:p>
                  </a:txBody>
                  <a:tcPr>
                    <a:solidFill>
                      <a:srgbClr val="CCE0DD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Puestos de trabajo</a:t>
                      </a:r>
                    </a:p>
                  </a:txBody>
                  <a:tcPr>
                    <a:solidFill>
                      <a:srgbClr val="DDC9A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620,188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652,125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5%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Pensionados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138,512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191,037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Conservación de derechos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18,772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28,060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Sin empleo asociado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418,854</a:t>
                      </a:r>
                    </a:p>
                  </a:txBody>
                  <a:tcPr>
                    <a:solidFill>
                      <a:srgbClr val="CCE0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517,079</a:t>
                      </a:r>
                    </a:p>
                  </a:txBody>
                  <a:tcPr>
                    <a:solidFill>
                      <a:srgbClr val="CCE0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23%</a:t>
                      </a:r>
                    </a:p>
                  </a:txBody>
                  <a:tcPr>
                    <a:solidFill>
                      <a:srgbClr val="CCE0DD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Estudiantes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408,795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509,347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 b="1">
                          <a:solidFill>
                            <a:srgbClr val="A61C00"/>
                          </a:solidFill>
                          <a:latin typeface="Montserrat"/>
                        </a:defRPr>
                      </a:pPr>
                      <a:r>
                        <a:t>Seguro de Salud de Familia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A61C00"/>
                          </a:solidFill>
                          <a:latin typeface="Montserrat"/>
                        </a:defRPr>
                      </a:pPr>
                      <a:r>
                        <a:t>6,185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A61C00"/>
                          </a:solidFill>
                          <a:latin typeface="Montserrat"/>
                        </a:defRPr>
                      </a:pPr>
                      <a:r>
                        <a:t>1,808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A61C00"/>
                          </a:solidFill>
                          <a:latin typeface="Montserrat"/>
                        </a:defRPr>
                      </a:pPr>
                      <a:r>
                        <a:t>-71%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Continuación voluntaria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3,874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5,924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Familiares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758,472</a:t>
                      </a:r>
                    </a:p>
                  </a:txBody>
                  <a:tcPr>
                    <a:solidFill>
                      <a:srgbClr val="CCE0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810,409</a:t>
                      </a:r>
                    </a:p>
                  </a:txBody>
                  <a:tcPr>
                    <a:solidFill>
                      <a:srgbClr val="CCE0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7%</a:t>
                      </a:r>
                    </a:p>
                  </a:txBody>
                  <a:tcPr>
                    <a:solidFill>
                      <a:srgbClr val="CCE0DD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Esposa(o)/concubina(rio)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252,564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284,633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 b="1">
                          <a:solidFill>
                            <a:srgbClr val="A61C00"/>
                          </a:solidFill>
                          <a:latin typeface="Montserrat"/>
                        </a:defRPr>
                      </a:pPr>
                      <a:r>
                        <a:t>Hijas e hijos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A61C00"/>
                          </a:solidFill>
                          <a:latin typeface="Montserrat"/>
                        </a:defRPr>
                      </a:pPr>
                      <a:r>
                        <a:t>356,640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A61C00"/>
                          </a:solidFill>
                          <a:latin typeface="Montserrat"/>
                        </a:defRPr>
                      </a:pPr>
                      <a:r>
                        <a:t>319,528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A61C00"/>
                          </a:solidFill>
                          <a:latin typeface="Montserrat"/>
                        </a:defRPr>
                      </a:pPr>
                      <a:r>
                        <a:t>-10%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Madres y padres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149,268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206,248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2" name="TextBox 141"/>
          <p:cNvSpPr txBox="1"/>
          <p:nvPr/>
        </p:nvSpPr>
        <p:spPr>
          <a:xfrm>
            <a:off x="82800" y="8762400"/>
            <a:ext cx="58644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Noto Sans"/>
              </a:defRPr>
            </a:pPr>
            <a:r>
              <a:t>Fuente: Dirección de Incorporación y Recaudación, IMSS, datos abiertos con información mensual del número de personas derechohabientes adscritas a clínicas del IMSS. Corte enero de 2026.</a:t>
            </a:r>
          </a:p>
        </p:txBody>
      </p:sp>
      <p:graphicFrame>
        <p:nvGraphicFramePr>
          <p:cNvPr id="143" name="Table 142"/>
          <p:cNvGraphicFramePr>
            <a:graphicFrameLocks noGrp="1"/>
          </p:cNvGraphicFramePr>
          <p:nvPr/>
        </p:nvGraphicFramePr>
        <p:xfrm>
          <a:off x="5792400" y="7268400"/>
          <a:ext cx="1944000" cy="9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8000"/>
                <a:gridCol w="648000"/>
                <a:gridCol w="648000"/>
              </a:tblGrid>
              <a:tr h="300000">
                <a:tc gridSpan="2"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febrero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</a:p>
                  </a:txBody>
                  <a:tcPr>
                    <a:solidFill>
                      <a:srgbClr val="006455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Variación</a:t>
                      </a:r>
                    </a:p>
                  </a:txBody>
                  <a:tcPr marL="0" marR="0" marB="0" marT="216000" anchor="ctr">
                    <a:solidFill>
                      <a:srgbClr val="006455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2025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006455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pPr algn="ctr">
                        <a:defRPr b="1" sz="900">
                          <a:latin typeface="Montserrat"/>
                        </a:defRPr>
                      </a:pPr>
                      <a:r>
                        <a:t>8,252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latin typeface="Montserrat"/>
                        </a:defRPr>
                      </a:pPr>
                      <a:r>
                        <a:t>10,938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latin typeface="Montserrat"/>
                        </a:defRPr>
                      </a:pPr>
                      <a:r>
                        <a:t>33%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44" name="Table 143"/>
          <p:cNvGraphicFramePr>
            <a:graphicFrameLocks noGrp="1"/>
          </p:cNvGraphicFramePr>
          <p:nvPr/>
        </p:nvGraphicFramePr>
        <p:xfrm>
          <a:off x="5947200" y="8733600"/>
          <a:ext cx="1738800" cy="55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88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febrero 2026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</a:tr>
              <a:tr h="33480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8F4EC"/>
                    </a:solidFill>
                  </a:tcPr>
                </a:tc>
              </a:tr>
            </a:tbl>
          </a:graphicData>
        </a:graphic>
      </p:graphicFrame>
      <p:sp>
        <p:nvSpPr>
          <p:cNvPr id="145" name="TextBox 144"/>
          <p:cNvSpPr txBox="1"/>
          <p:nvPr/>
        </p:nvSpPr>
        <p:spPr>
          <a:xfrm>
            <a:off x="82800" y="9093600"/>
            <a:ext cx="58644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Noto Sans"/>
              </a:defRPr>
            </a:pPr>
            <a:r>
              <a:t>*La afiliación al Seguro de Salud de Familia disminuye en virtud del incremento en los nuevos esquemas de aseguramiento.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PUEBLA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3" name="Google Shape;133;p3"/>
          <p:cNvGraphicFramePr/>
          <p:nvPr/>
        </p:nvGraphicFramePr>
        <p:xfrm>
          <a:off x="211500" y="72520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Infraestructura médica IMSS e IMSS Coplamar</a:t>
                      </a:r>
                      <a:endParaRPr sz="21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134" name="Picture 133" descr="map_tipo1_21_pu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8000" y="1944000"/>
            <a:ext cx="5886000" cy="4543200"/>
          </a:xfrm>
          <a:prstGeom prst="rect">
            <a:avLst/>
          </a:prstGeom>
        </p:spPr>
      </p:pic>
      <p:graphicFrame>
        <p:nvGraphicFramePr>
          <p:cNvPr id="135" name="Table 134"/>
          <p:cNvGraphicFramePr>
            <a:graphicFrameLocks noGrp="1"/>
          </p:cNvGraphicFramePr>
          <p:nvPr/>
        </p:nvGraphicFramePr>
        <p:xfrm>
          <a:off x="97200" y="6854400"/>
          <a:ext cx="4359600" cy="140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1920"/>
                <a:gridCol w="871920"/>
                <a:gridCol w="871920"/>
                <a:gridCol w="871920"/>
                <a:gridCol w="871920"/>
              </a:tblGrid>
              <a:tr h="234000">
                <a:tc row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Nivel</a:t>
                      </a:r>
                    </a:p>
                  </a:txBody>
                  <a:tcPr marL="10800" marR="10800" marT="10800" marB="10800">
                    <a:solidFill>
                      <a:srgbClr val="660000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IMSS Ordinario</a:t>
                      </a:r>
                    </a:p>
                  </a:txBody>
                  <a:tcPr marL="10800" marR="10800" marT="10800" marB="10800"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 marL="10800" marR="10800" marT="10800" marB="10800"/>
                </a:tc>
                <a:tc hMerge="1">
                  <a:txBody>
                    <a:bodyPr/>
                    <a:lstStyle/>
                    <a:p/>
                  </a:txBody>
                  <a:tcPr marL="10800" marR="10800" marT="10800" marB="10800"/>
                </a:tc>
                <a:tc hMerge="1">
                  <a:txBody>
                    <a:bodyPr/>
                    <a:lstStyle/>
                    <a:p/>
                  </a:txBody>
                  <a:tcPr marL="10800" marR="10800" marT="10800" marB="10800"/>
                </a:tc>
              </a:tr>
              <a:tr h="234000">
                <a:tc vMerge="1">
                  <a:txBody>
                    <a:bodyPr/>
                    <a:lstStyle/>
                    <a:p/>
                  </a:txBody>
                  <a:tcPr marL="10800" marR="10800" marT="10800" marB="10800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Unidades</a:t>
                      </a:r>
                    </a:p>
                  </a:txBody>
                  <a:tcPr marL="10800" marR="10800" marT="10800" marB="10800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Consultorios de MF</a:t>
                      </a:r>
                    </a:p>
                  </a:txBody>
                  <a:tcPr marL="10800" marR="10800" marT="10800" marB="10800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</a:t>
                      </a:r>
                    </a:p>
                  </a:txBody>
                  <a:tcPr marL="10800" marR="10800" marT="10800" marB="10800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 no censables</a:t>
                      </a:r>
                    </a:p>
                  </a:txBody>
                  <a:tcPr marL="10800" marR="10800" marT="10800" marB="10800">
                    <a:solidFill>
                      <a:srgbClr val="006455"/>
                    </a:solidFill>
                  </a:tcPr>
                </a:tc>
              </a:tr>
              <a:tr h="2340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Primer</a:t>
                      </a:r>
                    </a:p>
                  </a:txBody>
                  <a:tcPr marL="10800" marR="10800" marT="10800" marB="1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45</a:t>
                      </a:r>
                    </a:p>
                  </a:txBody>
                  <a:tcPr marL="10800" marR="10800" marT="10800" marB="1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235</a:t>
                      </a:r>
                    </a:p>
                  </a:txBody>
                  <a:tcPr marL="10800" marR="10800" marT="10800" marB="1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25</a:t>
                      </a:r>
                    </a:p>
                  </a:txBody>
                  <a:tcPr marL="10800" marR="10800" marT="10800" marB="1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125</a:t>
                      </a:r>
                    </a:p>
                  </a:txBody>
                  <a:tcPr marL="10800" marR="10800" marT="10800" marB="10800">
                    <a:solidFill>
                      <a:srgbClr val="FFFFFF"/>
                    </a:solidFill>
                  </a:tcPr>
                </a:tc>
              </a:tr>
              <a:tr h="2340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Segundo</a:t>
                      </a:r>
                    </a:p>
                  </a:txBody>
                  <a:tcPr marL="10800" marR="10800" marT="10800" marB="1080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 marL="10800" marR="10800" marT="10800" marB="1080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marL="10800" marR="10800" marT="10800" marB="1080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646</a:t>
                      </a:r>
                    </a:p>
                  </a:txBody>
                  <a:tcPr marL="10800" marR="10800" marT="10800" marB="1080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403</a:t>
                      </a:r>
                    </a:p>
                  </a:txBody>
                  <a:tcPr marL="10800" marR="10800" marT="10800" marB="10800">
                    <a:solidFill>
                      <a:srgbClr val="EFEFEF"/>
                    </a:solidFill>
                  </a:tcPr>
                </a:tc>
              </a:tr>
              <a:tr h="2340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Tercer</a:t>
                      </a:r>
                    </a:p>
                  </a:txBody>
                  <a:tcPr marL="10800" marR="10800" marT="10800" marB="1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marL="10800" marR="10800" marT="10800" marB="1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marL="10800" marR="10800" marT="10800" marB="1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423</a:t>
                      </a:r>
                    </a:p>
                  </a:txBody>
                  <a:tcPr marL="10800" marR="10800" marT="10800" marB="1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115</a:t>
                      </a:r>
                    </a:p>
                  </a:txBody>
                  <a:tcPr marL="10800" marR="10800" marT="10800" marB="10800">
                    <a:solidFill>
                      <a:srgbClr val="FFFFFF"/>
                    </a:solidFill>
                  </a:tcPr>
                </a:tc>
              </a:tr>
              <a:tr h="2340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10800" marR="10800" marT="10800" marB="1080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54</a:t>
                      </a:r>
                    </a:p>
                  </a:txBody>
                  <a:tcPr marL="10800" marR="10800" marT="10800" marB="1080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235</a:t>
                      </a:r>
                    </a:p>
                  </a:txBody>
                  <a:tcPr marL="10800" marR="10800" marT="10800" marB="1080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1,094</a:t>
                      </a:r>
                    </a:p>
                  </a:txBody>
                  <a:tcPr marL="10800" marR="10800" marT="10800" marB="1080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643</a:t>
                      </a:r>
                    </a:p>
                  </a:txBody>
                  <a:tcPr marL="10800" marR="10800" marT="10800" marB="10800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6" name="Table 135"/>
          <p:cNvGraphicFramePr>
            <a:graphicFrameLocks noGrp="1"/>
          </p:cNvGraphicFramePr>
          <p:nvPr/>
        </p:nvGraphicFramePr>
        <p:xfrm>
          <a:off x="4536000" y="6854400"/>
          <a:ext cx="3096000" cy="147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6000"/>
                <a:gridCol w="846000"/>
                <a:gridCol w="846000"/>
                <a:gridCol w="558000"/>
              </a:tblGrid>
              <a:tr h="295200">
                <a:tc gridSpan="4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IMSS-COPLAMAR</a:t>
                      </a:r>
                    </a:p>
                  </a:txBody>
                  <a:tcPr marL="10800" marR="10800" marT="10800" marB="10800">
                    <a:solidFill>
                      <a:srgbClr val="BC955C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 marL="10800" marR="10800" marT="10800" marB="10800"/>
                </a:tc>
                <a:tc hMerge="1">
                  <a:txBody>
                    <a:bodyPr/>
                    <a:lstStyle/>
                    <a:p/>
                  </a:txBody>
                  <a:tcPr marL="10800" marR="10800" marT="10800" marB="10800"/>
                </a:tc>
                <a:tc hMerge="1">
                  <a:txBody>
                    <a:bodyPr/>
                    <a:lstStyle/>
                    <a:p/>
                  </a:txBody>
                  <a:tcPr marL="10800" marR="10800" marT="10800" marB="10800"/>
                </a:tc>
              </a:tr>
              <a:tr h="2952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Nivel</a:t>
                      </a:r>
                    </a:p>
                  </a:txBody>
                  <a:tcPr marL="10800" marR="10800" marT="10800" marB="10800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Unidades</a:t>
                      </a:r>
                    </a:p>
                  </a:txBody>
                  <a:tcPr marL="0" marR="0" marT="10800" marB="10800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Consultorios de MF</a:t>
                      </a:r>
                    </a:p>
                  </a:txBody>
                  <a:tcPr marL="0" marR="0" marT="10800" marB="10800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</a:t>
                      </a:r>
                    </a:p>
                  </a:txBody>
                  <a:tcPr marL="0" marR="0" marT="10800" marB="10800">
                    <a:solidFill>
                      <a:srgbClr val="BC955C"/>
                    </a:solidFill>
                  </a:tcPr>
                </a:tc>
              </a:tr>
              <a:tr h="295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Primer</a:t>
                      </a:r>
                    </a:p>
                  </a:txBody>
                  <a:tcPr marL="10800" marR="10800" marT="10800" marB="1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318</a:t>
                      </a:r>
                    </a:p>
                  </a:txBody>
                  <a:tcPr marL="10800" marR="10800" marT="10800" marB="1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311</a:t>
                      </a:r>
                    </a:p>
                  </a:txBody>
                  <a:tcPr marL="10800" marR="10800" marT="10800" marB="1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marL="10800" marR="10800" marT="10800" marB="10800">
                    <a:solidFill>
                      <a:srgbClr val="FFFFFF"/>
                    </a:solidFill>
                  </a:tcPr>
                </a:tc>
              </a:tr>
              <a:tr h="295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Segundo</a:t>
                      </a:r>
                    </a:p>
                  </a:txBody>
                  <a:tcPr marL="10800" marR="10800" marT="10800" marB="1080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 marL="10800" marR="10800" marT="10800" marB="1080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29</a:t>
                      </a:r>
                    </a:p>
                  </a:txBody>
                  <a:tcPr marL="10800" marR="10800" marT="10800" marB="1080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272</a:t>
                      </a:r>
                    </a:p>
                  </a:txBody>
                  <a:tcPr marL="10800" marR="10800" marT="10800" marB="10800">
                    <a:solidFill>
                      <a:srgbClr val="EFEFEF"/>
                    </a:solidFill>
                  </a:tcPr>
                </a:tc>
              </a:tr>
              <a:tr h="2952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10800" marR="10800" marT="10800" marB="1080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325</a:t>
                      </a:r>
                    </a:p>
                  </a:txBody>
                  <a:tcPr marL="10800" marR="10800" marT="10800" marB="1080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340</a:t>
                      </a:r>
                    </a:p>
                  </a:txBody>
                  <a:tcPr marL="10800" marR="10800" marT="10800" marB="1080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272</a:t>
                      </a:r>
                    </a:p>
                  </a:txBody>
                  <a:tcPr marL="10800" marR="10800" marT="10800" marB="10800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7" name="Table 136"/>
          <p:cNvGraphicFramePr>
            <a:graphicFrameLocks noGrp="1"/>
          </p:cNvGraphicFramePr>
          <p:nvPr/>
        </p:nvGraphicFramePr>
        <p:xfrm>
          <a:off x="5659200" y="1155600"/>
          <a:ext cx="2026800" cy="1173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3400"/>
                <a:gridCol w="1013400"/>
              </a:tblGrid>
              <a:tr h="1956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2o Nivel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Unidades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1956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HR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1956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HGZ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956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HGS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1956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HGR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956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14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sp>
        <p:nvSpPr>
          <p:cNvPr id="138" name="TextBox 137"/>
          <p:cNvSpPr txBox="1"/>
          <p:nvPr/>
        </p:nvSpPr>
        <p:spPr>
          <a:xfrm>
            <a:off x="212400" y="8607600"/>
            <a:ext cx="7200000" cy="900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Noto Sans Light"/>
              </a:defRPr>
            </a:pPr>
            <a:r>
              <a:t>1. Incluye 37 UMF, 8 UMFH y 0 UMF-UMAA, y no incluye 0 Unidades Auxiliares de Medicina Familiar.</a:t>
            </a:r>
            <a:br/>
            <a:r>
              <a:t>2. Incluye la UMAA0,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212400" y="9057600"/>
            <a:ext cx="1713600" cy="1224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Noto Sans Light"/>
              </a:defRPr>
            </a:pPr>
            <a:r>
              <a:t>Corte de información: enero de 2026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PUEBLA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3" name="Google Shape;143;g370e475fb19_0_77"/>
          <p:cNvGraphicFramePr/>
          <p:nvPr>
            <p:extLst>
              <p:ext uri="{D42A27DB-BD31-4B8C-83A1-F6EECF244321}">
                <p14:modId xmlns:p14="http://schemas.microsoft.com/office/powerpoint/2010/main" val="3415909809"/>
              </p:ext>
            </p:extLst>
          </p:nvPr>
        </p:nvGraphicFramePr>
        <p:xfrm>
          <a:off x="149075" y="64900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Capacidad médica instalada</a:t>
                      </a:r>
                      <a:endParaRPr sz="2100" u="none" strike="noStrike" cap="none" dirty="0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45" name="Google Shape;145;g370e475fb19_0_77"/>
          <p:cNvSpPr txBox="1"/>
          <p:nvPr/>
        </p:nvSpPr>
        <p:spPr>
          <a:xfrm>
            <a:off x="361950" y="9522000"/>
            <a:ext cx="7048500" cy="3077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s" sz="800" b="0" i="0" u="none" strike="noStrike" cap="none" baseline="30000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*</a:t>
            </a:r>
            <a:r>
              <a:rPr lang="es" sz="800" b="0" i="0" u="none" strike="noStrike" cap="none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No se consideran salas de tococirugía, expulsión y recuperación.</a:t>
            </a:r>
            <a:endParaRPr sz="800" b="0" i="0" u="none" strike="noStrike" cap="none" dirty="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6" name="TextBox 145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PUEBLA</a:t>
            </a:r>
          </a:p>
        </p:txBody>
      </p:sp>
      <p:graphicFrame>
        <p:nvGraphicFramePr>
          <p:cNvPr id="147" name="Table 146"/>
          <p:cNvGraphicFramePr>
            <a:graphicFrameLocks noGrp="1"/>
          </p:cNvGraphicFramePr>
          <p:nvPr/>
        </p:nvGraphicFramePr>
        <p:xfrm>
          <a:off x="363600" y="1134000"/>
          <a:ext cx="7200000" cy="518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12800"/>
                <a:gridCol w="1198800"/>
                <a:gridCol w="622800"/>
                <a:gridCol w="824400"/>
                <a:gridCol w="824400"/>
                <a:gridCol w="658800"/>
                <a:gridCol w="1458000"/>
              </a:tblGrid>
              <a:tr h="3240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Segundo nivel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Inicio de Productividad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 no censables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 de cuidados intensivos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Qx*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Consultorios de especialidades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HGS 10 Nuevo Necaxa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Junio de 1968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HGZ 15 Tehuacán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Junio de 1979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68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52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12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HGZ 5 Metepec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Abril de 1982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42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HGZ 23 Teziutlán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Junio de 1985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17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HGZ 20 La Margarita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Septiembre de 2009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227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108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HGZ 35 Cuautlancingo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Abril de 2023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92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53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9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HR Tepexi De Rodríguez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Julio de 2025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HR Villa Ávila Camacho (La Ceiba)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Julio de 2025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HR Ixtepec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Julio de 2025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HR Zacapoaxtla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Julio de 2025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HR Chignahuapan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Julio de 2025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HR San Salvador El Seco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Julio de 2025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HR Chiautla De Tapia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Julio de 2025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HGR 36 San Alejandro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Octubre de 2025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180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144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14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Subtotal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646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403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42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106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sp>
        <p:nvSpPr>
          <p:cNvPr id="148" name="TextBox 147"/>
          <p:cNvSpPr txBox="1"/>
          <p:nvPr/>
        </p:nvSpPr>
        <p:spPr>
          <a:xfrm>
            <a:off x="370800" y="9302400"/>
            <a:ext cx="3600000" cy="288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Noto Sans"/>
              </a:defRPr>
            </a:pPr>
            <a:r>
              <a:t>Corte de Información: enero de 2026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2" name="Google Shape;152;g370e475fb19_0_8"/>
          <p:cNvGraphicFramePr/>
          <p:nvPr/>
        </p:nvGraphicFramePr>
        <p:xfrm>
          <a:off x="149075" y="72240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Equipo relevante</a:t>
                      </a:r>
                      <a:endParaRPr sz="21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53" name="TextBox 152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PUEBLA</a:t>
            </a:r>
          </a:p>
        </p:txBody>
      </p:sp>
      <p:graphicFrame>
        <p:nvGraphicFramePr>
          <p:cNvPr id="154" name="Table 153"/>
          <p:cNvGraphicFramePr>
            <a:graphicFrameLocks noGrp="1"/>
          </p:cNvGraphicFramePr>
          <p:nvPr/>
        </p:nvGraphicFramePr>
        <p:xfrm>
          <a:off x="280800" y="1274400"/>
          <a:ext cx="7286400" cy="3686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83200"/>
                <a:gridCol w="1018800"/>
                <a:gridCol w="997200"/>
                <a:gridCol w="939600"/>
                <a:gridCol w="640800"/>
                <a:gridCol w="1072800"/>
                <a:gridCol w="1134000"/>
              </a:tblGrid>
              <a:tr h="2304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Segundo nivel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Aparatos de Tomografía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Equipos de Resonancia Magnética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Mastógrafo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Arcos en C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Máquinas de Hemodiálisis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Sala de Hemodinamia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HGZ 5 Metepec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HR Ixtepec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HR Zacapoaxtla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HR Chignahuapan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HGR 36 San Alejandro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HGZ 20 La Margarita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HGZ 23 Teziutlán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HGZ 15 Tehuacán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HR Tepexi De Rodríguez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HR Villa Ávila Camacho (La Ceiba)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HGZ 35 Cuautlancingo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HGS 10 Nuevo Necaxa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HR San Salvador El Seco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HR Chiautla De Tapia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Subtotal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25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sp>
        <p:nvSpPr>
          <p:cNvPr id="155" name="Rectangle 154"/>
          <p:cNvSpPr/>
          <p:nvPr/>
        </p:nvSpPr>
        <p:spPr>
          <a:xfrm>
            <a:off x="270000" y="9072000"/>
            <a:ext cx="183600" cy="183600"/>
          </a:xfrm>
          <a:prstGeom prst="rect">
            <a:avLst/>
          </a:prstGeom>
          <a:solidFill>
            <a:srgbClr val="E6D1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TextBox 155"/>
          <p:cNvSpPr txBox="1"/>
          <p:nvPr/>
        </p:nvSpPr>
        <p:spPr>
          <a:xfrm>
            <a:off x="622800" y="8949600"/>
            <a:ext cx="5320800" cy="37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000000"/>
                </a:solidFill>
                <a:latin typeface="Montserrat"/>
              </a:defRPr>
            </a:pPr>
            <a:r>
              <a:t>Proyectos de implementación/sustitución 2019-2025. Compra 2025-2026</a:t>
            </a:r>
            <a:br/>
            <a:r>
              <a:t>Fuente: Cédula de actualización de variables seleccionadas del IFU, enviadas por el OOAD.</a:t>
            </a:r>
            <a:br/>
            <a:r>
              <a:t>Corte de información: enero de 2026</a:t>
            </a:r>
          </a:p>
        </p:txBody>
      </p:sp>
      <p:graphicFrame>
        <p:nvGraphicFramePr>
          <p:cNvPr id="157" name="Table 156"/>
          <p:cNvGraphicFramePr>
            <a:graphicFrameLocks noGrp="1"/>
          </p:cNvGraphicFramePr>
          <p:nvPr/>
        </p:nvGraphicFramePr>
        <p:xfrm>
          <a:off x="280800" y="6332400"/>
          <a:ext cx="7286400" cy="115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83200"/>
                <a:gridCol w="1018800"/>
                <a:gridCol w="997200"/>
                <a:gridCol w="939600"/>
                <a:gridCol w="640800"/>
                <a:gridCol w="1072800"/>
                <a:gridCol w="1134000"/>
              </a:tblGrid>
              <a:tr h="2304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UMAE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Aparatos de Tomografía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Equipos de Resonancia Magnética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Mastógrafo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Arcos en C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Máquinas de Hemodiálisis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Sala de Hemodinamia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HTO CMN Puebla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HES CMN Puebla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Subtotal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13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29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Google Shape;164;g370e87ffe7a_2_8">
            <a:extLst>
              <a:ext uri="{FF2B5EF4-FFF2-40B4-BE49-F238E27FC236}">
                <a16:creationId xmlns:a16="http://schemas.microsoft.com/office/drawing/2014/main" id="{507FEF15-F208-7692-1DD1-CC69917AAAE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11448324"/>
              </p:ext>
            </p:extLst>
          </p:nvPr>
        </p:nvGraphicFramePr>
        <p:xfrm>
          <a:off x="149075" y="649350"/>
          <a:ext cx="7474250" cy="64008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 </a:t>
                      </a: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2100" b="1" u="none" strike="noStrike" cap="none" dirty="0">
                        <a:solidFill>
                          <a:srgbClr val="BC955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PUEBLA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7600" y="648000"/>
            <a:ext cx="7473600" cy="38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C955C"/>
                </a:solidFill>
                <a:latin typeface="Montserrat"/>
              </a:defRPr>
            </a:pPr>
            <a:r>
              <a:t>45 Unidades de Medicina Familiar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7600" y="917999"/>
            <a:ext cx="7473600" cy="38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5B0F00"/>
                </a:solidFill>
                <a:latin typeface="Montserrat"/>
              </a:defRPr>
            </a:pPr>
            <a:r>
              <a:t>25 Unidades Médicas de lunes a viernes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7600" y="8884800"/>
            <a:ext cx="7473600" cy="399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Noto Sans"/>
              </a:defRPr>
            </a:pPr>
            <a:r>
              <a:t>No incluye Unidades Auxiliares de Medicina Familiar</a:t>
            </a:r>
            <a:br/>
            <a:r>
              <a:t>Corte de información: Semana 9 febrero 2026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151200" y="1378800"/>
          <a:ext cx="7290000" cy="4082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53200"/>
                <a:gridCol w="1584000"/>
                <a:gridCol w="1522800"/>
                <a:gridCol w="1530000"/>
              </a:tblGrid>
              <a:tr h="1512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 Médica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Antigüedad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Consultorios de Medicina Familiar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Productividad a febrero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UMFH 33 Villa Rafael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59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702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UMFH 31 Chietla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53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938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UMFH 29 S.José Tilapa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62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121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UMFH 28 Calipan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61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922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UMFH 26 Atencingo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61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2,111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UMFH 16 Tecamachalco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35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3,311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8 El Mayorazgo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29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6,620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58 San José Chiapa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2,892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56 Mazatepec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46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257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50 Acatlán Osorio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44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453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49 Tetela Ocampo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45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208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46 Tlatlauquitepec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18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568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44 Tlacotepec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45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912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43 Cd. Cerdán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35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1,223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40 Oriental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45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787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39 Zacatlán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43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834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38 Palmar Bravo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45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679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37 Los Libres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45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905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32 Lagunillas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63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865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27 V. Ajalpan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61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869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25 Aire Llibre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63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378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21 Puebla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45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2,027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19 Huauchinango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47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1,082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18 Nuevo Necaxa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28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1,430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17 Xicotepec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48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1,022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45.0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40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32,116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2" name="Google Shape;172;g374dacdbb20_1_49"/>
          <p:cNvGraphicFramePr/>
          <p:nvPr>
            <p:extLst>
              <p:ext uri="{D42A27DB-BD31-4B8C-83A1-F6EECF244321}">
                <p14:modId xmlns:p14="http://schemas.microsoft.com/office/powerpoint/2010/main" val="2424095382"/>
              </p:ext>
            </p:extLst>
          </p:nvPr>
        </p:nvGraphicFramePr>
        <p:xfrm>
          <a:off x="149075" y="703350"/>
          <a:ext cx="7474250" cy="64008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700"/>
                        <a:buFont typeface="Arial"/>
                        <a:buNone/>
                      </a:pPr>
                      <a:endParaRPr lang="es-MX" sz="2100" b="1" u="none" strike="noStrike" cap="none" dirty="0">
                        <a:solidFill>
                          <a:srgbClr val="BC955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700"/>
                        <a:buFont typeface="Arial"/>
                        <a:buNone/>
                      </a:pPr>
                      <a:endParaRPr sz="2100" b="1" u="none" strike="noStrike" cap="none" dirty="0">
                        <a:solidFill>
                          <a:srgbClr val="BC955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73" name="TextBox 172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PUEBLA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147600" y="648000"/>
            <a:ext cx="7473600" cy="38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C955C"/>
                </a:solidFill>
                <a:latin typeface="Montserrat"/>
              </a:defRPr>
            </a:pPr>
            <a:r>
              <a:t>45 Unidades de Medicina Familiar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147600" y="917999"/>
            <a:ext cx="7473600" cy="38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5B0F00"/>
                </a:solidFill>
                <a:latin typeface="Montserrat"/>
              </a:defRPr>
            </a:pPr>
            <a:r>
              <a:t>20 Unidades Médicas de tiempo completo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147600" y="8884800"/>
            <a:ext cx="7473600" cy="399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Noto Sans"/>
              </a:defRPr>
            </a:pPr>
            <a:r>
              <a:t>No incluye Unidades Auxiliares de Medicina Familiar</a:t>
            </a:r>
            <a:br/>
            <a:r>
              <a:t>Corte de información: Semana 9 febrero 2026</a:t>
            </a:r>
          </a:p>
        </p:txBody>
      </p:sp>
      <p:graphicFrame>
        <p:nvGraphicFramePr>
          <p:cNvPr id="177" name="Table 176"/>
          <p:cNvGraphicFramePr>
            <a:graphicFrameLocks noGrp="1"/>
          </p:cNvGraphicFramePr>
          <p:nvPr/>
        </p:nvGraphicFramePr>
        <p:xfrm>
          <a:off x="151200" y="1378800"/>
          <a:ext cx="7473600" cy="3326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9600"/>
                <a:gridCol w="1285200"/>
                <a:gridCol w="1411200"/>
                <a:gridCol w="1018800"/>
                <a:gridCol w="1468800"/>
              </a:tblGrid>
              <a:tr h="1512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 Médica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Antigüedad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Consultorios de Medicina Familiar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Consultorios de TC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Productividad a febrero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12 S. Pedro Cholula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79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29,120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4 Constancia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79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9,697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3 San Felipe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75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17,911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1 Puebla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63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17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37,754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UMFH 24 Izucar Matamor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61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9,416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34 Atlixco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57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14,351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41 Huejotzingo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52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5,489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2 Puebla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50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23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47,370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47 S. Miguel Xoxtla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45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3,470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UMFH 11 S. Martín Texme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45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19,681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14 Pueblo Nuevo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45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11,317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55 Puebla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44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21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56,157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42 Tepeaca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44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4,414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6 Puebla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36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20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44,925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57 La Margarita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35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20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45,405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13 Puebla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35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16,685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30 Tehuacán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28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20,415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7 Sn Bartolo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26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16,952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9 Santa María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23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24,790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22 Teziutlán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19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24,381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47.0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195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82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459,700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70">
          <a:extLst>
            <a:ext uri="{FF2B5EF4-FFF2-40B4-BE49-F238E27FC236}">
              <a16:creationId xmlns:a16="http://schemas.microsoft.com/office/drawing/2014/main" id="{8A5078DC-1E12-A75D-DCD2-2904311EEE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PUEBLA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83464" y="649224"/>
            <a:ext cx="7470648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4975A"/>
                </a:solidFill>
                <a:latin typeface="Montserrat"/>
              </a:defRPr>
            </a:pPr>
            <a:r>
              <a:t>Especialistas, Draft 2025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83464" y="1033272"/>
            <a:ext cx="7470648" cy="0"/>
          </a:xfrm>
          <a:prstGeom prst="line">
            <a:avLst/>
          </a:prstGeom>
          <a:ln w="18288">
            <a:solidFill>
              <a:srgbClr val="B497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749808" y="1984248"/>
            <a:ext cx="1984248" cy="525780"/>
          </a:xfrm>
          <a:prstGeom prst="roundRect">
            <a:avLst/>
          </a:prstGeom>
          <a:solidFill>
            <a:srgbClr val="6011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100" b="1">
                <a:solidFill>
                  <a:srgbClr val="FFFFFF"/>
                </a:solidFill>
                <a:latin typeface="Montserrat"/>
              </a:defRPr>
            </a:pPr>
            <a:r>
              <a:t>Total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9808" y="2510028"/>
            <a:ext cx="1984248" cy="278892"/>
          </a:xfrm>
          <a:prstGeom prst="roundRect">
            <a:avLst/>
          </a:prstGeom>
          <a:solidFill>
            <a:srgbClr val="9F22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  <a:latin typeface="Montserrat"/>
              </a:defRPr>
            </a:pPr>
            <a:r>
              <a:t>311</a:t>
            </a:r>
          </a:p>
        </p:txBody>
      </p:sp>
      <p:pic>
        <p:nvPicPr>
          <p:cNvPr id="7" name="Picture 6" descr="Flecha_para_diapositiva_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01568" y="2167128"/>
            <a:ext cx="365760" cy="283651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4572000" y="1344168"/>
            <a:ext cx="1984248" cy="525780"/>
          </a:xfrm>
          <a:prstGeom prst="round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9F2241"/>
                </a:solidFill>
                <a:latin typeface="Montserrat"/>
              </a:defRPr>
            </a:pPr>
            <a:r>
              <a:t>Plazas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0" y="1869948"/>
            <a:ext cx="1984248" cy="278892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  <a:latin typeface="Montserrat"/>
              </a:defRPr>
            </a:pPr>
            <a:r>
              <a:t>80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0" y="2670048"/>
            <a:ext cx="1984248" cy="525780"/>
          </a:xfrm>
          <a:prstGeom prst="round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9F2241"/>
                </a:solidFill>
                <a:latin typeface="Montserrat"/>
              </a:defRPr>
            </a:pPr>
            <a:r>
              <a:t>Sustitución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0" y="3195828"/>
            <a:ext cx="1984248" cy="278892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  <a:latin typeface="Montserrat"/>
              </a:defRPr>
            </a:pPr>
            <a:r>
              <a:t>231</a:t>
            </a:r>
          </a:p>
        </p:txBody>
      </p:sp>
      <p:pic>
        <p:nvPicPr>
          <p:cNvPr id="12" name="Picture 11" descr="Mapa_draft_etiquetas_2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3464" y="3721608"/>
            <a:ext cx="7187184" cy="5335593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47600" y="8884800"/>
            <a:ext cx="7473600" cy="399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Noto Sans"/>
              </a:defRPr>
            </a:pPr>
            <a:r>
              <a:t>Corte de Información: marzo 2025</a:t>
            </a:r>
          </a:p>
        </p:txBody>
      </p:sp>
    </p:spTree>
    <p:extLst>
      <p:ext uri="{BB962C8B-B14F-4D97-AF65-F5344CB8AC3E}">
        <p14:creationId xmlns:p14="http://schemas.microsoft.com/office/powerpoint/2010/main" val="38284824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0" name="Google Shape;230;g370e87ffe7a_2_137"/>
          <p:cNvGraphicFramePr/>
          <p:nvPr>
            <p:extLst>
              <p:ext uri="{D42A27DB-BD31-4B8C-83A1-F6EECF244321}">
                <p14:modId xmlns:p14="http://schemas.microsoft.com/office/powerpoint/2010/main" val="2608776540"/>
              </p:ext>
            </p:extLst>
          </p:nvPr>
        </p:nvGraphicFramePr>
        <p:xfrm>
          <a:off x="143502" y="606889"/>
          <a:ext cx="74853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Meta: </a:t>
                      </a:r>
                      <a:r>
                        <a:rPr lang="es" sz="2100" b="1" u="none" strike="noStrike" cap="none" dirty="0">
                          <a:solidFill>
                            <a:srgbClr val="98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Cirugías</a:t>
                      </a:r>
                      <a:endParaRPr sz="2100" b="1" u="none" strike="noStrike" cap="none" dirty="0">
                        <a:solidFill>
                          <a:srgbClr val="98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31" name="TextBox 230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PUEBLA</a:t>
            </a:r>
          </a:p>
        </p:txBody>
      </p:sp>
      <p:sp>
        <p:nvSpPr>
          <p:cNvPr id="232" name="TextBox 231"/>
          <p:cNvSpPr txBox="1"/>
          <p:nvPr/>
        </p:nvSpPr>
        <p:spPr>
          <a:xfrm>
            <a:off x="147600" y="8884800"/>
            <a:ext cx="7473600" cy="399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Noto Sans"/>
              </a:defRPr>
            </a:pPr>
            <a:r>
              <a:t>Avance alcanzado respecto a la meta establecida para el mismo periodo.</a:t>
            </a:r>
            <a:br/>
            <a:r>
              <a:t>Corte de información: Semana: 9 febrero 2026</a:t>
            </a:r>
          </a:p>
        </p:txBody>
      </p:sp>
      <p:graphicFrame>
        <p:nvGraphicFramePr>
          <p:cNvPr id="233" name="Table 232"/>
          <p:cNvGraphicFramePr>
            <a:graphicFrameLocks noGrp="1"/>
          </p:cNvGraphicFramePr>
          <p:nvPr/>
        </p:nvGraphicFramePr>
        <p:xfrm>
          <a:off x="144000" y="1137600"/>
          <a:ext cx="7477200" cy="2559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33600"/>
                <a:gridCol w="968400"/>
                <a:gridCol w="968400"/>
                <a:gridCol w="968400"/>
                <a:gridCol w="968400"/>
                <a:gridCol w="968400"/>
                <a:gridCol w="1101600"/>
              </a:tblGrid>
              <a:tr h="2844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 medica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Qx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 anual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Avance a fecha Actual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 a fecha Actual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Avance a mes actual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Avance anual</a:t>
                      </a:r>
                    </a:p>
                  </a:txBody>
                  <a:tcPr>
                    <a:solidFill>
                      <a:srgbClr val="980000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HGZ 35 Cuautlancingo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5,475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551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847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HGZ 5 Metepec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3,650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188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445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42%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HGZ 20 La Margarita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14,600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728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2,259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HGZ 15 Tehuacán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7,300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316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890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36%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HGZ 23 Teziutlán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1,825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283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HGS 10 Nuevo Necaxa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1,825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43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128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34%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HGR 36 San Alejandro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7,300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890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SUBTOTAL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23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41,975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1,900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5,742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39%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5%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34" name="Table 233"/>
          <p:cNvGraphicFramePr>
            <a:graphicFrameLocks noGrp="1"/>
          </p:cNvGraphicFramePr>
          <p:nvPr/>
        </p:nvGraphicFramePr>
        <p:xfrm>
          <a:off x="144000" y="4053600"/>
          <a:ext cx="7477200" cy="142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33600"/>
                <a:gridCol w="968400"/>
                <a:gridCol w="968400"/>
                <a:gridCol w="968400"/>
                <a:gridCol w="968400"/>
                <a:gridCol w="968400"/>
                <a:gridCol w="1101600"/>
              </a:tblGrid>
              <a:tr h="2844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 medica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Qx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 anual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Avance a fecha Actual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 a fecha Actual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Avance a mes actual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Avance anual</a:t>
                      </a:r>
                    </a:p>
                  </a:txBody>
                  <a:tcPr>
                    <a:solidFill>
                      <a:srgbClr val="980000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HTO CMN Puebla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12,775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959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1,977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HES CMN Puebla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18,250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1,005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2,823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36%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SUBTOTAL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17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31,025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1,964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4,800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42%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7%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40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73,000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3,864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10,542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40%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5%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228">
          <a:extLst>
            <a:ext uri="{FF2B5EF4-FFF2-40B4-BE49-F238E27FC236}">
              <a16:creationId xmlns:a16="http://schemas.microsoft.com/office/drawing/2014/main" id="{7C68A8BE-FBC4-281A-A695-2B426A1D5B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0" name="Google Shape;230;g370e87ffe7a_2_137">
            <a:extLst>
              <a:ext uri="{FF2B5EF4-FFF2-40B4-BE49-F238E27FC236}">
                <a16:creationId xmlns:a16="http://schemas.microsoft.com/office/drawing/2014/main" id="{64EDC3BC-A199-227A-0CEC-FB808E16739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15413274"/>
              </p:ext>
            </p:extLst>
          </p:nvPr>
        </p:nvGraphicFramePr>
        <p:xfrm>
          <a:off x="143502" y="606889"/>
          <a:ext cx="74853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Meta</a:t>
                      </a: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: </a:t>
                      </a:r>
                      <a:r>
                        <a:rPr lang="es" sz="2100" b="1" u="none" strike="noStrike" cap="none">
                          <a:solidFill>
                            <a:srgbClr val="98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Consultas </a:t>
                      </a:r>
                      <a:r>
                        <a:rPr lang="es" sz="2100" b="1" u="none" strike="noStrike" cap="none" dirty="0">
                          <a:solidFill>
                            <a:srgbClr val="98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de especialidad</a:t>
                      </a:r>
                      <a:endParaRPr sz="2100" b="1" u="none" strike="noStrike" cap="none" dirty="0">
                        <a:solidFill>
                          <a:srgbClr val="98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31" name="TextBox 230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PUEBLA</a:t>
            </a:r>
          </a:p>
        </p:txBody>
      </p:sp>
      <p:sp>
        <p:nvSpPr>
          <p:cNvPr id="232" name="TextBox 231"/>
          <p:cNvSpPr txBox="1"/>
          <p:nvPr/>
        </p:nvSpPr>
        <p:spPr>
          <a:xfrm>
            <a:off x="147600" y="8884800"/>
            <a:ext cx="7473600" cy="399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Noto Sans"/>
              </a:defRPr>
            </a:pPr>
            <a:r>
              <a:t>Avance alcanzado respecto a la meta establecida para el mismo periodo.</a:t>
            </a:r>
            <a:br/>
            <a:r>
              <a:t>Corte de información: Semana: 9 febrero 2026</a:t>
            </a:r>
          </a:p>
        </p:txBody>
      </p:sp>
      <p:graphicFrame>
        <p:nvGraphicFramePr>
          <p:cNvPr id="233" name="Table 232"/>
          <p:cNvGraphicFramePr>
            <a:graphicFrameLocks noGrp="1"/>
          </p:cNvGraphicFramePr>
          <p:nvPr/>
        </p:nvGraphicFramePr>
        <p:xfrm>
          <a:off x="144000" y="1137600"/>
          <a:ext cx="7477200" cy="2275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33600"/>
                <a:gridCol w="968400"/>
                <a:gridCol w="968400"/>
                <a:gridCol w="968400"/>
                <a:gridCol w="968400"/>
                <a:gridCol w="968400"/>
                <a:gridCol w="1101600"/>
              </a:tblGrid>
              <a:tr h="2844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 medica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Consultorios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 Anual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Atenciones a la fecha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 a la fecha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Avance a mes actual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Avance anual</a:t>
                      </a:r>
                    </a:p>
                  </a:txBody>
                  <a:tcPr>
                    <a:solidFill>
                      <a:srgbClr val="980000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HGZ 20 La Margarita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190,530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14,618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30,798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HGZ 5 Metepec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52,560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3,561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8,024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44%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HGZ 35 Cuautlancingo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52,560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3,534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8,496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HGZ 15 Tehuacán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65,700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3,725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10,030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37%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HGZ 23 Teziutlán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52,560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2,113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6,018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HGS 10 Nuevo Necaxa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26,280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832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1,888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44%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SUBTOTAL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67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440,190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28,383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65,254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42%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6%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34" name="Table 233"/>
          <p:cNvGraphicFramePr>
            <a:graphicFrameLocks noGrp="1"/>
          </p:cNvGraphicFramePr>
          <p:nvPr/>
        </p:nvGraphicFramePr>
        <p:xfrm>
          <a:off x="144000" y="3729600"/>
          <a:ext cx="7477200" cy="142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33600"/>
                <a:gridCol w="968400"/>
                <a:gridCol w="968400"/>
                <a:gridCol w="968400"/>
                <a:gridCol w="968400"/>
                <a:gridCol w="968400"/>
                <a:gridCol w="1101600"/>
              </a:tblGrid>
              <a:tr h="2844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 medica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Consultorios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 Anual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Atenciones a la fecha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 a la fecha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Avance a mes actual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Avance anual</a:t>
                      </a:r>
                    </a:p>
                  </a:txBody>
                  <a:tcPr>
                    <a:solidFill>
                      <a:srgbClr val="980000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HTO CMN Puebla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78,840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6,989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15,522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HES CMN Puebla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47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308,790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49,914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SUBTOTAL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59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387,630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6,989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65,436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45%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9%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126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827,820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35,372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130,690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27%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4%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407164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228">
          <a:extLst>
            <a:ext uri="{FF2B5EF4-FFF2-40B4-BE49-F238E27FC236}">
              <a16:creationId xmlns:a16="http://schemas.microsoft.com/office/drawing/2014/main" id="{8FB27329-326A-81A1-AB7A-32DE7C6EEA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0" name="Google Shape;230;g370e87ffe7a_2_137">
            <a:extLst>
              <a:ext uri="{FF2B5EF4-FFF2-40B4-BE49-F238E27FC236}">
                <a16:creationId xmlns:a16="http://schemas.microsoft.com/office/drawing/2014/main" id="{AC3C5A3E-612D-5067-1D46-BCA5AE81D01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25408849"/>
              </p:ext>
            </p:extLst>
          </p:nvPr>
        </p:nvGraphicFramePr>
        <p:xfrm>
          <a:off x="143502" y="606889"/>
          <a:ext cx="74853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Meta: </a:t>
                      </a:r>
                      <a:r>
                        <a:rPr lang="es" sz="2100" b="1" u="none" strike="noStrike" cap="none" dirty="0">
                          <a:solidFill>
                            <a:srgbClr val="98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Resumen</a:t>
                      </a:r>
                      <a:endParaRPr sz="2100" b="1" u="none" strike="noStrike" cap="none" dirty="0">
                        <a:solidFill>
                          <a:srgbClr val="98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31" name="TextBox 230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PUEBLA</a:t>
            </a:r>
          </a:p>
        </p:txBody>
      </p:sp>
      <p:sp>
        <p:nvSpPr>
          <p:cNvPr id="232" name="TextBox 231"/>
          <p:cNvSpPr txBox="1"/>
          <p:nvPr/>
        </p:nvSpPr>
        <p:spPr>
          <a:xfrm>
            <a:off x="176400" y="8982000"/>
            <a:ext cx="5324400" cy="4284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Noto Sans"/>
              </a:defRPr>
            </a:pPr>
            <a:r>
              <a:t>Corte de información: semana 9, febrero 2026</a:t>
            </a:r>
          </a:p>
        </p:txBody>
      </p:sp>
      <p:sp>
        <p:nvSpPr>
          <p:cNvPr id="233" name="TextBox 232"/>
          <p:cNvSpPr txBox="1"/>
          <p:nvPr/>
        </p:nvSpPr>
        <p:spPr>
          <a:xfrm>
            <a:off x="147600" y="1238400"/>
            <a:ext cx="7473600" cy="38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C955C"/>
                </a:solidFill>
                <a:latin typeface="Montserrat"/>
              </a:defRPr>
            </a:pPr>
            <a:r>
              <a:t>OOAD</a:t>
            </a:r>
          </a:p>
        </p:txBody>
      </p:sp>
      <p:graphicFrame>
        <p:nvGraphicFramePr>
          <p:cNvPr id="234" name="Table 233"/>
          <p:cNvGraphicFramePr>
            <a:graphicFrameLocks noGrp="1"/>
          </p:cNvGraphicFramePr>
          <p:nvPr/>
        </p:nvGraphicFramePr>
        <p:xfrm>
          <a:off x="144000" y="1238400"/>
          <a:ext cx="7488000" cy="216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2000"/>
                <a:gridCol w="936000"/>
                <a:gridCol w="1144800"/>
                <a:gridCol w="1335600"/>
                <a:gridCol w="1263600"/>
                <a:gridCol w="936000"/>
              </a:tblGrid>
              <a:tr h="3600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Metas anuales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Productividad esperada a la fecha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Productividad a la fecha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de avance a la fecha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avance anual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3600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Consulta de 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2,944,080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511,796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323,164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00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Consulta de especialidad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440,190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65,254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28,383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43%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3600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Cirugías electivas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31,025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4,800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1,964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00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Cirugías electivas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41,975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5,742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1,900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33%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3600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Consulta de especialidad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387,630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65,436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6,989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35" name="Table 234"/>
          <p:cNvGraphicFramePr>
            <a:graphicFrameLocks noGrp="1"/>
          </p:cNvGraphicFramePr>
          <p:nvPr/>
        </p:nvGraphicFramePr>
        <p:xfrm>
          <a:off x="144000" y="4500000"/>
          <a:ext cx="7488000" cy="10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2000"/>
                <a:gridCol w="936000"/>
                <a:gridCol w="1144800"/>
                <a:gridCol w="1335600"/>
                <a:gridCol w="1263600"/>
                <a:gridCol w="936000"/>
              </a:tblGrid>
              <a:tr h="3600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Metas anuales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Productividad esperada a la fecha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Productividad a la fecha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de avance a la fecha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avance anual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3600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Cirugías electivas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31,025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4,800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1,964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00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Consulta de especialidad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387,630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65,436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6,989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</a:tbl>
          </a:graphicData>
        </a:graphic>
      </p:graphicFrame>
      <p:sp>
        <p:nvSpPr>
          <p:cNvPr id="236" name="TextBox 235"/>
          <p:cNvSpPr txBox="1"/>
          <p:nvPr/>
        </p:nvSpPr>
        <p:spPr>
          <a:xfrm>
            <a:off x="147600" y="4500000"/>
            <a:ext cx="7473600" cy="38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C955C"/>
                </a:solidFill>
                <a:latin typeface="Montserrat"/>
              </a:defRPr>
            </a:pPr>
            <a:r>
              <a:t>UMAE</a:t>
            </a:r>
          </a:p>
        </p:txBody>
      </p:sp>
    </p:spTree>
    <p:extLst>
      <p:ext uri="{BB962C8B-B14F-4D97-AF65-F5344CB8AC3E}">
        <p14:creationId xmlns:p14="http://schemas.microsoft.com/office/powerpoint/2010/main" val="74804491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228">
          <a:extLst>
            <a:ext uri="{FF2B5EF4-FFF2-40B4-BE49-F238E27FC236}">
              <a16:creationId xmlns:a16="http://schemas.microsoft.com/office/drawing/2014/main" id="{16BF8589-348A-1D14-4A2E-7CF6A1956E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0" name="Google Shape;230;g370e87ffe7a_2_137">
            <a:extLst>
              <a:ext uri="{FF2B5EF4-FFF2-40B4-BE49-F238E27FC236}">
                <a16:creationId xmlns:a16="http://schemas.microsoft.com/office/drawing/2014/main" id="{3C790683-245A-1FE6-35AC-FBB0C23942D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52461893"/>
              </p:ext>
            </p:extLst>
          </p:nvPr>
        </p:nvGraphicFramePr>
        <p:xfrm>
          <a:off x="143502" y="606889"/>
          <a:ext cx="74853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Tiempos de espera</a:t>
                      </a:r>
                      <a:endParaRPr sz="2100" b="1" u="none" strike="noStrike" cap="none" dirty="0">
                        <a:solidFill>
                          <a:srgbClr val="98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31" name="TextBox 230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PUEBLA</a:t>
            </a:r>
          </a:p>
        </p:txBody>
      </p:sp>
      <p:sp>
        <p:nvSpPr>
          <p:cNvPr id="232" name="TextBox 231"/>
          <p:cNvSpPr txBox="1"/>
          <p:nvPr/>
        </p:nvSpPr>
        <p:spPr>
          <a:xfrm>
            <a:off x="176400" y="8982000"/>
            <a:ext cx="5324400" cy="4284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Noto Sans"/>
              </a:defRPr>
            </a:pPr>
            <a:r>
              <a:t>Corte de información: semana 9, febrero 2026</a:t>
            </a:r>
          </a:p>
        </p:txBody>
      </p:sp>
      <p:graphicFrame>
        <p:nvGraphicFramePr>
          <p:cNvPr id="233" name="Table 232"/>
          <p:cNvGraphicFramePr>
            <a:graphicFrameLocks noGrp="1"/>
          </p:cNvGraphicFramePr>
          <p:nvPr/>
        </p:nvGraphicFramePr>
        <p:xfrm>
          <a:off x="1584000" y="1591200"/>
          <a:ext cx="5040000" cy="345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0000"/>
                <a:gridCol w="1440000"/>
              </a:tblGrid>
              <a:tr h="28800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 marL="14400" marR="14400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14400" marR="14400">
                    <a:solidFill>
                      <a:srgbClr val="006455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2,368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Traumatología y ortopedia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1,927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Oftalmología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906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Obstetricia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841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Ginecología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748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Urología  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381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Cirugía oncológica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352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Otorrinolaringología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232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Cirugía Plástica y Reconstructiva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Ortopedia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160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r">
                        <a:defRPr sz="1000" b="1">
                          <a:solidFill>
                            <a:srgbClr val="008C8C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CBE6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8C8C"/>
                          </a:solidFill>
                          <a:latin typeface="Montserrat"/>
                        </a:defRPr>
                      </a:pPr>
                      <a:r>
                        <a:t>8,095</a:t>
                      </a:r>
                    </a:p>
                  </a:txBody>
                  <a:tcPr>
                    <a:solidFill>
                      <a:srgbClr val="CBE6E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34" name="Table 233"/>
          <p:cNvGraphicFramePr>
            <a:graphicFrameLocks noGrp="1"/>
          </p:cNvGraphicFramePr>
          <p:nvPr/>
        </p:nvGraphicFramePr>
        <p:xfrm>
          <a:off x="1584000" y="6083999"/>
          <a:ext cx="5040000" cy="259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0000"/>
                <a:gridCol w="1440000"/>
              </a:tblGrid>
              <a:tr h="28800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Cirugía prioritaria</a:t>
                      </a:r>
                    </a:p>
                  </a:txBody>
                  <a:tcPr marL="14400" marR="14400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14400" marR="14400">
                    <a:solidFill>
                      <a:srgbClr val="006455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Catarata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Colecistectomías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529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Hernioplastías abdominales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333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Histerectomías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159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Sustitución de cadera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Mastectomías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70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Sustitución de rodilla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r">
                        <a:defRPr sz="1000" b="1">
                          <a:solidFill>
                            <a:srgbClr val="008C8C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CBE6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8C8C"/>
                          </a:solidFill>
                          <a:latin typeface="Montserrat"/>
                        </a:defRPr>
                      </a:pPr>
                      <a:r>
                        <a:t>1,889</a:t>
                      </a:r>
                    </a:p>
                  </a:txBody>
                  <a:tcPr>
                    <a:solidFill>
                      <a:srgbClr val="CBE6E1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056559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58" name="Google Shape;258;p8"/>
          <p:cNvGraphicFramePr/>
          <p:nvPr/>
        </p:nvGraphicFramePr>
        <p:xfrm>
          <a:off x="287700" y="789655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Vacantes</a:t>
                      </a:r>
                      <a:endParaRPr sz="21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259" name="Google Shape;259;p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10001" y="1426697"/>
            <a:ext cx="1165254" cy="1022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0" name="Google Shape;260;p8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61175" y="2436923"/>
            <a:ext cx="1354900" cy="1188979"/>
          </a:xfrm>
          <a:prstGeom prst="rect">
            <a:avLst/>
          </a:prstGeom>
          <a:noFill/>
          <a:ln>
            <a:noFill/>
          </a:ln>
        </p:spPr>
      </p:pic>
      <p:pic>
        <p:nvPicPr>
          <p:cNvPr id="261" name="Google Shape;261;p8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187225" y="1281647"/>
            <a:ext cx="1354900" cy="1188953"/>
          </a:xfrm>
          <a:prstGeom prst="rect">
            <a:avLst/>
          </a:prstGeom>
          <a:noFill/>
          <a:ln>
            <a:noFill/>
          </a:ln>
        </p:spPr>
      </p:pic>
      <p:pic>
        <p:nvPicPr>
          <p:cNvPr id="262" name="Google Shape;262;p8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61175" y="3532848"/>
            <a:ext cx="1354900" cy="1188979"/>
          </a:xfrm>
          <a:prstGeom prst="rect">
            <a:avLst/>
          </a:prstGeom>
          <a:noFill/>
          <a:ln>
            <a:noFill/>
          </a:ln>
        </p:spPr>
      </p:pic>
      <p:pic>
        <p:nvPicPr>
          <p:cNvPr id="263" name="Google Shape;263;p8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187225" y="2501823"/>
            <a:ext cx="1254675" cy="1101024"/>
          </a:xfrm>
          <a:prstGeom prst="rect">
            <a:avLst/>
          </a:prstGeom>
          <a:noFill/>
          <a:ln>
            <a:noFill/>
          </a:ln>
        </p:spPr>
      </p:pic>
      <p:pic>
        <p:nvPicPr>
          <p:cNvPr id="264" name="Google Shape;264;p8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4237349" y="3569623"/>
            <a:ext cx="1165250" cy="1022551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95" name="Google Shape;295;p8"/>
          <p:cNvGraphicFramePr/>
          <p:nvPr/>
        </p:nvGraphicFramePr>
        <p:xfrm>
          <a:off x="287700" y="5080408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Egreso de residentes</a:t>
                      </a:r>
                      <a:endParaRPr sz="21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96" name="TextBox 295"/>
          <p:cNvSpPr txBox="1"/>
          <p:nvPr/>
        </p:nvSpPr>
        <p:spPr>
          <a:xfrm>
            <a:off x="0" y="27432"/>
            <a:ext cx="7772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PUEBLA</a:t>
            </a:r>
          </a:p>
        </p:txBody>
      </p:sp>
      <p:sp>
        <p:nvSpPr>
          <p:cNvPr id="297" name="TextBox 296"/>
          <p:cNvSpPr txBox="1"/>
          <p:nvPr/>
        </p:nvSpPr>
        <p:spPr>
          <a:xfrm>
            <a:off x="137160" y="722376"/>
            <a:ext cx="7470648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4975A"/>
                </a:solidFill>
                <a:latin typeface="Montserrat"/>
              </a:defRPr>
            </a:pPr>
            <a:r>
              <a:t>Personal Total: 10,561	 Personal de Salud: 17,501</a:t>
            </a:r>
          </a:p>
        </p:txBody>
      </p:sp>
      <p:cxnSp>
        <p:nvCxnSpPr>
          <p:cNvPr id="298" name="Connector 297"/>
          <p:cNvCxnSpPr/>
          <p:nvPr/>
        </p:nvCxnSpPr>
        <p:spPr>
          <a:xfrm>
            <a:off x="137160" y="1106424"/>
            <a:ext cx="7470648" cy="0"/>
          </a:xfrm>
          <a:prstGeom prst="line">
            <a:avLst/>
          </a:prstGeom>
          <a:ln w="18288">
            <a:solidFill>
              <a:srgbClr val="B497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9" name="Rounded Rectangle 298"/>
          <p:cNvSpPr/>
          <p:nvPr/>
        </p:nvSpPr>
        <p:spPr>
          <a:xfrm>
            <a:off x="1517904" y="1389888"/>
            <a:ext cx="1984248" cy="1033271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" name="Rounded Rectangle 299"/>
          <p:cNvSpPr/>
          <p:nvPr/>
        </p:nvSpPr>
        <p:spPr>
          <a:xfrm>
            <a:off x="1517904" y="1389888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Médicos Generales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+113.0%</a:t>
            </a:r>
          </a:p>
        </p:txBody>
      </p:sp>
      <p:graphicFrame>
        <p:nvGraphicFramePr>
          <p:cNvPr id="301" name="Table 300"/>
          <p:cNvGraphicFramePr>
            <a:graphicFrameLocks noGrp="1"/>
          </p:cNvGraphicFramePr>
          <p:nvPr/>
        </p:nvGraphicFramePr>
        <p:xfrm>
          <a:off x="1517904" y="1915668"/>
          <a:ext cx="1984248" cy="5074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/>
                <a:gridCol w="992124"/>
              </a:tblGrid>
              <a:tr h="253745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</a:tr>
              <a:tr h="253746"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54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115</a:t>
                      </a:r>
                    </a:p>
                  </a:txBody>
                  <a:tcPr marL="0" marR="0" marT="0" marB="0">
                    <a:noFill/>
                  </a:tcPr>
                </a:tc>
              </a:tr>
            </a:tbl>
          </a:graphicData>
        </a:graphic>
      </p:graphicFrame>
      <p:sp>
        <p:nvSpPr>
          <p:cNvPr id="302" name="Rounded Rectangle 301"/>
          <p:cNvSpPr/>
          <p:nvPr/>
        </p:nvSpPr>
        <p:spPr>
          <a:xfrm>
            <a:off x="5495544" y="1389888"/>
            <a:ext cx="1984248" cy="1042415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3" name="Rounded Rectangle 302"/>
          <p:cNvSpPr/>
          <p:nvPr/>
        </p:nvSpPr>
        <p:spPr>
          <a:xfrm>
            <a:off x="5495544" y="1389888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Médicos Especialistas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+34.8%</a:t>
            </a:r>
          </a:p>
        </p:txBody>
      </p:sp>
      <p:graphicFrame>
        <p:nvGraphicFramePr>
          <p:cNvPr id="304" name="Table 303"/>
          <p:cNvGraphicFramePr>
            <a:graphicFrameLocks noGrp="1"/>
          </p:cNvGraphicFramePr>
          <p:nvPr/>
        </p:nvGraphicFramePr>
        <p:xfrm>
          <a:off x="5495544" y="1915668"/>
          <a:ext cx="1984248" cy="5166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/>
                <a:gridCol w="992124"/>
              </a:tblGrid>
              <a:tr h="258317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</a:tr>
              <a:tr h="258318"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1,703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2,296</a:t>
                      </a:r>
                    </a:p>
                  </a:txBody>
                  <a:tcPr marL="0" marR="0" marT="0" marB="0">
                    <a:noFill/>
                  </a:tcPr>
                </a:tc>
              </a:tr>
            </a:tbl>
          </a:graphicData>
        </a:graphic>
      </p:graphicFrame>
      <p:sp>
        <p:nvSpPr>
          <p:cNvPr id="305" name="Rounded Rectangle 304"/>
          <p:cNvSpPr/>
          <p:nvPr/>
        </p:nvSpPr>
        <p:spPr>
          <a:xfrm>
            <a:off x="1517904" y="2532888"/>
            <a:ext cx="1984248" cy="1060704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6" name="Rounded Rectangle 305"/>
          <p:cNvSpPr/>
          <p:nvPr/>
        </p:nvSpPr>
        <p:spPr>
          <a:xfrm>
            <a:off x="1517904" y="2532888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Enfermeras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+5.4%</a:t>
            </a:r>
          </a:p>
        </p:txBody>
      </p:sp>
      <p:graphicFrame>
        <p:nvGraphicFramePr>
          <p:cNvPr id="307" name="Table 306"/>
          <p:cNvGraphicFramePr>
            <a:graphicFrameLocks noGrp="1"/>
          </p:cNvGraphicFramePr>
          <p:nvPr/>
        </p:nvGraphicFramePr>
        <p:xfrm>
          <a:off x="1517904" y="3058668"/>
          <a:ext cx="1984248" cy="5349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/>
                <a:gridCol w="992124"/>
              </a:tblGrid>
              <a:tr h="267462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</a:tr>
              <a:tr h="267462"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3,444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3,629</a:t>
                      </a:r>
                    </a:p>
                  </a:txBody>
                  <a:tcPr marL="0" marR="0" marT="0" marB="0">
                    <a:noFill/>
                  </a:tcPr>
                </a:tc>
              </a:tr>
            </a:tbl>
          </a:graphicData>
        </a:graphic>
      </p:graphicFrame>
      <p:sp>
        <p:nvSpPr>
          <p:cNvPr id="308" name="Rounded Rectangle 307"/>
          <p:cNvSpPr/>
          <p:nvPr/>
        </p:nvSpPr>
        <p:spPr>
          <a:xfrm>
            <a:off x="5495544" y="2532888"/>
            <a:ext cx="1984248" cy="1060704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9" name="Rounded Rectangle 308"/>
          <p:cNvSpPr/>
          <p:nvPr/>
        </p:nvSpPr>
        <p:spPr>
          <a:xfrm>
            <a:off x="5495544" y="2532888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Paramédicos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+15.7%</a:t>
            </a:r>
          </a:p>
        </p:txBody>
      </p:sp>
      <p:graphicFrame>
        <p:nvGraphicFramePr>
          <p:cNvPr id="310" name="Table 309"/>
          <p:cNvGraphicFramePr>
            <a:graphicFrameLocks noGrp="1"/>
          </p:cNvGraphicFramePr>
          <p:nvPr/>
        </p:nvGraphicFramePr>
        <p:xfrm>
          <a:off x="5495544" y="3058668"/>
          <a:ext cx="1984248" cy="5349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/>
                <a:gridCol w="992124"/>
              </a:tblGrid>
              <a:tr h="267462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</a:tr>
              <a:tr h="267462"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2,258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2,613</a:t>
                      </a:r>
                    </a:p>
                  </a:txBody>
                  <a:tcPr marL="0" marR="0" marT="0" marB="0">
                    <a:noFill/>
                  </a:tcPr>
                </a:tc>
              </a:tr>
            </a:tbl>
          </a:graphicData>
        </a:graphic>
      </p:graphicFrame>
      <p:sp>
        <p:nvSpPr>
          <p:cNvPr id="311" name="Rounded Rectangle 310"/>
          <p:cNvSpPr/>
          <p:nvPr/>
        </p:nvSpPr>
        <p:spPr>
          <a:xfrm>
            <a:off x="1517904" y="3694176"/>
            <a:ext cx="1984248" cy="1033271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2" name="Rounded Rectangle 311"/>
          <p:cNvSpPr/>
          <p:nvPr/>
        </p:nvSpPr>
        <p:spPr>
          <a:xfrm>
            <a:off x="1517904" y="3694176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Residentes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+161.1%</a:t>
            </a:r>
          </a:p>
        </p:txBody>
      </p:sp>
      <p:graphicFrame>
        <p:nvGraphicFramePr>
          <p:cNvPr id="313" name="Table 312"/>
          <p:cNvGraphicFramePr>
            <a:graphicFrameLocks noGrp="1"/>
          </p:cNvGraphicFramePr>
          <p:nvPr/>
        </p:nvGraphicFramePr>
        <p:xfrm>
          <a:off x="1517904" y="4219956"/>
          <a:ext cx="1984248" cy="5074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/>
                <a:gridCol w="992124"/>
              </a:tblGrid>
              <a:tr h="253745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</a:tr>
              <a:tr h="253746"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540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1,410</a:t>
                      </a:r>
                    </a:p>
                  </a:txBody>
                  <a:tcPr marL="0" marR="0" marT="0" marB="0">
                    <a:noFill/>
                  </a:tcPr>
                </a:tc>
              </a:tr>
            </a:tbl>
          </a:graphicData>
        </a:graphic>
      </p:graphicFrame>
      <p:sp>
        <p:nvSpPr>
          <p:cNvPr id="314" name="Rounded Rectangle 313"/>
          <p:cNvSpPr/>
          <p:nvPr/>
        </p:nvSpPr>
        <p:spPr>
          <a:xfrm>
            <a:off x="5495544" y="3694176"/>
            <a:ext cx="1984248" cy="1033271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5" name="Rounded Rectangle 314"/>
          <p:cNvSpPr/>
          <p:nvPr/>
        </p:nvSpPr>
        <p:spPr>
          <a:xfrm>
            <a:off x="5495544" y="3694176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Técnicos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-16.7%</a:t>
            </a:r>
          </a:p>
        </p:txBody>
      </p:sp>
      <p:graphicFrame>
        <p:nvGraphicFramePr>
          <p:cNvPr id="316" name="Table 315"/>
          <p:cNvGraphicFramePr>
            <a:graphicFrameLocks noGrp="1"/>
          </p:cNvGraphicFramePr>
          <p:nvPr/>
        </p:nvGraphicFramePr>
        <p:xfrm>
          <a:off x="5495544" y="4219956"/>
          <a:ext cx="1984248" cy="5074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/>
                <a:gridCol w="992124"/>
              </a:tblGrid>
              <a:tr h="253745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</a:tr>
              <a:tr h="253746"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598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498</a:t>
                      </a:r>
                    </a:p>
                  </a:txBody>
                  <a:tcPr marL="0" marR="0" marT="0" marB="0">
                    <a:noFill/>
                  </a:tcPr>
                </a:tc>
              </a:tr>
            </a:tbl>
          </a:graphicData>
        </a:graphic>
      </p:graphicFrame>
      <p:graphicFrame>
        <p:nvGraphicFramePr>
          <p:cNvPr id="317" name="Table 316"/>
          <p:cNvGraphicFramePr>
            <a:graphicFrameLocks noGrp="1"/>
          </p:cNvGraphicFramePr>
          <p:nvPr/>
        </p:nvGraphicFramePr>
        <p:xfrm>
          <a:off x="4837176" y="5513832"/>
          <a:ext cx="2843784" cy="1097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877824"/>
              </a:tblGrid>
              <a:tr h="18288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2025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Cantidad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 marL="36576" marR="36576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120</a:t>
                      </a:r>
                    </a:p>
                  </a:txBody>
                  <a:tcPr marL="36576" marR="36576" marT="36576" marB="36576">
                    <a:solidFill>
                      <a:srgbClr val="FFFFF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 marL="36576" marR="36576" marT="36576" marB="36576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59</a:t>
                      </a:r>
                    </a:p>
                  </a:txBody>
                  <a:tcPr marL="36576" marR="36576" marT="36576" marB="36576">
                    <a:solidFill>
                      <a:srgbClr val="EFEFE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 marL="36576" marR="36576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46</a:t>
                      </a:r>
                    </a:p>
                  </a:txBody>
                  <a:tcPr marL="36576" marR="36576" marT="36576" marB="36576">
                    <a:solidFill>
                      <a:srgbClr val="FFFFF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 marL="36576" marR="36576" marT="36576" marB="36576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30</a:t>
                      </a:r>
                    </a:p>
                  </a:txBody>
                  <a:tcPr marL="36576" marR="36576" marT="36576" marB="36576">
                    <a:solidFill>
                      <a:srgbClr val="EFEFE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 marL="36576" marR="36576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26</a:t>
                      </a:r>
                    </a:p>
                  </a:txBody>
                  <a:tcPr marL="36576" marR="36576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18" name="Table 317"/>
          <p:cNvGraphicFramePr>
            <a:graphicFrameLocks noGrp="1"/>
          </p:cNvGraphicFramePr>
          <p:nvPr/>
        </p:nvGraphicFramePr>
        <p:xfrm>
          <a:off x="4837176" y="6848856"/>
          <a:ext cx="2843784" cy="1097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877824"/>
              </a:tblGrid>
              <a:tr h="18288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Cantidad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 marL="36576" marR="36576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89</a:t>
                      </a:r>
                    </a:p>
                  </a:txBody>
                  <a:tcPr marL="36576" marR="36576" marT="36576" marB="36576">
                    <a:solidFill>
                      <a:srgbClr val="FFFFF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 marL="36576" marR="36576" marT="36576" marB="36576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62</a:t>
                      </a:r>
                    </a:p>
                  </a:txBody>
                  <a:tcPr marL="36576" marR="36576" marT="36576" marB="36576">
                    <a:solidFill>
                      <a:srgbClr val="EFEFE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 marL="36576" marR="36576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48</a:t>
                      </a:r>
                    </a:p>
                  </a:txBody>
                  <a:tcPr marL="36576" marR="36576" marT="36576" marB="36576">
                    <a:solidFill>
                      <a:srgbClr val="FFFFF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 marL="36576" marR="36576" marT="36576" marB="36576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36</a:t>
                      </a:r>
                    </a:p>
                  </a:txBody>
                  <a:tcPr marL="36576" marR="36576" marT="36576" marB="36576">
                    <a:solidFill>
                      <a:srgbClr val="EFEFE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Imagenología Diagnóstica y Terapéutica</a:t>
                      </a:r>
                    </a:p>
                  </a:txBody>
                  <a:tcPr marL="36576" marR="36576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27</a:t>
                      </a:r>
                    </a:p>
                  </a:txBody>
                  <a:tcPr marL="36576" marR="36576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19" name="Table 318"/>
          <p:cNvGraphicFramePr>
            <a:graphicFrameLocks noGrp="1"/>
          </p:cNvGraphicFramePr>
          <p:nvPr/>
        </p:nvGraphicFramePr>
        <p:xfrm>
          <a:off x="384048" y="8313724"/>
          <a:ext cx="5266944" cy="9144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3218688"/>
                <a:gridCol w="2048256"/>
              </a:tblGrid>
              <a:tr h="18288">
                <a:tc>
                  <a:txBody>
                    <a:bodyPr/>
                    <a:lstStyle/>
                    <a:p>
                      <a:pPr algn="l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Personal médico</a:t>
                      </a:r>
                    </a:p>
                  </a:txBody>
                  <a:tcPr anchor="ctr"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179</a:t>
                      </a:r>
                    </a:p>
                  </a:txBody>
                  <a:tcPr anchor="ctr" marL="36576" marR="36576" marT="36576" marB="36576">
                    <a:solidFill>
                      <a:srgbClr val="EFEFE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Personal de Enfermería</a:t>
                      </a:r>
                    </a:p>
                  </a:txBody>
                  <a:tcPr anchor="ctr"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300</a:t>
                      </a:r>
                    </a:p>
                  </a:txBody>
                  <a:tcPr anchor="ctr" marL="36576" marR="36576" marT="36576" marB="36576">
                    <a:solidFill>
                      <a:srgbClr val="FFFFF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Personal administrativos y básico</a:t>
                      </a:r>
                    </a:p>
                  </a:txBody>
                  <a:tcPr anchor="ctr"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582</a:t>
                      </a:r>
                    </a:p>
                  </a:txBody>
                  <a:tcPr anchor="ctr" marL="36576" marR="36576" marT="36576" marB="36576">
                    <a:solidFill>
                      <a:srgbClr val="EFEFE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Personal paramédico y técnico</a:t>
                      </a:r>
                    </a:p>
                  </a:txBody>
                  <a:tcPr anchor="ctr"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249</a:t>
                      </a:r>
                    </a:p>
                  </a:txBody>
                  <a:tcPr anchor="ctr" marL="36576" marR="36576" marT="36576" marB="36576">
                    <a:solidFill>
                      <a:srgbClr val="FFFFF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b="1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 marL="36576" marR="36576" marT="36576" marB="36576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1,310</a:t>
                      </a:r>
                    </a:p>
                  </a:txBody>
                  <a:tcPr anchor="ctr" marL="36576" marR="36576" marT="36576" marB="36576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20" name="Chart 319"/>
          <p:cNvGraphicFramePr>
            <a:graphicFrameLocks noGrp="1"/>
          </p:cNvGraphicFramePr>
          <p:nvPr/>
        </p:nvGraphicFramePr>
        <p:xfrm>
          <a:off x="320040" y="5404104"/>
          <a:ext cx="3438144" cy="2066543"/>
        </p:xfrm>
        <a:graphic>
          <a:graphicData uri="http://schemas.openxmlformats.org/drawingml/2006/chart">
            <c:chart xmlns:c="http://schemas.openxmlformats.org/drawingml/2006/chart" r:id="rId10"/>
          </a:graphicData>
        </a:graphic>
      </p:graphicFrame>
      <p:sp>
        <p:nvSpPr>
          <p:cNvPr id="321" name="TextBox 320"/>
          <p:cNvSpPr txBox="1"/>
          <p:nvPr/>
        </p:nvSpPr>
        <p:spPr>
          <a:xfrm>
            <a:off x="324000" y="4888800"/>
            <a:ext cx="7286399" cy="3312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900">
                <a:solidFill>
                  <a:srgbClr val="000000"/>
                </a:solidFill>
                <a:latin typeface="Noto Sans"/>
              </a:defRPr>
            </a:pPr>
            <a:r>
              <a:t>Fuente: Dirección de Administración. Base SIAP comparativa del diciembre 2018 con el febrero 2026.</a:t>
            </a:r>
          </a:p>
        </p:txBody>
      </p:sp>
      <p:sp>
        <p:nvSpPr>
          <p:cNvPr id="322" name="TextBox 321"/>
          <p:cNvSpPr txBox="1"/>
          <p:nvPr/>
        </p:nvSpPr>
        <p:spPr>
          <a:xfrm>
            <a:off x="162000" y="7405200"/>
            <a:ext cx="4370400" cy="594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Noto Sans"/>
              </a:defRPr>
            </a:pPr>
            <a:r>
              <a:t>Se muestra el total de egresos en la entidad y sólo las cinco especialidades con mayor egresos de cada año. Corte de información febrero 2026. Fuente: Dirección de Prestaciones Médicas.</a:t>
            </a:r>
          </a:p>
        </p:txBody>
      </p:sp>
      <p:sp>
        <p:nvSpPr>
          <p:cNvPr id="323" name="TextBox 322"/>
          <p:cNvSpPr txBox="1"/>
          <p:nvPr/>
        </p:nvSpPr>
        <p:spPr>
          <a:xfrm>
            <a:off x="5716800" y="8553600"/>
            <a:ext cx="2048400" cy="5544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Noto Sans"/>
              </a:defRPr>
            </a:pPr>
            <a:r>
              <a:t>Fuente: Sistema de Información Operativa. Personal de base. Corte de información: enero 2026.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9"/>
          <p:cNvSpPr txBox="1"/>
          <p:nvPr/>
        </p:nvSpPr>
        <p:spPr>
          <a:xfrm>
            <a:off x="2151325" y="8689650"/>
            <a:ext cx="3428100" cy="75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lang="es" sz="2000" b="1" i="0" u="none" strike="noStrike" cap="none" dirty="0">
              <a:solidFill>
                <a:srgbClr val="98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lang="es" sz="1100" b="1" i="0" u="none" strike="noStrike" cap="none" dirty="0">
              <a:solidFill>
                <a:srgbClr val="98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" sz="2000" b="1" i="0" u="none" strike="noStrike" cap="none" dirty="0">
                <a:solidFill>
                  <a:srgbClr val="980000"/>
                </a:solidFill>
                <a:latin typeface="Montserrat"/>
                <a:ea typeface="Montserrat"/>
                <a:cs typeface="Montserrat"/>
                <a:sym typeface="Montserrat"/>
              </a:rPr>
              <a:t>consultas diarias</a:t>
            </a:r>
            <a:endParaRPr sz="2000" b="0" i="0" u="none" strike="noStrike" cap="none" dirty="0">
              <a:solidFill>
                <a:srgbClr val="98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aphicFrame>
        <p:nvGraphicFramePr>
          <p:cNvPr id="311" name="Google Shape;311;p9"/>
          <p:cNvGraphicFramePr/>
          <p:nvPr>
            <p:extLst>
              <p:ext uri="{D42A27DB-BD31-4B8C-83A1-F6EECF244321}">
                <p14:modId xmlns:p14="http://schemas.microsoft.com/office/powerpoint/2010/main" val="2077789532"/>
              </p:ext>
            </p:extLst>
          </p:nvPr>
        </p:nvGraphicFramePr>
        <p:xfrm>
          <a:off x="218088" y="6048653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Día típico</a:t>
                      </a:r>
                      <a:endParaRPr sz="2100" b="1" u="none" strike="noStrike" cap="none" dirty="0">
                        <a:solidFill>
                          <a:srgbClr val="BC955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12" name="Google Shape;312;p9"/>
          <p:cNvSpPr txBox="1"/>
          <p:nvPr/>
        </p:nvSpPr>
        <p:spPr>
          <a:xfrm>
            <a:off x="0" y="1776125"/>
            <a:ext cx="7772400" cy="55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236"/>
              </a:buClr>
              <a:buSzPts val="3100"/>
              <a:buFont typeface="Montserrat"/>
              <a:buNone/>
            </a:pPr>
            <a:r>
              <a:rPr lang="es" sz="2000" b="0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ESTADO DE MÉXICO</a:t>
            </a:r>
            <a:endParaRPr sz="2000" b="0" i="0" u="none" strike="noStrike" cap="non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13" name="Google Shape;313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947656" y="6546918"/>
            <a:ext cx="911525" cy="799891"/>
          </a:xfrm>
          <a:prstGeom prst="rect">
            <a:avLst/>
          </a:prstGeom>
          <a:noFill/>
          <a:ln>
            <a:noFill/>
          </a:ln>
        </p:spPr>
      </p:pic>
      <p:sp>
        <p:nvSpPr>
          <p:cNvPr id="314" name="Google Shape;314;p9"/>
          <p:cNvSpPr txBox="1"/>
          <p:nvPr/>
        </p:nvSpPr>
        <p:spPr>
          <a:xfrm>
            <a:off x="4850850" y="6852664"/>
            <a:ext cx="870900" cy="18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cirugías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16" name="Google Shape;316;p9"/>
          <p:cNvSpPr txBox="1"/>
          <p:nvPr/>
        </p:nvSpPr>
        <p:spPr>
          <a:xfrm>
            <a:off x="3936446" y="7861911"/>
            <a:ext cx="1083300" cy="2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" tIns="18000" rIns="18000" bIns="180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consultas </a:t>
            </a:r>
            <a:b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de Urgencias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17" name="Google Shape;317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033252" y="7615925"/>
            <a:ext cx="911524" cy="758100"/>
          </a:xfrm>
          <a:prstGeom prst="rect">
            <a:avLst/>
          </a:prstGeom>
          <a:noFill/>
          <a:ln>
            <a:noFill/>
          </a:ln>
        </p:spPr>
      </p:pic>
      <p:sp>
        <p:nvSpPr>
          <p:cNvPr id="319" name="Google Shape;319;p9"/>
          <p:cNvSpPr txBox="1"/>
          <p:nvPr/>
        </p:nvSpPr>
        <p:spPr>
          <a:xfrm>
            <a:off x="6651731" y="6845014"/>
            <a:ext cx="870300" cy="20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egresos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20" name="Google Shape;320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1651" y="6546918"/>
            <a:ext cx="911525" cy="799891"/>
          </a:xfrm>
          <a:prstGeom prst="rect">
            <a:avLst/>
          </a:prstGeom>
          <a:noFill/>
          <a:ln>
            <a:noFill/>
          </a:ln>
        </p:spPr>
      </p:pic>
      <p:sp>
        <p:nvSpPr>
          <p:cNvPr id="322" name="Google Shape;322;p9"/>
          <p:cNvSpPr txBox="1"/>
          <p:nvPr/>
        </p:nvSpPr>
        <p:spPr>
          <a:xfrm>
            <a:off x="1096893" y="6679864"/>
            <a:ext cx="10626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consultas </a:t>
            </a:r>
            <a:b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de Medicina Familiar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23" name="Google Shape;323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50377" y="6546918"/>
            <a:ext cx="911525" cy="799891"/>
          </a:xfrm>
          <a:prstGeom prst="rect">
            <a:avLst/>
          </a:prstGeom>
          <a:noFill/>
          <a:ln>
            <a:noFill/>
          </a:ln>
        </p:spPr>
      </p:pic>
      <p:sp>
        <p:nvSpPr>
          <p:cNvPr id="325" name="Google Shape;325;p9"/>
          <p:cNvSpPr txBox="1"/>
          <p:nvPr/>
        </p:nvSpPr>
        <p:spPr>
          <a:xfrm>
            <a:off x="5737325" y="7930718"/>
            <a:ext cx="870300" cy="1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partos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26" name="Google Shape;326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897246" y="7615925"/>
            <a:ext cx="911524" cy="758100"/>
          </a:xfrm>
          <a:prstGeom prst="rect">
            <a:avLst/>
          </a:prstGeom>
          <a:noFill/>
          <a:ln>
            <a:noFill/>
          </a:ln>
        </p:spPr>
      </p:pic>
      <p:sp>
        <p:nvSpPr>
          <p:cNvPr id="328" name="Google Shape;328;p9"/>
          <p:cNvSpPr txBox="1"/>
          <p:nvPr/>
        </p:nvSpPr>
        <p:spPr>
          <a:xfrm>
            <a:off x="2011304" y="7802771"/>
            <a:ext cx="1062600" cy="38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consultas de Especialidad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29" name="Google Shape;329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64775" y="7615925"/>
            <a:ext cx="911524" cy="758100"/>
          </a:xfrm>
          <a:prstGeom prst="rect">
            <a:avLst/>
          </a:prstGeom>
          <a:noFill/>
          <a:ln>
            <a:noFill/>
          </a:ln>
        </p:spPr>
      </p:pic>
      <p:sp>
        <p:nvSpPr>
          <p:cNvPr id="331" name="Google Shape;331;p9"/>
          <p:cNvSpPr txBox="1"/>
          <p:nvPr/>
        </p:nvSpPr>
        <p:spPr>
          <a:xfrm>
            <a:off x="2955330" y="6845014"/>
            <a:ext cx="870300" cy="20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consultas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dentales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32" name="Google Shape;332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108733" y="6546918"/>
            <a:ext cx="911525" cy="799891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334" name="Google Shape;334;p9"/>
          <p:cNvGraphicFramePr/>
          <p:nvPr/>
        </p:nvGraphicFramePr>
        <p:xfrm>
          <a:off x="145197" y="816031"/>
          <a:ext cx="7485350" cy="64008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Principales motivos de consulta, egresos, defunciones y cirugías</a:t>
                      </a:r>
                      <a:endParaRPr sz="2100" b="1" u="none" strike="noStrike" cap="none">
                        <a:solidFill>
                          <a:srgbClr val="BC955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35" name="TextBox 334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PUEBLA</a:t>
            </a:r>
          </a:p>
        </p:txBody>
      </p:sp>
      <p:sp>
        <p:nvSpPr>
          <p:cNvPr id="336" name="TextBox 335"/>
          <p:cNvSpPr txBox="1"/>
          <p:nvPr/>
        </p:nvSpPr>
        <p:spPr>
          <a:xfrm>
            <a:off x="324000" y="6825600"/>
            <a:ext cx="763200" cy="241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12,654</a:t>
            </a:r>
          </a:p>
        </p:txBody>
      </p:sp>
      <p:sp>
        <p:nvSpPr>
          <p:cNvPr id="337" name="TextBox 336"/>
          <p:cNvSpPr txBox="1"/>
          <p:nvPr/>
        </p:nvSpPr>
        <p:spPr>
          <a:xfrm>
            <a:off x="2224800" y="6825600"/>
            <a:ext cx="676800" cy="241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763</a:t>
            </a:r>
          </a:p>
        </p:txBody>
      </p:sp>
      <p:sp>
        <p:nvSpPr>
          <p:cNvPr id="338" name="TextBox 337"/>
          <p:cNvSpPr txBox="1"/>
          <p:nvPr/>
        </p:nvSpPr>
        <p:spPr>
          <a:xfrm>
            <a:off x="4064399" y="6825600"/>
            <a:ext cx="676800" cy="241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123</a:t>
            </a:r>
          </a:p>
        </p:txBody>
      </p:sp>
      <p:sp>
        <p:nvSpPr>
          <p:cNvPr id="339" name="TextBox 338"/>
          <p:cNvSpPr txBox="1"/>
          <p:nvPr/>
        </p:nvSpPr>
        <p:spPr>
          <a:xfrm>
            <a:off x="5929200" y="6825600"/>
            <a:ext cx="676800" cy="241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201</a:t>
            </a:r>
          </a:p>
        </p:txBody>
      </p:sp>
      <p:sp>
        <p:nvSpPr>
          <p:cNvPr id="340" name="TextBox 339"/>
          <p:cNvSpPr txBox="1"/>
          <p:nvPr/>
        </p:nvSpPr>
        <p:spPr>
          <a:xfrm>
            <a:off x="1242000" y="7880400"/>
            <a:ext cx="763200" cy="226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3,180</a:t>
            </a:r>
          </a:p>
        </p:txBody>
      </p:sp>
      <p:sp>
        <p:nvSpPr>
          <p:cNvPr id="341" name="TextBox 340"/>
          <p:cNvSpPr txBox="1"/>
          <p:nvPr/>
        </p:nvSpPr>
        <p:spPr>
          <a:xfrm>
            <a:off x="3114000" y="7880400"/>
            <a:ext cx="752400" cy="241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1,326</a:t>
            </a:r>
          </a:p>
        </p:txBody>
      </p:sp>
      <p:sp>
        <p:nvSpPr>
          <p:cNvPr id="342" name="TextBox 341"/>
          <p:cNvSpPr txBox="1"/>
          <p:nvPr/>
        </p:nvSpPr>
        <p:spPr>
          <a:xfrm>
            <a:off x="5014800" y="7880400"/>
            <a:ext cx="676800" cy="226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16</a:t>
            </a:r>
          </a:p>
        </p:txBody>
      </p:sp>
      <p:sp>
        <p:nvSpPr>
          <p:cNvPr id="343" name="TextBox 342"/>
          <p:cNvSpPr txBox="1"/>
          <p:nvPr/>
        </p:nvSpPr>
        <p:spPr>
          <a:xfrm>
            <a:off x="2152800" y="8690400"/>
            <a:ext cx="3427200" cy="385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980000"/>
                </a:solidFill>
                <a:latin typeface="Montserrat"/>
              </a:defRPr>
            </a:pPr>
            <a:r>
              <a:t>17,923</a:t>
            </a:r>
          </a:p>
        </p:txBody>
      </p:sp>
      <p:graphicFrame>
        <p:nvGraphicFramePr>
          <p:cNvPr id="344" name="Table 343"/>
          <p:cNvGraphicFramePr>
            <a:graphicFrameLocks noGrp="1"/>
          </p:cNvGraphicFramePr>
          <p:nvPr/>
        </p:nvGraphicFramePr>
        <p:xfrm>
          <a:off x="219600" y="1548000"/>
          <a:ext cx="7567200" cy="293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72400"/>
                <a:gridCol w="1468800"/>
                <a:gridCol w="1479600"/>
                <a:gridCol w="1602000"/>
                <a:gridCol w="1544400"/>
              </a:tblGrid>
              <a:tr h="4896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Especialidades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Cirugías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Egresos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Defunciones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4896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Diabetes mellitus   (652,542)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Tumores malignos   (70,780)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Cesárea   (6,691)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Embarazo, parto y puerperio   (9,604)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Enfermedades del corazón  (561)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96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Enfermedades del corazón   (513,677)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Traumatismos e intoxicaciones   (67,929)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Traumatismos y envenenamientos   (6,279)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Tumores malignos   (8,712)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Tumores malignos  (539)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4896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Infecciones respiratorias agudas   (149,867)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Insuficiencia renal   (44,993)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Cirugía de Hernias (Hernioplastía)   (3,484)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Traumatismos e intoxicaciones   (7,333)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Diabetes mellitus  (364)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96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traumatismos e intoxicaciones   (127,428)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Enfermedades y trastornos de las articulaciones   (35,001)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Tumores malignos   (2,569)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Insuficiencia renal   (3,995)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Neumonía e influenza  (363)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4896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Embarazo, parto y puerperio   (86,141)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Problemas y enfermedades de la columna vertebral   (26,986)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Cirugía de vesicula biliar (Colecistectomía)   (2,157)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Hernias   (3,326)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Enfermedades cerebrovasculares  (194)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45" name="TextBox 344"/>
          <p:cNvSpPr txBox="1"/>
          <p:nvPr/>
        </p:nvSpPr>
        <p:spPr>
          <a:xfrm>
            <a:off x="219600" y="5608800"/>
            <a:ext cx="5331600" cy="432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700">
                <a:solidFill>
                  <a:srgbClr val="000000"/>
                </a:solidFill>
                <a:latin typeface="Noto Sans"/>
              </a:defRPr>
            </a:pPr>
            <a:r>
              <a:t>El número de casos se presentan entre paréntesis.</a:t>
            </a:r>
            <a:br/>
            <a:r>
              <a:t>Fuente: IMSS/DPM/División de Información en Salud/Motivos de Consulta Externa (SUI27).</a:t>
            </a:r>
            <a:br/>
            <a:r>
              <a:t>Sistema de información Médico Operativo Central (SIMOC).</a:t>
            </a:r>
            <a:br/>
            <a:r>
              <a:t>Periodo: enero-diciembre 2025</a:t>
            </a:r>
          </a:p>
        </p:txBody>
      </p:sp>
      <p:sp>
        <p:nvSpPr>
          <p:cNvPr id="346" name="TextBox 345"/>
          <p:cNvSpPr txBox="1"/>
          <p:nvPr/>
        </p:nvSpPr>
        <p:spPr>
          <a:xfrm>
            <a:off x="230400" y="9093600"/>
            <a:ext cx="4244400" cy="255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700">
                <a:solidFill>
                  <a:srgbClr val="000000"/>
                </a:solidFill>
                <a:latin typeface="Noto Sans"/>
              </a:defRPr>
            </a:pPr>
            <a:r>
              <a:t>Corte de información: noviembre 2025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PUEBLA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73152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200" b="1">
                <a:solidFill>
                  <a:srgbClr val="BC955C"/>
                </a:solidFill>
                <a:latin typeface="Montserrat"/>
              </a:defRPr>
            </a:pPr>
            <a:r>
              <a:t>Abasto Recetas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74320" y="1097280"/>
            <a:ext cx="7223760" cy="0"/>
          </a:xfrm>
          <a:prstGeom prst="line">
            <a:avLst/>
          </a:prstGeom>
          <a:ln w="19050">
            <a:solidFill>
              <a:srgbClr val="BC95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118872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0">
                <a:solidFill>
                  <a:srgbClr val="BC955C"/>
                </a:solidFill>
                <a:latin typeface="Montserrat"/>
              </a:defRPr>
            </a:pPr>
            <a:r>
              <a:t>Recetas surtidas y negadas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" y="1554480"/>
            <a:ext cx="7040880" cy="0"/>
          </a:xfrm>
          <a:prstGeom prst="line">
            <a:avLst/>
          </a:prstGeom>
          <a:ln w="19050">
            <a:solidFill>
              <a:srgbClr val="BC95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0" y="1691640"/>
            <a:ext cx="7772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434343"/>
                </a:solidFill>
                <a:latin typeface="Montserrat"/>
              </a:defRPr>
            </a:pPr>
            <a:r>
              <a:t>Comparación interanual de enero a febrero de cada año</a:t>
            </a:r>
          </a:p>
        </p:txBody>
      </p:sp>
      <p:pic>
        <p:nvPicPr>
          <p:cNvPr id="8" name="Picture 7" descr="grafica_recetas_2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2400" y="1717199"/>
            <a:ext cx="7347600" cy="392796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7200" y="5623560"/>
            <a:ext cx="6858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 b="0">
                <a:solidFill>
                  <a:srgbClr val="434343"/>
                </a:solidFill>
                <a:latin typeface="Montserrat"/>
              </a:defRPr>
            </a:pPr>
            <a:r>
              <a:t>Fuente: Portal de Control de Abasto. En 2026, se muestra lo correspondiente al periodo del 1 de enero al 28 de febrero de 2026.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594360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0">
                <a:solidFill>
                  <a:srgbClr val="BC955C"/>
                </a:solidFill>
                <a:latin typeface="Montserrat"/>
              </a:defRPr>
            </a:pPr>
            <a:r>
              <a:t>Recetas manuales y electrónicas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74320" y="6309360"/>
            <a:ext cx="7223760" cy="0"/>
          </a:xfrm>
          <a:prstGeom prst="line">
            <a:avLst/>
          </a:prstGeom>
          <a:ln w="19050">
            <a:solidFill>
              <a:srgbClr val="BC95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457200" y="6583680"/>
          <a:ext cx="6858000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4500"/>
                <a:gridCol w="1714500"/>
                <a:gridCol w="1714500"/>
                <a:gridCol w="1714500"/>
              </a:tblGrid>
              <a:tr h="30480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Año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Manuales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Electrónicas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Porcentaje de electrónicas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2019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110,268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1,070,354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90.7%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2026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69,702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06455"/>
                          </a:solidFill>
                          <a:latin typeface="Montserrat"/>
                        </a:rPr>
                        <a:t>1,066,181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06455"/>
                          </a:solidFill>
                          <a:latin typeface="Montserrat"/>
                        </a:rPr>
                        <a:t>93.9%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457200" y="7955279"/>
            <a:ext cx="6858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 b="0">
                <a:solidFill>
                  <a:srgbClr val="434343"/>
                </a:solidFill>
                <a:latin typeface="Montserrat"/>
              </a:defRPr>
            </a:pPr>
            <a:r>
              <a:t>Fuente: Portal de Control de Abasto. En 2026, se muestra lo correspondiente al periodo del 1 de enero al 28 de febrero de 2026.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341">
          <a:extLst>
            <a:ext uri="{FF2B5EF4-FFF2-40B4-BE49-F238E27FC236}">
              <a16:creationId xmlns:a16="http://schemas.microsoft.com/office/drawing/2014/main" id="{E90BEC93-CBF6-4FFC-F412-1E04A89853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Google Shape;394;p15">
            <a:extLst>
              <a:ext uri="{FF2B5EF4-FFF2-40B4-BE49-F238E27FC236}">
                <a16:creationId xmlns:a16="http://schemas.microsoft.com/office/drawing/2014/main" id="{172F45EF-806A-7DEF-DC63-351C21F80D20}"/>
              </a:ext>
            </a:extLst>
          </p:cNvPr>
          <p:cNvGraphicFramePr/>
          <p:nvPr/>
        </p:nvGraphicFramePr>
        <p:xfrm>
          <a:off x="287700" y="110620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Acciones 2025</a:t>
                      </a:r>
                      <a:endParaRPr sz="2100" b="1" u="none" strike="noStrike" cap="none" dirty="0">
                        <a:solidFill>
                          <a:srgbClr val="BC955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3" name="Google Shape;395;p15">
            <a:extLst>
              <a:ext uri="{FF2B5EF4-FFF2-40B4-BE49-F238E27FC236}">
                <a16:creationId xmlns:a16="http://schemas.microsoft.com/office/drawing/2014/main" id="{E9B6FDE2-AB5C-C52C-B0E2-79E103108501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76470" y="2231023"/>
            <a:ext cx="1599000" cy="599606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Google Shape;396;p15">
            <a:extLst>
              <a:ext uri="{FF2B5EF4-FFF2-40B4-BE49-F238E27FC236}">
                <a16:creationId xmlns:a16="http://schemas.microsoft.com/office/drawing/2014/main" id="{0583F7E9-F9AC-9429-DAFB-7DAA10EEDC5C}"/>
              </a:ext>
            </a:extLst>
          </p:cNvPr>
          <p:cNvSpPr txBox="1"/>
          <p:nvPr/>
        </p:nvSpPr>
        <p:spPr>
          <a:xfrm>
            <a:off x="137120" y="1813354"/>
            <a:ext cx="15990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s" sz="1200" b="1" i="0" u="none" strike="noStrike" cap="none">
                <a:solidFill>
                  <a:srgbClr val="BC955C"/>
                </a:solidFill>
                <a:latin typeface="Montserrat"/>
                <a:ea typeface="Montserrat"/>
                <a:cs typeface="Montserrat"/>
                <a:sym typeface="Montserrat"/>
              </a:rPr>
              <a:t> ¿Qué se hará? </a:t>
            </a:r>
            <a:endParaRPr sz="1200" b="1" i="0" u="none" strike="noStrike" cap="none">
              <a:solidFill>
                <a:srgbClr val="BC955C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s" sz="1200" b="1" i="0" u="none" strike="noStrike" cap="none">
                <a:solidFill>
                  <a:srgbClr val="BC955C"/>
                </a:solidFill>
                <a:latin typeface="Montserrat"/>
                <a:ea typeface="Montserrat"/>
                <a:cs typeface="Montserrat"/>
                <a:sym typeface="Montserrat"/>
              </a:rPr>
              <a:t>2025</a:t>
            </a:r>
            <a:endParaRPr sz="1200" b="0" i="0" u="none" strike="noStrike" cap="none">
              <a:solidFill>
                <a:srgbClr val="BC955C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PUEBLA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1886400" y="1584000"/>
          <a:ext cx="5670000" cy="36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95200"/>
                <a:gridCol w="874800"/>
              </a:tblGrid>
              <a:tr h="1800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Descripción</a:t>
                      </a:r>
                    </a:p>
                  </a:txBody>
                  <a:tcPr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>
                    <a:solidFill>
                      <a:srgbClr val="BC955C"/>
                    </a:solidFill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>
                        <a:defRPr sz="1100" b="1">
                          <a:latin typeface="Montserrat"/>
                        </a:defRPr>
                      </a:pPr>
                      <a:r>
                        <a:t>Equipo médico y electromecánico</a:t>
                      </a:r>
                    </a:p>
                  </a:txBody>
                  <a:tcPr>
                    <a:solidFill>
                      <a:srgbClr val="ADADA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latin typeface="Montserrat"/>
                        </a:defRPr>
                      </a:pPr>
                    </a:p>
                  </a:txBody>
                  <a:tcPr>
                    <a:solidFill>
                      <a:srgbClr val="ADADAD"/>
                    </a:solidFill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Adquisición de 16 piezas de equipo electromecánico: 11 aires acondicionados, 3 plantas de lavado y 2 elevadores.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$164.0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Adquisición de 312 piezas de equipo médico: 217 camillas, 70 sillas de ruedas, 8 refrigeradores para vacunas, 2 congeladores para vacunas, 1 acelerador lineal, 2 tomógrafos, 1 angiógrafo, 5 barreras móviles, 1 unidad de anestesia, 1 monitor de signos vitales, 1 contador gamma y 3 monitores de radiación.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$430.5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>
                        <a:defRPr sz="1100" b="1">
                          <a:latin typeface="Montserrat"/>
                        </a:defRPr>
                      </a:pPr>
                      <a:r>
                        <a:t>Inversión conservación</a:t>
                      </a:r>
                    </a:p>
                  </a:txBody>
                  <a:tcPr>
                    <a:solidFill>
                      <a:srgbClr val="ADADA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latin typeface="Montserrat"/>
                        </a:defRPr>
                      </a:pPr>
                    </a:p>
                  </a:txBody>
                  <a:tcPr>
                    <a:solidFill>
                      <a:srgbClr val="ADADAD"/>
                    </a:solidFill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Intervención en áreas de Accesibilidad (rampas) en 1 unidad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$1.4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Intervención en áreas de Accesibilidad (rampas) en 1 unidad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$3.7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Intervención en áreas de Accesibilidad (rampas) en 2 unidades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$2.6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Intervención en áreas de Mejora en Subdelegaciones en 3 unidades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$16.7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Intervención en áreas de Residencias Médicas en 1 unidad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$8.6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Intervención en áreas de Residencias Médicas en 9 unidades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$9.9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Intervención en áreas de Salud Mental en 1 unidad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$0.1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Intervención en áreas de Terapia Intensiva en 1 unidad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$24.8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Intervención en áreas de Terapia Intensiva en 1 unidad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$8.4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Intervención en áreas de Terapia Intensiva en 3 unidades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$5.7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>
                        <a:defRPr sz="1100" b="1">
                          <a:latin typeface="Montserrat"/>
                        </a:defRPr>
                      </a:pPr>
                      <a:r>
                        <a:t>Programa Anual de Operaciones</a:t>
                      </a:r>
                    </a:p>
                  </a:txBody>
                  <a:tcPr>
                    <a:solidFill>
                      <a:srgbClr val="ADADA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latin typeface="Montserrat"/>
                        </a:defRPr>
                      </a:pPr>
                    </a:p>
                  </a:txBody>
                  <a:tcPr>
                    <a:solidFill>
                      <a:srgbClr val="ADADAD"/>
                    </a:solidFill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Mantenimiento a equipo médico, onda de calor, mantenimiento a centrales de aire grado médico, entre otros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$414.3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>
                        <a:defRPr sz="1100" b="1">
                          <a:latin typeface="Montserrat"/>
                        </a:defRPr>
                      </a:pPr>
                      <a:r>
                        <a:t>Proyectos de infraestructura</a:t>
                      </a:r>
                    </a:p>
                  </a:txBody>
                  <a:tcPr>
                    <a:solidFill>
                      <a:srgbClr val="ADADA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latin typeface="Montserrat"/>
                        </a:defRPr>
                      </a:pPr>
                    </a:p>
                  </a:txBody>
                  <a:tcPr>
                    <a:solidFill>
                      <a:srgbClr val="ADADAD"/>
                    </a:solidFill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HGR de 180 camas, San Alejandro (sustitución del HGR 36)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$2,461.0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HGR de 260 camas, Amozoc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$3,766.0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22000" y="2361600"/>
            <a:ext cx="1306800" cy="338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7,317.7 mdp</a:t>
            </a:r>
          </a:p>
        </p:txBody>
      </p:sp>
    </p:spTree>
    <p:extLst>
      <p:ext uri="{BB962C8B-B14F-4D97-AF65-F5344CB8AC3E}">
        <p14:creationId xmlns:p14="http://schemas.microsoft.com/office/powerpoint/2010/main" val="36473394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341">
          <a:extLst>
            <a:ext uri="{FF2B5EF4-FFF2-40B4-BE49-F238E27FC236}">
              <a16:creationId xmlns:a16="http://schemas.microsoft.com/office/drawing/2014/main" id="{FE744575-7751-A208-3347-5F7CBAC2C7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Google Shape;370;p14">
            <a:extLst>
              <a:ext uri="{FF2B5EF4-FFF2-40B4-BE49-F238E27FC236}">
                <a16:creationId xmlns:a16="http://schemas.microsoft.com/office/drawing/2014/main" id="{B709195D-5962-6442-81D8-2EFB6D8D7190}"/>
              </a:ext>
            </a:extLst>
          </p:cNvPr>
          <p:cNvGraphicFramePr/>
          <p:nvPr/>
        </p:nvGraphicFramePr>
        <p:xfrm>
          <a:off x="287700" y="118240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Inversión, 2019-2024</a:t>
                      </a:r>
                      <a:endParaRPr sz="2100" b="1" u="none" strike="noStrike" cap="none">
                        <a:solidFill>
                          <a:srgbClr val="BC955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6" name="Google Shape;371;p14">
            <a:extLst>
              <a:ext uri="{FF2B5EF4-FFF2-40B4-BE49-F238E27FC236}">
                <a16:creationId xmlns:a16="http://schemas.microsoft.com/office/drawing/2014/main" id="{6AC64192-1EFE-6740-4042-23283E03A151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72834" y="2245621"/>
            <a:ext cx="1599006" cy="585000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373;p14">
            <a:extLst>
              <a:ext uri="{FF2B5EF4-FFF2-40B4-BE49-F238E27FC236}">
                <a16:creationId xmlns:a16="http://schemas.microsoft.com/office/drawing/2014/main" id="{E7E32C0D-5A5C-F971-661D-A7FFF038D554}"/>
              </a:ext>
            </a:extLst>
          </p:cNvPr>
          <p:cNvSpPr txBox="1"/>
          <p:nvPr/>
        </p:nvSpPr>
        <p:spPr>
          <a:xfrm>
            <a:off x="363901" y="1991425"/>
            <a:ext cx="1304400" cy="28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" sz="12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¿Qué se hizo? </a:t>
            </a:r>
            <a:br>
              <a:rPr lang="es" sz="12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es" sz="12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2019-2024</a:t>
            </a:r>
            <a:endParaRPr sz="1200" b="0" i="0" u="none" strike="noStrike" cap="non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PUEBLA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1886400" y="1584000"/>
          <a:ext cx="5670000" cy="36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95200"/>
                <a:gridCol w="874800"/>
              </a:tblGrid>
              <a:tr h="1500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Descripción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150000">
                <a:tc>
                  <a:txBody>
                    <a:bodyPr/>
                    <a:lstStyle/>
                    <a:p>
                      <a:pPr>
                        <a:defRPr sz="1000" b="1">
                          <a:latin typeface="Montserrat"/>
                        </a:defRPr>
                      </a:pPr>
                      <a:r>
                        <a:t>Obras de infraestructura</a:t>
                      </a:r>
                    </a:p>
                  </a:txBody>
                  <a:tcPr>
                    <a:solidFill>
                      <a:srgbClr val="ADADA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latin typeface="Montserrat"/>
                        </a:defRPr>
                      </a:pPr>
                    </a:p>
                  </a:txBody>
                  <a:tcPr>
                    <a:solidFill>
                      <a:srgbClr val="ADADAD"/>
                    </a:solidFill>
                  </a:tcPr>
                </a:tc>
              </a:tr>
              <a:tr h="150000"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Central de Mezclas en la UMAE "Gral. Manuel Ávila Camacho, Puebla de Zaragoza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$40.6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150000"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Demolición del HGR 36, Puebla de Zaragoza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$131.5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50000"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Demolición, Sustitución y Restauración servicios del HGZ No. 5 Metepec, Atlixco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$394.0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150000"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Resonancia Magnética en HE del CMN “Gral. Manuel Ávila Camacho” , Puebla de Zaragoza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$46.8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50000"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UMF 10 consultorios y AMC, San José Chiapa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$87.1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150000"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UMF No. 58 4+2 consultorios Ciudad Modelo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$1.2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50000"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Unidad HGZ 35 90 camas, Cuautlancingo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$606.0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150000">
                <a:tc>
                  <a:txBody>
                    <a:bodyPr/>
                    <a:lstStyle/>
                    <a:p>
                      <a:pPr>
                        <a:defRPr sz="1000" b="1">
                          <a:latin typeface="Montserrat"/>
                        </a:defRPr>
                      </a:pPr>
                      <a:r>
                        <a:t>Proyectos de conservación</a:t>
                      </a:r>
                    </a:p>
                  </a:txBody>
                  <a:tcPr>
                    <a:solidFill>
                      <a:srgbClr val="ADADA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latin typeface="Montserrat"/>
                        </a:defRPr>
                      </a:pPr>
                    </a:p>
                  </a:txBody>
                  <a:tcPr>
                    <a:solidFill>
                      <a:srgbClr val="ADADAD"/>
                    </a:solidFill>
                  </a:tcPr>
                </a:tc>
              </a:tr>
              <a:tr h="150000"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Acciones de mantenimiento de infraestructura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$201.7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150000"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Adquisición y sustitución de equipo electromecánico (2 elevadores, 3 extractores, 2 mini split, 7 secadoras, 9 lavadoras, 4 manejadoras de aire,  3 extractores)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$137.5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50000"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Estudios de Preinversión unidad de gineco- obstetricia y pediatria en HGZ 20 La Margarita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$2.8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150000"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Mantenimiento Integral Áreas de Cirugía Plástica Reconstructiva; Almacén; Centro de Colecta y Farmacia Hospitalaria, Hosp. de Traumatología y Ortopedia en UMAE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$6.6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50000"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Mejora de Imagen en 4 Unidades Médicas y UMAE Hospital de Ortopedia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$16.7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150000"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Proyecto ejecutivo HGR 260 camas en Amozoc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$69.1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50000"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Rehabilitación de 19 (UMFs UMF 21,UMF 7, UMF 8, UMF 57, UMF 41, UMF 47 , UMF 24, UMF 21, UMF 7, UMF 8, UMF 57, UMF 41, UMF 47 y UMF 24)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$20.4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150000"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Rehabilitación de 21 salas de Quirófanos en HGZ 15, HGZ 23, HGZ 20 y UMAE Hospital Especialidades (HES), Tehuacán, Teziutlán, Puebla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$29.7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50000"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Rehabilitación de almacén, residencias y unidades médicas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$35.3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150000"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Rehabilitación de áreas de Patología en UMAE Hospital de Especialidades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$9.0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50000"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Rehabilitación de baños en 9 Unidades UMF 12, UMF 24,UMF 26,UMF 31,UMF 50,UMF 4,UMF 55,HGZ 20,HGZ 5,UMAE Hospital de Traumatología y Ortopedia (HTO)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$33.7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150000"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Rehabilitación de Cocinas y Comedores  en 4 Unidades (Guarderia 01, Guarderia 03, HGZ 5 y UMF 24)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$3.2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50000"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Rehabilitación Integral HGS 10, Juan Galindo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$4.5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150000"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Remodelación de Unidades para los Servicios de Salud en el Trabajo en Puebla (UMF 12)(HGZ 15) (UMFH 11) (UMF 6) (UMF 6) (UMF 9)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$22.8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01200" y="2365200"/>
            <a:ext cx="1227600" cy="435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50" b="1">
                <a:solidFill>
                  <a:srgbClr val="FFFFFF"/>
                </a:solidFill>
                <a:latin typeface="Montserrat"/>
              </a:defRPr>
            </a:pPr>
            <a:r>
              <a:t>1,900.2 mdp</a:t>
            </a:r>
          </a:p>
        </p:txBody>
      </p:sp>
    </p:spTree>
    <p:extLst>
      <p:ext uri="{BB962C8B-B14F-4D97-AF65-F5344CB8AC3E}">
        <p14:creationId xmlns:p14="http://schemas.microsoft.com/office/powerpoint/2010/main" val="325807476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57" name="Google Shape;457;p16"/>
          <p:cNvGraphicFramePr/>
          <p:nvPr/>
        </p:nvGraphicFramePr>
        <p:xfrm>
          <a:off x="287700" y="118240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Infraestructura de prestaciones sociales</a:t>
                      </a:r>
                      <a:endParaRPr sz="21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458" name="Google Shape;458;p1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6200" y="3011565"/>
            <a:ext cx="1405326" cy="1233273"/>
          </a:xfrm>
          <a:prstGeom prst="rect">
            <a:avLst/>
          </a:prstGeom>
          <a:noFill/>
          <a:ln>
            <a:noFill/>
          </a:ln>
        </p:spPr>
      </p:pic>
      <p:pic>
        <p:nvPicPr>
          <p:cNvPr id="459" name="Google Shape;459;p16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15540" y="4913783"/>
            <a:ext cx="926657" cy="813175"/>
          </a:xfrm>
          <a:prstGeom prst="rect">
            <a:avLst/>
          </a:prstGeom>
          <a:noFill/>
          <a:ln>
            <a:noFill/>
          </a:ln>
        </p:spPr>
      </p:pic>
      <p:sp>
        <p:nvSpPr>
          <p:cNvPr id="460" name="Google Shape;460;p16"/>
          <p:cNvSpPr/>
          <p:nvPr/>
        </p:nvSpPr>
        <p:spPr>
          <a:xfrm>
            <a:off x="866642" y="1681836"/>
            <a:ext cx="822964" cy="738609"/>
          </a:xfrm>
          <a:custGeom>
            <a:avLst/>
            <a:gdLst/>
            <a:ahLst/>
            <a:cxnLst/>
            <a:rect l="l" t="t" r="r" b="b"/>
            <a:pathLst>
              <a:path w="1146988" h="1029420" extrusionOk="0">
                <a:moveTo>
                  <a:pt x="71580" y="796949"/>
                </a:moveTo>
                <a:lnTo>
                  <a:pt x="248013" y="898518"/>
                </a:lnTo>
                <a:lnTo>
                  <a:pt x="169866" y="661669"/>
                </a:lnTo>
                <a:lnTo>
                  <a:pt x="71580" y="796949"/>
                </a:lnTo>
                <a:close/>
                <a:moveTo>
                  <a:pt x="1145278" y="451745"/>
                </a:moveTo>
                <a:cubicBezTo>
                  <a:pt x="1119886" y="347331"/>
                  <a:pt x="1094275" y="243135"/>
                  <a:pt x="1068664" y="138939"/>
                </a:cubicBezTo>
                <a:cubicBezTo>
                  <a:pt x="1064505" y="122084"/>
                  <a:pt x="1054216" y="110263"/>
                  <a:pt x="1037799" y="105229"/>
                </a:cubicBezTo>
                <a:cubicBezTo>
                  <a:pt x="928131" y="70862"/>
                  <a:pt x="818463" y="36495"/>
                  <a:pt x="708794" y="2565"/>
                </a:cubicBezTo>
                <a:cubicBezTo>
                  <a:pt x="691720" y="-2688"/>
                  <a:pt x="675522" y="-62"/>
                  <a:pt x="661512" y="12197"/>
                </a:cubicBezTo>
                <a:cubicBezTo>
                  <a:pt x="580957" y="83339"/>
                  <a:pt x="500403" y="154481"/>
                  <a:pt x="420067" y="225842"/>
                </a:cubicBezTo>
                <a:cubicBezTo>
                  <a:pt x="405619" y="238757"/>
                  <a:pt x="400585" y="254956"/>
                  <a:pt x="405619" y="274000"/>
                </a:cubicBezTo>
                <a:cubicBezTo>
                  <a:pt x="407589" y="281880"/>
                  <a:pt x="409341" y="289760"/>
                  <a:pt x="411968" y="300486"/>
                </a:cubicBezTo>
                <a:cubicBezTo>
                  <a:pt x="389202" y="286696"/>
                  <a:pt x="369501" y="274875"/>
                  <a:pt x="349800" y="263055"/>
                </a:cubicBezTo>
                <a:cubicBezTo>
                  <a:pt x="332507" y="252548"/>
                  <a:pt x="315433" y="252767"/>
                  <a:pt x="298359" y="263055"/>
                </a:cubicBezTo>
                <a:cubicBezTo>
                  <a:pt x="207297" y="318217"/>
                  <a:pt x="116017" y="373380"/>
                  <a:pt x="24736" y="428323"/>
                </a:cubicBezTo>
                <a:cubicBezTo>
                  <a:pt x="8099" y="438393"/>
                  <a:pt x="0" y="452621"/>
                  <a:pt x="0" y="472322"/>
                </a:cubicBezTo>
                <a:cubicBezTo>
                  <a:pt x="219" y="585493"/>
                  <a:pt x="219" y="698882"/>
                  <a:pt x="0" y="812053"/>
                </a:cubicBezTo>
                <a:cubicBezTo>
                  <a:pt x="0" y="832191"/>
                  <a:pt x="7881" y="846858"/>
                  <a:pt x="25174" y="857146"/>
                </a:cubicBezTo>
                <a:cubicBezTo>
                  <a:pt x="115360" y="911433"/>
                  <a:pt x="205327" y="965720"/>
                  <a:pt x="295295" y="1020444"/>
                </a:cubicBezTo>
                <a:cubicBezTo>
                  <a:pt x="314776" y="1032265"/>
                  <a:pt x="332945" y="1032484"/>
                  <a:pt x="352646" y="1020663"/>
                </a:cubicBezTo>
                <a:cubicBezTo>
                  <a:pt x="440643" y="967252"/>
                  <a:pt x="528641" y="913622"/>
                  <a:pt x="617295" y="861086"/>
                </a:cubicBezTo>
                <a:cubicBezTo>
                  <a:pt x="639622" y="847733"/>
                  <a:pt x="649473" y="830440"/>
                  <a:pt x="648816" y="804391"/>
                </a:cubicBezTo>
                <a:cubicBezTo>
                  <a:pt x="647721" y="757766"/>
                  <a:pt x="648378" y="711141"/>
                  <a:pt x="648378" y="663202"/>
                </a:cubicBezTo>
                <a:cubicBezTo>
                  <a:pt x="653632" y="664734"/>
                  <a:pt x="657791" y="665828"/>
                  <a:pt x="661731" y="667142"/>
                </a:cubicBezTo>
                <a:cubicBezTo>
                  <a:pt x="721052" y="685748"/>
                  <a:pt x="780375" y="704136"/>
                  <a:pt x="839477" y="722961"/>
                </a:cubicBezTo>
                <a:cubicBezTo>
                  <a:pt x="857864" y="728871"/>
                  <a:pt x="874501" y="726901"/>
                  <a:pt x="889167" y="713986"/>
                </a:cubicBezTo>
                <a:cubicBezTo>
                  <a:pt x="969722" y="642844"/>
                  <a:pt x="1050057" y="571702"/>
                  <a:pt x="1130612" y="500341"/>
                </a:cubicBezTo>
                <a:cubicBezTo>
                  <a:pt x="1145278" y="486988"/>
                  <a:pt x="1149875" y="470571"/>
                  <a:pt x="1145278" y="451745"/>
                </a:cubicBezTo>
                <a:close/>
                <a:moveTo>
                  <a:pt x="484423" y="212489"/>
                </a:moveTo>
                <a:cubicBezTo>
                  <a:pt x="548560" y="155576"/>
                  <a:pt x="612916" y="99100"/>
                  <a:pt x="676835" y="41748"/>
                </a:cubicBezTo>
                <a:cubicBezTo>
                  <a:pt x="686467" y="33211"/>
                  <a:pt x="694785" y="31679"/>
                  <a:pt x="706824" y="35619"/>
                </a:cubicBezTo>
                <a:cubicBezTo>
                  <a:pt x="793946" y="63419"/>
                  <a:pt x="881287" y="90563"/>
                  <a:pt x="968408" y="117706"/>
                </a:cubicBezTo>
                <a:cubicBezTo>
                  <a:pt x="972568" y="119019"/>
                  <a:pt x="976726" y="120552"/>
                  <a:pt x="983293" y="122741"/>
                </a:cubicBezTo>
                <a:cubicBezTo>
                  <a:pt x="953304" y="149227"/>
                  <a:pt x="925504" y="173744"/>
                  <a:pt x="897704" y="198480"/>
                </a:cubicBezTo>
                <a:cubicBezTo>
                  <a:pt x="848452" y="242040"/>
                  <a:pt x="799419" y="285601"/>
                  <a:pt x="749728" y="328943"/>
                </a:cubicBezTo>
                <a:cubicBezTo>
                  <a:pt x="746445" y="331789"/>
                  <a:pt x="739878" y="334197"/>
                  <a:pt x="736157" y="332884"/>
                </a:cubicBezTo>
                <a:cubicBezTo>
                  <a:pt x="642030" y="303770"/>
                  <a:pt x="548123" y="274219"/>
                  <a:pt x="453996" y="244886"/>
                </a:cubicBezTo>
                <a:cubicBezTo>
                  <a:pt x="453340" y="244667"/>
                  <a:pt x="452683" y="243792"/>
                  <a:pt x="451151" y="242259"/>
                </a:cubicBezTo>
                <a:cubicBezTo>
                  <a:pt x="462314" y="232190"/>
                  <a:pt x="473259" y="222340"/>
                  <a:pt x="484423" y="212489"/>
                </a:cubicBezTo>
                <a:close/>
                <a:moveTo>
                  <a:pt x="298359" y="983669"/>
                </a:moveTo>
                <a:cubicBezTo>
                  <a:pt x="213645" y="932447"/>
                  <a:pt x="128713" y="881444"/>
                  <a:pt x="44436" y="829784"/>
                </a:cubicBezTo>
                <a:cubicBezTo>
                  <a:pt x="38746" y="826281"/>
                  <a:pt x="33054" y="817525"/>
                  <a:pt x="33054" y="811177"/>
                </a:cubicBezTo>
                <a:cubicBezTo>
                  <a:pt x="32397" y="715300"/>
                  <a:pt x="32616" y="619422"/>
                  <a:pt x="32616" y="523325"/>
                </a:cubicBezTo>
                <a:cubicBezTo>
                  <a:pt x="32616" y="521574"/>
                  <a:pt x="33054" y="520042"/>
                  <a:pt x="33491" y="515883"/>
                </a:cubicBezTo>
                <a:cubicBezTo>
                  <a:pt x="72237" y="539305"/>
                  <a:pt x="109012" y="561414"/>
                  <a:pt x="145787" y="583741"/>
                </a:cubicBezTo>
                <a:cubicBezTo>
                  <a:pt x="196790" y="614606"/>
                  <a:pt x="247574" y="645252"/>
                  <a:pt x="298359" y="676336"/>
                </a:cubicBezTo>
                <a:cubicBezTo>
                  <a:pt x="302299" y="678744"/>
                  <a:pt x="306896" y="683778"/>
                  <a:pt x="306896" y="687718"/>
                </a:cubicBezTo>
                <a:cubicBezTo>
                  <a:pt x="307334" y="787098"/>
                  <a:pt x="307334" y="886697"/>
                  <a:pt x="307334" y="987391"/>
                </a:cubicBezTo>
                <a:cubicBezTo>
                  <a:pt x="303612" y="985858"/>
                  <a:pt x="300767" y="984983"/>
                  <a:pt x="298359" y="983669"/>
                </a:cubicBezTo>
                <a:close/>
                <a:moveTo>
                  <a:pt x="310180" y="644814"/>
                </a:moveTo>
                <a:cubicBezTo>
                  <a:pt x="222183" y="591184"/>
                  <a:pt x="133966" y="537992"/>
                  <a:pt x="45750" y="484799"/>
                </a:cubicBezTo>
                <a:cubicBezTo>
                  <a:pt x="27801" y="474073"/>
                  <a:pt x="27581" y="464661"/>
                  <a:pt x="45312" y="453934"/>
                </a:cubicBezTo>
                <a:cubicBezTo>
                  <a:pt x="133747" y="400304"/>
                  <a:pt x="222401" y="346893"/>
                  <a:pt x="311056" y="293482"/>
                </a:cubicBezTo>
                <a:cubicBezTo>
                  <a:pt x="315215" y="291074"/>
                  <a:pt x="319592" y="289323"/>
                  <a:pt x="324189" y="287134"/>
                </a:cubicBezTo>
                <a:cubicBezTo>
                  <a:pt x="328786" y="289323"/>
                  <a:pt x="332726" y="290855"/>
                  <a:pt x="336447" y="293263"/>
                </a:cubicBezTo>
                <a:cubicBezTo>
                  <a:pt x="425102" y="346674"/>
                  <a:pt x="513537" y="400304"/>
                  <a:pt x="601972" y="453716"/>
                </a:cubicBezTo>
                <a:cubicBezTo>
                  <a:pt x="620359" y="464879"/>
                  <a:pt x="619921" y="474073"/>
                  <a:pt x="601096" y="485237"/>
                </a:cubicBezTo>
                <a:cubicBezTo>
                  <a:pt x="513318" y="538210"/>
                  <a:pt x="425321" y="591184"/>
                  <a:pt x="337761" y="644376"/>
                </a:cubicBezTo>
                <a:cubicBezTo>
                  <a:pt x="327911" y="650724"/>
                  <a:pt x="320468" y="651162"/>
                  <a:pt x="310180" y="644814"/>
                </a:cubicBezTo>
                <a:close/>
                <a:moveTo>
                  <a:pt x="601096" y="831754"/>
                </a:moveTo>
                <a:cubicBezTo>
                  <a:pt x="517914" y="881444"/>
                  <a:pt x="435171" y="931790"/>
                  <a:pt x="352427" y="981699"/>
                </a:cubicBezTo>
                <a:cubicBezTo>
                  <a:pt x="349144" y="983669"/>
                  <a:pt x="345641" y="985421"/>
                  <a:pt x="341045" y="987828"/>
                </a:cubicBezTo>
                <a:cubicBezTo>
                  <a:pt x="340606" y="982794"/>
                  <a:pt x="340169" y="978854"/>
                  <a:pt x="340169" y="975132"/>
                </a:cubicBezTo>
                <a:cubicBezTo>
                  <a:pt x="340169" y="881444"/>
                  <a:pt x="340169" y="787536"/>
                  <a:pt x="339950" y="693847"/>
                </a:cubicBezTo>
                <a:cubicBezTo>
                  <a:pt x="339950" y="684873"/>
                  <a:pt x="342358" y="679838"/>
                  <a:pt x="350457" y="675022"/>
                </a:cubicBezTo>
                <a:cubicBezTo>
                  <a:pt x="433857" y="625113"/>
                  <a:pt x="517039" y="574548"/>
                  <a:pt x="600221" y="524420"/>
                </a:cubicBezTo>
                <a:cubicBezTo>
                  <a:pt x="604380" y="522012"/>
                  <a:pt x="608539" y="519604"/>
                  <a:pt x="615543" y="515664"/>
                </a:cubicBezTo>
                <a:lnTo>
                  <a:pt x="615543" y="531862"/>
                </a:lnTo>
                <a:cubicBezTo>
                  <a:pt x="615543" y="622924"/>
                  <a:pt x="615325" y="713986"/>
                  <a:pt x="615762" y="805048"/>
                </a:cubicBezTo>
                <a:cubicBezTo>
                  <a:pt x="615762" y="817306"/>
                  <a:pt x="612260" y="825187"/>
                  <a:pt x="601096" y="831754"/>
                </a:cubicBezTo>
                <a:close/>
                <a:moveTo>
                  <a:pt x="733967" y="655102"/>
                </a:moveTo>
                <a:cubicBezTo>
                  <a:pt x="709889" y="647660"/>
                  <a:pt x="685810" y="639561"/>
                  <a:pt x="661512" y="632775"/>
                </a:cubicBezTo>
                <a:cubicBezTo>
                  <a:pt x="651662" y="629929"/>
                  <a:pt x="647503" y="625989"/>
                  <a:pt x="647721" y="614606"/>
                </a:cubicBezTo>
                <a:cubicBezTo>
                  <a:pt x="648597" y="567981"/>
                  <a:pt x="647721" y="521355"/>
                  <a:pt x="648159" y="474730"/>
                </a:cubicBezTo>
                <a:cubicBezTo>
                  <a:pt x="648378" y="453059"/>
                  <a:pt x="639622" y="437736"/>
                  <a:pt x="621016" y="426572"/>
                </a:cubicBezTo>
                <a:cubicBezTo>
                  <a:pt x="568480" y="395270"/>
                  <a:pt x="516382" y="363092"/>
                  <a:pt x="463628" y="331789"/>
                </a:cubicBezTo>
                <a:cubicBezTo>
                  <a:pt x="454434" y="326317"/>
                  <a:pt x="449399" y="319750"/>
                  <a:pt x="447648" y="309242"/>
                </a:cubicBezTo>
                <a:cubicBezTo>
                  <a:pt x="445897" y="298516"/>
                  <a:pt x="442832" y="288009"/>
                  <a:pt x="439767" y="274656"/>
                </a:cubicBezTo>
                <a:cubicBezTo>
                  <a:pt x="508721" y="296327"/>
                  <a:pt x="574609" y="316904"/>
                  <a:pt x="640717" y="337480"/>
                </a:cubicBezTo>
                <a:cubicBezTo>
                  <a:pt x="668736" y="346236"/>
                  <a:pt x="696755" y="354554"/>
                  <a:pt x="724336" y="363967"/>
                </a:cubicBezTo>
                <a:cubicBezTo>
                  <a:pt x="728714" y="365499"/>
                  <a:pt x="733749" y="370534"/>
                  <a:pt x="734843" y="375131"/>
                </a:cubicBezTo>
                <a:cubicBezTo>
                  <a:pt x="759141" y="472322"/>
                  <a:pt x="782782" y="569732"/>
                  <a:pt x="806642" y="667142"/>
                </a:cubicBezTo>
                <a:cubicBezTo>
                  <a:pt x="807299" y="669988"/>
                  <a:pt x="807518" y="673052"/>
                  <a:pt x="808394" y="678087"/>
                </a:cubicBezTo>
                <a:cubicBezTo>
                  <a:pt x="782563" y="670206"/>
                  <a:pt x="758266" y="662764"/>
                  <a:pt x="733967" y="655102"/>
                </a:cubicBezTo>
                <a:close/>
                <a:moveTo>
                  <a:pt x="1103688" y="479983"/>
                </a:moveTo>
                <a:cubicBezTo>
                  <a:pt x="1029043" y="546310"/>
                  <a:pt x="953742" y="611979"/>
                  <a:pt x="879536" y="678744"/>
                </a:cubicBezTo>
                <a:cubicBezTo>
                  <a:pt x="856770" y="699320"/>
                  <a:pt x="848014" y="698882"/>
                  <a:pt x="840133" y="666704"/>
                </a:cubicBezTo>
                <a:cubicBezTo>
                  <a:pt x="816930" y="569294"/>
                  <a:pt x="792633" y="471884"/>
                  <a:pt x="768554" y="374474"/>
                </a:cubicBezTo>
                <a:cubicBezTo>
                  <a:pt x="766146" y="364405"/>
                  <a:pt x="767459" y="357181"/>
                  <a:pt x="775777" y="349739"/>
                </a:cubicBezTo>
                <a:cubicBezTo>
                  <a:pt x="853924" y="281223"/>
                  <a:pt x="931633" y="212270"/>
                  <a:pt x="1009561" y="143536"/>
                </a:cubicBezTo>
                <a:cubicBezTo>
                  <a:pt x="1024665" y="130183"/>
                  <a:pt x="1033640" y="133029"/>
                  <a:pt x="1038237" y="152292"/>
                </a:cubicBezTo>
                <a:cubicBezTo>
                  <a:pt x="1062972" y="252985"/>
                  <a:pt x="1087708" y="353898"/>
                  <a:pt x="1112224" y="454810"/>
                </a:cubicBezTo>
                <a:cubicBezTo>
                  <a:pt x="1112881" y="457875"/>
                  <a:pt x="1113757" y="460939"/>
                  <a:pt x="1114852" y="466412"/>
                </a:cubicBezTo>
                <a:cubicBezTo>
                  <a:pt x="1111787" y="470352"/>
                  <a:pt x="1108284" y="475824"/>
                  <a:pt x="1103688" y="479983"/>
                </a:cubicBezTo>
                <a:close/>
                <a:moveTo>
                  <a:pt x="858740" y="150979"/>
                </a:moveTo>
                <a:lnTo>
                  <a:pt x="706387" y="93408"/>
                </a:lnTo>
                <a:lnTo>
                  <a:pt x="570669" y="214459"/>
                </a:lnTo>
                <a:lnTo>
                  <a:pt x="728933" y="268308"/>
                </a:lnTo>
                <a:lnTo>
                  <a:pt x="858740" y="150979"/>
                </a:lnTo>
                <a:close/>
                <a:moveTo>
                  <a:pt x="323971" y="404901"/>
                </a:moveTo>
                <a:cubicBezTo>
                  <a:pt x="278877" y="404901"/>
                  <a:pt x="242540" y="433358"/>
                  <a:pt x="242540" y="468382"/>
                </a:cubicBezTo>
                <a:cubicBezTo>
                  <a:pt x="242540" y="503406"/>
                  <a:pt x="279096" y="531862"/>
                  <a:pt x="323971" y="531862"/>
                </a:cubicBezTo>
                <a:cubicBezTo>
                  <a:pt x="368844" y="531862"/>
                  <a:pt x="405401" y="503406"/>
                  <a:pt x="405401" y="468382"/>
                </a:cubicBezTo>
                <a:cubicBezTo>
                  <a:pt x="405401" y="433358"/>
                  <a:pt x="368844" y="404901"/>
                  <a:pt x="323971" y="404901"/>
                </a:cubicBezTo>
                <a:close/>
                <a:moveTo>
                  <a:pt x="418753" y="872688"/>
                </a:moveTo>
                <a:lnTo>
                  <a:pt x="552063" y="798700"/>
                </a:lnTo>
                <a:lnTo>
                  <a:pt x="552063" y="630367"/>
                </a:lnTo>
                <a:lnTo>
                  <a:pt x="418753" y="704355"/>
                </a:lnTo>
                <a:lnTo>
                  <a:pt x="418753" y="872688"/>
                </a:lnTo>
                <a:close/>
                <a:moveTo>
                  <a:pt x="947613" y="355649"/>
                </a:moveTo>
                <a:cubicBezTo>
                  <a:pt x="915435" y="355649"/>
                  <a:pt x="889167" y="381917"/>
                  <a:pt x="889167" y="414095"/>
                </a:cubicBezTo>
                <a:cubicBezTo>
                  <a:pt x="889167" y="446273"/>
                  <a:pt x="915435" y="472541"/>
                  <a:pt x="947613" y="472541"/>
                </a:cubicBezTo>
                <a:cubicBezTo>
                  <a:pt x="979791" y="472541"/>
                  <a:pt x="1006059" y="446273"/>
                  <a:pt x="1006059" y="414095"/>
                </a:cubicBezTo>
                <a:cubicBezTo>
                  <a:pt x="1006059" y="381917"/>
                  <a:pt x="980010" y="355649"/>
                  <a:pt x="947613" y="355649"/>
                </a:cubicBezTo>
                <a:close/>
              </a:path>
            </a:pathLst>
          </a:custGeom>
          <a:solidFill>
            <a:srgbClr val="00655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p16"/>
          <p:cNvSpPr/>
          <p:nvPr/>
        </p:nvSpPr>
        <p:spPr>
          <a:xfrm>
            <a:off x="734975" y="6618257"/>
            <a:ext cx="209700" cy="209700"/>
          </a:xfrm>
          <a:prstGeom prst="rect">
            <a:avLst/>
          </a:prstGeom>
          <a:solidFill>
            <a:srgbClr val="DD8DC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6" name="TextBox 465"/>
          <p:cNvSpPr txBox="1"/>
          <p:nvPr/>
        </p:nvSpPr>
        <p:spPr>
          <a:xfrm>
            <a:off x="2386800" y="14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0">
                <a:solidFill>
                  <a:srgbClr val="FFFFFF"/>
                </a:solidFill>
                <a:latin typeface="Montserrat"/>
              </a:defRPr>
            </a:pPr>
            <a:r>
              <a:t>PUEBLA</a:t>
            </a:r>
          </a:p>
        </p:txBody>
      </p:sp>
      <p:graphicFrame>
        <p:nvGraphicFramePr>
          <p:cNvPr id="467" name="Table 466"/>
          <p:cNvGraphicFramePr>
            <a:graphicFrameLocks noGrp="1"/>
          </p:cNvGraphicFramePr>
          <p:nvPr/>
        </p:nvGraphicFramePr>
        <p:xfrm>
          <a:off x="2311200" y="1670400"/>
          <a:ext cx="5032800" cy="66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6800"/>
                <a:gridCol w="3456000"/>
              </a:tblGrid>
              <a:tr h="333000">
                <a:tc gridSpan="2"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  <a:latin typeface="Montserrat"/>
                        </a:rPr>
                        <a:t>GUARDERÍAS</a:t>
                      </a:r>
                    </a:p>
                  </a:txBody>
                  <a:tcPr marT="0" marB="0" marL="0" marR="0" anchor="ctr"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33000"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latin typeface="Montserrat"/>
                        </a:rPr>
                        <a:t>33 </a:t>
                      </a:r>
                      <a:r>
                        <a:rPr b="1" sz="1000">
                          <a:latin typeface="Montserrat"/>
                        </a:rPr>
                        <a:t>unidades</a:t>
                      </a:r>
                    </a:p>
                    <a:p>
                      <a:pPr algn="ctr">
                        <a:defRPr sz="1000">
                          <a:solidFill>
                            <a:srgbClr val="505050"/>
                          </a:solidFill>
                          <a:latin typeface="Montserrat"/>
                        </a:defRPr>
                      </a:pPr>
                      <a:r>
                        <a:t>4 directas</a:t>
                      </a:r>
                    </a:p>
                    <a:p>
                      <a:pPr algn="ctr">
                        <a:defRPr sz="1000">
                          <a:solidFill>
                            <a:srgbClr val="505050"/>
                          </a:solidFill>
                          <a:latin typeface="Montserrat"/>
                        </a:defRPr>
                      </a:pPr>
                      <a:r>
                        <a:t>29 indirectas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latin typeface="Montserrat"/>
                        </a:rPr>
                        <a:t>3,557 </a:t>
                      </a:r>
                      <a:r>
                        <a:rPr b="1" sz="1000">
                          <a:latin typeface="Montserrat"/>
                        </a:rPr>
                        <a:t>inscritos</a:t>
                      </a:r>
                    </a:p>
                    <a:p>
                      <a:pPr algn="ctr">
                        <a:defRPr sz="1000">
                          <a:solidFill>
                            <a:srgbClr val="505050"/>
                          </a:solidFill>
                          <a:latin typeface="Montserrat"/>
                        </a:defRPr>
                      </a:pPr>
                      <a:r>
                        <a:t>300 en espera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68" name="Table 467"/>
          <p:cNvGraphicFramePr>
            <a:graphicFrameLocks noGrp="1"/>
          </p:cNvGraphicFramePr>
          <p:nvPr/>
        </p:nvGraphicFramePr>
        <p:xfrm>
          <a:off x="2311200" y="2570400"/>
          <a:ext cx="5032800" cy="20915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6800"/>
                <a:gridCol w="3456000"/>
              </a:tblGrid>
              <a:tr h="522899">
                <a:tc grid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BIENESTAR SOCIAL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522899">
                <a:tc>
                  <a:txBody>
                    <a:bodyPr/>
                    <a:lstStyle/>
                    <a:p>
                      <a:pPr algn="ctr">
                        <a:defRPr sz="1000" b="1">
                          <a:latin typeface="Montserrat"/>
                        </a:defRPr>
                      </a:pPr>
                      <a:r>
                        <a:t>4 CECEM</a:t>
                      </a:r>
                    </a:p>
                  </a:txBody>
                  <a:tcPr anchor="ctr" marL="28800" marR="2880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San Martin Texmelucan, Atlixco, Tehuacán y Lomas de San Miguel</a:t>
                      </a:r>
                    </a:p>
                  </a:txBody>
                  <a:tcPr anchor="ctr" marL="28800" marR="28800" marT="0" marB="0">
                    <a:solidFill>
                      <a:srgbClr val="FFFFFF"/>
                    </a:solidFill>
                  </a:tcPr>
                </a:tc>
              </a:tr>
              <a:tr h="522899">
                <a:tc>
                  <a:txBody>
                    <a:bodyPr/>
                    <a:lstStyle/>
                    <a:p>
                      <a:pPr algn="ctr">
                        <a:defRPr sz="1000" b="1">
                          <a:latin typeface="Montserrat"/>
                        </a:defRPr>
                      </a:pPr>
                      <a:r>
                        <a:t>2 CEBIS</a:t>
                      </a:r>
                    </a:p>
                  </a:txBody>
                  <a:tcPr anchor="ctr" marL="28800" marR="2880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Bosques de Manzanilla y Lomas de San Miguel</a:t>
                      </a:r>
                    </a:p>
                  </a:txBody>
                  <a:tcPr anchor="ctr" marL="28800" marR="28800" marT="0" marB="0">
                    <a:solidFill>
                      <a:srgbClr val="EFEFEF"/>
                    </a:solidFill>
                  </a:tcPr>
                </a:tc>
              </a:tr>
              <a:tr h="522902">
                <a:tc>
                  <a:txBody>
                    <a:bodyPr/>
                    <a:lstStyle/>
                    <a:p>
                      <a:pPr algn="ctr">
                        <a:defRPr sz="1000" b="1">
                          <a:latin typeface="Montserrat"/>
                        </a:defRPr>
                      </a:pPr>
                      <a:r>
                        <a:t>3 Centros de Seguridad Social</a:t>
                      </a:r>
                    </a:p>
                  </a:txBody>
                  <a:tcPr anchor="ctr" marL="28800" marR="2880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Puebla, Cholula e Izúcar de Matamoros</a:t>
                      </a:r>
                    </a:p>
                  </a:txBody>
                  <a:tcPr anchor="ctr" marL="28800" marR="28800" marT="0" marB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69" name="Table 468"/>
          <p:cNvGraphicFramePr>
            <a:graphicFrameLocks noGrp="1"/>
          </p:cNvGraphicFramePr>
          <p:nvPr/>
        </p:nvGraphicFramePr>
        <p:xfrm>
          <a:off x="2311200" y="4910400"/>
          <a:ext cx="5032800" cy="81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6800"/>
                <a:gridCol w="3456000"/>
              </a:tblGrid>
              <a:tr h="204300">
                <a:tc grid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CENTROS VACACIONALES, VELATORIOS Y TIENDAS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04300">
                <a:tc>
                  <a:txBody>
                    <a:bodyPr/>
                    <a:lstStyle/>
                    <a:p>
                      <a:pPr algn="ctr">
                        <a:defRPr sz="1000" b="1">
                          <a:latin typeface="Montserrat"/>
                        </a:defRPr>
                      </a:pPr>
                      <a:r>
                        <a:t>1 Centro Vacacional</a:t>
                      </a:r>
                    </a:p>
                  </a:txBody>
                  <a:tcPr anchor="ctr" marL="28800" marR="2880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Atlixco-Metepec</a:t>
                      </a:r>
                    </a:p>
                  </a:txBody>
                  <a:tcPr anchor="ctr" marL="28800" marR="28800" marT="0" marB="0">
                    <a:solidFill>
                      <a:srgbClr val="FFFFFF"/>
                    </a:solidFill>
                  </a:tcPr>
                </a:tc>
              </a:tr>
              <a:tr h="204300">
                <a:tc>
                  <a:txBody>
                    <a:bodyPr/>
                    <a:lstStyle/>
                    <a:p>
                      <a:pPr algn="ctr">
                        <a:defRPr sz="1000" b="1">
                          <a:latin typeface="Montserrat"/>
                        </a:defRPr>
                      </a:pPr>
                      <a:r>
                        <a:t>1 Tienda IMSS-SNTSS</a:t>
                      </a:r>
                    </a:p>
                  </a:txBody>
                  <a:tcPr anchor="ctr" marL="28800" marR="2880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No. 34 Puebla</a:t>
                      </a:r>
                    </a:p>
                  </a:txBody>
                  <a:tcPr anchor="ctr" marL="28800" marR="28800" marT="0" marB="0">
                    <a:solidFill>
                      <a:srgbClr val="EFEFEF"/>
                    </a:solidFill>
                  </a:tcPr>
                </a:tc>
              </a:tr>
              <a:tr h="204300">
                <a:tc>
                  <a:txBody>
                    <a:bodyPr/>
                    <a:lstStyle/>
                    <a:p>
                      <a:pPr algn="ctr">
                        <a:defRPr sz="1000" b="1">
                          <a:latin typeface="Montserrat"/>
                        </a:defRPr>
                      </a:pPr>
                      <a:r>
                        <a:t>1 Velatorio</a:t>
                      </a:r>
                    </a:p>
                  </a:txBody>
                  <a:tcPr anchor="ctr" marL="28800" marR="2880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Puebla</a:t>
                      </a:r>
                    </a:p>
                  </a:txBody>
                  <a:tcPr anchor="ctr" marL="28800" marR="28800" marT="0" marB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470" name="Picture 469" descr="map_tipo2_21_pu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42400" y="5832000"/>
            <a:ext cx="4608000" cy="3560727"/>
          </a:xfrm>
          <a:prstGeom prst="rect">
            <a:avLst/>
          </a:prstGeom>
        </p:spPr>
      </p:pic>
      <p:sp>
        <p:nvSpPr>
          <p:cNvPr id="471" name="TextBox 470"/>
          <p:cNvSpPr txBox="1"/>
          <p:nvPr/>
        </p:nvSpPr>
        <p:spPr>
          <a:xfrm>
            <a:off x="928800" y="6598799"/>
            <a:ext cx="1364400" cy="24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0" sz="1000">
                <a:solidFill>
                  <a:srgbClr val="000000"/>
                </a:solidFill>
                <a:latin typeface="Montserrat"/>
              </a:defRPr>
            </a:pPr>
            <a:r>
              <a:t>Guarderías    33</a:t>
            </a:r>
          </a:p>
        </p:txBody>
      </p:sp>
      <p:sp>
        <p:nvSpPr>
          <p:cNvPr id="472" name="TextBox 471"/>
          <p:cNvSpPr txBox="1"/>
          <p:nvPr/>
        </p:nvSpPr>
        <p:spPr>
          <a:xfrm>
            <a:off x="0" y="9273600"/>
            <a:ext cx="3538800" cy="2304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900">
                <a:solidFill>
                  <a:srgbClr val="000000"/>
                </a:solidFill>
                <a:latin typeface="Noto Sans"/>
              </a:defRPr>
            </a:pPr>
            <a:r>
              <a:t>Fuente: Boletín de guarderías enero de 2026.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73" name="Google Shape;473;g370e87ffe7a_2_298"/>
          <p:cNvGraphicFramePr/>
          <p:nvPr/>
        </p:nvGraphicFramePr>
        <p:xfrm>
          <a:off x="209550" y="624625"/>
          <a:ext cx="749330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93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Actividad económica</a:t>
                      </a:r>
                      <a:endParaRPr sz="2100" u="none" strike="noStrike" cap="none" dirty="0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75" name="Google Shape;475;g370e87ffe7a_2_298"/>
          <p:cNvGraphicFramePr/>
          <p:nvPr>
            <p:extLst>
              <p:ext uri="{D42A27DB-BD31-4B8C-83A1-F6EECF244321}">
                <p14:modId xmlns:p14="http://schemas.microsoft.com/office/powerpoint/2010/main" val="1516890549"/>
              </p:ext>
            </p:extLst>
          </p:nvPr>
        </p:nvGraphicFramePr>
        <p:xfrm>
          <a:off x="282450" y="3418030"/>
          <a:ext cx="70170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017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5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Puestos de trabajo, </a:t>
                      </a:r>
                      <a:r>
                        <a:rPr lang="es" sz="15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  <a:extLst>
                            <a:ext uri="http://customooxmlschemas.google.com/">
      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4"/>
                            </a:ext>
                          </a:extLst>
                        </a:rPr>
                        <a:t>por </a:t>
                      </a:r>
                      <a:r>
                        <a:rPr lang="es" sz="15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  <a:extLst>
                            <a:ext uri="http://customooxmlschemas.google.com/">
      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5"/>
                            </a:ext>
                          </a:extLst>
                        </a:rPr>
                        <a:t>tipo de sector</a:t>
                      </a:r>
                      <a:endParaRPr sz="1500" u="none" strike="noStrike" cap="none" dirty="0">
                        <a:solidFill>
                          <a:srgbClr val="006556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77" name="Google Shape;477;g370e87ffe7a_2_298"/>
          <p:cNvGraphicFramePr/>
          <p:nvPr/>
        </p:nvGraphicFramePr>
        <p:xfrm>
          <a:off x="231775" y="7376500"/>
          <a:ext cx="70170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017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5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Puesto de trabajo, por tipo de contratación</a:t>
                      </a:r>
                      <a:endParaRPr sz="1500" u="none" strike="noStrike" cap="none">
                        <a:solidFill>
                          <a:srgbClr val="006556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78" name="TextBox 477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PUEBLA</a:t>
            </a:r>
          </a:p>
        </p:txBody>
      </p:sp>
      <p:graphicFrame>
        <p:nvGraphicFramePr>
          <p:cNvPr id="479" name="Table 478"/>
          <p:cNvGraphicFramePr>
            <a:graphicFrameLocks noGrp="1"/>
          </p:cNvGraphicFramePr>
          <p:nvPr/>
        </p:nvGraphicFramePr>
        <p:xfrm>
          <a:off x="284400" y="1087200"/>
          <a:ext cx="6984000" cy="1475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0000"/>
                <a:gridCol w="720000"/>
                <a:gridCol w="720000"/>
                <a:gridCol w="792000"/>
                <a:gridCol w="1260000"/>
                <a:gridCol w="720000"/>
                <a:gridCol w="720000"/>
                <a:gridCol w="792000"/>
              </a:tblGrid>
              <a:tr h="251999">
                <a:tc gridSpan="8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PRINCIPALES EMPLEADORES</a:t>
                      </a:r>
                    </a:p>
                  </a:txBody>
                  <a:tcPr>
                    <a:solidFill>
                      <a:srgbClr val="BC955C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Empleador público</a:t>
                      </a:r>
                    </a:p>
                  </a:txBody>
                  <a:tcPr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Empleos Anterior</a:t>
                      </a:r>
                    </a:p>
                  </a:txBody>
                  <a:tcPr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Empleos Actual</a:t>
                      </a:r>
                    </a:p>
                  </a:txBody>
                  <a:tcPr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Variación</a:t>
                      </a:r>
                    </a:p>
                  </a:txBody>
                  <a:tcPr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Empleador Privado</a:t>
                      </a:r>
                    </a:p>
                  </a:txBody>
                  <a:tcPr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Empleos Anterior</a:t>
                      </a:r>
                    </a:p>
                  </a:txBody>
                  <a:tcPr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Empleos Actual</a:t>
                      </a:r>
                    </a:p>
                  </a:txBody>
                  <a:tcPr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Variación</a:t>
                      </a:r>
                    </a:p>
                  </a:txBody>
                  <a:tcPr>
                    <a:solidFill>
                      <a:srgbClr val="BC955C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INSTITUTO MEXICANO DEL SEGURO SOCIAL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17,428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17,501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0.4%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VOLKSWAGEN DE MEXICO SA DE CV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10,957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10,928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691C32"/>
                          </a:solidFill>
                          <a:latin typeface="Montserrat"/>
                        </a:defRPr>
                      </a:pPr>
                      <a:r>
                        <a:t>-0.3%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MUNICIPIO DE PUEBLA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7,115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7,082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691C32"/>
                          </a:solidFill>
                          <a:latin typeface="Montserrat"/>
                        </a:defRPr>
                      </a:pPr>
                      <a:r>
                        <a:t>-0.5%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NUEVA WAL MART DE MEXICO S DE RL DE CV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7,909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7,514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691C32"/>
                          </a:solidFill>
                          <a:latin typeface="Montserrat"/>
                        </a:defRPr>
                      </a:pPr>
                      <a:r>
                        <a:t>-5.0%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COMISION FEDERAL DE ELECTRICIDAD EPE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3,392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3,302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691C32"/>
                          </a:solidFill>
                          <a:latin typeface="Montserrat"/>
                        </a:defRPr>
                      </a:pPr>
                      <a:r>
                        <a:t>-2.7%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CADENA COMERCIAL OXXO SA DE CV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5,220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5,251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0.6%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80" name="Chart 479"/>
          <p:cNvGraphicFramePr>
            <a:graphicFrameLocks noGrp="1"/>
          </p:cNvGraphicFramePr>
          <p:nvPr/>
        </p:nvGraphicFramePr>
        <p:xfrm>
          <a:off x="72000" y="3650400"/>
          <a:ext cx="7016399" cy="37260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481" name="Rounded Rectangle 480"/>
          <p:cNvSpPr/>
          <p:nvPr/>
        </p:nvSpPr>
        <p:spPr>
          <a:xfrm>
            <a:off x="7020000" y="3780000"/>
            <a:ext cx="648000" cy="288000"/>
          </a:xfrm>
          <a:prstGeom prst="roundRect">
            <a:avLst/>
          </a:prstGeom>
          <a:solidFill>
            <a:srgbClr val="69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Noto Sans Black"/>
              </a:defRPr>
            </a:pPr>
            <a:r>
              <a:t>-5.24%</a:t>
            </a:r>
          </a:p>
        </p:txBody>
      </p:sp>
      <p:sp>
        <p:nvSpPr>
          <p:cNvPr id="482" name="Rounded Rectangle 481"/>
          <p:cNvSpPr/>
          <p:nvPr/>
        </p:nvSpPr>
        <p:spPr>
          <a:xfrm>
            <a:off x="7020000" y="4176000"/>
            <a:ext cx="648000" cy="288000"/>
          </a:xfrm>
          <a:prstGeom prst="roundRect">
            <a:avLst/>
          </a:prstGeom>
          <a:solidFill>
            <a:srgbClr val="69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Noto Sans Black"/>
              </a:defRPr>
            </a:pPr>
            <a:r>
              <a:t>-3.92%</a:t>
            </a:r>
          </a:p>
        </p:txBody>
      </p:sp>
      <p:sp>
        <p:nvSpPr>
          <p:cNvPr id="483" name="Rounded Rectangle 482"/>
          <p:cNvSpPr/>
          <p:nvPr/>
        </p:nvSpPr>
        <p:spPr>
          <a:xfrm>
            <a:off x="7020000" y="4572000"/>
            <a:ext cx="648000" cy="288000"/>
          </a:xfrm>
          <a:prstGeom prst="roundRect">
            <a:avLst/>
          </a:prstGeom>
          <a:solidFill>
            <a:srgbClr val="69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Noto Sans Black"/>
              </a:defRPr>
            </a:pPr>
            <a:r>
              <a:t>-3.00%</a:t>
            </a:r>
          </a:p>
        </p:txBody>
      </p:sp>
      <p:sp>
        <p:nvSpPr>
          <p:cNvPr id="484" name="Rounded Rectangle 483"/>
          <p:cNvSpPr/>
          <p:nvPr/>
        </p:nvSpPr>
        <p:spPr>
          <a:xfrm>
            <a:off x="7020000" y="4968000"/>
            <a:ext cx="648000" cy="288000"/>
          </a:xfrm>
          <a:prstGeom prst="roundRect">
            <a:avLst/>
          </a:prstGeom>
          <a:solidFill>
            <a:srgbClr val="69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Noto Sans Black"/>
              </a:defRPr>
            </a:pPr>
            <a:r>
              <a:t>-2.43%</a:t>
            </a:r>
          </a:p>
        </p:txBody>
      </p:sp>
      <p:sp>
        <p:nvSpPr>
          <p:cNvPr id="485" name="Rounded Rectangle 484"/>
          <p:cNvSpPr/>
          <p:nvPr/>
        </p:nvSpPr>
        <p:spPr>
          <a:xfrm>
            <a:off x="7020000" y="5364000"/>
            <a:ext cx="648000" cy="288000"/>
          </a:xfrm>
          <a:prstGeom prst="roundRect">
            <a:avLst/>
          </a:prstGeom>
          <a:solidFill>
            <a:srgbClr val="69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Noto Sans Black"/>
              </a:defRPr>
            </a:pPr>
            <a:r>
              <a:t>-0.63%</a:t>
            </a:r>
          </a:p>
        </p:txBody>
      </p:sp>
      <p:sp>
        <p:nvSpPr>
          <p:cNvPr id="486" name="Rounded Rectangle 485"/>
          <p:cNvSpPr/>
          <p:nvPr/>
        </p:nvSpPr>
        <p:spPr>
          <a:xfrm>
            <a:off x="7020000" y="5760000"/>
            <a:ext cx="648000" cy="288000"/>
          </a:xfrm>
          <a:prstGeom prst="roundRect">
            <a:avLst/>
          </a:prstGeom>
          <a:solidFill>
            <a:srgbClr val="69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Noto Sans Black"/>
              </a:defRPr>
            </a:pPr>
            <a:r>
              <a:t>-0.22%</a:t>
            </a:r>
          </a:p>
        </p:txBody>
      </p:sp>
      <p:sp>
        <p:nvSpPr>
          <p:cNvPr id="487" name="Rounded Rectangle 486"/>
          <p:cNvSpPr/>
          <p:nvPr/>
        </p:nvSpPr>
        <p:spPr>
          <a:xfrm>
            <a:off x="7020000" y="6156000"/>
            <a:ext cx="648000" cy="288000"/>
          </a:xfrm>
          <a:prstGeom prst="round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Noto Sans Black"/>
              </a:defRPr>
            </a:pPr>
            <a:r>
              <a:t>+1.87%</a:t>
            </a:r>
          </a:p>
        </p:txBody>
      </p:sp>
      <p:sp>
        <p:nvSpPr>
          <p:cNvPr id="488" name="Rounded Rectangle 487"/>
          <p:cNvSpPr/>
          <p:nvPr/>
        </p:nvSpPr>
        <p:spPr>
          <a:xfrm>
            <a:off x="7020000" y="6552000"/>
            <a:ext cx="648000" cy="288000"/>
          </a:xfrm>
          <a:prstGeom prst="round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Noto Sans Black"/>
              </a:defRPr>
            </a:pPr>
            <a:r>
              <a:t>+2.14%</a:t>
            </a:r>
          </a:p>
        </p:txBody>
      </p:sp>
      <p:sp>
        <p:nvSpPr>
          <p:cNvPr id="489" name="Rounded Rectangle 488"/>
          <p:cNvSpPr/>
          <p:nvPr/>
        </p:nvSpPr>
        <p:spPr>
          <a:xfrm>
            <a:off x="7020000" y="6948000"/>
            <a:ext cx="648000" cy="288000"/>
          </a:xfrm>
          <a:prstGeom prst="round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Noto Sans Black"/>
              </a:defRPr>
            </a:pPr>
            <a:r>
              <a:t>+2.62%</a:t>
            </a:r>
          </a:p>
        </p:txBody>
      </p:sp>
      <p:sp>
        <p:nvSpPr>
          <p:cNvPr id="490" name="Rounded Rectangle 489"/>
          <p:cNvSpPr/>
          <p:nvPr/>
        </p:nvSpPr>
        <p:spPr>
          <a:xfrm>
            <a:off x="4852800" y="7390800"/>
            <a:ext cx="763200" cy="24120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Noto Sans"/>
              </a:defRPr>
            </a:pPr>
            <a:r>
              <a:t>Feb 2025</a:t>
            </a:r>
          </a:p>
        </p:txBody>
      </p:sp>
      <p:sp>
        <p:nvSpPr>
          <p:cNvPr id="491" name="Rounded Rectangle 490"/>
          <p:cNvSpPr/>
          <p:nvPr/>
        </p:nvSpPr>
        <p:spPr>
          <a:xfrm>
            <a:off x="5774400" y="7390800"/>
            <a:ext cx="763200" cy="241200"/>
          </a:xfrm>
          <a:prstGeom prst="roundRect">
            <a:avLst/>
          </a:prstGeom>
          <a:solidFill>
            <a:srgbClr val="69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Noto Sans"/>
              </a:defRPr>
            </a:pPr>
            <a:r>
              <a:t>Feb 2026</a:t>
            </a:r>
          </a:p>
        </p:txBody>
      </p:sp>
      <p:graphicFrame>
        <p:nvGraphicFramePr>
          <p:cNvPr id="492" name="Table 491"/>
          <p:cNvGraphicFramePr>
            <a:graphicFrameLocks noGrp="1"/>
          </p:cNvGraphicFramePr>
          <p:nvPr/>
        </p:nvGraphicFramePr>
        <p:xfrm>
          <a:off x="853200" y="7826399"/>
          <a:ext cx="5875200" cy="138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0000"/>
                <a:gridCol w="838800"/>
                <a:gridCol w="838800"/>
                <a:gridCol w="838800"/>
                <a:gridCol w="838800"/>
                <a:gridCol w="1260000"/>
              </a:tblGrid>
              <a:tr h="286560">
                <a:tc row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Mes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Permanente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Eventual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</a:tr>
              <a:tr h="286560">
                <a:tc vMerge="1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Urbano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Campo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Urbano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Campo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Feb 2025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555,830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14,372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84,432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4,985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659,619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Feb 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559,136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13,857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76,713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4,761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654,467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Variación %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+1%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691C32"/>
                          </a:solidFill>
                          <a:latin typeface="Montserrat"/>
                        </a:defRPr>
                      </a:pPr>
                      <a:r>
                        <a:t>-4%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691C32"/>
                          </a:solidFill>
                          <a:latin typeface="Montserrat"/>
                        </a:defRPr>
                      </a:pPr>
                      <a:r>
                        <a:t>-9%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691C32"/>
                          </a:solidFill>
                          <a:latin typeface="Montserrat"/>
                        </a:defRPr>
                      </a:pPr>
                      <a:r>
                        <a:t>-4%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691C32"/>
                          </a:solidFill>
                          <a:latin typeface="Montserrat"/>
                        </a:defRPr>
                      </a:pPr>
                      <a:r>
                        <a:t>-1%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</a:tr>
            </a:tbl>
          </a:graphicData>
        </a:graphic>
      </p:graphicFrame>
      <p:sp>
        <p:nvSpPr>
          <p:cNvPr id="493" name="TextBox 492"/>
          <p:cNvSpPr txBox="1"/>
          <p:nvPr/>
        </p:nvSpPr>
        <p:spPr>
          <a:xfrm>
            <a:off x="208800" y="9313200"/>
            <a:ext cx="4316400" cy="2448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Noto Sans"/>
              </a:defRPr>
            </a:pPr>
            <a:r>
              <a:t>Fuente: Dirección de Incoporación y Recaudación.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92" name="Google Shape;492;g370e87ffe7a_2_319"/>
          <p:cNvGraphicFramePr/>
          <p:nvPr/>
        </p:nvGraphicFramePr>
        <p:xfrm>
          <a:off x="253000" y="656341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20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Puestos de trabajo y salario base de </a:t>
                      </a:r>
                      <a:r>
                        <a:rPr lang="es" sz="20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  <a:extLst>
                            <a:ext uri="http://customooxmlschemas.google.com/">
      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6"/>
                            </a:ext>
                          </a:extLst>
                        </a:rPr>
                        <a:t>cotización</a:t>
                      </a:r>
                      <a:endParaRPr sz="25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493" name="Google Shape;493;g370e87ffe7a_2_31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743437" y="2513375"/>
            <a:ext cx="1017725" cy="965325"/>
          </a:xfrm>
          <a:prstGeom prst="rect">
            <a:avLst/>
          </a:prstGeom>
          <a:noFill/>
          <a:ln>
            <a:noFill/>
          </a:ln>
        </p:spPr>
      </p:pic>
      <p:sp>
        <p:nvSpPr>
          <p:cNvPr id="496" name="Google Shape;496;g370e87ffe7a_2_319"/>
          <p:cNvSpPr/>
          <p:nvPr/>
        </p:nvSpPr>
        <p:spPr>
          <a:xfrm>
            <a:off x="744125" y="1129296"/>
            <a:ext cx="609033" cy="528897"/>
          </a:xfrm>
          <a:custGeom>
            <a:avLst/>
            <a:gdLst/>
            <a:ahLst/>
            <a:cxnLst/>
            <a:rect l="l" t="t" r="r" b="b"/>
            <a:pathLst>
              <a:path w="8255" h="8287" extrusionOk="0">
                <a:moveTo>
                  <a:pt x="4128" y="1229"/>
                </a:moveTo>
                <a:cubicBezTo>
                  <a:pt x="4348" y="1229"/>
                  <a:pt x="4506" y="1418"/>
                  <a:pt x="4506" y="1670"/>
                </a:cubicBezTo>
                <a:lnTo>
                  <a:pt x="4506" y="1922"/>
                </a:lnTo>
                <a:cubicBezTo>
                  <a:pt x="4978" y="2080"/>
                  <a:pt x="5356" y="2552"/>
                  <a:pt x="5356" y="3119"/>
                </a:cubicBezTo>
                <a:cubicBezTo>
                  <a:pt x="5356" y="3340"/>
                  <a:pt x="5136" y="3498"/>
                  <a:pt x="4947" y="3498"/>
                </a:cubicBezTo>
                <a:cubicBezTo>
                  <a:pt x="4726" y="3498"/>
                  <a:pt x="4506" y="3308"/>
                  <a:pt x="4506" y="3119"/>
                </a:cubicBezTo>
                <a:cubicBezTo>
                  <a:pt x="4506" y="2867"/>
                  <a:pt x="4317" y="2710"/>
                  <a:pt x="4128" y="2710"/>
                </a:cubicBezTo>
                <a:cubicBezTo>
                  <a:pt x="3939" y="2710"/>
                  <a:pt x="3687" y="2930"/>
                  <a:pt x="3687" y="3119"/>
                </a:cubicBezTo>
                <a:cubicBezTo>
                  <a:pt x="3718" y="3340"/>
                  <a:pt x="4033" y="3592"/>
                  <a:pt x="4411" y="3813"/>
                </a:cubicBezTo>
                <a:cubicBezTo>
                  <a:pt x="4821" y="4128"/>
                  <a:pt x="5388" y="4537"/>
                  <a:pt x="5388" y="5199"/>
                </a:cubicBezTo>
                <a:cubicBezTo>
                  <a:pt x="5388" y="5766"/>
                  <a:pt x="5041" y="6175"/>
                  <a:pt x="4569" y="6396"/>
                </a:cubicBezTo>
                <a:lnTo>
                  <a:pt x="4569" y="6648"/>
                </a:lnTo>
                <a:cubicBezTo>
                  <a:pt x="4569" y="6900"/>
                  <a:pt x="4348" y="7089"/>
                  <a:pt x="4159" y="7089"/>
                </a:cubicBezTo>
                <a:cubicBezTo>
                  <a:pt x="3970" y="7089"/>
                  <a:pt x="3718" y="6900"/>
                  <a:pt x="3718" y="6648"/>
                </a:cubicBezTo>
                <a:lnTo>
                  <a:pt x="3718" y="6396"/>
                </a:lnTo>
                <a:cubicBezTo>
                  <a:pt x="3245" y="6238"/>
                  <a:pt x="2899" y="5766"/>
                  <a:pt x="2899" y="5199"/>
                </a:cubicBezTo>
                <a:cubicBezTo>
                  <a:pt x="2899" y="4978"/>
                  <a:pt x="3088" y="4821"/>
                  <a:pt x="3308" y="4821"/>
                </a:cubicBezTo>
                <a:cubicBezTo>
                  <a:pt x="3498" y="4821"/>
                  <a:pt x="3687" y="5010"/>
                  <a:pt x="3687" y="5199"/>
                </a:cubicBezTo>
                <a:cubicBezTo>
                  <a:pt x="3687" y="5451"/>
                  <a:pt x="3876" y="5608"/>
                  <a:pt x="4128" y="5608"/>
                </a:cubicBezTo>
                <a:cubicBezTo>
                  <a:pt x="4348" y="5608"/>
                  <a:pt x="4506" y="5388"/>
                  <a:pt x="4506" y="5199"/>
                </a:cubicBezTo>
                <a:cubicBezTo>
                  <a:pt x="4506" y="4978"/>
                  <a:pt x="4191" y="4726"/>
                  <a:pt x="3844" y="4506"/>
                </a:cubicBezTo>
                <a:cubicBezTo>
                  <a:pt x="3403" y="4191"/>
                  <a:pt x="2867" y="3781"/>
                  <a:pt x="2867" y="3119"/>
                </a:cubicBezTo>
                <a:cubicBezTo>
                  <a:pt x="2867" y="2552"/>
                  <a:pt x="3214" y="2143"/>
                  <a:pt x="3687" y="1922"/>
                </a:cubicBezTo>
                <a:lnTo>
                  <a:pt x="3687" y="1670"/>
                </a:lnTo>
                <a:cubicBezTo>
                  <a:pt x="3687" y="1418"/>
                  <a:pt x="3876" y="1229"/>
                  <a:pt x="4128" y="1229"/>
                </a:cubicBezTo>
                <a:close/>
                <a:moveTo>
                  <a:pt x="4128" y="0"/>
                </a:moveTo>
                <a:cubicBezTo>
                  <a:pt x="1828" y="0"/>
                  <a:pt x="0" y="1859"/>
                  <a:pt x="0" y="4128"/>
                </a:cubicBezTo>
                <a:cubicBezTo>
                  <a:pt x="0" y="6427"/>
                  <a:pt x="1828" y="8286"/>
                  <a:pt x="4128" y="8286"/>
                </a:cubicBezTo>
                <a:cubicBezTo>
                  <a:pt x="6396" y="8286"/>
                  <a:pt x="8255" y="6427"/>
                  <a:pt x="8255" y="4128"/>
                </a:cubicBezTo>
                <a:cubicBezTo>
                  <a:pt x="8255" y="1859"/>
                  <a:pt x="6396" y="0"/>
                  <a:pt x="4128" y="0"/>
                </a:cubicBezTo>
                <a:close/>
              </a:path>
            </a:pathLst>
          </a:custGeom>
          <a:solidFill>
            <a:srgbClr val="A4214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0" name="Google Shape;500;g370e87ffe7a_2_319"/>
          <p:cNvSpPr txBox="1"/>
          <p:nvPr/>
        </p:nvSpPr>
        <p:spPr>
          <a:xfrm>
            <a:off x="320200" y="2450300"/>
            <a:ext cx="64521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s" sz="900" b="1" i="0" u="none" strike="noStrike" cap="none" dirty="0">
                <a:solidFill>
                  <a:srgbClr val="5B0F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s" sz="1400" b="1" i="0" u="none" strike="noStrike" cap="none" dirty="0">
                <a:solidFill>
                  <a:srgbClr val="5B0F00"/>
                </a:solidFill>
                <a:latin typeface="Montserrat"/>
                <a:ea typeface="Montserrat"/>
                <a:cs typeface="Montserrat"/>
                <a:sym typeface="Montserrat"/>
              </a:rPr>
              <a:t>Puestos de trabajo comparación interanual de cada año</a:t>
            </a:r>
            <a:endParaRPr sz="2000" b="1" i="0" u="none" strike="noStrike" cap="none" dirty="0">
              <a:solidFill>
                <a:srgbClr val="5B0F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01" name="TextBox 500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PUEBLA</a:t>
            </a:r>
          </a:p>
        </p:txBody>
      </p:sp>
      <p:sp>
        <p:nvSpPr>
          <p:cNvPr id="502" name="TextBox 501"/>
          <p:cNvSpPr txBox="1"/>
          <p:nvPr/>
        </p:nvSpPr>
        <p:spPr>
          <a:xfrm>
            <a:off x="6717600" y="2721600"/>
            <a:ext cx="961200" cy="63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$585.69</a:t>
            </a:r>
          </a:p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SBC</a:t>
            </a:r>
          </a:p>
          <a:p>
            <a:pPr algn="ctr">
              <a:defRPr sz="800" b="0">
                <a:solidFill>
                  <a:srgbClr val="FFFFFF"/>
                </a:solidFill>
                <a:latin typeface="Montserrat"/>
              </a:defRPr>
            </a:pPr>
            <a:r>
              <a:t>Febrero</a:t>
            </a:r>
          </a:p>
        </p:txBody>
      </p:sp>
      <p:graphicFrame>
        <p:nvGraphicFramePr>
          <p:cNvPr id="503" name="Table 502"/>
          <p:cNvGraphicFramePr>
            <a:graphicFrameLocks noGrp="1"/>
          </p:cNvGraphicFramePr>
          <p:nvPr/>
        </p:nvGraphicFramePr>
        <p:xfrm>
          <a:off x="478800" y="1130400"/>
          <a:ext cx="6638400" cy="122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06400"/>
                <a:gridCol w="1106400"/>
                <a:gridCol w="1106400"/>
                <a:gridCol w="1106400"/>
                <a:gridCol w="1106400"/>
                <a:gridCol w="1106400"/>
              </a:tblGrid>
              <a:tr h="61200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2018 Diciembre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2026 Febrero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Variación %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Nacional Febrero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Salario Mensual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</a:tr>
              <a:tr h="61200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Salario Base de Cotización</a:t>
                      </a:r>
                    </a:p>
                  </a:txBody>
                  <a:tcPr>
                    <a:solidFill>
                      <a:srgbClr val="A421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Montserrat"/>
                        </a:defRPr>
                      </a:pPr>
                      <a:r>
                        <a:t>$316.38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latin typeface="Montserrat"/>
                        </a:defRPr>
                      </a:pPr>
                      <a:r>
                        <a:t>$585.69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Montserrat"/>
                        </a:defRPr>
                      </a:pPr>
                      <a:r>
                        <a:t>0.3%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latin typeface="Montserrat"/>
                        </a:defRPr>
                      </a:pPr>
                      <a:r>
                        <a:t>$664.09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9F2241"/>
                          </a:solidFill>
                          <a:latin typeface="Montserrat"/>
                        </a:defRPr>
                      </a:pPr>
                      <a:r>
                        <a:t>$17,570.7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04" name="Chart 503"/>
          <p:cNvGraphicFramePr>
            <a:graphicFrameLocks noGrp="1"/>
          </p:cNvGraphicFramePr>
          <p:nvPr/>
        </p:nvGraphicFramePr>
        <p:xfrm>
          <a:off x="745200" y="2851200"/>
          <a:ext cx="6163200" cy="360000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505" name="TextBox 504"/>
          <p:cNvSpPr txBox="1"/>
          <p:nvPr/>
        </p:nvSpPr>
        <p:spPr>
          <a:xfrm>
            <a:off x="7452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2018</a:t>
            </a:r>
          </a:p>
        </p:txBody>
      </p:sp>
      <p:sp>
        <p:nvSpPr>
          <p:cNvPr id="506" name="TextBox 505"/>
          <p:cNvSpPr txBox="1"/>
          <p:nvPr/>
        </p:nvSpPr>
        <p:spPr>
          <a:xfrm>
            <a:off x="14300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2019</a:t>
            </a:r>
          </a:p>
        </p:txBody>
      </p:sp>
      <p:sp>
        <p:nvSpPr>
          <p:cNvPr id="507" name="TextBox 506"/>
          <p:cNvSpPr txBox="1"/>
          <p:nvPr/>
        </p:nvSpPr>
        <p:spPr>
          <a:xfrm>
            <a:off x="21148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2020</a:t>
            </a:r>
          </a:p>
        </p:txBody>
      </p:sp>
      <p:sp>
        <p:nvSpPr>
          <p:cNvPr id="508" name="TextBox 507"/>
          <p:cNvSpPr txBox="1"/>
          <p:nvPr/>
        </p:nvSpPr>
        <p:spPr>
          <a:xfrm>
            <a:off x="27996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2021</a:t>
            </a:r>
          </a:p>
        </p:txBody>
      </p:sp>
      <p:sp>
        <p:nvSpPr>
          <p:cNvPr id="509" name="TextBox 508"/>
          <p:cNvSpPr txBox="1"/>
          <p:nvPr/>
        </p:nvSpPr>
        <p:spPr>
          <a:xfrm>
            <a:off x="34844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2022</a:t>
            </a:r>
          </a:p>
        </p:txBody>
      </p:sp>
      <p:sp>
        <p:nvSpPr>
          <p:cNvPr id="510" name="TextBox 509"/>
          <p:cNvSpPr txBox="1"/>
          <p:nvPr/>
        </p:nvSpPr>
        <p:spPr>
          <a:xfrm>
            <a:off x="41692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2023</a:t>
            </a:r>
          </a:p>
        </p:txBody>
      </p:sp>
      <p:sp>
        <p:nvSpPr>
          <p:cNvPr id="511" name="TextBox 510"/>
          <p:cNvSpPr txBox="1"/>
          <p:nvPr/>
        </p:nvSpPr>
        <p:spPr>
          <a:xfrm>
            <a:off x="48540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2024</a:t>
            </a:r>
          </a:p>
        </p:txBody>
      </p:sp>
      <p:sp>
        <p:nvSpPr>
          <p:cNvPr id="512" name="TextBox 511"/>
          <p:cNvSpPr txBox="1"/>
          <p:nvPr/>
        </p:nvSpPr>
        <p:spPr>
          <a:xfrm>
            <a:off x="55388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2025</a:t>
            </a:r>
          </a:p>
        </p:txBody>
      </p:sp>
      <p:sp>
        <p:nvSpPr>
          <p:cNvPr id="513" name="TextBox 512"/>
          <p:cNvSpPr txBox="1"/>
          <p:nvPr/>
        </p:nvSpPr>
        <p:spPr>
          <a:xfrm>
            <a:off x="62236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2026</a:t>
            </a:r>
          </a:p>
        </p:txBody>
      </p:sp>
      <p:graphicFrame>
        <p:nvGraphicFramePr>
          <p:cNvPr id="514" name="Table 513"/>
          <p:cNvGraphicFramePr>
            <a:graphicFrameLocks noGrp="1"/>
          </p:cNvGraphicFramePr>
          <p:nvPr/>
        </p:nvGraphicFramePr>
        <p:xfrm>
          <a:off x="320400" y="6649200"/>
          <a:ext cx="7038000" cy="2339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20000"/>
                <a:gridCol w="3240000"/>
                <a:gridCol w="1278000"/>
              </a:tblGrid>
              <a:tr h="251999">
                <a:tc gridSpan="3"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PRINCIPALES DEUDORES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Categoría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Deudores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de deuda (mdp)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88000">
                <a:tc rowSpan="3"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Principal deudor privado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FERRETERIA MIL HERRAMIENTAS SAS DE CV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$34,341.13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8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GCOOL INNOVATION OF CORMECIAL TECHNOLOGY SAS DE CV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$25,424.03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</a:tr>
              <a:tr h="288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SERVICIOS DE SEGURIDAD PRIVADA COVENANT PROTECTION SA DE CV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$20,715.63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8000">
                <a:tc rowSpan="3"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Principal deudor público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Municipio de Puebla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$95.06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</a:tr>
              <a:tr h="288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Aeropuertos y Servicios Auxiliares Sin Tipo de Sociedad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$26.99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8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Benemérita Universidad Autónoma de Puebla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$25.36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</a:tr>
            </a:tbl>
          </a:graphicData>
        </a:graphic>
      </p:graphicFrame>
      <p:sp>
        <p:nvSpPr>
          <p:cNvPr id="515" name="TextBox 514"/>
          <p:cNvSpPr txBox="1"/>
          <p:nvPr/>
        </p:nvSpPr>
        <p:spPr>
          <a:xfrm>
            <a:off x="251999" y="9561600"/>
            <a:ext cx="4316400" cy="2448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Noto Sans"/>
              </a:defRPr>
            </a:pPr>
            <a:r>
              <a:t>Salario base de cotización: se utilizo para deflactar el INPC a febrero de 2026 144.307, para diciembre 2018 es 103.02, el indice para dividir diciembre 2018 es de 0.713895.</a:t>
            </a:r>
          </a:p>
        </p:txBody>
      </p:sp>
      <p:sp>
        <p:nvSpPr>
          <p:cNvPr id="516" name="TextBox 515"/>
          <p:cNvSpPr txBox="1"/>
          <p:nvPr/>
        </p:nvSpPr>
        <p:spPr>
          <a:xfrm>
            <a:off x="251999" y="9813600"/>
            <a:ext cx="4316400" cy="2448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Noto Sans"/>
              </a:defRPr>
            </a:pPr>
            <a:r>
              <a:t>Fuente: Dirección de Incorporación y Recaudación enero 2026.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12" name="Google Shape;512;g370e87ffe7a_0_0"/>
          <p:cNvGraphicFramePr/>
          <p:nvPr/>
        </p:nvGraphicFramePr>
        <p:xfrm>
          <a:off x="-126" y="2788487"/>
          <a:ext cx="7772400" cy="31594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772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13650">
                <a:tc>
                  <a:txBody>
                    <a:bodyPr/>
                    <a:lstStyle/>
                    <a:p>
                      <a:pPr marL="26670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" sz="1600" b="1" u="none" strike="noStrike" cap="none">
                          <a:solidFill>
                            <a:srgbClr val="00645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3. Productividad</a:t>
                      </a:r>
                      <a:endParaRPr sz="1700" b="1" u="none" strike="noStrike" cap="none">
                        <a:solidFill>
                          <a:srgbClr val="006455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72300" marR="36150" marT="36050" marB="3605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645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18" name="Google Shape;518;g370e87ffe7a_0_0"/>
          <p:cNvGraphicFramePr/>
          <p:nvPr/>
        </p:nvGraphicFramePr>
        <p:xfrm>
          <a:off x="0" y="5391789"/>
          <a:ext cx="7772400" cy="31594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772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13650">
                <a:tc>
                  <a:txBody>
                    <a:bodyPr/>
                    <a:lstStyle/>
                    <a:p>
                      <a:pPr marL="26670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" sz="1600" b="1" u="none" strike="noStrike" cap="none" dirty="0">
                          <a:solidFill>
                            <a:srgbClr val="00645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4. Personal</a:t>
                      </a:r>
                      <a:endParaRPr sz="1700" b="1" u="none" strike="noStrike" cap="none" dirty="0">
                        <a:solidFill>
                          <a:srgbClr val="006455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72300" marR="36150" marT="36050" marB="3605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645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20" name="Google Shape;520;g370e87ffe7a_0_0"/>
          <p:cNvGraphicFramePr/>
          <p:nvPr/>
        </p:nvGraphicFramePr>
        <p:xfrm>
          <a:off x="-2134" y="811308"/>
          <a:ext cx="3886325" cy="31594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38863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13650">
                <a:tc>
                  <a:txBody>
                    <a:bodyPr/>
                    <a:lstStyle/>
                    <a:p>
                      <a:pPr marL="635000" marR="0" lvl="0" indent="-3365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6455"/>
                        </a:buClr>
                        <a:buSzPts val="1700"/>
                        <a:buFont typeface="Montserrat"/>
                        <a:buAutoNum type="arabicPeriod"/>
                      </a:pPr>
                      <a:r>
                        <a:rPr lang="es" sz="1600" b="1" u="none" strike="noStrike" cap="none">
                          <a:solidFill>
                            <a:srgbClr val="00645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Infraestructura</a:t>
                      </a:r>
                      <a:endParaRPr sz="1700" b="1" u="none" strike="noStrike" cap="none">
                        <a:solidFill>
                          <a:srgbClr val="006455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72300" marR="36150" marT="36050" marB="3605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645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21" name="Google Shape;521;g370e87ffe7a_0_0"/>
          <p:cNvGraphicFramePr/>
          <p:nvPr/>
        </p:nvGraphicFramePr>
        <p:xfrm>
          <a:off x="-126" y="7519253"/>
          <a:ext cx="7772400" cy="39605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772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96050">
                <a:tc>
                  <a:txBody>
                    <a:bodyPr/>
                    <a:lstStyle/>
                    <a:p>
                      <a:pPr marL="26670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" sz="1600" b="1" u="none" strike="noStrike" cap="none">
                          <a:solidFill>
                            <a:srgbClr val="00645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5. Organización comunitaria</a:t>
                      </a:r>
                      <a:endParaRPr sz="1700" b="1" u="none" strike="noStrike" cap="none">
                        <a:solidFill>
                          <a:srgbClr val="006455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72300" marR="36150" marT="36050" marB="3605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645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23" name="Google Shape;523;g370e87ffe7a_0_0"/>
          <p:cNvGraphicFramePr/>
          <p:nvPr/>
        </p:nvGraphicFramePr>
        <p:xfrm>
          <a:off x="3884217" y="826580"/>
          <a:ext cx="3886325" cy="31594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38863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136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" sz="1600" b="1" u="none" strike="noStrike" cap="none">
                          <a:solidFill>
                            <a:srgbClr val="00645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2.  Población beneficiada </a:t>
                      </a:r>
                      <a:endParaRPr sz="1600" b="1" u="none" strike="noStrike" cap="none">
                        <a:solidFill>
                          <a:srgbClr val="006455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72300" marR="36150" marT="36050" marB="3605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645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524" name="Google Shape;524;g370e87ffe7a_0_0"/>
          <p:cNvCxnSpPr/>
          <p:nvPr/>
        </p:nvCxnSpPr>
        <p:spPr>
          <a:xfrm>
            <a:off x="6214233" y="1355079"/>
            <a:ext cx="0" cy="524700"/>
          </a:xfrm>
          <a:prstGeom prst="straightConnector1">
            <a:avLst/>
          </a:prstGeom>
          <a:noFill/>
          <a:ln w="19050" cap="flat" cmpd="sng">
            <a:solidFill>
              <a:srgbClr val="A4825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529" name="Google Shape;529;g370e87ffe7a_0_0"/>
          <p:cNvCxnSpPr/>
          <p:nvPr/>
        </p:nvCxnSpPr>
        <p:spPr>
          <a:xfrm>
            <a:off x="6214233" y="2225029"/>
            <a:ext cx="0" cy="524700"/>
          </a:xfrm>
          <a:prstGeom prst="straightConnector1">
            <a:avLst/>
          </a:prstGeom>
          <a:noFill/>
          <a:ln w="19050" cap="flat" cmpd="sng">
            <a:solidFill>
              <a:srgbClr val="A4825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30" name="TextBox 529"/>
          <p:cNvSpPr txBox="1"/>
          <p:nvPr/>
        </p:nvSpPr>
        <p:spPr>
          <a:xfrm>
            <a:off x="0" y="27432"/>
            <a:ext cx="7772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>
                <a:solidFill>
                  <a:srgbClr val="FFFFFF"/>
                </a:solidFill>
                <a:latin typeface="Montserrat"/>
              </a:defRPr>
            </a:pPr>
            <a:r>
              <a:t>PUEBLA PROGRAMA IMSS-COPLAMAR</a:t>
            </a:r>
          </a:p>
        </p:txBody>
      </p:sp>
      <p:sp>
        <p:nvSpPr>
          <p:cNvPr id="531" name="TextBox 530"/>
          <p:cNvSpPr txBox="1"/>
          <p:nvPr/>
        </p:nvSpPr>
        <p:spPr>
          <a:xfrm>
            <a:off x="309600" y="5119200"/>
            <a:ext cx="1958400" cy="270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Noto Sans"/>
              </a:defRPr>
            </a:pPr>
            <a:r>
              <a:t>enero-diciembre 2025</a:t>
            </a:r>
          </a:p>
        </p:txBody>
      </p:sp>
      <p:sp>
        <p:nvSpPr>
          <p:cNvPr id="532" name="TextBox 531"/>
          <p:cNvSpPr txBox="1"/>
          <p:nvPr/>
        </p:nvSpPr>
        <p:spPr>
          <a:xfrm>
            <a:off x="309600" y="9190800"/>
            <a:ext cx="1958400" cy="270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Noto Sans"/>
              </a:defRPr>
            </a:pPr>
            <a:r>
              <a:t>enero-diciembre 2025</a:t>
            </a:r>
          </a:p>
        </p:txBody>
      </p:sp>
      <p:graphicFrame>
        <p:nvGraphicFramePr>
          <p:cNvPr id="533" name="Table 532"/>
          <p:cNvGraphicFramePr>
            <a:graphicFrameLocks noGrp="1"/>
          </p:cNvGraphicFramePr>
          <p:nvPr/>
        </p:nvGraphicFramePr>
        <p:xfrm>
          <a:off x="310896" y="1335024"/>
          <a:ext cx="3575304" cy="12435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51176"/>
                <a:gridCol w="1024128"/>
              </a:tblGrid>
              <a:tr h="207264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Unidades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</a:tr>
              <a:tr h="207264">
                <a:tc>
                  <a:txBody>
                    <a:bodyPr/>
                    <a:lstStyle/>
                    <a:p>
                      <a:pPr algn="l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Rural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  <a:tr h="207264">
                <a:tc>
                  <a:txBody>
                    <a:bodyPr/>
                    <a:lstStyle/>
                    <a:p>
                      <a:pPr algn="l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Médica Rural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309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  <a:tr h="207264">
                <a:tc>
                  <a:txBody>
                    <a:bodyPr/>
                    <a:lstStyle/>
                    <a:p>
                      <a:pPr algn="l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Brigada Salud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8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  <a:tr h="207264">
                <a:tc>
                  <a:txBody>
                    <a:bodyPr/>
                    <a:lstStyle/>
                    <a:p>
                      <a:pPr algn="l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Médica Móvil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12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  <a:tr h="207264">
                <a:tc>
                  <a:txBody>
                    <a:bodyPr/>
                    <a:lstStyle/>
                    <a:p>
                      <a:pPr algn="l">
                        <a:defRPr b="1" sz="11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338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34" name="Table 533"/>
          <p:cNvGraphicFramePr>
            <a:graphicFrameLocks noGrp="1"/>
          </p:cNvGraphicFramePr>
          <p:nvPr/>
        </p:nvGraphicFramePr>
        <p:xfrm>
          <a:off x="310896" y="3209544"/>
          <a:ext cx="4965192" cy="1691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5064"/>
                <a:gridCol w="1655064"/>
                <a:gridCol w="1655064"/>
              </a:tblGrid>
              <a:tr h="18796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Concepto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Productividad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Día Típico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</a:tr>
              <a:tr h="187960">
                <a:tc>
                  <a:txBody>
                    <a:bodyPr/>
                    <a:lstStyle/>
                    <a:p>
                      <a:pPr algn="l">
                        <a:defRPr b="1" sz="11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 consultas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224,321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811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  <a:tr h="187960">
                <a:tc>
                  <a:txBody>
                    <a:bodyPr/>
                    <a:lstStyle/>
                    <a:p>
                      <a:pPr algn="ctr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Familiar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101,356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389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</a:tr>
              <a:tr h="187960">
                <a:tc>
                  <a:txBody>
                    <a:bodyPr/>
                    <a:lstStyle/>
                    <a:p>
                      <a:pPr algn="ctr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Estomatología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18,290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71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</a:tr>
              <a:tr h="187960">
                <a:tc>
                  <a:txBody>
                    <a:bodyPr/>
                    <a:lstStyle/>
                    <a:p>
                      <a:pPr algn="ctr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Urgencias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45,050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124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</a:tr>
              <a:tr h="187960">
                <a:tc>
                  <a:txBody>
                    <a:bodyPr/>
                    <a:lstStyle/>
                    <a:p>
                      <a:pPr algn="ctr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Especialidades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59,625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229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</a:tr>
              <a:tr h="187960">
                <a:tc>
                  <a:txBody>
                    <a:bodyPr/>
                    <a:lstStyle/>
                    <a:p>
                      <a:pPr algn="l">
                        <a:defRPr b="1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Cirugías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7,516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21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</a:tr>
              <a:tr h="187960">
                <a:tc>
                  <a:txBody>
                    <a:bodyPr/>
                    <a:lstStyle/>
                    <a:p>
                      <a:pPr algn="l">
                        <a:defRPr b="1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Partos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5,362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15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</a:tr>
              <a:tr h="187960">
                <a:tc>
                  <a:txBody>
                    <a:bodyPr/>
                    <a:lstStyle/>
                    <a:p>
                      <a:pPr algn="l">
                        <a:defRPr b="1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Egresos Hosp.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13,782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38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35" name="Table 534"/>
          <p:cNvGraphicFramePr>
            <a:graphicFrameLocks noGrp="1"/>
          </p:cNvGraphicFramePr>
          <p:nvPr/>
        </p:nvGraphicFramePr>
        <p:xfrm>
          <a:off x="310896" y="5815584"/>
          <a:ext cx="7022592" cy="16093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64208"/>
                <a:gridCol w="923544"/>
                <a:gridCol w="1179576"/>
                <a:gridCol w="1179576"/>
                <a:gridCol w="1179576"/>
                <a:gridCol w="896112"/>
              </a:tblGrid>
              <a:tr h="201168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Disciplina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Base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Confianza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Estatuto A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Sustitutos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Médicos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271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13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20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307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Enfermeras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520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347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872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Paramédicos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63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14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84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Administrativas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60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11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88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Servicios Generales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215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50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270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Acción Comunitaria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>
                        <a:defRPr b="1" sz="11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1,129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31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28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440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1,628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36" name="Table 535"/>
          <p:cNvGraphicFramePr>
            <a:graphicFrameLocks noGrp="1"/>
          </p:cNvGraphicFramePr>
          <p:nvPr/>
        </p:nvGraphicFramePr>
        <p:xfrm>
          <a:off x="310896" y="7991856"/>
          <a:ext cx="7004303" cy="612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6696"/>
                <a:gridCol w="996696"/>
                <a:gridCol w="832104"/>
                <a:gridCol w="1060704"/>
                <a:gridCol w="969264"/>
                <a:gridCol w="1042415"/>
                <a:gridCol w="1106424"/>
              </a:tblGrid>
              <a:tr h="306324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OOAD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Voluntarios Rurales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Comités de Salud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Integrantes de Comités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Voluntarios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Parteras Voluntarias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Médicos Tradicionales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algn="l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 Programa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1,307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1,290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7,724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11,783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622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122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sp>
        <p:nvSpPr>
          <p:cNvPr id="537" name="Rounded Rectangle 536"/>
          <p:cNvSpPr/>
          <p:nvPr/>
        </p:nvSpPr>
        <p:spPr>
          <a:xfrm rot="16200000">
            <a:off x="5648400" y="-93600"/>
            <a:ext cx="792000" cy="3466800"/>
          </a:xfrm>
          <a:prstGeom prst="round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38" name="Connector 537"/>
          <p:cNvCxnSpPr/>
          <p:nvPr/>
        </p:nvCxnSpPr>
        <p:spPr>
          <a:xfrm>
            <a:off x="6213600" y="1353600"/>
            <a:ext cx="0" cy="576000"/>
          </a:xfrm>
          <a:prstGeom prst="line">
            <a:avLst/>
          </a:prstGeom>
          <a:ln w="12700">
            <a:solidFill>
              <a:srgbClr val="A082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9" name="TextBox 538"/>
          <p:cNvSpPr txBox="1"/>
          <p:nvPr/>
        </p:nvSpPr>
        <p:spPr>
          <a:xfrm>
            <a:off x="4478400" y="1429200"/>
            <a:ext cx="1645200" cy="5003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2000">
                <a:solidFill>
                  <a:srgbClr val="A08250"/>
                </a:solidFill>
                <a:latin typeface="Montserrat"/>
              </a:defRPr>
            </a:pPr>
            <a:r>
              <a:t>1,203,362</a:t>
            </a:r>
          </a:p>
          <a:p>
            <a:pPr algn="ctr">
              <a:defRPr sz="1000">
                <a:solidFill>
                  <a:srgbClr val="A08250"/>
                </a:solidFill>
                <a:latin typeface="Montserrat"/>
              </a:defRPr>
            </a:pPr>
            <a:r>
              <a:t>Población adscrita</a:t>
            </a:r>
          </a:p>
        </p:txBody>
      </p:sp>
      <p:sp>
        <p:nvSpPr>
          <p:cNvPr id="540" name="TextBox 539"/>
          <p:cNvSpPr txBox="1"/>
          <p:nvPr/>
        </p:nvSpPr>
        <p:spPr>
          <a:xfrm>
            <a:off x="6393600" y="1195200"/>
            <a:ext cx="1137600" cy="5003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500">
                <a:solidFill>
                  <a:srgbClr val="A08250"/>
                </a:solidFill>
                <a:latin typeface="Montserrat"/>
              </a:defRPr>
            </a:pPr>
            <a:r>
              <a:t>241,388</a:t>
            </a:r>
          </a:p>
          <a:p>
            <a:pPr algn="ctr">
              <a:defRPr sz="1000">
                <a:solidFill>
                  <a:srgbClr val="A08250"/>
                </a:solidFill>
                <a:latin typeface="Montserrat"/>
              </a:defRPr>
            </a:pPr>
            <a:r>
              <a:t>Derechohabiente</a:t>
            </a:r>
          </a:p>
        </p:txBody>
      </p:sp>
      <p:sp>
        <p:nvSpPr>
          <p:cNvPr id="541" name="TextBox 540"/>
          <p:cNvSpPr txBox="1"/>
          <p:nvPr/>
        </p:nvSpPr>
        <p:spPr>
          <a:xfrm>
            <a:off x="5443200" y="1602000"/>
            <a:ext cx="2998800" cy="370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500">
                <a:solidFill>
                  <a:srgbClr val="A08250"/>
                </a:solidFill>
                <a:latin typeface="Montserrat"/>
              </a:defRPr>
            </a:pPr>
            <a:r>
              <a:t>961,974</a:t>
            </a:r>
          </a:p>
          <a:p>
            <a:pPr algn="ctr">
              <a:defRPr sz="1000">
                <a:solidFill>
                  <a:srgbClr val="A08250"/>
                </a:solidFill>
                <a:latin typeface="Montserrat"/>
              </a:defRPr>
            </a:pPr>
            <a:r>
              <a:t>Población abierta</a:t>
            </a:r>
          </a:p>
        </p:txBody>
      </p:sp>
      <p:sp>
        <p:nvSpPr>
          <p:cNvPr id="542" name="Rounded Rectangle 541"/>
          <p:cNvSpPr/>
          <p:nvPr/>
        </p:nvSpPr>
        <p:spPr>
          <a:xfrm rot="16200000">
            <a:off x="5652000" y="802800"/>
            <a:ext cx="763200" cy="3466800"/>
          </a:xfrm>
          <a:prstGeom prst="round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43" name="Connector 542"/>
          <p:cNvCxnSpPr/>
          <p:nvPr/>
        </p:nvCxnSpPr>
        <p:spPr>
          <a:xfrm>
            <a:off x="6213600" y="2224800"/>
            <a:ext cx="0" cy="525600"/>
          </a:xfrm>
          <a:prstGeom prst="line">
            <a:avLst/>
          </a:prstGeom>
          <a:ln w="12700">
            <a:solidFill>
              <a:srgbClr val="A082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4" name="TextBox 543"/>
          <p:cNvSpPr txBox="1"/>
          <p:nvPr/>
        </p:nvSpPr>
        <p:spPr>
          <a:xfrm>
            <a:off x="4672800" y="2289600"/>
            <a:ext cx="1198800" cy="43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A08250"/>
                </a:solidFill>
                <a:latin typeface="Montserrat"/>
              </a:defRPr>
            </a:pPr>
            <a:r>
              <a:t>403,182</a:t>
            </a:r>
          </a:p>
        </p:txBody>
      </p:sp>
      <p:sp>
        <p:nvSpPr>
          <p:cNvPr id="545" name="TextBox 544"/>
          <p:cNvSpPr txBox="1"/>
          <p:nvPr/>
        </p:nvSpPr>
        <p:spPr>
          <a:xfrm>
            <a:off x="6501600" y="2163600"/>
            <a:ext cx="1007999" cy="5003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A08250"/>
                </a:solidFill>
                <a:latin typeface="Montserrat"/>
              </a:defRPr>
            </a:pPr>
            <a:r>
              <a:t>Población en localidades indígenas</a:t>
            </a:r>
          </a:p>
        </p:txBody>
      </p:sp>
      <p:sp>
        <p:nvSpPr>
          <p:cNvPr id="546" name="Rounded Rectangle 545"/>
          <p:cNvSpPr/>
          <p:nvPr/>
        </p:nvSpPr>
        <p:spPr>
          <a:xfrm>
            <a:off x="5608800" y="3290400"/>
            <a:ext cx="2163600" cy="68400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7" name="TextBox 546"/>
          <p:cNvSpPr txBox="1"/>
          <p:nvPr/>
        </p:nvSpPr>
        <p:spPr>
          <a:xfrm>
            <a:off x="5608800" y="3290400"/>
            <a:ext cx="2163600" cy="68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2600">
                <a:solidFill>
                  <a:srgbClr val="FFFFFF"/>
                </a:solidFill>
                <a:latin typeface="Montserrat"/>
              </a:defRPr>
            </a:pPr>
            <a:r>
              <a:t>224,321</a:t>
            </a:r>
          </a:p>
          <a:p>
            <a:pPr algn="ctr">
              <a:defRPr sz="1600">
                <a:solidFill>
                  <a:srgbClr val="CFC48C"/>
                </a:solidFill>
                <a:latin typeface="Montserrat"/>
              </a:defRPr>
            </a:pPr>
            <a:r>
              <a:t>consultas anuales</a:t>
            </a:r>
          </a:p>
        </p:txBody>
      </p:sp>
      <p:sp>
        <p:nvSpPr>
          <p:cNvPr id="548" name="Rounded Rectangle 547"/>
          <p:cNvSpPr/>
          <p:nvPr/>
        </p:nvSpPr>
        <p:spPr>
          <a:xfrm>
            <a:off x="5608800" y="4212000"/>
            <a:ext cx="2163600" cy="68400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9" name="TextBox 548"/>
          <p:cNvSpPr txBox="1"/>
          <p:nvPr/>
        </p:nvSpPr>
        <p:spPr>
          <a:xfrm>
            <a:off x="5608800" y="4212000"/>
            <a:ext cx="2163600" cy="68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2600">
                <a:solidFill>
                  <a:srgbClr val="FFFFFF"/>
                </a:solidFill>
                <a:latin typeface="Montserrat"/>
              </a:defRPr>
            </a:pPr>
            <a:r>
              <a:t>7,516</a:t>
            </a:r>
          </a:p>
          <a:p>
            <a:pPr algn="ctr">
              <a:defRPr sz="1600">
                <a:solidFill>
                  <a:srgbClr val="CFC48C"/>
                </a:solidFill>
                <a:latin typeface="Montserrat"/>
              </a:defRPr>
            </a:pPr>
            <a:r>
              <a:t>cirugías anuales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505">
          <a:extLst>
            <a:ext uri="{FF2B5EF4-FFF2-40B4-BE49-F238E27FC236}">
              <a16:creationId xmlns:a16="http://schemas.microsoft.com/office/drawing/2014/main" id="{8B7BFF1B-B63F-1B89-9135-525643179B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1200" y="9658800"/>
            <a:ext cx="7473600" cy="399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Noto Sans"/>
              </a:defRPr>
            </a:pPr>
            <a:r>
              <a:t>Corte de Información: marzo 2025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PUEBLA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3464" y="649224"/>
            <a:ext cx="7470648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4975A"/>
                </a:solidFill>
                <a:latin typeface="Montserrat"/>
              </a:defRPr>
            </a:pPr>
            <a:r>
              <a:t>Especialistas, Draft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83464" y="1033272"/>
            <a:ext cx="7470648" cy="0"/>
          </a:xfrm>
          <a:prstGeom prst="line">
            <a:avLst/>
          </a:prstGeom>
          <a:ln w="18288">
            <a:solidFill>
              <a:srgbClr val="B497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746504" y="1371600"/>
            <a:ext cx="4645152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400">
                <a:solidFill>
                  <a:srgbClr val="006455"/>
                </a:solidFill>
                <a:latin typeface="Noto Sans"/>
              </a:defRPr>
            </a:pPr>
            <a:r>
              <a:t>Programa IMSS Ordinario Puebla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0" y="1645920"/>
          <a:ext cx="3913632" cy="36576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3959352" y="1645920"/>
          <a:ext cx="3913632" cy="365760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0" y="5760720"/>
          <a:ext cx="3913632" cy="3657600"/>
        </p:xfrm>
        <a:graphic>
          <a:graphicData uri="http://schemas.openxmlformats.org/drawingml/2006/chart">
            <c:chart xmlns:c="http://schemas.openxmlformats.org/drawingml/2006/chart" r:id="rId6"/>
          </a:graphicData>
        </a:graphic>
      </p:graphicFrame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3959352" y="5760720"/>
          <a:ext cx="3913632" cy="3657600"/>
        </p:xfrm>
        <a:graphic>
          <a:graphicData uri="http://schemas.openxmlformats.org/drawingml/2006/chart">
            <c:chart xmlns:c="http://schemas.openxmlformats.org/drawingml/2006/chart" r:id="rId7"/>
          </a:graphicData>
        </a:graphic>
      </p:graphicFrame>
    </p:spTree>
    <p:extLst>
      <p:ext uri="{BB962C8B-B14F-4D97-AF65-F5344CB8AC3E}">
        <p14:creationId xmlns:p14="http://schemas.microsoft.com/office/powerpoint/2010/main" val="1490408621"/>
      </p:ext>
    </p:extLst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PUEBLA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6304" y="640080"/>
            <a:ext cx="7470648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C955C"/>
                </a:solidFill>
                <a:latin typeface="Montserrat"/>
              </a:defRPr>
            </a:pPr>
            <a:r>
              <a:t>Capacidad médica instalada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146304" y="1024128"/>
            <a:ext cx="7470648" cy="0"/>
          </a:xfrm>
          <a:prstGeom prst="line">
            <a:avLst/>
          </a:prstGeom>
          <a:ln w="19050">
            <a:solidFill>
              <a:srgbClr val="BC95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63600" y="1692000"/>
          <a:ext cx="7200000" cy="162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12800"/>
                <a:gridCol w="1198800"/>
                <a:gridCol w="622800"/>
                <a:gridCol w="824400"/>
                <a:gridCol w="824400"/>
                <a:gridCol w="658800"/>
                <a:gridCol w="1458000"/>
              </a:tblGrid>
              <a:tr h="3240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UMAE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Inicio de Productividad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 no censables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 de cuidados intensivos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Qx*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Consultorios de especialidades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HES CMN Puebla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Octubre de 1958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73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HTO CMN Puebla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Noviembre de 1988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112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42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12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Subtotal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423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115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22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16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72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1,069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518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64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37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178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70800" y="9302400"/>
            <a:ext cx="3600000" cy="288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Noto Sans"/>
              </a:defRPr>
            </a:pPr>
            <a:r>
              <a:t>Corte de Información: enero de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70800" y="9522000"/>
            <a:ext cx="3600000" cy="288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Montserrat"/>
              </a:defRPr>
            </a:pPr>
            <a:r>
              <a:t>* No se consideran salas de tococirugía, expulsión y recuperación.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PUEBLA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83464" y="649224"/>
            <a:ext cx="7470648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4975A"/>
                </a:solidFill>
                <a:latin typeface="Montserrat"/>
              </a:defRPr>
            </a:pPr>
            <a:r>
              <a:t>Especialistas, Draft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83464" y="1033272"/>
            <a:ext cx="7470648" cy="0"/>
          </a:xfrm>
          <a:prstGeom prst="line">
            <a:avLst/>
          </a:prstGeom>
          <a:ln w="18288">
            <a:solidFill>
              <a:srgbClr val="B497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51200" y="9658800"/>
            <a:ext cx="7473600" cy="399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Noto Sans"/>
              </a:defRPr>
            </a:pPr>
            <a:r>
              <a:t>Corte de Información: marzo 2025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46504" y="1371600"/>
            <a:ext cx="4645152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400">
                <a:solidFill>
                  <a:srgbClr val="006455"/>
                </a:solidFill>
                <a:latin typeface="Noto Sans"/>
              </a:defRPr>
            </a:pPr>
            <a:r>
              <a:t>Programa IMSS Ordinario Puebla (cont.)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0" y="1645920"/>
          <a:ext cx="3913632" cy="3657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3959352" y="1645920"/>
          <a:ext cx="3913632" cy="36576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0" y="5760720"/>
          <a:ext cx="3913632" cy="36576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3959352" y="5760720"/>
          <a:ext cx="3913632" cy="365760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PUEBLA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83464" y="649224"/>
            <a:ext cx="7470648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4975A"/>
                </a:solidFill>
                <a:latin typeface="Montserrat"/>
              </a:defRPr>
            </a:pPr>
            <a:r>
              <a:t>Especialistas, Draft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83464" y="1033272"/>
            <a:ext cx="7470648" cy="0"/>
          </a:xfrm>
          <a:prstGeom prst="line">
            <a:avLst/>
          </a:prstGeom>
          <a:ln w="18288">
            <a:solidFill>
              <a:srgbClr val="B497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51200" y="9658800"/>
            <a:ext cx="7473600" cy="399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Noto Sans"/>
              </a:defRPr>
            </a:pPr>
            <a:r>
              <a:t>Corte de Información: marzo 2025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46504" y="1371600"/>
            <a:ext cx="4645152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400">
                <a:solidFill>
                  <a:srgbClr val="006455"/>
                </a:solidFill>
                <a:latin typeface="Noto Sans"/>
              </a:defRPr>
            </a:pPr>
            <a:r>
              <a:t>Programa IMSS Ordinario Puebla (cont.)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0" y="1645920"/>
          <a:ext cx="3913632" cy="3657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3959352" y="1645920"/>
          <a:ext cx="3913632" cy="36576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1746504" y="5760720"/>
            <a:ext cx="4645152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400">
                <a:solidFill>
                  <a:srgbClr val="006455"/>
                </a:solidFill>
                <a:latin typeface="Noto Sans"/>
              </a:defRPr>
            </a:pPr>
            <a:r>
              <a:t>Programa IMSS--Coplamar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0" y="6035040"/>
          <a:ext cx="3913632" cy="36576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graphicFrame>
        <p:nvGraphicFramePr>
          <p:cNvPr id="11" name="Chart 10"/>
          <p:cNvGraphicFramePr>
            <a:graphicFrameLocks noGrp="1"/>
          </p:cNvGraphicFramePr>
          <p:nvPr/>
        </p:nvGraphicFramePr>
        <p:xfrm>
          <a:off x="3959352" y="6035040"/>
          <a:ext cx="3913632" cy="365760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PUEBLA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83464" y="649224"/>
            <a:ext cx="7470648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4975A"/>
                </a:solidFill>
                <a:latin typeface="Montserrat"/>
              </a:defRPr>
            </a:pPr>
            <a:r>
              <a:t>Especialistas, Draft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83464" y="1033272"/>
            <a:ext cx="7470648" cy="0"/>
          </a:xfrm>
          <a:prstGeom prst="line">
            <a:avLst/>
          </a:prstGeom>
          <a:ln w="18288">
            <a:solidFill>
              <a:srgbClr val="B497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51200" y="9658800"/>
            <a:ext cx="7473600" cy="399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Noto Sans"/>
              </a:defRPr>
            </a:pPr>
            <a:r>
              <a:t>Corte de Información: marzo 2025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46504" y="1371600"/>
            <a:ext cx="4645152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400">
                <a:solidFill>
                  <a:srgbClr val="006455"/>
                </a:solidFill>
                <a:latin typeface="Noto Sans"/>
              </a:defRPr>
            </a:pPr>
            <a:r>
              <a:t>Programa IMSS--Coplamar (cont.)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0" y="1645920"/>
          <a:ext cx="3913632" cy="3657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3959352" y="1645920"/>
          <a:ext cx="3913632" cy="36576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0" y="5760720"/>
          <a:ext cx="3913632" cy="36576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3959352" y="5760720"/>
          <a:ext cx="3913632" cy="365760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PUEBLA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83464" y="649224"/>
            <a:ext cx="7470648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4975A"/>
                </a:solidFill>
                <a:latin typeface="Montserrat"/>
              </a:defRPr>
            </a:pPr>
            <a:r>
              <a:t>Especialistas, Draft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83464" y="1033272"/>
            <a:ext cx="7470648" cy="0"/>
          </a:xfrm>
          <a:prstGeom prst="line">
            <a:avLst/>
          </a:prstGeom>
          <a:ln w="18288">
            <a:solidFill>
              <a:srgbClr val="B497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51200" y="9658800"/>
            <a:ext cx="7473600" cy="399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Noto Sans"/>
              </a:defRPr>
            </a:pPr>
            <a:r>
              <a:t>Corte de Información: marzo 2025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46504" y="1371600"/>
            <a:ext cx="4645152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400">
                <a:solidFill>
                  <a:srgbClr val="006455"/>
                </a:solidFill>
                <a:latin typeface="Noto Sans"/>
              </a:defRPr>
            </a:pPr>
            <a:r>
              <a:t>Programa IMSS--Coplamar (cont.)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0" y="1645920"/>
          <a:ext cx="3913632" cy="3657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3959352" y="1645920"/>
          <a:ext cx="3913632" cy="36576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178</TotalTime>
  <Words>191</Words>
  <Application>Microsoft Office PowerPoint</Application>
  <PresentationFormat>Personalizado</PresentationFormat>
  <Paragraphs>69</Paragraphs>
  <Slides>23</Slides>
  <Notes>22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23</vt:i4>
      </vt:variant>
    </vt:vector>
  </HeadingPairs>
  <TitlesOfParts>
    <vt:vector size="28" baseType="lpstr">
      <vt:lpstr>Noto Sans</vt:lpstr>
      <vt:lpstr>Montserrat</vt:lpstr>
      <vt:lpstr>Calibri</vt:lpstr>
      <vt:lpstr>Arial</vt:lpstr>
      <vt:lpstr>Simple Light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Guillermo Martinez Flores</dc:creator>
  <cp:lastModifiedBy>Rohan Myron Oprisko</cp:lastModifiedBy>
  <cp:revision>61</cp:revision>
  <dcterms:modified xsi:type="dcterms:W3CDTF">2026-03-12T18:39:06Z</dcterms:modified>
</cp:coreProperties>
</file>