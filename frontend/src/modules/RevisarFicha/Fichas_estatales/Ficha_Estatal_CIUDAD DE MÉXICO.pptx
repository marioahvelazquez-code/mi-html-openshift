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91" r:id="rId40"/>
    <p:sldId id="261" r:id="rId7"/>
    <p:sldId id="262" r:id="rId8"/>
    <p:sldId id="263" r:id="rId9"/>
    <p:sldId id="281" r:id="rId10"/>
    <p:sldId id="267" r:id="rId11"/>
    <p:sldId id="292" r:id="rId41"/>
    <p:sldId id="280" r:id="rId12"/>
    <p:sldId id="293" r:id="rId4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39"/>
    <p:sldId id="304" r:id="rId38"/>
    <p:sldId id="305" r:id="rId37"/>
    <p:sldId id="306" r:id="rId36"/>
    <p:sldId id="307" r:id="rId35"/>
    <p:sldId id="308" r:id="rId34"/>
    <p:sldId id="309" r:id="rId33"/>
    <p:sldId id="310" r:id="rId59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slide" Target="slides/slide41.xml"/><Relationship Id="rId34" Type="http://schemas.openxmlformats.org/officeDocument/2006/relationships/slide" Target="slides/slide40.xml"/><Relationship Id="rId35" Type="http://schemas.openxmlformats.org/officeDocument/2006/relationships/slide" Target="slides/slide39.xml"/><Relationship Id="rId36" Type="http://schemas.openxmlformats.org/officeDocument/2006/relationships/slide" Target="slides/slide38.xml"/><Relationship Id="rId37" Type="http://schemas.openxmlformats.org/officeDocument/2006/relationships/slide" Target="slides/slide37.xml"/><Relationship Id="rId38" Type="http://schemas.openxmlformats.org/officeDocument/2006/relationships/slide" Target="slides/slide36.xml"/><Relationship Id="rId39" Type="http://schemas.openxmlformats.org/officeDocument/2006/relationships/slide" Target="slides/slide35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Relationship Id="rId59" Type="http://schemas.openxmlformats.org/officeDocument/2006/relationships/slide" Target="slides/slide4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5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6.xlsx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7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8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9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6513015.0</c:v>
                </c:pt>
                <c:pt idx="1">
                  <c:v>2184185.0</c:v>
                </c:pt>
                <c:pt idx="2">
                  <c:v>360270.0</c:v>
                </c:pt>
                <c:pt idx="3">
                  <c:v>102496.0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978</c:v>
                </c:pt>
                <c:pt idx="1">
                  <c:v>1466</c:v>
                </c:pt>
                <c:pt idx="2">
                  <c:v>1565</c:v>
                </c:pt>
                <c:pt idx="3">
                  <c:v>1571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Servicios para Empresas, Personas y el Hogar</c:v>
                </c:pt>
                <c:pt idx="5">
                  <c:v>Ind Eléctrica y Captación y Suministro de Agua Potable</c:v>
                </c:pt>
                <c:pt idx="6">
                  <c:v>Industria de la Construcción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3722</c:v>
                </c:pt>
                <c:pt idx="1">
                  <c:v>6278</c:v>
                </c:pt>
                <c:pt idx="2">
                  <c:v>373836</c:v>
                </c:pt>
                <c:pt idx="3">
                  <c:v>315398</c:v>
                </c:pt>
                <c:pt idx="4">
                  <c:v>1486654</c:v>
                </c:pt>
                <c:pt idx="5">
                  <c:v>17203</c:v>
                </c:pt>
                <c:pt idx="6">
                  <c:v>232728</c:v>
                </c:pt>
                <c:pt idx="7">
                  <c:v>801921</c:v>
                </c:pt>
                <c:pt idx="8">
                  <c:v>240856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Servicios para Empresas, Personas y el Hogar</c:v>
                </c:pt>
                <c:pt idx="5">
                  <c:v>Ind Eléctrica y Captación y Suministro de Agua Potable</c:v>
                </c:pt>
                <c:pt idx="6">
                  <c:v>Industria de la Construcción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2632</c:v>
                </c:pt>
                <c:pt idx="1">
                  <c:v>5794</c:v>
                </c:pt>
                <c:pt idx="2">
                  <c:v>355466</c:v>
                </c:pt>
                <c:pt idx="3">
                  <c:v>316188</c:v>
                </c:pt>
                <c:pt idx="4">
                  <c:v>1522226</c:v>
                </c:pt>
                <c:pt idx="5">
                  <c:v>17901</c:v>
                </c:pt>
                <c:pt idx="6">
                  <c:v>254256</c:v>
                </c:pt>
                <c:pt idx="7">
                  <c:v>897785</c:v>
                </c:pt>
                <c:pt idx="8">
                  <c:v>332576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3365468</c:v>
                </c:pt>
                <c:pt idx="1">
                  <c:v>3412383</c:v>
                </c:pt>
                <c:pt idx="2">
                  <c:v>3447038</c:v>
                </c:pt>
                <c:pt idx="3">
                  <c:v>3216913</c:v>
                </c:pt>
                <c:pt idx="4">
                  <c:v>3321460</c:v>
                </c:pt>
                <c:pt idx="5">
                  <c:v>3397269</c:v>
                </c:pt>
                <c:pt idx="6">
                  <c:v>3466984</c:v>
                </c:pt>
                <c:pt idx="7">
                  <c:v>3478596</c:v>
                </c:pt>
                <c:pt idx="8">
                  <c:v>3704824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Carlos Mc Gregor (Total: 22)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Dermatologia</c:v>
                </c:pt>
                <c:pt idx="1">
                  <c:v>Medicina Interna</c:v>
                </c:pt>
                <c:pt idx="2">
                  <c:v>Endocrinologia</c:v>
                </c:pt>
                <c:pt idx="3">
                  <c:v>Angiologia Y Cirugia Vascular</c:v>
                </c:pt>
                <c:pt idx="4">
                  <c:v>Neonatologia</c:v>
                </c:pt>
                <c:pt idx="5">
                  <c:v>Gastroenterologia Y Nutricion Pediatrica</c:v>
                </c:pt>
                <c:pt idx="6">
                  <c:v>Cardiologia Pediatrica</c:v>
                </c:pt>
                <c:pt idx="7">
                  <c:v>Pediatria</c:v>
                </c:pt>
                <c:pt idx="8">
                  <c:v>Urologia</c:v>
                </c:pt>
                <c:pt idx="9">
                  <c:v>Imagenologia Diagnostica Y Terapeutica</c:v>
                </c:pt>
                <c:pt idx="10">
                  <c:v>Anestesiologia</c:v>
                </c:pt>
                <c:pt idx="11">
                  <c:v>Neurocirugia</c:v>
                </c:pt>
                <c:pt idx="12">
                  <c:v>Oncologia Pediatrica</c:v>
                </c:pt>
                <c:pt idx="13">
                  <c:v>Geriatria Directa</c:v>
                </c:pt>
                <c:pt idx="14">
                  <c:v>Medicina Del Enfermo En Estado Critico</c:v>
                </c:pt>
                <c:pt idx="15">
                  <c:v>Medicina Del Enfermo Pediatrico En Estado Critico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 Villa Coapa (Total: 24)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Nefrologia</c:v>
                </c:pt>
                <c:pt idx="1">
                  <c:v>Imagenologia Diagnostica Y Terapeutica</c:v>
                </c:pt>
                <c:pt idx="2">
                  <c:v>Traumatologia Y Ortopedia</c:v>
                </c:pt>
                <c:pt idx="3">
                  <c:v>Cirugia Oncologica</c:v>
                </c:pt>
                <c:pt idx="4">
                  <c:v>Neurocirugia</c:v>
                </c:pt>
                <c:pt idx="5">
                  <c:v>Medicina Interna</c:v>
                </c:pt>
                <c:pt idx="6">
                  <c:v>Cirugia General</c:v>
                </c:pt>
                <c:pt idx="7">
                  <c:v>Cardiologia</c:v>
                </c:pt>
                <c:pt idx="8">
                  <c:v>Urgencias Pediatrica</c:v>
                </c:pt>
                <c:pt idx="9">
                  <c:v>Pediatria</c:v>
                </c:pt>
                <c:pt idx="10">
                  <c:v>Angiologia Y Cirugia Vascular</c:v>
                </c:pt>
                <c:pt idx="11">
                  <c:v>Calidad De La Atencion Clinica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10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1A Venados (Total: 13)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Oftalmologia</c:v>
                </c:pt>
                <c:pt idx="1">
                  <c:v>Cirugia General</c:v>
                </c:pt>
                <c:pt idx="2">
                  <c:v>Medicina De Urgencias</c:v>
                </c:pt>
                <c:pt idx="3">
                  <c:v>Patologia Clinica</c:v>
                </c:pt>
                <c:pt idx="4">
                  <c:v>Medicina Interna</c:v>
                </c:pt>
                <c:pt idx="5">
                  <c:v>Geriatria Directa</c:v>
                </c:pt>
                <c:pt idx="6">
                  <c:v>Imagenologia Diagnostica Y Terapeutica</c:v>
                </c:pt>
                <c:pt idx="7">
                  <c:v>Coloproctologia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20 Tláhuac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Pediatria</c:v>
                </c:pt>
                <c:pt idx="1">
                  <c:v>Urgencias Pediatrica</c:v>
                </c:pt>
                <c:pt idx="2">
                  <c:v>Imagenologia Diagnostica Y Terapeutica</c:v>
                </c:pt>
                <c:pt idx="3">
                  <c:v>Cirugia General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2A PasoTroncoso (Total: 15)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Medicina Interna</c:v>
                </c:pt>
                <c:pt idx="1">
                  <c:v>Cardiologia</c:v>
                </c:pt>
                <c:pt idx="2">
                  <c:v>Geriatria Directa</c:v>
                </c:pt>
                <c:pt idx="3">
                  <c:v>Medicina De Urgencias</c:v>
                </c:pt>
                <c:pt idx="4">
                  <c:v>Neumologia Directa</c:v>
                </c:pt>
                <c:pt idx="5">
                  <c:v>Urologia</c:v>
                </c:pt>
                <c:pt idx="6">
                  <c:v>Cirugia General</c:v>
                </c:pt>
                <c:pt idx="7">
                  <c:v>Dermatologia</c:v>
                </c:pt>
                <c:pt idx="8">
                  <c:v>Pediatria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30 Iztacalco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Cirugia General</c:v>
                </c:pt>
                <c:pt idx="1">
                  <c:v>Otorrinolaringologia Y Cirugia De Cabeza Y Cuello</c:v>
                </c:pt>
                <c:pt idx="2">
                  <c:v>Angiologia Y Cirugia Vascular</c:v>
                </c:pt>
                <c:pt idx="3">
                  <c:v>Medicina De Urgencias</c:v>
                </c:pt>
                <c:pt idx="4">
                  <c:v>Imagenologia Diagnostica Y Terapeutica</c:v>
                </c:pt>
                <c:pt idx="5">
                  <c:v>Medicina Interna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32 Villa Coapa (Total: 24)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Medicina Del Trabajo Y Ambiental</c:v>
                </c:pt>
                <c:pt idx="1">
                  <c:v>Oncologia Medica</c:v>
                </c:pt>
                <c:pt idx="2">
                  <c:v>Gastroenterologia</c:v>
                </c:pt>
                <c:pt idx="3">
                  <c:v>Medicina Interna</c:v>
                </c:pt>
                <c:pt idx="4">
                  <c:v>Ginecologia Y Obstetricia</c:v>
                </c:pt>
                <c:pt idx="5">
                  <c:v>Cirugia Plastica Y Reconstructiva</c:v>
                </c:pt>
                <c:pt idx="6">
                  <c:v>Otorrinolaringologia Y Cirugia De Cabeza Y Cuello</c:v>
                </c:pt>
                <c:pt idx="7">
                  <c:v>Coloproctologia</c:v>
                </c:pt>
                <c:pt idx="8">
                  <c:v>Oftalmologia</c:v>
                </c:pt>
                <c:pt idx="9">
                  <c:v>Medicina De Urgencias</c:v>
                </c:pt>
                <c:pt idx="10">
                  <c:v>Medicina Familiar</c:v>
                </c:pt>
                <c:pt idx="11">
                  <c:v>Hematologia</c:v>
                </c:pt>
                <c:pt idx="12">
                  <c:v>Cirugia Oncologica</c:v>
                </c:pt>
                <c:pt idx="13">
                  <c:v>Imagenologia Diagnostica Y Terapeutica</c:v>
                </c:pt>
                <c:pt idx="14">
                  <c:v>Neumologia Directa</c:v>
                </c:pt>
                <c:pt idx="15">
                  <c:v>Medicina De Rehabilitacion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7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47 Vicente Guerrero (Total: 14)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Nefrologia</c:v>
                </c:pt>
                <c:pt idx="1">
                  <c:v>Ginecologia Y Obstetricia</c:v>
                </c:pt>
                <c:pt idx="2">
                  <c:v>Cardiologia</c:v>
                </c:pt>
                <c:pt idx="3">
                  <c:v>Cirugia General</c:v>
                </c:pt>
                <c:pt idx="4">
                  <c:v>Medicina De Urgencias</c:v>
                </c:pt>
                <c:pt idx="5">
                  <c:v>Urologia</c:v>
                </c:pt>
                <c:pt idx="6">
                  <c:v>Medicina Interna</c:v>
                </c:pt>
                <c:pt idx="7">
                  <c:v>Imagenologia Diagnostica Y Terapeutica</c:v>
                </c:pt>
                <c:pt idx="8">
                  <c:v>Cirugia Pediatrica</c:v>
                </c:pt>
                <c:pt idx="9">
                  <c:v>Urgencias Pediatrica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8 San Ángel (Total: 15)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Medicina Interna</c:v>
                </c:pt>
                <c:pt idx="1">
                  <c:v>Dermatologia</c:v>
                </c:pt>
                <c:pt idx="2">
                  <c:v>Medicina Del Trabajo Y Ambiental</c:v>
                </c:pt>
                <c:pt idx="3">
                  <c:v>Traumatologia Y Ortopedia</c:v>
                </c:pt>
                <c:pt idx="4">
                  <c:v>Urologia</c:v>
                </c:pt>
                <c:pt idx="5">
                  <c:v>Cirugia General</c:v>
                </c:pt>
                <c:pt idx="6">
                  <c:v>Angiologia Y Cirugia Vascular</c:v>
                </c:pt>
                <c:pt idx="7">
                  <c:v>Neurologia</c:v>
                </c:pt>
                <c:pt idx="8">
                  <c:v>Nefrologia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HPSIQ MF 10 Postal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Psiquiatria Infantil Y De La Adolescencia</c:v>
                </c:pt>
                <c:pt idx="1">
                  <c:v>Medicina Familiar</c:v>
                </c:pt>
                <c:pt idx="2">
                  <c:v>Medicina Interna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UDDX CAMA Condesa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Imagenologia Diagnostica Y Terapeutica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 Col. Roma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12 Santa Fe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140 La Teja (Total: 13)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Familiar</c:v>
                </c:pt>
                <c:pt idx="1">
                  <c:v>Medicina Del Trabajo Y Ambiental</c:v>
                </c:pt>
                <c:pt idx="2">
                  <c:v>Medicina Paliativa Y Del Dolor</c:v>
                </c:pt>
                <c:pt idx="3">
                  <c:v>Imagenologia Diagnostica Y Terapeutica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15 Ermita Iztapalapa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160 El Vergel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 Contreras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 Coyoacán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21 Fco. del Paso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Imagenologia Diagnostica Y Terapeutica</c:v>
                </c:pt>
                <c:pt idx="1">
                  <c:v>Medicina Del Trabajo Y Ambiental</c:v>
                </c:pt>
                <c:pt idx="2">
                  <c:v>Medicina De Urgencias</c:v>
                </c:pt>
                <c:pt idx="3">
                  <c:v>Medicina Familiar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22 Independecia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Psiquiatria Infantil Y De La Adolescencia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28 Del Valle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31 Iztapalapa (Total: 17)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39 CFE. Xola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 Doctores (Total: 22)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Neonatologia</c:v>
                </c:pt>
                <c:pt idx="1">
                  <c:v>Pediatria</c:v>
                </c:pt>
                <c:pt idx="2">
                  <c:v>Ginecologia Y Obstetricia</c:v>
                </c:pt>
                <c:pt idx="3">
                  <c:v>Anestesiologia</c:v>
                </c:pt>
                <c:pt idx="4">
                  <c:v>Medicina Familiar</c:v>
                </c:pt>
                <c:pt idx="5">
                  <c:v>Medicina Interna</c:v>
                </c:pt>
                <c:pt idx="6">
                  <c:v>Calidad De La Atencion Clinica</c:v>
                </c:pt>
                <c:pt idx="7">
                  <c:v>Urologia Ginecologica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43 Rojo Gómez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45 Iztacalco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Imagenologia Diagnostica Y Terapeutica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46 Soriano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 Calz. Tlalpan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 San Pedro Pinos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Del Trabajo Y Ambiental</c:v>
                </c:pt>
                <c:pt idx="1">
                  <c:v>Medicina Familiar</c:v>
                </c:pt>
                <c:pt idx="2">
                  <c:v>Imagenologia Diagnostica Y Terapeutica</c:v>
                </c:pt>
                <c:pt idx="3">
                  <c:v>Medicina De Urgencias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8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161 Av. Toluca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General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42 Cuajimalpa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Familiar</c:v>
                </c:pt>
                <c:pt idx="1">
                  <c:v>Cirugia General</c:v>
                </c:pt>
                <c:pt idx="2">
                  <c:v>Traumatologia Y Ortopedia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UMFR Villa Coapa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Rehabilitacion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HGP 3A Magdalena Salinas (Total: 22)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Ginecologia Oncologica</c:v>
                </c:pt>
                <c:pt idx="1">
                  <c:v>Ginecologia Y Obstetricia</c:v>
                </c:pt>
                <c:pt idx="2">
                  <c:v>Pediatria</c:v>
                </c:pt>
                <c:pt idx="3">
                  <c:v>Medicina Del Enfermo En Estado Critico</c:v>
                </c:pt>
                <c:pt idx="4">
                  <c:v>Medicina Materno Fetal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10</c:v>
                </c:pt>
                <c:pt idx="2">
                  <c:v>6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25 I. Zaragoza (Total: 54)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Nefrologia</c:v>
                </c:pt>
                <c:pt idx="1">
                  <c:v>Neurologia</c:v>
                </c:pt>
                <c:pt idx="2">
                  <c:v>Medicina Interna</c:v>
                </c:pt>
                <c:pt idx="3">
                  <c:v>Medicina Del Enfermo En Estado Critico</c:v>
                </c:pt>
                <c:pt idx="4">
                  <c:v>Neonatologia</c:v>
                </c:pt>
                <c:pt idx="5">
                  <c:v>Hematologia</c:v>
                </c:pt>
                <c:pt idx="6">
                  <c:v>Traumatologia Y Ortopedia</c:v>
                </c:pt>
                <c:pt idx="7">
                  <c:v>Oftalmologia</c:v>
                </c:pt>
                <c:pt idx="8">
                  <c:v>Urologia</c:v>
                </c:pt>
                <c:pt idx="9">
                  <c:v>Cirugia General</c:v>
                </c:pt>
                <c:pt idx="10">
                  <c:v>Medicina De Urgencias</c:v>
                </c:pt>
                <c:pt idx="11">
                  <c:v>Imagenologia Diagnostica Y Terapeutica</c:v>
                </c:pt>
                <c:pt idx="12">
                  <c:v>Coloproctologia</c:v>
                </c:pt>
                <c:pt idx="13">
                  <c:v>Cirugia Pediatrica</c:v>
                </c:pt>
                <c:pt idx="14">
                  <c:v>Geriatria Directa</c:v>
                </c:pt>
                <c:pt idx="15">
                  <c:v>Patologia Clinica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1</c:v>
                </c:pt>
                <c:pt idx="2">
                  <c:v>12</c:v>
                </c:pt>
                <c:pt idx="3">
                  <c:v>3</c:v>
                </c:pt>
                <c:pt idx="4">
                  <c:v>1</c:v>
                </c:pt>
                <c:pt idx="5">
                  <c:v>6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2</c:v>
                </c:pt>
                <c:pt idx="10">
                  <c:v>7</c:v>
                </c:pt>
                <c:pt idx="11">
                  <c:v>9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24 Insurgentes (Total: 18)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Neumologia Directa</c:v>
                </c:pt>
                <c:pt idx="1">
                  <c:v>Hematologia</c:v>
                </c:pt>
                <c:pt idx="2">
                  <c:v>Medicina Interna</c:v>
                </c:pt>
                <c:pt idx="3">
                  <c:v>Oftalmologia</c:v>
                </c:pt>
                <c:pt idx="4">
                  <c:v>Coloproctologia</c:v>
                </c:pt>
                <c:pt idx="5">
                  <c:v>Cirugia General</c:v>
                </c:pt>
                <c:pt idx="6">
                  <c:v>Nefrologia</c:v>
                </c:pt>
                <c:pt idx="7">
                  <c:v>Medicina Del Enfermo En Estado Critico</c:v>
                </c:pt>
                <c:pt idx="8">
                  <c:v>Medicina De Urgencias</c:v>
                </c:pt>
                <c:pt idx="9">
                  <c:v>Endocrinologia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9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27 Tlatelolco (Total: 57)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Medicina Interna</c:v>
                </c:pt>
                <c:pt idx="1">
                  <c:v>Geriatria Directa</c:v>
                </c:pt>
                <c:pt idx="2">
                  <c:v>Cirugia General</c:v>
                </c:pt>
                <c:pt idx="3">
                  <c:v>Oftalmologia</c:v>
                </c:pt>
                <c:pt idx="4">
                  <c:v>Medicina Familiar</c:v>
                </c:pt>
                <c:pt idx="5">
                  <c:v>Imagenologia Diagnostica Y Terapeutica</c:v>
                </c:pt>
                <c:pt idx="6">
                  <c:v>Reumatologia</c:v>
                </c:pt>
                <c:pt idx="7">
                  <c:v>Nefrologia</c:v>
                </c:pt>
                <c:pt idx="8">
                  <c:v>Angiologia Y Cirugia Vascular</c:v>
                </c:pt>
                <c:pt idx="9">
                  <c:v>Urologia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48 San Pedro Xalpa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Medicina De Urgencias</c:v>
                </c:pt>
                <c:pt idx="1">
                  <c:v>Nefrologia</c:v>
                </c:pt>
                <c:pt idx="2">
                  <c:v>Pediatria</c:v>
                </c:pt>
                <c:pt idx="3">
                  <c:v>Gastroenterologia</c:v>
                </c:pt>
                <c:pt idx="4">
                  <c:v>Geriatria Directa</c:v>
                </c:pt>
                <c:pt idx="5">
                  <c:v>Neurologia</c:v>
                </c:pt>
                <c:pt idx="6">
                  <c:v>Medicina Del Enfermo En Estado Critico</c:v>
                </c:pt>
                <c:pt idx="7">
                  <c:v>Urologia</c:v>
                </c:pt>
                <c:pt idx="8">
                  <c:v>Oncologia Medica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29 S. Juan Aragón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Interna</c:v>
                </c:pt>
                <c:pt idx="1">
                  <c:v>Medicina Familiar</c:v>
                </c:pt>
                <c:pt idx="2">
                  <c:v>Angiologia Y Cirugia Vascular</c:v>
                </c:pt>
                <c:pt idx="3">
                  <c:v>Medicina De Urgencias</c:v>
                </c:pt>
                <c:pt idx="4">
                  <c:v>Cirugia General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11 Peralvillo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13 Azcapotzalco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14 Aeropuerto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16 Col. Guerrero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17 Legaria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20 Vallejo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23 Unidad Morelos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 La Joya (Total: 31)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Neonatologia</c:v>
                </c:pt>
                <c:pt idx="1">
                  <c:v>Medicina Materno Fetal</c:v>
                </c:pt>
                <c:pt idx="2">
                  <c:v>Medicina Interna</c:v>
                </c:pt>
                <c:pt idx="3">
                  <c:v>Medicina Del Enfermo En Estado Critico</c:v>
                </c:pt>
                <c:pt idx="4">
                  <c:v>Medicina Familiar</c:v>
                </c:pt>
                <c:pt idx="5">
                  <c:v>Hematologia</c:v>
                </c:pt>
                <c:pt idx="6">
                  <c:v>Oncologia Medica</c:v>
                </c:pt>
                <c:pt idx="7">
                  <c:v>Biologia De La Reproduccion Humana</c:v>
                </c:pt>
                <c:pt idx="8">
                  <c:v>Urologia Ginecologica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33 Rosario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34 C. Pantitlán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35 C. 7 Zaragoza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36 C. Atzacoalco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41 Fortuna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49 El Arbolillo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Epidemiologia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94 San Juan Aragón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Familiar</c:v>
                </c:pt>
                <c:pt idx="1">
                  <c:v>Imagenologia Diagnostica Y Terapeutica</c:v>
                </c:pt>
                <c:pt idx="2">
                  <c:v>Medicina Del Trabajo Y Ambiental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HONCO CMN Siglo XXI (Total: 13)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Medicina Paliativa Y Del Dolor</c:v>
                </c:pt>
                <c:pt idx="1">
                  <c:v>Hematologia</c:v>
                </c:pt>
                <c:pt idx="2">
                  <c:v>Oncologia Medica</c:v>
                </c:pt>
                <c:pt idx="3">
                  <c:v>Anestesiologia</c:v>
                </c:pt>
                <c:pt idx="4">
                  <c:v>Medicina Del Enfermo En Estado Critico</c:v>
                </c:pt>
                <c:pt idx="5">
                  <c:v>Imagenologia Diagnostica Y Terapeutica</c:v>
                </c:pt>
                <c:pt idx="6">
                  <c:v>Medicina Nuclear E Imagenologia Molecular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 CMN La Raza. (Total: 56)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</c:f>
              <c:strCache>
                <c:ptCount val="19"/>
                <c:pt idx="0">
                  <c:v>Oftalmologia</c:v>
                </c:pt>
                <c:pt idx="1">
                  <c:v>Cardiologia</c:v>
                </c:pt>
                <c:pt idx="2">
                  <c:v>Medicina Interna</c:v>
                </c:pt>
                <c:pt idx="3">
                  <c:v>Neumologia Directa</c:v>
                </c:pt>
                <c:pt idx="4">
                  <c:v>Neonatologia</c:v>
                </c:pt>
                <c:pt idx="5">
                  <c:v>Cirugia General</c:v>
                </c:pt>
                <c:pt idx="6">
                  <c:v>Cirugia Pediatrica</c:v>
                </c:pt>
                <c:pt idx="7">
                  <c:v>Cirugia Cardiotoracica</c:v>
                </c:pt>
                <c:pt idx="8">
                  <c:v>Pediatria</c:v>
                </c:pt>
                <c:pt idx="9">
                  <c:v>Medicina De Urgencias</c:v>
                </c:pt>
                <c:pt idx="10">
                  <c:v>Urgencias Pediatrica</c:v>
                </c:pt>
                <c:pt idx="11">
                  <c:v>Hemodinamia</c:v>
                </c:pt>
                <c:pt idx="12">
                  <c:v>Oncologia Medica</c:v>
                </c:pt>
                <c:pt idx="13">
                  <c:v>Endoscopia</c:v>
                </c:pt>
                <c:pt idx="14">
                  <c:v>Medicina Del Enfermo Pediatrico En Estado Critico</c:v>
                </c:pt>
                <c:pt idx="15">
                  <c:v>Otorrinolaringologia Pediatrica</c:v>
                </c:pt>
                <c:pt idx="16">
                  <c:v>Neurocirugia Pediatrica</c:v>
                </c:pt>
                <c:pt idx="17">
                  <c:v>Calidad De La Atencion Clinica</c:v>
                </c:pt>
                <c:pt idx="18">
                  <c:v>Neurofisiologia Clinica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6</c:v>
                </c:pt>
                <c:pt idx="5">
                  <c:v>1</c:v>
                </c:pt>
                <c:pt idx="6">
                  <c:v>2</c:v>
                </c:pt>
                <c:pt idx="7">
                  <c:v>4</c:v>
                </c:pt>
                <c:pt idx="8">
                  <c:v>7</c:v>
                </c:pt>
                <c:pt idx="9">
                  <c:v>1</c:v>
                </c:pt>
                <c:pt idx="10">
                  <c:v>14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8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HINF CMN La Raza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Enfermo En Estado Critico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HC CMN Siglo XXI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Cardiologia</c:v>
                </c:pt>
                <c:pt idx="1">
                  <c:v>Imagenologia Diagnostica Y Terapeutica</c:v>
                </c:pt>
                <c:pt idx="2">
                  <c:v>Hemodinamia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HP CMN Siglo XXI (Total: 16)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Nefrologia Pediatrica</c:v>
                </c:pt>
                <c:pt idx="1">
                  <c:v>Oncologia Pediatrica</c:v>
                </c:pt>
                <c:pt idx="2">
                  <c:v>Neurologia Pediatrica</c:v>
                </c:pt>
                <c:pt idx="3">
                  <c:v>Anestesiologia</c:v>
                </c:pt>
                <c:pt idx="4">
                  <c:v>Anestesiologia Pediatrica</c:v>
                </c:pt>
                <c:pt idx="5">
                  <c:v>Medicina Del Enfermo En Estado Critico</c:v>
                </c:pt>
                <c:pt idx="6">
                  <c:v>Urgencias Pediatrica</c:v>
                </c:pt>
                <c:pt idx="7">
                  <c:v>Cirugia Pediatrica</c:v>
                </c:pt>
                <c:pt idx="8">
                  <c:v>Otorrinolaringologia Pediatrica</c:v>
                </c:pt>
                <c:pt idx="9">
                  <c:v>Pediatria</c:v>
                </c:pt>
                <c:pt idx="10">
                  <c:v>Hematologia Pediatrica</c:v>
                </c:pt>
                <c:pt idx="11">
                  <c:v>Gastroenterologia Y Nutricion Pediatrica</c:v>
                </c:pt>
                <c:pt idx="12">
                  <c:v>Neurofisiologia Clinica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HORTO Magdalena de las Salinas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Plastica Y Reconstructiva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HTO Magdalena de las Salinas.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Del Enfermo En Estado Critico</c:v>
                </c:pt>
                <c:pt idx="1">
                  <c:v>Cirugia Plastica Y Reconstructiva</c:v>
                </c:pt>
                <c:pt idx="2">
                  <c:v>Medicina Interna</c:v>
                </c:pt>
                <c:pt idx="3">
                  <c:v>Geriatria Directa</c:v>
                </c:pt>
                <c:pt idx="4">
                  <c:v>Infectologia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UMFR Magdalena de las Salinas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CMN Siglo XXI (Total: 14)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Gastroenterologia</c:v>
                </c:pt>
                <c:pt idx="1">
                  <c:v>Endocrinologia</c:v>
                </c:pt>
                <c:pt idx="2">
                  <c:v>Anestesiologia</c:v>
                </c:pt>
                <c:pt idx="3">
                  <c:v>Neurocirugia</c:v>
                </c:pt>
                <c:pt idx="4">
                  <c:v>Oftalmologia</c:v>
                </c:pt>
                <c:pt idx="5">
                  <c:v>Medicina Interna</c:v>
                </c:pt>
                <c:pt idx="6">
                  <c:v>Imagenologia Diagnostica Y Terapeutica</c:v>
                </c:pt>
                <c:pt idx="7">
                  <c:v>Cirugia General</c:v>
                </c:pt>
                <c:pt idx="8">
                  <c:v>Cirugia Plastica Y Reconstructiva</c:v>
                </c:pt>
                <c:pt idx="9">
                  <c:v>Hematologia</c:v>
                </c:pt>
                <c:pt idx="10">
                  <c:v>Neumologia Directa</c:v>
                </c:pt>
                <c:pt idx="11">
                  <c:v>Calidad De La Atencion Clinica</c:v>
                </c:pt>
                <c:pt idx="12">
                  <c:v>Neurofisiologia Clinica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HPSIQ San Fernando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Psiquiatria Infantil Y De La Adolescencia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BS CMN La Raza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Patologia Clinica</c:v>
                </c:pt>
                <c:pt idx="1">
                  <c:v>Laboratorio De Analisis Clinicos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CMN La Raza (Total: 30)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Cardiologia</c:v>
                </c:pt>
                <c:pt idx="1">
                  <c:v>Reumatologia</c:v>
                </c:pt>
                <c:pt idx="2">
                  <c:v>Medicina Interna</c:v>
                </c:pt>
                <c:pt idx="3">
                  <c:v>Imagenologia Diagnostica Y Terapeutica</c:v>
                </c:pt>
                <c:pt idx="4">
                  <c:v>Hemodinamia</c:v>
                </c:pt>
                <c:pt idx="5">
                  <c:v>Cirugia Cardiotoracica</c:v>
                </c:pt>
                <c:pt idx="6">
                  <c:v>Endocrinologia</c:v>
                </c:pt>
                <c:pt idx="7">
                  <c:v>Hematologia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13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  <c:pt idx="7">
                  <c:v>9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HPSIQ Morelos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Psiquiatria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7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chart" Target="../charts/chart4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1.xml"/><Relationship Id="rId3" Type="http://schemas.openxmlformats.org/officeDocument/2006/relationships/chart" Target="../charts/chart42.xml"/><Relationship Id="rId4" Type="http://schemas.openxmlformats.org/officeDocument/2006/relationships/chart" Target="../charts/chart43.xml"/><Relationship Id="rId5" Type="http://schemas.openxmlformats.org/officeDocument/2006/relationships/chart" Target="../charts/chart4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chart" Target="../charts/chart47.xml"/><Relationship Id="rId5" Type="http://schemas.openxmlformats.org/officeDocument/2006/relationships/chart" Target="../charts/chart4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9.xml"/><Relationship Id="rId3" Type="http://schemas.openxmlformats.org/officeDocument/2006/relationships/chart" Target="../charts/chart50.xml"/><Relationship Id="rId4" Type="http://schemas.openxmlformats.org/officeDocument/2006/relationships/chart" Target="../charts/chart51.xml"/><Relationship Id="rId5" Type="http://schemas.openxmlformats.org/officeDocument/2006/relationships/chart" Target="../charts/chart5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3.xml"/><Relationship Id="rId3" Type="http://schemas.openxmlformats.org/officeDocument/2006/relationships/chart" Target="../charts/chart54.xml"/><Relationship Id="rId4" Type="http://schemas.openxmlformats.org/officeDocument/2006/relationships/chart" Target="../charts/chart55.xml"/><Relationship Id="rId5" Type="http://schemas.openxmlformats.org/officeDocument/2006/relationships/chart" Target="../charts/chart5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7.xml"/><Relationship Id="rId3" Type="http://schemas.openxmlformats.org/officeDocument/2006/relationships/chart" Target="../charts/chart5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9.xml"/><Relationship Id="rId3" Type="http://schemas.openxmlformats.org/officeDocument/2006/relationships/chart" Target="../charts/chart60.xml"/><Relationship Id="rId4" Type="http://schemas.openxmlformats.org/officeDocument/2006/relationships/chart" Target="../charts/chart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2.xml"/><Relationship Id="rId3" Type="http://schemas.openxmlformats.org/officeDocument/2006/relationships/chart" Target="../charts/chart63.xml"/><Relationship Id="rId4" Type="http://schemas.openxmlformats.org/officeDocument/2006/relationships/chart" Target="../charts/chart6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5.xml"/><Relationship Id="rId3" Type="http://schemas.openxmlformats.org/officeDocument/2006/relationships/chart" Target="../charts/chart66.xml"/><Relationship Id="rId4" Type="http://schemas.openxmlformats.org/officeDocument/2006/relationships/chart" Target="../charts/chart6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8.xml"/><Relationship Id="rId3" Type="http://schemas.openxmlformats.org/officeDocument/2006/relationships/chart" Target="../charts/chart69.xml"/><Relationship Id="rId4" Type="http://schemas.openxmlformats.org/officeDocument/2006/relationships/chart" Target="../charts/char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Ciudad de México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9_cdm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6,513,015</a:t>
            </a:r>
            <a:br/>
            <a:r>
              <a:t>71%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2,184,185</a:t>
            </a:r>
            <a:br/>
            <a:r>
              <a:t>24%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360,270</a:t>
            </a:r>
            <a:br/>
            <a:r>
              <a:t>4%</a:t>
            </a:r>
          </a:p>
        </p:txBody>
      </p:sp>
      <p:pic>
        <p:nvPicPr>
          <p:cNvPr id="132" name="Picture 131" descr="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102,496</a:t>
            </a:r>
            <a:br/>
            <a:r>
              <a:t>1%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9,159,966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7,415,435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6,513,015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5,224,605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4,317,368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3,410,841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3,620,817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587,854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770,098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1,163,527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1,566,654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1,510,526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37,374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12,171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2,190,830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2,195,647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762,433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801,363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846,726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669,187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581,671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725,097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11,014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11,118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93,707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652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9_cdm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2,918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1,303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2,831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2,647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44 UMF, 0 UMFH y 3 UMF-UMAA, y no incluye 54 Unidades Auxiliares de Medicina Familiar.</a:t>
            </a:r>
            <a:br/>
            <a:r>
              <a:t>2. Incluye la UMAA3,</a:t>
            </a:r>
            <a:br/>
            <a:r>
              <a:t>3. Incluye la UMFR 2 unidades.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61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HGP 3A Magdalena Salinas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24 Insurgentes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HPSIQ MF 10 Postal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27 Tlatelolco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1A Venados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30 Iztacalco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2A PasoTroncoso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8 San Ángel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29 S. Juan Aragón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UMFR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47 Vicente Guerrero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48 San Pedro Xalpa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20 Tláhuac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25 I. Zaragoza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Carlos Mc Gregor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2,918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43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3A Magdalena Salinas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San Ángel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24 Insurgentes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48 San Pedro Xalpa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25 I. Zaragoza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27 Tlatelolco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29 S. Juan Aragón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Carlos Mc Gregor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HPSIQ MF 10 Postal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2A PasoTroncoso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30 Iztacalco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1A Venados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47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20 Tláhuac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UMFR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25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40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161 Av. Toluca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14,128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Merced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C. Anahuac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Soriano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26,791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Iztacalco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22,962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La Escalera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Fortuna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38,777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Azcapotzalco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Doctores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CFE. Xola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CFE. Parque España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C. Atzacoalco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C. 7 Zaragoza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32,958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Condesa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15,464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Independecia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Vallejo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Sta.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35,357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Coyoacán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Legaria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160 El Vergel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24,906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Lindavista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Azcapotzalco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Peralvillo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Col. Roma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517,970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22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36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La Joya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31,545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San Pedro Pinos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63,568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Contreras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38,014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Santa Fe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44,323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Aeropuerto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43,787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Col.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Unidad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62,954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Del 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62,247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Iztapalapa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Fco. del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C. Pantitlán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42 Cuajimalpa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Rojo Gómez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28,596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94 San Juan Aragón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55,302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120 Zaragoza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140 La Teja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28,843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Calz. Tlalpan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66,928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Ermita Iztapalapa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74,647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El Arbolillo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162 Tláhuac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163 Villa Coapa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939,770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1654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972</a:t>
            </a:r>
          </a:p>
        </p:txBody>
      </p:sp>
      <p:pic>
        <p:nvPicPr>
          <p:cNvPr id="12" name="Picture 11" descr="Mapa_draft_etiquetas_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4951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56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3A Magdalena Salinas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161 Av.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30 Iztacalco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Carlos Mc Gregor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1A Venados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27 Tlatelolco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24 Insurgentes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47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25 I. Zaragoza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San Ángel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48 San Pedro Xalpa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32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2A PasoTroncoso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29 S. Juan Aragón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42 Cuajimalpa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162 Tlahuac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20 Tláhuac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10,115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22,448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56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 3A Magdalena Salinas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32,922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1A Venados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48 San Pedro Xalpa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17,478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UMFR Villa Coapa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47 Vicente Guerrero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2A PasoTroncoso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Carlos Mc Gregor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328,500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26,749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54,162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San Ángel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30 Iztacalco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24 Insurgentes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32 Villa 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236,520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27 Tlatelolco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29 S. Juan Aragón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42 Cuajimalpa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162 Tlahuac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161 Av.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HPSIQ MF 10 Postal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2,601,720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210,962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446,866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588,816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106,746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10,736,496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1,855,583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1,123,808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2,529,450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431,454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2,601,720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446,866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210,962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226,300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34,932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2,529,450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431,454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226,300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34,932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15,129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4,198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61,308	 Personal de Salud: 107,332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+229.4%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9,324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11,472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20,461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15,853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17,304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+43.9%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3,320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4,777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-4.7%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5,986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5,704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1,072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2,368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1,178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47,303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2,745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679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863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20,857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4,490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63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75,395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(2,159,966)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(599,458)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(30,930)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(39,911)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(2,612)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(1,891,973)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(286,332)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(27,848)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(27,560)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(2,238)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(516,219)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(246,675)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(26,295)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(23,882)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(490,943)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(244,033)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(22,814)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(15,767)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(912)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(442,585)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(187,850)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(15,636)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(14,891)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(878)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446,094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4,243,772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357,443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3,969,516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91.7%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1,017 piezas de equipo médico: 689 camillas, 273 sillas de ruedas, 27 monitores de radiación, 15 refrigeradores para vacunas, 14 mastógrafos, 11 contadores gamma, 9 tomógrafos, 7 congeladores para vacunas, 6 unidades de anestesia, 6 angiógrafos, 5 aceleradores lineales, 4 monitores de signos vitales, 3 resonadores magnéticos, 2 vidrios de plomo y 2 cofres de plomo.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$1,671.2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118 piezas de equipo electromecánico: 46 elevadores, 35 aires acondicionados, 19 cuartos de máquinas, 18 plantas de lavado y 0 equipos independientes de supresión de incendios (integrados a cuartos de máquinas).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30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$26.1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21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11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$194.5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59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$328.6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35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$668.7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$2,528.6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Construcción del Inmueble de Sustitución de la Central de Servicios del Centro Médico Nacional La Raza.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$122.3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180 camas, Zaragoza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$2,435.0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9,146.6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7142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ONCOCREAN HGR 1, Carlos McGregor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y/o remodelación de 6 unidades (Deportivo Independencia, UMAE La Raza, HGO 4 Tizapan San Angel, HGZ 47, Vicente Guerrero, UMAE SXXI, HGZ 2A Troncoso)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$296.6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Anexo de Expansión Hospitalaria 82 camas, Tlatelolco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(HG CMN, La Raza)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Nacional de Capacitación en Áreas de Simulación en Conservación de Unidades Médicas, Ticomán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$43.3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Demolición Hospital HGR 25, Zaragoza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UMF 15, Lindavista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$86.1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Área de Hematología y la Unidad de Cuidados Intensivos Pediátricos del HGR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HGZ 32, Villacoapa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$332.7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Laboratorio de Anatomía y Patología,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Servicio Integral de Unidad de Expansión Hospitalaria, Tlahuac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$774.3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21 Troncoso 32+13 consultorios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$308.2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25 Unidades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$57.7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Equipo electromecánico (66 elevadores, 10 generadores de vapor, 6 secadoras, 5 minisplit, 14 camaras de refrigeración, 2 montacargas,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$738.5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57 quirófanos en 9 Hospitales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$27.6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142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residencias y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$31.2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7144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Hospital Prioritario HGZ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2,963.0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111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61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13,645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1,333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60892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CASSAAM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Pedro el Chico y Centro de Día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CECART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Centro de Capacitación y Rehabilitación para el Trabajo (CECART)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Santa María La Rivera,  Cuautepec Barrio Alto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Cultural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Centro Cultural Rafael Solana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Delegación Gustavo A. Madero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Coyoacán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de Artesanias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Morelos,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Álvaro Obregón, D.F.Sur, Santa Catarina, D.F.Sur, Piñanona, D.F.Sur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15 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Contreras, Independencia, Ignacio Zaragoza, Merced, Tepeyac, Félix Azuela, Santa Fe, Tlalpan, Manuel Ávila Camacho, Progreso Nacional 100 Metros D1, Morelos, Anáhuac, Atzcapotzalco, Legaria, Tlatilco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Cine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Linterna Mágica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16089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10  Teatros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Independencia, Santa Fe, Julio Prieto, Legaria, Reforma, Hidalgo, Morelos, Félix Azuela, Tepeyac, Isabela Corona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160895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4 Unidades Deportivas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Benito Juárez Xalpa, Morelos,  Independencia, Centro de Actividad Acuáticas de Alto Nivel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043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4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61 Magdalena de las Salinas, No. 62 Niño Perdido, No. 68 Independencia, No. 169 Saludable CMNSXXI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Unidad de Congresos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U. C. Centro Médico Nacional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2043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Doctores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9_cdm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111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108,445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107,332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LIEBERBV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60,384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44,593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-26.2%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SECRETARIA DE LA DEFENSA NACIONAL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45,597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49,845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BANCO NACIONAL DE MEXICO 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30,483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19,093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18,877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29,354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28,904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-29.29%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-7.71%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-4.91%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+2.39%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+4.06%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+9.25%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+11.95%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+38.08%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3,060,993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417,545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3,478,596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3,179,956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524,753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3,704,824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+98%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+100%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$798.34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$443.89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$798.34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$23,950.2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CAMPO Y BERRIES DE ZAMORA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$119,361.99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ROLLIMP SERVICIOS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$117,445.43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CORPORATIVO MAREN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$90,169.68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del Fondo Nacional de la Vivienda para los Trabajadores Sin Tipo de Sociedad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$184.39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Notimex Agencia de Noticias del Estado Mexicano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$4,049.07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Centro Educativo de Capacitación para los Trabajadores A. C.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$334.71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3600" y="1692000"/>
          <a:ext cx="720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 CMN La Raza.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 4 CMN Siglo XXI San Angel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 3 CMN La Raza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CMN La Raza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HTO Magdalena de las Salinas.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HC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HONCO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HP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0800" y="93024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00" y="952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* No se consideran salas de tococirugía, expulsión y recuperación.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BC955C"/>
                </a:solidFill>
                <a:latin typeface="Montserrat"/>
              </a:rPr>
              <a:t>Meta: </a:t>
            </a:r>
            <a:r>
              <a:rPr sz="2100" b="1">
                <a:solidFill>
                  <a:srgbClr val="9F2241"/>
                </a:solidFill>
                <a:latin typeface="Montserrat"/>
              </a:rPr>
              <a:t>Cirugías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3 CMN La Raza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HC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HONCO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4 CMN Siglo XXI San Angel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 CMN La Raza.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36,500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HORTO Magdalena de las Salinas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HINF CMN La Raza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La Raza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Magdalena de las Salinas.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226,300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11,976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34,932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390,550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22,091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57,380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BC955C"/>
                </a:solidFill>
                <a:latin typeface="Montserrat"/>
              </a:rPr>
              <a:t>Meta: </a:t>
            </a:r>
            <a:r>
              <a:rPr sz="2100" b="1">
                <a:solidFill>
                  <a:srgbClr val="9F2241"/>
                </a:solidFill>
                <a:latin typeface="Montserrat"/>
              </a:rPr>
              <a:t>Consultas de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137600"/>
          <a:ext cx="7477200" cy="483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HONCO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374,490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3 CMN La Raza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HPSIQ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HORTO Magdalena de las Salinas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 CMN La Raza.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UMFR Magdalena de las Salinas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Siglo XXI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Magdalena de las Salinas.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4 CMN Siglo XXI San Angel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HC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CMN La Raza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381,060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 CMN Siglo XXI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HPSIQ San Fernando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HINF CMN La Raza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2,529,450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239,197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431,454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5,131,170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450,159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878,320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Sur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Norte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Norte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Norte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Norte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Norte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Ciudad de México Norte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25 HOnco CMN Siglo XXI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24 HG CMN La Raza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21 HC CMN Siglo XXI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19 HP CMN Siglo XXI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15 HTO Magdalena Salinas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15 HTO Magdalena Salinas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02 HES CMN Siglo XXI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CIUDAD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01 HES CMN La Raza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