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41"/>
    <p:sldId id="291" r:id="rId42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643563.0</c:v>
                </c:pt>
                <c:pt idx="1">
                  <c:v>147400.0</c:v>
                </c:pt>
                <c:pt idx="2">
                  <c:v>247114.0</c:v>
                </c:pt>
                <c:pt idx="3">
                  <c:v>295666.0</c:v>
                </c:pt>
                <c:pt idx="4">
                  <c:v>4756.0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66</c:v>
                </c:pt>
                <c:pt idx="2">
                  <c:v>71</c:v>
                </c:pt>
                <c:pt idx="3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Transportes y Comunicaciones</c:v>
                </c:pt>
                <c:pt idx="2">
                  <c:v>Industria de la Construcción</c:v>
                </c:pt>
                <c:pt idx="3">
                  <c:v>Servicios para Empresas, Personas y el Hogar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Comercio</c:v>
                </c:pt>
                <c:pt idx="7">
                  <c:v>Agricultura, Ganaderia, Silvicultura, Pesca y Caza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641</c:v>
                </c:pt>
                <c:pt idx="1">
                  <c:v>6451</c:v>
                </c:pt>
                <c:pt idx="2">
                  <c:v>26197</c:v>
                </c:pt>
                <c:pt idx="3">
                  <c:v>51160</c:v>
                </c:pt>
                <c:pt idx="4">
                  <c:v>2055</c:v>
                </c:pt>
                <c:pt idx="5">
                  <c:v>26009</c:v>
                </c:pt>
                <c:pt idx="6">
                  <c:v>37157</c:v>
                </c:pt>
                <c:pt idx="7">
                  <c:v>19723</c:v>
                </c:pt>
                <c:pt idx="8">
                  <c:v>18145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Transportes y Comunicaciones</c:v>
                </c:pt>
                <c:pt idx="2">
                  <c:v>Industria de la Construcción</c:v>
                </c:pt>
                <c:pt idx="3">
                  <c:v>Servicios para Empresas, Personas y el Hogar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Comercio</c:v>
                </c:pt>
                <c:pt idx="7">
                  <c:v>Agricultura, Ganaderia, Silvicultura, Pesca y Caza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440</c:v>
                </c:pt>
                <c:pt idx="1">
                  <c:v>6102</c:v>
                </c:pt>
                <c:pt idx="2">
                  <c:v>25780</c:v>
                </c:pt>
                <c:pt idx="3">
                  <c:v>50945</c:v>
                </c:pt>
                <c:pt idx="4">
                  <c:v>2069</c:v>
                </c:pt>
                <c:pt idx="5">
                  <c:v>26249</c:v>
                </c:pt>
                <c:pt idx="6">
                  <c:v>37772</c:v>
                </c:pt>
                <c:pt idx="7">
                  <c:v>20107</c:v>
                </c:pt>
                <c:pt idx="8">
                  <c:v>18758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140336</c:v>
                </c:pt>
                <c:pt idx="1">
                  <c:v>142210</c:v>
                </c:pt>
                <c:pt idx="2">
                  <c:v>159617</c:v>
                </c:pt>
                <c:pt idx="3">
                  <c:v>151811</c:v>
                </c:pt>
                <c:pt idx="4">
                  <c:v>167280</c:v>
                </c:pt>
                <c:pt idx="5">
                  <c:v>178399</c:v>
                </c:pt>
                <c:pt idx="6">
                  <c:v>188234</c:v>
                </c:pt>
                <c:pt idx="7">
                  <c:v>187538</c:v>
                </c:pt>
                <c:pt idx="8">
                  <c:v>188222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15 Las Varas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Interna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6 Acaponeta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Cirugia General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8 Tuxpan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Cirugia General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 Tepic (Total: 10)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Angiologia Y Cirugia Vascular</c:v>
                </c:pt>
                <c:pt idx="1">
                  <c:v>Neonatologia</c:v>
                </c:pt>
                <c:pt idx="2">
                  <c:v>Medicina Del Enfermo Pediatrico En Estado Critico</c:v>
                </c:pt>
                <c:pt idx="3">
                  <c:v>Medicina Del Enfermo En Estado Critico</c:v>
                </c:pt>
                <c:pt idx="4">
                  <c:v>Cirugia Oncologica</c:v>
                </c:pt>
                <c:pt idx="5">
                  <c:v>Medicina Del Trabajo Y Ambiental</c:v>
                </c:pt>
                <c:pt idx="6">
                  <c:v>Cirugia Pediatrica</c:v>
                </c:pt>
                <c:pt idx="7">
                  <c:v>Imagenologia Diagnostica Y Terapeutica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33 Bahía de Banderas (Total: 14)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Cardiologia</c:v>
                </c:pt>
                <c:pt idx="1">
                  <c:v>Endocrinologia</c:v>
                </c:pt>
                <c:pt idx="2">
                  <c:v>Gastroenterologia</c:v>
                </c:pt>
                <c:pt idx="3">
                  <c:v>Geriatria Directa</c:v>
                </c:pt>
                <c:pt idx="4">
                  <c:v>Medicina Interna</c:v>
                </c:pt>
                <c:pt idx="5">
                  <c:v>Pediatria</c:v>
                </c:pt>
                <c:pt idx="6">
                  <c:v>Cirugia Oncologica</c:v>
                </c:pt>
                <c:pt idx="7">
                  <c:v>Cirugia General</c:v>
                </c:pt>
                <c:pt idx="8">
                  <c:v>Ginecologia Oncologica</c:v>
                </c:pt>
                <c:pt idx="9">
                  <c:v>Imagenologia Diagnostica Y Terapeutica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10 S. Ixcuintla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Medicina De Rehabilitacion</c:v>
                </c:pt>
                <c:pt idx="1">
                  <c:v>Pediatria</c:v>
                </c:pt>
                <c:pt idx="2">
                  <c:v>Oftalmologia</c:v>
                </c:pt>
                <c:pt idx="3">
                  <c:v>Cirugia Oncologica</c:v>
                </c:pt>
                <c:pt idx="4">
                  <c:v>Medicina Interna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San Cayetano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Pediatria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17 Ahuacatlán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24 Tepic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10 S. Ixcuintla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Geriatria Directa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Nayarit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18_n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643,563</a:t>
            </a:r>
            <a:br/>
            <a:r>
              <a:t>48%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147,400</a:t>
            </a:r>
            <a:br/>
            <a:r>
              <a:t>11%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247,114</a:t>
            </a:r>
            <a:br/>
            <a:r>
              <a:t>18%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295,666</a:t>
            </a:r>
            <a:br/>
            <a:r>
              <a:t>22%</a:t>
            </a:r>
          </a:p>
        </p:txBody>
      </p:sp>
      <p:pic>
        <p:nvPicPr>
          <p:cNvPr id="135" name="Picture 134" descr="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4,756</a:t>
            </a:r>
            <a:br/>
            <a:r>
              <a:t>0.36%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1,338,499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512,403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643,563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270,990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363,038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138,808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186,908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83,757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83,646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81,537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2,713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241,413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280,525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98,718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118,331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116,409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7,476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9,035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8_n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21 UMF, 0 UMFH y 0 UMF-UMAA, y no incluye 10 Unidades Auxiliares de Medicina Familiar.</a:t>
            </a:r>
            <a:br/>
            <a:r>
              <a:t>2. Incluye la UMAA1,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San Cayetano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5472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San Cayetano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14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24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Ruiz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Tecuala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Villa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Cora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 San Juan Abajo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Pimientillo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Tepic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 Fco. Madero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Ixtlán Río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Ahuacatlán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Compostela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San Blas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Aután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Yago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19,680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San José del Valle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La Peñita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Tepic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17,826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 Tepic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40,295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Xalisco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Mezcales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13,241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Tepic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21,874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120,228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102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63</a:t>
            </a:r>
          </a:p>
        </p:txBody>
      </p:sp>
      <p:pic>
        <p:nvPicPr>
          <p:cNvPr id="12" name="Picture 11" descr="Mapa_draft_etiquetas_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54738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36,500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2,077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4,659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203,670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31,093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512,460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35,881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78,057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902,016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154,049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96,494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29,956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17,411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512,460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36,500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6,132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1,556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4,562	 Personal de Salud: 7,818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+64.3%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+96.9%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1,083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+77.9%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973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1,731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+57.4%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719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1,132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+142.9%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126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306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+11.1%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241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4,480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265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58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1,501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668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6,914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(273,902)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(25,652)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(2,920)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(4,811)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Otras enfermedades respiratorias  (176)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(238,100)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(20,794)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(2,395)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(2,766)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(165)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(46,001)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(17,737)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(2,102)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(1,965)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(144)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(37,218)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(13,469)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(1,303)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(1,664)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(77)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(30,693)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(11,927)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(1,091)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(1,285)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36,288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381,396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34,393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433,008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92.6%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76923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48 piezas de equipo electromecánico: 38 aires acondicionados, 4 elevadores, 4 plantas de lavado y 2 cuartos de máquinas.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$257.8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81 piezas de equipo médico: 70 Camilla, 1 Refrigerador para vacunas, 10 Silla de ruedas.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18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$15.0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4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$0.2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$107.8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424.2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Adecuación de Cancha de Usos Múltiples Techada Centro de Seguridad Social, Tuxpan y Barda Perimetral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Construcción de HGZ 33 Bahia de Banderas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$1,892.7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Habilitación ONCOCREAN HGZ 1 Tepic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Nueva Sala de Hemodinamia, 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Sustitución de UMF 5, Tepic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$67.0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Techado y alumbrado de canchas y podium de gimnasia,Tuxpan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 (Lavadoras, Secadoras, Montacargas, elevadores Aire Ac. 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$64.9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médico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$153.9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24 Unidades de Medicina Familiar (HGSMF 15, 6; HGZMF 10; UMF 11, 12, 13, 14, 16, 17, 18, 2, 20, 21, 22, 3, 4, 5, 7 y 9)  en  La Vara, Acaponeta, Tuxpan, Santiago Ixcuintla, Yago, Aután, San Blas, Compostela, La Peñita, Ahuacatlán, Ixtlán del Río, Francisco I. Madero y Tepic.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$17.0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en 22 salas de quirófanos, tococirugía y expulsión en 6 hospitales (HGZMF 6, HGZ 1, HGZMF 10, HGSZMF 8, HGSZMF 15 y UMAA 28),  de Tepic, Acaponeta, Tuxpan, Santiago Ixcuintla, Las Varas y Tepic.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Proyecto Integral de Alberca Semiolímpica Techada con Baños y Vestidores en el Centro de Seguridad Social Tepic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$17.0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3 Hospital de Subzona, HGSZMF 6 Acaponeta, HGSZMF 8 Santiago Ixcuintla y HGSZ MF 15 Las Varas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cocinas y comedores  en HGSZ 15 Las Vargas y HGZ 10 Santiago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y Rehabilitación de baños en 24 unidades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$35.5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2,380.3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18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3,194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374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Tepic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Tepic y Tuxpan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Tepic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8172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470" name="Picture 469" descr="map_tipo2_18_n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18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7,801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7,818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AUTOSISTEMAS DE TORREON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5,816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5,964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AUTONOMA DE NAYARIT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TURISTICA HOTELERA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TEPIC NAYARIT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2,224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2,212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DRAEXLMAIER COMPONENTS AUTOMOTIVE DE MEXICO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2,390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2,345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-31.36%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-5.41%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-1.59%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-0.42%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+0.68%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+0.92%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+1.66%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+1.95%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+3.38%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133,253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6,386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42,087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5,812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187,538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136,971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39,359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188,222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+0%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$534.73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$272.95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$534.73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$16,041.9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CASILDA CONSTRUCCIONES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$59,721.65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TERRACERIAS Y CAMINOS DE OCCIDENTE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$21,140.99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OPERADORA VERTICAL DEL GOLFO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$4,194.59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Integral de Agua Potable y Alcantarillado de Tepic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$4.53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de Nayarit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$976,358.80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Santa María del Oro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$127.18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21,533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10,656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1,596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3,868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2,709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2,467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147,400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49,918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97,482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32,635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21,533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2,319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Nayarit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Nayarit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Nayarit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