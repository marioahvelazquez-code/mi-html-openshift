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388327.0</c:v>
                </c:pt>
                <c:pt idx="1">
                  <c:v>135277.0</c:v>
                </c:pt>
                <c:pt idx="2">
                  <c:v>114689.0</c:v>
                </c:pt>
                <c:pt idx="3">
                  <c:v>280569.0</c:v>
                </c:pt>
                <c:pt idx="4">
                  <c:v>43152.0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77</c:v>
                </c:pt>
                <c:pt idx="2">
                  <c:v>48</c:v>
                </c:pt>
                <c:pt idx="3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Industrias de la Transformación</c:v>
                </c:pt>
                <c:pt idx="4">
                  <c:v>Comercio</c:v>
                </c:pt>
                <c:pt idx="5">
                  <c:v>Servicios Sociales y Comunales</c:v>
                </c:pt>
                <c:pt idx="6">
                  <c:v>Agricultura, Ganaderia, Silvicultura, Pesca y Caza</c:v>
                </c:pt>
                <c:pt idx="7">
                  <c:v>Transportes y Comunicaciones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20193</c:v>
                </c:pt>
                <c:pt idx="1">
                  <c:v>1957</c:v>
                </c:pt>
                <c:pt idx="2">
                  <c:v>20940</c:v>
                </c:pt>
                <c:pt idx="3">
                  <c:v>12559</c:v>
                </c:pt>
                <c:pt idx="4">
                  <c:v>24708</c:v>
                </c:pt>
                <c:pt idx="5">
                  <c:v>25426</c:v>
                </c:pt>
                <c:pt idx="6">
                  <c:v>4748</c:v>
                </c:pt>
                <c:pt idx="7">
                  <c:v>18311</c:v>
                </c:pt>
                <c:pt idx="8">
                  <c:v>1343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Industrias de la Transformación</c:v>
                </c:pt>
                <c:pt idx="4">
                  <c:v>Comercio</c:v>
                </c:pt>
                <c:pt idx="5">
                  <c:v>Servicios Sociales y Comunales</c:v>
                </c:pt>
                <c:pt idx="6">
                  <c:v>Agricultura, Ganaderia, Silvicultura, Pesca y Caza</c:v>
                </c:pt>
                <c:pt idx="7">
                  <c:v>Transportes y Comunicaciones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16891</c:v>
                </c:pt>
                <c:pt idx="1">
                  <c:v>1714</c:v>
                </c:pt>
                <c:pt idx="2">
                  <c:v>19059</c:v>
                </c:pt>
                <c:pt idx="3">
                  <c:v>11480</c:v>
                </c:pt>
                <c:pt idx="4">
                  <c:v>24743</c:v>
                </c:pt>
                <c:pt idx="5">
                  <c:v>25668</c:v>
                </c:pt>
                <c:pt idx="6">
                  <c:v>4910</c:v>
                </c:pt>
                <c:pt idx="7">
                  <c:v>20312</c:v>
                </c:pt>
                <c:pt idx="8">
                  <c:v>1528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121757</c:v>
                </c:pt>
                <c:pt idx="1">
                  <c:v>127906</c:v>
                </c:pt>
                <c:pt idx="2">
                  <c:v>134890</c:v>
                </c:pt>
                <c:pt idx="3">
                  <c:v>127199</c:v>
                </c:pt>
                <c:pt idx="4">
                  <c:v>132523</c:v>
                </c:pt>
                <c:pt idx="5">
                  <c:v>139410</c:v>
                </c:pt>
                <c:pt idx="6">
                  <c:v>143456</c:v>
                </c:pt>
                <c:pt idx="7">
                  <c:v>130185</c:v>
                </c:pt>
                <c:pt idx="8">
                  <c:v>126305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HGP 15  (Total: 79)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Medicina Interna</c:v>
                </c:pt>
                <c:pt idx="1">
                  <c:v>Epidemiologia</c:v>
                </c:pt>
                <c:pt idx="2">
                  <c:v>Medicina Del Enfermo En Estado Critico</c:v>
                </c:pt>
                <c:pt idx="3">
                  <c:v>Traumatologia Y Ortopedia</c:v>
                </c:pt>
                <c:pt idx="4">
                  <c:v>Cirugia General</c:v>
                </c:pt>
                <c:pt idx="5">
                  <c:v>Anestesiologia</c:v>
                </c:pt>
                <c:pt idx="6">
                  <c:v>Ginecologia Y Obstetricia</c:v>
                </c:pt>
                <c:pt idx="7">
                  <c:v>Pediatria</c:v>
                </c:pt>
                <c:pt idx="8">
                  <c:v>Neonatologia</c:v>
                </c:pt>
                <c:pt idx="9">
                  <c:v>Endocrinologia Pediatrica</c:v>
                </c:pt>
                <c:pt idx="10">
                  <c:v>Imagenologia Diagnostica Y Terapeutica</c:v>
                </c:pt>
                <c:pt idx="11">
                  <c:v>Anatomia Patologica</c:v>
                </c:pt>
                <c:pt idx="12">
                  <c:v>Patologia Clinica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5</c:v>
                </c:pt>
                <c:pt idx="5">
                  <c:v>21</c:v>
                </c:pt>
                <c:pt idx="6">
                  <c:v>26</c:v>
                </c:pt>
                <c:pt idx="7">
                  <c:v>7</c:v>
                </c:pt>
                <c:pt idx="8">
                  <c:v>3</c:v>
                </c:pt>
                <c:pt idx="9">
                  <c:v>1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Campeche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Cirugia Plastica Y Reconstructiva</c:v>
                </c:pt>
                <c:pt idx="1">
                  <c:v>Urologia</c:v>
                </c:pt>
                <c:pt idx="2">
                  <c:v>Ginecologia Y Obstetricia</c:v>
                </c:pt>
                <c:pt idx="3">
                  <c:v>Medicina Interna</c:v>
                </c:pt>
                <c:pt idx="4">
                  <c:v>Medicina Familiar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4 Cd. del Carmen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Psiquiatria</c:v>
                </c:pt>
                <c:pt idx="1">
                  <c:v>Cirugia General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Hecelchakán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UMAA Campeche (Aut)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Oftalmologia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10 Santa Lucía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 Campeche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 Rehabilitacion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 La Joya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2 Champotón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Campeche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Cirugia Plastica Y Reconstructiva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Mamantel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Campeche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4_c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388,327</a:t>
            </a:r>
            <a:br/>
            <a:r>
              <a:t>40%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135,277</a:t>
            </a:r>
            <a:br/>
            <a:r>
              <a:t>14%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114,689</a:t>
            </a:r>
            <a:br/>
            <a:r>
              <a:t>12%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280,569</a:t>
            </a:r>
            <a:br/>
            <a:r>
              <a:t>29%</a:t>
            </a:r>
          </a:p>
        </p:txBody>
      </p:sp>
      <p:pic>
        <p:nvPicPr>
          <p:cNvPr id="135" name="Picture 134" descr="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43,152</a:t>
            </a:r>
            <a:br/>
            <a:r>
              <a:t>4%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962,014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363,191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388,327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212,047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233,781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125,706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56,688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63,892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151,144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154,546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71,488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61,666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238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766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1,230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4_ca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8 UMF, 1 UMFH y 0 UMF-UMAA, y no incluye 6 Unidades Auxiliares de Medicina Familiar.</a:t>
            </a:r>
            <a:br/>
            <a:r>
              <a:t>2. Incluye la UMAA1,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Hecelchakán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Mamantel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HGP 15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4716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15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Mamantel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Hecelchakán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9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Palizada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Hopelchen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Escarcega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La Joya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6,750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5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 Champotón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Santa Lucía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Ah Kim Pech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Cd. del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Campeche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79,002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127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30</a:t>
            </a:r>
          </a:p>
        </p:txBody>
      </p:sp>
      <p:pic>
        <p:nvPicPr>
          <p:cNvPr id="12" name="Picture 11" descr="Mapa_draft_etiquetas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8749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2,280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236,520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20,154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41,418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526,176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56,987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1,908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383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2,642	 Personal de Salud: 4,220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+390.9%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+57.8%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644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1,067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+38.9%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653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+127.7%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-18.8%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Epidemiologia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875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3,149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237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937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4,683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(149,430)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(13,584)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(2,019)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(2,855)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(147)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(118,580)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(12,671)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(1,643)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(1,405)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(48,442)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Cataratas   (11,338)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(1,066)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Cataratas   (1,012)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(27,887)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(11,272)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(828)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(908)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hígado  (51)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(23,081)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(11,110)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(711)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(727)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26,830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19,932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242,071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17 piezas de equipo electromecánico: 14 Aires Acondicionados,  Supresión de incendios, 1 Cuarto de Maquinas, 2 Elevadores.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$187.9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171 piezas de equipo médico: 1 Tomógrafo, 94 Camilla, 6 Refrigerador para vacunas, 69 Silla de ruedas, 1 Congelador para vacunas.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$114.0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HGP de 39 camas, Cd.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$1,344.5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Nueva Sala de Hemodinamia en HGZMF 4,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1,752.5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de Hemodinamia en el HGZ 1,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$33.4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(2 elevadores, 22 ventiladores,  5 secadoras, 5 lavadoras, equipo de aire acondicionado)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$185.5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10 UMFs (UMF 2, UMF 3, UMF 4, UMF 5, UMF 8, UMF 9, UMF 10, UMF 11,UMF 12, UMF 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$105.7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HGSZ 4, Cd.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Hospital Prioritario HGZ 1 Campeche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5 salas de quirófano (HGZ/MF 1 y HGZ/MF 4),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$16.4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Unidades para Seguridad en el Trabajo en Campeche.(UMF 12, UMF 13, HGZ 1, HGZ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563.0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0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608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32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Campeche, Ciudad del Carmen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4 Campeche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4_ca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CAMPECHE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7,608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 PETROLERA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4,575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BME SUBTEC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DEL CARMEN CAM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3,028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DISTRIBUIDORA MOYEL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-16.35%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-12.42%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-8.98%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-8.59%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+0.14%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+0.95%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+3.41%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+10.93%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+13.78%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104,478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22,635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1,234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130,185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126,305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$714.83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$399.29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$714.83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$21,444.9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MARINSA DE MEXICO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$23,888.50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PETROLERA REGIOMONTANA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$18,327.30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UNION LOCAL DE PRODUCTORES DE CA&amp;A DE AZUCAR C.N.C DEL ING LA JOYA, A.C.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$9,700.97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Campeche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$45.25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Campechano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Campeche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$33.32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34,683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3,589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8,208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135,277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41,391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93,886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68,561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34,683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1,810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Campeche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Campeche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Campeche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