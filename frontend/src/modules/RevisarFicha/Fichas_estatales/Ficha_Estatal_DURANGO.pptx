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907198.0</c:v>
                </c:pt>
                <c:pt idx="1">
                  <c:v>285627.0</c:v>
                </c:pt>
                <c:pt idx="2">
                  <c:v>346427.0</c:v>
                </c:pt>
                <c:pt idx="3">
                  <c:v>388231.0</c:v>
                </c:pt>
                <c:pt idx="4">
                  <c:v>11999.0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100</c:v>
                </c:pt>
                <c:pt idx="2">
                  <c:v>81</c:v>
                </c:pt>
                <c:pt idx="3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Transportes y Comunicaciones</c:v>
                </c:pt>
                <c:pt idx="1">
                  <c:v>Industrias de la Transformación</c:v>
                </c:pt>
                <c:pt idx="2">
                  <c:v>Ind Eléctrica y Captación y Suministro de Agua Potable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18480</c:v>
                </c:pt>
                <c:pt idx="1">
                  <c:v>88110</c:v>
                </c:pt>
                <c:pt idx="2">
                  <c:v>3486</c:v>
                </c:pt>
                <c:pt idx="3">
                  <c:v>24407</c:v>
                </c:pt>
                <c:pt idx="4">
                  <c:v>53407</c:v>
                </c:pt>
                <c:pt idx="5">
                  <c:v>13357</c:v>
                </c:pt>
                <c:pt idx="6">
                  <c:v>29040</c:v>
                </c:pt>
                <c:pt idx="7">
                  <c:v>18157</c:v>
                </c:pt>
                <c:pt idx="8">
                  <c:v>10924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Transportes y Comunicaciones</c:v>
                </c:pt>
                <c:pt idx="1">
                  <c:v>Industrias de la Transformación</c:v>
                </c:pt>
                <c:pt idx="2">
                  <c:v>Ind Eléctrica y Captación y Suministro de Agua Potable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Agricultura, Ganaderia, Silvicultura, Pesca y Caza</c:v>
                </c:pt>
                <c:pt idx="6">
                  <c:v>Servicios para Empresas, Personas y el Hogar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18045</c:v>
                </c:pt>
                <c:pt idx="1">
                  <c:v>87230</c:v>
                </c:pt>
                <c:pt idx="2">
                  <c:v>3469</c:v>
                </c:pt>
                <c:pt idx="3">
                  <c:v>24730</c:v>
                </c:pt>
                <c:pt idx="4">
                  <c:v>54183</c:v>
                </c:pt>
                <c:pt idx="5">
                  <c:v>13628</c:v>
                </c:pt>
                <c:pt idx="6">
                  <c:v>29757</c:v>
                </c:pt>
                <c:pt idx="7">
                  <c:v>18674</c:v>
                </c:pt>
                <c:pt idx="8">
                  <c:v>12057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242697</c:v>
                </c:pt>
                <c:pt idx="1">
                  <c:v>246062</c:v>
                </c:pt>
                <c:pt idx="2">
                  <c:v>245574</c:v>
                </c:pt>
                <c:pt idx="3">
                  <c:v>241978</c:v>
                </c:pt>
                <c:pt idx="4">
                  <c:v>257932</c:v>
                </c:pt>
                <c:pt idx="5">
                  <c:v>260506</c:v>
                </c:pt>
                <c:pt idx="6">
                  <c:v>260555</c:v>
                </c:pt>
                <c:pt idx="7">
                  <c:v>259368</c:v>
                </c:pt>
                <c:pt idx="8">
                  <c:v>261773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Durango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Neumologia Directa</c:v>
                </c:pt>
                <c:pt idx="1">
                  <c:v>Neurocirugia</c:v>
                </c:pt>
                <c:pt idx="2">
                  <c:v>Cirugia Plastica Y Reconstructiva</c:v>
                </c:pt>
                <c:pt idx="3">
                  <c:v>Oftalmologia</c:v>
                </c:pt>
                <c:pt idx="4">
                  <c:v>Geriatria Directa</c:v>
                </c:pt>
                <c:pt idx="5">
                  <c:v>Cirugia Oncologica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46 Gómez Palacio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Medicina Interna</c:v>
                </c:pt>
                <c:pt idx="1">
                  <c:v>Dermatologia</c:v>
                </c:pt>
                <c:pt idx="2">
                  <c:v>Geriatria Directa</c:v>
                </c:pt>
                <c:pt idx="3">
                  <c:v>Cirugia General</c:v>
                </c:pt>
                <c:pt idx="4">
                  <c:v>Medicina De Urgencias</c:v>
                </c:pt>
                <c:pt idx="5">
                  <c:v>Medicina Del Enfermo En Estado Critico</c:v>
                </c:pt>
                <c:pt idx="6">
                  <c:v>Imagenologia Diagnostica Y Terapeutica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  <c:pt idx="6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51 Chapala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Oftalmologia</c:v>
                </c:pt>
                <c:pt idx="1">
                  <c:v>Medicina Interna</c:v>
                </c:pt>
                <c:pt idx="2">
                  <c:v>Imagenologia Diagnostica Y Terapeutica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10 Gómez Palacio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Medicina Familiar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11 Cd. Lerdo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30 Bermejillo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43 Gómez Palacio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44 Durango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49 Durango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Epidemiologia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53 Gómez Palacio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Durango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Oftalmologia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Guadalupe Victoria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Vicente Guerrero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Pediatria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Durango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0_d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907,198</a:t>
            </a:r>
            <a:br/>
            <a:r>
              <a:t>47%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285,627</a:t>
            </a:r>
            <a:br/>
            <a:r>
              <a:t>15%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346,427</a:t>
            </a:r>
            <a:br/>
            <a:r>
              <a:t>18%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388,231</a:t>
            </a:r>
            <a:br/>
            <a:r>
              <a:t>20%</a:t>
            </a:r>
          </a:p>
        </p:txBody>
      </p:sp>
      <p:pic>
        <p:nvPicPr>
          <p:cNvPr id="135" name="Picture 134" descr="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11,999</a:t>
            </a:r>
            <a:br/>
            <a:r>
              <a:t>0.62%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1,939,482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841,093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907,198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409,994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482,500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243,651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259,881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77,096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85,145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73,793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431,099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424,698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219,408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189,465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3,782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5,431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0_d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26 UMF, 4 UMFH y 1 UMF-UMAA, y no incluye 18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Guadalupe Victoria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Rodeo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5094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Rodeo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Guadalupe Victoria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42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6 Canatlán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3 Sn. Miguel Cruces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24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13 Tlahuallilo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Nuevo Ideal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Nombre de Dios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Durango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Guanacevi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Nazas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Mapimi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Tepehuanes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Santiago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Sn. Juan Río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Villa Unión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Pedriceña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A. Mtz. Adame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Picardías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El Vergel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Sta. Cruz Lujan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Bermejillo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Gómez Palacio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Ceballos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La Ciudad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Cuencame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Gómez Palacio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80,993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5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Cd. Lerdo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52,826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Gómez Palacio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53 Gómez Palacio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155,325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118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71</a:t>
            </a:r>
          </a:p>
        </p:txBody>
      </p:sp>
      <p:pic>
        <p:nvPicPr>
          <p:cNvPr id="12" name="Picture 11" descr="Mapa_draft_etiquetas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7507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53 Gómez Palacio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41,975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3,119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53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387,630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42,477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70,092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387,630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70,092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42,477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1,703,808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41,975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1,856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379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4,733	 Personal de Salud: 7,976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+100.0%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1,124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1,749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1,060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+86.6%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-18.4%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7,424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346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1,668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1,051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10,489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(389,037)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(38,056)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(3,790)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(7,524)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(378,201)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(25,266)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(2,438)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(4,138)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Otras enfermedades respiratorias  (151)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(70,507)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(21,195)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(2,092)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(1,966)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(65,151)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(17,870)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(1,633)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(1,867)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(136)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(62,717)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(17,431)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Trastornos de los tejidos blandos   (1,295)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(1,611)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33,963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709,017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10,733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690,810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98.5%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27272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19 piezas de equipo médico: 10 Camilla, 7 Refrigerador para vacunas, 2 Congelador para vacunas.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48 piezas de equipo electromecánico: 37 Aires Acondicionados, 9 Plantas de lavado, 2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$254.5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$13.2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HGZ 1 Durango y HGZ 51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272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2728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$170.3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505.1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215 equipos médicos (6 mastógrafos, 6 esterilizadores, 7 camas hospitalarias, entre otros)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$128.3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(3 elevadores , 6 equipos para casa de máquinas y 1 cámara fría)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Creación de aula de usos múltiples en CSS, Durango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Implementación de área UCIN en HGZ No. 46, Gómez Palacio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UMF No. 1, Durango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diversas áreas en CSS,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en HGZ No. 1, Durango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No. 50, Durango (sustitución)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Unidad de Terapia Oncológica en HGZ No. 1, Durango (sustitución)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$194.0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20 UMF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 en 3 unidades médicas (HGZ No. 1 Durango, HGZ No. 46 Gómez Palacio y HGZ No. 51 Chapala)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 (PAO)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$398.5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residencias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12 quirófanos en 3 hospitales (HGZ No. 1 Durango, HGZ No. 46 Gómez Palacio y HGZ No. 51 Chapala)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1,356.5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3,313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549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Bermejillo y El Salto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Durango y Gómez Palacio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Durango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115 Gómez Palacio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0_d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DURANGO AUTOMOTIVE WIRING SYSTEMS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DURANGO DEL ESTADO DE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ALAMBRADOS Y CIRCUITOS ELECTRICOS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PILGRIM'S PRIDE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4,801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-1.00%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-0.49%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+1.32%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+2.03%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+2.47%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+2.85%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+10.37%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232,030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5,768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21,022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259,368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236,057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19,004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261,773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+85%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$546.36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$277.55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$546.36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$16,390.8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EJIDO PUEBLO 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$5,503.39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GENERALES IDEAS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$4,192.79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TECNOAGRICOLA MARANZA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$4,139.15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Canatlán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$1,248.22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Dirección de pensiones del Estado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Durango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$6.42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111,733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62,523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8,670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3,442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676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680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4,537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4,618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285,627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90,431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195,196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27,476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111,733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1,702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Durango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Durango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Durango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