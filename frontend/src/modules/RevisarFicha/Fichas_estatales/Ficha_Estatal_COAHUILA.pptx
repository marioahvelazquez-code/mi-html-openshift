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90" r:id="rId41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2504958.0</c:v>
                </c:pt>
                <c:pt idx="1">
                  <c:v>257089.0</c:v>
                </c:pt>
                <c:pt idx="2">
                  <c:v>407839.0</c:v>
                </c:pt>
                <c:pt idx="3">
                  <c:v>264603.0</c:v>
                </c:pt>
                <c:pt idx="4">
                  <c:v>5896.0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249</c:v>
                </c:pt>
                <c:pt idx="2">
                  <c:v>289</c:v>
                </c:pt>
                <c:pt idx="3">
                  <c:v>292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Industria de la Construcción</c:v>
                </c:pt>
                <c:pt idx="2">
                  <c:v>Servicios Sociales y Comunales</c:v>
                </c:pt>
                <c:pt idx="3">
                  <c:v>Transportes y Comunicaciones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424351</c:v>
                </c:pt>
                <c:pt idx="1">
                  <c:v>56302</c:v>
                </c:pt>
                <c:pt idx="2">
                  <c:v>65658</c:v>
                </c:pt>
                <c:pt idx="3">
                  <c:v>42381</c:v>
                </c:pt>
                <c:pt idx="4">
                  <c:v>9782</c:v>
                </c:pt>
                <c:pt idx="5">
                  <c:v>105428</c:v>
                </c:pt>
                <c:pt idx="6">
                  <c:v>137640</c:v>
                </c:pt>
                <c:pt idx="7">
                  <c:v>6230</c:v>
                </c:pt>
                <c:pt idx="8">
                  <c:v>18821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Industria de la Construcción</c:v>
                </c:pt>
                <c:pt idx="2">
                  <c:v>Servicios Sociales y Comunales</c:v>
                </c:pt>
                <c:pt idx="3">
                  <c:v>Transportes y Comunicaciones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396146</c:v>
                </c:pt>
                <c:pt idx="1">
                  <c:v>54835</c:v>
                </c:pt>
                <c:pt idx="2">
                  <c:v>65944</c:v>
                </c:pt>
                <c:pt idx="3">
                  <c:v>42584</c:v>
                </c:pt>
                <c:pt idx="4">
                  <c:v>9830</c:v>
                </c:pt>
                <c:pt idx="5">
                  <c:v>106543</c:v>
                </c:pt>
                <c:pt idx="6">
                  <c:v>140065</c:v>
                </c:pt>
                <c:pt idx="7">
                  <c:v>6471</c:v>
                </c:pt>
                <c:pt idx="8">
                  <c:v>19897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767826</c:v>
                </c:pt>
                <c:pt idx="1">
                  <c:v>786603</c:v>
                </c:pt>
                <c:pt idx="2">
                  <c:v>780716</c:v>
                </c:pt>
                <c:pt idx="3">
                  <c:v>766527</c:v>
                </c:pt>
                <c:pt idx="4">
                  <c:v>807975</c:v>
                </c:pt>
                <c:pt idx="5">
                  <c:v>840308</c:v>
                </c:pt>
                <c:pt idx="6">
                  <c:v>871609</c:v>
                </c:pt>
                <c:pt idx="7">
                  <c:v>866593</c:v>
                </c:pt>
                <c:pt idx="8">
                  <c:v>842315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13 Cd. Acuña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20 Fco. I. Madero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Urgencias Pediatrica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21 S. Pedro Colonias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General</c:v>
                </c:pt>
                <c:pt idx="1">
                  <c:v>Medicina Interna</c:v>
                </c:pt>
                <c:pt idx="2">
                  <c:v>Medicina Familiar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27 Palau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Familiar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6 Parras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General</c:v>
                </c:pt>
                <c:pt idx="1">
                  <c:v>Medicina Del Enfermo En Estado Critico</c:v>
                </c:pt>
                <c:pt idx="2">
                  <c:v>Ginecologia Y Obstetricia</c:v>
                </c:pt>
                <c:pt idx="3">
                  <c:v>Medicina Familiar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Saltillo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Imagenologia Diagnostica Y Terapeutica</c:v>
                </c:pt>
                <c:pt idx="1">
                  <c:v>Medicina Interna</c:v>
                </c:pt>
                <c:pt idx="2">
                  <c:v>Cirugia Plastica Y Reconstructiva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11 Piedras Negras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Pediatria</c:v>
                </c:pt>
                <c:pt idx="1">
                  <c:v>Alergia E Inmunologia Clinica</c:v>
                </c:pt>
                <c:pt idx="2">
                  <c:v>Ginecologia Y Obstetricia</c:v>
                </c:pt>
                <c:pt idx="3">
                  <c:v>Cirugia General</c:v>
                </c:pt>
                <c:pt idx="4">
                  <c:v>Medicina De Urgencias</c:v>
                </c:pt>
                <c:pt idx="5">
                  <c:v>Medicina Familiar</c:v>
                </c:pt>
                <c:pt idx="6">
                  <c:v>Urologia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92 Coahuila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Cirugia General</c:v>
                </c:pt>
                <c:pt idx="1">
                  <c:v>Traumatologia Y Ortopedia</c:v>
                </c:pt>
                <c:pt idx="2">
                  <c:v>Oncologia Medica</c:v>
                </c:pt>
                <c:pt idx="3">
                  <c:v>Anestesiologia</c:v>
                </c:pt>
                <c:pt idx="4">
                  <c:v>Alergia E Inmunologia Clinica</c:v>
                </c:pt>
                <c:pt idx="5">
                  <c:v>Nefrologia</c:v>
                </c:pt>
                <c:pt idx="6">
                  <c:v>Imagenologia Diagnostica Y Terapeutica</c:v>
                </c:pt>
                <c:pt idx="7">
                  <c:v>Anatomia Patologica</c:v>
                </c:pt>
                <c:pt idx="8">
                  <c:v>Medicina Familiar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16 Torreón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Psiquiatria</c:v>
                </c:pt>
                <c:pt idx="1">
                  <c:v>Oftalmologia</c:v>
                </c:pt>
                <c:pt idx="2">
                  <c:v>Medicina Interna</c:v>
                </c:pt>
                <c:pt idx="3">
                  <c:v>Medicina Del Trabajo Y Ambiental</c:v>
                </c:pt>
                <c:pt idx="4">
                  <c:v>Infectologia Pediatrica</c:v>
                </c:pt>
                <c:pt idx="5">
                  <c:v>Neonatologia</c:v>
                </c:pt>
                <c:pt idx="6">
                  <c:v>Neurologia</c:v>
                </c:pt>
                <c:pt idx="7">
                  <c:v>Medicina Familiar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18 Torreón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Biologia De La Reproduccion Humana</c:v>
                </c:pt>
                <c:pt idx="1">
                  <c:v>Pediatria</c:v>
                </c:pt>
                <c:pt idx="2">
                  <c:v>Ginecologia Oncologica</c:v>
                </c:pt>
                <c:pt idx="3">
                  <c:v>Medicina De Urgencias</c:v>
                </c:pt>
                <c:pt idx="4">
                  <c:v>Medicina Del Enfermo En Estado Critico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Saltillo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Familiar</c:v>
                </c:pt>
                <c:pt idx="1">
                  <c:v>Medicina Del Trabajo Y Ambiental</c:v>
                </c:pt>
                <c:pt idx="2">
                  <c:v>Otorrinolaringologia Y Cirugia De Cabeza Y Cuello</c:v>
                </c:pt>
                <c:pt idx="3">
                  <c:v>Oftalmologia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24 Nueva Rosita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Anestesiologia</c:v>
                </c:pt>
                <c:pt idx="1">
                  <c:v>Neumologia Directa</c:v>
                </c:pt>
                <c:pt idx="2">
                  <c:v>Pediatria</c:v>
                </c:pt>
                <c:pt idx="3">
                  <c:v>Traumatologia Y Ortopedia</c:v>
                </c:pt>
                <c:pt idx="4">
                  <c:v>Medicina Familiar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7 Monclova (Total: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Imagenologia Diagnostica Y Terapeutica</c:v>
                </c:pt>
                <c:pt idx="1">
                  <c:v>Pediatria</c:v>
                </c:pt>
                <c:pt idx="2">
                  <c:v>Neumologia Directa</c:v>
                </c:pt>
                <c:pt idx="3">
                  <c:v>Geriatria Directa</c:v>
                </c:pt>
                <c:pt idx="4">
                  <c:v>Medicina Interna</c:v>
                </c:pt>
                <c:pt idx="5">
                  <c:v>Ginecologia Oncologica</c:v>
                </c:pt>
                <c:pt idx="6">
                  <c:v>Neurocirugia</c:v>
                </c:pt>
                <c:pt idx="7">
                  <c:v>Anestesiologia</c:v>
                </c:pt>
                <c:pt idx="8">
                  <c:v>Cirugia General</c:v>
                </c:pt>
                <c:pt idx="9">
                  <c:v>Medicina De Rehabilitacion</c:v>
                </c:pt>
                <c:pt idx="10">
                  <c:v>Medicina De Urgencias</c:v>
                </c:pt>
                <c:pt idx="11">
                  <c:v>Medicina Del Enfermo En Estado Critico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S. Buenaventura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12 Allende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14 Zaragoza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 Sabinas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25 Melchor Muz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29 Esperanzas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32 San José Aura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66 Torreón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Epidemiologia</c:v>
                </c:pt>
                <c:pt idx="1">
                  <c:v>Medicina Familiar</c:v>
                </c:pt>
                <c:pt idx="2">
                  <c:v>Medicina Del Trabajo Y Ambiental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70 Saltillo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73 Saltillo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74 Nadadores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79 Piedras Negras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80 Torreón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81 Cd. Acuña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82 Urdiñola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83 Matamoros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85 Roma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86 Monclova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87 INFONAVIT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88 Ramos Arizpe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 Villa Frontera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93 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89 Saltillo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Oftalmologia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71 Torreón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Medicina Interna</c:v>
                </c:pt>
                <c:pt idx="1">
                  <c:v>Hematologia</c:v>
                </c:pt>
                <c:pt idx="2">
                  <c:v>Hematologia Pediatrica</c:v>
                </c:pt>
                <c:pt idx="3">
                  <c:v>Patologia Clinica</c:v>
                </c:pt>
                <c:pt idx="4">
                  <c:v>Medicina Del Enfermo Pediatrico En Estado Critico</c:v>
                </c:pt>
                <c:pt idx="5">
                  <c:v>Neumologia Pediatrica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71 Torreón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Patologia Clinica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Matamoros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Ginecologia Y Obstetricia</c:v>
                </c:pt>
                <c:pt idx="1">
                  <c:v>Medicina Interna</c:v>
                </c:pt>
                <c:pt idx="2">
                  <c:v>Medicina De Urgencias</c:v>
                </c:pt>
                <c:pt idx="3">
                  <c:v>Medicina Materno Fetal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Ramos Arizpe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Buenaventura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4.xml"/><Relationship Id="rId3" Type="http://schemas.openxmlformats.org/officeDocument/2006/relationships/chart" Target="../charts/char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Coahuila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5_co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2,504,958</a:t>
            </a:r>
            <a:br/>
            <a:r>
              <a:t>73%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257,089</a:t>
            </a:r>
            <a:br/>
            <a:r>
              <a:t>7%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407,839</a:t>
            </a:r>
            <a:br/>
            <a:r>
              <a:t>12%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264,603</a:t>
            </a:r>
            <a:br/>
            <a:r>
              <a:t>8%</a:t>
            </a:r>
          </a:p>
        </p:txBody>
      </p:sp>
      <p:pic>
        <p:nvPicPr>
          <p:cNvPr id="135" name="Picture 134" descr="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019887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5,896</a:t>
            </a:r>
            <a:br/>
            <a:r>
              <a:t>0.17%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3,440,385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2,331,199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2,504,958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1,116,150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1,314,531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779,580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851,571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278,985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108,883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139,199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4,109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1,326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1,215,049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1,190,427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414,208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604,654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516,014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247,710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3,596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2,829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5_coa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1,466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37 UMF, 0 UMFH y 1 UMF-UMAA, y no incluye 13 Unidades Auxiliares de Medicina Familiar.</a:t>
            </a:r>
            <a:br/>
            <a:r>
              <a:t>2. Incluye la UMAA2,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61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7 Monclova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11 Piedras Negras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16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24 Nueva Rosita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13 Cd. Acuña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18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20 Fco. I. Madero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21 S. Pedro Colonias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27 Palau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6 Parras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90 Torreón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92 Coahuila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Matamoros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Buenaventura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Ramos Arizpe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43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13 Cd. Acuña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92 Coahuila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Piedras Negras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 Monclova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24 Nueva Rosita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Matamoros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Palau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90 Torreón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Parras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21 S. Pedro Colonias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Ramos Arizpe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Fco. I. Madero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18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Buenaventura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51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UMRM 52 Ocampo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93 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91 Saltillo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Villa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87 INFONAVIT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85 Roma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84 Monclova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81 Cd. Acuña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80 Torreón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Castaños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79 Piedras Negras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74 Nadadores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Saltillo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E. Hipólito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62 Gral. Cepeda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Laguna del 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60 Nava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Cuatro Ciénegas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Arteaga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San José Aura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Barroteran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Ramos Arizpe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Esperanzas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Rancherías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Agujita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Melchor Muz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Sabinas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Villa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Zaragoza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S.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177,302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Torreón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45,783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83 Matamoros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Saltillo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82 Urdiñola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86 Monclova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88 Ramos Arizpe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89 Saltillo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25,201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196,493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322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103</a:t>
            </a:r>
          </a:p>
        </p:txBody>
      </p:sp>
      <p:pic>
        <p:nvPicPr>
          <p:cNvPr id="12" name="Picture 11" descr="Mapa_draft_etiquetas_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5787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48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90 Torreón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21 S. Pedro Colonias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92 Coahuila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Parras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89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Saltillo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Palau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18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24 Nueva Rosita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 Monclova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13 Cd. Acuña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Fco. I. Madero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Piedras Negras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104,025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6,119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13,950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6645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71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122,275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8,025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16,773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48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90 Torreón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16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24 Nueva Rosita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20 Fco. I. Madero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18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11 Piedras Negras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7 Monclova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21 S. Pedro Colonias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89 Saltillo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Parras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Palau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13 Cd. Acuña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92 Coahuila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965,790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76,277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176,351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6645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71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21,399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50,976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1,281,150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97,676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227,327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499,565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301,660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1,089,936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965,790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176,351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76,277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7,394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1,603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13,203	 Personal de Salud: 20,224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+79.1%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4,395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5,066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+84.2%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812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16,182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1,085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236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4,811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2,705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24,783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(810,783)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(102,740)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(9,375)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(18,239)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(1,167)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(783,349)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(78,408)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(8,090)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(9,759)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(718)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(157,706)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(76,059)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(4,002)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(9,414)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(704)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(145,385)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(51,372)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(3,472)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(7,437)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(661)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(128,314)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(49,648)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(3,181)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(5,818)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(524)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130,283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1,403,053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186,460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1,237,485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86.9%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8947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210 piezas de equipo electromecánico: 190 aires acondicionados, 11 plantas de lavado, 3 cuartos de máquinas y 6 elevadores.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$801.6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397 piezas de equipo médico: 317 camillas, 63 sillas de ruedas, 8 refrigeradores para vacunas, 2 monitores de signos vitales, 2 monitores de radiación, 2 mastógrafos, 1 tomógrafo, 1 resonador magnético y 1 congelador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$146.1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9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$49.4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HGZMF 7 Monclova y HGZMF 2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947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9486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$769.8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2,199.3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electromecánico: 12 lavadoras, 12 generadores de vapor, 11 secadoras, 4 calderas, 4 cámaras frías, 2 elevadores y 1 montacargas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$271.0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equipo médico (1 acelerador lineal, 1 mastógrafo, ultrasonógrafo)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en UMAE HES No. 71,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$41.6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Clínica de Cáncer de Mama, Saltillo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HGZ No. 92 de 90 camas, Cd. Acuña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$1,303.0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HGZ/MF No. 7, Monclova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del Hospital Rural No. 51, San Buenaventura IMSS-Bienestar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$426.9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del Hospital Rural No. 79, Matamoros IMSS-Bienestar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$490.1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10 consultorios + AMC La Joya,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$220.8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UCIA en HGZ/MF No. 7, Monclova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almacenes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4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Recuperación y dignificación de 15 Unidades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$642.1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 Centros de Seguridad Social, Saltillo y Piedras Negras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guarderías, Torreón, Saltillo, Piedras Negras, Monclova y Cd. Acuña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$21.1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residencias, unidades médicas y Programa Emergente COVID-19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y mantenimiento de 349 módulos de baños en 23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y mantenimiento en 5 hospitales (HGZ 1, HGZ 16, HGZ/MF 18, HGZ 71 y HGZ 92),  Francisco I. Madero, Torreón, Piedras Negras y Acuña.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64 quirófanos en 11 unidades médicas de segundo nivel y UMAE HE No. 71, Torreón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cocinas y comedores en 3 hospitales (HGZ No. 1, HGZ/MF No. 2 y HGZ MF No. 24), Saltillo y Nueva Rosita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4,724.4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8,173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1,564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Saltillo, Monclova, Sabinas(Part.) y Piedras Negras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Teatros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Saltillo, Monclova y  Piedras Negras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5 Saltillo y No. 9 Monclova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Torreón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5_coa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20,206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20,224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STELLANTIS MEXICO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13,610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UA DE C LICENCIATURA TORREON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MIGUEL MARTINEZ WONG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52,033.3%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8,300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-6.65%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-2.61%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+0.44%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+0.48%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+0.49%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+1.06%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+1.76%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+3.87%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+5.72%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774,439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14,036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76,389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866,593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754,710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$657.12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$345.44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$657.12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$19,713.6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ALTOS HORNOS DE MEXICO S A B DE C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$63,033.84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GILBANE ALBERICI CONSTRUCCIONES MEXICO S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$50,724.53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CC BIENES RAICES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$44,934.67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del Estado de Coahuila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$169,812.03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Coahuila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$124,478.77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Agraria Antonio Narro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$10,339.39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88,264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42,961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8,605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13,761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1,904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1,386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2,180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257,089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174,322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82,767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88,264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1,904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71 Torreón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Coahuila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05 HES Torreón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COAHUILA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