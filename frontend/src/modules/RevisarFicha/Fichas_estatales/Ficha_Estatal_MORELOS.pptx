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89" r:id="rId3"/>
    <p:sldId id="258" r:id="rId4"/>
    <p:sldId id="259" r:id="rId5"/>
    <p:sldId id="260" r:id="rId6"/>
    <p:sldId id="261" r:id="rId7"/>
    <p:sldId id="262" r:id="rId8"/>
    <p:sldId id="263" r:id="rId9"/>
    <p:sldId id="281" r:id="rId10"/>
    <p:sldId id="267" r:id="rId11"/>
    <p:sldId id="280" r:id="rId12"/>
    <p:sldId id="287" r:id="rId13"/>
    <p:sldId id="290" r:id="rId14"/>
    <p:sldId id="270" r:id="rId15"/>
    <p:sldId id="271" r:id="rId16"/>
    <p:sldId id="272" r:id="rId17"/>
    <p:sldId id="284" r:id="rId18"/>
    <p:sldId id="286" r:id="rId19"/>
    <p:sldId id="277" r:id="rId20"/>
    <p:sldId id="278" r:id="rId21"/>
    <p:sldId id="279" r:id="rId22"/>
    <p:sldId id="283" r:id="rId23"/>
  </p:sldIdLst>
  <p:sldSz cx="7772400" cy="10058400"/>
  <p:notesSz cx="6858000" cy="9144000"/>
  <p:embeddedFontLst>
    <p:embeddedFont>
      <p:font typeface="Montserrat" pitchFamily="2" charset="0"/>
      <p:regular r:id="rId25"/>
      <p:bold r:id="rId26"/>
      <p:italic r:id="rId27"/>
      <p:boldItalic r:id="rId28"/>
    </p:embeddedFont>
    <p:embeddedFont>
      <p:font typeface="Noto Sans" panose="020B050204050402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1DD846-E312-4F47-9C7E-25E94B8F68C5}" v="1" dt="2026-03-12T17:51:04.335"/>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719"/>
  </p:normalViewPr>
  <p:slideViewPr>
    <p:cSldViewPr snapToGrid="0">
      <p:cViewPr varScale="1">
        <p:scale>
          <a:sx n="73" d="100"/>
          <a:sy n="73" d="100"/>
        </p:scale>
        <p:origin x="3012" y="60"/>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font" Target="fonts/font1.fntdata"/><Relationship Id="rId26" Type="http://schemas.openxmlformats.org/officeDocument/2006/relationships/font" Target="fonts/font2.fntdata"/><Relationship Id="rId27" Type="http://schemas.openxmlformats.org/officeDocument/2006/relationships/font" Target="fonts/font3.fntdata"/><Relationship Id="rId28" Type="http://schemas.openxmlformats.org/officeDocument/2006/relationships/font" Target="fonts/font4.fntdata"/><Relationship Id="rId29" Type="http://schemas.openxmlformats.org/officeDocument/2006/relationships/font" Target="fonts/font5.fntdata"/><Relationship Id="rId30" Type="http://schemas.openxmlformats.org/officeDocument/2006/relationships/font" Target="fonts/font6.fntdata"/><Relationship Id="rId31" Type="http://schemas.openxmlformats.org/officeDocument/2006/relationships/font" Target="fonts/font7.fntdata"/><Relationship Id="rId32" Type="http://schemas.openxmlformats.org/officeDocument/2006/relationships/font" Target="fonts/font8.fntdata"/><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Martinez Flores" userId="30adb457-ddd6-417b-a46d-fe5915593ae3" providerId="ADAL" clId="{57A466FF-9DDA-4DB6-AA66-2AF3F6FE414B}"/>
    <pc:docChg chg="custSel addSld modSld">
      <pc:chgData name="Guillermo Martinez Flores" userId="30adb457-ddd6-417b-a46d-fe5915593ae3" providerId="ADAL" clId="{57A466FF-9DDA-4DB6-AA66-2AF3F6FE414B}" dt="2026-03-10T16:02:31.328" v="25" actId="20577"/>
      <pc:docMkLst>
        <pc:docMk/>
      </pc:docMkLst>
      <pc:sldChg chg="modSp mod">
        <pc:chgData name="Guillermo Martinez Flores" userId="30adb457-ddd6-417b-a46d-fe5915593ae3" providerId="ADAL" clId="{57A466FF-9DDA-4DB6-AA66-2AF3F6FE414B}" dt="2026-03-03T17:01:10.960" v="13" actId="20577"/>
        <pc:sldMkLst>
          <pc:docMk/>
          <pc:sldMk cId="0" sldId="271"/>
        </pc:sldMkLst>
        <pc:graphicFrameChg chg="modGraphic">
          <ac:chgData name="Guillermo Martinez Flores" userId="30adb457-ddd6-417b-a46d-fe5915593ae3" providerId="ADAL" clId="{57A466FF-9DDA-4DB6-AA66-2AF3F6FE414B}" dt="2026-03-03T17:01:10.960" v="13" actId="20577"/>
          <ac:graphicFrameMkLst>
            <pc:docMk/>
            <pc:sldMk cId="0" sldId="271"/>
            <ac:graphicFrameMk id="311" creationId="{00000000-0000-0000-0000-000000000000}"/>
          </ac:graphicFrameMkLst>
        </pc:graphicFrameChg>
      </pc:sldChg>
      <pc:sldChg chg="addSp delSp modSp add mod">
        <pc:chgData name="Guillermo Martinez Flores" userId="30adb457-ddd6-417b-a46d-fe5915593ae3" providerId="ADAL" clId="{57A466FF-9DDA-4DB6-AA66-2AF3F6FE414B}" dt="2026-03-10T16:01:41.078" v="17" actId="478"/>
        <pc:sldMkLst>
          <pc:docMk/>
          <pc:sldMk cId="3258074767" sldId="286"/>
        </pc:sldMkLst>
        <pc:spChg chg="add mod">
          <ac:chgData name="Guillermo Martinez Flores" userId="30adb457-ddd6-417b-a46d-fe5915593ae3" providerId="ADAL" clId="{57A466FF-9DDA-4DB6-AA66-2AF3F6FE414B}" dt="2026-03-10T16:01:36.094" v="16"/>
          <ac:spMkLst>
            <pc:docMk/>
            <pc:sldMk cId="3258074767" sldId="286"/>
            <ac:spMk id="7" creationId="{E7E32C0D-5A5C-F971-661D-A7FFF038D554}"/>
          </ac:spMkLst>
        </pc:spChg>
        <pc:graphicFrameChg chg="add mod">
          <ac:chgData name="Guillermo Martinez Flores" userId="30adb457-ddd6-417b-a46d-fe5915593ae3" providerId="ADAL" clId="{57A466FF-9DDA-4DB6-AA66-2AF3F6FE414B}" dt="2026-03-10T16:01:36.094" v="16"/>
          <ac:graphicFrameMkLst>
            <pc:docMk/>
            <pc:sldMk cId="3258074767" sldId="286"/>
            <ac:graphicFrameMk id="5" creationId="{B709195D-5962-6442-81D8-2EFB6D8D7190}"/>
          </ac:graphicFrameMkLst>
        </pc:graphicFrameChg>
        <pc:picChg chg="add mod">
          <ac:chgData name="Guillermo Martinez Flores" userId="30adb457-ddd6-417b-a46d-fe5915593ae3" providerId="ADAL" clId="{57A466FF-9DDA-4DB6-AA66-2AF3F6FE414B}" dt="2026-03-10T16:01:36.094" v="16"/>
          <ac:picMkLst>
            <pc:docMk/>
            <pc:sldMk cId="3258074767" sldId="286"/>
            <ac:picMk id="6" creationId="{6AC64192-1EFE-6740-4042-23283E03A151}"/>
          </ac:picMkLst>
        </pc:picChg>
      </pc:sldChg>
      <pc:sldChg chg="modSp add mod">
        <pc:chgData name="Guillermo Martinez Flores" userId="30adb457-ddd6-417b-a46d-fe5915593ae3" providerId="ADAL" clId="{57A466FF-9DDA-4DB6-AA66-2AF3F6FE414B}" dt="2026-03-10T16:02:31.328" v="25" actId="20577"/>
        <pc:sldMkLst>
          <pc:docMk/>
          <pc:sldMk cId="748044913" sldId="287"/>
        </pc:sldMkLst>
        <pc:graphicFrameChg chg="modGraphic">
          <ac:chgData name="Guillermo Martinez Flores" userId="30adb457-ddd6-417b-a46d-fe5915593ae3" providerId="ADAL" clId="{57A466FF-9DDA-4DB6-AA66-2AF3F6FE414B}" dt="2026-03-10T16:02:31.328" v="25" actId="20577"/>
          <ac:graphicFrameMkLst>
            <pc:docMk/>
            <pc:sldMk cId="748044913" sldId="287"/>
            <ac:graphicFrameMk id="230" creationId="{AC3C5A3E-612D-5067-1D46-BCA5AE81D01D}"/>
          </ac:graphicFrameMkLst>
        </pc:graphicFrameChg>
      </pc:sldChg>
    </pc:docChg>
  </pc:docChgLst>
  <pc:docChgLst>
    <pc:chgData name="Rohan Myron Oprisko" userId="a7c52ab4-f8b1-4d15-aaf6-6388cc510347" providerId="ADAL" clId="{EEEE6C0E-EB18-4E43-B633-E5F95274828B}"/>
    <pc:docChg chg="modSld">
      <pc:chgData name="Rohan Myron Oprisko" userId="a7c52ab4-f8b1-4d15-aaf6-6388cc510347" providerId="ADAL" clId="{EEEE6C0E-EB18-4E43-B633-E5F95274828B}" dt="2026-03-12T18:40:08.203" v="5" actId="20577"/>
      <pc:docMkLst>
        <pc:docMk/>
      </pc:docMkLst>
      <pc:sldChg chg="addSp modSp mod">
        <pc:chgData name="Rohan Myron Oprisko" userId="a7c52ab4-f8b1-4d15-aaf6-6388cc510347" providerId="ADAL" clId="{EEEE6C0E-EB18-4E43-B633-E5F95274828B}" dt="2026-03-12T17:51:19.513" v="2" actId="1076"/>
        <pc:sldMkLst>
          <pc:docMk/>
          <pc:sldMk cId="0" sldId="258"/>
        </pc:sldMkLst>
        <pc:graphicFrameChg chg="add mod">
          <ac:chgData name="Rohan Myron Oprisko" userId="a7c52ab4-f8b1-4d15-aaf6-6388cc510347" providerId="ADAL" clId="{EEEE6C0E-EB18-4E43-B633-E5F95274828B}" dt="2026-03-12T17:51:19.513" v="2" actId="1076"/>
          <ac:graphicFrameMkLst>
            <pc:docMk/>
            <pc:sldMk cId="0" sldId="258"/>
            <ac:graphicFrameMk id="2" creationId="{A74BA5C1-2E6F-DDDD-FFBA-AAF34461C16E}"/>
          </ac:graphicFrameMkLst>
        </pc:graphicFrameChg>
      </pc:sldChg>
      <pc:sldChg chg="modSp mod">
        <pc:chgData name="Rohan Myron Oprisko" userId="a7c52ab4-f8b1-4d15-aaf6-6388cc510347" providerId="ADAL" clId="{EEEE6C0E-EB18-4E43-B633-E5F95274828B}" dt="2026-03-12T18:40:08.203" v="5" actId="20577"/>
        <pc:sldMkLst>
          <pc:docMk/>
          <pc:sldMk cId="0" sldId="279"/>
        </pc:sldMkLst>
        <pc:spChg chg="mod">
          <ac:chgData name="Rohan Myron Oprisko" userId="a7c52ab4-f8b1-4d15-aaf6-6388cc510347" providerId="ADAL" clId="{EEEE6C0E-EB18-4E43-B633-E5F95274828B}" dt="2026-03-12T18:40:08.203" v="5" actId="20577"/>
          <ac:spMkLst>
            <pc:docMk/>
            <pc:sldMk cId="0" sldId="279"/>
            <ac:spMk id="500" creationId="{00000000-0000-0000-0000-000000000000}"/>
          </ac:spMkLst>
        </pc:spChg>
      </pc:sldChg>
      <pc:sldChg chg="modSp mod">
        <pc:chgData name="Rohan Myron Oprisko" userId="a7c52ab4-f8b1-4d15-aaf6-6388cc510347" providerId="ADAL" clId="{EEEE6C0E-EB18-4E43-B633-E5F95274828B}" dt="2026-03-10T21:40:58.875" v="0" actId="20577"/>
        <pc:sldMkLst>
          <pc:docMk/>
          <pc:sldMk cId="540716406" sldId="280"/>
        </pc:sldMkLst>
        <pc:graphicFrameChg chg="modGraphic">
          <ac:chgData name="Rohan Myron Oprisko" userId="a7c52ab4-f8b1-4d15-aaf6-6388cc510347" providerId="ADAL" clId="{EEEE6C0E-EB18-4E43-B633-E5F95274828B}" dt="2026-03-10T21:40:58.875" v="0" actId="20577"/>
          <ac:graphicFrameMkLst>
            <pc:docMk/>
            <pc:sldMk cId="540716406" sldId="280"/>
            <ac:graphicFrameMk id="230" creationId="{64EDC3BC-A199-227A-0CEC-FB808E16739F}"/>
          </ac:graphicFrameMkLst>
        </pc:graphicFrameChg>
      </pc:sldChg>
    </pc:docChg>
  </pc:docChgLst>
  <pc:docChgLst>
    <pc:chgData name="asesores.dg" userId="9234a6e6-864c-49e9-8fd1-6d0df70c34f2" providerId="ADAL" clId="{6846A1DD-3EC1-5A12-B3C5-9C410579EE4F}"/>
    <pc:docChg chg="modMainMaster">
      <pc:chgData name="asesores.dg" userId="9234a6e6-864c-49e9-8fd1-6d0df70c34f2" providerId="ADAL" clId="{6846A1DD-3EC1-5A12-B3C5-9C410579EE4F}" dt="2026-03-10T15:38:38.374" v="2" actId="962"/>
      <pc:docMkLst>
        <pc:docMk/>
      </pc:docMkLst>
      <pc:sldMasterChg chg="modSldLayout">
        <pc:chgData name="asesores.dg" userId="9234a6e6-864c-49e9-8fd1-6d0df70c34f2" providerId="ADAL" clId="{6846A1DD-3EC1-5A12-B3C5-9C410579EE4F}" dt="2026-03-10T15:38:38.374" v="2" actId="962"/>
        <pc:sldMasterMkLst>
          <pc:docMk/>
          <pc:sldMasterMk cId="0" sldId="2147483648"/>
        </pc:sldMasterMkLst>
        <pc:sldLayoutChg chg="addSp modSp mod">
          <pc:chgData name="asesores.dg" userId="9234a6e6-864c-49e9-8fd1-6d0df70c34f2" providerId="ADAL" clId="{6846A1DD-3EC1-5A12-B3C5-9C410579EE4F}" dt="2026-03-10T15:38:38.374" v="2" actId="962"/>
          <pc:sldLayoutMkLst>
            <pc:docMk/>
            <pc:sldMasterMk cId="0" sldId="2147483648"/>
            <pc:sldLayoutMk cId="0" sldId="2147483650"/>
          </pc:sldLayoutMkLst>
          <pc:picChg chg="add mod">
            <ac:chgData name="asesores.dg" userId="9234a6e6-864c-49e9-8fd1-6d0df70c34f2" providerId="ADAL" clId="{6846A1DD-3EC1-5A12-B3C5-9C410579EE4F}" dt="2026-03-10T15:38:38.374" v="2" actId="962"/>
            <ac:picMkLst>
              <pc:docMk/>
              <pc:sldMasterMk cId="0" sldId="2147483648"/>
              <pc:sldLayoutMk cId="0" sldId="2147483650"/>
              <ac:picMk id="3" creationId="{A0ABD2DF-B429-0564-31D9-12741B10B2D0}"/>
            </ac:picMkLst>
          </pc:picChg>
        </pc:sldLayoutChg>
      </pc:sldMasterChg>
    </pc:docChg>
  </pc:docChgLst>
  <pc:docChgLst>
    <pc:chgData name="David Arturo Baltazar Sanchez" userId="25f522d3-6b93-447f-8e87-5af7c1a8f0db" providerId="ADAL" clId="{1167E2C4-85EE-4FA3-A5C3-376395AAEEB6}"/>
    <pc:docChg chg="undo custSel addSld delSld modSld">
      <pc:chgData name="David Arturo Baltazar Sanchez" userId="25f522d3-6b93-447f-8e87-5af7c1a8f0db" providerId="ADAL" clId="{1167E2C4-85EE-4FA3-A5C3-376395AAEEB6}" dt="2026-03-11T19:03:13.610" v="70" actId="20577"/>
      <pc:docMkLst>
        <pc:docMk/>
      </pc:docMkLst>
      <pc:sldChg chg="del">
        <pc:chgData name="David Arturo Baltazar Sanchez" userId="25f522d3-6b93-447f-8e87-5af7c1a8f0db" providerId="ADAL" clId="{1167E2C4-85EE-4FA3-A5C3-376395AAEEB6}" dt="2026-03-11T00:35:35.738" v="67" actId="47"/>
        <pc:sldMkLst>
          <pc:docMk/>
          <pc:sldMk cId="0" sldId="257"/>
        </pc:sldMkLst>
      </pc:sldChg>
      <pc:sldChg chg="delSp mod">
        <pc:chgData name="David Arturo Baltazar Sanchez" userId="25f522d3-6b93-447f-8e87-5af7c1a8f0db" providerId="ADAL" clId="{1167E2C4-85EE-4FA3-A5C3-376395AAEEB6}" dt="2026-03-10T16:34:48.659" v="2" actId="478"/>
        <pc:sldMkLst>
          <pc:docMk/>
          <pc:sldMk cId="0" sldId="258"/>
        </pc:sldMkLst>
      </pc:sldChg>
      <pc:sldChg chg="modSp mod">
        <pc:chgData name="David Arturo Baltazar Sanchez" userId="25f522d3-6b93-447f-8e87-5af7c1a8f0db" providerId="ADAL" clId="{1167E2C4-85EE-4FA3-A5C3-376395AAEEB6}" dt="2026-03-11T19:03:13.610" v="70" actId="20577"/>
        <pc:sldMkLst>
          <pc:docMk/>
          <pc:sldMk cId="0" sldId="260"/>
        </pc:sldMkLst>
        <pc:spChg chg="mod">
          <ac:chgData name="David Arturo Baltazar Sanchez" userId="25f522d3-6b93-447f-8e87-5af7c1a8f0db" providerId="ADAL" clId="{1167E2C4-85EE-4FA3-A5C3-376395AAEEB6}" dt="2026-03-11T19:03:13.610" v="70" actId="20577"/>
          <ac:spMkLst>
            <pc:docMk/>
            <pc:sldMk cId="0" sldId="260"/>
            <ac:spMk id="145" creationId="{00000000-0000-0000-0000-000000000000}"/>
          </ac:spMkLst>
        </pc:spChg>
      </pc:sldChg>
      <pc:sldChg chg="delSp mod">
        <pc:chgData name="David Arturo Baltazar Sanchez" userId="25f522d3-6b93-447f-8e87-5af7c1a8f0db" providerId="ADAL" clId="{1167E2C4-85EE-4FA3-A5C3-376395AAEEB6}" dt="2026-03-11T00:23:45.133" v="29" actId="478"/>
        <pc:sldMkLst>
          <pc:docMk/>
          <pc:sldMk cId="0" sldId="261"/>
        </pc:sldMkLst>
        <pc:spChg chg="del">
          <ac:chgData name="David Arturo Baltazar Sanchez" userId="25f522d3-6b93-447f-8e87-5af7c1a8f0db" providerId="ADAL" clId="{1167E2C4-85EE-4FA3-A5C3-376395AAEEB6}" dt="2026-03-11T00:23:45.133" v="29" actId="478"/>
          <ac:spMkLst>
            <pc:docMk/>
            <pc:sldMk cId="0" sldId="261"/>
            <ac:spMk id="154" creationId="{00000000-0000-0000-0000-000000000000}"/>
          </ac:spMkLst>
        </pc:spChg>
        <pc:spChg chg="del">
          <ac:chgData name="David Arturo Baltazar Sanchez" userId="25f522d3-6b93-447f-8e87-5af7c1a8f0db" providerId="ADAL" clId="{1167E2C4-85EE-4FA3-A5C3-376395AAEEB6}" dt="2026-03-11T00:23:43.974" v="28" actId="478"/>
          <ac:spMkLst>
            <pc:docMk/>
            <pc:sldMk cId="0" sldId="261"/>
            <ac:spMk id="157" creationId="{00000000-0000-0000-0000-000000000000}"/>
          </ac:spMkLst>
        </pc:spChg>
      </pc:sldChg>
      <pc:sldChg chg="delSp mod">
        <pc:chgData name="David Arturo Baltazar Sanchez" userId="25f522d3-6b93-447f-8e87-5af7c1a8f0db" providerId="ADAL" clId="{1167E2C4-85EE-4FA3-A5C3-376395AAEEB6}" dt="2026-03-10T16:37:14.096" v="3" actId="478"/>
        <pc:sldMkLst>
          <pc:docMk/>
          <pc:sldMk cId="0" sldId="262"/>
        </pc:sldMkLst>
      </pc:sldChg>
      <pc:sldChg chg="delSp mod">
        <pc:chgData name="David Arturo Baltazar Sanchez" userId="25f522d3-6b93-447f-8e87-5af7c1a8f0db" providerId="ADAL" clId="{1167E2C4-85EE-4FA3-A5C3-376395AAEEB6}" dt="2026-03-10T16:37:51.689" v="4" actId="478"/>
        <pc:sldMkLst>
          <pc:docMk/>
          <pc:sldMk cId="0" sldId="267"/>
        </pc:sldMkLst>
      </pc:sldChg>
      <pc:sldChg chg="delSp modSp mod">
        <pc:chgData name="David Arturo Baltazar Sanchez" userId="25f522d3-6b93-447f-8e87-5af7c1a8f0db" providerId="ADAL" clId="{1167E2C4-85EE-4FA3-A5C3-376395AAEEB6}" dt="2026-03-10T16:38:46.943" v="25" actId="1035"/>
        <pc:sldMkLst>
          <pc:docMk/>
          <pc:sldMk cId="0" sldId="271"/>
        </pc:sldMkLst>
        <pc:graphicFrameChg chg="mod">
          <ac:chgData name="David Arturo Baltazar Sanchez" userId="25f522d3-6b93-447f-8e87-5af7c1a8f0db" providerId="ADAL" clId="{1167E2C4-85EE-4FA3-A5C3-376395AAEEB6}" dt="2026-03-10T16:38:46.943" v="25" actId="1035"/>
          <ac:graphicFrameMkLst>
            <pc:docMk/>
            <pc:sldMk cId="0" sldId="271"/>
            <ac:graphicFrameMk id="311" creationId="{00000000-0000-0000-0000-000000000000}"/>
          </ac:graphicFrameMkLst>
        </pc:graphicFrameChg>
      </pc:sldChg>
      <pc:sldChg chg="delSp mod">
        <pc:chgData name="David Arturo Baltazar Sanchez" userId="25f522d3-6b93-447f-8e87-5af7c1a8f0db" providerId="ADAL" clId="{1167E2C4-85EE-4FA3-A5C3-376395AAEEB6}" dt="2026-03-10T16:39:47.282" v="26" actId="478"/>
        <pc:sldMkLst>
          <pc:docMk/>
          <pc:sldMk cId="0" sldId="278"/>
        </pc:sldMkLst>
      </pc:sldChg>
      <pc:sldChg chg="new del">
        <pc:chgData name="David Arturo Baltazar Sanchez" userId="25f522d3-6b93-447f-8e87-5af7c1a8f0db" providerId="ADAL" clId="{1167E2C4-85EE-4FA3-A5C3-376395AAEEB6}" dt="2026-03-11T00:26:23.643" v="31" actId="47"/>
        <pc:sldMkLst>
          <pc:docMk/>
          <pc:sldMk cId="928051043" sldId="288"/>
        </pc:sldMkLst>
      </pc:sldChg>
      <pc:sldChg chg="new del">
        <pc:chgData name="David Arturo Baltazar Sanchez" userId="25f522d3-6b93-447f-8e87-5af7c1a8f0db" providerId="ADAL" clId="{1167E2C4-85EE-4FA3-A5C3-376395AAEEB6}" dt="2026-03-11T00:47:14.693" v="68" actId="47"/>
        <pc:sldMkLst>
          <pc:docMk/>
          <pc:sldMk cId="1080931811" sldId="288"/>
        </pc:sldMkLst>
      </pc:sldChg>
      <pc:sldChg chg="new del">
        <pc:chgData name="David Arturo Baltazar Sanchez" userId="25f522d3-6b93-447f-8e87-5af7c1a8f0db" providerId="ADAL" clId="{1167E2C4-85EE-4FA3-A5C3-376395AAEEB6}" dt="2026-03-11T00:26:36.074" v="33" actId="47"/>
        <pc:sldMkLst>
          <pc:docMk/>
          <pc:sldMk cId="1478125461" sldId="288"/>
        </pc:sldMkLst>
      </pc:sldChg>
      <pc:sldChg chg="new del">
        <pc:chgData name="David Arturo Baltazar Sanchez" userId="25f522d3-6b93-447f-8e87-5af7c1a8f0db" providerId="ADAL" clId="{1167E2C4-85EE-4FA3-A5C3-376395AAEEB6}" dt="2026-03-11T00:28:44.016" v="35" actId="680"/>
        <pc:sldMkLst>
          <pc:docMk/>
          <pc:sldMk cId="2538647063" sldId="288"/>
        </pc:sldMkLst>
      </pc:sldChg>
      <pc:sldChg chg="new">
        <pc:chgData name="David Arturo Baltazar Sanchez" userId="25f522d3-6b93-447f-8e87-5af7c1a8f0db" providerId="ADAL" clId="{1167E2C4-85EE-4FA3-A5C3-376395AAEEB6}" dt="2026-03-11T00:29:46.743" v="37" actId="680"/>
        <pc:sldMkLst>
          <pc:docMk/>
          <pc:sldMk cId="1990800304" sldId="289"/>
        </pc:sldMkLst>
      </pc:sldChg>
      <pc:sldChg chg="new del">
        <pc:chgData name="David Arturo Baltazar Sanchez" userId="25f522d3-6b93-447f-8e87-5af7c1a8f0db" providerId="ADAL" clId="{1167E2C4-85EE-4FA3-A5C3-376395AAEEB6}" dt="2026-03-11T00:32:03.604" v="43" actId="680"/>
        <pc:sldMkLst>
          <pc:docMk/>
          <pc:sldMk cId="419254101" sldId="290"/>
        </pc:sldMkLst>
      </pc:sldChg>
      <pc:sldChg chg="new del">
        <pc:chgData name="David Arturo Baltazar Sanchez" userId="25f522d3-6b93-447f-8e87-5af7c1a8f0db" providerId="ADAL" clId="{1167E2C4-85EE-4FA3-A5C3-376395AAEEB6}" dt="2026-03-11T00:31:06.802" v="41" actId="47"/>
        <pc:sldMkLst>
          <pc:docMk/>
          <pc:sldMk cId="1188354318" sldId="290"/>
        </pc:sldMkLst>
      </pc:sldChg>
      <pc:sldChg chg="addSp modSp new mod">
        <pc:chgData name="David Arturo Baltazar Sanchez" userId="25f522d3-6b93-447f-8e87-5af7c1a8f0db" providerId="ADAL" clId="{1167E2C4-85EE-4FA3-A5C3-376395AAEEB6}" dt="2026-03-11T00:34:00.644" v="66" actId="20577"/>
        <pc:sldMkLst>
          <pc:docMk/>
          <pc:sldMk cId="2277926431" sldId="290"/>
        </pc:sldMkLst>
        <pc:graphicFrameChg chg="add mod modGraphic">
          <ac:chgData name="David Arturo Baltazar Sanchez" userId="25f522d3-6b93-447f-8e87-5af7c1a8f0db" providerId="ADAL" clId="{1167E2C4-85EE-4FA3-A5C3-376395AAEEB6}" dt="2026-03-11T00:34:00.644" v="66" actId="20577"/>
          <ac:graphicFrameMkLst>
            <pc:docMk/>
            <pc:sldMk cId="2277926431" sldId="290"/>
            <ac:graphicFrameMk id="2" creationId="{47ECCB65-5E51-65E2-D82B-1623D1CC8DFA}"/>
          </ac:graphicFrameMkLst>
        </pc:graphicFrameChg>
      </pc:sldChg>
      <pc:sldChg chg="new del">
        <pc:chgData name="David Arturo Baltazar Sanchez" userId="25f522d3-6b93-447f-8e87-5af7c1a8f0db" providerId="ADAL" clId="{1167E2C4-85EE-4FA3-A5C3-376395AAEEB6}" dt="2026-03-11T00:32:47.754" v="45" actId="680"/>
        <pc:sldMkLst>
          <pc:docMk/>
          <pc:sldMk cId="2915184652" sldId="290"/>
        </pc:sldMkLst>
      </pc:sldChg>
      <pc:sldChg chg="new del">
        <pc:chgData name="David Arturo Baltazar Sanchez" userId="25f522d3-6b93-447f-8e87-5af7c1a8f0db" providerId="ADAL" clId="{1167E2C4-85EE-4FA3-A5C3-376395AAEEB6}" dt="2026-03-11T00:32:56.047" v="47" actId="680"/>
        <pc:sldMkLst>
          <pc:docMk/>
          <pc:sldMk cId="3598547803" sldId="290"/>
        </pc:sldMkLst>
      </pc:sldChg>
      <pc:sldChg chg="new del">
        <pc:chgData name="David Arturo Baltazar Sanchez" userId="25f522d3-6b93-447f-8e87-5af7c1a8f0db" providerId="ADAL" clId="{1167E2C4-85EE-4FA3-A5C3-376395AAEEB6}" dt="2026-03-11T00:31:02.012" v="39" actId="47"/>
        <pc:sldMkLst>
          <pc:docMk/>
          <pc:sldMk cId="3776525890" sldId="29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881973.0</c:v>
                </c:pt>
                <c:pt idx="1">
                  <c:v>310794.0</c:v>
                </c:pt>
                <c:pt idx="2">
                  <c:v>862937.0</c:v>
                </c:pt>
                <c:pt idx="3">
                  <c:v>11768.0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27</c:v>
                </c:pt>
                <c:pt idx="1">
                  <c:v>44</c:v>
                </c:pt>
                <c:pt idx="2">
                  <c:v>59</c:v>
                </c:pt>
                <c:pt idx="3">
                  <c:v>54</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Extractivas</c:v>
                </c:pt>
                <c:pt idx="1">
                  <c:v>Industrias de la Transformación</c:v>
                </c:pt>
                <c:pt idx="2">
                  <c:v>Ind Eléctrica y Captación y Suministro de Agua Potable</c:v>
                </c:pt>
                <c:pt idx="3">
                  <c:v>Agricultura, Ganaderia, Silvicultura, Pesca y Caza</c:v>
                </c:pt>
                <c:pt idx="4">
                  <c:v>Servicios Sociales y Comunales</c:v>
                </c:pt>
                <c:pt idx="5">
                  <c:v>Industria de la Construcción</c:v>
                </c:pt>
                <c:pt idx="6">
                  <c:v>Comercio</c:v>
                </c:pt>
                <c:pt idx="7">
                  <c:v>Transportes y Comunicaciones</c:v>
                </c:pt>
                <c:pt idx="8">
                  <c:v>Servicios para Empresas, Personas y el Hogar</c:v>
                </c:pt>
              </c:strCache>
            </c:strRef>
          </c:cat>
          <c:val>
            <c:numRef>
              <c:f>Sheet1!$B$2:$B$10</c:f>
              <c:numCache>
                <c:formatCode>General</c:formatCode>
                <c:ptCount val="9"/>
                <c:pt idx="0">
                  <c:v>556</c:v>
                </c:pt>
                <c:pt idx="1">
                  <c:v>44492</c:v>
                </c:pt>
                <c:pt idx="2">
                  <c:v>1680</c:v>
                </c:pt>
                <c:pt idx="3">
                  <c:v>12729</c:v>
                </c:pt>
                <c:pt idx="4">
                  <c:v>44058</c:v>
                </c:pt>
                <c:pt idx="5">
                  <c:v>14706</c:v>
                </c:pt>
                <c:pt idx="6">
                  <c:v>52009</c:v>
                </c:pt>
                <c:pt idx="7">
                  <c:v>7714</c:v>
                </c:pt>
                <c:pt idx="8">
                  <c:v>43240</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Extractivas</c:v>
                </c:pt>
                <c:pt idx="1">
                  <c:v>Industrias de la Transformación</c:v>
                </c:pt>
                <c:pt idx="2">
                  <c:v>Ind Eléctrica y Captación y Suministro de Agua Potable</c:v>
                </c:pt>
                <c:pt idx="3">
                  <c:v>Agricultura, Ganaderia, Silvicultura, Pesca y Caza</c:v>
                </c:pt>
                <c:pt idx="4">
                  <c:v>Servicios Sociales y Comunales</c:v>
                </c:pt>
                <c:pt idx="5">
                  <c:v>Industria de la Construcción</c:v>
                </c:pt>
                <c:pt idx="6">
                  <c:v>Comercio</c:v>
                </c:pt>
                <c:pt idx="7">
                  <c:v>Transportes y Comunicaciones</c:v>
                </c:pt>
                <c:pt idx="8">
                  <c:v>Servicios para Empresas, Personas y el Hogar</c:v>
                </c:pt>
              </c:strCache>
            </c:strRef>
          </c:cat>
          <c:val>
            <c:numRef>
              <c:f>Sheet1!$C$2:$C$10</c:f>
              <c:numCache>
                <c:formatCode>General</c:formatCode>
                <c:ptCount val="9"/>
                <c:pt idx="0">
                  <c:v>247</c:v>
                </c:pt>
                <c:pt idx="1">
                  <c:v>41784</c:v>
                </c:pt>
                <c:pt idx="2">
                  <c:v>1642</c:v>
                </c:pt>
                <c:pt idx="3">
                  <c:v>12498</c:v>
                </c:pt>
                <c:pt idx="4">
                  <c:v>43576</c:v>
                </c:pt>
                <c:pt idx="5">
                  <c:v>14566</c:v>
                </c:pt>
                <c:pt idx="6">
                  <c:v>53567</c:v>
                </c:pt>
                <c:pt idx="7">
                  <c:v>8224</c:v>
                </c:pt>
                <c:pt idx="8">
                  <c:v>48589</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8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208846</c:v>
                </c:pt>
                <c:pt idx="1">
                  <c:v>211837</c:v>
                </c:pt>
                <c:pt idx="2">
                  <c:v>213476</c:v>
                </c:pt>
                <c:pt idx="3">
                  <c:v>206050</c:v>
                </c:pt>
                <c:pt idx="4">
                  <c:v>213831</c:v>
                </c:pt>
                <c:pt idx="5">
                  <c:v>217018</c:v>
                </c:pt>
                <c:pt idx="6">
                  <c:v>223440</c:v>
                </c:pt>
                <c:pt idx="7">
                  <c:v>221184</c:v>
                </c:pt>
                <c:pt idx="8">
                  <c:v>224693</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HGRMF 1 Cuernavaca (Total: 42)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Sheet1!$A$2:$A$10</c:f>
              <c:strCache>
                <c:ptCount val="9"/>
                <c:pt idx="0">
                  <c:v>Oftalmologia</c:v>
                </c:pt>
                <c:pt idx="1">
                  <c:v>Traumatologia Y Ortopedia</c:v>
                </c:pt>
                <c:pt idx="2">
                  <c:v>Medicina Interna</c:v>
                </c:pt>
                <c:pt idx="3">
                  <c:v>Psiquiatria</c:v>
                </c:pt>
                <c:pt idx="4">
                  <c:v>Medicina Paliativa Y Del Dolor</c:v>
                </c:pt>
                <c:pt idx="5">
                  <c:v>Medicina Del Trabajo Y Ambiental</c:v>
                </c:pt>
                <c:pt idx="6">
                  <c:v>Cirugia Pediatrica</c:v>
                </c:pt>
                <c:pt idx="7">
                  <c:v>Epidemiologia</c:v>
                </c:pt>
                <c:pt idx="8">
                  <c:v>Cardiologia Pediatrica</c:v>
                </c:pt>
              </c:strCache>
            </c:strRef>
          </c:cat>
          <c:val>
            <c:numRef>
              <c:f>Sheet1!$B$2:$B$10</c:f>
              <c:numCache>
                <c:formatCode>General</c:formatCode>
                <c:ptCount val="9"/>
                <c:pt idx="0">
                  <c:v>3</c:v>
                </c:pt>
                <c:pt idx="1">
                  <c:v>4</c:v>
                </c:pt>
                <c:pt idx="2">
                  <c:v>26</c:v>
                </c:pt>
                <c:pt idx="3">
                  <c:v>1</c:v>
                </c:pt>
                <c:pt idx="4">
                  <c:v>1</c:v>
                </c:pt>
                <c:pt idx="5">
                  <c:v>3</c:v>
                </c:pt>
                <c:pt idx="6">
                  <c:v>2</c:v>
                </c:pt>
                <c:pt idx="7">
                  <c:v>1</c:v>
                </c:pt>
                <c:pt idx="8">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HGZMF 5 Zacatepec (Total: 9)</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Sheet1!$A$2:$A$6</c:f>
              <c:strCache>
                <c:ptCount val="5"/>
                <c:pt idx="0">
                  <c:v>Medicina Interna</c:v>
                </c:pt>
                <c:pt idx="1">
                  <c:v>Traumatologia Y Ortopedia</c:v>
                </c:pt>
                <c:pt idx="2">
                  <c:v>Medicina Del Trabajo Y Ambiental</c:v>
                </c:pt>
                <c:pt idx="3">
                  <c:v>Geriatria Directa</c:v>
                </c:pt>
                <c:pt idx="4">
                  <c:v>Imagenologia Diagnostica Y Terapeutica</c:v>
                </c:pt>
              </c:strCache>
            </c:strRef>
          </c:cat>
          <c:val>
            <c:numRef>
              <c:f>Sheet1!$B$2:$B$6</c:f>
              <c:numCache>
                <c:formatCode>General</c:formatCode>
                <c:ptCount val="5"/>
                <c:pt idx="0">
                  <c:v>4</c:v>
                </c:pt>
                <c:pt idx="1">
                  <c:v>1</c:v>
                </c:pt>
                <c:pt idx="2">
                  <c:v>1</c:v>
                </c:pt>
                <c:pt idx="3">
                  <c:v>1</c:v>
                </c:pt>
                <c:pt idx="4">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HGZMF 7 Cuautla (Total: 9)</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Sheet1!$A$2:$A$5</c:f>
              <c:strCache>
                <c:ptCount val="4"/>
                <c:pt idx="0">
                  <c:v>Cirugia General</c:v>
                </c:pt>
                <c:pt idx="1">
                  <c:v>Medicina Interna</c:v>
                </c:pt>
                <c:pt idx="2">
                  <c:v>Cardiologia</c:v>
                </c:pt>
                <c:pt idx="3">
                  <c:v>Medicina Del Trabajo Y Ambiental</c:v>
                </c:pt>
              </c:strCache>
            </c:strRef>
          </c:cat>
          <c:val>
            <c:numRef>
              <c:f>Sheet1!$B$2:$B$5</c:f>
              <c:numCache>
                <c:formatCode>General</c:formatCode>
                <c:ptCount val="4"/>
                <c:pt idx="0">
                  <c:v>2</c:v>
                </c:pt>
                <c:pt idx="1">
                  <c:v>5</c:v>
                </c:pt>
                <c:pt idx="2">
                  <c:v>1</c:v>
                </c:pt>
                <c:pt idx="3">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20 Cuernavaca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Del Trabajo Y Ambiental</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a:extLst>
            <a:ext uri="{FF2B5EF4-FFF2-40B4-BE49-F238E27FC236}">
              <a16:creationId xmlns:a16="http://schemas.microsoft.com/office/drawing/2014/main" id="{2CFBA485-6AB8-C95C-6FC6-870DE282920B}"/>
            </a:ext>
          </a:extLst>
        </p:cNvPr>
        <p:cNvGrpSpPr/>
        <p:nvPr/>
      </p:nvGrpSpPr>
      <p:grpSpPr>
        <a:xfrm>
          <a:off x="0" y="0"/>
          <a:ext cx="0" cy="0"/>
          <a:chOff x="0" y="0"/>
          <a:chExt cx="0" cy="0"/>
        </a:xfrm>
      </p:grpSpPr>
      <p:sp>
        <p:nvSpPr>
          <p:cNvPr id="502" name="Google Shape;502;g370e87ffe7a_0_0:notes">
            <a:extLst>
              <a:ext uri="{FF2B5EF4-FFF2-40B4-BE49-F238E27FC236}">
                <a16:creationId xmlns:a16="http://schemas.microsoft.com/office/drawing/2014/main" id="{CE3AE7D4-7572-A7B3-84F1-BC75FF1AC0B7}"/>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a:extLst>
              <a:ext uri="{FF2B5EF4-FFF2-40B4-BE49-F238E27FC236}">
                <a16:creationId xmlns:a16="http://schemas.microsoft.com/office/drawing/2014/main" id="{FC426675-DF29-BF6F-0E9A-926272F58210}"/>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a:extLst>
              <a:ext uri="{FF2B5EF4-FFF2-40B4-BE49-F238E27FC236}">
                <a16:creationId xmlns:a16="http://schemas.microsoft.com/office/drawing/2014/main" id="{AFDE3BE2-6DCD-4F64-B774-F5FF7BF05A58}"/>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0225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chart" Target="../charts/char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chart" Target="../charts/chart7.xml"/><Relationship Id="rId7" Type="http://schemas.openxmlformats.org/officeDocument/2006/relationships/chart" Target="../charts/char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Morelos</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Marzo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ganigrama_17_mor.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Tree>
    <p:extLst>
      <p:ext uri="{BB962C8B-B14F-4D97-AF65-F5344CB8AC3E}">
        <p14:creationId xmlns:p14="http://schemas.microsoft.com/office/powerpoint/2010/main" val="1990800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graphicFrame>
        <p:nvGraphicFramePr>
          <p:cNvPr id="111" name="Google Shape;111;p2"/>
          <p:cNvGraphicFramePr/>
          <p:nvPr/>
        </p:nvGraphicFramePr>
        <p:xfrm>
          <a:off x="313125" y="4622125"/>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Datos generales</a:t>
                      </a:r>
                      <a:endParaRPr sz="2100"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grpSp>
        <p:nvGrpSpPr>
          <p:cNvPr id="119" name="Google Shape;119;p2"/>
          <p:cNvGrpSpPr/>
          <p:nvPr/>
        </p:nvGrpSpPr>
        <p:grpSpPr>
          <a:xfrm>
            <a:off x="6079441" y="8191625"/>
            <a:ext cx="321904" cy="457782"/>
            <a:chOff x="3342725" y="2620775"/>
            <a:chExt cx="338775" cy="481825"/>
          </a:xfrm>
        </p:grpSpPr>
        <p:sp>
          <p:nvSpPr>
            <p:cNvPr id="120" name="Google Shape;120;p2"/>
            <p:cNvSpPr/>
            <p:nvPr/>
          </p:nvSpPr>
          <p:spPr>
            <a:xfrm>
              <a:off x="3342725" y="2620775"/>
              <a:ext cx="338775" cy="56475"/>
            </a:xfrm>
            <a:custGeom>
              <a:avLst/>
              <a:gdLst/>
              <a:ahLst/>
              <a:cxnLst/>
              <a:rect l="l" t="t" r="r" b="b"/>
              <a:pathLst>
                <a:path w="13551" h="2259" extrusionOk="0">
                  <a:moveTo>
                    <a:pt x="1693" y="0"/>
                  </a:moveTo>
                  <a:cubicBezTo>
                    <a:pt x="756" y="0"/>
                    <a:pt x="0" y="759"/>
                    <a:pt x="0" y="1695"/>
                  </a:cubicBezTo>
                  <a:lnTo>
                    <a:pt x="0" y="2259"/>
                  </a:lnTo>
                  <a:lnTo>
                    <a:pt x="13551" y="2259"/>
                  </a:lnTo>
                  <a:lnTo>
                    <a:pt x="13551" y="1695"/>
                  </a:lnTo>
                  <a:cubicBezTo>
                    <a:pt x="13548" y="759"/>
                    <a:pt x="12792" y="0"/>
                    <a:pt x="11855" y="0"/>
                  </a:cubicBezTo>
                  <a:close/>
                </a:path>
              </a:pathLst>
            </a:custGeom>
            <a:noFill/>
            <a:ln w="15850" cap="flat" cmpd="sng">
              <a:solidFill>
                <a:srgbClr val="046557"/>
              </a:solidFill>
              <a:prstDash val="solid"/>
              <a:round/>
              <a:headEnd type="none" w="sm" len="sm"/>
              <a:tailEnd type="none" w="sm" len="sm"/>
            </a:ln>
          </p:spPr>
          <p:txBody>
            <a:bodyPr spcFirstLastPara="1" wrap="square" lIns="123400" tIns="123400" rIns="123400" bIns="123400" anchor="ctr" anchorCtr="0">
              <a:noAutofit/>
            </a:bodyPr>
            <a:lstStyle/>
            <a:p>
              <a:pPr marL="0" marR="0" lvl="0" indent="0" algn="l" rtl="0">
                <a:lnSpc>
                  <a:spcPct val="100000"/>
                </a:lnSpc>
                <a:spcBef>
                  <a:spcPts val="0"/>
                </a:spcBef>
                <a:spcAft>
                  <a:spcPts val="0"/>
                </a:spcAft>
                <a:buClr>
                  <a:srgbClr val="000000"/>
                </a:buClr>
                <a:buSzPts val="1889"/>
                <a:buFont typeface="Arial"/>
                <a:buNone/>
              </a:pPr>
              <a:endParaRPr sz="1889" b="0" i="0" u="none" strike="noStrike" cap="none">
                <a:solidFill>
                  <a:srgbClr val="435D74"/>
                </a:solidFill>
                <a:latin typeface="Arial"/>
                <a:ea typeface="Arial"/>
                <a:cs typeface="Arial"/>
                <a:sym typeface="Arial"/>
              </a:endParaRPr>
            </a:p>
          </p:txBody>
        </p:sp>
        <p:sp>
          <p:nvSpPr>
            <p:cNvPr id="121" name="Google Shape;121;p2"/>
            <p:cNvSpPr/>
            <p:nvPr/>
          </p:nvSpPr>
          <p:spPr>
            <a:xfrm>
              <a:off x="3342725" y="2705450"/>
              <a:ext cx="338775" cy="284225"/>
            </a:xfrm>
            <a:custGeom>
              <a:avLst/>
              <a:gdLst/>
              <a:ahLst/>
              <a:cxnLst/>
              <a:rect l="l" t="t" r="r" b="b"/>
              <a:pathLst>
                <a:path w="13551" h="11369" extrusionOk="0">
                  <a:moveTo>
                    <a:pt x="0" y="1"/>
                  </a:moveTo>
                  <a:lnTo>
                    <a:pt x="0" y="11368"/>
                  </a:lnTo>
                  <a:lnTo>
                    <a:pt x="13551" y="11368"/>
                  </a:lnTo>
                  <a:lnTo>
                    <a:pt x="13551" y="1"/>
                  </a:lnTo>
                  <a:close/>
                </a:path>
              </a:pathLst>
            </a:custGeom>
            <a:noFill/>
            <a:ln w="15850" cap="flat" cmpd="sng">
              <a:solidFill>
                <a:srgbClr val="046557"/>
              </a:solidFill>
              <a:prstDash val="solid"/>
              <a:round/>
              <a:headEnd type="none" w="sm" len="sm"/>
              <a:tailEnd type="none" w="sm" len="sm"/>
            </a:ln>
          </p:spPr>
          <p:txBody>
            <a:bodyPr spcFirstLastPara="1" wrap="square" lIns="123400" tIns="123400" rIns="123400" bIns="123400" anchor="ctr" anchorCtr="0">
              <a:noAutofit/>
            </a:bodyPr>
            <a:lstStyle/>
            <a:p>
              <a:pPr marL="0" marR="0" lvl="0" indent="0" algn="l" rtl="0">
                <a:lnSpc>
                  <a:spcPct val="100000"/>
                </a:lnSpc>
                <a:spcBef>
                  <a:spcPts val="0"/>
                </a:spcBef>
                <a:spcAft>
                  <a:spcPts val="0"/>
                </a:spcAft>
                <a:buClr>
                  <a:srgbClr val="000000"/>
                </a:buClr>
                <a:buSzPts val="1889"/>
                <a:buFont typeface="Arial"/>
                <a:buNone/>
              </a:pPr>
              <a:endParaRPr sz="1889" b="0" i="0" u="none" strike="noStrike" cap="none">
                <a:solidFill>
                  <a:srgbClr val="435D74"/>
                </a:solidFill>
                <a:latin typeface="Arial"/>
                <a:ea typeface="Arial"/>
                <a:cs typeface="Arial"/>
                <a:sym typeface="Arial"/>
              </a:endParaRPr>
            </a:p>
          </p:txBody>
        </p:sp>
        <p:sp>
          <p:nvSpPr>
            <p:cNvPr id="122" name="Google Shape;122;p2"/>
            <p:cNvSpPr/>
            <p:nvPr/>
          </p:nvSpPr>
          <p:spPr>
            <a:xfrm>
              <a:off x="3342725" y="3017875"/>
              <a:ext cx="338775" cy="84725"/>
            </a:xfrm>
            <a:custGeom>
              <a:avLst/>
              <a:gdLst/>
              <a:ahLst/>
              <a:cxnLst/>
              <a:rect l="l" t="t" r="r" b="b"/>
              <a:pathLst>
                <a:path w="13551" h="3389" extrusionOk="0">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noFill/>
            <a:ln w="15850" cap="flat" cmpd="sng">
              <a:solidFill>
                <a:srgbClr val="046557"/>
              </a:solidFill>
              <a:prstDash val="solid"/>
              <a:round/>
              <a:headEnd type="none" w="sm" len="sm"/>
              <a:tailEnd type="none" w="sm" len="sm"/>
            </a:ln>
          </p:spPr>
          <p:txBody>
            <a:bodyPr spcFirstLastPara="1" wrap="square" lIns="123400" tIns="123400" rIns="123400" bIns="123400" anchor="ctr" anchorCtr="0">
              <a:noAutofit/>
            </a:bodyPr>
            <a:lstStyle/>
            <a:p>
              <a:pPr marL="0" marR="0" lvl="0" indent="0" algn="l" rtl="0">
                <a:lnSpc>
                  <a:spcPct val="100000"/>
                </a:lnSpc>
                <a:spcBef>
                  <a:spcPts val="0"/>
                </a:spcBef>
                <a:spcAft>
                  <a:spcPts val="0"/>
                </a:spcAft>
                <a:buClr>
                  <a:srgbClr val="000000"/>
                </a:buClr>
                <a:buSzPts val="1889"/>
                <a:buFont typeface="Arial"/>
                <a:buNone/>
              </a:pPr>
              <a:endParaRPr sz="1889" b="0" i="0" u="none" strike="noStrike" cap="none">
                <a:solidFill>
                  <a:srgbClr val="435D74"/>
                </a:solidFill>
                <a:latin typeface="Arial"/>
                <a:ea typeface="Arial"/>
                <a:cs typeface="Arial"/>
                <a:sym typeface="Arial"/>
              </a:endParaRPr>
            </a:p>
          </p:txBody>
        </p:sp>
      </p:grpSp>
      <p:sp>
        <p:nvSpPr>
          <p:cNvPr id="123" name="Google Shape;123;p2"/>
          <p:cNvSpPr txBox="1"/>
          <p:nvPr/>
        </p:nvSpPr>
        <p:spPr>
          <a:xfrm>
            <a:off x="6537950" y="8161875"/>
            <a:ext cx="1209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de Plataformas Digitales</a:t>
            </a:r>
            <a:endParaRPr sz="700" b="1" i="0" u="none" strike="noStrike" cap="none" dirty="0">
              <a:solidFill>
                <a:srgbClr val="006455"/>
              </a:solidFill>
              <a:latin typeface="Noto Sans"/>
              <a:ea typeface="Noto Sans"/>
              <a:cs typeface="Noto Sans"/>
              <a:sym typeface="Noto Sans"/>
            </a:endParaRPr>
          </a:p>
        </p:txBody>
      </p:sp>
      <p:graphicFrame>
        <p:nvGraphicFramePr>
          <p:cNvPr id="2" name="Tabla 1">
            <a:extLst>
              <a:ext uri="{FF2B5EF4-FFF2-40B4-BE49-F238E27FC236}">
                <a16:creationId xmlns:a16="http://schemas.microsoft.com/office/drawing/2014/main" id="{A74BA5C1-2E6F-DDDD-FFBA-AAF34461C16E}"/>
              </a:ext>
            </a:extLst>
          </p:cNvPr>
          <p:cNvGraphicFramePr>
            <a:graphicFrameLocks noGrp="1"/>
          </p:cNvGraphicFramePr>
          <p:nvPr>
            <p:extLst>
              <p:ext uri="{D42A27DB-BD31-4B8C-83A1-F6EECF244321}">
                <p14:modId xmlns:p14="http://schemas.microsoft.com/office/powerpoint/2010/main" val="1303528153"/>
              </p:ext>
            </p:extLst>
          </p:nvPr>
        </p:nvGraphicFramePr>
        <p:xfrm>
          <a:off x="313125" y="60833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48063875"/>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Población</a:t>
                      </a:r>
                      <a:endParaRPr sz="2100"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742794185"/>
                  </a:ext>
                </a:extLst>
              </a:tr>
            </a:tbl>
          </a:graphicData>
        </a:graphic>
      </p:graphicFrame>
      <p:graphicFrame>
        <p:nvGraphicFramePr>
          <p:cNvPr id="124" name="Chart 123"/>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25" name="TextBox 124"/>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881,973</a:t>
            </a:r>
            <a:br/>
            <a:r>
              <a:t>43%</a:t>
            </a:r>
          </a:p>
        </p:txBody>
      </p:sp>
      <p:pic>
        <p:nvPicPr>
          <p:cNvPr id="126" name="Picture 125" descr="imss.png"/>
          <p:cNvPicPr>
            <a:picLocks noChangeAspect="1"/>
          </p:cNvPicPr>
          <p:nvPr/>
        </p:nvPicPr>
        <p:blipFill>
          <a:blip r:embed="rId6"/>
          <a:stretch>
            <a:fillRect/>
          </a:stretch>
        </p:blipFill>
        <p:spPr>
          <a:xfrm>
            <a:off x="6213600" y="1461599"/>
            <a:ext cx="377265" cy="468000"/>
          </a:xfrm>
          <a:prstGeom prst="rect">
            <a:avLst/>
          </a:prstGeom>
        </p:spPr>
      </p:pic>
      <p:sp>
        <p:nvSpPr>
          <p:cNvPr id="127" name="Rectangle 126"/>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310,794</a:t>
            </a:r>
            <a:br/>
            <a:r>
              <a:t>15%</a:t>
            </a:r>
          </a:p>
        </p:txBody>
      </p:sp>
      <p:pic>
        <p:nvPicPr>
          <p:cNvPr id="129" name="Picture 128" descr="issste.png"/>
          <p:cNvPicPr>
            <a:picLocks noChangeAspect="1"/>
          </p:cNvPicPr>
          <p:nvPr/>
        </p:nvPicPr>
        <p:blipFill>
          <a:blip r:embed="rId7"/>
          <a:stretch>
            <a:fillRect/>
          </a:stretch>
        </p:blipFill>
        <p:spPr>
          <a:xfrm>
            <a:off x="5151600" y="3798000"/>
            <a:ext cx="1437091" cy="468000"/>
          </a:xfrm>
          <a:prstGeom prst="rect">
            <a:avLst/>
          </a:prstGeom>
        </p:spPr>
      </p:pic>
      <p:sp>
        <p:nvSpPr>
          <p:cNvPr id="130" name="Rectangle 129"/>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862,937</a:t>
            </a:r>
            <a:br/>
            <a:r>
              <a:t>42%</a:t>
            </a:r>
          </a:p>
        </p:txBody>
      </p:sp>
      <p:pic>
        <p:nvPicPr>
          <p:cNvPr id="132" name="Picture 131" descr="17.png"/>
          <p:cNvPicPr>
            <a:picLocks noChangeAspect="1"/>
          </p:cNvPicPr>
          <p:nvPr/>
        </p:nvPicPr>
        <p:blipFill>
          <a:blip r:embed="rId8"/>
          <a:stretch>
            <a:fillRect/>
          </a:stretch>
        </p:blipFill>
        <p:spPr>
          <a:xfrm>
            <a:off x="1220400" y="3290400"/>
            <a:ext cx="1247031" cy="468000"/>
          </a:xfrm>
          <a:prstGeom prst="rect">
            <a:avLst/>
          </a:prstGeom>
        </p:spPr>
      </p:pic>
      <p:sp>
        <p:nvSpPr>
          <p:cNvPr id="133" name="Rectangle 132"/>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11,768</a:t>
            </a:r>
            <a:br/>
            <a:r>
              <a:t>0.57%</a:t>
            </a:r>
          </a:p>
        </p:txBody>
      </p:sp>
      <p:pic>
        <p:nvPicPr>
          <p:cNvPr id="135" name="Picture 134" descr="otros.png"/>
          <p:cNvPicPr>
            <a:picLocks noChangeAspect="1"/>
          </p:cNvPicPr>
          <p:nvPr/>
        </p:nvPicPr>
        <p:blipFill>
          <a:blip r:embed="rId9"/>
          <a:stretch>
            <a:fillRect/>
          </a:stretch>
        </p:blipFill>
        <p:spPr>
          <a:xfrm>
            <a:off x="1220400" y="1800000"/>
            <a:ext cx="468000" cy="468000"/>
          </a:xfrm>
          <a:prstGeom prst="rect">
            <a:avLst/>
          </a:prstGeom>
        </p:spPr>
      </p:pic>
      <p:sp>
        <p:nvSpPr>
          <p:cNvPr id="136" name="Rectangle 135"/>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2,067,472</a:t>
            </a:r>
          </a:p>
        </p:txBody>
      </p:sp>
      <p:graphicFrame>
        <p:nvGraphicFramePr>
          <p:cNvPr id="138" name="Table 137"/>
          <p:cNvGraphicFramePr>
            <a:graphicFrameLocks noGrp="1"/>
          </p:cNvGraphicFramePr>
          <p:nvPr/>
        </p:nvGraphicFramePr>
        <p:xfrm>
          <a:off x="313200" y="5270400"/>
          <a:ext cx="5410800" cy="3527986"/>
        </p:xfrm>
        <a:graphic>
          <a:graphicData uri="http://schemas.openxmlformats.org/drawingml/2006/table">
            <a:tbl>
              <a:tblPr firstRow="1" bandRow="1">
                <a:tableStyleId>{5C22544A-7EE6-4342-B048-85BDC9FD1C3A}</a:tableStyleId>
              </a:tblPr>
              <a:tblGrid>
                <a:gridCol w="2268000"/>
                <a:gridCol w="1047600"/>
                <a:gridCol w="1047600"/>
                <a:gridCol w="1047600"/>
              </a:tblGrid>
              <a:tr h="251999">
                <a:tc>
                  <a:txBody>
                    <a:bodyPr/>
                    <a:lstStyle/>
                    <a:p>
                      <a:pPr algn="ctr">
                        <a:defRPr b="1" sz="900">
                          <a:solidFill>
                            <a:srgbClr val="FFFFFF"/>
                          </a:solidFill>
                          <a:latin typeface="Montserrat"/>
                        </a:defRPr>
                      </a:pPr>
                      <a:r>
                        <a:t>Categoría</a:t>
                      </a:r>
                    </a:p>
                  </a:txBody>
                  <a:tcPr>
                    <a:solidFill>
                      <a:srgbClr val="FFFFFF"/>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a:t>
                      </a:r>
                    </a:p>
                  </a:txBody>
                  <a:tcPr>
                    <a:solidFill>
                      <a:srgbClr val="9F2241"/>
                    </a:solidFill>
                  </a:tcPr>
                </a:tc>
                <a:tc>
                  <a:txBody>
                    <a:bodyPr/>
                    <a:lstStyle/>
                    <a:p>
                      <a:pPr algn="ctr">
                        <a:defRPr sz="900" b="1">
                          <a:solidFill>
                            <a:srgbClr val="000000"/>
                          </a:solidFill>
                          <a:latin typeface="Montserrat"/>
                        </a:defRPr>
                      </a:pPr>
                      <a:r>
                        <a:t>749,643</a:t>
                      </a:r>
                    </a:p>
                  </a:txBody>
                  <a:tcPr>
                    <a:solidFill>
                      <a:srgbClr val="EBD2D9"/>
                    </a:solidFill>
                  </a:tcPr>
                </a:tc>
                <a:tc>
                  <a:txBody>
                    <a:bodyPr/>
                    <a:lstStyle/>
                    <a:p>
                      <a:pPr algn="ctr">
                        <a:defRPr sz="900" b="1">
                          <a:solidFill>
                            <a:srgbClr val="000000"/>
                          </a:solidFill>
                          <a:latin typeface="Montserrat"/>
                        </a:defRPr>
                      </a:pPr>
                      <a:r>
                        <a:t>881,973</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006455"/>
                    </a:solidFill>
                  </a:tcPr>
                </a:tc>
                <a:tc>
                  <a:txBody>
                    <a:bodyPr/>
                    <a:lstStyle/>
                    <a:p>
                      <a:pPr algn="ctr">
                        <a:defRPr sz="900" b="1">
                          <a:solidFill>
                            <a:srgbClr val="000000"/>
                          </a:solidFill>
                          <a:latin typeface="Montserrat"/>
                        </a:defRPr>
                      </a:pPr>
                      <a:r>
                        <a:t>396,813</a:t>
                      </a:r>
                    </a:p>
                  </a:txBody>
                  <a:tcPr>
                    <a:solidFill>
                      <a:srgbClr val="CCE0DD"/>
                    </a:solidFill>
                  </a:tcPr>
                </a:tc>
                <a:tc>
                  <a:txBody>
                    <a:bodyPr/>
                    <a:lstStyle/>
                    <a:p>
                      <a:pPr algn="ctr">
                        <a:defRPr sz="900" b="1">
                          <a:solidFill>
                            <a:srgbClr val="000000"/>
                          </a:solidFill>
                          <a:latin typeface="Montserrat"/>
                        </a:defRPr>
                      </a:pPr>
                      <a:r>
                        <a:t>506,470</a:t>
                      </a:r>
                    </a:p>
                  </a:txBody>
                  <a:tcPr>
                    <a:solidFill>
                      <a:srgbClr val="CCE0DD"/>
                    </a:solidFill>
                  </a:tcPr>
                </a:tc>
                <a:tc>
                  <a:txBody>
                    <a:bodyPr/>
                    <a:lstStyle/>
                    <a:p>
                      <a:pPr algn="ctr">
                        <a:defRPr sz="900" b="1">
                          <a:solidFill>
                            <a:srgbClr val="000000"/>
                          </a:solidFill>
                          <a:latin typeface="Montserrat"/>
                        </a:defRPr>
                      </a:pPr>
                      <a:r>
                        <a:t>28%</a:t>
                      </a:r>
                    </a:p>
                  </a:txBody>
                  <a:tcPr>
                    <a:solidFill>
                      <a:srgbClr val="CCE0DD"/>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212,112</a:t>
                      </a:r>
                    </a:p>
                  </a:txBody>
                  <a:tcPr>
                    <a:solidFill>
                      <a:srgbClr val="F8F4EC"/>
                    </a:solidFill>
                  </a:tcPr>
                </a:tc>
                <a:tc>
                  <a:txBody>
                    <a:bodyPr/>
                    <a:lstStyle/>
                    <a:p>
                      <a:pPr algn="ctr">
                        <a:defRPr sz="900" b="1">
                          <a:solidFill>
                            <a:srgbClr val="000000"/>
                          </a:solidFill>
                          <a:latin typeface="Montserrat"/>
                        </a:defRPr>
                      </a:pPr>
                      <a:r>
                        <a:t>221,138</a:t>
                      </a:r>
                    </a:p>
                  </a:txBody>
                  <a:tcPr>
                    <a:solidFill>
                      <a:srgbClr val="F8F4EC"/>
                    </a:solidFill>
                  </a:tcPr>
                </a:tc>
                <a:tc>
                  <a:txBody>
                    <a:bodyPr/>
                    <a:lstStyle/>
                    <a:p>
                      <a:pPr algn="ctr">
                        <a:defRPr sz="900" b="1">
                          <a:solidFill>
                            <a:srgbClr val="000000"/>
                          </a:solidFill>
                          <a:latin typeface="Montserrat"/>
                        </a:defRPr>
                      </a:pPr>
                      <a:r>
                        <a:t>4%</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68,964</a:t>
                      </a:r>
                    </a:p>
                  </a:txBody>
                  <a:tcPr>
                    <a:solidFill>
                      <a:srgbClr val="FFFFFF"/>
                    </a:solidFill>
                  </a:tcPr>
                </a:tc>
                <a:tc>
                  <a:txBody>
                    <a:bodyPr/>
                    <a:lstStyle/>
                    <a:p>
                      <a:pPr algn="ctr">
                        <a:defRPr sz="900">
                          <a:solidFill>
                            <a:srgbClr val="000000"/>
                          </a:solidFill>
                          <a:latin typeface="Montserrat"/>
                        </a:defRPr>
                      </a:pPr>
                      <a:r>
                        <a:t>96,441</a:t>
                      </a:r>
                    </a:p>
                  </a:txBody>
                  <a:tcPr>
                    <a:solidFill>
                      <a:srgbClr val="FFFFFF"/>
                    </a:solidFill>
                  </a:tcPr>
                </a:tc>
                <a:tc>
                  <a:txBody>
                    <a:bodyPr/>
                    <a:lstStyle/>
                    <a:p>
                      <a:pPr algn="ctr">
                        <a:defRPr sz="900">
                          <a:solidFill>
                            <a:srgbClr val="000000"/>
                          </a:solidFill>
                          <a:latin typeface="Montserrat"/>
                        </a:defRPr>
                      </a:pPr>
                      <a:r>
                        <a:t>40%</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7,649</a:t>
                      </a:r>
                    </a:p>
                  </a:txBody>
                  <a:tcPr>
                    <a:solidFill>
                      <a:srgbClr val="FFFFFF"/>
                    </a:solidFill>
                  </a:tcPr>
                </a:tc>
                <a:tc>
                  <a:txBody>
                    <a:bodyPr/>
                    <a:lstStyle/>
                    <a:p>
                      <a:pPr algn="ctr">
                        <a:defRPr sz="900">
                          <a:solidFill>
                            <a:srgbClr val="000000"/>
                          </a:solidFill>
                          <a:latin typeface="Montserrat"/>
                        </a:defRPr>
                      </a:pPr>
                      <a:r>
                        <a:t>10,846</a:t>
                      </a:r>
                    </a:p>
                  </a:txBody>
                  <a:tcPr>
                    <a:solidFill>
                      <a:srgbClr val="FFFFFF"/>
                    </a:solidFill>
                  </a:tcPr>
                </a:tc>
                <a:tc>
                  <a:txBody>
                    <a:bodyPr/>
                    <a:lstStyle/>
                    <a:p>
                      <a:pPr algn="ctr">
                        <a:defRPr sz="900">
                          <a:solidFill>
                            <a:srgbClr val="000000"/>
                          </a:solidFill>
                          <a:latin typeface="Montserrat"/>
                        </a:defRPr>
                      </a:pPr>
                      <a:r>
                        <a:t>42%</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108,088</a:t>
                      </a:r>
                    </a:p>
                  </a:txBody>
                  <a:tcPr>
                    <a:solidFill>
                      <a:srgbClr val="CCE0DD"/>
                    </a:solidFill>
                  </a:tcPr>
                </a:tc>
                <a:tc>
                  <a:txBody>
                    <a:bodyPr/>
                    <a:lstStyle/>
                    <a:p>
                      <a:pPr algn="ctr">
                        <a:defRPr sz="900" b="1">
                          <a:solidFill>
                            <a:srgbClr val="000000"/>
                          </a:solidFill>
                          <a:latin typeface="Montserrat"/>
                        </a:defRPr>
                      </a:pPr>
                      <a:r>
                        <a:t>122,042</a:t>
                      </a:r>
                    </a:p>
                  </a:txBody>
                  <a:tcPr>
                    <a:solidFill>
                      <a:srgbClr val="CCE0DD"/>
                    </a:solidFill>
                  </a:tcPr>
                </a:tc>
                <a:tc>
                  <a:txBody>
                    <a:bodyPr/>
                    <a:lstStyle/>
                    <a:p>
                      <a:pPr algn="ctr">
                        <a:defRPr sz="900" b="1">
                          <a:solidFill>
                            <a:srgbClr val="000000"/>
                          </a:solidFill>
                          <a:latin typeface="Montserrat"/>
                        </a:defRPr>
                      </a:pPr>
                      <a:r>
                        <a:t>13%</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99,784</a:t>
                      </a:r>
                    </a:p>
                  </a:txBody>
                  <a:tcPr>
                    <a:solidFill>
                      <a:srgbClr val="FFFFFF"/>
                    </a:solidFill>
                  </a:tcPr>
                </a:tc>
                <a:tc>
                  <a:txBody>
                    <a:bodyPr/>
                    <a:lstStyle/>
                    <a:p>
                      <a:pPr algn="ctr">
                        <a:defRPr sz="900">
                          <a:solidFill>
                            <a:srgbClr val="000000"/>
                          </a:solidFill>
                          <a:latin typeface="Montserrat"/>
                        </a:defRPr>
                      </a:pPr>
                      <a:r>
                        <a:t>116,209</a:t>
                      </a:r>
                    </a:p>
                  </a:txBody>
                  <a:tcPr>
                    <a:solidFill>
                      <a:srgbClr val="FFFFFF"/>
                    </a:solidFill>
                  </a:tcPr>
                </a:tc>
                <a:tc>
                  <a:txBody>
                    <a:bodyPr/>
                    <a:lstStyle/>
                    <a:p>
                      <a:pPr algn="ctr">
                        <a:defRPr sz="900">
                          <a:solidFill>
                            <a:srgbClr val="000000"/>
                          </a:solidFill>
                          <a:latin typeface="Montserrat"/>
                        </a:defRPr>
                      </a:pPr>
                      <a:r>
                        <a:t>16%</a:t>
                      </a:r>
                    </a:p>
                  </a:txBody>
                  <a:tcPr>
                    <a:solidFill>
                      <a:srgbClr val="FFFFFF"/>
                    </a:solidFill>
                  </a:tcPr>
                </a:tc>
              </a:tr>
              <a:tr h="251999">
                <a:tc>
                  <a:txBody>
                    <a:bodyPr/>
                    <a:lstStyle/>
                    <a:p>
                      <a:pPr algn="l" lvl="1">
                        <a:defRPr sz="900" b="1">
                          <a:solidFill>
                            <a:srgbClr val="A61C00"/>
                          </a:solidFill>
                          <a:latin typeface="Montserrat"/>
                        </a:defRPr>
                      </a:pPr>
                      <a:r>
                        <a:t>Seguro de Salud de Familia</a:t>
                      </a:r>
                    </a:p>
                  </a:txBody>
                  <a:tcPr>
                    <a:solidFill>
                      <a:srgbClr val="EFEFEF"/>
                    </a:solidFill>
                  </a:tcPr>
                </a:tc>
                <a:tc>
                  <a:txBody>
                    <a:bodyPr/>
                    <a:lstStyle/>
                    <a:p>
                      <a:pPr algn="ctr">
                        <a:defRPr sz="900" b="1">
                          <a:solidFill>
                            <a:srgbClr val="A61C00"/>
                          </a:solidFill>
                          <a:latin typeface="Montserrat"/>
                        </a:defRPr>
                      </a:pPr>
                      <a:r>
                        <a:t>5,470</a:t>
                      </a:r>
                    </a:p>
                  </a:txBody>
                  <a:tcPr>
                    <a:solidFill>
                      <a:srgbClr val="EFEFEF"/>
                    </a:solidFill>
                  </a:tcPr>
                </a:tc>
                <a:tc>
                  <a:txBody>
                    <a:bodyPr/>
                    <a:lstStyle/>
                    <a:p>
                      <a:pPr algn="ctr">
                        <a:defRPr sz="900" b="1">
                          <a:solidFill>
                            <a:srgbClr val="A61C00"/>
                          </a:solidFill>
                          <a:latin typeface="Montserrat"/>
                        </a:defRPr>
                      </a:pPr>
                      <a:r>
                        <a:t>1,698</a:t>
                      </a:r>
                    </a:p>
                  </a:txBody>
                  <a:tcPr>
                    <a:solidFill>
                      <a:srgbClr val="EFEFEF"/>
                    </a:solidFill>
                  </a:tcPr>
                </a:tc>
                <a:tc>
                  <a:txBody>
                    <a:bodyPr/>
                    <a:lstStyle/>
                    <a:p>
                      <a:pPr algn="ctr">
                        <a:defRPr sz="900" b="1">
                          <a:solidFill>
                            <a:srgbClr val="A61C00"/>
                          </a:solidFill>
                          <a:latin typeface="Montserrat"/>
                        </a:defRPr>
                      </a:pPr>
                      <a:r>
                        <a:t>-69%</a:t>
                      </a:r>
                    </a:p>
                  </a:txBody>
                  <a:tcPr>
                    <a:solidFill>
                      <a:srgbClr val="EFEFE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2,834</a:t>
                      </a:r>
                    </a:p>
                  </a:txBody>
                  <a:tcPr>
                    <a:solidFill>
                      <a:srgbClr val="FFFFFF"/>
                    </a:solidFill>
                  </a:tcPr>
                </a:tc>
                <a:tc>
                  <a:txBody>
                    <a:bodyPr/>
                    <a:lstStyle/>
                    <a:p>
                      <a:pPr algn="ctr">
                        <a:defRPr sz="900">
                          <a:solidFill>
                            <a:srgbClr val="000000"/>
                          </a:solidFill>
                          <a:latin typeface="Montserrat"/>
                        </a:defRPr>
                      </a:pPr>
                      <a:r>
                        <a:t>4,135</a:t>
                      </a:r>
                    </a:p>
                  </a:txBody>
                  <a:tcPr>
                    <a:solidFill>
                      <a:srgbClr val="FFFFFF"/>
                    </a:solidFill>
                  </a:tcPr>
                </a:tc>
                <a:tc>
                  <a:txBody>
                    <a:bodyPr/>
                    <a:lstStyle/>
                    <a:p>
                      <a:pPr algn="ctr">
                        <a:defRPr sz="900">
                          <a:solidFill>
                            <a:srgbClr val="000000"/>
                          </a:solidFill>
                          <a:latin typeface="Montserrat"/>
                        </a:defRPr>
                      </a:pPr>
                      <a:r>
                        <a:t>46%</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006455"/>
                    </a:solidFill>
                  </a:tcPr>
                </a:tc>
                <a:tc>
                  <a:txBody>
                    <a:bodyPr/>
                    <a:lstStyle/>
                    <a:p>
                      <a:pPr algn="ctr">
                        <a:defRPr sz="900" b="1">
                          <a:solidFill>
                            <a:srgbClr val="000000"/>
                          </a:solidFill>
                          <a:latin typeface="Montserrat"/>
                        </a:defRPr>
                      </a:pPr>
                      <a:r>
                        <a:t>352,830</a:t>
                      </a:r>
                    </a:p>
                  </a:txBody>
                  <a:tcPr>
                    <a:solidFill>
                      <a:srgbClr val="CCE0DD"/>
                    </a:solidFill>
                  </a:tcPr>
                </a:tc>
                <a:tc>
                  <a:txBody>
                    <a:bodyPr/>
                    <a:lstStyle/>
                    <a:p>
                      <a:pPr algn="ctr">
                        <a:defRPr sz="900" b="1">
                          <a:solidFill>
                            <a:srgbClr val="000000"/>
                          </a:solidFill>
                          <a:latin typeface="Montserrat"/>
                        </a:defRPr>
                      </a:pPr>
                      <a:r>
                        <a:t>375,503</a:t>
                      </a:r>
                    </a:p>
                  </a:txBody>
                  <a:tcPr>
                    <a:solidFill>
                      <a:srgbClr val="CCE0DD"/>
                    </a:solidFill>
                  </a:tcPr>
                </a:tc>
                <a:tc>
                  <a:txBody>
                    <a:bodyPr/>
                    <a:lstStyle/>
                    <a:p>
                      <a:pPr algn="ctr">
                        <a:defRPr sz="900" b="1">
                          <a:solidFill>
                            <a:srgbClr val="000000"/>
                          </a:solidFill>
                          <a:latin typeface="Montserrat"/>
                        </a:defRPr>
                      </a:pPr>
                      <a:r>
                        <a:t>6%</a:t>
                      </a:r>
                    </a:p>
                  </a:txBody>
                  <a:tcPr>
                    <a:solidFill>
                      <a:srgbClr val="CCE0DD"/>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115,732</a:t>
                      </a:r>
                    </a:p>
                  </a:txBody>
                  <a:tcPr>
                    <a:solidFill>
                      <a:srgbClr val="FFFFFF"/>
                    </a:solidFill>
                  </a:tcPr>
                </a:tc>
                <a:tc>
                  <a:txBody>
                    <a:bodyPr/>
                    <a:lstStyle/>
                    <a:p>
                      <a:pPr algn="ctr">
                        <a:defRPr sz="900">
                          <a:solidFill>
                            <a:srgbClr val="000000"/>
                          </a:solidFill>
                          <a:latin typeface="Montserrat"/>
                        </a:defRPr>
                      </a:pPr>
                      <a:r>
                        <a:t>129,451</a:t>
                      </a:r>
                    </a:p>
                  </a:txBody>
                  <a:tcPr>
                    <a:solidFill>
                      <a:srgbClr val="FFFFFF"/>
                    </a:solidFill>
                  </a:tcPr>
                </a:tc>
                <a:tc>
                  <a:txBody>
                    <a:bodyPr/>
                    <a:lstStyle/>
                    <a:p>
                      <a:pPr algn="ctr">
                        <a:defRPr sz="900">
                          <a:solidFill>
                            <a:srgbClr val="000000"/>
                          </a:solidFill>
                          <a:latin typeface="Montserrat"/>
                        </a:defRPr>
                      </a:pPr>
                      <a:r>
                        <a:t>12%</a:t>
                      </a:r>
                    </a:p>
                  </a:txBody>
                  <a:tcPr>
                    <a:solidFill>
                      <a:srgbClr val="FFFFFF"/>
                    </a:solidFill>
                  </a:tcPr>
                </a:tc>
              </a:tr>
              <a:tr h="251999">
                <a:tc>
                  <a:txBody>
                    <a:bodyPr/>
                    <a:lstStyle/>
                    <a:p>
                      <a:pPr algn="l" lvl="1">
                        <a:defRPr sz="900" b="1">
                          <a:solidFill>
                            <a:srgbClr val="A61C00"/>
                          </a:solidFill>
                          <a:latin typeface="Montserrat"/>
                        </a:defRPr>
                      </a:pPr>
                      <a:r>
                        <a:t>Hijas e hijos</a:t>
                      </a:r>
                    </a:p>
                  </a:txBody>
                  <a:tcPr>
                    <a:solidFill>
                      <a:srgbClr val="EFEFEF"/>
                    </a:solidFill>
                  </a:tcPr>
                </a:tc>
                <a:tc>
                  <a:txBody>
                    <a:bodyPr/>
                    <a:lstStyle/>
                    <a:p>
                      <a:pPr algn="ctr">
                        <a:defRPr sz="900" b="1">
                          <a:solidFill>
                            <a:srgbClr val="A61C00"/>
                          </a:solidFill>
                          <a:latin typeface="Montserrat"/>
                        </a:defRPr>
                      </a:pPr>
                      <a:r>
                        <a:t>154,113</a:t>
                      </a:r>
                    </a:p>
                  </a:txBody>
                  <a:tcPr>
                    <a:solidFill>
                      <a:srgbClr val="EFEFEF"/>
                    </a:solidFill>
                  </a:tcPr>
                </a:tc>
                <a:tc>
                  <a:txBody>
                    <a:bodyPr/>
                    <a:lstStyle/>
                    <a:p>
                      <a:pPr algn="ctr">
                        <a:defRPr sz="900" b="1">
                          <a:solidFill>
                            <a:srgbClr val="A61C00"/>
                          </a:solidFill>
                          <a:latin typeface="Montserrat"/>
                        </a:defRPr>
                      </a:pPr>
                      <a:r>
                        <a:t>134,972</a:t>
                      </a:r>
                    </a:p>
                  </a:txBody>
                  <a:tcPr>
                    <a:solidFill>
                      <a:srgbClr val="EFEFEF"/>
                    </a:solidFill>
                  </a:tcPr>
                </a:tc>
                <a:tc>
                  <a:txBody>
                    <a:bodyPr/>
                    <a:lstStyle/>
                    <a:p>
                      <a:pPr algn="ctr">
                        <a:defRPr sz="900" b="1">
                          <a:solidFill>
                            <a:srgbClr val="A61C00"/>
                          </a:solidFill>
                          <a:latin typeface="Montserrat"/>
                        </a:defRPr>
                      </a:pPr>
                      <a:r>
                        <a:t>-12%</a:t>
                      </a:r>
                    </a:p>
                  </a:txBody>
                  <a:tcPr>
                    <a:solidFill>
                      <a:srgbClr val="EFEFE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82,985</a:t>
                      </a:r>
                    </a:p>
                  </a:txBody>
                  <a:tcPr>
                    <a:solidFill>
                      <a:srgbClr val="FFFFFF"/>
                    </a:solidFill>
                  </a:tcPr>
                </a:tc>
                <a:tc>
                  <a:txBody>
                    <a:bodyPr/>
                    <a:lstStyle/>
                    <a:p>
                      <a:pPr algn="ctr">
                        <a:defRPr sz="900">
                          <a:solidFill>
                            <a:srgbClr val="000000"/>
                          </a:solidFill>
                          <a:latin typeface="Montserrat"/>
                        </a:defRPr>
                      </a:pPr>
                      <a:r>
                        <a:t>111,080</a:t>
                      </a:r>
                    </a:p>
                  </a:txBody>
                  <a:tcPr>
                    <a:solidFill>
                      <a:srgbClr val="FFFFFF"/>
                    </a:solidFill>
                  </a:tcPr>
                </a:tc>
                <a:tc>
                  <a:txBody>
                    <a:bodyPr/>
                    <a:lstStyle/>
                    <a:p>
                      <a:pPr algn="ctr">
                        <a:defRPr sz="900">
                          <a:solidFill>
                            <a:srgbClr val="000000"/>
                          </a:solidFill>
                          <a:latin typeface="Montserrat"/>
                        </a:defRPr>
                      </a:pPr>
                      <a:r>
                        <a:t>34%</a:t>
                      </a:r>
                    </a:p>
                  </a:txBody>
                  <a:tcPr>
                    <a:solidFill>
                      <a:srgbClr val="FFFFFF"/>
                    </a:solidFill>
                  </a:tcPr>
                </a:tc>
              </a:tr>
            </a:tbl>
          </a:graphicData>
        </a:graphic>
      </p:graphicFrame>
      <p:sp>
        <p:nvSpPr>
          <p:cNvPr id="139" name="TextBox 138"/>
          <p:cNvSpPr txBox="1"/>
          <p:nvPr/>
        </p:nvSpPr>
        <p:spPr>
          <a:xfrm>
            <a:off x="82800" y="8762400"/>
            <a:ext cx="5864400" cy="360000"/>
          </a:xfrm>
          <a:prstGeom prst="rect">
            <a:avLst/>
          </a:prstGeom>
          <a:noFill/>
        </p:spPr>
        <p:txBody>
          <a:bodyPr wrap="square">
            <a:spAutoFit/>
          </a:bodyPr>
          <a:lstStyle/>
          <a:p>
            <a:pPr algn="l">
              <a:defRPr sz="800">
                <a:solidFill>
                  <a:srgbClr val="000000"/>
                </a:solidFill>
                <a:latin typeface="Noto Sans"/>
              </a:defRPr>
            </a:pPr>
            <a:r>
              <a:t>Fuente: Dirección de Incorporación y Recaudación, IMSS, datos abiertos con información mensual del número de personas derechohabientes adscritas a clínicas del IMSS. Corte enero de 2026.</a:t>
            </a:r>
          </a:p>
        </p:txBody>
      </p:sp>
      <p:graphicFrame>
        <p:nvGraphicFramePr>
          <p:cNvPr id="140" name="Table 139"/>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febrero</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6,284</a:t>
                      </a:r>
                    </a:p>
                  </a:txBody>
                  <a:tcPr>
                    <a:solidFill>
                      <a:srgbClr val="F8F4EC"/>
                    </a:solidFill>
                  </a:tcPr>
                </a:tc>
                <a:tc>
                  <a:txBody>
                    <a:bodyPr/>
                    <a:lstStyle/>
                    <a:p>
                      <a:pPr algn="ctr">
                        <a:defRPr b="1" sz="900">
                          <a:latin typeface="Montserrat"/>
                        </a:defRPr>
                      </a:pPr>
                      <a:r>
                        <a:t>8,224</a:t>
                      </a:r>
                    </a:p>
                  </a:txBody>
                  <a:tcPr>
                    <a:solidFill>
                      <a:srgbClr val="F8F4EC"/>
                    </a:solidFill>
                  </a:tcPr>
                </a:tc>
                <a:tc>
                  <a:txBody>
                    <a:bodyPr/>
                    <a:lstStyle/>
                    <a:p>
                      <a:pPr algn="ctr">
                        <a:defRPr b="1" sz="900">
                          <a:latin typeface="Montserrat"/>
                        </a:defRPr>
                      </a:pPr>
                      <a:r>
                        <a:t>31%</a:t>
                      </a:r>
                    </a:p>
                  </a:txBody>
                  <a:tcPr>
                    <a:solidFill>
                      <a:srgbClr val="F8F4EC"/>
                    </a:solidFill>
                  </a:tcPr>
                </a:tc>
              </a:tr>
            </a:tbl>
          </a:graphicData>
        </a:graphic>
      </p:graphicFrame>
      <p:graphicFrame>
        <p:nvGraphicFramePr>
          <p:cNvPr id="141" name="Table 140"/>
          <p:cNvGraphicFramePr>
            <a:graphicFrameLocks noGrp="1"/>
          </p:cNvGraphicFramePr>
          <p:nvPr/>
        </p:nvGraphicFramePr>
        <p:xfrm>
          <a:off x="5947200" y="8733600"/>
          <a:ext cx="1738800" cy="550800"/>
        </p:xfrm>
        <a:graphic>
          <a:graphicData uri="http://schemas.openxmlformats.org/drawingml/2006/table">
            <a:tbl>
              <a:tblPr firstRow="1" bandRow="1">
                <a:tableStyleId>{5C22544A-7EE6-4342-B048-85BDC9FD1C3A}</a:tableStyleId>
              </a:tblPr>
              <a:tblGrid>
                <a:gridCol w="1738800"/>
              </a:tblGrid>
              <a:tr h="216000">
                <a:tc>
                  <a:txBody>
                    <a:bodyPr/>
                    <a:lstStyle/>
                    <a:p>
                      <a:pPr algn="ctr">
                        <a:defRPr sz="1000" b="1">
                          <a:solidFill>
                            <a:srgbClr val="FFFFFF"/>
                          </a:solidFill>
                          <a:latin typeface="Montserrat"/>
                        </a:defRPr>
                      </a:pPr>
                      <a:r>
                        <a:t>febrero 2026</a:t>
                      </a:r>
                    </a:p>
                  </a:txBody>
                  <a:tcPr anchor="ctr">
                    <a:solidFill>
                      <a:srgbClr val="006455"/>
                    </a:solidFill>
                  </a:tcPr>
                </a:tc>
              </a:tr>
              <a:tr h="334800">
                <a:tc>
                  <a:txBody>
                    <a:bodyPr/>
                    <a:lstStyle/>
                    <a:p>
                      <a:pPr algn="ctr">
                        <a:defRPr sz="1200" b="1">
                          <a:solidFill>
                            <a:srgbClr val="000000"/>
                          </a:solidFill>
                          <a:latin typeface="Montserrat"/>
                        </a:defRPr>
                      </a:pPr>
                      <a:r>
                        <a:t>0</a:t>
                      </a:r>
                    </a:p>
                  </a:txBody>
                  <a:tcPr anchor="ctr">
                    <a:solidFill>
                      <a:srgbClr val="F8F4EC"/>
                    </a:solidFill>
                  </a:tcPr>
                </a:tc>
              </a:tr>
            </a:tbl>
          </a:graphicData>
        </a:graphic>
      </p:graphicFrame>
      <p:sp>
        <p:nvSpPr>
          <p:cNvPr id="142" name="TextBox 141"/>
          <p:cNvSpPr txBox="1"/>
          <p:nvPr/>
        </p:nvSpPr>
        <p:spPr>
          <a:xfrm>
            <a:off x="82800" y="9093600"/>
            <a:ext cx="5864400" cy="360000"/>
          </a:xfrm>
          <a:prstGeom prst="rect">
            <a:avLst/>
          </a:prstGeom>
          <a:noFill/>
        </p:spPr>
        <p:txBody>
          <a:bodyPr wrap="square">
            <a:spAutoFit/>
          </a:bodyPr>
          <a:lstStyle/>
          <a:p>
            <a:pPr algn="l">
              <a:defRPr sz="800">
                <a:solidFill>
                  <a:srgbClr val="000000"/>
                </a:solidFill>
                <a:latin typeface="Noto Sans"/>
              </a:defRPr>
            </a:pPr>
            <a:r>
              <a:t>*La afiliación al Seguro de Salud de Familia disminuye en virtud del incremento en los nuevos esquemas de aseguramiento.</a:t>
            </a:r>
          </a:p>
        </p:txBody>
      </p:sp>
      <p:sp>
        <p:nvSpPr>
          <p:cNvPr id="143" name="TextBox 14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7_mor.png"/>
          <p:cNvPicPr>
            <a:picLocks noChangeAspect="1"/>
          </p:cNvPicPr>
          <p:nvPr/>
        </p:nvPicPr>
        <p:blipFill>
          <a:blip r:embed="rId4"/>
          <a:stretch>
            <a:fillRect/>
          </a:stretch>
        </p:blipFill>
        <p:spPr>
          <a:xfrm>
            <a:off x="198000" y="1944000"/>
            <a:ext cx="5886000" cy="4543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solidFill>
                      <a:srgbClr val="006455"/>
                    </a:solidFill>
                  </a:tcPr>
                </a:tc>
                <a:tc>
                  <a:txBody>
                    <a:bodyPr/>
                    <a:lstStyle/>
                    <a:p>
                      <a:pPr algn="ctr">
                        <a:defRPr b="1" sz="1000">
                          <a:solidFill>
                            <a:srgbClr val="FFFFFF"/>
                          </a:solidFill>
                          <a:latin typeface="Montserrat"/>
                        </a:defRPr>
                      </a:pPr>
                      <a:r>
                        <a:t>Unidades</a:t>
                      </a:r>
                    </a:p>
                  </a:txBody>
                  <a:tcPr marL="10800" marR="10800" marT="10800" marB="10800">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solidFill>
                      <a:srgbClr val="006455"/>
                    </a:solidFill>
                  </a:tcPr>
                </a:tc>
                <a:tc>
                  <a:txBody>
                    <a:bodyPr/>
                    <a:lstStyle/>
                    <a:p>
                      <a:pPr algn="ctr">
                        <a:defRPr b="1" sz="1000">
                          <a:solidFill>
                            <a:srgbClr val="FFFFFF"/>
                          </a:solidFill>
                          <a:latin typeface="Montserrat"/>
                        </a:defRPr>
                      </a:pPr>
                      <a:r>
                        <a:t>Camas</a:t>
                      </a:r>
                    </a:p>
                  </a:txBody>
                  <a:tcPr marL="10800" marR="10800" marT="10800" marB="10800">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solidFill>
                      <a:srgbClr val="006455"/>
                    </a:solidFill>
                  </a:tcPr>
                </a:tc>
              </a:tr>
              <a:tr h="234000">
                <a:tc>
                  <a:txBody>
                    <a:bodyPr/>
                    <a:lstStyle/>
                    <a:p>
                      <a:pPr algn="l">
                        <a:defRPr sz="1000">
                          <a:solidFill>
                            <a:srgbClr val="000000"/>
                          </a:solidFill>
                          <a:latin typeface="Montserrat"/>
                        </a:defRPr>
                      </a:pPr>
                      <a:r>
                        <a:t>Primer</a:t>
                      </a:r>
                    </a:p>
                  </a:txBody>
                  <a:tcPr marL="10800" marR="10800" marT="10800" marB="10800">
                    <a:solidFill>
                      <a:srgbClr val="FFFFFF"/>
                    </a:solidFill>
                  </a:tcPr>
                </a:tc>
                <a:tc>
                  <a:txBody>
                    <a:bodyPr/>
                    <a:lstStyle/>
                    <a:p>
                      <a:pPr algn="ctr">
                        <a:defRPr sz="1000">
                          <a:solidFill>
                            <a:srgbClr val="000000"/>
                          </a:solidFill>
                          <a:latin typeface="Montserrat"/>
                        </a:defRPr>
                      </a:pPr>
                      <a:r>
                        <a:t>21</a:t>
                      </a:r>
                    </a:p>
                  </a:txBody>
                  <a:tcPr marL="10800" marR="10800" marT="10800" marB="10800">
                    <a:solidFill>
                      <a:srgbClr val="FFFFFF"/>
                    </a:solidFill>
                  </a:tcPr>
                </a:tc>
                <a:tc>
                  <a:txBody>
                    <a:bodyPr/>
                    <a:lstStyle/>
                    <a:p>
                      <a:pPr algn="ctr">
                        <a:defRPr sz="1000">
                          <a:solidFill>
                            <a:srgbClr val="000000"/>
                          </a:solidFill>
                          <a:latin typeface="Montserrat"/>
                        </a:defRPr>
                      </a:pPr>
                      <a:r>
                        <a:t>79</a:t>
                      </a:r>
                    </a:p>
                  </a:txBody>
                  <a:tcPr marL="10800" marR="10800" marT="10800" marB="10800">
                    <a:solidFill>
                      <a:srgbClr val="FFFFFF"/>
                    </a:solidFill>
                  </a:tcPr>
                </a:tc>
                <a:tc>
                  <a:txBody>
                    <a:bodyPr/>
                    <a:lstStyle/>
                    <a:p>
                      <a:pPr algn="ctr">
                        <a:defRPr sz="1000">
                          <a:solidFill>
                            <a:srgbClr val="000000"/>
                          </a:solidFill>
                          <a:latin typeface="Montserrat"/>
                        </a:defRPr>
                      </a:pPr>
                      <a:r>
                        <a:t>0</a:t>
                      </a:r>
                    </a:p>
                  </a:txBody>
                  <a:tcPr marL="10800" marR="10800" marT="10800" marB="10800">
                    <a:solidFill>
                      <a:srgbClr val="FFFFFF"/>
                    </a:solidFill>
                  </a:tcPr>
                </a:tc>
                <a:tc>
                  <a:txBody>
                    <a:bodyPr/>
                    <a:lstStyle/>
                    <a:p>
                      <a:pPr algn="ctr">
                        <a:defRPr sz="1000">
                          <a:solidFill>
                            <a:srgbClr val="000000"/>
                          </a:solidFill>
                          <a:latin typeface="Montserrat"/>
                        </a:defRPr>
                      </a:pPr>
                      <a:r>
                        <a:t>29</a:t>
                      </a:r>
                    </a:p>
                  </a:txBody>
                  <a:tcPr marL="10800" marR="10800" marT="10800" marB="10800">
                    <a:solidFill>
                      <a:srgbClr val="FFFFFF"/>
                    </a:solidFill>
                  </a:tcPr>
                </a:tc>
              </a:tr>
              <a:tr h="234000">
                <a:tc>
                  <a:txBody>
                    <a:bodyPr/>
                    <a:lstStyle/>
                    <a:p>
                      <a:pPr algn="l">
                        <a:defRPr sz="1000">
                          <a:solidFill>
                            <a:srgbClr val="000000"/>
                          </a:solidFill>
                          <a:latin typeface="Montserrat"/>
                        </a:defRPr>
                      </a:pPr>
                      <a:r>
                        <a:t>Segundo</a:t>
                      </a:r>
                    </a:p>
                  </a:txBody>
                  <a:tcPr marL="10800" marR="10800" marT="10800" marB="10800">
                    <a:solidFill>
                      <a:srgbClr val="EFEFEF"/>
                    </a:solidFill>
                  </a:tcPr>
                </a:tc>
                <a:tc>
                  <a:txBody>
                    <a:bodyPr/>
                    <a:lstStyle/>
                    <a:p>
                      <a:pPr algn="ctr">
                        <a:defRPr sz="1000">
                          <a:solidFill>
                            <a:srgbClr val="000000"/>
                          </a:solidFill>
                          <a:latin typeface="Montserrat"/>
                        </a:defRPr>
                      </a:pPr>
                      <a:r>
                        <a:t>3</a:t>
                      </a:r>
                    </a:p>
                  </a:txBody>
                  <a:tcPr marL="10800" marR="10800" marT="10800" marB="10800">
                    <a:solidFill>
                      <a:srgbClr val="EFEFEF"/>
                    </a:solidFill>
                  </a:tcPr>
                </a:tc>
                <a:tc>
                  <a:txBody>
                    <a:bodyPr/>
                    <a:lstStyle/>
                    <a:p>
                      <a:pPr algn="ctr">
                        <a:defRPr sz="1000">
                          <a:solidFill>
                            <a:srgbClr val="000000"/>
                          </a:solidFill>
                          <a:latin typeface="Montserrat"/>
                        </a:defRPr>
                      </a:pPr>
                      <a:r>
                        <a:t>42</a:t>
                      </a:r>
                    </a:p>
                  </a:txBody>
                  <a:tcPr marL="10800" marR="10800" marT="10800" marB="10800">
                    <a:solidFill>
                      <a:srgbClr val="EFEFEF"/>
                    </a:solidFill>
                  </a:tcPr>
                </a:tc>
                <a:tc>
                  <a:txBody>
                    <a:bodyPr/>
                    <a:lstStyle/>
                    <a:p>
                      <a:pPr algn="ctr">
                        <a:defRPr sz="1000">
                          <a:solidFill>
                            <a:srgbClr val="000000"/>
                          </a:solidFill>
                          <a:latin typeface="Montserrat"/>
                        </a:defRPr>
                      </a:pPr>
                      <a:r>
                        <a:t>511</a:t>
                      </a:r>
                    </a:p>
                  </a:txBody>
                  <a:tcPr marL="10800" marR="10800" marT="10800" marB="10800">
                    <a:solidFill>
                      <a:srgbClr val="EFEFEF"/>
                    </a:solidFill>
                  </a:tcPr>
                </a:tc>
                <a:tc>
                  <a:txBody>
                    <a:bodyPr/>
                    <a:lstStyle/>
                    <a:p>
                      <a:pPr algn="ctr">
                        <a:defRPr sz="1000">
                          <a:solidFill>
                            <a:srgbClr val="000000"/>
                          </a:solidFill>
                          <a:latin typeface="Montserrat"/>
                        </a:defRPr>
                      </a:pPr>
                      <a:r>
                        <a:t>190</a:t>
                      </a:r>
                    </a:p>
                  </a:txBody>
                  <a:tcPr marL="10800" marR="10800" marT="10800" marB="10800">
                    <a:solidFill>
                      <a:srgbClr val="EFEFEF"/>
                    </a:solidFill>
                  </a:tcPr>
                </a:tc>
              </a:tr>
              <a:tr h="234000">
                <a:tc>
                  <a:txBody>
                    <a:bodyPr/>
                    <a:lstStyle/>
                    <a:p>
                      <a:pPr algn="l">
                        <a:defRPr sz="1000" b="1">
                          <a:solidFill>
                            <a:srgbClr val="006556"/>
                          </a:solidFill>
                          <a:latin typeface="Montserrat"/>
                        </a:defRPr>
                      </a:pPr>
                      <a:r>
                        <a:t>Total</a:t>
                      </a:r>
                    </a:p>
                  </a:txBody>
                  <a:tcPr marL="10800" marR="10800" marT="10800" marB="10800">
                    <a:solidFill>
                      <a:srgbClr val="D3E9E7"/>
                    </a:solidFill>
                  </a:tcPr>
                </a:tc>
                <a:tc>
                  <a:txBody>
                    <a:bodyPr/>
                    <a:lstStyle/>
                    <a:p>
                      <a:pPr algn="ctr">
                        <a:defRPr sz="1000" b="1">
                          <a:solidFill>
                            <a:srgbClr val="006556"/>
                          </a:solidFill>
                          <a:latin typeface="Montserrat"/>
                        </a:defRPr>
                      </a:pPr>
                      <a:r>
                        <a:t>24</a:t>
                      </a:r>
                    </a:p>
                  </a:txBody>
                  <a:tcPr marL="10800" marR="10800" marT="10800" marB="10800">
                    <a:solidFill>
                      <a:srgbClr val="D3E9E7"/>
                    </a:solidFill>
                  </a:tcPr>
                </a:tc>
                <a:tc>
                  <a:txBody>
                    <a:bodyPr/>
                    <a:lstStyle/>
                    <a:p>
                      <a:pPr algn="ctr">
                        <a:defRPr sz="1000" b="1">
                          <a:solidFill>
                            <a:srgbClr val="006556"/>
                          </a:solidFill>
                          <a:latin typeface="Montserrat"/>
                        </a:defRPr>
                      </a:pPr>
                      <a:r>
                        <a:t>121</a:t>
                      </a:r>
                    </a:p>
                  </a:txBody>
                  <a:tcPr marL="10800" marR="10800" marT="10800" marB="10800">
                    <a:solidFill>
                      <a:srgbClr val="D3E9E7"/>
                    </a:solidFill>
                  </a:tcPr>
                </a:tc>
                <a:tc>
                  <a:txBody>
                    <a:bodyPr/>
                    <a:lstStyle/>
                    <a:p>
                      <a:pPr algn="ctr">
                        <a:defRPr sz="1000" b="1">
                          <a:solidFill>
                            <a:srgbClr val="006556"/>
                          </a:solidFill>
                          <a:latin typeface="Montserrat"/>
                        </a:defRPr>
                      </a:pPr>
                      <a:r>
                        <a:t>511</a:t>
                      </a:r>
                    </a:p>
                  </a:txBody>
                  <a:tcPr marL="10800" marR="10800" marT="10800" marB="10800">
                    <a:solidFill>
                      <a:srgbClr val="D3E9E7"/>
                    </a:solidFill>
                  </a:tcPr>
                </a:tc>
                <a:tc>
                  <a:txBody>
                    <a:bodyPr/>
                    <a:lstStyle/>
                    <a:p>
                      <a:pPr algn="ctr">
                        <a:defRPr sz="1000" b="1">
                          <a:solidFill>
                            <a:srgbClr val="006556"/>
                          </a:solidFill>
                          <a:latin typeface="Montserrat"/>
                        </a:defRPr>
                      </a:pPr>
                      <a:r>
                        <a:t>219</a:t>
                      </a:r>
                    </a:p>
                  </a:txBody>
                  <a:tcPr marL="10800" marR="10800" marT="10800" marB="10800">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934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934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tr>
              <a:tr h="2934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293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r>
            </a:tbl>
          </a:graphicData>
        </a:graphic>
      </p:graphicFrame>
      <p:sp>
        <p:nvSpPr>
          <p:cNvPr id="137" name="TextBox 136"/>
          <p:cNvSpPr txBox="1"/>
          <p:nvPr/>
        </p:nvSpPr>
        <p:spPr>
          <a:xfrm>
            <a:off x="212400" y="8607600"/>
            <a:ext cx="7200000" cy="900000"/>
          </a:xfrm>
          <a:prstGeom prst="rect">
            <a:avLst/>
          </a:prstGeom>
          <a:noFill/>
        </p:spPr>
        <p:txBody>
          <a:bodyPr wrap="square" tIns="0" bIns="0" lIns="0" rIns="0">
            <a:spAutoFit/>
          </a:bodyPr>
          <a:lstStyle/>
          <a:p>
            <a:pPr algn="l">
              <a:defRPr sz="800">
                <a:solidFill>
                  <a:srgbClr val="000000"/>
                </a:solidFill>
                <a:latin typeface="Noto Sans Light"/>
              </a:defRPr>
            </a:pPr>
            <a:r>
              <a:t>1. Incluye 21 UMF, 0 UMFH y 0 UMF-UMAA, y no incluye 2 Unidades Auxiliares de Medicina Familiar.</a:t>
            </a:r>
            <a:br/>
            <a:r>
              <a:t>2. Incluye la UMAA0,</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800">
                <a:solidFill>
                  <a:srgbClr val="000000"/>
                </a:solidFill>
                <a:latin typeface="Noto Sans Light"/>
              </a:defRPr>
            </a:pPr>
            <a:r>
              <a:t>Corte de información: enero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143" name="Google Shape;143;g370e475fb19_0_77"/>
          <p:cNvGraphicFramePr/>
          <p:nvPr/>
        </p:nvGraphicFramePr>
        <p:xfrm>
          <a:off x="149075" y="6490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Capacidad médica instalada</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45" name="Google Shape;145;g370e475fb19_0_77"/>
          <p:cNvSpPr txBox="1"/>
          <p:nvPr/>
        </p:nvSpPr>
        <p:spPr>
          <a:xfrm>
            <a:off x="361950" y="9522000"/>
            <a:ext cx="7048500" cy="30774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800" b="0" i="0" u="none" strike="noStrike" cap="none" baseline="30000" dirty="0">
                <a:solidFill>
                  <a:schemeClr val="lt1"/>
                </a:solidFill>
                <a:latin typeface="Montserrat"/>
                <a:ea typeface="Montserrat"/>
                <a:cs typeface="Montserrat"/>
                <a:sym typeface="Montserrat"/>
              </a:rPr>
              <a:t>*</a:t>
            </a:r>
            <a:r>
              <a:rPr lang="es" sz="800" b="0" i="0" u="none" strike="noStrike" cap="none" dirty="0">
                <a:solidFill>
                  <a:schemeClr val="lt1"/>
                </a:solidFill>
                <a:latin typeface="Montserrat"/>
                <a:ea typeface="Montserrat"/>
                <a:cs typeface="Montserrat"/>
                <a:sym typeface="Montserrat"/>
              </a:rPr>
              <a:t> No se consideran salas de tococirugía, expulsión y recuperación.</a:t>
            </a:r>
            <a:endParaRPr sz="800" b="0" i="0" u="none" strike="noStrike" cap="none" dirty="0">
              <a:solidFill>
                <a:schemeClr val="lt1"/>
              </a:solidFill>
              <a:latin typeface="Montserrat"/>
              <a:ea typeface="Montserrat"/>
              <a:cs typeface="Montserrat"/>
              <a:sym typeface="Montserrat"/>
            </a:endParaRPr>
          </a:p>
        </p:txBody>
      </p:sp>
      <p:sp>
        <p:nvSpPr>
          <p:cNvPr id="146" name="TextBox 14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graphicFrame>
        <p:nvGraphicFramePr>
          <p:cNvPr id="147" name="Table 146"/>
          <p:cNvGraphicFramePr>
            <a:graphicFrameLocks noGrp="1"/>
          </p:cNvGraphicFramePr>
          <p:nvPr/>
        </p:nvGraphicFramePr>
        <p:xfrm>
          <a:off x="363600" y="1134000"/>
          <a:ext cx="7200000" cy="1620000"/>
        </p:xfrm>
        <a:graphic>
          <a:graphicData uri="http://schemas.openxmlformats.org/drawingml/2006/table">
            <a:tbl>
              <a:tblPr firstRow="1" bandRow="1">
                <a:tableStyleId>{5C22544A-7EE6-4342-B048-85BDC9FD1C3A}</a:tableStyleId>
              </a:tblPr>
              <a:tblGrid>
                <a:gridCol w="1612800"/>
                <a:gridCol w="1198800"/>
                <a:gridCol w="622800"/>
                <a:gridCol w="824400"/>
                <a:gridCol w="824400"/>
                <a:gridCol w="658800"/>
                <a:gridCol w="1458000"/>
              </a:tblGrid>
              <a:tr h="324000">
                <a:tc>
                  <a:txBody>
                    <a:bodyPr/>
                    <a:lstStyle/>
                    <a:p>
                      <a:pPr algn="ctr">
                        <a:defRPr b="1" sz="900">
                          <a:solidFill>
                            <a:srgbClr val="FFFFFF"/>
                          </a:solidFill>
                          <a:latin typeface="Montserrat"/>
                        </a:defRPr>
                      </a:pPr>
                      <a:r>
                        <a:t>Segundo nivel</a:t>
                      </a:r>
                    </a:p>
                  </a:txBody>
                  <a:tcPr>
                    <a:solidFill>
                      <a:srgbClr val="006455"/>
                    </a:solidFill>
                  </a:tcPr>
                </a:tc>
                <a:tc>
                  <a:txBody>
                    <a:bodyPr/>
                    <a:lstStyle/>
                    <a:p>
                      <a:pPr algn="ctr">
                        <a:defRPr b="1" sz="900">
                          <a:solidFill>
                            <a:srgbClr val="FFFFFF"/>
                          </a:solidFill>
                          <a:latin typeface="Montserrat"/>
                        </a:defRPr>
                      </a:pPr>
                      <a:r>
                        <a:t>Inicio de Productividad</a:t>
                      </a:r>
                    </a:p>
                  </a:txBody>
                  <a:tcPr>
                    <a:solidFill>
                      <a:srgbClr val="006455"/>
                    </a:solidFill>
                  </a:tcPr>
                </a:tc>
                <a:tc>
                  <a:txBody>
                    <a:bodyPr/>
                    <a:lstStyle/>
                    <a:p>
                      <a:pPr algn="ctr">
                        <a:defRPr b="1" sz="900">
                          <a:solidFill>
                            <a:srgbClr val="FFFFFF"/>
                          </a:solidFill>
                          <a:latin typeface="Montserrat"/>
                        </a:defRPr>
                      </a:pPr>
                      <a:r>
                        <a:t>Camas</a:t>
                      </a:r>
                    </a:p>
                  </a:txBody>
                  <a:tcPr>
                    <a:solidFill>
                      <a:srgbClr val="006455"/>
                    </a:solidFill>
                  </a:tcPr>
                </a:tc>
                <a:tc>
                  <a:txBody>
                    <a:bodyPr/>
                    <a:lstStyle/>
                    <a:p>
                      <a:pPr algn="ctr">
                        <a:defRPr b="1" sz="900">
                          <a:solidFill>
                            <a:srgbClr val="FFFFFF"/>
                          </a:solidFill>
                          <a:latin typeface="Montserrat"/>
                        </a:defRPr>
                      </a:pPr>
                      <a:r>
                        <a:t>Camas no censables</a:t>
                      </a:r>
                    </a:p>
                  </a:txBody>
                  <a:tcPr>
                    <a:solidFill>
                      <a:srgbClr val="006455"/>
                    </a:solidFill>
                  </a:tcPr>
                </a:tc>
                <a:tc>
                  <a:txBody>
                    <a:bodyPr/>
                    <a:lstStyle/>
                    <a:p>
                      <a:pPr algn="ctr">
                        <a:defRPr b="1" sz="900">
                          <a:solidFill>
                            <a:srgbClr val="FFFFFF"/>
                          </a:solidFill>
                          <a:latin typeface="Montserrat"/>
                        </a:defRPr>
                      </a:pPr>
                      <a:r>
                        <a:t>Camas de cuidados intensivos</a:t>
                      </a:r>
                    </a:p>
                  </a:txBody>
                  <a:tcPr>
                    <a:solidFill>
                      <a:srgbClr val="006455"/>
                    </a:solidFill>
                  </a:tcPr>
                </a:tc>
                <a:tc>
                  <a:txBody>
                    <a:bodyPr/>
                    <a:lstStyle/>
                    <a:p>
                      <a:pPr algn="ctr">
                        <a:defRPr b="1" sz="900">
                          <a:solidFill>
                            <a:srgbClr val="FFFFFF"/>
                          </a:solidFill>
                          <a:latin typeface="Montserrat"/>
                        </a:defRPr>
                      </a:pPr>
                      <a:r>
                        <a:t>Qx*</a:t>
                      </a:r>
                    </a:p>
                  </a:txBody>
                  <a:tcPr>
                    <a:solidFill>
                      <a:srgbClr val="006455"/>
                    </a:solidFill>
                  </a:tcPr>
                </a:tc>
                <a:tc>
                  <a:txBody>
                    <a:bodyPr/>
                    <a:lstStyle/>
                    <a:p>
                      <a:pPr algn="ctr">
                        <a:defRPr b="1" sz="900">
                          <a:solidFill>
                            <a:srgbClr val="FFFFFF"/>
                          </a:solidFill>
                          <a:latin typeface="Montserrat"/>
                        </a:defRPr>
                      </a:pPr>
                      <a:r>
                        <a:t>Consultorios de especialidades</a:t>
                      </a:r>
                    </a:p>
                  </a:txBody>
                  <a:tcPr>
                    <a:solidFill>
                      <a:srgbClr val="006455"/>
                    </a:solidFill>
                  </a:tcPr>
                </a:tc>
              </a:tr>
              <a:tr h="324000">
                <a:tc>
                  <a:txBody>
                    <a:bodyPr/>
                    <a:lstStyle/>
                    <a:p>
                      <a:pPr algn="ctr">
                        <a:defRPr sz="900">
                          <a:latin typeface="Montserrat"/>
                        </a:defRPr>
                      </a:pPr>
                      <a:r>
                        <a:t>HGZMF 7 Cuautla</a:t>
                      </a:r>
                    </a:p>
                  </a:txBody>
                  <a:tcPr>
                    <a:solidFill>
                      <a:srgbClr val="FFFFFF"/>
                    </a:solidFill>
                  </a:tcPr>
                </a:tc>
                <a:tc>
                  <a:txBody>
                    <a:bodyPr/>
                    <a:lstStyle/>
                    <a:p>
                      <a:pPr algn="ctr">
                        <a:defRPr sz="900">
                          <a:latin typeface="Montserrat"/>
                        </a:defRPr>
                      </a:pPr>
                      <a:r>
                        <a:t>Enero de 1974</a:t>
                      </a:r>
                    </a:p>
                  </a:txBody>
                  <a:tcPr>
                    <a:solidFill>
                      <a:srgbClr val="FFFFFF"/>
                    </a:solidFill>
                  </a:tcPr>
                </a:tc>
                <a:tc>
                  <a:txBody>
                    <a:bodyPr/>
                    <a:lstStyle/>
                    <a:p>
                      <a:pPr algn="ctr">
                        <a:defRPr sz="900">
                          <a:latin typeface="Montserrat"/>
                        </a:defRPr>
                      </a:pPr>
                      <a:r>
                        <a:t>82</a:t>
                      </a:r>
                    </a:p>
                  </a:txBody>
                  <a:tcPr>
                    <a:solidFill>
                      <a:srgbClr val="FFFFFF"/>
                    </a:solidFill>
                  </a:tcPr>
                </a:tc>
                <a:tc>
                  <a:txBody>
                    <a:bodyPr/>
                    <a:lstStyle/>
                    <a:p>
                      <a:pPr algn="ctr">
                        <a:defRPr sz="900">
                          <a:latin typeface="Montserrat"/>
                        </a:defRPr>
                      </a:pPr>
                      <a:r>
                        <a:t>48</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2</a:t>
                      </a:r>
                    </a:p>
                  </a:txBody>
                  <a:tcPr>
                    <a:solidFill>
                      <a:srgbClr val="FFFFFF"/>
                    </a:solidFill>
                  </a:tcPr>
                </a:tc>
                <a:tc>
                  <a:txBody>
                    <a:bodyPr/>
                    <a:lstStyle/>
                    <a:p>
                      <a:pPr algn="ctr">
                        <a:defRPr sz="900">
                          <a:latin typeface="Montserrat"/>
                        </a:defRPr>
                      </a:pPr>
                      <a:r>
                        <a:t>20</a:t>
                      </a:r>
                    </a:p>
                  </a:txBody>
                  <a:tcPr>
                    <a:solidFill>
                      <a:srgbClr val="FFFFFF"/>
                    </a:solidFill>
                  </a:tcPr>
                </a:tc>
              </a:tr>
              <a:tr h="324000">
                <a:tc>
                  <a:txBody>
                    <a:bodyPr/>
                    <a:lstStyle/>
                    <a:p>
                      <a:pPr algn="ctr">
                        <a:defRPr sz="900">
                          <a:latin typeface="Montserrat"/>
                        </a:defRPr>
                      </a:pPr>
                      <a:r>
                        <a:t>HGZMF 5 Zacatepec</a:t>
                      </a:r>
                    </a:p>
                  </a:txBody>
                  <a:tcPr>
                    <a:solidFill>
                      <a:srgbClr val="EFEFEF"/>
                    </a:solidFill>
                  </a:tcPr>
                </a:tc>
                <a:tc>
                  <a:txBody>
                    <a:bodyPr/>
                    <a:lstStyle/>
                    <a:p>
                      <a:pPr algn="ctr">
                        <a:defRPr sz="900">
                          <a:latin typeface="Montserrat"/>
                        </a:defRPr>
                      </a:pPr>
                      <a:r>
                        <a:t>Enero de 1975</a:t>
                      </a:r>
                    </a:p>
                  </a:txBody>
                  <a:tcPr>
                    <a:solidFill>
                      <a:srgbClr val="EFEFEF"/>
                    </a:solidFill>
                  </a:tcPr>
                </a:tc>
                <a:tc>
                  <a:txBody>
                    <a:bodyPr/>
                    <a:lstStyle/>
                    <a:p>
                      <a:pPr algn="ctr">
                        <a:defRPr sz="900">
                          <a:latin typeface="Montserrat"/>
                        </a:defRPr>
                      </a:pPr>
                      <a:r>
                        <a:t>61</a:t>
                      </a:r>
                    </a:p>
                  </a:txBody>
                  <a:tcPr>
                    <a:solidFill>
                      <a:srgbClr val="EFEFEF"/>
                    </a:solidFill>
                  </a:tcPr>
                </a:tc>
                <a:tc>
                  <a:txBody>
                    <a:bodyPr/>
                    <a:lstStyle/>
                    <a:p>
                      <a:pPr algn="ctr">
                        <a:defRPr sz="900">
                          <a:latin typeface="Montserrat"/>
                        </a:defRPr>
                      </a:pPr>
                      <a:r>
                        <a:t>25</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1</a:t>
                      </a:r>
                    </a:p>
                  </a:txBody>
                  <a:tcPr>
                    <a:solidFill>
                      <a:srgbClr val="EFEFEF"/>
                    </a:solidFill>
                  </a:tcPr>
                </a:tc>
                <a:tc>
                  <a:txBody>
                    <a:bodyPr/>
                    <a:lstStyle/>
                    <a:p>
                      <a:pPr algn="ctr">
                        <a:defRPr sz="900">
                          <a:latin typeface="Montserrat"/>
                        </a:defRPr>
                      </a:pPr>
                      <a:r>
                        <a:t>17</a:t>
                      </a:r>
                    </a:p>
                  </a:txBody>
                  <a:tcPr>
                    <a:solidFill>
                      <a:srgbClr val="EFEFEF"/>
                    </a:solidFill>
                  </a:tcPr>
                </a:tc>
              </a:tr>
              <a:tr h="324000">
                <a:tc>
                  <a:txBody>
                    <a:bodyPr/>
                    <a:lstStyle/>
                    <a:p>
                      <a:pPr algn="ctr">
                        <a:defRPr sz="900">
                          <a:latin typeface="Montserrat"/>
                        </a:defRPr>
                      </a:pPr>
                      <a:r>
                        <a:t>HGRMF 1 Cuernavaca</a:t>
                      </a:r>
                    </a:p>
                  </a:txBody>
                  <a:tcPr>
                    <a:solidFill>
                      <a:srgbClr val="FFFFFF"/>
                    </a:solidFill>
                  </a:tcPr>
                </a:tc>
                <a:tc>
                  <a:txBody>
                    <a:bodyPr/>
                    <a:lstStyle/>
                    <a:p>
                      <a:pPr algn="ctr">
                        <a:defRPr sz="900">
                          <a:latin typeface="Montserrat"/>
                        </a:defRPr>
                      </a:pPr>
                      <a:r>
                        <a:t>Enero de 1980</a:t>
                      </a:r>
                    </a:p>
                  </a:txBody>
                  <a:tcPr>
                    <a:solidFill>
                      <a:srgbClr val="FFFFFF"/>
                    </a:solidFill>
                  </a:tcPr>
                </a:tc>
                <a:tc>
                  <a:txBody>
                    <a:bodyPr/>
                    <a:lstStyle/>
                    <a:p>
                      <a:pPr algn="ctr">
                        <a:defRPr sz="900">
                          <a:latin typeface="Montserrat"/>
                        </a:defRPr>
                      </a:pPr>
                      <a:r>
                        <a:t>368</a:t>
                      </a:r>
                    </a:p>
                  </a:txBody>
                  <a:tcPr>
                    <a:solidFill>
                      <a:srgbClr val="FFFFFF"/>
                    </a:solidFill>
                  </a:tcPr>
                </a:tc>
                <a:tc>
                  <a:txBody>
                    <a:bodyPr/>
                    <a:lstStyle/>
                    <a:p>
                      <a:pPr algn="ctr">
                        <a:defRPr sz="900">
                          <a:latin typeface="Montserrat"/>
                        </a:defRPr>
                      </a:pPr>
                      <a:r>
                        <a:t>117</a:t>
                      </a:r>
                    </a:p>
                  </a:txBody>
                  <a:tcPr>
                    <a:solidFill>
                      <a:srgbClr val="FFFFFF"/>
                    </a:solidFill>
                  </a:tcPr>
                </a:tc>
                <a:tc>
                  <a:txBody>
                    <a:bodyPr/>
                    <a:lstStyle/>
                    <a:p>
                      <a:pPr algn="ctr">
                        <a:defRPr sz="900">
                          <a:latin typeface="Montserrat"/>
                        </a:defRPr>
                      </a:pPr>
                      <a:r>
                        <a:t>18</a:t>
                      </a:r>
                    </a:p>
                  </a:txBody>
                  <a:tcPr>
                    <a:solidFill>
                      <a:srgbClr val="FFFFFF"/>
                    </a:solidFill>
                  </a:tcPr>
                </a:tc>
                <a:tc>
                  <a:txBody>
                    <a:bodyPr/>
                    <a:lstStyle/>
                    <a:p>
                      <a:pPr algn="ctr">
                        <a:defRPr sz="900">
                          <a:latin typeface="Montserrat"/>
                        </a:defRPr>
                      </a:pPr>
                      <a:r>
                        <a:t>8</a:t>
                      </a:r>
                    </a:p>
                  </a:txBody>
                  <a:tcPr>
                    <a:solidFill>
                      <a:srgbClr val="FFFFFF"/>
                    </a:solidFill>
                  </a:tcPr>
                </a:tc>
                <a:tc>
                  <a:txBody>
                    <a:bodyPr/>
                    <a:lstStyle/>
                    <a:p>
                      <a:pPr algn="ctr">
                        <a:defRPr sz="900">
                          <a:latin typeface="Montserrat"/>
                        </a:defRPr>
                      </a:pPr>
                      <a:r>
                        <a:t>63</a:t>
                      </a:r>
                    </a:p>
                  </a:txBody>
                  <a:tcPr>
                    <a:solidFill>
                      <a:srgbClr val="FFFFFF"/>
                    </a:solidFill>
                  </a:tcPr>
                </a:tc>
              </a:tr>
              <a:tr h="324000">
                <a:tc>
                  <a:txBody>
                    <a:bodyPr/>
                    <a:lstStyle/>
                    <a:p>
                      <a:pPr algn="ctr">
                        <a:defRPr sz="900" b="1">
                          <a:solidFill>
                            <a:srgbClr val="006556"/>
                          </a:solidFill>
                          <a:latin typeface="Montserrat"/>
                        </a:defRPr>
                      </a:pPr>
                      <a:r>
                        <a:t>Total</a:t>
                      </a:r>
                    </a:p>
                  </a:txBody>
                  <a:tcPr>
                    <a:solidFill>
                      <a:srgbClr val="D3E9E7"/>
                    </a:solidFill>
                  </a:tcPr>
                </a:tc>
                <a:tc>
                  <a:txBody>
                    <a:bodyPr/>
                    <a:lstStyle/>
                    <a:p>
                      <a:pPr algn="ctr">
                        <a:defRPr sz="900" b="1">
                          <a:solidFill>
                            <a:srgbClr val="006556"/>
                          </a:solidFill>
                          <a:latin typeface="Montserrat"/>
                        </a:defRPr>
                      </a:pPr>
                    </a:p>
                  </a:txBody>
                  <a:tcPr>
                    <a:solidFill>
                      <a:srgbClr val="D3E9E7"/>
                    </a:solidFill>
                  </a:tcPr>
                </a:tc>
                <a:tc>
                  <a:txBody>
                    <a:bodyPr/>
                    <a:lstStyle/>
                    <a:p>
                      <a:pPr algn="ctr">
                        <a:defRPr sz="900" b="1">
                          <a:solidFill>
                            <a:srgbClr val="006556"/>
                          </a:solidFill>
                          <a:latin typeface="Montserrat"/>
                        </a:defRPr>
                      </a:pPr>
                      <a:r>
                        <a:t>511</a:t>
                      </a:r>
                    </a:p>
                  </a:txBody>
                  <a:tcPr>
                    <a:solidFill>
                      <a:srgbClr val="D3E9E7"/>
                    </a:solidFill>
                  </a:tcPr>
                </a:tc>
                <a:tc>
                  <a:txBody>
                    <a:bodyPr/>
                    <a:lstStyle/>
                    <a:p>
                      <a:pPr algn="ctr">
                        <a:defRPr sz="900" b="1">
                          <a:solidFill>
                            <a:srgbClr val="006556"/>
                          </a:solidFill>
                          <a:latin typeface="Montserrat"/>
                        </a:defRPr>
                      </a:pPr>
                      <a:r>
                        <a:t>190</a:t>
                      </a:r>
                    </a:p>
                  </a:txBody>
                  <a:tcPr>
                    <a:solidFill>
                      <a:srgbClr val="D3E9E7"/>
                    </a:solidFill>
                  </a:tcPr>
                </a:tc>
                <a:tc>
                  <a:txBody>
                    <a:bodyPr/>
                    <a:lstStyle/>
                    <a:p>
                      <a:pPr algn="ctr">
                        <a:defRPr sz="900" b="1">
                          <a:solidFill>
                            <a:srgbClr val="006556"/>
                          </a:solidFill>
                          <a:latin typeface="Montserrat"/>
                        </a:defRPr>
                      </a:pPr>
                      <a:r>
                        <a:t>18</a:t>
                      </a:r>
                    </a:p>
                  </a:txBody>
                  <a:tcPr>
                    <a:solidFill>
                      <a:srgbClr val="D3E9E7"/>
                    </a:solidFill>
                  </a:tcPr>
                </a:tc>
                <a:tc>
                  <a:txBody>
                    <a:bodyPr/>
                    <a:lstStyle/>
                    <a:p>
                      <a:pPr algn="ctr">
                        <a:defRPr sz="900" b="1">
                          <a:solidFill>
                            <a:srgbClr val="006556"/>
                          </a:solidFill>
                          <a:latin typeface="Montserrat"/>
                        </a:defRPr>
                      </a:pPr>
                      <a:r>
                        <a:t>11</a:t>
                      </a:r>
                    </a:p>
                  </a:txBody>
                  <a:tcPr>
                    <a:solidFill>
                      <a:srgbClr val="D3E9E7"/>
                    </a:solidFill>
                  </a:tcPr>
                </a:tc>
                <a:tc>
                  <a:txBody>
                    <a:bodyPr/>
                    <a:lstStyle/>
                    <a:p>
                      <a:pPr algn="ctr">
                        <a:defRPr sz="900" b="1">
                          <a:solidFill>
                            <a:srgbClr val="006556"/>
                          </a:solidFill>
                          <a:latin typeface="Montserrat"/>
                        </a:defRPr>
                      </a:pPr>
                      <a:r>
                        <a:t>100</a:t>
                      </a:r>
                    </a:p>
                  </a:txBody>
                  <a:tcPr>
                    <a:solidFill>
                      <a:srgbClr val="D3E9E7"/>
                    </a:solidFill>
                  </a:tcPr>
                </a:tc>
              </a:tr>
            </a:tbl>
          </a:graphicData>
        </a:graphic>
      </p:graphicFrame>
      <p:sp>
        <p:nvSpPr>
          <p:cNvPr id="148" name="TextBox 147"/>
          <p:cNvSpPr txBox="1"/>
          <p:nvPr/>
        </p:nvSpPr>
        <p:spPr>
          <a:xfrm>
            <a:off x="370800" y="3582000"/>
            <a:ext cx="3600000" cy="288000"/>
          </a:xfrm>
          <a:prstGeom prst="rect">
            <a:avLst/>
          </a:prstGeom>
          <a:noFill/>
        </p:spPr>
        <p:txBody>
          <a:bodyPr wrap="square" tIns="0" bIns="0" lIns="0" rIns="0">
            <a:spAutoFit/>
          </a:bodyPr>
          <a:lstStyle/>
          <a:p>
            <a:pPr algn="l">
              <a:defRPr sz="800">
                <a:solidFill>
                  <a:srgbClr val="000000"/>
                </a:solidFill>
                <a:latin typeface="Noto Sans"/>
              </a:defRPr>
            </a:pPr>
            <a:r>
              <a:t>Corte de Información: enero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graphicFrame>
        <p:nvGraphicFramePr>
          <p:cNvPr id="154" name="Table 153"/>
          <p:cNvGraphicFramePr>
            <a:graphicFrameLocks noGrp="1"/>
          </p:cNvGraphicFramePr>
          <p:nvPr/>
        </p:nvGraphicFramePr>
        <p:xfrm>
          <a:off x="280800" y="1274400"/>
          <a:ext cx="7286400" cy="1152000"/>
        </p:xfrm>
        <a:graphic>
          <a:graphicData uri="http://schemas.openxmlformats.org/drawingml/2006/table">
            <a:tbl>
              <a:tblPr firstRow="1" bandRow="1">
                <a:tableStyleId>{5C22544A-7EE6-4342-B048-85BDC9FD1C3A}</a:tableStyleId>
              </a:tblPr>
              <a:tblGrid>
                <a:gridCol w="1483200"/>
                <a:gridCol w="1018800"/>
                <a:gridCol w="997200"/>
                <a:gridCol w="939600"/>
                <a:gridCol w="640800"/>
                <a:gridCol w="1072800"/>
                <a:gridCol w="1134000"/>
              </a:tblGrid>
              <a:tr h="230400">
                <a:tc>
                  <a:txBody>
                    <a:bodyPr/>
                    <a:lstStyle/>
                    <a:p>
                      <a:pPr algn="ctr">
                        <a:defRPr b="1" sz="900">
                          <a:solidFill>
                            <a:srgbClr val="FFFFFF"/>
                          </a:solidFill>
                          <a:latin typeface="Montserrat"/>
                        </a:defRPr>
                      </a:pPr>
                      <a:r>
                        <a:t>Segundo nivel</a:t>
                      </a:r>
                    </a:p>
                  </a:txBody>
                  <a:tcPr>
                    <a:solidFill>
                      <a:srgbClr val="006455"/>
                    </a:solidFill>
                  </a:tcPr>
                </a:tc>
                <a:tc>
                  <a:txBody>
                    <a:bodyPr/>
                    <a:lstStyle/>
                    <a:p>
                      <a:pPr algn="ctr">
                        <a:defRPr b="1" sz="900">
                          <a:solidFill>
                            <a:srgbClr val="FFFFFF"/>
                          </a:solidFill>
                          <a:latin typeface="Montserrat"/>
                        </a:defRPr>
                      </a:pPr>
                      <a:r>
                        <a:t>Aparatos de Tomografía</a:t>
                      </a:r>
                    </a:p>
                  </a:txBody>
                  <a:tcPr>
                    <a:solidFill>
                      <a:srgbClr val="006455"/>
                    </a:solidFill>
                  </a:tcPr>
                </a:tc>
                <a:tc>
                  <a:txBody>
                    <a:bodyPr/>
                    <a:lstStyle/>
                    <a:p>
                      <a:pPr algn="ctr">
                        <a:defRPr b="1" sz="900">
                          <a:solidFill>
                            <a:srgbClr val="FFFFFF"/>
                          </a:solidFill>
                          <a:latin typeface="Montserrat"/>
                        </a:defRPr>
                      </a:pPr>
                      <a:r>
                        <a:t>Equipos de Resonancia Magnética</a:t>
                      </a:r>
                    </a:p>
                  </a:txBody>
                  <a:tcPr>
                    <a:solidFill>
                      <a:srgbClr val="006455"/>
                    </a:solidFill>
                  </a:tcPr>
                </a:tc>
                <a:tc>
                  <a:txBody>
                    <a:bodyPr/>
                    <a:lstStyle/>
                    <a:p>
                      <a:pPr algn="ctr">
                        <a:defRPr b="1" sz="900">
                          <a:solidFill>
                            <a:srgbClr val="FFFFFF"/>
                          </a:solidFill>
                          <a:latin typeface="Montserrat"/>
                        </a:defRPr>
                      </a:pPr>
                      <a:r>
                        <a:t>Mastógrafo</a:t>
                      </a:r>
                    </a:p>
                  </a:txBody>
                  <a:tcPr>
                    <a:solidFill>
                      <a:srgbClr val="006455"/>
                    </a:solidFill>
                  </a:tcPr>
                </a:tc>
                <a:tc>
                  <a:txBody>
                    <a:bodyPr/>
                    <a:lstStyle/>
                    <a:p>
                      <a:pPr algn="ctr">
                        <a:defRPr b="1" sz="900">
                          <a:solidFill>
                            <a:srgbClr val="FFFFFF"/>
                          </a:solidFill>
                          <a:latin typeface="Montserrat"/>
                        </a:defRPr>
                      </a:pPr>
                      <a:r>
                        <a:t>Arcos en C</a:t>
                      </a:r>
                    </a:p>
                  </a:txBody>
                  <a:tcPr>
                    <a:solidFill>
                      <a:srgbClr val="006455"/>
                    </a:solidFill>
                  </a:tcPr>
                </a:tc>
                <a:tc>
                  <a:txBody>
                    <a:bodyPr/>
                    <a:lstStyle/>
                    <a:p>
                      <a:pPr algn="ctr">
                        <a:defRPr b="1" sz="900">
                          <a:solidFill>
                            <a:srgbClr val="FFFFFF"/>
                          </a:solidFill>
                          <a:latin typeface="Montserrat"/>
                        </a:defRPr>
                      </a:pPr>
                      <a:r>
                        <a:t>Máquinas de Hemodiálisis</a:t>
                      </a:r>
                    </a:p>
                  </a:txBody>
                  <a:tcPr>
                    <a:solidFill>
                      <a:srgbClr val="006455"/>
                    </a:solidFill>
                  </a:tcPr>
                </a:tc>
                <a:tc>
                  <a:txBody>
                    <a:bodyPr/>
                    <a:lstStyle/>
                    <a:p>
                      <a:pPr algn="ctr">
                        <a:defRPr b="1" sz="900">
                          <a:solidFill>
                            <a:srgbClr val="FFFFFF"/>
                          </a:solidFill>
                          <a:latin typeface="Montserrat"/>
                        </a:defRPr>
                      </a:pPr>
                      <a:r>
                        <a:t>Sala de Hemodinamia</a:t>
                      </a:r>
                    </a:p>
                  </a:txBody>
                  <a:tcPr>
                    <a:solidFill>
                      <a:srgbClr val="006455"/>
                    </a:solidFill>
                  </a:tcPr>
                </a:tc>
              </a:tr>
              <a:tr h="230400">
                <a:tc>
                  <a:txBody>
                    <a:bodyPr/>
                    <a:lstStyle/>
                    <a:p>
                      <a:pPr algn="ctr">
                        <a:defRPr sz="1000">
                          <a:latin typeface="Montserrat"/>
                        </a:defRPr>
                      </a:pPr>
                      <a:r>
                        <a:t>HGZMF 7 Cuautla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a:latin typeface="Montserrat"/>
                        </a:defRPr>
                      </a:pPr>
                      <a:r>
                        <a:t>HGZMF 5 Zacatepec</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HGRMF 1 Cuernavaca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r>
              <a:tr h="230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22800" y="8949600"/>
            <a:ext cx="5320800" cy="3708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a:t>
            </a:r>
            <a:br/>
            <a:r>
              <a:t>Fuente: Cédula de actualización de variables seleccionadas del IFU, enviadas por el OOAD.</a:t>
            </a:r>
            <a:br/>
            <a:r>
              <a:t>Corte de información: enero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graphicFrame>
        <p:nvGraphicFramePr>
          <p:cNvPr id="2" name="Google Shape;164;g370e87ffe7a_2_8">
            <a:extLst>
              <a:ext uri="{FF2B5EF4-FFF2-40B4-BE49-F238E27FC236}">
                <a16:creationId xmlns:a16="http://schemas.microsoft.com/office/drawing/2014/main" id="{507FEF15-F208-7692-1DD1-CC69917AAAE9}"/>
              </a:ext>
            </a:extLst>
          </p:cNvPr>
          <p:cNvGraphicFramePr/>
          <p:nvPr>
            <p:extLst>
              <p:ext uri="{D42A27DB-BD31-4B8C-83A1-F6EECF244321}">
                <p14:modId xmlns:p14="http://schemas.microsoft.com/office/powerpoint/2010/main" val="2111448324"/>
              </p:ext>
            </p:extLst>
          </p:nvPr>
        </p:nvGraphicFramePr>
        <p:xfrm>
          <a:off x="149075" y="649350"/>
          <a:ext cx="7474250" cy="64008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 </a:t>
                      </a:r>
                    </a:p>
                    <a:p>
                      <a:pPr marL="0" marR="0" lvl="0" indent="0" algn="l" rtl="0">
                        <a:lnSpc>
                          <a:spcPct val="100000"/>
                        </a:lnSpc>
                        <a:spcBef>
                          <a:spcPts val="0"/>
                        </a:spcBef>
                        <a:spcAft>
                          <a:spcPts val="0"/>
                        </a:spcAft>
                        <a:buClr>
                          <a:srgbClr val="000000"/>
                        </a:buClr>
                        <a:buSzPts val="1100"/>
                        <a:buFont typeface="Arial"/>
                        <a:buNone/>
                      </a:pP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4" name="TextBox 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21 Unidades de Medicina Familiar</a:t>
            </a:r>
          </a:p>
        </p:txBody>
      </p:sp>
      <p:sp>
        <p:nvSpPr>
          <p:cNvPr id="5" name="TextBox 4"/>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12 Unidades Médicas de lunes a viernes</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No incluye Unidades Auxiliares de Medicina Familiar</a:t>
            </a:r>
            <a:br/>
            <a:r>
              <a:t>Corte de información: Semana 9 febrero 2026</a:t>
            </a:r>
          </a:p>
        </p:txBody>
      </p:sp>
      <p:graphicFrame>
        <p:nvGraphicFramePr>
          <p:cNvPr id="7" name="Table 6"/>
          <p:cNvGraphicFramePr>
            <a:graphicFrameLocks noGrp="1"/>
          </p:cNvGraphicFramePr>
          <p:nvPr/>
        </p:nvGraphicFramePr>
        <p:xfrm>
          <a:off x="151200" y="1378800"/>
          <a:ext cx="7290000" cy="2116800"/>
        </p:xfrm>
        <a:graphic>
          <a:graphicData uri="http://schemas.openxmlformats.org/drawingml/2006/table">
            <a:tbl>
              <a:tblPr firstRow="1" bandRow="1">
                <a:tableStyleId>{5C22544A-7EE6-4342-B048-85BDC9FD1C3A}</a:tableStyleId>
              </a:tblPr>
              <a:tblGrid>
                <a:gridCol w="2653200"/>
                <a:gridCol w="1584000"/>
                <a:gridCol w="1522800"/>
                <a:gridCol w="1530000"/>
              </a:tblGrid>
              <a:tr h="151200">
                <a:tc>
                  <a:txBody>
                    <a:bodyPr/>
                    <a:lstStyle/>
                    <a:p>
                      <a:pPr algn="ctr">
                        <a:defRPr b="1" sz="1000">
                          <a:solidFill>
                            <a:srgbClr val="FFFFFF"/>
                          </a:solidFill>
                          <a:latin typeface="Montserrat"/>
                        </a:defRPr>
                      </a:pPr>
                      <a:r>
                        <a:t>Unidad Médica</a:t>
                      </a:r>
                    </a:p>
                  </a:txBody>
                  <a:tcPr>
                    <a:solidFill>
                      <a:srgbClr val="006455"/>
                    </a:solidFill>
                  </a:tcPr>
                </a:tc>
                <a:tc>
                  <a:txBody>
                    <a:bodyPr/>
                    <a:lstStyle/>
                    <a:p>
                      <a:pPr algn="ctr">
                        <a:defRPr b="1" sz="1000">
                          <a:solidFill>
                            <a:srgbClr val="FFFFFF"/>
                          </a:solidFill>
                          <a:latin typeface="Montserrat"/>
                        </a:defRPr>
                      </a:pPr>
                      <a:r>
                        <a:t>Antigüedad</a:t>
                      </a:r>
                    </a:p>
                  </a:txBody>
                  <a:tcPr>
                    <a:solidFill>
                      <a:srgbClr val="006455"/>
                    </a:solidFill>
                  </a:tcPr>
                </a:tc>
                <a:tc>
                  <a:txBody>
                    <a:bodyPr/>
                    <a:lstStyle/>
                    <a:p>
                      <a:pPr algn="ctr">
                        <a:defRPr b="1" sz="1000">
                          <a:solidFill>
                            <a:srgbClr val="FFFFFF"/>
                          </a:solidFill>
                          <a:latin typeface="Montserrat"/>
                        </a:defRPr>
                      </a:pPr>
                      <a:r>
                        <a:t>Consultorios de Medicina Familiar</a:t>
                      </a:r>
                    </a:p>
                  </a:txBody>
                  <a:tcPr>
                    <a:solidFill>
                      <a:srgbClr val="006455"/>
                    </a:solidFill>
                  </a:tcPr>
                </a:tc>
                <a:tc>
                  <a:txBody>
                    <a:bodyPr/>
                    <a:lstStyle/>
                    <a:p>
                      <a:pPr algn="ctr">
                        <a:defRPr b="1" sz="1000">
                          <a:solidFill>
                            <a:srgbClr val="FFFFFF"/>
                          </a:solidFill>
                          <a:latin typeface="Montserrat"/>
                        </a:defRPr>
                      </a:pPr>
                      <a:r>
                        <a:t>Productividad a febrero</a:t>
                      </a:r>
                    </a:p>
                  </a:txBody>
                  <a:tcPr>
                    <a:solidFill>
                      <a:srgbClr val="006455"/>
                    </a:solidFill>
                  </a:tcPr>
                </a:tc>
              </a:tr>
              <a:tr h="151200">
                <a:tc>
                  <a:txBody>
                    <a:bodyPr/>
                    <a:lstStyle/>
                    <a:p>
                      <a:pPr algn="ctr">
                        <a:defRPr sz="1000">
                          <a:latin typeface="Montserrat"/>
                        </a:defRPr>
                      </a:pPr>
                      <a:r>
                        <a:t>UMF 9 Tlaltizapán</a:t>
                      </a:r>
                    </a:p>
                  </a:txBody>
                  <a:tcPr marL="0" marR="0" marT="0" marB="0">
                    <a:solidFill>
                      <a:srgbClr val="FFFFFF"/>
                    </a:solidFill>
                  </a:tcPr>
                </a:tc>
                <a:tc>
                  <a:txBody>
                    <a:bodyPr/>
                    <a:lstStyle/>
                    <a:p>
                      <a:pPr algn="ctr">
                        <a:defRPr sz="1000">
                          <a:latin typeface="Montserrat"/>
                        </a:defRPr>
                      </a:pPr>
                      <a:r>
                        <a:t>41</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2,302</a:t>
                      </a:r>
                    </a:p>
                  </a:txBody>
                  <a:tcPr marL="0" marR="0" marT="0" marB="0">
                    <a:solidFill>
                      <a:srgbClr val="FFFFFF"/>
                    </a:solidFill>
                  </a:tcPr>
                </a:tc>
              </a:tr>
              <a:tr h="151200">
                <a:tc>
                  <a:txBody>
                    <a:bodyPr/>
                    <a:lstStyle/>
                    <a:p>
                      <a:pPr algn="ctr">
                        <a:defRPr sz="1000">
                          <a:latin typeface="Montserrat"/>
                        </a:defRPr>
                      </a:pPr>
                      <a:r>
                        <a:t>UMF 24 Yecapixtla</a:t>
                      </a:r>
                    </a:p>
                  </a:txBody>
                  <a:tcPr marL="0" marR="0" marT="0" marB="0">
                    <a:solidFill>
                      <a:srgbClr val="EFEFEF"/>
                    </a:solidFill>
                  </a:tcPr>
                </a:tc>
                <a:tc>
                  <a:txBody>
                    <a:bodyPr/>
                    <a:lstStyle/>
                    <a:p>
                      <a:pPr algn="ctr">
                        <a:defRPr sz="1000">
                          <a:latin typeface="Montserrat"/>
                        </a:defRPr>
                      </a:pPr>
                      <a:r>
                        <a:t>17</a:t>
                      </a:r>
                    </a:p>
                  </a:txBody>
                  <a:tcPr marL="0" marR="0" marT="0" marB="0">
                    <a:solidFill>
                      <a:srgbClr val="EFEFEF"/>
                    </a:solidFill>
                  </a:tcPr>
                </a:tc>
                <a:tc>
                  <a:txBody>
                    <a:bodyPr/>
                    <a:lstStyle/>
                    <a:p>
                      <a:pPr algn="ctr">
                        <a:defRPr sz="1000">
                          <a:latin typeface="Montserrat"/>
                        </a:defRPr>
                      </a:pPr>
                      <a:r>
                        <a:t>5</a:t>
                      </a:r>
                    </a:p>
                  </a:txBody>
                  <a:tcPr marL="0" marR="0" marT="0" marB="0">
                    <a:solidFill>
                      <a:srgbClr val="EFEFEF"/>
                    </a:solidFill>
                  </a:tcPr>
                </a:tc>
                <a:tc>
                  <a:txBody>
                    <a:bodyPr/>
                    <a:lstStyle/>
                    <a:p>
                      <a:pPr algn="ctr">
                        <a:defRPr sz="1000">
                          <a:latin typeface="Montserrat"/>
                        </a:defRPr>
                      </a:pPr>
                      <a:r>
                        <a:t>7,171</a:t>
                      </a:r>
                    </a:p>
                  </a:txBody>
                  <a:tcPr marL="0" marR="0" marT="0" marB="0">
                    <a:solidFill>
                      <a:srgbClr val="EFEFEF"/>
                    </a:solidFill>
                  </a:tcPr>
                </a:tc>
              </a:tr>
              <a:tr h="151200">
                <a:tc>
                  <a:txBody>
                    <a:bodyPr/>
                    <a:lstStyle/>
                    <a:p>
                      <a:pPr algn="ctr">
                        <a:defRPr sz="1000">
                          <a:latin typeface="Montserrat"/>
                        </a:defRPr>
                      </a:pPr>
                      <a:r>
                        <a:t>UMF 22 Tepalcingo</a:t>
                      </a:r>
                    </a:p>
                  </a:txBody>
                  <a:tcPr marL="0" marR="0" marT="0" marB="0">
                    <a:solidFill>
                      <a:srgbClr val="FFFFFF"/>
                    </a:solidFill>
                  </a:tcPr>
                </a:tc>
                <a:tc>
                  <a:txBody>
                    <a:bodyPr/>
                    <a:lstStyle/>
                    <a:p>
                      <a:pPr algn="ctr">
                        <a:defRPr sz="1000">
                          <a:latin typeface="Montserrat"/>
                        </a:defRPr>
                      </a:pPr>
                      <a:r>
                        <a:t>41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731</a:t>
                      </a:r>
                    </a:p>
                  </a:txBody>
                  <a:tcPr marL="0" marR="0" marT="0" marB="0">
                    <a:solidFill>
                      <a:srgbClr val="FFFFFF"/>
                    </a:solidFill>
                  </a:tcPr>
                </a:tc>
              </a:tr>
              <a:tr h="151200">
                <a:tc>
                  <a:txBody>
                    <a:bodyPr/>
                    <a:lstStyle/>
                    <a:p>
                      <a:pPr algn="ctr">
                        <a:defRPr sz="1000">
                          <a:latin typeface="Montserrat"/>
                        </a:defRPr>
                      </a:pPr>
                      <a:r>
                        <a:t>UMF 21 Jantetelco</a:t>
                      </a:r>
                    </a:p>
                  </a:txBody>
                  <a:tcPr marL="0" marR="0" marT="0" marB="0">
                    <a:solidFill>
                      <a:srgbClr val="EFEFEF"/>
                    </a:solidFill>
                  </a:tcPr>
                </a:tc>
                <a:tc>
                  <a:txBody>
                    <a:bodyPr/>
                    <a:lstStyle/>
                    <a:p>
                      <a:pPr algn="ctr">
                        <a:defRPr sz="1000">
                          <a:latin typeface="Montserrat"/>
                        </a:defRPr>
                      </a:pPr>
                      <a:r>
                        <a:t>41</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1,020</a:t>
                      </a:r>
                    </a:p>
                  </a:txBody>
                  <a:tcPr marL="0" marR="0" marT="0" marB="0">
                    <a:solidFill>
                      <a:srgbClr val="EFEFEF"/>
                    </a:solidFill>
                  </a:tcPr>
                </a:tc>
              </a:tr>
              <a:tr h="151200">
                <a:tc>
                  <a:txBody>
                    <a:bodyPr/>
                    <a:lstStyle/>
                    <a:p>
                      <a:pPr algn="ctr">
                        <a:defRPr sz="1000">
                          <a:latin typeface="Montserrat"/>
                        </a:defRPr>
                      </a:pPr>
                      <a:r>
                        <a:t>UMF 19 Tepoztlán</a:t>
                      </a:r>
                    </a:p>
                  </a:txBody>
                  <a:tcPr marL="0" marR="0" marT="0" marB="0">
                    <a:solidFill>
                      <a:srgbClr val="FFFFFF"/>
                    </a:solidFill>
                  </a:tcPr>
                </a:tc>
                <a:tc>
                  <a:txBody>
                    <a:bodyPr/>
                    <a:lstStyle/>
                    <a:p>
                      <a:pPr algn="ctr">
                        <a:defRPr sz="1000">
                          <a:latin typeface="Montserrat"/>
                        </a:defRPr>
                      </a:pPr>
                      <a:r>
                        <a:t>54</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1,047</a:t>
                      </a:r>
                    </a:p>
                  </a:txBody>
                  <a:tcPr marL="0" marR="0" marT="0" marB="0">
                    <a:solidFill>
                      <a:srgbClr val="FFFFFF"/>
                    </a:solidFill>
                  </a:tcPr>
                </a:tc>
              </a:tr>
              <a:tr h="151200">
                <a:tc>
                  <a:txBody>
                    <a:bodyPr/>
                    <a:lstStyle/>
                    <a:p>
                      <a:pPr algn="ctr">
                        <a:defRPr sz="1000">
                          <a:latin typeface="Montserrat"/>
                        </a:defRPr>
                      </a:pPr>
                      <a:r>
                        <a:t>UMF 17 Tezoyuca</a:t>
                      </a:r>
                    </a:p>
                  </a:txBody>
                  <a:tcPr marL="0" marR="0" marT="0" marB="0">
                    <a:solidFill>
                      <a:srgbClr val="EFEFEF"/>
                    </a:solidFill>
                  </a:tcPr>
                </a:tc>
                <a:tc>
                  <a:txBody>
                    <a:bodyPr/>
                    <a:lstStyle/>
                    <a:p>
                      <a:pPr algn="ctr">
                        <a:defRPr sz="1000">
                          <a:latin typeface="Montserrat"/>
                        </a:defRPr>
                      </a:pPr>
                      <a:r>
                        <a:t>41</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1,183</a:t>
                      </a:r>
                    </a:p>
                  </a:txBody>
                  <a:tcPr marL="0" marR="0" marT="0" marB="0">
                    <a:solidFill>
                      <a:srgbClr val="EFEFEF"/>
                    </a:solidFill>
                  </a:tcPr>
                </a:tc>
              </a:tr>
              <a:tr h="151200">
                <a:tc>
                  <a:txBody>
                    <a:bodyPr/>
                    <a:lstStyle/>
                    <a:p>
                      <a:pPr algn="ctr">
                        <a:defRPr sz="1000">
                          <a:latin typeface="Montserrat"/>
                        </a:defRPr>
                      </a:pPr>
                      <a:r>
                        <a:t>UMF 16 Temixco</a:t>
                      </a:r>
                    </a:p>
                  </a:txBody>
                  <a:tcPr marL="0" marR="0" marT="0" marB="0">
                    <a:solidFill>
                      <a:srgbClr val="FFFFFF"/>
                    </a:solidFill>
                  </a:tcPr>
                </a:tc>
                <a:tc>
                  <a:txBody>
                    <a:bodyPr/>
                    <a:lstStyle/>
                    <a:p>
                      <a:pPr algn="ctr">
                        <a:defRPr sz="1000">
                          <a:latin typeface="Montserrat"/>
                        </a:defRPr>
                      </a:pPr>
                      <a:r>
                        <a:t>41</a:t>
                      </a:r>
                    </a:p>
                  </a:txBody>
                  <a:tcPr marL="0" marR="0" marT="0" marB="0">
                    <a:solidFill>
                      <a:srgbClr val="FFFFFF"/>
                    </a:solidFill>
                  </a:tcPr>
                </a:tc>
                <a:tc>
                  <a:txBody>
                    <a:bodyPr/>
                    <a:lstStyle/>
                    <a:p>
                      <a:pPr algn="ctr">
                        <a:defRPr sz="1000">
                          <a:latin typeface="Montserrat"/>
                        </a:defRPr>
                      </a:pPr>
                      <a:r>
                        <a:t>5</a:t>
                      </a:r>
                    </a:p>
                  </a:txBody>
                  <a:tcPr marL="0" marR="0" marT="0" marB="0">
                    <a:solidFill>
                      <a:srgbClr val="FFFFFF"/>
                    </a:solidFill>
                  </a:tcPr>
                </a:tc>
                <a:tc>
                  <a:txBody>
                    <a:bodyPr/>
                    <a:lstStyle/>
                    <a:p>
                      <a:pPr algn="ctr">
                        <a:defRPr sz="1000">
                          <a:latin typeface="Montserrat"/>
                        </a:defRPr>
                      </a:pPr>
                      <a:r>
                        <a:t>5,532</a:t>
                      </a:r>
                    </a:p>
                  </a:txBody>
                  <a:tcPr marL="0" marR="0" marT="0" marB="0">
                    <a:solidFill>
                      <a:srgbClr val="FFFFFF"/>
                    </a:solidFill>
                  </a:tcPr>
                </a:tc>
              </a:tr>
              <a:tr h="151200">
                <a:tc>
                  <a:txBody>
                    <a:bodyPr/>
                    <a:lstStyle/>
                    <a:p>
                      <a:pPr algn="ctr">
                        <a:defRPr sz="1000">
                          <a:latin typeface="Montserrat"/>
                        </a:defRPr>
                      </a:pPr>
                      <a:r>
                        <a:t>UMF 15 Casasano</a:t>
                      </a:r>
                    </a:p>
                  </a:txBody>
                  <a:tcPr marL="0" marR="0" marT="0" marB="0">
                    <a:solidFill>
                      <a:srgbClr val="EFEFEF"/>
                    </a:solidFill>
                  </a:tcPr>
                </a:tc>
                <a:tc>
                  <a:txBody>
                    <a:bodyPr/>
                    <a:lstStyle/>
                    <a:p>
                      <a:pPr algn="ctr">
                        <a:defRPr sz="1000">
                          <a:latin typeface="Montserrat"/>
                        </a:defRPr>
                      </a:pPr>
                      <a:r>
                        <a:t>41</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1,180</a:t>
                      </a:r>
                    </a:p>
                  </a:txBody>
                  <a:tcPr marL="0" marR="0" marT="0" marB="0">
                    <a:solidFill>
                      <a:srgbClr val="EFEFEF"/>
                    </a:solidFill>
                  </a:tcPr>
                </a:tc>
              </a:tr>
              <a:tr h="151200">
                <a:tc>
                  <a:txBody>
                    <a:bodyPr/>
                    <a:lstStyle/>
                    <a:p>
                      <a:pPr algn="ctr">
                        <a:defRPr sz="1000">
                          <a:latin typeface="Montserrat"/>
                        </a:defRPr>
                      </a:pPr>
                      <a:r>
                        <a:t>UMF 14 Oacalco</a:t>
                      </a:r>
                    </a:p>
                  </a:txBody>
                  <a:tcPr marL="0" marR="0" marT="0" marB="0">
                    <a:solidFill>
                      <a:srgbClr val="FFFFFF"/>
                    </a:solidFill>
                  </a:tcPr>
                </a:tc>
                <a:tc>
                  <a:txBody>
                    <a:bodyPr/>
                    <a:lstStyle/>
                    <a:p>
                      <a:pPr algn="ctr">
                        <a:defRPr sz="1000">
                          <a:latin typeface="Montserrat"/>
                        </a:defRPr>
                      </a:pPr>
                      <a:r>
                        <a:t>52</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802</a:t>
                      </a:r>
                    </a:p>
                  </a:txBody>
                  <a:tcPr marL="0" marR="0" marT="0" marB="0">
                    <a:solidFill>
                      <a:srgbClr val="FFFFFF"/>
                    </a:solidFill>
                  </a:tcPr>
                </a:tc>
              </a:tr>
              <a:tr h="151200">
                <a:tc>
                  <a:txBody>
                    <a:bodyPr/>
                    <a:lstStyle/>
                    <a:p>
                      <a:pPr algn="ctr">
                        <a:defRPr sz="1000">
                          <a:latin typeface="Montserrat"/>
                        </a:defRPr>
                      </a:pPr>
                      <a:r>
                        <a:t>UMF 13 Miacatlán</a:t>
                      </a:r>
                    </a:p>
                  </a:txBody>
                  <a:tcPr marL="0" marR="0" marT="0" marB="0">
                    <a:solidFill>
                      <a:srgbClr val="EFEFEF"/>
                    </a:solidFill>
                  </a:tcPr>
                </a:tc>
                <a:tc>
                  <a:txBody>
                    <a:bodyPr/>
                    <a:lstStyle/>
                    <a:p>
                      <a:pPr algn="ctr">
                        <a:defRPr sz="1000">
                          <a:latin typeface="Montserrat"/>
                        </a:defRPr>
                      </a:pPr>
                      <a:r>
                        <a:t>41</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1,125</a:t>
                      </a:r>
                    </a:p>
                  </a:txBody>
                  <a:tcPr marL="0" marR="0" marT="0" marB="0">
                    <a:solidFill>
                      <a:srgbClr val="EFEFEF"/>
                    </a:solidFill>
                  </a:tcPr>
                </a:tc>
              </a:tr>
              <a:tr h="151200">
                <a:tc>
                  <a:txBody>
                    <a:bodyPr/>
                    <a:lstStyle/>
                    <a:p>
                      <a:pPr algn="ctr">
                        <a:defRPr sz="1000">
                          <a:latin typeface="Montserrat"/>
                        </a:defRPr>
                      </a:pPr>
                      <a:r>
                        <a:t>UMF 11 Tlaquiltenango</a:t>
                      </a:r>
                    </a:p>
                  </a:txBody>
                  <a:tcPr marL="0" marR="0" marT="0" marB="0">
                    <a:solidFill>
                      <a:srgbClr val="FFFFFF"/>
                    </a:solidFill>
                  </a:tcPr>
                </a:tc>
                <a:tc>
                  <a:txBody>
                    <a:bodyPr/>
                    <a:lstStyle/>
                    <a:p>
                      <a:pPr algn="ctr">
                        <a:defRPr sz="1000">
                          <a:latin typeface="Montserrat"/>
                        </a:defRPr>
                      </a:pPr>
                      <a:r>
                        <a:t>41</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2,527</a:t>
                      </a:r>
                    </a:p>
                  </a:txBody>
                  <a:tcPr marL="0" marR="0" marT="0" marB="0">
                    <a:solidFill>
                      <a:srgbClr val="FFFFFF"/>
                    </a:solidFill>
                  </a:tcPr>
                </a:tc>
              </a:tr>
              <a:tr h="151200">
                <a:tc>
                  <a:txBody>
                    <a:bodyPr/>
                    <a:lstStyle/>
                    <a:p>
                      <a:pPr algn="ctr">
                        <a:defRPr sz="1000">
                          <a:latin typeface="Montserrat"/>
                        </a:defRPr>
                      </a:pPr>
                      <a:r>
                        <a:t>UMF 10 Chinameca</a:t>
                      </a:r>
                    </a:p>
                  </a:txBody>
                  <a:tcPr marL="0" marR="0" marT="0" marB="0">
                    <a:solidFill>
                      <a:srgbClr val="EFEFEF"/>
                    </a:solidFill>
                  </a:tcPr>
                </a:tc>
                <a:tc>
                  <a:txBody>
                    <a:bodyPr/>
                    <a:lstStyle/>
                    <a:p>
                      <a:pPr algn="ctr">
                        <a:defRPr sz="1000">
                          <a:latin typeface="Montserrat"/>
                        </a:defRPr>
                      </a:pPr>
                      <a:r>
                        <a:t>37</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548</a:t>
                      </a:r>
                    </a:p>
                  </a:txBody>
                  <a:tcPr marL="0" marR="0" marT="0" marB="0">
                    <a:solidFill>
                      <a:srgbClr val="EFEFEF"/>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41.0</a:t>
                      </a:r>
                    </a:p>
                  </a:txBody>
                  <a:tcPr marL="0" marR="0" marT="0" marB="0">
                    <a:solidFill>
                      <a:srgbClr val="D3E9E7"/>
                    </a:solidFill>
                  </a:tcPr>
                </a:tc>
                <a:tc>
                  <a:txBody>
                    <a:bodyPr/>
                    <a:lstStyle/>
                    <a:p>
                      <a:pPr algn="ctr">
                        <a:defRPr sz="1000" b="1">
                          <a:solidFill>
                            <a:srgbClr val="006556"/>
                          </a:solidFill>
                          <a:latin typeface="Montserrat"/>
                        </a:defRPr>
                      </a:pPr>
                      <a:r>
                        <a:t>22</a:t>
                      </a:r>
                    </a:p>
                  </a:txBody>
                  <a:tcPr marL="0" marR="0" marT="0" marB="0">
                    <a:solidFill>
                      <a:srgbClr val="D3E9E7"/>
                    </a:solidFill>
                  </a:tcPr>
                </a:tc>
                <a:tc>
                  <a:txBody>
                    <a:bodyPr/>
                    <a:lstStyle/>
                    <a:p>
                      <a:pPr algn="ctr">
                        <a:defRPr sz="1000" b="1">
                          <a:solidFill>
                            <a:srgbClr val="006556"/>
                          </a:solidFill>
                          <a:latin typeface="Montserrat"/>
                        </a:defRPr>
                      </a:pPr>
                      <a:r>
                        <a:t>25,168</a:t>
                      </a:r>
                    </a:p>
                  </a:txBody>
                  <a:tcPr marL="0" marR="0" marT="0" marB="0">
                    <a:solidFill>
                      <a:srgbClr val="D3E9E7"/>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graphicFrame>
        <p:nvGraphicFramePr>
          <p:cNvPr id="172" name="Google Shape;172;g374dacdbb20_1_49"/>
          <p:cNvGraphicFramePr/>
          <p:nvPr>
            <p:extLst>
              <p:ext uri="{D42A27DB-BD31-4B8C-83A1-F6EECF244321}">
                <p14:modId xmlns:p14="http://schemas.microsoft.com/office/powerpoint/2010/main" val="2424095382"/>
              </p:ext>
            </p:extLst>
          </p:nvPr>
        </p:nvGraphicFramePr>
        <p:xfrm>
          <a:off x="149075" y="703350"/>
          <a:ext cx="7474250" cy="64008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700"/>
                        <a:buFont typeface="Arial"/>
                        <a:buNone/>
                      </a:pPr>
                      <a:endParaRPr lang="es-MX" sz="2100" b="1" u="none" strike="noStrike" cap="none" dirty="0">
                        <a:solidFill>
                          <a:srgbClr val="BC955C"/>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700"/>
                        <a:buFont typeface="Arial"/>
                        <a:buNone/>
                      </a:pP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73" name="TextBox 17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174" name="TextBox 17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21 Unidades de Medicina Familiar</a:t>
            </a:r>
          </a:p>
        </p:txBody>
      </p:sp>
      <p:sp>
        <p:nvSpPr>
          <p:cNvPr id="175" name="TextBox 174"/>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9 Unidades Médicas de tiempo completo</a:t>
            </a:r>
          </a:p>
        </p:txBody>
      </p:sp>
      <p:sp>
        <p:nvSpPr>
          <p:cNvPr id="176" name="TextBox 17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No incluye Unidades Auxiliares de Medicina Familiar</a:t>
            </a:r>
            <a:br/>
            <a:r>
              <a:t>Corte de información: Semana 9 febrero 2026</a:t>
            </a:r>
          </a:p>
        </p:txBody>
      </p:sp>
      <p:graphicFrame>
        <p:nvGraphicFramePr>
          <p:cNvPr id="177" name="Table 176"/>
          <p:cNvGraphicFramePr>
            <a:graphicFrameLocks noGrp="1"/>
          </p:cNvGraphicFramePr>
          <p:nvPr/>
        </p:nvGraphicFramePr>
        <p:xfrm>
          <a:off x="151200" y="1378800"/>
          <a:ext cx="7473600" cy="1663200"/>
        </p:xfrm>
        <a:graphic>
          <a:graphicData uri="http://schemas.openxmlformats.org/drawingml/2006/table">
            <a:tbl>
              <a:tblPr firstRow="1" bandRow="1">
                <a:tableStyleId>{5C22544A-7EE6-4342-B048-85BDC9FD1C3A}</a:tableStyleId>
              </a:tblPr>
              <a:tblGrid>
                <a:gridCol w="2289600"/>
                <a:gridCol w="1285200"/>
                <a:gridCol w="1411200"/>
                <a:gridCol w="1018800"/>
                <a:gridCol w="1468800"/>
              </a:tblGrid>
              <a:tr h="151200">
                <a:tc>
                  <a:txBody>
                    <a:bodyPr/>
                    <a:lstStyle/>
                    <a:p>
                      <a:pPr algn="ctr">
                        <a:defRPr b="1" sz="1000">
                          <a:solidFill>
                            <a:srgbClr val="FFFFFF"/>
                          </a:solidFill>
                          <a:latin typeface="Montserrat"/>
                        </a:defRPr>
                      </a:pPr>
                      <a:r>
                        <a:t>Unidad Médica</a:t>
                      </a:r>
                    </a:p>
                  </a:txBody>
                  <a:tcPr>
                    <a:solidFill>
                      <a:srgbClr val="006455"/>
                    </a:solidFill>
                  </a:tcPr>
                </a:tc>
                <a:tc>
                  <a:txBody>
                    <a:bodyPr/>
                    <a:lstStyle/>
                    <a:p>
                      <a:pPr algn="ctr">
                        <a:defRPr b="1" sz="1000">
                          <a:solidFill>
                            <a:srgbClr val="FFFFFF"/>
                          </a:solidFill>
                          <a:latin typeface="Montserrat"/>
                        </a:defRPr>
                      </a:pPr>
                      <a:r>
                        <a:t>Antigüedad</a:t>
                      </a:r>
                    </a:p>
                  </a:txBody>
                  <a:tcPr>
                    <a:solidFill>
                      <a:srgbClr val="006455"/>
                    </a:solidFill>
                  </a:tcPr>
                </a:tc>
                <a:tc>
                  <a:txBody>
                    <a:bodyPr/>
                    <a:lstStyle/>
                    <a:p>
                      <a:pPr algn="ctr">
                        <a:defRPr b="1" sz="1000">
                          <a:solidFill>
                            <a:srgbClr val="FFFFFF"/>
                          </a:solidFill>
                          <a:latin typeface="Montserrat"/>
                        </a:defRPr>
                      </a:pPr>
                      <a:r>
                        <a:t>Consultorios de Medicina Familiar</a:t>
                      </a:r>
                    </a:p>
                  </a:txBody>
                  <a:tcPr>
                    <a:solidFill>
                      <a:srgbClr val="006455"/>
                    </a:solidFill>
                  </a:tcPr>
                </a:tc>
                <a:tc>
                  <a:txBody>
                    <a:bodyPr/>
                    <a:lstStyle/>
                    <a:p>
                      <a:pPr algn="ctr">
                        <a:defRPr b="1" sz="1000">
                          <a:solidFill>
                            <a:srgbClr val="FFFFFF"/>
                          </a:solidFill>
                          <a:latin typeface="Montserrat"/>
                        </a:defRPr>
                      </a:pPr>
                      <a:r>
                        <a:t>Consultorios de TC</a:t>
                      </a:r>
                    </a:p>
                  </a:txBody>
                  <a:tcPr>
                    <a:solidFill>
                      <a:srgbClr val="006455"/>
                    </a:solidFill>
                  </a:tcPr>
                </a:tc>
                <a:tc>
                  <a:txBody>
                    <a:bodyPr/>
                    <a:lstStyle/>
                    <a:p>
                      <a:pPr algn="ctr">
                        <a:defRPr b="1" sz="1000">
                          <a:solidFill>
                            <a:srgbClr val="FFFFFF"/>
                          </a:solidFill>
                          <a:latin typeface="Montserrat"/>
                        </a:defRPr>
                      </a:pPr>
                      <a:r>
                        <a:t>Productividad a febrero</a:t>
                      </a:r>
                    </a:p>
                  </a:txBody>
                  <a:tcPr>
                    <a:solidFill>
                      <a:srgbClr val="006455"/>
                    </a:solidFill>
                  </a:tcPr>
                </a:tc>
              </a:tr>
              <a:tr h="151200">
                <a:tc>
                  <a:txBody>
                    <a:bodyPr/>
                    <a:lstStyle/>
                    <a:p>
                      <a:pPr algn="ctr">
                        <a:defRPr sz="1000">
                          <a:latin typeface="Montserrat"/>
                        </a:defRPr>
                      </a:pPr>
                      <a:r>
                        <a:t>UMF 8 Villa Ayala</a:t>
                      </a:r>
                    </a:p>
                  </a:txBody>
                  <a:tcPr marL="0" marR="0" marT="0" marB="0">
                    <a:solidFill>
                      <a:srgbClr val="FFFFFF"/>
                    </a:solidFill>
                  </a:tcPr>
                </a:tc>
                <a:tc>
                  <a:txBody>
                    <a:bodyPr/>
                    <a:lstStyle/>
                    <a:p>
                      <a:pPr algn="ctr">
                        <a:defRPr sz="1000">
                          <a:latin typeface="Montserrat"/>
                        </a:defRPr>
                      </a:pPr>
                      <a:r>
                        <a:t>51</a:t>
                      </a:r>
                    </a:p>
                  </a:txBody>
                  <a:tcPr marL="0" marR="0" marT="0" marB="0">
                    <a:solidFill>
                      <a:srgbClr val="FFFFFF"/>
                    </a:solidFill>
                  </a:tcPr>
                </a:tc>
                <a:tc>
                  <a:txBody>
                    <a:bodyPr/>
                    <a:lstStyle/>
                    <a:p>
                      <a:pPr algn="ctr">
                        <a:defRPr sz="1000">
                          <a:latin typeface="Montserrat"/>
                        </a:defRPr>
                      </a:pPr>
                      <a:r>
                        <a:t>5</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9,333</a:t>
                      </a:r>
                    </a:p>
                  </a:txBody>
                  <a:tcPr marL="0" marR="0" marT="0" marB="0">
                    <a:solidFill>
                      <a:srgbClr val="FFFFFF"/>
                    </a:solidFill>
                  </a:tcPr>
                </a:tc>
              </a:tr>
              <a:tr h="151200">
                <a:tc>
                  <a:txBody>
                    <a:bodyPr/>
                    <a:lstStyle/>
                    <a:p>
                      <a:pPr algn="ctr">
                        <a:defRPr sz="1000">
                          <a:latin typeface="Montserrat"/>
                        </a:defRPr>
                      </a:pPr>
                      <a:r>
                        <a:t>UMF 2 Xochitepec</a:t>
                      </a:r>
                    </a:p>
                  </a:txBody>
                  <a:tcPr marL="0" marR="0" marT="0" marB="0">
                    <a:solidFill>
                      <a:srgbClr val="EFEFEF"/>
                    </a:solidFill>
                  </a:tcPr>
                </a:tc>
                <a:tc>
                  <a:txBody>
                    <a:bodyPr/>
                    <a:lstStyle/>
                    <a:p>
                      <a:pPr algn="ctr">
                        <a:defRPr sz="1000">
                          <a:latin typeface="Montserrat"/>
                        </a:defRPr>
                      </a:pPr>
                      <a:r>
                        <a:t>41</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5,503</a:t>
                      </a:r>
                    </a:p>
                  </a:txBody>
                  <a:tcPr marL="0" marR="0" marT="0" marB="0">
                    <a:solidFill>
                      <a:srgbClr val="EFEFEF"/>
                    </a:solidFill>
                  </a:tcPr>
                </a:tc>
              </a:tr>
              <a:tr h="151200">
                <a:tc>
                  <a:txBody>
                    <a:bodyPr/>
                    <a:lstStyle/>
                    <a:p>
                      <a:pPr algn="ctr">
                        <a:defRPr sz="1000">
                          <a:latin typeface="Montserrat"/>
                        </a:defRPr>
                      </a:pPr>
                      <a:r>
                        <a:t>UMF 20 Cuernavaca</a:t>
                      </a:r>
                    </a:p>
                  </a:txBody>
                  <a:tcPr marL="0" marR="0" marT="0" marB="0">
                    <a:solidFill>
                      <a:srgbClr val="FFFFFF"/>
                    </a:solidFill>
                  </a:tcPr>
                </a:tc>
                <a:tc>
                  <a:txBody>
                    <a:bodyPr/>
                    <a:lstStyle/>
                    <a:p>
                      <a:pPr algn="ctr">
                        <a:defRPr sz="1000">
                          <a:latin typeface="Montserrat"/>
                        </a:defRPr>
                      </a:pPr>
                      <a:r>
                        <a:t>41</a:t>
                      </a:r>
                    </a:p>
                  </a:txBody>
                  <a:tcPr marL="0" marR="0" marT="0" marB="0">
                    <a:solidFill>
                      <a:srgbClr val="FFFFFF"/>
                    </a:solidFill>
                  </a:tcPr>
                </a:tc>
                <a:tc>
                  <a:txBody>
                    <a:bodyPr/>
                    <a:lstStyle/>
                    <a:p>
                      <a:pPr algn="ctr">
                        <a:defRPr sz="1000">
                          <a:latin typeface="Montserrat"/>
                        </a:defRPr>
                      </a:pPr>
                      <a:r>
                        <a:t>21</a:t>
                      </a:r>
                    </a:p>
                  </a:txBody>
                  <a:tcPr marL="0" marR="0" marT="0" marB="0">
                    <a:solidFill>
                      <a:srgbClr val="FFFFFF"/>
                    </a:solidFill>
                  </a:tcPr>
                </a:tc>
                <a:tc>
                  <a:txBody>
                    <a:bodyPr/>
                    <a:lstStyle/>
                    <a:p>
                      <a:pPr algn="ctr">
                        <a:defRPr sz="1000">
                          <a:latin typeface="Montserrat"/>
                        </a:defRPr>
                      </a:pPr>
                      <a:r>
                        <a:t>5</a:t>
                      </a:r>
                    </a:p>
                  </a:txBody>
                  <a:tcPr marL="0" marR="0" marT="0" marB="0">
                    <a:solidFill>
                      <a:srgbClr val="FFFFFF"/>
                    </a:solidFill>
                  </a:tcPr>
                </a:tc>
                <a:tc>
                  <a:txBody>
                    <a:bodyPr/>
                    <a:lstStyle/>
                    <a:p>
                      <a:pPr algn="ctr">
                        <a:defRPr sz="1000">
                          <a:latin typeface="Montserrat"/>
                        </a:defRPr>
                      </a:pPr>
                      <a:r>
                        <a:t>47,710</a:t>
                      </a:r>
                    </a:p>
                  </a:txBody>
                  <a:tcPr marL="0" marR="0" marT="0" marB="0">
                    <a:solidFill>
                      <a:srgbClr val="FFFFFF"/>
                    </a:solidFill>
                  </a:tcPr>
                </a:tc>
              </a:tr>
              <a:tr h="151200">
                <a:tc>
                  <a:txBody>
                    <a:bodyPr/>
                    <a:lstStyle/>
                    <a:p>
                      <a:pPr algn="ctr">
                        <a:defRPr sz="1000">
                          <a:latin typeface="Montserrat"/>
                        </a:defRPr>
                      </a:pPr>
                      <a:r>
                        <a:t>UMF 4 Jojutla</a:t>
                      </a:r>
                    </a:p>
                  </a:txBody>
                  <a:tcPr marL="0" marR="0" marT="0" marB="0">
                    <a:solidFill>
                      <a:srgbClr val="EFEFEF"/>
                    </a:solidFill>
                  </a:tcPr>
                </a:tc>
                <a:tc>
                  <a:txBody>
                    <a:bodyPr/>
                    <a:lstStyle/>
                    <a:p>
                      <a:pPr algn="ctr">
                        <a:defRPr sz="1000">
                          <a:latin typeface="Montserrat"/>
                        </a:defRPr>
                      </a:pPr>
                      <a:r>
                        <a:t>41</a:t>
                      </a:r>
                    </a:p>
                  </a:txBody>
                  <a:tcPr marL="0" marR="0" marT="0" marB="0">
                    <a:solidFill>
                      <a:srgbClr val="EFEFEF"/>
                    </a:solidFill>
                  </a:tcPr>
                </a:tc>
                <a:tc>
                  <a:txBody>
                    <a:bodyPr/>
                    <a:lstStyle/>
                    <a:p>
                      <a:pPr algn="ctr">
                        <a:defRPr sz="1000">
                          <a:latin typeface="Montserrat"/>
                        </a:defRPr>
                      </a:pPr>
                      <a:r>
                        <a:t>4</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8,131</a:t>
                      </a:r>
                    </a:p>
                  </a:txBody>
                  <a:tcPr marL="0" marR="0" marT="0" marB="0">
                    <a:solidFill>
                      <a:srgbClr val="EFEFEF"/>
                    </a:solidFill>
                  </a:tcPr>
                </a:tc>
              </a:tr>
              <a:tr h="151200">
                <a:tc>
                  <a:txBody>
                    <a:bodyPr/>
                    <a:lstStyle/>
                    <a:p>
                      <a:pPr algn="ctr">
                        <a:defRPr sz="1000">
                          <a:latin typeface="Montserrat"/>
                        </a:defRPr>
                      </a:pPr>
                      <a:r>
                        <a:t>UMF 3 Jiutepec</a:t>
                      </a:r>
                    </a:p>
                  </a:txBody>
                  <a:tcPr marL="0" marR="0" marT="0" marB="0">
                    <a:solidFill>
                      <a:srgbClr val="FFFFFF"/>
                    </a:solidFill>
                  </a:tcPr>
                </a:tc>
                <a:tc>
                  <a:txBody>
                    <a:bodyPr/>
                    <a:lstStyle/>
                    <a:p>
                      <a:pPr algn="ctr">
                        <a:defRPr sz="1000">
                          <a:latin typeface="Montserrat"/>
                        </a:defRPr>
                      </a:pPr>
                      <a:r>
                        <a:t>41</a:t>
                      </a:r>
                    </a:p>
                  </a:txBody>
                  <a:tcPr marL="0" marR="0" marT="0" marB="0">
                    <a:solidFill>
                      <a:srgbClr val="FFFFFF"/>
                    </a:solidFill>
                  </a:tcPr>
                </a:tc>
                <a:tc>
                  <a:txBody>
                    <a:bodyPr/>
                    <a:lstStyle/>
                    <a:p>
                      <a:pPr algn="ctr">
                        <a:defRPr sz="1000">
                          <a:latin typeface="Montserrat"/>
                        </a:defRPr>
                      </a:pPr>
                      <a:r>
                        <a:t>7</a:t>
                      </a:r>
                    </a:p>
                  </a:txBody>
                  <a:tcPr marL="0" marR="0" marT="0" marB="0">
                    <a:solidFill>
                      <a:srgbClr val="FFFFFF"/>
                    </a:solidFill>
                  </a:tcPr>
                </a:tc>
                <a:tc>
                  <a:txBody>
                    <a:bodyPr/>
                    <a:lstStyle/>
                    <a:p>
                      <a:pPr algn="ctr">
                        <a:defRPr sz="1000">
                          <a:latin typeface="Montserrat"/>
                        </a:defRPr>
                      </a:pPr>
                      <a:r>
                        <a:t>3</a:t>
                      </a:r>
                    </a:p>
                  </a:txBody>
                  <a:tcPr marL="0" marR="0" marT="0" marB="0">
                    <a:solidFill>
                      <a:srgbClr val="FFFFFF"/>
                    </a:solidFill>
                  </a:tcPr>
                </a:tc>
                <a:tc>
                  <a:txBody>
                    <a:bodyPr/>
                    <a:lstStyle/>
                    <a:p>
                      <a:pPr algn="ctr">
                        <a:defRPr sz="1000">
                          <a:latin typeface="Montserrat"/>
                        </a:defRPr>
                      </a:pPr>
                      <a:r>
                        <a:t>16,693</a:t>
                      </a:r>
                    </a:p>
                  </a:txBody>
                  <a:tcPr marL="0" marR="0" marT="0" marB="0">
                    <a:solidFill>
                      <a:srgbClr val="FFFFFF"/>
                    </a:solidFill>
                  </a:tcPr>
                </a:tc>
              </a:tr>
              <a:tr h="151200">
                <a:tc>
                  <a:txBody>
                    <a:bodyPr/>
                    <a:lstStyle/>
                    <a:p>
                      <a:pPr algn="ctr">
                        <a:defRPr sz="1000">
                          <a:latin typeface="Montserrat"/>
                        </a:defRPr>
                      </a:pPr>
                      <a:r>
                        <a:t>UMF 6 Puente Ixtla</a:t>
                      </a:r>
                    </a:p>
                  </a:txBody>
                  <a:tcPr marL="0" marR="0" marT="0" marB="0">
                    <a:solidFill>
                      <a:srgbClr val="EFEFEF"/>
                    </a:solidFill>
                  </a:tcPr>
                </a:tc>
                <a:tc>
                  <a:txBody>
                    <a:bodyPr/>
                    <a:lstStyle/>
                    <a:p>
                      <a:pPr algn="ctr">
                        <a:defRPr sz="1000">
                          <a:latin typeface="Montserrat"/>
                        </a:defRPr>
                      </a:pPr>
                      <a:r>
                        <a:t>41</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5,242</a:t>
                      </a:r>
                    </a:p>
                  </a:txBody>
                  <a:tcPr marL="0" marR="0" marT="0" marB="0">
                    <a:solidFill>
                      <a:srgbClr val="EFEFEF"/>
                    </a:solidFill>
                  </a:tcPr>
                </a:tc>
              </a:tr>
              <a:tr h="151200">
                <a:tc>
                  <a:txBody>
                    <a:bodyPr/>
                    <a:lstStyle/>
                    <a:p>
                      <a:pPr algn="ctr">
                        <a:defRPr sz="1000">
                          <a:latin typeface="Montserrat"/>
                        </a:defRPr>
                      </a:pPr>
                      <a:r>
                        <a:t>UMF 18 E. Zapata</a:t>
                      </a:r>
                    </a:p>
                  </a:txBody>
                  <a:tcPr marL="0" marR="0" marT="0" marB="0">
                    <a:solidFill>
                      <a:srgbClr val="FFFFFF"/>
                    </a:solidFill>
                  </a:tcPr>
                </a:tc>
                <a:tc>
                  <a:txBody>
                    <a:bodyPr/>
                    <a:lstStyle/>
                    <a:p>
                      <a:pPr algn="ctr">
                        <a:defRPr sz="1000">
                          <a:latin typeface="Montserrat"/>
                        </a:defRPr>
                      </a:pPr>
                      <a:r>
                        <a:t>41</a:t>
                      </a:r>
                    </a:p>
                  </a:txBody>
                  <a:tcPr marL="0" marR="0" marT="0" marB="0">
                    <a:solidFill>
                      <a:srgbClr val="FFFFFF"/>
                    </a:solidFill>
                  </a:tcPr>
                </a:tc>
                <a:tc>
                  <a:txBody>
                    <a:bodyPr/>
                    <a:lstStyle/>
                    <a:p>
                      <a:pPr algn="ctr">
                        <a:defRPr sz="1000">
                          <a:latin typeface="Montserrat"/>
                        </a:defRPr>
                      </a:pPr>
                      <a:r>
                        <a:t>3</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6,922</a:t>
                      </a:r>
                    </a:p>
                  </a:txBody>
                  <a:tcPr marL="0" marR="0" marT="0" marB="0">
                    <a:solidFill>
                      <a:srgbClr val="FFFFFF"/>
                    </a:solidFill>
                  </a:tcPr>
                </a:tc>
              </a:tr>
              <a:tr h="151200">
                <a:tc>
                  <a:txBody>
                    <a:bodyPr/>
                    <a:lstStyle/>
                    <a:p>
                      <a:pPr algn="ctr">
                        <a:defRPr sz="1000">
                          <a:latin typeface="Montserrat"/>
                        </a:defRPr>
                      </a:pPr>
                      <a:r>
                        <a:t>UMF 12 Yautepec</a:t>
                      </a:r>
                    </a:p>
                  </a:txBody>
                  <a:tcPr marL="0" marR="0" marT="0" marB="0">
                    <a:solidFill>
                      <a:srgbClr val="EFEFEF"/>
                    </a:solidFill>
                  </a:tcPr>
                </a:tc>
                <a:tc>
                  <a:txBody>
                    <a:bodyPr/>
                    <a:lstStyle/>
                    <a:p>
                      <a:pPr algn="ctr">
                        <a:defRPr sz="1000">
                          <a:latin typeface="Montserrat"/>
                        </a:defRPr>
                      </a:pPr>
                      <a:r>
                        <a:t>40</a:t>
                      </a:r>
                    </a:p>
                  </a:txBody>
                  <a:tcPr marL="0" marR="0" marT="0" marB="0">
                    <a:solidFill>
                      <a:srgbClr val="EFEFEF"/>
                    </a:solidFill>
                  </a:tcPr>
                </a:tc>
                <a:tc>
                  <a:txBody>
                    <a:bodyPr/>
                    <a:lstStyle/>
                    <a:p>
                      <a:pPr algn="ctr">
                        <a:defRPr sz="1000">
                          <a:latin typeface="Montserrat"/>
                        </a:defRPr>
                      </a:pPr>
                      <a:r>
                        <a:t>4</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7,555</a:t>
                      </a:r>
                    </a:p>
                  </a:txBody>
                  <a:tcPr marL="0" marR="0" marT="0" marB="0">
                    <a:solidFill>
                      <a:srgbClr val="EFEFEF"/>
                    </a:solidFill>
                  </a:tcPr>
                </a:tc>
              </a:tr>
              <a:tr h="151200">
                <a:tc>
                  <a:txBody>
                    <a:bodyPr/>
                    <a:lstStyle/>
                    <a:p>
                      <a:pPr algn="ctr">
                        <a:defRPr sz="1000">
                          <a:latin typeface="Montserrat"/>
                        </a:defRPr>
                      </a:pPr>
                      <a:r>
                        <a:t>UMF 23 Civac</a:t>
                      </a:r>
                    </a:p>
                  </a:txBody>
                  <a:tcPr marL="0" marR="0" marT="0" marB="0">
                    <a:solidFill>
                      <a:srgbClr val="FFFFFF"/>
                    </a:solidFill>
                  </a:tcPr>
                </a:tc>
                <a:tc>
                  <a:txBody>
                    <a:bodyPr/>
                    <a:lstStyle/>
                    <a:p>
                      <a:pPr algn="ctr">
                        <a:defRPr sz="1000">
                          <a:latin typeface="Montserrat"/>
                        </a:defRPr>
                      </a:pPr>
                      <a:r>
                        <a:t>29</a:t>
                      </a:r>
                    </a:p>
                  </a:txBody>
                  <a:tcPr marL="0" marR="0" marT="0" marB="0">
                    <a:solidFill>
                      <a:srgbClr val="FFFFFF"/>
                    </a:solidFill>
                  </a:tcPr>
                </a:tc>
                <a:tc>
                  <a:txBody>
                    <a:bodyPr/>
                    <a:lstStyle/>
                    <a:p>
                      <a:pPr algn="ctr">
                        <a:defRPr sz="1000">
                          <a:latin typeface="Montserrat"/>
                        </a:defRPr>
                      </a:pPr>
                      <a:r>
                        <a:t>7</a:t>
                      </a:r>
                    </a:p>
                  </a:txBody>
                  <a:tcPr marL="0" marR="0" marT="0" marB="0">
                    <a:solidFill>
                      <a:srgbClr val="FFFFFF"/>
                    </a:solidFill>
                  </a:tcPr>
                </a:tc>
                <a:tc>
                  <a:txBody>
                    <a:bodyPr/>
                    <a:lstStyle/>
                    <a:p>
                      <a:pPr algn="ctr">
                        <a:defRPr sz="1000">
                          <a:latin typeface="Montserrat"/>
                        </a:defRPr>
                      </a:pPr>
                      <a:r>
                        <a:t>3</a:t>
                      </a:r>
                    </a:p>
                  </a:txBody>
                  <a:tcPr marL="0" marR="0" marT="0" marB="0">
                    <a:solidFill>
                      <a:srgbClr val="FFFFFF"/>
                    </a:solidFill>
                  </a:tcPr>
                </a:tc>
                <a:tc>
                  <a:txBody>
                    <a:bodyPr/>
                    <a:lstStyle/>
                    <a:p>
                      <a:pPr algn="ctr">
                        <a:defRPr sz="1000">
                          <a:latin typeface="Montserrat"/>
                        </a:defRPr>
                      </a:pPr>
                      <a:r>
                        <a:t>16,256</a:t>
                      </a:r>
                    </a:p>
                  </a:txBody>
                  <a:tcPr marL="0" marR="0" marT="0" marB="0">
                    <a:solidFill>
                      <a:srgbClr val="FFFFFF"/>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41.0</a:t>
                      </a:r>
                    </a:p>
                  </a:txBody>
                  <a:tcPr marL="0" marR="0" marT="0" marB="0">
                    <a:solidFill>
                      <a:srgbClr val="D3E9E7"/>
                    </a:solidFill>
                  </a:tcPr>
                </a:tc>
                <a:tc>
                  <a:txBody>
                    <a:bodyPr/>
                    <a:lstStyle/>
                    <a:p>
                      <a:pPr algn="ctr">
                        <a:defRPr sz="1000" b="1">
                          <a:solidFill>
                            <a:srgbClr val="006556"/>
                          </a:solidFill>
                          <a:latin typeface="Montserrat"/>
                        </a:defRPr>
                      </a:pPr>
                      <a:r>
                        <a:t>57</a:t>
                      </a:r>
                    </a:p>
                  </a:txBody>
                  <a:tcPr marL="0" marR="0" marT="0" marB="0">
                    <a:solidFill>
                      <a:srgbClr val="D3E9E7"/>
                    </a:solidFill>
                  </a:tcPr>
                </a:tc>
                <a:tc>
                  <a:txBody>
                    <a:bodyPr/>
                    <a:lstStyle/>
                    <a:p>
                      <a:pPr algn="ctr">
                        <a:defRPr sz="1000" b="1">
                          <a:solidFill>
                            <a:srgbClr val="006556"/>
                          </a:solidFill>
                          <a:latin typeface="Montserrat"/>
                        </a:defRPr>
                      </a:pPr>
                      <a:r>
                        <a:t>21</a:t>
                      </a:r>
                    </a:p>
                  </a:txBody>
                  <a:tcPr marL="0" marR="0" marT="0" marB="0">
                    <a:solidFill>
                      <a:srgbClr val="D3E9E7"/>
                    </a:solidFill>
                  </a:tcPr>
                </a:tc>
                <a:tc>
                  <a:txBody>
                    <a:bodyPr/>
                    <a:lstStyle/>
                    <a:p>
                      <a:pPr algn="ctr">
                        <a:defRPr sz="1000" b="1">
                          <a:solidFill>
                            <a:srgbClr val="006556"/>
                          </a:solidFill>
                          <a:latin typeface="Montserrat"/>
                        </a:defRPr>
                      </a:pPr>
                      <a:r>
                        <a:t>123,345</a:t>
                      </a:r>
                    </a:p>
                  </a:txBody>
                  <a:tcPr marL="0" marR="0" marT="0" marB="0">
                    <a:solidFill>
                      <a:srgbClr val="D3E9E7"/>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 2025</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49808" y="1984248"/>
            <a:ext cx="1984248" cy="525780"/>
          </a:xfrm>
          <a:prstGeom prst="roundRect">
            <a:avLst/>
          </a:prstGeom>
          <a:solidFill>
            <a:srgbClr val="6011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Montserrat"/>
              </a:defRPr>
            </a:pPr>
            <a:r>
              <a:t>Total</a:t>
            </a:r>
          </a:p>
        </p:txBody>
      </p:sp>
      <p:sp>
        <p:nvSpPr>
          <p:cNvPr id="6" name="Rounded Rectangle 5"/>
          <p:cNvSpPr/>
          <p:nvPr/>
        </p:nvSpPr>
        <p:spPr>
          <a:xfrm>
            <a:off x="749808" y="2510028"/>
            <a:ext cx="1984248" cy="278892"/>
          </a:xfrm>
          <a:prstGeom prst="roundRect">
            <a:avLst/>
          </a:prstGeom>
          <a:solidFill>
            <a:srgbClr val="9F2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Montserrat"/>
              </a:defRPr>
            </a:pPr>
            <a:r>
              <a:t>156</a:t>
            </a:r>
          </a:p>
        </p:txBody>
      </p:sp>
      <p:pic>
        <p:nvPicPr>
          <p:cNvPr id="7" name="Picture 6" descr="Flecha_para_diapositiva_9.png"/>
          <p:cNvPicPr>
            <a:picLocks noChangeAspect="1"/>
          </p:cNvPicPr>
          <p:nvPr/>
        </p:nvPicPr>
        <p:blipFill>
          <a:blip r:embed="rId4"/>
          <a:stretch>
            <a:fillRect/>
          </a:stretch>
        </p:blipFill>
        <p:spPr>
          <a:xfrm>
            <a:off x="3401568" y="2167128"/>
            <a:ext cx="365760" cy="283651"/>
          </a:xfrm>
          <a:prstGeom prst="rect">
            <a:avLst/>
          </a:prstGeom>
        </p:spPr>
      </p:pic>
      <p:sp>
        <p:nvSpPr>
          <p:cNvPr id="8" name="Rounded Rectangle 7"/>
          <p:cNvSpPr/>
          <p:nvPr/>
        </p:nvSpPr>
        <p:spPr>
          <a:xfrm>
            <a:off x="4572000" y="1344168"/>
            <a:ext cx="1984248" cy="52578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9F2241"/>
                </a:solidFill>
                <a:latin typeface="Montserrat"/>
              </a:defRPr>
            </a:pPr>
            <a:r>
              <a:t>Plazas</a:t>
            </a:r>
          </a:p>
        </p:txBody>
      </p:sp>
      <p:sp>
        <p:nvSpPr>
          <p:cNvPr id="9" name="Rounded Rectangle 8"/>
          <p:cNvSpPr/>
          <p:nvPr/>
        </p:nvSpPr>
        <p:spPr>
          <a:xfrm>
            <a:off x="4572000" y="1869948"/>
            <a:ext cx="1984248" cy="278892"/>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Montserrat"/>
              </a:defRPr>
            </a:pPr>
            <a:r>
              <a:t>62</a:t>
            </a:r>
          </a:p>
        </p:txBody>
      </p:sp>
      <p:sp>
        <p:nvSpPr>
          <p:cNvPr id="10" name="Rounded Rectangle 9"/>
          <p:cNvSpPr/>
          <p:nvPr/>
        </p:nvSpPr>
        <p:spPr>
          <a:xfrm>
            <a:off x="4572000" y="2670048"/>
            <a:ext cx="1984248" cy="52578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9F2241"/>
                </a:solidFill>
                <a:latin typeface="Montserrat"/>
              </a:defRPr>
            </a:pPr>
            <a:r>
              <a:t>Sustitución</a:t>
            </a:r>
          </a:p>
        </p:txBody>
      </p:sp>
      <p:sp>
        <p:nvSpPr>
          <p:cNvPr id="11" name="Rounded Rectangle 10"/>
          <p:cNvSpPr/>
          <p:nvPr/>
        </p:nvSpPr>
        <p:spPr>
          <a:xfrm>
            <a:off x="4572000" y="3195828"/>
            <a:ext cx="1984248" cy="278892"/>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Montserrat"/>
              </a:defRPr>
            </a:pPr>
            <a:r>
              <a:t>94</a:t>
            </a:r>
          </a:p>
        </p:txBody>
      </p:sp>
      <p:pic>
        <p:nvPicPr>
          <p:cNvPr id="12" name="Picture 11" descr="Mapa_draft_etiquetas_17.png"/>
          <p:cNvPicPr>
            <a:picLocks noChangeAspect="1"/>
          </p:cNvPicPr>
          <p:nvPr/>
        </p:nvPicPr>
        <p:blipFill>
          <a:blip r:embed="rId5"/>
          <a:stretch>
            <a:fillRect/>
          </a:stretch>
        </p:blipFill>
        <p:spPr>
          <a:xfrm>
            <a:off x="283464" y="3721608"/>
            <a:ext cx="7187184" cy="5048110"/>
          </a:xfrm>
          <a:prstGeom prst="rect">
            <a:avLst/>
          </a:prstGeom>
        </p:spPr>
      </p:pic>
      <p:sp>
        <p:nvSpPr>
          <p:cNvPr id="13" name="TextBox 1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Corte de Información: marzo 2025</a:t>
            </a:r>
          </a:p>
        </p:txBody>
      </p:sp>
    </p:spTree>
    <p:extLst>
      <p:ext uri="{BB962C8B-B14F-4D97-AF65-F5344CB8AC3E}">
        <p14:creationId xmlns:p14="http://schemas.microsoft.com/office/powerpoint/2010/main" val="3828482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2608776540"/>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Meta: </a:t>
                      </a:r>
                      <a:r>
                        <a:rPr lang="es" sz="2100" b="1" u="none" strike="noStrike" cap="none" dirty="0">
                          <a:solidFill>
                            <a:srgbClr val="980000"/>
                          </a:solidFill>
                          <a:latin typeface="Montserrat"/>
                          <a:ea typeface="Montserrat"/>
                          <a:cs typeface="Montserrat"/>
                          <a:sym typeface="Montserrat"/>
                        </a:rPr>
                        <a:t>Cirugías</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Avance alcanzado respecto a la meta establecida para el mismo periodo.</a:t>
            </a:r>
            <a:br/>
            <a:r>
              <a:t>Corte de información: Semana: 9 febrero 2026</a:t>
            </a:r>
          </a:p>
        </p:txBody>
      </p:sp>
      <p:graphicFrame>
        <p:nvGraphicFramePr>
          <p:cNvPr id="233" name="Table 232"/>
          <p:cNvGraphicFramePr>
            <a:graphicFrameLocks noGrp="1"/>
          </p:cNvGraphicFramePr>
          <p:nvPr/>
        </p:nvGraphicFramePr>
        <p:xfrm>
          <a:off x="144000" y="1137600"/>
          <a:ext cx="7477200" cy="1422000"/>
        </p:xfrm>
        <a:graphic>
          <a:graphicData uri="http://schemas.openxmlformats.org/drawingml/2006/table">
            <a:tbl>
              <a:tblPr firstRow="1" bandRow="1">
                <a:tableStyleId>{5C22544A-7EE6-4342-B048-85BDC9FD1C3A}</a:tableStyleId>
              </a:tblPr>
              <a:tblGrid>
                <a:gridCol w="1533600"/>
                <a:gridCol w="968400"/>
                <a:gridCol w="968400"/>
                <a:gridCol w="968400"/>
                <a:gridCol w="968400"/>
                <a:gridCol w="968400"/>
                <a:gridCol w="1101600"/>
              </a:tblGrid>
              <a:tr h="284400">
                <a:tc>
                  <a:txBody>
                    <a:bodyPr/>
                    <a:lstStyle/>
                    <a:p>
                      <a:pPr algn="ctr">
                        <a:defRPr b="1" sz="900">
                          <a:solidFill>
                            <a:srgbClr val="FFFFFF"/>
                          </a:solidFill>
                          <a:latin typeface="Montserrat"/>
                        </a:defRPr>
                      </a:pPr>
                      <a:r>
                        <a:t>Unidad medica</a:t>
                      </a:r>
                    </a:p>
                  </a:txBody>
                  <a:tcPr>
                    <a:solidFill>
                      <a:srgbClr val="FFFFFF"/>
                    </a:solidFill>
                  </a:tcPr>
                </a:tc>
                <a:tc>
                  <a:txBody>
                    <a:bodyPr/>
                    <a:lstStyle/>
                    <a:p>
                      <a:pPr algn="ctr">
                        <a:defRPr b="1" sz="900">
                          <a:solidFill>
                            <a:srgbClr val="FFFFFF"/>
                          </a:solidFill>
                          <a:latin typeface="Montserrat"/>
                        </a:defRPr>
                      </a:pPr>
                      <a:r>
                        <a:t>Qx</a:t>
                      </a:r>
                    </a:p>
                  </a:txBody>
                  <a:tcPr>
                    <a:solidFill>
                      <a:srgbClr val="006455"/>
                    </a:solidFill>
                  </a:tcPr>
                </a:tc>
                <a:tc>
                  <a:txBody>
                    <a:bodyPr/>
                    <a:lstStyle/>
                    <a:p>
                      <a:pPr algn="ctr">
                        <a:defRPr b="1" sz="900">
                          <a:solidFill>
                            <a:srgbClr val="FFFFFF"/>
                          </a:solidFill>
                          <a:latin typeface="Montserrat"/>
                        </a:defRPr>
                      </a:pPr>
                      <a:r>
                        <a:t>Meta anual</a:t>
                      </a:r>
                    </a:p>
                  </a:txBody>
                  <a:tcPr>
                    <a:solidFill>
                      <a:srgbClr val="006455"/>
                    </a:solidFill>
                  </a:tcPr>
                </a:tc>
                <a:tc>
                  <a:txBody>
                    <a:bodyPr/>
                    <a:lstStyle/>
                    <a:p>
                      <a:pPr algn="ctr">
                        <a:defRPr b="1" sz="900">
                          <a:solidFill>
                            <a:srgbClr val="FFFFFF"/>
                          </a:solidFill>
                          <a:latin typeface="Montserrat"/>
                        </a:defRPr>
                      </a:pPr>
                      <a:r>
                        <a:t>Avance a fecha Actual</a:t>
                      </a:r>
                    </a:p>
                  </a:txBody>
                  <a:tcPr>
                    <a:solidFill>
                      <a:srgbClr val="006455"/>
                    </a:solidFill>
                  </a:tcPr>
                </a:tc>
                <a:tc>
                  <a:txBody>
                    <a:bodyPr/>
                    <a:lstStyle/>
                    <a:p>
                      <a:pPr algn="ctr">
                        <a:defRPr b="1" sz="900">
                          <a:solidFill>
                            <a:srgbClr val="FFFFFF"/>
                          </a:solidFill>
                          <a:latin typeface="Montserrat"/>
                        </a:defRPr>
                      </a:pPr>
                      <a:r>
                        <a:t>Meta a fecha Actual</a:t>
                      </a:r>
                    </a:p>
                  </a:txBody>
                  <a:tcPr>
                    <a:solidFill>
                      <a:srgbClr val="006455"/>
                    </a:solidFill>
                  </a:tcPr>
                </a:tc>
                <a:tc>
                  <a:txBody>
                    <a:bodyPr/>
                    <a:lstStyle/>
                    <a:p>
                      <a:pPr algn="ctr">
                        <a:defRPr b="1" sz="900">
                          <a:solidFill>
                            <a:srgbClr val="FFFFFF"/>
                          </a:solidFill>
                          <a:latin typeface="Montserrat"/>
                        </a:defRPr>
                      </a:pPr>
                      <a:r>
                        <a:t>% Avance a mes actual</a:t>
                      </a:r>
                    </a:p>
                  </a:txBody>
                  <a:tcPr>
                    <a:solidFill>
                      <a:srgbClr val="006455"/>
                    </a:solidFill>
                  </a:tcPr>
                </a:tc>
                <a:tc>
                  <a:txBody>
                    <a:bodyPr/>
                    <a:lstStyle/>
                    <a:p>
                      <a:pPr algn="ctr">
                        <a:defRPr b="1" sz="900">
                          <a:solidFill>
                            <a:srgbClr val="FFFFFF"/>
                          </a:solidFill>
                          <a:latin typeface="Montserrat"/>
                        </a:defRPr>
                      </a:pPr>
                      <a:r>
                        <a:t>% Avance anual</a:t>
                      </a:r>
                    </a:p>
                  </a:txBody>
                  <a:tcPr>
                    <a:solidFill>
                      <a:srgbClr val="980000"/>
                    </a:solidFill>
                  </a:tcPr>
                </a:tc>
              </a:tr>
              <a:tr h="284400">
                <a:tc>
                  <a:txBody>
                    <a:bodyPr/>
                    <a:lstStyle/>
                    <a:p>
                      <a:pPr algn="ctr">
                        <a:defRPr sz="1000">
                          <a:latin typeface="Montserrat"/>
                        </a:defRPr>
                      </a:pPr>
                      <a:r>
                        <a:t>HGRMF 1 Cuernavaca</a:t>
                      </a:r>
                    </a:p>
                  </a:txBody>
                  <a:tcPr>
                    <a:solidFill>
                      <a:srgbClr val="FFFFFF"/>
                    </a:solidFill>
                  </a:tcPr>
                </a:tc>
                <a:tc>
                  <a:txBody>
                    <a:bodyPr/>
                    <a:lstStyle/>
                    <a:p>
                      <a:pPr algn="ctr">
                        <a:defRPr sz="1000">
                          <a:latin typeface="Montserrat"/>
                        </a:defRPr>
                      </a:pPr>
                      <a:r>
                        <a:t>10</a:t>
                      </a:r>
                    </a:p>
                  </a:txBody>
                  <a:tcPr>
                    <a:solidFill>
                      <a:srgbClr val="FFFFFF"/>
                    </a:solidFill>
                  </a:tcPr>
                </a:tc>
                <a:tc>
                  <a:txBody>
                    <a:bodyPr/>
                    <a:lstStyle/>
                    <a:p>
                      <a:pPr algn="ctr">
                        <a:defRPr sz="1000">
                          <a:latin typeface="Montserrat"/>
                        </a:defRPr>
                      </a:pPr>
                      <a:r>
                        <a:t>18,250</a:t>
                      </a:r>
                    </a:p>
                  </a:txBody>
                  <a:tcPr>
                    <a:solidFill>
                      <a:srgbClr val="FFFFFF"/>
                    </a:solidFill>
                  </a:tcPr>
                </a:tc>
                <a:tc>
                  <a:txBody>
                    <a:bodyPr/>
                    <a:lstStyle/>
                    <a:p>
                      <a:pPr algn="ctr">
                        <a:defRPr sz="1000">
                          <a:latin typeface="Montserrat"/>
                        </a:defRPr>
                      </a:pPr>
                      <a:r>
                        <a:t>1,858</a:t>
                      </a:r>
                    </a:p>
                  </a:txBody>
                  <a:tcPr>
                    <a:solidFill>
                      <a:srgbClr val="FFFFFF"/>
                    </a:solidFill>
                  </a:tcPr>
                </a:tc>
                <a:tc>
                  <a:txBody>
                    <a:bodyPr/>
                    <a:lstStyle/>
                    <a:p>
                      <a:pPr algn="ctr">
                        <a:defRPr sz="1000">
                          <a:latin typeface="Montserrat"/>
                        </a:defRPr>
                      </a:pPr>
                      <a:r>
                        <a:t>3,009</a:t>
                      </a:r>
                    </a:p>
                  </a:txBody>
                  <a:tcPr>
                    <a:solidFill>
                      <a:srgbClr val="FFFFFF"/>
                    </a:solidFill>
                  </a:tcPr>
                </a:tc>
                <a:tc>
                  <a:txBody>
                    <a:bodyPr/>
                    <a:lstStyle/>
                    <a:p>
                      <a:pPr algn="ctr">
                        <a:defRPr sz="1000">
                          <a:latin typeface="Montserrat"/>
                        </a:defRPr>
                      </a:pPr>
                      <a:r>
                        <a:t>62%</a:t>
                      </a:r>
                    </a:p>
                  </a:txBody>
                  <a:tcPr>
                    <a:solidFill>
                      <a:srgbClr val="FFFFFF"/>
                    </a:solidFill>
                  </a:tcPr>
                </a:tc>
                <a:tc>
                  <a:txBody>
                    <a:bodyPr/>
                    <a:lstStyle/>
                    <a:p>
                      <a:pPr algn="ctr">
                        <a:defRPr sz="1000">
                          <a:latin typeface="Montserrat"/>
                        </a:defRPr>
                      </a:pPr>
                      <a:r>
                        <a:t>10%</a:t>
                      </a:r>
                    </a:p>
                  </a:txBody>
                  <a:tcPr>
                    <a:solidFill>
                      <a:srgbClr val="FFFFFF"/>
                    </a:solidFill>
                  </a:tcPr>
                </a:tc>
              </a:tr>
              <a:tr h="284400">
                <a:tc>
                  <a:txBody>
                    <a:bodyPr/>
                    <a:lstStyle/>
                    <a:p>
                      <a:pPr algn="ctr">
                        <a:defRPr sz="1000">
                          <a:latin typeface="Montserrat"/>
                        </a:defRPr>
                      </a:pPr>
                      <a:r>
                        <a:t>HGZMF 5 Zacatepec</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3,650</a:t>
                      </a:r>
                    </a:p>
                  </a:txBody>
                  <a:tcPr>
                    <a:solidFill>
                      <a:srgbClr val="EFEFEF"/>
                    </a:solidFill>
                  </a:tcPr>
                </a:tc>
                <a:tc>
                  <a:txBody>
                    <a:bodyPr/>
                    <a:lstStyle/>
                    <a:p>
                      <a:pPr algn="ctr">
                        <a:defRPr sz="1000">
                          <a:latin typeface="Montserrat"/>
                        </a:defRPr>
                      </a:pPr>
                      <a:r>
                        <a:t>331</a:t>
                      </a:r>
                    </a:p>
                  </a:txBody>
                  <a:tcPr>
                    <a:solidFill>
                      <a:srgbClr val="EFEFEF"/>
                    </a:solidFill>
                  </a:tcPr>
                </a:tc>
                <a:tc>
                  <a:txBody>
                    <a:bodyPr/>
                    <a:lstStyle/>
                    <a:p>
                      <a:pPr algn="ctr">
                        <a:defRPr sz="1000">
                          <a:latin typeface="Montserrat"/>
                        </a:defRPr>
                      </a:pPr>
                      <a:r>
                        <a:t>565</a:t>
                      </a:r>
                    </a:p>
                  </a:txBody>
                  <a:tcPr>
                    <a:solidFill>
                      <a:srgbClr val="EFEFEF"/>
                    </a:solidFill>
                  </a:tcPr>
                </a:tc>
                <a:tc>
                  <a:txBody>
                    <a:bodyPr/>
                    <a:lstStyle/>
                    <a:p>
                      <a:pPr algn="ctr">
                        <a:defRPr sz="1000">
                          <a:latin typeface="Montserrat"/>
                        </a:defRPr>
                      </a:pPr>
                      <a:r>
                        <a:t>59%</a:t>
                      </a:r>
                    </a:p>
                  </a:txBody>
                  <a:tcPr>
                    <a:solidFill>
                      <a:srgbClr val="EFEFEF"/>
                    </a:solidFill>
                  </a:tcPr>
                </a:tc>
                <a:tc>
                  <a:txBody>
                    <a:bodyPr/>
                    <a:lstStyle/>
                    <a:p>
                      <a:pPr algn="ctr">
                        <a:defRPr sz="1000">
                          <a:latin typeface="Montserrat"/>
                        </a:defRPr>
                      </a:pPr>
                      <a:r>
                        <a:t>9%</a:t>
                      </a:r>
                    </a:p>
                  </a:txBody>
                  <a:tcPr>
                    <a:solidFill>
                      <a:srgbClr val="EFEFEF"/>
                    </a:solidFill>
                  </a:tcPr>
                </a:tc>
              </a:tr>
              <a:tr h="284400">
                <a:tc>
                  <a:txBody>
                    <a:bodyPr/>
                    <a:lstStyle/>
                    <a:p>
                      <a:pPr algn="ctr">
                        <a:defRPr sz="1000">
                          <a:latin typeface="Montserrat"/>
                        </a:defRPr>
                      </a:pPr>
                      <a:r>
                        <a:t>HGZMF 7 Cuautla</a:t>
                      </a:r>
                    </a:p>
                  </a:txBody>
                  <a:tcPr>
                    <a:solidFill>
                      <a:srgbClr val="FFFFFF"/>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5,475</a:t>
                      </a:r>
                    </a:p>
                  </a:txBody>
                  <a:tcPr>
                    <a:solidFill>
                      <a:srgbClr val="FFFFFF"/>
                    </a:solidFill>
                  </a:tcPr>
                </a:tc>
                <a:tc>
                  <a:txBody>
                    <a:bodyPr/>
                    <a:lstStyle/>
                    <a:p>
                      <a:pPr algn="ctr">
                        <a:defRPr sz="1000">
                          <a:latin typeface="Montserrat"/>
                        </a:defRPr>
                      </a:pPr>
                      <a:r>
                        <a:t>332</a:t>
                      </a:r>
                    </a:p>
                  </a:txBody>
                  <a:tcPr>
                    <a:solidFill>
                      <a:srgbClr val="FFFFFF"/>
                    </a:solidFill>
                  </a:tcPr>
                </a:tc>
                <a:tc>
                  <a:txBody>
                    <a:bodyPr/>
                    <a:lstStyle/>
                    <a:p>
                      <a:pPr algn="ctr">
                        <a:defRPr sz="1000">
                          <a:latin typeface="Montserrat"/>
                        </a:defRPr>
                      </a:pPr>
                      <a:r>
                        <a:t>720</a:t>
                      </a:r>
                    </a:p>
                  </a:txBody>
                  <a:tcPr>
                    <a:solidFill>
                      <a:srgbClr val="FFFFFF"/>
                    </a:solidFill>
                  </a:tcPr>
                </a:tc>
                <a:tc>
                  <a:txBody>
                    <a:bodyPr/>
                    <a:lstStyle/>
                    <a:p>
                      <a:pPr algn="ctr">
                        <a:defRPr sz="1000">
                          <a:latin typeface="Montserrat"/>
                        </a:defRPr>
                      </a:pPr>
                      <a:r>
                        <a:t>46%</a:t>
                      </a:r>
                    </a:p>
                  </a:txBody>
                  <a:tcPr>
                    <a:solidFill>
                      <a:srgbClr val="FFFFFF"/>
                    </a:solidFill>
                  </a:tcPr>
                </a:tc>
                <a:tc>
                  <a:txBody>
                    <a:bodyPr/>
                    <a:lstStyle/>
                    <a:p>
                      <a:pPr algn="ctr">
                        <a:defRPr sz="1000">
                          <a:latin typeface="Montserrat"/>
                        </a:defRPr>
                      </a:pPr>
                      <a:r>
                        <a:t>6%</a:t>
                      </a:r>
                    </a:p>
                  </a:txBody>
                  <a:tcPr>
                    <a:solidFill>
                      <a:srgbClr val="FFFFFF"/>
                    </a:solidFill>
                  </a:tcPr>
                </a:tc>
              </a:tr>
              <a:tr h="284400">
                <a:tc>
                  <a:txBody>
                    <a:bodyPr/>
                    <a:lstStyle/>
                    <a:p>
                      <a:pPr algn="ctr">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27,375</a:t>
                      </a:r>
                    </a:p>
                  </a:txBody>
                  <a:tcPr>
                    <a:solidFill>
                      <a:srgbClr val="D3E9E7"/>
                    </a:solidFill>
                  </a:tcPr>
                </a:tc>
                <a:tc>
                  <a:txBody>
                    <a:bodyPr/>
                    <a:lstStyle/>
                    <a:p>
                      <a:pPr algn="ctr">
                        <a:defRPr sz="1000" b="1">
                          <a:solidFill>
                            <a:srgbClr val="006556"/>
                          </a:solidFill>
                          <a:latin typeface="Montserrat"/>
                        </a:defRPr>
                      </a:pPr>
                      <a:r>
                        <a:t>2,521</a:t>
                      </a:r>
                    </a:p>
                  </a:txBody>
                  <a:tcPr>
                    <a:solidFill>
                      <a:srgbClr val="D3E9E7"/>
                    </a:solidFill>
                  </a:tcPr>
                </a:tc>
                <a:tc>
                  <a:txBody>
                    <a:bodyPr/>
                    <a:lstStyle/>
                    <a:p>
                      <a:pPr algn="ctr">
                        <a:defRPr sz="1000" b="1">
                          <a:solidFill>
                            <a:srgbClr val="006556"/>
                          </a:solidFill>
                          <a:latin typeface="Montserrat"/>
                        </a:defRPr>
                      </a:pPr>
                      <a:r>
                        <a:t>4,294</a:t>
                      </a:r>
                    </a:p>
                  </a:txBody>
                  <a:tcPr>
                    <a:solidFill>
                      <a:srgbClr val="D3E9E7"/>
                    </a:solidFill>
                  </a:tcPr>
                </a:tc>
                <a:tc>
                  <a:txBody>
                    <a:bodyPr/>
                    <a:lstStyle/>
                    <a:p>
                      <a:pPr algn="ctr">
                        <a:defRPr sz="1000" b="1">
                          <a:solidFill>
                            <a:srgbClr val="006556"/>
                          </a:solidFill>
                          <a:latin typeface="Montserrat"/>
                        </a:defRPr>
                      </a:pPr>
                      <a:r>
                        <a:t>55%</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3114037803"/>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Meta</a:t>
                      </a:r>
                      <a:r>
                        <a:rPr lang="es" sz="2100" b="1" u="none" strike="noStrike" cap="none">
                          <a:solidFill>
                            <a:srgbClr val="BC955C"/>
                          </a:solidFill>
                          <a:latin typeface="Montserrat"/>
                          <a:ea typeface="Montserrat"/>
                          <a:cs typeface="Montserrat"/>
                          <a:sym typeface="Montserrat"/>
                        </a:rPr>
                        <a:t>: </a:t>
                      </a:r>
                      <a:r>
                        <a:rPr lang="es" sz="2100" b="1" u="none" strike="noStrike" cap="none">
                          <a:solidFill>
                            <a:srgbClr val="980000"/>
                          </a:solidFill>
                          <a:latin typeface="Montserrat"/>
                          <a:ea typeface="Montserrat"/>
                          <a:cs typeface="Montserrat"/>
                          <a:sym typeface="Montserrat"/>
                        </a:rPr>
                        <a:t>Consultas </a:t>
                      </a:r>
                      <a:r>
                        <a:rPr lang="es" sz="2100" b="1" u="none" strike="noStrike" cap="none" dirty="0">
                          <a:solidFill>
                            <a:srgbClr val="980000"/>
                          </a:solidFill>
                          <a:latin typeface="Montserrat"/>
                          <a:ea typeface="Montserrat"/>
                          <a:cs typeface="Montserrat"/>
                          <a:sym typeface="Montserrat"/>
                        </a:rPr>
                        <a:t>de especialidad</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Avance alcanzado respecto a la meta establecida para el mismo periodo.</a:t>
            </a:r>
            <a:br/>
            <a:r>
              <a:t>Corte de información: Semana: 9 febrero 2026</a:t>
            </a:r>
          </a:p>
        </p:txBody>
      </p:sp>
      <p:graphicFrame>
        <p:nvGraphicFramePr>
          <p:cNvPr id="233" name="Table 232"/>
          <p:cNvGraphicFramePr>
            <a:graphicFrameLocks noGrp="1"/>
          </p:cNvGraphicFramePr>
          <p:nvPr/>
        </p:nvGraphicFramePr>
        <p:xfrm>
          <a:off x="144000" y="1137600"/>
          <a:ext cx="7477200" cy="1422000"/>
        </p:xfrm>
        <a:graphic>
          <a:graphicData uri="http://schemas.openxmlformats.org/drawingml/2006/table">
            <a:tbl>
              <a:tblPr firstRow="1" bandRow="1">
                <a:tableStyleId>{5C22544A-7EE6-4342-B048-85BDC9FD1C3A}</a:tableStyleId>
              </a:tblPr>
              <a:tblGrid>
                <a:gridCol w="1533600"/>
                <a:gridCol w="968400"/>
                <a:gridCol w="968400"/>
                <a:gridCol w="968400"/>
                <a:gridCol w="968400"/>
                <a:gridCol w="968400"/>
                <a:gridCol w="1101600"/>
              </a:tblGrid>
              <a:tr h="284400">
                <a:tc>
                  <a:txBody>
                    <a:bodyPr/>
                    <a:lstStyle/>
                    <a:p>
                      <a:pPr algn="ctr">
                        <a:defRPr b="1" sz="900">
                          <a:solidFill>
                            <a:srgbClr val="FFFFFF"/>
                          </a:solidFill>
                          <a:latin typeface="Montserrat"/>
                        </a:defRPr>
                      </a:pPr>
                      <a:r>
                        <a:t>Unidad medica</a:t>
                      </a:r>
                    </a:p>
                  </a:txBody>
                  <a:tcPr>
                    <a:solidFill>
                      <a:srgbClr val="FFFFFF"/>
                    </a:solidFill>
                  </a:tcPr>
                </a:tc>
                <a:tc>
                  <a:txBody>
                    <a:bodyPr/>
                    <a:lstStyle/>
                    <a:p>
                      <a:pPr algn="ctr">
                        <a:defRPr b="1" sz="900">
                          <a:solidFill>
                            <a:srgbClr val="FFFFFF"/>
                          </a:solidFill>
                          <a:latin typeface="Montserrat"/>
                        </a:defRPr>
                      </a:pPr>
                      <a:r>
                        <a:t>Consultorios</a:t>
                      </a:r>
                    </a:p>
                  </a:txBody>
                  <a:tcPr>
                    <a:solidFill>
                      <a:srgbClr val="006455"/>
                    </a:solidFill>
                  </a:tcPr>
                </a:tc>
                <a:tc>
                  <a:txBody>
                    <a:bodyPr/>
                    <a:lstStyle/>
                    <a:p>
                      <a:pPr algn="ctr">
                        <a:defRPr b="1" sz="900">
                          <a:solidFill>
                            <a:srgbClr val="FFFFFF"/>
                          </a:solidFill>
                          <a:latin typeface="Montserrat"/>
                        </a:defRPr>
                      </a:pPr>
                      <a:r>
                        <a:t>Meta Anual</a:t>
                      </a:r>
                    </a:p>
                  </a:txBody>
                  <a:tcPr>
                    <a:solidFill>
                      <a:srgbClr val="006455"/>
                    </a:solidFill>
                  </a:tcPr>
                </a:tc>
                <a:tc>
                  <a:txBody>
                    <a:bodyPr/>
                    <a:lstStyle/>
                    <a:p>
                      <a:pPr algn="ctr">
                        <a:defRPr b="1" sz="900">
                          <a:solidFill>
                            <a:srgbClr val="FFFFFF"/>
                          </a:solidFill>
                          <a:latin typeface="Montserrat"/>
                        </a:defRPr>
                      </a:pPr>
                      <a:r>
                        <a:t>Atenciones a la fecha</a:t>
                      </a:r>
                    </a:p>
                  </a:txBody>
                  <a:tcPr>
                    <a:solidFill>
                      <a:srgbClr val="006455"/>
                    </a:solidFill>
                  </a:tcPr>
                </a:tc>
                <a:tc>
                  <a:txBody>
                    <a:bodyPr/>
                    <a:lstStyle/>
                    <a:p>
                      <a:pPr algn="ctr">
                        <a:defRPr b="1" sz="900">
                          <a:solidFill>
                            <a:srgbClr val="FFFFFF"/>
                          </a:solidFill>
                          <a:latin typeface="Montserrat"/>
                        </a:defRPr>
                      </a:pPr>
                      <a:r>
                        <a:t>Meta a la fecha</a:t>
                      </a:r>
                    </a:p>
                  </a:txBody>
                  <a:tcPr>
                    <a:solidFill>
                      <a:srgbClr val="006455"/>
                    </a:solidFill>
                  </a:tcPr>
                </a:tc>
                <a:tc>
                  <a:txBody>
                    <a:bodyPr/>
                    <a:lstStyle/>
                    <a:p>
                      <a:pPr algn="ctr">
                        <a:defRPr b="1" sz="900">
                          <a:solidFill>
                            <a:srgbClr val="FFFFFF"/>
                          </a:solidFill>
                          <a:latin typeface="Montserrat"/>
                        </a:defRPr>
                      </a:pPr>
                      <a:r>
                        <a:t>% Avance a mes actual</a:t>
                      </a:r>
                    </a:p>
                  </a:txBody>
                  <a:tcPr>
                    <a:solidFill>
                      <a:srgbClr val="006455"/>
                    </a:solidFill>
                  </a:tcPr>
                </a:tc>
                <a:tc>
                  <a:txBody>
                    <a:bodyPr/>
                    <a:lstStyle/>
                    <a:p>
                      <a:pPr algn="ctr">
                        <a:defRPr b="1" sz="900">
                          <a:solidFill>
                            <a:srgbClr val="FFFFFF"/>
                          </a:solidFill>
                          <a:latin typeface="Montserrat"/>
                        </a:defRPr>
                      </a:pPr>
                      <a:r>
                        <a:t>% Avance anual</a:t>
                      </a:r>
                    </a:p>
                  </a:txBody>
                  <a:tcPr>
                    <a:solidFill>
                      <a:srgbClr val="980000"/>
                    </a:solidFill>
                  </a:tcPr>
                </a:tc>
              </a:tr>
              <a:tr h="284400">
                <a:tc>
                  <a:txBody>
                    <a:bodyPr/>
                    <a:lstStyle/>
                    <a:p>
                      <a:pPr algn="ctr">
                        <a:defRPr sz="1000">
                          <a:latin typeface="Montserrat"/>
                        </a:defRPr>
                      </a:pPr>
                      <a:r>
                        <a:t>HGRMF 1 Cuernavaca</a:t>
                      </a:r>
                    </a:p>
                  </a:txBody>
                  <a:tcPr>
                    <a:solidFill>
                      <a:srgbClr val="FFFFFF"/>
                    </a:solidFill>
                  </a:tcPr>
                </a:tc>
                <a:tc>
                  <a:txBody>
                    <a:bodyPr/>
                    <a:lstStyle/>
                    <a:p>
                      <a:pPr algn="ctr">
                        <a:defRPr sz="1000">
                          <a:latin typeface="Montserrat"/>
                        </a:defRPr>
                      </a:pPr>
                      <a:r>
                        <a:t>48</a:t>
                      </a:r>
                    </a:p>
                  </a:txBody>
                  <a:tcPr>
                    <a:solidFill>
                      <a:srgbClr val="FFFFFF"/>
                    </a:solidFill>
                  </a:tcPr>
                </a:tc>
                <a:tc>
                  <a:txBody>
                    <a:bodyPr/>
                    <a:lstStyle/>
                    <a:p>
                      <a:pPr algn="ctr">
                        <a:defRPr sz="1000">
                          <a:latin typeface="Montserrat"/>
                        </a:defRPr>
                      </a:pPr>
                      <a:r>
                        <a:t>315,360</a:t>
                      </a:r>
                    </a:p>
                  </a:txBody>
                  <a:tcPr>
                    <a:solidFill>
                      <a:srgbClr val="FFFFFF"/>
                    </a:solidFill>
                  </a:tcPr>
                </a:tc>
                <a:tc>
                  <a:txBody>
                    <a:bodyPr/>
                    <a:lstStyle/>
                    <a:p>
                      <a:pPr algn="ctr">
                        <a:defRPr sz="1000">
                          <a:latin typeface="Montserrat"/>
                        </a:defRPr>
                      </a:pPr>
                      <a:r>
                        <a:t>24,747</a:t>
                      </a:r>
                    </a:p>
                  </a:txBody>
                  <a:tcPr>
                    <a:solidFill>
                      <a:srgbClr val="FFFFFF"/>
                    </a:solidFill>
                  </a:tcPr>
                </a:tc>
                <a:tc>
                  <a:txBody>
                    <a:bodyPr/>
                    <a:lstStyle/>
                    <a:p>
                      <a:pPr algn="ctr">
                        <a:defRPr sz="1000">
                          <a:latin typeface="Montserrat"/>
                        </a:defRPr>
                      </a:pPr>
                      <a:r>
                        <a:t>50,976</a:t>
                      </a:r>
                    </a:p>
                  </a:txBody>
                  <a:tcPr>
                    <a:solidFill>
                      <a:srgbClr val="FFFFFF"/>
                    </a:solidFill>
                  </a:tcPr>
                </a:tc>
                <a:tc>
                  <a:txBody>
                    <a:bodyPr/>
                    <a:lstStyle/>
                    <a:p>
                      <a:pPr algn="ctr">
                        <a:defRPr sz="1000">
                          <a:latin typeface="Montserrat"/>
                        </a:defRPr>
                      </a:pPr>
                      <a:r>
                        <a:t>49%</a:t>
                      </a:r>
                    </a:p>
                  </a:txBody>
                  <a:tcPr>
                    <a:solidFill>
                      <a:srgbClr val="FFFFFF"/>
                    </a:solidFill>
                  </a:tcPr>
                </a:tc>
                <a:tc>
                  <a:txBody>
                    <a:bodyPr/>
                    <a:lstStyle/>
                    <a:p>
                      <a:pPr algn="ctr">
                        <a:defRPr sz="1000">
                          <a:latin typeface="Montserrat"/>
                        </a:defRPr>
                      </a:pPr>
                      <a:r>
                        <a:t>8%</a:t>
                      </a:r>
                    </a:p>
                  </a:txBody>
                  <a:tcPr>
                    <a:solidFill>
                      <a:srgbClr val="FFFFFF"/>
                    </a:solidFill>
                  </a:tcPr>
                </a:tc>
              </a:tr>
              <a:tr h="284400">
                <a:tc>
                  <a:txBody>
                    <a:bodyPr/>
                    <a:lstStyle/>
                    <a:p>
                      <a:pPr algn="ctr">
                        <a:defRPr sz="1000">
                          <a:latin typeface="Montserrat"/>
                        </a:defRPr>
                      </a:pPr>
                      <a:r>
                        <a:t>HGZMF 7 Cuautla</a:t>
                      </a:r>
                    </a:p>
                  </a:txBody>
                  <a:tcPr>
                    <a:solidFill>
                      <a:srgbClr val="EFEFEF"/>
                    </a:solidFill>
                  </a:tcPr>
                </a:tc>
                <a:tc>
                  <a:txBody>
                    <a:bodyPr/>
                    <a:lstStyle/>
                    <a:p>
                      <a:pPr algn="ctr">
                        <a:defRPr sz="1000">
                          <a:latin typeface="Montserrat"/>
                        </a:defRPr>
                      </a:pPr>
                      <a:r>
                        <a:t>14</a:t>
                      </a:r>
                    </a:p>
                  </a:txBody>
                  <a:tcPr>
                    <a:solidFill>
                      <a:srgbClr val="EFEFEF"/>
                    </a:solidFill>
                  </a:tcPr>
                </a:tc>
                <a:tc>
                  <a:txBody>
                    <a:bodyPr/>
                    <a:lstStyle/>
                    <a:p>
                      <a:pPr algn="ctr">
                        <a:defRPr sz="1000">
                          <a:latin typeface="Montserrat"/>
                        </a:defRPr>
                      </a:pPr>
                      <a:r>
                        <a:t>91,980</a:t>
                      </a:r>
                    </a:p>
                  </a:txBody>
                  <a:tcPr>
                    <a:solidFill>
                      <a:srgbClr val="EFEFEF"/>
                    </a:solidFill>
                  </a:tcPr>
                </a:tc>
                <a:tc>
                  <a:txBody>
                    <a:bodyPr/>
                    <a:lstStyle/>
                    <a:p>
                      <a:pPr algn="ctr">
                        <a:defRPr sz="1000">
                          <a:latin typeface="Montserrat"/>
                        </a:defRPr>
                      </a:pPr>
                      <a:r>
                        <a:t>5,855</a:t>
                      </a:r>
                    </a:p>
                  </a:txBody>
                  <a:tcPr>
                    <a:solidFill>
                      <a:srgbClr val="EFEFEF"/>
                    </a:solidFill>
                  </a:tcPr>
                </a:tc>
                <a:tc>
                  <a:txBody>
                    <a:bodyPr/>
                    <a:lstStyle/>
                    <a:p>
                      <a:pPr algn="ctr">
                        <a:defRPr sz="1000">
                          <a:latin typeface="Montserrat"/>
                        </a:defRPr>
                      </a:pPr>
                      <a:r>
                        <a:t>14,042</a:t>
                      </a:r>
                    </a:p>
                  </a:txBody>
                  <a:tcPr>
                    <a:solidFill>
                      <a:srgbClr val="EFEFEF"/>
                    </a:solidFill>
                  </a:tcPr>
                </a:tc>
                <a:tc>
                  <a:txBody>
                    <a:bodyPr/>
                    <a:lstStyle/>
                    <a:p>
                      <a:pPr algn="ctr">
                        <a:defRPr sz="1000">
                          <a:latin typeface="Montserrat"/>
                        </a:defRPr>
                      </a:pPr>
                      <a:r>
                        <a:t>42%</a:t>
                      </a:r>
                    </a:p>
                  </a:txBody>
                  <a:tcPr>
                    <a:solidFill>
                      <a:srgbClr val="EFEFEF"/>
                    </a:solidFill>
                  </a:tcPr>
                </a:tc>
                <a:tc>
                  <a:txBody>
                    <a:bodyPr/>
                    <a:lstStyle/>
                    <a:p>
                      <a:pPr algn="ctr">
                        <a:defRPr sz="1000">
                          <a:latin typeface="Montserrat"/>
                        </a:defRPr>
                      </a:pPr>
                      <a:r>
                        <a:t>6%</a:t>
                      </a:r>
                    </a:p>
                  </a:txBody>
                  <a:tcPr>
                    <a:solidFill>
                      <a:srgbClr val="EFEFEF"/>
                    </a:solidFill>
                  </a:tcPr>
                </a:tc>
              </a:tr>
              <a:tr h="284400">
                <a:tc>
                  <a:txBody>
                    <a:bodyPr/>
                    <a:lstStyle/>
                    <a:p>
                      <a:pPr algn="ctr">
                        <a:defRPr sz="1000">
                          <a:latin typeface="Montserrat"/>
                        </a:defRPr>
                      </a:pPr>
                      <a:r>
                        <a:t>HGZMF 5 Zacatepec</a:t>
                      </a:r>
                    </a:p>
                  </a:txBody>
                  <a:tcPr>
                    <a:solidFill>
                      <a:srgbClr val="FFFFFF"/>
                    </a:solidFill>
                  </a:tcPr>
                </a:tc>
                <a:tc>
                  <a:txBody>
                    <a:bodyPr/>
                    <a:lstStyle/>
                    <a:p>
                      <a:pPr algn="ctr">
                        <a:defRPr sz="1000">
                          <a:latin typeface="Montserrat"/>
                        </a:defRPr>
                      </a:pPr>
                      <a:r>
                        <a:t>12</a:t>
                      </a:r>
                    </a:p>
                  </a:txBody>
                  <a:tcPr>
                    <a:solidFill>
                      <a:srgbClr val="FFFFFF"/>
                    </a:solidFill>
                  </a:tcPr>
                </a:tc>
                <a:tc>
                  <a:txBody>
                    <a:bodyPr/>
                    <a:lstStyle/>
                    <a:p>
                      <a:pPr algn="ctr">
                        <a:defRPr sz="1000">
                          <a:latin typeface="Montserrat"/>
                        </a:defRPr>
                      </a:pPr>
                      <a:r>
                        <a:t>78,840</a:t>
                      </a:r>
                    </a:p>
                  </a:txBody>
                  <a:tcPr>
                    <a:solidFill>
                      <a:srgbClr val="FFFFFF"/>
                    </a:solidFill>
                  </a:tcPr>
                </a:tc>
                <a:tc>
                  <a:txBody>
                    <a:bodyPr/>
                    <a:lstStyle/>
                    <a:p>
                      <a:pPr algn="ctr">
                        <a:defRPr sz="1000">
                          <a:latin typeface="Montserrat"/>
                        </a:defRPr>
                      </a:pPr>
                      <a:r>
                        <a:t>4,422</a:t>
                      </a:r>
                    </a:p>
                  </a:txBody>
                  <a:tcPr>
                    <a:solidFill>
                      <a:srgbClr val="FFFFFF"/>
                    </a:solidFill>
                  </a:tcPr>
                </a:tc>
                <a:tc>
                  <a:txBody>
                    <a:bodyPr/>
                    <a:lstStyle/>
                    <a:p>
                      <a:pPr algn="ctr">
                        <a:defRPr sz="1000">
                          <a:latin typeface="Montserrat"/>
                        </a:defRPr>
                      </a:pPr>
                      <a:r>
                        <a:t>12,036</a:t>
                      </a:r>
                    </a:p>
                  </a:txBody>
                  <a:tcPr>
                    <a:solidFill>
                      <a:srgbClr val="FFFFFF"/>
                    </a:solidFill>
                  </a:tcPr>
                </a:tc>
                <a:tc>
                  <a:txBody>
                    <a:bodyPr/>
                    <a:lstStyle/>
                    <a:p>
                      <a:pPr algn="ctr">
                        <a:defRPr sz="1000">
                          <a:latin typeface="Montserrat"/>
                        </a:defRPr>
                      </a:pPr>
                      <a:r>
                        <a:t>37%</a:t>
                      </a:r>
                    </a:p>
                  </a:txBody>
                  <a:tcPr>
                    <a:solidFill>
                      <a:srgbClr val="FFFFFF"/>
                    </a:solidFill>
                  </a:tcPr>
                </a:tc>
                <a:tc>
                  <a:txBody>
                    <a:bodyPr/>
                    <a:lstStyle/>
                    <a:p>
                      <a:pPr algn="ctr">
                        <a:defRPr sz="1000">
                          <a:latin typeface="Montserrat"/>
                        </a:defRPr>
                      </a:pPr>
                      <a:r>
                        <a:t>6%</a:t>
                      </a:r>
                    </a:p>
                  </a:txBody>
                  <a:tcPr>
                    <a:solidFill>
                      <a:srgbClr val="FFFFFF"/>
                    </a:solidFill>
                  </a:tcPr>
                </a:tc>
              </a:tr>
              <a:tr h="284400">
                <a:tc>
                  <a:txBody>
                    <a:bodyPr/>
                    <a:lstStyle/>
                    <a:p>
                      <a:pPr algn="ctr">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74</a:t>
                      </a:r>
                    </a:p>
                  </a:txBody>
                  <a:tcPr>
                    <a:solidFill>
                      <a:srgbClr val="D3E9E7"/>
                    </a:solidFill>
                  </a:tcPr>
                </a:tc>
                <a:tc>
                  <a:txBody>
                    <a:bodyPr/>
                    <a:lstStyle/>
                    <a:p>
                      <a:pPr algn="ctr">
                        <a:defRPr sz="1000" b="1">
                          <a:solidFill>
                            <a:srgbClr val="006556"/>
                          </a:solidFill>
                          <a:latin typeface="Montserrat"/>
                        </a:defRPr>
                      </a:pPr>
                      <a:r>
                        <a:t>486,180</a:t>
                      </a:r>
                    </a:p>
                  </a:txBody>
                  <a:tcPr>
                    <a:solidFill>
                      <a:srgbClr val="D3E9E7"/>
                    </a:solidFill>
                  </a:tcPr>
                </a:tc>
                <a:tc>
                  <a:txBody>
                    <a:bodyPr/>
                    <a:lstStyle/>
                    <a:p>
                      <a:pPr algn="ctr">
                        <a:defRPr sz="1000" b="1">
                          <a:solidFill>
                            <a:srgbClr val="006556"/>
                          </a:solidFill>
                          <a:latin typeface="Montserrat"/>
                        </a:defRPr>
                      </a:pPr>
                      <a:r>
                        <a:t>35,024</a:t>
                      </a:r>
                    </a:p>
                  </a:txBody>
                  <a:tcPr>
                    <a:solidFill>
                      <a:srgbClr val="D3E9E7"/>
                    </a:solidFill>
                  </a:tcPr>
                </a:tc>
                <a:tc>
                  <a:txBody>
                    <a:bodyPr/>
                    <a:lstStyle/>
                    <a:p>
                      <a:pPr algn="ctr">
                        <a:defRPr sz="1000" b="1">
                          <a:solidFill>
                            <a:srgbClr val="006556"/>
                          </a:solidFill>
                          <a:latin typeface="Montserrat"/>
                        </a:defRPr>
                      </a:pPr>
                      <a:r>
                        <a:t>77,054</a:t>
                      </a:r>
                    </a:p>
                  </a:txBody>
                  <a:tcPr>
                    <a:solidFill>
                      <a:srgbClr val="D3E9E7"/>
                    </a:solidFill>
                  </a:tcPr>
                </a:tc>
                <a:tc>
                  <a:txBody>
                    <a:bodyPr/>
                    <a:lstStyle/>
                    <a:p>
                      <a:pPr algn="ctr">
                        <a:defRPr sz="1000" b="1">
                          <a:solidFill>
                            <a:srgbClr val="006556"/>
                          </a:solidFill>
                          <a:latin typeface="Montserrat"/>
                        </a:defRPr>
                      </a:pPr>
                      <a:r>
                        <a:t>42%</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r>
            </a:tbl>
          </a:graphicData>
        </a:graphic>
      </p:graphicFrame>
    </p:spTree>
    <p:extLst>
      <p:ext uri="{BB962C8B-B14F-4D97-AF65-F5344CB8AC3E}">
        <p14:creationId xmlns:p14="http://schemas.microsoft.com/office/powerpoint/2010/main" val="540716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72540884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Meta: </a:t>
                      </a:r>
                      <a:r>
                        <a:rPr lang="es" sz="2100" b="1" u="none" strike="noStrike" cap="none" dirty="0">
                          <a:solidFill>
                            <a:srgbClr val="980000"/>
                          </a:solidFill>
                          <a:latin typeface="Montserrat"/>
                          <a:ea typeface="Montserrat"/>
                          <a:cs typeface="Montserrat"/>
                          <a:sym typeface="Montserrat"/>
                        </a:rPr>
                        <a:t>Resumen</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232" name="TextBox 231"/>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Noto Sans"/>
              </a:defRPr>
            </a:pPr>
            <a:r>
              <a:t>Corte de información: semana 9, febrero 2026</a:t>
            </a:r>
          </a:p>
        </p:txBody>
      </p:sp>
      <p:sp>
        <p:nvSpPr>
          <p:cNvPr id="233" name="TextBox 232"/>
          <p:cNvSpPr txBox="1"/>
          <p:nvPr/>
        </p:nvSpPr>
        <p:spPr>
          <a:xfrm>
            <a:off x="147600" y="1238400"/>
            <a:ext cx="7473600" cy="381600"/>
          </a:xfrm>
          <a:prstGeom prst="rect">
            <a:avLst/>
          </a:prstGeom>
          <a:noFill/>
        </p:spPr>
        <p:txBody>
          <a:bodyPr wrap="none">
            <a:spAutoFit/>
          </a:bodyPr>
          <a:lstStyle/>
          <a:p>
            <a:pPr algn="l">
              <a:defRPr sz="2100" b="1">
                <a:solidFill>
                  <a:srgbClr val="BC955C"/>
                </a:solidFill>
                <a:latin typeface="Montserrat"/>
              </a:defRPr>
            </a:pPr>
            <a:r>
              <a:t>OOAD</a:t>
            </a:r>
          </a:p>
        </p:txBody>
      </p:sp>
      <p:graphicFrame>
        <p:nvGraphicFramePr>
          <p:cNvPr id="234" name="Table 233"/>
          <p:cNvGraphicFramePr>
            <a:graphicFrameLocks noGrp="1"/>
          </p:cNvGraphicFramePr>
          <p:nvPr/>
        </p:nvGraphicFramePr>
        <p:xfrm>
          <a:off x="144000" y="1238400"/>
          <a:ext cx="7488000" cy="1800000"/>
        </p:xfrm>
        <a:graphic>
          <a:graphicData uri="http://schemas.openxmlformats.org/drawingml/2006/table">
            <a:tbl>
              <a:tblPr firstRow="1" bandRow="1">
                <a:tableStyleId>{5C22544A-7EE6-4342-B048-85BDC9FD1C3A}</a:tableStyleId>
              </a:tblPr>
              <a:tblGrid>
                <a:gridCol w="1872000"/>
                <a:gridCol w="936000"/>
                <a:gridCol w="1144800"/>
                <a:gridCol w="1335600"/>
                <a:gridCol w="1263600"/>
                <a:gridCol w="936000"/>
              </a:tblGrid>
              <a:tr h="360000">
                <a:tc>
                  <a:txBody>
                    <a:bodyPr/>
                    <a:lstStyle/>
                    <a:p>
                      <a:pPr algn="ctr">
                        <a:defRPr b="1" sz="900">
                          <a:solidFill>
                            <a:srgbClr val="FFFFFF"/>
                          </a:solidFill>
                          <a:latin typeface="Montserrat"/>
                        </a:defRPr>
                      </a:pPr>
                    </a:p>
                  </a:txBody>
                  <a:tcPr>
                    <a:noFill/>
                  </a:tcPr>
                </a:tc>
                <a:tc>
                  <a:txBody>
                    <a:bodyPr/>
                    <a:lstStyle/>
                    <a:p>
                      <a:pPr algn="ctr">
                        <a:defRPr b="1" sz="900">
                          <a:solidFill>
                            <a:srgbClr val="FFFFFF"/>
                          </a:solidFill>
                          <a:latin typeface="Montserrat"/>
                        </a:defRPr>
                      </a:pPr>
                      <a:r>
                        <a:t>Metas anuales</a:t>
                      </a:r>
                    </a:p>
                  </a:txBody>
                  <a:tcPr>
                    <a:solidFill>
                      <a:srgbClr val="006455"/>
                    </a:solidFill>
                  </a:tcPr>
                </a:tc>
                <a:tc>
                  <a:txBody>
                    <a:bodyPr/>
                    <a:lstStyle/>
                    <a:p>
                      <a:pPr algn="ctr">
                        <a:defRPr b="1" sz="900">
                          <a:solidFill>
                            <a:srgbClr val="FFFFFF"/>
                          </a:solidFill>
                          <a:latin typeface="Montserrat"/>
                        </a:defRPr>
                      </a:pPr>
                      <a:r>
                        <a:t>Productividad esperada a la fecha</a:t>
                      </a:r>
                    </a:p>
                  </a:txBody>
                  <a:tcPr>
                    <a:solidFill>
                      <a:srgbClr val="006455"/>
                    </a:solidFill>
                  </a:tcPr>
                </a:tc>
                <a:tc>
                  <a:txBody>
                    <a:bodyPr/>
                    <a:lstStyle/>
                    <a:p>
                      <a:pPr algn="ctr">
                        <a:defRPr b="1" sz="900">
                          <a:solidFill>
                            <a:srgbClr val="FFFFFF"/>
                          </a:solidFill>
                          <a:latin typeface="Montserrat"/>
                        </a:defRPr>
                      </a:pPr>
                      <a:r>
                        <a:t>Productividad a la fecha</a:t>
                      </a:r>
                    </a:p>
                  </a:txBody>
                  <a:tcPr>
                    <a:solidFill>
                      <a:srgbClr val="006455"/>
                    </a:solidFill>
                  </a:tcPr>
                </a:tc>
                <a:tc>
                  <a:txBody>
                    <a:bodyPr/>
                    <a:lstStyle/>
                    <a:p>
                      <a:pPr algn="ctr">
                        <a:defRPr b="1" sz="900">
                          <a:solidFill>
                            <a:srgbClr val="FFFFFF"/>
                          </a:solidFill>
                          <a:latin typeface="Montserrat"/>
                        </a:defRPr>
                      </a:pPr>
                      <a:r>
                        <a:t>% de avance a la fecha</a:t>
                      </a:r>
                    </a:p>
                  </a:txBody>
                  <a:tcPr>
                    <a:solidFill>
                      <a:srgbClr val="006455"/>
                    </a:solidFill>
                  </a:tcPr>
                </a:tc>
                <a:tc>
                  <a:txBody>
                    <a:bodyPr/>
                    <a:lstStyle/>
                    <a:p>
                      <a:pPr algn="ctr">
                        <a:defRPr b="1" sz="900">
                          <a:solidFill>
                            <a:srgbClr val="FFFFFF"/>
                          </a:solidFill>
                          <a:latin typeface="Montserrat"/>
                        </a:defRPr>
                      </a:pPr>
                      <a:r>
                        <a:t>% avance anual</a:t>
                      </a:r>
                    </a:p>
                  </a:txBody>
                  <a:tcPr>
                    <a:solidFill>
                      <a:srgbClr val="006455"/>
                    </a:solidFill>
                  </a:tcPr>
                </a:tc>
              </a:tr>
              <a:tr h="360000">
                <a:tc>
                  <a:txBody>
                    <a:bodyPr/>
                    <a:lstStyle/>
                    <a:p>
                      <a:pPr algn="ctr">
                        <a:defRPr sz="1000">
                          <a:latin typeface="Montserrat"/>
                        </a:defRPr>
                      </a:pPr>
                      <a:r>
                        <a:t>Consulta de Medicina Familiar</a:t>
                      </a:r>
                    </a:p>
                  </a:txBody>
                  <a:tcPr>
                    <a:solidFill>
                      <a:srgbClr val="FFFFFF"/>
                    </a:solidFill>
                  </a:tcPr>
                </a:tc>
                <a:tc>
                  <a:txBody>
                    <a:bodyPr/>
                    <a:lstStyle/>
                    <a:p>
                      <a:pPr algn="ctr">
                        <a:defRPr sz="1000">
                          <a:latin typeface="Montserrat"/>
                        </a:defRPr>
                      </a:pPr>
                      <a:r>
                        <a:t>526,176</a:t>
                      </a:r>
                    </a:p>
                  </a:txBody>
                  <a:tcPr>
                    <a:solidFill>
                      <a:srgbClr val="FFFFFF"/>
                    </a:solidFill>
                  </a:tcPr>
                </a:tc>
                <a:tc>
                  <a:txBody>
                    <a:bodyPr/>
                    <a:lstStyle/>
                    <a:p>
                      <a:pPr algn="ctr">
                        <a:defRPr sz="1000">
                          <a:latin typeface="Montserrat"/>
                        </a:defRPr>
                      </a:pPr>
                      <a:r>
                        <a:t>101,280</a:t>
                      </a:r>
                    </a:p>
                  </a:txBody>
                  <a:tcPr>
                    <a:solidFill>
                      <a:srgbClr val="FFFFFF"/>
                    </a:solidFill>
                  </a:tcPr>
                </a:tc>
                <a:tc>
                  <a:txBody>
                    <a:bodyPr/>
                    <a:lstStyle/>
                    <a:p>
                      <a:pPr algn="ctr">
                        <a:defRPr sz="1000">
                          <a:latin typeface="Montserrat"/>
                        </a:defRPr>
                      </a:pPr>
                      <a:r>
                        <a:t>65,993</a:t>
                      </a:r>
                    </a:p>
                  </a:txBody>
                  <a:tcPr>
                    <a:solidFill>
                      <a:srgbClr val="FFFFFF"/>
                    </a:solidFill>
                  </a:tcPr>
                </a:tc>
                <a:tc>
                  <a:txBody>
                    <a:bodyPr/>
                    <a:lstStyle/>
                    <a:p>
                      <a:pPr algn="ctr">
                        <a:defRPr sz="1000">
                          <a:latin typeface="Montserrat"/>
                        </a:defRPr>
                      </a:pPr>
                      <a:r>
                        <a:t>65%</a:t>
                      </a:r>
                    </a:p>
                  </a:txBody>
                  <a:tcPr>
                    <a:solidFill>
                      <a:srgbClr val="FFFFFF"/>
                    </a:solidFill>
                  </a:tcPr>
                </a:tc>
                <a:tc>
                  <a:txBody>
                    <a:bodyPr/>
                    <a:lstStyle/>
                    <a:p>
                      <a:pPr algn="ctr">
                        <a:defRPr sz="1000">
                          <a:latin typeface="Montserrat"/>
                        </a:defRPr>
                      </a:pPr>
                      <a:r>
                        <a:t>13%</a:t>
                      </a:r>
                    </a:p>
                  </a:txBody>
                  <a:tcPr>
                    <a:solidFill>
                      <a:srgbClr val="FFFFFF"/>
                    </a:solidFill>
                  </a:tcPr>
                </a:tc>
              </a:tr>
              <a:tr h="360000">
                <a:tc>
                  <a:txBody>
                    <a:bodyPr/>
                    <a:lstStyle/>
                    <a:p>
                      <a:pPr algn="ctr">
                        <a:defRPr sz="1000">
                          <a:latin typeface="Montserrat"/>
                        </a:defRPr>
                      </a:pPr>
                      <a:r>
                        <a:t>Consulta de Medicina Familiar</a:t>
                      </a:r>
                    </a:p>
                  </a:txBody>
                  <a:tcPr>
                    <a:solidFill>
                      <a:srgbClr val="EFEFEF"/>
                    </a:solidFill>
                  </a:tcPr>
                </a:tc>
                <a:tc>
                  <a:txBody>
                    <a:bodyPr/>
                    <a:lstStyle/>
                    <a:p>
                      <a:pPr algn="ctr">
                        <a:defRPr sz="1000">
                          <a:latin typeface="Montserrat"/>
                        </a:defRPr>
                      </a:pPr>
                      <a:r>
                        <a:t>989,712</a:t>
                      </a:r>
                    </a:p>
                  </a:txBody>
                  <a:tcPr>
                    <a:solidFill>
                      <a:srgbClr val="EFEFEF"/>
                    </a:solidFill>
                  </a:tcPr>
                </a:tc>
                <a:tc>
                  <a:txBody>
                    <a:bodyPr/>
                    <a:lstStyle/>
                    <a:p>
                      <a:pPr algn="ctr">
                        <a:defRPr sz="1000">
                          <a:latin typeface="Montserrat"/>
                        </a:defRPr>
                      </a:pPr>
                      <a:r>
                        <a:t>168,204</a:t>
                      </a:r>
                    </a:p>
                  </a:txBody>
                  <a:tcPr>
                    <a:solidFill>
                      <a:srgbClr val="EFEFEF"/>
                    </a:solidFill>
                  </a:tcPr>
                </a:tc>
                <a:tc>
                  <a:txBody>
                    <a:bodyPr/>
                    <a:lstStyle/>
                    <a:p>
                      <a:pPr algn="ctr">
                        <a:defRPr sz="1000">
                          <a:latin typeface="Montserrat"/>
                        </a:defRPr>
                      </a:pPr>
                      <a:r>
                        <a:t>102,921</a:t>
                      </a:r>
                    </a:p>
                  </a:txBody>
                  <a:tcPr>
                    <a:solidFill>
                      <a:srgbClr val="EFEFEF"/>
                    </a:solidFill>
                  </a:tcPr>
                </a:tc>
                <a:tc>
                  <a:txBody>
                    <a:bodyPr/>
                    <a:lstStyle/>
                    <a:p>
                      <a:pPr algn="ctr">
                        <a:defRPr sz="1000">
                          <a:latin typeface="Montserrat"/>
                        </a:defRPr>
                      </a:pPr>
                      <a:r>
                        <a:t>61%</a:t>
                      </a:r>
                    </a:p>
                  </a:txBody>
                  <a:tcPr>
                    <a:solidFill>
                      <a:srgbClr val="EFEFEF"/>
                    </a:solidFill>
                  </a:tcPr>
                </a:tc>
                <a:tc>
                  <a:txBody>
                    <a:bodyPr/>
                    <a:lstStyle/>
                    <a:p>
                      <a:pPr algn="ctr">
                        <a:defRPr sz="1000">
                          <a:latin typeface="Montserrat"/>
                        </a:defRPr>
                      </a:pPr>
                      <a:r>
                        <a:t>10%</a:t>
                      </a:r>
                    </a:p>
                  </a:txBody>
                  <a:tcPr>
                    <a:solidFill>
                      <a:srgbClr val="EFEFEF"/>
                    </a:solidFill>
                  </a:tcPr>
                </a:tc>
              </a:tr>
              <a:tr h="360000">
                <a:tc>
                  <a:txBody>
                    <a:bodyPr/>
                    <a:lstStyle/>
                    <a:p>
                      <a:pPr algn="ctr">
                        <a:defRPr sz="1000">
                          <a:latin typeface="Montserrat"/>
                        </a:defRPr>
                      </a:pPr>
                      <a:r>
                        <a:t>Cirugías electivas</a:t>
                      </a:r>
                    </a:p>
                  </a:txBody>
                  <a:tcPr>
                    <a:solidFill>
                      <a:srgbClr val="FFFFFF"/>
                    </a:solidFill>
                  </a:tcPr>
                </a:tc>
                <a:tc>
                  <a:txBody>
                    <a:bodyPr/>
                    <a:lstStyle/>
                    <a:p>
                      <a:pPr algn="ctr">
                        <a:defRPr sz="1000">
                          <a:latin typeface="Montserrat"/>
                        </a:defRPr>
                      </a:pPr>
                      <a:r>
                        <a:t>27,375</a:t>
                      </a:r>
                    </a:p>
                  </a:txBody>
                  <a:tcPr>
                    <a:solidFill>
                      <a:srgbClr val="FFFFFF"/>
                    </a:solidFill>
                  </a:tcPr>
                </a:tc>
                <a:tc>
                  <a:txBody>
                    <a:bodyPr/>
                    <a:lstStyle/>
                    <a:p>
                      <a:pPr algn="ctr">
                        <a:defRPr sz="1000">
                          <a:latin typeface="Montserrat"/>
                        </a:defRPr>
                      </a:pPr>
                      <a:r>
                        <a:t>4,294</a:t>
                      </a:r>
                    </a:p>
                  </a:txBody>
                  <a:tcPr>
                    <a:solidFill>
                      <a:srgbClr val="FFFFFF"/>
                    </a:solidFill>
                  </a:tcPr>
                </a:tc>
                <a:tc>
                  <a:txBody>
                    <a:bodyPr/>
                    <a:lstStyle/>
                    <a:p>
                      <a:pPr algn="ctr">
                        <a:defRPr sz="1000">
                          <a:latin typeface="Montserrat"/>
                        </a:defRPr>
                      </a:pPr>
                      <a:r>
                        <a:t>2,521</a:t>
                      </a:r>
                    </a:p>
                  </a:txBody>
                  <a:tcPr>
                    <a:solidFill>
                      <a:srgbClr val="FFFFFF"/>
                    </a:solidFill>
                  </a:tcPr>
                </a:tc>
                <a:tc>
                  <a:txBody>
                    <a:bodyPr/>
                    <a:lstStyle/>
                    <a:p>
                      <a:pPr algn="ctr">
                        <a:defRPr sz="1000">
                          <a:latin typeface="Montserrat"/>
                        </a:defRPr>
                      </a:pPr>
                      <a:r>
                        <a:t>59%</a:t>
                      </a:r>
                    </a:p>
                  </a:txBody>
                  <a:tcPr>
                    <a:solidFill>
                      <a:srgbClr val="FFFFFF"/>
                    </a:solidFill>
                  </a:tcPr>
                </a:tc>
                <a:tc>
                  <a:txBody>
                    <a:bodyPr/>
                    <a:lstStyle/>
                    <a:p>
                      <a:pPr algn="ctr">
                        <a:defRPr sz="1000">
                          <a:latin typeface="Montserrat"/>
                        </a:defRPr>
                      </a:pPr>
                      <a:r>
                        <a:t>9%</a:t>
                      </a:r>
                    </a:p>
                  </a:txBody>
                  <a:tcPr>
                    <a:solidFill>
                      <a:srgbClr val="FFFFFF"/>
                    </a:solidFill>
                  </a:tcPr>
                </a:tc>
              </a:tr>
              <a:tr h="360000">
                <a:tc>
                  <a:txBody>
                    <a:bodyPr/>
                    <a:lstStyle/>
                    <a:p>
                      <a:pPr algn="ctr">
                        <a:defRPr sz="1000">
                          <a:latin typeface="Montserrat"/>
                        </a:defRPr>
                      </a:pPr>
                      <a:r>
                        <a:t>Consulta de especialidad</a:t>
                      </a:r>
                    </a:p>
                  </a:txBody>
                  <a:tcPr>
                    <a:solidFill>
                      <a:srgbClr val="EFEFEF"/>
                    </a:solidFill>
                  </a:tcPr>
                </a:tc>
                <a:tc>
                  <a:txBody>
                    <a:bodyPr/>
                    <a:lstStyle/>
                    <a:p>
                      <a:pPr algn="ctr">
                        <a:defRPr sz="1000">
                          <a:latin typeface="Montserrat"/>
                        </a:defRPr>
                      </a:pPr>
                      <a:r>
                        <a:t>486,180</a:t>
                      </a:r>
                    </a:p>
                  </a:txBody>
                  <a:tcPr>
                    <a:solidFill>
                      <a:srgbClr val="EFEFEF"/>
                    </a:solidFill>
                  </a:tcPr>
                </a:tc>
                <a:tc>
                  <a:txBody>
                    <a:bodyPr/>
                    <a:lstStyle/>
                    <a:p>
                      <a:pPr algn="ctr">
                        <a:defRPr sz="1000">
                          <a:latin typeface="Montserrat"/>
                        </a:defRPr>
                      </a:pPr>
                      <a:r>
                        <a:t>77,054</a:t>
                      </a:r>
                    </a:p>
                  </a:txBody>
                  <a:tcPr>
                    <a:solidFill>
                      <a:srgbClr val="EFEFEF"/>
                    </a:solidFill>
                  </a:tcPr>
                </a:tc>
                <a:tc>
                  <a:txBody>
                    <a:bodyPr/>
                    <a:lstStyle/>
                    <a:p>
                      <a:pPr algn="ctr">
                        <a:defRPr sz="1000">
                          <a:latin typeface="Montserrat"/>
                        </a:defRPr>
                      </a:pPr>
                      <a:r>
                        <a:t>35,024</a:t>
                      </a:r>
                    </a:p>
                  </a:txBody>
                  <a:tcPr>
                    <a:solidFill>
                      <a:srgbClr val="EFEFEF"/>
                    </a:solidFill>
                  </a:tcPr>
                </a:tc>
                <a:tc>
                  <a:txBody>
                    <a:bodyPr/>
                    <a:lstStyle/>
                    <a:p>
                      <a:pPr algn="ctr">
                        <a:defRPr sz="1000">
                          <a:latin typeface="Montserrat"/>
                        </a:defRPr>
                      </a:pPr>
                      <a:r>
                        <a:t>45%</a:t>
                      </a:r>
                    </a:p>
                  </a:txBody>
                  <a:tcPr>
                    <a:solidFill>
                      <a:srgbClr val="EFEFEF"/>
                    </a:solidFill>
                  </a:tcPr>
                </a:tc>
                <a:tc>
                  <a:txBody>
                    <a:bodyPr/>
                    <a:lstStyle/>
                    <a:p>
                      <a:pPr algn="ctr">
                        <a:defRPr sz="1000">
                          <a:latin typeface="Montserrat"/>
                        </a:defRPr>
                      </a:pPr>
                      <a:r>
                        <a:t>7%</a:t>
                      </a:r>
                    </a:p>
                  </a:txBody>
                  <a:tcPr>
                    <a:solidFill>
                      <a:srgbClr val="EFEFEF"/>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47ECCB65-5E51-65E2-D82B-1623D1CC8DFA}"/>
              </a:ext>
            </a:extLst>
          </p:cNvPr>
          <p:cNvGraphicFramePr/>
          <p:nvPr>
            <p:extLst>
              <p:ext uri="{D42A27DB-BD31-4B8C-83A1-F6EECF244321}">
                <p14:modId xmlns:p14="http://schemas.microsoft.com/office/powerpoint/2010/main" val="242188797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Lista de espera</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Noto Sans"/>
              </a:defRPr>
            </a:pPr>
            <a:r>
              <a:t>Corte de información: semana 9, febrero 2026</a:t>
            </a:r>
          </a:p>
        </p:txBody>
      </p:sp>
      <p:graphicFrame>
        <p:nvGraphicFramePr>
          <p:cNvPr id="5" name="Table 4"/>
          <p:cNvGraphicFramePr>
            <a:graphicFrameLocks noGrp="1"/>
          </p:cNvGraphicFramePr>
          <p:nvPr/>
        </p:nvGraphicFramePr>
        <p:xfrm>
          <a:off x="1584000" y="1591200"/>
          <a:ext cx="5040000" cy="3456000"/>
        </p:xfrm>
        <a:graphic>
          <a:graphicData uri="http://schemas.openxmlformats.org/drawingml/2006/table">
            <a:tbl>
              <a:tblPr firstRow="1" bandRow="1">
                <a:tableStyleId>{5C22544A-7EE6-4342-B048-85BDC9FD1C3A}</a:tableStyleId>
              </a:tblPr>
              <a:tblGrid>
                <a:gridCol w="3600000"/>
                <a:gridCol w="1440000"/>
              </a:tblGrid>
              <a:tr h="288000">
                <a:tc>
                  <a:txBody>
                    <a:bodyPr/>
                    <a:lstStyle/>
                    <a:p>
                      <a:pPr algn="ctr">
                        <a:defRPr b="1" sz="1100">
                          <a:solidFill>
                            <a:srgbClr val="FFFFFF"/>
                          </a:solidFill>
                          <a:latin typeface="Montserrat"/>
                        </a:defRPr>
                      </a:pPr>
                      <a:r>
                        <a:t>Especialidad</a:t>
                      </a:r>
                    </a:p>
                  </a:txBody>
                  <a:tcPr marL="14400" marR="14400">
                    <a:solidFill>
                      <a:srgbClr val="006455"/>
                    </a:solidFill>
                  </a:tcPr>
                </a:tc>
                <a:tc>
                  <a:txBody>
                    <a:bodyPr/>
                    <a:lstStyle/>
                    <a:p>
                      <a:pPr algn="ctr">
                        <a:defRPr b="1" sz="1100">
                          <a:solidFill>
                            <a:srgbClr val="FFFFFF"/>
                          </a:solidFill>
                          <a:latin typeface="Montserrat"/>
                        </a:defRPr>
                      </a:pPr>
                      <a:r>
                        <a:t>Total</a:t>
                      </a:r>
                    </a:p>
                  </a:txBody>
                  <a:tcPr marL="14400" marR="14400">
                    <a:solidFill>
                      <a:srgbClr val="006455"/>
                    </a:solidFill>
                  </a:tcPr>
                </a:tc>
              </a:tr>
              <a:tr h="288000">
                <a:tc>
                  <a:txBody>
                    <a:bodyPr/>
                    <a:lstStyle/>
                    <a:p>
                      <a:pPr algn="l">
                        <a:defRPr sz="1000">
                          <a:latin typeface="Montserrat"/>
                        </a:defRPr>
                      </a:pPr>
                      <a:r>
                        <a:t>Cirugía General</a:t>
                      </a:r>
                    </a:p>
                  </a:txBody>
                  <a:tcPr>
                    <a:solidFill>
                      <a:srgbClr val="FFFFFF"/>
                    </a:solidFill>
                  </a:tcPr>
                </a:tc>
                <a:tc>
                  <a:txBody>
                    <a:bodyPr/>
                    <a:lstStyle/>
                    <a:p>
                      <a:pPr algn="ctr">
                        <a:defRPr sz="1000">
                          <a:latin typeface="Montserrat"/>
                        </a:defRPr>
                      </a:pPr>
                      <a:r>
                        <a:t>1,570</a:t>
                      </a:r>
                    </a:p>
                  </a:txBody>
                  <a:tcPr>
                    <a:solidFill>
                      <a:srgbClr val="FFFFFF"/>
                    </a:solidFill>
                  </a:tcPr>
                </a:tc>
              </a:tr>
              <a:tr h="288000">
                <a:tc>
                  <a:txBody>
                    <a:bodyPr/>
                    <a:lstStyle/>
                    <a:p>
                      <a:pPr algn="l">
                        <a:defRPr sz="1000">
                          <a:latin typeface="Montserrat"/>
                        </a:defRPr>
                      </a:pPr>
                      <a:r>
                        <a:t>Traumatología y ortopedia</a:t>
                      </a:r>
                    </a:p>
                  </a:txBody>
                  <a:tcPr>
                    <a:solidFill>
                      <a:srgbClr val="D9D9D9"/>
                    </a:solidFill>
                  </a:tcPr>
                </a:tc>
                <a:tc>
                  <a:txBody>
                    <a:bodyPr/>
                    <a:lstStyle/>
                    <a:p>
                      <a:pPr algn="ctr">
                        <a:defRPr sz="1000">
                          <a:latin typeface="Montserrat"/>
                        </a:defRPr>
                      </a:pPr>
                      <a:r>
                        <a:t>968</a:t>
                      </a:r>
                    </a:p>
                  </a:txBody>
                  <a:tcPr>
                    <a:solidFill>
                      <a:srgbClr val="D9D9D9"/>
                    </a:solidFill>
                  </a:tcPr>
                </a:tc>
              </a:tr>
              <a:tr h="288000">
                <a:tc>
                  <a:txBody>
                    <a:bodyPr/>
                    <a:lstStyle/>
                    <a:p>
                      <a:pPr algn="l">
                        <a:defRPr sz="1000">
                          <a:latin typeface="Montserrat"/>
                        </a:defRPr>
                      </a:pPr>
                      <a:r>
                        <a:t>Oftalmología</a:t>
                      </a:r>
                    </a:p>
                  </a:txBody>
                  <a:tcPr>
                    <a:solidFill>
                      <a:srgbClr val="FFFFFF"/>
                    </a:solidFill>
                  </a:tcPr>
                </a:tc>
                <a:tc>
                  <a:txBody>
                    <a:bodyPr/>
                    <a:lstStyle/>
                    <a:p>
                      <a:pPr algn="ctr">
                        <a:defRPr sz="1000">
                          <a:latin typeface="Montserrat"/>
                        </a:defRPr>
                      </a:pPr>
                      <a:r>
                        <a:t>343</a:t>
                      </a:r>
                    </a:p>
                  </a:txBody>
                  <a:tcPr>
                    <a:solidFill>
                      <a:srgbClr val="FFFFFF"/>
                    </a:solidFill>
                  </a:tcPr>
                </a:tc>
              </a:tr>
              <a:tr h="288000">
                <a:tc>
                  <a:txBody>
                    <a:bodyPr/>
                    <a:lstStyle/>
                    <a:p>
                      <a:pPr algn="l">
                        <a:defRPr sz="1000">
                          <a:latin typeface="Montserrat"/>
                        </a:defRPr>
                      </a:pPr>
                      <a:r>
                        <a:t>Urología  </a:t>
                      </a:r>
                    </a:p>
                  </a:txBody>
                  <a:tcPr>
                    <a:solidFill>
                      <a:srgbClr val="D9D9D9"/>
                    </a:solidFill>
                  </a:tcPr>
                </a:tc>
                <a:tc>
                  <a:txBody>
                    <a:bodyPr/>
                    <a:lstStyle/>
                    <a:p>
                      <a:pPr algn="ctr">
                        <a:defRPr sz="1000">
                          <a:latin typeface="Montserrat"/>
                        </a:defRPr>
                      </a:pPr>
                      <a:r>
                        <a:t>306</a:t>
                      </a:r>
                    </a:p>
                  </a:txBody>
                  <a:tcPr>
                    <a:solidFill>
                      <a:srgbClr val="D9D9D9"/>
                    </a:solidFill>
                  </a:tcPr>
                </a:tc>
              </a:tr>
              <a:tr h="288000">
                <a:tc>
                  <a:txBody>
                    <a:bodyPr/>
                    <a:lstStyle/>
                    <a:p>
                      <a:pPr algn="l">
                        <a:defRPr sz="1000">
                          <a:latin typeface="Montserrat"/>
                        </a:defRPr>
                      </a:pPr>
                      <a:r>
                        <a:t>Ginecología</a:t>
                      </a:r>
                    </a:p>
                  </a:txBody>
                  <a:tcPr>
                    <a:solidFill>
                      <a:srgbClr val="FFFFFF"/>
                    </a:solidFill>
                  </a:tcPr>
                </a:tc>
                <a:tc>
                  <a:txBody>
                    <a:bodyPr/>
                    <a:lstStyle/>
                    <a:p>
                      <a:pPr algn="ctr">
                        <a:defRPr sz="1000">
                          <a:latin typeface="Montserrat"/>
                        </a:defRPr>
                      </a:pPr>
                      <a:r>
                        <a:t>241</a:t>
                      </a:r>
                    </a:p>
                  </a:txBody>
                  <a:tcPr>
                    <a:solidFill>
                      <a:srgbClr val="FFFFFF"/>
                    </a:solidFill>
                  </a:tcPr>
                </a:tc>
              </a:tr>
              <a:tr h="288000">
                <a:tc>
                  <a:txBody>
                    <a:bodyPr/>
                    <a:lstStyle/>
                    <a:p>
                      <a:pPr algn="l">
                        <a:defRPr sz="1000">
                          <a:latin typeface="Montserrat"/>
                        </a:defRPr>
                      </a:pPr>
                      <a:r>
                        <a:t>Cirugía Plástica y Reconstructiva</a:t>
                      </a:r>
                    </a:p>
                  </a:txBody>
                  <a:tcPr>
                    <a:solidFill>
                      <a:srgbClr val="D9D9D9"/>
                    </a:solidFill>
                  </a:tcPr>
                </a:tc>
                <a:tc>
                  <a:txBody>
                    <a:bodyPr/>
                    <a:lstStyle/>
                    <a:p>
                      <a:pPr algn="ctr">
                        <a:defRPr sz="1000">
                          <a:latin typeface="Montserrat"/>
                        </a:defRPr>
                      </a:pPr>
                      <a:r>
                        <a:t>239</a:t>
                      </a:r>
                    </a:p>
                  </a:txBody>
                  <a:tcPr>
                    <a:solidFill>
                      <a:srgbClr val="D9D9D9"/>
                    </a:solidFill>
                  </a:tcPr>
                </a:tc>
              </a:tr>
              <a:tr h="288000">
                <a:tc>
                  <a:txBody>
                    <a:bodyPr/>
                    <a:lstStyle/>
                    <a:p>
                      <a:pPr algn="l">
                        <a:defRPr sz="1000">
                          <a:latin typeface="Montserrat"/>
                        </a:defRPr>
                      </a:pPr>
                      <a:r>
                        <a:t>Cirugía oncológica</a:t>
                      </a:r>
                    </a:p>
                  </a:txBody>
                  <a:tcPr>
                    <a:solidFill>
                      <a:srgbClr val="FFFFFF"/>
                    </a:solidFill>
                  </a:tcPr>
                </a:tc>
                <a:tc>
                  <a:txBody>
                    <a:bodyPr/>
                    <a:lstStyle/>
                    <a:p>
                      <a:pPr algn="ctr">
                        <a:defRPr sz="1000">
                          <a:latin typeface="Montserrat"/>
                        </a:defRPr>
                      </a:pPr>
                      <a:r>
                        <a:t>141</a:t>
                      </a:r>
                    </a:p>
                  </a:txBody>
                  <a:tcPr>
                    <a:solidFill>
                      <a:srgbClr val="FFFFFF"/>
                    </a:solidFill>
                  </a:tcPr>
                </a:tc>
              </a:tr>
              <a:tr h="288000">
                <a:tc>
                  <a:txBody>
                    <a:bodyPr/>
                    <a:lstStyle/>
                    <a:p>
                      <a:pPr algn="l">
                        <a:defRPr sz="1000">
                          <a:latin typeface="Montserrat"/>
                        </a:defRPr>
                      </a:pPr>
                      <a:r>
                        <a:t>Cirugía Pediátrica  </a:t>
                      </a:r>
                    </a:p>
                  </a:txBody>
                  <a:tcPr>
                    <a:solidFill>
                      <a:srgbClr val="D9D9D9"/>
                    </a:solidFill>
                  </a:tcPr>
                </a:tc>
                <a:tc>
                  <a:txBody>
                    <a:bodyPr/>
                    <a:lstStyle/>
                    <a:p>
                      <a:pPr algn="ctr">
                        <a:defRPr sz="1000">
                          <a:latin typeface="Montserrat"/>
                        </a:defRPr>
                      </a:pPr>
                      <a:r>
                        <a:t>76</a:t>
                      </a:r>
                    </a:p>
                  </a:txBody>
                  <a:tcPr>
                    <a:solidFill>
                      <a:srgbClr val="D9D9D9"/>
                    </a:solidFill>
                  </a:tcPr>
                </a:tc>
              </a:tr>
              <a:tr h="288000">
                <a:tc>
                  <a:txBody>
                    <a:bodyPr/>
                    <a:lstStyle/>
                    <a:p>
                      <a:pPr algn="l">
                        <a:defRPr sz="1000">
                          <a:latin typeface="Montserrat"/>
                        </a:defRPr>
                      </a:pPr>
                      <a:r>
                        <a:t>Obstetricia</a:t>
                      </a:r>
                    </a:p>
                  </a:txBody>
                  <a:tcPr>
                    <a:solidFill>
                      <a:srgbClr val="FFFFFF"/>
                    </a:solidFill>
                  </a:tcPr>
                </a:tc>
                <a:tc>
                  <a:txBody>
                    <a:bodyPr/>
                    <a:lstStyle/>
                    <a:p>
                      <a:pPr algn="ctr">
                        <a:defRPr sz="1000">
                          <a:latin typeface="Montserrat"/>
                        </a:defRPr>
                      </a:pPr>
                      <a:r>
                        <a:t>68</a:t>
                      </a:r>
                    </a:p>
                  </a:txBody>
                  <a:tcPr>
                    <a:solidFill>
                      <a:srgbClr val="FFFFFF"/>
                    </a:solidFill>
                  </a:tcPr>
                </a:tc>
              </a:tr>
              <a:tr h="288000">
                <a:tc>
                  <a:txBody>
                    <a:bodyPr/>
                    <a:lstStyle/>
                    <a:p>
                      <a:pPr algn="l">
                        <a:defRPr sz="1000">
                          <a:latin typeface="Montserrat"/>
                        </a:defRPr>
                      </a:pPr>
                      <a:r>
                        <a:t>Angiología y Cirugía Vascular</a:t>
                      </a:r>
                    </a:p>
                  </a:txBody>
                  <a:tcPr>
                    <a:solidFill>
                      <a:srgbClr val="D9D9D9"/>
                    </a:solidFill>
                  </a:tcPr>
                </a:tc>
                <a:tc>
                  <a:txBody>
                    <a:bodyPr/>
                    <a:lstStyle/>
                    <a:p>
                      <a:pPr algn="ctr">
                        <a:defRPr sz="1000">
                          <a:latin typeface="Montserrat"/>
                        </a:defRPr>
                      </a:pPr>
                      <a:r>
                        <a:t>59</a:t>
                      </a:r>
                    </a:p>
                  </a:txBody>
                  <a:tcPr>
                    <a:solidFill>
                      <a:srgbClr val="D9D9D9"/>
                    </a:solidFill>
                  </a:tcPr>
                </a:tc>
              </a:tr>
              <a:tr h="288000">
                <a:tc>
                  <a:txBody>
                    <a:bodyPr/>
                    <a:lstStyle/>
                    <a:p>
                      <a:pPr algn="r">
                        <a:defRPr sz="1000" b="1">
                          <a:solidFill>
                            <a:srgbClr val="008C8C"/>
                          </a:solidFill>
                          <a:latin typeface="Montserrat"/>
                        </a:defRPr>
                      </a:pPr>
                      <a:r>
                        <a:t>Total</a:t>
                      </a:r>
                    </a:p>
                  </a:txBody>
                  <a:tcPr>
                    <a:solidFill>
                      <a:srgbClr val="CBE6E1"/>
                    </a:solidFill>
                  </a:tcPr>
                </a:tc>
                <a:tc>
                  <a:txBody>
                    <a:bodyPr/>
                    <a:lstStyle/>
                    <a:p>
                      <a:pPr algn="ctr">
                        <a:defRPr sz="1000" b="1">
                          <a:solidFill>
                            <a:srgbClr val="008C8C"/>
                          </a:solidFill>
                          <a:latin typeface="Montserrat"/>
                        </a:defRPr>
                      </a:pPr>
                      <a:r>
                        <a:t>4,011</a:t>
                      </a:r>
                    </a:p>
                  </a:txBody>
                  <a:tcPr>
                    <a:solidFill>
                      <a:srgbClr val="CBE6E1"/>
                    </a:solidFill>
                  </a:tcPr>
                </a:tc>
              </a:tr>
            </a:tbl>
          </a:graphicData>
        </a:graphic>
      </p:graphicFrame>
      <p:graphicFrame>
        <p:nvGraphicFramePr>
          <p:cNvPr id="6" name="Table 5"/>
          <p:cNvGraphicFramePr>
            <a:graphicFrameLocks noGrp="1"/>
          </p:cNvGraphicFramePr>
          <p:nvPr/>
        </p:nvGraphicFramePr>
        <p:xfrm>
          <a:off x="1584000" y="6083999"/>
          <a:ext cx="5040000" cy="2592000"/>
        </p:xfrm>
        <a:graphic>
          <a:graphicData uri="http://schemas.openxmlformats.org/drawingml/2006/table">
            <a:tbl>
              <a:tblPr firstRow="1" bandRow="1">
                <a:tableStyleId>{5C22544A-7EE6-4342-B048-85BDC9FD1C3A}</a:tableStyleId>
              </a:tblPr>
              <a:tblGrid>
                <a:gridCol w="3600000"/>
                <a:gridCol w="1440000"/>
              </a:tblGrid>
              <a:tr h="288000">
                <a:tc>
                  <a:txBody>
                    <a:bodyPr/>
                    <a:lstStyle/>
                    <a:p>
                      <a:pPr algn="ctr">
                        <a:defRPr b="1" sz="1100">
                          <a:solidFill>
                            <a:srgbClr val="FFFFFF"/>
                          </a:solidFill>
                          <a:latin typeface="Montserrat"/>
                        </a:defRPr>
                      </a:pPr>
                      <a:r>
                        <a:t>Cirugía prioritaria</a:t>
                      </a:r>
                    </a:p>
                  </a:txBody>
                  <a:tcPr marL="14400" marR="14400">
                    <a:solidFill>
                      <a:srgbClr val="006455"/>
                    </a:solidFill>
                  </a:tcPr>
                </a:tc>
                <a:tc>
                  <a:txBody>
                    <a:bodyPr/>
                    <a:lstStyle/>
                    <a:p>
                      <a:pPr algn="ctr">
                        <a:defRPr b="1" sz="1100">
                          <a:solidFill>
                            <a:srgbClr val="FFFFFF"/>
                          </a:solidFill>
                          <a:latin typeface="Montserrat"/>
                        </a:defRPr>
                      </a:pPr>
                      <a:r>
                        <a:t>Total</a:t>
                      </a:r>
                    </a:p>
                  </a:txBody>
                  <a:tcPr marL="14400" marR="14400">
                    <a:solidFill>
                      <a:srgbClr val="006455"/>
                    </a:solidFill>
                  </a:tcPr>
                </a:tc>
              </a:tr>
              <a:tr h="288000">
                <a:tc>
                  <a:txBody>
                    <a:bodyPr/>
                    <a:lstStyle/>
                    <a:p>
                      <a:pPr algn="l">
                        <a:defRPr sz="1000">
                          <a:latin typeface="Montserrat"/>
                        </a:defRPr>
                      </a:pPr>
                      <a:r>
                        <a:t>Colecistectomías</a:t>
                      </a:r>
                    </a:p>
                  </a:txBody>
                  <a:tcPr>
                    <a:solidFill>
                      <a:srgbClr val="FFFFFF"/>
                    </a:solidFill>
                  </a:tcPr>
                </a:tc>
                <a:tc>
                  <a:txBody>
                    <a:bodyPr/>
                    <a:lstStyle/>
                    <a:p>
                      <a:pPr algn="ctr">
                        <a:defRPr sz="1000">
                          <a:latin typeface="Montserrat"/>
                        </a:defRPr>
                      </a:pPr>
                      <a:r>
                        <a:t>365</a:t>
                      </a:r>
                    </a:p>
                  </a:txBody>
                  <a:tcPr>
                    <a:solidFill>
                      <a:srgbClr val="FFFFFF"/>
                    </a:solidFill>
                  </a:tcPr>
                </a:tc>
              </a:tr>
              <a:tr h="288000">
                <a:tc>
                  <a:txBody>
                    <a:bodyPr/>
                    <a:lstStyle/>
                    <a:p>
                      <a:pPr algn="l">
                        <a:defRPr sz="1000">
                          <a:latin typeface="Montserrat"/>
                        </a:defRPr>
                      </a:pPr>
                      <a:r>
                        <a:t>Catarata</a:t>
                      </a:r>
                    </a:p>
                  </a:txBody>
                  <a:tcPr>
                    <a:solidFill>
                      <a:srgbClr val="D9D9D9"/>
                    </a:solidFill>
                  </a:tcPr>
                </a:tc>
                <a:tc>
                  <a:txBody>
                    <a:bodyPr/>
                    <a:lstStyle/>
                    <a:p>
                      <a:pPr algn="ctr">
                        <a:defRPr sz="1000">
                          <a:latin typeface="Montserrat"/>
                        </a:defRPr>
                      </a:pPr>
                      <a:r>
                        <a:t>337</a:t>
                      </a:r>
                    </a:p>
                  </a:txBody>
                  <a:tcPr>
                    <a:solidFill>
                      <a:srgbClr val="D9D9D9"/>
                    </a:solidFill>
                  </a:tcPr>
                </a:tc>
              </a:tr>
              <a:tr h="288000">
                <a:tc>
                  <a:txBody>
                    <a:bodyPr/>
                    <a:lstStyle/>
                    <a:p>
                      <a:pPr algn="l">
                        <a:defRPr sz="1000">
                          <a:latin typeface="Montserrat"/>
                        </a:defRPr>
                      </a:pPr>
                      <a:r>
                        <a:t>Hernioplastías abdominales</a:t>
                      </a:r>
                    </a:p>
                  </a:txBody>
                  <a:tcPr>
                    <a:solidFill>
                      <a:srgbClr val="FFFFFF"/>
                    </a:solidFill>
                  </a:tcPr>
                </a:tc>
                <a:tc>
                  <a:txBody>
                    <a:bodyPr/>
                    <a:lstStyle/>
                    <a:p>
                      <a:pPr algn="ctr">
                        <a:defRPr sz="1000">
                          <a:latin typeface="Montserrat"/>
                        </a:defRPr>
                      </a:pPr>
                      <a:r>
                        <a:t>177</a:t>
                      </a:r>
                    </a:p>
                  </a:txBody>
                  <a:tcPr>
                    <a:solidFill>
                      <a:srgbClr val="FFFFFF"/>
                    </a:solidFill>
                  </a:tcPr>
                </a:tc>
              </a:tr>
              <a:tr h="288000">
                <a:tc>
                  <a:txBody>
                    <a:bodyPr/>
                    <a:lstStyle/>
                    <a:p>
                      <a:pPr algn="l">
                        <a:defRPr sz="1000">
                          <a:latin typeface="Montserrat"/>
                        </a:defRPr>
                      </a:pPr>
                      <a:r>
                        <a:t>Sustitución de rodilla</a:t>
                      </a:r>
                    </a:p>
                  </a:txBody>
                  <a:tcPr>
                    <a:solidFill>
                      <a:srgbClr val="D9D9D9"/>
                    </a:solidFill>
                  </a:tcPr>
                </a:tc>
                <a:tc>
                  <a:txBody>
                    <a:bodyPr/>
                    <a:lstStyle/>
                    <a:p>
                      <a:pPr algn="ctr">
                        <a:defRPr sz="1000">
                          <a:latin typeface="Montserrat"/>
                        </a:defRPr>
                      </a:pPr>
                      <a:r>
                        <a:t>154</a:t>
                      </a:r>
                    </a:p>
                  </a:txBody>
                  <a:tcPr>
                    <a:solidFill>
                      <a:srgbClr val="D9D9D9"/>
                    </a:solidFill>
                  </a:tcPr>
                </a:tc>
              </a:tr>
              <a:tr h="288000">
                <a:tc>
                  <a:txBody>
                    <a:bodyPr/>
                    <a:lstStyle/>
                    <a:p>
                      <a:pPr algn="l">
                        <a:defRPr sz="1000">
                          <a:latin typeface="Montserrat"/>
                        </a:defRPr>
                      </a:pPr>
                      <a:r>
                        <a:t>Histerectomías</a:t>
                      </a:r>
                    </a:p>
                  </a:txBody>
                  <a:tcPr>
                    <a:solidFill>
                      <a:srgbClr val="FFFFFF"/>
                    </a:solidFill>
                  </a:tcPr>
                </a:tc>
                <a:tc>
                  <a:txBody>
                    <a:bodyPr/>
                    <a:lstStyle/>
                    <a:p>
                      <a:pPr algn="ctr">
                        <a:defRPr sz="1000">
                          <a:latin typeface="Montserrat"/>
                        </a:defRPr>
                      </a:pPr>
                      <a:r>
                        <a:t>55</a:t>
                      </a:r>
                    </a:p>
                  </a:txBody>
                  <a:tcPr>
                    <a:solidFill>
                      <a:srgbClr val="FFFFFF"/>
                    </a:solidFill>
                  </a:tcPr>
                </a:tc>
              </a:tr>
              <a:tr h="288000">
                <a:tc>
                  <a:txBody>
                    <a:bodyPr/>
                    <a:lstStyle/>
                    <a:p>
                      <a:pPr algn="l">
                        <a:defRPr sz="1000">
                          <a:latin typeface="Montserrat"/>
                        </a:defRPr>
                      </a:pPr>
                      <a:r>
                        <a:t>Sustitución de cadera</a:t>
                      </a:r>
                    </a:p>
                  </a:txBody>
                  <a:tcPr>
                    <a:solidFill>
                      <a:srgbClr val="D9D9D9"/>
                    </a:solidFill>
                  </a:tcPr>
                </a:tc>
                <a:tc>
                  <a:txBody>
                    <a:bodyPr/>
                    <a:lstStyle/>
                    <a:p>
                      <a:pPr algn="ctr">
                        <a:defRPr sz="1000">
                          <a:latin typeface="Montserrat"/>
                        </a:defRPr>
                      </a:pPr>
                      <a:r>
                        <a:t>50</a:t>
                      </a:r>
                    </a:p>
                  </a:txBody>
                  <a:tcPr>
                    <a:solidFill>
                      <a:srgbClr val="D9D9D9"/>
                    </a:solidFill>
                  </a:tcPr>
                </a:tc>
              </a:tr>
              <a:tr h="288000">
                <a:tc>
                  <a:txBody>
                    <a:bodyPr/>
                    <a:lstStyle/>
                    <a:p>
                      <a:pPr algn="l">
                        <a:defRPr sz="1000">
                          <a:latin typeface="Montserrat"/>
                        </a:defRPr>
                      </a:pPr>
                      <a:r>
                        <a:t>Mastectomías</a:t>
                      </a:r>
                    </a:p>
                  </a:txBody>
                  <a:tcPr>
                    <a:solidFill>
                      <a:srgbClr val="FFFFFF"/>
                    </a:solidFill>
                  </a:tcPr>
                </a:tc>
                <a:tc>
                  <a:txBody>
                    <a:bodyPr/>
                    <a:lstStyle/>
                    <a:p>
                      <a:pPr algn="ctr">
                        <a:defRPr sz="1000">
                          <a:latin typeface="Montserrat"/>
                        </a:defRPr>
                      </a:pPr>
                      <a:r>
                        <a:t>27</a:t>
                      </a:r>
                    </a:p>
                  </a:txBody>
                  <a:tcPr>
                    <a:solidFill>
                      <a:srgbClr val="FFFFFF"/>
                    </a:solidFill>
                  </a:tcPr>
                </a:tc>
              </a:tr>
              <a:tr h="288000">
                <a:tc>
                  <a:txBody>
                    <a:bodyPr/>
                    <a:lstStyle/>
                    <a:p>
                      <a:pPr algn="r">
                        <a:defRPr sz="1000" b="1">
                          <a:solidFill>
                            <a:srgbClr val="008C8C"/>
                          </a:solidFill>
                          <a:latin typeface="Montserrat"/>
                        </a:defRPr>
                      </a:pPr>
                      <a:r>
                        <a:t>Total</a:t>
                      </a:r>
                    </a:p>
                  </a:txBody>
                  <a:tcPr>
                    <a:solidFill>
                      <a:srgbClr val="CBE6E1"/>
                    </a:solidFill>
                  </a:tcPr>
                </a:tc>
                <a:tc>
                  <a:txBody>
                    <a:bodyPr/>
                    <a:lstStyle/>
                    <a:p>
                      <a:pPr algn="ctr">
                        <a:defRPr sz="1000" b="1">
                          <a:solidFill>
                            <a:srgbClr val="008C8C"/>
                          </a:solidFill>
                          <a:latin typeface="Montserrat"/>
                        </a:defRPr>
                      </a:pPr>
                      <a:r>
                        <a:t>1,165</a:t>
                      </a:r>
                    </a:p>
                  </a:txBody>
                  <a:tcPr>
                    <a:solidFill>
                      <a:srgbClr val="CBE6E1"/>
                    </a:solidFill>
                  </a:tcPr>
                </a:tc>
              </a:tr>
            </a:tbl>
          </a:graphicData>
        </a:graphic>
      </p:graphicFrame>
    </p:spTree>
    <p:extLst>
      <p:ext uri="{BB962C8B-B14F-4D97-AF65-F5344CB8AC3E}">
        <p14:creationId xmlns:p14="http://schemas.microsoft.com/office/powerpoint/2010/main" val="2277926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MORELOS</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4,707	 Personal de Salud: 7,946</a:t>
            </a:r>
          </a:p>
        </p:txBody>
      </p:sp>
      <p:cxnSp>
        <p:nvCxnSpPr>
          <p:cNvPr id="298" name="Connector 297"/>
          <p:cNvCxnSpPr/>
          <p:nvPr/>
        </p:nvCxnSpPr>
        <p:spPr>
          <a:xfrm>
            <a:off x="137160" y="1106424"/>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+68.1%</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47</a:t>
                      </a:r>
                    </a:p>
                  </a:txBody>
                  <a:tcPr marL="0" marR="0" marT="0" marB="0">
                    <a:noFill/>
                  </a:tcPr>
                </a:tc>
                <a:tc>
                  <a:txBody>
                    <a:bodyPr/>
                    <a:lstStyle/>
                    <a:p>
                      <a:pPr algn="ctr">
                        <a:defRPr b="1" sz="1500">
                          <a:solidFill>
                            <a:srgbClr val="B4975A"/>
                          </a:solidFill>
                          <a:latin typeface="Montserrat"/>
                        </a:defRPr>
                      </a:pPr>
                      <a:r>
                        <a:t>79</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+32.1%</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825</a:t>
                      </a:r>
                    </a:p>
                  </a:txBody>
                  <a:tcPr marL="0" marR="0" marT="0" marB="0">
                    <a:noFill/>
                  </a:tcPr>
                </a:tc>
                <a:tc>
                  <a:txBody>
                    <a:bodyPr/>
                    <a:lstStyle/>
                    <a:p>
                      <a:pPr algn="ctr">
                        <a:defRPr b="1" sz="1500">
                          <a:solidFill>
                            <a:srgbClr val="B4975A"/>
                          </a:solidFill>
                          <a:latin typeface="Montserrat"/>
                        </a:defRPr>
                      </a:pPr>
                      <a:r>
                        <a:t>1,090</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+18.4%</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1,310</a:t>
                      </a:r>
                    </a:p>
                  </a:txBody>
                  <a:tcPr marL="0" marR="0" marT="0" marB="0">
                    <a:noFill/>
                  </a:tcPr>
                </a:tc>
                <a:tc>
                  <a:txBody>
                    <a:bodyPr/>
                    <a:lstStyle/>
                    <a:p>
                      <a:pPr algn="ctr">
                        <a:defRPr b="1" sz="1500">
                          <a:solidFill>
                            <a:srgbClr val="B4975A"/>
                          </a:solidFill>
                          <a:latin typeface="Montserrat"/>
                        </a:defRPr>
                      </a:pPr>
                      <a:r>
                        <a:t>1,551</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+19.6%</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984</a:t>
                      </a:r>
                    </a:p>
                  </a:txBody>
                  <a:tcPr marL="0" marR="0" marT="0" marB="0">
                    <a:noFill/>
                  </a:tcPr>
                </a:tc>
                <a:tc>
                  <a:txBody>
                    <a:bodyPr/>
                    <a:lstStyle/>
                    <a:p>
                      <a:pPr algn="ctr">
                        <a:defRPr b="1" sz="1500">
                          <a:solidFill>
                            <a:srgbClr val="B4975A"/>
                          </a:solidFill>
                          <a:latin typeface="Montserrat"/>
                        </a:defRPr>
                      </a:pPr>
                      <a:r>
                        <a:t>1,177</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+114.5%</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110</a:t>
                      </a:r>
                    </a:p>
                  </a:txBody>
                  <a:tcPr marL="0" marR="0" marT="0" marB="0">
                    <a:noFill/>
                  </a:tcPr>
                </a:tc>
                <a:tc>
                  <a:txBody>
                    <a:bodyPr/>
                    <a:lstStyle/>
                    <a:p>
                      <a:pPr algn="ctr">
                        <a:defRPr b="1" sz="1500">
                          <a:solidFill>
                            <a:srgbClr val="B4975A"/>
                          </a:solidFill>
                          <a:latin typeface="Montserrat"/>
                        </a:defRPr>
                      </a:pPr>
                      <a:r>
                        <a:t>236</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-2.4%</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588</a:t>
                      </a:r>
                    </a:p>
                  </a:txBody>
                  <a:tcPr marL="0" marR="0" marT="0" marB="0">
                    <a:noFill/>
                  </a:tcPr>
                </a:tc>
                <a:tc>
                  <a:txBody>
                    <a:bodyPr/>
                    <a:lstStyle/>
                    <a:p>
                      <a:pPr algn="ctr">
                        <a:defRPr b="1" sz="1500">
                          <a:solidFill>
                            <a:srgbClr val="B4975A"/>
                          </a:solidFill>
                          <a:latin typeface="Montserrat"/>
                        </a:defRPr>
                      </a:pPr>
                      <a:r>
                        <a:t>574</a:t>
                      </a:r>
                    </a:p>
                  </a:txBody>
                  <a:tcPr marL="0" marR="0" marT="0" marB="0">
                    <a:noFill/>
                  </a:tcPr>
                </a:tc>
              </a:tr>
            </a:tbl>
          </a:graphicData>
        </a:graphic>
      </p:graphicFrame>
      <p:graphicFrame>
        <p:nvGraphicFramePr>
          <p:cNvPr id="317" name="Table 316"/>
          <p:cNvGraphicFramePr>
            <a:graphicFrameLocks noGrp="1"/>
          </p:cNvGraphicFramePr>
          <p:nvPr/>
        </p:nvGraphicFramePr>
        <p:xfrm>
          <a:off x="4837176" y="5513832"/>
          <a:ext cx="2843784" cy="91440"/>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900">
                          <a:latin typeface="Montserrat"/>
                        </a:defRPr>
                      </a:pPr>
                      <a:r>
                        <a:t>Medicina Familiar</a:t>
                      </a:r>
                    </a:p>
                  </a:txBody>
                  <a:tcPr marL="36576" marR="36576" marT="36576" marB="36576">
                    <a:solidFill>
                      <a:srgbClr val="FFFFFF"/>
                    </a:solidFill>
                  </a:tcPr>
                </a:tc>
                <a:tc>
                  <a:txBody>
                    <a:bodyPr/>
                    <a:lstStyle/>
                    <a:p>
                      <a:pPr algn="ctr">
                        <a:defRPr sz="900">
                          <a:latin typeface="Montserrat"/>
                        </a:defRPr>
                      </a:pPr>
                      <a:r>
                        <a:t>29</a:t>
                      </a:r>
                    </a:p>
                  </a:txBody>
                  <a:tcPr marL="36576" marR="36576" marT="36576" marB="36576">
                    <a:solidFill>
                      <a:srgbClr val="FFFFFF"/>
                    </a:solidFill>
                  </a:tcPr>
                </a:tc>
              </a:tr>
              <a:tr h="18288">
                <a:tc>
                  <a:txBody>
                    <a:bodyPr/>
                    <a:lstStyle/>
                    <a:p>
                      <a:pPr algn="l">
                        <a:defRPr sz="900">
                          <a:latin typeface="Montserrat"/>
                        </a:defRPr>
                      </a:pPr>
                      <a:r>
                        <a:t>Medicina de Urgencias</a:t>
                      </a:r>
                    </a:p>
                  </a:txBody>
                  <a:tcPr marL="36576" marR="36576" marT="36576" marB="36576">
                    <a:solidFill>
                      <a:srgbClr val="EFEFEF"/>
                    </a:solidFill>
                  </a:tcPr>
                </a:tc>
                <a:tc>
                  <a:txBody>
                    <a:bodyPr/>
                    <a:lstStyle/>
                    <a:p>
                      <a:pPr algn="ctr">
                        <a:defRPr sz="900">
                          <a:latin typeface="Montserrat"/>
                        </a:defRPr>
                      </a:pPr>
                      <a:r>
                        <a:t>16</a:t>
                      </a:r>
                    </a:p>
                  </a:txBody>
                  <a:tcPr marL="36576" marR="36576" marT="36576" marB="36576">
                    <a:solidFill>
                      <a:srgbClr val="EFEFEF"/>
                    </a:solidFill>
                  </a:tcPr>
                </a:tc>
              </a:tr>
              <a:tr h="18288">
                <a:tc>
                  <a:txBody>
                    <a:bodyPr/>
                    <a:lstStyle/>
                    <a:p>
                      <a:pPr algn="l">
                        <a:defRPr sz="900">
                          <a:latin typeface="Montserrat"/>
                        </a:defRPr>
                      </a:pPr>
                      <a:r>
                        <a:t>Medicina Interna</a:t>
                      </a:r>
                    </a:p>
                  </a:txBody>
                  <a:tcPr marL="36576" marR="36576" marT="36576" marB="36576">
                    <a:solidFill>
                      <a:srgbClr val="FFFFFF"/>
                    </a:solidFill>
                  </a:tcPr>
                </a:tc>
                <a:tc>
                  <a:txBody>
                    <a:bodyPr/>
                    <a:lstStyle/>
                    <a:p>
                      <a:pPr algn="ctr">
                        <a:defRPr sz="900">
                          <a:latin typeface="Montserrat"/>
                        </a:defRPr>
                      </a:pPr>
                      <a:r>
                        <a:t>8</a:t>
                      </a:r>
                    </a:p>
                  </a:txBody>
                  <a:tcPr marL="36576" marR="36576" marT="36576" marB="36576">
                    <a:solidFill>
                      <a:srgbClr val="FFFFFF"/>
                    </a:solidFill>
                  </a:tcPr>
                </a:tc>
              </a:tr>
              <a:tr h="18288">
                <a:tc>
                  <a:txBody>
                    <a:bodyPr/>
                    <a:lstStyle/>
                    <a:p>
                      <a:pPr algn="l">
                        <a:defRPr sz="900">
                          <a:latin typeface="Montserrat"/>
                        </a:defRPr>
                      </a:pPr>
                      <a:r>
                        <a:t>Cirugía General</a:t>
                      </a:r>
                    </a:p>
                  </a:txBody>
                  <a:tcPr marL="36576" marR="36576" marT="36576" marB="36576">
                    <a:solidFill>
                      <a:srgbClr val="EFEFEF"/>
                    </a:solidFill>
                  </a:tcPr>
                </a:tc>
                <a:tc>
                  <a:txBody>
                    <a:bodyPr/>
                    <a:lstStyle/>
                    <a:p>
                      <a:pPr algn="ctr">
                        <a:defRPr sz="900">
                          <a:latin typeface="Montserrat"/>
                        </a:defRPr>
                      </a:pPr>
                      <a:r>
                        <a:t>6</a:t>
                      </a:r>
                    </a:p>
                  </a:txBody>
                  <a:tcPr marL="36576" marR="36576" marT="36576" marB="36576">
                    <a:solidFill>
                      <a:srgbClr val="EFEFEF"/>
                    </a:solidFill>
                  </a:tcPr>
                </a:tc>
              </a:tr>
            </a:tbl>
          </a:graphicData>
        </a:graphic>
      </p:graphicFrame>
      <p:graphicFrame>
        <p:nvGraphicFramePr>
          <p:cNvPr id="318" name="Table 317"/>
          <p:cNvGraphicFramePr>
            <a:graphicFrameLocks noGrp="1"/>
          </p:cNvGraphicFramePr>
          <p:nvPr/>
        </p:nvGraphicFramePr>
        <p:xfrm>
          <a:off x="4837176" y="6848856"/>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2026</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900">
                          <a:latin typeface="Montserrat"/>
                        </a:defRPr>
                      </a:pPr>
                      <a:r>
                        <a:t>Medicina Familiar</a:t>
                      </a:r>
                    </a:p>
                  </a:txBody>
                  <a:tcPr marL="36576" marR="36576" marT="36576" marB="36576">
                    <a:solidFill>
                      <a:srgbClr val="FFFFFF"/>
                    </a:solidFill>
                  </a:tcPr>
                </a:tc>
                <a:tc>
                  <a:txBody>
                    <a:bodyPr/>
                    <a:lstStyle/>
                    <a:p>
                      <a:pPr algn="ctr">
                        <a:defRPr sz="900">
                          <a:latin typeface="Montserrat"/>
                        </a:defRPr>
                      </a:pPr>
                      <a:r>
                        <a:t>27</a:t>
                      </a:r>
                    </a:p>
                  </a:txBody>
                  <a:tcPr marL="36576" marR="36576" marT="36576" marB="36576">
                    <a:solidFill>
                      <a:srgbClr val="FFFFFF"/>
                    </a:solidFill>
                  </a:tcPr>
                </a:tc>
              </a:tr>
              <a:tr h="18288">
                <a:tc>
                  <a:txBody>
                    <a:bodyPr/>
                    <a:lstStyle/>
                    <a:p>
                      <a:pPr algn="l">
                        <a:defRPr sz="900">
                          <a:latin typeface="Montserrat"/>
                        </a:defRPr>
                      </a:pPr>
                      <a:r>
                        <a:t>Cirugía General</a:t>
                      </a:r>
                    </a:p>
                  </a:txBody>
                  <a:tcPr marL="36576" marR="36576" marT="36576" marB="36576">
                    <a:solidFill>
                      <a:srgbClr val="EFEFEF"/>
                    </a:solidFill>
                  </a:tcPr>
                </a:tc>
                <a:tc>
                  <a:txBody>
                    <a:bodyPr/>
                    <a:lstStyle/>
                    <a:p>
                      <a:pPr algn="ctr">
                        <a:defRPr sz="900">
                          <a:latin typeface="Montserrat"/>
                        </a:defRPr>
                      </a:pPr>
                      <a:r>
                        <a:t>9</a:t>
                      </a:r>
                    </a:p>
                  </a:txBody>
                  <a:tcPr marL="36576" marR="36576" marT="36576" marB="36576">
                    <a:solidFill>
                      <a:srgbClr val="EFEFEF"/>
                    </a:solidFill>
                  </a:tcPr>
                </a:tc>
              </a:tr>
              <a:tr h="18288">
                <a:tc>
                  <a:txBody>
                    <a:bodyPr/>
                    <a:lstStyle/>
                    <a:p>
                      <a:pPr algn="l">
                        <a:defRPr sz="900">
                          <a:latin typeface="Montserrat"/>
                        </a:defRPr>
                      </a:pPr>
                      <a:r>
                        <a:t>Medicina de Urgencias</a:t>
                      </a:r>
                    </a:p>
                  </a:txBody>
                  <a:tcPr marL="36576" marR="36576" marT="36576" marB="36576">
                    <a:solidFill>
                      <a:srgbClr val="FFFFFF"/>
                    </a:solidFill>
                  </a:tcPr>
                </a:tc>
                <a:tc>
                  <a:txBody>
                    <a:bodyPr/>
                    <a:lstStyle/>
                    <a:p>
                      <a:pPr algn="ctr">
                        <a:defRPr sz="900">
                          <a:latin typeface="Montserrat"/>
                        </a:defRPr>
                      </a:pPr>
                      <a:r>
                        <a:t>8</a:t>
                      </a:r>
                    </a:p>
                  </a:txBody>
                  <a:tcPr marL="36576" marR="36576" marT="36576" marB="36576">
                    <a:solidFill>
                      <a:srgbClr val="FFFFFF"/>
                    </a:solidFill>
                  </a:tcPr>
                </a:tc>
              </a:tr>
              <a:tr h="18288">
                <a:tc>
                  <a:txBody>
                    <a:bodyPr/>
                    <a:lstStyle/>
                    <a:p>
                      <a:pPr algn="l">
                        <a:defRPr sz="900">
                          <a:latin typeface="Montserrat"/>
                        </a:defRPr>
                      </a:pPr>
                      <a:r>
                        <a:t>Anestesiología</a:t>
                      </a:r>
                    </a:p>
                  </a:txBody>
                  <a:tcPr marL="36576" marR="36576" marT="36576" marB="36576">
                    <a:solidFill>
                      <a:srgbClr val="EFEFEF"/>
                    </a:solidFill>
                  </a:tcPr>
                </a:tc>
                <a:tc>
                  <a:txBody>
                    <a:bodyPr/>
                    <a:lstStyle/>
                    <a:p>
                      <a:pPr algn="ctr">
                        <a:defRPr sz="900">
                          <a:latin typeface="Montserrat"/>
                        </a:defRPr>
                      </a:pPr>
                      <a:r>
                        <a:t>6</a:t>
                      </a:r>
                    </a:p>
                  </a:txBody>
                  <a:tcPr marL="36576" marR="36576" marT="36576" marB="36576">
                    <a:solidFill>
                      <a:srgbClr val="EFEFEF"/>
                    </a:solidFill>
                  </a:tcPr>
                </a:tc>
              </a:tr>
              <a:tr h="18288">
                <a:tc>
                  <a:txBody>
                    <a:bodyPr/>
                    <a:lstStyle/>
                    <a:p>
                      <a:pPr algn="l">
                        <a:defRPr sz="900">
                          <a:latin typeface="Montserrat"/>
                        </a:defRPr>
                      </a:pPr>
                      <a:r>
                        <a:t>Medicina Interna</a:t>
                      </a:r>
                    </a:p>
                  </a:txBody>
                  <a:tcPr marL="36576" marR="36576" marT="36576" marB="36576">
                    <a:solidFill>
                      <a:srgbClr val="FFFFFF"/>
                    </a:solidFill>
                  </a:tcPr>
                </a:tc>
                <a:tc>
                  <a:txBody>
                    <a:bodyPr/>
                    <a:lstStyle/>
                    <a:p>
                      <a:pPr algn="ctr">
                        <a:defRPr sz="900">
                          <a:latin typeface="Montserrat"/>
                        </a:defRPr>
                      </a:pPr>
                      <a:r>
                        <a:t>4</a:t>
                      </a:r>
                    </a:p>
                  </a:txBody>
                  <a:tcPr marL="36576" marR="36576" marT="36576" marB="36576">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53</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11</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65</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26</a:t>
                      </a:r>
                    </a:p>
                  </a:txBody>
                  <a:tcPr anchor="ctr" marL="36576" marR="36576" marT="36576" marB="36576">
                    <a:solidFill>
                      <a:srgbClr val="FFFFFF"/>
                    </a:solidFill>
                  </a:tcPr>
                </a:tc>
              </a:tr>
              <a:tr h="18288">
                <a:tc>
                  <a:txBody>
                    <a:bodyPr/>
                    <a:lstStyle/>
                    <a:p>
                      <a:pPr algn="l">
                        <a:defRPr b="1" sz="1000">
                          <a:solidFill>
                            <a:srgbClr val="000000"/>
                          </a:solidFill>
                          <a:latin typeface="Montserrat"/>
                        </a:defRPr>
                      </a:pPr>
                      <a:r>
                        <a:t>Total</a:t>
                      </a:r>
                    </a:p>
                  </a:txBody>
                  <a:tcPr anchor="ctr" marL="36576" marR="36576" marT="36576" marB="36576">
                    <a:solidFill>
                      <a:srgbClr val="D3E9E7"/>
                    </a:solidFill>
                  </a:tcPr>
                </a:tc>
                <a:tc>
                  <a:txBody>
                    <a:bodyPr/>
                    <a:lstStyle/>
                    <a:p>
                      <a:pPr algn="ctr">
                        <a:defRPr b="1" sz="1000">
                          <a:solidFill>
                            <a:srgbClr val="000000"/>
                          </a:solidFill>
                          <a:latin typeface="Montserrat"/>
                        </a:defRPr>
                      </a:pPr>
                      <a:r>
                        <a:t>155</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Noto Sans"/>
              </a:defRPr>
            </a:pPr>
            <a:r>
              <a:t>Fuente: Dirección de Administración. Base SIAP comparativa del diciembre 2018 con el febrero 2026.</a:t>
            </a:r>
          </a:p>
        </p:txBody>
      </p:sp>
      <p:sp>
        <p:nvSpPr>
          <p:cNvPr id="322" name="TextBox 321"/>
          <p:cNvSpPr txBox="1"/>
          <p:nvPr/>
        </p:nvSpPr>
        <p:spPr>
          <a:xfrm>
            <a:off x="162000" y="7405200"/>
            <a:ext cx="4370400" cy="594000"/>
          </a:xfrm>
          <a:prstGeom prst="rect">
            <a:avLst/>
          </a:prstGeom>
          <a:noFill/>
        </p:spPr>
        <p:txBody>
          <a:bodyPr wrap="square" tIns="0" bIns="0" lIns="0" rIns="0">
            <a:spAutoFit/>
          </a:bodyPr>
          <a:lstStyle/>
          <a:p>
            <a:pPr algn="l">
              <a:defRPr sz="800">
                <a:solidFill>
                  <a:srgbClr val="000000"/>
                </a:solidFill>
                <a:latin typeface="Noto Sans"/>
              </a:defRPr>
            </a:pPr>
            <a:r>
              <a:t>Se muestra el total de egresos en la entidad y sólo las cinco especialidades con mayor egresos de cada año. Corte de información febrero 2026. 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Noto Sans"/>
              </a:defRPr>
            </a:pPr>
            <a:r>
              <a:t>Fuente: Sistema de Información Operativa. Personal de base. Corte de información: enero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6,524</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353</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68</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101</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1,569</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1,017</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11</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9,463</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solidFill>
                      <a:srgbClr val="006455"/>
                    </a:solidFill>
                  </a:tcPr>
                </a:tc>
                <a:tc>
                  <a:txBody>
                    <a:bodyPr/>
                    <a:lstStyle/>
                    <a:p>
                      <a:pPr algn="ctr">
                        <a:defRPr b="1" sz="1000">
                          <a:solidFill>
                            <a:srgbClr val="FFFFFF"/>
                          </a:solidFill>
                          <a:latin typeface="Montserrat"/>
                        </a:defRPr>
                      </a:pPr>
                      <a:r>
                        <a:t>Especialidades</a:t>
                      </a:r>
                    </a:p>
                  </a:txBody>
                  <a:tcPr>
                    <a:solidFill>
                      <a:srgbClr val="006455"/>
                    </a:solidFill>
                  </a:tcPr>
                </a:tc>
                <a:tc>
                  <a:txBody>
                    <a:bodyPr/>
                    <a:lstStyle/>
                    <a:p>
                      <a:pPr algn="ctr">
                        <a:defRPr b="1" sz="1000">
                          <a:solidFill>
                            <a:srgbClr val="FFFFFF"/>
                          </a:solidFill>
                          <a:latin typeface="Montserrat"/>
                        </a:defRPr>
                      </a:pPr>
                      <a:r>
                        <a:t>Cirugías</a:t>
                      </a:r>
                    </a:p>
                  </a:txBody>
                  <a:tcPr>
                    <a:solidFill>
                      <a:srgbClr val="006455"/>
                    </a:solidFill>
                  </a:tcPr>
                </a:tc>
                <a:tc>
                  <a:txBody>
                    <a:bodyPr/>
                    <a:lstStyle/>
                    <a:p>
                      <a:pPr algn="ctr">
                        <a:defRPr b="1" sz="1000">
                          <a:solidFill>
                            <a:srgbClr val="FFFFFF"/>
                          </a:solidFill>
                          <a:latin typeface="Montserrat"/>
                        </a:defRPr>
                      </a:pPr>
                      <a:r>
                        <a:t>Egresos</a:t>
                      </a:r>
                    </a:p>
                  </a:txBody>
                  <a:tcPr>
                    <a:solidFill>
                      <a:srgbClr val="006455"/>
                    </a:solidFill>
                  </a:tcPr>
                </a:tc>
                <a:tc>
                  <a:txBody>
                    <a:bodyPr/>
                    <a:lstStyle/>
                    <a:p>
                      <a:pPr algn="ctr">
                        <a:defRPr b="1" sz="1000">
                          <a:solidFill>
                            <a:srgbClr val="FFFFFF"/>
                          </a:solidFill>
                          <a:latin typeface="Montserrat"/>
                        </a:defRPr>
                      </a:pPr>
                      <a:r>
                        <a:t>Defunciones</a:t>
                      </a:r>
                    </a:p>
                  </a:txBody>
                  <a:tcPr>
                    <a:solidFill>
                      <a:srgbClr val="006455"/>
                    </a:solidFill>
                  </a:tcPr>
                </a:tc>
              </a:tr>
              <a:tr h="489600">
                <a:tc>
                  <a:txBody>
                    <a:bodyPr/>
                    <a:lstStyle/>
                    <a:p>
                      <a:pPr algn="ctr">
                        <a:defRPr sz="1000">
                          <a:latin typeface="Montserrat"/>
                        </a:defRPr>
                      </a:pPr>
                      <a:r>
                        <a:t>Diabetes mellitus   (346,784)</a:t>
                      </a:r>
                    </a:p>
                  </a:txBody>
                  <a:tcPr>
                    <a:solidFill>
                      <a:srgbClr val="FFFFFF"/>
                    </a:solidFill>
                  </a:tcPr>
                </a:tc>
                <a:tc>
                  <a:txBody>
                    <a:bodyPr/>
                    <a:lstStyle/>
                    <a:p>
                      <a:pPr algn="ctr">
                        <a:defRPr sz="1000">
                          <a:latin typeface="Montserrat"/>
                        </a:defRPr>
                      </a:pPr>
                      <a:r>
                        <a:t>Traumatismos e intoxicaciones   (23,699)</a:t>
                      </a:r>
                    </a:p>
                  </a:txBody>
                  <a:tcPr>
                    <a:solidFill>
                      <a:srgbClr val="FFFFFF"/>
                    </a:solidFill>
                  </a:tcPr>
                </a:tc>
                <a:tc>
                  <a:txBody>
                    <a:bodyPr/>
                    <a:lstStyle/>
                    <a:p>
                      <a:pPr algn="ctr">
                        <a:defRPr sz="1000">
                          <a:latin typeface="Montserrat"/>
                        </a:defRPr>
                      </a:pPr>
                      <a:r>
                        <a:t>Traumatismos y envenenamientos   (4,093)</a:t>
                      </a:r>
                    </a:p>
                  </a:txBody>
                  <a:tcPr>
                    <a:solidFill>
                      <a:srgbClr val="FFFFFF"/>
                    </a:solidFill>
                  </a:tcPr>
                </a:tc>
                <a:tc>
                  <a:txBody>
                    <a:bodyPr/>
                    <a:lstStyle/>
                    <a:p>
                      <a:pPr algn="ctr">
                        <a:defRPr sz="1000">
                          <a:latin typeface="Montserrat"/>
                        </a:defRPr>
                      </a:pPr>
                      <a:r>
                        <a:t>Embarazo, parto y puerperio   (5,472)</a:t>
                      </a:r>
                    </a:p>
                  </a:txBody>
                  <a:tcPr>
                    <a:solidFill>
                      <a:srgbClr val="FFFFFF"/>
                    </a:solidFill>
                  </a:tcPr>
                </a:tc>
                <a:tc>
                  <a:txBody>
                    <a:bodyPr/>
                    <a:lstStyle/>
                    <a:p>
                      <a:pPr algn="ctr">
                        <a:defRPr sz="1000">
                          <a:latin typeface="Montserrat"/>
                        </a:defRPr>
                      </a:pPr>
                      <a:r>
                        <a:t>Diabetes mellitus  (312)</a:t>
                      </a:r>
                    </a:p>
                  </a:txBody>
                  <a:tcPr>
                    <a:solidFill>
                      <a:srgbClr val="FFFFFF"/>
                    </a:solidFill>
                  </a:tcPr>
                </a:tc>
              </a:tr>
              <a:tr h="489600">
                <a:tc>
                  <a:txBody>
                    <a:bodyPr/>
                    <a:lstStyle/>
                    <a:p>
                      <a:pPr algn="ctr">
                        <a:defRPr sz="1000">
                          <a:latin typeface="Montserrat"/>
                        </a:defRPr>
                      </a:pPr>
                      <a:r>
                        <a:t>Enfermedades del corazón   (304,957)</a:t>
                      </a:r>
                    </a:p>
                  </a:txBody>
                  <a:tcPr>
                    <a:solidFill>
                      <a:srgbClr val="EFEFEF"/>
                    </a:solidFill>
                  </a:tcPr>
                </a:tc>
                <a:tc>
                  <a:txBody>
                    <a:bodyPr/>
                    <a:lstStyle/>
                    <a:p>
                      <a:pPr algn="ctr">
                        <a:defRPr sz="1000">
                          <a:latin typeface="Montserrat"/>
                        </a:defRPr>
                      </a:pPr>
                      <a:r>
                        <a:t>Tumores malignos   (22,613)</a:t>
                      </a:r>
                    </a:p>
                  </a:txBody>
                  <a:tcPr>
                    <a:solidFill>
                      <a:srgbClr val="EFEFEF"/>
                    </a:solidFill>
                  </a:tcPr>
                </a:tc>
                <a:tc>
                  <a:txBody>
                    <a:bodyPr/>
                    <a:lstStyle/>
                    <a:p>
                      <a:pPr algn="ctr">
                        <a:defRPr sz="1000">
                          <a:latin typeface="Montserrat"/>
                        </a:defRPr>
                      </a:pPr>
                      <a:r>
                        <a:t>Cirugía de cataratas (Facoemulsificación con implante de lente intraocular)   (3,978)</a:t>
                      </a:r>
                    </a:p>
                  </a:txBody>
                  <a:tcPr>
                    <a:solidFill>
                      <a:srgbClr val="EFEFEF"/>
                    </a:solidFill>
                  </a:tcPr>
                </a:tc>
                <a:tc>
                  <a:txBody>
                    <a:bodyPr/>
                    <a:lstStyle/>
                    <a:p>
                      <a:pPr algn="ctr">
                        <a:defRPr sz="1000">
                          <a:latin typeface="Montserrat"/>
                        </a:defRPr>
                      </a:pPr>
                      <a:r>
                        <a:t>Traumatismos e intoxicaciones   (4,225)</a:t>
                      </a:r>
                    </a:p>
                  </a:txBody>
                  <a:tcPr>
                    <a:solidFill>
                      <a:srgbClr val="EFEFEF"/>
                    </a:solidFill>
                  </a:tcPr>
                </a:tc>
                <a:tc>
                  <a:txBody>
                    <a:bodyPr/>
                    <a:lstStyle/>
                    <a:p>
                      <a:pPr algn="ctr">
                        <a:defRPr sz="1000">
                          <a:latin typeface="Montserrat"/>
                        </a:defRPr>
                      </a:pPr>
                      <a:r>
                        <a:t>Tumores malignos  (282)</a:t>
                      </a:r>
                    </a:p>
                  </a:txBody>
                  <a:tcPr>
                    <a:solidFill>
                      <a:srgbClr val="EFEFEF"/>
                    </a:solidFill>
                  </a:tcPr>
                </a:tc>
              </a:tr>
              <a:tr h="489600">
                <a:tc>
                  <a:txBody>
                    <a:bodyPr/>
                    <a:lstStyle/>
                    <a:p>
                      <a:pPr algn="ctr">
                        <a:defRPr sz="1000">
                          <a:latin typeface="Montserrat"/>
                        </a:defRPr>
                      </a:pPr>
                      <a:r>
                        <a:t>Infecciones respiratorias agudas   (80,740)</a:t>
                      </a:r>
                    </a:p>
                  </a:txBody>
                  <a:tcPr>
                    <a:solidFill>
                      <a:srgbClr val="FFFFFF"/>
                    </a:solidFill>
                  </a:tcPr>
                </a:tc>
                <a:tc>
                  <a:txBody>
                    <a:bodyPr/>
                    <a:lstStyle/>
                    <a:p>
                      <a:pPr algn="ctr">
                        <a:defRPr sz="1000">
                          <a:latin typeface="Montserrat"/>
                        </a:defRPr>
                      </a:pPr>
                      <a:r>
                        <a:t>Enfermedades del corazón   (19,163)</a:t>
                      </a:r>
                    </a:p>
                  </a:txBody>
                  <a:tcPr>
                    <a:solidFill>
                      <a:srgbClr val="FFFFFF"/>
                    </a:solidFill>
                  </a:tcPr>
                </a:tc>
                <a:tc>
                  <a:txBody>
                    <a:bodyPr/>
                    <a:lstStyle/>
                    <a:p>
                      <a:pPr algn="ctr">
                        <a:defRPr sz="1000">
                          <a:latin typeface="Montserrat"/>
                        </a:defRPr>
                      </a:pPr>
                      <a:r>
                        <a:t>Cirugía de Hernias (Hernioplastía)   (1,807)</a:t>
                      </a:r>
                    </a:p>
                  </a:txBody>
                  <a:tcPr>
                    <a:solidFill>
                      <a:srgbClr val="FFFFFF"/>
                    </a:solidFill>
                  </a:tcPr>
                </a:tc>
                <a:tc>
                  <a:txBody>
                    <a:bodyPr/>
                    <a:lstStyle/>
                    <a:p>
                      <a:pPr algn="ctr">
                        <a:defRPr sz="1000">
                          <a:latin typeface="Montserrat"/>
                        </a:defRPr>
                      </a:pPr>
                      <a:r>
                        <a:t>Insuficiencia renal   (2,133)</a:t>
                      </a:r>
                    </a:p>
                  </a:txBody>
                  <a:tcPr>
                    <a:solidFill>
                      <a:srgbClr val="FFFFFF"/>
                    </a:solidFill>
                  </a:tcPr>
                </a:tc>
                <a:tc>
                  <a:txBody>
                    <a:bodyPr/>
                    <a:lstStyle/>
                    <a:p>
                      <a:pPr algn="ctr">
                        <a:defRPr sz="1000">
                          <a:latin typeface="Montserrat"/>
                        </a:defRPr>
                      </a:pPr>
                      <a:r>
                        <a:t>Enfermedades del corazón  (272)</a:t>
                      </a:r>
                    </a:p>
                  </a:txBody>
                  <a:tcPr>
                    <a:solidFill>
                      <a:srgbClr val="FFFFFF"/>
                    </a:solidFill>
                  </a:tcPr>
                </a:tc>
              </a:tr>
              <a:tr h="489600">
                <a:tc>
                  <a:txBody>
                    <a:bodyPr/>
                    <a:lstStyle/>
                    <a:p>
                      <a:pPr algn="ctr">
                        <a:defRPr sz="1000">
                          <a:latin typeface="Montserrat"/>
                        </a:defRPr>
                      </a:pPr>
                      <a:r>
                        <a:t>traumatismos e intoxicaciones   (52,654)</a:t>
                      </a:r>
                    </a:p>
                  </a:txBody>
                  <a:tcPr>
                    <a:solidFill>
                      <a:srgbClr val="EFEFEF"/>
                    </a:solidFill>
                  </a:tcPr>
                </a:tc>
                <a:tc>
                  <a:txBody>
                    <a:bodyPr/>
                    <a:lstStyle/>
                    <a:p>
                      <a:pPr algn="ctr">
                        <a:defRPr sz="1000">
                          <a:latin typeface="Montserrat"/>
                        </a:defRPr>
                      </a:pPr>
                      <a:r>
                        <a:t>Enfermedades y trastornos de las articulaciones   (18,593)</a:t>
                      </a:r>
                    </a:p>
                  </a:txBody>
                  <a:tcPr>
                    <a:solidFill>
                      <a:srgbClr val="EFEFEF"/>
                    </a:solidFill>
                  </a:tcPr>
                </a:tc>
                <a:tc>
                  <a:txBody>
                    <a:bodyPr/>
                    <a:lstStyle/>
                    <a:p>
                      <a:pPr algn="ctr">
                        <a:defRPr sz="1000">
                          <a:latin typeface="Montserrat"/>
                        </a:defRPr>
                      </a:pPr>
                      <a:r>
                        <a:t>Cirugía de vesicula biliar (Colecistectomía)   (1,579)</a:t>
                      </a:r>
                    </a:p>
                  </a:txBody>
                  <a:tcPr>
                    <a:solidFill>
                      <a:srgbClr val="EFEFEF"/>
                    </a:solidFill>
                  </a:tcPr>
                </a:tc>
                <a:tc>
                  <a:txBody>
                    <a:bodyPr/>
                    <a:lstStyle/>
                    <a:p>
                      <a:pPr algn="ctr">
                        <a:defRPr sz="1000">
                          <a:latin typeface="Montserrat"/>
                        </a:defRPr>
                      </a:pPr>
                      <a:r>
                        <a:t>Enfermedades de la vesicula biliar   (1,935)</a:t>
                      </a:r>
                    </a:p>
                  </a:txBody>
                  <a:tcPr>
                    <a:solidFill>
                      <a:srgbClr val="EFEFEF"/>
                    </a:solidFill>
                  </a:tcPr>
                </a:tc>
                <a:tc>
                  <a:txBody>
                    <a:bodyPr/>
                    <a:lstStyle/>
                    <a:p>
                      <a:pPr algn="ctr">
                        <a:defRPr sz="1000">
                          <a:latin typeface="Montserrat"/>
                        </a:defRPr>
                      </a:pPr>
                      <a:r>
                        <a:t>Neumonía e influenza  (237)</a:t>
                      </a:r>
                    </a:p>
                  </a:txBody>
                  <a:tcPr>
                    <a:solidFill>
                      <a:srgbClr val="EFEFEF"/>
                    </a:solidFill>
                  </a:tcPr>
                </a:tc>
              </a:tr>
              <a:tr h="489600">
                <a:tc>
                  <a:txBody>
                    <a:bodyPr/>
                    <a:lstStyle/>
                    <a:p>
                      <a:pPr algn="ctr">
                        <a:defRPr sz="1000">
                          <a:latin typeface="Montserrat"/>
                        </a:defRPr>
                      </a:pPr>
                      <a:r>
                        <a:t>Enfermedades mentales   (37,644)</a:t>
                      </a:r>
                    </a:p>
                  </a:txBody>
                  <a:tcPr>
                    <a:solidFill>
                      <a:srgbClr val="FFFFFF"/>
                    </a:solidFill>
                  </a:tcPr>
                </a:tc>
                <a:tc>
                  <a:txBody>
                    <a:bodyPr/>
                    <a:lstStyle/>
                    <a:p>
                      <a:pPr algn="ctr">
                        <a:defRPr sz="1000">
                          <a:latin typeface="Montserrat"/>
                        </a:defRPr>
                      </a:pPr>
                      <a:r>
                        <a:t>Insuficiencia renal   (17,061)</a:t>
                      </a:r>
                    </a:p>
                  </a:txBody>
                  <a:tcPr>
                    <a:solidFill>
                      <a:srgbClr val="FFFFFF"/>
                    </a:solidFill>
                  </a:tcPr>
                </a:tc>
                <a:tc>
                  <a:txBody>
                    <a:bodyPr/>
                    <a:lstStyle/>
                    <a:p>
                      <a:pPr algn="ctr">
                        <a:defRPr sz="1000">
                          <a:latin typeface="Montserrat"/>
                        </a:defRPr>
                      </a:pPr>
                      <a:r>
                        <a:t>Tumores malignos   (1,350)</a:t>
                      </a:r>
                    </a:p>
                  </a:txBody>
                  <a:tcPr>
                    <a:solidFill>
                      <a:srgbClr val="FFFFFF"/>
                    </a:solidFill>
                  </a:tcPr>
                </a:tc>
                <a:tc>
                  <a:txBody>
                    <a:bodyPr/>
                    <a:lstStyle/>
                    <a:p>
                      <a:pPr algn="ctr">
                        <a:defRPr sz="1000">
                          <a:latin typeface="Montserrat"/>
                        </a:defRPr>
                      </a:pPr>
                      <a:r>
                        <a:t>Enfermedades del corazón   (1,900)</a:t>
                      </a:r>
                    </a:p>
                  </a:txBody>
                  <a:tcPr>
                    <a:solidFill>
                      <a:srgbClr val="FFFFFF"/>
                    </a:solidFill>
                  </a:tcPr>
                </a:tc>
                <a:tc>
                  <a:txBody>
                    <a:bodyPr/>
                    <a:lstStyle/>
                    <a:p>
                      <a:pPr algn="ctr">
                        <a:defRPr sz="1000">
                          <a:latin typeface="Montserrat"/>
                        </a:defRPr>
                      </a:pPr>
                      <a:r>
                        <a:t>Enfermedades cerebrovasculares  (123)</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Noto Sans"/>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Noto Sans"/>
              </a:defRPr>
            </a:pPr>
            <a:r>
              <a:t>Corte de información: noviembre 2025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3" name="TextBox 2"/>
          <p:cNvSpPr txBox="1"/>
          <p:nvPr/>
        </p:nvSpPr>
        <p:spPr>
          <a:xfrm>
            <a:off x="274320" y="731520"/>
            <a:ext cx="4572000" cy="365760"/>
          </a:xfrm>
          <a:prstGeom prst="rect">
            <a:avLst/>
          </a:prstGeom>
          <a:noFill/>
        </p:spPr>
        <p:txBody>
          <a:bodyPr wrap="none">
            <a:spAutoFit/>
          </a:bodyPr>
          <a:lstStyle/>
          <a:p>
            <a:pPr algn="l">
              <a:defRPr sz="2200" b="1">
                <a:solidFill>
                  <a:srgbClr val="BC955C"/>
                </a:solidFill>
                <a:latin typeface="Montserrat"/>
              </a:defRPr>
            </a:pPr>
            <a:r>
              <a:t>Abasto Recetas</a:t>
            </a:r>
          </a:p>
        </p:txBody>
      </p:sp>
      <p:cxnSp>
        <p:nvCxnSpPr>
          <p:cNvPr id="4" name="Connector 3"/>
          <p:cNvCxnSpPr/>
          <p:nvPr/>
        </p:nvCxnSpPr>
        <p:spPr>
          <a:xfrm>
            <a:off x="274320" y="1097280"/>
            <a:ext cx="7223760" cy="0"/>
          </a:xfrm>
          <a:prstGeom prst="line">
            <a:avLst/>
          </a:prstGeom>
          <a:ln w="19050">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188720"/>
            <a:ext cx="4572000" cy="365760"/>
          </a:xfrm>
          <a:prstGeom prst="rect">
            <a:avLst/>
          </a:prstGeom>
          <a:noFill/>
        </p:spPr>
        <p:txBody>
          <a:bodyPr wrap="none">
            <a:spAutoFit/>
          </a:bodyPr>
          <a:lstStyle/>
          <a:p>
            <a:pPr algn="l">
              <a:defRPr sz="1800" b="0">
                <a:solidFill>
                  <a:srgbClr val="BC955C"/>
                </a:solidFill>
                <a:latin typeface="Montserrat"/>
              </a:defRPr>
            </a:pPr>
            <a:r>
              <a:t>Recetas surtidas y negadas</a:t>
            </a:r>
          </a:p>
        </p:txBody>
      </p:sp>
      <p:cxnSp>
        <p:nvCxnSpPr>
          <p:cNvPr id="6" name="Connector 5"/>
          <p:cNvCxnSpPr/>
          <p:nvPr/>
        </p:nvCxnSpPr>
        <p:spPr>
          <a:xfrm>
            <a:off x="457200" y="1554480"/>
            <a:ext cx="7040880" cy="0"/>
          </a:xfrm>
          <a:prstGeom prst="line">
            <a:avLst/>
          </a:prstGeom>
          <a:ln w="19050">
            <a:solidFill>
              <a:srgbClr val="BC95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febrero de cada año</a:t>
            </a:r>
          </a:p>
        </p:txBody>
      </p:sp>
      <p:pic>
        <p:nvPicPr>
          <p:cNvPr id="8" name="Picture 7" descr="grafica_recetas_17.png"/>
          <p:cNvPicPr>
            <a:picLocks noChangeAspect="1"/>
          </p:cNvPicPr>
          <p:nvPr/>
        </p:nvPicPr>
        <p:blipFill>
          <a:blip r:embed="rId4"/>
          <a:stretch>
            <a:fillRect/>
          </a:stretch>
        </p:blipFill>
        <p:spPr>
          <a:xfrm>
            <a:off x="122400" y="1717199"/>
            <a:ext cx="7347600" cy="3927962"/>
          </a:xfrm>
          <a:prstGeom prst="rect">
            <a:avLst/>
          </a:prstGeom>
        </p:spPr>
      </p:pic>
      <p:sp>
        <p:nvSpPr>
          <p:cNvPr id="9" name="TextBox 8"/>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28 de febrero de 2026.</a:t>
            </a:r>
          </a:p>
        </p:txBody>
      </p:sp>
      <p:sp>
        <p:nvSpPr>
          <p:cNvPr id="10" name="TextBox 9"/>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11" name="Connector 10"/>
          <p:cNvCxnSpPr/>
          <p:nvPr/>
        </p:nvCxnSpPr>
        <p:spPr>
          <a:xfrm>
            <a:off x="274320" y="6309360"/>
            <a:ext cx="7223760" cy="0"/>
          </a:xfrm>
          <a:prstGeom prst="line">
            <a:avLst/>
          </a:prstGeom>
          <a:ln w="19050">
            <a:solidFill>
              <a:srgbClr val="BC955C"/>
            </a:solidFill>
          </a:ln>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solidFill>
                      <a:srgbClr val="006455"/>
                    </a:solidFill>
                  </a:tcPr>
                </a:tc>
                <a:tc>
                  <a:txBody>
                    <a:bodyPr/>
                    <a:lstStyle/>
                    <a:p>
                      <a:pPr algn="ctr"/>
                      <a:r>
                        <a:rPr sz="1100" b="1">
                          <a:solidFill>
                            <a:srgbClr val="FFFFFF"/>
                          </a:solidFill>
                          <a:latin typeface="Montserrat"/>
                        </a:rPr>
                        <a:t>Manuales</a:t>
                      </a:r>
                    </a:p>
                  </a:txBody>
                  <a:tcPr>
                    <a:solidFill>
                      <a:srgbClr val="006455"/>
                    </a:solidFill>
                  </a:tcPr>
                </a:tc>
                <a:tc>
                  <a:txBody>
                    <a:bodyPr/>
                    <a:lstStyle/>
                    <a:p>
                      <a:pPr algn="ctr"/>
                      <a:r>
                        <a:rPr sz="1100" b="1">
                          <a:solidFill>
                            <a:srgbClr val="FFFFFF"/>
                          </a:solidFill>
                          <a:latin typeface="Montserrat"/>
                        </a:rPr>
                        <a:t>Electrónicas</a:t>
                      </a:r>
                    </a:p>
                  </a:txBody>
                  <a:tcPr>
                    <a:solidFill>
                      <a:srgbClr val="006455"/>
                    </a:solidFill>
                  </a:tcPr>
                </a:tc>
                <a:tc>
                  <a:txBody>
                    <a:bodyPr/>
                    <a:lstStyle/>
                    <a:p>
                      <a:pPr algn="ctr"/>
                      <a:r>
                        <a:rPr sz="1100" b="1">
                          <a:solidFill>
                            <a:srgbClr val="FFFFFF"/>
                          </a:solidFill>
                          <a:latin typeface="Montserrat"/>
                        </a:rPr>
                        <a:t>Porcentaje de electrónicas</a:t>
                      </a:r>
                    </a:p>
                  </a:txBody>
                  <a:tcP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54,853</a:t>
                      </a:r>
                    </a:p>
                  </a:txBody>
                  <a:tcPr>
                    <a:solidFill>
                      <a:srgbClr val="FFFFFF"/>
                    </a:solidFill>
                  </a:tcPr>
                </a:tc>
                <a:tc>
                  <a:txBody>
                    <a:bodyPr/>
                    <a:lstStyle/>
                    <a:p>
                      <a:pPr algn="ctr"/>
                      <a:r>
                        <a:rPr sz="1100" b="0">
                          <a:solidFill>
                            <a:srgbClr val="434343"/>
                          </a:solidFill>
                          <a:latin typeface="Montserrat"/>
                        </a:rPr>
                        <a:t>537,769</a:t>
                      </a:r>
                    </a:p>
                  </a:txBody>
                  <a:tcPr>
                    <a:solidFill>
                      <a:srgbClr val="FFFFFF"/>
                    </a:solidFill>
                  </a:tcPr>
                </a:tc>
                <a:tc>
                  <a:txBody>
                    <a:bodyPr/>
                    <a:lstStyle/>
                    <a:p>
                      <a:pPr algn="ctr"/>
                      <a:r>
                        <a:rPr sz="1100" b="0">
                          <a:solidFill>
                            <a:srgbClr val="434343"/>
                          </a:solidFill>
                          <a:latin typeface="Montserrat"/>
                        </a:rPr>
                        <a:t>90.7%</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36,575</a:t>
                      </a:r>
                    </a:p>
                  </a:txBody>
                  <a:tcPr>
                    <a:solidFill>
                      <a:srgbClr val="D9D9D9"/>
                    </a:solidFill>
                  </a:tcPr>
                </a:tc>
                <a:tc>
                  <a:txBody>
                    <a:bodyPr/>
                    <a:lstStyle/>
                    <a:p>
                      <a:pPr algn="ctr"/>
                      <a:r>
                        <a:rPr sz="1100" b="1">
                          <a:solidFill>
                            <a:srgbClr val="006455"/>
                          </a:solidFill>
                          <a:latin typeface="Montserrat"/>
                        </a:rPr>
                        <a:t>586,990</a:t>
                      </a:r>
                    </a:p>
                  </a:txBody>
                  <a:tcPr>
                    <a:solidFill>
                      <a:srgbClr val="D9D9D9"/>
                    </a:solidFill>
                  </a:tcPr>
                </a:tc>
                <a:tc>
                  <a:txBody>
                    <a:bodyPr/>
                    <a:lstStyle/>
                    <a:p>
                      <a:pPr algn="ctr"/>
                      <a:r>
                        <a:rPr sz="1100" b="1">
                          <a:solidFill>
                            <a:srgbClr val="006455"/>
                          </a:solidFill>
                          <a:latin typeface="Montserrat"/>
                        </a:rPr>
                        <a:t>94.1%</a:t>
                      </a:r>
                    </a:p>
                  </a:txBody>
                  <a:tcPr>
                    <a:solidFill>
                      <a:srgbClr val="D9D9D9"/>
                    </a:solidFill>
                  </a:tcPr>
                </a:tc>
              </a:tr>
            </a:tbl>
          </a:graphicData>
        </a:graphic>
      </p:graphicFrame>
      <p:sp>
        <p:nvSpPr>
          <p:cNvPr id="13" name="TextBox 12"/>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28 de febrero de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172F45EF-806A-7DEF-DC63-351C21F80D2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3" name="Google Shape;395;p15">
            <a:extLst>
              <a:ext uri="{FF2B5EF4-FFF2-40B4-BE49-F238E27FC236}">
                <a16:creationId xmlns:a16="http://schemas.microsoft.com/office/drawing/2014/main" id="{E9B6FDE2-AB5C-C52C-B0E2-79E103108501}"/>
              </a:ext>
            </a:extLst>
          </p:cNvPr>
          <p:cNvPicPr preferRelativeResize="0"/>
          <p:nvPr/>
        </p:nvPicPr>
        <p:blipFill rotWithShape="1">
          <a:blip r:embed="rId4">
            <a:alphaModFix/>
          </a:blip>
          <a:srcRect/>
          <a:stretch/>
        </p:blipFill>
        <p:spPr>
          <a:xfrm>
            <a:off x="176470" y="2231023"/>
            <a:ext cx="1599000" cy="599606"/>
          </a:xfrm>
          <a:prstGeom prst="rect">
            <a:avLst/>
          </a:prstGeom>
          <a:noFill/>
          <a:ln>
            <a:noFill/>
          </a:ln>
        </p:spPr>
      </p:pic>
      <p:sp>
        <p:nvSpPr>
          <p:cNvPr id="4" name="Google Shape;396;p15">
            <a:extLst>
              <a:ext uri="{FF2B5EF4-FFF2-40B4-BE49-F238E27FC236}">
                <a16:creationId xmlns:a16="http://schemas.microsoft.com/office/drawing/2014/main" id="{0583F7E9-F9AC-9429-DAFB-7DAA10EEDC5C}"/>
              </a:ext>
            </a:extLst>
          </p:cNvPr>
          <p:cNvSpPr txBox="1"/>
          <p:nvPr/>
        </p:nvSpPr>
        <p:spPr>
          <a:xfrm>
            <a:off x="137120" y="1813354"/>
            <a:ext cx="1599000" cy="32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 sz="1200" b="1" i="0" u="none" strike="noStrike" cap="none">
                <a:solidFill>
                  <a:srgbClr val="BC955C"/>
                </a:solidFill>
                <a:latin typeface="Montserrat"/>
                <a:ea typeface="Montserrat"/>
                <a:cs typeface="Montserrat"/>
                <a:sym typeface="Montserrat"/>
              </a:rPr>
              <a:t> ¿Qué se hará? </a:t>
            </a:r>
            <a:endParaRPr sz="1200" b="1" i="0" u="none" strike="noStrike" cap="none">
              <a:solidFill>
                <a:srgbClr val="BC955C"/>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000"/>
              <a:buFont typeface="Arial"/>
              <a:buNone/>
            </a:pPr>
            <a:r>
              <a:rPr lang="es" sz="1200" b="1" i="0" u="none" strike="noStrike" cap="none">
                <a:solidFill>
                  <a:srgbClr val="BC955C"/>
                </a:solidFill>
                <a:latin typeface="Montserrat"/>
                <a:ea typeface="Montserrat"/>
                <a:cs typeface="Montserrat"/>
                <a:sym typeface="Montserrat"/>
              </a:rPr>
              <a:t>2025</a:t>
            </a:r>
            <a:endParaRPr sz="1200" b="0" i="0" u="none" strike="noStrike" cap="none">
              <a:solidFill>
                <a:srgbClr val="BC955C"/>
              </a:solidFill>
              <a:latin typeface="Arial"/>
              <a:ea typeface="Arial"/>
              <a:cs typeface="Arial"/>
              <a:sym typeface="Arial"/>
            </a:endParaRPr>
          </a:p>
        </p:txBody>
      </p:sp>
      <p:sp>
        <p:nvSpPr>
          <p:cNvPr id="5" name="TextBox 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graphicFrame>
        <p:nvGraphicFramePr>
          <p:cNvPr id="6" name="Table 5"/>
          <p:cNvGraphicFramePr>
            <a:graphicFrameLocks noGrp="1"/>
          </p:cNvGraphicFramePr>
          <p:nvPr/>
        </p:nvGraphicFramePr>
        <p:xfrm>
          <a:off x="1886400" y="1584000"/>
          <a:ext cx="5670000" cy="3600000"/>
        </p:xfrm>
        <a:graphic>
          <a:graphicData uri="http://schemas.openxmlformats.org/drawingml/2006/table">
            <a:tbl>
              <a:tblPr firstRow="1" bandRow="1">
                <a:tableStyleId>{5C22544A-7EE6-4342-B048-85BDC9FD1C3A}</a:tableStyleId>
              </a:tblPr>
              <a:tblGrid>
                <a:gridCol w="4795200"/>
                <a:gridCol w="874800"/>
              </a:tblGrid>
              <a:tr h="276923">
                <a:tc>
                  <a:txBody>
                    <a:bodyPr/>
                    <a:lstStyle/>
                    <a:p>
                      <a:pPr algn="ctr">
                        <a:defRPr b="1" sz="1000">
                          <a:solidFill>
                            <a:srgbClr val="FFFFFF"/>
                          </a:solidFill>
                          <a:latin typeface="Montserrat"/>
                        </a:defRPr>
                      </a:pPr>
                      <a:r>
                        <a:t>Descripción</a:t>
                      </a:r>
                    </a:p>
                  </a:txBody>
                  <a:tcPr>
                    <a:solidFill>
                      <a:srgbClr val="BC955C"/>
                    </a:solidFill>
                  </a:tcPr>
                </a:tc>
                <a:tc>
                  <a:txBody>
                    <a:bodyPr/>
                    <a:lstStyle/>
                    <a:p>
                      <a:pPr algn="ctr">
                        <a:defRPr b="1" sz="1000">
                          <a:solidFill>
                            <a:srgbClr val="FFFFFF"/>
                          </a:solidFill>
                          <a:latin typeface="Montserrat"/>
                        </a:defRPr>
                      </a:pPr>
                      <a:r>
                        <a:t>Monto (mdp)</a:t>
                      </a:r>
                    </a:p>
                  </a:txBody>
                  <a:tcPr>
                    <a:solidFill>
                      <a:srgbClr val="BC955C"/>
                    </a:solidFill>
                  </a:tcPr>
                </a:tc>
              </a:tr>
              <a:tr h="276923">
                <a:tc>
                  <a:txBody>
                    <a:bodyPr/>
                    <a:lstStyle/>
                    <a:p>
                      <a:pPr>
                        <a:defRPr sz="1100" b="1">
                          <a:latin typeface="Montserrat"/>
                        </a:defRPr>
                      </a:pPr>
                      <a:r>
                        <a:t>Equipo médico y electromecánico</a:t>
                      </a:r>
                    </a:p>
                  </a:txBody>
                  <a:tcPr>
                    <a:solidFill>
                      <a:srgbClr val="ADADAD"/>
                    </a:solidFill>
                  </a:tcPr>
                </a:tc>
                <a:tc>
                  <a:txBody>
                    <a:bodyPr/>
                    <a:lstStyle/>
                    <a:p>
                      <a:pPr>
                        <a:defRPr sz="1100" b="1">
                          <a:latin typeface="Montserrat"/>
                        </a:defRPr>
                      </a:pPr>
                    </a:p>
                  </a:txBody>
                  <a:tcPr>
                    <a:solidFill>
                      <a:srgbClr val="ADADAD"/>
                    </a:solidFill>
                  </a:tcPr>
                </a:tc>
              </a:tr>
              <a:tr h="276923">
                <a:tc>
                  <a:txBody>
                    <a:bodyPr/>
                    <a:lstStyle/>
                    <a:p>
                      <a:pPr>
                        <a:defRPr sz="1100">
                          <a:latin typeface="Montserrat"/>
                        </a:defRPr>
                      </a:pPr>
                      <a:r>
                        <a:t>Adquisición de 211 piezas de equipo médico: 120 Camilla, 88 Silla de ruedas, 2 Refrigerador para vacunas, 1 Congelador para vacunas.</a:t>
                      </a:r>
                    </a:p>
                  </a:txBody>
                  <a:tcPr>
                    <a:solidFill>
                      <a:srgbClr val="EFEFEF"/>
                    </a:solidFill>
                  </a:tcPr>
                </a:tc>
                <a:tc>
                  <a:txBody>
                    <a:bodyPr/>
                    <a:lstStyle/>
                    <a:p>
                      <a:pPr>
                        <a:defRPr sz="1100">
                          <a:latin typeface="Montserrat"/>
                        </a:defRPr>
                      </a:pPr>
                      <a:r>
                        <a:t>$19.5</a:t>
                      </a:r>
                    </a:p>
                  </a:txBody>
                  <a:tcPr>
                    <a:solidFill>
                      <a:srgbClr val="EFEFEF"/>
                    </a:solidFill>
                  </a:tcPr>
                </a:tc>
              </a:tr>
              <a:tr h="276923">
                <a:tc>
                  <a:txBody>
                    <a:bodyPr/>
                    <a:lstStyle/>
                    <a:p>
                      <a:pPr>
                        <a:defRPr sz="1100">
                          <a:latin typeface="Montserrat"/>
                        </a:defRPr>
                      </a:pPr>
                      <a:r>
                        <a:t>Adquisición de 7 piezas de equipo electromecánico: 3 Plantas de lavado, 2 Elevadores, 2 Aires Acondicionados.</a:t>
                      </a:r>
                    </a:p>
                  </a:txBody>
                  <a:tcPr>
                    <a:solidFill>
                      <a:srgbClr val="FFFFFF"/>
                    </a:solidFill>
                  </a:tcPr>
                </a:tc>
                <a:tc>
                  <a:txBody>
                    <a:bodyPr/>
                    <a:lstStyle/>
                    <a:p>
                      <a:pPr>
                        <a:defRPr sz="1100">
                          <a:latin typeface="Montserrat"/>
                        </a:defRPr>
                      </a:pPr>
                      <a:r>
                        <a:t>$37.6</a:t>
                      </a:r>
                    </a:p>
                  </a:txBody>
                  <a:tcPr>
                    <a:solidFill>
                      <a:srgbClr val="FFFFFF"/>
                    </a:solidFill>
                  </a:tcPr>
                </a:tc>
              </a:tr>
              <a:tr h="276923">
                <a:tc>
                  <a:txBody>
                    <a:bodyPr/>
                    <a:lstStyle/>
                    <a:p>
                      <a:pPr>
                        <a:defRPr sz="1100" b="1">
                          <a:latin typeface="Montserrat"/>
                        </a:defRPr>
                      </a:pPr>
                      <a:r>
                        <a:t>Inversión conservación</a:t>
                      </a:r>
                    </a:p>
                  </a:txBody>
                  <a:tcPr>
                    <a:solidFill>
                      <a:srgbClr val="ADADAD"/>
                    </a:solidFill>
                  </a:tcPr>
                </a:tc>
                <a:tc>
                  <a:txBody>
                    <a:bodyPr/>
                    <a:lstStyle/>
                    <a:p>
                      <a:pPr>
                        <a:defRPr sz="1100" b="1">
                          <a:latin typeface="Montserrat"/>
                        </a:defRPr>
                      </a:pPr>
                    </a:p>
                  </a:txBody>
                  <a:tcPr>
                    <a:solidFill>
                      <a:srgbClr val="ADADAD"/>
                    </a:solidFill>
                  </a:tcPr>
                </a:tc>
              </a:tr>
              <a:tr h="276923">
                <a:tc>
                  <a:txBody>
                    <a:bodyPr/>
                    <a:lstStyle/>
                    <a:p>
                      <a:pPr>
                        <a:defRPr sz="1100">
                          <a:latin typeface="Montserrat"/>
                        </a:defRPr>
                      </a:pPr>
                      <a:r>
                        <a:t>Intervención en áreas de Residencias Médicas en 3 unidades</a:t>
                      </a:r>
                    </a:p>
                  </a:txBody>
                  <a:tcPr>
                    <a:solidFill>
                      <a:srgbClr val="EFEFEF"/>
                    </a:solidFill>
                  </a:tcPr>
                </a:tc>
                <a:tc>
                  <a:txBody>
                    <a:bodyPr/>
                    <a:lstStyle/>
                    <a:p>
                      <a:pPr>
                        <a:defRPr sz="1100">
                          <a:latin typeface="Montserrat"/>
                        </a:defRPr>
                      </a:pPr>
                      <a:r>
                        <a:t>$2.5</a:t>
                      </a:r>
                    </a:p>
                  </a:txBody>
                  <a:tcPr>
                    <a:solidFill>
                      <a:srgbClr val="EFEFEF"/>
                    </a:solidFill>
                  </a:tcPr>
                </a:tc>
              </a:tr>
              <a:tr h="276923">
                <a:tc>
                  <a:txBody>
                    <a:bodyPr/>
                    <a:lstStyle/>
                    <a:p>
                      <a:pPr>
                        <a:defRPr sz="1100">
                          <a:latin typeface="Montserrat"/>
                        </a:defRPr>
                      </a:pPr>
                      <a:r>
                        <a:t>Intervención en áreas de Terapia Intensiva en 2 unidades</a:t>
                      </a:r>
                    </a:p>
                  </a:txBody>
                  <a:tcPr>
                    <a:solidFill>
                      <a:srgbClr val="FFFFFF"/>
                    </a:solidFill>
                  </a:tcPr>
                </a:tc>
                <a:tc>
                  <a:txBody>
                    <a:bodyPr/>
                    <a:lstStyle/>
                    <a:p>
                      <a:pPr>
                        <a:defRPr sz="1100">
                          <a:latin typeface="Montserrat"/>
                        </a:defRPr>
                      </a:pPr>
                      <a:r>
                        <a:t>$8.0</a:t>
                      </a:r>
                    </a:p>
                  </a:txBody>
                  <a:tcPr>
                    <a:solidFill>
                      <a:srgbClr val="FFFFFF"/>
                    </a:solidFill>
                  </a:tcPr>
                </a:tc>
              </a:tr>
              <a:tr h="276923">
                <a:tc>
                  <a:txBody>
                    <a:bodyPr/>
                    <a:lstStyle/>
                    <a:p>
                      <a:pPr>
                        <a:defRPr sz="1100" b="1">
                          <a:latin typeface="Montserrat"/>
                        </a:defRPr>
                      </a:pPr>
                      <a:r>
                        <a:t>Programa Anual de Operaciones</a:t>
                      </a:r>
                    </a:p>
                  </a:txBody>
                  <a:tcPr>
                    <a:solidFill>
                      <a:srgbClr val="ADADAD"/>
                    </a:solidFill>
                  </a:tcPr>
                </a:tc>
                <a:tc>
                  <a:txBody>
                    <a:bodyPr/>
                    <a:lstStyle/>
                    <a:p>
                      <a:pPr>
                        <a:defRPr sz="1100" b="1">
                          <a:latin typeface="Montserrat"/>
                        </a:defRPr>
                      </a:pPr>
                    </a:p>
                  </a:txBody>
                  <a:tcPr>
                    <a:solidFill>
                      <a:srgbClr val="ADADAD"/>
                    </a:solidFill>
                  </a:tcPr>
                </a:tc>
              </a:tr>
              <a:tr h="276923">
                <a:tc>
                  <a:txBody>
                    <a:bodyPr/>
                    <a:lstStyle/>
                    <a:p>
                      <a:pPr>
                        <a:defRPr sz="1100">
                          <a:latin typeface="Montserrat"/>
                        </a:defRPr>
                      </a:pPr>
                      <a:r>
                        <a:t>Mantenimiento a equipo médico, onda de calor, mantenimiento a centrales de aire grado médico, entre otros</a:t>
                      </a:r>
                    </a:p>
                  </a:txBody>
                  <a:tcPr>
                    <a:solidFill>
                      <a:srgbClr val="EFEFEF"/>
                    </a:solidFill>
                  </a:tcPr>
                </a:tc>
                <a:tc>
                  <a:txBody>
                    <a:bodyPr/>
                    <a:lstStyle/>
                    <a:p>
                      <a:pPr>
                        <a:defRPr sz="1100">
                          <a:latin typeface="Montserrat"/>
                        </a:defRPr>
                      </a:pPr>
                      <a:r>
                        <a:t>$169.3</a:t>
                      </a:r>
                    </a:p>
                  </a:txBody>
                  <a:tcPr>
                    <a:solidFill>
                      <a:srgbClr val="EFEFEF"/>
                    </a:solidFill>
                  </a:tcPr>
                </a:tc>
              </a:tr>
              <a:tr h="276923">
                <a:tc>
                  <a:txBody>
                    <a:bodyPr/>
                    <a:lstStyle/>
                    <a:p>
                      <a:pPr>
                        <a:defRPr sz="1100" b="1">
                          <a:latin typeface="Montserrat"/>
                        </a:defRPr>
                      </a:pPr>
                      <a:r>
                        <a:t>Proyectos de infraestructura</a:t>
                      </a:r>
                    </a:p>
                  </a:txBody>
                  <a:tcPr>
                    <a:solidFill>
                      <a:srgbClr val="ADADAD"/>
                    </a:solidFill>
                  </a:tcPr>
                </a:tc>
                <a:tc>
                  <a:txBody>
                    <a:bodyPr/>
                    <a:lstStyle/>
                    <a:p>
                      <a:pPr>
                        <a:defRPr sz="1100" b="1">
                          <a:latin typeface="Montserrat"/>
                        </a:defRPr>
                      </a:pPr>
                    </a:p>
                  </a:txBody>
                  <a:tcPr>
                    <a:solidFill>
                      <a:srgbClr val="ADADAD"/>
                    </a:solidFill>
                  </a:tcPr>
                </a:tc>
              </a:tr>
              <a:tr h="276923">
                <a:tc>
                  <a:txBody>
                    <a:bodyPr/>
                    <a:lstStyle/>
                    <a:p>
                      <a:pPr>
                        <a:defRPr sz="1100">
                          <a:latin typeface="Montserrat"/>
                        </a:defRPr>
                      </a:pPr>
                      <a:r>
                        <a:t>Club de Personas Mayores en la Unidad Deportiva "Fidel Velázquez"</a:t>
                      </a:r>
                    </a:p>
                  </a:txBody>
                  <a:tcPr>
                    <a:solidFill>
                      <a:srgbClr val="EFEFEF"/>
                    </a:solidFill>
                  </a:tcPr>
                </a:tc>
                <a:tc>
                  <a:txBody>
                    <a:bodyPr/>
                    <a:lstStyle/>
                    <a:p>
                      <a:pPr>
                        <a:defRPr sz="1100">
                          <a:latin typeface="Montserrat"/>
                        </a:defRPr>
                      </a:pPr>
                      <a:r>
                        <a:t>$12.7</a:t>
                      </a:r>
                    </a:p>
                  </a:txBody>
                  <a:tcPr>
                    <a:solidFill>
                      <a:srgbClr val="EFEFEF"/>
                    </a:solidFill>
                  </a:tcPr>
                </a:tc>
              </a:tr>
              <a:tr h="276923">
                <a:tc>
                  <a:txBody>
                    <a:bodyPr/>
                    <a:lstStyle/>
                    <a:p>
                      <a:pPr>
                        <a:defRPr sz="1100">
                          <a:latin typeface="Montserrat"/>
                        </a:defRPr>
                      </a:pPr>
                      <a:r>
                        <a:t>Estudios de Preinversión para la Construcción del HGZ de 90 Camas, Yecapixtla</a:t>
                      </a:r>
                    </a:p>
                  </a:txBody>
                  <a:tcPr>
                    <a:solidFill>
                      <a:srgbClr val="FFFFFF"/>
                    </a:solidFill>
                  </a:tcPr>
                </a:tc>
                <a:tc>
                  <a:txBody>
                    <a:bodyPr/>
                    <a:lstStyle/>
                    <a:p>
                      <a:pPr>
                        <a:defRPr sz="1100">
                          <a:latin typeface="Montserrat"/>
                        </a:defRPr>
                      </a:pPr>
                      <a:r>
                        <a:t>$24.4</a:t>
                      </a:r>
                    </a:p>
                  </a:txBody>
                  <a:tcPr>
                    <a:solidFill>
                      <a:srgbClr val="FFFFFF"/>
                    </a:solidFill>
                  </a:tcPr>
                </a:tc>
              </a:tr>
              <a:tr h="276924">
                <a:tc>
                  <a:txBody>
                    <a:bodyPr/>
                    <a:lstStyle/>
                    <a:p>
                      <a:pPr>
                        <a:defRPr sz="1100">
                          <a:latin typeface="Montserrat"/>
                        </a:defRPr>
                      </a:pPr>
                      <a:r>
                        <a:t>HGZ de 90 camas, Yecapixtla</a:t>
                      </a:r>
                    </a:p>
                  </a:txBody>
                  <a:tcPr>
                    <a:solidFill>
                      <a:srgbClr val="EFEFEF"/>
                    </a:solidFill>
                  </a:tcPr>
                </a:tc>
                <a:tc>
                  <a:txBody>
                    <a:bodyPr/>
                    <a:lstStyle/>
                    <a:p>
                      <a:pPr>
                        <a:defRPr sz="1100">
                          <a:latin typeface="Montserrat"/>
                        </a:defRPr>
                      </a:pPr>
                      <a:r>
                        <a:t>$3,253.1</a:t>
                      </a:r>
                    </a:p>
                  </a:txBody>
                  <a:tcPr>
                    <a:solidFill>
                      <a:srgbClr val="EFEFEF"/>
                    </a:solidFill>
                  </a:tcPr>
                </a:tc>
              </a:tr>
            </a:tbl>
          </a:graphicData>
        </a:graphic>
      </p:graphicFrame>
      <p:sp>
        <p:nvSpPr>
          <p:cNvPr id="7" name="TextBox 6"/>
          <p:cNvSpPr txBox="1"/>
          <p:nvPr/>
        </p:nvSpPr>
        <p:spPr>
          <a:xfrm>
            <a:off x="522000" y="2361600"/>
            <a:ext cx="1306800" cy="338400"/>
          </a:xfrm>
          <a:prstGeom prst="rect">
            <a:avLst/>
          </a:prstGeom>
          <a:noFill/>
        </p:spPr>
        <p:txBody>
          <a:bodyPr wrap="none">
            <a:spAutoFit/>
          </a:bodyPr>
          <a:lstStyle/>
          <a:p>
            <a:pPr algn="ctr">
              <a:defRPr sz="1400" b="1">
                <a:solidFill>
                  <a:srgbClr val="FFFFFF"/>
                </a:solidFill>
                <a:latin typeface="Montserrat"/>
              </a:defRPr>
            </a:pPr>
            <a:r>
              <a:t>3,527.1 mdp</a:t>
            </a:r>
          </a:p>
        </p:txBody>
      </p:sp>
    </p:spTree>
    <p:extLst>
      <p:ext uri="{BB962C8B-B14F-4D97-AF65-F5344CB8AC3E}">
        <p14:creationId xmlns:p14="http://schemas.microsoft.com/office/powerpoint/2010/main" val="364733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graphicFrame>
        <p:nvGraphicFramePr>
          <p:cNvPr id="5" name="Google Shape;370;p14">
            <a:extLst>
              <a:ext uri="{FF2B5EF4-FFF2-40B4-BE49-F238E27FC236}">
                <a16:creationId xmlns:a16="http://schemas.microsoft.com/office/drawing/2014/main" id="{B709195D-5962-6442-81D8-2EFB6D8D7190}"/>
              </a:ext>
            </a:extLst>
          </p:cNvPr>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Inversión, 2019-2024</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371;p14">
            <a:extLst>
              <a:ext uri="{FF2B5EF4-FFF2-40B4-BE49-F238E27FC236}">
                <a16:creationId xmlns:a16="http://schemas.microsoft.com/office/drawing/2014/main" id="{6AC64192-1EFE-6740-4042-23283E03A151}"/>
              </a:ext>
            </a:extLst>
          </p:cNvPr>
          <p:cNvPicPr preferRelativeResize="0"/>
          <p:nvPr/>
        </p:nvPicPr>
        <p:blipFill rotWithShape="1">
          <a:blip r:embed="rId4">
            <a:alphaModFix/>
          </a:blip>
          <a:srcRect/>
          <a:stretch/>
        </p:blipFill>
        <p:spPr>
          <a:xfrm>
            <a:off x="172834" y="2245621"/>
            <a:ext cx="1599006" cy="585000"/>
          </a:xfrm>
          <a:prstGeom prst="rect">
            <a:avLst/>
          </a:prstGeom>
          <a:noFill/>
          <a:ln>
            <a:noFill/>
          </a:ln>
        </p:spPr>
      </p:pic>
      <p:sp>
        <p:nvSpPr>
          <p:cNvPr id="7" name="Google Shape;373;p14">
            <a:extLst>
              <a:ext uri="{FF2B5EF4-FFF2-40B4-BE49-F238E27FC236}">
                <a16:creationId xmlns:a16="http://schemas.microsoft.com/office/drawing/2014/main" id="{E7E32C0D-5A5C-F971-661D-A7FFF038D554}"/>
              </a:ext>
            </a:extLst>
          </p:cNvPr>
          <p:cNvSpPr txBox="1"/>
          <p:nvPr/>
        </p:nvSpPr>
        <p:spPr>
          <a:xfrm>
            <a:off x="363901" y="1991425"/>
            <a:ext cx="1304400" cy="286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s" sz="1200" b="1" i="0" u="none" strike="noStrike" cap="none">
                <a:solidFill>
                  <a:srgbClr val="006455"/>
                </a:solidFill>
                <a:latin typeface="Montserrat"/>
                <a:ea typeface="Montserrat"/>
                <a:cs typeface="Montserrat"/>
                <a:sym typeface="Montserrat"/>
              </a:rPr>
              <a:t>¿Qué se hizo? </a:t>
            </a:r>
            <a:br>
              <a:rPr lang="es" sz="1200" b="1" i="0" u="none" strike="noStrike" cap="none">
                <a:solidFill>
                  <a:srgbClr val="006455"/>
                </a:solidFill>
                <a:latin typeface="Montserrat"/>
                <a:ea typeface="Montserrat"/>
                <a:cs typeface="Montserrat"/>
                <a:sym typeface="Montserrat"/>
              </a:rPr>
            </a:br>
            <a:r>
              <a:rPr lang="es" sz="1200" b="1" i="0" u="none" strike="noStrike" cap="none">
                <a:solidFill>
                  <a:srgbClr val="006455"/>
                </a:solidFill>
                <a:latin typeface="Montserrat"/>
                <a:ea typeface="Montserrat"/>
                <a:cs typeface="Montserrat"/>
                <a:sym typeface="Montserrat"/>
              </a:rPr>
              <a:t>2019-2024</a:t>
            </a:r>
            <a:endParaRPr sz="1200" b="0" i="0" u="none" strike="noStrike" cap="none">
              <a:solidFill>
                <a:srgbClr val="595959"/>
              </a:solidFill>
              <a:latin typeface="Arial"/>
              <a:ea typeface="Arial"/>
              <a:cs typeface="Arial"/>
              <a:sym typeface="Arial"/>
            </a:endParaRP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graphicFrame>
        <p:nvGraphicFramePr>
          <p:cNvPr id="9" name="Table 8"/>
          <p:cNvGraphicFramePr>
            <a:graphicFrameLocks noGrp="1"/>
          </p:cNvGraphicFramePr>
          <p:nvPr/>
        </p:nvGraphicFramePr>
        <p:xfrm>
          <a:off x="1886400" y="1584000"/>
          <a:ext cx="5670000" cy="3600000"/>
        </p:xfrm>
        <a:graphic>
          <a:graphicData uri="http://schemas.openxmlformats.org/drawingml/2006/table">
            <a:tbl>
              <a:tblPr firstRow="1" bandRow="1">
                <a:tableStyleId>{5C22544A-7EE6-4342-B048-85BDC9FD1C3A}</a:tableStyleId>
              </a:tblPr>
              <a:tblGrid>
                <a:gridCol w="4795200"/>
                <a:gridCol w="874800"/>
              </a:tblGrid>
              <a:tr h="257142">
                <a:tc>
                  <a:txBody>
                    <a:bodyPr/>
                    <a:lstStyle/>
                    <a:p>
                      <a:pPr algn="ctr">
                        <a:defRPr b="1" sz="1000">
                          <a:solidFill>
                            <a:srgbClr val="FFFFFF"/>
                          </a:solidFill>
                          <a:latin typeface="Montserrat"/>
                        </a:defRPr>
                      </a:pPr>
                      <a:r>
                        <a:t>Descripción</a:t>
                      </a:r>
                    </a:p>
                  </a:txBody>
                  <a:tcPr>
                    <a:solidFill>
                      <a:srgbClr val="006455"/>
                    </a:solidFill>
                  </a:tcPr>
                </a:tc>
                <a:tc>
                  <a:txBody>
                    <a:bodyPr/>
                    <a:lstStyle/>
                    <a:p>
                      <a:pPr algn="ctr">
                        <a:defRPr b="1" sz="1000">
                          <a:solidFill>
                            <a:srgbClr val="FFFFFF"/>
                          </a:solidFill>
                          <a:latin typeface="Montserrat"/>
                        </a:defRPr>
                      </a:pPr>
                      <a:r>
                        <a:t>Monto (mdp)</a:t>
                      </a:r>
                    </a:p>
                  </a:txBody>
                  <a:tcPr>
                    <a:solidFill>
                      <a:srgbClr val="006455"/>
                    </a:solidFill>
                  </a:tcPr>
                </a:tc>
              </a:tr>
              <a:tr h="257142">
                <a:tc>
                  <a:txBody>
                    <a:bodyPr/>
                    <a:lstStyle/>
                    <a:p>
                      <a:pPr>
                        <a:defRPr sz="1000" b="1">
                          <a:latin typeface="Montserrat"/>
                        </a:defRPr>
                      </a:pPr>
                      <a:r>
                        <a:t>Obras de infraestructura</a:t>
                      </a:r>
                    </a:p>
                  </a:txBody>
                  <a:tcPr>
                    <a:solidFill>
                      <a:srgbClr val="ADADAD"/>
                    </a:solidFill>
                  </a:tcPr>
                </a:tc>
                <a:tc>
                  <a:txBody>
                    <a:bodyPr/>
                    <a:lstStyle/>
                    <a:p>
                      <a:pPr>
                        <a:defRPr sz="1000" b="1">
                          <a:latin typeface="Montserrat"/>
                        </a:defRPr>
                      </a:pPr>
                    </a:p>
                  </a:txBody>
                  <a:tcPr>
                    <a:solidFill>
                      <a:srgbClr val="ADADAD"/>
                    </a:solidFill>
                  </a:tcPr>
                </a:tc>
              </a:tr>
              <a:tr h="257142">
                <a:tc>
                  <a:txBody>
                    <a:bodyPr/>
                    <a:lstStyle/>
                    <a:p>
                      <a:pPr>
                        <a:defRPr sz="1000">
                          <a:latin typeface="Montserrat"/>
                        </a:defRPr>
                      </a:pPr>
                      <a:r>
                        <a:t>Ampliación y remodelación de Centro Vacacional, Oaxtepec</a:t>
                      </a:r>
                    </a:p>
                  </a:txBody>
                  <a:tcPr>
                    <a:solidFill>
                      <a:srgbClr val="EFEFEF"/>
                    </a:solidFill>
                  </a:tcPr>
                </a:tc>
                <a:tc>
                  <a:txBody>
                    <a:bodyPr/>
                    <a:lstStyle/>
                    <a:p>
                      <a:pPr>
                        <a:defRPr sz="1000">
                          <a:latin typeface="Montserrat"/>
                        </a:defRPr>
                      </a:pPr>
                      <a:r>
                        <a:t>$106.6</a:t>
                      </a:r>
                    </a:p>
                  </a:txBody>
                  <a:tcPr>
                    <a:solidFill>
                      <a:srgbClr val="EFEFEF"/>
                    </a:solidFill>
                  </a:tcPr>
                </a:tc>
              </a:tr>
              <a:tr h="257142">
                <a:tc>
                  <a:txBody>
                    <a:bodyPr/>
                    <a:lstStyle/>
                    <a:p>
                      <a:pPr>
                        <a:defRPr sz="1000">
                          <a:latin typeface="Montserrat"/>
                        </a:defRPr>
                      </a:pPr>
                      <a:r>
                        <a:t>Ampliación y remodelación de la Guardería, Cuernavaca</a:t>
                      </a:r>
                    </a:p>
                  </a:txBody>
                  <a:tcPr>
                    <a:solidFill>
                      <a:srgbClr val="FFFFFF"/>
                    </a:solidFill>
                  </a:tcPr>
                </a:tc>
                <a:tc>
                  <a:txBody>
                    <a:bodyPr/>
                    <a:lstStyle/>
                    <a:p>
                      <a:pPr>
                        <a:defRPr sz="1000">
                          <a:latin typeface="Montserrat"/>
                        </a:defRPr>
                      </a:pPr>
                      <a:r>
                        <a:t>$8.0</a:t>
                      </a:r>
                    </a:p>
                  </a:txBody>
                  <a:tcPr>
                    <a:solidFill>
                      <a:srgbClr val="FFFFFF"/>
                    </a:solidFill>
                  </a:tcPr>
                </a:tc>
              </a:tr>
              <a:tr h="257142">
                <a:tc>
                  <a:txBody>
                    <a:bodyPr/>
                    <a:lstStyle/>
                    <a:p>
                      <a:pPr>
                        <a:defRPr sz="1000">
                          <a:latin typeface="Montserrat"/>
                        </a:defRPr>
                      </a:pPr>
                      <a:r>
                        <a:t>Proyecto Ejecutivo HGZ 90 camas, Yecapixtla</a:t>
                      </a:r>
                    </a:p>
                  </a:txBody>
                  <a:tcPr>
                    <a:solidFill>
                      <a:srgbClr val="EFEFEF"/>
                    </a:solidFill>
                  </a:tcPr>
                </a:tc>
                <a:tc>
                  <a:txBody>
                    <a:bodyPr/>
                    <a:lstStyle/>
                    <a:p>
                      <a:pPr>
                        <a:defRPr sz="1000">
                          <a:latin typeface="Montserrat"/>
                        </a:defRPr>
                      </a:pPr>
                      <a:r>
                        <a:t>$60.0</a:t>
                      </a:r>
                    </a:p>
                  </a:txBody>
                  <a:tcPr>
                    <a:solidFill>
                      <a:srgbClr val="EFEFEF"/>
                    </a:solidFill>
                  </a:tcPr>
                </a:tc>
              </a:tr>
              <a:tr h="257142">
                <a:tc>
                  <a:txBody>
                    <a:bodyPr/>
                    <a:lstStyle/>
                    <a:p>
                      <a:pPr>
                        <a:defRPr sz="1000">
                          <a:latin typeface="Montserrat"/>
                        </a:defRPr>
                      </a:pPr>
                      <a:r>
                        <a:t>Rehabilitación del HGZ/MF No.5, Zacatepec</a:t>
                      </a:r>
                    </a:p>
                  </a:txBody>
                  <a:tcPr>
                    <a:solidFill>
                      <a:srgbClr val="FFFFFF"/>
                    </a:solidFill>
                  </a:tcPr>
                </a:tc>
                <a:tc>
                  <a:txBody>
                    <a:bodyPr/>
                    <a:lstStyle/>
                    <a:p>
                      <a:pPr>
                        <a:defRPr sz="1000">
                          <a:latin typeface="Montserrat"/>
                        </a:defRPr>
                      </a:pPr>
                      <a:r>
                        <a:t>$259.1</a:t>
                      </a:r>
                    </a:p>
                  </a:txBody>
                  <a:tcPr>
                    <a:solidFill>
                      <a:srgbClr val="FFFFFF"/>
                    </a:solidFill>
                  </a:tcPr>
                </a:tc>
              </a:tr>
              <a:tr h="257142">
                <a:tc>
                  <a:txBody>
                    <a:bodyPr/>
                    <a:lstStyle/>
                    <a:p>
                      <a:pPr>
                        <a:defRPr sz="1000">
                          <a:latin typeface="Montserrat"/>
                        </a:defRPr>
                      </a:pPr>
                      <a:r>
                        <a:t>Rehabilitación estructural y ampliación del HGZ/MF No.7, Cuautla</a:t>
                      </a:r>
                    </a:p>
                  </a:txBody>
                  <a:tcPr>
                    <a:solidFill>
                      <a:srgbClr val="EFEFEF"/>
                    </a:solidFill>
                  </a:tcPr>
                </a:tc>
                <a:tc>
                  <a:txBody>
                    <a:bodyPr/>
                    <a:lstStyle/>
                    <a:p>
                      <a:pPr>
                        <a:defRPr sz="1000">
                          <a:latin typeface="Montserrat"/>
                        </a:defRPr>
                      </a:pPr>
                      <a:r>
                        <a:t>$908.5</a:t>
                      </a:r>
                    </a:p>
                  </a:txBody>
                  <a:tcPr>
                    <a:solidFill>
                      <a:srgbClr val="EFEFEF"/>
                    </a:solidFill>
                  </a:tcPr>
                </a:tc>
              </a:tr>
              <a:tr h="257142">
                <a:tc>
                  <a:txBody>
                    <a:bodyPr/>
                    <a:lstStyle/>
                    <a:p>
                      <a:pPr>
                        <a:defRPr sz="1000">
                          <a:latin typeface="Montserrat"/>
                        </a:defRPr>
                      </a:pPr>
                      <a:r>
                        <a:t>Sala de Hemodinamia HGR/MF No.1, Cuernavaca</a:t>
                      </a:r>
                    </a:p>
                  </a:txBody>
                  <a:tcPr>
                    <a:solidFill>
                      <a:srgbClr val="FFFFFF"/>
                    </a:solidFill>
                  </a:tcPr>
                </a:tc>
                <a:tc>
                  <a:txBody>
                    <a:bodyPr/>
                    <a:lstStyle/>
                    <a:p>
                      <a:pPr>
                        <a:defRPr sz="1000">
                          <a:latin typeface="Montserrat"/>
                        </a:defRPr>
                      </a:pPr>
                      <a:r>
                        <a:t>$31.1</a:t>
                      </a:r>
                    </a:p>
                  </a:txBody>
                  <a:tcPr>
                    <a:solidFill>
                      <a:srgbClr val="FFFFFF"/>
                    </a:solidFill>
                  </a:tcPr>
                </a:tc>
              </a:tr>
              <a:tr h="257142">
                <a:tc>
                  <a:txBody>
                    <a:bodyPr/>
                    <a:lstStyle/>
                    <a:p>
                      <a:pPr>
                        <a:defRPr sz="1000">
                          <a:latin typeface="Montserrat"/>
                        </a:defRPr>
                      </a:pPr>
                      <a:r>
                        <a:t>Sustitución de techumbre del Gimnasio en Centro de Seguridad Social, Cuernavaca</a:t>
                      </a:r>
                    </a:p>
                  </a:txBody>
                  <a:tcPr>
                    <a:solidFill>
                      <a:srgbClr val="EFEFEF"/>
                    </a:solidFill>
                  </a:tcPr>
                </a:tc>
                <a:tc>
                  <a:txBody>
                    <a:bodyPr/>
                    <a:lstStyle/>
                    <a:p>
                      <a:pPr>
                        <a:defRPr sz="1000">
                          <a:latin typeface="Montserrat"/>
                        </a:defRPr>
                      </a:pPr>
                      <a:r>
                        <a:t>$2.2</a:t>
                      </a:r>
                    </a:p>
                  </a:txBody>
                  <a:tcPr>
                    <a:solidFill>
                      <a:srgbClr val="EFEFEF"/>
                    </a:solidFill>
                  </a:tcPr>
                </a:tc>
              </a:tr>
              <a:tr h="257142">
                <a:tc>
                  <a:txBody>
                    <a:bodyPr/>
                    <a:lstStyle/>
                    <a:p>
                      <a:pPr>
                        <a:defRPr sz="1000" b="1">
                          <a:latin typeface="Montserrat"/>
                        </a:defRPr>
                      </a:pPr>
                      <a:r>
                        <a:t>Proyectos de conservación</a:t>
                      </a:r>
                    </a:p>
                  </a:txBody>
                  <a:tcPr>
                    <a:solidFill>
                      <a:srgbClr val="ADADAD"/>
                    </a:solidFill>
                  </a:tcPr>
                </a:tc>
                <a:tc>
                  <a:txBody>
                    <a:bodyPr/>
                    <a:lstStyle/>
                    <a:p>
                      <a:pPr>
                        <a:defRPr sz="1000" b="1">
                          <a:latin typeface="Montserrat"/>
                        </a:defRPr>
                      </a:pPr>
                    </a:p>
                  </a:txBody>
                  <a:tcPr>
                    <a:solidFill>
                      <a:srgbClr val="ADADAD"/>
                    </a:solidFill>
                  </a:tcPr>
                </a:tc>
              </a:tr>
              <a:tr h="257142">
                <a:tc>
                  <a:txBody>
                    <a:bodyPr/>
                    <a:lstStyle/>
                    <a:p>
                      <a:pPr>
                        <a:defRPr sz="1000">
                          <a:latin typeface="Montserrat"/>
                        </a:defRPr>
                      </a:pPr>
                      <a:r>
                        <a:t>Adquisición y sustitución de equipo electromecánico (3 lavadoras y secadoras, 2 cámaras frías, 1 montacargas)</a:t>
                      </a:r>
                    </a:p>
                  </a:txBody>
                  <a:tcPr>
                    <a:solidFill>
                      <a:srgbClr val="EFEFEF"/>
                    </a:solidFill>
                  </a:tcPr>
                </a:tc>
                <a:tc>
                  <a:txBody>
                    <a:bodyPr/>
                    <a:lstStyle/>
                    <a:p>
                      <a:pPr>
                        <a:defRPr sz="1000">
                          <a:latin typeface="Montserrat"/>
                        </a:defRPr>
                      </a:pPr>
                      <a:r>
                        <a:t>$28.9</a:t>
                      </a:r>
                    </a:p>
                  </a:txBody>
                  <a:tcPr>
                    <a:solidFill>
                      <a:srgbClr val="EFEFEF"/>
                    </a:solidFill>
                  </a:tcPr>
                </a:tc>
              </a:tr>
              <a:tr h="257142">
                <a:tc>
                  <a:txBody>
                    <a:bodyPr/>
                    <a:lstStyle/>
                    <a:p>
                      <a:pPr>
                        <a:defRPr sz="1000">
                          <a:latin typeface="Montserrat"/>
                        </a:defRPr>
                      </a:pPr>
                      <a:r>
                        <a:t>Dignificación de 15 Unidades de Medicina Familiar: UMF 02 Xochitepec, HGZ 05 C/MF Zacatepec, UMF 08 Ciudad de Ayala, UMF 09 Tlaltizapán, UMF 10 Chinameca, UMF 11 Tlaquiltenango, UMF 13 Miacatlán, UMF 14 Oacalco, UMF 16 Temixco, UMF 17 Tezoyuca, UMF 18 Zapata, UMF 21 Jantetelco, UMF 22 Tepalcingo y UMF 24 Yecapixtla.</a:t>
                      </a:r>
                    </a:p>
                  </a:txBody>
                  <a:tcPr>
                    <a:solidFill>
                      <a:srgbClr val="FFFFFF"/>
                    </a:solidFill>
                  </a:tcPr>
                </a:tc>
                <a:tc>
                  <a:txBody>
                    <a:bodyPr/>
                    <a:lstStyle/>
                    <a:p>
                      <a:pPr>
                        <a:defRPr sz="1000">
                          <a:latin typeface="Montserrat"/>
                        </a:defRPr>
                      </a:pPr>
                      <a:r>
                        <a:t>$20.6</a:t>
                      </a:r>
                    </a:p>
                  </a:txBody>
                  <a:tcPr>
                    <a:solidFill>
                      <a:srgbClr val="FFFFFF"/>
                    </a:solidFill>
                  </a:tcPr>
                </a:tc>
              </a:tr>
              <a:tr h="257142">
                <a:tc>
                  <a:txBody>
                    <a:bodyPr/>
                    <a:lstStyle/>
                    <a:p>
                      <a:pPr>
                        <a:defRPr sz="1000">
                          <a:latin typeface="Montserrat"/>
                        </a:defRPr>
                      </a:pPr>
                      <a:r>
                        <a:t>Intervención de 2 salas de quirófano en HGZ No.5, Zacatepec</a:t>
                      </a:r>
                    </a:p>
                  </a:txBody>
                  <a:tcPr>
                    <a:solidFill>
                      <a:srgbClr val="EFEFEF"/>
                    </a:solidFill>
                  </a:tcPr>
                </a:tc>
                <a:tc>
                  <a:txBody>
                    <a:bodyPr/>
                    <a:lstStyle/>
                    <a:p>
                      <a:pPr>
                        <a:defRPr sz="1000">
                          <a:latin typeface="Montserrat"/>
                        </a:defRPr>
                      </a:pPr>
                      <a:r>
                        <a:t>$0.9</a:t>
                      </a:r>
                    </a:p>
                  </a:txBody>
                  <a:tcPr>
                    <a:solidFill>
                      <a:srgbClr val="EFEFEF"/>
                    </a:solidFill>
                  </a:tcPr>
                </a:tc>
              </a:tr>
              <a:tr h="257154">
                <a:tc>
                  <a:txBody>
                    <a:bodyPr/>
                    <a:lstStyle/>
                    <a:p>
                      <a:pPr>
                        <a:defRPr sz="1000">
                          <a:latin typeface="Montserrat"/>
                        </a:defRPr>
                      </a:pPr>
                      <a:r>
                        <a:t>Sustitución de 211 piezas de equipo médico (Cama Camilla Radiotransparente,  Carro Camilla,</a:t>
                      </a:r>
                    </a:p>
                    <a:p>
                      <a:r>
                        <a:t>Congelador y Refrigerador Congelador)</a:t>
                      </a:r>
                    </a:p>
                  </a:txBody>
                  <a:tcPr>
                    <a:solidFill>
                      <a:srgbClr val="FFFFFF"/>
                    </a:solidFill>
                  </a:tcPr>
                </a:tc>
                <a:tc>
                  <a:txBody>
                    <a:bodyPr/>
                    <a:lstStyle/>
                    <a:p>
                      <a:pPr>
                        <a:defRPr sz="1000">
                          <a:latin typeface="Montserrat"/>
                        </a:defRPr>
                      </a:pPr>
                      <a:r>
                        <a:t>$19.4</a:t>
                      </a:r>
                    </a:p>
                  </a:txBody>
                  <a:tcPr>
                    <a:solidFill>
                      <a:srgbClr val="FFFFFF"/>
                    </a:solidFill>
                  </a:tcPr>
                </a:tc>
              </a:tr>
            </a:tbl>
          </a:graphicData>
        </a:graphic>
      </p:graphicFrame>
      <p:sp>
        <p:nvSpPr>
          <p:cNvPr id="10" name="TextBox 9"/>
          <p:cNvSpPr txBox="1"/>
          <p:nvPr/>
        </p:nvSpPr>
        <p:spPr>
          <a:xfrm>
            <a:off x="601200" y="2365200"/>
            <a:ext cx="1227600" cy="435600"/>
          </a:xfrm>
          <a:prstGeom prst="rect">
            <a:avLst/>
          </a:prstGeom>
          <a:noFill/>
        </p:spPr>
        <p:txBody>
          <a:bodyPr wrap="none">
            <a:spAutoFit/>
          </a:bodyPr>
          <a:lstStyle/>
          <a:p>
            <a:pPr algn="ctr">
              <a:defRPr sz="1450" b="1">
                <a:solidFill>
                  <a:srgbClr val="FFFFFF"/>
                </a:solidFill>
                <a:latin typeface="Montserrat"/>
              </a:defRPr>
            </a:pPr>
            <a:r>
              <a:t>1,445.3 mdp</a:t>
            </a:r>
          </a:p>
        </p:txBody>
      </p:sp>
    </p:spTree>
    <p:extLst>
      <p:ext uri="{BB962C8B-B14F-4D97-AF65-F5344CB8AC3E}">
        <p14:creationId xmlns:p14="http://schemas.microsoft.com/office/powerpoint/2010/main" val="3258074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MORELOS</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27 </a:t>
                      </a:r>
                      <a:r>
                        <a:rPr b="1" sz="1000">
                          <a:latin typeface="Montserrat"/>
                        </a:rPr>
                        <a:t>unidades</a:t>
                      </a:r>
                    </a:p>
                    <a:p>
                      <a:pPr algn="ctr">
                        <a:defRPr sz="1000">
                          <a:solidFill>
                            <a:srgbClr val="505050"/>
                          </a:solidFill>
                          <a:latin typeface="Montserrat"/>
                        </a:defRPr>
                      </a:pPr>
                      <a:r>
                        <a:t>1 directas</a:t>
                      </a:r>
                    </a:p>
                    <a:p>
                      <a:pPr algn="ctr">
                        <a:defRPr sz="1000">
                          <a:solidFill>
                            <a:srgbClr val="505050"/>
                          </a:solidFill>
                          <a:latin typeface="Montserrat"/>
                        </a:defRPr>
                      </a:pPr>
                      <a:r>
                        <a:t>26 indirectas</a:t>
                      </a:r>
                    </a:p>
                  </a:txBody>
                  <a:tcPr anchor="ctr">
                    <a:solidFill>
                      <a:srgbClr val="FFFFFF"/>
                    </a:solidFill>
                  </a:tcPr>
                </a:tc>
                <a:tc>
                  <a:txBody>
                    <a:bodyPr/>
                    <a:lstStyle/>
                    <a:p>
                      <a:pPr algn="ctr"/>
                      <a:r>
                        <a:rPr b="1" sz="1000">
                          <a:latin typeface="Montserrat"/>
                        </a:rPr>
                        <a:t>3,531 </a:t>
                      </a:r>
                      <a:r>
                        <a:rPr b="1" sz="1000">
                          <a:latin typeface="Montserrat"/>
                        </a:rPr>
                        <a:t>inscritos</a:t>
                      </a:r>
                    </a:p>
                    <a:p>
                      <a:pPr algn="ctr">
                        <a:defRPr sz="1000">
                          <a:solidFill>
                            <a:srgbClr val="505050"/>
                          </a:solidFill>
                          <a:latin typeface="Montserrat"/>
                        </a:defRPr>
                      </a:pPr>
                      <a:r>
                        <a:t>256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5228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522899">
                <a:tc>
                  <a:txBody>
                    <a:bodyPr/>
                    <a:lstStyle/>
                    <a:p>
                      <a:pPr algn="ctr">
                        <a:defRPr sz="1000" b="1">
                          <a:latin typeface="Montserrat"/>
                        </a:defRPr>
                      </a:pPr>
                      <a:r>
                        <a:t>1 CRESTCAP</a:t>
                      </a:r>
                    </a:p>
                  </a:txBody>
                  <a:tcPr anchor="ctr" marL="28800" marR="28800" marT="0" marB="0">
                    <a:solidFill>
                      <a:srgbClr val="FFFFFF"/>
                    </a:solidFill>
                  </a:tcPr>
                </a:tc>
                <a:tc>
                  <a:txBody>
                    <a:bodyPr/>
                    <a:lstStyle/>
                    <a:p>
                      <a:pPr algn="ctr">
                        <a:defRPr sz="1000">
                          <a:latin typeface="Montserrat"/>
                        </a:defRPr>
                      </a:pPr>
                      <a:r>
                        <a:t>Cuernavaca</a:t>
                      </a:r>
                    </a:p>
                  </a:txBody>
                  <a:tcPr anchor="ctr" marL="28800" marR="28800" marT="0" marB="0">
                    <a:solidFill>
                      <a:srgbClr val="FFFFFF"/>
                    </a:solidFill>
                  </a:tcPr>
                </a:tc>
              </a:tr>
              <a:tr h="522899">
                <a:tc>
                  <a:txBody>
                    <a:bodyPr/>
                    <a:lstStyle/>
                    <a:p>
                      <a:pPr algn="ctr">
                        <a:defRPr sz="1000" b="1">
                          <a:latin typeface="Montserrat"/>
                        </a:defRPr>
                      </a:pPr>
                      <a:r>
                        <a:t>9 Centros de Seguridad Social</a:t>
                      </a:r>
                    </a:p>
                  </a:txBody>
                  <a:tcPr anchor="ctr" marL="28800" marR="28800" marT="0" marB="0">
                    <a:solidFill>
                      <a:srgbClr val="EFEFEF"/>
                    </a:solidFill>
                  </a:tcPr>
                </a:tc>
                <a:tc>
                  <a:txBody>
                    <a:bodyPr/>
                    <a:lstStyle/>
                    <a:p>
                      <a:pPr algn="ctr">
                        <a:defRPr sz="1000">
                          <a:latin typeface="Montserrat"/>
                        </a:defRPr>
                      </a:pPr>
                      <a:r>
                        <a:t>Cuernavaca F. Velázquez, Jiutepec, Yautepec, Tlaltizapán, Villa de Ayala, Tlaquiltenango, Puente de Ixtla, Zacatepec y Jojutla</a:t>
                      </a:r>
                    </a:p>
                  </a:txBody>
                  <a:tcPr anchor="ctr" marL="28800" marR="28800" marT="0" marB="0">
                    <a:solidFill>
                      <a:srgbClr val="EFEFEF"/>
                    </a:solidFill>
                  </a:tcPr>
                </a:tc>
              </a:tr>
              <a:tr h="522902">
                <a:tc>
                  <a:txBody>
                    <a:bodyPr/>
                    <a:lstStyle/>
                    <a:p>
                      <a:pPr algn="ctr">
                        <a:defRPr sz="1000" b="1">
                          <a:latin typeface="Montserrat"/>
                        </a:defRPr>
                      </a:pPr>
                      <a:r>
                        <a:t>2 Unidades Deportivas</a:t>
                      </a:r>
                    </a:p>
                  </a:txBody>
                  <a:tcPr anchor="ctr" marL="28800" marR="28800" marT="0" marB="0">
                    <a:solidFill>
                      <a:srgbClr val="FFFFFF"/>
                    </a:solidFill>
                  </a:tcPr>
                </a:tc>
                <a:tc>
                  <a:txBody>
                    <a:bodyPr/>
                    <a:lstStyle/>
                    <a:p>
                      <a:pPr algn="ctr">
                        <a:defRPr sz="1000">
                          <a:latin typeface="Montserrat"/>
                        </a:defRPr>
                      </a:pPr>
                      <a:r>
                        <a:t>Cuernavaca y Fidel Velázquez</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1000" b="1">
                          <a:latin typeface="Montserrat"/>
                        </a:defRPr>
                      </a:pPr>
                      <a:r>
                        <a:t>1 Centro Vacacional</a:t>
                      </a:r>
                    </a:p>
                  </a:txBody>
                  <a:tcPr anchor="ctr" marL="28800" marR="28800" marT="0" marB="0">
                    <a:solidFill>
                      <a:srgbClr val="FFFFFF"/>
                    </a:solidFill>
                  </a:tcPr>
                </a:tc>
                <a:tc>
                  <a:txBody>
                    <a:bodyPr/>
                    <a:lstStyle/>
                    <a:p>
                      <a:pPr algn="ctr">
                        <a:defRPr sz="1000">
                          <a:latin typeface="Montserrat"/>
                        </a:defRPr>
                      </a:pPr>
                      <a:r>
                        <a:t>Oaxtepec</a:t>
                      </a:r>
                    </a:p>
                  </a:txBody>
                  <a:tcPr anchor="ctr" marL="28800" marR="28800" marT="0" marB="0">
                    <a:solidFill>
                      <a:srgbClr val="FFFFFF"/>
                    </a:solidFill>
                  </a:tcPr>
                </a:tc>
              </a:tr>
              <a:tr h="272400">
                <a:tc>
                  <a:txBody>
                    <a:bodyPr/>
                    <a:lstStyle/>
                    <a:p>
                      <a:pPr algn="ctr">
                        <a:defRPr sz="1000" b="1">
                          <a:latin typeface="Montserrat"/>
                        </a:defRPr>
                      </a:pPr>
                      <a:r>
                        <a:t>1 Tienda IMSS-SNTSS</a:t>
                      </a:r>
                    </a:p>
                  </a:txBody>
                  <a:tcPr anchor="ctr" marL="28800" marR="28800" marT="0" marB="0">
                    <a:solidFill>
                      <a:srgbClr val="EFEFEF"/>
                    </a:solidFill>
                  </a:tcPr>
                </a:tc>
                <a:tc>
                  <a:txBody>
                    <a:bodyPr/>
                    <a:lstStyle/>
                    <a:p>
                      <a:pPr algn="ctr">
                        <a:defRPr sz="1000">
                          <a:latin typeface="Montserrat"/>
                        </a:defRPr>
                      </a:pPr>
                      <a:r>
                        <a:t>No. 29 Cuernavaca</a:t>
                      </a:r>
                    </a:p>
                  </a:txBody>
                  <a:tcPr anchor="ctr" marL="28800" marR="28800" marT="0" marB="0">
                    <a:solidFill>
                      <a:srgbClr val="EFEFEF"/>
                    </a:solidFill>
                  </a:tcPr>
                </a:tc>
              </a:tr>
            </a:tbl>
          </a:graphicData>
        </a:graphic>
      </p:graphicFrame>
      <p:pic>
        <p:nvPicPr>
          <p:cNvPr id="470" name="Picture 469" descr="map_tipo2_17_mor.png"/>
          <p:cNvPicPr>
            <a:picLocks noChangeAspect="1"/>
          </p:cNvPicPr>
          <p:nvPr/>
        </p:nvPicPr>
        <p:blipFill>
          <a:blip r:embed="rId6"/>
          <a:stretch>
            <a:fillRect/>
          </a:stretch>
        </p:blipFill>
        <p:spPr>
          <a:xfrm>
            <a:off x="1742400" y="5832000"/>
            <a:ext cx="4608000" cy="3560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27</a:t>
            </a:r>
          </a:p>
        </p:txBody>
      </p:sp>
      <p:sp>
        <p:nvSpPr>
          <p:cNvPr id="472" name="TextBox 471"/>
          <p:cNvSpPr txBox="1"/>
          <p:nvPr/>
        </p:nvSpPr>
        <p:spPr>
          <a:xfrm>
            <a:off x="0" y="9273600"/>
            <a:ext cx="3538800" cy="230400"/>
          </a:xfrm>
          <a:prstGeom prst="rect">
            <a:avLst/>
          </a:prstGeom>
          <a:noFill/>
        </p:spPr>
        <p:txBody>
          <a:bodyPr wrap="square" tIns="0" bIns="0" lIns="0" rIns="0">
            <a:spAutoFit/>
          </a:bodyPr>
          <a:lstStyle/>
          <a:p>
            <a:pPr algn="l">
              <a:defRPr sz="900">
                <a:solidFill>
                  <a:srgbClr val="000000"/>
                </a:solidFill>
                <a:latin typeface="Noto Sans"/>
              </a:defRPr>
            </a:pPr>
            <a:r>
              <a:t>Fuente: Boletín de guarderías enero de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graphicFrame>
        <p:nvGraphicFramePr>
          <p:cNvPr id="479" name="Table 478"/>
          <p:cNvGraphicFramePr>
            <a:graphicFrameLocks noGrp="1"/>
          </p:cNvGraphicFramePr>
          <p:nvPr/>
        </p:nvGraphicFramePr>
        <p:xfrm>
          <a:off x="284400" y="1087200"/>
          <a:ext cx="6984000" cy="147599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solidFill>
                      <a:srgbClr val="BC955C"/>
                    </a:solidFill>
                  </a:tcPr>
                </a:tc>
                <a:tc>
                  <a:txBody>
                    <a:bodyPr/>
                    <a:lstStyle/>
                    <a:p>
                      <a:pPr algn="ctr">
                        <a:defRPr b="1" sz="850">
                          <a:solidFill>
                            <a:srgbClr val="FFFFFF"/>
                          </a:solidFill>
                          <a:latin typeface="Montserrat"/>
                        </a:defRPr>
                      </a:pPr>
                      <a:r>
                        <a:t>Empleos Anterior</a:t>
                      </a:r>
                    </a:p>
                  </a:txBody>
                  <a:tcPr>
                    <a:solidFill>
                      <a:srgbClr val="BC955C"/>
                    </a:solidFill>
                  </a:tcPr>
                </a:tc>
                <a:tc>
                  <a:txBody>
                    <a:bodyPr/>
                    <a:lstStyle/>
                    <a:p>
                      <a:pPr algn="ctr">
                        <a:defRPr b="1" sz="850">
                          <a:solidFill>
                            <a:srgbClr val="FFFFFF"/>
                          </a:solidFill>
                          <a:latin typeface="Montserrat"/>
                        </a:defRPr>
                      </a:pPr>
                      <a:r>
                        <a:t>Empleos Actual</a:t>
                      </a:r>
                    </a:p>
                  </a:txBody>
                  <a:tcPr>
                    <a:solidFill>
                      <a:srgbClr val="BC955C"/>
                    </a:solidFill>
                  </a:tcPr>
                </a:tc>
                <a:tc>
                  <a:txBody>
                    <a:bodyPr/>
                    <a:lstStyle/>
                    <a:p>
                      <a:pPr algn="ctr">
                        <a:defRPr b="1" sz="850">
                          <a:solidFill>
                            <a:srgbClr val="FFFFFF"/>
                          </a:solidFill>
                          <a:latin typeface="Montserrat"/>
                        </a:defRPr>
                      </a:pPr>
                      <a:r>
                        <a:t>Variación</a:t>
                      </a:r>
                    </a:p>
                  </a:txBody>
                  <a:tcPr>
                    <a:solidFill>
                      <a:srgbClr val="BC955C"/>
                    </a:solidFill>
                  </a:tcPr>
                </a:tc>
                <a:tc>
                  <a:txBody>
                    <a:bodyPr/>
                    <a:lstStyle/>
                    <a:p>
                      <a:pPr algn="ctr">
                        <a:defRPr b="1" sz="850">
                          <a:solidFill>
                            <a:srgbClr val="FFFFFF"/>
                          </a:solidFill>
                          <a:latin typeface="Montserrat"/>
                        </a:defRPr>
                      </a:pPr>
                      <a:r>
                        <a:t>Empleador Privado</a:t>
                      </a:r>
                    </a:p>
                  </a:txBody>
                  <a:tcPr>
                    <a:solidFill>
                      <a:srgbClr val="BC955C"/>
                    </a:solidFill>
                  </a:tcPr>
                </a:tc>
                <a:tc>
                  <a:txBody>
                    <a:bodyPr/>
                    <a:lstStyle/>
                    <a:p>
                      <a:pPr algn="ctr">
                        <a:defRPr b="1" sz="850">
                          <a:solidFill>
                            <a:srgbClr val="FFFFFF"/>
                          </a:solidFill>
                          <a:latin typeface="Montserrat"/>
                        </a:defRPr>
                      </a:pPr>
                      <a:r>
                        <a:t>Empleos Anterior</a:t>
                      </a:r>
                    </a:p>
                  </a:txBody>
                  <a:tcPr>
                    <a:solidFill>
                      <a:srgbClr val="BC955C"/>
                    </a:solidFill>
                  </a:tcPr>
                </a:tc>
                <a:tc>
                  <a:txBody>
                    <a:bodyPr/>
                    <a:lstStyle/>
                    <a:p>
                      <a:pPr algn="ctr">
                        <a:defRPr b="1" sz="850">
                          <a:solidFill>
                            <a:srgbClr val="FFFFFF"/>
                          </a:solidFill>
                          <a:latin typeface="Montserrat"/>
                        </a:defRPr>
                      </a:pPr>
                      <a:r>
                        <a:t>Empleos Actual</a:t>
                      </a:r>
                    </a:p>
                  </a:txBody>
                  <a:tcPr>
                    <a:solidFill>
                      <a:srgbClr val="BC955C"/>
                    </a:solidFill>
                  </a:tcPr>
                </a:tc>
                <a:tc>
                  <a:txBody>
                    <a:bodyPr/>
                    <a:lstStyle/>
                    <a:p>
                      <a:pPr algn="ctr">
                        <a:defRPr b="1" sz="850">
                          <a:solidFill>
                            <a:srgbClr val="FFFFFF"/>
                          </a:solidFill>
                          <a:latin typeface="Montserrat"/>
                        </a:defRPr>
                      </a:pPr>
                      <a:r>
                        <a:t>Variación</a:t>
                      </a:r>
                    </a:p>
                  </a:txBody>
                  <a:tcPr>
                    <a:solidFill>
                      <a:srgbClr val="BC955C"/>
                    </a:solidFill>
                  </a:tcPr>
                </a:tc>
              </a:tr>
              <a:tr h="288000">
                <a:tc>
                  <a:txBody>
                    <a:bodyPr/>
                    <a:lstStyle/>
                    <a:p>
                      <a:pPr algn="ctr">
                        <a:defRPr sz="850">
                          <a:latin typeface="Montserrat"/>
                        </a:defRPr>
                      </a:pPr>
                      <a:r>
                        <a:t>INSTITUTO MEXICANO DEL SEGURO SOCIAL</a:t>
                      </a:r>
                    </a:p>
                  </a:txBody>
                  <a:tcPr>
                    <a:solidFill>
                      <a:srgbClr val="D9D9D9"/>
                    </a:solidFill>
                  </a:tcPr>
                </a:tc>
                <a:tc>
                  <a:txBody>
                    <a:bodyPr/>
                    <a:lstStyle/>
                    <a:p>
                      <a:pPr algn="ctr">
                        <a:defRPr sz="850">
                          <a:latin typeface="Montserrat"/>
                        </a:defRPr>
                      </a:pPr>
                      <a:r>
                        <a:t>8,050</a:t>
                      </a:r>
                    </a:p>
                  </a:txBody>
                  <a:tcPr>
                    <a:solidFill>
                      <a:srgbClr val="D9D9D9"/>
                    </a:solidFill>
                  </a:tcPr>
                </a:tc>
                <a:tc>
                  <a:txBody>
                    <a:bodyPr/>
                    <a:lstStyle/>
                    <a:p>
                      <a:pPr algn="ctr">
                        <a:defRPr sz="850">
                          <a:latin typeface="Montserrat"/>
                        </a:defRPr>
                      </a:pPr>
                      <a:r>
                        <a:t>7,946</a:t>
                      </a:r>
                    </a:p>
                  </a:txBody>
                  <a:tcPr>
                    <a:solidFill>
                      <a:srgbClr val="D9D9D9"/>
                    </a:solidFill>
                  </a:tcPr>
                </a:tc>
                <a:tc>
                  <a:txBody>
                    <a:bodyPr/>
                    <a:lstStyle/>
                    <a:p>
                      <a:pPr algn="ctr">
                        <a:defRPr sz="850" b="0">
                          <a:solidFill>
                            <a:srgbClr val="691C32"/>
                          </a:solidFill>
                          <a:latin typeface="Montserrat"/>
                        </a:defRPr>
                      </a:pPr>
                      <a:r>
                        <a:t>-1.3%</a:t>
                      </a:r>
                    </a:p>
                  </a:txBody>
                  <a:tcPr>
                    <a:solidFill>
                      <a:srgbClr val="D9D9D9"/>
                    </a:solidFill>
                  </a:tcPr>
                </a:tc>
                <a:tc>
                  <a:txBody>
                    <a:bodyPr/>
                    <a:lstStyle/>
                    <a:p>
                      <a:pPr algn="ctr">
                        <a:defRPr sz="850">
                          <a:latin typeface="Montserrat"/>
                        </a:defRPr>
                      </a:pPr>
                      <a:r>
                        <a:t>SAINT-GOBAIN MEXICO SA DE CV</a:t>
                      </a:r>
                    </a:p>
                  </a:txBody>
                  <a:tcPr>
                    <a:solidFill>
                      <a:srgbClr val="D9D9D9"/>
                    </a:solidFill>
                  </a:tcPr>
                </a:tc>
                <a:tc>
                  <a:txBody>
                    <a:bodyPr/>
                    <a:lstStyle/>
                    <a:p>
                      <a:pPr algn="ctr">
                        <a:defRPr sz="850">
                          <a:latin typeface="Montserrat"/>
                        </a:defRPr>
                      </a:pPr>
                      <a:r>
                        <a:t>3,307</a:t>
                      </a:r>
                    </a:p>
                  </a:txBody>
                  <a:tcPr>
                    <a:solidFill>
                      <a:srgbClr val="D9D9D9"/>
                    </a:solidFill>
                  </a:tcPr>
                </a:tc>
                <a:tc>
                  <a:txBody>
                    <a:bodyPr/>
                    <a:lstStyle/>
                    <a:p>
                      <a:pPr algn="ctr">
                        <a:defRPr sz="850">
                          <a:latin typeface="Montserrat"/>
                        </a:defRPr>
                      </a:pPr>
                      <a:r>
                        <a:t>3,323</a:t>
                      </a:r>
                    </a:p>
                  </a:txBody>
                  <a:tcPr>
                    <a:solidFill>
                      <a:srgbClr val="D9D9D9"/>
                    </a:solidFill>
                  </a:tcPr>
                </a:tc>
                <a:tc>
                  <a:txBody>
                    <a:bodyPr/>
                    <a:lstStyle/>
                    <a:p>
                      <a:pPr algn="ctr">
                        <a:defRPr sz="850" b="1">
                          <a:solidFill>
                            <a:srgbClr val="006455"/>
                          </a:solidFill>
                          <a:latin typeface="Montserrat"/>
                        </a:defRPr>
                      </a:pPr>
                      <a:r>
                        <a:t>0.5%</a:t>
                      </a:r>
                    </a:p>
                  </a:txBody>
                  <a:tcPr>
                    <a:solidFill>
                      <a:srgbClr val="D9D9D9"/>
                    </a:solidFill>
                  </a:tcPr>
                </a:tc>
              </a:tr>
              <a:tr h="288000">
                <a:tc>
                  <a:txBody>
                    <a:bodyPr/>
                    <a:lstStyle/>
                    <a:p>
                      <a:pPr algn="ctr">
                        <a:defRPr sz="850">
                          <a:latin typeface="Montserrat"/>
                        </a:defRPr>
                      </a:pPr>
                      <a:r>
                        <a:t>GOBIERNO DEL ESTADO DE MORELOS</a:t>
                      </a:r>
                    </a:p>
                  </a:txBody>
                  <a:tcPr>
                    <a:solidFill>
                      <a:srgbClr val="FFFFFF"/>
                    </a:solidFill>
                  </a:tcPr>
                </a:tc>
                <a:tc>
                  <a:txBody>
                    <a:bodyPr/>
                    <a:lstStyle/>
                    <a:p>
                      <a:pPr algn="ctr">
                        <a:defRPr sz="850">
                          <a:latin typeface="Montserrat"/>
                        </a:defRPr>
                      </a:pPr>
                      <a:r>
                        <a:t>8,114</a:t>
                      </a:r>
                    </a:p>
                  </a:txBody>
                  <a:tcPr>
                    <a:solidFill>
                      <a:srgbClr val="FFFFFF"/>
                    </a:solidFill>
                  </a:tcPr>
                </a:tc>
                <a:tc>
                  <a:txBody>
                    <a:bodyPr/>
                    <a:lstStyle/>
                    <a:p>
                      <a:pPr algn="ctr">
                        <a:defRPr sz="850">
                          <a:latin typeface="Montserrat"/>
                        </a:defRPr>
                      </a:pPr>
                      <a:r>
                        <a:t>7,894</a:t>
                      </a:r>
                    </a:p>
                  </a:txBody>
                  <a:tcPr>
                    <a:solidFill>
                      <a:srgbClr val="FFFFFF"/>
                    </a:solidFill>
                  </a:tcPr>
                </a:tc>
                <a:tc>
                  <a:txBody>
                    <a:bodyPr/>
                    <a:lstStyle/>
                    <a:p>
                      <a:pPr algn="ctr">
                        <a:defRPr sz="850" b="0">
                          <a:solidFill>
                            <a:srgbClr val="691C32"/>
                          </a:solidFill>
                          <a:latin typeface="Montserrat"/>
                        </a:defRPr>
                      </a:pPr>
                      <a:r>
                        <a:t>-2.7%</a:t>
                      </a:r>
                    </a:p>
                  </a:txBody>
                  <a:tcPr>
                    <a:solidFill>
                      <a:srgbClr val="FFFFFF"/>
                    </a:solidFill>
                  </a:tcPr>
                </a:tc>
                <a:tc>
                  <a:txBody>
                    <a:bodyPr/>
                    <a:lstStyle/>
                    <a:p>
                      <a:pPr algn="ctr">
                        <a:defRPr sz="850">
                          <a:latin typeface="Montserrat"/>
                        </a:defRPr>
                      </a:pPr>
                      <a:r>
                        <a:t>NUEVA WAL MART DE MEXICO S DE RL DE CV</a:t>
                      </a:r>
                    </a:p>
                  </a:txBody>
                  <a:tcPr>
                    <a:solidFill>
                      <a:srgbClr val="FFFFFF"/>
                    </a:solidFill>
                  </a:tcPr>
                </a:tc>
                <a:tc>
                  <a:txBody>
                    <a:bodyPr/>
                    <a:lstStyle/>
                    <a:p>
                      <a:pPr algn="ctr">
                        <a:defRPr sz="850">
                          <a:latin typeface="Montserrat"/>
                        </a:defRPr>
                      </a:pPr>
                      <a:r>
                        <a:t>3,057</a:t>
                      </a:r>
                    </a:p>
                  </a:txBody>
                  <a:tcPr>
                    <a:solidFill>
                      <a:srgbClr val="FFFFFF"/>
                    </a:solidFill>
                  </a:tcPr>
                </a:tc>
                <a:tc>
                  <a:txBody>
                    <a:bodyPr/>
                    <a:lstStyle/>
                    <a:p>
                      <a:pPr algn="ctr">
                        <a:defRPr sz="850">
                          <a:latin typeface="Montserrat"/>
                        </a:defRPr>
                      </a:pPr>
                      <a:r>
                        <a:t>2,984</a:t>
                      </a:r>
                    </a:p>
                  </a:txBody>
                  <a:tcPr>
                    <a:solidFill>
                      <a:srgbClr val="FFFFFF"/>
                    </a:solidFill>
                  </a:tcPr>
                </a:tc>
                <a:tc>
                  <a:txBody>
                    <a:bodyPr/>
                    <a:lstStyle/>
                    <a:p>
                      <a:pPr algn="ctr">
                        <a:defRPr sz="850" b="0">
                          <a:solidFill>
                            <a:srgbClr val="691C32"/>
                          </a:solidFill>
                          <a:latin typeface="Montserrat"/>
                        </a:defRPr>
                      </a:pPr>
                      <a:r>
                        <a:t>-2.4%</a:t>
                      </a:r>
                    </a:p>
                  </a:txBody>
                  <a:tcPr>
                    <a:solidFill>
                      <a:srgbClr val="FFFFFF"/>
                    </a:solidFill>
                  </a:tcPr>
                </a:tc>
              </a:tr>
              <a:tr h="288000">
                <a:tc>
                  <a:txBody>
                    <a:bodyPr/>
                    <a:lstStyle/>
                    <a:p>
                      <a:pPr algn="ctr">
                        <a:defRPr sz="850">
                          <a:latin typeface="Montserrat"/>
                        </a:defRPr>
                      </a:pPr>
                      <a:r>
                        <a:t>UNIVERSIDAD AUTONOMA DEL ESTADO DE MORELOS LICENCIATURA</a:t>
                      </a:r>
                    </a:p>
                  </a:txBody>
                  <a:tcPr>
                    <a:solidFill>
                      <a:srgbClr val="D9D9D9"/>
                    </a:solidFill>
                  </a:tcPr>
                </a:tc>
                <a:tc>
                  <a:txBody>
                    <a:bodyPr/>
                    <a:lstStyle/>
                    <a:p>
                      <a:pPr algn="ctr">
                        <a:defRPr sz="850">
                          <a:latin typeface="Montserrat"/>
                        </a:defRPr>
                      </a:pPr>
                      <a:r>
                        <a:t>4,714</a:t>
                      </a:r>
                    </a:p>
                  </a:txBody>
                  <a:tcPr>
                    <a:solidFill>
                      <a:srgbClr val="D9D9D9"/>
                    </a:solidFill>
                  </a:tcPr>
                </a:tc>
                <a:tc>
                  <a:txBody>
                    <a:bodyPr/>
                    <a:lstStyle/>
                    <a:p>
                      <a:pPr algn="ctr">
                        <a:defRPr sz="850">
                          <a:latin typeface="Montserrat"/>
                        </a:defRPr>
                      </a:pPr>
                      <a:r>
                        <a:t>4,708</a:t>
                      </a:r>
                    </a:p>
                  </a:txBody>
                  <a:tcPr>
                    <a:solidFill>
                      <a:srgbClr val="D9D9D9"/>
                    </a:solidFill>
                  </a:tcPr>
                </a:tc>
                <a:tc>
                  <a:txBody>
                    <a:bodyPr/>
                    <a:lstStyle/>
                    <a:p>
                      <a:pPr algn="ctr">
                        <a:defRPr sz="850" b="0">
                          <a:solidFill>
                            <a:srgbClr val="691C32"/>
                          </a:solidFill>
                          <a:latin typeface="Montserrat"/>
                        </a:defRPr>
                      </a:pPr>
                      <a:r>
                        <a:t>-0.1%</a:t>
                      </a:r>
                    </a:p>
                  </a:txBody>
                  <a:tcPr>
                    <a:solidFill>
                      <a:srgbClr val="D9D9D9"/>
                    </a:solidFill>
                  </a:tcPr>
                </a:tc>
                <a:tc>
                  <a:txBody>
                    <a:bodyPr/>
                    <a:lstStyle/>
                    <a:p>
                      <a:pPr algn="ctr">
                        <a:defRPr sz="850">
                          <a:latin typeface="Montserrat"/>
                        </a:defRPr>
                      </a:pPr>
                      <a:r>
                        <a:t>CADENA COMERCIAL OXXO SA DE CV</a:t>
                      </a:r>
                    </a:p>
                  </a:txBody>
                  <a:tcPr>
                    <a:solidFill>
                      <a:srgbClr val="D9D9D9"/>
                    </a:solidFill>
                  </a:tcPr>
                </a:tc>
                <a:tc>
                  <a:txBody>
                    <a:bodyPr/>
                    <a:lstStyle/>
                    <a:p>
                      <a:pPr algn="ctr">
                        <a:defRPr sz="850">
                          <a:latin typeface="Montserrat"/>
                        </a:defRPr>
                      </a:pPr>
                      <a:r>
                        <a:t>2,570</a:t>
                      </a:r>
                    </a:p>
                  </a:txBody>
                  <a:tcPr>
                    <a:solidFill>
                      <a:srgbClr val="D9D9D9"/>
                    </a:solidFill>
                  </a:tcPr>
                </a:tc>
                <a:tc>
                  <a:txBody>
                    <a:bodyPr/>
                    <a:lstStyle/>
                    <a:p>
                      <a:pPr algn="ctr">
                        <a:defRPr sz="850">
                          <a:latin typeface="Montserrat"/>
                        </a:defRPr>
                      </a:pPr>
                      <a:r>
                        <a:t>2,587</a:t>
                      </a:r>
                    </a:p>
                  </a:txBody>
                  <a:tcPr>
                    <a:solidFill>
                      <a:srgbClr val="D9D9D9"/>
                    </a:solidFill>
                  </a:tcPr>
                </a:tc>
                <a:tc>
                  <a:txBody>
                    <a:bodyPr/>
                    <a:lstStyle/>
                    <a:p>
                      <a:pPr algn="ctr">
                        <a:defRPr sz="850" b="1">
                          <a:solidFill>
                            <a:srgbClr val="006455"/>
                          </a:solidFill>
                          <a:latin typeface="Montserrat"/>
                        </a:defRPr>
                      </a:pPr>
                      <a:r>
                        <a:t>0.7%</a:t>
                      </a:r>
                    </a:p>
                  </a:txBody>
                  <a:tcPr>
                    <a:solidFill>
                      <a:srgbClr val="D9D9D9"/>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-55.58%</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-6.09%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-2.26%</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-1.81%</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-1.09%</a:t>
            </a:r>
          </a:p>
        </p:txBody>
      </p:sp>
      <p:sp>
        <p:nvSpPr>
          <p:cNvPr id="486" name="Rounded Rectangle 485"/>
          <p:cNvSpPr/>
          <p:nvPr/>
        </p:nvSpPr>
        <p:spPr>
          <a:xfrm>
            <a:off x="7020000" y="576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-0.95%</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+3.00%</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+6.61%</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+12.37%</a:t>
            </a:r>
          </a:p>
        </p:txBody>
      </p:sp>
      <p:sp>
        <p:nvSpPr>
          <p:cNvPr id="490" name="Rounded Rectangle 489"/>
          <p:cNvSpPr/>
          <p:nvPr/>
        </p:nvSpPr>
        <p:spPr>
          <a:xfrm>
            <a:off x="4852800" y="7390800"/>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Feb 2025</a:t>
            </a:r>
          </a:p>
        </p:txBody>
      </p:sp>
      <p:sp>
        <p:nvSpPr>
          <p:cNvPr id="491" name="Rounded Rectangle 490"/>
          <p:cNvSpPr/>
          <p:nvPr/>
        </p:nvSpPr>
        <p:spPr>
          <a:xfrm>
            <a:off x="5774400" y="7390800"/>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Feb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Feb 2025</a:t>
                      </a:r>
                    </a:p>
                  </a:txBody>
                  <a:tcPr>
                    <a:solidFill>
                      <a:srgbClr val="D9D9D9"/>
                    </a:solidFill>
                  </a:tcPr>
                </a:tc>
                <a:tc>
                  <a:txBody>
                    <a:bodyPr/>
                    <a:lstStyle/>
                    <a:p>
                      <a:pPr algn="ctr">
                        <a:defRPr sz="900">
                          <a:latin typeface="Montserrat"/>
                        </a:defRPr>
                      </a:pPr>
                      <a:r>
                        <a:t>186,808</a:t>
                      </a:r>
                    </a:p>
                  </a:txBody>
                  <a:tcPr>
                    <a:solidFill>
                      <a:srgbClr val="D9D9D9"/>
                    </a:solidFill>
                  </a:tcPr>
                </a:tc>
                <a:tc>
                  <a:txBody>
                    <a:bodyPr/>
                    <a:lstStyle/>
                    <a:p>
                      <a:pPr algn="ctr">
                        <a:defRPr sz="900">
                          <a:latin typeface="Montserrat"/>
                        </a:defRPr>
                      </a:pPr>
                      <a:r>
                        <a:t>5,275</a:t>
                      </a:r>
                    </a:p>
                  </a:txBody>
                  <a:tcPr>
                    <a:solidFill>
                      <a:srgbClr val="D9D9D9"/>
                    </a:solidFill>
                  </a:tcPr>
                </a:tc>
                <a:tc>
                  <a:txBody>
                    <a:bodyPr/>
                    <a:lstStyle/>
                    <a:p>
                      <a:pPr algn="ctr">
                        <a:defRPr sz="900">
                          <a:latin typeface="Montserrat"/>
                        </a:defRPr>
                      </a:pPr>
                      <a:r>
                        <a:t>26,250</a:t>
                      </a:r>
                    </a:p>
                  </a:txBody>
                  <a:tcPr>
                    <a:solidFill>
                      <a:srgbClr val="D9D9D9"/>
                    </a:solidFill>
                  </a:tcPr>
                </a:tc>
                <a:tc>
                  <a:txBody>
                    <a:bodyPr/>
                    <a:lstStyle/>
                    <a:p>
                      <a:pPr algn="ctr">
                        <a:defRPr sz="900">
                          <a:latin typeface="Montserrat"/>
                        </a:defRPr>
                      </a:pPr>
                      <a:r>
                        <a:t>2,851</a:t>
                      </a:r>
                    </a:p>
                  </a:txBody>
                  <a:tcPr>
                    <a:solidFill>
                      <a:srgbClr val="D9D9D9"/>
                    </a:solidFill>
                  </a:tcPr>
                </a:tc>
                <a:tc>
                  <a:txBody>
                    <a:bodyPr/>
                    <a:lstStyle/>
                    <a:p>
                      <a:pPr algn="ctr">
                        <a:defRPr sz="900">
                          <a:latin typeface="Montserrat"/>
                        </a:defRPr>
                      </a:pPr>
                      <a:r>
                        <a:t>221,184</a:t>
                      </a:r>
                    </a:p>
                  </a:txBody>
                  <a:tcPr>
                    <a:solidFill>
                      <a:srgbClr val="D9D9D9"/>
                    </a:solidFill>
                  </a:tcPr>
                </a:tc>
              </a:tr>
              <a:tr h="270000">
                <a:tc>
                  <a:txBody>
                    <a:bodyPr/>
                    <a:lstStyle/>
                    <a:p>
                      <a:pPr algn="ctr">
                        <a:defRPr sz="900">
                          <a:latin typeface="Montserrat"/>
                        </a:defRPr>
                      </a:pPr>
                      <a:r>
                        <a:t>Feb 2026</a:t>
                      </a:r>
                    </a:p>
                  </a:txBody>
                  <a:tcPr>
                    <a:solidFill>
                      <a:srgbClr val="FFFFFF"/>
                    </a:solidFill>
                  </a:tcPr>
                </a:tc>
                <a:tc>
                  <a:txBody>
                    <a:bodyPr/>
                    <a:lstStyle/>
                    <a:p>
                      <a:pPr algn="ctr">
                        <a:defRPr sz="900">
                          <a:latin typeface="Montserrat"/>
                        </a:defRPr>
                      </a:pPr>
                      <a:r>
                        <a:t>192,265</a:t>
                      </a:r>
                    </a:p>
                  </a:txBody>
                  <a:tcPr>
                    <a:solidFill>
                      <a:srgbClr val="FFFFFF"/>
                    </a:solidFill>
                  </a:tcPr>
                </a:tc>
                <a:tc>
                  <a:txBody>
                    <a:bodyPr/>
                    <a:lstStyle/>
                    <a:p>
                      <a:pPr algn="ctr">
                        <a:defRPr sz="900">
                          <a:latin typeface="Montserrat"/>
                        </a:defRPr>
                      </a:pPr>
                      <a:r>
                        <a:t>5,050</a:t>
                      </a:r>
                    </a:p>
                  </a:txBody>
                  <a:tcPr>
                    <a:solidFill>
                      <a:srgbClr val="FFFFFF"/>
                    </a:solidFill>
                  </a:tcPr>
                </a:tc>
                <a:tc>
                  <a:txBody>
                    <a:bodyPr/>
                    <a:lstStyle/>
                    <a:p>
                      <a:pPr algn="ctr">
                        <a:defRPr sz="900">
                          <a:latin typeface="Montserrat"/>
                        </a:defRPr>
                      </a:pPr>
                      <a:r>
                        <a:t>24,606</a:t>
                      </a:r>
                    </a:p>
                  </a:txBody>
                  <a:tcPr>
                    <a:solidFill>
                      <a:srgbClr val="FFFFFF"/>
                    </a:solidFill>
                  </a:tcPr>
                </a:tc>
                <a:tc>
                  <a:txBody>
                    <a:bodyPr/>
                    <a:lstStyle/>
                    <a:p>
                      <a:pPr algn="ctr">
                        <a:defRPr sz="900">
                          <a:latin typeface="Montserrat"/>
                        </a:defRPr>
                      </a:pPr>
                      <a:r>
                        <a:t>2,772</a:t>
                      </a:r>
                    </a:p>
                  </a:txBody>
                  <a:tcPr>
                    <a:solidFill>
                      <a:srgbClr val="FFFFFF"/>
                    </a:solidFill>
                  </a:tcPr>
                </a:tc>
                <a:tc>
                  <a:txBody>
                    <a:bodyPr/>
                    <a:lstStyle/>
                    <a:p>
                      <a:pPr algn="ctr">
                        <a:defRPr sz="900">
                          <a:latin typeface="Montserrat"/>
                        </a:defRPr>
                      </a:pPr>
                      <a:r>
                        <a:t>224,693</a:t>
                      </a:r>
                    </a:p>
                  </a:txBody>
                  <a:tcPr>
                    <a:solidFill>
                      <a:srgbClr val="FFFFFF"/>
                    </a:solidFill>
                  </a:tcPr>
                </a:tc>
              </a:tr>
              <a:tr h="270000">
                <a:tc>
                  <a:txBody>
                    <a:bodyPr/>
                    <a:lstStyle/>
                    <a:p>
                      <a:pPr algn="ctr">
                        <a:defRPr sz="900">
                          <a:latin typeface="Montserrat"/>
                        </a:defRPr>
                      </a:pPr>
                      <a:r>
                        <a:t>Variación %</a:t>
                      </a:r>
                    </a:p>
                  </a:txBody>
                  <a:tcPr>
                    <a:solidFill>
                      <a:srgbClr val="D9D9D9"/>
                    </a:solidFill>
                  </a:tcPr>
                </a:tc>
                <a:tc>
                  <a:txBody>
                    <a:bodyPr/>
                    <a:lstStyle/>
                    <a:p>
                      <a:pPr algn="ctr">
                        <a:defRPr sz="900" b="1">
                          <a:solidFill>
                            <a:srgbClr val="006455"/>
                          </a:solidFill>
                          <a:latin typeface="Montserrat"/>
                        </a:defRPr>
                      </a:pPr>
                      <a:r>
                        <a:t>+3%</a:t>
                      </a:r>
                    </a:p>
                  </a:txBody>
                  <a:tcPr>
                    <a:solidFill>
                      <a:srgbClr val="D9D9D9"/>
                    </a:solidFill>
                  </a:tcPr>
                </a:tc>
                <a:tc>
                  <a:txBody>
                    <a:bodyPr/>
                    <a:lstStyle/>
                    <a:p>
                      <a:pPr algn="ctr">
                        <a:defRPr sz="900" b="0">
                          <a:solidFill>
                            <a:srgbClr val="691C32"/>
                          </a:solidFill>
                          <a:latin typeface="Montserrat"/>
                        </a:defRPr>
                      </a:pPr>
                      <a:r>
                        <a:t>-4%</a:t>
                      </a:r>
                    </a:p>
                  </a:txBody>
                  <a:tcPr>
                    <a:solidFill>
                      <a:srgbClr val="D9D9D9"/>
                    </a:solidFill>
                  </a:tcPr>
                </a:tc>
                <a:tc>
                  <a:txBody>
                    <a:bodyPr/>
                    <a:lstStyle/>
                    <a:p>
                      <a:pPr algn="ctr">
                        <a:defRPr sz="900" b="0">
                          <a:solidFill>
                            <a:srgbClr val="691C32"/>
                          </a:solidFill>
                          <a:latin typeface="Montserrat"/>
                        </a:defRPr>
                      </a:pPr>
                      <a:r>
                        <a:t>-6%</a:t>
                      </a:r>
                    </a:p>
                  </a:txBody>
                  <a:tcPr>
                    <a:solidFill>
                      <a:srgbClr val="D9D9D9"/>
                    </a:solidFill>
                  </a:tcPr>
                </a:tc>
                <a:tc>
                  <a:txBody>
                    <a:bodyPr/>
                    <a:lstStyle/>
                    <a:p>
                      <a:pPr algn="ctr">
                        <a:defRPr sz="900" b="0">
                          <a:solidFill>
                            <a:srgbClr val="691C32"/>
                          </a:solidFill>
                          <a:latin typeface="Montserrat"/>
                        </a:defRPr>
                      </a:pPr>
                      <a:r>
                        <a:t>-3%</a:t>
                      </a:r>
                    </a:p>
                  </a:txBody>
                  <a:tcPr>
                    <a:solidFill>
                      <a:srgbClr val="D9D9D9"/>
                    </a:solidFill>
                  </a:tcPr>
                </a:tc>
                <a:tc>
                  <a:txBody>
                    <a:bodyPr/>
                    <a:lstStyle/>
                    <a:p>
                      <a:pPr algn="ctr">
                        <a:defRPr sz="900" b="1">
                          <a:solidFill>
                            <a:srgbClr val="006455"/>
                          </a:solidFill>
                          <a:latin typeface="Montserrat"/>
                        </a:defRPr>
                      </a:pPr>
                      <a:r>
                        <a:t>+2%</a:t>
                      </a:r>
                    </a:p>
                  </a:txBody>
                  <a:tcPr>
                    <a:solidFill>
                      <a:srgbClr val="D9D9D9"/>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Noto Sans"/>
              </a:defRPr>
            </a:pPr>
            <a:r>
              <a:t>Fuente: Dirección de Incoporación y Recaudación.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496" name="Google Shape;496;g370e87ffe7a_2_319"/>
          <p:cNvSpPr/>
          <p:nvPr/>
        </p:nvSpPr>
        <p:spPr>
          <a:xfrm>
            <a:off x="744125" y="1129296"/>
            <a:ext cx="609033" cy="528897"/>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0" name="Google Shape;500;g370e87ffe7a_2_319"/>
          <p:cNvSpPr txBox="1"/>
          <p:nvPr/>
        </p:nvSpPr>
        <p:spPr>
          <a:xfrm>
            <a:off x="320200" y="24503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$596.69</a:t>
            </a:r>
          </a:p>
          <a:p>
            <a:pPr algn="ctr">
              <a:defRPr sz="800" b="1">
                <a:solidFill>
                  <a:srgbClr val="FFFFFF"/>
                </a:solidFill>
                <a:latin typeface="Montserrat"/>
              </a:defRPr>
            </a:pPr>
            <a:r>
              <a:t>SBC</a:t>
            </a:r>
          </a:p>
          <a:p>
            <a:pPr algn="ctr">
              <a:defRPr sz="800" b="0">
                <a:solidFill>
                  <a:srgbClr val="FFFFFF"/>
                </a:solidFill>
                <a:latin typeface="Montserrat"/>
              </a:defRPr>
            </a:pPr>
            <a:r>
              <a:t>Febrero</a:t>
            </a:r>
          </a:p>
        </p:txBody>
      </p:sp>
      <p:graphicFrame>
        <p:nvGraphicFramePr>
          <p:cNvPr id="503" name="Table 502"/>
          <p:cNvGraphicFramePr>
            <a:graphicFrameLocks noGrp="1"/>
          </p:cNvGraphicFramePr>
          <p:nvPr/>
        </p:nvGraphicFramePr>
        <p:xfrm>
          <a:off x="478800" y="1130400"/>
          <a:ext cx="6638400" cy="1224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612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Febrero</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Febrero</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612000">
                <a:tc>
                  <a:txBody>
                    <a:bodyPr/>
                    <a:lstStyle/>
                    <a:p>
                      <a:pPr algn="ctr">
                        <a:defRPr sz="1100" b="1">
                          <a:solidFill>
                            <a:srgbClr val="FFFFFF"/>
                          </a:solidFill>
                          <a:latin typeface="Montserrat"/>
                        </a:defRPr>
                      </a:pPr>
                      <a:r>
                        <a:t>Salario Base de Cotización</a:t>
                      </a:r>
                    </a:p>
                  </a:txBody>
                  <a:tcPr>
                    <a:solidFill>
                      <a:srgbClr val="A42145"/>
                    </a:solidFill>
                  </a:tcPr>
                </a:tc>
                <a:tc>
                  <a:txBody>
                    <a:bodyPr/>
                    <a:lstStyle/>
                    <a:p>
                      <a:pPr algn="ctr">
                        <a:defRPr sz="1100">
                          <a:latin typeface="Montserrat"/>
                        </a:defRPr>
                      </a:pPr>
                      <a:r>
                        <a:t>$345.52</a:t>
                      </a:r>
                    </a:p>
                  </a:txBody>
                  <a:tcPr>
                    <a:solidFill>
                      <a:srgbClr val="EEEEEE"/>
                    </a:solidFill>
                  </a:tcPr>
                </a:tc>
                <a:tc>
                  <a:txBody>
                    <a:bodyPr/>
                    <a:lstStyle/>
                    <a:p>
                      <a:pPr algn="ctr">
                        <a:defRPr sz="1100" b="1">
                          <a:latin typeface="Montserrat"/>
                        </a:defRPr>
                      </a:pPr>
                      <a:r>
                        <a:t>$596.69</a:t>
                      </a:r>
                    </a:p>
                  </a:txBody>
                  <a:tcPr>
                    <a:solidFill>
                      <a:srgbClr val="EEEEEE"/>
                    </a:solidFill>
                  </a:tcPr>
                </a:tc>
                <a:tc>
                  <a:txBody>
                    <a:bodyPr/>
                    <a:lstStyle/>
                    <a:p>
                      <a:pPr algn="ctr">
                        <a:defRPr sz="1100">
                          <a:latin typeface="Montserrat"/>
                        </a:defRPr>
                      </a:pPr>
                      <a:r>
                        <a:t>0.3%</a:t>
                      </a:r>
                    </a:p>
                  </a:txBody>
                  <a:tcPr>
                    <a:solidFill>
                      <a:srgbClr val="EEEEEE"/>
                    </a:solidFill>
                  </a:tcPr>
                </a:tc>
                <a:tc>
                  <a:txBody>
                    <a:bodyPr/>
                    <a:lstStyle/>
                    <a:p>
                      <a:pPr algn="ctr">
                        <a:defRPr sz="1100" b="1">
                          <a:latin typeface="Montserrat"/>
                        </a:defRPr>
                      </a:pPr>
                      <a:r>
                        <a:t>$664.09</a:t>
                      </a:r>
                    </a:p>
                  </a:txBody>
                  <a:tcPr>
                    <a:solidFill>
                      <a:srgbClr val="EEEEEE"/>
                    </a:solidFill>
                  </a:tcPr>
                </a:tc>
                <a:tc>
                  <a:txBody>
                    <a:bodyPr/>
                    <a:lstStyle/>
                    <a:p>
                      <a:pPr algn="ctr">
                        <a:defRPr sz="1100" b="1">
                          <a:solidFill>
                            <a:srgbClr val="9F2241"/>
                          </a:solidFill>
                          <a:latin typeface="Montserrat"/>
                        </a:defRPr>
                      </a:pPr>
                      <a:r>
                        <a:t>$17,900.7</a:t>
                      </a:r>
                    </a:p>
                  </a:txBody>
                  <a:tcP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INDUSTRIAS TECNOS SA DE CV</a:t>
                      </a:r>
                    </a:p>
                  </a:txBody>
                  <a:tcPr>
                    <a:solidFill>
                      <a:srgbClr val="FFFFFF"/>
                    </a:solidFill>
                  </a:tcPr>
                </a:tc>
                <a:tc>
                  <a:txBody>
                    <a:bodyPr/>
                    <a:lstStyle/>
                    <a:p>
                      <a:pPr algn="ctr">
                        <a:defRPr sz="900">
                          <a:latin typeface="Montserrat"/>
                        </a:defRPr>
                      </a:pPr>
                      <a:r>
                        <a:t>$6,762.21</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HOLIDAY LABS MEXICO SA DE CV</a:t>
                      </a:r>
                    </a:p>
                  </a:txBody>
                  <a:tcPr>
                    <a:solidFill>
                      <a:srgbClr val="EEEEEE"/>
                    </a:solidFill>
                  </a:tcPr>
                </a:tc>
                <a:tc>
                  <a:txBody>
                    <a:bodyPr/>
                    <a:lstStyle/>
                    <a:p>
                      <a:pPr algn="ctr">
                        <a:defRPr sz="900">
                          <a:latin typeface="Montserrat"/>
                        </a:defRPr>
                      </a:pPr>
                      <a:r>
                        <a:t>$5,062.70</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LAX CONSTRUCTORA SA DE CV</a:t>
                      </a:r>
                    </a:p>
                  </a:txBody>
                  <a:tcPr>
                    <a:solidFill>
                      <a:srgbClr val="FFFFFF"/>
                    </a:solidFill>
                  </a:tcPr>
                </a:tc>
                <a:tc>
                  <a:txBody>
                    <a:bodyPr/>
                    <a:lstStyle/>
                    <a:p>
                      <a:pPr algn="ctr">
                        <a:defRPr sz="900">
                          <a:latin typeface="Montserrat"/>
                        </a:defRPr>
                      </a:pPr>
                      <a:r>
                        <a:t>$3,153.61</a:t>
                      </a:r>
                    </a:p>
                  </a:txBody>
                  <a:tcPr>
                    <a:solidFill>
                      <a:srgbClr val="FFFFFF"/>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Sistema Operador de Agua Potable y Saneamiento del Municipio de Cuautla</a:t>
                      </a:r>
                    </a:p>
                  </a:txBody>
                  <a:tcPr>
                    <a:solidFill>
                      <a:srgbClr val="EEEEEE"/>
                    </a:solidFill>
                  </a:tcPr>
                </a:tc>
                <a:tc>
                  <a:txBody>
                    <a:bodyPr/>
                    <a:lstStyle/>
                    <a:p>
                      <a:pPr algn="ctr">
                        <a:defRPr sz="900">
                          <a:latin typeface="Montserrat"/>
                        </a:defRPr>
                      </a:pPr>
                      <a:r>
                        <a:t>$594.02</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Universidad Autónoma del Estado de Morelos</a:t>
                      </a:r>
                    </a:p>
                  </a:txBody>
                  <a:tcPr>
                    <a:solidFill>
                      <a:srgbClr val="FFFFFF"/>
                    </a:solidFill>
                  </a:tcPr>
                </a:tc>
                <a:tc>
                  <a:txBody>
                    <a:bodyPr/>
                    <a:lstStyle/>
                    <a:p>
                      <a:pPr algn="ctr">
                        <a:defRPr sz="900">
                          <a:latin typeface="Montserrat"/>
                        </a:defRPr>
                      </a:pPr>
                      <a:r>
                        <a:t>$541,741.56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Sistema de Agua Potable y Saneamiento de Cuernavaca</a:t>
                      </a:r>
                    </a:p>
                  </a:txBody>
                  <a:tcPr>
                    <a:solidFill>
                      <a:srgbClr val="EEEEEE"/>
                    </a:solidFill>
                  </a:tcPr>
                </a:tc>
                <a:tc>
                  <a:txBody>
                    <a:bodyPr/>
                    <a:lstStyle/>
                    <a:p>
                      <a:pPr algn="ctr">
                        <a:defRPr sz="900">
                          <a:latin typeface="Montserrat"/>
                        </a:defRPr>
                      </a:pPr>
                      <a:r>
                        <a:t>$60,088.68</a:t>
                      </a:r>
                    </a:p>
                  </a:txBody>
                  <a:tcPr>
                    <a:solidFill>
                      <a:srgbClr val="EEEEEE"/>
                    </a:solidFill>
                  </a:tcPr>
                </a:tc>
              </a:tr>
            </a:tbl>
          </a:graphicData>
        </a:graphic>
      </p:graphicFrame>
      <p:sp>
        <p:nvSpPr>
          <p:cNvPr id="515" name="TextBox 514"/>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Noto Sans"/>
              </a:defRPr>
            </a:pPr>
            <a:r>
              <a:t>Salario base de cotización: se utilizo para deflactar el INPC a febrero de 2026 144.307, para diciembre 2018 es 103.02, el indice para dividir diciembre 2018 es de 0.713895.</a:t>
            </a:r>
          </a:p>
        </p:txBody>
      </p:sp>
      <p:sp>
        <p:nvSpPr>
          <p:cNvPr id="516" name="TextBox 515"/>
          <p:cNvSpPr txBox="1"/>
          <p:nvPr/>
        </p:nvSpPr>
        <p:spPr>
          <a:xfrm>
            <a:off x="251999" y="9813600"/>
            <a:ext cx="4316400" cy="244800"/>
          </a:xfrm>
          <a:prstGeom prst="rect">
            <a:avLst/>
          </a:prstGeom>
          <a:noFill/>
        </p:spPr>
        <p:txBody>
          <a:bodyPr wrap="square" tIns="0" bIns="0" lIns="0" rIns="0">
            <a:spAutoFit/>
          </a:bodyPr>
          <a:lstStyle/>
          <a:p>
            <a:pPr algn="l">
              <a:defRPr sz="800">
                <a:solidFill>
                  <a:srgbClr val="FFFFFF"/>
                </a:solidFill>
                <a:latin typeface="Noto Sans"/>
              </a:defRPr>
            </a:pPr>
            <a:r>
              <a:t>Fuente: Dirección de Incorporación y Recaudación enero 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a:extLst>
            <a:ext uri="{FF2B5EF4-FFF2-40B4-BE49-F238E27FC236}">
              <a16:creationId xmlns:a16="http://schemas.microsoft.com/office/drawing/2014/main" id="{8B7BFF1B-B63F-1B89-9135-525643179BF1}"/>
            </a:ext>
          </a:extLst>
        </p:cNvPr>
        <p:cNvGrpSpPr/>
        <p:nvPr/>
      </p:nvGrpSpPr>
      <p:grpSpPr>
        <a:xfrm>
          <a:off x="0" y="0"/>
          <a:ext cx="0" cy="0"/>
          <a:chOff x="0" y="0"/>
          <a:chExt cx="0" cy="0"/>
        </a:xfrm>
      </p:grpSpPr>
      <p:sp>
        <p:nvSpPr>
          <p:cNvPr id="2" name="TextBox 1"/>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MORELOS</a:t>
            </a:r>
          </a:p>
        </p:txBody>
      </p:sp>
      <p:sp>
        <p:nvSpPr>
          <p:cNvPr id="4" name="TextBox 3"/>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5" name="Connector 4"/>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Morelos</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4"/>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5"/>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6"/>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7"/>
          </a:graphicData>
        </a:graphic>
      </p:graphicFrame>
    </p:spTree>
    <p:extLst>
      <p:ext uri="{BB962C8B-B14F-4D97-AF65-F5344CB8AC3E}">
        <p14:creationId xmlns:p14="http://schemas.microsoft.com/office/powerpoint/2010/main" val="149040862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174</Words>
  <Application>Microsoft Office PowerPoint</Application>
  <PresentationFormat>Personalizado</PresentationFormat>
  <Paragraphs>62</Paragraphs>
  <Slides>22</Slides>
  <Notes>20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Montserrat</vt:lpstr>
      <vt:lpstr>Noto Sans</vt:lpstr>
      <vt:lpstr>Calibri</vt: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Rohan Myron Oprisko</cp:lastModifiedBy>
  <cp:revision>61</cp:revision>
  <dcterms:modified xsi:type="dcterms:W3CDTF">2026-03-12T18:40:10Z</dcterms:modified>
</cp:coreProperties>
</file>