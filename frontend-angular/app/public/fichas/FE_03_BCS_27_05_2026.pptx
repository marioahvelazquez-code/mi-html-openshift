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4"/>
  </p:sldMasterIdLst>
  <p:notesMasterIdLst>
    <p:notesMasterId r:id="rId29"/>
  </p:notesMasterIdLst>
  <p:sldIdLst>
    <p:sldId id="256" r:id="rId5"/>
    <p:sldId id="289" r:id="rId6"/>
    <p:sldId id="258" r:id="rId7"/>
    <p:sldId id="259" r:id="rId8"/>
    <p:sldId id="260" r:id="rId9"/>
    <p:sldId id="261" r:id="rId10"/>
    <p:sldId id="287" r:id="rId11"/>
    <p:sldId id="262" r:id="rId12"/>
    <p:sldId id="263" r:id="rId13"/>
    <p:sldId id="280" r:id="rId14"/>
    <p:sldId id="267" r:id="rId15"/>
    <p:sldId id="298" r:id="rId16"/>
    <p:sldId id="301" r:id="rId48"/>
    <p:sldId id="302" r:id="rId49"/>
    <p:sldId id="281" r:id="rId17"/>
    <p:sldId id="288" r:id="rId18"/>
    <p:sldId id="270" r:id="rId19"/>
    <p:sldId id="271" r:id="rId20"/>
    <p:sldId id="272" r:id="rId21"/>
    <p:sldId id="300" r:id="rId22"/>
    <p:sldId id="297" r:id="rId23"/>
    <p:sldId id="284" r:id="rId24"/>
    <p:sldId id="299" r:id="rId25"/>
    <p:sldId id="277" r:id="rId26"/>
    <p:sldId id="278" r:id="rId27"/>
    <p:sldId id="279" r:id="rId28"/>
  </p:sldIdLst>
  <p:sldSz cx="7772400" cy="10058400"/>
  <p:notesSz cx="6858000" cy="9144000"/>
  <p:embeddedFontLst>
    <p:embeddedFont>
      <p:font typeface="Montserrat" panose="00000500000000000000" pitchFamily="2" charset="0"/>
      <p:regular r:id="rId30"/>
      <p:bold r:id="rId31"/>
      <p:italic r:id="rId32"/>
      <p:boldItalic r:id="rId33"/>
    </p:embeddedFont>
    <p:embeddedFont>
      <p:font typeface="Noto Sans" panose="020B0502040504020204" pitchFamily="34" charset="0"/>
      <p:regular r:id="rId34"/>
      <p:bold r:id="rId35"/>
      <p:italic r:id="rId36"/>
      <p:boldItalic r:id="rId37"/>
    </p:embeddedFont>
    <p:embeddedFont>
      <p:font typeface="Noto Sans Black" panose="020B0604020202020204" charset="0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8127C98-2BB5-F6B9-2A68-E76745AD1014}" v="110" dt="2026-05-12T21:01:20.102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/>
    <p:restoredTop sz="94759"/>
  </p:normalViewPr>
  <p:slideViewPr>
    <p:cSldViewPr snapToGrid="0">
      <p:cViewPr varScale="1">
        <p:scale>
          <a:sx n="78" d="100"/>
          <a:sy n="78" d="100"/>
        </p:scale>
        <p:origin x="3024" y="184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notesMaster" Target="notesMasters/notesMaster1.xml"/><Relationship Id="rId30" Type="http://schemas.openxmlformats.org/officeDocument/2006/relationships/font" Target="fonts/font1.fntdata"/><Relationship Id="rId31" Type="http://schemas.openxmlformats.org/officeDocument/2006/relationships/font" Target="fonts/font2.fntdata"/><Relationship Id="rId32" Type="http://schemas.openxmlformats.org/officeDocument/2006/relationships/font" Target="fonts/font3.fntdata"/><Relationship Id="rId33" Type="http://schemas.openxmlformats.org/officeDocument/2006/relationships/font" Target="fonts/font4.fntdata"/><Relationship Id="rId34" Type="http://schemas.openxmlformats.org/officeDocument/2006/relationships/font" Target="fonts/font5.fntdata"/><Relationship Id="rId35" Type="http://schemas.openxmlformats.org/officeDocument/2006/relationships/font" Target="fonts/font6.fntdata"/><Relationship Id="rId36" Type="http://schemas.openxmlformats.org/officeDocument/2006/relationships/font" Target="fonts/font7.fntdata"/><Relationship Id="rId37" Type="http://schemas.openxmlformats.org/officeDocument/2006/relationships/font" Target="fonts/font8.fntdata"/><Relationship Id="rId38" Type="http://schemas.openxmlformats.org/officeDocument/2006/relationships/font" Target="fonts/font9.fntdata"/><Relationship Id="rId39" Type="http://schemas.openxmlformats.org/officeDocument/2006/relationships/font" Target="fonts/font10.fntdata"/><Relationship Id="rId40" Type="http://schemas.openxmlformats.org/officeDocument/2006/relationships/font" Target="fonts/font11.fntdata"/><Relationship Id="rId48" Type="http://schemas.openxmlformats.org/officeDocument/2006/relationships/slide" Target="slides/slide25.xml"/><Relationship Id="rId49" Type="http://schemas.openxmlformats.org/officeDocument/2006/relationships/slide" Target="slides/slide26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Esponda Rosales" userId="08a2b2cc-6d12-4dea-90fe-c484bece8186" providerId="ADAL" clId="{6846A1DD-3EC1-5A12-B3C5-9C410579EE4F}"/>
    <pc:docChg chg="addSld modSld">
      <pc:chgData name="Carlos Esponda Rosales" userId="08a2b2cc-6d12-4dea-90fe-c484bece8186" providerId="ADAL" clId="{6846A1DD-3EC1-5A12-B3C5-9C410579EE4F}" dt="2026-05-08T17:30:29.666" v="0"/>
      <pc:docMkLst>
        <pc:docMk/>
      </pc:docMkLst>
      <pc:sldChg chg="add">
        <pc:chgData name="Carlos Esponda Rosales" userId="08a2b2cc-6d12-4dea-90fe-c484bece8186" providerId="ADAL" clId="{6846A1DD-3EC1-5A12-B3C5-9C410579EE4F}" dt="2026-05-08T17:30:29.666" v="0"/>
        <pc:sldMkLst>
          <pc:docMk/>
          <pc:sldMk cId="1050299822" sldId="300"/>
        </pc:sldMkLst>
      </pc:sldChg>
    </pc:docChg>
  </pc:docChgLst>
  <pc:docChgLst>
    <pc:chgData name="Edgar Rosales Ortega" userId="d1d54fc2-1570-4978-babc-e22e1526833f" providerId="ADAL" clId="{66BE7C30-C669-4152-AC74-10076FC0590C}"/>
    <pc:docChg chg="custSel modSld sldOrd">
      <pc:chgData name="Edgar Rosales Ortega" userId="d1d54fc2-1570-4978-babc-e22e1526833f" providerId="ADAL" clId="{66BE7C30-C669-4152-AC74-10076FC0590C}" dt="2026-05-07T16:39:58.256" v="124" actId="14100"/>
      <pc:docMkLst>
        <pc:docMk/>
      </pc:docMkLst>
      <pc:sldChg chg="addSp delSp modSp mod">
        <pc:chgData name="Edgar Rosales Ortega" userId="d1d54fc2-1570-4978-babc-e22e1526833f" providerId="ADAL" clId="{66BE7C30-C669-4152-AC74-10076FC0590C}" dt="2026-04-30T21:55:37.213" v="109" actId="1035"/>
        <pc:sldMkLst>
          <pc:docMk/>
          <pc:sldMk cId="0" sldId="260"/>
        </pc:sldMkLst>
        <pc:spChg chg="add mod">
          <ac:chgData name="Edgar Rosales Ortega" userId="d1d54fc2-1570-4978-babc-e22e1526833f" providerId="ADAL" clId="{66BE7C30-C669-4152-AC74-10076FC0590C}" dt="2026-04-30T21:55:37.213" v="109" actId="1035"/>
          <ac:spMkLst>
            <pc:docMk/>
            <pc:sldMk cId="0" sldId="260"/>
            <ac:spMk id="7" creationId="{9449F489-7AE9-5A60-77E7-D2A5D25CB1EB}"/>
          </ac:spMkLst>
        </pc:spChg>
        <pc:graphicFrameChg chg="add mod">
          <ac:chgData name="Edgar Rosales Ortega" userId="d1d54fc2-1570-4978-babc-e22e1526833f" providerId="ADAL" clId="{66BE7C30-C669-4152-AC74-10076FC0590C}" dt="2026-04-30T21:55:27.926" v="46" actId="1076"/>
          <ac:graphicFrameMkLst>
            <pc:docMk/>
            <pc:sldMk cId="0" sldId="260"/>
            <ac:graphicFrameMk id="5" creationId="{AB9DD023-F2D6-C192-FC9B-02D97E4213B4}"/>
          </ac:graphicFrameMkLst>
        </pc:graphicFrameChg>
        <pc:picChg chg="add mod">
          <ac:chgData name="Edgar Rosales Ortega" userId="d1d54fc2-1570-4978-babc-e22e1526833f" providerId="ADAL" clId="{66BE7C30-C669-4152-AC74-10076FC0590C}" dt="2026-04-30T21:55:37.213" v="109" actId="1035"/>
          <ac:picMkLst>
            <pc:docMk/>
            <pc:sldMk cId="0" sldId="260"/>
            <ac:picMk id="6" creationId="{EE7ED226-17AB-83D0-C152-672D763CE7BF}"/>
          </ac:picMkLst>
        </pc:picChg>
      </pc:sldChg>
      <pc:sldChg chg="addSp delSp modSp mod">
        <pc:chgData name="Edgar Rosales Ortega" userId="d1d54fc2-1570-4978-babc-e22e1526833f" providerId="ADAL" clId="{66BE7C30-C669-4152-AC74-10076FC0590C}" dt="2026-05-05T17:46:35.134" v="110" actId="164"/>
        <pc:sldMkLst>
          <pc:docMk/>
          <pc:sldMk cId="0" sldId="261"/>
        </pc:sldMkLst>
        <pc:spChg chg="add mod">
          <ac:chgData name="Edgar Rosales Ortega" userId="d1d54fc2-1570-4978-babc-e22e1526833f" providerId="ADAL" clId="{66BE7C30-C669-4152-AC74-10076FC0590C}" dt="2026-05-05T17:46:35.134" v="110" actId="164"/>
          <ac:spMkLst>
            <pc:docMk/>
            <pc:sldMk cId="0" sldId="261"/>
            <ac:spMk id="8" creationId="{F90AB457-8D6E-4542-2A90-F87F48329EF4}"/>
          </ac:spMkLst>
        </pc:spChg>
        <pc:spChg chg="mod">
          <ac:chgData name="Edgar Rosales Ortega" userId="d1d54fc2-1570-4978-babc-e22e1526833f" providerId="ADAL" clId="{66BE7C30-C669-4152-AC74-10076FC0590C}" dt="2026-04-23T15:45:02.115" v="24"/>
          <ac:spMkLst>
            <pc:docMk/>
            <pc:sldMk cId="0" sldId="261"/>
            <ac:spMk id="10" creationId="{8F1EC2E9-A2F0-5D36-94BA-366AAC08766C}"/>
          </ac:spMkLst>
        </pc:spChg>
        <pc:spChg chg="mod">
          <ac:chgData name="Edgar Rosales Ortega" userId="d1d54fc2-1570-4978-babc-e22e1526833f" providerId="ADAL" clId="{66BE7C30-C669-4152-AC74-10076FC0590C}" dt="2026-04-23T15:45:02.115" v="24"/>
          <ac:spMkLst>
            <pc:docMk/>
            <pc:sldMk cId="0" sldId="261"/>
            <ac:spMk id="11" creationId="{47EA216D-D28C-2CAD-059B-7FADBBE6512C}"/>
          </ac:spMkLst>
        </pc:spChg>
        <pc:spChg chg="mod">
          <ac:chgData name="Edgar Rosales Ortega" userId="d1d54fc2-1570-4978-babc-e22e1526833f" providerId="ADAL" clId="{66BE7C30-C669-4152-AC74-10076FC0590C}" dt="2026-04-23T15:45:02.115" v="24"/>
          <ac:spMkLst>
            <pc:docMk/>
            <pc:sldMk cId="0" sldId="261"/>
            <ac:spMk id="12" creationId="{22108236-83C5-14D9-B1F8-D25BB28E01E9}"/>
          </ac:spMkLst>
        </pc:spChg>
        <pc:grpChg chg="add mod">
          <ac:chgData name="Edgar Rosales Ortega" userId="d1d54fc2-1570-4978-babc-e22e1526833f" providerId="ADAL" clId="{66BE7C30-C669-4152-AC74-10076FC0590C}" dt="2026-05-05T17:46:35.134" v="110" actId="164"/>
          <ac:grpSpMkLst>
            <pc:docMk/>
            <pc:sldMk cId="0" sldId="261"/>
            <ac:grpSpMk id="2" creationId="{91C4A122-0293-50EC-B7A6-96178E76F6CA}"/>
          </ac:grpSpMkLst>
        </pc:grpChg>
        <pc:grpChg chg="add mod">
          <ac:chgData name="Edgar Rosales Ortega" userId="d1d54fc2-1570-4978-babc-e22e1526833f" providerId="ADAL" clId="{66BE7C30-C669-4152-AC74-10076FC0590C}" dt="2026-05-05T17:46:35.134" v="110" actId="164"/>
          <ac:grpSpMkLst>
            <pc:docMk/>
            <pc:sldMk cId="0" sldId="261"/>
            <ac:grpSpMk id="9" creationId="{EAC39BB3-2607-460D-415B-E7A953C37494}"/>
          </ac:grpSpMkLst>
        </pc:grpChg>
        <pc:picChg chg="add mod">
          <ac:chgData name="Edgar Rosales Ortega" userId="d1d54fc2-1570-4978-babc-e22e1526833f" providerId="ADAL" clId="{66BE7C30-C669-4152-AC74-10076FC0590C}" dt="2026-05-05T17:46:35.134" v="110" actId="164"/>
          <ac:picMkLst>
            <pc:docMk/>
            <pc:sldMk cId="0" sldId="261"/>
            <ac:picMk id="13" creationId="{A28AC447-5B12-4340-2D8A-7A7E31075EE4}"/>
          </ac:picMkLst>
        </pc:picChg>
      </pc:sldChg>
      <pc:sldChg chg="delSp mod">
        <pc:chgData name="Edgar Rosales Ortega" userId="d1d54fc2-1570-4978-babc-e22e1526833f" providerId="ADAL" clId="{66BE7C30-C669-4152-AC74-10076FC0590C}" dt="2026-05-07T16:38:38.369" v="113" actId="478"/>
        <pc:sldMkLst>
          <pc:docMk/>
          <pc:sldMk cId="0" sldId="262"/>
        </pc:sldMkLst>
      </pc:sldChg>
      <pc:sldChg chg="addSp delSp modSp mod">
        <pc:chgData name="Edgar Rosales Ortega" userId="d1d54fc2-1570-4978-babc-e22e1526833f" providerId="ADAL" clId="{66BE7C30-C669-4152-AC74-10076FC0590C}" dt="2026-05-07T16:39:00.658" v="117" actId="478"/>
        <pc:sldMkLst>
          <pc:docMk/>
          <pc:sldMk cId="0" sldId="263"/>
        </pc:sldMkLst>
      </pc:sldChg>
      <pc:sldChg chg="modSp mod ord">
        <pc:chgData name="Edgar Rosales Ortega" userId="d1d54fc2-1570-4978-babc-e22e1526833f" providerId="ADAL" clId="{66BE7C30-C669-4152-AC74-10076FC0590C}" dt="2026-04-30T15:42:28.067" v="41"/>
        <pc:sldMkLst>
          <pc:docMk/>
          <pc:sldMk cId="0" sldId="267"/>
        </pc:sldMkLst>
        <pc:graphicFrameChg chg="modGraphic">
          <ac:chgData name="Edgar Rosales Ortega" userId="d1d54fc2-1570-4978-babc-e22e1526833f" providerId="ADAL" clId="{66BE7C30-C669-4152-AC74-10076FC0590C}" dt="2026-04-29T23:58:17.573" v="30" actId="20577"/>
          <ac:graphicFrameMkLst>
            <pc:docMk/>
            <pc:sldMk cId="0" sldId="267"/>
            <ac:graphicFrameMk id="230" creationId="{00000000-0000-0000-0000-000000000000}"/>
          </ac:graphicFrameMkLst>
        </pc:graphicFrameChg>
      </pc:sldChg>
      <pc:sldChg chg="modSp">
        <pc:chgData name="Edgar Rosales Ortega" userId="d1d54fc2-1570-4978-babc-e22e1526833f" providerId="ADAL" clId="{66BE7C30-C669-4152-AC74-10076FC0590C}" dt="2026-05-07T16:39:11.431" v="118"/>
        <pc:sldMkLst>
          <pc:docMk/>
          <pc:sldMk cId="0" sldId="272"/>
        </pc:sldMkLst>
        <pc:graphicFrameChg chg="mod">
          <ac:chgData name="Edgar Rosales Ortega" userId="d1d54fc2-1570-4978-babc-e22e1526833f" providerId="ADAL" clId="{66BE7C30-C669-4152-AC74-10076FC0590C}" dt="2026-05-07T16:39:11.431" v="118"/>
          <ac:graphicFrameMkLst>
            <pc:docMk/>
            <pc:sldMk cId="0" sldId="272"/>
            <ac:graphicFrameMk id="347" creationId="{00000000-0000-0000-0000-000000000000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7:47:05.228" v="112" actId="1076"/>
        <pc:sldMkLst>
          <pc:docMk/>
          <pc:sldMk cId="0" sldId="279"/>
        </pc:sldMkLst>
        <pc:spChg chg="add mod">
          <ac:chgData name="Edgar Rosales Ortega" userId="d1d54fc2-1570-4978-babc-e22e1526833f" providerId="ADAL" clId="{66BE7C30-C669-4152-AC74-10076FC0590C}" dt="2026-04-30T16:23:08.198" v="42" actId="1076"/>
          <ac:spMkLst>
            <pc:docMk/>
            <pc:sldMk cId="0" sldId="279"/>
            <ac:spMk id="2" creationId="{75AA8BC5-30E8-D0F0-6F3F-3E7C51DC9CDC}"/>
          </ac:spMkLst>
        </pc:spChg>
        <pc:spChg chg="mod">
          <ac:chgData name="Edgar Rosales Ortega" userId="d1d54fc2-1570-4978-babc-e22e1526833f" providerId="ADAL" clId="{66BE7C30-C669-4152-AC74-10076FC0590C}" dt="2026-05-05T17:47:05.228" v="112" actId="1076"/>
          <ac:spMkLst>
            <pc:docMk/>
            <pc:sldMk cId="0" sldId="279"/>
            <ac:spMk id="500" creationId="{00000000-0000-0000-0000-000000000000}"/>
          </ac:spMkLst>
        </pc:spChg>
      </pc:sldChg>
      <pc:sldChg chg="modSp mod ord">
        <pc:chgData name="Edgar Rosales Ortega" userId="d1d54fc2-1570-4978-babc-e22e1526833f" providerId="ADAL" clId="{66BE7C30-C669-4152-AC74-10076FC0590C}" dt="2026-04-30T15:42:21.966" v="39"/>
        <pc:sldMkLst>
          <pc:docMk/>
          <pc:sldMk cId="540716406" sldId="280"/>
        </pc:sldMkLst>
        <pc:graphicFrameChg chg="modGraphic">
          <ac:chgData name="Edgar Rosales Ortega" userId="d1d54fc2-1570-4978-babc-e22e1526833f" providerId="ADAL" clId="{66BE7C30-C669-4152-AC74-10076FC0590C}" dt="2026-04-29T23:58:20.771" v="31" actId="20577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  <pc:sldChg chg="addSp delSp modSp mod ord">
        <pc:chgData name="Edgar Rosales Ortega" userId="d1d54fc2-1570-4978-babc-e22e1526833f" providerId="ADAL" clId="{66BE7C30-C669-4152-AC74-10076FC0590C}" dt="2026-05-05T17:46:45.381" v="111" actId="478"/>
        <pc:sldMkLst>
          <pc:docMk/>
          <pc:sldMk cId="3828482411" sldId="281"/>
        </pc:sldMkLst>
      </pc:sldChg>
      <pc:sldChg chg="modSp mod">
        <pc:chgData name="Edgar Rosales Ortega" userId="d1d54fc2-1570-4978-babc-e22e1526833f" providerId="ADAL" clId="{66BE7C30-C669-4152-AC74-10076FC0590C}" dt="2026-05-07T16:39:58.256" v="124" actId="14100"/>
        <pc:sldMkLst>
          <pc:docMk/>
          <pc:sldMk cId="364733940" sldId="284"/>
        </pc:sldMkLst>
        <pc:picChg chg="mod">
          <ac:chgData name="Edgar Rosales Ortega" userId="d1d54fc2-1570-4978-babc-e22e1526833f" providerId="ADAL" clId="{66BE7C30-C669-4152-AC74-10076FC0590C}" dt="2026-05-07T16:39:58.256" v="124" actId="14100"/>
          <ac:picMkLst>
            <pc:docMk/>
            <pc:sldMk cId="364733940" sldId="284"/>
            <ac:picMk id="2" creationId="{1B5687F4-45A0-92B4-9653-1598AF1BC42E}"/>
          </ac:picMkLst>
        </pc:picChg>
      </pc:sldChg>
      <pc:sldChg chg="modSp mod ord">
        <pc:chgData name="Edgar Rosales Ortega" userId="d1d54fc2-1570-4978-babc-e22e1526833f" providerId="ADAL" clId="{66BE7C30-C669-4152-AC74-10076FC0590C}" dt="2026-04-30T15:42:00.399" v="37"/>
        <pc:sldMkLst>
          <pc:docMk/>
          <pc:sldMk cId="748044913" sldId="287"/>
        </pc:sldMkLst>
        <pc:graphicFrameChg chg="modGraphic">
          <ac:chgData name="Edgar Rosales Ortega" userId="d1d54fc2-1570-4978-babc-e22e1526833f" providerId="ADAL" clId="{66BE7C30-C669-4152-AC74-10076FC0590C}" dt="2026-04-29T23:58:23.670" v="32" actId="20577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  <pc:sldChg chg="modSp mod">
        <pc:chgData name="Edgar Rosales Ortega" userId="d1d54fc2-1570-4978-babc-e22e1526833f" providerId="ADAL" clId="{66BE7C30-C669-4152-AC74-10076FC0590C}" dt="2026-05-07T16:39:30.780" v="121" actId="14100"/>
        <pc:sldMkLst>
          <pc:docMk/>
          <pc:sldMk cId="3240565764" sldId="297"/>
        </pc:sldMkLst>
        <pc:picChg chg="mod">
          <ac:chgData name="Edgar Rosales Ortega" userId="d1d54fc2-1570-4978-babc-e22e1526833f" providerId="ADAL" clId="{66BE7C30-C669-4152-AC74-10076FC0590C}" dt="2026-05-07T16:39:30.780" v="121" actId="14100"/>
          <ac:picMkLst>
            <pc:docMk/>
            <pc:sldMk cId="3240565764" sldId="297"/>
            <ac:picMk id="5" creationId="{4689FF38-8CFA-FB37-4E7B-B5603B7FC116}"/>
          </ac:picMkLst>
        </pc:picChg>
      </pc:sldChg>
    </pc:docChg>
  </pc:docChgLst>
  <pc:docChgLst>
    <pc:chgData name="Gerardo Jahir Lara Garcia" userId="S::gerardo.larag@imss.gob.mx::84d5cd65-4601-4e92-b448-a9da4809e012" providerId="AD" clId="Web-{D8127C98-2BB5-F6B9-2A68-E76745AD1014}"/>
    <pc:docChg chg="modSld">
      <pc:chgData name="Gerardo Jahir Lara Garcia" userId="S::gerardo.larag@imss.gob.mx::84d5cd65-4601-4e92-b448-a9da4809e012" providerId="AD" clId="Web-{D8127C98-2BB5-F6B9-2A68-E76745AD1014}" dt="2026-05-12T21:01:20.102" v="67" actId="1076"/>
      <pc:docMkLst>
        <pc:docMk/>
      </pc:docMkLst>
      <pc:sldChg chg="addSp delSp modSp">
        <pc:chgData name="Gerardo Jahir Lara Garcia" userId="S::gerardo.larag@imss.gob.mx::84d5cd65-4601-4e92-b448-a9da4809e012" providerId="AD" clId="Web-{D8127C98-2BB5-F6B9-2A68-E76745AD1014}" dt="2026-05-12T21:01:20.102" v="67" actId="1076"/>
        <pc:sldMkLst>
          <pc:docMk/>
          <pc:sldMk cId="364733940" sldId="284"/>
        </pc:sldMkLst>
        <pc:spChg chg="add">
          <ac:chgData name="Gerardo Jahir Lara Garcia" userId="S::gerardo.larag@imss.gob.mx::84d5cd65-4601-4e92-b448-a9da4809e012" providerId="AD" clId="Web-{D8127C98-2BB5-F6B9-2A68-E76745AD1014}" dt="2026-05-12T20:56:27.263" v="1"/>
          <ac:spMkLst>
            <pc:docMk/>
            <pc:sldMk cId="364733940" sldId="284"/>
            <ac:spMk id="3" creationId="{ABCC6279-D2EB-1F1F-D811-3FFF80887FF1}"/>
          </ac:spMkLst>
        </pc:spChg>
        <pc:spChg chg="add">
          <ac:chgData name="Gerardo Jahir Lara Garcia" userId="S::gerardo.larag@imss.gob.mx::84d5cd65-4601-4e92-b448-a9da4809e012" providerId="AD" clId="Web-{D8127C98-2BB5-F6B9-2A68-E76745AD1014}" dt="2026-05-12T20:56:27.263" v="1"/>
          <ac:spMkLst>
            <pc:docMk/>
            <pc:sldMk cId="364733940" sldId="284"/>
            <ac:spMk id="6" creationId="{4578A0AA-9DC1-3453-263A-76BE5A8BE282}"/>
          </ac:spMkLst>
        </pc:spChg>
        <pc:spChg chg="add del">
          <ac:chgData name="Gerardo Jahir Lara Garcia" userId="S::gerardo.larag@imss.gob.mx::84d5cd65-4601-4e92-b448-a9da4809e012" providerId="AD" clId="Web-{D8127C98-2BB5-F6B9-2A68-E76745AD1014}" dt="2026-05-12T21:00:38.367" v="40"/>
          <ac:spMkLst>
            <pc:docMk/>
            <pc:sldMk cId="364733940" sldId="284"/>
            <ac:spMk id="8" creationId="{E732EDB4-939B-C564-D4B2-9497DEB259D4}"/>
          </ac:spMkLst>
        </pc:spChg>
        <pc:spChg chg="add del">
          <ac:chgData name="Gerardo Jahir Lara Garcia" userId="S::gerardo.larag@imss.gob.mx::84d5cd65-4601-4e92-b448-a9da4809e012" providerId="AD" clId="Web-{D8127C98-2BB5-F6B9-2A68-E76745AD1014}" dt="2026-05-12T21:00:38.367" v="38"/>
          <ac:spMkLst>
            <pc:docMk/>
            <pc:sldMk cId="364733940" sldId="284"/>
            <ac:spMk id="10" creationId="{261D4185-A587-C515-FCC3-DB49EF855C8D}"/>
          </ac:spMkLst>
        </pc:spChg>
        <pc:spChg chg="add del">
          <ac:chgData name="Gerardo Jahir Lara Garcia" userId="S::gerardo.larag@imss.gob.mx::84d5cd65-4601-4e92-b448-a9da4809e012" providerId="AD" clId="Web-{D8127C98-2BB5-F6B9-2A68-E76745AD1014}" dt="2026-05-12T21:00:38.367" v="36"/>
          <ac:spMkLst>
            <pc:docMk/>
            <pc:sldMk cId="364733940" sldId="284"/>
            <ac:spMk id="12" creationId="{FD1C9D9D-7EC9-B9A4-0A18-6BF64EAEDB4E}"/>
          </ac:spMkLst>
        </pc:spChg>
        <pc:spChg chg="add mod">
          <ac:chgData name="Gerardo Jahir Lara Garcia" userId="S::gerardo.larag@imss.gob.mx::84d5cd65-4601-4e92-b448-a9da4809e012" providerId="AD" clId="Web-{D8127C98-2BB5-F6B9-2A68-E76745AD1014}" dt="2026-05-12T21:01:20.102" v="65" actId="1076"/>
          <ac:spMkLst>
            <pc:docMk/>
            <pc:sldMk cId="364733940" sldId="284"/>
            <ac:spMk id="14" creationId="{0C08FC0F-9DF2-D636-E638-CE92F3DEC115}"/>
          </ac:spMkLst>
        </pc:spChg>
        <pc:spChg chg="add mod">
          <ac:chgData name="Gerardo Jahir Lara Garcia" userId="S::gerardo.larag@imss.gob.mx::84d5cd65-4601-4e92-b448-a9da4809e012" providerId="AD" clId="Web-{D8127C98-2BB5-F6B9-2A68-E76745AD1014}" dt="2026-05-12T21:01:20.102" v="67" actId="1076"/>
          <ac:spMkLst>
            <pc:docMk/>
            <pc:sldMk cId="364733940" sldId="284"/>
            <ac:spMk id="16" creationId="{31F06996-6695-0609-49FC-3D48462AAA79}"/>
          </ac:spMkLst>
        </pc:spChg>
        <pc:picChg chg="add">
          <ac:chgData name="Gerardo Jahir Lara Garcia" userId="S::gerardo.larag@imss.gob.mx::84d5cd65-4601-4e92-b448-a9da4809e012" providerId="AD" clId="Web-{D8127C98-2BB5-F6B9-2A68-E76745AD1014}" dt="2026-05-12T20:56:27.263" v="1"/>
          <ac:picMkLst>
            <pc:docMk/>
            <pc:sldMk cId="364733940" sldId="284"/>
            <ac:picMk id="4" creationId="{488C755F-8E2D-8CE1-6C1B-6DBB55EE2CD3}"/>
          </ac:picMkLst>
        </pc:picChg>
        <pc:picChg chg="add del">
          <ac:chgData name="Gerardo Jahir Lara Garcia" userId="S::gerardo.larag@imss.gob.mx::84d5cd65-4601-4e92-b448-a9da4809e012" providerId="AD" clId="Web-{D8127C98-2BB5-F6B9-2A68-E76745AD1014}" dt="2026-05-12T21:00:38.367" v="39"/>
          <ac:picMkLst>
            <pc:docMk/>
            <pc:sldMk cId="364733940" sldId="284"/>
            <ac:picMk id="9" creationId="{8A8D8CD2-DBCF-78B9-E5EF-827E13752F76}"/>
          </ac:picMkLst>
        </pc:picChg>
        <pc:picChg chg="add del">
          <ac:chgData name="Gerardo Jahir Lara Garcia" userId="S::gerardo.larag@imss.gob.mx::84d5cd65-4601-4e92-b448-a9da4809e012" providerId="AD" clId="Web-{D8127C98-2BB5-F6B9-2A68-E76745AD1014}" dt="2026-05-12T21:00:38.367" v="37"/>
          <ac:picMkLst>
            <pc:docMk/>
            <pc:sldMk cId="364733940" sldId="284"/>
            <ac:picMk id="11" creationId="{FE86C75D-F50A-FF84-41DD-22F979E997A1}"/>
          </ac:picMkLst>
        </pc:picChg>
        <pc:picChg chg="add mod">
          <ac:chgData name="Gerardo Jahir Lara Garcia" userId="S::gerardo.larag@imss.gob.mx::84d5cd65-4601-4e92-b448-a9da4809e012" providerId="AD" clId="Web-{D8127C98-2BB5-F6B9-2A68-E76745AD1014}" dt="2026-05-12T21:01:20.087" v="64" actId="1076"/>
          <ac:picMkLst>
            <pc:docMk/>
            <pc:sldMk cId="364733940" sldId="284"/>
            <ac:picMk id="13" creationId="{9822E17B-1489-11B0-F897-EB691741AD05}"/>
          </ac:picMkLst>
        </pc:picChg>
        <pc:picChg chg="add mod">
          <ac:chgData name="Gerardo Jahir Lara Garcia" userId="S::gerardo.larag@imss.gob.mx::84d5cd65-4601-4e92-b448-a9da4809e012" providerId="AD" clId="Web-{D8127C98-2BB5-F6B9-2A68-E76745AD1014}" dt="2026-05-12T21:01:20.102" v="66" actId="1076"/>
          <ac:picMkLst>
            <pc:docMk/>
            <pc:sldMk cId="364733940" sldId="284"/>
            <ac:picMk id="15" creationId="{93A97F7C-8571-8E37-50FF-4EEB5D75E748}"/>
          </ac:picMkLst>
        </pc:picChg>
      </pc:sldChg>
      <pc:sldChg chg="addSp delSp modSp">
        <pc:chgData name="Gerardo Jahir Lara Garcia" userId="S::gerardo.larag@imss.gob.mx::84d5cd65-4601-4e92-b448-a9da4809e012" providerId="AD" clId="Web-{D8127C98-2BB5-F6B9-2A68-E76745AD1014}" dt="2026-05-12T20:58:40.503" v="34" actId="20577"/>
        <pc:sldMkLst>
          <pc:docMk/>
          <pc:sldMk cId="3240565764" sldId="297"/>
        </pc:sldMkLst>
        <pc:spChg chg="add del">
          <ac:chgData name="Gerardo Jahir Lara Garcia" userId="S::gerardo.larag@imss.gob.mx::84d5cd65-4601-4e92-b448-a9da4809e012" providerId="AD" clId="Web-{D8127C98-2BB5-F6B9-2A68-E76745AD1014}" dt="2026-05-12T20:57:17.187" v="3"/>
          <ac:spMkLst>
            <pc:docMk/>
            <pc:sldMk cId="3240565764" sldId="297"/>
            <ac:spMk id="4" creationId="{5703951A-79F9-0F57-1683-4A2C02D4A29F}"/>
          </ac:spMkLst>
        </pc:spChg>
        <pc:spChg chg="add">
          <ac:chgData name="Gerardo Jahir Lara Garcia" userId="S::gerardo.larag@imss.gob.mx::84d5cd65-4601-4e92-b448-a9da4809e012" providerId="AD" clId="Web-{D8127C98-2BB5-F6B9-2A68-E76745AD1014}" dt="2026-05-12T20:56:15.341" v="0"/>
          <ac:spMkLst>
            <pc:docMk/>
            <pc:sldMk cId="3240565764" sldId="297"/>
            <ac:spMk id="7" creationId="{21AE8FA6-CA77-F761-93C9-BF2570CBBE30}"/>
          </ac:spMkLst>
        </pc:spChg>
        <pc:spChg chg="add del mod">
          <ac:chgData name="Gerardo Jahir Lara Garcia" userId="S::gerardo.larag@imss.gob.mx::84d5cd65-4601-4e92-b448-a9da4809e012" providerId="AD" clId="Web-{D8127C98-2BB5-F6B9-2A68-E76745AD1014}" dt="2026-05-12T20:58:00.517" v="19" actId="20577"/>
          <ac:spMkLst>
            <pc:docMk/>
            <pc:sldMk cId="3240565764" sldId="297"/>
            <ac:spMk id="9" creationId="{FD4175D4-66CF-7FBC-B843-C149C5339DF1}"/>
          </ac:spMkLst>
        </pc:spChg>
        <pc:spChg chg="add mod">
          <ac:chgData name="Gerardo Jahir Lara Garcia" userId="S::gerardo.larag@imss.gob.mx::84d5cd65-4601-4e92-b448-a9da4809e012" providerId="AD" clId="Web-{D8127C98-2BB5-F6B9-2A68-E76745AD1014}" dt="2026-05-12T20:58:15.440" v="22" actId="20577"/>
          <ac:spMkLst>
            <pc:docMk/>
            <pc:sldMk cId="3240565764" sldId="297"/>
            <ac:spMk id="11" creationId="{50F1217E-09B0-81A3-6E99-CB1DE729ADDF}"/>
          </ac:spMkLst>
        </pc:spChg>
        <pc:spChg chg="add mod">
          <ac:chgData name="Gerardo Jahir Lara Garcia" userId="S::gerardo.larag@imss.gob.mx::84d5cd65-4601-4e92-b448-a9da4809e012" providerId="AD" clId="Web-{D8127C98-2BB5-F6B9-2A68-E76745AD1014}" dt="2026-05-12T20:57:31.204" v="8" actId="1076"/>
          <ac:spMkLst>
            <pc:docMk/>
            <pc:sldMk cId="3240565764" sldId="297"/>
            <ac:spMk id="12" creationId="{991C7EE4-1170-AC4C-597D-3383D8E8A8F9}"/>
          </ac:spMkLst>
        </pc:spChg>
        <pc:spChg chg="add mod">
          <ac:chgData name="Gerardo Jahir Lara Garcia" userId="S::gerardo.larag@imss.gob.mx::84d5cd65-4601-4e92-b448-a9da4809e012" providerId="AD" clId="Web-{D8127C98-2BB5-F6B9-2A68-E76745AD1014}" dt="2026-05-12T20:58:40.503" v="34" actId="20577"/>
          <ac:spMkLst>
            <pc:docMk/>
            <pc:sldMk cId="3240565764" sldId="297"/>
            <ac:spMk id="14" creationId="{CA535D92-E281-11D7-D7CB-F8BAB9F176B8}"/>
          </ac:spMkLst>
        </pc:spChg>
        <pc:picChg chg="add del">
          <ac:chgData name="Gerardo Jahir Lara Garcia" userId="S::gerardo.larag@imss.gob.mx::84d5cd65-4601-4e92-b448-a9da4809e012" providerId="AD" clId="Web-{D8127C98-2BB5-F6B9-2A68-E76745AD1014}" dt="2026-05-12T20:57:14.500" v="2"/>
          <ac:picMkLst>
            <pc:docMk/>
            <pc:sldMk cId="3240565764" sldId="297"/>
            <ac:picMk id="3" creationId="{E4583F43-E86D-0F1E-8691-BAF3375AD7BA}"/>
          </ac:picMkLst>
        </pc:picChg>
        <pc:picChg chg="add mod">
          <ac:chgData name="Gerardo Jahir Lara Garcia" userId="S::gerardo.larag@imss.gob.mx::84d5cd65-4601-4e92-b448-a9da4809e012" providerId="AD" clId="Web-{D8127C98-2BB5-F6B9-2A68-E76745AD1014}" dt="2026-05-12T20:57:31.172" v="4" actId="1076"/>
          <ac:picMkLst>
            <pc:docMk/>
            <pc:sldMk cId="3240565764" sldId="297"/>
            <ac:picMk id="8" creationId="{AE9FD96F-084C-5DEE-6966-05F8D1633A42}"/>
          </ac:picMkLst>
        </pc:picChg>
        <pc:picChg chg="add mod">
          <ac:chgData name="Gerardo Jahir Lara Garcia" userId="S::gerardo.larag@imss.gob.mx::84d5cd65-4601-4e92-b448-a9da4809e012" providerId="AD" clId="Web-{D8127C98-2BB5-F6B9-2A68-E76745AD1014}" dt="2026-05-12T20:57:31.188" v="6" actId="1076"/>
          <ac:picMkLst>
            <pc:docMk/>
            <pc:sldMk cId="3240565764" sldId="297"/>
            <ac:picMk id="10" creationId="{170CBE01-E044-2F44-556A-69D0B561DC01}"/>
          </ac:picMkLst>
        </pc:picChg>
        <pc:picChg chg="add mod">
          <ac:chgData name="Gerardo Jahir Lara Garcia" userId="S::gerardo.larag@imss.gob.mx::84d5cd65-4601-4e92-b448-a9da4809e012" providerId="AD" clId="Web-{D8127C98-2BB5-F6B9-2A68-E76745AD1014}" dt="2026-05-12T20:57:31.219" v="9" actId="1076"/>
          <ac:picMkLst>
            <pc:docMk/>
            <pc:sldMk cId="3240565764" sldId="297"/>
            <ac:picMk id="13" creationId="{F7B31A16-FD1A-331A-6F76-259EB810FD76}"/>
          </ac:picMkLst>
        </pc:pic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691C32"/>
              </a:solidFill>
            </c:spPr>
          </c:dPt>
          <c:dPt>
            <c:idx val="2"/>
            <c:spPr>
              <a:solidFill>
                <a:srgbClr val="BC955C"/>
              </a:solidFill>
            </c:spPr>
          </c:dPt>
          <c:dPt>
            <c:idx val="3"/>
            <c:spPr>
              <a:solidFill>
                <a:srgbClr val="9E9E9E"/>
              </a:solidFill>
            </c:spPr>
          </c:dPt>
          <c:cat>
            <c:strRef>
              <c:f>Sheet1!$A$2:$A$5</c:f>
              <c:strCache>
                <c:ptCount val="4"/>
                <c:pt idx="0">
                  <c:v>IMSS</c:v>
                </c:pt>
                <c:pt idx="1">
                  <c:v>ISSSTE</c:v>
                </c:pt>
                <c:pt idx="2">
                  <c:v>IMSS-BIENESTAR</c:v>
                </c:pt>
                <c:pt idx="3">
                  <c:v>Otros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574413.0</c:v>
                </c:pt>
                <c:pt idx="1">
                  <c:v>197492.0</c:v>
                </c:pt>
                <c:pt idx="2">
                  <c:v>139859.0</c:v>
                </c:pt>
                <c:pt idx="3">
                  <c:v>9970.0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32.73115618013414</c:v>
                </c:pt>
                <c:pt idx="1">
                  <c:v>67.26884381986585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11.7793942897</c:v>
                </c:pt>
                <c:pt idx="1">
                  <c:v>88.22060571029999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  <c:autoTitleDeleted val="1"/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40.10604351329573</c:v>
                </c:pt>
                <c:pt idx="1">
                  <c:v>59.89395648670427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34.0133428902244</c:v>
                </c:pt>
                <c:pt idx="1">
                  <c:v>65.98665710977559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20</c:v>
                </c:pt>
                <c:pt idx="1">
                  <c:v>39</c:v>
                </c:pt>
                <c:pt idx="2">
                  <c:v>52</c:v>
                </c:pt>
                <c:pt idx="3">
                  <c:v>19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Industrias Extractivas</c:v>
                </c:pt>
                <c:pt idx="1">
                  <c:v>Servicios para Empresas, Personas y el Hogar</c:v>
                </c:pt>
                <c:pt idx="2">
                  <c:v>Industrias de la Transformación</c:v>
                </c:pt>
                <c:pt idx="3">
                  <c:v>Industria de la Construcción</c:v>
                </c:pt>
                <c:pt idx="4">
                  <c:v>Transportes y Comunicaciones</c:v>
                </c:pt>
                <c:pt idx="5">
                  <c:v>Servicios Sociales y Comunales</c:v>
                </c:pt>
                <c:pt idx="6">
                  <c:v>Ind Eléctrica y Captación y Suministro de Agua Potable</c:v>
                </c:pt>
                <c:pt idx="7">
                  <c:v>Comercio</c:v>
                </c:pt>
                <c:pt idx="8">
                  <c:v>Agricultura, Ganaderia, Silvicultura, Pesca y Caza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3395</c:v>
                </c:pt>
                <c:pt idx="1">
                  <c:v>81475</c:v>
                </c:pt>
                <c:pt idx="2">
                  <c:v>9639</c:v>
                </c:pt>
                <c:pt idx="3">
                  <c:v>40773</c:v>
                </c:pt>
                <c:pt idx="4">
                  <c:v>12563</c:v>
                </c:pt>
                <c:pt idx="5">
                  <c:v>14385</c:v>
                </c:pt>
                <c:pt idx="6">
                  <c:v>1700</c:v>
                </c:pt>
                <c:pt idx="7">
                  <c:v>42253</c:v>
                </c:pt>
                <c:pt idx="8">
                  <c:v>14654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Industrias Extractivas</c:v>
                </c:pt>
                <c:pt idx="1">
                  <c:v>Servicios para Empresas, Personas y el Hogar</c:v>
                </c:pt>
                <c:pt idx="2">
                  <c:v>Industrias de la Transformación</c:v>
                </c:pt>
                <c:pt idx="3">
                  <c:v>Industria de la Construcción</c:v>
                </c:pt>
                <c:pt idx="4">
                  <c:v>Transportes y Comunicaciones</c:v>
                </c:pt>
                <c:pt idx="5">
                  <c:v>Servicios Sociales y Comunales</c:v>
                </c:pt>
                <c:pt idx="6">
                  <c:v>Ind Eléctrica y Captación y Suministro de Agua Potable</c:v>
                </c:pt>
                <c:pt idx="7">
                  <c:v>Comercio</c:v>
                </c:pt>
                <c:pt idx="8">
                  <c:v>Agricultura, Ganaderia, Silvicultura, Pesca y Caza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2929</c:v>
                </c:pt>
                <c:pt idx="1">
                  <c:v>81510</c:v>
                </c:pt>
                <c:pt idx="2">
                  <c:v>9815</c:v>
                </c:pt>
                <c:pt idx="3">
                  <c:v>41527</c:v>
                </c:pt>
                <c:pt idx="4">
                  <c:v>12884</c:v>
                </c:pt>
                <c:pt idx="5">
                  <c:v>15097</c:v>
                </c:pt>
                <c:pt idx="6">
                  <c:v>1794</c:v>
                </c:pt>
                <c:pt idx="7">
                  <c:v>44602</c:v>
                </c:pt>
                <c:pt idx="8">
                  <c:v>15760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176761</c:v>
                </c:pt>
                <c:pt idx="1">
                  <c:v>186484</c:v>
                </c:pt>
                <c:pt idx="2">
                  <c:v>166363</c:v>
                </c:pt>
                <c:pt idx="3">
                  <c:v>172044</c:v>
                </c:pt>
                <c:pt idx="4">
                  <c:v>200038</c:v>
                </c:pt>
                <c:pt idx="5">
                  <c:v>217679</c:v>
                </c:pt>
                <c:pt idx="6">
                  <c:v>222006</c:v>
                </c:pt>
                <c:pt idx="7">
                  <c:v>220837</c:v>
                </c:pt>
                <c:pt idx="8">
                  <c:v>225918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2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chart" Target="../charts/char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3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chart" Target="../charts/char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21.png"/><Relationship Id="rId5" Type="http://schemas.openxmlformats.org/officeDocument/2006/relationships/chart" Target="../charts/chart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Baja California Sur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Mayo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03_B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62% de la población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82800" y="462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proyección a enero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574,413</a:t>
            </a:r>
            <a:br/>
            <a:r>
              <a:t>62%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197,492</a:t>
            </a:r>
            <a:br/>
            <a:r>
              <a:t>21%</a:t>
            </a:r>
          </a:p>
        </p:txBody>
      </p:sp>
      <p:pic>
        <p:nvPicPr>
          <p:cNvPr id="122" name="Picture 121" descr="isss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139,859</a:t>
            </a:r>
            <a:br/>
            <a:r>
              <a:t>15%</a:t>
            </a:r>
          </a:p>
        </p:txBody>
      </p:sp>
      <p:pic>
        <p:nvPicPr>
          <p:cNvPr id="125" name="Picture 124" descr="03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0400" y="3290400"/>
            <a:ext cx="1247031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Otros</a:t>
            </a:r>
            <a:br/>
            <a:r>
              <a:t>9,970</a:t>
            </a:r>
            <a:br/>
            <a:r>
              <a:t>1%</a:t>
            </a:r>
          </a:p>
        </p:txBody>
      </p:sp>
      <p:pic>
        <p:nvPicPr>
          <p:cNvPr id="128" name="Picture 127" descr="otro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921,734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2800" y="891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 Corte abril de 2026.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2800" y="909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2800" y="9270000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² La afiliación al Seguro de Salud de Familia disminuye en virtud del incremento en los nuevos esquemas de aseguramiento.</a:t>
            </a:r>
          </a:p>
        </p:txBody>
      </p:sp>
      <p:graphicFrame>
        <p:nvGraphicFramePr>
          <p:cNvPr id="134" name="Table 133"/>
          <p:cNvGraphicFramePr>
            <a:graphicFrameLocks noGrp="1"/>
          </p:cNvGraphicFramePr>
          <p:nvPr/>
        </p:nvGraphicFramePr>
        <p:xfrm>
          <a:off x="313200" y="5270400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/>
                <a:gridCol w="1206000"/>
                <a:gridCol w="1206000"/>
                <a:gridCol w="1159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486,036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574,413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272,243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343,800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26%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181,598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225,918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22,963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37,436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9,392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9,757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58,290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67,403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55,618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64,950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1,795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-73%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1,965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213,793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230,613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68,390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77,984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115,767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109,040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29,636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43,589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391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559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42%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1,251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3,006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140%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>
            <p:extLst>
              <p:ext uri="{D42A27DB-BD31-4B8C-83A1-F6EECF244321}">
                <p14:modId xmlns:p14="http://schemas.microsoft.com/office/powerpoint/2010/main" val="4270083055"/>
              </p:ext>
            </p:extLst>
          </p:nvPr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</a:t>
                      </a: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médica IMSS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03_bc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475999"/>
            <a:ext cx="5461200" cy="5011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1706400" y="6854400"/>
          <a:ext cx="4359600" cy="11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15</a:t>
                      </a:r>
                      <a:r>
                        <a:rPr sz="700">
                          <a:latin typeface="Montserrat"/>
                        </a:rPr>
                        <a:t> 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66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32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15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342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130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20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81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342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162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2934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93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93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3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212400" y="8877600"/>
            <a:ext cx="720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¹ Incluye 14 UMF, 1 UMF-UMAA y no incluye 7 Unidades Auxiliares de Medicina Familiar.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de 2026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86;g3d0b4d3c5c9_3_0">
            <a:extLst>
              <a:ext uri="{FF2B5EF4-FFF2-40B4-BE49-F238E27FC236}">
                <a16:creationId xmlns:a16="http://schemas.microsoft.com/office/drawing/2014/main" id="{AB9DD023-F2D6-C192-FC9B-02D97E4213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27759999"/>
              </p:ext>
            </p:extLst>
          </p:nvPr>
        </p:nvGraphicFramePr>
        <p:xfrm>
          <a:off x="288000" y="1191600"/>
          <a:ext cx="7335100" cy="5486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335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372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800" b="1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8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Clínica Hospital, La Paz</a:t>
                      </a:r>
                      <a:endParaRPr sz="18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6" name="Google Shape;92;g3d0b4d3c5c9_3_0">
            <a:extLst>
              <a:ext uri="{FF2B5EF4-FFF2-40B4-BE49-F238E27FC236}">
                <a16:creationId xmlns:a16="http://schemas.microsoft.com/office/drawing/2014/main" id="{EE7ED226-17AB-83D0-C152-672D763CE7BF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5225" y="2532617"/>
            <a:ext cx="2964575" cy="187455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CuadroTexto 6">
            <a:extLst>
              <a:ext uri="{FF2B5EF4-FFF2-40B4-BE49-F238E27FC236}">
                <a16:creationId xmlns:a16="http://schemas.microsoft.com/office/drawing/2014/main" id="{9449F489-7AE9-5A60-77E7-D2A5D25CB1EB}"/>
              </a:ext>
            </a:extLst>
          </p:cNvPr>
          <p:cNvSpPr txBox="1"/>
          <p:nvPr/>
        </p:nvSpPr>
        <p:spPr>
          <a:xfrm>
            <a:off x="3527663" y="2066517"/>
            <a:ext cx="3889512" cy="29136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IMSS inició servicios el 22 de noviembre de 1958 bajo el esquema de subrogación en La Paz con consulta médica, farmacia y hospitalización, las instalaciones se habilitaron en el Hotel Gardenia, de las calles Serdán y Salvatierra.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En 1963 se inauguró un conjunto compuesto por: Clínica-Hospital, teatro al aire libre y las oficinas de la Subdelegación administrativa, en el malecón de La Paz.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28 de marzo de 1978 se inauguró el HGZ/MF No. 1 con 37 camas y especialidades básicas, su primer director médico fue el Dr. Enrique </a:t>
            </a:r>
            <a:r>
              <a:rPr lang="es-ES" sz="1100" b="0" i="0" u="none" strike="noStrike" dirty="0" err="1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Von</a:t>
            </a: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 </a:t>
            </a:r>
            <a:r>
              <a:rPr lang="es-ES" sz="1100" b="0" i="0" u="none" strike="noStrike" dirty="0" err="1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Borstel</a:t>
            </a: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 Labastida, de quien por su mérito y cualidades profesionales y humanas el actual Hospital lleva su nombre.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bcs_0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2400" y="5666400"/>
            <a:ext cx="7488000" cy="727200"/>
          </a:xfrm>
          <a:prstGeom prst="rect">
            <a:avLst/>
          </a:prstGeom>
        </p:spPr>
      </p:pic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5600" y="6476399"/>
          <a:ext cx="7650000" cy="161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2 Cd. Constitución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1 La Paz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1978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146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 5 Guerrero Negro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Abril de 1980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HGSMF 26 Cabo San Lucas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Julio de 1991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HGS 38 San José del Cabo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Mayo de 2011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342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130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56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2" name="Grupo 1">
            <a:extLst>
              <a:ext uri="{FF2B5EF4-FFF2-40B4-BE49-F238E27FC236}">
                <a16:creationId xmlns:a16="http://schemas.microsoft.com/office/drawing/2014/main" id="{91C4A122-0293-50EC-B7A6-96178E76F6CA}"/>
              </a:ext>
            </a:extLst>
          </p:cNvPr>
          <p:cNvGrpSpPr/>
          <p:nvPr/>
        </p:nvGrpSpPr>
        <p:grpSpPr>
          <a:xfrm>
            <a:off x="-1" y="5474469"/>
            <a:ext cx="7772400" cy="3005483"/>
            <a:chOff x="-1" y="5474469"/>
            <a:chExt cx="7772400" cy="3005483"/>
          </a:xfrm>
        </p:grpSpPr>
        <p:sp>
          <p:nvSpPr>
            <p:cNvPr id="8" name="Google Shape;69;g37263673d04_0_31">
              <a:extLst>
                <a:ext uri="{FF2B5EF4-FFF2-40B4-BE49-F238E27FC236}">
                  <a16:creationId xmlns:a16="http://schemas.microsoft.com/office/drawing/2014/main" id="{F90AB457-8D6E-4542-2A90-F87F48329EF4}"/>
                </a:ext>
              </a:extLst>
            </p:cNvPr>
            <p:cNvSpPr txBox="1"/>
            <p:nvPr/>
          </p:nvSpPr>
          <p:spPr>
            <a:xfrm>
              <a:off x="-1" y="5474469"/>
              <a:ext cx="7772400" cy="343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Fortalecimiento de equipo médico</a:t>
              </a:r>
              <a:endParaRPr sz="1600" b="1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600"/>
                <a:buFont typeface="Arial"/>
                <a:buNone/>
              </a:pP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Compra 2025-2026 equipo mayor  (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Instalación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 abr</a:t>
              </a:r>
              <a:r>
                <a:rPr lang="es" sz="1600" b="1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il-</a:t>
              </a:r>
              <a:r>
                <a:rPr lang="es" sz="1600" b="1" i="0" u="none" strike="noStrike" cap="none" dirty="0">
                  <a:solidFill>
                    <a:srgbClr val="006858"/>
                  </a:solidFill>
                  <a:latin typeface="Montserrat"/>
                  <a:ea typeface="Montserrat"/>
                  <a:cs typeface="Montserrat"/>
                  <a:sym typeface="Montserrat"/>
                </a:rPr>
                <a:t>mayo)</a:t>
              </a:r>
              <a:endParaRPr sz="2300" b="1" i="0" u="none" strike="noStrike" cap="none" dirty="0">
                <a:solidFill>
                  <a:srgbClr val="006858"/>
                </a:solidFill>
                <a:latin typeface="Montserrat"/>
                <a:ea typeface="Montserrat"/>
                <a:cs typeface="Montserrat"/>
                <a:sym typeface="Montserrat"/>
              </a:endParaRPr>
            </a:p>
          </p:txBody>
        </p:sp>
        <p:grpSp>
          <p:nvGrpSpPr>
            <p:cNvPr id="9" name="Google Shape;82;g37263673d04_0_31">
              <a:extLst>
                <a:ext uri="{FF2B5EF4-FFF2-40B4-BE49-F238E27FC236}">
                  <a16:creationId xmlns:a16="http://schemas.microsoft.com/office/drawing/2014/main" id="{EAC39BB3-2607-460D-415B-E7A953C37494}"/>
                </a:ext>
              </a:extLst>
            </p:cNvPr>
            <p:cNvGrpSpPr/>
            <p:nvPr/>
          </p:nvGrpSpPr>
          <p:grpSpPr>
            <a:xfrm>
              <a:off x="2586975" y="7605862"/>
              <a:ext cx="2565600" cy="874090"/>
              <a:chOff x="5174274" y="7426607"/>
              <a:chExt cx="2565600" cy="874090"/>
            </a:xfrm>
          </p:grpSpPr>
          <p:sp>
            <p:nvSpPr>
              <p:cNvPr id="10" name="Google Shape;83;g37263673d04_0_31">
                <a:extLst>
                  <a:ext uri="{FF2B5EF4-FFF2-40B4-BE49-F238E27FC236}">
                    <a16:creationId xmlns:a16="http://schemas.microsoft.com/office/drawing/2014/main" id="{8F1EC2E9-A2F0-5D36-94BA-366AAC08766C}"/>
                  </a:ext>
                </a:extLst>
              </p:cNvPr>
              <p:cNvSpPr/>
              <p:nvPr/>
            </p:nvSpPr>
            <p:spPr>
              <a:xfrm>
                <a:off x="5290923" y="7426607"/>
                <a:ext cx="454200" cy="381000"/>
              </a:xfrm>
              <a:prstGeom prst="rect">
                <a:avLst/>
              </a:prstGeom>
              <a:gradFill>
                <a:gsLst>
                  <a:gs pos="0">
                    <a:srgbClr val="691932"/>
                  </a:gs>
                  <a:gs pos="100000">
                    <a:srgbClr val="A42145"/>
                  </a:gs>
                </a:gsLst>
                <a:lin ang="80993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rPr lang="es">
                    <a:solidFill>
                      <a:srgbClr val="FFFFFF"/>
                    </a:solidFill>
                    <a:latin typeface="Noto Sans Black"/>
                    <a:ea typeface="Noto Sans Black"/>
                    <a:cs typeface="Noto Sans Black"/>
                    <a:sym typeface="Noto Sans Black"/>
                  </a:rPr>
                  <a:t>2</a:t>
                </a:r>
                <a:endParaRPr sz="1400" b="0" i="0" u="none" strike="noStrike" cap="none">
                  <a:solidFill>
                    <a:srgbClr val="FFFFFF"/>
                  </a:solidFill>
                  <a:latin typeface="Noto Sans Black"/>
                  <a:ea typeface="Noto Sans Black"/>
                  <a:cs typeface="Noto Sans Black"/>
                  <a:sym typeface="Noto Sans Black"/>
                </a:endParaRPr>
              </a:p>
            </p:txBody>
          </p:sp>
          <p:sp>
            <p:nvSpPr>
              <p:cNvPr id="11" name="Google Shape;84;g37263673d04_0_31">
                <a:extLst>
                  <a:ext uri="{FF2B5EF4-FFF2-40B4-BE49-F238E27FC236}">
                    <a16:creationId xmlns:a16="http://schemas.microsoft.com/office/drawing/2014/main" id="{47EA216D-D28C-2CAD-059B-7FADBBE6512C}"/>
                  </a:ext>
                </a:extLst>
              </p:cNvPr>
              <p:cNvSpPr/>
              <p:nvPr/>
            </p:nvSpPr>
            <p:spPr>
              <a:xfrm>
                <a:off x="5745125" y="7426614"/>
                <a:ext cx="1738500" cy="381000"/>
              </a:xfrm>
              <a:prstGeom prst="rect">
                <a:avLst/>
              </a:prstGeom>
              <a:gradFill>
                <a:gsLst>
                  <a:gs pos="0">
                    <a:srgbClr val="006455"/>
                  </a:gs>
                  <a:gs pos="100000">
                    <a:srgbClr val="1C342D"/>
                  </a:gs>
                </a:gsLst>
                <a:lin ang="8099331" scaled="0"/>
              </a:gra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lang="es" sz="1300" b="1" i="0" u="none" strike="noStrike" cap="none">
                    <a:solidFill>
                      <a:srgbClr val="FFFFFF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Mastógrafos</a:t>
                </a:r>
                <a:endParaRPr sz="1100" b="0" i="0" u="none" strike="noStrike" cap="none">
                  <a:solidFill>
                    <a:srgbClr val="FFFFFF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" name="Google Shape;85;g37263673d04_0_31">
                <a:extLst>
                  <a:ext uri="{FF2B5EF4-FFF2-40B4-BE49-F238E27FC236}">
                    <a16:creationId xmlns:a16="http://schemas.microsoft.com/office/drawing/2014/main" id="{22108236-83C5-14D9-B1F8-D25BB28E01E9}"/>
                  </a:ext>
                </a:extLst>
              </p:cNvPr>
              <p:cNvSpPr txBox="1"/>
              <p:nvPr/>
            </p:nvSpPr>
            <p:spPr>
              <a:xfrm>
                <a:off x="5174274" y="7750197"/>
                <a:ext cx="2565600" cy="55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lang="es" sz="1300" dirty="0">
                    <a:solidFill>
                      <a:srgbClr val="595959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HGS 38 San José del Cabo</a:t>
                </a:r>
                <a:endParaRPr sz="1300" dirty="0">
                  <a:solidFill>
                    <a:srgbClr val="595959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r>
                  <a:rPr lang="es" sz="1300" dirty="0">
                    <a:solidFill>
                      <a:srgbClr val="595959"/>
                    </a:solidFill>
                    <a:latin typeface="Montserrat"/>
                    <a:ea typeface="Montserrat"/>
                    <a:cs typeface="Montserrat"/>
                    <a:sym typeface="Montserrat"/>
                  </a:rPr>
                  <a:t>UMF 19 Vizcaíno</a:t>
                </a:r>
              </a:p>
              <a:p>
                <a:pPr lvl="0">
                  <a:buSzPts val="1300"/>
                </a:pPr>
                <a:r>
                  <a:rPr lang="es-MX" sz="1300" b="1" dirty="0">
                    <a:solidFill>
                      <a:srgbClr val="595959"/>
                    </a:solidFill>
                    <a:latin typeface="Montserrat"/>
                  </a:rPr>
                  <a:t>$ 6.7 </a:t>
                </a:r>
                <a:r>
                  <a:rPr lang="es-MX" sz="1300" b="1" dirty="0" err="1">
                    <a:solidFill>
                      <a:srgbClr val="595959"/>
                    </a:solidFill>
                    <a:latin typeface="Montserrat"/>
                  </a:rPr>
                  <a:t>mdp</a:t>
                </a:r>
                <a:endParaRPr sz="1300" dirty="0">
                  <a:solidFill>
                    <a:srgbClr val="434343"/>
                  </a:solidFill>
                  <a:latin typeface="Noto Sans"/>
                  <a:ea typeface="Noto Sans"/>
                  <a:cs typeface="Noto Sans"/>
                  <a:sym typeface="Noto Sans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1100"/>
                  <a:buFont typeface="Arial"/>
                  <a:buNone/>
                </a:pPr>
                <a:endParaRPr sz="1000" b="0" i="0" u="none" strike="noStrike" cap="none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  <a:p>
                <a:pPr marL="0" marR="0" lvl="0" indent="0" algn="l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300"/>
                  <a:buFont typeface="Arial"/>
                  <a:buNone/>
                </a:pPr>
                <a:endParaRPr sz="1300" b="0" i="0" u="none" strike="noStrike" cap="none" dirty="0">
                  <a:solidFill>
                    <a:schemeClr val="dk2"/>
                  </a:solidFill>
                  <a:latin typeface="Montserrat"/>
                  <a:ea typeface="Montserrat"/>
                  <a:cs typeface="Montserrat"/>
                  <a:sym typeface="Montserrat"/>
                </a:endParaRPr>
              </a:p>
            </p:txBody>
          </p:sp>
        </p:grpSp>
        <p:pic>
          <p:nvPicPr>
            <p:cNvPr id="13" name="Google Shape;86;g37263673d04_0_31">
              <a:extLst>
                <a:ext uri="{FF2B5EF4-FFF2-40B4-BE49-F238E27FC236}">
                  <a16:creationId xmlns:a16="http://schemas.microsoft.com/office/drawing/2014/main" id="{A28AC447-5B12-4340-2D8A-7A7E31075EE4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694926" y="6139459"/>
              <a:ext cx="2382547" cy="1466403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93600" y="1180800"/>
          <a:ext cx="7534799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/>
                <a:gridCol w="943200"/>
                <a:gridCol w="925200"/>
                <a:gridCol w="896400"/>
                <a:gridCol w="525600"/>
                <a:gridCol w="1000799"/>
                <a:gridCol w="1051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26 Cabo San Lucas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 La Paz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38 San José del Cabo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5 Guerrero Negro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 Cd. Constitución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06799" y="9010800"/>
            <a:ext cx="7149600" cy="3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2025-2026. No incluye equipo relevante no instalado.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00397882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0837BBD1-9777-9628-2697-C067F430FB6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72320527"/>
              </p:ext>
            </p:extLst>
          </p:nvPr>
        </p:nvGraphicFramePr>
        <p:xfrm>
          <a:off x="143502" y="4151846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B62F2629-5E50-AF17-B926-15D4CD3EE49D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099493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163DE016-3D31-67C8-98DD-61DB52074824}"/>
              </a:ext>
            </a:extLst>
          </p:cNvPr>
          <p:cNvCxnSpPr>
            <a:cxnSpLocks/>
          </p:cNvCxnSpPr>
          <p:nvPr/>
        </p:nvCxnSpPr>
        <p:spPr>
          <a:xfrm>
            <a:off x="5210629" y="55722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BC9C9378-729D-D7B0-CA69-32FA2BC20816}"/>
              </a:ext>
            </a:extLst>
          </p:cNvPr>
          <p:cNvCxnSpPr>
            <a:cxnSpLocks/>
          </p:cNvCxnSpPr>
          <p:nvPr/>
        </p:nvCxnSpPr>
        <p:spPr>
          <a:xfrm>
            <a:off x="5210629" y="7234150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2FD08273-6227-C56C-0E1B-37E12B549119}"/>
              </a:ext>
            </a:extLst>
          </p:cNvPr>
          <p:cNvSpPr txBox="1"/>
          <p:nvPr/>
        </p:nvSpPr>
        <p:spPr>
          <a:xfrm>
            <a:off x="5064096" y="5110057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F154D896-BB3A-ED14-E33F-93EE57CD55C9}"/>
              </a:ext>
            </a:extLst>
          </p:cNvPr>
          <p:cNvSpPr txBox="1"/>
          <p:nvPr/>
        </p:nvSpPr>
        <p:spPr>
          <a:xfrm>
            <a:off x="5064096" y="6495486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5883E822-80E0-8143-50C1-9010773E7A5A}"/>
              </a:ext>
            </a:extLst>
          </p:cNvPr>
          <p:cNvSpPr txBox="1"/>
          <p:nvPr/>
        </p:nvSpPr>
        <p:spPr>
          <a:xfrm>
            <a:off x="4701239" y="8117457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29772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21, 17 mayo 2026</a:t>
            </a:r>
            <a:br/>
            <a:r>
              <a:t>¹Las consultas de medicina familiar incluyen los hospitales con UMF.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4662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+1,456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7513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+130,683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+53,058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620000"/>
          <a:ext cx="7469999" cy="1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/>
                <a:gridCol w="1007999"/>
                <a:gridCol w="1188000"/>
                <a:gridCol w="1098000"/>
                <a:gridCol w="1098000"/>
                <a:gridCol w="943200"/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Indicador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962,616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130,683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393,889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1,040,792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37.8%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292,353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53,058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124,429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310,250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40.1%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15,116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1,456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6,169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18,137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34.0%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15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12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2025).</a:t>
            </a:r>
            <a:br/>
            <a:r>
              <a:t>Corte de información: Semana 21, 17 mayo 2026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1200" y="1692000"/>
          <a:ext cx="7473599" cy="211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4 San Carlos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7,735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3,381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 Villa Insurgentes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10,442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3,660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8 Santa Rosalía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23,173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3,873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9,335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7 Cabo San Lucas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45,639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17,713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62,640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10 Adolfo López Mateos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6,079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2,269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11 Loreto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21,513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3,067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7,931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14 B. Tortugas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6,874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-29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2,903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15 B. Asunción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6,032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2,886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16 La Bocana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6,573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-555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2,068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35 Guerrero Negro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28,464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1,908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11,725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19 Vizcaíno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20,653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531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8,777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39 Cabo San Lucas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108,572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-5,259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42,131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125,280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291,749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5,749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114,779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350,672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32.7%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780800" y="45288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780800" y="52488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32.7%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0800" y="61488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799" y="45288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350,672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CuadroTexto 30">
            <a:extLst>
              <a:ext uri="{FF2B5EF4-FFF2-40B4-BE49-F238E27FC236}">
                <a16:creationId xmlns:a16="http://schemas.microsoft.com/office/drawing/2014/main" id="{56309D8C-74DC-2021-A209-0C0585E7A173}"/>
              </a:ext>
            </a:extLst>
          </p:cNvPr>
          <p:cNvSpPr txBox="1"/>
          <p:nvPr/>
        </p:nvSpPr>
        <p:spPr>
          <a:xfrm>
            <a:off x="3926806" y="5565947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1 Nueva UMTC con   2 consultorios</a:t>
            </a:r>
          </a:p>
        </p:txBody>
      </p:sp>
      <p:graphicFrame>
        <p:nvGraphicFramePr>
          <p:cNvPr id="32" name="Tabla 31">
            <a:extLst>
              <a:ext uri="{FF2B5EF4-FFF2-40B4-BE49-F238E27FC236}">
                <a16:creationId xmlns:a16="http://schemas.microsoft.com/office/drawing/2014/main" id="{9D9789AF-E2B2-C5F8-0BDD-93938ED258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3395046"/>
              </p:ext>
            </p:extLst>
          </p:nvPr>
        </p:nvGraphicFramePr>
        <p:xfrm>
          <a:off x="3944955" y="7006722"/>
          <a:ext cx="2970375" cy="760095"/>
        </p:xfrm>
        <a:graphic>
          <a:graphicData uri="http://schemas.openxmlformats.org/drawingml/2006/table">
            <a:tbl>
              <a:tblPr>
                <a:tableStyleId>{4F9E4E24-231D-441B-AD27-9C975659944D}</a:tableStyleId>
              </a:tblPr>
              <a:tblGrid>
                <a:gridCol w="2970375">
                  <a:extLst>
                    <a:ext uri="{9D8B030D-6E8A-4147-A177-3AD203B41FA5}">
                      <a16:colId xmlns:a16="http://schemas.microsoft.com/office/drawing/2014/main" val="3003209570"/>
                    </a:ext>
                  </a:extLst>
                </a:gridCol>
              </a:tblGrid>
              <a:tr h="246628">
                <a:tc>
                  <a:txBody>
                    <a:bodyPr/>
                    <a:lstStyle/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600" b="0" u="none" strike="noStrike" dirty="0">
                          <a:effectLst/>
                          <a:latin typeface="Montserrat" panose="00000500000000000000" pitchFamily="2" charset="0"/>
                        </a:rPr>
                        <a:t>HGSMF 2 Cd. Constitución</a:t>
                      </a:r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3740564"/>
                  </a:ext>
                </a:extLst>
              </a:tr>
              <a:tr h="191399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1794832"/>
                  </a:ext>
                </a:extLst>
              </a:tr>
              <a:tr h="191399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6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022568"/>
                  </a:ext>
                </a:extLst>
              </a:tr>
            </a:tbl>
          </a:graphicData>
        </a:graphic>
      </p:graphicFrame>
      <p:sp>
        <p:nvSpPr>
          <p:cNvPr id="33" name="TextBox 3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15 Unidades de Medicina Familiar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3 Unidades Médicas de tiempo completo (9 consultorios)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UMU.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 del 26 de Dic de 2024 al 25 de Dic de 2025).</a:t>
            </a:r>
            <a:br/>
            <a:r>
              <a:t>Corte de información: Semana 21, 17 mayo 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40400" y="5432400"/>
            <a:ext cx="1810800" cy="15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t>de las consultas en 2025 fueron en fin de semana (58,684 consultas)</a:t>
            </a:r>
          </a:p>
        </p:txBody>
      </p:sp>
      <p:graphicFrame>
        <p:nvGraphicFramePr>
          <p:cNvPr id="40" name="Table 39"/>
          <p:cNvGraphicFramePr>
            <a:graphicFrameLocks noGrp="1"/>
          </p:cNvGraphicFramePr>
          <p:nvPr/>
        </p:nvGraphicFramePr>
        <p:xfrm>
          <a:off x="151200" y="1695600"/>
          <a:ext cx="7473599" cy="7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6 San José del Cabo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162,501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2,774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65,215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165,312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UMF-UMAA 34 La Paz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138,431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-68,131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56,607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137,760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197,260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169,902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83,066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192,864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498,192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104,545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204,888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495,936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41.3%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1" name="Chart 40"/>
          <p:cNvGraphicFramePr>
            <a:graphicFrameLocks noGrp="1"/>
          </p:cNvGraphicFramePr>
          <p:nvPr/>
        </p:nvGraphicFramePr>
        <p:xfrm>
          <a:off x="385200" y="5400000"/>
          <a:ext cx="1555200" cy="1533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2" name="TextBox 41"/>
          <p:cNvSpPr txBox="1"/>
          <p:nvPr/>
        </p:nvSpPr>
        <p:spPr>
          <a:xfrm>
            <a:off x="385200" y="5986800"/>
            <a:ext cx="15552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F2241"/>
                </a:solidFill>
                <a:latin typeface="Montserrat"/>
              </a:rPr>
              <a:t>11%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45310703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 productividad de especialidad generada en UMF ni en HR</a:t>
            </a:r>
            <a:br/>
            <a:r>
              <a:t>En el año 2025 no incluye información de HR y UMU.</a:t>
            </a:r>
            <a:br/>
            <a:r>
              <a:t>El año de proceso inicia del 26 de diciembre del año anterior al 25 de diciembre del año en curso:</a:t>
            </a:r>
            <a:br/>
            <a:r>
              <a:t>2025 ( del 26 de Dic de 2024 al 25 de Dic de 2025)</a:t>
            </a:r>
            <a:br/>
            <a:r>
              <a:t>Corte de información: Semana: 21, 17 mayo 2026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494000"/>
          <a:ext cx="7340399" cy="19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38 San José del Cabo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55,578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11,938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25,695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59,130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43.5%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 La Paz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145,333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19,052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61,774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144,540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42.7%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26 Cabo San Lucas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60,881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24,294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65,700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 Cd. Constitución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19,429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3,880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8,255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23,360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35.3%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5 Guerrero Negro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11,132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3,588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4,411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17,520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292,353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53,058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124,429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310,250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40.1%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7" name="Chart 236"/>
          <p:cNvGraphicFramePr>
            <a:graphicFrameLocks noGrp="1"/>
          </p:cNvGraphicFramePr>
          <p:nvPr/>
        </p:nvGraphicFramePr>
        <p:xfrm>
          <a:off x="4780800" y="42300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8" name="TextBox 237"/>
          <p:cNvSpPr txBox="1"/>
          <p:nvPr/>
        </p:nvSpPr>
        <p:spPr>
          <a:xfrm>
            <a:off x="4780800" y="4950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40.1%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4780800" y="5850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730799" y="42300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310,250 </a:t>
            </a:r>
            <a:br/>
            <a:r>
              <a:t>Meta 2026</a:t>
            </a:r>
          </a:p>
        </p:txBody>
      </p:sp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3795751590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las cirugías realizadas en HR.</a:t>
            </a:r>
            <a:br/>
            <a:r>
              <a:t>Sólo se consideran cirugías principales.</a:t>
            </a:r>
            <a:br/>
            <a:r>
              <a:t>Corte de información: Semana: 21, 17 mayo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340399" cy="19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 Cd. Constitución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506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1,359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1 La Paz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6,473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770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2,800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7,685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36.4%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HGSMF 26 Cabo San Lucas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3,460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1,380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4,077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33.9%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38 San José del Cabo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3,167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1,242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3,762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33.0%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HGS 5 Guerrero Negro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-56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1,254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15,116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1,456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6,169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18,137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34.0%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Chart 233"/>
          <p:cNvGraphicFramePr>
            <a:graphicFrameLocks noGrp="1"/>
          </p:cNvGraphicFramePr>
          <p:nvPr/>
        </p:nvGraphicFramePr>
        <p:xfrm>
          <a:off x="4780800" y="38736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5" name="TextBox 234"/>
          <p:cNvSpPr txBox="1"/>
          <p:nvPr/>
        </p:nvSpPr>
        <p:spPr>
          <a:xfrm>
            <a:off x="4780800" y="4593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34.0%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4780800" y="5493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730799" y="38736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18,137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98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7999"/>
            <a:ext cx="7772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t>28 en Hospitales, 0 en sede, 4 en UMF y 66 sustitutos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400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28 en Hospitales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9080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38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908000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312000"/>
          <a:ext cx="3456000" cy="86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3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26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3312000"/>
          <a:ext cx="3456000" cy="151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6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Subzona C/MF 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5219999"/>
          <a:ext cx="3456000" cy="21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9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Coloproctología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33219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190963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15.3%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53.0%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64.2%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72.4%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77.5%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81.6%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84.6%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90.8%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Alergia e Inmunología Clínica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93.8%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Coloproctología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98.9%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90963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90977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98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6AE6EB7C-A0A0-8A94-2DB7-B0BA181099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69322395"/>
              </p:ext>
            </p:extLst>
          </p:nvPr>
        </p:nvGraphicFramePr>
        <p:xfrm>
          <a:off x="287050" y="960429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21, 17 mayo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400" y="3474000"/>
          <a:ext cx="3639599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/>
                <a:gridCol w="950400"/>
                <a:gridCol w="9576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24.3%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47.8%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74.8%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84.4%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Otorrinolaringología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89.5%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Neurocirugía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96.9%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Angiología y Cirugía Vascular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2,617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92400" y="3848400"/>
          <a:ext cx="3639599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  <a:gridCol w="1000799"/>
                <a:gridCol w="9000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61.3%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76.5%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86.6%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97.2%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635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5,642	 Personal de Salud: 3,396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+127.6%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132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+41.3%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572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808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+32.0%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933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1,232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+47.5%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661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975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+5.6%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57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+0.0%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192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192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731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18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36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133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mayo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abril 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4,144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339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51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73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1,507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435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10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6,425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(52,304)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(5,644)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(642)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(1,567)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(61)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(51,656)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(5,214)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Cesárea
(383)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(910)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(51)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(15,886)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(5,110)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vesicula biliar (Colecistectomía)
(317)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 la vesicula biliar
(399)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(51)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(13,322)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(5,011)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Hernias (Hernioplastía)
(268)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(341)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Neumonía e influenza
(27)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(8,782)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(4,378)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cataratas (Facoemulsificación con implante de lente intraocular)
(200)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(333)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hígado
(24)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abril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76,264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511,895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87.0%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26,296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654,123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96.1%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D4A44-89FC-F943-D196-A716D77BFE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12000"/>
            <a:ext cx="5400000" cy="32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Medicamentos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917999"/>
            <a:ext cx="540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t>Piezas consumidas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0000" y="1188000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1360800"/>
            <a:ext cx="7441200" cy="21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3671999"/>
            <a:ext cx="6840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Medicamentos con mayor demanda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" y="3941999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0000" y="4121999"/>
          <a:ext cx="7200000" cy="20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/>
                <a:gridCol w="1800000"/>
              </a:tblGrid>
              <a:tr h="198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 mayor demanda de enero a abril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Paracetamol, tableta (analgésico)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178,075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Cloruro de sodio, solución inyectable al 0.9% (deshidratación)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86,862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Electrolitos orales solución (hidratación)  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74,084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Losartán, gragea o comprimido recubierto (hipertensión)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70,413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Dapagliflozina, tableta (hipoglucemiante)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68,890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Pantoprazol o Rabeprazol u Omeprazol, tableta o gragea o cápsula (antiácido)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63,519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Atorvastatina, tableta (reducir colesterol y triglicéridos)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56,937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Cloruro de sodio, solución inyectable al 0.9% (deshidratación)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51,641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Metformina, tableta (hipoglucemiante)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45,207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Celecoxib, cápsula (antiinflamatorio)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45,025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5029982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434C3138-4D0E-D6F5-1979-61C724288F5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Google Shape;395;p15">
            <a:extLst>
              <a:ext uri="{FF2B5EF4-FFF2-40B4-BE49-F238E27FC236}">
                <a16:creationId xmlns:a16="http://schemas.microsoft.com/office/drawing/2014/main" id="{4689FF38-8CFA-FB37-4E7B-B5603B7FC1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702365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6;p15">
            <a:extLst>
              <a:ext uri="{FF2B5EF4-FFF2-40B4-BE49-F238E27FC236}">
                <a16:creationId xmlns:a16="http://schemas.microsoft.com/office/drawing/2014/main" id="{3C879FA3-8153-8C4E-8B9C-4DF691C41AD2}"/>
              </a:ext>
            </a:extLst>
          </p:cNvPr>
          <p:cNvSpPr txBox="1"/>
          <p:nvPr/>
        </p:nvSpPr>
        <p:spPr>
          <a:xfrm>
            <a:off x="4051800" y="105545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CuadroTexto 10">
            <a:extLst>
              <a:ext uri="{FF2B5EF4-FFF2-40B4-BE49-F238E27FC236}">
                <a16:creationId xmlns:a16="http://schemas.microsoft.com/office/drawing/2014/main" id="{21AE8FA6-CA77-F761-93C9-BF2570CBBE30}"/>
              </a:ext>
            </a:extLst>
          </p:cNvPr>
          <p:cNvSpPr txBox="1"/>
          <p:nvPr/>
        </p:nvSpPr>
        <p:spPr>
          <a:xfrm>
            <a:off x="-1155984" y="1771767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Remodelación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8" name="Imagen 7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AE9FD96F-084C-5DEE-6966-05F8D1633A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2946" y="2115356"/>
            <a:ext cx="875508" cy="854908"/>
          </a:xfrm>
          <a:prstGeom prst="rect">
            <a:avLst/>
          </a:prstGeom>
        </p:spPr>
      </p:pic>
      <p:sp>
        <p:nvSpPr>
          <p:cNvPr id="9" name="CuadroTexto 12">
            <a:extLst>
              <a:ext uri="{FF2B5EF4-FFF2-40B4-BE49-F238E27FC236}">
                <a16:creationId xmlns:a16="http://schemas.microsoft.com/office/drawing/2014/main" id="{FD4175D4-66CF-7FBC-B843-C149C5339DF1}"/>
              </a:ext>
            </a:extLst>
          </p:cNvPr>
          <p:cNvSpPr txBox="1"/>
          <p:nvPr/>
        </p:nvSpPr>
        <p:spPr>
          <a:xfrm>
            <a:off x="-1215734" y="2129146"/>
            <a:ext cx="3886200" cy="72327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Terapia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</a:t>
            </a:r>
            <a:endParaRPr lang="en-US" dirty="0" err="1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Intensiva</a:t>
            </a:r>
            <a:endParaRPr lang="en-US" err="1"/>
          </a:p>
        </p:txBody>
      </p:sp>
      <p:pic>
        <p:nvPicPr>
          <p:cNvPr id="10" name="Imagen 9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170CBE01-E044-2F44-556A-69D0B561DC01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341" y="3029755"/>
            <a:ext cx="875508" cy="854908"/>
          </a:xfrm>
          <a:prstGeom prst="rect">
            <a:avLst/>
          </a:prstGeom>
        </p:spPr>
      </p:pic>
      <p:sp>
        <p:nvSpPr>
          <p:cNvPr id="11" name="CuadroTexto 12">
            <a:extLst>
              <a:ext uri="{FF2B5EF4-FFF2-40B4-BE49-F238E27FC236}">
                <a16:creationId xmlns:a16="http://schemas.microsoft.com/office/drawing/2014/main" id="{50F1217E-09B0-81A3-6E99-CB1DE729ADDF}"/>
              </a:ext>
            </a:extLst>
          </p:cNvPr>
          <p:cNvSpPr txBox="1"/>
          <p:nvPr/>
        </p:nvSpPr>
        <p:spPr>
          <a:xfrm>
            <a:off x="-1216694" y="3043545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4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Áreas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Hemodiálisis</a:t>
            </a:r>
            <a:endParaRPr lang="en-US" dirty="0" err="1"/>
          </a:p>
        </p:txBody>
      </p:sp>
      <p:sp>
        <p:nvSpPr>
          <p:cNvPr id="12" name="CuadroTexto 10">
            <a:extLst>
              <a:ext uri="{FF2B5EF4-FFF2-40B4-BE49-F238E27FC236}">
                <a16:creationId xmlns:a16="http://schemas.microsoft.com/office/drawing/2014/main" id="{991C7EE4-1170-AC4C-597D-3383D8E8A8F9}"/>
              </a:ext>
            </a:extLst>
          </p:cNvPr>
          <p:cNvSpPr txBox="1"/>
          <p:nvPr/>
        </p:nvSpPr>
        <p:spPr>
          <a:xfrm>
            <a:off x="-1156903" y="3952259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Adquisición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3" name="Imagen 12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F7B31A16-FD1A-331A-6F76-259EB810FD7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724" y="4295846"/>
            <a:ext cx="875508" cy="854908"/>
          </a:xfrm>
          <a:prstGeom prst="rect">
            <a:avLst/>
          </a:prstGeom>
        </p:spPr>
      </p:pic>
      <p:sp>
        <p:nvSpPr>
          <p:cNvPr id="14" name="CuadroTexto 12">
            <a:extLst>
              <a:ext uri="{FF2B5EF4-FFF2-40B4-BE49-F238E27FC236}">
                <a16:creationId xmlns:a16="http://schemas.microsoft.com/office/drawing/2014/main" id="{CA535D92-E281-11D7-D7CB-F8BAB9F176B8}"/>
              </a:ext>
            </a:extLst>
          </p:cNvPr>
          <p:cNvSpPr txBox="1"/>
          <p:nvPr/>
        </p:nvSpPr>
        <p:spPr>
          <a:xfrm>
            <a:off x="-1217668" y="4422178"/>
            <a:ext cx="3886200" cy="5078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2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Mastógrafos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1785600" y="1584000"/>
          <a:ext cx="52956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UMF No. 40 La Paz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$202.6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785600" y="2304000"/>
          <a:ext cx="5295600" cy="45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45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2025)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$139.9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mejora en 2 subdelegaciones La Paz y Los Cabos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$25.8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terapia intensiva en HGZ No. 1 La Paz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$17.0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accesibilidad (rampas) en 6 unidades, Baja California Sur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$16.7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hemodiálisis interna en 4 unidades (HGSZMF No.26, HGSZ  No.38, Los Cabos; HGZ No. 1, UMAA CON UMF 34, La Paz.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$12.2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urgencias en UMF con UMAA 34 La Paz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$11.0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residencias médicas en HGZ No. 1 La Paz; HGSMF No. 26 Cabo San Lucas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$3.9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salud mental en HGZ No. 1 La Paz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$0.5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$227.1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1785600" y="6984000"/>
          <a:ext cx="52956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45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2025, Instalación 2026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6  piezas de equipo médico: 2 refrigeradores congeladores de 5.4 pies cúbicos, 1 lámpara de cirugía, 1 desfibrilador monitor-marcapaso, 2 mastógrafos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$7.6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57744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437.3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94;p15">
            <a:extLst>
              <a:ext uri="{FF2B5EF4-FFF2-40B4-BE49-F238E27FC236}">
                <a16:creationId xmlns:a16="http://schemas.microsoft.com/office/drawing/2014/main" id="{B762DBC9-2C5F-4219-04BA-4A2BF2F57E2F}"/>
              </a:ext>
            </a:extLst>
          </p:cNvPr>
          <p:cNvGraphicFramePr/>
          <p:nvPr/>
        </p:nvGraphicFramePr>
        <p:xfrm>
          <a:off x="287700" y="110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396;p15">
            <a:extLst>
              <a:ext uri="{FF2B5EF4-FFF2-40B4-BE49-F238E27FC236}">
                <a16:creationId xmlns:a16="http://schemas.microsoft.com/office/drawing/2014/main" id="{8E24F6E5-E3CB-0C93-0587-E21A33C953B7}"/>
              </a:ext>
            </a:extLst>
          </p:cNvPr>
          <p:cNvSpPr txBox="1"/>
          <p:nvPr/>
        </p:nvSpPr>
        <p:spPr>
          <a:xfrm>
            <a:off x="4031556" y="1055457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395;p15">
            <a:extLst>
              <a:ext uri="{FF2B5EF4-FFF2-40B4-BE49-F238E27FC236}">
                <a16:creationId xmlns:a16="http://schemas.microsoft.com/office/drawing/2014/main" id="{1B5687F4-45A0-92B4-9653-1598AF1BC42E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590800" y="715617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uadroTexto 9">
            <a:extLst>
              <a:ext uri="{FF2B5EF4-FFF2-40B4-BE49-F238E27FC236}">
                <a16:creationId xmlns:a16="http://schemas.microsoft.com/office/drawing/2014/main" id="{ABCC6279-D2EB-1F1F-D811-3FFF80887FF1}"/>
              </a:ext>
            </a:extLst>
          </p:cNvPr>
          <p:cNvSpPr txBox="1"/>
          <p:nvPr/>
        </p:nvSpPr>
        <p:spPr>
          <a:xfrm>
            <a:off x="-1184094" y="1715497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88C755F-8E2D-8CE1-6C1B-6DBB55EE2C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870" y="2027418"/>
            <a:ext cx="872667" cy="849944"/>
          </a:xfrm>
          <a:prstGeom prst="rect">
            <a:avLst/>
          </a:prstGeom>
        </p:spPr>
      </p:pic>
      <p:sp>
        <p:nvSpPr>
          <p:cNvPr id="6" name="CuadroTexto 11">
            <a:extLst>
              <a:ext uri="{FF2B5EF4-FFF2-40B4-BE49-F238E27FC236}">
                <a16:creationId xmlns:a16="http://schemas.microsoft.com/office/drawing/2014/main" id="{4578A0AA-9DC1-3453-263A-76BE5A8BE282}"/>
              </a:ext>
            </a:extLst>
          </p:cNvPr>
          <p:cNvSpPr txBox="1"/>
          <p:nvPr/>
        </p:nvSpPr>
        <p:spPr>
          <a:xfrm>
            <a:off x="-1241589" y="2157968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Hospital</a:t>
            </a:r>
            <a:endParaRPr lang="en-US" sz="800" b="1" i="0" u="none" strike="noStrike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13" name="Imagen 12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9822E17B-1489-11B0-F897-EB691741AD0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5457" y="2935085"/>
            <a:ext cx="872667" cy="849944"/>
          </a:xfrm>
          <a:prstGeom prst="rect">
            <a:avLst/>
          </a:prstGeom>
        </p:spPr>
      </p:pic>
      <p:sp>
        <p:nvSpPr>
          <p:cNvPr id="14" name="CuadroTexto 11">
            <a:extLst>
              <a:ext uri="{FF2B5EF4-FFF2-40B4-BE49-F238E27FC236}">
                <a16:creationId xmlns:a16="http://schemas.microsoft.com/office/drawing/2014/main" id="{0C08FC0F-9DF2-D636-E638-CE92F3DEC115}"/>
              </a:ext>
            </a:extLst>
          </p:cNvPr>
          <p:cNvSpPr txBox="1"/>
          <p:nvPr/>
        </p:nvSpPr>
        <p:spPr>
          <a:xfrm>
            <a:off x="-1227183" y="3065635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CECI</a:t>
            </a:r>
            <a:endParaRPr lang="en-US" sz="800" b="1" i="0" u="none" strike="noStrike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15" name="Imagen 14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93A97F7C-8571-8E37-50FF-4EEB5D75E74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0076" y="3847088"/>
            <a:ext cx="872667" cy="849944"/>
          </a:xfrm>
          <a:prstGeom prst="rect">
            <a:avLst/>
          </a:prstGeom>
        </p:spPr>
      </p:pic>
      <p:sp>
        <p:nvSpPr>
          <p:cNvPr id="16" name="CuadroTexto 11">
            <a:extLst>
              <a:ext uri="{FF2B5EF4-FFF2-40B4-BE49-F238E27FC236}">
                <a16:creationId xmlns:a16="http://schemas.microsoft.com/office/drawing/2014/main" id="{31F06996-6695-0609-49FC-3D48462AAA79}"/>
              </a:ext>
            </a:extLst>
          </p:cNvPr>
          <p:cNvSpPr txBox="1"/>
          <p:nvPr/>
        </p:nvSpPr>
        <p:spPr>
          <a:xfrm>
            <a:off x="-1232192" y="3940736"/>
            <a:ext cx="3886200" cy="646331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Centro de </a:t>
            </a:r>
          </a:p>
          <a:p>
            <a:pPr algn="ctr"/>
            <a:r>
              <a:rPr lang="en-US" sz="8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Mezclas</a:t>
            </a:r>
            <a:endParaRPr lang="en-US" sz="800" b="1" i="0" u="none" strike="noStrike" dirty="0" err="1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1785600" y="1584000"/>
          <a:ext cx="53964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Hospital General Regional Los Cabos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$3,802.6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1785600" y="2267998"/>
          <a:ext cx="5396400" cy="755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188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188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2026)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$129.2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188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Central de Mezclas UMAA No. 34 La Paz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$62.2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189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$191.4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1785600" y="3203995"/>
          <a:ext cx="5396400" cy="755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377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377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18 Equipos electromecánicos de aire acondicionado para 5 Unidades Hospitalarias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$168.5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7816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4,162.5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51;g3d0ffe769cd_0_0">
            <a:extLst>
              <a:ext uri="{FF2B5EF4-FFF2-40B4-BE49-F238E27FC236}">
                <a16:creationId xmlns:a16="http://schemas.microsoft.com/office/drawing/2014/main" id="{5BD5C9B2-AB8A-FA14-D2D6-EBEB470169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82" t="14684" r="1598" b="17771"/>
          <a:stretch/>
        </p:blipFill>
        <p:spPr>
          <a:xfrm>
            <a:off x="230902" y="5977920"/>
            <a:ext cx="7368300" cy="2862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57BAAA0D-10FB-75CD-3071-B491398A053A}"/>
              </a:ext>
            </a:extLst>
          </p:cNvPr>
          <p:cNvGraphicFramePr/>
          <p:nvPr/>
        </p:nvGraphicFramePr>
        <p:xfrm>
          <a:off x="287700" y="11592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en planeación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Google Shape;559;g3d0ffe769cd_0_0">
            <a:extLst>
              <a:ext uri="{FF2B5EF4-FFF2-40B4-BE49-F238E27FC236}">
                <a16:creationId xmlns:a16="http://schemas.microsoft.com/office/drawing/2014/main" id="{74EA239F-AD11-6BB6-2B07-15FDA93930A1}"/>
              </a:ext>
            </a:extLst>
          </p:cNvPr>
          <p:cNvGraphicFramePr/>
          <p:nvPr/>
        </p:nvGraphicFramePr>
        <p:xfrm>
          <a:off x="147600" y="502920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Google Shape;552;g3d0ffe769cd_0_0">
            <a:extLst>
              <a:ext uri="{FF2B5EF4-FFF2-40B4-BE49-F238E27FC236}">
                <a16:creationId xmlns:a16="http://schemas.microsoft.com/office/drawing/2014/main" id="{1CFCE444-12DD-D109-A796-7924C33A5D14}"/>
              </a:ext>
            </a:extLst>
          </p:cNvPr>
          <p:cNvSpPr/>
          <p:nvPr/>
        </p:nvSpPr>
        <p:spPr>
          <a:xfrm>
            <a:off x="234692" y="6000034"/>
            <a:ext cx="7338300" cy="2862900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556;g3d0ffe769cd_0_0">
            <a:extLst>
              <a:ext uri="{FF2B5EF4-FFF2-40B4-BE49-F238E27FC236}">
                <a16:creationId xmlns:a16="http://schemas.microsoft.com/office/drawing/2014/main" id="{7A6658D4-29D8-8663-D2C5-74863CD96596}"/>
              </a:ext>
            </a:extLst>
          </p:cNvPr>
          <p:cNvSpPr/>
          <p:nvPr/>
        </p:nvSpPr>
        <p:spPr>
          <a:xfrm>
            <a:off x="852084" y="6140331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53;g3d0ffe769cd_0_0">
            <a:extLst>
              <a:ext uri="{FF2B5EF4-FFF2-40B4-BE49-F238E27FC236}">
                <a16:creationId xmlns:a16="http://schemas.microsoft.com/office/drawing/2014/main" id="{C2E1F9A0-4911-B1FF-D485-66518A66B9A6}"/>
              </a:ext>
            </a:extLst>
          </p:cNvPr>
          <p:cNvSpPr/>
          <p:nvPr/>
        </p:nvSpPr>
        <p:spPr>
          <a:xfrm>
            <a:off x="290798" y="6906978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554;g3d0ffe769cd_0_0">
            <a:extLst>
              <a:ext uri="{FF2B5EF4-FFF2-40B4-BE49-F238E27FC236}">
                <a16:creationId xmlns:a16="http://schemas.microsoft.com/office/drawing/2014/main" id="{6C0AF4EA-FBE1-4238-8146-A4C96C7D760B}"/>
              </a:ext>
            </a:extLst>
          </p:cNvPr>
          <p:cNvSpPr txBox="1"/>
          <p:nvPr/>
        </p:nvSpPr>
        <p:spPr>
          <a:xfrm>
            <a:off x="276701" y="7497965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562;g3d0ffe769cd_0_0">
            <a:extLst>
              <a:ext uri="{FF2B5EF4-FFF2-40B4-BE49-F238E27FC236}">
                <a16:creationId xmlns:a16="http://schemas.microsoft.com/office/drawing/2014/main" id="{D407F8E2-D0BB-FA42-30DC-AD7126C10878}"/>
              </a:ext>
            </a:extLst>
          </p:cNvPr>
          <p:cNvSpPr txBox="1"/>
          <p:nvPr/>
        </p:nvSpPr>
        <p:spPr>
          <a:xfrm rot="16200000">
            <a:off x="1958850" y="7286400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91200" y="1584000"/>
          <a:ext cx="6390000" cy="755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188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188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Transformación a UMF Plus No. 40 La Paz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$460.8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88999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CECI 110, Mulegé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$58.0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189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$518.8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91200" y="2519997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91200" y="3203995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91200" y="3887993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sp>
        <p:nvSpPr>
          <p:cNvPr id="24" name="TextBox 23"/>
          <p:cNvSpPr txBox="1"/>
          <p:nvPr/>
        </p:nvSpPr>
        <p:spPr>
          <a:xfrm>
            <a:off x="5936399" y="10188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518.8 mdp</a:t>
            </a:r>
          </a:p>
        </p:txBody>
      </p:sp>
      <p:graphicFrame>
        <p:nvGraphicFramePr>
          <p:cNvPr id="25" name="Table 24"/>
          <p:cNvGraphicFramePr>
            <a:graphicFrameLocks noGrp="1"/>
          </p:cNvGraphicFramePr>
          <p:nvPr/>
        </p:nvGraphicFramePr>
        <p:xfrm>
          <a:off x="2552400" y="6141600"/>
          <a:ext cx="4928400" cy="186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/>
                <a:gridCol w="1828800"/>
                <a:gridCol w="2628000"/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8 Predios en ruta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Estatus terrenos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</a:tr>
              <a:tr h="465300">
                <a:tc rowSpan="2">
                  <a:txBody>
                    <a:bodyPr/>
                    <a:lstStyle/>
                    <a:p/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Mulegé</a:t>
                      </a:r>
                    </a:p>
                  </a:txBody>
                  <a:tcPr marL="72000" marR="72000" anchor="ctr">
                    <a:noFill/>
                  </a:tcPr>
                </a:tc>
              </a:tr>
              <a:tr h="465300">
                <a:tc v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7 Donación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La Paz (2), Los Cabos (4), Mulegé</a:t>
                      </a:r>
                    </a:p>
                  </a:txBody>
                  <a:tcPr marL="72000" marR="72000" anchor="ctr">
                    <a:noFill/>
                  </a:tcPr>
                </a:tc>
              </a:tr>
            </a:tbl>
          </a:graphicData>
        </a:graphic>
      </p:graphicFrame>
      <p:sp>
        <p:nvSpPr>
          <p:cNvPr id="26" name="Oval 25"/>
          <p:cNvSpPr/>
          <p:nvPr/>
        </p:nvSpPr>
        <p:spPr>
          <a:xfrm>
            <a:off x="885600" y="6163200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705085"/>
                </a:solidFill>
                <a:latin typeface="Montserrat"/>
              </a:defRPr>
            </a:pPr>
            <a:r>
              <a:t>18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3600" y="6948000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36000" bIns="36000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17 CECI IMSS</a:t>
            </a:r>
          </a:p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1 CECI CAMPO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0" y="9273600"/>
            <a:ext cx="75744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¹ 1/Terrenos validados. Para entregar a SICT: 1 en Mulegé. En integración de expediente para donación: 7 en Mulegé, La Paz y Los Cabos.</a:t>
            </a:r>
          </a:p>
        </p:txBody>
      </p:sp>
    </p:spTree>
    <p:extLst>
      <p:ext uri="{BB962C8B-B14F-4D97-AF65-F5344CB8AC3E}">
        <p14:creationId xmlns:p14="http://schemas.microsoft.com/office/powerpoint/2010/main" val="30077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11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10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1,786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271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104579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0458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Centro de Seguridad Social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La Paz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4086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4086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Tienda IMSS-SNTSS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No. 3 La Paz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03_bc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400" y="5929200"/>
            <a:ext cx="4014000" cy="3101727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11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425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Prestaciones Económicas y Sociales, abril de 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880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5,627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5,642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Negocio Agricola San Enrique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2,335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2,620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12.2%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0320">
                <a:tc rowSpan="2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Comisión Federal de Electricidad Epe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1,585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1,596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0.7%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Solaya Hospitality Management Group S. de R.L.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2,091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2,100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490320"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Cadena Comercial OXXO S.A.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1,953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2,027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-13.73%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+0.04%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+1.83%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+1.85%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+2.56%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+4.95%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+5.53%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+5.56%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+7.55%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156,783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1,907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54,094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8,053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220,837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161,743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1,844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53,025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9,306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225,918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+3.2%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-3.3%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-2.0%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+15.6%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+2.3%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75AA8BC5-30E8-D0F0-6F3F-3E7C51DC9CDC}"/>
              </a:ext>
            </a:extLst>
          </p:cNvPr>
          <p:cNvSpPr/>
          <p:nvPr/>
        </p:nvSpPr>
        <p:spPr>
          <a:xfrm>
            <a:off x="839061" y="11016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$645.01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Abril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5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Abril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$319.02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$645.01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42.8%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$664.55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$19,350.3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233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Comité Estatal de Sanidad Vegetal del Estado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Exportadora de Sal S.A. de  C.V.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$0.19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Junta Local de Sanidad Vegetal de Los Cabos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Minera y Metalurgica del Boleo S A P I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$29.37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Tiendas Bueno Bonito y Barato del Sur SAS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$10.81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Scpp Cal San Ignacio S.C.L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$10.49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23508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Salario Base de Cotización: tado: Se utilizó como deflactor del salario el cociente del INPC entre diciembre 2018 (103.02) y abril 2026 (145.831) de 0.706434.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abril 2026.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98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4 en Unidades de Medicina Familiar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9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0000" y="2469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960000" y="2469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60000" y="3549598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66 especialistas (sustitutos)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60000" y="3945598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98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BAJA CALIFORNIA SUR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66 especialistas (sustitutos) (Cont.)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569600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Neonatología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Otorrinolaringología y Cirugía de Cabeza y Cuello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66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0000" y="6645599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t>Sustitutos se integran a los Listados de Bolsa de Trabajo, para cubrir las futuras vacantes por jubilación, renuncia, fallecimiento, etc., así como ausentismo programado y no programado.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edc1cba3-a8b7-49a1-a01c-6ad98ac12acf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6F0F6CCFDB3A64EBFA59BC9399642B7" ma:contentTypeVersion="14" ma:contentTypeDescription="Crear nuevo documento." ma:contentTypeScope="" ma:versionID="3316256d3c154d6fd74bde1e4fd28e2c">
  <xsd:schema xmlns:xsd="http://www.w3.org/2001/XMLSchema" xmlns:xs="http://www.w3.org/2001/XMLSchema" xmlns:p="http://schemas.microsoft.com/office/2006/metadata/properties" xmlns:ns3="edc1cba3-a8b7-49a1-a01c-6ad98ac12acf" xmlns:ns4="3d87255f-2171-4f5a-8886-6c25af21384a" targetNamespace="http://schemas.microsoft.com/office/2006/metadata/properties" ma:root="true" ma:fieldsID="75761b047a7b492775ccf7830e498324" ns3:_="" ns4:_="">
    <xsd:import namespace="edc1cba3-a8b7-49a1-a01c-6ad98ac12acf"/>
    <xsd:import namespace="3d87255f-2171-4f5a-8886-6c25af21384a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ObjectDetectorVersions" minOccurs="0"/>
                <xsd:element ref="ns3:MediaServiceDateTaken" minOccurs="0"/>
                <xsd:element ref="ns3:MediaServiceSystem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dc1cba3-a8b7-49a1-a01c-6ad98ac12acf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17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9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0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87255f-2171-4f5a-8886-6c25af21384a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D2E3E08-3E10-4E76-93AC-CEF0274822A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4DFDAD6-8B2C-4914-B35F-8EA270CCC846}">
  <ds:schemaRefs>
    <ds:schemaRef ds:uri="http://purl.org/dc/elements/1.1/"/>
    <ds:schemaRef ds:uri="http://purl.org/dc/dcmitype/"/>
    <ds:schemaRef ds:uri="edc1cba3-a8b7-49a1-a01c-6ad98ac12acf"/>
    <ds:schemaRef ds:uri="http://www.w3.org/XML/1998/namespace"/>
    <ds:schemaRef ds:uri="http://schemas.microsoft.com/office/2006/documentManagement/types"/>
    <ds:schemaRef ds:uri="http://schemas.microsoft.com/office/2006/metadata/properti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3d87255f-2171-4f5a-8886-6c25af21384a"/>
  </ds:schemaRefs>
</ds:datastoreItem>
</file>

<file path=customXml/itemProps3.xml><?xml version="1.0" encoding="utf-8"?>
<ds:datastoreItem xmlns:ds="http://schemas.openxmlformats.org/officeDocument/2006/customXml" ds:itemID="{2B6A8353-C5C7-4CB6-94B0-B9DF35773C4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dc1cba3-a8b7-49a1-a01c-6ad98ac12acf"/>
    <ds:schemaRef ds:uri="3d87255f-2171-4f5a-8886-6c25af21384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304</TotalTime>
  <Words>341</Words>
  <Application>Microsoft Office PowerPoint</Application>
  <PresentationFormat>Personalizado</PresentationFormat>
  <Paragraphs>81</Paragraphs>
  <Slides>24</Slides>
  <Notes>21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24</vt:i4>
      </vt:variant>
    </vt:vector>
  </HeadingPairs>
  <TitlesOfParts>
    <vt:vector size="25" baseType="lpstr"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Carlos Esponda Rosales</cp:lastModifiedBy>
  <cp:revision>103</cp:revision>
  <dcterms:modified xsi:type="dcterms:W3CDTF">2026-05-12T21:01:25Z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0x010100E6F0F6CCFDB3A64EBFA59BC9399642B7</vt:lpwstr>
  </property>
</Properties>
</file>