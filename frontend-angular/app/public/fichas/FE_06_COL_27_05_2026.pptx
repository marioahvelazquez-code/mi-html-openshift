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B77B96-8FFA-5B30-BEEC-3A647160FE22}" v="59" dt="2026-05-12T22:10:14.60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16.179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16.179" v="0"/>
        <pc:sldMkLst>
          <pc:docMk/>
          <pc:sldMk cId="3818652843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7:01:24.842" v="5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1:03.269" v="43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1:03.269" v="43" actId="1076"/>
          <ac:spMkLst>
            <pc:docMk/>
            <pc:sldMk cId="0" sldId="260"/>
            <ac:spMk id="9" creationId="{B3B7AC82-D45F-3548-4EA0-7BCA82412EB0}"/>
          </ac:spMkLst>
        </pc:spChg>
        <pc:graphicFrameChg chg="add mod">
          <ac:chgData name="Edgar Rosales Ortega" userId="d1d54fc2-1570-4978-babc-e22e1526833f" providerId="ADAL" clId="{66BE7C30-C669-4152-AC74-10076FC0590C}" dt="2026-04-30T23:00:27.228" v="36" actId="1076"/>
          <ac:graphicFrameMkLst>
            <pc:docMk/>
            <pc:sldMk cId="0" sldId="260"/>
            <ac:graphicFrameMk id="6" creationId="{3BD8D301-0388-703D-7B68-6C973772D3E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0:59.123" v="42" actId="1076"/>
          <ac:picMkLst>
            <pc:docMk/>
            <pc:sldMk cId="0" sldId="260"/>
            <ac:picMk id="7" creationId="{796C5CB4-0540-938C-639A-02BE00078D66}"/>
          </ac:picMkLst>
        </pc:picChg>
        <pc:picChg chg="add mod">
          <ac:chgData name="Edgar Rosales Ortega" userId="d1d54fc2-1570-4978-babc-e22e1526833f" providerId="ADAL" clId="{66BE7C30-C669-4152-AC74-10076FC0590C}" dt="2026-04-30T23:00:59.123" v="42" actId="1076"/>
          <ac:picMkLst>
            <pc:docMk/>
            <pc:sldMk cId="0" sldId="260"/>
            <ac:picMk id="8" creationId="{82AFC0D4-D072-7D42-ED5B-C2ABF7496C62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0:23.616" v="44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2" creationId="{5758ADFC-F888-7442-F089-85034FDFFCD0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4" creationId="{BD6FF699-26B4-354E-6405-455EA131789F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5" creationId="{6E276A12-D1F2-CC4C-FF25-9E09ABFA91C1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6" creationId="{44CD27F1-74E6-9768-907A-9CFEA6D00028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8" creationId="{7A5E59A3-3BC3-035F-8DE3-F518CFAFBD98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9" creationId="{A2EA029D-47AF-0BF5-A631-3ABF33B2ECA5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20" creationId="{CCCC2E56-76DB-A143-6318-826E4BDC534E}"/>
          </ac:spMkLst>
        </pc:spChg>
        <pc:grpChg chg="add mod">
          <ac:chgData name="Edgar Rosales Ortega" userId="d1d54fc2-1570-4978-babc-e22e1526833f" providerId="ADAL" clId="{66BE7C30-C669-4152-AC74-10076FC0590C}" dt="2026-05-05T17:50:23.616" v="44" actId="164"/>
          <ac:grpSpMkLst>
            <pc:docMk/>
            <pc:sldMk cId="0" sldId="261"/>
            <ac:grpSpMk id="2" creationId="{4FF5E04E-7E13-CB58-3F78-706F19DC0558}"/>
          </ac:grpSpMkLst>
        </pc:grpChg>
        <pc:grpChg chg="add mod">
          <ac:chgData name="Edgar Rosales Ortega" userId="d1d54fc2-1570-4978-babc-e22e1526833f" providerId="ADAL" clId="{66BE7C30-C669-4152-AC74-10076FC0590C}" dt="2026-05-05T17:50:23.616" v="44" actId="164"/>
          <ac:grpSpMkLst>
            <pc:docMk/>
            <pc:sldMk cId="0" sldId="261"/>
            <ac:grpSpMk id="13" creationId="{71653F7F-6FB8-F6BF-2234-CFDAF7FC62B9}"/>
          </ac:grpSpMkLst>
        </pc:grpChg>
        <pc:picChg chg="add mod">
          <ac:chgData name="Edgar Rosales Ortega" userId="d1d54fc2-1570-4978-babc-e22e1526833f" providerId="ADAL" clId="{66BE7C30-C669-4152-AC74-10076FC0590C}" dt="2026-05-05T17:50:23.616" v="44" actId="164"/>
          <ac:picMkLst>
            <pc:docMk/>
            <pc:sldMk cId="0" sldId="261"/>
            <ac:picMk id="17" creationId="{3FB08B45-E8F4-76BD-5B95-0CC6E53FD15A}"/>
          </ac:picMkLst>
        </pc:picChg>
        <pc:picChg chg="add mod">
          <ac:chgData name="Edgar Rosales Ortega" userId="d1d54fc2-1570-4978-babc-e22e1526833f" providerId="ADAL" clId="{66BE7C30-C669-4152-AC74-10076FC0590C}" dt="2026-05-05T17:50:23.616" v="44" actId="164"/>
          <ac:picMkLst>
            <pc:docMk/>
            <pc:sldMk cId="0" sldId="261"/>
            <ac:picMk id="21" creationId="{D36BAAE2-80F6-9DCF-B323-2E0C3808B57F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0:32.083" v="47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0:38.472" v="4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4:59.286" v="3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2:00.420" v="20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00:48.916" v="5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00:48.916" v="5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0:49.607" v="46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16.872" v="32" actId="1076"/>
          <ac:spMkLst>
            <pc:docMk/>
            <pc:sldMk cId="0" sldId="279"/>
            <ac:spMk id="2" creationId="{5D1EFEE1-D20D-FBAE-E513-772942965BF7}"/>
          </ac:spMkLst>
        </pc:spChg>
        <pc:spChg chg="mod">
          <ac:chgData name="Edgar Rosales Ortega" userId="d1d54fc2-1570-4978-babc-e22e1526833f" providerId="ADAL" clId="{66BE7C30-C669-4152-AC74-10076FC0590C}" dt="2026-05-05T17:50:49.607" v="46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4:54.503" v="2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2:05.165" v="21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0:33.449" v="45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1:24.842" v="5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1:24.842" v="5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4:34.788" v="2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2:12.129" v="22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1:05.189" v="5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1:05.189" v="52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B2B77B96-8FFA-5B30-BEEC-3A647160FE22}"/>
    <pc:docChg chg="modSld">
      <pc:chgData name="Gerardo Jahir Lara Garcia" userId="S::gerardo.larag@imss.gob.mx::84d5cd65-4601-4e92-b448-a9da4809e012" providerId="AD" clId="Web-{B2B77B96-8FFA-5B30-BEEC-3A647160FE22}" dt="2026-05-12T22:10:14.603" v="33" actId="1076"/>
      <pc:docMkLst>
        <pc:docMk/>
      </pc:docMkLst>
      <pc:sldChg chg="addSp delSp modSp">
        <pc:chgData name="Gerardo Jahir Lara Garcia" userId="S::gerardo.larag@imss.gob.mx::84d5cd65-4601-4e92-b448-a9da4809e012" providerId="AD" clId="Web-{B2B77B96-8FFA-5B30-BEEC-3A647160FE22}" dt="2026-05-12T22:10:14.603" v="33" actId="1076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B2B77B96-8FFA-5B30-BEEC-3A647160FE22}" dt="2026-05-12T22:09:20.633" v="12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B2B77B96-8FFA-5B30-BEEC-3A647160FE22}" dt="2026-05-12T22:10:14.603" v="33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B2B77B96-8FFA-5B30-BEEC-3A647160FE22}" dt="2026-05-12T22:09:09.929" v="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B2B77B96-8FFA-5B30-BEEC-3A647160FE22}" dt="2026-05-12T22:09:09.929" v="4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B2B77B96-8FFA-5B30-BEEC-3A647160FE22}" dt="2026-05-12T22:07:42.239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B2B77B96-8FFA-5B30-BEEC-3A647160FE22}" dt="2026-05-12T22:09:09.945" v="7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B2B77B96-8FFA-5B30-BEEC-3A647160FE22}" dt="2026-05-12T22:09:09.929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B2B77B96-8FFA-5B30-BEEC-3A647160FE22}" dt="2026-05-12T22:08:28.959" v="3" actId="1076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B2B77B96-8FFA-5B30-BEEC-3A647160FE22}" dt="2026-05-12T22:08:28.959" v="3" actId="1076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8" creationId="{170CBE01-E044-2F44-556A-69D0B561DC01}"/>
          </ac:picMkLst>
        </pc:pic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494570.0</c:v>
                </c:pt>
                <c:pt idx="1">
                  <c:v>95724.0</c:v>
                </c:pt>
                <c:pt idx="2">
                  <c:v>171895.0</c:v>
                </c:pt>
                <c:pt idx="3">
                  <c:v>9349.0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38.72372391489795</c:v>
                </c:pt>
                <c:pt idx="1">
                  <c:v>61.27627608510205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19.453627904599998</c:v>
                </c:pt>
                <c:pt idx="1">
                  <c:v>80.5463720954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35.92822315831371</c:v>
                </c:pt>
                <c:pt idx="1">
                  <c:v>64.07177684168629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32.2395978776878</c:v>
                </c:pt>
                <c:pt idx="1">
                  <c:v>67.7604021223122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61</c:v>
                </c:pt>
                <c:pt idx="2">
                  <c:v>49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Sociales y Comunales</c:v>
                </c:pt>
                <c:pt idx="1">
                  <c:v>Comercio</c:v>
                </c:pt>
                <c:pt idx="2">
                  <c:v>Ind Eléctrica y Captación y Suministro de Agua Potable</c:v>
                </c:pt>
                <c:pt idx="3">
                  <c:v>Industria de la Construcción</c:v>
                </c:pt>
                <c:pt idx="4">
                  <c:v>Industrias Extractivas</c:v>
                </c:pt>
                <c:pt idx="5">
                  <c:v>Agricultura, Ganaderia, Silvicultura, Pesca y Caza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30596</c:v>
                </c:pt>
                <c:pt idx="1">
                  <c:v>30832</c:v>
                </c:pt>
                <c:pt idx="2">
                  <c:v>2399</c:v>
                </c:pt>
                <c:pt idx="3">
                  <c:v>13229</c:v>
                </c:pt>
                <c:pt idx="4">
                  <c:v>2814</c:v>
                </c:pt>
                <c:pt idx="5">
                  <c:v>10155</c:v>
                </c:pt>
                <c:pt idx="6">
                  <c:v>27290</c:v>
                </c:pt>
                <c:pt idx="7">
                  <c:v>24562</c:v>
                </c:pt>
                <c:pt idx="8">
                  <c:v>14669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Sociales y Comunales</c:v>
                </c:pt>
                <c:pt idx="1">
                  <c:v>Comercio</c:v>
                </c:pt>
                <c:pt idx="2">
                  <c:v>Ind Eléctrica y Captación y Suministro de Agua Potable</c:v>
                </c:pt>
                <c:pt idx="3">
                  <c:v>Industria de la Construcción</c:v>
                </c:pt>
                <c:pt idx="4">
                  <c:v>Industrias Extractivas</c:v>
                </c:pt>
                <c:pt idx="5">
                  <c:v>Agricultura, Ganaderia, Silvicultura, Pesca y Caza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30398</c:v>
                </c:pt>
                <c:pt idx="1">
                  <c:v>30635</c:v>
                </c:pt>
                <c:pt idx="2">
                  <c:v>2397</c:v>
                </c:pt>
                <c:pt idx="3">
                  <c:v>13275</c:v>
                </c:pt>
                <c:pt idx="4">
                  <c:v>2860</c:v>
                </c:pt>
                <c:pt idx="5">
                  <c:v>10379</c:v>
                </c:pt>
                <c:pt idx="6">
                  <c:v>28138</c:v>
                </c:pt>
                <c:pt idx="7">
                  <c:v>25858</c:v>
                </c:pt>
                <c:pt idx="8">
                  <c:v>16307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131454</c:v>
                </c:pt>
                <c:pt idx="1">
                  <c:v>135342</c:v>
                </c:pt>
                <c:pt idx="2">
                  <c:v>137558</c:v>
                </c:pt>
                <c:pt idx="3">
                  <c:v>136902</c:v>
                </c:pt>
                <c:pt idx="4">
                  <c:v>141981</c:v>
                </c:pt>
                <c:pt idx="5">
                  <c:v>149082</c:v>
                </c:pt>
                <c:pt idx="6">
                  <c:v>152105</c:v>
                </c:pt>
                <c:pt idx="7">
                  <c:v>156546</c:v>
                </c:pt>
                <c:pt idx="8">
                  <c:v>160247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Colima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Col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494,570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95,724</a:t>
            </a:r>
            <a:br/>
            <a:r>
              <a:t>12%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171,895</a:t>
            </a:r>
            <a:br/>
            <a:r>
              <a:t>22%</a:t>
            </a:r>
          </a:p>
        </p:txBody>
      </p:sp>
      <p:pic>
        <p:nvPicPr>
          <p:cNvPr id="125" name="Picture 124" descr="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9,349</a:t>
            </a:r>
            <a:br/>
            <a:r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771,538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412,460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494,570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220,185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284,190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134,121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160,247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49,248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192,275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210,380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2,673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3,610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1368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pic>
        <p:nvPicPr>
          <p:cNvPr id="139" name="Picture 138" descr="PTP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3371850201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6_c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10 UMF y no incluye 3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101;g3d0b4d3c5c9_3_50">
            <a:extLst>
              <a:ext uri="{FF2B5EF4-FFF2-40B4-BE49-F238E27FC236}">
                <a16:creationId xmlns:a16="http://schemas.microsoft.com/office/drawing/2014/main" id="{3BD8D301-0388-703D-7B68-6C973772D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117147"/>
              </p:ext>
            </p:extLst>
          </p:nvPr>
        </p:nvGraphicFramePr>
        <p:xfrm>
          <a:off x="288000" y="1191600"/>
          <a:ext cx="7396850" cy="822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9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Subzona con Medicina Familiar</a:t>
                      </a: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No. 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 Tecomán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103;g3d0b4d3c5c9_3_50">
            <a:extLst>
              <a:ext uri="{FF2B5EF4-FFF2-40B4-BE49-F238E27FC236}">
                <a16:creationId xmlns:a16="http://schemas.microsoft.com/office/drawing/2014/main" id="{796C5CB4-0540-938C-639A-02BE00078D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685" y="2057951"/>
            <a:ext cx="3014438" cy="181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4;g3d0b4d3c5c9_3_50">
            <a:extLst>
              <a:ext uri="{FF2B5EF4-FFF2-40B4-BE49-F238E27FC236}">
                <a16:creationId xmlns:a16="http://schemas.microsoft.com/office/drawing/2014/main" id="{82AFC0D4-D072-7D42-ED5B-C2ABF7496C6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686" y="4022602"/>
            <a:ext cx="3014438" cy="18198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3B7AC82-D45F-3548-4EA0-7BCA82412EB0}"/>
              </a:ext>
            </a:extLst>
          </p:cNvPr>
          <p:cNvSpPr txBox="1"/>
          <p:nvPr/>
        </p:nvSpPr>
        <p:spPr>
          <a:xfrm>
            <a:off x="3677351" y="2434988"/>
            <a:ext cx="3889512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1959 inició el IMSS en el antiguo Sanatorio Solórzano, actualmente, el inmueble alberga oficinas delegacionales.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de Subzona con Medicina Familiar No. 4 inició operaciones el 1 de julio de 1968 , en el Municipio de Tecomán, Colima.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Comenzó su funcionamiento con 24 camas hospitalarias censables, cinco consultorios de medicina general y tres especialidades médicas: cirugía general, obstetricia y urgencias.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ol_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4FF5E04E-7E13-CB58-3F78-706F19DC0558}"/>
              </a:ext>
            </a:extLst>
          </p:cNvPr>
          <p:cNvGrpSpPr/>
          <p:nvPr/>
        </p:nvGrpSpPr>
        <p:grpSpPr>
          <a:xfrm>
            <a:off x="-16425" y="5505161"/>
            <a:ext cx="7772400" cy="3381218"/>
            <a:chOff x="-16425" y="5505161"/>
            <a:chExt cx="7772400" cy="3381218"/>
          </a:xfrm>
        </p:grpSpPr>
        <p:sp>
          <p:nvSpPr>
            <p:cNvPr id="12" name="Google Shape;140;g3d62d805bc0_1_133">
              <a:extLst>
                <a:ext uri="{FF2B5EF4-FFF2-40B4-BE49-F238E27FC236}">
                  <a16:creationId xmlns:a16="http://schemas.microsoft.com/office/drawing/2014/main" id="{5758ADFC-F888-7442-F089-85034FDFFCD0}"/>
                </a:ext>
              </a:extLst>
            </p:cNvPr>
            <p:cNvSpPr txBox="1"/>
            <p:nvPr/>
          </p:nvSpPr>
          <p:spPr>
            <a:xfrm>
              <a:off x="-16425" y="5505161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" name="Google Shape;153;g3d62d805bc0_1_133">
              <a:extLst>
                <a:ext uri="{FF2B5EF4-FFF2-40B4-BE49-F238E27FC236}">
                  <a16:creationId xmlns:a16="http://schemas.microsoft.com/office/drawing/2014/main" id="{71653F7F-6FB8-F6BF-2234-CFDAF7FC62B9}"/>
                </a:ext>
              </a:extLst>
            </p:cNvPr>
            <p:cNvGrpSpPr/>
            <p:nvPr/>
          </p:nvGrpSpPr>
          <p:grpSpPr>
            <a:xfrm>
              <a:off x="820749" y="7751411"/>
              <a:ext cx="2565600" cy="874090"/>
              <a:chOff x="5174274" y="7426607"/>
              <a:chExt cx="2565600" cy="874090"/>
            </a:xfrm>
          </p:grpSpPr>
          <p:sp>
            <p:nvSpPr>
              <p:cNvPr id="14" name="Google Shape;154;g3d62d805bc0_1_133">
                <a:extLst>
                  <a:ext uri="{FF2B5EF4-FFF2-40B4-BE49-F238E27FC236}">
                    <a16:creationId xmlns:a16="http://schemas.microsoft.com/office/drawing/2014/main" id="{BD6FF699-26B4-354E-6405-455EA131789F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5" name="Google Shape;155;g3d62d805bc0_1_133">
                <a:extLst>
                  <a:ext uri="{FF2B5EF4-FFF2-40B4-BE49-F238E27FC236}">
                    <a16:creationId xmlns:a16="http://schemas.microsoft.com/office/drawing/2014/main" id="{6E276A12-D1F2-CC4C-FF25-9E09ABFA91C1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56;g3d62d805bc0_1_133">
                <a:extLst>
                  <a:ext uri="{FF2B5EF4-FFF2-40B4-BE49-F238E27FC236}">
                    <a16:creationId xmlns:a16="http://schemas.microsoft.com/office/drawing/2014/main" id="{44CD27F1-74E6-9768-907A-9CFEA6D00028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HGZ 1 Villa de Álvarez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7" name="Google Shape;157;g3d62d805bc0_1_133">
              <a:extLst>
                <a:ext uri="{FF2B5EF4-FFF2-40B4-BE49-F238E27FC236}">
                  <a16:creationId xmlns:a16="http://schemas.microsoft.com/office/drawing/2014/main" id="{3FB08B45-E8F4-76BD-5B95-0CC6E53FD15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8425" y="6352274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159;g3d62d805bc0_1_133">
              <a:extLst>
                <a:ext uri="{FF2B5EF4-FFF2-40B4-BE49-F238E27FC236}">
                  <a16:creationId xmlns:a16="http://schemas.microsoft.com/office/drawing/2014/main" id="{7A5E59A3-3BC3-035F-8DE3-F518CFAFBD98}"/>
                </a:ext>
              </a:extLst>
            </p:cNvPr>
            <p:cNvSpPr/>
            <p:nvPr/>
          </p:nvSpPr>
          <p:spPr>
            <a:xfrm>
              <a:off x="4830600" y="7886843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60;g3d62d805bc0_1_133">
              <a:extLst>
                <a:ext uri="{FF2B5EF4-FFF2-40B4-BE49-F238E27FC236}">
                  <a16:creationId xmlns:a16="http://schemas.microsoft.com/office/drawing/2014/main" id="{A2EA029D-47AF-0BF5-A631-3ABF33B2ECA5}"/>
                </a:ext>
              </a:extLst>
            </p:cNvPr>
            <p:cNvSpPr/>
            <p:nvPr/>
          </p:nvSpPr>
          <p:spPr>
            <a:xfrm>
              <a:off x="4328561" y="7886843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0" name="Google Shape;161;g3d62d805bc0_1_133">
              <a:extLst>
                <a:ext uri="{FF2B5EF4-FFF2-40B4-BE49-F238E27FC236}">
                  <a16:creationId xmlns:a16="http://schemas.microsoft.com/office/drawing/2014/main" id="{CCCC2E56-76DB-A143-6318-826E4BDC534E}"/>
                </a:ext>
              </a:extLst>
            </p:cNvPr>
            <p:cNvSpPr txBox="1"/>
            <p:nvPr/>
          </p:nvSpPr>
          <p:spPr>
            <a:xfrm>
              <a:off x="4345322" y="8240527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10 Manzanillo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1" name="Google Shape;162;g3d62d805bc0_1_133">
              <a:extLst>
                <a:ext uri="{FF2B5EF4-FFF2-40B4-BE49-F238E27FC236}">
                  <a16:creationId xmlns:a16="http://schemas.microsoft.com/office/drawing/2014/main" id="{D36BAAE2-80F6-9DCF-B323-2E0C3808B57F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6297" y="6324509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58578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93F2ACC-26D7-D705-C29A-C43BFF54E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A8C040A-D8BC-D5C0-8DCB-E82D47F710E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1F403CF-17C2-06D6-E5D4-09B60AD33740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6E58AFA-356A-A626-0E47-3BC6F8D9A504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17B8014-7070-CC0B-427F-F4541793177E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9FA401-054B-E1C8-BD1E-18771728D91A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75F226-4270-9BEC-62C5-5F05985CB437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+749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+47,057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+50,322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809,171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47,057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320,909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815,924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267,019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50,322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108,320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301,490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11,963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4,618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14,324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99,483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38,674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Armería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Minatitlán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Cuauhtémoc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Quesería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61,707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64,209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302,856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10,169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121,656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314,164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772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492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5392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772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314,164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adroTexto 138">
            <a:extLst>
              <a:ext uri="{FF2B5EF4-FFF2-40B4-BE49-F238E27FC236}">
                <a16:creationId xmlns:a16="http://schemas.microsoft.com/office/drawing/2014/main" id="{0B015124-4138-1C94-CE7D-ABBE57D79C8B}"/>
              </a:ext>
            </a:extLst>
          </p:cNvPr>
          <p:cNvSpPr txBox="1"/>
          <p:nvPr/>
        </p:nvSpPr>
        <p:spPr>
          <a:xfrm>
            <a:off x="4100000" y="559886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graphicFrame>
        <p:nvGraphicFramePr>
          <p:cNvPr id="140" name="Tabla 139">
            <a:extLst>
              <a:ext uri="{FF2B5EF4-FFF2-40B4-BE49-F238E27FC236}">
                <a16:creationId xmlns:a16="http://schemas.microsoft.com/office/drawing/2014/main" id="{0FD5AC23-2DF1-9A27-975F-A9634AC23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66539"/>
              </p:ext>
            </p:extLst>
          </p:nvPr>
        </p:nvGraphicFramePr>
        <p:xfrm>
          <a:off x="4770776" y="6874751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 16 Colima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(16 consultorios)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(90,088 consultas)</a:t>
            </a:r>
          </a:p>
        </p:txBody>
      </p:sp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53,792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160,181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61,885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108,706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43,993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401,384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34,903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159,670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399,760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Chart 14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834803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77,163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56,147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267,019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108,320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301,490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301,490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26994079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11,963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4,618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14,324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14,324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51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22 en Hospitales, 0 en sede, 2 en UMF y 27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572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4079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en Unidades de Medicina Familiar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8039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87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687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90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0005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0005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000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64D4000-DD68-6F07-1EFC-E272982FC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5315483"/>
              </p:ext>
            </p:extLst>
          </p:nvPr>
        </p:nvGraphicFramePr>
        <p:xfrm>
          <a:off x="287050" y="97368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2,361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5,080	 Personal de Salud: 3,192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+88.0%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+123.1%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3,412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240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1,174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5,343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(44,014)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(5,611)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(35,867)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(4,672)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(4,178)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(8,964)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(4,049)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(188)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(25)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(7,333)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(2,680)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(275)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52,065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517,268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22,627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614,063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6CB3E-27FE-45F7-8BBB-33818D9B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117,271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103,740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81,089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79,962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79,689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76,215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63,241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57,211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52,434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 SOLUCION INYECTABLE CADA FRASCO CONTIENE: PARACETAMOL 1 G. ENVASE CON UN FRASCO CON 100 ML.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50,493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652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548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1 en Villa de Álvarez (Etapa 4)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del HGR 72 camas, Manzanillo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$63.3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024000"/>
          <a:ext cx="52956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8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 No.1 Villa Álvarez, HGSZMF No.4 Tecomán, HGZ No.10 Manzanillo, UMF No.17 Manzanillo, UMF No. 19 Colima)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(HGZ No.1 Villa de Álvarez y HGZ No. 10 Manzanillo)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17 unidades, Colima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Colima y Manzanillo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10 Manzanillo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(HGSZMF No. 4 Tecomán, HGZ No.1 Villa de Álvarez, HGZ No. 10 Manzanillo)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$215.6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52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 piezas de equipo médico: 1 refrigerador congelador de 5.4 pies cúbicos, 1 tomógrafo axial computarizado de alta resolucion, 1 mastógrafo digital con esterotaxia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313.0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50049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Manzanillo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$1,908.0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2951996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 Equipos electromecánicos para 1 unidad médica, 2 lavadoras y 1 secadora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1,968.2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527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Construcción del HGZ de 72 camas en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$2,562.0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y Ampliación de UMF No. 18 a UMF Plus 14+7, Villa de Álvarez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Plus Manzanillo 10+5 consultorios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Servicio de Resonancia Magnética HGZ 1, Villa de Álvarez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$65.5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equipo de Tomografía HGZ 1, Villa de Álvare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urgencias UMF Colima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$9.1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Colecta de Sangrado y Transfusión de los Laboratorios HGZ No.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Colecta de Sangrado y Transfusión de los Laboratorios HGSZ/MF No. 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8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$3,578.8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529198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97598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665998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3,578.8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Cuauhtémoc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Tecomán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12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Cuauhtémoc y Tecomán.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2,518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390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Colima, Manzanillo y Tecomán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10 Colima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6_c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Colima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Yazaki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Ssa México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Suarcrem Holding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-0.65%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-0.64%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-0.08%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+2.21%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+5.28%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+11.17%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130,112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6,644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21,249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2,242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160,247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D1EFEE1-D20D-FBAE-E513-772942965BF7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$589.17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$296.55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$589.17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$17,675.1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$30.30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Educación Inicial del Estado de Colima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Hefreva Soluciones en Logística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Compañía Isdamar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51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0000" y="58896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298</Words>
  <Application>Microsoft Office PowerPoint</Application>
  <PresentationFormat>Personalizado</PresentationFormat>
  <Paragraphs>85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98</cp:revision>
  <dcterms:modified xsi:type="dcterms:W3CDTF">2026-05-12T22:10:22Z</dcterms:modified>
</cp:coreProperties>
</file>