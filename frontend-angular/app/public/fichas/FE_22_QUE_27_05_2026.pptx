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89" r:id="rId3"/>
    <p:sldId id="258" r:id="rId4"/>
    <p:sldId id="259" r:id="rId5"/>
    <p:sldId id="260" r:id="rId6"/>
    <p:sldId id="261" r:id="rId7"/>
    <p:sldId id="287" r:id="rId8"/>
    <p:sldId id="262" r:id="rId9"/>
    <p:sldId id="263" r:id="rId10"/>
    <p:sldId id="280" r:id="rId11"/>
    <p:sldId id="267" r:id="rId12"/>
    <p:sldId id="298" r:id="rId13"/>
    <p:sldId id="301" r:id="rId45"/>
    <p:sldId id="281" r:id="rId14"/>
    <p:sldId id="302" r:id="rId46"/>
    <p:sldId id="288" r:id="rId15"/>
    <p:sldId id="270" r:id="rId16"/>
    <p:sldId id="271" r:id="rId17"/>
    <p:sldId id="272" r:id="rId18"/>
    <p:sldId id="300" r:id="rId19"/>
    <p:sldId id="297" r:id="rId20"/>
    <p:sldId id="284" r:id="rId21"/>
    <p:sldId id="299" r:id="rId22"/>
    <p:sldId id="277" r:id="rId23"/>
    <p:sldId id="278" r:id="rId24"/>
    <p:sldId id="279" r:id="rId25"/>
  </p:sldIdLst>
  <p:sldSz cx="7772400" cy="10058400"/>
  <p:notesSz cx="6858000" cy="9144000"/>
  <p:embeddedFontLst>
    <p:embeddedFont>
      <p:font typeface="Montserrat" panose="00000500000000000000" pitchFamily="2" charset="0"/>
      <p:regular r:id="rId27"/>
      <p:bold r:id="rId28"/>
      <p:italic r:id="rId29"/>
      <p:boldItalic r:id="rId30"/>
    </p:embeddedFont>
    <p:embeddedFont>
      <p:font typeface="Noto Sans" panose="020B0502040504020204" pitchFamily="34" charset="0"/>
      <p:regular r:id="rId31"/>
      <p:bold r:id="rId32"/>
      <p:italic r:id="rId33"/>
      <p:boldItalic r:id="rId34"/>
    </p:embeddedFont>
    <p:embeddedFont>
      <p:font typeface="Noto Sans Black" panose="020B0604020202020204" charset="0"/>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Sección predeterminada" id="{387EAA75-3293-46ED-BD4E-698FF24301C3}">
          <p14:sldIdLst>
            <p14:sldId id="256"/>
            <p14:sldId id="289"/>
            <p14:sldId id="258"/>
            <p14:sldId id="259"/>
            <p14:sldId id="260"/>
            <p14:sldId id="261"/>
            <p14:sldId id="287"/>
            <p14:sldId id="262"/>
            <p14:sldId id="263"/>
            <p14:sldId id="280"/>
            <p14:sldId id="267"/>
            <p14:sldId id="298"/>
            <p14:sldId id="281"/>
            <p14:sldId id="288"/>
            <p14:sldId id="270"/>
            <p14:sldId id="271"/>
            <p14:sldId id="272"/>
            <p14:sldId id="300"/>
            <p14:sldId id="297"/>
            <p14:sldId id="284"/>
            <p14:sldId id="299"/>
            <p14:sldId id="277"/>
            <p14:sldId id="278"/>
            <p14:sldId id="279"/>
          </p14:sldIdLst>
        </p14:section>
      </p14:sectionLst>
    </p:ex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5D6879-095E-CAE2-58A5-48CDE842E8CD}" v="13" dt="2026-05-12T23:36:03.445"/>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p:restoredTop sz="94759"/>
  </p:normalViewPr>
  <p:slideViewPr>
    <p:cSldViewPr snapToGrid="0">
      <p:cViewPr varScale="1">
        <p:scale>
          <a:sx n="78" d="100"/>
          <a:sy n="78" d="100"/>
        </p:scale>
        <p:origin x="3024" y="184"/>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font" Target="fonts/font5.fntdata"/><Relationship Id="rId32" Type="http://schemas.openxmlformats.org/officeDocument/2006/relationships/font" Target="fonts/font6.fntdata"/><Relationship Id="rId33" Type="http://schemas.openxmlformats.org/officeDocument/2006/relationships/font" Target="fonts/font7.fntdata"/><Relationship Id="rId34" Type="http://schemas.openxmlformats.org/officeDocument/2006/relationships/font" Target="fonts/font8.fntdata"/><Relationship Id="rId35" Type="http://schemas.openxmlformats.org/officeDocument/2006/relationships/font" Target="fonts/font9.fntdata"/><Relationship Id="rId36" Type="http://schemas.openxmlformats.org/officeDocument/2006/relationships/font" Target="fonts/font10.fntdata"/><Relationship Id="rId37" Type="http://schemas.openxmlformats.org/officeDocument/2006/relationships/font" Target="fonts/font11.fntdata"/><Relationship Id="rId45" Type="http://schemas.openxmlformats.org/officeDocument/2006/relationships/slide" Target="slides/slide25.xml"/><Relationship Id="rId46" Type="http://schemas.openxmlformats.org/officeDocument/2006/relationships/slide" Target="slides/slide26.xml"/><Relationship Id="rId52" Type="http://customschemas.google.com/relationships/presentationmetadata" Target="metadata"/><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6/11/relationships/changesInfo" Target="changesInfos/changesInfo1.xml"/><Relationship Id="rId5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os Esponda Rosales" userId="08a2b2cc-6d12-4dea-90fe-c484bece8186" providerId="ADAL" clId="{6846A1DD-3EC1-5A12-B3C5-9C410579EE4F}"/>
    <pc:docChg chg="addSld modSld">
      <pc:chgData name="Carlos Esponda Rosales" userId="08a2b2cc-6d12-4dea-90fe-c484bece8186" providerId="ADAL" clId="{6846A1DD-3EC1-5A12-B3C5-9C410579EE4F}" dt="2026-05-08T17:37:02.153" v="0"/>
      <pc:docMkLst>
        <pc:docMk/>
      </pc:docMkLst>
      <pc:sldChg chg="add">
        <pc:chgData name="Carlos Esponda Rosales" userId="08a2b2cc-6d12-4dea-90fe-c484bece8186" providerId="ADAL" clId="{6846A1DD-3EC1-5A12-B3C5-9C410579EE4F}" dt="2026-05-08T17:37:02.153" v="0"/>
        <pc:sldMkLst>
          <pc:docMk/>
          <pc:sldMk cId="4056737297" sldId="300"/>
        </pc:sldMkLst>
      </pc:sldChg>
    </pc:docChg>
  </pc:docChgLst>
  <pc:docChgLst>
    <pc:chgData name="Edgar Rosales Ortega" userId="d1d54fc2-1570-4978-babc-e22e1526833f" providerId="ADAL" clId="{66BE7C30-C669-4152-AC74-10076FC0590C}"/>
    <pc:docChg chg="custSel modSld sldOrd delSection modSection">
      <pc:chgData name="Edgar Rosales Ortega" userId="d1d54fc2-1570-4978-babc-e22e1526833f" providerId="ADAL" clId="{66BE7C30-C669-4152-AC74-10076FC0590C}" dt="2026-05-07T19:18:41.404" v="95" actId="14100"/>
      <pc:docMkLst>
        <pc:docMk/>
      </pc:docMkLst>
      <pc:sldChg chg="addSp delSp modSp mod">
        <pc:chgData name="Edgar Rosales Ortega" userId="d1d54fc2-1570-4978-babc-e22e1526833f" providerId="ADAL" clId="{66BE7C30-C669-4152-AC74-10076FC0590C}" dt="2026-04-30T23:15:26.805" v="84" actId="1036"/>
        <pc:sldMkLst>
          <pc:docMk/>
          <pc:sldMk cId="0" sldId="260"/>
        </pc:sldMkLst>
        <pc:spChg chg="add mod">
          <ac:chgData name="Edgar Rosales Ortega" userId="d1d54fc2-1570-4978-babc-e22e1526833f" providerId="ADAL" clId="{66BE7C30-C669-4152-AC74-10076FC0590C}" dt="2026-04-30T23:15:26.805" v="84" actId="1036"/>
          <ac:spMkLst>
            <pc:docMk/>
            <pc:sldMk cId="0" sldId="260"/>
            <ac:spMk id="7" creationId="{AB5EBA3F-0462-2907-42E4-8A5B10221247}"/>
          </ac:spMkLst>
        </pc:spChg>
        <pc:graphicFrameChg chg="add mod">
          <ac:chgData name="Edgar Rosales Ortega" userId="d1d54fc2-1570-4978-babc-e22e1526833f" providerId="ADAL" clId="{66BE7C30-C669-4152-AC74-10076FC0590C}" dt="2026-04-30T23:15:19.560" v="30" actId="1076"/>
          <ac:graphicFrameMkLst>
            <pc:docMk/>
            <pc:sldMk cId="0" sldId="260"/>
            <ac:graphicFrameMk id="5" creationId="{B6422C63-C584-DA7D-D548-6D46E70946B8}"/>
          </ac:graphicFrameMkLst>
        </pc:graphicFrameChg>
        <pc:picChg chg="add mod">
          <ac:chgData name="Edgar Rosales Ortega" userId="d1d54fc2-1570-4978-babc-e22e1526833f" providerId="ADAL" clId="{66BE7C30-C669-4152-AC74-10076FC0590C}" dt="2026-04-30T23:15:26.805" v="84" actId="1036"/>
          <ac:picMkLst>
            <pc:docMk/>
            <pc:sldMk cId="0" sldId="260"/>
            <ac:picMk id="6" creationId="{38EBD931-852E-790E-68B4-DD570977E59F}"/>
          </ac:picMkLst>
        </pc:picChg>
      </pc:sldChg>
      <pc:sldChg chg="addSp delSp modSp mod">
        <pc:chgData name="Edgar Rosales Ortega" userId="d1d54fc2-1570-4978-babc-e22e1526833f" providerId="ADAL" clId="{66BE7C30-C669-4152-AC74-10076FC0590C}" dt="2026-05-05T18:02:57.945" v="85" actId="164"/>
        <pc:sldMkLst>
          <pc:docMk/>
          <pc:sldMk cId="0" sldId="261"/>
        </pc:sldMkLst>
        <pc:spChg chg="mod">
          <ac:chgData name="Edgar Rosales Ortega" userId="d1d54fc2-1570-4978-babc-e22e1526833f" providerId="ADAL" clId="{66BE7C30-C669-4152-AC74-10076FC0590C}" dt="2026-05-05T18:02:57.945" v="85" actId="164"/>
          <ac:spMkLst>
            <pc:docMk/>
            <pc:sldMk cId="0" sldId="261"/>
            <ac:spMk id="3" creationId="{FCD9118F-E270-11BA-3B2C-980F56AACEA2}"/>
          </ac:spMkLst>
        </pc:spChg>
        <pc:spChg chg="mod">
          <ac:chgData name="Edgar Rosales Ortega" userId="d1d54fc2-1570-4978-babc-e22e1526833f" providerId="ADAL" clId="{66BE7C30-C669-4152-AC74-10076FC0590C}" dt="2026-05-05T18:02:57.945" v="85" actId="164"/>
          <ac:spMkLst>
            <pc:docMk/>
            <pc:sldMk cId="0" sldId="261"/>
            <ac:spMk id="4" creationId="{5336E88B-A52B-9017-FCD2-22FCAD5C50CA}"/>
          </ac:spMkLst>
        </pc:spChg>
        <pc:spChg chg="mod">
          <ac:chgData name="Edgar Rosales Ortega" userId="d1d54fc2-1570-4978-babc-e22e1526833f" providerId="ADAL" clId="{66BE7C30-C669-4152-AC74-10076FC0590C}" dt="2026-05-05T18:02:57.945" v="85" actId="164"/>
          <ac:spMkLst>
            <pc:docMk/>
            <pc:sldMk cId="0" sldId="261"/>
            <ac:spMk id="6" creationId="{0D5675C5-ADCF-57B9-7A0D-77F34DDB0A00}"/>
          </ac:spMkLst>
        </pc:spChg>
        <pc:spChg chg="add mod">
          <ac:chgData name="Edgar Rosales Ortega" userId="d1d54fc2-1570-4978-babc-e22e1526833f" providerId="ADAL" clId="{66BE7C30-C669-4152-AC74-10076FC0590C}" dt="2026-05-05T18:02:57.945" v="85" actId="164"/>
          <ac:spMkLst>
            <pc:docMk/>
            <pc:sldMk cId="0" sldId="261"/>
            <ac:spMk id="7" creationId="{35EEDBBB-C626-54A9-134F-C8BCFE390D61}"/>
          </ac:spMkLst>
        </pc:spChg>
        <pc:grpChg chg="add mod">
          <ac:chgData name="Edgar Rosales Ortega" userId="d1d54fc2-1570-4978-babc-e22e1526833f" providerId="ADAL" clId="{66BE7C30-C669-4152-AC74-10076FC0590C}" dt="2026-05-05T18:02:57.945" v="85" actId="164"/>
          <ac:grpSpMkLst>
            <pc:docMk/>
            <pc:sldMk cId="0" sldId="261"/>
            <ac:grpSpMk id="5" creationId="{5EEAEDEB-8662-B2ED-CDAF-23FE54DB37D0}"/>
          </ac:grpSpMkLst>
        </pc:grpChg>
        <pc:picChg chg="mod">
          <ac:chgData name="Edgar Rosales Ortega" userId="d1d54fc2-1570-4978-babc-e22e1526833f" providerId="ADAL" clId="{66BE7C30-C669-4152-AC74-10076FC0590C}" dt="2026-05-05T18:02:57.945" v="85" actId="164"/>
          <ac:picMkLst>
            <pc:docMk/>
            <pc:sldMk cId="0" sldId="261"/>
            <ac:picMk id="2" creationId="{2288EA93-70A9-64C8-B438-1B46BA32A3AC}"/>
          </ac:picMkLst>
        </pc:picChg>
      </pc:sldChg>
      <pc:sldChg chg="delSp mod">
        <pc:chgData name="Edgar Rosales Ortega" userId="d1d54fc2-1570-4978-babc-e22e1526833f" providerId="ADAL" clId="{66BE7C30-C669-4152-AC74-10076FC0590C}" dt="2026-05-07T19:18:10.514" v="88" actId="478"/>
        <pc:sldMkLst>
          <pc:docMk/>
          <pc:sldMk cId="0" sldId="262"/>
        </pc:sldMkLst>
      </pc:sldChg>
      <pc:sldChg chg="addSp delSp modSp mod">
        <pc:chgData name="Edgar Rosales Ortega" userId="d1d54fc2-1570-4978-babc-e22e1526833f" providerId="ADAL" clId="{66BE7C30-C669-4152-AC74-10076FC0590C}" dt="2026-05-07T19:18:16.370" v="90" actId="478"/>
        <pc:sldMkLst>
          <pc:docMk/>
          <pc:sldMk cId="0" sldId="263"/>
        </pc:sldMkLst>
      </pc:sldChg>
      <pc:sldChg chg="modSp mod ord">
        <pc:chgData name="Edgar Rosales Ortega" userId="d1d54fc2-1570-4978-babc-e22e1526833f" providerId="ADAL" clId="{66BE7C30-C669-4152-AC74-10076FC0590C}" dt="2026-04-30T15:53:59.883" v="26"/>
        <pc:sldMkLst>
          <pc:docMk/>
          <pc:sldMk cId="0" sldId="267"/>
        </pc:sldMkLst>
        <pc:graphicFrameChg chg="modGraphic">
          <ac:chgData name="Edgar Rosales Ortega" userId="d1d54fc2-1570-4978-babc-e22e1526833f" providerId="ADAL" clId="{66BE7C30-C669-4152-AC74-10076FC0590C}" dt="2026-04-30T00:20:47.800" v="14" actId="20577"/>
          <ac:graphicFrameMkLst>
            <pc:docMk/>
            <pc:sldMk cId="0" sldId="267"/>
            <ac:graphicFrameMk id="230" creationId="{00000000-0000-0000-0000-000000000000}"/>
          </ac:graphicFrameMkLst>
        </pc:graphicFrameChg>
      </pc:sldChg>
      <pc:sldChg chg="modSp">
        <pc:chgData name="Edgar Rosales Ortega" userId="d1d54fc2-1570-4978-babc-e22e1526833f" providerId="ADAL" clId="{66BE7C30-C669-4152-AC74-10076FC0590C}" dt="2026-05-07T19:18:24.533" v="91"/>
        <pc:sldMkLst>
          <pc:docMk/>
          <pc:sldMk cId="0" sldId="272"/>
        </pc:sldMkLst>
        <pc:graphicFrameChg chg="mod">
          <ac:chgData name="Edgar Rosales Ortega" userId="d1d54fc2-1570-4978-babc-e22e1526833f" providerId="ADAL" clId="{66BE7C30-C669-4152-AC74-10076FC0590C}" dt="2026-05-07T19:18:24.533" v="91"/>
          <ac:graphicFrameMkLst>
            <pc:docMk/>
            <pc:sldMk cId="0" sldId="272"/>
            <ac:graphicFrameMk id="347" creationId="{00000000-0000-0000-0000-000000000000}"/>
          </ac:graphicFrameMkLst>
        </pc:graphicFrameChg>
      </pc:sldChg>
      <pc:sldChg chg="addSp delSp modSp mod">
        <pc:chgData name="Edgar Rosales Ortega" userId="d1d54fc2-1570-4978-babc-e22e1526833f" providerId="ADAL" clId="{66BE7C30-C669-4152-AC74-10076FC0590C}" dt="2026-05-05T18:03:17.187" v="87" actId="1076"/>
        <pc:sldMkLst>
          <pc:docMk/>
          <pc:sldMk cId="0" sldId="279"/>
        </pc:sldMkLst>
        <pc:spChg chg="add mod">
          <ac:chgData name="Edgar Rosales Ortega" userId="d1d54fc2-1570-4978-babc-e22e1526833f" providerId="ADAL" clId="{66BE7C30-C669-4152-AC74-10076FC0590C}" dt="2026-04-30T16:28:57.585" v="27" actId="1076"/>
          <ac:spMkLst>
            <pc:docMk/>
            <pc:sldMk cId="0" sldId="279"/>
            <ac:spMk id="2" creationId="{C40E98EE-4DF2-1751-AF7E-15529E7A6F40}"/>
          </ac:spMkLst>
        </pc:spChg>
        <pc:spChg chg="mod">
          <ac:chgData name="Edgar Rosales Ortega" userId="d1d54fc2-1570-4978-babc-e22e1526833f" providerId="ADAL" clId="{66BE7C30-C669-4152-AC74-10076FC0590C}" dt="2026-05-05T18:03:17.187" v="87" actId="1076"/>
          <ac:spMkLst>
            <pc:docMk/>
            <pc:sldMk cId="0" sldId="279"/>
            <ac:spMk id="500" creationId="{00000000-0000-0000-0000-000000000000}"/>
          </ac:spMkLst>
        </pc:spChg>
      </pc:sldChg>
      <pc:sldChg chg="modSp mod ord">
        <pc:chgData name="Edgar Rosales Ortega" userId="d1d54fc2-1570-4978-babc-e22e1526833f" providerId="ADAL" clId="{66BE7C30-C669-4152-AC74-10076FC0590C}" dt="2026-04-30T15:53:55.566" v="24"/>
        <pc:sldMkLst>
          <pc:docMk/>
          <pc:sldMk cId="540716406" sldId="280"/>
        </pc:sldMkLst>
        <pc:graphicFrameChg chg="modGraphic">
          <ac:chgData name="Edgar Rosales Ortega" userId="d1d54fc2-1570-4978-babc-e22e1526833f" providerId="ADAL" clId="{66BE7C30-C669-4152-AC74-10076FC0590C}" dt="2026-04-30T00:20:50.808" v="15" actId="20577"/>
          <ac:graphicFrameMkLst>
            <pc:docMk/>
            <pc:sldMk cId="540716406" sldId="280"/>
            <ac:graphicFrameMk id="230" creationId="{64EDC3BC-A199-227A-0CEC-FB808E16739F}"/>
          </ac:graphicFrameMkLst>
        </pc:graphicFrameChg>
      </pc:sldChg>
      <pc:sldChg chg="addSp delSp modSp mod">
        <pc:chgData name="Edgar Rosales Ortega" userId="d1d54fc2-1570-4978-babc-e22e1526833f" providerId="ADAL" clId="{66BE7C30-C669-4152-AC74-10076FC0590C}" dt="2026-05-05T18:03:04.776" v="86" actId="478"/>
        <pc:sldMkLst>
          <pc:docMk/>
          <pc:sldMk cId="3828482411" sldId="281"/>
        </pc:sldMkLst>
      </pc:sldChg>
      <pc:sldChg chg="modSp mod">
        <pc:chgData name="Edgar Rosales Ortega" userId="d1d54fc2-1570-4978-babc-e22e1526833f" providerId="ADAL" clId="{66BE7C30-C669-4152-AC74-10076FC0590C}" dt="2026-05-07T19:18:41.404" v="95" actId="14100"/>
        <pc:sldMkLst>
          <pc:docMk/>
          <pc:sldMk cId="364733940" sldId="284"/>
        </pc:sldMkLst>
        <pc:picChg chg="mod">
          <ac:chgData name="Edgar Rosales Ortega" userId="d1d54fc2-1570-4978-babc-e22e1526833f" providerId="ADAL" clId="{66BE7C30-C669-4152-AC74-10076FC0590C}" dt="2026-05-07T19:18:41.404" v="95" actId="14100"/>
          <ac:picMkLst>
            <pc:docMk/>
            <pc:sldMk cId="364733940" sldId="284"/>
            <ac:picMk id="2" creationId="{1B5687F4-45A0-92B4-9653-1598AF1BC42E}"/>
          </ac:picMkLst>
        </pc:picChg>
      </pc:sldChg>
      <pc:sldChg chg="modSp mod ord">
        <pc:chgData name="Edgar Rosales Ortega" userId="d1d54fc2-1570-4978-babc-e22e1526833f" providerId="ADAL" clId="{66BE7C30-C669-4152-AC74-10076FC0590C}" dt="2026-04-30T15:53:31.390" v="21"/>
        <pc:sldMkLst>
          <pc:docMk/>
          <pc:sldMk cId="748044913" sldId="287"/>
        </pc:sldMkLst>
        <pc:graphicFrameChg chg="modGraphic">
          <ac:chgData name="Edgar Rosales Ortega" userId="d1d54fc2-1570-4978-babc-e22e1526833f" providerId="ADAL" clId="{66BE7C30-C669-4152-AC74-10076FC0590C}" dt="2026-04-30T00:20:54.326" v="16" actId="20577"/>
          <ac:graphicFrameMkLst>
            <pc:docMk/>
            <pc:sldMk cId="748044913" sldId="287"/>
            <ac:graphicFrameMk id="230" creationId="{AC3C5A3E-612D-5067-1D46-BCA5AE81D01D}"/>
          </ac:graphicFrameMkLst>
        </pc:graphicFrameChg>
      </pc:sldChg>
      <pc:sldChg chg="modSp mod">
        <pc:chgData name="Edgar Rosales Ortega" userId="d1d54fc2-1570-4978-babc-e22e1526833f" providerId="ADAL" clId="{66BE7C30-C669-4152-AC74-10076FC0590C}" dt="2026-05-07T19:18:35.208" v="93" actId="14100"/>
        <pc:sldMkLst>
          <pc:docMk/>
          <pc:sldMk cId="3240565764" sldId="297"/>
        </pc:sldMkLst>
        <pc:picChg chg="mod">
          <ac:chgData name="Edgar Rosales Ortega" userId="d1d54fc2-1570-4978-babc-e22e1526833f" providerId="ADAL" clId="{66BE7C30-C669-4152-AC74-10076FC0590C}" dt="2026-05-07T19:18:35.208" v="93" actId="14100"/>
          <ac:picMkLst>
            <pc:docMk/>
            <pc:sldMk cId="3240565764" sldId="297"/>
            <ac:picMk id="5" creationId="{4689FF38-8CFA-FB37-4E7B-B5603B7FC116}"/>
          </ac:picMkLst>
        </pc:picChg>
      </pc:sldChg>
      <pc:sldChg chg="ord">
        <pc:chgData name="Edgar Rosales Ortega" userId="d1d54fc2-1570-4978-babc-e22e1526833f" providerId="ADAL" clId="{66BE7C30-C669-4152-AC74-10076FC0590C}" dt="2026-04-17T20:41:59.601" v="1"/>
        <pc:sldMkLst>
          <pc:docMk/>
          <pc:sldMk cId="1524095599" sldId="298"/>
        </pc:sldMkLst>
      </pc:sldChg>
    </pc:docChg>
  </pc:docChgLst>
  <pc:docChgLst>
    <pc:chgData name="Gerardo Jahir Lara Garcia" userId="S::gerardo.larag@imss.gob.mx::84d5cd65-4601-4e92-b448-a9da4809e012" providerId="AD" clId="Web-{785D6879-095E-CAE2-58A5-48CDE842E8CD}"/>
    <pc:docChg chg="modSld">
      <pc:chgData name="Gerardo Jahir Lara Garcia" userId="S::gerardo.larag@imss.gob.mx::84d5cd65-4601-4e92-b448-a9da4809e012" providerId="AD" clId="Web-{785D6879-095E-CAE2-58A5-48CDE842E8CD}" dt="2026-05-12T23:36:03.445" v="11" actId="1076"/>
      <pc:docMkLst>
        <pc:docMk/>
      </pc:docMkLst>
      <pc:sldChg chg="addSp modSp">
        <pc:chgData name="Gerardo Jahir Lara Garcia" userId="S::gerardo.larag@imss.gob.mx::84d5cd65-4601-4e92-b448-a9da4809e012" providerId="AD" clId="Web-{785D6879-095E-CAE2-58A5-48CDE842E8CD}" dt="2026-05-12T23:36:03.445" v="11" actId="1076"/>
        <pc:sldMkLst>
          <pc:docMk/>
          <pc:sldMk cId="364733940" sldId="284"/>
        </pc:sldMkLst>
        <pc:picChg chg="add mod">
          <ac:chgData name="Gerardo Jahir Lara Garcia" userId="S::gerardo.larag@imss.gob.mx::84d5cd65-4601-4e92-b448-a9da4809e012" providerId="AD" clId="Web-{785D6879-095E-CAE2-58A5-48CDE842E8CD}" dt="2026-05-12T23:36:03.445" v="11" actId="1076"/>
          <ac:picMkLst>
            <pc:docMk/>
            <pc:sldMk cId="364733940" sldId="284"/>
            <ac:picMk id="3" creationId="{493BD56D-50F4-B7CD-7D1A-69F0C3A8C29E}"/>
          </ac:picMkLst>
        </pc:picChg>
      </pc:sldChg>
      <pc:sldChg chg="addSp modSp">
        <pc:chgData name="Gerardo Jahir Lara Garcia" userId="S::gerardo.larag@imss.gob.mx::84d5cd65-4601-4e92-b448-a9da4809e012" providerId="AD" clId="Web-{785D6879-095E-CAE2-58A5-48CDE842E8CD}" dt="2026-05-12T23:35:20.694" v="3" actId="1076"/>
        <pc:sldMkLst>
          <pc:docMk/>
          <pc:sldMk cId="3240565764" sldId="297"/>
        </pc:sldMkLst>
        <pc:picChg chg="add mod">
          <ac:chgData name="Gerardo Jahir Lara Garcia" userId="S::gerardo.larag@imss.gob.mx::84d5cd65-4601-4e92-b448-a9da4809e012" providerId="AD" clId="Web-{785D6879-095E-CAE2-58A5-48CDE842E8CD}" dt="2026-05-12T23:35:20.694" v="3" actId="1076"/>
          <ac:picMkLst>
            <pc:docMk/>
            <pc:sldMk cId="3240565764" sldId="297"/>
            <ac:picMk id="3" creationId="{4A354C11-472E-B13F-7640-F22CBC3FCD5B}"/>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006455"/>
              </a:solidFill>
            </c:spPr>
          </c:dPt>
          <c:dPt>
            <c:idx val="1"/>
            <c:spPr>
              <a:solidFill>
                <a:srgbClr val="691C32"/>
              </a:solidFill>
            </c:spPr>
          </c:dPt>
          <c:dPt>
            <c:idx val="2"/>
            <c:spPr>
              <a:solidFill>
                <a:srgbClr val="BC955C"/>
              </a:solidFill>
            </c:spPr>
          </c:dPt>
          <c:dPt>
            <c:idx val="3"/>
            <c:spPr>
              <a:solidFill>
                <a:srgbClr val="9E9E9E"/>
              </a:solidFill>
            </c:spPr>
          </c:dPt>
          <c:cat>
            <c:strRef>
              <c:f>Sheet1!$A$2:$A$5</c:f>
              <c:strCache>
                <c:ptCount val="4"/>
                <c:pt idx="0">
                  <c:v>IMSS</c:v>
                </c:pt>
                <c:pt idx="1">
                  <c:v>ISSSTE</c:v>
                </c:pt>
                <c:pt idx="2">
                  <c:v>IMSS-BIENESTAR</c:v>
                </c:pt>
                <c:pt idx="3">
                  <c:v>Otros</c:v>
                </c:pt>
              </c:strCache>
            </c:strRef>
          </c:cat>
          <c:val>
            <c:numRef>
              <c:f>Sheet1!$B$2:$B$5</c:f>
              <c:numCache>
                <c:formatCode>General</c:formatCode>
                <c:ptCount val="4"/>
                <c:pt idx="0">
                  <c:v>1644260.0</c:v>
                </c:pt>
                <c:pt idx="1">
                  <c:v>191529.0</c:v>
                </c:pt>
                <c:pt idx="2">
                  <c:v>853093.0</c:v>
                </c:pt>
                <c:pt idx="3">
                  <c:v>12096.0</c:v>
                </c:pt>
              </c:numCache>
            </c:numRef>
          </c:val>
        </c:ser>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33.981613285883746</c:v>
                </c:pt>
                <c:pt idx="1">
                  <c:v>66.01838671411625</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title>
      <c:layout/>
      <c:overlay val="0"/>
    </c:title>
    <c:autoTitleDeleted val="0"/>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15.9867939682</c:v>
                </c:pt>
                <c:pt idx="1">
                  <c:v>84.0132060318</c:v>
                </c:pt>
              </c:numCache>
            </c:numRef>
          </c:val>
        </c:ser>
        <c:dLbls>
          <c:showLegendKey val="0"/>
          <c:showVal val="0"/>
          <c:showCatName val="0"/>
          <c:showSerName val="0"/>
          <c:showPercent val="0"/>
          <c:showBubbleSize val="0"/>
          <c:showLeaderLines val="1"/>
        </c:dLbls>
        <c:firstSliceAng val="0"/>
        <c:holeSize val="70"/>
      </c:doughnutChart>
      <c:autoTitleDeleted val="1"/>
    </c:plotArea>
    <c:plotVisOnly val="1"/>
    <c:dispBlanksAs val="gap"/>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42.95950451090992</c:v>
                </c:pt>
                <c:pt idx="1">
                  <c:v>57.04049548909008</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38.7373916569517</c:v>
                </c:pt>
                <c:pt idx="1">
                  <c:v>61.2626083430483</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c:pt>
              </c:strCache>
            </c:strRef>
          </c:tx>
          <c:spPr>
            <a:solidFill>
              <a:srgbClr val="006455"/>
            </a:solidFill>
          </c:spPr>
          <c:dPt>
            <c:idx val="3"/>
            <c:spPr>
              <a:solidFill>
                <a:srgbClr val="691C32"/>
              </a:solidFill>
            </c:spPr>
          </c:dPt>
          <c:cat>
            <c:strRef>
              <c:f>Sheet1!$A$2:$A$5</c:f>
              <c:strCache>
                <c:ptCount val="4"/>
                <c:pt idx="0">
                  <c:v>2018</c:v>
                </c:pt>
                <c:pt idx="1">
                  <c:v>2024</c:v>
                </c:pt>
                <c:pt idx="2">
                  <c:v>2025</c:v>
                </c:pt>
                <c:pt idx="3">
                  <c:v>2026</c:v>
                </c:pt>
              </c:strCache>
            </c:strRef>
          </c:cat>
          <c:val>
            <c:numRef>
              <c:f>Sheet1!$B$2:$B$5</c:f>
              <c:numCache>
                <c:formatCode>General</c:formatCode>
                <c:ptCount val="4"/>
                <c:pt idx="0">
                  <c:v>38</c:v>
                </c:pt>
                <c:pt idx="1">
                  <c:v>189</c:v>
                </c:pt>
                <c:pt idx="2">
                  <c:v>200</c:v>
                </c:pt>
                <c:pt idx="3">
                  <c:v>188</c:v>
                </c:pt>
              </c:numCache>
            </c:numRef>
          </c:val>
        </c:ser>
        <c:dLbls>
          <c:numFmt formatCode="#,##0" sourceLinked="0"/>
          <c:txPr>
            <a:bodyPr/>
            <a:lstStyle/>
            <a:p>
              <a:pPr>
                <a:defRPr sz="1000" b="1">
                  <a:solidFill>
                    <a:srgbClr val="FFFFFF"/>
                  </a:solidFill>
                  <a:latin typeface="Montserrat"/>
                </a:defRPr>
              </a:pPr>
            </a:p>
          </c:txPr>
          <c:dLblPos val="in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spPr>
          <a:ln>
            <a:solidFill>
              <a:srgbClr val="C8C8C8"/>
            </a:solidFill>
          </a:ln>
        </c:spPr>
        <c:txPr>
          <a:bodyPr/>
          <a:lstStyle/>
          <a:p>
            <a:pPr>
              <a:defRPr sz="1000" b="0">
                <a:latin typeface="Montserrat"/>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Mes Anterior</c:v>
                </c:pt>
              </c:strCache>
            </c:strRef>
          </c:tx>
          <c:spPr>
            <a:solidFill>
              <a:srgbClr val="006455"/>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Agricultura, Ganaderia, Silvicultura, Pesca y Caza</c:v>
                </c:pt>
                <c:pt idx="1">
                  <c:v>Industrias de la Transformación</c:v>
                </c:pt>
                <c:pt idx="2">
                  <c:v>Industria de la Construcción</c:v>
                </c:pt>
                <c:pt idx="3">
                  <c:v>Servicios para Empresas, Personas y el Hogar</c:v>
                </c:pt>
                <c:pt idx="4">
                  <c:v>Servicios Sociales y Comunales</c:v>
                </c:pt>
                <c:pt idx="5">
                  <c:v>Comercio</c:v>
                </c:pt>
                <c:pt idx="6">
                  <c:v>Industrias Extractivas</c:v>
                </c:pt>
                <c:pt idx="7">
                  <c:v>Ind Eléctrica y Captación y Suministro de Agua Potable</c:v>
                </c:pt>
                <c:pt idx="8">
                  <c:v>Transportes y Comunicaciones</c:v>
                </c:pt>
              </c:strCache>
            </c:strRef>
          </c:cat>
          <c:val>
            <c:numRef>
              <c:f>Sheet1!$B$2:$B$10</c:f>
              <c:numCache>
                <c:formatCode>General</c:formatCode>
                <c:ptCount val="9"/>
                <c:pt idx="0">
                  <c:v>22806</c:v>
                </c:pt>
                <c:pt idx="1">
                  <c:v>251087</c:v>
                </c:pt>
                <c:pt idx="2">
                  <c:v>62145</c:v>
                </c:pt>
                <c:pt idx="3">
                  <c:v>136566</c:v>
                </c:pt>
                <c:pt idx="4">
                  <c:v>66101</c:v>
                </c:pt>
                <c:pt idx="5">
                  <c:v>125511</c:v>
                </c:pt>
                <c:pt idx="6">
                  <c:v>2172</c:v>
                </c:pt>
                <c:pt idx="7">
                  <c:v>4356</c:v>
                </c:pt>
                <c:pt idx="8">
                  <c:v>46545</c:v>
                </c:pt>
              </c:numCache>
            </c:numRef>
          </c:val>
        </c:ser>
        <c:ser>
          <c:idx val="1"/>
          <c:order val="1"/>
          <c:tx>
            <c:strRef>
              <c:f>Sheet1!$C$1</c:f>
              <c:strCache>
                <c:ptCount val="1"/>
                <c:pt idx="0">
                  <c:v>Mes Actual</c:v>
                </c:pt>
              </c:strCache>
            </c:strRef>
          </c:tx>
          <c:spPr>
            <a:solidFill>
              <a:srgbClr val="9F2241"/>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Agricultura, Ganaderia, Silvicultura, Pesca y Caza</c:v>
                </c:pt>
                <c:pt idx="1">
                  <c:v>Industrias de la Transformación</c:v>
                </c:pt>
                <c:pt idx="2">
                  <c:v>Industria de la Construcción</c:v>
                </c:pt>
                <c:pt idx="3">
                  <c:v>Servicios para Empresas, Personas y el Hogar</c:v>
                </c:pt>
                <c:pt idx="4">
                  <c:v>Servicios Sociales y Comunales</c:v>
                </c:pt>
                <c:pt idx="5">
                  <c:v>Comercio</c:v>
                </c:pt>
                <c:pt idx="6">
                  <c:v>Industrias Extractivas</c:v>
                </c:pt>
                <c:pt idx="7">
                  <c:v>Ind Eléctrica y Captación y Suministro de Agua Potable</c:v>
                </c:pt>
                <c:pt idx="8">
                  <c:v>Transportes y Comunicaciones</c:v>
                </c:pt>
              </c:strCache>
            </c:strRef>
          </c:cat>
          <c:val>
            <c:numRef>
              <c:f>Sheet1!$C$2:$C$10</c:f>
              <c:numCache>
                <c:formatCode>General</c:formatCode>
                <c:ptCount val="9"/>
                <c:pt idx="0">
                  <c:v>21112</c:v>
                </c:pt>
                <c:pt idx="1">
                  <c:v>247597</c:v>
                </c:pt>
                <c:pt idx="2">
                  <c:v>61842</c:v>
                </c:pt>
                <c:pt idx="3">
                  <c:v>138883</c:v>
                </c:pt>
                <c:pt idx="4">
                  <c:v>67494</c:v>
                </c:pt>
                <c:pt idx="5">
                  <c:v>129172</c:v>
                </c:pt>
                <c:pt idx="6">
                  <c:v>2287</c:v>
                </c:pt>
                <c:pt idx="7">
                  <c:v>4761</c:v>
                </c:pt>
                <c:pt idx="8">
                  <c:v>51121</c:v>
                </c:pt>
              </c:numCache>
            </c:numRef>
          </c:val>
        </c:ser>
        <c:gapWidth val="50"/>
        <c:axId val="-2068027336"/>
        <c:axId val="-2113994440"/>
      </c:barChart>
      <c:catAx>
        <c:axId val="-2068027336"/>
        <c:scaling>
          <c:orientation val="maxMin"/>
        </c:scaling>
        <c:delete val="0"/>
        <c:axPos val="l"/>
        <c:majorTickMark val="out"/>
        <c:minorTickMark val="none"/>
        <c:tickLblPos val="nextTo"/>
        <c:txPr>
          <a:bodyPr/>
          <a:lstStyle/>
          <a:p>
            <a:pPr>
              <a:defRPr sz="700" b="1">
                <a:solidFill>
                  <a:srgbClr val="000000"/>
                </a:solidFill>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c:v>
                </c:pt>
              </c:strCache>
            </c:strRef>
          </c:tx>
          <c:spPr>
            <a:solidFill>
              <a:srgbClr val="006455"/>
            </a:solidFill>
          </c:spPr>
          <c:dLbls>
            <c:numFmt formatCode="#,##0" sourceLinked="0"/>
            <c:txPr>
              <a:bodyPr/>
              <a:lstStyle/>
              <a:p>
                <a:pPr>
                  <a:defRPr sz="1000" b="1">
                    <a:solidFill>
                      <a:srgbClr val="006455"/>
                    </a:solidFill>
                    <a:latin typeface="Montserrat"/>
                  </a:defRPr>
                </a:pPr>
              </a:p>
            </c:txPr>
            <c:showLegendKey val="0"/>
            <c:showVal val="1"/>
            <c:showCatName val="0"/>
            <c:showSerName val="0"/>
            <c:showPercent val="0"/>
            <c:showBubbleSize val="0"/>
            <c:showLeaderLines val="1"/>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567605</c:v>
                </c:pt>
                <c:pt idx="1">
                  <c:v>602636</c:v>
                </c:pt>
                <c:pt idx="2">
                  <c:v>591189</c:v>
                </c:pt>
                <c:pt idx="3">
                  <c:v>614757</c:v>
                </c:pt>
                <c:pt idx="4">
                  <c:v>646893</c:v>
                </c:pt>
                <c:pt idx="5">
                  <c:v>682969</c:v>
                </c:pt>
                <c:pt idx="6">
                  <c:v>709405</c:v>
                </c:pt>
                <c:pt idx="7">
                  <c:v>717289</c:v>
                </c:pt>
                <c:pt idx="8">
                  <c:v>724269</c:v>
                </c:pt>
              </c:numCache>
            </c:numRef>
          </c:val>
        </c:ser>
        <c:gapWidth val="5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20</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99F6AE50-7516-062A-8150-10B1F45D6F28}"/>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9480E368-56B1-0B8B-C173-5B48C9CF4D30}"/>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1B9C63BB-C6A9-A587-325E-C12C2D94C1F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A359AA88-700C-9A17-FB2E-8A8735D21CF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679420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chart" Target="../charts/chart1.xml"/><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2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chart" Target="../charts/char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3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chart" Target="../charts/char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21.png"/><Relationship Id="rId5" Type="http://schemas.openxmlformats.org/officeDocument/2006/relationships/chart" Target="../charts/char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Querétaro</a:t>
            </a:r>
          </a:p>
        </p:txBody>
      </p:sp>
      <p:sp>
        <p:nvSpPr>
          <p:cNvPr id="70" name="TextBox 69"/>
          <p:cNvSpPr txBox="1"/>
          <p:nvPr/>
        </p:nvSpPr>
        <p:spPr>
          <a:xfrm>
            <a:off x="0" y="5472000"/>
            <a:ext cx="7772400" cy="554400"/>
          </a:xfrm>
          <a:prstGeom prst="rect">
            <a:avLst/>
          </a:prstGeom>
          <a:noFill/>
        </p:spPr>
        <p:txBody>
          <a:bodyPr wrap="none">
            <a:spAutoFit/>
          </a:bodyPr>
          <a:lstStyle/>
          <a:p>
            <a:pPr algn="ctr">
              <a:defRPr sz="1500" b="0">
                <a:solidFill>
                  <a:srgbClr val="7F7F7F"/>
                </a:solidFill>
                <a:latin typeface="Montserrat"/>
              </a:defRPr>
            </a:pPr>
            <a:r>
              <a:t>Ficha Estatal</a:t>
            </a:r>
          </a:p>
          <a:p>
            <a:pPr algn="ctr">
              <a:defRPr sz="1500" b="1">
                <a:solidFill>
                  <a:srgbClr val="7F7F7F"/>
                </a:solidFill>
                <a:latin typeface="Montserrat"/>
              </a:defRPr>
            </a:pPr>
            <a:r>
              <a:t>Mayo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2_Querétaro.png"/>
          <p:cNvPicPr>
            <a:picLocks noChangeAspect="1"/>
          </p:cNvPicPr>
          <p:nvPr/>
        </p:nvPicPr>
        <p:blipFill>
          <a:blip r:embed="rId2"/>
          <a:stretch>
            <a:fillRect/>
          </a:stretch>
        </p:blipFill>
        <p:spPr>
          <a:xfrm>
            <a:off x="0" y="799200"/>
            <a:ext cx="7793999" cy="8067600"/>
          </a:xfrm>
          <a:prstGeom prst="rect">
            <a:avLst/>
          </a:prstGeom>
        </p:spPr>
      </p:pic>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Tree>
    <p:extLst>
      <p:ext uri="{BB962C8B-B14F-4D97-AF65-F5344CB8AC3E}">
        <p14:creationId xmlns:p14="http://schemas.microsoft.com/office/powerpoint/2010/main" val="37637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Independientes</a:t>
            </a:r>
            <a:endParaRPr sz="700" b="1" i="0" u="none" strike="noStrike" cap="none" dirty="0">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61% de la población</a:t>
            </a:r>
          </a:p>
        </p:txBody>
      </p:sp>
      <p:cxnSp>
        <p:nvCxnSpPr>
          <p:cNvPr id="115" name="Connector 114"/>
          <p:cNvCxnSpPr/>
          <p:nvPr/>
        </p:nvCxnSpPr>
        <p:spPr>
          <a:xfrm>
            <a:off x="0" y="9684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82800" y="4622400"/>
            <a:ext cx="5864400" cy="360000"/>
          </a:xfrm>
          <a:prstGeom prst="rect">
            <a:avLst/>
          </a:prstGeom>
          <a:noFill/>
        </p:spPr>
        <p:txBody>
          <a:bodyPr wrap="square">
            <a:spAutoFit/>
          </a:bodyPr>
          <a:lstStyle/>
          <a:p>
            <a:pPr algn="l">
              <a:defRPr sz="800">
                <a:solidFill>
                  <a:srgbClr val="000000"/>
                </a:solidFill>
                <a:latin typeface="Montserrat"/>
              </a:defRPr>
            </a:pPr>
            <a:r>
              <a:t>Fuente: CONAPO, proyección a enero de 2026.</a:t>
            </a:r>
          </a:p>
        </p:txBody>
      </p:sp>
      <p:graphicFrame>
        <p:nvGraphicFramePr>
          <p:cNvPr id="117" name="Chart 116"/>
          <p:cNvGraphicFramePr>
            <a:graphicFrameLocks noGrp="1"/>
          </p:cNvGraphicFramePr>
          <p:nvPr/>
        </p:nvGraphicFramePr>
        <p:xfrm>
          <a:off x="2268000" y="1116000"/>
          <a:ext cx="3240000" cy="3240000"/>
        </p:xfrm>
        <a:graphic>
          <a:graphicData uri="http://schemas.openxmlformats.org/drawingml/2006/chart">
            <c:chart xmlns:c="http://schemas.openxmlformats.org/drawingml/2006/chart" r:id="rId5"/>
          </a:graphicData>
        </a:graphic>
      </p:graphicFrame>
      <p:sp>
        <p:nvSpPr>
          <p:cNvPr id="118" name="TextBox 117"/>
          <p:cNvSpPr txBox="1"/>
          <p:nvPr/>
        </p:nvSpPr>
        <p:spPr>
          <a:xfrm>
            <a:off x="6552000" y="1465200"/>
            <a:ext cx="1188000" cy="503999"/>
          </a:xfrm>
          <a:prstGeom prst="rect">
            <a:avLst/>
          </a:prstGeom>
          <a:noFill/>
        </p:spPr>
        <p:txBody>
          <a:bodyPr wrap="none"/>
          <a:lstStyle/>
          <a:p>
            <a:pPr algn="l">
              <a:defRPr sz="1400" b="1">
                <a:solidFill>
                  <a:srgbClr val="595959"/>
                </a:solidFill>
                <a:latin typeface="Montserrat"/>
              </a:defRPr>
            </a:pPr>
            <a:r>
              <a:t>1,644,260</a:t>
            </a:r>
            <a:br/>
            <a:r>
              <a:t>61%</a:t>
            </a:r>
          </a:p>
        </p:txBody>
      </p:sp>
      <p:pic>
        <p:nvPicPr>
          <p:cNvPr id="119" name="Picture 118" descr="imss.png"/>
          <p:cNvPicPr>
            <a:picLocks noChangeAspect="1"/>
          </p:cNvPicPr>
          <p:nvPr/>
        </p:nvPicPr>
        <p:blipFill>
          <a:blip r:embed="rId6"/>
          <a:stretch>
            <a:fillRect/>
          </a:stretch>
        </p:blipFill>
        <p:spPr>
          <a:xfrm>
            <a:off x="6213600" y="1461599"/>
            <a:ext cx="377265" cy="468000"/>
          </a:xfrm>
          <a:prstGeom prst="rect">
            <a:avLst/>
          </a:prstGeom>
        </p:spPr>
      </p:pic>
      <p:sp>
        <p:nvSpPr>
          <p:cNvPr id="120" name="Rectangle 119"/>
          <p:cNvSpPr/>
          <p:nvPr/>
        </p:nvSpPr>
        <p:spPr>
          <a:xfrm>
            <a:off x="5868000" y="1634400"/>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552000" y="3754800"/>
            <a:ext cx="1188000" cy="503999"/>
          </a:xfrm>
          <a:prstGeom prst="rect">
            <a:avLst/>
          </a:prstGeom>
          <a:noFill/>
        </p:spPr>
        <p:txBody>
          <a:bodyPr wrap="none"/>
          <a:lstStyle/>
          <a:p>
            <a:pPr algn="l">
              <a:defRPr sz="1400" b="1">
                <a:solidFill>
                  <a:srgbClr val="595959"/>
                </a:solidFill>
                <a:latin typeface="Montserrat"/>
              </a:defRPr>
            </a:pPr>
            <a:r>
              <a:t>191,529</a:t>
            </a:r>
            <a:br/>
            <a:r>
              <a:t>7%</a:t>
            </a:r>
          </a:p>
        </p:txBody>
      </p:sp>
      <p:pic>
        <p:nvPicPr>
          <p:cNvPr id="122" name="Picture 121" descr="issste.png"/>
          <p:cNvPicPr>
            <a:picLocks noChangeAspect="1"/>
          </p:cNvPicPr>
          <p:nvPr/>
        </p:nvPicPr>
        <p:blipFill>
          <a:blip r:embed="rId7"/>
          <a:stretch>
            <a:fillRect/>
          </a:stretch>
        </p:blipFill>
        <p:spPr>
          <a:xfrm>
            <a:off x="5151600" y="3798000"/>
            <a:ext cx="1437091" cy="468000"/>
          </a:xfrm>
          <a:prstGeom prst="rect">
            <a:avLst/>
          </a:prstGeom>
        </p:spPr>
      </p:pic>
      <p:sp>
        <p:nvSpPr>
          <p:cNvPr id="123" name="Rectangle 122"/>
          <p:cNvSpPr/>
          <p:nvPr/>
        </p:nvSpPr>
        <p:spPr>
          <a:xfrm>
            <a:off x="4942800" y="3978000"/>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7200" y="3254399"/>
            <a:ext cx="1188000" cy="503999"/>
          </a:xfrm>
          <a:prstGeom prst="rect">
            <a:avLst/>
          </a:prstGeom>
          <a:noFill/>
        </p:spPr>
        <p:txBody>
          <a:bodyPr wrap="none"/>
          <a:lstStyle/>
          <a:p>
            <a:pPr algn="r">
              <a:defRPr sz="1400" b="1">
                <a:solidFill>
                  <a:srgbClr val="595959"/>
                </a:solidFill>
                <a:latin typeface="Montserrat"/>
              </a:defRPr>
            </a:pPr>
            <a:r>
              <a:t>853,093</a:t>
            </a:r>
            <a:br/>
            <a:r>
              <a:t>32%</a:t>
            </a:r>
          </a:p>
        </p:txBody>
      </p:sp>
      <p:pic>
        <p:nvPicPr>
          <p:cNvPr id="125" name="Picture 124" descr="22.png"/>
          <p:cNvPicPr>
            <a:picLocks noChangeAspect="1"/>
          </p:cNvPicPr>
          <p:nvPr/>
        </p:nvPicPr>
        <p:blipFill>
          <a:blip r:embed="rId8"/>
          <a:stretch>
            <a:fillRect/>
          </a:stretch>
        </p:blipFill>
        <p:spPr>
          <a:xfrm>
            <a:off x="1220400" y="3290400"/>
            <a:ext cx="1393116" cy="468000"/>
          </a:xfrm>
          <a:prstGeom prst="rect">
            <a:avLst/>
          </a:prstGeom>
        </p:spPr>
      </p:pic>
      <p:sp>
        <p:nvSpPr>
          <p:cNvPr id="126" name="Rectangle 125"/>
          <p:cNvSpPr/>
          <p:nvPr/>
        </p:nvSpPr>
        <p:spPr>
          <a:xfrm>
            <a:off x="75600" y="3463199"/>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200" y="1782000"/>
            <a:ext cx="1188000" cy="503999"/>
          </a:xfrm>
          <a:prstGeom prst="rect">
            <a:avLst/>
          </a:prstGeom>
          <a:noFill/>
        </p:spPr>
        <p:txBody>
          <a:bodyPr wrap="none"/>
          <a:lstStyle/>
          <a:p>
            <a:pPr algn="r">
              <a:defRPr sz="1400" b="1">
                <a:solidFill>
                  <a:srgbClr val="595959"/>
                </a:solidFill>
                <a:latin typeface="Montserrat"/>
              </a:defRPr>
            </a:pPr>
            <a:r>
              <a:t>Otros</a:t>
            </a:r>
            <a:br/>
            <a:r>
              <a:t>12,096</a:t>
            </a:r>
            <a:br/>
            <a:r>
              <a:t>0.45%</a:t>
            </a:r>
          </a:p>
        </p:txBody>
      </p:sp>
      <p:pic>
        <p:nvPicPr>
          <p:cNvPr id="128" name="Picture 127" descr="otros.png"/>
          <p:cNvPicPr>
            <a:picLocks noChangeAspect="1"/>
          </p:cNvPicPr>
          <p:nvPr/>
        </p:nvPicPr>
        <p:blipFill>
          <a:blip r:embed="rId9"/>
          <a:stretch>
            <a:fillRect/>
          </a:stretch>
        </p:blipFill>
        <p:spPr>
          <a:xfrm>
            <a:off x="1220400" y="1800000"/>
            <a:ext cx="468000" cy="468000"/>
          </a:xfrm>
          <a:prstGeom prst="rect">
            <a:avLst/>
          </a:prstGeom>
        </p:spPr>
      </p:pic>
      <p:sp>
        <p:nvSpPr>
          <p:cNvPr id="129" name="Rectangle 128"/>
          <p:cNvSpPr/>
          <p:nvPr/>
        </p:nvSpPr>
        <p:spPr>
          <a:xfrm>
            <a:off x="75600" y="1868400"/>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2988000" y="2296800"/>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2,700,978</a:t>
            </a:r>
          </a:p>
        </p:txBody>
      </p:sp>
      <p:sp>
        <p:nvSpPr>
          <p:cNvPr id="131" name="TextBox 130"/>
          <p:cNvSpPr txBox="1"/>
          <p:nvPr/>
        </p:nvSpPr>
        <p:spPr>
          <a:xfrm>
            <a:off x="82800" y="8910000"/>
            <a:ext cx="5864400" cy="360000"/>
          </a:xfrm>
          <a:prstGeom prst="rect">
            <a:avLst/>
          </a:prstGeom>
          <a:noFill/>
        </p:spPr>
        <p:txBody>
          <a:bodyPr wrap="square">
            <a:spAutoFit/>
          </a:bodyPr>
          <a:lstStyle/>
          <a:p>
            <a:pPr algn="l">
              <a:defRPr sz="800">
                <a:solidFill>
                  <a:srgbClr val="000000"/>
                </a:solidFill>
                <a:latin typeface="Montserrat"/>
              </a:defRPr>
            </a:pPr>
            <a:r>
              <a:t>Fuente: Dirección de Incorporación y Recaudación. Corte abril de 2026.</a:t>
            </a:r>
          </a:p>
        </p:txBody>
      </p:sp>
      <p:sp>
        <p:nvSpPr>
          <p:cNvPr id="132" name="TextBox 131"/>
          <p:cNvSpPr txBox="1"/>
          <p:nvPr/>
        </p:nvSpPr>
        <p:spPr>
          <a:xfrm>
            <a:off x="82800" y="9090000"/>
            <a:ext cx="5864400" cy="360000"/>
          </a:xfrm>
          <a:prstGeom prst="rect">
            <a:avLst/>
          </a:prstGeom>
          <a:noFill/>
        </p:spPr>
        <p:txBody>
          <a:bodyPr wrap="square">
            <a:spAutoFit/>
          </a:bodyPr>
          <a:lstStyle/>
          <a:p>
            <a:pPr algn="l">
              <a:defRPr sz="800">
                <a:solidFill>
                  <a:srgbClr val="000000"/>
                </a:solidFill>
                <a:latin typeface="Montserrat"/>
              </a:defRPr>
            </a:pPr>
            <a:r>
              <a:t>¹ Se refiere a personas derechohabientes (titulares y familiares) adscritas a UMF.</a:t>
            </a:r>
          </a:p>
        </p:txBody>
      </p:sp>
      <p:sp>
        <p:nvSpPr>
          <p:cNvPr id="133" name="TextBox 132"/>
          <p:cNvSpPr txBox="1"/>
          <p:nvPr/>
        </p:nvSpPr>
        <p:spPr>
          <a:xfrm>
            <a:off x="82800" y="9270000"/>
            <a:ext cx="7653600" cy="360000"/>
          </a:xfrm>
          <a:prstGeom prst="rect">
            <a:avLst/>
          </a:prstGeom>
          <a:noFill/>
        </p:spPr>
        <p:txBody>
          <a:bodyPr wrap="square">
            <a:spAutoFit/>
          </a:bodyPr>
          <a:lstStyle/>
          <a:p>
            <a:pPr algn="l">
              <a:defRPr sz="800">
                <a:solidFill>
                  <a:srgbClr val="000000"/>
                </a:solidFill>
                <a:latin typeface="Montserrat"/>
              </a:defRPr>
            </a:pPr>
            <a:r>
              <a:t>² La afiliación al Seguro de Salud de Familia disminuye en virtud del incremento en los nuevos esquemas de aseguramiento.</a:t>
            </a:r>
          </a:p>
        </p:txBody>
      </p:sp>
      <p:graphicFrame>
        <p:nvGraphicFramePr>
          <p:cNvPr id="134" name="Table 133"/>
          <p:cNvGraphicFramePr>
            <a:graphicFrameLocks noGrp="1"/>
          </p:cNvGraphicFramePr>
          <p:nvPr/>
        </p:nvGraphicFramePr>
        <p:xfrm>
          <a:off x="313200" y="5270400"/>
          <a:ext cx="5364000" cy="3527986"/>
        </p:xfrm>
        <a:graphic>
          <a:graphicData uri="http://schemas.openxmlformats.org/drawingml/2006/table">
            <a:tbl>
              <a:tblPr firstRow="1" bandRow="1">
                <a:tableStyleId>{5C22544A-7EE6-4342-B048-85BDC9FD1C3A}</a:tableStyleId>
              </a:tblPr>
              <a:tblGrid>
                <a:gridCol w="1792800"/>
                <a:gridCol w="1206000"/>
                <a:gridCol w="1206000"/>
                <a:gridCol w="1159200"/>
              </a:tblGrid>
              <a:tr h="251999">
                <a:tc>
                  <a:txBody>
                    <a:bodyPr/>
                    <a:lstStyle/>
                    <a:p>
                      <a:pPr algn="ctr">
                        <a:defRPr b="1" sz="900">
                          <a:solidFill>
                            <a:srgbClr val="FFFFFF"/>
                          </a:solidFill>
                          <a:latin typeface="Montserrat"/>
                        </a:defRPr>
                      </a:pPr>
                      <a:r>
                        <a:t>Categoría</a:t>
                      </a:r>
                    </a:p>
                  </a:txBody>
                  <a:tcPr>
                    <a:solidFill>
                      <a:srgbClr val="006455"/>
                    </a:solidFill>
                  </a:tcPr>
                </a:tc>
                <a:tc>
                  <a:txBody>
                    <a:bodyPr/>
                    <a:lstStyle/>
                    <a:p>
                      <a:pPr algn="ctr">
                        <a:defRPr b="1" sz="900">
                          <a:solidFill>
                            <a:srgbClr val="FFFFFF"/>
                          </a:solidFill>
                          <a:latin typeface="Montserrat"/>
                        </a:defRPr>
                      </a:pPr>
                      <a:r>
                        <a:t>2018</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a:txBody>
                    <a:bodyPr/>
                    <a:lstStyle/>
                    <a:p>
                      <a:pPr algn="ctr">
                        <a:defRPr b="1" sz="900">
                          <a:solidFill>
                            <a:srgbClr val="FFFFFF"/>
                          </a:solidFill>
                          <a:latin typeface="Montserrat"/>
                        </a:defRPr>
                      </a:pPr>
                      <a:r>
                        <a:t>Variación</a:t>
                      </a:r>
                    </a:p>
                  </a:txBody>
                  <a:tcPr>
                    <a:solidFill>
                      <a:srgbClr val="006455"/>
                    </a:solidFill>
                  </a:tcPr>
                </a:tc>
              </a:tr>
              <a:tr h="251999">
                <a:tc>
                  <a:txBody>
                    <a:bodyPr/>
                    <a:lstStyle/>
                    <a:p>
                      <a:pPr algn="l">
                        <a:defRPr sz="900" b="1">
                          <a:solidFill>
                            <a:srgbClr val="FFFFFF"/>
                          </a:solidFill>
                          <a:latin typeface="Montserrat"/>
                        </a:defRPr>
                      </a:pPr>
                      <a:r>
                        <a:t>PDA¹</a:t>
                      </a:r>
                    </a:p>
                  </a:txBody>
                  <a:tcPr>
                    <a:solidFill>
                      <a:srgbClr val="9F2241"/>
                    </a:solidFill>
                  </a:tcPr>
                </a:tc>
                <a:tc>
                  <a:txBody>
                    <a:bodyPr/>
                    <a:lstStyle/>
                    <a:p>
                      <a:pPr algn="ctr">
                        <a:defRPr sz="900" b="1">
                          <a:solidFill>
                            <a:srgbClr val="000000"/>
                          </a:solidFill>
                          <a:latin typeface="Montserrat"/>
                        </a:defRPr>
                      </a:pPr>
                      <a:r>
                        <a:t>1,371,919</a:t>
                      </a:r>
                    </a:p>
                  </a:txBody>
                  <a:tcPr>
                    <a:solidFill>
                      <a:srgbClr val="EBD2D9"/>
                    </a:solidFill>
                  </a:tcPr>
                </a:tc>
                <a:tc>
                  <a:txBody>
                    <a:bodyPr/>
                    <a:lstStyle/>
                    <a:p>
                      <a:pPr algn="ctr">
                        <a:defRPr sz="900" b="1">
                          <a:solidFill>
                            <a:srgbClr val="000000"/>
                          </a:solidFill>
                          <a:latin typeface="Montserrat"/>
                        </a:defRPr>
                      </a:pPr>
                      <a:r>
                        <a:t>1,644,260</a:t>
                      </a:r>
                    </a:p>
                  </a:txBody>
                  <a:tcPr>
                    <a:solidFill>
                      <a:srgbClr val="EBD2D9"/>
                    </a:solidFill>
                  </a:tcPr>
                </a:tc>
                <a:tc>
                  <a:txBody>
                    <a:bodyPr/>
                    <a:lstStyle/>
                    <a:p>
                      <a:pPr algn="ctr">
                        <a:defRPr sz="900" b="1">
                          <a:solidFill>
                            <a:srgbClr val="000000"/>
                          </a:solidFill>
                          <a:latin typeface="Montserrat"/>
                        </a:defRPr>
                      </a:pPr>
                      <a:r>
                        <a:t>20%</a:t>
                      </a:r>
                    </a:p>
                  </a:txBody>
                  <a:tcPr>
                    <a:solidFill>
                      <a:srgbClr val="EBD2D9"/>
                    </a:solidFill>
                  </a:tcPr>
                </a:tc>
              </a:tr>
              <a:tr h="251999">
                <a:tc>
                  <a:txBody>
                    <a:bodyPr/>
                    <a:lstStyle/>
                    <a:p>
                      <a:pPr algn="l">
                        <a:defRPr sz="900" b="1">
                          <a:solidFill>
                            <a:srgbClr val="FFFFFF"/>
                          </a:solidFill>
                          <a:latin typeface="Montserrat"/>
                        </a:defRPr>
                      </a:pPr>
                      <a:r>
                        <a:t>Titulares</a:t>
                      </a:r>
                    </a:p>
                  </a:txBody>
                  <a:tcPr>
                    <a:solidFill>
                      <a:srgbClr val="9F2241"/>
                    </a:solidFill>
                  </a:tcPr>
                </a:tc>
                <a:tc>
                  <a:txBody>
                    <a:bodyPr/>
                    <a:lstStyle/>
                    <a:p>
                      <a:pPr algn="ctr">
                        <a:defRPr sz="900" b="1">
                          <a:solidFill>
                            <a:srgbClr val="000000"/>
                          </a:solidFill>
                          <a:latin typeface="Montserrat"/>
                        </a:defRPr>
                      </a:pPr>
                      <a:r>
                        <a:t>797,662</a:t>
                      </a:r>
                    </a:p>
                  </a:txBody>
                  <a:tcPr>
                    <a:solidFill>
                      <a:srgbClr val="EBD2D9"/>
                    </a:solidFill>
                  </a:tcPr>
                </a:tc>
                <a:tc>
                  <a:txBody>
                    <a:bodyPr/>
                    <a:lstStyle/>
                    <a:p>
                      <a:pPr algn="ctr">
                        <a:defRPr sz="900" b="1">
                          <a:solidFill>
                            <a:srgbClr val="000000"/>
                          </a:solidFill>
                          <a:latin typeface="Montserrat"/>
                        </a:defRPr>
                      </a:pPr>
                      <a:r>
                        <a:t>1,005,466</a:t>
                      </a:r>
                    </a:p>
                  </a:txBody>
                  <a:tcPr>
                    <a:solidFill>
                      <a:srgbClr val="EBD2D9"/>
                    </a:solidFill>
                  </a:tcPr>
                </a:tc>
                <a:tc>
                  <a:txBody>
                    <a:bodyPr/>
                    <a:lstStyle/>
                    <a:p>
                      <a:pPr algn="ctr">
                        <a:defRPr sz="900" b="1">
                          <a:solidFill>
                            <a:srgbClr val="000000"/>
                          </a:solidFill>
                          <a:latin typeface="Montserrat"/>
                        </a:defRPr>
                      </a:pPr>
                      <a:r>
                        <a:t>26%</a:t>
                      </a:r>
                    </a:p>
                  </a:txBody>
                  <a:tcPr>
                    <a:solidFill>
                      <a:srgbClr val="EBD2D9"/>
                    </a:solidFill>
                  </a:tcPr>
                </a:tc>
              </a:tr>
              <a:tr h="251999">
                <a:tc>
                  <a:txBody>
                    <a:bodyPr/>
                    <a:lstStyle/>
                    <a:p>
                      <a:pPr algn="l">
                        <a:defRPr sz="900" b="1">
                          <a:solidFill>
                            <a:srgbClr val="000000"/>
                          </a:solidFill>
                          <a:latin typeface="Montserrat"/>
                        </a:defRPr>
                      </a:pPr>
                      <a:r>
                        <a:t>Puestos de trabajo</a:t>
                      </a:r>
                    </a:p>
                  </a:txBody>
                  <a:tcPr>
                    <a:solidFill>
                      <a:srgbClr val="DDC9A3"/>
                    </a:solidFill>
                  </a:tcPr>
                </a:tc>
                <a:tc>
                  <a:txBody>
                    <a:bodyPr/>
                    <a:lstStyle/>
                    <a:p>
                      <a:pPr algn="ctr">
                        <a:defRPr sz="900" b="1">
                          <a:solidFill>
                            <a:srgbClr val="000000"/>
                          </a:solidFill>
                          <a:latin typeface="Montserrat"/>
                        </a:defRPr>
                      </a:pPr>
                      <a:r>
                        <a:t>576,858</a:t>
                      </a:r>
                    </a:p>
                  </a:txBody>
                  <a:tcPr>
                    <a:solidFill>
                      <a:srgbClr val="F8F4EC"/>
                    </a:solidFill>
                  </a:tcPr>
                </a:tc>
                <a:tc>
                  <a:txBody>
                    <a:bodyPr/>
                    <a:lstStyle/>
                    <a:p>
                      <a:pPr algn="ctr">
                        <a:defRPr sz="900" b="1">
                          <a:solidFill>
                            <a:srgbClr val="000000"/>
                          </a:solidFill>
                          <a:latin typeface="Montserrat"/>
                        </a:defRPr>
                      </a:pPr>
                      <a:r>
                        <a:t>724,269</a:t>
                      </a:r>
                    </a:p>
                  </a:txBody>
                  <a:tcPr>
                    <a:solidFill>
                      <a:srgbClr val="F8F4EC"/>
                    </a:solidFill>
                  </a:tcPr>
                </a:tc>
                <a:tc>
                  <a:txBody>
                    <a:bodyPr/>
                    <a:lstStyle/>
                    <a:p>
                      <a:pPr algn="ctr">
                        <a:defRPr sz="900" b="1">
                          <a:solidFill>
                            <a:srgbClr val="000000"/>
                          </a:solidFill>
                          <a:latin typeface="Montserrat"/>
                        </a:defRPr>
                      </a:pPr>
                      <a:r>
                        <a:t>26%</a:t>
                      </a:r>
                    </a:p>
                  </a:txBody>
                  <a:tcPr>
                    <a:solidFill>
                      <a:srgbClr val="F8F4EC"/>
                    </a:solidFill>
                  </a:tcPr>
                </a:tc>
              </a:tr>
              <a:tr h="251999">
                <a:tc>
                  <a:txBody>
                    <a:bodyPr/>
                    <a:lstStyle/>
                    <a:p>
                      <a:pPr algn="l" lvl="1">
                        <a:defRPr sz="900">
                          <a:solidFill>
                            <a:srgbClr val="000000"/>
                          </a:solidFill>
                          <a:latin typeface="Montserrat"/>
                        </a:defRPr>
                      </a:pPr>
                      <a:r>
                        <a:t>Pensionados</a:t>
                      </a:r>
                    </a:p>
                  </a:txBody>
                  <a:tcPr>
                    <a:solidFill>
                      <a:srgbClr val="FFFFFF"/>
                    </a:solidFill>
                  </a:tcPr>
                </a:tc>
                <a:tc>
                  <a:txBody>
                    <a:bodyPr/>
                    <a:lstStyle/>
                    <a:p>
                      <a:pPr algn="ctr">
                        <a:defRPr sz="900">
                          <a:solidFill>
                            <a:srgbClr val="000000"/>
                          </a:solidFill>
                          <a:latin typeface="Montserrat"/>
                        </a:defRPr>
                      </a:pPr>
                      <a:r>
                        <a:t>74,840</a:t>
                      </a:r>
                    </a:p>
                  </a:txBody>
                  <a:tcPr>
                    <a:solidFill>
                      <a:srgbClr val="FFFFFF"/>
                    </a:solidFill>
                  </a:tcPr>
                </a:tc>
                <a:tc>
                  <a:txBody>
                    <a:bodyPr/>
                    <a:lstStyle/>
                    <a:p>
                      <a:pPr algn="ctr">
                        <a:defRPr sz="900">
                          <a:solidFill>
                            <a:srgbClr val="000000"/>
                          </a:solidFill>
                          <a:latin typeface="Montserrat"/>
                        </a:defRPr>
                      </a:pPr>
                      <a:r>
                        <a:t>134,003</a:t>
                      </a:r>
                    </a:p>
                  </a:txBody>
                  <a:tcPr>
                    <a:solidFill>
                      <a:srgbClr val="FFFFFF"/>
                    </a:solidFill>
                  </a:tcPr>
                </a:tc>
                <a:tc>
                  <a:txBody>
                    <a:bodyPr/>
                    <a:lstStyle/>
                    <a:p>
                      <a:pPr algn="ctr">
                        <a:defRPr sz="900">
                          <a:solidFill>
                            <a:srgbClr val="000000"/>
                          </a:solidFill>
                          <a:latin typeface="Montserrat"/>
                        </a:defRPr>
                      </a:pPr>
                      <a:r>
                        <a:t>79%</a:t>
                      </a:r>
                    </a:p>
                  </a:txBody>
                  <a:tcPr>
                    <a:solidFill>
                      <a:srgbClr val="FFFFFF"/>
                    </a:solidFill>
                  </a:tcPr>
                </a:tc>
              </a:tr>
              <a:tr h="251999">
                <a:tc>
                  <a:txBody>
                    <a:bodyPr/>
                    <a:lstStyle/>
                    <a:p>
                      <a:pPr algn="l" lvl="1">
                        <a:defRPr sz="900">
                          <a:solidFill>
                            <a:srgbClr val="000000"/>
                          </a:solidFill>
                          <a:latin typeface="Montserrat"/>
                        </a:defRPr>
                      </a:pPr>
                      <a:r>
                        <a:t>Conservación de derechos</a:t>
                      </a:r>
                    </a:p>
                  </a:txBody>
                  <a:tcPr>
                    <a:solidFill>
                      <a:srgbClr val="FFFFFF"/>
                    </a:solidFill>
                  </a:tcPr>
                </a:tc>
                <a:tc>
                  <a:txBody>
                    <a:bodyPr/>
                    <a:lstStyle/>
                    <a:p>
                      <a:pPr algn="ctr">
                        <a:defRPr sz="900">
                          <a:solidFill>
                            <a:srgbClr val="000000"/>
                          </a:solidFill>
                          <a:latin typeface="Montserrat"/>
                        </a:defRPr>
                      </a:pPr>
                      <a:r>
                        <a:t>17,399</a:t>
                      </a:r>
                    </a:p>
                  </a:txBody>
                  <a:tcPr>
                    <a:solidFill>
                      <a:srgbClr val="FFFFFF"/>
                    </a:solidFill>
                  </a:tcPr>
                </a:tc>
                <a:tc>
                  <a:txBody>
                    <a:bodyPr/>
                    <a:lstStyle/>
                    <a:p>
                      <a:pPr algn="ctr">
                        <a:defRPr sz="900">
                          <a:solidFill>
                            <a:srgbClr val="000000"/>
                          </a:solidFill>
                          <a:latin typeface="Montserrat"/>
                        </a:defRPr>
                      </a:pPr>
                      <a:r>
                        <a:t>21,133</a:t>
                      </a:r>
                    </a:p>
                  </a:txBody>
                  <a:tcPr>
                    <a:solidFill>
                      <a:srgbClr val="FFFFFF"/>
                    </a:solidFill>
                  </a:tcPr>
                </a:tc>
                <a:tc>
                  <a:txBody>
                    <a:bodyPr/>
                    <a:lstStyle/>
                    <a:p>
                      <a:pPr algn="ctr">
                        <a:defRPr sz="900">
                          <a:solidFill>
                            <a:srgbClr val="000000"/>
                          </a:solidFill>
                          <a:latin typeface="Montserrat"/>
                        </a:defRPr>
                      </a:pPr>
                      <a:r>
                        <a:t>21%</a:t>
                      </a:r>
                    </a:p>
                  </a:txBody>
                  <a:tcPr>
                    <a:solidFill>
                      <a:srgbClr val="FFFFFF"/>
                    </a:solidFill>
                  </a:tcPr>
                </a:tc>
              </a:tr>
              <a:tr h="251999">
                <a:tc>
                  <a:txBody>
                    <a:bodyPr/>
                    <a:lstStyle/>
                    <a:p>
                      <a:pPr algn="l">
                        <a:defRPr sz="900" b="1">
                          <a:solidFill>
                            <a:srgbClr val="FFFFFF"/>
                          </a:solidFill>
                          <a:latin typeface="Montserrat"/>
                        </a:defRPr>
                      </a:pPr>
                      <a:r>
                        <a:t>Sin empleo asociado</a:t>
                      </a:r>
                    </a:p>
                  </a:txBody>
                  <a:tcPr>
                    <a:solidFill>
                      <a:srgbClr val="006455"/>
                    </a:solidFill>
                  </a:tcPr>
                </a:tc>
                <a:tc>
                  <a:txBody>
                    <a:bodyPr/>
                    <a:lstStyle/>
                    <a:p>
                      <a:pPr algn="ctr">
                        <a:defRPr sz="900" b="1">
                          <a:solidFill>
                            <a:srgbClr val="000000"/>
                          </a:solidFill>
                          <a:latin typeface="Montserrat"/>
                        </a:defRPr>
                      </a:pPr>
                      <a:r>
                        <a:t>128,565</a:t>
                      </a:r>
                    </a:p>
                  </a:txBody>
                  <a:tcPr>
                    <a:solidFill>
                      <a:srgbClr val="CCE0DD"/>
                    </a:solidFill>
                  </a:tcPr>
                </a:tc>
                <a:tc>
                  <a:txBody>
                    <a:bodyPr/>
                    <a:lstStyle/>
                    <a:p>
                      <a:pPr algn="ctr">
                        <a:defRPr sz="900" b="1">
                          <a:solidFill>
                            <a:srgbClr val="000000"/>
                          </a:solidFill>
                          <a:latin typeface="Montserrat"/>
                        </a:defRPr>
                      </a:pPr>
                      <a:r>
                        <a:t>184,339</a:t>
                      </a:r>
                    </a:p>
                  </a:txBody>
                  <a:tcPr>
                    <a:solidFill>
                      <a:srgbClr val="CCE0DD"/>
                    </a:solidFill>
                  </a:tcPr>
                </a:tc>
                <a:tc>
                  <a:txBody>
                    <a:bodyPr/>
                    <a:lstStyle/>
                    <a:p>
                      <a:pPr algn="ctr">
                        <a:defRPr sz="900" b="1">
                          <a:solidFill>
                            <a:srgbClr val="000000"/>
                          </a:solidFill>
                          <a:latin typeface="Montserrat"/>
                        </a:defRPr>
                      </a:pPr>
                      <a:r>
                        <a:t>43%</a:t>
                      </a:r>
                    </a:p>
                  </a:txBody>
                  <a:tcPr>
                    <a:solidFill>
                      <a:srgbClr val="CCE0DD"/>
                    </a:solidFill>
                  </a:tcPr>
                </a:tc>
              </a:tr>
              <a:tr h="251999">
                <a:tc>
                  <a:txBody>
                    <a:bodyPr/>
                    <a:lstStyle/>
                    <a:p>
                      <a:pPr algn="l" lvl="1">
                        <a:defRPr sz="900">
                          <a:solidFill>
                            <a:srgbClr val="000000"/>
                          </a:solidFill>
                          <a:latin typeface="Montserrat"/>
                        </a:defRPr>
                      </a:pPr>
                      <a:r>
                        <a:t>Estudiantes</a:t>
                      </a:r>
                    </a:p>
                  </a:txBody>
                  <a:tcPr>
                    <a:solidFill>
                      <a:srgbClr val="FFFFFF"/>
                    </a:solidFill>
                  </a:tcPr>
                </a:tc>
                <a:tc>
                  <a:txBody>
                    <a:bodyPr/>
                    <a:lstStyle/>
                    <a:p>
                      <a:pPr algn="ctr">
                        <a:defRPr sz="900">
                          <a:solidFill>
                            <a:srgbClr val="000000"/>
                          </a:solidFill>
                          <a:latin typeface="Montserrat"/>
                        </a:defRPr>
                      </a:pPr>
                      <a:r>
                        <a:t>119,676</a:t>
                      </a:r>
                    </a:p>
                  </a:txBody>
                  <a:tcPr>
                    <a:solidFill>
                      <a:srgbClr val="FFFFFF"/>
                    </a:solidFill>
                  </a:tcPr>
                </a:tc>
                <a:tc>
                  <a:txBody>
                    <a:bodyPr/>
                    <a:lstStyle/>
                    <a:p>
                      <a:pPr algn="ctr">
                        <a:defRPr sz="900">
                          <a:solidFill>
                            <a:srgbClr val="000000"/>
                          </a:solidFill>
                          <a:latin typeface="Montserrat"/>
                        </a:defRPr>
                      </a:pPr>
                      <a:r>
                        <a:t>173,194</a:t>
                      </a:r>
                    </a:p>
                  </a:txBody>
                  <a:tcPr>
                    <a:solidFill>
                      <a:srgbClr val="FFFFFF"/>
                    </a:solidFill>
                  </a:tcPr>
                </a:tc>
                <a:tc>
                  <a:txBody>
                    <a:bodyPr/>
                    <a:lstStyle/>
                    <a:p>
                      <a:pPr algn="ctr">
                        <a:defRPr sz="900">
                          <a:solidFill>
                            <a:srgbClr val="000000"/>
                          </a:solidFill>
                          <a:latin typeface="Montserrat"/>
                        </a:defRPr>
                      </a:pPr>
                      <a:r>
                        <a:t>45%</a:t>
                      </a:r>
                    </a:p>
                  </a:txBody>
                  <a:tcPr>
                    <a:solidFill>
                      <a:srgbClr val="FFFFFF"/>
                    </a:solidFill>
                  </a:tcPr>
                </a:tc>
              </a:tr>
              <a:tr h="251999">
                <a:tc>
                  <a:txBody>
                    <a:bodyPr/>
                    <a:lstStyle/>
                    <a:p>
                      <a:pPr algn="l" lvl="1">
                        <a:defRPr sz="900">
                          <a:solidFill>
                            <a:srgbClr val="000000"/>
                          </a:solidFill>
                          <a:latin typeface="Montserrat"/>
                        </a:defRPr>
                      </a:pPr>
                      <a:r>
                        <a:t>Seguro de Salud de Familia²</a:t>
                      </a:r>
                    </a:p>
                  </a:txBody>
                  <a:tcPr>
                    <a:solidFill>
                      <a:srgbClr val="FFFFFF"/>
                    </a:solidFill>
                  </a:tcPr>
                </a:tc>
                <a:tc>
                  <a:txBody>
                    <a:bodyPr/>
                    <a:lstStyle/>
                    <a:p>
                      <a:pPr algn="ctr">
                        <a:defRPr sz="900">
                          <a:solidFill>
                            <a:srgbClr val="000000"/>
                          </a:solidFill>
                          <a:latin typeface="Montserrat"/>
                        </a:defRPr>
                      </a:pPr>
                      <a:r>
                        <a:t>5,103</a:t>
                      </a:r>
                    </a:p>
                  </a:txBody>
                  <a:tcPr>
                    <a:solidFill>
                      <a:srgbClr val="FFFFFF"/>
                    </a:solidFill>
                  </a:tcPr>
                </a:tc>
                <a:tc>
                  <a:txBody>
                    <a:bodyPr/>
                    <a:lstStyle/>
                    <a:p>
                      <a:pPr algn="ctr">
                        <a:defRPr sz="900">
                          <a:solidFill>
                            <a:srgbClr val="000000"/>
                          </a:solidFill>
                          <a:latin typeface="Montserrat"/>
                        </a:defRPr>
                      </a:pPr>
                      <a:r>
                        <a:t>3,903</a:t>
                      </a:r>
                    </a:p>
                  </a:txBody>
                  <a:tcPr>
                    <a:solidFill>
                      <a:srgbClr val="FFFFFF"/>
                    </a:solidFill>
                  </a:tcPr>
                </a:tc>
                <a:tc>
                  <a:txBody>
                    <a:bodyPr/>
                    <a:lstStyle/>
                    <a:p>
                      <a:pPr algn="ctr">
                        <a:defRPr sz="900">
                          <a:solidFill>
                            <a:srgbClr val="000000"/>
                          </a:solidFill>
                          <a:latin typeface="Montserrat"/>
                        </a:defRPr>
                      </a:pPr>
                      <a:r>
                        <a:t>-24%</a:t>
                      </a:r>
                    </a:p>
                  </a:txBody>
                  <a:tcPr>
                    <a:solidFill>
                      <a:srgbClr val="FFFFFF"/>
                    </a:solidFill>
                  </a:tcPr>
                </a:tc>
              </a:tr>
              <a:tr h="251999">
                <a:tc>
                  <a:txBody>
                    <a:bodyPr/>
                    <a:lstStyle/>
                    <a:p>
                      <a:pPr algn="l" lvl="1">
                        <a:defRPr sz="900">
                          <a:solidFill>
                            <a:srgbClr val="000000"/>
                          </a:solidFill>
                          <a:latin typeface="Montserrat"/>
                        </a:defRPr>
                      </a:pPr>
                      <a:r>
                        <a:t>Continuación voluntaria</a:t>
                      </a:r>
                    </a:p>
                  </a:txBody>
                  <a:tcPr>
                    <a:solidFill>
                      <a:srgbClr val="FFFFFF"/>
                    </a:solidFill>
                  </a:tcPr>
                </a:tc>
                <a:tc>
                  <a:txBody>
                    <a:bodyPr/>
                    <a:lstStyle/>
                    <a:p>
                      <a:pPr algn="ctr">
                        <a:defRPr sz="900">
                          <a:solidFill>
                            <a:srgbClr val="000000"/>
                          </a:solidFill>
                          <a:latin typeface="Montserrat"/>
                        </a:defRPr>
                      </a:pPr>
                      <a:r>
                        <a:t>3,786</a:t>
                      </a:r>
                    </a:p>
                  </a:txBody>
                  <a:tcPr>
                    <a:solidFill>
                      <a:srgbClr val="FFFFFF"/>
                    </a:solidFill>
                  </a:tcPr>
                </a:tc>
                <a:tc>
                  <a:txBody>
                    <a:bodyPr/>
                    <a:lstStyle/>
                    <a:p>
                      <a:pPr algn="ctr">
                        <a:defRPr sz="900">
                          <a:solidFill>
                            <a:srgbClr val="000000"/>
                          </a:solidFill>
                          <a:latin typeface="Montserrat"/>
                        </a:defRPr>
                      </a:pPr>
                      <a:r>
                        <a:t>7,242</a:t>
                      </a:r>
                    </a:p>
                  </a:txBody>
                  <a:tcPr>
                    <a:solidFill>
                      <a:srgbClr val="FFFFFF"/>
                    </a:solidFill>
                  </a:tcPr>
                </a:tc>
                <a:tc>
                  <a:txBody>
                    <a:bodyPr/>
                    <a:lstStyle/>
                    <a:p>
                      <a:pPr algn="ctr">
                        <a:defRPr sz="900">
                          <a:solidFill>
                            <a:srgbClr val="000000"/>
                          </a:solidFill>
                          <a:latin typeface="Montserrat"/>
                        </a:defRPr>
                      </a:pPr>
                      <a:r>
                        <a:t>91%</a:t>
                      </a:r>
                    </a:p>
                  </a:txBody>
                  <a:tcPr>
                    <a:solidFill>
                      <a:srgbClr val="FFFFFF"/>
                    </a:solidFill>
                  </a:tcPr>
                </a:tc>
              </a:tr>
              <a:tr h="251999">
                <a:tc>
                  <a:txBody>
                    <a:bodyPr/>
                    <a:lstStyle/>
                    <a:p>
                      <a:pPr algn="l">
                        <a:defRPr sz="900" b="1">
                          <a:solidFill>
                            <a:srgbClr val="FFFFFF"/>
                          </a:solidFill>
                          <a:latin typeface="Montserrat"/>
                        </a:defRPr>
                      </a:pPr>
                      <a:r>
                        <a:t>Familiares</a:t>
                      </a:r>
                    </a:p>
                  </a:txBody>
                  <a:tcPr>
                    <a:solidFill>
                      <a:srgbClr val="9F2241"/>
                    </a:solidFill>
                  </a:tcPr>
                </a:tc>
                <a:tc>
                  <a:txBody>
                    <a:bodyPr/>
                    <a:lstStyle/>
                    <a:p>
                      <a:pPr algn="ctr">
                        <a:defRPr sz="900" b="1">
                          <a:solidFill>
                            <a:srgbClr val="000000"/>
                          </a:solidFill>
                          <a:latin typeface="Montserrat"/>
                        </a:defRPr>
                      </a:pPr>
                      <a:r>
                        <a:t>574,257</a:t>
                      </a:r>
                    </a:p>
                  </a:txBody>
                  <a:tcPr>
                    <a:solidFill>
                      <a:srgbClr val="EBD2D9"/>
                    </a:solidFill>
                  </a:tcPr>
                </a:tc>
                <a:tc>
                  <a:txBody>
                    <a:bodyPr/>
                    <a:lstStyle/>
                    <a:p>
                      <a:pPr algn="ctr">
                        <a:defRPr sz="900" b="1">
                          <a:solidFill>
                            <a:srgbClr val="000000"/>
                          </a:solidFill>
                          <a:latin typeface="Montserrat"/>
                        </a:defRPr>
                      </a:pPr>
                      <a:r>
                        <a:t>638,794</a:t>
                      </a:r>
                    </a:p>
                  </a:txBody>
                  <a:tcPr>
                    <a:solidFill>
                      <a:srgbClr val="EBD2D9"/>
                    </a:solidFill>
                  </a:tcPr>
                </a:tc>
                <a:tc>
                  <a:txBody>
                    <a:bodyPr/>
                    <a:lstStyle/>
                    <a:p>
                      <a:pPr algn="ctr">
                        <a:defRPr sz="900" b="1">
                          <a:solidFill>
                            <a:srgbClr val="000000"/>
                          </a:solidFill>
                          <a:latin typeface="Montserrat"/>
                        </a:defRPr>
                      </a:pPr>
                      <a:r>
                        <a:t>11%</a:t>
                      </a:r>
                    </a:p>
                  </a:txBody>
                  <a:tcPr>
                    <a:solidFill>
                      <a:srgbClr val="EBD2D9"/>
                    </a:solidFill>
                  </a:tcPr>
                </a:tc>
              </a:tr>
              <a:tr h="251999">
                <a:tc>
                  <a:txBody>
                    <a:bodyPr/>
                    <a:lstStyle/>
                    <a:p>
                      <a:pPr algn="l" lvl="1">
                        <a:defRPr sz="900">
                          <a:solidFill>
                            <a:srgbClr val="000000"/>
                          </a:solidFill>
                          <a:latin typeface="Montserrat"/>
                        </a:defRPr>
                      </a:pPr>
                      <a:r>
                        <a:t>Esposa(o)/concubina(rio)</a:t>
                      </a:r>
                    </a:p>
                  </a:txBody>
                  <a:tcPr>
                    <a:solidFill>
                      <a:srgbClr val="FFFFFF"/>
                    </a:solidFill>
                  </a:tcPr>
                </a:tc>
                <a:tc>
                  <a:txBody>
                    <a:bodyPr/>
                    <a:lstStyle/>
                    <a:p>
                      <a:pPr algn="ctr">
                        <a:defRPr sz="900">
                          <a:solidFill>
                            <a:srgbClr val="000000"/>
                          </a:solidFill>
                          <a:latin typeface="Montserrat"/>
                        </a:defRPr>
                      </a:pPr>
                      <a:r>
                        <a:t>187,077</a:t>
                      </a:r>
                    </a:p>
                  </a:txBody>
                  <a:tcPr>
                    <a:solidFill>
                      <a:srgbClr val="FFFFFF"/>
                    </a:solidFill>
                  </a:tcPr>
                </a:tc>
                <a:tc>
                  <a:txBody>
                    <a:bodyPr/>
                    <a:lstStyle/>
                    <a:p>
                      <a:pPr algn="ctr">
                        <a:defRPr sz="900">
                          <a:solidFill>
                            <a:srgbClr val="000000"/>
                          </a:solidFill>
                          <a:latin typeface="Montserrat"/>
                        </a:defRPr>
                      </a:pPr>
                      <a:r>
                        <a:t>226,485</a:t>
                      </a:r>
                    </a:p>
                  </a:txBody>
                  <a:tcPr>
                    <a:solidFill>
                      <a:srgbClr val="FFFFFF"/>
                    </a:solidFill>
                  </a:tcPr>
                </a:tc>
                <a:tc>
                  <a:txBody>
                    <a:bodyPr/>
                    <a:lstStyle/>
                    <a:p>
                      <a:pPr algn="ctr">
                        <a:defRPr sz="900">
                          <a:solidFill>
                            <a:srgbClr val="000000"/>
                          </a:solidFill>
                          <a:latin typeface="Montserrat"/>
                        </a:defRPr>
                      </a:pPr>
                      <a:r>
                        <a:t>21%</a:t>
                      </a:r>
                    </a:p>
                  </a:txBody>
                  <a:tcPr>
                    <a:solidFill>
                      <a:srgbClr val="FFFFFF"/>
                    </a:solidFill>
                  </a:tcPr>
                </a:tc>
              </a:tr>
              <a:tr h="251999">
                <a:tc>
                  <a:txBody>
                    <a:bodyPr/>
                    <a:lstStyle/>
                    <a:p>
                      <a:pPr algn="l" lvl="1">
                        <a:defRPr sz="900">
                          <a:solidFill>
                            <a:srgbClr val="000000"/>
                          </a:solidFill>
                          <a:latin typeface="Montserrat"/>
                        </a:defRPr>
                      </a:pPr>
                      <a:r>
                        <a:t>Hijas e hijos</a:t>
                      </a:r>
                    </a:p>
                  </a:txBody>
                  <a:tcPr>
                    <a:solidFill>
                      <a:srgbClr val="FFFFFF"/>
                    </a:solidFill>
                  </a:tcPr>
                </a:tc>
                <a:tc>
                  <a:txBody>
                    <a:bodyPr/>
                    <a:lstStyle/>
                    <a:p>
                      <a:pPr algn="ctr">
                        <a:defRPr sz="900">
                          <a:solidFill>
                            <a:srgbClr val="000000"/>
                          </a:solidFill>
                          <a:latin typeface="Montserrat"/>
                        </a:defRPr>
                      </a:pPr>
                      <a:r>
                        <a:t>294,089</a:t>
                      </a:r>
                    </a:p>
                  </a:txBody>
                  <a:tcPr>
                    <a:solidFill>
                      <a:srgbClr val="FFFFFF"/>
                    </a:solidFill>
                  </a:tcPr>
                </a:tc>
                <a:tc>
                  <a:txBody>
                    <a:bodyPr/>
                    <a:lstStyle/>
                    <a:p>
                      <a:pPr algn="ctr">
                        <a:defRPr sz="900">
                          <a:solidFill>
                            <a:srgbClr val="000000"/>
                          </a:solidFill>
                          <a:latin typeface="Montserrat"/>
                        </a:defRPr>
                      </a:pPr>
                      <a:r>
                        <a:t>275,663</a:t>
                      </a:r>
                    </a:p>
                  </a:txBody>
                  <a:tcPr>
                    <a:solidFill>
                      <a:srgbClr val="FFFFFF"/>
                    </a:solidFill>
                  </a:tcPr>
                </a:tc>
                <a:tc>
                  <a:txBody>
                    <a:bodyPr/>
                    <a:lstStyle/>
                    <a:p>
                      <a:pPr algn="ctr">
                        <a:defRPr sz="900">
                          <a:solidFill>
                            <a:srgbClr val="000000"/>
                          </a:solidFill>
                          <a:latin typeface="Montserrat"/>
                        </a:defRPr>
                      </a:pPr>
                      <a:r>
                        <a:t>-6%</a:t>
                      </a:r>
                    </a:p>
                  </a:txBody>
                  <a:tcPr>
                    <a:solidFill>
                      <a:srgbClr val="FFFFFF"/>
                    </a:solidFill>
                  </a:tcPr>
                </a:tc>
              </a:tr>
              <a:tr h="251999">
                <a:tc>
                  <a:txBody>
                    <a:bodyPr/>
                    <a:lstStyle/>
                    <a:p>
                      <a:pPr algn="l" lvl="1">
                        <a:defRPr sz="900">
                          <a:solidFill>
                            <a:srgbClr val="000000"/>
                          </a:solidFill>
                          <a:latin typeface="Montserrat"/>
                        </a:defRPr>
                      </a:pPr>
                      <a:r>
                        <a:t>Madres y padres</a:t>
                      </a:r>
                    </a:p>
                  </a:txBody>
                  <a:tcPr>
                    <a:solidFill>
                      <a:srgbClr val="FFFFFF"/>
                    </a:solidFill>
                  </a:tcPr>
                </a:tc>
                <a:tc>
                  <a:txBody>
                    <a:bodyPr/>
                    <a:lstStyle/>
                    <a:p>
                      <a:pPr algn="ctr">
                        <a:defRPr sz="900">
                          <a:solidFill>
                            <a:srgbClr val="000000"/>
                          </a:solidFill>
                          <a:latin typeface="Montserrat"/>
                        </a:defRPr>
                      </a:pPr>
                      <a:r>
                        <a:t>93,091</a:t>
                      </a:r>
                    </a:p>
                  </a:txBody>
                  <a:tcPr>
                    <a:solidFill>
                      <a:srgbClr val="FFFFFF"/>
                    </a:solidFill>
                  </a:tcPr>
                </a:tc>
                <a:tc>
                  <a:txBody>
                    <a:bodyPr/>
                    <a:lstStyle/>
                    <a:p>
                      <a:pPr algn="ctr">
                        <a:defRPr sz="900">
                          <a:solidFill>
                            <a:srgbClr val="000000"/>
                          </a:solidFill>
                          <a:latin typeface="Montserrat"/>
                        </a:defRPr>
                      </a:pPr>
                      <a:r>
                        <a:t>136,646</a:t>
                      </a:r>
                    </a:p>
                  </a:txBody>
                  <a:tcPr>
                    <a:solidFill>
                      <a:srgbClr val="FFFFFF"/>
                    </a:solidFill>
                  </a:tcPr>
                </a:tc>
                <a:tc>
                  <a:txBody>
                    <a:bodyPr/>
                    <a:lstStyle/>
                    <a:p>
                      <a:pPr algn="ctr">
                        <a:defRPr sz="900">
                          <a:solidFill>
                            <a:srgbClr val="000000"/>
                          </a:solidFill>
                          <a:latin typeface="Montserrat"/>
                        </a:defRPr>
                      </a:pPr>
                      <a:r>
                        <a:t>47%</a:t>
                      </a:r>
                    </a:p>
                  </a:txBody>
                  <a:tcPr>
                    <a:solidFill>
                      <a:srgbClr val="FFFFFF"/>
                    </a:solidFill>
                  </a:tcPr>
                </a:tc>
              </a:tr>
            </a:tbl>
          </a:graphicData>
        </a:graphic>
      </p:graphicFrame>
      <p:graphicFrame>
        <p:nvGraphicFramePr>
          <p:cNvPr id="135" name="Table 134"/>
          <p:cNvGraphicFramePr>
            <a:graphicFrameLocks noGrp="1"/>
          </p:cNvGraphicFramePr>
          <p:nvPr/>
        </p:nvGraphicFramePr>
        <p:xfrm>
          <a:off x="5792400" y="56880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914</a:t>
                      </a:r>
                    </a:p>
                  </a:txBody>
                  <a:tcPr>
                    <a:solidFill>
                      <a:srgbClr val="F8F4EC"/>
                    </a:solidFill>
                  </a:tcPr>
                </a:tc>
                <a:tc>
                  <a:txBody>
                    <a:bodyPr/>
                    <a:lstStyle/>
                    <a:p>
                      <a:pPr algn="ctr">
                        <a:defRPr b="1" sz="900">
                          <a:latin typeface="Montserrat"/>
                        </a:defRPr>
                      </a:pPr>
                      <a:r>
                        <a:t>910</a:t>
                      </a:r>
                    </a:p>
                  </a:txBody>
                  <a:tcPr>
                    <a:solidFill>
                      <a:srgbClr val="F8F4EC"/>
                    </a:solidFill>
                  </a:tcPr>
                </a:tc>
                <a:tc>
                  <a:txBody>
                    <a:bodyPr/>
                    <a:lstStyle/>
                    <a:p>
                      <a:pPr algn="ctr">
                        <a:defRPr b="1" sz="900">
                          <a:solidFill>
                            <a:srgbClr val="A61C00"/>
                          </a:solidFill>
                          <a:latin typeface="Montserrat"/>
                        </a:defRPr>
                      </a:pPr>
                      <a:r>
                        <a:t>0%</a:t>
                      </a:r>
                    </a:p>
                  </a:txBody>
                  <a:tcPr>
                    <a:solidFill>
                      <a:srgbClr val="F8F4EC"/>
                    </a:solidFill>
                  </a:tcPr>
                </a:tc>
              </a:tr>
            </a:tbl>
          </a:graphicData>
        </a:graphic>
      </p:graphicFrame>
      <p:graphicFrame>
        <p:nvGraphicFramePr>
          <p:cNvPr id="136" name="Table 135"/>
          <p:cNvGraphicFramePr>
            <a:graphicFrameLocks noGrp="1"/>
          </p:cNvGraphicFramePr>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8,055</a:t>
                      </a:r>
                    </a:p>
                  </a:txBody>
                  <a:tcPr>
                    <a:solidFill>
                      <a:srgbClr val="F8F4EC"/>
                    </a:solidFill>
                  </a:tcPr>
                </a:tc>
                <a:tc>
                  <a:txBody>
                    <a:bodyPr/>
                    <a:lstStyle/>
                    <a:p>
                      <a:pPr algn="ctr">
                        <a:defRPr b="1" sz="900">
                          <a:latin typeface="Montserrat"/>
                        </a:defRPr>
                      </a:pPr>
                      <a:r>
                        <a:t>10,512</a:t>
                      </a:r>
                    </a:p>
                  </a:txBody>
                  <a:tcPr>
                    <a:solidFill>
                      <a:srgbClr val="F8F4EC"/>
                    </a:solidFill>
                  </a:tcPr>
                </a:tc>
                <a:tc>
                  <a:txBody>
                    <a:bodyPr/>
                    <a:lstStyle/>
                    <a:p>
                      <a:pPr algn="ctr">
                        <a:defRPr b="1" sz="900">
                          <a:latin typeface="Montserrat"/>
                        </a:defRPr>
                      </a:pPr>
                      <a:r>
                        <a:t>31%</a:t>
                      </a:r>
                    </a:p>
                  </a:txBody>
                  <a:tcPr>
                    <a:solidFill>
                      <a:srgbClr val="F8F4EC"/>
                    </a:solidFill>
                  </a:tcPr>
                </a:tc>
              </a:tr>
            </a:tbl>
          </a:graphicData>
        </a:graphic>
      </p:graphicFrame>
      <p:sp>
        <p:nvSpPr>
          <p:cNvPr id="137" name="TextBox 136"/>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extLst>
              <p:ext uri="{D42A27DB-BD31-4B8C-83A1-F6EECF244321}">
                <p14:modId xmlns:p14="http://schemas.microsoft.com/office/powerpoint/2010/main" val="2711009704"/>
              </p:ext>
            </p:extLst>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Infraestructura médica IMSS</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22_qro.png"/>
          <p:cNvPicPr>
            <a:picLocks noChangeAspect="1"/>
          </p:cNvPicPr>
          <p:nvPr/>
        </p:nvPicPr>
        <p:blipFill>
          <a:blip r:embed="rId4"/>
          <a:stretch>
            <a:fillRect/>
          </a:stretch>
        </p:blipFill>
        <p:spPr>
          <a:xfrm>
            <a:off x="198000" y="1475999"/>
            <a:ext cx="5461200" cy="5011200"/>
          </a:xfrm>
          <a:prstGeom prst="rect">
            <a:avLst/>
          </a:prstGeom>
        </p:spPr>
      </p:pic>
      <p:graphicFrame>
        <p:nvGraphicFramePr>
          <p:cNvPr id="135" name="Table 134"/>
          <p:cNvGraphicFramePr>
            <a:graphicFrameLocks noGrp="1"/>
          </p:cNvGraphicFramePr>
          <p:nvPr/>
        </p:nvGraphicFramePr>
        <p:xfrm>
          <a:off x="1706400" y="6854400"/>
          <a:ext cx="4359600" cy="1170000"/>
        </p:xfrm>
        <a:graphic>
          <a:graphicData uri="http://schemas.openxmlformats.org/drawingml/2006/table">
            <a:tbl>
              <a:tblPr firstRow="1" bandRow="1">
                <a:tableStyleId>{5C22544A-7EE6-4342-B048-85BDC9FD1C3A}</a:tableStyleId>
              </a:tblPr>
              <a:tblGrid>
                <a:gridCol w="871920"/>
                <a:gridCol w="871920"/>
                <a:gridCol w="871920"/>
                <a:gridCol w="871920"/>
                <a:gridCol w="871920"/>
              </a:tblGrid>
              <a:tr h="234000">
                <a:tc rowSpan="2">
                  <a:txBody>
                    <a:bodyPr/>
                    <a:lstStyle/>
                    <a:p>
                      <a:pPr algn="ctr">
                        <a:defRPr b="1" sz="1000">
                          <a:solidFill>
                            <a:srgbClr val="FFFFFF"/>
                          </a:solidFill>
                          <a:latin typeface="Montserrat"/>
                        </a:defRPr>
                      </a:pPr>
                      <a:r>
                        <a:t>Nivel</a:t>
                      </a:r>
                    </a:p>
                  </a:txBody>
                  <a:tcPr marL="10800" marR="10800" marT="10800" marB="10800" anchor="ctr">
                    <a:solidFill>
                      <a:srgbClr val="660000"/>
                    </a:solidFill>
                  </a:tcPr>
                </a:tc>
                <a:tc gridSpan="4">
                  <a:txBody>
                    <a:bodyPr/>
                    <a:lstStyle/>
                    <a:p>
                      <a:pPr algn="ctr">
                        <a:defRPr b="1" sz="1000">
                          <a:solidFill>
                            <a:srgbClr val="FFFFFF"/>
                          </a:solidFill>
                          <a:latin typeface="Montserrat"/>
                        </a:defRPr>
                      </a:pPr>
                      <a:r>
                        <a:t>IMSS Ordinario</a:t>
                      </a:r>
                    </a:p>
                  </a:txBody>
                  <a:tcPr marL="10800" marR="10800" marT="10800" marB="10800">
                    <a:solidFill>
                      <a:srgbClr val="006455"/>
                    </a:solidFill>
                  </a:tcPr>
                </a:tc>
                <a:tc hMerge="1">
                  <a:txBody>
                    <a:bodyPr/>
                    <a:lstStyle/>
                    <a:p/>
                  </a:txBody>
                  <a:tcPr marL="10800" marR="10800" marT="10800" marB="10800"/>
                </a:tc>
                <a:tc hMerge="1">
                  <a:txBody>
                    <a:bodyPr/>
                    <a:lstStyle/>
                    <a:p/>
                  </a:txBody>
                  <a:tcPr marL="10800" marR="10800" marT="10800" marB="10800"/>
                </a:tc>
                <a:tc hMerge="1">
                  <a:txBody>
                    <a:bodyPr/>
                    <a:lstStyle/>
                    <a:p/>
                  </a:txBody>
                  <a:tcPr marL="10800" marR="10800" marT="10800" marB="10800"/>
                </a:tc>
              </a:tr>
              <a:tr h="234000">
                <a:tc vMerge="1">
                  <a:txBody>
                    <a:bodyPr/>
                    <a:lstStyle/>
                    <a:p/>
                  </a:txBody>
                  <a:tcPr marL="10800" marR="10800" marT="10800" marB="10800" anchor="ctr">
                    <a:solidFill>
                      <a:srgbClr val="006455"/>
                    </a:solidFill>
                  </a:tcPr>
                </a:tc>
                <a:tc>
                  <a:txBody>
                    <a:bodyPr/>
                    <a:lstStyle/>
                    <a:p>
                      <a:pPr algn="ctr">
                        <a:defRPr b="1" sz="1000">
                          <a:solidFill>
                            <a:srgbClr val="FFFFFF"/>
                          </a:solidFill>
                          <a:latin typeface="Montserrat"/>
                        </a:defRPr>
                      </a:pPr>
                      <a:r>
                        <a:t>Unidades</a:t>
                      </a:r>
                    </a:p>
                  </a:txBody>
                  <a:tcPr marL="10800" marR="10800" marT="10800" marB="10800" anchor="ctr">
                    <a:solidFill>
                      <a:srgbClr val="006455"/>
                    </a:solidFill>
                  </a:tcPr>
                </a:tc>
                <a:tc>
                  <a:txBody>
                    <a:bodyPr/>
                    <a:lstStyle/>
                    <a:p>
                      <a:pPr algn="ctr">
                        <a:defRPr b="1" sz="1000">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b="1" sz="1000">
                          <a:solidFill>
                            <a:srgbClr val="FFFFFF"/>
                          </a:solidFill>
                          <a:latin typeface="Montserrat"/>
                        </a:defRPr>
                      </a:pPr>
                      <a:r>
                        <a:t>Camas</a:t>
                      </a:r>
                    </a:p>
                  </a:txBody>
                  <a:tcPr marL="10800" marR="10800" marT="10800" marB="10800" anchor="ctr">
                    <a:solidFill>
                      <a:srgbClr val="006455"/>
                    </a:solidFill>
                  </a:tcPr>
                </a:tc>
                <a:tc>
                  <a:txBody>
                    <a:bodyPr/>
                    <a:lstStyle/>
                    <a:p>
                      <a:pPr algn="ctr">
                        <a:defRPr b="1" sz="1000">
                          <a:solidFill>
                            <a:srgbClr val="FFFFFF"/>
                          </a:solidFill>
                          <a:latin typeface="Montserrat"/>
                        </a:defRPr>
                      </a:pPr>
                      <a:r>
                        <a:t>Camas no censables</a:t>
                      </a:r>
                    </a:p>
                  </a:txBody>
                  <a:tcPr marL="10800" marR="10800" marT="10800" marB="10800" anchor="ctr">
                    <a:solidFill>
                      <a:srgbClr val="006455"/>
                    </a:solidFill>
                  </a:tcPr>
                </a:tc>
              </a:tr>
              <a:tr h="234000">
                <a:tc>
                  <a:txBody>
                    <a:bodyPr/>
                    <a:lstStyle/>
                    <a:p>
                      <a:pPr algn="l">
                        <a:defRPr sz="1000">
                          <a:solidFill>
                            <a:srgbClr val="000000"/>
                          </a:solidFill>
                          <a:latin typeface="Montserrat"/>
                        </a:defRPr>
                      </a:pPr>
                      <a:r>
                        <a:rPr sz="1000">
                          <a:latin typeface="Montserrat"/>
                        </a:rP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22</a:t>
                      </a:r>
                      <a:r>
                        <a:rPr sz="700">
                          <a:latin typeface="Montserrat"/>
                        </a:rPr>
                        <a:t> 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168</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54</a:t>
                      </a:r>
                    </a:p>
                  </a:txBody>
                  <a:tcPr marL="10800" marR="10800" marT="10800" marB="10800" anchor="ctr">
                    <a:solidFill>
                      <a:srgbClr val="FFFFFF"/>
                    </a:solidFill>
                  </a:tcPr>
                </a:tc>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4</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701</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361</a:t>
                      </a:r>
                    </a:p>
                  </a:txBody>
                  <a:tcPr marL="10800" marR="10800" marT="10800" marB="10800" anchor="ctr">
                    <a:solidFill>
                      <a:srgbClr val="EFEFEF"/>
                    </a:solidFill>
                  </a:tcPr>
                </a:tc>
              </a:tr>
              <a:tr h="234000">
                <a:tc>
                  <a:txBody>
                    <a:bodyPr/>
                    <a:lstStyle/>
                    <a:p>
                      <a:pPr algn="l">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26</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168</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701</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415</a:t>
                      </a:r>
                    </a:p>
                  </a:txBody>
                  <a:tcPr marL="10800" marR="10800" marT="10800" marB="10800" anchor="ctr">
                    <a:solidFill>
                      <a:srgbClr val="D3E9E7"/>
                    </a:solidFill>
                  </a:tcPr>
                </a:tc>
              </a:tr>
            </a:tbl>
          </a:graphicData>
        </a:graphic>
      </p:graphicFrame>
      <p:graphicFrame>
        <p:nvGraphicFramePr>
          <p:cNvPr id="136" name="Table 135"/>
          <p:cNvGraphicFramePr>
            <a:graphicFrameLocks noGrp="1"/>
          </p:cNvGraphicFramePr>
          <p:nvPr/>
        </p:nvGraphicFramePr>
        <p:xfrm>
          <a:off x="5659200" y="1155600"/>
          <a:ext cx="2026800" cy="1173600"/>
        </p:xfrm>
        <a:graphic>
          <a:graphicData uri="http://schemas.openxmlformats.org/drawingml/2006/table">
            <a:tbl>
              <a:tblPr firstRow="1" bandRow="1">
                <a:tableStyleId>{5C22544A-7EE6-4342-B048-85BDC9FD1C3A}</a:tableStyleId>
              </a:tblPr>
              <a:tblGrid>
                <a:gridCol w="1013400"/>
                <a:gridCol w="1013400"/>
              </a:tblGrid>
              <a:tr h="234720">
                <a:tc>
                  <a:txBody>
                    <a:bodyPr/>
                    <a:lstStyle/>
                    <a:p>
                      <a:pPr algn="ctr">
                        <a:defRPr b="1" sz="1000">
                          <a:solidFill>
                            <a:srgbClr val="FFFFFF"/>
                          </a:solidFill>
                          <a:latin typeface="Montserrat"/>
                        </a:defRPr>
                      </a:pPr>
                      <a:r>
                        <a:t>2o Nivel</a:t>
                      </a:r>
                    </a:p>
                  </a:txBody>
                  <a:tcPr>
                    <a:solidFill>
                      <a:srgbClr val="006455"/>
                    </a:solidFill>
                  </a:tcPr>
                </a:tc>
                <a:tc>
                  <a:txBody>
                    <a:bodyPr/>
                    <a:lstStyle/>
                    <a:p>
                      <a:pPr algn="ctr">
                        <a:defRPr b="1" sz="1000">
                          <a:solidFill>
                            <a:srgbClr val="FFFFFF"/>
                          </a:solidFill>
                          <a:latin typeface="Montserrat"/>
                        </a:defRPr>
                      </a:pPr>
                      <a:r>
                        <a:t>Unidades</a:t>
                      </a:r>
                    </a:p>
                  </a:txBody>
                  <a:tcPr>
                    <a:solidFill>
                      <a:srgbClr val="006455"/>
                    </a:solidFill>
                  </a:tcPr>
                </a:tc>
              </a:tr>
              <a:tr h="234720">
                <a:tc>
                  <a:txBody>
                    <a:bodyPr/>
                    <a:lstStyle/>
                    <a:p>
                      <a:pPr algn="ctr">
                        <a:defRPr sz="1000">
                          <a:solidFill>
                            <a:srgbClr val="000000"/>
                          </a:solidFill>
                          <a:latin typeface="Montserrat"/>
                        </a:defRPr>
                      </a:pPr>
                      <a:r>
                        <a:t>UMAA (aut)</a:t>
                      </a:r>
                    </a:p>
                  </a:txBody>
                  <a:tcPr>
                    <a:solidFill>
                      <a:srgbClr val="EFEFEF"/>
                    </a:solidFill>
                  </a:tcPr>
                </a:tc>
                <a:tc>
                  <a:txBody>
                    <a:bodyPr/>
                    <a:lstStyle/>
                    <a:p>
                      <a:pPr algn="ctr">
                        <a:defRPr sz="1000">
                          <a:solidFill>
                            <a:srgbClr val="000000"/>
                          </a:solidFill>
                          <a:latin typeface="Montserrat"/>
                        </a:defRPr>
                      </a:pPr>
                      <a:r>
                        <a:t>1</a:t>
                      </a:r>
                    </a:p>
                  </a:txBody>
                  <a:tcPr>
                    <a:solidFill>
                      <a:srgbClr val="EFEFEF"/>
                    </a:solidFill>
                  </a:tcPr>
                </a:tc>
              </a:tr>
              <a:tr h="234720">
                <a:tc>
                  <a:txBody>
                    <a:bodyPr/>
                    <a:lstStyle/>
                    <a:p>
                      <a:pPr algn="ctr">
                        <a:defRPr sz="1000">
                          <a:solidFill>
                            <a:srgbClr val="000000"/>
                          </a:solidFill>
                          <a:latin typeface="Montserrat"/>
                        </a:defRPr>
                      </a:pPr>
                      <a:r>
                        <a:t>HGZ</a:t>
                      </a:r>
                    </a:p>
                  </a:txBody>
                  <a:tcPr>
                    <a:solidFill>
                      <a:srgbClr val="FFFFFF"/>
                    </a:solidFill>
                  </a:tcPr>
                </a:tc>
                <a:tc>
                  <a:txBody>
                    <a:bodyPr/>
                    <a:lstStyle/>
                    <a:p>
                      <a:pPr algn="ctr">
                        <a:defRPr sz="1000">
                          <a:solidFill>
                            <a:srgbClr val="000000"/>
                          </a:solidFill>
                          <a:latin typeface="Montserrat"/>
                        </a:defRPr>
                      </a:pPr>
                      <a:r>
                        <a:t>1</a:t>
                      </a:r>
                    </a:p>
                  </a:txBody>
                  <a:tcPr>
                    <a:solidFill>
                      <a:srgbClr val="FFFFFF"/>
                    </a:solidFill>
                  </a:tcPr>
                </a:tc>
              </a:tr>
              <a:tr h="234720">
                <a:tc>
                  <a:txBody>
                    <a:bodyPr/>
                    <a:lstStyle/>
                    <a:p>
                      <a:pPr algn="ctr">
                        <a:defRPr sz="1000">
                          <a:solidFill>
                            <a:srgbClr val="000000"/>
                          </a:solidFill>
                          <a:latin typeface="Montserrat"/>
                        </a:defRPr>
                      </a:pPr>
                      <a:r>
                        <a:t>HGR</a:t>
                      </a:r>
                    </a:p>
                  </a:txBody>
                  <a:tcPr>
                    <a:solidFill>
                      <a:srgbClr val="EFEFEF"/>
                    </a:solidFill>
                  </a:tcPr>
                </a:tc>
                <a:tc>
                  <a:txBody>
                    <a:bodyPr/>
                    <a:lstStyle/>
                    <a:p>
                      <a:pPr algn="ctr">
                        <a:defRPr sz="1000">
                          <a:solidFill>
                            <a:srgbClr val="000000"/>
                          </a:solidFill>
                          <a:latin typeface="Montserrat"/>
                        </a:defRPr>
                      </a:pPr>
                      <a:r>
                        <a:t>2</a:t>
                      </a:r>
                    </a:p>
                  </a:txBody>
                  <a:tcPr>
                    <a:solidFill>
                      <a:srgbClr val="EFEFEF"/>
                    </a:solidFill>
                  </a:tcPr>
                </a:tc>
              </a:tr>
              <a:tr h="23472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4</a:t>
                      </a:r>
                    </a:p>
                  </a:txBody>
                  <a:tcPr>
                    <a:solidFill>
                      <a:srgbClr val="D3E9E7"/>
                    </a:solidFill>
                  </a:tcPr>
                </a:tc>
              </a:tr>
            </a:tbl>
          </a:graphicData>
        </a:graphic>
      </p:graphicFrame>
      <p:sp>
        <p:nvSpPr>
          <p:cNvPr id="137" name="TextBox 136"/>
          <p:cNvSpPr txBox="1"/>
          <p:nvPr/>
        </p:nvSpPr>
        <p:spPr>
          <a:xfrm>
            <a:off x="212400" y="8877600"/>
            <a:ext cx="7200000" cy="360000"/>
          </a:xfrm>
          <a:prstGeom prst="rect">
            <a:avLst/>
          </a:prstGeom>
          <a:noFill/>
        </p:spPr>
        <p:txBody>
          <a:bodyPr wrap="square" tIns="0" bIns="0" lIns="0" rIns="0">
            <a:spAutoFit/>
          </a:bodyPr>
          <a:lstStyle/>
          <a:p>
            <a:pPr algn="l">
              <a:defRPr sz="700">
                <a:solidFill>
                  <a:srgbClr val="000000"/>
                </a:solidFill>
                <a:latin typeface="Montserrat"/>
              </a:defRPr>
            </a:pPr>
            <a:r>
              <a:t>¹ Incluye 21 UMF, 1 UMFH y no incluye 4 Unidades Auxiliares de Medicina Familiar.</a:t>
            </a:r>
          </a:p>
        </p:txBody>
      </p:sp>
      <p:sp>
        <p:nvSpPr>
          <p:cNvPr id="138" name="TextBox 137"/>
          <p:cNvSpPr txBox="1"/>
          <p:nvPr/>
        </p:nvSpPr>
        <p:spPr>
          <a:xfrm>
            <a:off x="212400" y="9057600"/>
            <a:ext cx="1713600" cy="1224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de 2026</a:t>
            </a:r>
          </a:p>
        </p:txBody>
      </p:sp>
      <p:sp>
        <p:nvSpPr>
          <p:cNvPr id="139" name="TextBox 13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graphicFrame>
        <p:nvGraphicFramePr>
          <p:cNvPr id="5" name="Google Shape;215;g3d0b4d3c5c9_0_70">
            <a:extLst>
              <a:ext uri="{FF2B5EF4-FFF2-40B4-BE49-F238E27FC236}">
                <a16:creationId xmlns:a16="http://schemas.microsoft.com/office/drawing/2014/main" id="{B6422C63-C584-DA7D-D548-6D46E70946B8}"/>
              </a:ext>
            </a:extLst>
          </p:cNvPr>
          <p:cNvGraphicFramePr/>
          <p:nvPr>
            <p:extLst>
              <p:ext uri="{D42A27DB-BD31-4B8C-83A1-F6EECF244321}">
                <p14:modId xmlns:p14="http://schemas.microsoft.com/office/powerpoint/2010/main" val="1916795592"/>
              </p:ext>
            </p:extLst>
          </p:nvPr>
        </p:nvGraphicFramePr>
        <p:xfrm>
          <a:off x="286850" y="1191600"/>
          <a:ext cx="7198700" cy="548640"/>
        </p:xfrm>
        <a:graphic>
          <a:graphicData uri="http://schemas.openxmlformats.org/drawingml/2006/table">
            <a:tbl>
              <a:tblPr>
                <a:noFill/>
              </a:tblPr>
              <a:tblGrid>
                <a:gridCol w="7198700">
                  <a:extLst>
                    <a:ext uri="{9D8B030D-6E8A-4147-A177-3AD203B41FA5}">
                      <a16:colId xmlns:a16="http://schemas.microsoft.com/office/drawing/2014/main" val="20000"/>
                    </a:ext>
                  </a:extLst>
                </a:gridCol>
              </a:tblGrid>
              <a:tr h="381000">
                <a:tc>
                  <a:txBody>
                    <a:bodyPr/>
                    <a:lstStyle/>
                    <a:p>
                      <a:pPr marL="0" lvl="0" indent="0" algn="l" rtl="0">
                        <a:lnSpc>
                          <a:spcPct val="100000"/>
                        </a:lnSpc>
                        <a:spcBef>
                          <a:spcPts val="0"/>
                        </a:spcBef>
                        <a:spcAft>
                          <a:spcPts val="0"/>
                        </a:spcAft>
                        <a:buClr>
                          <a:schemeClr val="dk1"/>
                        </a:buClr>
                        <a:buSzPts val="1100"/>
                        <a:buFont typeface="Arial"/>
                        <a:buNone/>
                      </a:pPr>
                      <a:r>
                        <a:rPr lang="es" sz="1800" b="1" dirty="0">
                          <a:solidFill>
                            <a:srgbClr val="A42145"/>
                          </a:solidFill>
                          <a:latin typeface="Montserrat"/>
                          <a:ea typeface="Montserrat"/>
                          <a:cs typeface="Montserrat"/>
                          <a:sym typeface="Montserrat"/>
                        </a:rPr>
                        <a:t>Primer hospital en la entidad:</a:t>
                      </a:r>
                      <a:endParaRPr sz="1800" b="1" dirty="0">
                        <a:solidFill>
                          <a:srgbClr val="A42145"/>
                        </a:solidFill>
                        <a:latin typeface="Montserrat"/>
                        <a:ea typeface="Montserrat"/>
                        <a:cs typeface="Montserrat"/>
                        <a:sym typeface="Montserrat"/>
                      </a:endParaRPr>
                    </a:p>
                    <a:p>
                      <a:pPr marL="0" lvl="0" indent="0" algn="l" rtl="0">
                        <a:lnSpc>
                          <a:spcPct val="100000"/>
                        </a:lnSpc>
                        <a:spcBef>
                          <a:spcPts val="0"/>
                        </a:spcBef>
                        <a:spcAft>
                          <a:spcPts val="0"/>
                        </a:spcAft>
                        <a:buClr>
                          <a:schemeClr val="dk1"/>
                        </a:buClr>
                        <a:buSzPts val="1100"/>
                        <a:buFont typeface="Arial"/>
                        <a:buNone/>
                      </a:pPr>
                      <a:r>
                        <a:rPr lang="es" sz="1800" b="1" dirty="0">
                          <a:solidFill>
                            <a:srgbClr val="BC955C"/>
                          </a:solidFill>
                          <a:latin typeface="Montserrat"/>
                          <a:ea typeface="Montserrat"/>
                          <a:cs typeface="Montserrat"/>
                          <a:sym typeface="Montserrat"/>
                        </a:rPr>
                        <a:t>Hospital General Regional No. 1, Querétaro</a:t>
                      </a:r>
                      <a:endParaRPr sz="18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6" name="Google Shape;216;g3d0b4d3c5c9_0_70">
            <a:extLst>
              <a:ext uri="{FF2B5EF4-FFF2-40B4-BE49-F238E27FC236}">
                <a16:creationId xmlns:a16="http://schemas.microsoft.com/office/drawing/2014/main" id="{38EBD931-852E-790E-68B4-DD570977E59F}"/>
              </a:ext>
            </a:extLst>
          </p:cNvPr>
          <p:cNvPicPr preferRelativeResize="0"/>
          <p:nvPr/>
        </p:nvPicPr>
        <p:blipFill>
          <a:blip r:embed="rId4">
            <a:alphaModFix/>
          </a:blip>
          <a:stretch>
            <a:fillRect/>
          </a:stretch>
        </p:blipFill>
        <p:spPr>
          <a:xfrm>
            <a:off x="286850" y="2456655"/>
            <a:ext cx="2938682" cy="2019181"/>
          </a:xfrm>
          <a:prstGeom prst="rect">
            <a:avLst/>
          </a:prstGeom>
          <a:noFill/>
          <a:ln>
            <a:noFill/>
          </a:ln>
        </p:spPr>
      </p:pic>
      <p:sp>
        <p:nvSpPr>
          <p:cNvPr id="7" name="CuadroTexto 6">
            <a:extLst>
              <a:ext uri="{FF2B5EF4-FFF2-40B4-BE49-F238E27FC236}">
                <a16:creationId xmlns:a16="http://schemas.microsoft.com/office/drawing/2014/main" id="{AB5EBA3F-0462-2907-42E4-8A5B10221247}"/>
              </a:ext>
            </a:extLst>
          </p:cNvPr>
          <p:cNvSpPr txBox="1"/>
          <p:nvPr/>
        </p:nvSpPr>
        <p:spPr>
          <a:xfrm>
            <a:off x="3596038" y="1882561"/>
            <a:ext cx="3889512" cy="3513782"/>
          </a:xfrm>
          <a:prstGeom prst="rect">
            <a:avLst/>
          </a:prstGeom>
          <a:noFill/>
        </p:spPr>
        <p:txBody>
          <a:bodyPr wrap="square">
            <a:spAutoFit/>
          </a:bodyPr>
          <a:lstStyle/>
          <a:p>
            <a:pPr algn="just" rtl="0" fontAlgn="base">
              <a:spcBef>
                <a:spcPts val="1000"/>
              </a:spcBef>
              <a:spcAft>
                <a:spcPts val="100"/>
              </a:spcAft>
              <a:buFont typeface="Arial" panose="020B0604020202020204" pitchFamily="34" charset="0"/>
              <a:buChar char="•"/>
            </a:pPr>
            <a:r>
              <a:rPr lang="es-ES" sz="1200" b="0" i="0" u="none" strike="noStrike" dirty="0">
                <a:solidFill>
                  <a:srgbClr val="000000"/>
                </a:solidFill>
                <a:effectLst/>
                <a:latin typeface="Montserrat" panose="00000500000000000000" pitchFamily="2" charset="0"/>
              </a:rPr>
              <a:t>El IMSS comenzó a operar en 1957, con la apertura de la primera Casa de la Asegurada. En esta primera etapa, las consultas se otorgaban principalmente en espacios no hospitalarios, centradas en medicina general, prevención, atención materno‑infantil y primeros servicios de consulta externa.</a:t>
            </a:r>
          </a:p>
          <a:p>
            <a:pPr algn="just" rtl="0" fontAlgn="base">
              <a:spcBef>
                <a:spcPts val="1000"/>
              </a:spcBef>
              <a:spcAft>
                <a:spcPts val="100"/>
              </a:spcAft>
              <a:buFont typeface="Arial" panose="020B0604020202020204" pitchFamily="34" charset="0"/>
              <a:buChar char="•"/>
            </a:pPr>
            <a:r>
              <a:rPr lang="es-ES" sz="1200" b="0" i="0" u="none" strike="noStrike" dirty="0">
                <a:solidFill>
                  <a:srgbClr val="000000"/>
                </a:solidFill>
                <a:effectLst/>
                <a:latin typeface="Montserrat" panose="00000500000000000000" pitchFamily="2" charset="0"/>
              </a:rPr>
              <a:t>El primer hospital del IMSS en Querétaro fue el Hospital General Regional No. 1 (HGR No. 1), iniciando operaciones en noviembre de 1964.</a:t>
            </a:r>
          </a:p>
          <a:p>
            <a:pPr algn="just" rtl="0" fontAlgn="base">
              <a:spcBef>
                <a:spcPts val="1000"/>
              </a:spcBef>
              <a:spcAft>
                <a:spcPts val="100"/>
              </a:spcAft>
              <a:buFont typeface="Arial" panose="020B0604020202020204" pitchFamily="34" charset="0"/>
              <a:buChar char="•"/>
            </a:pPr>
            <a:r>
              <a:rPr lang="es-ES" sz="1200" b="0" i="0" u="none" strike="noStrike" dirty="0">
                <a:solidFill>
                  <a:srgbClr val="000000"/>
                </a:solidFill>
                <a:effectLst/>
                <a:latin typeface="Montserrat" panose="00000500000000000000" pitchFamily="2" charset="0"/>
              </a:rPr>
              <a:t>El HGR No. 1 contaba con una capacidad instalada propia de un hospital regional de segundo nivel de la época, y comenzó brindando servicios de hospitalización general, urgencias, cirugía general, gineco‑obstetricia, medicina interna, pediatría y auxiliares de diagnóstico..</a:t>
            </a:r>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9" name="TextBox 8"/>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10" name="Connector 9"/>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1" name="Picture 10" descr="22_QUERETARO.png"/>
          <p:cNvPicPr>
            <a:picLocks noChangeAspect="1"/>
          </p:cNvPicPr>
          <p:nvPr/>
        </p:nvPicPr>
        <p:blipFill>
          <a:blip r:embed="rId5"/>
          <a:stretch>
            <a:fillRect/>
          </a:stretch>
        </p:blipFill>
        <p:spPr>
          <a:xfrm>
            <a:off x="122400" y="5666400"/>
            <a:ext cx="7488000" cy="727200"/>
          </a:xfrm>
          <a:prstGeom prst="rect">
            <a:avLst/>
          </a:prstGeom>
        </p:spPr>
      </p:pic>
      <p:graphicFrame>
        <p:nvGraphicFramePr>
          <p:cNvPr id="12" name="Table 11"/>
          <p:cNvGraphicFramePr>
            <a:graphicFrameLocks noGrp="1"/>
          </p:cNvGraphicFramePr>
          <p:nvPr/>
        </p:nvGraphicFramePr>
        <p:xfrm>
          <a:off x="75600" y="6476399"/>
          <a:ext cx="7650000" cy="13824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HGR 1 Querétaro</a:t>
                      </a:r>
                    </a:p>
                  </a:txBody>
                  <a:tcPr anchor="ctr">
                    <a:solidFill>
                      <a:srgbClr val="FFFFFF"/>
                    </a:solidFill>
                  </a:tcPr>
                </a:tc>
                <a:tc>
                  <a:txBody>
                    <a:bodyPr/>
                    <a:lstStyle/>
                    <a:p>
                      <a:pPr algn="ctr">
                        <a:defRPr sz="900">
                          <a:latin typeface="Montserrat"/>
                        </a:defRPr>
                      </a:pPr>
                      <a:r>
                        <a:t>Octubre de 1964</a:t>
                      </a:r>
                    </a:p>
                  </a:txBody>
                  <a:tcPr anchor="ctr">
                    <a:solidFill>
                      <a:srgbClr val="FFFFFF"/>
                    </a:solidFill>
                  </a:tcPr>
                </a:tc>
                <a:tc>
                  <a:txBody>
                    <a:bodyPr/>
                    <a:lstStyle/>
                    <a:p>
                      <a:pPr algn="ctr">
                        <a:defRPr sz="900">
                          <a:latin typeface="Montserrat"/>
                        </a:defRPr>
                      </a:pPr>
                      <a:r>
                        <a:t>291</a:t>
                      </a:r>
                    </a:p>
                  </a:txBody>
                  <a:tcPr anchor="ctr">
                    <a:solidFill>
                      <a:srgbClr val="FFFFFF"/>
                    </a:solidFill>
                  </a:tcPr>
                </a:tc>
                <a:tc>
                  <a:txBody>
                    <a:bodyPr/>
                    <a:lstStyle/>
                    <a:p>
                      <a:pPr algn="ctr">
                        <a:defRPr sz="900">
                          <a:latin typeface="Montserrat"/>
                        </a:defRPr>
                      </a:pPr>
                      <a:r>
                        <a:t>141</a:t>
                      </a:r>
                    </a:p>
                  </a:txBody>
                  <a:tcPr anchor="ctr">
                    <a:solidFill>
                      <a:srgbClr val="FFFFFF"/>
                    </a:solidFill>
                  </a:tcPr>
                </a:tc>
                <a:tc>
                  <a:txBody>
                    <a:bodyPr/>
                    <a:lstStyle/>
                    <a:p>
                      <a:pPr algn="ctr">
                        <a:defRPr sz="900">
                          <a:latin typeface="Montserrat"/>
                        </a:defRPr>
                      </a:pPr>
                      <a:r>
                        <a:t>28</a:t>
                      </a:r>
                    </a:p>
                  </a:txBody>
                  <a:tcPr anchor="ctr">
                    <a:solidFill>
                      <a:srgbClr val="FFFFFF"/>
                    </a:solidFill>
                  </a:tcPr>
                </a:tc>
                <a:tc>
                  <a:txBody>
                    <a:bodyPr/>
                    <a:lstStyle/>
                    <a:p>
                      <a:pPr algn="ctr">
                        <a:defRPr sz="900">
                          <a:latin typeface="Montserrat"/>
                        </a:defRPr>
                      </a:pPr>
                      <a:r>
                        <a:t>8</a:t>
                      </a:r>
                    </a:p>
                  </a:txBody>
                  <a:tcPr anchor="ctr">
                    <a:solidFill>
                      <a:srgbClr val="FFFFFF"/>
                    </a:solidFill>
                  </a:tcPr>
                </a:tc>
                <a:tc>
                  <a:txBody>
                    <a:bodyPr/>
                    <a:lstStyle/>
                    <a:p>
                      <a:pPr algn="ctr">
                        <a:defRPr sz="900">
                          <a:latin typeface="Montserrat"/>
                        </a:defRPr>
                      </a:pPr>
                      <a:r>
                        <a:t>43</a:t>
                      </a:r>
                    </a:p>
                  </a:txBody>
                  <a:tcPr anchor="ctr">
                    <a:solidFill>
                      <a:srgbClr val="FFFFFF"/>
                    </a:solidFill>
                  </a:tcPr>
                </a:tc>
              </a:tr>
              <a:tr h="230400">
                <a:tc>
                  <a:txBody>
                    <a:bodyPr/>
                    <a:lstStyle/>
                    <a:p>
                      <a:pPr algn="l">
                        <a:defRPr sz="900">
                          <a:latin typeface="Montserrat"/>
                        </a:defRPr>
                      </a:pPr>
                      <a:r>
                        <a:t>HGZ 3 S. Juan del Río</a:t>
                      </a:r>
                    </a:p>
                  </a:txBody>
                  <a:tcPr anchor="ctr">
                    <a:solidFill>
                      <a:srgbClr val="EFEFEF"/>
                    </a:solidFill>
                  </a:tcPr>
                </a:tc>
                <a:tc>
                  <a:txBody>
                    <a:bodyPr/>
                    <a:lstStyle/>
                    <a:p>
                      <a:pPr algn="ctr">
                        <a:defRPr sz="900">
                          <a:latin typeface="Montserrat"/>
                        </a:defRPr>
                      </a:pPr>
                      <a:r>
                        <a:t>Julio de 1992</a:t>
                      </a:r>
                    </a:p>
                  </a:txBody>
                  <a:tcPr anchor="ctr">
                    <a:solidFill>
                      <a:srgbClr val="EFEFEF"/>
                    </a:solidFill>
                  </a:tcPr>
                </a:tc>
                <a:tc>
                  <a:txBody>
                    <a:bodyPr/>
                    <a:lstStyle/>
                    <a:p>
                      <a:pPr algn="ctr">
                        <a:defRPr sz="900">
                          <a:latin typeface="Montserrat"/>
                        </a:defRPr>
                      </a:pPr>
                      <a:r>
                        <a:t>90</a:t>
                      </a:r>
                    </a:p>
                  </a:txBody>
                  <a:tcPr anchor="ctr">
                    <a:solidFill>
                      <a:srgbClr val="EFEFEF"/>
                    </a:solidFill>
                  </a:tcPr>
                </a:tc>
                <a:tc>
                  <a:txBody>
                    <a:bodyPr/>
                    <a:lstStyle/>
                    <a:p>
                      <a:pPr algn="ctr">
                        <a:defRPr sz="900">
                          <a:latin typeface="Montserrat"/>
                        </a:defRPr>
                      </a:pPr>
                      <a:r>
                        <a:t>54</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3</a:t>
                      </a:r>
                    </a:p>
                  </a:txBody>
                  <a:tcPr anchor="ctr">
                    <a:solidFill>
                      <a:srgbClr val="EFEFEF"/>
                    </a:solidFill>
                  </a:tcPr>
                </a:tc>
                <a:tc>
                  <a:txBody>
                    <a:bodyPr/>
                    <a:lstStyle/>
                    <a:p>
                      <a:pPr algn="ctr">
                        <a:defRPr sz="900">
                          <a:latin typeface="Montserrat"/>
                        </a:defRPr>
                      </a:pPr>
                      <a:r>
                        <a:t>20</a:t>
                      </a:r>
                    </a:p>
                  </a:txBody>
                  <a:tcPr anchor="ctr">
                    <a:solidFill>
                      <a:srgbClr val="EFEFEF"/>
                    </a:solidFill>
                  </a:tcPr>
                </a:tc>
              </a:tr>
              <a:tr h="230400">
                <a:tc>
                  <a:txBody>
                    <a:bodyPr/>
                    <a:lstStyle/>
                    <a:p>
                      <a:pPr algn="l">
                        <a:defRPr sz="900">
                          <a:latin typeface="Montserrat"/>
                        </a:defRPr>
                      </a:pPr>
                      <a:r>
                        <a:t>UMAA 1 Querétaro (Aut)</a:t>
                      </a:r>
                    </a:p>
                  </a:txBody>
                  <a:tcPr anchor="ctr">
                    <a:solidFill>
                      <a:srgbClr val="FFFFFF"/>
                    </a:solidFill>
                  </a:tcPr>
                </a:tc>
                <a:tc>
                  <a:txBody>
                    <a:bodyPr/>
                    <a:lstStyle/>
                    <a:p>
                      <a:pPr algn="ctr">
                        <a:defRPr sz="900">
                          <a:latin typeface="Montserrat"/>
                        </a:defRPr>
                      </a:pPr>
                      <a:r>
                        <a:t>Junio de 2006</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24</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a:t>
                      </a:r>
                    </a:p>
                  </a:txBody>
                  <a:tcPr anchor="ctr">
                    <a:solidFill>
                      <a:srgbClr val="FFFFFF"/>
                    </a:solidFill>
                  </a:tcPr>
                </a:tc>
                <a:tc>
                  <a:txBody>
                    <a:bodyPr/>
                    <a:lstStyle/>
                    <a:p>
                      <a:pPr algn="ctr">
                        <a:defRPr sz="900">
                          <a:latin typeface="Montserrat"/>
                        </a:defRPr>
                      </a:pPr>
                      <a:r>
                        <a:t>8</a:t>
                      </a:r>
                    </a:p>
                  </a:txBody>
                  <a:tcPr anchor="ctr">
                    <a:solidFill>
                      <a:srgbClr val="FFFFFF"/>
                    </a:solidFill>
                  </a:tcPr>
                </a:tc>
              </a:tr>
              <a:tr h="230400">
                <a:tc>
                  <a:txBody>
                    <a:bodyPr/>
                    <a:lstStyle/>
                    <a:p>
                      <a:pPr algn="l">
                        <a:defRPr sz="900">
                          <a:latin typeface="Montserrat"/>
                        </a:defRPr>
                      </a:pPr>
                      <a:r>
                        <a:t>HGR 2 El Marqués</a:t>
                      </a:r>
                    </a:p>
                  </a:txBody>
                  <a:tcPr anchor="ctr">
                    <a:solidFill>
                      <a:srgbClr val="EFEFEF"/>
                    </a:solidFill>
                  </a:tcPr>
                </a:tc>
                <a:tc>
                  <a:txBody>
                    <a:bodyPr/>
                    <a:lstStyle/>
                    <a:p>
                      <a:pPr algn="ctr">
                        <a:defRPr sz="900">
                          <a:latin typeface="Montserrat"/>
                        </a:defRPr>
                      </a:pPr>
                      <a:r>
                        <a:t>Noviembre de 2018</a:t>
                      </a:r>
                    </a:p>
                  </a:txBody>
                  <a:tcPr anchor="ctr">
                    <a:solidFill>
                      <a:srgbClr val="EFEFEF"/>
                    </a:solidFill>
                  </a:tcPr>
                </a:tc>
                <a:tc>
                  <a:txBody>
                    <a:bodyPr/>
                    <a:lstStyle/>
                    <a:p>
                      <a:pPr algn="ctr">
                        <a:defRPr sz="900">
                          <a:latin typeface="Montserrat"/>
                        </a:defRPr>
                      </a:pPr>
                      <a:r>
                        <a:t>320</a:t>
                      </a:r>
                    </a:p>
                  </a:txBody>
                  <a:tcPr anchor="ctr">
                    <a:solidFill>
                      <a:srgbClr val="EFEFEF"/>
                    </a:solidFill>
                  </a:tcPr>
                </a:tc>
                <a:tc>
                  <a:txBody>
                    <a:bodyPr/>
                    <a:lstStyle/>
                    <a:p>
                      <a:pPr algn="ctr">
                        <a:defRPr sz="900">
                          <a:latin typeface="Montserrat"/>
                        </a:defRPr>
                      </a:pPr>
                      <a:r>
                        <a:t>142</a:t>
                      </a:r>
                    </a:p>
                  </a:txBody>
                  <a:tcPr anchor="ctr">
                    <a:solidFill>
                      <a:srgbClr val="EFEFEF"/>
                    </a:solidFill>
                  </a:tcPr>
                </a:tc>
                <a:tc>
                  <a:txBody>
                    <a:bodyPr/>
                    <a:lstStyle/>
                    <a:p>
                      <a:pPr algn="ctr">
                        <a:defRPr sz="900">
                          <a:latin typeface="Montserrat"/>
                        </a:defRPr>
                      </a:pPr>
                      <a:r>
                        <a:t>20</a:t>
                      </a:r>
                    </a:p>
                  </a:txBody>
                  <a:tcPr anchor="ctr">
                    <a:solidFill>
                      <a:srgbClr val="EFEFEF"/>
                    </a:solidFill>
                  </a:tcPr>
                </a:tc>
                <a:tc>
                  <a:txBody>
                    <a:bodyPr/>
                    <a:lstStyle/>
                    <a:p>
                      <a:pPr algn="ctr">
                        <a:defRPr sz="900">
                          <a:latin typeface="Montserrat"/>
                        </a:defRPr>
                      </a:pPr>
                      <a:r>
                        <a:t>9</a:t>
                      </a:r>
                    </a:p>
                  </a:txBody>
                  <a:tcPr anchor="ctr">
                    <a:solidFill>
                      <a:srgbClr val="EFEFEF"/>
                    </a:solidFill>
                  </a:tcPr>
                </a:tc>
                <a:tc>
                  <a:txBody>
                    <a:bodyPr/>
                    <a:lstStyle/>
                    <a:p>
                      <a:pPr algn="ctr">
                        <a:defRPr sz="900">
                          <a:latin typeface="Montserrat"/>
                        </a:defRPr>
                      </a:pPr>
                      <a:r>
                        <a:t>45</a:t>
                      </a:r>
                    </a:p>
                  </a:txBody>
                  <a:tcPr anchor="ctr">
                    <a:solidFill>
                      <a:srgbClr val="EFEFEF"/>
                    </a:solidFill>
                  </a:tcPr>
                </a:tc>
              </a:tr>
              <a:tr h="230400">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701</a:t>
                      </a:r>
                    </a:p>
                  </a:txBody>
                  <a:tcPr anchor="ctr">
                    <a:solidFill>
                      <a:srgbClr val="D3E9E7"/>
                    </a:solidFill>
                  </a:tcPr>
                </a:tc>
                <a:tc>
                  <a:txBody>
                    <a:bodyPr/>
                    <a:lstStyle/>
                    <a:p>
                      <a:pPr algn="ctr">
                        <a:defRPr sz="900" b="1">
                          <a:solidFill>
                            <a:srgbClr val="006556"/>
                          </a:solidFill>
                          <a:latin typeface="Montserrat"/>
                        </a:defRPr>
                      </a:pPr>
                      <a:r>
                        <a:t>361</a:t>
                      </a:r>
                    </a:p>
                  </a:txBody>
                  <a:tcPr anchor="ctr">
                    <a:solidFill>
                      <a:srgbClr val="D3E9E7"/>
                    </a:solidFill>
                  </a:tcPr>
                </a:tc>
                <a:tc>
                  <a:txBody>
                    <a:bodyPr/>
                    <a:lstStyle/>
                    <a:p>
                      <a:pPr algn="ctr">
                        <a:defRPr sz="900" b="1">
                          <a:solidFill>
                            <a:srgbClr val="006556"/>
                          </a:solidFill>
                          <a:latin typeface="Montserrat"/>
                        </a:defRPr>
                      </a:pPr>
                      <a:r>
                        <a:t>48</a:t>
                      </a:r>
                    </a:p>
                  </a:txBody>
                  <a:tcPr anchor="ctr">
                    <a:solidFill>
                      <a:srgbClr val="D3E9E7"/>
                    </a:solidFill>
                  </a:tcPr>
                </a:tc>
                <a:tc>
                  <a:txBody>
                    <a:bodyPr/>
                    <a:lstStyle/>
                    <a:p>
                      <a:pPr algn="ctr">
                        <a:defRPr sz="900" b="1">
                          <a:solidFill>
                            <a:srgbClr val="006556"/>
                          </a:solidFill>
                          <a:latin typeface="Montserrat"/>
                        </a:defRPr>
                      </a:pPr>
                      <a:r>
                        <a:t>22</a:t>
                      </a:r>
                    </a:p>
                  </a:txBody>
                  <a:tcPr anchor="ctr">
                    <a:solidFill>
                      <a:srgbClr val="D3E9E7"/>
                    </a:solidFill>
                  </a:tcPr>
                </a:tc>
                <a:tc>
                  <a:txBody>
                    <a:bodyPr/>
                    <a:lstStyle/>
                    <a:p>
                      <a:pPr algn="ctr">
                        <a:defRPr sz="900" b="1">
                          <a:solidFill>
                            <a:srgbClr val="006556"/>
                          </a:solidFill>
                          <a:latin typeface="Montserrat"/>
                        </a:defRPr>
                      </a:pPr>
                      <a:r>
                        <a:t>116</a:t>
                      </a:r>
                    </a:p>
                  </a:txBody>
                  <a:tcPr anchor="ctr">
                    <a:solidFill>
                      <a:srgbClr val="D3E9E7"/>
                    </a:solidFill>
                  </a:tcPr>
                </a:tc>
              </a:tr>
            </a:tbl>
          </a:graphicData>
        </a:graphic>
      </p:graphicFrame>
      <p:sp>
        <p:nvSpPr>
          <p:cNvPr id="13" name="TextBox 12"/>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Corte de Información: marzo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5" name="Grupo 4">
            <a:extLst>
              <a:ext uri="{FF2B5EF4-FFF2-40B4-BE49-F238E27FC236}">
                <a16:creationId xmlns:a16="http://schemas.microsoft.com/office/drawing/2014/main" id="{5EEAEDEB-8662-B2ED-CDAF-23FE54DB37D0}"/>
              </a:ext>
            </a:extLst>
          </p:cNvPr>
          <p:cNvGrpSpPr/>
          <p:nvPr/>
        </p:nvGrpSpPr>
        <p:grpSpPr>
          <a:xfrm>
            <a:off x="149075" y="5452152"/>
            <a:ext cx="7772400" cy="3339378"/>
            <a:chOff x="149075" y="5452152"/>
            <a:chExt cx="7772400" cy="3339378"/>
          </a:xfrm>
        </p:grpSpPr>
        <p:pic>
          <p:nvPicPr>
            <p:cNvPr id="2" name="Google Shape;271;g3d635d120e2_2_87" title="HGZ 86 URUAPAN.jpg">
              <a:extLst>
                <a:ext uri="{FF2B5EF4-FFF2-40B4-BE49-F238E27FC236}">
                  <a16:creationId xmlns:a16="http://schemas.microsoft.com/office/drawing/2014/main" id="{2288EA93-70A9-64C8-B438-1B46BA32A3AC}"/>
                </a:ext>
              </a:extLst>
            </p:cNvPr>
            <p:cNvPicPr preferRelativeResize="0"/>
            <p:nvPr/>
          </p:nvPicPr>
          <p:blipFill rotWithShape="1">
            <a:blip r:embed="rId4">
              <a:alphaModFix/>
            </a:blip>
            <a:srcRect l="1417" t="15479" r="44279" b="26090"/>
            <a:stretch/>
          </p:blipFill>
          <p:spPr>
            <a:xfrm>
              <a:off x="2565713" y="6232559"/>
              <a:ext cx="2401009" cy="1562332"/>
            </a:xfrm>
            <a:prstGeom prst="rect">
              <a:avLst/>
            </a:prstGeom>
            <a:noFill/>
            <a:ln>
              <a:noFill/>
            </a:ln>
            <a:effectLst>
              <a:outerShdw blurRad="114300" dist="57150" dir="10800000" algn="bl" rotWithShape="0">
                <a:srgbClr val="000000">
                  <a:alpha val="50000"/>
                </a:srgbClr>
              </a:outerShdw>
            </a:effectLst>
          </p:spPr>
        </p:pic>
        <p:sp>
          <p:nvSpPr>
            <p:cNvPr id="3" name="Google Shape;273;g3d635d120e2_2_87">
              <a:extLst>
                <a:ext uri="{FF2B5EF4-FFF2-40B4-BE49-F238E27FC236}">
                  <a16:creationId xmlns:a16="http://schemas.microsoft.com/office/drawing/2014/main" id="{FCD9118F-E270-11BA-3B2C-980F56AACEA2}"/>
                </a:ext>
              </a:extLst>
            </p:cNvPr>
            <p:cNvSpPr/>
            <p:nvPr/>
          </p:nvSpPr>
          <p:spPr>
            <a:xfrm>
              <a:off x="2988254" y="7808763"/>
              <a:ext cx="1936500" cy="3777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s" sz="1300" b="1">
                  <a:solidFill>
                    <a:srgbClr val="FFFFFF"/>
                  </a:solidFill>
                  <a:latin typeface="Montserrat"/>
                  <a:ea typeface="Montserrat"/>
                  <a:cs typeface="Montserrat"/>
                  <a:sym typeface="Montserrat"/>
                </a:rPr>
                <a:t>Mastógrafo</a:t>
              </a:r>
              <a:endParaRPr sz="1100">
                <a:solidFill>
                  <a:srgbClr val="FFFFFF"/>
                </a:solidFill>
              </a:endParaRPr>
            </a:p>
          </p:txBody>
        </p:sp>
        <p:sp>
          <p:nvSpPr>
            <p:cNvPr id="4" name="Google Shape;274;g3d635d120e2_2_87">
              <a:extLst>
                <a:ext uri="{FF2B5EF4-FFF2-40B4-BE49-F238E27FC236}">
                  <a16:creationId xmlns:a16="http://schemas.microsoft.com/office/drawing/2014/main" id="{5336E88B-A52B-9017-FCD2-22FCAD5C50CA}"/>
                </a:ext>
              </a:extLst>
            </p:cNvPr>
            <p:cNvSpPr/>
            <p:nvPr/>
          </p:nvSpPr>
          <p:spPr>
            <a:xfrm>
              <a:off x="2565722" y="7808752"/>
              <a:ext cx="460500" cy="3777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s">
                  <a:solidFill>
                    <a:srgbClr val="FFFFFF"/>
                  </a:solidFill>
                  <a:latin typeface="Noto Sans Black"/>
                  <a:ea typeface="Noto Sans Black"/>
                  <a:cs typeface="Noto Sans Black"/>
                  <a:sym typeface="Noto Sans Black"/>
                </a:rPr>
                <a:t>1</a:t>
              </a:r>
              <a:endParaRPr>
                <a:solidFill>
                  <a:srgbClr val="FFFFFF"/>
                </a:solidFill>
                <a:latin typeface="Noto Sans Black"/>
                <a:ea typeface="Noto Sans Black"/>
                <a:cs typeface="Noto Sans Black"/>
                <a:sym typeface="Noto Sans Black"/>
              </a:endParaRPr>
            </a:p>
          </p:txBody>
        </p:sp>
        <p:sp>
          <p:nvSpPr>
            <p:cNvPr id="6" name="Google Shape;282;g3d635d120e2_2_87">
              <a:extLst>
                <a:ext uri="{FF2B5EF4-FFF2-40B4-BE49-F238E27FC236}">
                  <a16:creationId xmlns:a16="http://schemas.microsoft.com/office/drawing/2014/main" id="{0D5675C5-ADCF-57B9-7A0D-77F34DDB0A00}"/>
                </a:ext>
              </a:extLst>
            </p:cNvPr>
            <p:cNvSpPr txBox="1"/>
            <p:nvPr/>
          </p:nvSpPr>
          <p:spPr>
            <a:xfrm>
              <a:off x="149075" y="5452152"/>
              <a:ext cx="7772400" cy="34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s" sz="1600" b="1" dirty="0">
                  <a:solidFill>
                    <a:srgbClr val="006858"/>
                  </a:solidFill>
                  <a:latin typeface="Montserrat"/>
                  <a:ea typeface="Montserrat"/>
                  <a:cs typeface="Montserrat"/>
                  <a:sym typeface="Montserrat"/>
                </a:rPr>
                <a:t>Fortalecimiento de equipo médico</a:t>
              </a:r>
              <a:endParaRPr sz="1600" b="1" dirty="0">
                <a:solidFill>
                  <a:srgbClr val="006858"/>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1600" b="1" i="0" u="none" strike="noStrike" cap="none" dirty="0">
                  <a:solidFill>
                    <a:srgbClr val="006858"/>
                  </a:solidFill>
                  <a:latin typeface="Montserrat"/>
                  <a:ea typeface="Montserrat"/>
                  <a:cs typeface="Montserrat"/>
                  <a:sym typeface="Montserrat"/>
                </a:rPr>
                <a:t>Compra 2025-2026 equipo mayor  (</a:t>
              </a:r>
              <a:r>
                <a:rPr lang="es" sz="1600" b="1" dirty="0">
                  <a:solidFill>
                    <a:srgbClr val="006858"/>
                  </a:solidFill>
                  <a:latin typeface="Montserrat"/>
                  <a:ea typeface="Montserrat"/>
                  <a:cs typeface="Montserrat"/>
                  <a:sym typeface="Montserrat"/>
                </a:rPr>
                <a:t>Instalación</a:t>
              </a:r>
              <a:r>
                <a:rPr lang="es" sz="1600" b="1" i="0" u="none" strike="noStrike" cap="none" dirty="0">
                  <a:solidFill>
                    <a:srgbClr val="006858"/>
                  </a:solidFill>
                  <a:latin typeface="Montserrat"/>
                  <a:ea typeface="Montserrat"/>
                  <a:cs typeface="Montserrat"/>
                  <a:sym typeface="Montserrat"/>
                </a:rPr>
                <a:t> abr</a:t>
              </a:r>
              <a:r>
                <a:rPr lang="es" sz="1600" b="1" dirty="0">
                  <a:solidFill>
                    <a:srgbClr val="006858"/>
                  </a:solidFill>
                  <a:latin typeface="Montserrat"/>
                  <a:ea typeface="Montserrat"/>
                  <a:cs typeface="Montserrat"/>
                  <a:sym typeface="Montserrat"/>
                </a:rPr>
                <a:t>il-</a:t>
              </a:r>
              <a:r>
                <a:rPr lang="es" sz="1600" b="1" i="0" u="none" strike="noStrike" cap="none" dirty="0">
                  <a:solidFill>
                    <a:srgbClr val="006858"/>
                  </a:solidFill>
                  <a:latin typeface="Montserrat"/>
                  <a:ea typeface="Montserrat"/>
                  <a:cs typeface="Montserrat"/>
                  <a:sym typeface="Montserrat"/>
                </a:rPr>
                <a:t>mayo)</a:t>
              </a:r>
              <a:endParaRPr sz="2300" b="1" i="0" u="none" strike="noStrike" cap="none" dirty="0">
                <a:solidFill>
                  <a:srgbClr val="006858"/>
                </a:solidFill>
                <a:latin typeface="Montserrat"/>
                <a:ea typeface="Montserrat"/>
                <a:cs typeface="Montserrat"/>
                <a:sym typeface="Montserrat"/>
              </a:endParaRPr>
            </a:p>
          </p:txBody>
        </p:sp>
        <p:sp>
          <p:nvSpPr>
            <p:cNvPr id="7" name="Google Shape;275;g3d635d120e2_2_87">
              <a:extLst>
                <a:ext uri="{FF2B5EF4-FFF2-40B4-BE49-F238E27FC236}">
                  <a16:creationId xmlns:a16="http://schemas.microsoft.com/office/drawing/2014/main" id="{35EEDBBB-C626-54A9-134F-C8BCFE390D61}"/>
                </a:ext>
              </a:extLst>
            </p:cNvPr>
            <p:cNvSpPr txBox="1"/>
            <p:nvPr/>
          </p:nvSpPr>
          <p:spPr>
            <a:xfrm>
              <a:off x="2511699" y="8146768"/>
              <a:ext cx="2323200" cy="644762"/>
            </a:xfrm>
            <a:prstGeom prst="rect">
              <a:avLst/>
            </a:prstGeom>
            <a:noFill/>
            <a:ln>
              <a:noFill/>
            </a:ln>
          </p:spPr>
          <p:txBody>
            <a:bodyPr spcFirstLastPara="1" wrap="square" lIns="91425" tIns="91425" rIns="91425" bIns="91425" anchor="t" anchorCtr="0">
              <a:spAutoFit/>
            </a:bodyPr>
            <a:lstStyle/>
            <a:p>
              <a:pPr marL="0" marR="63500" lvl="0" indent="0" algn="ctr" rtl="0">
                <a:lnSpc>
                  <a:spcPct val="115000"/>
                </a:lnSpc>
                <a:spcBef>
                  <a:spcPts val="0"/>
                </a:spcBef>
                <a:spcAft>
                  <a:spcPts val="0"/>
                </a:spcAft>
                <a:buNone/>
              </a:pPr>
              <a:r>
                <a:rPr lang="es" sz="1300" dirty="0">
                  <a:solidFill>
                    <a:srgbClr val="595959"/>
                  </a:solidFill>
                  <a:latin typeface="Montserrat"/>
                  <a:ea typeface="Montserrat"/>
                  <a:cs typeface="Montserrat"/>
                  <a:sym typeface="Montserrat"/>
                </a:rPr>
                <a:t>HGR 1 Querétaro</a:t>
              </a:r>
            </a:p>
            <a:p>
              <a:pPr marL="0" marR="63500" lvl="0" indent="0" algn="ctr" rtl="0">
                <a:lnSpc>
                  <a:spcPct val="115000"/>
                </a:lnSpc>
                <a:spcBef>
                  <a:spcPts val="0"/>
                </a:spcBef>
                <a:spcAft>
                  <a:spcPts val="0"/>
                </a:spcAft>
                <a:buNone/>
              </a:pPr>
              <a:r>
                <a:rPr lang="es" sz="1300" b="1" dirty="0">
                  <a:solidFill>
                    <a:srgbClr val="595959"/>
                  </a:solidFill>
                  <a:latin typeface="Montserrat"/>
                  <a:ea typeface="Montserrat"/>
                  <a:cs typeface="Montserrat"/>
                  <a:sym typeface="Montserrat"/>
                </a:rPr>
                <a:t>$4.3 mdp</a:t>
              </a:r>
              <a:endParaRPr sz="1300" b="1" dirty="0">
                <a:solidFill>
                  <a:srgbClr val="595959"/>
                </a:solidFill>
                <a:latin typeface="Montserrat"/>
                <a:ea typeface="Montserrat"/>
                <a:cs typeface="Montserrat"/>
                <a:sym typeface="Montserrat"/>
              </a:endParaRPr>
            </a:p>
          </p:txBody>
        </p:sp>
      </p:grpSp>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graphicFrame>
        <p:nvGraphicFramePr>
          <p:cNvPr id="154" name="Table 153"/>
          <p:cNvGraphicFramePr>
            <a:graphicFrameLocks noGrp="1"/>
          </p:cNvGraphicFramePr>
          <p:nvPr/>
        </p:nvGraphicFramePr>
        <p:xfrm>
          <a:off x="93600" y="1180800"/>
          <a:ext cx="7534799" cy="1295999"/>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5999">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5999">
                <a:tc>
                  <a:txBody>
                    <a:bodyPr/>
                    <a:lstStyle/>
                    <a:p>
                      <a:pPr algn="l">
                        <a:defRPr sz="1000">
                          <a:latin typeface="Montserrat"/>
                        </a:defRPr>
                      </a:pPr>
                      <a:r>
                        <a:t>UMAA 1 Querétaro (Aut)</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5999">
                <a:tc>
                  <a:txBody>
                    <a:bodyPr/>
                    <a:lstStyle/>
                    <a:p>
                      <a:pPr algn="l">
                        <a:defRPr sz="1000">
                          <a:latin typeface="Montserrat"/>
                        </a:defRPr>
                      </a:pPr>
                      <a:r>
                        <a:t>HGZ 3 S. Juan del Río</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5999">
                <a:tc>
                  <a:txBody>
                    <a:bodyPr/>
                    <a:lstStyle/>
                    <a:p>
                      <a:pPr algn="l">
                        <a:defRPr sz="1000">
                          <a:latin typeface="Montserrat"/>
                        </a:defRPr>
                      </a:pPr>
                      <a:r>
                        <a:t>HGR 2 El Marqués</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3</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r>
              <a:tr h="215999">
                <a:tc>
                  <a:txBody>
                    <a:bodyPr/>
                    <a:lstStyle/>
                    <a:p>
                      <a:pPr algn="l">
                        <a:defRPr sz="1000">
                          <a:latin typeface="Montserrat"/>
                        </a:defRPr>
                      </a:pPr>
                      <a:r>
                        <a:t>HGR 1 Querétaro</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4</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4">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3</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8</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r>
            </a:tbl>
          </a:graphicData>
        </a:graphic>
      </p:graphicFrame>
      <p:sp>
        <p:nvSpPr>
          <p:cNvPr id="155" name="Rectangle 154"/>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No incluye equipo relevante no instalado.</a:t>
            </a:r>
            <a:br/>
            <a:r>
              <a:t>Fuente: Cédula de actualización de variables seleccionadas del IFU, enviadas por el OOAD.</a:t>
            </a:r>
            <a:br/>
            <a:r>
              <a:t>Corte de información: marzo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2928473476"/>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Resumen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B3238C87-67CB-A792-44F9-BEB7AACCF1B6}"/>
              </a:ext>
            </a:extLst>
          </p:cNvPr>
          <p:cNvGraphicFramePr/>
          <p:nvPr>
            <p:extLst>
              <p:ext uri="{D42A27DB-BD31-4B8C-83A1-F6EECF244321}">
                <p14:modId xmlns:p14="http://schemas.microsoft.com/office/powerpoint/2010/main" val="2058233477"/>
              </p:ext>
            </p:extLst>
          </p:nvPr>
        </p:nvGraphicFramePr>
        <p:xfrm>
          <a:off x="143502" y="4166360"/>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Resultados 2025</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24DBA245-D0F2-5439-3D4E-406757F4198A}"/>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114007"/>
            <a:ext cx="2975495" cy="3699793"/>
          </a:xfrm>
          <a:prstGeom prst="rect">
            <a:avLst/>
          </a:prstGeom>
        </p:spPr>
      </p:pic>
      <p:cxnSp>
        <p:nvCxnSpPr>
          <p:cNvPr id="4" name="Conector recto 3">
            <a:extLst>
              <a:ext uri="{FF2B5EF4-FFF2-40B4-BE49-F238E27FC236}">
                <a16:creationId xmlns:a16="http://schemas.microsoft.com/office/drawing/2014/main" id="{CB93BA46-99FC-F8F4-980E-6D1E57E3DAB9}"/>
              </a:ext>
            </a:extLst>
          </p:cNvPr>
          <p:cNvCxnSpPr>
            <a:cxnSpLocks/>
          </p:cNvCxnSpPr>
          <p:nvPr/>
        </p:nvCxnSpPr>
        <p:spPr>
          <a:xfrm>
            <a:off x="5210629" y="5586778"/>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93451C3C-D474-8429-BEA1-D4D7C6B2EBA2}"/>
              </a:ext>
            </a:extLst>
          </p:cNvPr>
          <p:cNvCxnSpPr>
            <a:cxnSpLocks/>
          </p:cNvCxnSpPr>
          <p:nvPr/>
        </p:nvCxnSpPr>
        <p:spPr>
          <a:xfrm>
            <a:off x="5210629" y="7248664"/>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6" name="CuadroTexto 5">
            <a:extLst>
              <a:ext uri="{FF2B5EF4-FFF2-40B4-BE49-F238E27FC236}">
                <a16:creationId xmlns:a16="http://schemas.microsoft.com/office/drawing/2014/main" id="{8AA76FC8-0D17-5DAE-8CF8-97BCD9A18BE7}"/>
              </a:ext>
            </a:extLst>
          </p:cNvPr>
          <p:cNvSpPr txBox="1"/>
          <p:nvPr/>
        </p:nvSpPr>
        <p:spPr>
          <a:xfrm>
            <a:off x="5064096" y="5124571"/>
            <a:ext cx="1930400" cy="415498"/>
          </a:xfrm>
          <a:prstGeom prst="rect">
            <a:avLst/>
          </a:prstGeom>
          <a:noFill/>
        </p:spPr>
        <p:txBody>
          <a:bodyPr wrap="square" rtlCol="0">
            <a:spAutoFit/>
          </a:bodyPr>
          <a:lstStyle/>
          <a:p>
            <a:pPr algn="ctr"/>
            <a:r>
              <a:rPr lang="es-ES" sz="2100" b="1" dirty="0">
                <a:solidFill>
                  <a:schemeClr val="tx1">
                    <a:lumMod val="75000"/>
                    <a:lumOff val="25000"/>
                  </a:schemeClr>
                </a:solidFill>
              </a:rPr>
              <a:t>Cirugías</a:t>
            </a:r>
            <a:endParaRPr lang="es-MX" sz="2100" b="1" dirty="0">
              <a:solidFill>
                <a:schemeClr val="tx1">
                  <a:lumMod val="75000"/>
                  <a:lumOff val="25000"/>
                </a:schemeClr>
              </a:solidFill>
            </a:endParaRPr>
          </a:p>
        </p:txBody>
      </p:sp>
      <p:sp>
        <p:nvSpPr>
          <p:cNvPr id="7" name="CuadroTexto 6">
            <a:extLst>
              <a:ext uri="{FF2B5EF4-FFF2-40B4-BE49-F238E27FC236}">
                <a16:creationId xmlns:a16="http://schemas.microsoft.com/office/drawing/2014/main" id="{F3F70D3E-ED13-9419-AB91-37DC4C86D4FF}"/>
              </a:ext>
            </a:extLst>
          </p:cNvPr>
          <p:cNvSpPr txBox="1"/>
          <p:nvPr/>
        </p:nvSpPr>
        <p:spPr>
          <a:xfrm>
            <a:off x="5064096" y="6510000"/>
            <a:ext cx="1930400"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Especialidad</a:t>
            </a:r>
            <a:endParaRPr lang="es-MX" sz="2100" b="1" dirty="0">
              <a:solidFill>
                <a:schemeClr val="tx1">
                  <a:lumMod val="75000"/>
                  <a:lumOff val="25000"/>
                </a:schemeClr>
              </a:solidFill>
            </a:endParaRPr>
          </a:p>
        </p:txBody>
      </p:sp>
      <p:sp>
        <p:nvSpPr>
          <p:cNvPr id="8" name="CuadroTexto 7">
            <a:extLst>
              <a:ext uri="{FF2B5EF4-FFF2-40B4-BE49-F238E27FC236}">
                <a16:creationId xmlns:a16="http://schemas.microsoft.com/office/drawing/2014/main" id="{756F5CB7-B5D2-B019-ED75-9B546CD1ECF9}"/>
              </a:ext>
            </a:extLst>
          </p:cNvPr>
          <p:cNvSpPr txBox="1"/>
          <p:nvPr/>
        </p:nvSpPr>
        <p:spPr>
          <a:xfrm>
            <a:off x="4701239" y="8131971"/>
            <a:ext cx="2656114"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Medicina Familiar</a:t>
            </a:r>
            <a:endParaRPr lang="es-MX" sz="2100" b="1" dirty="0">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232" name="TextBox 231"/>
          <p:cNvSpPr txBox="1"/>
          <p:nvPr/>
        </p:nvSpPr>
        <p:spPr>
          <a:xfrm>
            <a:off x="176400" y="8982000"/>
            <a:ext cx="2977200" cy="3996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21, 17 mayo 2026</a:t>
            </a:r>
            <a:br/>
            <a:r>
              <a:t>¹Las consultas de medicina familiar incluyen los hospitales con UMF.</a:t>
            </a:r>
          </a:p>
        </p:txBody>
      </p:sp>
      <p:sp>
        <p:nvSpPr>
          <p:cNvPr id="233" name="TextBox 232"/>
          <p:cNvSpPr txBox="1"/>
          <p:nvPr/>
        </p:nvSpPr>
        <p:spPr>
          <a:xfrm>
            <a:off x="5270400" y="4662000"/>
            <a:ext cx="1515600" cy="540000"/>
          </a:xfrm>
          <a:prstGeom prst="rect">
            <a:avLst/>
          </a:prstGeom>
          <a:noFill/>
        </p:spPr>
        <p:txBody>
          <a:bodyPr wrap="none">
            <a:spAutoFit/>
          </a:bodyPr>
          <a:lstStyle/>
          <a:p>
            <a:pPr algn="ctr">
              <a:defRPr sz="2500" b="1">
                <a:solidFill>
                  <a:srgbClr val="9F2241"/>
                </a:solidFill>
                <a:latin typeface="Montserrat"/>
              </a:defRPr>
            </a:pPr>
            <a:r>
              <a:t>+4,035</a:t>
            </a:r>
          </a:p>
        </p:txBody>
      </p:sp>
      <p:sp>
        <p:nvSpPr>
          <p:cNvPr id="234" name="TextBox 233"/>
          <p:cNvSpPr txBox="1"/>
          <p:nvPr/>
        </p:nvSpPr>
        <p:spPr>
          <a:xfrm>
            <a:off x="5270400" y="7513200"/>
            <a:ext cx="1515600" cy="540000"/>
          </a:xfrm>
          <a:prstGeom prst="rect">
            <a:avLst/>
          </a:prstGeom>
          <a:noFill/>
        </p:spPr>
        <p:txBody>
          <a:bodyPr wrap="none">
            <a:spAutoFit/>
          </a:bodyPr>
          <a:lstStyle/>
          <a:p>
            <a:pPr algn="ctr">
              <a:defRPr sz="2500" b="1">
                <a:solidFill>
                  <a:srgbClr val="9F2241"/>
                </a:solidFill>
                <a:latin typeface="Montserrat"/>
              </a:defRPr>
            </a:pPr>
            <a:r>
              <a:t>+314,716</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+124,547</a:t>
            </a:r>
          </a:p>
        </p:txBody>
      </p:sp>
      <p:graphicFrame>
        <p:nvGraphicFramePr>
          <p:cNvPr id="236" name="Table 235"/>
          <p:cNvGraphicFramePr>
            <a:graphicFrameLocks noGrp="1"/>
          </p:cNvGraphicFramePr>
          <p:nvPr/>
        </p:nvGraphicFramePr>
        <p:xfrm>
          <a:off x="144000" y="1620000"/>
          <a:ext cx="7469999" cy="1584000"/>
        </p:xfrm>
        <a:graphic>
          <a:graphicData uri="http://schemas.openxmlformats.org/drawingml/2006/table">
            <a:tbl>
              <a:tblPr firstRow="1" bandRow="1">
                <a:tableStyleId>{5C22544A-7EE6-4342-B048-85BDC9FD1C3A}</a:tableStyleId>
              </a:tblPr>
              <a:tblGrid>
                <a:gridCol w="2134800"/>
                <a:gridCol w="1007999"/>
                <a:gridCol w="1188000"/>
                <a:gridCol w="1098000"/>
                <a:gridCol w="1098000"/>
                <a:gridCol w="943200"/>
              </a:tblGrid>
              <a:tr h="396000">
                <a:tc>
                  <a:txBody>
                    <a:bodyPr/>
                    <a:lstStyle/>
                    <a:p>
                      <a:pPr algn="ctr">
                        <a:defRPr b="1" sz="1200">
                          <a:solidFill>
                            <a:srgbClr val="FFFFFF"/>
                          </a:solidFill>
                          <a:latin typeface="Montserrat"/>
                        </a:defRPr>
                      </a:pPr>
                      <a:r>
                        <a:t>Indicador</a:t>
                      </a:r>
                    </a:p>
                  </a:txBody>
                  <a:tcPr anchor="ctr">
                    <a:solidFill>
                      <a:srgbClr val="006455"/>
                    </a:solidFill>
                  </a:tcPr>
                </a:tc>
                <a:tc>
                  <a:txBody>
                    <a:bodyPr/>
                    <a:lstStyle/>
                    <a:p>
                      <a:pPr algn="ctr">
                        <a:defRPr b="1" sz="1200">
                          <a:solidFill>
                            <a:srgbClr val="FFFFFF"/>
                          </a:solidFill>
                          <a:latin typeface="Montserrat"/>
                        </a:defRPr>
                      </a:pPr>
                      <a:r>
                        <a:t>2025</a:t>
                      </a:r>
                    </a:p>
                  </a:txBody>
                  <a:tcPr anchor="ctr">
                    <a:solidFill>
                      <a:srgbClr val="006455"/>
                    </a:solidFill>
                  </a:tcPr>
                </a:tc>
                <a:tc>
                  <a:txBody>
                    <a:bodyPr/>
                    <a:lstStyle/>
                    <a:p>
                      <a:pPr algn="ctr">
                        <a:defRPr b="1" sz="1200">
                          <a:solidFill>
                            <a:srgbClr val="FFFFFF"/>
                          </a:solidFill>
                          <a:latin typeface="Montserrat"/>
                        </a:defRPr>
                      </a:pPr>
                      <a:r>
                        <a:t>Incremento 2024 vs 2025</a:t>
                      </a:r>
                    </a:p>
                  </a:txBody>
                  <a:tcPr anchor="ctr">
                    <a:solidFill>
                      <a:srgbClr val="006455"/>
                    </a:solidFill>
                  </a:tcPr>
                </a:tc>
                <a:tc>
                  <a:txBody>
                    <a:bodyPr/>
                    <a:lstStyle/>
                    <a:p>
                      <a:pPr algn="ctr">
                        <a:defRPr b="1" sz="1200">
                          <a:solidFill>
                            <a:srgbClr val="FFFFFF"/>
                          </a:solidFill>
                          <a:latin typeface="Montserrat"/>
                        </a:defRPr>
                      </a:pPr>
                      <a:r>
                        <a:t>Avance 2026</a:t>
                      </a:r>
                    </a:p>
                  </a:txBody>
                  <a:tcPr anchor="ctr">
                    <a:solidFill>
                      <a:srgbClr val="980000"/>
                    </a:solidFill>
                  </a:tcPr>
                </a:tc>
                <a:tc>
                  <a:txBody>
                    <a:bodyPr/>
                    <a:lstStyle/>
                    <a:p>
                      <a:pPr algn="ctr">
                        <a:defRPr b="1" sz="1200">
                          <a:solidFill>
                            <a:srgbClr val="FFFFFF"/>
                          </a:solidFill>
                          <a:latin typeface="Montserrat"/>
                        </a:defRPr>
                      </a:pPr>
                      <a:r>
                        <a:t>Meta 2026</a:t>
                      </a:r>
                    </a:p>
                  </a:txBody>
                  <a:tcPr anchor="ctr">
                    <a:solidFill>
                      <a:srgbClr val="980000"/>
                    </a:solidFill>
                  </a:tcPr>
                </a:tc>
                <a:tc>
                  <a:txBody>
                    <a:bodyPr/>
                    <a:lstStyle/>
                    <a:p>
                      <a:pPr algn="ctr">
                        <a:defRPr b="1" sz="1200">
                          <a:solidFill>
                            <a:srgbClr val="FFFFFF"/>
                          </a:solidFill>
                          <a:latin typeface="Montserrat"/>
                        </a:defRPr>
                      </a:pPr>
                      <a:r>
                        <a:t>% avance anual</a:t>
                      </a:r>
                    </a:p>
                  </a:txBody>
                  <a:tcPr anchor="ctr">
                    <a:solidFill>
                      <a:srgbClr val="980000"/>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Medicina Familiar¹</a:t>
                      </a:r>
                    </a:p>
                  </a:txBody>
                  <a:tcPr marL="0" marR="0" marT="0" marB="0" anchor="ctr">
                    <a:solidFill>
                      <a:srgbClr val="006455"/>
                    </a:solidFill>
                  </a:tcPr>
                </a:tc>
                <a:tc>
                  <a:txBody>
                    <a:bodyPr/>
                    <a:lstStyle/>
                    <a:p>
                      <a:pPr algn="ctr">
                        <a:defRPr sz="1000">
                          <a:solidFill>
                            <a:srgbClr val="404040"/>
                          </a:solidFill>
                          <a:latin typeface="Montserrat"/>
                        </a:defRPr>
                      </a:pPr>
                      <a:r>
                        <a:t>2,361,256</a:t>
                      </a:r>
                    </a:p>
                  </a:txBody>
                  <a:tcPr marL="0" marR="0" marT="0" marB="0" anchor="ctr">
                    <a:solidFill>
                      <a:srgbClr val="FFFFFF"/>
                    </a:solidFill>
                  </a:tcPr>
                </a:tc>
                <a:tc>
                  <a:txBody>
                    <a:bodyPr/>
                    <a:lstStyle/>
                    <a:p>
                      <a:pPr algn="ctr">
                        <a:defRPr sz="1000">
                          <a:solidFill>
                            <a:srgbClr val="404040"/>
                          </a:solidFill>
                          <a:latin typeface="Montserrat"/>
                        </a:defRPr>
                      </a:pPr>
                      <a:r>
                        <a:t>314,716</a:t>
                      </a:r>
                    </a:p>
                  </a:txBody>
                  <a:tcPr marL="0" marR="0" marT="0" marB="0" anchor="ctr">
                    <a:solidFill>
                      <a:srgbClr val="FFFFFF"/>
                    </a:solidFill>
                  </a:tcPr>
                </a:tc>
                <a:tc>
                  <a:txBody>
                    <a:bodyPr/>
                    <a:lstStyle/>
                    <a:p>
                      <a:pPr algn="ctr">
                        <a:defRPr sz="1000" b="1">
                          <a:solidFill>
                            <a:srgbClr val="980000"/>
                          </a:solidFill>
                          <a:latin typeface="Montserrat"/>
                        </a:defRPr>
                      </a:pPr>
                      <a:r>
                        <a:t>924,368</a:t>
                      </a:r>
                    </a:p>
                  </a:txBody>
                  <a:tcPr marL="0" marR="0" marT="0" marB="0" anchor="ctr">
                    <a:solidFill>
                      <a:srgbClr val="ECD3D9"/>
                    </a:solidFill>
                  </a:tcPr>
                </a:tc>
                <a:tc>
                  <a:txBody>
                    <a:bodyPr/>
                    <a:lstStyle/>
                    <a:p>
                      <a:pPr algn="ctr">
                        <a:defRPr sz="1000" b="1">
                          <a:solidFill>
                            <a:srgbClr val="980000"/>
                          </a:solidFill>
                          <a:latin typeface="Montserrat"/>
                        </a:defRPr>
                      </a:pPr>
                      <a:r>
                        <a:t>2,371,808</a:t>
                      </a:r>
                    </a:p>
                  </a:txBody>
                  <a:tcPr marL="0" marR="0" marT="0" marB="0" anchor="ctr">
                    <a:solidFill>
                      <a:srgbClr val="ECD3D9"/>
                    </a:solidFill>
                  </a:tcPr>
                </a:tc>
                <a:tc>
                  <a:txBody>
                    <a:bodyPr/>
                    <a:lstStyle/>
                    <a:p>
                      <a:pPr algn="ctr">
                        <a:defRPr sz="1000" b="1">
                          <a:solidFill>
                            <a:srgbClr val="980000"/>
                          </a:solidFill>
                          <a:latin typeface="Montserrat"/>
                        </a:defRPr>
                      </a:pPr>
                      <a:r>
                        <a:t>39.0%</a:t>
                      </a:r>
                    </a:p>
                  </a:txBody>
                  <a:tcPr marL="0" marR="0" marT="0" marB="0" anchor="ctr">
                    <a:solidFill>
                      <a:srgbClr val="ECD3D9"/>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Especialidad</a:t>
                      </a:r>
                    </a:p>
                  </a:txBody>
                  <a:tcPr marL="0" marR="0" marT="0" marB="0" anchor="ctr">
                    <a:solidFill>
                      <a:srgbClr val="006455"/>
                    </a:solidFill>
                  </a:tcPr>
                </a:tc>
                <a:tc>
                  <a:txBody>
                    <a:bodyPr/>
                    <a:lstStyle/>
                    <a:p>
                      <a:pPr algn="ctr">
                        <a:defRPr sz="1000">
                          <a:solidFill>
                            <a:srgbClr val="404040"/>
                          </a:solidFill>
                          <a:latin typeface="Montserrat"/>
                        </a:defRPr>
                      </a:pPr>
                      <a:r>
                        <a:t>620,528</a:t>
                      </a:r>
                    </a:p>
                  </a:txBody>
                  <a:tcPr marL="0" marR="0" marT="0" marB="0" anchor="ctr">
                    <a:solidFill>
                      <a:srgbClr val="EFEFEF"/>
                    </a:solidFill>
                  </a:tcPr>
                </a:tc>
                <a:tc>
                  <a:txBody>
                    <a:bodyPr/>
                    <a:lstStyle/>
                    <a:p>
                      <a:pPr algn="ctr">
                        <a:defRPr sz="1000">
                          <a:solidFill>
                            <a:srgbClr val="404040"/>
                          </a:solidFill>
                          <a:latin typeface="Montserrat"/>
                        </a:defRPr>
                      </a:pPr>
                      <a:r>
                        <a:t>124,547</a:t>
                      </a:r>
                    </a:p>
                  </a:txBody>
                  <a:tcPr marL="0" marR="0" marT="0" marB="0" anchor="ctr">
                    <a:solidFill>
                      <a:srgbClr val="EFEFEF"/>
                    </a:solidFill>
                  </a:tcPr>
                </a:tc>
                <a:tc>
                  <a:txBody>
                    <a:bodyPr/>
                    <a:lstStyle/>
                    <a:p>
                      <a:pPr algn="ctr">
                        <a:defRPr sz="1000" b="1">
                          <a:solidFill>
                            <a:srgbClr val="980000"/>
                          </a:solidFill>
                          <a:latin typeface="Montserrat"/>
                        </a:defRPr>
                      </a:pPr>
                      <a:r>
                        <a:t>271,895</a:t>
                      </a:r>
                    </a:p>
                  </a:txBody>
                  <a:tcPr marL="0" marR="0" marT="0" marB="0" anchor="ctr">
                    <a:solidFill>
                      <a:srgbClr val="F4E3E7"/>
                    </a:solidFill>
                  </a:tcPr>
                </a:tc>
                <a:tc>
                  <a:txBody>
                    <a:bodyPr/>
                    <a:lstStyle/>
                    <a:p>
                      <a:pPr algn="ctr">
                        <a:defRPr sz="1000" b="1">
                          <a:solidFill>
                            <a:srgbClr val="980000"/>
                          </a:solidFill>
                          <a:latin typeface="Montserrat"/>
                        </a:defRPr>
                      </a:pPr>
                      <a:r>
                        <a:t>632,910</a:t>
                      </a:r>
                    </a:p>
                  </a:txBody>
                  <a:tcPr marL="0" marR="0" marT="0" marB="0" anchor="ctr">
                    <a:solidFill>
                      <a:srgbClr val="F4E3E7"/>
                    </a:solidFill>
                  </a:tcPr>
                </a:tc>
                <a:tc>
                  <a:txBody>
                    <a:bodyPr/>
                    <a:lstStyle/>
                    <a:p>
                      <a:pPr algn="ctr">
                        <a:defRPr sz="1000" b="1">
                          <a:solidFill>
                            <a:srgbClr val="980000"/>
                          </a:solidFill>
                          <a:latin typeface="Montserrat"/>
                        </a:defRPr>
                      </a:pPr>
                      <a:r>
                        <a:t>43.0%</a:t>
                      </a:r>
                    </a:p>
                  </a:txBody>
                  <a:tcPr marL="0" marR="0" marT="0" marB="0" anchor="ctr">
                    <a:solidFill>
                      <a:srgbClr val="F4E3E7"/>
                    </a:solidFill>
                  </a:tcPr>
                </a:tc>
              </a:tr>
              <a:tr h="396000">
                <a:tc>
                  <a:txBody>
                    <a:bodyPr/>
                    <a:lstStyle/>
                    <a:p>
                      <a:pPr algn="l">
                        <a:defRPr sz="1000" b="1">
                          <a:solidFill>
                            <a:srgbClr val="FFFFFF"/>
                          </a:solidFill>
                          <a:latin typeface="Montserrat"/>
                        </a:defRPr>
                      </a:pPr>
                      <a:r>
                        <a:t>Cirugías</a:t>
                      </a:r>
                    </a:p>
                  </a:txBody>
                  <a:tcPr marL="0" marR="0" marT="0" marB="0" anchor="ctr">
                    <a:solidFill>
                      <a:srgbClr val="006455"/>
                    </a:solidFill>
                  </a:tcPr>
                </a:tc>
                <a:tc>
                  <a:txBody>
                    <a:bodyPr/>
                    <a:lstStyle/>
                    <a:p>
                      <a:pPr algn="ctr">
                        <a:defRPr sz="1000">
                          <a:solidFill>
                            <a:srgbClr val="404040"/>
                          </a:solidFill>
                          <a:latin typeface="Montserrat"/>
                        </a:defRPr>
                      </a:pPr>
                      <a:r>
                        <a:t>35,419</a:t>
                      </a:r>
                    </a:p>
                  </a:txBody>
                  <a:tcPr marL="0" marR="0" marT="0" marB="0" anchor="ctr">
                    <a:solidFill>
                      <a:srgbClr val="FFFFFF"/>
                    </a:solidFill>
                  </a:tcPr>
                </a:tc>
                <a:tc>
                  <a:txBody>
                    <a:bodyPr/>
                    <a:lstStyle/>
                    <a:p>
                      <a:pPr algn="ctr">
                        <a:defRPr sz="1000">
                          <a:solidFill>
                            <a:srgbClr val="404040"/>
                          </a:solidFill>
                          <a:latin typeface="Montserrat"/>
                        </a:defRPr>
                      </a:pPr>
                      <a:r>
                        <a:t>4,035</a:t>
                      </a:r>
                    </a:p>
                  </a:txBody>
                  <a:tcPr marL="0" marR="0" marT="0" marB="0" anchor="ctr">
                    <a:solidFill>
                      <a:srgbClr val="FFFFFF"/>
                    </a:solidFill>
                  </a:tcPr>
                </a:tc>
                <a:tc>
                  <a:txBody>
                    <a:bodyPr/>
                    <a:lstStyle/>
                    <a:p>
                      <a:pPr algn="ctr">
                        <a:defRPr sz="1000" b="1">
                          <a:solidFill>
                            <a:srgbClr val="980000"/>
                          </a:solidFill>
                          <a:latin typeface="Montserrat"/>
                        </a:defRPr>
                      </a:pPr>
                      <a:r>
                        <a:t>15,285</a:t>
                      </a:r>
                    </a:p>
                  </a:txBody>
                  <a:tcPr marL="0" marR="0" marT="0" marB="0" anchor="ctr">
                    <a:solidFill>
                      <a:srgbClr val="ECD3D9"/>
                    </a:solidFill>
                  </a:tcPr>
                </a:tc>
                <a:tc>
                  <a:txBody>
                    <a:bodyPr/>
                    <a:lstStyle/>
                    <a:p>
                      <a:pPr algn="ctr">
                        <a:defRPr sz="1000" b="1">
                          <a:solidFill>
                            <a:srgbClr val="980000"/>
                          </a:solidFill>
                          <a:latin typeface="Montserrat"/>
                        </a:defRPr>
                      </a:pPr>
                      <a:r>
                        <a:t>39,458</a:t>
                      </a:r>
                    </a:p>
                  </a:txBody>
                  <a:tcPr marL="0" marR="0" marT="0" marB="0" anchor="ctr">
                    <a:solidFill>
                      <a:srgbClr val="ECD3D9"/>
                    </a:solidFill>
                  </a:tcPr>
                </a:tc>
                <a:tc>
                  <a:txBody>
                    <a:bodyPr/>
                    <a:lstStyle/>
                    <a:p>
                      <a:pPr algn="ctr">
                        <a:defRPr sz="1000" b="1">
                          <a:solidFill>
                            <a:srgbClr val="980000"/>
                          </a:solidFill>
                          <a:latin typeface="Montserrat"/>
                        </a:defRPr>
                      </a:pPr>
                      <a:r>
                        <a:t>38.7%</a:t>
                      </a:r>
                    </a:p>
                  </a:txBody>
                  <a:tcPr marL="0" marR="0" marT="0" marB="0" anchor="ctr">
                    <a:solidFill>
                      <a:srgbClr val="ECD3D9"/>
                    </a:solidFill>
                  </a:tcPr>
                </a:tc>
              </a:tr>
            </a:tbl>
          </a:graphicData>
        </a:graphic>
      </p:graphicFrame>
    </p:spTree>
    <p:extLst>
      <p:ext uri="{BB962C8B-B14F-4D97-AF65-F5344CB8AC3E}">
        <p14:creationId xmlns:p14="http://schemas.microsoft.com/office/powerpoint/2010/main" val="7480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22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10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(del 26 de Dic de 2024 al 25 de Dic de 2025).</a:t>
            </a:r>
            <a:br/>
            <a:r>
              <a:t>Corte de información: Semana 21, 17 mayo 2026</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151200" y="1692000"/>
          <a:ext cx="7473599" cy="18144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UMFH 4 Tequisquiapan</a:t>
                      </a:r>
                    </a:p>
                  </a:txBody>
                  <a:tcPr marL="0" marR="0" marT="0" marB="0">
                    <a:solidFill>
                      <a:srgbClr val="FFFFFF"/>
                    </a:solidFill>
                  </a:tcPr>
                </a:tc>
                <a:tc>
                  <a:txBody>
                    <a:bodyPr/>
                    <a:lstStyle/>
                    <a:p>
                      <a:pPr algn="ctr">
                        <a:defRPr sz="1000">
                          <a:latin typeface="Montserrat"/>
                        </a:defRPr>
                      </a:pPr>
                      <a:r>
                        <a:t>49,436</a:t>
                      </a:r>
                    </a:p>
                  </a:txBody>
                  <a:tcPr marL="0" marR="0" marT="0" marB="0">
                    <a:solidFill>
                      <a:srgbClr val="FFFFFF"/>
                    </a:solidFill>
                  </a:tcPr>
                </a:tc>
                <a:tc>
                  <a:txBody>
                    <a:bodyPr/>
                    <a:lstStyle/>
                    <a:p>
                      <a:pPr algn="ctr">
                        <a:defRPr sz="1000">
                          <a:latin typeface="Montserrat"/>
                        </a:defRPr>
                      </a:pPr>
                      <a:r>
                        <a:t>6,723</a:t>
                      </a:r>
                    </a:p>
                  </a:txBody>
                  <a:tcPr marL="0" marR="0" marT="0" marB="0">
                    <a:solidFill>
                      <a:srgbClr val="FFFFFF"/>
                    </a:solidFill>
                  </a:tcPr>
                </a:tc>
                <a:tc>
                  <a:txBody>
                    <a:bodyPr/>
                    <a:lstStyle/>
                    <a:p>
                      <a:pPr algn="ctr">
                        <a:defRPr sz="1000">
                          <a:latin typeface="Montserrat"/>
                        </a:defRPr>
                      </a:pPr>
                      <a:r>
                        <a:t>19,311</a:t>
                      </a:r>
                    </a:p>
                  </a:txBody>
                  <a:tcPr marL="0" marR="0" marT="0" marB="0">
                    <a:solidFill>
                      <a:srgbClr val="ECD3D9"/>
                    </a:solidFill>
                  </a:tcPr>
                </a:tc>
                <a:tc>
                  <a:txBody>
                    <a:bodyPr/>
                    <a:lstStyle/>
                    <a:p>
                      <a:pPr algn="ctr">
                        <a:defRPr sz="1000">
                          <a:latin typeface="Montserrat"/>
                        </a:defRPr>
                      </a:pPr>
                      <a:r>
                        <a:t>50,112</a:t>
                      </a:r>
                    </a:p>
                  </a:txBody>
                  <a:tcPr marL="0" marR="0" marT="0" marB="0">
                    <a:solidFill>
                      <a:srgbClr val="ECD3D9"/>
                    </a:solidFill>
                  </a:tcPr>
                </a:tc>
                <a:tc>
                  <a:txBody>
                    <a:bodyPr/>
                    <a:lstStyle/>
                    <a:p>
                      <a:pPr algn="ctr">
                        <a:defRPr sz="1000">
                          <a:latin typeface="Montserrat"/>
                        </a:defRPr>
                      </a:pPr>
                      <a:r>
                        <a:t>38.5%</a:t>
                      </a:r>
                    </a:p>
                  </a:txBody>
                  <a:tcPr marL="0" marR="0" marT="0" marB="0">
                    <a:solidFill>
                      <a:srgbClr val="ECD3D9"/>
                    </a:solidFill>
                  </a:tcPr>
                </a:tc>
              </a:tr>
              <a:tr h="151200">
                <a:tc>
                  <a:txBody>
                    <a:bodyPr/>
                    <a:lstStyle/>
                    <a:p>
                      <a:pPr algn="l">
                        <a:defRPr sz="1000">
                          <a:latin typeface="Montserrat"/>
                        </a:defRPr>
                      </a:pPr>
                      <a:r>
                        <a:t>UMF 59 Huimilpan</a:t>
                      </a:r>
                    </a:p>
                  </a:txBody>
                  <a:tcPr marL="0" marR="0" marT="0" marB="0">
                    <a:solidFill>
                      <a:srgbClr val="EFEFEF"/>
                    </a:solidFill>
                  </a:tcPr>
                </a:tc>
                <a:tc>
                  <a:txBody>
                    <a:bodyPr/>
                    <a:lstStyle/>
                    <a:p>
                      <a:pPr algn="ctr">
                        <a:defRPr sz="1000">
                          <a:latin typeface="Montserrat"/>
                        </a:defRPr>
                      </a:pPr>
                      <a:r>
                        <a:t>7,722</a:t>
                      </a:r>
                    </a:p>
                  </a:txBody>
                  <a:tcPr marL="0" marR="0" marT="0" marB="0">
                    <a:solidFill>
                      <a:srgbClr val="EFEFEF"/>
                    </a:solidFill>
                  </a:tcPr>
                </a:tc>
                <a:tc>
                  <a:txBody>
                    <a:bodyPr/>
                    <a:lstStyle/>
                    <a:p>
                      <a:pPr algn="ctr">
                        <a:defRPr sz="1000">
                          <a:latin typeface="Montserrat"/>
                        </a:defRPr>
                      </a:pPr>
                      <a:r>
                        <a:t>414</a:t>
                      </a:r>
                    </a:p>
                  </a:txBody>
                  <a:tcPr marL="0" marR="0" marT="0" marB="0">
                    <a:solidFill>
                      <a:srgbClr val="EFEFEF"/>
                    </a:solidFill>
                  </a:tcPr>
                </a:tc>
                <a:tc>
                  <a:txBody>
                    <a:bodyPr/>
                    <a:lstStyle/>
                    <a:p>
                      <a:pPr algn="ctr">
                        <a:defRPr sz="1000">
                          <a:latin typeface="Montserrat"/>
                        </a:defRPr>
                      </a:pPr>
                      <a:r>
                        <a:t>3,018</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33.5%</a:t>
                      </a:r>
                    </a:p>
                  </a:txBody>
                  <a:tcPr marL="0" marR="0" marT="0" marB="0">
                    <a:solidFill>
                      <a:srgbClr val="ECD3D9"/>
                    </a:solidFill>
                  </a:tcPr>
                </a:tc>
              </a:tr>
              <a:tr h="151200">
                <a:tc>
                  <a:txBody>
                    <a:bodyPr/>
                    <a:lstStyle/>
                    <a:p>
                      <a:pPr algn="l">
                        <a:defRPr sz="1000">
                          <a:latin typeface="Montserrat"/>
                        </a:defRPr>
                      </a:pPr>
                      <a:r>
                        <a:t>UMF 57 Colón</a:t>
                      </a:r>
                    </a:p>
                  </a:txBody>
                  <a:tcPr marL="0" marR="0" marT="0" marB="0">
                    <a:solidFill>
                      <a:srgbClr val="FFFFFF"/>
                    </a:solidFill>
                  </a:tcPr>
                </a:tc>
                <a:tc>
                  <a:txBody>
                    <a:bodyPr/>
                    <a:lstStyle/>
                    <a:p>
                      <a:pPr algn="ctr">
                        <a:defRPr sz="1000">
                          <a:latin typeface="Montserrat"/>
                        </a:defRPr>
                      </a:pPr>
                      <a:r>
                        <a:t>32,669</a:t>
                      </a:r>
                    </a:p>
                  </a:txBody>
                  <a:tcPr marL="0" marR="0" marT="0" marB="0">
                    <a:solidFill>
                      <a:srgbClr val="FFFFFF"/>
                    </a:solidFill>
                  </a:tcPr>
                </a:tc>
                <a:tc>
                  <a:txBody>
                    <a:bodyPr/>
                    <a:lstStyle/>
                    <a:p>
                      <a:pPr algn="ctr">
                        <a:defRPr sz="1000">
                          <a:latin typeface="Montserrat"/>
                        </a:defRPr>
                      </a:pPr>
                      <a:r>
                        <a:t>13,714</a:t>
                      </a:r>
                    </a:p>
                  </a:txBody>
                  <a:tcPr marL="0" marR="0" marT="0" marB="0">
                    <a:solidFill>
                      <a:srgbClr val="FFFFFF"/>
                    </a:solidFill>
                  </a:tcPr>
                </a:tc>
                <a:tc>
                  <a:txBody>
                    <a:bodyPr/>
                    <a:lstStyle/>
                    <a:p>
                      <a:pPr algn="ctr">
                        <a:defRPr sz="1000">
                          <a:latin typeface="Montserrat"/>
                        </a:defRPr>
                      </a:pPr>
                      <a:r>
                        <a:t>12,814</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34.1%</a:t>
                      </a:r>
                    </a:p>
                  </a:txBody>
                  <a:tcPr marL="0" marR="0" marT="0" marB="0">
                    <a:solidFill>
                      <a:srgbClr val="ECD3D9"/>
                    </a:solidFill>
                  </a:tcPr>
                </a:tc>
              </a:tr>
              <a:tr h="151200">
                <a:tc>
                  <a:txBody>
                    <a:bodyPr/>
                    <a:lstStyle/>
                    <a:p>
                      <a:pPr algn="l">
                        <a:defRPr sz="1000">
                          <a:latin typeface="Montserrat"/>
                        </a:defRPr>
                      </a:pPr>
                      <a:r>
                        <a:t>UMF 63 S. Joaquín</a:t>
                      </a:r>
                    </a:p>
                  </a:txBody>
                  <a:tcPr marL="0" marR="0" marT="0" marB="0">
                    <a:solidFill>
                      <a:srgbClr val="EFEFEF"/>
                    </a:solidFill>
                  </a:tcPr>
                </a:tc>
                <a:tc>
                  <a:txBody>
                    <a:bodyPr/>
                    <a:lstStyle/>
                    <a:p>
                      <a:pPr algn="ctr">
                        <a:defRPr sz="1000">
                          <a:latin typeface="Montserrat"/>
                        </a:defRPr>
                      </a:pPr>
                      <a:r>
                        <a:t>2,657</a:t>
                      </a:r>
                    </a:p>
                  </a:txBody>
                  <a:tcPr marL="0" marR="0" marT="0" marB="0">
                    <a:solidFill>
                      <a:srgbClr val="EFEFEF"/>
                    </a:solidFill>
                  </a:tcPr>
                </a:tc>
                <a:tc>
                  <a:txBody>
                    <a:bodyPr/>
                    <a:lstStyle/>
                    <a:p>
                      <a:pPr algn="ctr">
                        <a:defRPr sz="1000">
                          <a:latin typeface="Montserrat"/>
                        </a:defRPr>
                      </a:pPr>
                      <a:r>
                        <a:t>565</a:t>
                      </a:r>
                    </a:p>
                  </a:txBody>
                  <a:tcPr marL="0" marR="0" marT="0" marB="0">
                    <a:solidFill>
                      <a:srgbClr val="EFEFEF"/>
                    </a:solidFill>
                  </a:tcPr>
                </a:tc>
                <a:tc>
                  <a:txBody>
                    <a:bodyPr/>
                    <a:lstStyle/>
                    <a:p>
                      <a:pPr algn="ctr">
                        <a:defRPr sz="1000">
                          <a:latin typeface="Montserrat"/>
                        </a:defRPr>
                      </a:pPr>
                      <a:r>
                        <a:t>1,110</a:t>
                      </a:r>
                    </a:p>
                  </a:txBody>
                  <a:tcPr marL="0" marR="0" marT="0" marB="0">
                    <a:solidFill>
                      <a:srgbClr val="ECD3D9"/>
                    </a:solidFill>
                  </a:tcPr>
                </a:tc>
                <a:tc>
                  <a:txBody>
                    <a:bodyPr/>
                    <a:lstStyle/>
                    <a:p>
                      <a:pPr algn="ctr">
                        <a:defRPr sz="1000">
                          <a:latin typeface="Montserrat"/>
                        </a:defRPr>
                      </a:pPr>
                      <a:r>
                        <a:t>4,000</a:t>
                      </a:r>
                    </a:p>
                  </a:txBody>
                  <a:tcPr marL="0" marR="0" marT="0" marB="0">
                    <a:solidFill>
                      <a:srgbClr val="ECD3D9"/>
                    </a:solidFill>
                  </a:tcPr>
                </a:tc>
                <a:tc>
                  <a:txBody>
                    <a:bodyPr/>
                    <a:lstStyle/>
                    <a:p>
                      <a:pPr algn="ctr">
                        <a:defRPr sz="1000">
                          <a:latin typeface="Montserrat"/>
                        </a:defRPr>
                      </a:pPr>
                      <a:r>
                        <a:t>27.8%</a:t>
                      </a:r>
                    </a:p>
                  </a:txBody>
                  <a:tcPr marL="0" marR="0" marT="0" marB="0">
                    <a:solidFill>
                      <a:srgbClr val="ECD3D9"/>
                    </a:solidFill>
                  </a:tcPr>
                </a:tc>
              </a:tr>
              <a:tr h="151200">
                <a:tc>
                  <a:txBody>
                    <a:bodyPr/>
                    <a:lstStyle/>
                    <a:p>
                      <a:pPr algn="l">
                        <a:defRPr sz="1000">
                          <a:latin typeface="Montserrat"/>
                        </a:defRPr>
                      </a:pPr>
                      <a:r>
                        <a:t>UMF 64 Toliman</a:t>
                      </a:r>
                    </a:p>
                  </a:txBody>
                  <a:tcPr marL="0" marR="0" marT="0" marB="0">
                    <a:solidFill>
                      <a:srgbClr val="FFFFFF"/>
                    </a:solidFill>
                  </a:tcPr>
                </a:tc>
                <a:tc>
                  <a:txBody>
                    <a:bodyPr/>
                    <a:lstStyle/>
                    <a:p>
                      <a:pPr algn="ctr">
                        <a:defRPr sz="1000">
                          <a:latin typeface="Montserrat"/>
                        </a:defRPr>
                      </a:pPr>
                      <a:r>
                        <a:t>5,862</a:t>
                      </a:r>
                    </a:p>
                  </a:txBody>
                  <a:tcPr marL="0" marR="0" marT="0" marB="0">
                    <a:solidFill>
                      <a:srgbClr val="FFFFFF"/>
                    </a:solidFill>
                  </a:tcPr>
                </a:tc>
                <a:tc>
                  <a:txBody>
                    <a:bodyPr/>
                    <a:lstStyle/>
                    <a:p>
                      <a:pPr algn="ctr">
                        <a:defRPr sz="1000">
                          <a:latin typeface="Montserrat"/>
                        </a:defRPr>
                      </a:pPr>
                      <a:r>
                        <a:t>1,211</a:t>
                      </a:r>
                    </a:p>
                  </a:txBody>
                  <a:tcPr marL="0" marR="0" marT="0" marB="0">
                    <a:solidFill>
                      <a:srgbClr val="FFFFFF"/>
                    </a:solidFill>
                  </a:tcPr>
                </a:tc>
                <a:tc>
                  <a:txBody>
                    <a:bodyPr/>
                    <a:lstStyle/>
                    <a:p>
                      <a:pPr algn="ctr">
                        <a:defRPr sz="1000">
                          <a:latin typeface="Montserrat"/>
                        </a:defRPr>
                      </a:pPr>
                      <a:r>
                        <a:t>1,992</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28.5%</a:t>
                      </a:r>
                    </a:p>
                  </a:txBody>
                  <a:tcPr marL="0" marR="0" marT="0" marB="0">
                    <a:solidFill>
                      <a:srgbClr val="ECD3D9"/>
                    </a:solidFill>
                  </a:tcPr>
                </a:tc>
              </a:tr>
              <a:tr h="151200">
                <a:tc>
                  <a:txBody>
                    <a:bodyPr/>
                    <a:lstStyle/>
                    <a:p>
                      <a:pPr algn="l">
                        <a:defRPr sz="1000">
                          <a:latin typeface="Montserrat"/>
                        </a:defRPr>
                      </a:pPr>
                      <a:r>
                        <a:t>UMF 58 E. Montes</a:t>
                      </a:r>
                    </a:p>
                  </a:txBody>
                  <a:tcPr marL="0" marR="0" marT="0" marB="0">
                    <a:solidFill>
                      <a:srgbClr val="EFEFEF"/>
                    </a:solidFill>
                  </a:tcPr>
                </a:tc>
                <a:tc>
                  <a:txBody>
                    <a:bodyPr/>
                    <a:lstStyle/>
                    <a:p>
                      <a:pPr algn="ctr">
                        <a:defRPr sz="1000">
                          <a:latin typeface="Montserrat"/>
                        </a:defRPr>
                      </a:pPr>
                      <a:r>
                        <a:t>29,049</a:t>
                      </a:r>
                    </a:p>
                  </a:txBody>
                  <a:tcPr marL="0" marR="0" marT="0" marB="0">
                    <a:solidFill>
                      <a:srgbClr val="EFEFEF"/>
                    </a:solidFill>
                  </a:tcPr>
                </a:tc>
                <a:tc>
                  <a:txBody>
                    <a:bodyPr/>
                    <a:lstStyle/>
                    <a:p>
                      <a:pPr algn="ctr">
                        <a:defRPr sz="1000">
                          <a:latin typeface="Montserrat"/>
                        </a:defRPr>
                      </a:pPr>
                      <a:r>
                        <a:t>9,513</a:t>
                      </a:r>
                    </a:p>
                  </a:txBody>
                  <a:tcPr marL="0" marR="0" marT="0" marB="0">
                    <a:solidFill>
                      <a:srgbClr val="EFEFEF"/>
                    </a:solidFill>
                  </a:tcPr>
                </a:tc>
                <a:tc>
                  <a:txBody>
                    <a:bodyPr/>
                    <a:lstStyle/>
                    <a:p>
                      <a:pPr algn="ctr">
                        <a:defRPr sz="1000">
                          <a:latin typeface="Montserrat"/>
                        </a:defRPr>
                      </a:pPr>
                      <a:r>
                        <a:t>11,756</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31.3%</a:t>
                      </a:r>
                    </a:p>
                  </a:txBody>
                  <a:tcPr marL="0" marR="0" marT="0" marB="0">
                    <a:solidFill>
                      <a:srgbClr val="ECD3D9"/>
                    </a:solidFill>
                  </a:tcPr>
                </a:tc>
              </a:tr>
              <a:tr h="151200">
                <a:tc>
                  <a:txBody>
                    <a:bodyPr/>
                    <a:lstStyle/>
                    <a:p>
                      <a:pPr algn="l">
                        <a:defRPr sz="1000">
                          <a:latin typeface="Montserrat"/>
                        </a:defRPr>
                      </a:pPr>
                      <a:r>
                        <a:t>UMF 12 Cadereyta</a:t>
                      </a:r>
                    </a:p>
                  </a:txBody>
                  <a:tcPr marL="0" marR="0" marT="0" marB="0">
                    <a:solidFill>
                      <a:srgbClr val="FFFFFF"/>
                    </a:solidFill>
                  </a:tcPr>
                </a:tc>
                <a:tc>
                  <a:txBody>
                    <a:bodyPr/>
                    <a:lstStyle/>
                    <a:p>
                      <a:pPr algn="ctr">
                        <a:defRPr sz="1000">
                          <a:latin typeface="Montserrat"/>
                        </a:defRPr>
                      </a:pPr>
                      <a:r>
                        <a:t>27,889</a:t>
                      </a:r>
                    </a:p>
                  </a:txBody>
                  <a:tcPr marL="0" marR="0" marT="0" marB="0">
                    <a:solidFill>
                      <a:srgbClr val="FFFFFF"/>
                    </a:solidFill>
                  </a:tcPr>
                </a:tc>
                <a:tc>
                  <a:txBody>
                    <a:bodyPr/>
                    <a:lstStyle/>
                    <a:p>
                      <a:pPr algn="ctr">
                        <a:defRPr sz="1000">
                          <a:latin typeface="Montserrat"/>
                        </a:defRPr>
                      </a:pPr>
                      <a:r>
                        <a:t>7,503</a:t>
                      </a:r>
                    </a:p>
                  </a:txBody>
                  <a:tcPr marL="0" marR="0" marT="0" marB="0">
                    <a:solidFill>
                      <a:srgbClr val="FFFFFF"/>
                    </a:solidFill>
                  </a:tcPr>
                </a:tc>
                <a:tc>
                  <a:txBody>
                    <a:bodyPr/>
                    <a:lstStyle/>
                    <a:p>
                      <a:pPr algn="ctr">
                        <a:defRPr sz="1000">
                          <a:latin typeface="Montserrat"/>
                        </a:defRPr>
                      </a:pPr>
                      <a:r>
                        <a:t>13,376</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35.6%</a:t>
                      </a:r>
                    </a:p>
                  </a:txBody>
                  <a:tcPr marL="0" marR="0" marT="0" marB="0">
                    <a:solidFill>
                      <a:srgbClr val="ECD3D9"/>
                    </a:solidFill>
                  </a:tcPr>
                </a:tc>
              </a:tr>
              <a:tr h="151200">
                <a:tc>
                  <a:txBody>
                    <a:bodyPr/>
                    <a:lstStyle/>
                    <a:p>
                      <a:pPr algn="l">
                        <a:defRPr sz="1000">
                          <a:latin typeface="Montserrat"/>
                        </a:defRPr>
                      </a:pPr>
                      <a:r>
                        <a:t>UMF 66 Maconi</a:t>
                      </a:r>
                    </a:p>
                  </a:txBody>
                  <a:tcPr marL="0" marR="0" marT="0" marB="0">
                    <a:solidFill>
                      <a:srgbClr val="EFEFEF"/>
                    </a:solidFill>
                  </a:tcPr>
                </a:tc>
                <a:tc>
                  <a:txBody>
                    <a:bodyPr/>
                    <a:lstStyle/>
                    <a:p>
                      <a:pPr algn="ctr">
                        <a:defRPr sz="1000">
                          <a:latin typeface="Montserrat"/>
                        </a:defRPr>
                      </a:pPr>
                      <a:r>
                        <a:t>2,808</a:t>
                      </a:r>
                    </a:p>
                  </a:txBody>
                  <a:tcPr marL="0" marR="0" marT="0" marB="0">
                    <a:solidFill>
                      <a:srgbClr val="EFEFEF"/>
                    </a:solidFill>
                  </a:tcPr>
                </a:tc>
                <a:tc>
                  <a:txBody>
                    <a:bodyPr/>
                    <a:lstStyle/>
                    <a:p>
                      <a:pPr algn="ctr">
                        <a:defRPr sz="1000">
                          <a:latin typeface="Montserrat"/>
                        </a:defRPr>
                      </a:pPr>
                      <a:r>
                        <a:t>975</a:t>
                      </a:r>
                    </a:p>
                  </a:txBody>
                  <a:tcPr marL="0" marR="0" marT="0" marB="0">
                    <a:solidFill>
                      <a:srgbClr val="EFEFEF"/>
                    </a:solidFill>
                  </a:tcPr>
                </a:tc>
                <a:tc>
                  <a:txBody>
                    <a:bodyPr/>
                    <a:lstStyle/>
                    <a:p>
                      <a:pPr algn="ctr">
                        <a:defRPr sz="1000">
                          <a:latin typeface="Montserrat"/>
                        </a:defRPr>
                      </a:pPr>
                      <a:r>
                        <a:t>1,105</a:t>
                      </a:r>
                    </a:p>
                  </a:txBody>
                  <a:tcPr marL="0" marR="0" marT="0" marB="0">
                    <a:solidFill>
                      <a:srgbClr val="ECD3D9"/>
                    </a:solidFill>
                  </a:tcPr>
                </a:tc>
                <a:tc>
                  <a:txBody>
                    <a:bodyPr/>
                    <a:lstStyle/>
                    <a:p>
                      <a:pPr algn="ctr">
                        <a:defRPr sz="1000">
                          <a:latin typeface="Montserrat"/>
                        </a:defRPr>
                      </a:pPr>
                      <a:r>
                        <a:t>4,000</a:t>
                      </a:r>
                    </a:p>
                  </a:txBody>
                  <a:tcPr marL="0" marR="0" marT="0" marB="0">
                    <a:solidFill>
                      <a:srgbClr val="ECD3D9"/>
                    </a:solidFill>
                  </a:tcPr>
                </a:tc>
                <a:tc>
                  <a:txBody>
                    <a:bodyPr/>
                    <a:lstStyle/>
                    <a:p>
                      <a:pPr algn="ctr">
                        <a:defRPr sz="1000">
                          <a:latin typeface="Montserrat"/>
                        </a:defRPr>
                      </a:pPr>
                      <a:r>
                        <a:t>27.6%</a:t>
                      </a:r>
                    </a:p>
                  </a:txBody>
                  <a:tcPr marL="0" marR="0" marT="0" marB="0">
                    <a:solidFill>
                      <a:srgbClr val="ECD3D9"/>
                    </a:solidFill>
                  </a:tcPr>
                </a:tc>
              </a:tr>
              <a:tr h="151200">
                <a:tc>
                  <a:txBody>
                    <a:bodyPr/>
                    <a:lstStyle/>
                    <a:p>
                      <a:pPr algn="l">
                        <a:defRPr sz="1000">
                          <a:latin typeface="Montserrat"/>
                        </a:defRPr>
                      </a:pPr>
                      <a:r>
                        <a:t>UMF 5 P. Escobedo</a:t>
                      </a:r>
                    </a:p>
                  </a:txBody>
                  <a:tcPr marL="0" marR="0" marT="0" marB="0">
                    <a:solidFill>
                      <a:srgbClr val="FFFFFF"/>
                    </a:solidFill>
                  </a:tcPr>
                </a:tc>
                <a:tc>
                  <a:txBody>
                    <a:bodyPr/>
                    <a:lstStyle/>
                    <a:p>
                      <a:pPr algn="ctr">
                        <a:defRPr sz="1000">
                          <a:latin typeface="Montserrat"/>
                        </a:defRPr>
                      </a:pPr>
                      <a:r>
                        <a:t>118,668</a:t>
                      </a:r>
                    </a:p>
                  </a:txBody>
                  <a:tcPr marL="0" marR="0" marT="0" marB="0">
                    <a:solidFill>
                      <a:srgbClr val="FFFFFF"/>
                    </a:solidFill>
                  </a:tcPr>
                </a:tc>
                <a:tc>
                  <a:txBody>
                    <a:bodyPr/>
                    <a:lstStyle/>
                    <a:p>
                      <a:pPr algn="ctr">
                        <a:defRPr sz="1000">
                          <a:latin typeface="Montserrat"/>
                        </a:defRPr>
                      </a:pPr>
                      <a:r>
                        <a:t>19,965</a:t>
                      </a:r>
                    </a:p>
                  </a:txBody>
                  <a:tcPr marL="0" marR="0" marT="0" marB="0">
                    <a:solidFill>
                      <a:srgbClr val="FFFFFF"/>
                    </a:solidFill>
                  </a:tcPr>
                </a:tc>
                <a:tc>
                  <a:txBody>
                    <a:bodyPr/>
                    <a:lstStyle/>
                    <a:p>
                      <a:pPr algn="ctr">
                        <a:defRPr sz="1000">
                          <a:latin typeface="Montserrat"/>
                        </a:defRPr>
                      </a:pPr>
                      <a:r>
                        <a:t>42,966</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34.3%</a:t>
                      </a:r>
                    </a:p>
                  </a:txBody>
                  <a:tcPr marL="0" marR="0" marT="0" marB="0">
                    <a:solidFill>
                      <a:srgbClr val="ECD3D9"/>
                    </a:solidFill>
                  </a:tcPr>
                </a:tc>
              </a:tr>
              <a:tr h="151200">
                <a:tc>
                  <a:txBody>
                    <a:bodyPr/>
                    <a:lstStyle/>
                    <a:p>
                      <a:pPr algn="l">
                        <a:defRPr sz="1000">
                          <a:latin typeface="Montserrat"/>
                        </a:defRPr>
                      </a:pPr>
                      <a:r>
                        <a:t>UMF 56 Amealco</a:t>
                      </a:r>
                    </a:p>
                  </a:txBody>
                  <a:tcPr marL="0" marR="0" marT="0" marB="0">
                    <a:solidFill>
                      <a:srgbClr val="EFEFEF"/>
                    </a:solidFill>
                  </a:tcPr>
                </a:tc>
                <a:tc>
                  <a:txBody>
                    <a:bodyPr/>
                    <a:lstStyle/>
                    <a:p>
                      <a:pPr algn="ctr">
                        <a:defRPr sz="1000">
                          <a:latin typeface="Montserrat"/>
                        </a:defRPr>
                      </a:pPr>
                      <a:r>
                        <a:t>20,525</a:t>
                      </a:r>
                    </a:p>
                  </a:txBody>
                  <a:tcPr marL="0" marR="0" marT="0" marB="0">
                    <a:solidFill>
                      <a:srgbClr val="EFEFEF"/>
                    </a:solidFill>
                  </a:tcPr>
                </a:tc>
                <a:tc>
                  <a:txBody>
                    <a:bodyPr/>
                    <a:lstStyle/>
                    <a:p>
                      <a:pPr algn="ctr">
                        <a:defRPr sz="1000">
                          <a:latin typeface="Montserrat"/>
                        </a:defRPr>
                      </a:pPr>
                      <a:r>
                        <a:t>2,460</a:t>
                      </a:r>
                    </a:p>
                  </a:txBody>
                  <a:tcPr marL="0" marR="0" marT="0" marB="0">
                    <a:solidFill>
                      <a:srgbClr val="EFEFEF"/>
                    </a:solidFill>
                  </a:tcPr>
                </a:tc>
                <a:tc>
                  <a:txBody>
                    <a:bodyPr/>
                    <a:lstStyle/>
                    <a:p>
                      <a:pPr algn="ctr">
                        <a:defRPr sz="1000">
                          <a:latin typeface="Montserrat"/>
                        </a:defRPr>
                      </a:pPr>
                      <a:r>
                        <a:t>7,138</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28.5%</a:t>
                      </a:r>
                    </a:p>
                  </a:txBody>
                  <a:tcPr marL="0" marR="0" marT="0" marB="0">
                    <a:solidFill>
                      <a:srgbClr val="ECD3D9"/>
                    </a:solidFill>
                  </a:tcPr>
                </a:tc>
              </a:tr>
              <a:tr h="151200">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297,285</a:t>
                      </a:r>
                    </a:p>
                  </a:txBody>
                  <a:tcPr marL="0" marR="0" marT="0" marB="0">
                    <a:solidFill>
                      <a:srgbClr val="D3E9E7"/>
                    </a:solidFill>
                  </a:tcPr>
                </a:tc>
                <a:tc>
                  <a:txBody>
                    <a:bodyPr/>
                    <a:lstStyle/>
                    <a:p>
                      <a:pPr algn="ctr">
                        <a:defRPr sz="1000" b="1">
                          <a:solidFill>
                            <a:srgbClr val="006556"/>
                          </a:solidFill>
                          <a:latin typeface="Montserrat"/>
                        </a:defRPr>
                      </a:pPr>
                      <a:r>
                        <a:t>63,043</a:t>
                      </a:r>
                    </a:p>
                  </a:txBody>
                  <a:tcPr marL="0" marR="0" marT="0" marB="0">
                    <a:solidFill>
                      <a:srgbClr val="D3E9E7"/>
                    </a:solidFill>
                  </a:tcPr>
                </a:tc>
                <a:tc>
                  <a:txBody>
                    <a:bodyPr/>
                    <a:lstStyle/>
                    <a:p>
                      <a:pPr algn="ctr">
                        <a:defRPr sz="1000" b="1">
                          <a:solidFill>
                            <a:srgbClr val="FFFFFF"/>
                          </a:solidFill>
                          <a:latin typeface="Montserrat"/>
                        </a:defRPr>
                      </a:pPr>
                      <a:r>
                        <a:t>114,586</a:t>
                      </a:r>
                    </a:p>
                  </a:txBody>
                  <a:tcPr marL="0" marR="0" marT="0" marB="0">
                    <a:solidFill>
                      <a:srgbClr val="9F2241"/>
                    </a:solidFill>
                  </a:tcPr>
                </a:tc>
                <a:tc>
                  <a:txBody>
                    <a:bodyPr/>
                    <a:lstStyle/>
                    <a:p>
                      <a:pPr algn="ctr">
                        <a:defRPr sz="1000" b="1">
                          <a:solidFill>
                            <a:srgbClr val="FFFFFF"/>
                          </a:solidFill>
                          <a:latin typeface="Montserrat"/>
                        </a:defRPr>
                      </a:pPr>
                      <a:r>
                        <a:t>337,200</a:t>
                      </a:r>
                    </a:p>
                  </a:txBody>
                  <a:tcPr marL="0" marR="0" marT="0" marB="0">
                    <a:solidFill>
                      <a:srgbClr val="9F2241"/>
                    </a:solidFill>
                  </a:tcPr>
                </a:tc>
                <a:tc>
                  <a:txBody>
                    <a:bodyPr/>
                    <a:lstStyle/>
                    <a:p>
                      <a:pPr algn="ctr">
                        <a:defRPr sz="1000" b="1">
                          <a:solidFill>
                            <a:srgbClr val="FFFFFF"/>
                          </a:solidFill>
                          <a:latin typeface="Montserrat"/>
                        </a:defRPr>
                      </a:pPr>
                      <a:r>
                        <a:t>34.0%</a:t>
                      </a:r>
                    </a:p>
                  </a:txBody>
                  <a:tcPr marL="0" marR="0" marT="0" marB="0">
                    <a:solidFill>
                      <a:srgbClr val="9F2241"/>
                    </a:solidFill>
                  </a:tcPr>
                </a:tc>
              </a:tr>
            </a:tbl>
          </a:graphicData>
        </a:graphic>
      </p:graphicFrame>
      <p:graphicFrame>
        <p:nvGraphicFramePr>
          <p:cNvPr id="9" name="Chart 8"/>
          <p:cNvGraphicFramePr>
            <a:graphicFrameLocks noGrp="1"/>
          </p:cNvGraphicFramePr>
          <p:nvPr/>
        </p:nvGraphicFramePr>
        <p:xfrm>
          <a:off x="4780800" y="4226400"/>
          <a:ext cx="1800000" cy="1800000"/>
        </p:xfrm>
        <a:graphic>
          <a:graphicData uri="http://schemas.openxmlformats.org/drawingml/2006/chart">
            <c:chart xmlns:c="http://schemas.openxmlformats.org/drawingml/2006/chart" r:id="rId4"/>
          </a:graphicData>
        </a:graphic>
      </p:graphicFrame>
      <p:sp>
        <p:nvSpPr>
          <p:cNvPr id="10" name="TextBox 9"/>
          <p:cNvSpPr txBox="1"/>
          <p:nvPr/>
        </p:nvSpPr>
        <p:spPr>
          <a:xfrm>
            <a:off x="4780800" y="4946400"/>
            <a:ext cx="1800000" cy="360000"/>
          </a:xfrm>
          <a:prstGeom prst="rect">
            <a:avLst/>
          </a:prstGeom>
          <a:noFill/>
        </p:spPr>
        <p:txBody>
          <a:bodyPr wrap="none">
            <a:spAutoFit/>
          </a:bodyPr>
          <a:lstStyle/>
          <a:p>
            <a:pPr algn="ctr"/>
            <a:r>
              <a:rPr sz="2400" b="1">
                <a:solidFill>
                  <a:srgbClr val="9F2241"/>
                </a:solidFill>
                <a:latin typeface="Montserrat"/>
              </a:rPr>
              <a:t>34.0%</a:t>
            </a:r>
          </a:p>
        </p:txBody>
      </p:sp>
      <p:sp>
        <p:nvSpPr>
          <p:cNvPr id="11" name="TextBox 10"/>
          <p:cNvSpPr txBox="1"/>
          <p:nvPr/>
        </p:nvSpPr>
        <p:spPr>
          <a:xfrm>
            <a:off x="4780800" y="58464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2" name="TextBox 11"/>
          <p:cNvSpPr txBox="1"/>
          <p:nvPr/>
        </p:nvSpPr>
        <p:spPr>
          <a:xfrm>
            <a:off x="730799" y="4226400"/>
            <a:ext cx="2854800" cy="1198800"/>
          </a:xfrm>
          <a:prstGeom prst="rect">
            <a:avLst/>
          </a:prstGeom>
          <a:noFill/>
        </p:spPr>
        <p:txBody>
          <a:bodyPr wrap="square">
            <a:spAutoFit/>
          </a:bodyPr>
          <a:lstStyle/>
          <a:p>
            <a:pPr algn="ctr">
              <a:defRPr sz="3600" b="1">
                <a:solidFill>
                  <a:srgbClr val="9F2241"/>
                </a:solidFill>
                <a:latin typeface="Montserrat"/>
              </a:defRPr>
            </a:pPr>
            <a:r>
              <a:t>337,200 </a:t>
            </a:r>
            <a:br/>
            <a:r>
              <a:t>Meta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261" name="CuadroTexto 260">
            <a:extLst>
              <a:ext uri="{FF2B5EF4-FFF2-40B4-BE49-F238E27FC236}">
                <a16:creationId xmlns:a16="http://schemas.microsoft.com/office/drawing/2014/main" id="{E595643D-899B-65A9-60BB-1D7D7F88CF0F}"/>
              </a:ext>
            </a:extLst>
          </p:cNvPr>
          <p:cNvSpPr txBox="1"/>
          <p:nvPr/>
        </p:nvSpPr>
        <p:spPr>
          <a:xfrm>
            <a:off x="4356717" y="5183693"/>
            <a:ext cx="3006672" cy="1015663"/>
          </a:xfrm>
          <a:prstGeom prst="rect">
            <a:avLst/>
          </a:prstGeom>
          <a:noFill/>
        </p:spPr>
        <p:txBody>
          <a:bodyPr wrap="square">
            <a:spAutoFit/>
          </a:bodyPr>
          <a:lstStyle/>
          <a:p>
            <a:pPr algn="ctr">
              <a:defRPr sz="2000" b="1">
                <a:solidFill>
                  <a:srgbClr val="5B0F00"/>
                </a:solidFill>
                <a:latin typeface="Montserrat"/>
              </a:defRPr>
            </a:pPr>
            <a:r>
              <a:rPr lang="es-MX" dirty="0"/>
              <a:t>Proyectos 2026</a:t>
            </a:r>
          </a:p>
          <a:p>
            <a:pPr algn="ctr">
              <a:defRPr sz="2000" b="1">
                <a:solidFill>
                  <a:srgbClr val="5B0F00"/>
                </a:solidFill>
                <a:latin typeface="Montserrat"/>
              </a:defRPr>
            </a:pPr>
            <a:r>
              <a:rPr lang="es-MX" dirty="0"/>
              <a:t>1 Nueva UMTC con   2 consultorios</a:t>
            </a:r>
          </a:p>
        </p:txBody>
      </p:sp>
      <p:sp>
        <p:nvSpPr>
          <p:cNvPr id="262" name="CuadroTexto 261">
            <a:extLst>
              <a:ext uri="{FF2B5EF4-FFF2-40B4-BE49-F238E27FC236}">
                <a16:creationId xmlns:a16="http://schemas.microsoft.com/office/drawing/2014/main" id="{4F6E33E2-A6CF-23E3-A6CF-EC229DA0E531}"/>
              </a:ext>
            </a:extLst>
          </p:cNvPr>
          <p:cNvSpPr txBox="1"/>
          <p:nvPr/>
        </p:nvSpPr>
        <p:spPr>
          <a:xfrm>
            <a:off x="4779045" y="6466299"/>
            <a:ext cx="2686003" cy="307777"/>
          </a:xfrm>
          <a:prstGeom prst="rect">
            <a:avLst/>
          </a:prstGeom>
          <a:noFill/>
        </p:spPr>
        <p:txBody>
          <a:bodyPr wrap="square">
            <a:spAutoFit/>
          </a:bodyPr>
          <a:lstStyle/>
          <a:p>
            <a:r>
              <a:rPr lang="es-MX" dirty="0">
                <a:latin typeface="Montserrat" panose="00000500000000000000" pitchFamily="2" charset="0"/>
              </a:rPr>
              <a:t>UMF 5 P. Escobedo</a:t>
            </a:r>
          </a:p>
        </p:txBody>
      </p:sp>
      <p:sp>
        <p:nvSpPr>
          <p:cNvPr id="263" name="TextBox 26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264" name="TextBox 263"/>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22 Unidades de Medicina Familiar</a:t>
            </a:r>
          </a:p>
        </p:txBody>
      </p:sp>
      <p:sp>
        <p:nvSpPr>
          <p:cNvPr id="265" name="TextBox 264"/>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12 Unidades Médicas de tiempo completo (61 consultorios)</a:t>
            </a:r>
          </a:p>
        </p:txBody>
      </p:sp>
      <p:sp>
        <p:nvSpPr>
          <p:cNvPr id="266" name="TextBox 265"/>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267" name="Connector 26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68" name="TextBox 267"/>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 del 26 de Dic de 2024 al 25 de Dic de 2025).</a:t>
            </a:r>
            <a:br/>
            <a:r>
              <a:t>Corte de información: Semana 21, 17 mayo 2026</a:t>
            </a:r>
          </a:p>
        </p:txBody>
      </p:sp>
      <p:sp>
        <p:nvSpPr>
          <p:cNvPr id="269" name="TextBox 268"/>
          <p:cNvSpPr txBox="1"/>
          <p:nvPr/>
        </p:nvSpPr>
        <p:spPr>
          <a:xfrm>
            <a:off x="1940400" y="5432400"/>
            <a:ext cx="1810800" cy="1569600"/>
          </a:xfrm>
          <a:prstGeom prst="rect">
            <a:avLst/>
          </a:prstGeom>
          <a:noFill/>
        </p:spPr>
        <p:txBody>
          <a:bodyPr wrap="square">
            <a:spAutoFit/>
          </a:bodyPr>
          <a:lstStyle/>
          <a:p>
            <a:pPr algn="l">
              <a:defRPr sz="1600" b="1">
                <a:solidFill>
                  <a:srgbClr val="000000"/>
                </a:solidFill>
                <a:latin typeface="Montserrat"/>
              </a:defRPr>
            </a:pPr>
            <a:r>
              <a:t>de las consultas en 2025 fueron en fin de semana (348,934 consultas)</a:t>
            </a:r>
          </a:p>
        </p:txBody>
      </p:sp>
      <p:graphicFrame>
        <p:nvGraphicFramePr>
          <p:cNvPr id="270" name="Table 269"/>
          <p:cNvGraphicFramePr>
            <a:graphicFrameLocks noGrp="1"/>
          </p:cNvGraphicFramePr>
          <p:nvPr/>
        </p:nvGraphicFramePr>
        <p:xfrm>
          <a:off x="151200" y="1695600"/>
          <a:ext cx="7473599" cy="21168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2025</a:t>
                      </a:r>
                    </a:p>
                  </a:txBody>
                  <a:tcPr anchor="ctr">
                    <a:solidFill>
                      <a:srgbClr val="006455"/>
                    </a:solidFill>
                  </a:tcPr>
                </a:tc>
                <a:tc>
                  <a:txBody>
                    <a:bodyPr/>
                    <a:lstStyle/>
                    <a:p>
                      <a:pPr algn="ctr">
                        <a:defRPr b="1" sz="1000">
                          <a:solidFill>
                            <a:srgbClr val="FFFFFF"/>
                          </a:solidFill>
                          <a:latin typeface="Montserrat"/>
                        </a:defRPr>
                      </a:pPr>
                      <a:r>
                        <a:t>Incremento 2024 vs 2025</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solidFill>
                            <a:srgbClr val="000000"/>
                          </a:solidFill>
                          <a:latin typeface="Montserrat"/>
                        </a:defRPr>
                      </a:pPr>
                      <a:r>
                        <a:t>UMF 2 San Cayetano</a:t>
                      </a:r>
                    </a:p>
                  </a:txBody>
                  <a:tcPr marL="0" marR="0" marT="0" marB="0">
                    <a:solidFill>
                      <a:srgbClr val="FFFFFF"/>
                    </a:solidFill>
                  </a:tcPr>
                </a:tc>
                <a:tc>
                  <a:txBody>
                    <a:bodyPr/>
                    <a:lstStyle/>
                    <a:p>
                      <a:pPr algn="ctr">
                        <a:defRPr sz="1000">
                          <a:solidFill>
                            <a:srgbClr val="000000"/>
                          </a:solidFill>
                          <a:latin typeface="Montserrat"/>
                        </a:defRPr>
                      </a:pPr>
                      <a:r>
                        <a:t>117,836</a:t>
                      </a:r>
                    </a:p>
                  </a:txBody>
                  <a:tcPr marL="0" marR="0" marT="0" marB="0">
                    <a:solidFill>
                      <a:srgbClr val="FFFFFF"/>
                    </a:solidFill>
                  </a:tcPr>
                </a:tc>
                <a:tc>
                  <a:txBody>
                    <a:bodyPr/>
                    <a:lstStyle/>
                    <a:p>
                      <a:pPr algn="ctr">
                        <a:defRPr sz="1000">
                          <a:solidFill>
                            <a:srgbClr val="000000"/>
                          </a:solidFill>
                          <a:latin typeface="Montserrat"/>
                        </a:defRPr>
                      </a:pPr>
                      <a:r>
                        <a:t>27,189</a:t>
                      </a:r>
                    </a:p>
                  </a:txBody>
                  <a:tcPr marL="0" marR="0" marT="0" marB="0">
                    <a:solidFill>
                      <a:srgbClr val="FFFFFF"/>
                    </a:solidFill>
                  </a:tcPr>
                </a:tc>
                <a:tc>
                  <a:txBody>
                    <a:bodyPr/>
                    <a:lstStyle/>
                    <a:p>
                      <a:pPr algn="ctr">
                        <a:defRPr sz="1000">
                          <a:solidFill>
                            <a:srgbClr val="000000"/>
                          </a:solidFill>
                          <a:latin typeface="Montserrat"/>
                        </a:defRPr>
                      </a:pPr>
                      <a:r>
                        <a:t>47,323</a:t>
                      </a:r>
                    </a:p>
                  </a:txBody>
                  <a:tcPr marL="0" marR="0" marT="0" marB="0">
                    <a:solidFill>
                      <a:srgbClr val="ECD3D9"/>
                    </a:solidFill>
                  </a:tcPr>
                </a:tc>
                <a:tc>
                  <a:txBody>
                    <a:bodyPr/>
                    <a:lstStyle/>
                    <a:p>
                      <a:pPr algn="ctr">
                        <a:defRPr sz="1000">
                          <a:solidFill>
                            <a:srgbClr val="000000"/>
                          </a:solidFill>
                          <a:latin typeface="Montserrat"/>
                        </a:defRPr>
                      </a:pPr>
                      <a:r>
                        <a:t>114,000</a:t>
                      </a:r>
                    </a:p>
                  </a:txBody>
                  <a:tcPr marL="0" marR="0" marT="0" marB="0">
                    <a:solidFill>
                      <a:srgbClr val="ECD3D9"/>
                    </a:solidFill>
                  </a:tcPr>
                </a:tc>
                <a:tc>
                  <a:txBody>
                    <a:bodyPr/>
                    <a:lstStyle/>
                    <a:p>
                      <a:pPr algn="ctr">
                        <a:defRPr sz="1000">
                          <a:solidFill>
                            <a:srgbClr val="000000"/>
                          </a:solidFill>
                          <a:latin typeface="Montserrat"/>
                        </a:defRPr>
                      </a:pPr>
                      <a:r>
                        <a:t>41.5%</a:t>
                      </a:r>
                    </a:p>
                  </a:txBody>
                  <a:tcPr marL="0" marR="0" marT="0" marB="0">
                    <a:solidFill>
                      <a:srgbClr val="ECD3D9"/>
                    </a:solidFill>
                  </a:tcPr>
                </a:tc>
              </a:tr>
              <a:tr h="151200">
                <a:tc>
                  <a:txBody>
                    <a:bodyPr/>
                    <a:lstStyle/>
                    <a:p>
                      <a:pPr algn="l">
                        <a:defRPr sz="1000">
                          <a:solidFill>
                            <a:srgbClr val="000000"/>
                          </a:solidFill>
                          <a:latin typeface="Montserrat"/>
                        </a:defRPr>
                      </a:pPr>
                      <a:r>
                        <a:t>UMF 6 S. Juan del Río</a:t>
                      </a:r>
                    </a:p>
                  </a:txBody>
                  <a:tcPr marL="0" marR="0" marT="0" marB="0">
                    <a:solidFill>
                      <a:srgbClr val="EFEFEF"/>
                    </a:solidFill>
                  </a:tcPr>
                </a:tc>
                <a:tc>
                  <a:txBody>
                    <a:bodyPr/>
                    <a:lstStyle/>
                    <a:p>
                      <a:pPr algn="ctr">
                        <a:defRPr sz="1000">
                          <a:solidFill>
                            <a:srgbClr val="000000"/>
                          </a:solidFill>
                          <a:latin typeface="Montserrat"/>
                        </a:defRPr>
                      </a:pPr>
                      <a:r>
                        <a:t>192,456</a:t>
                      </a:r>
                    </a:p>
                  </a:txBody>
                  <a:tcPr marL="0" marR="0" marT="0" marB="0">
                    <a:solidFill>
                      <a:srgbClr val="EFEFEF"/>
                    </a:solidFill>
                  </a:tcPr>
                </a:tc>
                <a:tc>
                  <a:txBody>
                    <a:bodyPr/>
                    <a:lstStyle/>
                    <a:p>
                      <a:pPr algn="ctr">
                        <a:defRPr sz="1000">
                          <a:solidFill>
                            <a:srgbClr val="000000"/>
                          </a:solidFill>
                          <a:latin typeface="Montserrat"/>
                        </a:defRPr>
                      </a:pPr>
                      <a:r>
                        <a:t>21,444</a:t>
                      </a:r>
                    </a:p>
                  </a:txBody>
                  <a:tcPr marL="0" marR="0" marT="0" marB="0">
                    <a:solidFill>
                      <a:srgbClr val="EFEFEF"/>
                    </a:solidFill>
                  </a:tcPr>
                </a:tc>
                <a:tc>
                  <a:txBody>
                    <a:bodyPr/>
                    <a:lstStyle/>
                    <a:p>
                      <a:pPr algn="ctr">
                        <a:defRPr sz="1000">
                          <a:solidFill>
                            <a:srgbClr val="000000"/>
                          </a:solidFill>
                          <a:latin typeface="Montserrat"/>
                        </a:defRPr>
                      </a:pPr>
                      <a:r>
                        <a:t>73,800</a:t>
                      </a:r>
                    </a:p>
                  </a:txBody>
                  <a:tcPr marL="0" marR="0" marT="0" marB="0">
                    <a:solidFill>
                      <a:srgbClr val="ECD3D9"/>
                    </a:solidFill>
                  </a:tcPr>
                </a:tc>
                <a:tc>
                  <a:txBody>
                    <a:bodyPr/>
                    <a:lstStyle/>
                    <a:p>
                      <a:pPr algn="ctr">
                        <a:defRPr sz="1000">
                          <a:solidFill>
                            <a:srgbClr val="000000"/>
                          </a:solidFill>
                          <a:latin typeface="Montserrat"/>
                        </a:defRPr>
                      </a:pPr>
                      <a:r>
                        <a:t>187,000</a:t>
                      </a:r>
                    </a:p>
                  </a:txBody>
                  <a:tcPr marL="0" marR="0" marT="0" marB="0">
                    <a:solidFill>
                      <a:srgbClr val="ECD3D9"/>
                    </a:solidFill>
                  </a:tcPr>
                </a:tc>
                <a:tc>
                  <a:txBody>
                    <a:bodyPr/>
                    <a:lstStyle/>
                    <a:p>
                      <a:pPr algn="ctr">
                        <a:defRPr sz="1000">
                          <a:solidFill>
                            <a:srgbClr val="000000"/>
                          </a:solidFill>
                          <a:latin typeface="Montserrat"/>
                        </a:defRPr>
                      </a:pPr>
                      <a:r>
                        <a:t>39.5%</a:t>
                      </a:r>
                    </a:p>
                  </a:txBody>
                  <a:tcPr marL="0" marR="0" marT="0" marB="0">
                    <a:solidFill>
                      <a:srgbClr val="ECD3D9"/>
                    </a:solidFill>
                  </a:tcPr>
                </a:tc>
              </a:tr>
              <a:tr h="151200">
                <a:tc>
                  <a:txBody>
                    <a:bodyPr/>
                    <a:lstStyle/>
                    <a:p>
                      <a:pPr algn="l">
                        <a:defRPr sz="1000">
                          <a:solidFill>
                            <a:srgbClr val="000000"/>
                          </a:solidFill>
                          <a:latin typeface="Montserrat"/>
                        </a:defRPr>
                      </a:pPr>
                      <a:r>
                        <a:t>UMF 13 Querétaro</a:t>
                      </a:r>
                    </a:p>
                  </a:txBody>
                  <a:tcPr marL="0" marR="0" marT="0" marB="0">
                    <a:solidFill>
                      <a:srgbClr val="FFFFFF"/>
                    </a:solidFill>
                  </a:tcPr>
                </a:tc>
                <a:tc>
                  <a:txBody>
                    <a:bodyPr/>
                    <a:lstStyle/>
                    <a:p>
                      <a:pPr algn="ctr">
                        <a:defRPr sz="1000">
                          <a:solidFill>
                            <a:srgbClr val="000000"/>
                          </a:solidFill>
                          <a:latin typeface="Montserrat"/>
                        </a:defRPr>
                      </a:pPr>
                      <a:r>
                        <a:t>264,584</a:t>
                      </a:r>
                    </a:p>
                  </a:txBody>
                  <a:tcPr marL="0" marR="0" marT="0" marB="0">
                    <a:solidFill>
                      <a:srgbClr val="FFFFFF"/>
                    </a:solidFill>
                  </a:tcPr>
                </a:tc>
                <a:tc>
                  <a:txBody>
                    <a:bodyPr/>
                    <a:lstStyle/>
                    <a:p>
                      <a:pPr algn="ctr">
                        <a:defRPr sz="1000">
                          <a:solidFill>
                            <a:srgbClr val="000000"/>
                          </a:solidFill>
                          <a:latin typeface="Montserrat"/>
                        </a:defRPr>
                      </a:pPr>
                      <a:r>
                        <a:t>28,506</a:t>
                      </a:r>
                    </a:p>
                  </a:txBody>
                  <a:tcPr marL="0" marR="0" marT="0" marB="0">
                    <a:solidFill>
                      <a:srgbClr val="FFFFFF"/>
                    </a:solidFill>
                  </a:tcPr>
                </a:tc>
                <a:tc>
                  <a:txBody>
                    <a:bodyPr/>
                    <a:lstStyle/>
                    <a:p>
                      <a:pPr algn="ctr">
                        <a:defRPr sz="1000">
                          <a:solidFill>
                            <a:srgbClr val="000000"/>
                          </a:solidFill>
                          <a:latin typeface="Montserrat"/>
                        </a:defRPr>
                      </a:pPr>
                      <a:r>
                        <a:t>101,561</a:t>
                      </a:r>
                    </a:p>
                  </a:txBody>
                  <a:tcPr marL="0" marR="0" marT="0" marB="0">
                    <a:solidFill>
                      <a:srgbClr val="ECD3D9"/>
                    </a:solidFill>
                  </a:tcPr>
                </a:tc>
                <a:tc>
                  <a:txBody>
                    <a:bodyPr/>
                    <a:lstStyle/>
                    <a:p>
                      <a:pPr algn="ctr">
                        <a:defRPr sz="1000">
                          <a:solidFill>
                            <a:srgbClr val="000000"/>
                          </a:solidFill>
                          <a:latin typeface="Montserrat"/>
                        </a:defRPr>
                      </a:pPr>
                      <a:r>
                        <a:t>275,520</a:t>
                      </a:r>
                    </a:p>
                  </a:txBody>
                  <a:tcPr marL="0" marR="0" marT="0" marB="0">
                    <a:solidFill>
                      <a:srgbClr val="ECD3D9"/>
                    </a:solidFill>
                  </a:tcPr>
                </a:tc>
                <a:tc>
                  <a:txBody>
                    <a:bodyPr/>
                    <a:lstStyle/>
                    <a:p>
                      <a:pPr algn="ctr">
                        <a:defRPr sz="1000">
                          <a:solidFill>
                            <a:srgbClr val="000000"/>
                          </a:solidFill>
                          <a:latin typeface="Montserrat"/>
                        </a:defRPr>
                      </a:pPr>
                      <a:r>
                        <a:t>36.9%</a:t>
                      </a:r>
                    </a:p>
                  </a:txBody>
                  <a:tcPr marL="0" marR="0" marT="0" marB="0">
                    <a:solidFill>
                      <a:srgbClr val="ECD3D9"/>
                    </a:solidFill>
                  </a:tcPr>
                </a:tc>
              </a:tr>
              <a:tr h="151200">
                <a:tc>
                  <a:txBody>
                    <a:bodyPr/>
                    <a:lstStyle/>
                    <a:p>
                      <a:pPr algn="l">
                        <a:defRPr sz="1000">
                          <a:solidFill>
                            <a:srgbClr val="000000"/>
                          </a:solidFill>
                          <a:latin typeface="Montserrat"/>
                        </a:defRPr>
                      </a:pPr>
                      <a:r>
                        <a:t>UMF 16 Querétaro</a:t>
                      </a:r>
                    </a:p>
                  </a:txBody>
                  <a:tcPr marL="0" marR="0" marT="0" marB="0">
                    <a:solidFill>
                      <a:srgbClr val="EFEFEF"/>
                    </a:solidFill>
                  </a:tcPr>
                </a:tc>
                <a:tc>
                  <a:txBody>
                    <a:bodyPr/>
                    <a:lstStyle/>
                    <a:p>
                      <a:pPr algn="ctr">
                        <a:defRPr sz="1000">
                          <a:solidFill>
                            <a:srgbClr val="000000"/>
                          </a:solidFill>
                          <a:latin typeface="Montserrat"/>
                        </a:defRPr>
                      </a:pPr>
                      <a:r>
                        <a:t>234,952</a:t>
                      </a:r>
                    </a:p>
                  </a:txBody>
                  <a:tcPr marL="0" marR="0" marT="0" marB="0">
                    <a:solidFill>
                      <a:srgbClr val="EFEFEF"/>
                    </a:solidFill>
                  </a:tcPr>
                </a:tc>
                <a:tc>
                  <a:txBody>
                    <a:bodyPr/>
                    <a:lstStyle/>
                    <a:p>
                      <a:pPr algn="ctr">
                        <a:defRPr sz="1000">
                          <a:solidFill>
                            <a:srgbClr val="000000"/>
                          </a:solidFill>
                          <a:latin typeface="Montserrat"/>
                        </a:defRPr>
                      </a:pPr>
                      <a:r>
                        <a:t>29,078</a:t>
                      </a:r>
                    </a:p>
                  </a:txBody>
                  <a:tcPr marL="0" marR="0" marT="0" marB="0">
                    <a:solidFill>
                      <a:srgbClr val="EFEFEF"/>
                    </a:solidFill>
                  </a:tcPr>
                </a:tc>
                <a:tc>
                  <a:txBody>
                    <a:bodyPr/>
                    <a:lstStyle/>
                    <a:p>
                      <a:pPr algn="ctr">
                        <a:defRPr sz="1000">
                          <a:solidFill>
                            <a:srgbClr val="000000"/>
                          </a:solidFill>
                          <a:latin typeface="Montserrat"/>
                        </a:defRPr>
                      </a:pPr>
                      <a:r>
                        <a:t>91,909</a:t>
                      </a:r>
                    </a:p>
                  </a:txBody>
                  <a:tcPr marL="0" marR="0" marT="0" marB="0">
                    <a:solidFill>
                      <a:srgbClr val="ECD3D9"/>
                    </a:solidFill>
                  </a:tcPr>
                </a:tc>
                <a:tc>
                  <a:txBody>
                    <a:bodyPr/>
                    <a:lstStyle/>
                    <a:p>
                      <a:pPr algn="ctr">
                        <a:defRPr sz="1000">
                          <a:solidFill>
                            <a:srgbClr val="000000"/>
                          </a:solidFill>
                          <a:latin typeface="Montserrat"/>
                        </a:defRPr>
                      </a:pPr>
                      <a:r>
                        <a:t>228,000</a:t>
                      </a:r>
                    </a:p>
                  </a:txBody>
                  <a:tcPr marL="0" marR="0" marT="0" marB="0">
                    <a:solidFill>
                      <a:srgbClr val="ECD3D9"/>
                    </a:solidFill>
                  </a:tcPr>
                </a:tc>
                <a:tc>
                  <a:txBody>
                    <a:bodyPr/>
                    <a:lstStyle/>
                    <a:p>
                      <a:pPr algn="ctr">
                        <a:defRPr sz="1000">
                          <a:solidFill>
                            <a:srgbClr val="000000"/>
                          </a:solidFill>
                          <a:latin typeface="Montserrat"/>
                        </a:defRPr>
                      </a:pPr>
                      <a:r>
                        <a:t>40.3%</a:t>
                      </a:r>
                    </a:p>
                  </a:txBody>
                  <a:tcPr marL="0" marR="0" marT="0" marB="0">
                    <a:solidFill>
                      <a:srgbClr val="ECD3D9"/>
                    </a:solidFill>
                  </a:tcPr>
                </a:tc>
              </a:tr>
              <a:tr h="151200">
                <a:tc>
                  <a:txBody>
                    <a:bodyPr/>
                    <a:lstStyle/>
                    <a:p>
                      <a:pPr algn="l">
                        <a:defRPr sz="1000">
                          <a:solidFill>
                            <a:srgbClr val="000000"/>
                          </a:solidFill>
                          <a:latin typeface="Montserrat"/>
                        </a:defRPr>
                      </a:pPr>
                      <a:r>
                        <a:t>UMF 11 S. R. Jaúregui</a:t>
                      </a:r>
                    </a:p>
                  </a:txBody>
                  <a:tcPr marL="0" marR="0" marT="0" marB="0">
                    <a:solidFill>
                      <a:srgbClr val="FFFFFF"/>
                    </a:solidFill>
                  </a:tcPr>
                </a:tc>
                <a:tc>
                  <a:txBody>
                    <a:bodyPr/>
                    <a:lstStyle/>
                    <a:p>
                      <a:pPr algn="ctr">
                        <a:defRPr sz="1000">
                          <a:solidFill>
                            <a:srgbClr val="000000"/>
                          </a:solidFill>
                          <a:latin typeface="Montserrat"/>
                        </a:defRPr>
                      </a:pPr>
                      <a:r>
                        <a:t>147,570</a:t>
                      </a:r>
                    </a:p>
                  </a:txBody>
                  <a:tcPr marL="0" marR="0" marT="0" marB="0">
                    <a:solidFill>
                      <a:srgbClr val="FFFFFF"/>
                    </a:solidFill>
                  </a:tcPr>
                </a:tc>
                <a:tc>
                  <a:txBody>
                    <a:bodyPr/>
                    <a:lstStyle/>
                    <a:p>
                      <a:pPr algn="ctr">
                        <a:defRPr sz="1000">
                          <a:solidFill>
                            <a:srgbClr val="000000"/>
                          </a:solidFill>
                          <a:latin typeface="Montserrat"/>
                        </a:defRPr>
                      </a:pPr>
                      <a:r>
                        <a:t>27,396</a:t>
                      </a:r>
                    </a:p>
                  </a:txBody>
                  <a:tcPr marL="0" marR="0" marT="0" marB="0">
                    <a:solidFill>
                      <a:srgbClr val="FFFFFF"/>
                    </a:solidFill>
                  </a:tcPr>
                </a:tc>
                <a:tc>
                  <a:txBody>
                    <a:bodyPr/>
                    <a:lstStyle/>
                    <a:p>
                      <a:pPr algn="ctr">
                        <a:defRPr sz="1000">
                          <a:solidFill>
                            <a:srgbClr val="000000"/>
                          </a:solidFill>
                          <a:latin typeface="Montserrat"/>
                        </a:defRPr>
                      </a:pPr>
                      <a:r>
                        <a:t>57,491</a:t>
                      </a:r>
                    </a:p>
                  </a:txBody>
                  <a:tcPr marL="0" marR="0" marT="0" marB="0">
                    <a:solidFill>
                      <a:srgbClr val="ECD3D9"/>
                    </a:solidFill>
                  </a:tcPr>
                </a:tc>
                <a:tc>
                  <a:txBody>
                    <a:bodyPr/>
                    <a:lstStyle/>
                    <a:p>
                      <a:pPr algn="ctr">
                        <a:defRPr sz="1000">
                          <a:solidFill>
                            <a:srgbClr val="000000"/>
                          </a:solidFill>
                          <a:latin typeface="Montserrat"/>
                        </a:defRPr>
                      </a:pPr>
                      <a:r>
                        <a:t>144,000</a:t>
                      </a:r>
                    </a:p>
                  </a:txBody>
                  <a:tcPr marL="0" marR="0" marT="0" marB="0">
                    <a:solidFill>
                      <a:srgbClr val="ECD3D9"/>
                    </a:solidFill>
                  </a:tcPr>
                </a:tc>
                <a:tc>
                  <a:txBody>
                    <a:bodyPr/>
                    <a:lstStyle/>
                    <a:p>
                      <a:pPr algn="ctr">
                        <a:defRPr sz="1000">
                          <a:solidFill>
                            <a:srgbClr val="000000"/>
                          </a:solidFill>
                          <a:latin typeface="Montserrat"/>
                        </a:defRPr>
                      </a:pPr>
                      <a:r>
                        <a:t>39.9%</a:t>
                      </a:r>
                    </a:p>
                  </a:txBody>
                  <a:tcPr marL="0" marR="0" marT="0" marB="0">
                    <a:solidFill>
                      <a:srgbClr val="ECD3D9"/>
                    </a:solidFill>
                  </a:tcPr>
                </a:tc>
              </a:tr>
              <a:tr h="151200">
                <a:tc>
                  <a:txBody>
                    <a:bodyPr/>
                    <a:lstStyle/>
                    <a:p>
                      <a:pPr algn="l">
                        <a:defRPr sz="1000">
                          <a:solidFill>
                            <a:srgbClr val="000000"/>
                          </a:solidFill>
                          <a:latin typeface="Montserrat"/>
                        </a:defRPr>
                      </a:pPr>
                      <a:r>
                        <a:t>UMF 14 El Pueblito</a:t>
                      </a:r>
                    </a:p>
                  </a:txBody>
                  <a:tcPr marL="0" marR="0" marT="0" marB="0">
                    <a:solidFill>
                      <a:srgbClr val="EFEFEF"/>
                    </a:solidFill>
                  </a:tcPr>
                </a:tc>
                <a:tc>
                  <a:txBody>
                    <a:bodyPr/>
                    <a:lstStyle/>
                    <a:p>
                      <a:pPr algn="ctr">
                        <a:defRPr sz="1000">
                          <a:solidFill>
                            <a:srgbClr val="000000"/>
                          </a:solidFill>
                          <a:latin typeface="Montserrat"/>
                        </a:defRPr>
                      </a:pPr>
                      <a:r>
                        <a:t>99,932</a:t>
                      </a:r>
                    </a:p>
                  </a:txBody>
                  <a:tcPr marL="0" marR="0" marT="0" marB="0">
                    <a:solidFill>
                      <a:srgbClr val="EFEFEF"/>
                    </a:solidFill>
                  </a:tcPr>
                </a:tc>
                <a:tc>
                  <a:txBody>
                    <a:bodyPr/>
                    <a:lstStyle/>
                    <a:p>
                      <a:pPr algn="ctr">
                        <a:defRPr sz="1000">
                          <a:solidFill>
                            <a:srgbClr val="000000"/>
                          </a:solidFill>
                          <a:latin typeface="Montserrat"/>
                        </a:defRPr>
                      </a:pPr>
                      <a:r>
                        <a:t>5,532</a:t>
                      </a:r>
                    </a:p>
                  </a:txBody>
                  <a:tcPr marL="0" marR="0" marT="0" marB="0">
                    <a:solidFill>
                      <a:srgbClr val="EFEFEF"/>
                    </a:solidFill>
                  </a:tcPr>
                </a:tc>
                <a:tc>
                  <a:txBody>
                    <a:bodyPr/>
                    <a:lstStyle/>
                    <a:p>
                      <a:pPr algn="ctr">
                        <a:defRPr sz="1000">
                          <a:solidFill>
                            <a:srgbClr val="000000"/>
                          </a:solidFill>
                          <a:latin typeface="Montserrat"/>
                        </a:defRPr>
                      </a:pPr>
                      <a:r>
                        <a:t>38,424</a:t>
                      </a:r>
                    </a:p>
                  </a:txBody>
                  <a:tcPr marL="0" marR="0" marT="0" marB="0">
                    <a:solidFill>
                      <a:srgbClr val="ECD3D9"/>
                    </a:solidFill>
                  </a:tcPr>
                </a:tc>
                <a:tc>
                  <a:txBody>
                    <a:bodyPr/>
                    <a:lstStyle/>
                    <a:p>
                      <a:pPr algn="ctr">
                        <a:defRPr sz="1000">
                          <a:solidFill>
                            <a:srgbClr val="000000"/>
                          </a:solidFill>
                          <a:latin typeface="Montserrat"/>
                        </a:defRPr>
                      </a:pPr>
                      <a:r>
                        <a:t>97,000</a:t>
                      </a:r>
                    </a:p>
                  </a:txBody>
                  <a:tcPr marL="0" marR="0" marT="0" marB="0">
                    <a:solidFill>
                      <a:srgbClr val="ECD3D9"/>
                    </a:solidFill>
                  </a:tcPr>
                </a:tc>
                <a:tc>
                  <a:txBody>
                    <a:bodyPr/>
                    <a:lstStyle/>
                    <a:p>
                      <a:pPr algn="ctr">
                        <a:defRPr sz="1000">
                          <a:solidFill>
                            <a:srgbClr val="000000"/>
                          </a:solidFill>
                          <a:latin typeface="Montserrat"/>
                        </a:defRPr>
                      </a:pPr>
                      <a:r>
                        <a:t>39.6%</a:t>
                      </a:r>
                    </a:p>
                  </a:txBody>
                  <a:tcPr marL="0" marR="0" marT="0" marB="0">
                    <a:solidFill>
                      <a:srgbClr val="ECD3D9"/>
                    </a:solidFill>
                  </a:tcPr>
                </a:tc>
              </a:tr>
              <a:tr h="151200">
                <a:tc>
                  <a:txBody>
                    <a:bodyPr/>
                    <a:lstStyle/>
                    <a:p>
                      <a:pPr algn="l">
                        <a:defRPr sz="1000">
                          <a:solidFill>
                            <a:srgbClr val="000000"/>
                          </a:solidFill>
                          <a:latin typeface="Montserrat"/>
                        </a:defRPr>
                      </a:pPr>
                      <a:r>
                        <a:t>UMF 9 Del Tintero</a:t>
                      </a:r>
                    </a:p>
                  </a:txBody>
                  <a:tcPr marL="0" marR="0" marT="0" marB="0">
                    <a:solidFill>
                      <a:srgbClr val="FFFFFF"/>
                    </a:solidFill>
                  </a:tcPr>
                </a:tc>
                <a:tc>
                  <a:txBody>
                    <a:bodyPr/>
                    <a:lstStyle/>
                    <a:p>
                      <a:pPr algn="ctr">
                        <a:defRPr sz="1000">
                          <a:solidFill>
                            <a:srgbClr val="000000"/>
                          </a:solidFill>
                          <a:latin typeface="Montserrat"/>
                        </a:defRPr>
                      </a:pPr>
                      <a:r>
                        <a:t>276,369</a:t>
                      </a:r>
                    </a:p>
                  </a:txBody>
                  <a:tcPr marL="0" marR="0" marT="0" marB="0">
                    <a:solidFill>
                      <a:srgbClr val="FFFFFF"/>
                    </a:solidFill>
                  </a:tcPr>
                </a:tc>
                <a:tc>
                  <a:txBody>
                    <a:bodyPr/>
                    <a:lstStyle/>
                    <a:p>
                      <a:pPr algn="ctr">
                        <a:defRPr sz="1000">
                          <a:solidFill>
                            <a:srgbClr val="000000"/>
                          </a:solidFill>
                          <a:latin typeface="Montserrat"/>
                        </a:defRPr>
                      </a:pPr>
                      <a:r>
                        <a:t>16,911</a:t>
                      </a:r>
                    </a:p>
                  </a:txBody>
                  <a:tcPr marL="0" marR="0" marT="0" marB="0">
                    <a:solidFill>
                      <a:srgbClr val="FFFFFF"/>
                    </a:solidFill>
                  </a:tcPr>
                </a:tc>
                <a:tc>
                  <a:txBody>
                    <a:bodyPr/>
                    <a:lstStyle/>
                    <a:p>
                      <a:pPr algn="ctr">
                        <a:defRPr sz="1000">
                          <a:solidFill>
                            <a:srgbClr val="000000"/>
                          </a:solidFill>
                          <a:latin typeface="Montserrat"/>
                        </a:defRPr>
                      </a:pPr>
                      <a:r>
                        <a:t>108,775</a:t>
                      </a:r>
                    </a:p>
                  </a:txBody>
                  <a:tcPr marL="0" marR="0" marT="0" marB="0">
                    <a:solidFill>
                      <a:srgbClr val="ECD3D9"/>
                    </a:solidFill>
                  </a:tcPr>
                </a:tc>
                <a:tc>
                  <a:txBody>
                    <a:bodyPr/>
                    <a:lstStyle/>
                    <a:p>
                      <a:pPr algn="ctr">
                        <a:defRPr sz="1000">
                          <a:solidFill>
                            <a:srgbClr val="000000"/>
                          </a:solidFill>
                          <a:latin typeface="Montserrat"/>
                        </a:defRPr>
                      </a:pPr>
                      <a:r>
                        <a:t>269,000</a:t>
                      </a:r>
                    </a:p>
                  </a:txBody>
                  <a:tcPr marL="0" marR="0" marT="0" marB="0">
                    <a:solidFill>
                      <a:srgbClr val="ECD3D9"/>
                    </a:solidFill>
                  </a:tcPr>
                </a:tc>
                <a:tc>
                  <a:txBody>
                    <a:bodyPr/>
                    <a:lstStyle/>
                    <a:p>
                      <a:pPr algn="ctr">
                        <a:defRPr sz="1000">
                          <a:solidFill>
                            <a:srgbClr val="000000"/>
                          </a:solidFill>
                          <a:latin typeface="Montserrat"/>
                        </a:defRPr>
                      </a:pPr>
                      <a:r>
                        <a:t>40.4%</a:t>
                      </a:r>
                    </a:p>
                  </a:txBody>
                  <a:tcPr marL="0" marR="0" marT="0" marB="0">
                    <a:solidFill>
                      <a:srgbClr val="ECD3D9"/>
                    </a:solidFill>
                  </a:tcPr>
                </a:tc>
              </a:tr>
              <a:tr h="151200">
                <a:tc>
                  <a:txBody>
                    <a:bodyPr/>
                    <a:lstStyle/>
                    <a:p>
                      <a:pPr algn="l">
                        <a:defRPr sz="1000">
                          <a:solidFill>
                            <a:srgbClr val="000000"/>
                          </a:solidFill>
                          <a:latin typeface="Montserrat"/>
                        </a:defRPr>
                      </a:pPr>
                      <a:r>
                        <a:t>UMF 15 Querétaro</a:t>
                      </a:r>
                    </a:p>
                  </a:txBody>
                  <a:tcPr marL="0" marR="0" marT="0" marB="0">
                    <a:solidFill>
                      <a:srgbClr val="EFEFEF"/>
                    </a:solidFill>
                  </a:tcPr>
                </a:tc>
                <a:tc>
                  <a:txBody>
                    <a:bodyPr/>
                    <a:lstStyle/>
                    <a:p>
                      <a:pPr algn="ctr">
                        <a:defRPr sz="1000">
                          <a:solidFill>
                            <a:srgbClr val="000000"/>
                          </a:solidFill>
                          <a:latin typeface="Montserrat"/>
                        </a:defRPr>
                      </a:pPr>
                      <a:r>
                        <a:t>203,089</a:t>
                      </a:r>
                    </a:p>
                  </a:txBody>
                  <a:tcPr marL="0" marR="0" marT="0" marB="0">
                    <a:solidFill>
                      <a:srgbClr val="EFEFEF"/>
                    </a:solidFill>
                  </a:tcPr>
                </a:tc>
                <a:tc>
                  <a:txBody>
                    <a:bodyPr/>
                    <a:lstStyle/>
                    <a:p>
                      <a:pPr algn="ctr">
                        <a:defRPr sz="1000">
                          <a:solidFill>
                            <a:srgbClr val="000000"/>
                          </a:solidFill>
                          <a:latin typeface="Montserrat"/>
                        </a:defRPr>
                      </a:pPr>
                      <a:r>
                        <a:t>6,949</a:t>
                      </a:r>
                    </a:p>
                  </a:txBody>
                  <a:tcPr marL="0" marR="0" marT="0" marB="0">
                    <a:solidFill>
                      <a:srgbClr val="EFEFEF"/>
                    </a:solidFill>
                  </a:tcPr>
                </a:tc>
                <a:tc>
                  <a:txBody>
                    <a:bodyPr/>
                    <a:lstStyle/>
                    <a:p>
                      <a:pPr algn="ctr">
                        <a:defRPr sz="1000">
                          <a:solidFill>
                            <a:srgbClr val="000000"/>
                          </a:solidFill>
                          <a:latin typeface="Montserrat"/>
                        </a:defRPr>
                      </a:pPr>
                      <a:r>
                        <a:t>77,134</a:t>
                      </a:r>
                    </a:p>
                  </a:txBody>
                  <a:tcPr marL="0" marR="0" marT="0" marB="0">
                    <a:solidFill>
                      <a:srgbClr val="ECD3D9"/>
                    </a:solidFill>
                  </a:tcPr>
                </a:tc>
                <a:tc>
                  <a:txBody>
                    <a:bodyPr/>
                    <a:lstStyle/>
                    <a:p>
                      <a:pPr algn="ctr">
                        <a:defRPr sz="1000">
                          <a:solidFill>
                            <a:srgbClr val="000000"/>
                          </a:solidFill>
                          <a:latin typeface="Montserrat"/>
                        </a:defRPr>
                      </a:pPr>
                      <a:r>
                        <a:t>198,000</a:t>
                      </a:r>
                    </a:p>
                  </a:txBody>
                  <a:tcPr marL="0" marR="0" marT="0" marB="0">
                    <a:solidFill>
                      <a:srgbClr val="ECD3D9"/>
                    </a:solidFill>
                  </a:tcPr>
                </a:tc>
                <a:tc>
                  <a:txBody>
                    <a:bodyPr/>
                    <a:lstStyle/>
                    <a:p>
                      <a:pPr algn="ctr">
                        <a:defRPr sz="1000">
                          <a:solidFill>
                            <a:srgbClr val="000000"/>
                          </a:solidFill>
                          <a:latin typeface="Montserrat"/>
                        </a:defRPr>
                      </a:pPr>
                      <a:r>
                        <a:t>39.0%</a:t>
                      </a:r>
                    </a:p>
                  </a:txBody>
                  <a:tcPr marL="0" marR="0" marT="0" marB="0">
                    <a:solidFill>
                      <a:srgbClr val="ECD3D9"/>
                    </a:solidFill>
                  </a:tcPr>
                </a:tc>
              </a:tr>
              <a:tr h="151200">
                <a:tc>
                  <a:txBody>
                    <a:bodyPr/>
                    <a:lstStyle/>
                    <a:p>
                      <a:pPr algn="l">
                        <a:defRPr sz="1000">
                          <a:solidFill>
                            <a:srgbClr val="000000"/>
                          </a:solidFill>
                          <a:latin typeface="Montserrat"/>
                        </a:defRPr>
                      </a:pPr>
                      <a:r>
                        <a:t>UMF 10 S. Gregorio</a:t>
                      </a:r>
                    </a:p>
                  </a:txBody>
                  <a:tcPr marL="0" marR="0" marT="0" marB="0">
                    <a:solidFill>
                      <a:srgbClr val="FFFFFF"/>
                    </a:solidFill>
                  </a:tcPr>
                </a:tc>
                <a:tc>
                  <a:txBody>
                    <a:bodyPr/>
                    <a:lstStyle/>
                    <a:p>
                      <a:pPr algn="ctr">
                        <a:defRPr sz="1000">
                          <a:solidFill>
                            <a:srgbClr val="000000"/>
                          </a:solidFill>
                          <a:latin typeface="Montserrat"/>
                        </a:defRPr>
                      </a:pPr>
                      <a:r>
                        <a:t>89,550</a:t>
                      </a:r>
                    </a:p>
                  </a:txBody>
                  <a:tcPr marL="0" marR="0" marT="0" marB="0">
                    <a:solidFill>
                      <a:srgbClr val="FFFFFF"/>
                    </a:solidFill>
                  </a:tcPr>
                </a:tc>
                <a:tc>
                  <a:txBody>
                    <a:bodyPr/>
                    <a:lstStyle/>
                    <a:p>
                      <a:pPr algn="ctr">
                        <a:defRPr sz="1000">
                          <a:solidFill>
                            <a:srgbClr val="000000"/>
                          </a:solidFill>
                          <a:latin typeface="Montserrat"/>
                        </a:defRPr>
                      </a:pPr>
                      <a:r>
                        <a:t>21,333</a:t>
                      </a:r>
                    </a:p>
                  </a:txBody>
                  <a:tcPr marL="0" marR="0" marT="0" marB="0">
                    <a:solidFill>
                      <a:srgbClr val="FFFFFF"/>
                    </a:solidFill>
                  </a:tcPr>
                </a:tc>
                <a:tc>
                  <a:txBody>
                    <a:bodyPr/>
                    <a:lstStyle/>
                    <a:p>
                      <a:pPr algn="ctr">
                        <a:defRPr sz="1000">
                          <a:solidFill>
                            <a:srgbClr val="000000"/>
                          </a:solidFill>
                          <a:latin typeface="Montserrat"/>
                        </a:defRPr>
                      </a:pPr>
                      <a:r>
                        <a:t>38,447</a:t>
                      </a:r>
                    </a:p>
                  </a:txBody>
                  <a:tcPr marL="0" marR="0" marT="0" marB="0">
                    <a:solidFill>
                      <a:srgbClr val="ECD3D9"/>
                    </a:solidFill>
                  </a:tcPr>
                </a:tc>
                <a:tc>
                  <a:txBody>
                    <a:bodyPr/>
                    <a:lstStyle/>
                    <a:p>
                      <a:pPr algn="ctr">
                        <a:defRPr sz="1000">
                          <a:solidFill>
                            <a:srgbClr val="000000"/>
                          </a:solidFill>
                          <a:latin typeface="Montserrat"/>
                        </a:defRPr>
                      </a:pPr>
                      <a:r>
                        <a:t>87,000</a:t>
                      </a:r>
                    </a:p>
                  </a:txBody>
                  <a:tcPr marL="0" marR="0" marT="0" marB="0">
                    <a:solidFill>
                      <a:srgbClr val="ECD3D9"/>
                    </a:solidFill>
                  </a:tcPr>
                </a:tc>
                <a:tc>
                  <a:txBody>
                    <a:bodyPr/>
                    <a:lstStyle/>
                    <a:p>
                      <a:pPr algn="ctr">
                        <a:defRPr sz="1000">
                          <a:solidFill>
                            <a:srgbClr val="000000"/>
                          </a:solidFill>
                          <a:latin typeface="Montserrat"/>
                        </a:defRPr>
                      </a:pPr>
                      <a:r>
                        <a:t>44.2%</a:t>
                      </a:r>
                    </a:p>
                  </a:txBody>
                  <a:tcPr marL="0" marR="0" marT="0" marB="0">
                    <a:solidFill>
                      <a:srgbClr val="ECD3D9"/>
                    </a:solidFill>
                  </a:tcPr>
                </a:tc>
              </a:tr>
              <a:tr h="151200">
                <a:tc>
                  <a:txBody>
                    <a:bodyPr/>
                    <a:lstStyle/>
                    <a:p>
                      <a:pPr algn="l">
                        <a:defRPr sz="1000">
                          <a:solidFill>
                            <a:srgbClr val="000000"/>
                          </a:solidFill>
                          <a:latin typeface="Montserrat"/>
                        </a:defRPr>
                      </a:pPr>
                      <a:r>
                        <a:t>UMF 7 S. Juan del Río</a:t>
                      </a:r>
                    </a:p>
                  </a:txBody>
                  <a:tcPr marL="0" marR="0" marT="0" marB="0">
                    <a:solidFill>
                      <a:srgbClr val="EFEFEF"/>
                    </a:solidFill>
                  </a:tcPr>
                </a:tc>
                <a:tc>
                  <a:txBody>
                    <a:bodyPr/>
                    <a:lstStyle/>
                    <a:p>
                      <a:pPr algn="ctr">
                        <a:defRPr sz="1000">
                          <a:solidFill>
                            <a:srgbClr val="000000"/>
                          </a:solidFill>
                          <a:latin typeface="Montserrat"/>
                        </a:defRPr>
                      </a:pPr>
                      <a:r>
                        <a:t>175,329</a:t>
                      </a:r>
                    </a:p>
                  </a:txBody>
                  <a:tcPr marL="0" marR="0" marT="0" marB="0">
                    <a:solidFill>
                      <a:srgbClr val="EFEFEF"/>
                    </a:solidFill>
                  </a:tcPr>
                </a:tc>
                <a:tc>
                  <a:txBody>
                    <a:bodyPr/>
                    <a:lstStyle/>
                    <a:p>
                      <a:pPr algn="ctr">
                        <a:defRPr sz="1000">
                          <a:solidFill>
                            <a:srgbClr val="000000"/>
                          </a:solidFill>
                          <a:latin typeface="Montserrat"/>
                        </a:defRPr>
                      </a:pPr>
                      <a:r>
                        <a:t>48,650</a:t>
                      </a:r>
                    </a:p>
                  </a:txBody>
                  <a:tcPr marL="0" marR="0" marT="0" marB="0">
                    <a:solidFill>
                      <a:srgbClr val="EFEFEF"/>
                    </a:solidFill>
                  </a:tcPr>
                </a:tc>
                <a:tc>
                  <a:txBody>
                    <a:bodyPr/>
                    <a:lstStyle/>
                    <a:p>
                      <a:pPr algn="ctr">
                        <a:defRPr sz="1000">
                          <a:solidFill>
                            <a:srgbClr val="000000"/>
                          </a:solidFill>
                          <a:latin typeface="Montserrat"/>
                        </a:defRPr>
                      </a:pPr>
                      <a:r>
                        <a:t>73,419</a:t>
                      </a:r>
                    </a:p>
                  </a:txBody>
                  <a:tcPr marL="0" marR="0" marT="0" marB="0">
                    <a:solidFill>
                      <a:srgbClr val="ECD3D9"/>
                    </a:solidFill>
                  </a:tcPr>
                </a:tc>
                <a:tc>
                  <a:txBody>
                    <a:bodyPr/>
                    <a:lstStyle/>
                    <a:p>
                      <a:pPr algn="ctr">
                        <a:defRPr sz="1000">
                          <a:solidFill>
                            <a:srgbClr val="000000"/>
                          </a:solidFill>
                          <a:latin typeface="Montserrat"/>
                        </a:defRPr>
                      </a:pPr>
                      <a:r>
                        <a:t>179,088</a:t>
                      </a:r>
                    </a:p>
                  </a:txBody>
                  <a:tcPr marL="0" marR="0" marT="0" marB="0">
                    <a:solidFill>
                      <a:srgbClr val="ECD3D9"/>
                    </a:solidFill>
                  </a:tcPr>
                </a:tc>
                <a:tc>
                  <a:txBody>
                    <a:bodyPr/>
                    <a:lstStyle/>
                    <a:p>
                      <a:pPr algn="ctr">
                        <a:defRPr sz="1000">
                          <a:solidFill>
                            <a:srgbClr val="000000"/>
                          </a:solidFill>
                          <a:latin typeface="Montserrat"/>
                        </a:defRPr>
                      </a:pPr>
                      <a:r>
                        <a:t>41.0%</a:t>
                      </a:r>
                    </a:p>
                  </a:txBody>
                  <a:tcPr marL="0" marR="0" marT="0" marB="0">
                    <a:solidFill>
                      <a:srgbClr val="ECD3D9"/>
                    </a:solidFill>
                  </a:tcPr>
                </a:tc>
              </a:tr>
              <a:tr h="151200">
                <a:tc>
                  <a:txBody>
                    <a:bodyPr/>
                    <a:lstStyle/>
                    <a:p>
                      <a:pPr algn="l">
                        <a:defRPr sz="1000">
                          <a:solidFill>
                            <a:srgbClr val="000000"/>
                          </a:solidFill>
                          <a:latin typeface="Montserrat"/>
                        </a:defRPr>
                      </a:pPr>
                      <a:r>
                        <a:t>UMF 8 El Marqués</a:t>
                      </a:r>
                    </a:p>
                  </a:txBody>
                  <a:tcPr marL="0" marR="0" marT="0" marB="0">
                    <a:solidFill>
                      <a:srgbClr val="FFFFFF"/>
                    </a:solidFill>
                  </a:tcPr>
                </a:tc>
                <a:tc>
                  <a:txBody>
                    <a:bodyPr/>
                    <a:lstStyle/>
                    <a:p>
                      <a:pPr algn="ctr">
                        <a:defRPr sz="1000">
                          <a:solidFill>
                            <a:srgbClr val="000000"/>
                          </a:solidFill>
                          <a:latin typeface="Montserrat"/>
                        </a:defRPr>
                      </a:pPr>
                      <a:r>
                        <a:t>167,301</a:t>
                      </a:r>
                    </a:p>
                  </a:txBody>
                  <a:tcPr marL="0" marR="0" marT="0" marB="0">
                    <a:solidFill>
                      <a:srgbClr val="FFFFFF"/>
                    </a:solidFill>
                  </a:tcPr>
                </a:tc>
                <a:tc>
                  <a:txBody>
                    <a:bodyPr/>
                    <a:lstStyle/>
                    <a:p>
                      <a:pPr algn="ctr">
                        <a:defRPr sz="1000">
                          <a:solidFill>
                            <a:srgbClr val="000000"/>
                          </a:solidFill>
                          <a:latin typeface="Montserrat"/>
                        </a:defRPr>
                      </a:pPr>
                      <a:r>
                        <a:t>10,694</a:t>
                      </a:r>
                    </a:p>
                  </a:txBody>
                  <a:tcPr marL="0" marR="0" marT="0" marB="0">
                    <a:solidFill>
                      <a:srgbClr val="FFFFFF"/>
                    </a:solidFill>
                  </a:tcPr>
                </a:tc>
                <a:tc>
                  <a:txBody>
                    <a:bodyPr/>
                    <a:lstStyle/>
                    <a:p>
                      <a:pPr algn="ctr">
                        <a:defRPr sz="1000">
                          <a:solidFill>
                            <a:srgbClr val="000000"/>
                          </a:solidFill>
                          <a:latin typeface="Montserrat"/>
                        </a:defRPr>
                      </a:pPr>
                      <a:r>
                        <a:t>63,814</a:t>
                      </a:r>
                    </a:p>
                  </a:txBody>
                  <a:tcPr marL="0" marR="0" marT="0" marB="0">
                    <a:solidFill>
                      <a:srgbClr val="ECD3D9"/>
                    </a:solidFill>
                  </a:tcPr>
                </a:tc>
                <a:tc>
                  <a:txBody>
                    <a:bodyPr/>
                    <a:lstStyle/>
                    <a:p>
                      <a:pPr algn="ctr">
                        <a:defRPr sz="1000">
                          <a:solidFill>
                            <a:srgbClr val="000000"/>
                          </a:solidFill>
                          <a:latin typeface="Montserrat"/>
                        </a:defRPr>
                      </a:pPr>
                      <a:r>
                        <a:t>163,000</a:t>
                      </a:r>
                    </a:p>
                  </a:txBody>
                  <a:tcPr marL="0" marR="0" marT="0" marB="0">
                    <a:solidFill>
                      <a:srgbClr val="ECD3D9"/>
                    </a:solidFill>
                  </a:tcPr>
                </a:tc>
                <a:tc>
                  <a:txBody>
                    <a:bodyPr/>
                    <a:lstStyle/>
                    <a:p>
                      <a:pPr algn="ctr">
                        <a:defRPr sz="1000">
                          <a:solidFill>
                            <a:srgbClr val="000000"/>
                          </a:solidFill>
                          <a:latin typeface="Montserrat"/>
                        </a:defRPr>
                      </a:pPr>
                      <a:r>
                        <a:t>39.1%</a:t>
                      </a:r>
                    </a:p>
                  </a:txBody>
                  <a:tcPr marL="0" marR="0" marT="0" marB="0">
                    <a:solidFill>
                      <a:srgbClr val="ECD3D9"/>
                    </a:solidFill>
                  </a:tcPr>
                </a:tc>
              </a:tr>
              <a:tr h="151200">
                <a:tc>
                  <a:txBody>
                    <a:bodyPr/>
                    <a:lstStyle/>
                    <a:p>
                      <a:pPr algn="l">
                        <a:defRPr sz="1000">
                          <a:solidFill>
                            <a:srgbClr val="000000"/>
                          </a:solidFill>
                          <a:latin typeface="Montserrat"/>
                        </a:defRPr>
                      </a:pPr>
                      <a:r>
                        <a:t>UMF 17 Corregidora</a:t>
                      </a:r>
                    </a:p>
                  </a:txBody>
                  <a:tcPr marL="0" marR="0" marT="0" marB="0">
                    <a:solidFill>
                      <a:srgbClr val="EFEFEF"/>
                    </a:solidFill>
                  </a:tcPr>
                </a:tc>
                <a:tc>
                  <a:txBody>
                    <a:bodyPr/>
                    <a:lstStyle/>
                    <a:p>
                      <a:pPr algn="ctr">
                        <a:defRPr sz="1000">
                          <a:solidFill>
                            <a:srgbClr val="000000"/>
                          </a:solidFill>
                          <a:latin typeface="Montserrat"/>
                        </a:defRPr>
                      </a:pPr>
                      <a:r>
                        <a:t>95,003</a:t>
                      </a:r>
                    </a:p>
                  </a:txBody>
                  <a:tcPr marL="0" marR="0" marT="0" marB="0">
                    <a:solidFill>
                      <a:srgbClr val="EFEFEF"/>
                    </a:solidFill>
                  </a:tcPr>
                </a:tc>
                <a:tc>
                  <a:txBody>
                    <a:bodyPr/>
                    <a:lstStyle/>
                    <a:p>
                      <a:pPr algn="ctr">
                        <a:defRPr sz="1000">
                          <a:solidFill>
                            <a:srgbClr val="000000"/>
                          </a:solidFill>
                          <a:latin typeface="Montserrat"/>
                        </a:defRPr>
                      </a:pPr>
                      <a:r>
                        <a:t>7,991</a:t>
                      </a:r>
                    </a:p>
                  </a:txBody>
                  <a:tcPr marL="0" marR="0" marT="0" marB="0">
                    <a:solidFill>
                      <a:srgbClr val="EFEFEF"/>
                    </a:solidFill>
                  </a:tcPr>
                </a:tc>
                <a:tc>
                  <a:txBody>
                    <a:bodyPr/>
                    <a:lstStyle/>
                    <a:p>
                      <a:pPr algn="ctr">
                        <a:defRPr sz="1000">
                          <a:solidFill>
                            <a:srgbClr val="000000"/>
                          </a:solidFill>
                          <a:latin typeface="Montserrat"/>
                        </a:defRPr>
                      </a:pPr>
                      <a:r>
                        <a:t>37,685</a:t>
                      </a:r>
                    </a:p>
                  </a:txBody>
                  <a:tcPr marL="0" marR="0" marT="0" marB="0">
                    <a:solidFill>
                      <a:srgbClr val="ECD3D9"/>
                    </a:solidFill>
                  </a:tcPr>
                </a:tc>
                <a:tc>
                  <a:txBody>
                    <a:bodyPr/>
                    <a:lstStyle/>
                    <a:p>
                      <a:pPr algn="ctr">
                        <a:defRPr sz="1000">
                          <a:solidFill>
                            <a:srgbClr val="000000"/>
                          </a:solidFill>
                          <a:latin typeface="Montserrat"/>
                        </a:defRPr>
                      </a:pPr>
                      <a:r>
                        <a:t>93,000</a:t>
                      </a:r>
                    </a:p>
                  </a:txBody>
                  <a:tcPr marL="0" marR="0" marT="0" marB="0">
                    <a:solidFill>
                      <a:srgbClr val="ECD3D9"/>
                    </a:solidFill>
                  </a:tcPr>
                </a:tc>
                <a:tc>
                  <a:txBody>
                    <a:bodyPr/>
                    <a:lstStyle/>
                    <a:p>
                      <a:pPr algn="ctr">
                        <a:defRPr sz="1000">
                          <a:solidFill>
                            <a:srgbClr val="000000"/>
                          </a:solidFill>
                          <a:latin typeface="Montserrat"/>
                        </a:defRPr>
                      </a:pPr>
                      <a:r>
                        <a:t>40.5%</a:t>
                      </a:r>
                    </a:p>
                  </a:txBody>
                  <a:tcPr marL="0" marR="0" marT="0" marB="0">
                    <a:solidFill>
                      <a:srgbClr val="ECD3D9"/>
                    </a:solidFill>
                  </a:tcPr>
                </a:tc>
              </a:tr>
              <a:tr h="151200">
                <a:tc>
                  <a:txBody>
                    <a:bodyPr/>
                    <a:lstStyle/>
                    <a:p>
                      <a:pPr algn="l">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2,063,971</a:t>
                      </a:r>
                    </a:p>
                  </a:txBody>
                  <a:tcPr marL="0" marR="0" marT="0" marB="0">
                    <a:solidFill>
                      <a:srgbClr val="D3E9E7"/>
                    </a:solidFill>
                  </a:tcPr>
                </a:tc>
                <a:tc>
                  <a:txBody>
                    <a:bodyPr/>
                    <a:lstStyle/>
                    <a:p>
                      <a:pPr algn="ctr">
                        <a:defRPr sz="1000" b="1">
                          <a:solidFill>
                            <a:srgbClr val="006556"/>
                          </a:solidFill>
                          <a:latin typeface="Montserrat"/>
                        </a:defRPr>
                      </a:pPr>
                      <a:r>
                        <a:t>251,673</a:t>
                      </a:r>
                    </a:p>
                  </a:txBody>
                  <a:tcPr marL="0" marR="0" marT="0" marB="0">
                    <a:solidFill>
                      <a:srgbClr val="D3E9E7"/>
                    </a:solidFill>
                  </a:tcPr>
                </a:tc>
                <a:tc>
                  <a:txBody>
                    <a:bodyPr/>
                    <a:lstStyle/>
                    <a:p>
                      <a:pPr algn="ctr">
                        <a:defRPr sz="1000" b="1">
                          <a:solidFill>
                            <a:srgbClr val="FFFFFF"/>
                          </a:solidFill>
                          <a:latin typeface="Montserrat"/>
                        </a:defRPr>
                      </a:pPr>
                      <a:r>
                        <a:t>809,782</a:t>
                      </a:r>
                    </a:p>
                  </a:txBody>
                  <a:tcPr marL="0" marR="0" marT="0" marB="0">
                    <a:solidFill>
                      <a:srgbClr val="9F2241"/>
                    </a:solidFill>
                  </a:tcPr>
                </a:tc>
                <a:tc>
                  <a:txBody>
                    <a:bodyPr/>
                    <a:lstStyle/>
                    <a:p>
                      <a:pPr algn="ctr">
                        <a:defRPr sz="1000" b="1">
                          <a:solidFill>
                            <a:srgbClr val="FFFFFF"/>
                          </a:solidFill>
                          <a:latin typeface="Montserrat"/>
                        </a:defRPr>
                      </a:pPr>
                      <a:r>
                        <a:t>2,034,608</a:t>
                      </a:r>
                    </a:p>
                  </a:txBody>
                  <a:tcPr marL="0" marR="0" marT="0" marB="0">
                    <a:solidFill>
                      <a:srgbClr val="9F2241"/>
                    </a:solidFill>
                  </a:tcPr>
                </a:tc>
                <a:tc>
                  <a:txBody>
                    <a:bodyPr/>
                    <a:lstStyle/>
                    <a:p>
                      <a:pPr algn="ctr">
                        <a:defRPr sz="1000" b="1">
                          <a:solidFill>
                            <a:srgbClr val="FFFFFF"/>
                          </a:solidFill>
                          <a:latin typeface="Montserrat"/>
                        </a:defRPr>
                      </a:pPr>
                      <a:r>
                        <a:t>39.8%</a:t>
                      </a:r>
                    </a:p>
                  </a:txBody>
                  <a:tcPr marL="0" marR="0" marT="0" marB="0">
                    <a:solidFill>
                      <a:srgbClr val="9F2241"/>
                    </a:solidFill>
                  </a:tcPr>
                </a:tc>
              </a:tr>
            </a:tbl>
          </a:graphicData>
        </a:graphic>
      </p:graphicFrame>
      <p:graphicFrame>
        <p:nvGraphicFramePr>
          <p:cNvPr id="271" name="Chart 270"/>
          <p:cNvGraphicFramePr>
            <a:graphicFrameLocks noGrp="1"/>
          </p:cNvGraphicFramePr>
          <p:nvPr/>
        </p:nvGraphicFramePr>
        <p:xfrm>
          <a:off x="385200" y="5400000"/>
          <a:ext cx="1555200" cy="1533600"/>
        </p:xfrm>
        <a:graphic>
          <a:graphicData uri="http://schemas.openxmlformats.org/drawingml/2006/chart">
            <c:chart xmlns:c="http://schemas.openxmlformats.org/drawingml/2006/chart" r:id="rId4"/>
          </a:graphicData>
        </a:graphic>
      </p:graphicFrame>
      <p:sp>
        <p:nvSpPr>
          <p:cNvPr id="272" name="TextBox 271"/>
          <p:cNvSpPr txBox="1"/>
          <p:nvPr/>
        </p:nvSpPr>
        <p:spPr>
          <a:xfrm>
            <a:off x="385200" y="5986800"/>
            <a:ext cx="1555200" cy="360000"/>
          </a:xfrm>
          <a:prstGeom prst="rect">
            <a:avLst/>
          </a:prstGeom>
          <a:noFill/>
        </p:spPr>
        <p:txBody>
          <a:bodyPr wrap="none">
            <a:spAutoFit/>
          </a:bodyPr>
          <a:lstStyle/>
          <a:p>
            <a:pPr algn="ctr"/>
            <a:r>
              <a:rPr sz="2200" b="1">
                <a:solidFill>
                  <a:srgbClr val="9F2241"/>
                </a:solidFill>
                <a:latin typeface="Montserrat"/>
              </a:rPr>
              <a:t>15%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2426422701"/>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Consultas de especialidad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235" name="TextBox 23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 productividad de especialidad generada en UMF ni en HR</a:t>
            </a:r>
            <a:br/>
            <a:r>
              <a:t>En el año 2025 no incluye información de HR y UMU.</a:t>
            </a:r>
            <a:br/>
            <a:r>
              <a:t>El año de proceso inicia del 26 de diciembre del año anterior al 25 de diciembre del año en curso:</a:t>
            </a:r>
            <a:br/>
            <a:r>
              <a:t>2025 ( del 26 de Dic de 2024 al 25 de Dic de 2025)</a:t>
            </a:r>
            <a:br/>
            <a:r>
              <a:t>Corte de información: Semana: 21, 17 mayo 2026</a:t>
            </a:r>
          </a:p>
        </p:txBody>
      </p:sp>
      <p:graphicFrame>
        <p:nvGraphicFramePr>
          <p:cNvPr id="236" name="Table 235"/>
          <p:cNvGraphicFramePr>
            <a:graphicFrameLocks noGrp="1"/>
          </p:cNvGraphicFramePr>
          <p:nvPr/>
        </p:nvGraphicFramePr>
        <p:xfrm>
          <a:off x="144000" y="1494000"/>
          <a:ext cx="7340399" cy="17064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HGR 1 Querétaro</a:t>
                      </a:r>
                    </a:p>
                  </a:txBody>
                  <a:tcPr>
                    <a:solidFill>
                      <a:srgbClr val="FFFFFF"/>
                    </a:solidFill>
                  </a:tcPr>
                </a:tc>
                <a:tc>
                  <a:txBody>
                    <a:bodyPr/>
                    <a:lstStyle/>
                    <a:p>
                      <a:pPr algn="ctr">
                        <a:defRPr sz="1000">
                          <a:latin typeface="Montserrat"/>
                        </a:defRPr>
                      </a:pPr>
                      <a:r>
                        <a:t>220,066</a:t>
                      </a:r>
                    </a:p>
                  </a:txBody>
                  <a:tcPr>
                    <a:solidFill>
                      <a:srgbClr val="FFFFFF"/>
                    </a:solidFill>
                  </a:tcPr>
                </a:tc>
                <a:tc>
                  <a:txBody>
                    <a:bodyPr/>
                    <a:lstStyle/>
                    <a:p>
                      <a:pPr algn="ctr">
                        <a:defRPr sz="1000">
                          <a:latin typeface="Montserrat"/>
                        </a:defRPr>
                      </a:pPr>
                      <a:r>
                        <a:t>10,051</a:t>
                      </a:r>
                    </a:p>
                  </a:txBody>
                  <a:tcPr>
                    <a:solidFill>
                      <a:srgbClr val="FFFFFF"/>
                    </a:solidFill>
                  </a:tcPr>
                </a:tc>
                <a:tc>
                  <a:txBody>
                    <a:bodyPr/>
                    <a:lstStyle/>
                    <a:p>
                      <a:pPr algn="ctr">
                        <a:defRPr sz="1000">
                          <a:latin typeface="Montserrat"/>
                        </a:defRPr>
                      </a:pPr>
                      <a:r>
                        <a:t>103,276</a:t>
                      </a:r>
                    </a:p>
                  </a:txBody>
                  <a:tcPr>
                    <a:solidFill>
                      <a:srgbClr val="ECD3D9"/>
                    </a:solidFill>
                  </a:tcPr>
                </a:tc>
                <a:tc>
                  <a:txBody>
                    <a:bodyPr/>
                    <a:lstStyle/>
                    <a:p>
                      <a:pPr algn="ctr">
                        <a:defRPr sz="1000">
                          <a:latin typeface="Montserrat"/>
                        </a:defRPr>
                      </a:pPr>
                      <a:r>
                        <a:t>223,380</a:t>
                      </a:r>
                    </a:p>
                  </a:txBody>
                  <a:tcPr>
                    <a:solidFill>
                      <a:srgbClr val="ECD3D9"/>
                    </a:solidFill>
                  </a:tcPr>
                </a:tc>
                <a:tc>
                  <a:txBody>
                    <a:bodyPr/>
                    <a:lstStyle/>
                    <a:p>
                      <a:pPr algn="ctr">
                        <a:defRPr sz="1000">
                          <a:latin typeface="Montserrat"/>
                        </a:defRPr>
                      </a:pPr>
                      <a:r>
                        <a:t>46.2%</a:t>
                      </a:r>
                    </a:p>
                  </a:txBody>
                  <a:tcPr>
                    <a:solidFill>
                      <a:srgbClr val="ECD3D9"/>
                    </a:solidFill>
                  </a:tcPr>
                </a:tc>
              </a:tr>
              <a:tr h="284400">
                <a:tc>
                  <a:txBody>
                    <a:bodyPr/>
                    <a:lstStyle/>
                    <a:p>
                      <a:pPr algn="l">
                        <a:defRPr sz="1000">
                          <a:latin typeface="Montserrat"/>
                        </a:defRPr>
                      </a:pPr>
                      <a:r>
                        <a:t>HGR 2 El Marqués</a:t>
                      </a:r>
                    </a:p>
                  </a:txBody>
                  <a:tcPr>
                    <a:solidFill>
                      <a:srgbClr val="EFEFEF"/>
                    </a:solidFill>
                  </a:tcPr>
                </a:tc>
                <a:tc>
                  <a:txBody>
                    <a:bodyPr/>
                    <a:lstStyle/>
                    <a:p>
                      <a:pPr algn="ctr">
                        <a:defRPr sz="1000">
                          <a:latin typeface="Montserrat"/>
                        </a:defRPr>
                      </a:pPr>
                      <a:r>
                        <a:t>278,570</a:t>
                      </a:r>
                    </a:p>
                  </a:txBody>
                  <a:tcPr>
                    <a:solidFill>
                      <a:srgbClr val="EFEFEF"/>
                    </a:solidFill>
                  </a:tcPr>
                </a:tc>
                <a:tc>
                  <a:txBody>
                    <a:bodyPr/>
                    <a:lstStyle/>
                    <a:p>
                      <a:pPr algn="ctr">
                        <a:defRPr sz="1000">
                          <a:latin typeface="Montserrat"/>
                        </a:defRPr>
                      </a:pPr>
                      <a:r>
                        <a:t>82,912</a:t>
                      </a:r>
                    </a:p>
                  </a:txBody>
                  <a:tcPr>
                    <a:solidFill>
                      <a:srgbClr val="EFEFEF"/>
                    </a:solidFill>
                  </a:tcPr>
                </a:tc>
                <a:tc>
                  <a:txBody>
                    <a:bodyPr/>
                    <a:lstStyle/>
                    <a:p>
                      <a:pPr algn="ctr">
                        <a:defRPr sz="1000">
                          <a:latin typeface="Montserrat"/>
                        </a:defRPr>
                      </a:pPr>
                      <a:r>
                        <a:t>115,842</a:t>
                      </a:r>
                    </a:p>
                  </a:txBody>
                  <a:tcPr>
                    <a:solidFill>
                      <a:srgbClr val="ECD3D9"/>
                    </a:solidFill>
                  </a:tcPr>
                </a:tc>
                <a:tc>
                  <a:txBody>
                    <a:bodyPr/>
                    <a:lstStyle/>
                    <a:p>
                      <a:pPr algn="ctr">
                        <a:defRPr sz="1000">
                          <a:latin typeface="Montserrat"/>
                        </a:defRPr>
                      </a:pPr>
                      <a:r>
                        <a:t>275,940</a:t>
                      </a:r>
                    </a:p>
                  </a:txBody>
                  <a:tcPr>
                    <a:solidFill>
                      <a:srgbClr val="ECD3D9"/>
                    </a:solidFill>
                  </a:tcPr>
                </a:tc>
                <a:tc>
                  <a:txBody>
                    <a:bodyPr/>
                    <a:lstStyle/>
                    <a:p>
                      <a:pPr algn="ctr">
                        <a:defRPr sz="1000">
                          <a:latin typeface="Montserrat"/>
                        </a:defRPr>
                      </a:pPr>
                      <a:r>
                        <a:t>42.0%</a:t>
                      </a:r>
                    </a:p>
                  </a:txBody>
                  <a:tcPr>
                    <a:solidFill>
                      <a:srgbClr val="ECD3D9"/>
                    </a:solidFill>
                  </a:tcPr>
                </a:tc>
              </a:tr>
              <a:tr h="284400">
                <a:tc>
                  <a:txBody>
                    <a:bodyPr/>
                    <a:lstStyle/>
                    <a:p>
                      <a:pPr algn="l">
                        <a:defRPr sz="1000">
                          <a:latin typeface="Montserrat"/>
                        </a:defRPr>
                      </a:pPr>
                      <a:r>
                        <a:t>UMAA 1 Querétaro (Aut)</a:t>
                      </a:r>
                    </a:p>
                  </a:txBody>
                  <a:tcPr>
                    <a:solidFill>
                      <a:srgbClr val="FFFFFF"/>
                    </a:solidFill>
                  </a:tcPr>
                </a:tc>
                <a:tc>
                  <a:txBody>
                    <a:bodyPr/>
                    <a:lstStyle/>
                    <a:p>
                      <a:pPr algn="ctr">
                        <a:defRPr sz="1000">
                          <a:latin typeface="Montserrat"/>
                        </a:defRPr>
                      </a:pPr>
                      <a:r>
                        <a:t>28,130</a:t>
                      </a:r>
                    </a:p>
                  </a:txBody>
                  <a:tcPr>
                    <a:solidFill>
                      <a:srgbClr val="FFFFFF"/>
                    </a:solidFill>
                  </a:tcPr>
                </a:tc>
                <a:tc>
                  <a:txBody>
                    <a:bodyPr/>
                    <a:lstStyle/>
                    <a:p>
                      <a:pPr algn="ctr">
                        <a:defRPr sz="1000">
                          <a:latin typeface="Montserrat"/>
                        </a:defRPr>
                      </a:pPr>
                      <a:r>
                        <a:t>10,409</a:t>
                      </a:r>
                    </a:p>
                  </a:txBody>
                  <a:tcPr>
                    <a:solidFill>
                      <a:srgbClr val="FFFFFF"/>
                    </a:solidFill>
                  </a:tcPr>
                </a:tc>
                <a:tc>
                  <a:txBody>
                    <a:bodyPr/>
                    <a:lstStyle/>
                    <a:p>
                      <a:pPr algn="ctr">
                        <a:defRPr sz="1000">
                          <a:latin typeface="Montserrat"/>
                        </a:defRPr>
                      </a:pPr>
                      <a:r>
                        <a:t>14,114</a:t>
                      </a:r>
                    </a:p>
                  </a:txBody>
                  <a:tcPr>
                    <a:solidFill>
                      <a:srgbClr val="ECD3D9"/>
                    </a:solidFill>
                  </a:tcPr>
                </a:tc>
                <a:tc>
                  <a:txBody>
                    <a:bodyPr/>
                    <a:lstStyle/>
                    <a:p>
                      <a:pPr algn="ctr">
                        <a:defRPr sz="1000">
                          <a:latin typeface="Montserrat"/>
                        </a:defRPr>
                      </a:pPr>
                      <a:r>
                        <a:t>35,040</a:t>
                      </a:r>
                    </a:p>
                  </a:txBody>
                  <a:tcPr>
                    <a:solidFill>
                      <a:srgbClr val="ECD3D9"/>
                    </a:solidFill>
                  </a:tcPr>
                </a:tc>
                <a:tc>
                  <a:txBody>
                    <a:bodyPr/>
                    <a:lstStyle/>
                    <a:p>
                      <a:pPr algn="ctr">
                        <a:defRPr sz="1000">
                          <a:latin typeface="Montserrat"/>
                        </a:defRPr>
                      </a:pPr>
                      <a:r>
                        <a:t>40.3%</a:t>
                      </a:r>
                    </a:p>
                  </a:txBody>
                  <a:tcPr>
                    <a:solidFill>
                      <a:srgbClr val="ECD3D9"/>
                    </a:solidFill>
                  </a:tcPr>
                </a:tc>
              </a:tr>
              <a:tr h="284400">
                <a:tc>
                  <a:txBody>
                    <a:bodyPr/>
                    <a:lstStyle/>
                    <a:p>
                      <a:pPr algn="l">
                        <a:defRPr sz="1000">
                          <a:latin typeface="Montserrat"/>
                        </a:defRPr>
                      </a:pPr>
                      <a:r>
                        <a:t>HGZ 3 S. Juan del Río</a:t>
                      </a:r>
                    </a:p>
                  </a:txBody>
                  <a:tcPr>
                    <a:solidFill>
                      <a:srgbClr val="EFEFEF"/>
                    </a:solidFill>
                  </a:tcPr>
                </a:tc>
                <a:tc>
                  <a:txBody>
                    <a:bodyPr/>
                    <a:lstStyle/>
                    <a:p>
                      <a:pPr algn="ctr">
                        <a:defRPr sz="1000">
                          <a:latin typeface="Montserrat"/>
                        </a:defRPr>
                      </a:pPr>
                      <a:r>
                        <a:t>93,762</a:t>
                      </a:r>
                    </a:p>
                  </a:txBody>
                  <a:tcPr>
                    <a:solidFill>
                      <a:srgbClr val="EFEFEF"/>
                    </a:solidFill>
                  </a:tcPr>
                </a:tc>
                <a:tc>
                  <a:txBody>
                    <a:bodyPr/>
                    <a:lstStyle/>
                    <a:p>
                      <a:pPr algn="ctr">
                        <a:defRPr sz="1000">
                          <a:latin typeface="Montserrat"/>
                        </a:defRPr>
                      </a:pPr>
                      <a:r>
                        <a:t>21,175</a:t>
                      </a:r>
                    </a:p>
                  </a:txBody>
                  <a:tcPr>
                    <a:solidFill>
                      <a:srgbClr val="EFEFEF"/>
                    </a:solidFill>
                  </a:tcPr>
                </a:tc>
                <a:tc>
                  <a:txBody>
                    <a:bodyPr/>
                    <a:lstStyle/>
                    <a:p>
                      <a:pPr algn="ctr">
                        <a:defRPr sz="1000">
                          <a:latin typeface="Montserrat"/>
                        </a:defRPr>
                      </a:pPr>
                      <a:r>
                        <a:t>38,663</a:t>
                      </a:r>
                    </a:p>
                  </a:txBody>
                  <a:tcPr>
                    <a:solidFill>
                      <a:srgbClr val="ECD3D9"/>
                    </a:solidFill>
                  </a:tcPr>
                </a:tc>
                <a:tc>
                  <a:txBody>
                    <a:bodyPr/>
                    <a:lstStyle/>
                    <a:p>
                      <a:pPr algn="ctr">
                        <a:defRPr sz="1000">
                          <a:latin typeface="Montserrat"/>
                        </a:defRPr>
                      </a:pPr>
                      <a:r>
                        <a:t>98,550</a:t>
                      </a:r>
                    </a:p>
                  </a:txBody>
                  <a:tcPr>
                    <a:solidFill>
                      <a:srgbClr val="ECD3D9"/>
                    </a:solidFill>
                  </a:tcPr>
                </a:tc>
                <a:tc>
                  <a:txBody>
                    <a:bodyPr/>
                    <a:lstStyle/>
                    <a:p>
                      <a:pPr algn="ctr">
                        <a:defRPr sz="1000">
                          <a:latin typeface="Montserrat"/>
                        </a:defRPr>
                      </a:pPr>
                      <a:r>
                        <a:t>39.2%</a:t>
                      </a:r>
                    </a:p>
                  </a:txBody>
                  <a:tcPr>
                    <a:solidFill>
                      <a:srgbClr val="ECD3D9"/>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620,528</a:t>
                      </a:r>
                    </a:p>
                  </a:txBody>
                  <a:tcPr>
                    <a:solidFill>
                      <a:srgbClr val="D3E9E7"/>
                    </a:solidFill>
                  </a:tcPr>
                </a:tc>
                <a:tc>
                  <a:txBody>
                    <a:bodyPr/>
                    <a:lstStyle/>
                    <a:p>
                      <a:pPr algn="ctr">
                        <a:defRPr sz="1000" b="1">
                          <a:solidFill>
                            <a:srgbClr val="006556"/>
                          </a:solidFill>
                          <a:latin typeface="Montserrat"/>
                        </a:defRPr>
                      </a:pPr>
                      <a:r>
                        <a:t>124,547</a:t>
                      </a:r>
                    </a:p>
                  </a:txBody>
                  <a:tcPr>
                    <a:solidFill>
                      <a:srgbClr val="D3E9E7"/>
                    </a:solidFill>
                  </a:tcPr>
                </a:tc>
                <a:tc>
                  <a:txBody>
                    <a:bodyPr/>
                    <a:lstStyle/>
                    <a:p>
                      <a:pPr algn="ctr">
                        <a:defRPr sz="1000" b="1">
                          <a:solidFill>
                            <a:srgbClr val="FFFFFF"/>
                          </a:solidFill>
                          <a:latin typeface="Montserrat"/>
                        </a:defRPr>
                      </a:pPr>
                      <a:r>
                        <a:t>271,895</a:t>
                      </a:r>
                    </a:p>
                  </a:txBody>
                  <a:tcPr>
                    <a:solidFill>
                      <a:srgbClr val="9F2241"/>
                    </a:solidFill>
                  </a:tcPr>
                </a:tc>
                <a:tc>
                  <a:txBody>
                    <a:bodyPr/>
                    <a:lstStyle/>
                    <a:p>
                      <a:pPr algn="ctr">
                        <a:defRPr sz="1000" b="1">
                          <a:solidFill>
                            <a:srgbClr val="FFFFFF"/>
                          </a:solidFill>
                          <a:latin typeface="Montserrat"/>
                        </a:defRPr>
                      </a:pPr>
                      <a:r>
                        <a:t>632,910</a:t>
                      </a:r>
                    </a:p>
                  </a:txBody>
                  <a:tcPr>
                    <a:solidFill>
                      <a:srgbClr val="9F2241"/>
                    </a:solidFill>
                  </a:tcPr>
                </a:tc>
                <a:tc>
                  <a:txBody>
                    <a:bodyPr/>
                    <a:lstStyle/>
                    <a:p>
                      <a:pPr algn="ctr">
                        <a:defRPr sz="1000" b="1">
                          <a:solidFill>
                            <a:srgbClr val="FFFFFF"/>
                          </a:solidFill>
                          <a:latin typeface="Montserrat"/>
                        </a:defRPr>
                      </a:pPr>
                      <a:r>
                        <a:t>43.0%</a:t>
                      </a:r>
                    </a:p>
                  </a:txBody>
                  <a:tcPr>
                    <a:solidFill>
                      <a:srgbClr val="9F2241"/>
                    </a:solidFill>
                  </a:tcPr>
                </a:tc>
              </a:tr>
            </a:tbl>
          </a:graphicData>
        </a:graphic>
      </p:graphicFrame>
      <p:graphicFrame>
        <p:nvGraphicFramePr>
          <p:cNvPr id="237" name="Chart 236"/>
          <p:cNvGraphicFramePr>
            <a:graphicFrameLocks noGrp="1"/>
          </p:cNvGraphicFramePr>
          <p:nvPr/>
        </p:nvGraphicFramePr>
        <p:xfrm>
          <a:off x="4780800" y="3942000"/>
          <a:ext cx="1800000" cy="1800000"/>
        </p:xfrm>
        <a:graphic>
          <a:graphicData uri="http://schemas.openxmlformats.org/drawingml/2006/chart">
            <c:chart xmlns:c="http://schemas.openxmlformats.org/drawingml/2006/chart" r:id="rId4"/>
          </a:graphicData>
        </a:graphic>
      </p:graphicFrame>
      <p:sp>
        <p:nvSpPr>
          <p:cNvPr id="238" name="TextBox 237"/>
          <p:cNvSpPr txBox="1"/>
          <p:nvPr/>
        </p:nvSpPr>
        <p:spPr>
          <a:xfrm>
            <a:off x="4780800" y="4662000"/>
            <a:ext cx="1800000" cy="360000"/>
          </a:xfrm>
          <a:prstGeom prst="rect">
            <a:avLst/>
          </a:prstGeom>
          <a:noFill/>
        </p:spPr>
        <p:txBody>
          <a:bodyPr wrap="none">
            <a:spAutoFit/>
          </a:bodyPr>
          <a:lstStyle/>
          <a:p>
            <a:pPr algn="ctr"/>
            <a:r>
              <a:rPr sz="2400" b="1">
                <a:solidFill>
                  <a:srgbClr val="9F2241"/>
                </a:solidFill>
                <a:latin typeface="Montserrat"/>
              </a:rPr>
              <a:t>43.0%</a:t>
            </a:r>
          </a:p>
        </p:txBody>
      </p:sp>
      <p:sp>
        <p:nvSpPr>
          <p:cNvPr id="239" name="TextBox 238"/>
          <p:cNvSpPr txBox="1"/>
          <p:nvPr/>
        </p:nvSpPr>
        <p:spPr>
          <a:xfrm>
            <a:off x="4780800" y="55620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40" name="TextBox 239"/>
          <p:cNvSpPr txBox="1"/>
          <p:nvPr/>
        </p:nvSpPr>
        <p:spPr>
          <a:xfrm>
            <a:off x="730799" y="3942000"/>
            <a:ext cx="2854800" cy="1198800"/>
          </a:xfrm>
          <a:prstGeom prst="rect">
            <a:avLst/>
          </a:prstGeom>
          <a:noFill/>
        </p:spPr>
        <p:txBody>
          <a:bodyPr wrap="square">
            <a:spAutoFit/>
          </a:bodyPr>
          <a:lstStyle/>
          <a:p>
            <a:pPr algn="ctr">
              <a:defRPr sz="3600" b="1">
                <a:solidFill>
                  <a:srgbClr val="9F2241"/>
                </a:solidFill>
                <a:latin typeface="Montserrat"/>
              </a:defRPr>
            </a:pPr>
            <a:r>
              <a:t>632,910 </a:t>
            </a:r>
            <a:br/>
            <a:r>
              <a:t>Meta 2026</a:t>
            </a:r>
          </a:p>
        </p:txBody>
      </p:sp>
    </p:spTree>
    <p:extLst>
      <p:ext uri="{BB962C8B-B14F-4D97-AF65-F5344CB8AC3E}">
        <p14:creationId xmlns:p14="http://schemas.microsoft.com/office/powerpoint/2010/main" val="54071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1982110145"/>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Cirugías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232" name="TextBox 231"/>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las cirugías realizadas en HR.</a:t>
            </a:r>
            <a:br/>
            <a:r>
              <a:t>Sólo se consideran cirugías principales.</a:t>
            </a:r>
            <a:br/>
            <a:r>
              <a:t>Corte de información: Semana: 21, 17 mayo 2026</a:t>
            </a:r>
          </a:p>
        </p:txBody>
      </p:sp>
      <p:graphicFrame>
        <p:nvGraphicFramePr>
          <p:cNvPr id="233" name="Table 232"/>
          <p:cNvGraphicFramePr>
            <a:graphicFrameLocks noGrp="1"/>
          </p:cNvGraphicFramePr>
          <p:nvPr/>
        </p:nvGraphicFramePr>
        <p:xfrm>
          <a:off x="144000" y="1137600"/>
          <a:ext cx="7340399" cy="17064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HGR 1 Querétaro</a:t>
                      </a:r>
                    </a:p>
                  </a:txBody>
                  <a:tcPr>
                    <a:solidFill>
                      <a:srgbClr val="FFFFFF"/>
                    </a:solidFill>
                  </a:tcPr>
                </a:tc>
                <a:tc>
                  <a:txBody>
                    <a:bodyPr/>
                    <a:lstStyle/>
                    <a:p>
                      <a:pPr algn="ctr">
                        <a:defRPr sz="1000">
                          <a:latin typeface="Montserrat"/>
                        </a:defRPr>
                      </a:pPr>
                      <a:r>
                        <a:t>12,160</a:t>
                      </a:r>
                    </a:p>
                  </a:txBody>
                  <a:tcPr>
                    <a:solidFill>
                      <a:srgbClr val="FFFFFF"/>
                    </a:solidFill>
                  </a:tcPr>
                </a:tc>
                <a:tc>
                  <a:txBody>
                    <a:bodyPr/>
                    <a:lstStyle/>
                    <a:p>
                      <a:pPr algn="ctr">
                        <a:defRPr sz="1000">
                          <a:latin typeface="Montserrat"/>
                        </a:defRPr>
                      </a:pPr>
                      <a:r>
                        <a:t>224</a:t>
                      </a:r>
                    </a:p>
                  </a:txBody>
                  <a:tcPr>
                    <a:solidFill>
                      <a:srgbClr val="FFFFFF"/>
                    </a:solidFill>
                  </a:tcPr>
                </a:tc>
                <a:tc>
                  <a:txBody>
                    <a:bodyPr/>
                    <a:lstStyle/>
                    <a:p>
                      <a:pPr algn="ctr">
                        <a:defRPr sz="1000">
                          <a:latin typeface="Montserrat"/>
                        </a:defRPr>
                      </a:pPr>
                      <a:r>
                        <a:t>5,176</a:t>
                      </a:r>
                    </a:p>
                  </a:txBody>
                  <a:tcPr>
                    <a:solidFill>
                      <a:srgbClr val="ECD3D9"/>
                    </a:solidFill>
                  </a:tcPr>
                </a:tc>
                <a:tc>
                  <a:txBody>
                    <a:bodyPr/>
                    <a:lstStyle/>
                    <a:p>
                      <a:pPr algn="ctr">
                        <a:defRPr sz="1000">
                          <a:latin typeface="Montserrat"/>
                        </a:defRPr>
                      </a:pPr>
                      <a:r>
                        <a:t>12,075</a:t>
                      </a:r>
                    </a:p>
                  </a:txBody>
                  <a:tcPr>
                    <a:solidFill>
                      <a:srgbClr val="ECD3D9"/>
                    </a:solidFill>
                  </a:tcPr>
                </a:tc>
                <a:tc>
                  <a:txBody>
                    <a:bodyPr/>
                    <a:lstStyle/>
                    <a:p>
                      <a:pPr algn="ctr">
                        <a:defRPr sz="1000">
                          <a:latin typeface="Montserrat"/>
                        </a:defRPr>
                      </a:pPr>
                      <a:r>
                        <a:t>42.9%</a:t>
                      </a:r>
                    </a:p>
                  </a:txBody>
                  <a:tcPr>
                    <a:solidFill>
                      <a:srgbClr val="ECD3D9"/>
                    </a:solidFill>
                  </a:tcPr>
                </a:tc>
              </a:tr>
              <a:tr h="284400">
                <a:tc>
                  <a:txBody>
                    <a:bodyPr/>
                    <a:lstStyle/>
                    <a:p>
                      <a:pPr algn="l">
                        <a:defRPr sz="1000">
                          <a:latin typeface="Montserrat"/>
                        </a:defRPr>
                      </a:pPr>
                      <a:r>
                        <a:t>HGR 2 El Marqués</a:t>
                      </a:r>
                    </a:p>
                  </a:txBody>
                  <a:tcPr>
                    <a:solidFill>
                      <a:srgbClr val="EFEFEF"/>
                    </a:solidFill>
                  </a:tcPr>
                </a:tc>
                <a:tc>
                  <a:txBody>
                    <a:bodyPr/>
                    <a:lstStyle/>
                    <a:p>
                      <a:pPr algn="ctr">
                        <a:defRPr sz="1000">
                          <a:latin typeface="Montserrat"/>
                        </a:defRPr>
                      </a:pPr>
                      <a:r>
                        <a:t>14,025</a:t>
                      </a:r>
                    </a:p>
                  </a:txBody>
                  <a:tcPr>
                    <a:solidFill>
                      <a:srgbClr val="EFEFEF"/>
                    </a:solidFill>
                  </a:tcPr>
                </a:tc>
                <a:tc>
                  <a:txBody>
                    <a:bodyPr/>
                    <a:lstStyle/>
                    <a:p>
                      <a:pPr algn="ctr">
                        <a:defRPr sz="1000">
                          <a:latin typeface="Montserrat"/>
                        </a:defRPr>
                      </a:pPr>
                      <a:r>
                        <a:t>2,268</a:t>
                      </a:r>
                    </a:p>
                  </a:txBody>
                  <a:tcPr>
                    <a:solidFill>
                      <a:srgbClr val="EFEFEF"/>
                    </a:solidFill>
                  </a:tcPr>
                </a:tc>
                <a:tc>
                  <a:txBody>
                    <a:bodyPr/>
                    <a:lstStyle/>
                    <a:p>
                      <a:pPr algn="ctr">
                        <a:defRPr sz="1000">
                          <a:latin typeface="Montserrat"/>
                        </a:defRPr>
                      </a:pPr>
                      <a:r>
                        <a:t>6,396</a:t>
                      </a:r>
                    </a:p>
                  </a:txBody>
                  <a:tcPr>
                    <a:solidFill>
                      <a:srgbClr val="ECD3D9"/>
                    </a:solidFill>
                  </a:tcPr>
                </a:tc>
                <a:tc>
                  <a:txBody>
                    <a:bodyPr/>
                    <a:lstStyle/>
                    <a:p>
                      <a:pPr algn="ctr">
                        <a:defRPr sz="1000">
                          <a:latin typeface="Montserrat"/>
                        </a:defRPr>
                      </a:pPr>
                      <a:r>
                        <a:t>15,890</a:t>
                      </a:r>
                    </a:p>
                  </a:txBody>
                  <a:tcPr>
                    <a:solidFill>
                      <a:srgbClr val="ECD3D9"/>
                    </a:solidFill>
                  </a:tcPr>
                </a:tc>
                <a:tc>
                  <a:txBody>
                    <a:bodyPr/>
                    <a:lstStyle/>
                    <a:p>
                      <a:pPr algn="ctr">
                        <a:defRPr sz="1000">
                          <a:latin typeface="Montserrat"/>
                        </a:defRPr>
                      </a:pPr>
                      <a:r>
                        <a:t>40.2%</a:t>
                      </a:r>
                    </a:p>
                  </a:txBody>
                  <a:tcPr>
                    <a:solidFill>
                      <a:srgbClr val="ECD3D9"/>
                    </a:solidFill>
                  </a:tcPr>
                </a:tc>
              </a:tr>
              <a:tr h="284400">
                <a:tc>
                  <a:txBody>
                    <a:bodyPr/>
                    <a:lstStyle/>
                    <a:p>
                      <a:pPr algn="l">
                        <a:defRPr sz="1000">
                          <a:latin typeface="Montserrat"/>
                        </a:defRPr>
                      </a:pPr>
                      <a:r>
                        <a:t>HGZ 3 S. Juan del Río</a:t>
                      </a:r>
                    </a:p>
                  </a:txBody>
                  <a:tcPr>
                    <a:solidFill>
                      <a:srgbClr val="FFFFFF"/>
                    </a:solidFill>
                  </a:tcPr>
                </a:tc>
                <a:tc>
                  <a:txBody>
                    <a:bodyPr/>
                    <a:lstStyle/>
                    <a:p>
                      <a:pPr algn="ctr">
                        <a:defRPr sz="1000">
                          <a:latin typeface="Montserrat"/>
                        </a:defRPr>
                      </a:pPr>
                      <a:r>
                        <a:t>5,531</a:t>
                      </a:r>
                    </a:p>
                  </a:txBody>
                  <a:tcPr>
                    <a:solidFill>
                      <a:srgbClr val="FFFFFF"/>
                    </a:solidFill>
                  </a:tcPr>
                </a:tc>
                <a:tc>
                  <a:txBody>
                    <a:bodyPr/>
                    <a:lstStyle/>
                    <a:p>
                      <a:pPr algn="ctr">
                        <a:defRPr sz="1000">
                          <a:latin typeface="Montserrat"/>
                        </a:defRPr>
                      </a:pPr>
                      <a:r>
                        <a:t>788</a:t>
                      </a:r>
                    </a:p>
                  </a:txBody>
                  <a:tcPr>
                    <a:solidFill>
                      <a:srgbClr val="FFFFFF"/>
                    </a:solidFill>
                  </a:tcPr>
                </a:tc>
                <a:tc>
                  <a:txBody>
                    <a:bodyPr/>
                    <a:lstStyle/>
                    <a:p>
                      <a:pPr algn="ctr">
                        <a:defRPr sz="1000">
                          <a:latin typeface="Montserrat"/>
                        </a:defRPr>
                      </a:pPr>
                      <a:r>
                        <a:t>2,414</a:t>
                      </a:r>
                    </a:p>
                  </a:txBody>
                  <a:tcPr>
                    <a:solidFill>
                      <a:srgbClr val="ECD3D9"/>
                    </a:solidFill>
                  </a:tcPr>
                </a:tc>
                <a:tc>
                  <a:txBody>
                    <a:bodyPr/>
                    <a:lstStyle/>
                    <a:p>
                      <a:pPr algn="ctr">
                        <a:defRPr sz="1000">
                          <a:latin typeface="Montserrat"/>
                        </a:defRPr>
                      </a:pPr>
                      <a:r>
                        <a:t>6,795</a:t>
                      </a:r>
                    </a:p>
                  </a:txBody>
                  <a:tcPr>
                    <a:solidFill>
                      <a:srgbClr val="ECD3D9"/>
                    </a:solidFill>
                  </a:tcPr>
                </a:tc>
                <a:tc>
                  <a:txBody>
                    <a:bodyPr/>
                    <a:lstStyle/>
                    <a:p>
                      <a:pPr algn="ctr">
                        <a:defRPr sz="1000">
                          <a:latin typeface="Montserrat"/>
                        </a:defRPr>
                      </a:pPr>
                      <a:r>
                        <a:t>35.5%</a:t>
                      </a:r>
                    </a:p>
                  </a:txBody>
                  <a:tcPr>
                    <a:solidFill>
                      <a:srgbClr val="ECD3D9"/>
                    </a:solidFill>
                  </a:tcPr>
                </a:tc>
              </a:tr>
              <a:tr h="284400">
                <a:tc>
                  <a:txBody>
                    <a:bodyPr/>
                    <a:lstStyle/>
                    <a:p>
                      <a:pPr algn="l">
                        <a:defRPr sz="1000">
                          <a:latin typeface="Montserrat"/>
                        </a:defRPr>
                      </a:pPr>
                      <a:r>
                        <a:t>UMAA 1 Querétaro (Aut)</a:t>
                      </a:r>
                    </a:p>
                  </a:txBody>
                  <a:tcPr>
                    <a:solidFill>
                      <a:srgbClr val="EFEFEF"/>
                    </a:solidFill>
                  </a:tcPr>
                </a:tc>
                <a:tc>
                  <a:txBody>
                    <a:bodyPr/>
                    <a:lstStyle/>
                    <a:p>
                      <a:pPr algn="ctr">
                        <a:defRPr sz="1000">
                          <a:latin typeface="Montserrat"/>
                        </a:defRPr>
                      </a:pPr>
                      <a:r>
                        <a:t>3,703</a:t>
                      </a:r>
                    </a:p>
                  </a:txBody>
                  <a:tcPr>
                    <a:solidFill>
                      <a:srgbClr val="EFEFEF"/>
                    </a:solidFill>
                  </a:tcPr>
                </a:tc>
                <a:tc>
                  <a:txBody>
                    <a:bodyPr/>
                    <a:lstStyle/>
                    <a:p>
                      <a:pPr algn="ctr">
                        <a:defRPr sz="1000">
                          <a:latin typeface="Montserrat"/>
                        </a:defRPr>
                      </a:pPr>
                      <a:r>
                        <a:t>755</a:t>
                      </a:r>
                    </a:p>
                  </a:txBody>
                  <a:tcPr>
                    <a:solidFill>
                      <a:srgbClr val="EFEFEF"/>
                    </a:solidFill>
                  </a:tcPr>
                </a:tc>
                <a:tc>
                  <a:txBody>
                    <a:bodyPr/>
                    <a:lstStyle/>
                    <a:p>
                      <a:pPr algn="ctr">
                        <a:defRPr sz="1000">
                          <a:latin typeface="Montserrat"/>
                        </a:defRPr>
                      </a:pPr>
                      <a:r>
                        <a:t>1,299</a:t>
                      </a:r>
                    </a:p>
                  </a:txBody>
                  <a:tcPr>
                    <a:solidFill>
                      <a:srgbClr val="ECD3D9"/>
                    </a:solidFill>
                  </a:tcPr>
                </a:tc>
                <a:tc>
                  <a:txBody>
                    <a:bodyPr/>
                    <a:lstStyle/>
                    <a:p>
                      <a:pPr algn="ctr">
                        <a:defRPr sz="1000">
                          <a:latin typeface="Montserrat"/>
                        </a:defRPr>
                      </a:pPr>
                      <a:r>
                        <a:t>4,698</a:t>
                      </a:r>
                    </a:p>
                  </a:txBody>
                  <a:tcPr>
                    <a:solidFill>
                      <a:srgbClr val="ECD3D9"/>
                    </a:solidFill>
                  </a:tcPr>
                </a:tc>
                <a:tc>
                  <a:txBody>
                    <a:bodyPr/>
                    <a:lstStyle/>
                    <a:p>
                      <a:pPr algn="ctr">
                        <a:defRPr sz="1000">
                          <a:latin typeface="Montserrat"/>
                        </a:defRPr>
                      </a:pPr>
                      <a:r>
                        <a:t>27.6%</a:t>
                      </a:r>
                    </a:p>
                  </a:txBody>
                  <a:tcPr>
                    <a:solidFill>
                      <a:srgbClr val="ECD3D9"/>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35,419</a:t>
                      </a:r>
                    </a:p>
                  </a:txBody>
                  <a:tcPr>
                    <a:solidFill>
                      <a:srgbClr val="D3E9E7"/>
                    </a:solidFill>
                  </a:tcPr>
                </a:tc>
                <a:tc>
                  <a:txBody>
                    <a:bodyPr/>
                    <a:lstStyle/>
                    <a:p>
                      <a:pPr algn="ctr">
                        <a:defRPr sz="1000" b="1">
                          <a:solidFill>
                            <a:srgbClr val="006556"/>
                          </a:solidFill>
                          <a:latin typeface="Montserrat"/>
                        </a:defRPr>
                      </a:pPr>
                      <a:r>
                        <a:t>4,035</a:t>
                      </a:r>
                    </a:p>
                  </a:txBody>
                  <a:tcPr>
                    <a:solidFill>
                      <a:srgbClr val="D3E9E7"/>
                    </a:solidFill>
                  </a:tcPr>
                </a:tc>
                <a:tc>
                  <a:txBody>
                    <a:bodyPr/>
                    <a:lstStyle/>
                    <a:p>
                      <a:pPr algn="ctr">
                        <a:defRPr sz="1000" b="1">
                          <a:solidFill>
                            <a:srgbClr val="FFFFFF"/>
                          </a:solidFill>
                          <a:latin typeface="Montserrat"/>
                        </a:defRPr>
                      </a:pPr>
                      <a:r>
                        <a:t>15,285</a:t>
                      </a:r>
                    </a:p>
                  </a:txBody>
                  <a:tcPr>
                    <a:solidFill>
                      <a:srgbClr val="9F2241"/>
                    </a:solidFill>
                  </a:tcPr>
                </a:tc>
                <a:tc>
                  <a:txBody>
                    <a:bodyPr/>
                    <a:lstStyle/>
                    <a:p>
                      <a:pPr algn="ctr">
                        <a:defRPr sz="1000" b="1">
                          <a:solidFill>
                            <a:srgbClr val="FFFFFF"/>
                          </a:solidFill>
                          <a:latin typeface="Montserrat"/>
                        </a:defRPr>
                      </a:pPr>
                      <a:r>
                        <a:t>39,458</a:t>
                      </a:r>
                    </a:p>
                  </a:txBody>
                  <a:tcPr>
                    <a:solidFill>
                      <a:srgbClr val="9F2241"/>
                    </a:solidFill>
                  </a:tcPr>
                </a:tc>
                <a:tc>
                  <a:txBody>
                    <a:bodyPr/>
                    <a:lstStyle/>
                    <a:p>
                      <a:pPr algn="ctr">
                        <a:defRPr sz="1000" b="1">
                          <a:solidFill>
                            <a:srgbClr val="FFFFFF"/>
                          </a:solidFill>
                          <a:latin typeface="Montserrat"/>
                        </a:defRPr>
                      </a:pPr>
                      <a:r>
                        <a:t>38.7%</a:t>
                      </a:r>
                    </a:p>
                  </a:txBody>
                  <a:tcPr>
                    <a:solidFill>
                      <a:srgbClr val="9F2241"/>
                    </a:solidFill>
                  </a:tcPr>
                </a:tc>
              </a:tr>
            </a:tbl>
          </a:graphicData>
        </a:graphic>
      </p:graphicFrame>
      <p:graphicFrame>
        <p:nvGraphicFramePr>
          <p:cNvPr id="234" name="Chart 233"/>
          <p:cNvGraphicFramePr>
            <a:graphicFrameLocks noGrp="1"/>
          </p:cNvGraphicFramePr>
          <p:nvPr/>
        </p:nvGraphicFramePr>
        <p:xfrm>
          <a:off x="4780800" y="3585600"/>
          <a:ext cx="1800000" cy="1800000"/>
        </p:xfrm>
        <a:graphic>
          <a:graphicData uri="http://schemas.openxmlformats.org/drawingml/2006/chart">
            <c:chart xmlns:c="http://schemas.openxmlformats.org/drawingml/2006/chart" r:id="rId4"/>
          </a:graphicData>
        </a:graphic>
      </p:graphicFrame>
      <p:sp>
        <p:nvSpPr>
          <p:cNvPr id="235" name="TextBox 234"/>
          <p:cNvSpPr txBox="1"/>
          <p:nvPr/>
        </p:nvSpPr>
        <p:spPr>
          <a:xfrm>
            <a:off x="4780800" y="4305600"/>
            <a:ext cx="1800000" cy="360000"/>
          </a:xfrm>
          <a:prstGeom prst="rect">
            <a:avLst/>
          </a:prstGeom>
          <a:noFill/>
        </p:spPr>
        <p:txBody>
          <a:bodyPr wrap="none">
            <a:spAutoFit/>
          </a:bodyPr>
          <a:lstStyle/>
          <a:p>
            <a:pPr algn="ctr"/>
            <a:r>
              <a:rPr sz="2400" b="1">
                <a:solidFill>
                  <a:srgbClr val="9F2241"/>
                </a:solidFill>
                <a:latin typeface="Montserrat"/>
              </a:rPr>
              <a:t>38.7%</a:t>
            </a:r>
          </a:p>
        </p:txBody>
      </p:sp>
      <p:sp>
        <p:nvSpPr>
          <p:cNvPr id="236" name="TextBox 235"/>
          <p:cNvSpPr txBox="1"/>
          <p:nvPr/>
        </p:nvSpPr>
        <p:spPr>
          <a:xfrm>
            <a:off x="4780800" y="5205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37" name="TextBox 236"/>
          <p:cNvSpPr txBox="1"/>
          <p:nvPr/>
        </p:nvSpPr>
        <p:spPr>
          <a:xfrm>
            <a:off x="730799" y="3585600"/>
            <a:ext cx="2854800" cy="1198800"/>
          </a:xfrm>
          <a:prstGeom prst="rect">
            <a:avLst/>
          </a:prstGeom>
          <a:noFill/>
        </p:spPr>
        <p:txBody>
          <a:bodyPr wrap="square">
            <a:spAutoFit/>
          </a:bodyPr>
          <a:lstStyle/>
          <a:p>
            <a:pPr algn="ctr">
              <a:defRPr sz="3600" b="1">
                <a:solidFill>
                  <a:srgbClr val="9F2241"/>
                </a:solidFill>
                <a:latin typeface="Montserrat"/>
              </a:defRPr>
            </a:pPr>
            <a:r>
              <a:t>39,458 </a:t>
            </a:r>
            <a:br/>
            <a:r>
              <a:t>Meta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205 total especialistas contratados en el draft 2026</a:t>
            </a:r>
          </a:p>
        </p:txBody>
      </p:sp>
      <p:sp>
        <p:nvSpPr>
          <p:cNvPr id="4" name="TextBox 3"/>
          <p:cNvSpPr txBox="1"/>
          <p:nvPr/>
        </p:nvSpPr>
        <p:spPr>
          <a:xfrm>
            <a:off x="0" y="1007999"/>
            <a:ext cx="7772400" cy="360000"/>
          </a:xfrm>
          <a:prstGeom prst="rect">
            <a:avLst/>
          </a:prstGeom>
          <a:noFill/>
        </p:spPr>
        <p:txBody>
          <a:bodyPr wrap="none">
            <a:spAutoFit/>
          </a:bodyPr>
          <a:lstStyle/>
          <a:p>
            <a:pPr algn="ctr">
              <a:defRPr sz="1400" b="0">
                <a:solidFill>
                  <a:srgbClr val="BC955C"/>
                </a:solidFill>
                <a:latin typeface="Montserrat"/>
              </a:defRPr>
            </a:pPr>
            <a:r>
              <a:t>26 en Hospitales, 0 en sede, 11 en UMF y 168 sustitutos</a:t>
            </a:r>
          </a:p>
        </p:txBody>
      </p:sp>
      <p:sp>
        <p:nvSpPr>
          <p:cNvPr id="5" name="TextBox 4"/>
          <p:cNvSpPr txBox="1"/>
          <p:nvPr/>
        </p:nvSpPr>
        <p:spPr>
          <a:xfrm>
            <a:off x="360000" y="1440000"/>
            <a:ext cx="6840000" cy="360000"/>
          </a:xfrm>
          <a:prstGeom prst="rect">
            <a:avLst/>
          </a:prstGeom>
          <a:noFill/>
        </p:spPr>
        <p:txBody>
          <a:bodyPr wrap="none" anchor="ctr">
            <a:spAutoFit/>
          </a:bodyPr>
          <a:lstStyle/>
          <a:p>
            <a:pPr algn="l">
              <a:defRPr sz="2000" b="1">
                <a:solidFill>
                  <a:srgbClr val="BC955C"/>
                </a:solidFill>
                <a:latin typeface="Montserrat"/>
              </a:defRPr>
            </a:pPr>
            <a:r>
              <a:t>26 en Hospitales</a:t>
            </a:r>
          </a:p>
        </p:txBody>
      </p:sp>
      <p:cxnSp>
        <p:nvCxnSpPr>
          <p:cNvPr id="6" name="Connector 5"/>
          <p:cNvCxnSpPr/>
          <p:nvPr/>
        </p:nvCxnSpPr>
        <p:spPr>
          <a:xfrm>
            <a:off x="360000" y="18360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908000"/>
          <a:ext cx="3456000" cy="237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0">
                  <a:txBody>
                    <a:bodyPr/>
                    <a:lstStyle/>
                    <a:p>
                      <a:pPr algn="ctr">
                        <a:defRPr sz="800" b="1">
                          <a:solidFill>
                            <a:srgbClr val="000000"/>
                          </a:solidFill>
                          <a:latin typeface="Montserrat"/>
                        </a:defRPr>
                      </a:pPr>
                      <a:r>
                        <a:t>Hospital General Regional 1</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Neonatología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Oncología Médica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908000"/>
          <a:ext cx="3456000" cy="2591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11">
                  <a:txBody>
                    <a:bodyPr/>
                    <a:lstStyle/>
                    <a:p>
                      <a:pPr algn="ctr">
                        <a:defRPr sz="800" b="1">
                          <a:solidFill>
                            <a:srgbClr val="000000"/>
                          </a:solidFill>
                          <a:latin typeface="Montserrat"/>
                        </a:defRPr>
                      </a:pPr>
                      <a:r>
                        <a:t>Hospital General Regional 2</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Audiología Otoneurología y Foniatría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Cirugía Plástica y Reconstructiva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Ginecología Oncológica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1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11</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50759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General Regional No. 2</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50759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General de Zona 3</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62279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UMAA 1</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spTree>
    <p:extLst>
      <p:ext uri="{BB962C8B-B14F-4D97-AF65-F5344CB8AC3E}">
        <p14:creationId xmlns:p14="http://schemas.microsoft.com/office/powerpoint/2010/main" val="15240955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61584">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61584">
                <a:tc>
                  <a:txBody>
                    <a:bodyPr/>
                    <a:lstStyle/>
                    <a:p>
                      <a:pPr algn="l">
                        <a:defRPr sz="1100" b="0">
                          <a:solidFill>
                            <a:srgbClr val="000000"/>
                          </a:solidFill>
                          <a:latin typeface="Montserrat"/>
                        </a:defRPr>
                      </a:pPr>
                      <a:r>
                        <a:t>Medicina Familiar</a:t>
                      </a:r>
                    </a:p>
                  </a:txBody>
                  <a:tcPr anchor="ctr" marL="45720" marR="45720" marT="45720" marB="45720">
                    <a:solidFill>
                      <a:srgbClr val="FFFFFF"/>
                    </a:solidFill>
                  </a:tcPr>
                </a:tc>
                <a:tc>
                  <a:txBody>
                    <a:bodyPr/>
                    <a:lstStyle/>
                    <a:p>
                      <a:pPr algn="ctr">
                        <a:defRPr sz="1100" b="0">
                          <a:solidFill>
                            <a:srgbClr val="000000"/>
                          </a:solidFill>
                          <a:latin typeface="Montserrat"/>
                        </a:defRPr>
                      </a:pPr>
                      <a:r>
                        <a:t>29</a:t>
                      </a:r>
                    </a:p>
                  </a:txBody>
                  <a:tcPr anchor="ctr" marL="45720" marR="45720" marT="45720" marB="45720">
                    <a:solidFill>
                      <a:srgbClr val="FFFFFF"/>
                    </a:solidFill>
                  </a:tcPr>
                </a:tc>
                <a:tc>
                  <a:txBody>
                    <a:bodyPr/>
                    <a:lstStyle/>
                    <a:p>
                      <a:pPr algn="ctr">
                        <a:defRPr sz="1100" b="1">
                          <a:solidFill>
                            <a:srgbClr val="000000"/>
                          </a:solidFill>
                          <a:latin typeface="Montserrat"/>
                        </a:defRPr>
                      </a:pPr>
                      <a:r>
                        <a:t>14.1%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Ginecología y Obstetricia</a:t>
                      </a:r>
                    </a:p>
                  </a:txBody>
                  <a:tcPr anchor="ctr" marL="45720" marR="45720" marT="45720" marB="45720">
                    <a:solidFill>
                      <a:srgbClr val="D9D9D9"/>
                    </a:solidFill>
                  </a:tcPr>
                </a:tc>
                <a:tc>
                  <a:txBody>
                    <a:bodyPr/>
                    <a:lstStyle/>
                    <a:p>
                      <a:pPr algn="ctr">
                        <a:defRPr sz="1100" b="0">
                          <a:solidFill>
                            <a:srgbClr val="000000"/>
                          </a:solidFill>
                          <a:latin typeface="Montserrat"/>
                        </a:defRPr>
                      </a:pPr>
                      <a:r>
                        <a:t>24</a:t>
                      </a:r>
                    </a:p>
                  </a:txBody>
                  <a:tcPr anchor="ctr" marL="45720" marR="45720" marT="45720" marB="45720">
                    <a:solidFill>
                      <a:srgbClr val="D9D9D9"/>
                    </a:solidFill>
                  </a:tcPr>
                </a:tc>
                <a:tc>
                  <a:txBody>
                    <a:bodyPr/>
                    <a:lstStyle/>
                    <a:p>
                      <a:pPr algn="ctr">
                        <a:defRPr sz="1100" b="1">
                          <a:solidFill>
                            <a:srgbClr val="000000"/>
                          </a:solidFill>
                          <a:latin typeface="Montserrat"/>
                        </a:defRPr>
                      </a:pPr>
                      <a:r>
                        <a:t>25.8%</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Anestesiología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22</a:t>
                      </a:r>
                    </a:p>
                  </a:txBody>
                  <a:tcPr anchor="ctr" marL="45720" marR="45720" marT="45720" marB="45720">
                    <a:solidFill>
                      <a:srgbClr val="FFFFFF"/>
                    </a:solidFill>
                  </a:tcPr>
                </a:tc>
                <a:tc>
                  <a:txBody>
                    <a:bodyPr/>
                    <a:lstStyle/>
                    <a:p>
                      <a:pPr algn="ctr">
                        <a:defRPr sz="1100" b="1">
                          <a:solidFill>
                            <a:srgbClr val="000000"/>
                          </a:solidFill>
                          <a:latin typeface="Montserrat"/>
                        </a:defRPr>
                      </a:pPr>
                      <a:r>
                        <a:t>36.5%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Cirugía General</a:t>
                      </a:r>
                    </a:p>
                  </a:txBody>
                  <a:tcPr anchor="ctr" marL="45720" marR="45720" marT="45720" marB="45720">
                    <a:solidFill>
                      <a:srgbClr val="D9D9D9"/>
                    </a:solidFill>
                  </a:tcPr>
                </a:tc>
                <a:tc>
                  <a:txBody>
                    <a:bodyPr/>
                    <a:lstStyle/>
                    <a:p>
                      <a:pPr algn="ctr">
                        <a:defRPr sz="1100" b="0">
                          <a:solidFill>
                            <a:srgbClr val="000000"/>
                          </a:solidFill>
                          <a:latin typeface="Montserrat"/>
                        </a:defRPr>
                      </a:pPr>
                      <a:r>
                        <a:t>22</a:t>
                      </a:r>
                    </a:p>
                  </a:txBody>
                  <a:tcPr anchor="ctr" marL="45720" marR="45720" marT="45720" marB="45720">
                    <a:solidFill>
                      <a:srgbClr val="D9D9D9"/>
                    </a:solidFill>
                  </a:tcPr>
                </a:tc>
                <a:tc>
                  <a:txBody>
                    <a:bodyPr/>
                    <a:lstStyle/>
                    <a:p>
                      <a:pPr algn="ctr">
                        <a:defRPr sz="1100" b="1">
                          <a:solidFill>
                            <a:srgbClr val="000000"/>
                          </a:solidFill>
                          <a:latin typeface="Montserrat"/>
                        </a:defRPr>
                      </a:pPr>
                      <a:r>
                        <a:t>47.3%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Medicina de Urgencias</a:t>
                      </a:r>
                    </a:p>
                  </a:txBody>
                  <a:tcPr anchor="ctr" marL="45720" marR="45720" marT="45720" marB="45720">
                    <a:solidFill>
                      <a:srgbClr val="FFFFFF"/>
                    </a:solidFill>
                  </a:tcPr>
                </a:tc>
                <a:tc>
                  <a:txBody>
                    <a:bodyPr/>
                    <a:lstStyle/>
                    <a:p>
                      <a:pPr algn="ctr">
                        <a:defRPr sz="1100" b="0">
                          <a:solidFill>
                            <a:srgbClr val="000000"/>
                          </a:solidFill>
                          <a:latin typeface="Montserrat"/>
                        </a:defRPr>
                      </a:pPr>
                      <a:r>
                        <a:t>19</a:t>
                      </a:r>
                    </a:p>
                  </a:txBody>
                  <a:tcPr anchor="ctr" marL="45720" marR="45720" marT="45720" marB="45720">
                    <a:solidFill>
                      <a:srgbClr val="FFFFFF"/>
                    </a:solidFill>
                  </a:tcPr>
                </a:tc>
                <a:tc>
                  <a:txBody>
                    <a:bodyPr/>
                    <a:lstStyle/>
                    <a:p>
                      <a:pPr algn="ctr">
                        <a:defRPr sz="1100" b="1">
                          <a:solidFill>
                            <a:srgbClr val="000000"/>
                          </a:solidFill>
                          <a:latin typeface="Montserrat"/>
                        </a:defRPr>
                      </a:pPr>
                      <a:r>
                        <a:t>56.5%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Traumatología y Ortopedia</a:t>
                      </a:r>
                    </a:p>
                  </a:txBody>
                  <a:tcPr anchor="ctr" marL="45720" marR="45720" marT="45720" marB="45720">
                    <a:solidFill>
                      <a:srgbClr val="D9D9D9"/>
                    </a:solidFill>
                  </a:tcPr>
                </a:tc>
                <a:tc>
                  <a:txBody>
                    <a:bodyPr/>
                    <a:lstStyle/>
                    <a:p>
                      <a:pPr algn="ctr">
                        <a:defRPr sz="1100" b="0">
                          <a:solidFill>
                            <a:srgbClr val="000000"/>
                          </a:solidFill>
                          <a:latin typeface="Montserrat"/>
                        </a:defRPr>
                      </a:pPr>
                      <a:r>
                        <a:t>16</a:t>
                      </a:r>
                    </a:p>
                  </a:txBody>
                  <a:tcPr anchor="ctr" marL="45720" marR="45720" marT="45720" marB="45720">
                    <a:solidFill>
                      <a:srgbClr val="D9D9D9"/>
                    </a:solidFill>
                  </a:tcPr>
                </a:tc>
                <a:tc>
                  <a:txBody>
                    <a:bodyPr/>
                    <a:lstStyle/>
                    <a:p>
                      <a:pPr algn="ctr">
                        <a:defRPr sz="1100" b="1">
                          <a:solidFill>
                            <a:srgbClr val="000000"/>
                          </a:solidFill>
                          <a:latin typeface="Montserrat"/>
                        </a:defRPr>
                      </a:pPr>
                      <a:r>
                        <a:t>64.3%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Geriatría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9</a:t>
                      </a:r>
                    </a:p>
                  </a:txBody>
                  <a:tcPr anchor="ctr" marL="45720" marR="45720" marT="45720" marB="45720">
                    <a:solidFill>
                      <a:srgbClr val="FFFFFF"/>
                    </a:solidFill>
                  </a:tcPr>
                </a:tc>
                <a:tc>
                  <a:txBody>
                    <a:bodyPr/>
                    <a:lstStyle/>
                    <a:p>
                      <a:pPr algn="ctr">
                        <a:defRPr sz="1100" b="1">
                          <a:solidFill>
                            <a:srgbClr val="000000"/>
                          </a:solidFill>
                          <a:latin typeface="Montserrat"/>
                        </a:defRPr>
                      </a:pPr>
                      <a:r>
                        <a:t>68.7%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Pediatría</a:t>
                      </a:r>
                    </a:p>
                  </a:txBody>
                  <a:tcPr anchor="ctr" marL="45720" marR="45720" marT="45720" marB="45720">
                    <a:solidFill>
                      <a:srgbClr val="D9D9D9"/>
                    </a:solidFill>
                  </a:tcPr>
                </a:tc>
                <a:tc>
                  <a:txBody>
                    <a:bodyPr/>
                    <a:lstStyle/>
                    <a:p>
                      <a:pPr algn="ctr">
                        <a:defRPr sz="1100" b="0">
                          <a:solidFill>
                            <a:srgbClr val="000000"/>
                          </a:solidFill>
                          <a:latin typeface="Montserrat"/>
                        </a:defRPr>
                      </a:pPr>
                      <a:r>
                        <a:t>9</a:t>
                      </a:r>
                    </a:p>
                  </a:txBody>
                  <a:tcPr anchor="ctr" marL="45720" marR="45720" marT="45720" marB="45720">
                    <a:solidFill>
                      <a:srgbClr val="D9D9D9"/>
                    </a:solidFill>
                  </a:tcPr>
                </a:tc>
                <a:tc>
                  <a:txBody>
                    <a:bodyPr/>
                    <a:lstStyle/>
                    <a:p>
                      <a:pPr algn="ctr">
                        <a:defRPr sz="1100" b="1">
                          <a:solidFill>
                            <a:srgbClr val="000000"/>
                          </a:solidFill>
                          <a:latin typeface="Montserrat"/>
                        </a:defRPr>
                      </a:pPr>
                      <a:r>
                        <a:t>73.1%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Medicina Interna</a:t>
                      </a:r>
                    </a:p>
                  </a:txBody>
                  <a:tcPr anchor="ctr" marL="45720" marR="45720" marT="45720" marB="45720">
                    <a:solidFill>
                      <a:srgbClr val="FFFFFF"/>
                    </a:solidFill>
                  </a:tcPr>
                </a:tc>
                <a:tc>
                  <a:txBody>
                    <a:bodyPr/>
                    <a:lstStyle/>
                    <a:p>
                      <a:pPr algn="ctr">
                        <a:defRPr sz="1100" b="0">
                          <a:solidFill>
                            <a:srgbClr val="000000"/>
                          </a:solidFill>
                          <a:latin typeface="Montserrat"/>
                        </a:defRPr>
                      </a:pPr>
                      <a:r>
                        <a:t>8</a:t>
                      </a:r>
                    </a:p>
                  </a:txBody>
                  <a:tcPr anchor="ctr" marL="45720" marR="45720" marT="45720" marB="45720">
                    <a:solidFill>
                      <a:srgbClr val="FFFFFF"/>
                    </a:solidFill>
                  </a:tcPr>
                </a:tc>
                <a:tc>
                  <a:txBody>
                    <a:bodyPr/>
                    <a:lstStyle/>
                    <a:p>
                      <a:pPr algn="ctr">
                        <a:defRPr sz="1100" b="1">
                          <a:solidFill>
                            <a:srgbClr val="000000"/>
                          </a:solidFill>
                          <a:latin typeface="Montserrat"/>
                        </a:defRPr>
                      </a:pPr>
                      <a:r>
                        <a:t>77.0%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Cirugía Plástica y Reconstructiva</a:t>
                      </a:r>
                    </a:p>
                  </a:txBody>
                  <a:tcPr anchor="ctr" marL="45720" marR="45720" marT="45720" marB="45720">
                    <a:solidFill>
                      <a:srgbClr val="D9D9D9"/>
                    </a:solidFill>
                  </a:tcPr>
                </a:tc>
                <a:tc>
                  <a:txBody>
                    <a:bodyPr/>
                    <a:lstStyle/>
                    <a:p>
                      <a:pPr algn="ctr">
                        <a:defRPr sz="1100" b="0">
                          <a:solidFill>
                            <a:srgbClr val="000000"/>
                          </a:solidFill>
                          <a:latin typeface="Montserrat"/>
                        </a:defRPr>
                      </a:pPr>
                      <a:r>
                        <a:t>4</a:t>
                      </a:r>
                    </a:p>
                  </a:txBody>
                  <a:tcPr anchor="ctr" marL="45720" marR="45720" marT="45720" marB="45720">
                    <a:solidFill>
                      <a:srgbClr val="D9D9D9"/>
                    </a:solidFill>
                  </a:tcPr>
                </a:tc>
                <a:tc>
                  <a:txBody>
                    <a:bodyPr/>
                    <a:lstStyle/>
                    <a:p>
                      <a:pPr algn="ctr">
                        <a:defRPr sz="1100" b="1">
                          <a:solidFill>
                            <a:srgbClr val="000000"/>
                          </a:solidFill>
                          <a:latin typeface="Montserrat"/>
                        </a:defRPr>
                      </a:pPr>
                      <a:r>
                        <a:t>79.0%</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Urología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4</a:t>
                      </a:r>
                    </a:p>
                  </a:txBody>
                  <a:tcPr anchor="ctr" marL="45720" marR="45720" marT="45720" marB="45720">
                    <a:solidFill>
                      <a:srgbClr val="FFFFFF"/>
                    </a:solidFill>
                  </a:tcPr>
                </a:tc>
                <a:tc>
                  <a:txBody>
                    <a:bodyPr/>
                    <a:lstStyle/>
                    <a:p>
                      <a:pPr algn="ctr">
                        <a:defRPr sz="1100" b="1">
                          <a:solidFill>
                            <a:srgbClr val="000000"/>
                          </a:solidFill>
                          <a:latin typeface="Montserrat"/>
                        </a:defRPr>
                      </a:pPr>
                      <a:r>
                        <a:t>80.9%</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del Trabajo y Ambiental</a:t>
                      </a:r>
                    </a:p>
                  </a:txBody>
                  <a:tcPr anchor="ctr" marL="45720" marR="45720" marT="45720" marB="45720">
                    <a:solidFill>
                      <a:srgbClr val="D9D9D9"/>
                    </a:solidFill>
                  </a:tcPr>
                </a:tc>
                <a:tc>
                  <a:txBody>
                    <a:bodyPr/>
                    <a:lstStyle/>
                    <a:p>
                      <a:pPr algn="ctr">
                        <a:defRPr sz="1100" b="0">
                          <a:solidFill>
                            <a:srgbClr val="000000"/>
                          </a:solidFill>
                          <a:latin typeface="Montserrat"/>
                        </a:defRPr>
                      </a:pPr>
                      <a:r>
                        <a:t>4</a:t>
                      </a:r>
                    </a:p>
                  </a:txBody>
                  <a:tcPr anchor="ctr" marL="45720" marR="45720" marT="45720" marB="45720">
                    <a:solidFill>
                      <a:srgbClr val="D9D9D9"/>
                    </a:solidFill>
                  </a:tcPr>
                </a:tc>
                <a:tc>
                  <a:txBody>
                    <a:bodyPr/>
                    <a:lstStyle/>
                    <a:p>
                      <a:pPr algn="ctr">
                        <a:defRPr sz="1100" b="1">
                          <a:solidFill>
                            <a:srgbClr val="000000"/>
                          </a:solidFill>
                          <a:latin typeface="Montserrat"/>
                        </a:defRPr>
                      </a:pPr>
                      <a:r>
                        <a:t>82.9%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Nefrología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84.3%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Oftalmología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85.8%</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Imagenología Diagnóstico y Terapéutica</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87.3%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Cardiología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88.7%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Reumatología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90.2%</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Otorrinolaringología y Cirugía de Cabeza y Cuello</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91.2%</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Neonatología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92.1%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del Enfermo en Estado Crítico</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93.1%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Cirugía Oncológica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94.1%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Anatomía Patológica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95.1%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Audiología Otoneurología y Foniatría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95.6%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Cardiología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96.0%</a:t>
                      </a:r>
                    </a:p>
                  </a:txBody>
                  <a:tcPr anchor="ctr" marL="45720" marR="45720" marT="45720" marB="45720">
                    <a:solidFill>
                      <a:srgbClr val="D9D9D9"/>
                    </a:solidFill>
                  </a:tcPr>
                </a:tc>
              </a:tr>
              <a:tr h="161600">
                <a:tc>
                  <a:txBody>
                    <a:bodyPr/>
                    <a:lstStyle/>
                    <a:p>
                      <a:pPr algn="l">
                        <a:defRPr sz="1100" b="0">
                          <a:solidFill>
                            <a:srgbClr val="000000"/>
                          </a:solidFill>
                          <a:latin typeface="Montserrat"/>
                        </a:defRPr>
                      </a:pPr>
                      <a:r>
                        <a:t>Hematología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96.5%</a:t>
                      </a:r>
                    </a:p>
                  </a:txBody>
                  <a:tcPr anchor="ctr" marL="45720" marR="45720" marT="45720" marB="45720">
                    <a:solidFill>
                      <a:srgbClr val="FFFFFF"/>
                    </a:solidFill>
                  </a:tcPr>
                </a:tc>
              </a:tr>
            </a:tbl>
          </a:graphicData>
        </a:graphic>
      </p:graphicFrame>
    </p:spTree>
    <p:extLst>
      <p:ext uri="{BB962C8B-B14F-4D97-AF65-F5344CB8AC3E}">
        <p14:creationId xmlns:p14="http://schemas.microsoft.com/office/powerpoint/2010/main" val="3828482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86F61EB5-B94A-BBC4-F2A3-3246403104D7}"/>
              </a:ext>
            </a:extLst>
          </p:cNvPr>
          <p:cNvGraphicFramePr/>
          <p:nvPr>
            <p:extLst>
              <p:ext uri="{D42A27DB-BD31-4B8C-83A1-F6EECF244321}">
                <p14:modId xmlns:p14="http://schemas.microsoft.com/office/powerpoint/2010/main" val="3896244087"/>
              </p:ext>
            </p:extLst>
          </p:nvPr>
        </p:nvGraphicFramePr>
        <p:xfrm>
          <a:off x="287050" y="989179"/>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Lista de espera por especialidad y por cirugía prioritaria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QUERÉTARO</a:t>
            </a:r>
          </a:p>
        </p:txBody>
      </p:sp>
      <p:sp>
        <p:nvSpPr>
          <p:cNvPr id="4" name="TextBox 3"/>
          <p:cNvSpPr txBox="1"/>
          <p:nvPr/>
        </p:nvSpPr>
        <p:spPr>
          <a:xfrm>
            <a:off x="176400" y="8982000"/>
            <a:ext cx="5324400" cy="4284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21, 17 mayo 2026</a:t>
            </a:r>
          </a:p>
        </p:txBody>
      </p:sp>
      <p:graphicFrame>
        <p:nvGraphicFramePr>
          <p:cNvPr id="5" name="Table 4"/>
          <p:cNvGraphicFramePr>
            <a:graphicFrameLocks noGrp="1"/>
          </p:cNvGraphicFramePr>
          <p:nvPr/>
        </p:nvGraphicFramePr>
        <p:xfrm>
          <a:off x="32400" y="3474000"/>
          <a:ext cx="3639599" cy="2592000"/>
        </p:xfrm>
        <a:graphic>
          <a:graphicData uri="http://schemas.openxmlformats.org/drawingml/2006/table">
            <a:tbl>
              <a:tblPr firstRow="1" bandRow="1">
                <a:tableStyleId>{5C22544A-7EE6-4342-B048-85BDC9FD1C3A}</a:tableStyleId>
              </a:tblPr>
              <a:tblGrid>
                <a:gridCol w="1731599"/>
                <a:gridCol w="950400"/>
                <a:gridCol w="957600"/>
              </a:tblGrid>
              <a:tr h="216000">
                <a:tc>
                  <a:txBody>
                    <a:bodyPr/>
                    <a:lstStyle/>
                    <a:p>
                      <a:pPr algn="ctr">
                        <a:defRPr b="1" sz="1100">
                          <a:solidFill>
                            <a:srgbClr val="FFFFFF"/>
                          </a:solidFill>
                          <a:latin typeface="Montserrat"/>
                        </a:defRPr>
                      </a:pPr>
                      <a:r>
                        <a:t>Especialidad</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acumulado total</a:t>
                      </a:r>
                    </a:p>
                  </a:txBody>
                  <a:tcPr marL="14400" marR="14400" anchor="ctr">
                    <a:solidFill>
                      <a:srgbClr val="006455"/>
                    </a:solidFill>
                  </a:tcPr>
                </a:tc>
              </a:tr>
              <a:tr h="216000">
                <a:tc>
                  <a:txBody>
                    <a:bodyPr/>
                    <a:lstStyle/>
                    <a:p>
                      <a:pPr algn="l">
                        <a:defRPr sz="1000">
                          <a:latin typeface="Montserrat"/>
                        </a:defRPr>
                      </a:pPr>
                      <a:r>
                        <a:t>Cirugía General</a:t>
                      </a:r>
                    </a:p>
                  </a:txBody>
                  <a:tcPr anchor="ctr">
                    <a:solidFill>
                      <a:srgbClr val="FFFFFF"/>
                    </a:solidFill>
                  </a:tcPr>
                </a:tc>
                <a:tc>
                  <a:txBody>
                    <a:bodyPr/>
                    <a:lstStyle/>
                    <a:p>
                      <a:pPr algn="ctr">
                        <a:defRPr sz="1000">
                          <a:latin typeface="Montserrat"/>
                        </a:defRPr>
                      </a:pPr>
                      <a:r>
                        <a:t>2,666</a:t>
                      </a:r>
                    </a:p>
                  </a:txBody>
                  <a:tcPr anchor="ctr">
                    <a:solidFill>
                      <a:srgbClr val="FFFFFF"/>
                    </a:solidFill>
                  </a:tcPr>
                </a:tc>
                <a:tc>
                  <a:txBody>
                    <a:bodyPr/>
                    <a:lstStyle/>
                    <a:p>
                      <a:pPr algn="ctr">
                        <a:defRPr sz="1000">
                          <a:latin typeface="Montserrat"/>
                        </a:defRPr>
                      </a:pPr>
                      <a:r>
                        <a:t>37.0%</a:t>
                      </a:r>
                    </a:p>
                  </a:txBody>
                  <a:tcPr anchor="ctr">
                    <a:solidFill>
                      <a:srgbClr val="FFFFFF"/>
                    </a:solidFill>
                  </a:tcPr>
                </a:tc>
              </a:tr>
              <a:tr h="216000">
                <a:tc>
                  <a:txBody>
                    <a:bodyPr/>
                    <a:lstStyle/>
                    <a:p>
                      <a:pPr algn="l">
                        <a:defRPr sz="1000">
                          <a:latin typeface="Montserrat"/>
                        </a:defRPr>
                      </a:pPr>
                      <a:r>
                        <a:t>Traumatología y ortopedia</a:t>
                      </a:r>
                    </a:p>
                  </a:txBody>
                  <a:tcPr anchor="ctr">
                    <a:solidFill>
                      <a:srgbClr val="D9D9D9"/>
                    </a:solidFill>
                  </a:tcPr>
                </a:tc>
                <a:tc>
                  <a:txBody>
                    <a:bodyPr/>
                    <a:lstStyle/>
                    <a:p>
                      <a:pPr algn="ctr">
                        <a:defRPr sz="1000">
                          <a:latin typeface="Montserrat"/>
                        </a:defRPr>
                      </a:pPr>
                      <a:r>
                        <a:t>1,672</a:t>
                      </a:r>
                    </a:p>
                  </a:txBody>
                  <a:tcPr anchor="ctr">
                    <a:solidFill>
                      <a:srgbClr val="D9D9D9"/>
                    </a:solidFill>
                  </a:tcPr>
                </a:tc>
                <a:tc>
                  <a:txBody>
                    <a:bodyPr/>
                    <a:lstStyle/>
                    <a:p>
                      <a:pPr algn="ctr">
                        <a:defRPr sz="1000">
                          <a:latin typeface="Montserrat"/>
                        </a:defRPr>
                      </a:pPr>
                      <a:r>
                        <a:t>60.2%</a:t>
                      </a:r>
                    </a:p>
                  </a:txBody>
                  <a:tcPr anchor="ctr">
                    <a:solidFill>
                      <a:srgbClr val="D9D9D9"/>
                    </a:solidFill>
                  </a:tcPr>
                </a:tc>
              </a:tr>
              <a:tr h="216000">
                <a:tc>
                  <a:txBody>
                    <a:bodyPr/>
                    <a:lstStyle/>
                    <a:p>
                      <a:pPr algn="l">
                        <a:defRPr sz="1000">
                          <a:latin typeface="Montserrat"/>
                        </a:defRPr>
                      </a:pPr>
                      <a:r>
                        <a:t>Ginecología</a:t>
                      </a:r>
                    </a:p>
                  </a:txBody>
                  <a:tcPr anchor="ctr">
                    <a:solidFill>
                      <a:srgbClr val="FFFFFF"/>
                    </a:solidFill>
                  </a:tcPr>
                </a:tc>
                <a:tc>
                  <a:txBody>
                    <a:bodyPr/>
                    <a:lstStyle/>
                    <a:p>
                      <a:pPr algn="ctr">
                        <a:defRPr sz="1000">
                          <a:latin typeface="Montserrat"/>
                        </a:defRPr>
                      </a:pPr>
                      <a:r>
                        <a:t>675</a:t>
                      </a:r>
                    </a:p>
                  </a:txBody>
                  <a:tcPr anchor="ctr">
                    <a:solidFill>
                      <a:srgbClr val="FFFFFF"/>
                    </a:solidFill>
                  </a:tcPr>
                </a:tc>
                <a:tc>
                  <a:txBody>
                    <a:bodyPr/>
                    <a:lstStyle/>
                    <a:p>
                      <a:pPr algn="ctr">
                        <a:defRPr sz="1000">
                          <a:latin typeface="Montserrat"/>
                        </a:defRPr>
                      </a:pPr>
                      <a:r>
                        <a:t>69.5%</a:t>
                      </a:r>
                    </a:p>
                  </a:txBody>
                  <a:tcPr anchor="ctr">
                    <a:solidFill>
                      <a:srgbClr val="FFFFFF"/>
                    </a:solidFill>
                  </a:tcPr>
                </a:tc>
              </a:tr>
              <a:tr h="216000">
                <a:tc>
                  <a:txBody>
                    <a:bodyPr/>
                    <a:lstStyle/>
                    <a:p>
                      <a:pPr algn="l">
                        <a:defRPr sz="1000">
                          <a:latin typeface="Montserrat"/>
                        </a:defRPr>
                      </a:pPr>
                      <a:r>
                        <a:t>Oftalmología</a:t>
                      </a:r>
                    </a:p>
                  </a:txBody>
                  <a:tcPr anchor="ctr">
                    <a:solidFill>
                      <a:srgbClr val="D9D9D9"/>
                    </a:solidFill>
                  </a:tcPr>
                </a:tc>
                <a:tc>
                  <a:txBody>
                    <a:bodyPr/>
                    <a:lstStyle/>
                    <a:p>
                      <a:pPr algn="ctr">
                        <a:defRPr sz="1000">
                          <a:latin typeface="Montserrat"/>
                        </a:defRPr>
                      </a:pPr>
                      <a:r>
                        <a:t>482</a:t>
                      </a:r>
                    </a:p>
                  </a:txBody>
                  <a:tcPr anchor="ctr">
                    <a:solidFill>
                      <a:srgbClr val="D9D9D9"/>
                    </a:solidFill>
                  </a:tcPr>
                </a:tc>
                <a:tc>
                  <a:txBody>
                    <a:bodyPr/>
                    <a:lstStyle/>
                    <a:p>
                      <a:pPr algn="ctr">
                        <a:defRPr sz="1000">
                          <a:latin typeface="Montserrat"/>
                        </a:defRPr>
                      </a:pPr>
                      <a:r>
                        <a:t>76.2%</a:t>
                      </a:r>
                    </a:p>
                  </a:txBody>
                  <a:tcPr anchor="ctr">
                    <a:solidFill>
                      <a:srgbClr val="D9D9D9"/>
                    </a:solidFill>
                  </a:tcPr>
                </a:tc>
              </a:tr>
              <a:tr h="216000">
                <a:tc>
                  <a:txBody>
                    <a:bodyPr/>
                    <a:lstStyle/>
                    <a:p>
                      <a:pPr algn="l">
                        <a:defRPr sz="1000">
                          <a:latin typeface="Montserrat"/>
                        </a:defRPr>
                      </a:pPr>
                      <a:r>
                        <a:t>Obstetricia</a:t>
                      </a:r>
                    </a:p>
                  </a:txBody>
                  <a:tcPr anchor="ctr">
                    <a:solidFill>
                      <a:srgbClr val="FFFFFF"/>
                    </a:solidFill>
                  </a:tcPr>
                </a:tc>
                <a:tc>
                  <a:txBody>
                    <a:bodyPr/>
                    <a:lstStyle/>
                    <a:p>
                      <a:pPr algn="ctr">
                        <a:defRPr sz="1000">
                          <a:latin typeface="Montserrat"/>
                        </a:defRPr>
                      </a:pPr>
                      <a:r>
                        <a:t>477</a:t>
                      </a:r>
                    </a:p>
                  </a:txBody>
                  <a:tcPr anchor="ctr">
                    <a:solidFill>
                      <a:srgbClr val="FFFFFF"/>
                    </a:solidFill>
                  </a:tcPr>
                </a:tc>
                <a:tc>
                  <a:txBody>
                    <a:bodyPr/>
                    <a:lstStyle/>
                    <a:p>
                      <a:pPr algn="ctr">
                        <a:defRPr sz="1000">
                          <a:latin typeface="Montserrat"/>
                        </a:defRPr>
                      </a:pPr>
                      <a:r>
                        <a:t>82.9%</a:t>
                      </a:r>
                    </a:p>
                  </a:txBody>
                  <a:tcPr anchor="ctr">
                    <a:solidFill>
                      <a:srgbClr val="FFFFFF"/>
                    </a:solidFill>
                  </a:tcPr>
                </a:tc>
              </a:tr>
              <a:tr h="216000">
                <a:tc>
                  <a:txBody>
                    <a:bodyPr/>
                    <a:lstStyle/>
                    <a:p>
                      <a:pPr algn="l">
                        <a:defRPr sz="1000">
                          <a:latin typeface="Montserrat"/>
                        </a:defRPr>
                      </a:pPr>
                      <a:r>
                        <a:t>Urología  </a:t>
                      </a:r>
                    </a:p>
                  </a:txBody>
                  <a:tcPr anchor="ctr">
                    <a:solidFill>
                      <a:srgbClr val="D9D9D9"/>
                    </a:solidFill>
                  </a:tcPr>
                </a:tc>
                <a:tc>
                  <a:txBody>
                    <a:bodyPr/>
                    <a:lstStyle/>
                    <a:p>
                      <a:pPr algn="ctr">
                        <a:defRPr sz="1000">
                          <a:latin typeface="Montserrat"/>
                        </a:defRPr>
                      </a:pPr>
                      <a:r>
                        <a:t>421</a:t>
                      </a:r>
                    </a:p>
                  </a:txBody>
                  <a:tcPr anchor="ctr">
                    <a:solidFill>
                      <a:srgbClr val="D9D9D9"/>
                    </a:solidFill>
                  </a:tcPr>
                </a:tc>
                <a:tc>
                  <a:txBody>
                    <a:bodyPr/>
                    <a:lstStyle/>
                    <a:p>
                      <a:pPr algn="ctr">
                        <a:defRPr sz="1000">
                          <a:latin typeface="Montserrat"/>
                        </a:defRPr>
                      </a:pPr>
                      <a:r>
                        <a:t>88.7%</a:t>
                      </a:r>
                    </a:p>
                  </a:txBody>
                  <a:tcPr anchor="ctr">
                    <a:solidFill>
                      <a:srgbClr val="D9D9D9"/>
                    </a:solidFill>
                  </a:tcPr>
                </a:tc>
              </a:tr>
              <a:tr h="216000">
                <a:tc>
                  <a:txBody>
                    <a:bodyPr/>
                    <a:lstStyle/>
                    <a:p>
                      <a:pPr algn="l">
                        <a:defRPr sz="1000">
                          <a:latin typeface="Montserrat"/>
                        </a:defRPr>
                      </a:pPr>
                      <a:r>
                        <a:t>Cirugía Plástica y Reconstructiva</a:t>
                      </a:r>
                    </a:p>
                  </a:txBody>
                  <a:tcPr anchor="ctr">
                    <a:solidFill>
                      <a:srgbClr val="FFFFFF"/>
                    </a:solidFill>
                  </a:tcPr>
                </a:tc>
                <a:tc>
                  <a:txBody>
                    <a:bodyPr/>
                    <a:lstStyle/>
                    <a:p>
                      <a:pPr algn="ctr">
                        <a:defRPr sz="1000">
                          <a:latin typeface="Montserrat"/>
                        </a:defRPr>
                      </a:pPr>
                      <a:r>
                        <a:t>351</a:t>
                      </a:r>
                    </a:p>
                  </a:txBody>
                  <a:tcPr anchor="ctr">
                    <a:solidFill>
                      <a:srgbClr val="FFFFFF"/>
                    </a:solidFill>
                  </a:tcPr>
                </a:tc>
                <a:tc>
                  <a:txBody>
                    <a:bodyPr/>
                    <a:lstStyle/>
                    <a:p>
                      <a:pPr algn="ctr">
                        <a:defRPr sz="1000">
                          <a:latin typeface="Montserrat"/>
                        </a:defRPr>
                      </a:pPr>
                      <a:r>
                        <a:t>93.6%</a:t>
                      </a:r>
                    </a:p>
                  </a:txBody>
                  <a:tcPr anchor="ctr">
                    <a:solidFill>
                      <a:srgbClr val="FFFFFF"/>
                    </a:solidFill>
                  </a:tcPr>
                </a:tc>
              </a:tr>
              <a:tr h="216000">
                <a:tc>
                  <a:txBody>
                    <a:bodyPr/>
                    <a:lstStyle/>
                    <a:p>
                      <a:pPr algn="l">
                        <a:defRPr sz="1000">
                          <a:latin typeface="Montserrat"/>
                        </a:defRPr>
                      </a:pPr>
                      <a:r>
                        <a:t>Otorrinolaringología</a:t>
                      </a:r>
                    </a:p>
                  </a:txBody>
                  <a:tcPr anchor="ctr">
                    <a:solidFill>
                      <a:srgbClr val="D9D9D9"/>
                    </a:solidFill>
                  </a:tcPr>
                </a:tc>
                <a:tc>
                  <a:txBody>
                    <a:bodyPr/>
                    <a:lstStyle/>
                    <a:p>
                      <a:pPr algn="ctr">
                        <a:defRPr sz="1000">
                          <a:latin typeface="Montserrat"/>
                        </a:defRPr>
                      </a:pPr>
                      <a:r>
                        <a:t>216</a:t>
                      </a:r>
                    </a:p>
                  </a:txBody>
                  <a:tcPr anchor="ctr">
                    <a:solidFill>
                      <a:srgbClr val="D9D9D9"/>
                    </a:solidFill>
                  </a:tcPr>
                </a:tc>
                <a:tc>
                  <a:txBody>
                    <a:bodyPr/>
                    <a:lstStyle/>
                    <a:p>
                      <a:pPr algn="ctr">
                        <a:defRPr sz="1000">
                          <a:latin typeface="Montserrat"/>
                        </a:defRPr>
                      </a:pPr>
                      <a:r>
                        <a:t>96.6%</a:t>
                      </a:r>
                    </a:p>
                  </a:txBody>
                  <a:tcPr anchor="ctr">
                    <a:solidFill>
                      <a:srgbClr val="D9D9D9"/>
                    </a:solidFill>
                  </a:tcPr>
                </a:tc>
              </a:tr>
              <a:tr h="216000">
                <a:tc>
                  <a:txBody>
                    <a:bodyPr/>
                    <a:lstStyle/>
                    <a:p>
                      <a:pPr algn="l">
                        <a:defRPr sz="1000">
                          <a:latin typeface="Montserrat"/>
                        </a:defRPr>
                      </a:pPr>
                      <a:r>
                        <a:t>Cirugía oncológica</a:t>
                      </a:r>
                    </a:p>
                  </a:txBody>
                  <a:tcPr anchor="ctr">
                    <a:solidFill>
                      <a:srgbClr val="FFFFFF"/>
                    </a:solidFill>
                  </a:tcPr>
                </a:tc>
                <a:tc>
                  <a:txBody>
                    <a:bodyPr/>
                    <a:lstStyle/>
                    <a:p>
                      <a:pPr algn="ctr">
                        <a:defRPr sz="1000">
                          <a:latin typeface="Montserrat"/>
                        </a:defRPr>
                      </a:pPr>
                      <a:r>
                        <a:t>159</a:t>
                      </a:r>
                    </a:p>
                  </a:txBody>
                  <a:tcPr anchor="ctr">
                    <a:solidFill>
                      <a:srgbClr val="FFFFFF"/>
                    </a:solidFill>
                  </a:tcPr>
                </a:tc>
                <a:tc>
                  <a:txBody>
                    <a:bodyPr/>
                    <a:lstStyle/>
                    <a:p>
                      <a:pPr algn="ctr">
                        <a:defRPr sz="1000">
                          <a:latin typeface="Montserrat"/>
                        </a:defRPr>
                      </a:pPr>
                      <a:r>
                        <a:t>98.8%</a:t>
                      </a:r>
                    </a:p>
                  </a:txBody>
                  <a:tcPr anchor="ctr">
                    <a:solidFill>
                      <a:srgbClr val="FFFFFF"/>
                    </a:solidFill>
                  </a:tcPr>
                </a:tc>
              </a:tr>
              <a:tr h="216000">
                <a:tc>
                  <a:txBody>
                    <a:bodyPr/>
                    <a:lstStyle/>
                    <a:p>
                      <a:pPr algn="l">
                        <a:defRPr sz="1000">
                          <a:latin typeface="Montserrat"/>
                        </a:defRPr>
                      </a:pPr>
                      <a:r>
                        <a:t>Angiología y Cirugía Vascular</a:t>
                      </a:r>
                    </a:p>
                  </a:txBody>
                  <a:tcPr anchor="ctr">
                    <a:solidFill>
                      <a:srgbClr val="D9D9D9"/>
                    </a:solidFill>
                  </a:tcPr>
                </a:tc>
                <a:tc>
                  <a:txBody>
                    <a:bodyPr/>
                    <a:lstStyle/>
                    <a:p>
                      <a:pPr algn="ctr">
                        <a:defRPr sz="1000">
                          <a:latin typeface="Montserrat"/>
                        </a:defRPr>
                      </a:pPr>
                      <a:r>
                        <a:t>89</a:t>
                      </a:r>
                    </a:p>
                  </a:txBody>
                  <a:tcPr anchor="ctr">
                    <a:solidFill>
                      <a:srgbClr val="D9D9D9"/>
                    </a:solidFill>
                  </a:tcPr>
                </a:tc>
                <a:tc>
                  <a:txBody>
                    <a:bodyPr/>
                    <a:lstStyle/>
                    <a:p>
                      <a:pPr algn="ctr">
                        <a:defRPr sz="1000">
                          <a:latin typeface="Montserrat"/>
                        </a:defRPr>
                      </a:pPr>
                      <a:r>
                        <a:t>100.0%</a:t>
                      </a:r>
                    </a:p>
                  </a:txBody>
                  <a:tcPr anchor="ctr">
                    <a:solidFill>
                      <a:srgbClr val="D9D9D9"/>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7,208</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3992400" y="3848400"/>
          <a:ext cx="3639599" cy="1944000"/>
        </p:xfrm>
        <a:graphic>
          <a:graphicData uri="http://schemas.openxmlformats.org/drawingml/2006/table">
            <a:tbl>
              <a:tblPr firstRow="1" bandRow="1">
                <a:tableStyleId>{5C22544A-7EE6-4342-B048-85BDC9FD1C3A}</a:tableStyleId>
              </a:tblPr>
              <a:tblGrid>
                <a:gridCol w="1738800"/>
                <a:gridCol w="1000799"/>
                <a:gridCol w="900000"/>
              </a:tblGrid>
              <a:tr h="216000">
                <a:tc>
                  <a:txBody>
                    <a:bodyPr/>
                    <a:lstStyle/>
                    <a:p>
                      <a:pPr algn="ctr">
                        <a:defRPr b="1" sz="1100">
                          <a:solidFill>
                            <a:srgbClr val="FFFFFF"/>
                          </a:solidFill>
                          <a:latin typeface="Montserrat"/>
                        </a:defRPr>
                      </a:pPr>
                      <a:r>
                        <a:t>Cirugía prioritaria</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del total</a:t>
                      </a:r>
                    </a:p>
                  </a:txBody>
                  <a:tcPr marL="14400" marR="14400" anchor="ctr">
                    <a:solidFill>
                      <a:srgbClr val="006455"/>
                    </a:solidFill>
                  </a:tcPr>
                </a:tc>
              </a:tr>
              <a:tr h="216000">
                <a:tc>
                  <a:txBody>
                    <a:bodyPr/>
                    <a:lstStyle/>
                    <a:p>
                      <a:pPr algn="l">
                        <a:defRPr sz="1000">
                          <a:latin typeface="Montserrat"/>
                        </a:defRPr>
                      </a:pPr>
                      <a:r>
                        <a:t>Colecistectomías</a:t>
                      </a:r>
                    </a:p>
                  </a:txBody>
                  <a:tcPr anchor="ctr">
                    <a:solidFill>
                      <a:srgbClr val="FFFFFF"/>
                    </a:solidFill>
                  </a:tcPr>
                </a:tc>
                <a:tc>
                  <a:txBody>
                    <a:bodyPr/>
                    <a:lstStyle/>
                    <a:p>
                      <a:pPr algn="ctr">
                        <a:defRPr sz="1000">
                          <a:latin typeface="Montserrat"/>
                        </a:defRPr>
                      </a:pPr>
                      <a:r>
                        <a:t>490</a:t>
                      </a:r>
                    </a:p>
                  </a:txBody>
                  <a:tcPr anchor="ctr">
                    <a:solidFill>
                      <a:srgbClr val="FFFFFF"/>
                    </a:solidFill>
                  </a:tcPr>
                </a:tc>
                <a:tc>
                  <a:txBody>
                    <a:bodyPr/>
                    <a:lstStyle/>
                    <a:p>
                      <a:pPr algn="ctr">
                        <a:defRPr sz="1000">
                          <a:latin typeface="Montserrat"/>
                        </a:defRPr>
                      </a:pPr>
                      <a:r>
                        <a:t>28.8%</a:t>
                      </a:r>
                    </a:p>
                  </a:txBody>
                  <a:tcPr anchor="ctr">
                    <a:solidFill>
                      <a:srgbClr val="FFFFFF"/>
                    </a:solidFill>
                  </a:tcPr>
                </a:tc>
              </a:tr>
              <a:tr h="216000">
                <a:tc>
                  <a:txBody>
                    <a:bodyPr/>
                    <a:lstStyle/>
                    <a:p>
                      <a:pPr algn="l">
                        <a:defRPr sz="1000">
                          <a:latin typeface="Montserrat"/>
                        </a:defRPr>
                      </a:pPr>
                      <a:r>
                        <a:t>Catarata</a:t>
                      </a:r>
                    </a:p>
                  </a:txBody>
                  <a:tcPr anchor="ctr">
                    <a:solidFill>
                      <a:srgbClr val="D9D9D9"/>
                    </a:solidFill>
                  </a:tcPr>
                </a:tc>
                <a:tc>
                  <a:txBody>
                    <a:bodyPr/>
                    <a:lstStyle/>
                    <a:p>
                      <a:pPr algn="ctr">
                        <a:defRPr sz="1000">
                          <a:latin typeface="Montserrat"/>
                        </a:defRPr>
                      </a:pPr>
                      <a:r>
                        <a:t>371</a:t>
                      </a:r>
                    </a:p>
                  </a:txBody>
                  <a:tcPr anchor="ctr">
                    <a:solidFill>
                      <a:srgbClr val="D9D9D9"/>
                    </a:solidFill>
                  </a:tcPr>
                </a:tc>
                <a:tc>
                  <a:txBody>
                    <a:bodyPr/>
                    <a:lstStyle/>
                    <a:p>
                      <a:pPr algn="ctr">
                        <a:defRPr sz="1000">
                          <a:latin typeface="Montserrat"/>
                        </a:defRPr>
                      </a:pPr>
                      <a:r>
                        <a:t>50.6%</a:t>
                      </a:r>
                    </a:p>
                  </a:txBody>
                  <a:tcPr anchor="ctr">
                    <a:solidFill>
                      <a:srgbClr val="D9D9D9"/>
                    </a:solidFill>
                  </a:tcPr>
                </a:tc>
              </a:tr>
              <a:tr h="216000">
                <a:tc>
                  <a:txBody>
                    <a:bodyPr/>
                    <a:lstStyle/>
                    <a:p>
                      <a:pPr algn="l">
                        <a:defRPr sz="1000">
                          <a:latin typeface="Montserrat"/>
                        </a:defRPr>
                      </a:pPr>
                      <a:r>
                        <a:t>Sustitución de rodilla</a:t>
                      </a:r>
                    </a:p>
                  </a:txBody>
                  <a:tcPr anchor="ctr">
                    <a:solidFill>
                      <a:srgbClr val="FFFFFF"/>
                    </a:solidFill>
                  </a:tcPr>
                </a:tc>
                <a:tc>
                  <a:txBody>
                    <a:bodyPr/>
                    <a:lstStyle/>
                    <a:p>
                      <a:pPr algn="ctr">
                        <a:defRPr sz="1000">
                          <a:latin typeface="Montserrat"/>
                        </a:defRPr>
                      </a:pPr>
                      <a:r>
                        <a:t>281</a:t>
                      </a:r>
                    </a:p>
                  </a:txBody>
                  <a:tcPr anchor="ctr">
                    <a:solidFill>
                      <a:srgbClr val="FFFFFF"/>
                    </a:solidFill>
                  </a:tcPr>
                </a:tc>
                <a:tc>
                  <a:txBody>
                    <a:bodyPr/>
                    <a:lstStyle/>
                    <a:p>
                      <a:pPr algn="ctr">
                        <a:defRPr sz="1000">
                          <a:latin typeface="Montserrat"/>
                        </a:defRPr>
                      </a:pPr>
                      <a:r>
                        <a:t>67.1%</a:t>
                      </a:r>
                    </a:p>
                  </a:txBody>
                  <a:tcPr anchor="ctr">
                    <a:solidFill>
                      <a:srgbClr val="FFFFFF"/>
                    </a:solidFill>
                  </a:tcPr>
                </a:tc>
              </a:tr>
              <a:tr h="216000">
                <a:tc>
                  <a:txBody>
                    <a:bodyPr/>
                    <a:lstStyle/>
                    <a:p>
                      <a:pPr algn="l">
                        <a:defRPr sz="1000">
                          <a:latin typeface="Montserrat"/>
                        </a:defRPr>
                      </a:pPr>
                      <a:r>
                        <a:t>Hernioplastías abdominales</a:t>
                      </a:r>
                    </a:p>
                  </a:txBody>
                  <a:tcPr anchor="ctr">
                    <a:solidFill>
                      <a:srgbClr val="D9D9D9"/>
                    </a:solidFill>
                  </a:tcPr>
                </a:tc>
                <a:tc>
                  <a:txBody>
                    <a:bodyPr/>
                    <a:lstStyle/>
                    <a:p>
                      <a:pPr algn="ctr">
                        <a:defRPr sz="1000">
                          <a:latin typeface="Montserrat"/>
                        </a:defRPr>
                      </a:pPr>
                      <a:r>
                        <a:t>271</a:t>
                      </a:r>
                    </a:p>
                  </a:txBody>
                  <a:tcPr anchor="ctr">
                    <a:solidFill>
                      <a:srgbClr val="D9D9D9"/>
                    </a:solidFill>
                  </a:tcPr>
                </a:tc>
                <a:tc>
                  <a:txBody>
                    <a:bodyPr/>
                    <a:lstStyle/>
                    <a:p>
                      <a:pPr algn="ctr">
                        <a:defRPr sz="1000">
                          <a:latin typeface="Montserrat"/>
                        </a:defRPr>
                      </a:pPr>
                      <a:r>
                        <a:t>83.0%</a:t>
                      </a:r>
                    </a:p>
                  </a:txBody>
                  <a:tcPr anchor="ctr">
                    <a:solidFill>
                      <a:srgbClr val="D9D9D9"/>
                    </a:solidFill>
                  </a:tcPr>
                </a:tc>
              </a:tr>
              <a:tr h="216000">
                <a:tc>
                  <a:txBody>
                    <a:bodyPr/>
                    <a:lstStyle/>
                    <a:p>
                      <a:pPr algn="l">
                        <a:defRPr sz="1000">
                          <a:latin typeface="Montserrat"/>
                        </a:defRPr>
                      </a:pPr>
                      <a:r>
                        <a:t>Histerectomías</a:t>
                      </a:r>
                    </a:p>
                  </a:txBody>
                  <a:tcPr anchor="ctr">
                    <a:solidFill>
                      <a:srgbClr val="FFFFFF"/>
                    </a:solidFill>
                  </a:tcPr>
                </a:tc>
                <a:tc>
                  <a:txBody>
                    <a:bodyPr/>
                    <a:lstStyle/>
                    <a:p>
                      <a:pPr algn="ctr">
                        <a:defRPr sz="1000">
                          <a:latin typeface="Montserrat"/>
                        </a:defRPr>
                      </a:pPr>
                      <a:r>
                        <a:t>169</a:t>
                      </a:r>
                    </a:p>
                  </a:txBody>
                  <a:tcPr anchor="ctr">
                    <a:solidFill>
                      <a:srgbClr val="FFFFFF"/>
                    </a:solidFill>
                  </a:tcPr>
                </a:tc>
                <a:tc>
                  <a:txBody>
                    <a:bodyPr/>
                    <a:lstStyle/>
                    <a:p>
                      <a:pPr algn="ctr">
                        <a:defRPr sz="1000">
                          <a:latin typeface="Montserrat"/>
                        </a:defRPr>
                      </a:pPr>
                      <a:r>
                        <a:t>92.9%</a:t>
                      </a:r>
                    </a:p>
                  </a:txBody>
                  <a:tcPr anchor="ctr">
                    <a:solidFill>
                      <a:srgbClr val="FFFFFF"/>
                    </a:solidFill>
                  </a:tcPr>
                </a:tc>
              </a:tr>
              <a:tr h="216000">
                <a:tc>
                  <a:txBody>
                    <a:bodyPr/>
                    <a:lstStyle/>
                    <a:p>
                      <a:pPr algn="l">
                        <a:defRPr sz="1000">
                          <a:latin typeface="Montserrat"/>
                        </a:defRPr>
                      </a:pPr>
                      <a:r>
                        <a:t>Sustitución de cadera</a:t>
                      </a:r>
                    </a:p>
                  </a:txBody>
                  <a:tcPr anchor="ctr">
                    <a:solidFill>
                      <a:srgbClr val="D9D9D9"/>
                    </a:solidFill>
                  </a:tcPr>
                </a:tc>
                <a:tc>
                  <a:txBody>
                    <a:bodyPr/>
                    <a:lstStyle/>
                    <a:p>
                      <a:pPr algn="ctr">
                        <a:defRPr sz="1000">
                          <a:latin typeface="Montserrat"/>
                        </a:defRPr>
                      </a:pPr>
                      <a:r>
                        <a:t>68</a:t>
                      </a:r>
                    </a:p>
                  </a:txBody>
                  <a:tcPr anchor="ctr">
                    <a:solidFill>
                      <a:srgbClr val="D9D9D9"/>
                    </a:solidFill>
                  </a:tcPr>
                </a:tc>
                <a:tc>
                  <a:txBody>
                    <a:bodyPr/>
                    <a:lstStyle/>
                    <a:p>
                      <a:pPr algn="ctr">
                        <a:defRPr sz="1000">
                          <a:latin typeface="Montserrat"/>
                        </a:defRPr>
                      </a:pPr>
                      <a:r>
                        <a:t>96.9%</a:t>
                      </a:r>
                    </a:p>
                  </a:txBody>
                  <a:tcPr anchor="ctr">
                    <a:solidFill>
                      <a:srgbClr val="D9D9D9"/>
                    </a:solidFill>
                  </a:tcPr>
                </a:tc>
              </a:tr>
              <a:tr h="216000">
                <a:tc>
                  <a:txBody>
                    <a:bodyPr/>
                    <a:lstStyle/>
                    <a:p>
                      <a:pPr algn="l">
                        <a:defRPr sz="1000">
                          <a:latin typeface="Montserrat"/>
                        </a:defRPr>
                      </a:pPr>
                      <a:r>
                        <a:t>Mastectomías</a:t>
                      </a:r>
                    </a:p>
                  </a:txBody>
                  <a:tcPr anchor="ctr">
                    <a:solidFill>
                      <a:srgbClr val="FFFFFF"/>
                    </a:solidFill>
                  </a:tcPr>
                </a:tc>
                <a:tc>
                  <a:txBody>
                    <a:bodyPr/>
                    <a:lstStyle/>
                    <a:p>
                      <a:pPr algn="ctr">
                        <a:defRPr sz="1000">
                          <a:latin typeface="Montserrat"/>
                        </a:defRPr>
                      </a:pPr>
                      <a:r>
                        <a:t>52</a:t>
                      </a:r>
                    </a:p>
                  </a:txBody>
                  <a:tcPr anchor="ctr">
                    <a:solidFill>
                      <a:srgbClr val="FFFFFF"/>
                    </a:solidFill>
                  </a:tcPr>
                </a:tc>
                <a:tc>
                  <a:txBody>
                    <a:bodyPr/>
                    <a:lstStyle/>
                    <a:p>
                      <a:pPr algn="ctr">
                        <a:defRPr sz="1000">
                          <a:latin typeface="Montserrat"/>
                        </a:defRPr>
                      </a:pPr>
                      <a:r>
                        <a:t>100.0%</a:t>
                      </a:r>
                    </a:p>
                  </a:txBody>
                  <a:tcPr anchor="ctr">
                    <a:solidFill>
                      <a:srgbClr val="FFFFFF"/>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1,702</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spTree>
    <p:extLst>
      <p:ext uri="{BB962C8B-B14F-4D97-AF65-F5344CB8AC3E}">
        <p14:creationId xmlns:p14="http://schemas.microsoft.com/office/powerpoint/2010/main" val="3805655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10,037	 Personal de Salud: 6,721</a:t>
            </a:r>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+257.9%</a:t>
            </a:r>
          </a:p>
        </p:txBody>
      </p:sp>
      <p:graphicFrame>
        <p:nvGraphicFramePr>
          <p:cNvPr id="301" name="Table 300"/>
          <p:cNvGraphicFramePr>
            <a:graphicFrameLocks noGrp="1"/>
          </p:cNvGraphicFramePr>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19</a:t>
                      </a:r>
                    </a:p>
                  </a:txBody>
                  <a:tcPr marL="0" marR="0" marT="0" marB="0">
                    <a:noFill/>
                  </a:tcPr>
                </a:tc>
                <a:tc>
                  <a:txBody>
                    <a:bodyPr/>
                    <a:lstStyle/>
                    <a:p>
                      <a:pPr algn="ctr">
                        <a:defRPr b="1" sz="1500">
                          <a:solidFill>
                            <a:srgbClr val="B4975A"/>
                          </a:solidFill>
                          <a:latin typeface="Montserrat"/>
                        </a:defRPr>
                      </a:pPr>
                      <a:r>
                        <a:t>68</a:t>
                      </a:r>
                    </a:p>
                  </a:txBody>
                  <a:tcPr marL="0" marR="0" marT="0" marB="0">
                    <a:noFill/>
                  </a:tcPr>
                </a:tc>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+49.1%</a:t>
            </a:r>
          </a:p>
        </p:txBody>
      </p:sp>
      <p:graphicFrame>
        <p:nvGraphicFramePr>
          <p:cNvPr id="304" name="Table 303"/>
          <p:cNvGraphicFramePr>
            <a:graphicFrameLocks noGrp="1"/>
          </p:cNvGraphicFramePr>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gridCol w="992124"/>
              </a:tblGrid>
              <a:tr h="258317">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8318">
                <a:tc>
                  <a:txBody>
                    <a:bodyPr/>
                    <a:lstStyle/>
                    <a:p>
                      <a:pPr algn="ctr">
                        <a:defRPr b="1" sz="1500">
                          <a:solidFill>
                            <a:srgbClr val="004B41"/>
                          </a:solidFill>
                          <a:latin typeface="Montserrat"/>
                        </a:defRPr>
                      </a:pPr>
                      <a:r>
                        <a:t>1,058</a:t>
                      </a:r>
                    </a:p>
                  </a:txBody>
                  <a:tcPr marL="0" marR="0" marT="0" marB="0">
                    <a:noFill/>
                  </a:tcPr>
                </a:tc>
                <a:tc>
                  <a:txBody>
                    <a:bodyPr/>
                    <a:lstStyle/>
                    <a:p>
                      <a:pPr algn="ctr">
                        <a:defRPr b="1" sz="1500">
                          <a:solidFill>
                            <a:srgbClr val="B4975A"/>
                          </a:solidFill>
                          <a:latin typeface="Montserrat"/>
                        </a:defRPr>
                      </a:pPr>
                      <a:r>
                        <a:t>1,577</a:t>
                      </a:r>
                    </a:p>
                  </a:txBody>
                  <a:tcPr marL="0" marR="0" marT="0" marB="0">
                    <a:noFill/>
                  </a:tcPr>
                </a:tc>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+47.6%</a:t>
            </a:r>
          </a:p>
        </p:txBody>
      </p:sp>
      <p:graphicFrame>
        <p:nvGraphicFramePr>
          <p:cNvPr id="307" name="Table 306"/>
          <p:cNvGraphicFramePr>
            <a:graphicFrameLocks noGrp="1"/>
          </p:cNvGraphicFramePr>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1,665</a:t>
                      </a:r>
                    </a:p>
                  </a:txBody>
                  <a:tcPr marL="0" marR="0" marT="0" marB="0">
                    <a:noFill/>
                  </a:tcPr>
                </a:tc>
                <a:tc>
                  <a:txBody>
                    <a:bodyPr/>
                    <a:lstStyle/>
                    <a:p>
                      <a:pPr algn="ctr">
                        <a:defRPr b="1" sz="1500">
                          <a:solidFill>
                            <a:srgbClr val="B4975A"/>
                          </a:solidFill>
                          <a:latin typeface="Montserrat"/>
                        </a:defRPr>
                      </a:pPr>
                      <a:r>
                        <a:t>2,457</a:t>
                      </a:r>
                    </a:p>
                  </a:txBody>
                  <a:tcPr marL="0" marR="0" marT="0" marB="0">
                    <a:noFill/>
                  </a:tcPr>
                </a:tc>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+46.8%</a:t>
            </a:r>
          </a:p>
        </p:txBody>
      </p:sp>
      <p:graphicFrame>
        <p:nvGraphicFramePr>
          <p:cNvPr id="310" name="Table 309"/>
          <p:cNvGraphicFramePr>
            <a:graphicFrameLocks noGrp="1"/>
          </p:cNvGraphicFramePr>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1,151</a:t>
                      </a:r>
                    </a:p>
                  </a:txBody>
                  <a:tcPr marL="0" marR="0" marT="0" marB="0">
                    <a:noFill/>
                  </a:tcPr>
                </a:tc>
                <a:tc>
                  <a:txBody>
                    <a:bodyPr/>
                    <a:lstStyle/>
                    <a:p>
                      <a:pPr algn="ctr">
                        <a:defRPr b="1" sz="1500">
                          <a:solidFill>
                            <a:srgbClr val="B4975A"/>
                          </a:solidFill>
                          <a:latin typeface="Montserrat"/>
                        </a:defRPr>
                      </a:pPr>
                      <a:r>
                        <a:t>1,690</a:t>
                      </a:r>
                    </a:p>
                  </a:txBody>
                  <a:tcPr marL="0" marR="0" marT="0" marB="0">
                    <a:noFill/>
                  </a:tcPr>
                </a:tc>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+207.7%</a:t>
            </a:r>
          </a:p>
        </p:txBody>
      </p:sp>
      <p:graphicFrame>
        <p:nvGraphicFramePr>
          <p:cNvPr id="313" name="Table 312"/>
          <p:cNvGraphicFramePr>
            <a:graphicFrameLocks noGrp="1"/>
          </p:cNvGraphicFramePr>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207</a:t>
                      </a:r>
                    </a:p>
                  </a:txBody>
                  <a:tcPr marL="0" marR="0" marT="0" marB="0">
                    <a:noFill/>
                  </a:tcPr>
                </a:tc>
                <a:tc>
                  <a:txBody>
                    <a:bodyPr/>
                    <a:lstStyle/>
                    <a:p>
                      <a:pPr algn="ctr">
                        <a:defRPr b="1" sz="1500">
                          <a:solidFill>
                            <a:srgbClr val="B4975A"/>
                          </a:solidFill>
                          <a:latin typeface="Montserrat"/>
                        </a:defRPr>
                      </a:pPr>
                      <a:r>
                        <a:t>637</a:t>
                      </a:r>
                    </a:p>
                  </a:txBody>
                  <a:tcPr marL="0" marR="0" marT="0" marB="0">
                    <a:noFill/>
                  </a:tcPr>
                </a:tc>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+8.1%</a:t>
            </a:r>
          </a:p>
        </p:txBody>
      </p:sp>
      <p:graphicFrame>
        <p:nvGraphicFramePr>
          <p:cNvPr id="316" name="Table 315"/>
          <p:cNvGraphicFramePr>
            <a:graphicFrameLocks noGrp="1"/>
          </p:cNvGraphicFramePr>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270</a:t>
                      </a:r>
                    </a:p>
                  </a:txBody>
                  <a:tcPr marL="0" marR="0" marT="0" marB="0">
                    <a:noFill/>
                  </a:tcPr>
                </a:tc>
                <a:tc>
                  <a:txBody>
                    <a:bodyPr/>
                    <a:lstStyle/>
                    <a:p>
                      <a:pPr algn="ctr">
                        <a:defRPr b="1" sz="1500">
                          <a:solidFill>
                            <a:srgbClr val="B4975A"/>
                          </a:solidFill>
                          <a:latin typeface="Montserrat"/>
                        </a:defRPr>
                      </a:pPr>
                      <a:r>
                        <a:t>292</a:t>
                      </a:r>
                    </a:p>
                  </a:txBody>
                  <a:tcPr marL="0" marR="0" marT="0" marB="0">
                    <a:noFill/>
                  </a:tcPr>
                </a:tc>
              </a:tr>
            </a:tbl>
          </a:graphicData>
        </a:graphic>
      </p:graphicFrame>
      <p:graphicFrame>
        <p:nvGraphicFramePr>
          <p:cNvPr id="317" name="Table 316"/>
          <p:cNvGraphicFramePr>
            <a:graphicFrameLocks noGrp="1"/>
          </p:cNvGraphicFramePr>
          <p:nvPr/>
        </p:nvGraphicFramePr>
        <p:xfrm>
          <a:off x="4507200" y="55152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2025</a:t>
                      </a:r>
                    </a:p>
                  </a:txBody>
                  <a:tcPr marL="36576" marR="36576" marT="36576" marB="36576">
                    <a:solidFill>
                      <a:srgbClr val="006455"/>
                    </a:solidFill>
                  </a:tcPr>
                </a:tc>
                <a:tc>
                  <a:txBody>
                    <a:bodyPr/>
                    <a:lstStyle/>
                    <a:p>
                      <a:pPr algn="ctr">
                        <a:defRPr b="1" sz="900">
                          <a:solidFill>
                            <a:srgbClr val="FFFFFF"/>
                          </a:solidFill>
                          <a:latin typeface="Montserrat"/>
                        </a:defRPr>
                      </a:pPr>
                      <a:r>
                        <a:t>Cantidad</a:t>
                      </a:r>
                    </a:p>
                  </a:txBody>
                  <a:tcPr marL="36576" marR="36576" marT="36576" marB="36576">
                    <a:solidFill>
                      <a:srgbClr val="006455"/>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53</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30</a:t>
                      </a:r>
                    </a:p>
                  </a:txBody>
                  <a:tcPr marL="45720" marR="45720" marT="45720" marB="45720">
                    <a:solidFill>
                      <a:srgbClr val="EFEFEF"/>
                    </a:solidFill>
                  </a:tcPr>
                </a:tc>
              </a:tr>
              <a:tr h="18288">
                <a:tc>
                  <a:txBody>
                    <a:bodyPr/>
                    <a:lstStyle/>
                    <a:p>
                      <a:pPr algn="l">
                        <a:defRPr sz="800">
                          <a:latin typeface="Montserrat"/>
                        </a:defRPr>
                      </a:pPr>
                      <a:r>
                        <a:t>Anestesiología</a:t>
                      </a:r>
                    </a:p>
                  </a:txBody>
                  <a:tcPr marL="45720" marR="45720" marT="45720" marB="45720">
                    <a:solidFill>
                      <a:srgbClr val="FFFFFF"/>
                    </a:solidFill>
                  </a:tcPr>
                </a:tc>
                <a:tc>
                  <a:txBody>
                    <a:bodyPr/>
                    <a:lstStyle/>
                    <a:p>
                      <a:pPr algn="ctr">
                        <a:defRPr sz="800">
                          <a:latin typeface="Montserrat"/>
                        </a:defRPr>
                      </a:pPr>
                      <a:r>
                        <a:t>26</a:t>
                      </a:r>
                    </a:p>
                  </a:txBody>
                  <a:tcPr marL="45720" marR="45720" marT="45720" marB="45720">
                    <a:solidFill>
                      <a:srgbClr val="FFFFFF"/>
                    </a:solidFill>
                  </a:tcPr>
                </a:tc>
              </a:tr>
              <a:tr h="18288">
                <a:tc>
                  <a:txBody>
                    <a:bodyPr/>
                    <a:lstStyle/>
                    <a:p>
                      <a:pPr algn="l">
                        <a:defRPr sz="800">
                          <a:latin typeface="Montserrat"/>
                        </a:defRPr>
                      </a:pPr>
                      <a:r>
                        <a:t>Cirugía General</a:t>
                      </a:r>
                    </a:p>
                  </a:txBody>
                  <a:tcPr marL="45720" marR="45720" marT="45720" marB="45720">
                    <a:solidFill>
                      <a:srgbClr val="EFEFEF"/>
                    </a:solidFill>
                  </a:tcPr>
                </a:tc>
                <a:tc>
                  <a:txBody>
                    <a:bodyPr/>
                    <a:lstStyle/>
                    <a:p>
                      <a:pPr algn="ctr">
                        <a:defRPr sz="800">
                          <a:latin typeface="Montserrat"/>
                        </a:defRPr>
                      </a:pPr>
                      <a:r>
                        <a:t>24</a:t>
                      </a:r>
                    </a:p>
                  </a:txBody>
                  <a:tcPr marL="45720" marR="45720" marT="45720" marB="45720">
                    <a:solidFill>
                      <a:srgbClr val="EFEFEF"/>
                    </a:solidFill>
                  </a:tcPr>
                </a:tc>
              </a:tr>
              <a:tr h="18288">
                <a:tc>
                  <a:txBody>
                    <a:bodyPr/>
                    <a:lstStyle/>
                    <a:p>
                      <a:pPr algn="l">
                        <a:defRPr sz="800">
                          <a:latin typeface="Montserrat"/>
                        </a:defRPr>
                      </a:pPr>
                      <a:r>
                        <a:t>Traumatología y Ortopedia</a:t>
                      </a:r>
                    </a:p>
                  </a:txBody>
                  <a:tcPr marL="45720" marR="45720" marT="45720" marB="45720">
                    <a:solidFill>
                      <a:srgbClr val="FFFFFF"/>
                    </a:solidFill>
                  </a:tcPr>
                </a:tc>
                <a:tc>
                  <a:txBody>
                    <a:bodyPr/>
                    <a:lstStyle/>
                    <a:p>
                      <a:pPr algn="ctr">
                        <a:defRPr sz="800">
                          <a:latin typeface="Montserrat"/>
                        </a:defRPr>
                      </a:pPr>
                      <a:r>
                        <a:t>14</a:t>
                      </a:r>
                    </a:p>
                  </a:txBody>
                  <a:tcPr marL="45720" marR="45720" marT="45720" marB="45720">
                    <a:solidFill>
                      <a:srgbClr val="FFFFFF"/>
                    </a:solidFill>
                  </a:tcPr>
                </a:tc>
              </a:tr>
            </a:tbl>
          </a:graphicData>
        </a:graphic>
      </p:graphicFrame>
      <p:graphicFrame>
        <p:nvGraphicFramePr>
          <p:cNvPr id="318" name="Table 317"/>
          <p:cNvGraphicFramePr>
            <a:graphicFrameLocks noGrp="1"/>
          </p:cNvGraphicFramePr>
          <p:nvPr/>
        </p:nvGraphicFramePr>
        <p:xfrm>
          <a:off x="4507200" y="68508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2026</a:t>
                      </a:r>
                    </a:p>
                  </a:txBody>
                  <a:tcPr marL="36576" marR="36576" marT="36576" marB="36576">
                    <a:solidFill>
                      <a:srgbClr val="691C32"/>
                    </a:solidFill>
                  </a:tcPr>
                </a:tc>
                <a:tc>
                  <a:txBody>
                    <a:bodyPr/>
                    <a:lstStyle/>
                    <a:p>
                      <a:pPr algn="ctr">
                        <a:defRPr b="1" sz="900">
                          <a:solidFill>
                            <a:srgbClr val="FFFFFF"/>
                          </a:solidFill>
                          <a:latin typeface="Montserrat"/>
                        </a:defRPr>
                      </a:pPr>
                      <a:r>
                        <a:t>Cantidad</a:t>
                      </a:r>
                    </a:p>
                  </a:txBody>
                  <a:tcPr marL="36576" marR="36576" marT="36576" marB="36576">
                    <a:solidFill>
                      <a:srgbClr val="691C32"/>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36</a:t>
                      </a:r>
                    </a:p>
                  </a:txBody>
                  <a:tcPr marL="45720" marR="45720" marT="45720" marB="45720">
                    <a:solidFill>
                      <a:srgbClr val="FFFFFF"/>
                    </a:solidFill>
                  </a:tcPr>
                </a:tc>
              </a:tr>
              <a:tr h="18288">
                <a:tc>
                  <a:txBody>
                    <a:bodyPr/>
                    <a:lstStyle/>
                    <a:p>
                      <a:pPr algn="l">
                        <a:defRPr sz="800">
                          <a:latin typeface="Montserrat"/>
                        </a:defRPr>
                      </a:pPr>
                      <a:r>
                        <a:t>Cirugía General</a:t>
                      </a:r>
                    </a:p>
                  </a:txBody>
                  <a:tcPr marL="45720" marR="45720" marT="45720" marB="45720">
                    <a:solidFill>
                      <a:srgbClr val="EFEFEF"/>
                    </a:solidFill>
                  </a:tcPr>
                </a:tc>
                <a:tc>
                  <a:txBody>
                    <a:bodyPr/>
                    <a:lstStyle/>
                    <a:p>
                      <a:pPr algn="ctr">
                        <a:defRPr sz="800">
                          <a:latin typeface="Montserrat"/>
                        </a:defRPr>
                      </a:pPr>
                      <a:r>
                        <a:t>29</a:t>
                      </a:r>
                    </a:p>
                  </a:txBody>
                  <a:tcPr marL="45720" marR="45720" marT="45720" marB="45720">
                    <a:solidFill>
                      <a:srgbClr val="EFEFEF"/>
                    </a:solidFill>
                  </a:tcPr>
                </a:tc>
              </a:tr>
              <a:tr h="18288">
                <a:tc>
                  <a:txBody>
                    <a:bodyPr/>
                    <a:lstStyle/>
                    <a:p>
                      <a:pPr algn="l">
                        <a:defRPr sz="800">
                          <a:latin typeface="Montserrat"/>
                        </a:defRPr>
                      </a:pPr>
                      <a:r>
                        <a:t>Anestesiología</a:t>
                      </a:r>
                    </a:p>
                  </a:txBody>
                  <a:tcPr marL="45720" marR="45720" marT="45720" marB="45720">
                    <a:solidFill>
                      <a:srgbClr val="FFFFFF"/>
                    </a:solidFill>
                  </a:tcPr>
                </a:tc>
                <a:tc>
                  <a:txBody>
                    <a:bodyPr/>
                    <a:lstStyle/>
                    <a:p>
                      <a:pPr algn="ctr">
                        <a:defRPr sz="800">
                          <a:latin typeface="Montserrat"/>
                        </a:defRPr>
                      </a:pPr>
                      <a:r>
                        <a:t>29</a:t>
                      </a:r>
                    </a:p>
                  </a:txBody>
                  <a:tcPr marL="45720" marR="45720" marT="45720" marB="45720">
                    <a:solidFill>
                      <a:srgbClr val="FFFFFF"/>
                    </a:solidFill>
                  </a:tcPr>
                </a:tc>
              </a:tr>
              <a:tr h="18288">
                <a:tc>
                  <a:txBody>
                    <a:bodyPr/>
                    <a:lstStyle/>
                    <a:p>
                      <a:pPr algn="l">
                        <a:defRPr sz="800">
                          <a:latin typeface="Montserrat"/>
                        </a:defRPr>
                      </a:pPr>
                      <a:r>
                        <a:t>Medicina Interna</a:t>
                      </a:r>
                    </a:p>
                  </a:txBody>
                  <a:tcPr marL="45720" marR="45720" marT="45720" marB="45720">
                    <a:solidFill>
                      <a:srgbClr val="EFEFEF"/>
                    </a:solidFill>
                  </a:tcPr>
                </a:tc>
                <a:tc>
                  <a:txBody>
                    <a:bodyPr/>
                    <a:lstStyle/>
                    <a:p>
                      <a:pPr algn="ctr">
                        <a:defRPr sz="800">
                          <a:latin typeface="Montserrat"/>
                        </a:defRPr>
                      </a:pPr>
                      <a:r>
                        <a:t>18</a:t>
                      </a:r>
                    </a:p>
                  </a:txBody>
                  <a:tcPr marL="45720" marR="45720" marT="45720" marB="45720">
                    <a:solidFill>
                      <a:srgbClr val="EFEFEF"/>
                    </a:solidFill>
                  </a:tcPr>
                </a:tc>
              </a:tr>
              <a:tr h="18288">
                <a:tc>
                  <a:txBody>
                    <a:bodyPr/>
                    <a:lstStyle/>
                    <a:p>
                      <a:pPr algn="l">
                        <a:defRPr sz="800">
                          <a:latin typeface="Montserrat"/>
                        </a:defRPr>
                      </a:pPr>
                      <a:r>
                        <a:t>Medicina de Urgencias</a:t>
                      </a:r>
                    </a:p>
                  </a:txBody>
                  <a:tcPr marL="45720" marR="45720" marT="45720" marB="45720">
                    <a:solidFill>
                      <a:srgbClr val="FFFFFF"/>
                    </a:solidFill>
                  </a:tcPr>
                </a:tc>
                <a:tc>
                  <a:txBody>
                    <a:bodyPr/>
                    <a:lstStyle/>
                    <a:p>
                      <a:pPr algn="ctr">
                        <a:defRPr sz="800">
                          <a:latin typeface="Montserrat"/>
                        </a:defRPr>
                      </a:pPr>
                      <a:r>
                        <a:t>16</a:t>
                      </a:r>
                    </a:p>
                  </a:txBody>
                  <a:tcPr marL="45720" marR="45720" marT="45720" marB="45720">
                    <a:solidFill>
                      <a:srgbClr val="FFFFFF"/>
                    </a:solidFill>
                  </a:tcPr>
                </a:tc>
              </a:tr>
            </a:tbl>
          </a:graphicData>
        </a:graphic>
      </p:graphicFrame>
      <p:graphicFrame>
        <p:nvGraphicFramePr>
          <p:cNvPr id="319" name="Table 318"/>
          <p:cNvGraphicFramePr>
            <a:graphicFrameLocks noGrp="1"/>
          </p:cNvGraphicFramePr>
          <p:nvPr/>
        </p:nvGraphicFramePr>
        <p:xfrm>
          <a:off x="384048" y="8313724"/>
          <a:ext cx="5266944" cy="91440"/>
        </p:xfrm>
        <a:graphic>
          <a:graphicData uri="http://schemas.openxmlformats.org/drawingml/2006/table">
            <a:tbl>
              <a:tblPr bandRow="1">
                <a:tableStyleId>{5C22544A-7EE6-4342-B048-85BDC9FD1C3A}</a:tableStyleId>
              </a:tblPr>
              <a:tblGrid>
                <a:gridCol w="3218688"/>
                <a:gridCol w="2048256"/>
              </a:tblGrid>
              <a:tr h="18288">
                <a:tc>
                  <a:txBody>
                    <a:bodyPr/>
                    <a:lstStyle/>
                    <a:p>
                      <a:pPr algn="l">
                        <a:defRPr b="1" sz="1000">
                          <a:solidFill>
                            <a:srgbClr val="FFFFFF"/>
                          </a:solidFill>
                          <a:latin typeface="Montserrat"/>
                        </a:defRPr>
                      </a:pPr>
                      <a:r>
                        <a:t>Personal médico</a:t>
                      </a:r>
                    </a:p>
                  </a:txBody>
                  <a:tcPr anchor="ctr" marL="36576" marR="36576" marT="36576" marB="36576">
                    <a:solidFill>
                      <a:srgbClr val="006455"/>
                    </a:solidFill>
                  </a:tcPr>
                </a:tc>
                <a:tc>
                  <a:txBody>
                    <a:bodyPr/>
                    <a:lstStyle/>
                    <a:p>
                      <a:pPr algn="ctr">
                        <a:defRPr b="0" sz="1000">
                          <a:solidFill>
                            <a:srgbClr val="000000"/>
                          </a:solidFill>
                          <a:latin typeface="Montserrat"/>
                        </a:defRPr>
                      </a:pPr>
                      <a:r>
                        <a:t>18</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de Enfermería</a:t>
                      </a:r>
                    </a:p>
                  </a:txBody>
                  <a:tcPr anchor="ctr" marL="36576" marR="36576" marT="36576" marB="36576">
                    <a:solidFill>
                      <a:srgbClr val="006455"/>
                    </a:solidFill>
                  </a:tcPr>
                </a:tc>
                <a:tc>
                  <a:txBody>
                    <a:bodyPr/>
                    <a:lstStyle/>
                    <a:p>
                      <a:pPr algn="ctr">
                        <a:defRPr b="0" sz="1000">
                          <a:solidFill>
                            <a:srgbClr val="000000"/>
                          </a:solidFill>
                          <a:latin typeface="Montserrat"/>
                        </a:defRPr>
                      </a:pPr>
                      <a:r>
                        <a:t>73</a:t>
                      </a:r>
                    </a:p>
                  </a:txBody>
                  <a:tcPr anchor="ctr" marL="36576" marR="36576" marT="36576" marB="36576">
                    <a:solidFill>
                      <a:srgbClr val="FFFFFF"/>
                    </a:solidFill>
                  </a:tcPr>
                </a:tc>
              </a:tr>
              <a:tr h="18288">
                <a:tc>
                  <a:txBody>
                    <a:bodyPr/>
                    <a:lstStyle/>
                    <a:p>
                      <a:pPr algn="l">
                        <a:defRPr b="1" sz="1000">
                          <a:solidFill>
                            <a:srgbClr val="FFFFFF"/>
                          </a:solidFill>
                          <a:latin typeface="Montserrat"/>
                        </a:defRPr>
                      </a:pPr>
                      <a:r>
                        <a:t>Personal administrativos y básico</a:t>
                      </a:r>
                    </a:p>
                  </a:txBody>
                  <a:tcPr anchor="ctr" marL="36576" marR="36576" marT="36576" marB="36576">
                    <a:solidFill>
                      <a:srgbClr val="006455"/>
                    </a:solidFill>
                  </a:tcPr>
                </a:tc>
                <a:tc>
                  <a:txBody>
                    <a:bodyPr/>
                    <a:lstStyle/>
                    <a:p>
                      <a:pPr algn="ctr">
                        <a:defRPr b="0" sz="1000">
                          <a:solidFill>
                            <a:srgbClr val="000000"/>
                          </a:solidFill>
                          <a:latin typeface="Montserrat"/>
                        </a:defRPr>
                      </a:pPr>
                      <a:r>
                        <a:t>20</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paramédico y técnico</a:t>
                      </a:r>
                    </a:p>
                  </a:txBody>
                  <a:tcPr anchor="ctr" marL="36576" marR="36576" marT="36576" marB="36576">
                    <a:solidFill>
                      <a:srgbClr val="006455"/>
                    </a:solidFill>
                  </a:tcPr>
                </a:tc>
                <a:tc>
                  <a:txBody>
                    <a:bodyPr/>
                    <a:lstStyle/>
                    <a:p>
                      <a:pPr algn="ctr">
                        <a:defRPr b="0" sz="1000">
                          <a:solidFill>
                            <a:srgbClr val="000000"/>
                          </a:solidFill>
                          <a:latin typeface="Montserrat"/>
                        </a:defRPr>
                      </a:pPr>
                      <a:r>
                        <a:t>15</a:t>
                      </a:r>
                    </a:p>
                  </a:txBody>
                  <a:tcPr anchor="ctr" marL="36576" marR="36576" marT="36576" marB="36576">
                    <a:solidFill>
                      <a:srgbClr val="FFFFFF"/>
                    </a:solidFill>
                  </a:tcPr>
                </a:tc>
              </a:tr>
              <a:tr h="18288">
                <a:tc>
                  <a:txBody>
                    <a:bodyPr/>
                    <a:lstStyle/>
                    <a:p>
                      <a:pPr algn="l">
                        <a:defRPr b="1" sz="1000">
                          <a:solidFill>
                            <a:srgbClr val="00515E"/>
                          </a:solidFill>
                          <a:latin typeface="Montserrat"/>
                        </a:defRPr>
                      </a:pPr>
                      <a:r>
                        <a:t>Total</a:t>
                      </a:r>
                    </a:p>
                  </a:txBody>
                  <a:tcPr anchor="ctr" marL="36576" marR="36576" marT="36576" marB="36576">
                    <a:solidFill>
                      <a:srgbClr val="D3E9E7"/>
                    </a:solidFill>
                  </a:tcPr>
                </a:tc>
                <a:tc>
                  <a:txBody>
                    <a:bodyPr/>
                    <a:lstStyle/>
                    <a:p>
                      <a:pPr algn="ctr">
                        <a:defRPr b="1" sz="1000">
                          <a:solidFill>
                            <a:srgbClr val="00515E"/>
                          </a:solidFill>
                          <a:latin typeface="Montserrat"/>
                        </a:defRPr>
                      </a:pPr>
                      <a:r>
                        <a:t>126</a:t>
                      </a:r>
                    </a:p>
                  </a:txBody>
                  <a:tcPr anchor="ctr" marL="36576" marR="36576" marT="36576" marB="36576">
                    <a:solidFill>
                      <a:srgbClr val="D3E9E7"/>
                    </a:solidFill>
                  </a:tcPr>
                </a:tc>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r:id="rId10"/>
          </a:graphicData>
        </a:graphic>
      </p:graphicFrame>
      <p:sp>
        <p:nvSpPr>
          <p:cNvPr id="321" name="TextBox 320"/>
          <p:cNvSpPr txBox="1"/>
          <p:nvPr/>
        </p:nvSpPr>
        <p:spPr>
          <a:xfrm>
            <a:off x="324000" y="4888800"/>
            <a:ext cx="7286399" cy="331200"/>
          </a:xfrm>
          <a:prstGeom prst="rect">
            <a:avLst/>
          </a:prstGeom>
          <a:noFill/>
        </p:spPr>
        <p:txBody>
          <a:bodyPr wrap="square" tIns="0" bIns="0" lIns="0" rIns="0">
            <a:spAutoFit/>
          </a:bodyPr>
          <a:lstStyle/>
          <a:p>
            <a:pPr algn="l">
              <a:defRPr sz="900">
                <a:solidFill>
                  <a:srgbClr val="000000"/>
                </a:solidFill>
                <a:latin typeface="Montserrat"/>
              </a:defRPr>
            </a:pPr>
            <a:r>
              <a:t>Fuente: Dirección de Administración. Base SIAP comparativa del diciembre 2018 con el 15 de mayo 2026.</a:t>
            </a:r>
          </a:p>
        </p:txBody>
      </p:sp>
      <p:sp>
        <p:nvSpPr>
          <p:cNvPr id="322" name="TextBox 321"/>
          <p:cNvSpPr txBox="1"/>
          <p:nvPr/>
        </p:nvSpPr>
        <p:spPr>
          <a:xfrm>
            <a:off x="162000" y="7405200"/>
            <a:ext cx="3888000" cy="370800"/>
          </a:xfrm>
          <a:prstGeom prst="rect">
            <a:avLst/>
          </a:prstGeom>
          <a:noFill/>
        </p:spPr>
        <p:txBody>
          <a:bodyPr wrap="square" tIns="0" bIns="0" lIns="0" rIns="0">
            <a:spAutoFit/>
          </a:bodyPr>
          <a:lstStyle/>
          <a:p>
            <a:pPr algn="l">
              <a:defRPr sz="800">
                <a:solidFill>
                  <a:srgbClr val="000000"/>
                </a:solidFill>
                <a:latin typeface="Montserrat"/>
              </a:defRPr>
            </a:pPr>
            <a:r>
              <a:t>Se muestra el total de egresos en la entidad y sólo las cinco especialidades con mayor egresos de cada año. Corte de información marzo 2026.</a:t>
            </a:r>
            <a:br/>
            <a:r>
              <a:t>Fuente: Dirección de Prestaciones Médicas.</a:t>
            </a:r>
          </a:p>
        </p:txBody>
      </p:sp>
      <p:sp>
        <p:nvSpPr>
          <p:cNvPr id="323" name="TextBox 322"/>
          <p:cNvSpPr txBox="1"/>
          <p:nvPr/>
        </p:nvSpPr>
        <p:spPr>
          <a:xfrm>
            <a:off x="5716800" y="8553600"/>
            <a:ext cx="2048400" cy="554400"/>
          </a:xfrm>
          <a:prstGeom prst="rect">
            <a:avLst/>
          </a:prstGeom>
          <a:noFill/>
        </p:spPr>
        <p:txBody>
          <a:bodyPr wrap="square" tIns="0" bIns="0" lIns="0" rIns="0">
            <a:spAutoFit/>
          </a:bodyPr>
          <a:lstStyle/>
          <a:p>
            <a:pPr algn="l">
              <a:defRPr sz="800">
                <a:solidFill>
                  <a:srgbClr val="000000"/>
                </a:solidFill>
                <a:latin typeface="Montserrat"/>
              </a:defRPr>
            </a:pPr>
            <a:r>
              <a:t>Fuente: Sistema de Información Operativa. Personal de base. Corte de información: abril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dirty="0">
                <a:solidFill>
                  <a:srgbClr val="980000"/>
                </a:solidFill>
                <a:latin typeface="Montserrat"/>
                <a:ea typeface="Montserrat"/>
                <a:cs typeface="Montserrat"/>
                <a:sym typeface="Montserrat"/>
              </a:rPr>
              <a:t>consultas diarias</a:t>
            </a:r>
            <a:endParaRPr sz="2000" b="0" i="0" u="none" strike="noStrike" cap="none" dirty="0">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Día típico</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9,780</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712</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110</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148</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2,830</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1,026</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19</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14,348</a:t>
            </a:r>
          </a:p>
        </p:txBody>
      </p:sp>
      <p:graphicFrame>
        <p:nvGraphicFramePr>
          <p:cNvPr id="344" name="Table 343"/>
          <p:cNvGraphicFramePr>
            <a:graphicFrameLocks noGrp="1"/>
          </p:cNvGraphicFramePr>
          <p:nvPr/>
        </p:nvGraphicFramePr>
        <p:xfrm>
          <a:off x="219600" y="1548000"/>
          <a:ext cx="7567200" cy="2937600"/>
        </p:xfrm>
        <a:graphic>
          <a:graphicData uri="http://schemas.openxmlformats.org/drawingml/2006/table">
            <a:tbl>
              <a:tblPr firstRow="1" bandRow="1">
                <a:tableStyleId>{5C22544A-7EE6-4342-B048-85BDC9FD1C3A}</a:tableStyleId>
              </a:tblPr>
              <a:tblGrid>
                <a:gridCol w="1472400"/>
                <a:gridCol w="1468800"/>
                <a:gridCol w="1479600"/>
                <a:gridCol w="1602000"/>
                <a:gridCol w="1544400"/>
              </a:tblGrid>
              <a:tr h="489600">
                <a:tc>
                  <a:txBody>
                    <a:bodyPr/>
                    <a:lstStyle/>
                    <a:p>
                      <a:pPr algn="ctr">
                        <a:defRPr b="1" sz="1000">
                          <a:solidFill>
                            <a:srgbClr val="FFFFFF"/>
                          </a:solidFill>
                          <a:latin typeface="Montserrat"/>
                        </a:defRPr>
                      </a:pPr>
                      <a:r>
                        <a:t>Medicina Familiar</a:t>
                      </a:r>
                    </a:p>
                  </a:txBody>
                  <a:tcPr anchor="ctr">
                    <a:solidFill>
                      <a:srgbClr val="006455"/>
                    </a:solidFill>
                  </a:tcPr>
                </a:tc>
                <a:tc>
                  <a:txBody>
                    <a:bodyPr/>
                    <a:lstStyle/>
                    <a:p>
                      <a:pPr algn="ctr">
                        <a:defRPr b="1" sz="1000">
                          <a:solidFill>
                            <a:srgbClr val="FFFFFF"/>
                          </a:solidFill>
                          <a:latin typeface="Montserrat"/>
                        </a:defRPr>
                      </a:pPr>
                      <a:r>
                        <a:t>Especialidades</a:t>
                      </a:r>
                    </a:p>
                  </a:txBody>
                  <a:tcPr anchor="ctr">
                    <a:solidFill>
                      <a:srgbClr val="006455"/>
                    </a:solidFill>
                  </a:tcPr>
                </a:tc>
                <a:tc>
                  <a:txBody>
                    <a:bodyPr/>
                    <a:lstStyle/>
                    <a:p>
                      <a:pPr algn="ctr">
                        <a:defRPr b="1" sz="1000">
                          <a:solidFill>
                            <a:srgbClr val="FFFFFF"/>
                          </a:solidFill>
                          <a:latin typeface="Montserrat"/>
                        </a:defRPr>
                      </a:pPr>
                      <a:r>
                        <a:t>Cirugías</a:t>
                      </a:r>
                    </a:p>
                  </a:txBody>
                  <a:tcPr anchor="ctr">
                    <a:solidFill>
                      <a:srgbClr val="006455"/>
                    </a:solidFill>
                  </a:tcPr>
                </a:tc>
                <a:tc>
                  <a:txBody>
                    <a:bodyPr/>
                    <a:lstStyle/>
                    <a:p>
                      <a:pPr algn="ctr">
                        <a:defRPr b="1" sz="1000">
                          <a:solidFill>
                            <a:srgbClr val="FFFFFF"/>
                          </a:solidFill>
                          <a:latin typeface="Montserrat"/>
                        </a:defRPr>
                      </a:pPr>
                      <a:r>
                        <a:t>Egresos</a:t>
                      </a:r>
                    </a:p>
                  </a:txBody>
                  <a:tcPr anchor="ctr">
                    <a:solidFill>
                      <a:srgbClr val="006455"/>
                    </a:solidFill>
                  </a:tcPr>
                </a:tc>
                <a:tc>
                  <a:txBody>
                    <a:bodyPr/>
                    <a:lstStyle/>
                    <a:p>
                      <a:pPr algn="ctr">
                        <a:defRPr b="1" sz="1000">
                          <a:solidFill>
                            <a:srgbClr val="FFFFFF"/>
                          </a:solidFill>
                          <a:latin typeface="Montserrat"/>
                        </a:defRPr>
                      </a:pPr>
                      <a:r>
                        <a:t>Defunciones</a:t>
                      </a:r>
                    </a:p>
                  </a:txBody>
                  <a:tcPr anchor="ctr">
                    <a:solidFill>
                      <a:srgbClr val="006455"/>
                    </a:solidFill>
                  </a:tcPr>
                </a:tc>
              </a:tr>
              <a:tr h="489600">
                <a:tc>
                  <a:txBody>
                    <a:bodyPr/>
                    <a:lstStyle/>
                    <a:p>
                      <a:pPr algn="ctr"/>
                      <a:r>
                        <a:rPr sz="900" b="0">
                          <a:latin typeface="Montserrat"/>
                        </a:rPr>
                        <a:t>Diabetes mellitus
(129,051)</a:t>
                      </a:r>
                    </a:p>
                  </a:txBody>
                  <a:tcPr>
                    <a:solidFill>
                      <a:srgbClr val="FFFFFF"/>
                    </a:solidFill>
                  </a:tcPr>
                </a:tc>
                <a:tc>
                  <a:txBody>
                    <a:bodyPr/>
                    <a:lstStyle/>
                    <a:p>
                      <a:pPr algn="ctr"/>
                      <a:r>
                        <a:rPr sz="900" b="0">
                          <a:latin typeface="Montserrat"/>
                        </a:rPr>
                        <a:t>Tumores malignos
(15,338)</a:t>
                      </a:r>
                    </a:p>
                  </a:txBody>
                  <a:tcPr>
                    <a:solidFill>
                      <a:srgbClr val="FFFFFF"/>
                    </a:solidFill>
                  </a:tcPr>
                </a:tc>
                <a:tc>
                  <a:txBody>
                    <a:bodyPr/>
                    <a:lstStyle/>
                    <a:p>
                      <a:pPr algn="ctr"/>
                      <a:r>
                        <a:rPr sz="900" b="0">
                          <a:latin typeface="Montserrat"/>
                        </a:rPr>
                        <a:t>Cesárea
(2,357)</a:t>
                      </a:r>
                    </a:p>
                  </a:txBody>
                  <a:tcPr>
                    <a:solidFill>
                      <a:srgbClr val="FFFFFF"/>
                    </a:solidFill>
                  </a:tcPr>
                </a:tc>
                <a:tc>
                  <a:txBody>
                    <a:bodyPr/>
                    <a:lstStyle/>
                    <a:p>
                      <a:pPr algn="ctr"/>
                      <a:r>
                        <a:rPr sz="900" b="0">
                          <a:latin typeface="Montserrat"/>
                        </a:rPr>
                        <a:t>Embarazo, parto y puerperio
(3,770)</a:t>
                      </a:r>
                    </a:p>
                  </a:txBody>
                  <a:tcPr>
                    <a:solidFill>
                      <a:srgbClr val="FFFFFF"/>
                    </a:solidFill>
                  </a:tcPr>
                </a:tc>
                <a:tc>
                  <a:txBody>
                    <a:bodyPr/>
                    <a:lstStyle/>
                    <a:p>
                      <a:pPr algn="ctr"/>
                      <a:r>
                        <a:rPr sz="900" b="0">
                          <a:latin typeface="Montserrat"/>
                        </a:rPr>
                        <a:t>Enfermedades del corazón
(169)</a:t>
                      </a:r>
                    </a:p>
                  </a:txBody>
                  <a:tcPr>
                    <a:solidFill>
                      <a:srgbClr val="FFFFFF"/>
                    </a:solidFill>
                  </a:tcPr>
                </a:tc>
              </a:tr>
              <a:tr h="489600">
                <a:tc>
                  <a:txBody>
                    <a:bodyPr/>
                    <a:lstStyle/>
                    <a:p>
                      <a:pPr algn="ctr"/>
                      <a:r>
                        <a:rPr sz="900" b="0">
                          <a:latin typeface="Montserrat"/>
                        </a:rPr>
                        <a:t>Enfermedades del corazón
(104,307)</a:t>
                      </a:r>
                    </a:p>
                  </a:txBody>
                  <a:tcPr>
                    <a:solidFill>
                      <a:srgbClr val="EFEFEF"/>
                    </a:solidFill>
                  </a:tcPr>
                </a:tc>
                <a:tc>
                  <a:txBody>
                    <a:bodyPr/>
                    <a:lstStyle/>
                    <a:p>
                      <a:pPr algn="ctr"/>
                      <a:r>
                        <a:rPr sz="900" b="0">
                          <a:latin typeface="Montserrat"/>
                        </a:rPr>
                        <a:t>Enfermedades y trastornos de las articulaciones
(14,925)</a:t>
                      </a:r>
                    </a:p>
                  </a:txBody>
                  <a:tcPr>
                    <a:solidFill>
                      <a:srgbClr val="EFEFEF"/>
                    </a:solidFill>
                  </a:tcPr>
                </a:tc>
                <a:tc>
                  <a:txBody>
                    <a:bodyPr/>
                    <a:lstStyle/>
                    <a:p>
                      <a:pPr algn="ctr"/>
                      <a:r>
                        <a:rPr sz="900" b="0">
                          <a:latin typeface="Montserrat"/>
                        </a:rPr>
                        <a:t>Traumatismos y envenenamientos
(1,814)</a:t>
                      </a:r>
                    </a:p>
                  </a:txBody>
                  <a:tcPr>
                    <a:solidFill>
                      <a:srgbClr val="EFEFEF"/>
                    </a:solidFill>
                  </a:tcPr>
                </a:tc>
                <a:tc>
                  <a:txBody>
                    <a:bodyPr/>
                    <a:lstStyle/>
                    <a:p>
                      <a:pPr algn="ctr"/>
                      <a:r>
                        <a:rPr sz="900" b="0">
                          <a:latin typeface="Montserrat"/>
                        </a:rPr>
                        <a:t>Traumatismos e intoxicaciones
(1,975)</a:t>
                      </a:r>
                    </a:p>
                  </a:txBody>
                  <a:tcPr>
                    <a:solidFill>
                      <a:srgbClr val="EFEFEF"/>
                    </a:solidFill>
                  </a:tcPr>
                </a:tc>
                <a:tc>
                  <a:txBody>
                    <a:bodyPr/>
                    <a:lstStyle/>
                    <a:p>
                      <a:pPr algn="ctr"/>
                      <a:r>
                        <a:rPr sz="900" b="0">
                          <a:latin typeface="Montserrat"/>
                        </a:rPr>
                        <a:t>Tumores malignos
(124)</a:t>
                      </a:r>
                    </a:p>
                  </a:txBody>
                  <a:tcPr>
                    <a:solidFill>
                      <a:srgbClr val="EFEFEF"/>
                    </a:solidFill>
                  </a:tcPr>
                </a:tc>
              </a:tr>
              <a:tr h="489600">
                <a:tc>
                  <a:txBody>
                    <a:bodyPr/>
                    <a:lstStyle/>
                    <a:p>
                      <a:pPr algn="ctr"/>
                      <a:r>
                        <a:rPr sz="900" b="0">
                          <a:latin typeface="Montserrat"/>
                        </a:rPr>
                        <a:t>Infecciones respiratorias agudas
(41,227)</a:t>
                      </a:r>
                    </a:p>
                  </a:txBody>
                  <a:tcPr>
                    <a:solidFill>
                      <a:srgbClr val="FFFFFF"/>
                    </a:solidFill>
                  </a:tcPr>
                </a:tc>
                <a:tc>
                  <a:txBody>
                    <a:bodyPr/>
                    <a:lstStyle/>
                    <a:p>
                      <a:pPr algn="ctr"/>
                      <a:r>
                        <a:rPr sz="900" b="0">
                          <a:latin typeface="Montserrat"/>
                        </a:rPr>
                        <a:t>Traumatismos e intoxicaciones
(14,902)</a:t>
                      </a:r>
                    </a:p>
                  </a:txBody>
                  <a:tcPr>
                    <a:solidFill>
                      <a:srgbClr val="FFFFFF"/>
                    </a:solidFill>
                  </a:tcPr>
                </a:tc>
                <a:tc>
                  <a:txBody>
                    <a:bodyPr/>
                    <a:lstStyle/>
                    <a:p>
                      <a:pPr algn="ctr"/>
                      <a:r>
                        <a:rPr sz="900" b="0">
                          <a:latin typeface="Montserrat"/>
                        </a:rPr>
                        <a:t>Cirugía de Hernias (Hernioplastía)
(833)</a:t>
                      </a:r>
                    </a:p>
                  </a:txBody>
                  <a:tcPr>
                    <a:solidFill>
                      <a:srgbClr val="FFFFFF"/>
                    </a:solidFill>
                  </a:tcPr>
                </a:tc>
                <a:tc>
                  <a:txBody>
                    <a:bodyPr/>
                    <a:lstStyle/>
                    <a:p>
                      <a:pPr algn="ctr"/>
                      <a:r>
                        <a:rPr sz="900" b="0">
                          <a:latin typeface="Montserrat"/>
                        </a:rPr>
                        <a:t>Hernias
(883)</a:t>
                      </a:r>
                    </a:p>
                  </a:txBody>
                  <a:tcPr>
                    <a:solidFill>
                      <a:srgbClr val="FFFFFF"/>
                    </a:solidFill>
                  </a:tcPr>
                </a:tc>
                <a:tc>
                  <a:txBody>
                    <a:bodyPr/>
                    <a:lstStyle/>
                    <a:p>
                      <a:pPr algn="ctr"/>
                      <a:r>
                        <a:rPr sz="900" b="0">
                          <a:latin typeface="Montserrat"/>
                        </a:rPr>
                        <a:t>Diabetes mellitus
(122)</a:t>
                      </a:r>
                    </a:p>
                  </a:txBody>
                  <a:tcPr>
                    <a:solidFill>
                      <a:srgbClr val="FFFFFF"/>
                    </a:solidFill>
                  </a:tcPr>
                </a:tc>
              </a:tr>
              <a:tr h="489600">
                <a:tc>
                  <a:txBody>
                    <a:bodyPr/>
                    <a:lstStyle/>
                    <a:p>
                      <a:pPr algn="ctr"/>
                      <a:r>
                        <a:rPr sz="900" b="0">
                          <a:latin typeface="Montserrat"/>
                        </a:rPr>
                        <a:t>traumatismos e intoxicaciones
(29,833)</a:t>
                      </a:r>
                    </a:p>
                  </a:txBody>
                  <a:tcPr>
                    <a:solidFill>
                      <a:srgbClr val="EFEFEF"/>
                    </a:solidFill>
                  </a:tcPr>
                </a:tc>
                <a:tc>
                  <a:txBody>
                    <a:bodyPr/>
                    <a:lstStyle/>
                    <a:p>
                      <a:pPr algn="ctr"/>
                      <a:r>
                        <a:rPr sz="900" b="0">
                          <a:latin typeface="Montserrat"/>
                        </a:rPr>
                        <a:t>Problemas y enfermedades de la columna vertebral
(12,350)</a:t>
                      </a:r>
                    </a:p>
                  </a:txBody>
                  <a:tcPr>
                    <a:solidFill>
                      <a:srgbClr val="EFEFEF"/>
                    </a:solidFill>
                  </a:tcPr>
                </a:tc>
                <a:tc>
                  <a:txBody>
                    <a:bodyPr/>
                    <a:lstStyle/>
                    <a:p>
                      <a:pPr algn="ctr"/>
                      <a:r>
                        <a:rPr sz="900" b="0">
                          <a:latin typeface="Montserrat"/>
                        </a:rPr>
                        <a:t>Cirugía de vesicula biliar (Colecistectomía)
(717)</a:t>
                      </a:r>
                    </a:p>
                  </a:txBody>
                  <a:tcPr>
                    <a:solidFill>
                      <a:srgbClr val="EFEFEF"/>
                    </a:solidFill>
                  </a:tcPr>
                </a:tc>
                <a:tc>
                  <a:txBody>
                    <a:bodyPr/>
                    <a:lstStyle/>
                    <a:p>
                      <a:pPr algn="ctr"/>
                      <a:r>
                        <a:rPr sz="900" b="0">
                          <a:latin typeface="Montserrat"/>
                        </a:rPr>
                        <a:t>Enfermedades de la vesicula biliar
(830)</a:t>
                      </a:r>
                    </a:p>
                  </a:txBody>
                  <a:tcPr>
                    <a:solidFill>
                      <a:srgbClr val="EFEFEF"/>
                    </a:solidFill>
                  </a:tcPr>
                </a:tc>
                <a:tc>
                  <a:txBody>
                    <a:bodyPr/>
                    <a:lstStyle/>
                    <a:p>
                      <a:pPr algn="ctr"/>
                      <a:r>
                        <a:rPr sz="900" b="0">
                          <a:latin typeface="Montserrat"/>
                        </a:rPr>
                        <a:t>Insuficiencia renal
(88)</a:t>
                      </a:r>
                    </a:p>
                  </a:txBody>
                  <a:tcPr>
                    <a:solidFill>
                      <a:srgbClr val="EFEFEF"/>
                    </a:solidFill>
                  </a:tcPr>
                </a:tc>
              </a:tr>
              <a:tr h="489600">
                <a:tc>
                  <a:txBody>
                    <a:bodyPr/>
                    <a:lstStyle/>
                    <a:p>
                      <a:pPr algn="ctr"/>
                      <a:r>
                        <a:rPr sz="900" b="0">
                          <a:latin typeface="Montserrat"/>
                        </a:rPr>
                        <a:t>Embarazo, parto y puerperio
(17,909)</a:t>
                      </a:r>
                    </a:p>
                  </a:txBody>
                  <a:tcPr>
                    <a:solidFill>
                      <a:srgbClr val="FFFFFF"/>
                    </a:solidFill>
                  </a:tcPr>
                </a:tc>
                <a:tc>
                  <a:txBody>
                    <a:bodyPr/>
                    <a:lstStyle/>
                    <a:p>
                      <a:pPr algn="ctr"/>
                      <a:r>
                        <a:rPr sz="900" b="0">
                          <a:latin typeface="Montserrat"/>
                        </a:rPr>
                        <a:t>Enfermedades del corazón
(10,788)</a:t>
                      </a:r>
                    </a:p>
                  </a:txBody>
                  <a:tcPr>
                    <a:solidFill>
                      <a:srgbClr val="FFFFFF"/>
                    </a:solidFill>
                  </a:tcPr>
                </a:tc>
                <a:tc>
                  <a:txBody>
                    <a:bodyPr/>
                    <a:lstStyle/>
                    <a:p>
                      <a:pPr algn="ctr"/>
                      <a:r>
                        <a:rPr sz="900" b="0">
                          <a:latin typeface="Montserrat"/>
                        </a:rPr>
                        <a:t>Artropatias
(476)</a:t>
                      </a:r>
                    </a:p>
                  </a:txBody>
                  <a:tcPr>
                    <a:solidFill>
                      <a:srgbClr val="FFFFFF"/>
                    </a:solidFill>
                  </a:tcPr>
                </a:tc>
                <a:tc>
                  <a:txBody>
                    <a:bodyPr/>
                    <a:lstStyle/>
                    <a:p>
                      <a:pPr algn="ctr"/>
                      <a:r>
                        <a:rPr sz="900" b="0">
                          <a:latin typeface="Montserrat"/>
                        </a:rPr>
                        <a:t>Enfermedades perinatales
(757)</a:t>
                      </a:r>
                    </a:p>
                  </a:txBody>
                  <a:tcPr>
                    <a:solidFill>
                      <a:srgbClr val="FFFFFF"/>
                    </a:solidFill>
                  </a:tcPr>
                </a:tc>
                <a:tc>
                  <a:txBody>
                    <a:bodyPr/>
                    <a:lstStyle/>
                    <a:p>
                      <a:pPr algn="ctr"/>
                      <a:r>
                        <a:rPr sz="900" b="0">
                          <a:latin typeface="Montserrat"/>
                        </a:rPr>
                        <a:t>Neumonía e influenza
(83)</a:t>
                      </a:r>
                    </a:p>
                  </a:txBody>
                  <a:tcPr>
                    <a:solidFill>
                      <a:srgbClr val="FFFFFF"/>
                    </a:solidFill>
                  </a:tcPr>
                </a:tc>
              </a:tr>
            </a:tbl>
          </a:graphicData>
        </a:graphic>
      </p:graphicFrame>
      <p:sp>
        <p:nvSpPr>
          <p:cNvPr id="345" name="TextBox 344"/>
          <p:cNvSpPr txBox="1"/>
          <p:nvPr/>
        </p:nvSpPr>
        <p:spPr>
          <a:xfrm>
            <a:off x="219600" y="5608800"/>
            <a:ext cx="5331600" cy="432000"/>
          </a:xfrm>
          <a:prstGeom prst="rect">
            <a:avLst/>
          </a:prstGeom>
          <a:noFill/>
        </p:spPr>
        <p:txBody>
          <a:bodyPr wrap="square" tIns="0" bIns="0" lIns="0" rIns="0">
            <a:spAutoFit/>
          </a:bodyPr>
          <a:lstStyle/>
          <a:p>
            <a:pPr algn="l">
              <a:defRPr sz="700">
                <a:solidFill>
                  <a:srgbClr val="000000"/>
                </a:solidFill>
                <a:latin typeface="Montserrat"/>
              </a:defRPr>
            </a:pPr>
            <a:r>
              <a:t>El número de casos se presentan entre paréntesis.</a:t>
            </a:r>
            <a:br/>
            <a:r>
              <a:t>Fuente: IMSS/DPM/División de Información en Salud/Motivos de Consulta Externa (SUI27).</a:t>
            </a:r>
            <a:br/>
            <a:r>
              <a:t>Sistema de información Médico Operativo Central (SIMOC).</a:t>
            </a:r>
            <a:br/>
            <a:r>
              <a:t>Periodo: enero-diciembre 2025</a:t>
            </a:r>
          </a:p>
        </p:txBody>
      </p:sp>
      <p:sp>
        <p:nvSpPr>
          <p:cNvPr id="346" name="TextBox 345"/>
          <p:cNvSpPr txBox="1"/>
          <p:nvPr/>
        </p:nvSpPr>
        <p:spPr>
          <a:xfrm>
            <a:off x="230400" y="9093600"/>
            <a:ext cx="4244400" cy="2556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QUERÉTARO</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abril de cada año</a:t>
            </a:r>
          </a:p>
        </p:txBody>
      </p:sp>
      <p:pic>
        <p:nvPicPr>
          <p:cNvPr id="6" name="Picture 5" descr="image.png"/>
          <p:cNvPicPr>
            <a:picLocks noChangeAspect="1"/>
          </p:cNvPicPr>
          <p:nvPr/>
        </p:nvPicPr>
        <p:blipFill>
          <a:blip r:embed="rId4"/>
          <a:stretch>
            <a:fillRect/>
          </a:stretch>
        </p:blipFill>
        <p:spPr>
          <a:xfrm>
            <a:off x="122400" y="1717199"/>
            <a:ext cx="7347600" cy="3927962"/>
          </a:xfrm>
          <a:prstGeom prst="rect">
            <a:avLst/>
          </a:prstGeom>
        </p:spPr>
      </p:pic>
      <p:sp>
        <p:nvSpPr>
          <p:cNvPr id="7" name="TextBox 6"/>
          <p:cNvSpPr txBox="1"/>
          <p:nvPr/>
        </p:nvSpPr>
        <p:spPr>
          <a:xfrm>
            <a:off x="457200" y="5623560"/>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
        <p:nvSpPr>
          <p:cNvPr id="8" name="TextBox 7"/>
          <p:cNvSpPr txBox="1"/>
          <p:nvPr/>
        </p:nvSpPr>
        <p:spPr>
          <a:xfrm>
            <a:off x="274320" y="5943600"/>
            <a:ext cx="4572000" cy="365760"/>
          </a:xfrm>
          <a:prstGeom prst="rect">
            <a:avLst/>
          </a:prstGeom>
          <a:noFill/>
        </p:spPr>
        <p:txBody>
          <a:bodyPr wrap="none">
            <a:spAutoFit/>
          </a:bodyPr>
          <a:lstStyle/>
          <a:p>
            <a:pPr algn="l">
              <a:defRPr sz="2000" b="0">
                <a:solidFill>
                  <a:srgbClr val="BC955C"/>
                </a:solidFill>
                <a:latin typeface="Montserrat"/>
              </a:defRPr>
            </a:pPr>
            <a:r>
              <a:t>Recetas manuales y electrónicas</a:t>
            </a:r>
          </a:p>
        </p:txBody>
      </p:sp>
      <p:cxnSp>
        <p:nvCxnSpPr>
          <p:cNvPr id="9" name="Connector 8"/>
          <p:cNvCxnSpPr/>
          <p:nvPr/>
        </p:nvCxnSpPr>
        <p:spPr>
          <a:xfrm>
            <a:off x="274320" y="630936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457200" y="6583680"/>
          <a:ext cx="6858000" cy="914400"/>
        </p:xfrm>
        <a:graphic>
          <a:graphicData uri="http://schemas.openxmlformats.org/drawingml/2006/table">
            <a:tbl>
              <a:tblPr firstRow="1" bandRow="1">
                <a:tableStyleId>{5C22544A-7EE6-4342-B048-85BDC9FD1C3A}</a:tableStyleId>
              </a:tblPr>
              <a:tblGrid>
                <a:gridCol w="1714500"/>
                <a:gridCol w="1714500"/>
                <a:gridCol w="1714500"/>
                <a:gridCol w="1714500"/>
              </a:tblGrid>
              <a:tr h="304800">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a:solidFill>
                            <a:srgbClr val="FFFFFF"/>
                          </a:solidFill>
                          <a:latin typeface="Montserrat"/>
                        </a:rPr>
                        <a:t>Manuales</a:t>
                      </a:r>
                    </a:p>
                  </a:txBody>
                  <a:tcPr anchor="ctr">
                    <a:solidFill>
                      <a:srgbClr val="006455"/>
                    </a:solidFill>
                  </a:tcPr>
                </a:tc>
                <a:tc>
                  <a:txBody>
                    <a:bodyPr/>
                    <a:lstStyle/>
                    <a:p>
                      <a:pPr algn="ctr"/>
                      <a:r>
                        <a:rPr sz="1100" b="1">
                          <a:solidFill>
                            <a:srgbClr val="FFFFFF"/>
                          </a:solidFill>
                          <a:latin typeface="Montserrat"/>
                        </a:rPr>
                        <a:t>Electrónicas</a:t>
                      </a: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tr>
              <a:tr h="304800">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97,425</a:t>
                      </a:r>
                    </a:p>
                  </a:txBody>
                  <a:tcPr>
                    <a:solidFill>
                      <a:srgbClr val="FFFFFF"/>
                    </a:solidFill>
                  </a:tcPr>
                </a:tc>
                <a:tc>
                  <a:txBody>
                    <a:bodyPr/>
                    <a:lstStyle/>
                    <a:p>
                      <a:pPr algn="ctr"/>
                      <a:r>
                        <a:rPr sz="1100" b="0">
                          <a:solidFill>
                            <a:srgbClr val="434343"/>
                          </a:solidFill>
                          <a:latin typeface="Montserrat"/>
                        </a:rPr>
                        <a:t>1,169,860</a:t>
                      </a:r>
                    </a:p>
                  </a:txBody>
                  <a:tcPr>
                    <a:solidFill>
                      <a:srgbClr val="FFFFFF"/>
                    </a:solidFill>
                  </a:tcPr>
                </a:tc>
                <a:tc>
                  <a:txBody>
                    <a:bodyPr/>
                    <a:lstStyle/>
                    <a:p>
                      <a:pPr algn="ctr"/>
                      <a:r>
                        <a:rPr sz="1100" b="0">
                          <a:solidFill>
                            <a:srgbClr val="434343"/>
                          </a:solidFill>
                          <a:latin typeface="Montserrat"/>
                        </a:rPr>
                        <a:t>92.3%</a:t>
                      </a:r>
                    </a:p>
                  </a:txBody>
                  <a:tcPr>
                    <a:solidFill>
                      <a:srgbClr val="FFFFFF"/>
                    </a:solidFill>
                  </a:tcPr>
                </a:tc>
              </a:tr>
              <a:tr h="304800">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82,699</a:t>
                      </a:r>
                    </a:p>
                  </a:txBody>
                  <a:tcPr>
                    <a:solidFill>
                      <a:srgbClr val="D9D9D9"/>
                    </a:solidFill>
                  </a:tcPr>
                </a:tc>
                <a:tc>
                  <a:txBody>
                    <a:bodyPr/>
                    <a:lstStyle/>
                    <a:p>
                      <a:pPr algn="ctr"/>
                      <a:r>
                        <a:rPr sz="1100" b="1">
                          <a:solidFill>
                            <a:srgbClr val="006455"/>
                          </a:solidFill>
                          <a:latin typeface="Montserrat"/>
                        </a:rPr>
                        <a:t>1,380,324</a:t>
                      </a:r>
                    </a:p>
                  </a:txBody>
                  <a:tcPr>
                    <a:solidFill>
                      <a:srgbClr val="D9D9D9"/>
                    </a:solidFill>
                  </a:tcPr>
                </a:tc>
                <a:tc>
                  <a:txBody>
                    <a:bodyPr/>
                    <a:lstStyle/>
                    <a:p>
                      <a:pPr algn="ctr"/>
                      <a:r>
                        <a:rPr sz="1100" b="1">
                          <a:solidFill>
                            <a:srgbClr val="006455"/>
                          </a:solidFill>
                          <a:latin typeface="Montserrat"/>
                        </a:rPr>
                        <a:t>94.3%</a:t>
                      </a:r>
                    </a:p>
                  </a:txBody>
                  <a:tcPr>
                    <a:solidFill>
                      <a:srgbClr val="D9D9D9"/>
                    </a:solidFill>
                  </a:tcPr>
                </a:tc>
              </a:tr>
            </a:tbl>
          </a:graphicData>
        </a:graphic>
      </p:graphicFrame>
      <p:sp>
        <p:nvSpPr>
          <p:cNvPr id="11" name="TextBox 10"/>
          <p:cNvSpPr txBox="1"/>
          <p:nvPr/>
        </p:nvSpPr>
        <p:spPr>
          <a:xfrm>
            <a:off x="457200" y="7955279"/>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BD1D1-7DC0-DB61-D555-1D27F0EABA28}"/>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QUERÉTARO</a:t>
            </a:r>
          </a:p>
        </p:txBody>
      </p:sp>
      <p:sp>
        <p:nvSpPr>
          <p:cNvPr id="3" name="TextBox 2"/>
          <p:cNvSpPr txBox="1"/>
          <p:nvPr/>
        </p:nvSpPr>
        <p:spPr>
          <a:xfrm>
            <a:off x="180000" y="612000"/>
            <a:ext cx="5400000" cy="324000"/>
          </a:xfrm>
          <a:prstGeom prst="rect">
            <a:avLst/>
          </a:prstGeom>
          <a:noFill/>
        </p:spPr>
        <p:txBody>
          <a:bodyPr wrap="none" lIns="0" rIns="0" t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180000" y="917999"/>
            <a:ext cx="5400000" cy="251999"/>
          </a:xfrm>
          <a:prstGeom prst="rect">
            <a:avLst/>
          </a:prstGeom>
          <a:noFill/>
        </p:spPr>
        <p:txBody>
          <a:bodyPr wrap="none" lIns="0" rIns="0" tIns="0" bIns="0">
            <a:spAutoFit/>
          </a:bodyPr>
          <a:lstStyle/>
          <a:p>
            <a:pPr algn="l">
              <a:defRPr sz="1500" b="0">
                <a:solidFill>
                  <a:srgbClr val="BC955C"/>
                </a:solidFill>
                <a:latin typeface="Montserrat"/>
              </a:defRPr>
            </a:pPr>
            <a:r>
              <a:t>Piezas consumidas</a:t>
            </a:r>
          </a:p>
        </p:txBody>
      </p:sp>
      <p:cxnSp>
        <p:nvCxnSpPr>
          <p:cNvPr id="5" name="Connector 4"/>
          <p:cNvCxnSpPr/>
          <p:nvPr/>
        </p:nvCxnSpPr>
        <p:spPr>
          <a:xfrm>
            <a:off x="180000" y="1188000"/>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6" name="Picture 5" descr="grafica_piezas_22.png"/>
          <p:cNvPicPr>
            <a:picLocks noChangeAspect="1"/>
          </p:cNvPicPr>
          <p:nvPr/>
        </p:nvPicPr>
        <p:blipFill>
          <a:blip r:embed="rId2"/>
          <a:stretch>
            <a:fillRect/>
          </a:stretch>
        </p:blipFill>
        <p:spPr>
          <a:xfrm>
            <a:off x="129600" y="1360800"/>
            <a:ext cx="7441200" cy="2178000"/>
          </a:xfrm>
          <a:prstGeom prst="rect">
            <a:avLst/>
          </a:prstGeom>
        </p:spPr>
      </p:pic>
      <p:sp>
        <p:nvSpPr>
          <p:cNvPr id="7" name="TextBox 6"/>
          <p:cNvSpPr txBox="1"/>
          <p:nvPr/>
        </p:nvSpPr>
        <p:spPr>
          <a:xfrm>
            <a:off x="180000" y="3671999"/>
            <a:ext cx="6840000" cy="288000"/>
          </a:xfrm>
          <a:prstGeom prst="rect">
            <a:avLst/>
          </a:prstGeom>
          <a:noFill/>
        </p:spPr>
        <p:txBody>
          <a:bodyPr wrap="none" lIns="0" rIns="0" tIns="0" bIns="0">
            <a:spAutoFit/>
          </a:bodyPr>
          <a:lstStyle/>
          <a:p>
            <a:pPr algn="l">
              <a:defRPr sz="1800" b="0">
                <a:solidFill>
                  <a:srgbClr val="BC955C"/>
                </a:solidFill>
                <a:latin typeface="Montserrat"/>
              </a:defRPr>
            </a:pPr>
            <a:r>
              <a:t>Medicamentos con mayor demanda</a:t>
            </a:r>
          </a:p>
        </p:txBody>
      </p:sp>
      <p:cxnSp>
        <p:nvCxnSpPr>
          <p:cNvPr id="8" name="Connector 7"/>
          <p:cNvCxnSpPr/>
          <p:nvPr/>
        </p:nvCxnSpPr>
        <p:spPr>
          <a:xfrm>
            <a:off x="180000" y="3941999"/>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180000" y="4121999"/>
          <a:ext cx="7200000" cy="2034000"/>
        </p:xfrm>
        <a:graphic>
          <a:graphicData uri="http://schemas.openxmlformats.org/drawingml/2006/table">
            <a:tbl>
              <a:tblPr firstRow="1" bandRow="1">
                <a:tableStyleId>{5C22544A-7EE6-4342-B048-85BDC9FD1C3A}</a:tableStyleId>
              </a:tblPr>
              <a:tblGrid>
                <a:gridCol w="5400000"/>
                <a:gridCol w="1800000"/>
              </a:tblGrid>
              <a:tr h="198000">
                <a:tc gridSpan="2">
                  <a:txBody>
                    <a:bodyPr/>
                    <a:lstStyle/>
                    <a:p>
                      <a:pPr algn="ctr">
                        <a:defRPr sz="1000" b="1">
                          <a:solidFill>
                            <a:srgbClr val="FFFFFF"/>
                          </a:solidFill>
                          <a:latin typeface="Montserrat"/>
                        </a:defRPr>
                      </a:pPr>
                      <a:r>
                        <a:t>Con mayor demanda de enero a abril de 2026</a:t>
                      </a:r>
                    </a:p>
                  </a:txBody>
                  <a:tcPr marL="18000" marR="18000" marT="18000" marB="18000" anchor="ctr">
                    <a:solidFill>
                      <a:srgbClr val="006455"/>
                    </a:solidFill>
                  </a:tcPr>
                </a:tc>
                <a:tc hMerge="1">
                  <a:txBody>
                    <a:bodyPr/>
                    <a:lstStyle/>
                    <a:p/>
                  </a:txBody>
                  <a:tcPr/>
                </a:tc>
              </a:tr>
              <a:tr h="216000">
                <a:tc>
                  <a:txBody>
                    <a:bodyPr/>
                    <a:lstStyle/>
                    <a:p>
                      <a:pPr algn="ctr">
                        <a:defRPr sz="900" b="1">
                          <a:solidFill>
                            <a:srgbClr val="FFFFFF"/>
                          </a:solidFill>
                          <a:latin typeface="Montserrat"/>
                        </a:defRPr>
                      </a:pPr>
                      <a:r>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t>Consumo</a:t>
                      </a:r>
                    </a:p>
                  </a:txBody>
                  <a:tcPr marL="18000" marR="18000" marT="18000" marB="18000" anchor="ctr">
                    <a:solidFill>
                      <a:srgbClr val="006455"/>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t>380,127</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Electrolitos orales solución (hidratación)  </a:t>
                      </a:r>
                    </a:p>
                  </a:txBody>
                  <a:tcPr marL="18000" marR="18000" marT="18000" marB="18000" anchor="ctr">
                    <a:solidFill>
                      <a:srgbClr val="FFFFFF"/>
                    </a:solidFill>
                  </a:tcPr>
                </a:tc>
                <a:tc>
                  <a:txBody>
                    <a:bodyPr/>
                    <a:lstStyle/>
                    <a:p>
                      <a:pPr algn="ctr">
                        <a:defRPr sz="900" b="0">
                          <a:solidFill>
                            <a:srgbClr val="333333"/>
                          </a:solidFill>
                          <a:latin typeface="Montserrat"/>
                        </a:defRPr>
                      </a:pPr>
                      <a:r>
                        <a:t>179,824</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Atorvastatina, tableta (reducir colesterol y triglicéridos)                          </a:t>
                      </a:r>
                    </a:p>
                  </a:txBody>
                  <a:tcPr marL="18000" marR="18000" marT="18000" marB="18000" anchor="ctr">
                    <a:solidFill>
                      <a:srgbClr val="F2F2F2"/>
                    </a:solidFill>
                  </a:tcPr>
                </a:tc>
                <a:tc>
                  <a:txBody>
                    <a:bodyPr/>
                    <a:lstStyle/>
                    <a:p>
                      <a:pPr algn="ctr">
                        <a:defRPr sz="900" b="0">
                          <a:solidFill>
                            <a:srgbClr val="333333"/>
                          </a:solidFill>
                          <a:latin typeface="Montserrat"/>
                        </a:defRPr>
                      </a:pPr>
                      <a:r>
                        <a:t>174,176</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Gabapentina, cápsula (antiepiléptico)                                                                                                                                                                </a:t>
                      </a:r>
                    </a:p>
                  </a:txBody>
                  <a:tcPr marL="18000" marR="18000" marT="18000" marB="18000" anchor="ctr">
                    <a:solidFill>
                      <a:srgbClr val="FFFFFF"/>
                    </a:solidFill>
                  </a:tcPr>
                </a:tc>
                <a:tc>
                  <a:txBody>
                    <a:bodyPr/>
                    <a:lstStyle/>
                    <a:p>
                      <a:pPr algn="ctr">
                        <a:defRPr sz="900" b="0">
                          <a:solidFill>
                            <a:srgbClr val="333333"/>
                          </a:solidFill>
                          <a:latin typeface="Montserrat"/>
                        </a:defRPr>
                      </a:pPr>
                      <a:r>
                        <a:t>163,637</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Losartán, gragea o comprimido recubierto (hipertensión)</a:t>
                      </a:r>
                    </a:p>
                  </a:txBody>
                  <a:tcPr marL="18000" marR="18000" marT="18000" marB="18000" anchor="ctr">
                    <a:solidFill>
                      <a:srgbClr val="F2F2F2"/>
                    </a:solidFill>
                  </a:tcPr>
                </a:tc>
                <a:tc>
                  <a:txBody>
                    <a:bodyPr/>
                    <a:lstStyle/>
                    <a:p>
                      <a:pPr algn="ctr">
                        <a:defRPr sz="900" b="0">
                          <a:solidFill>
                            <a:srgbClr val="333333"/>
                          </a:solidFill>
                          <a:latin typeface="Montserrat"/>
                        </a:defRPr>
                      </a:pPr>
                      <a:r>
                        <a:t>163,302</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Dapagliflozina,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t>161,837</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Cloruro de sodio, solución inyectable al 0.9% (deshidratación)                                                                        </a:t>
                      </a:r>
                    </a:p>
                  </a:txBody>
                  <a:tcPr marL="18000" marR="18000" marT="18000" marB="18000" anchor="ctr">
                    <a:solidFill>
                      <a:srgbClr val="F2F2F2"/>
                    </a:solidFill>
                  </a:tcPr>
                </a:tc>
                <a:tc>
                  <a:txBody>
                    <a:bodyPr/>
                    <a:lstStyle/>
                    <a:p>
                      <a:pPr algn="ctr">
                        <a:defRPr sz="900" b="0">
                          <a:solidFill>
                            <a:srgbClr val="333333"/>
                          </a:solidFill>
                          <a:latin typeface="Montserrat"/>
                        </a:defRPr>
                      </a:pPr>
                      <a:r>
                        <a:t>158,981</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Pantoprazol o Rabeprazol u Omeprazol, tableta o gragea o cápsula (antiácido)                       </a:t>
                      </a:r>
                    </a:p>
                  </a:txBody>
                  <a:tcPr marL="18000" marR="18000" marT="18000" marB="18000" anchor="ctr">
                    <a:solidFill>
                      <a:srgbClr val="FFFFFF"/>
                    </a:solidFill>
                  </a:tcPr>
                </a:tc>
                <a:tc>
                  <a:txBody>
                    <a:bodyPr/>
                    <a:lstStyle/>
                    <a:p>
                      <a:pPr algn="ctr">
                        <a:defRPr sz="900" b="0">
                          <a:solidFill>
                            <a:srgbClr val="333333"/>
                          </a:solidFill>
                          <a:latin typeface="Montserrat"/>
                        </a:defRPr>
                      </a:pPr>
                      <a:r>
                        <a:t>150,829</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t>134,878</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Albendazol, suspensión oral (antiparasitario)</a:t>
                      </a:r>
                    </a:p>
                  </a:txBody>
                  <a:tcPr marL="18000" marR="18000" marT="18000" marB="18000" anchor="ctr">
                    <a:solidFill>
                      <a:srgbClr val="FFFFFF"/>
                    </a:solidFill>
                  </a:tcPr>
                </a:tc>
                <a:tc>
                  <a:txBody>
                    <a:bodyPr/>
                    <a:lstStyle/>
                    <a:p>
                      <a:pPr algn="ctr">
                        <a:defRPr sz="900" b="0">
                          <a:solidFill>
                            <a:srgbClr val="333333"/>
                          </a:solidFill>
                          <a:latin typeface="Montserrat"/>
                        </a:defRPr>
                      </a:pPr>
                      <a:r>
                        <a:t>126,153</a:t>
                      </a:r>
                    </a:p>
                  </a:txBody>
                  <a:tcPr marL="18000" marR="18000" marT="18000" marB="18000" anchor="ctr">
                    <a:solidFill>
                      <a:srgbClr val="FFFFFF"/>
                    </a:solidFill>
                  </a:tcPr>
                </a:tc>
              </a:tr>
            </a:tbl>
          </a:graphicData>
        </a:graphic>
      </p:graphicFrame>
    </p:spTree>
    <p:extLst>
      <p:ext uri="{BB962C8B-B14F-4D97-AF65-F5344CB8AC3E}">
        <p14:creationId xmlns:p14="http://schemas.microsoft.com/office/powerpoint/2010/main" val="40567372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434C3138-4D0E-D6F5-1979-61C724288F5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BC955C"/>
                          </a:solidFill>
                          <a:latin typeface="Montserrat"/>
                          <a:ea typeface="Montserrat"/>
                          <a:cs typeface="Montserrat"/>
                          <a:sym typeface="Montserrat"/>
                        </a:rPr>
                        <a:t>Acciones 2025</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715617"/>
            <a:ext cx="1599000" cy="771583"/>
          </a:xfrm>
          <a:prstGeom prst="rect">
            <a:avLst/>
          </a:prstGeom>
          <a:noFill/>
          <a:ln>
            <a:noFill/>
          </a:ln>
        </p:spPr>
      </p:pic>
      <p:sp>
        <p:nvSpPr>
          <p:cNvPr id="6" name="Google Shape;396;p15">
            <a:extLst>
              <a:ext uri="{FF2B5EF4-FFF2-40B4-BE49-F238E27FC236}">
                <a16:creationId xmlns:a16="http://schemas.microsoft.com/office/drawing/2014/main" id="{3C879FA3-8153-8C4E-8B9C-4DF691C41AD2}"/>
              </a:ext>
            </a:extLst>
          </p:cNvPr>
          <p:cNvSpPr txBox="1"/>
          <p:nvPr/>
        </p:nvSpPr>
        <p:spPr>
          <a:xfrm>
            <a:off x="4051800" y="1055450"/>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dirty="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dirty="0">
              <a:ln>
                <a:noFill/>
              </a:ln>
              <a:solidFill>
                <a:srgbClr val="BC955C"/>
              </a:solidFill>
              <a:effectLst/>
              <a:uLnTx/>
              <a:uFillTx/>
              <a:latin typeface="Arial"/>
              <a:ea typeface="Arial"/>
              <a:cs typeface="Arial"/>
              <a:sym typeface="Arial"/>
            </a:endParaRPr>
          </a:p>
        </p:txBody>
      </p:sp>
      <p:pic>
        <p:nvPicPr>
          <p:cNvPr id="3" name="Imagen 2" descr="Imagen que contiene firmar, lado, parada, camión&#10;&#10;El contenido generado por IA puede ser incorrecto.">
            <a:extLst>
              <a:ext uri="{FF2B5EF4-FFF2-40B4-BE49-F238E27FC236}">
                <a16:creationId xmlns:a16="http://schemas.microsoft.com/office/drawing/2014/main" id="{4A354C11-472E-B13F-7640-F22CBC3FCD5B}"/>
              </a:ext>
            </a:extLst>
          </p:cNvPr>
          <p:cNvPicPr>
            <a:picLocks noChangeAspect="1"/>
          </p:cNvPicPr>
          <p:nvPr/>
        </p:nvPicPr>
        <p:blipFill>
          <a:blip r:embed="rId5"/>
          <a:stretch>
            <a:fillRect/>
          </a:stretch>
        </p:blipFill>
        <p:spPr>
          <a:xfrm>
            <a:off x="-4892" y="1673469"/>
            <a:ext cx="1593128" cy="3883856"/>
          </a:xfrm>
          <a:prstGeom prst="rect">
            <a:avLst/>
          </a:prstGeom>
        </p:spPr>
      </p:pic>
      <p:sp>
        <p:nvSpPr>
          <p:cNvPr id="7" name="TextBox 6"/>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graphicFrame>
        <p:nvGraphicFramePr>
          <p:cNvPr id="8" name="Table 7"/>
          <p:cNvGraphicFramePr>
            <a:graphicFrameLocks noGrp="1"/>
          </p:cNvGraphicFramePr>
          <p:nvPr/>
        </p:nvGraphicFramePr>
        <p:xfrm>
          <a:off x="1785600" y="1584000"/>
          <a:ext cx="5295600" cy="540000"/>
        </p:xfrm>
        <a:graphic>
          <a:graphicData uri="http://schemas.openxmlformats.org/drawingml/2006/table">
            <a:tbl>
              <a:tblPr firstRow="1" bandRow="1">
                <a:tableStyleId>{5C22544A-7EE6-4342-B048-85BDC9FD1C3A}</a:tableStyleId>
              </a:tblPr>
              <a:tblGrid>
                <a:gridCol w="4176000"/>
                <a:gridCol w="1119600"/>
              </a:tblGrid>
              <a:tr h="270000">
                <a:tc>
                  <a:txBody>
                    <a:bodyPr/>
                    <a:lstStyle/>
                    <a:p>
                      <a:pPr algn="ctr">
                        <a:defRPr b="1" sz="1000">
                          <a:solidFill>
                            <a:srgbClr val="FFFFFF"/>
                          </a:solidFill>
                          <a:latin typeface="Montserrat"/>
                        </a:defRPr>
                      </a:pPr>
                      <a:r>
                        <a:t>Obras de Infraestructura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270000">
                <a:tc>
                  <a:txBody>
                    <a:bodyPr/>
                    <a:lstStyle/>
                    <a:p>
                      <a:pPr algn="l">
                        <a:lnSpc>
                          <a:spcPct val="100000"/>
                        </a:lnSpc>
                      </a:pPr>
                      <a:r>
                        <a:rPr sz="1000">
                          <a:latin typeface="Montserrat"/>
                        </a:rPr>
                        <a:t>Nueva Sala de Hemodinamia en el HGR 2 El Marqués,</a:t>
                      </a:r>
                    </a:p>
                  </a:txBody>
                  <a:tcPr marL="3600" marR="3600" marT="3600" marB="3600">
                    <a:solidFill>
                      <a:srgbClr val="FFFFFF"/>
                    </a:solidFill>
                  </a:tcPr>
                </a:tc>
                <a:tc>
                  <a:txBody>
                    <a:bodyPr/>
                    <a:lstStyle/>
                    <a:p>
                      <a:pPr algn="ctr">
                        <a:lnSpc>
                          <a:spcPct val="100000"/>
                        </a:lnSpc>
                      </a:pPr>
                      <a:r>
                        <a:rPr sz="1000">
                          <a:latin typeface="Montserrat"/>
                        </a:rPr>
                        <a:t>$34.1</a:t>
                      </a:r>
                    </a:p>
                  </a:txBody>
                  <a:tcPr marL="3600" marR="3600" marT="3600" marB="3600">
                    <a:solidFill>
                      <a:srgbClr val="FFFFFF"/>
                    </a:solidFill>
                  </a:tcPr>
                </a:tc>
              </a:tr>
            </a:tbl>
          </a:graphicData>
        </a:graphic>
      </p:graphicFrame>
      <p:graphicFrame>
        <p:nvGraphicFramePr>
          <p:cNvPr id="9" name="Table 8"/>
          <p:cNvGraphicFramePr>
            <a:graphicFrameLocks noGrp="1"/>
          </p:cNvGraphicFramePr>
          <p:nvPr/>
        </p:nvGraphicFramePr>
        <p:xfrm>
          <a:off x="1785600" y="2304000"/>
          <a:ext cx="5295600" cy="2700000"/>
        </p:xfrm>
        <a:graphic>
          <a:graphicData uri="http://schemas.openxmlformats.org/drawingml/2006/table">
            <a:tbl>
              <a:tblPr firstRow="1" bandRow="1">
                <a:tableStyleId>{5C22544A-7EE6-4342-B048-85BDC9FD1C3A}</a:tableStyleId>
              </a:tblPr>
              <a:tblGrid>
                <a:gridCol w="4176000"/>
                <a:gridCol w="1119600"/>
              </a:tblGrid>
              <a:tr h="385714">
                <a:tc>
                  <a:txBody>
                    <a:bodyPr/>
                    <a:lstStyle/>
                    <a:p>
                      <a:pPr algn="ctr">
                        <a:defRPr b="1" sz="1000">
                          <a:solidFill>
                            <a:srgbClr val="FFFFFF"/>
                          </a:solidFill>
                          <a:latin typeface="Montserrat"/>
                        </a:defRPr>
                      </a:pPr>
                      <a:r>
                        <a:t>Obras de Conservación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385714">
                <a:tc>
                  <a:txBody>
                    <a:bodyPr/>
                    <a:lstStyle/>
                    <a:p>
                      <a:pPr algn="l">
                        <a:lnSpc>
                          <a:spcPct val="100000"/>
                        </a:lnSpc>
                      </a:pPr>
                      <a:r>
                        <a:rPr sz="1000">
                          <a:latin typeface="Montserrat"/>
                        </a:rPr>
                        <a:t>Mantenimiento de Infraestructura (PAO 2025)</a:t>
                      </a:r>
                    </a:p>
                  </a:txBody>
                  <a:tcPr marL="3600" marR="3600" marT="3600" marB="3600">
                    <a:solidFill>
                      <a:srgbClr val="FFFFFF"/>
                    </a:solidFill>
                  </a:tcPr>
                </a:tc>
                <a:tc>
                  <a:txBody>
                    <a:bodyPr/>
                    <a:lstStyle/>
                    <a:p>
                      <a:pPr algn="ctr">
                        <a:lnSpc>
                          <a:spcPct val="100000"/>
                        </a:lnSpc>
                      </a:pPr>
                      <a:r>
                        <a:rPr sz="1000">
                          <a:latin typeface="Montserrat"/>
                        </a:rPr>
                        <a:t>$352.1</a:t>
                      </a:r>
                    </a:p>
                  </a:txBody>
                  <a:tcPr marL="3600" marR="3600" marT="3600" marB="3600">
                    <a:solidFill>
                      <a:srgbClr val="FFFFFF"/>
                    </a:solidFill>
                  </a:tcPr>
                </a:tc>
              </a:tr>
              <a:tr h="385714">
                <a:tc>
                  <a:txBody>
                    <a:bodyPr/>
                    <a:lstStyle/>
                    <a:p>
                      <a:pPr algn="l">
                        <a:lnSpc>
                          <a:spcPct val="100000"/>
                        </a:lnSpc>
                      </a:pPr>
                      <a:r>
                        <a:rPr sz="1000">
                          <a:latin typeface="Montserrat"/>
                        </a:rPr>
                        <a:t>Remodelación y mejora de imagen en el HGZ No. 3 San Juan del Río y HGR No.1 Querétaro</a:t>
                      </a:r>
                    </a:p>
                  </a:txBody>
                  <a:tcPr marL="3600" marR="3600" marT="3600" marB="3600">
                    <a:solidFill>
                      <a:srgbClr val="D9D9D9"/>
                    </a:solidFill>
                  </a:tcPr>
                </a:tc>
                <a:tc>
                  <a:txBody>
                    <a:bodyPr/>
                    <a:lstStyle/>
                    <a:p>
                      <a:pPr algn="ctr">
                        <a:lnSpc>
                          <a:spcPct val="100000"/>
                        </a:lnSpc>
                      </a:pPr>
                      <a:r>
                        <a:rPr sz="1000">
                          <a:latin typeface="Montserrat"/>
                        </a:rPr>
                        <a:t>$161.3</a:t>
                      </a:r>
                    </a:p>
                  </a:txBody>
                  <a:tcPr marL="3600" marR="3600" marT="3600" marB="3600">
                    <a:solidFill>
                      <a:srgbClr val="D9D9D9"/>
                    </a:solidFill>
                  </a:tcPr>
                </a:tc>
              </a:tr>
              <a:tr h="385714">
                <a:tc>
                  <a:txBody>
                    <a:bodyPr/>
                    <a:lstStyle/>
                    <a:p>
                      <a:pPr algn="l">
                        <a:lnSpc>
                          <a:spcPct val="100000"/>
                        </a:lnSpc>
                      </a:pPr>
                      <a:r>
                        <a:rPr sz="1000">
                          <a:latin typeface="Montserrat"/>
                        </a:rPr>
                        <a:t>Intervención en áreas de mejora en Subdelegacion Querétaro</a:t>
                      </a:r>
                    </a:p>
                  </a:txBody>
                  <a:tcPr marL="3600" marR="3600" marT="3600" marB="3600">
                    <a:solidFill>
                      <a:srgbClr val="FFFFFF"/>
                    </a:solidFill>
                  </a:tcPr>
                </a:tc>
                <a:tc>
                  <a:txBody>
                    <a:bodyPr/>
                    <a:lstStyle/>
                    <a:p>
                      <a:pPr algn="ctr">
                        <a:lnSpc>
                          <a:spcPct val="100000"/>
                        </a:lnSpc>
                      </a:pPr>
                      <a:r>
                        <a:rPr sz="1000">
                          <a:latin typeface="Montserrat"/>
                        </a:rPr>
                        <a:t>$3.5</a:t>
                      </a:r>
                    </a:p>
                  </a:txBody>
                  <a:tcPr marL="3600" marR="3600" marT="3600" marB="3600">
                    <a:solidFill>
                      <a:srgbClr val="FFFFFF"/>
                    </a:solidFill>
                  </a:tcPr>
                </a:tc>
              </a:tr>
              <a:tr h="385714">
                <a:tc>
                  <a:txBody>
                    <a:bodyPr/>
                    <a:lstStyle/>
                    <a:p>
                      <a:pPr algn="l">
                        <a:lnSpc>
                          <a:spcPct val="100000"/>
                        </a:lnSpc>
                      </a:pPr>
                      <a:r>
                        <a:rPr sz="1000">
                          <a:latin typeface="Montserrat"/>
                        </a:rPr>
                        <a:t>Intervención en áreas de residencias médicas en HGZ No. 3 San Juan del Río</a:t>
                      </a:r>
                    </a:p>
                  </a:txBody>
                  <a:tcPr marL="3600" marR="3600" marT="3600" marB="3600">
                    <a:solidFill>
                      <a:srgbClr val="D9D9D9"/>
                    </a:solidFill>
                  </a:tcPr>
                </a:tc>
                <a:tc>
                  <a:txBody>
                    <a:bodyPr/>
                    <a:lstStyle/>
                    <a:p>
                      <a:pPr algn="ctr">
                        <a:lnSpc>
                          <a:spcPct val="100000"/>
                        </a:lnSpc>
                      </a:pPr>
                      <a:r>
                        <a:rPr sz="1000">
                          <a:latin typeface="Montserrat"/>
                        </a:rPr>
                        <a:t>$0.8</a:t>
                      </a:r>
                    </a:p>
                  </a:txBody>
                  <a:tcPr marL="3600" marR="3600" marT="3600" marB="3600">
                    <a:solidFill>
                      <a:srgbClr val="D9D9D9"/>
                    </a:solidFill>
                  </a:tcPr>
                </a:tc>
              </a:tr>
              <a:tr h="385714">
                <a:tc>
                  <a:txBody>
                    <a:bodyPr/>
                    <a:lstStyle/>
                    <a:p>
                      <a:pPr algn="l">
                        <a:lnSpc>
                          <a:spcPct val="100000"/>
                        </a:lnSpc>
                      </a:pPr>
                      <a:r>
                        <a:rPr sz="1000">
                          <a:latin typeface="Montserrat"/>
                        </a:rPr>
                        <a:t>Intervención en áreas de accesibilidad (rampas) en UMF No. 6 San Juan del Río</a:t>
                      </a:r>
                    </a:p>
                  </a:txBody>
                  <a:tcPr marL="3600" marR="3600" marT="3600" marB="3600">
                    <a:solidFill>
                      <a:srgbClr val="FFFFFF"/>
                    </a:solidFill>
                  </a:tcPr>
                </a:tc>
                <a:tc>
                  <a:txBody>
                    <a:bodyPr/>
                    <a:lstStyle/>
                    <a:p>
                      <a:pPr algn="ctr">
                        <a:lnSpc>
                          <a:spcPct val="100000"/>
                        </a:lnSpc>
                      </a:pPr>
                      <a:r>
                        <a:rPr sz="1000">
                          <a:latin typeface="Montserrat"/>
                        </a:rPr>
                        <a:t>$0.2</a:t>
                      </a:r>
                    </a:p>
                  </a:txBody>
                  <a:tcPr marL="3600" marR="3600" marT="3600" marB="3600">
                    <a:solidFill>
                      <a:srgbClr val="FFFFFF"/>
                    </a:solidFill>
                  </a:tcPr>
                </a:tc>
              </a:tr>
              <a:tr h="385716">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$517.9</a:t>
                      </a:r>
                    </a:p>
                  </a:txBody>
                  <a:tcPr marL="3600" marR="3600" marT="3600" marB="3600">
                    <a:solidFill>
                      <a:srgbClr val="ECE1D2"/>
                    </a:solidFill>
                  </a:tcPr>
                </a:tc>
              </a:tr>
            </a:tbl>
          </a:graphicData>
        </a:graphic>
      </p:graphicFrame>
      <p:graphicFrame>
        <p:nvGraphicFramePr>
          <p:cNvPr id="10" name="Table 9"/>
          <p:cNvGraphicFramePr>
            <a:graphicFrameLocks noGrp="1"/>
          </p:cNvGraphicFramePr>
          <p:nvPr/>
        </p:nvGraphicFramePr>
        <p:xfrm>
          <a:off x="1785600" y="5184000"/>
          <a:ext cx="5295600" cy="1440000"/>
        </p:xfrm>
        <a:graphic>
          <a:graphicData uri="http://schemas.openxmlformats.org/drawingml/2006/table">
            <a:tbl>
              <a:tblPr firstRow="1" bandRow="1">
                <a:tableStyleId>{5C22544A-7EE6-4342-B048-85BDC9FD1C3A}</a:tableStyleId>
              </a:tblPr>
              <a:tblGrid>
                <a:gridCol w="4176000"/>
                <a:gridCol w="1119600"/>
              </a:tblGrid>
              <a:tr h="720000">
                <a:tc>
                  <a:txBody>
                    <a:bodyPr/>
                    <a:lstStyle/>
                    <a:p>
                      <a:pPr algn="ctr">
                        <a:defRPr b="1" sz="1000">
                          <a:solidFill>
                            <a:srgbClr val="FFFFFF"/>
                          </a:solidFill>
                          <a:latin typeface="Montserrat"/>
                        </a:defRPr>
                      </a:pPr>
                      <a:r>
                        <a:t>Equipo Médico 2025, Instalación 2026</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720000">
                <a:tc>
                  <a:txBody>
                    <a:bodyPr/>
                    <a:lstStyle/>
                    <a:p>
                      <a:pPr algn="l">
                        <a:lnSpc>
                          <a:spcPct val="100000"/>
                        </a:lnSpc>
                      </a:pPr>
                      <a:r>
                        <a:rPr sz="1000">
                          <a:latin typeface="Montserrat"/>
                        </a:rPr>
                        <a:t>Adquisición de 8 piezas de equipo médico: 2 refrigeradores para vacunas, 3 refrigeradores congeladores de 5.4 pies cúbicos, 1 monitor de signos vitales para el traslado del paciente (con protección antimagnética), 1 unidad de anestesia básica (con protección antimagnética), 1 mastógrafo digital con estereotaxia y tomosíntesis</a:t>
                      </a:r>
                    </a:p>
                  </a:txBody>
                  <a:tcPr marL="3600" marR="3600" marT="3600" marB="3600">
                    <a:solidFill>
                      <a:srgbClr val="FFFFFF"/>
                    </a:solidFill>
                  </a:tcPr>
                </a:tc>
                <a:tc>
                  <a:txBody>
                    <a:bodyPr/>
                    <a:lstStyle/>
                    <a:p>
                      <a:pPr algn="ctr">
                        <a:lnSpc>
                          <a:spcPct val="100000"/>
                        </a:lnSpc>
                      </a:pPr>
                      <a:r>
                        <a:rPr sz="1000">
                          <a:latin typeface="Montserrat"/>
                        </a:rPr>
                        <a:t>$8.0</a:t>
                      </a:r>
                    </a:p>
                  </a:txBody>
                  <a:tcPr marL="3600" marR="3600" marT="3600" marB="3600">
                    <a:solidFill>
                      <a:srgbClr val="FFFFFF"/>
                    </a:solidFill>
                  </a:tcPr>
                </a:tc>
              </a:tr>
            </a:tbl>
          </a:graphicData>
        </a:graphic>
      </p:graphicFrame>
      <p:sp>
        <p:nvSpPr>
          <p:cNvPr id="11" name="TextBox 10"/>
          <p:cNvSpPr txBox="1"/>
          <p:nvPr/>
        </p:nvSpPr>
        <p:spPr>
          <a:xfrm>
            <a:off x="5774400" y="878400"/>
            <a:ext cx="1306800" cy="338400"/>
          </a:xfrm>
          <a:prstGeom prst="rect">
            <a:avLst/>
          </a:prstGeom>
          <a:noFill/>
        </p:spPr>
        <p:txBody>
          <a:bodyPr wrap="none">
            <a:spAutoFit/>
          </a:bodyPr>
          <a:lstStyle/>
          <a:p>
            <a:pPr algn="ctr">
              <a:defRPr sz="1400" b="1">
                <a:solidFill>
                  <a:srgbClr val="FFFFFF"/>
                </a:solidFill>
                <a:latin typeface="Montserrat"/>
              </a:defRPr>
            </a:pPr>
            <a:r>
              <a:t>560.0</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240565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graphicFrame>
        <p:nvGraphicFramePr>
          <p:cNvPr id="5" name="Google Shape;394;p15">
            <a:extLst>
              <a:ext uri="{FF2B5EF4-FFF2-40B4-BE49-F238E27FC236}">
                <a16:creationId xmlns:a16="http://schemas.microsoft.com/office/drawing/2014/main" id="{B762DBC9-2C5F-4219-04BA-4A2BF2F57E2F}"/>
              </a:ext>
            </a:extLst>
          </p:cNvPr>
          <p:cNvGraphicFramePr/>
          <p:nvPr/>
        </p:nvGraphicFramePr>
        <p:xfrm>
          <a:off x="287700" y="110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2026</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7" name="Google Shape;396;p15">
            <a:extLst>
              <a:ext uri="{FF2B5EF4-FFF2-40B4-BE49-F238E27FC236}">
                <a16:creationId xmlns:a16="http://schemas.microsoft.com/office/drawing/2014/main" id="{8E24F6E5-E3CB-0C93-0587-E21A33C953B7}"/>
              </a:ext>
            </a:extLst>
          </p:cNvPr>
          <p:cNvSpPr txBox="1"/>
          <p:nvPr/>
        </p:nvSpPr>
        <p:spPr>
          <a:xfrm>
            <a:off x="4031556" y="1055457"/>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 ¿Qué se hará? </a:t>
            </a:r>
            <a:endParaRPr kumimoji="0" sz="1200" b="1" i="0" u="none" strike="noStrike" kern="0" cap="none" spc="0" normalizeH="0" baseline="0" noProof="0" dirty="0">
              <a:ln>
                <a:noFill/>
              </a:ln>
              <a:solidFill>
                <a:srgbClr val="9F2241"/>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2026</a:t>
            </a:r>
            <a:endParaRPr kumimoji="0" sz="1200" b="0" i="0" u="none" strike="noStrike" kern="0" cap="none" spc="0" normalizeH="0" baseline="0" noProof="0" dirty="0">
              <a:ln>
                <a:noFill/>
              </a:ln>
              <a:solidFill>
                <a:srgbClr val="9F2241"/>
              </a:solidFill>
              <a:effectLst/>
              <a:uLnTx/>
              <a:uFillTx/>
              <a:latin typeface="Arial"/>
              <a:ea typeface="Arial"/>
              <a:cs typeface="Arial"/>
              <a:sym typeface="Arial"/>
            </a:endParaRPr>
          </a:p>
        </p:txBody>
      </p:sp>
      <p:pic>
        <p:nvPicPr>
          <p:cNvPr id="2" name="Google Shape;395;p15">
            <a:extLst>
              <a:ext uri="{FF2B5EF4-FFF2-40B4-BE49-F238E27FC236}">
                <a16:creationId xmlns:a16="http://schemas.microsoft.com/office/drawing/2014/main" id="{1B5687F4-45A0-92B4-9653-1598AF1BC42E}"/>
              </a:ext>
            </a:extLst>
          </p:cNvPr>
          <p:cNvPicPr preferRelativeResize="0"/>
          <p:nvPr/>
        </p:nvPicPr>
        <p:blipFill rotWithShape="1">
          <a:blip r:embed="rId4">
            <a:clrChange>
              <a:clrFrom>
                <a:srgbClr val="FFFFFF"/>
              </a:clrFrom>
              <a:clrTo>
                <a:srgbClr val="FFFFFF">
                  <a:alpha val="0"/>
                </a:srgbClr>
              </a:clrTo>
            </a:clrChange>
            <a:alphaModFix/>
            <a:duotone>
              <a:prstClr val="black"/>
              <a:srgbClr val="FF0000">
                <a:tint val="45000"/>
                <a:satMod val="400000"/>
              </a:srgbClr>
            </a:duotone>
          </a:blip>
          <a:srcRect/>
          <a:stretch/>
        </p:blipFill>
        <p:spPr>
          <a:xfrm>
            <a:off x="5590800" y="728870"/>
            <a:ext cx="1599000" cy="759936"/>
          </a:xfrm>
          <a:prstGeom prst="rect">
            <a:avLst/>
          </a:prstGeom>
          <a:noFill/>
          <a:ln>
            <a:noFill/>
          </a:ln>
        </p:spPr>
      </p:pic>
      <p:pic>
        <p:nvPicPr>
          <p:cNvPr id="3" name="Imagen 2">
            <a:extLst>
              <a:ext uri="{FF2B5EF4-FFF2-40B4-BE49-F238E27FC236}">
                <a16:creationId xmlns:a16="http://schemas.microsoft.com/office/drawing/2014/main" id="{493BD56D-50F4-B7CD-7D1A-69F0C3A8C29E}"/>
              </a:ext>
            </a:extLst>
          </p:cNvPr>
          <p:cNvPicPr>
            <a:picLocks noChangeAspect="1"/>
          </p:cNvPicPr>
          <p:nvPr/>
        </p:nvPicPr>
        <p:blipFill>
          <a:blip r:embed="rId5"/>
          <a:stretch>
            <a:fillRect/>
          </a:stretch>
        </p:blipFill>
        <p:spPr>
          <a:xfrm>
            <a:off x="3130" y="1658241"/>
            <a:ext cx="1671873" cy="2883901"/>
          </a:xfrm>
          <a:prstGeom prst="rect">
            <a:avLst/>
          </a:prstGeom>
        </p:spPr>
      </p:pic>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graphicFrame>
        <p:nvGraphicFramePr>
          <p:cNvPr id="9" name="Table 8"/>
          <p:cNvGraphicFramePr>
            <a:graphicFrameLocks noGrp="1"/>
          </p:cNvGraphicFramePr>
          <p:nvPr/>
        </p:nvGraphicFramePr>
        <p:xfrm>
          <a:off x="1785600" y="1584000"/>
          <a:ext cx="5396400" cy="2267991"/>
        </p:xfrm>
        <a:graphic>
          <a:graphicData uri="http://schemas.openxmlformats.org/drawingml/2006/table">
            <a:tbl>
              <a:tblPr firstRow="1" bandRow="1">
                <a:tableStyleId>{5C22544A-7EE6-4342-B048-85BDC9FD1C3A}</a:tableStyleId>
              </a:tblPr>
              <a:tblGrid>
                <a:gridCol w="4255200"/>
                <a:gridCol w="1141200"/>
              </a:tblGrid>
              <a:tr h="377998">
                <a:tc>
                  <a:txBody>
                    <a:bodyPr/>
                    <a:lstStyle/>
                    <a:p>
                      <a:pPr algn="ctr">
                        <a:defRPr b="1" sz="1000">
                          <a:solidFill>
                            <a:srgbClr val="FFFFFF"/>
                          </a:solidFill>
                          <a:latin typeface="Montserrat"/>
                        </a:defRPr>
                      </a:pPr>
                      <a:r>
                        <a:t>Obras de Infraestructura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377998">
                <a:tc>
                  <a:txBody>
                    <a:bodyPr/>
                    <a:lstStyle/>
                    <a:p>
                      <a:pPr algn="l">
                        <a:lnSpc>
                          <a:spcPct val="100000"/>
                        </a:lnSpc>
                      </a:pPr>
                      <a:r>
                        <a:rPr sz="1000">
                          <a:latin typeface="Montserrat"/>
                        </a:rPr>
                        <a:t>Ampliación y Remodelación UMF 6 San Juan del Río 20 CMF + 8 Enfermería + Urgencias + 4 Especialidades + MFR (13 existentes + 7 nuevos)</a:t>
                      </a:r>
                    </a:p>
                  </a:txBody>
                  <a:tcPr marL="3600" marR="3600" marT="3600" marB="3600">
                    <a:solidFill>
                      <a:srgbClr val="FFFFFF"/>
                    </a:solidFill>
                  </a:tcPr>
                </a:tc>
                <a:tc>
                  <a:txBody>
                    <a:bodyPr/>
                    <a:lstStyle/>
                    <a:p>
                      <a:pPr algn="ctr">
                        <a:lnSpc>
                          <a:spcPct val="100000"/>
                        </a:lnSpc>
                      </a:pPr>
                      <a:r>
                        <a:rPr sz="1000">
                          <a:latin typeface="Montserrat"/>
                        </a:rPr>
                        <a:t>$548.2</a:t>
                      </a:r>
                    </a:p>
                  </a:txBody>
                  <a:tcPr marL="3600" marR="3600" marT="3600" marB="3600">
                    <a:solidFill>
                      <a:srgbClr val="FFFFFF"/>
                    </a:solidFill>
                  </a:tcPr>
                </a:tc>
              </a:tr>
              <a:tr h="377998">
                <a:tc>
                  <a:txBody>
                    <a:bodyPr/>
                    <a:lstStyle/>
                    <a:p>
                      <a:pPr algn="l">
                        <a:lnSpc>
                          <a:spcPct val="100000"/>
                        </a:lnSpc>
                      </a:pPr>
                      <a:r>
                        <a:rPr sz="1000">
                          <a:latin typeface="Montserrat"/>
                        </a:rPr>
                        <a:t>CECI 200 Pedro Escobedo, CECI 150 El Marqués</a:t>
                      </a:r>
                    </a:p>
                  </a:txBody>
                  <a:tcPr marL="3600" marR="3600" marT="3600" marB="3600">
                    <a:solidFill>
                      <a:srgbClr val="D9D9D9"/>
                    </a:solidFill>
                  </a:tcPr>
                </a:tc>
                <a:tc>
                  <a:txBody>
                    <a:bodyPr/>
                    <a:lstStyle/>
                    <a:p>
                      <a:pPr algn="ctr">
                        <a:lnSpc>
                          <a:spcPct val="100000"/>
                        </a:lnSpc>
                      </a:pPr>
                      <a:r>
                        <a:rPr sz="1000">
                          <a:latin typeface="Montserrat"/>
                        </a:rPr>
                        <a:t>$99.1</a:t>
                      </a:r>
                    </a:p>
                  </a:txBody>
                  <a:tcPr marL="3600" marR="3600" marT="3600" marB="3600">
                    <a:solidFill>
                      <a:srgbClr val="D9D9D9"/>
                    </a:solidFill>
                  </a:tcPr>
                </a:tc>
              </a:tr>
              <a:tr h="377998">
                <a:tc>
                  <a:txBody>
                    <a:bodyPr/>
                    <a:lstStyle/>
                    <a:p>
                      <a:pPr algn="l">
                        <a:lnSpc>
                          <a:spcPct val="100000"/>
                        </a:lnSpc>
                      </a:pPr>
                      <a:r>
                        <a:rPr sz="1000">
                          <a:latin typeface="Montserrat"/>
                        </a:rPr>
                        <a:t>Ampliación de las Aulas y Áreas de Enseñanza del Hospital General Regional No. 1, Querétaro</a:t>
                      </a:r>
                    </a:p>
                  </a:txBody>
                  <a:tcPr marL="3600" marR="3600" marT="3600" marB="3600">
                    <a:solidFill>
                      <a:srgbClr val="FFFFFF"/>
                    </a:solidFill>
                  </a:tcPr>
                </a:tc>
                <a:tc>
                  <a:txBody>
                    <a:bodyPr/>
                    <a:lstStyle/>
                    <a:p>
                      <a:pPr algn="ctr">
                        <a:lnSpc>
                          <a:spcPct val="100000"/>
                        </a:lnSpc>
                      </a:pPr>
                      <a:r>
                        <a:rPr sz="1000">
                          <a:latin typeface="Montserrat"/>
                        </a:rPr>
                        <a:t>$27.5</a:t>
                      </a:r>
                    </a:p>
                  </a:txBody>
                  <a:tcPr marL="3600" marR="3600" marT="3600" marB="3600">
                    <a:solidFill>
                      <a:srgbClr val="FFFFFF"/>
                    </a:solidFill>
                  </a:tcPr>
                </a:tc>
              </a:tr>
              <a:tr h="377998">
                <a:tc>
                  <a:txBody>
                    <a:bodyPr/>
                    <a:lstStyle/>
                    <a:p>
                      <a:pPr algn="l">
                        <a:lnSpc>
                          <a:spcPct val="100000"/>
                        </a:lnSpc>
                      </a:pPr>
                      <a:r>
                        <a:rPr sz="1000">
                          <a:latin typeface="Montserrat"/>
                        </a:rPr>
                        <a:t>Construcción de la techumbre de la Cancha de Usos Múltiples de la U.D. Querétaro</a:t>
                      </a:r>
                    </a:p>
                  </a:txBody>
                  <a:tcPr marL="3600" marR="3600" marT="3600" marB="3600">
                    <a:solidFill>
                      <a:srgbClr val="D9D9D9"/>
                    </a:solidFill>
                  </a:tcPr>
                </a:tc>
                <a:tc>
                  <a:txBody>
                    <a:bodyPr/>
                    <a:lstStyle/>
                    <a:p>
                      <a:pPr algn="ctr">
                        <a:lnSpc>
                          <a:spcPct val="100000"/>
                        </a:lnSpc>
                      </a:pPr>
                      <a:r>
                        <a:rPr sz="1000">
                          <a:latin typeface="Montserrat"/>
                        </a:rPr>
                        <a:t>$6.5</a:t>
                      </a:r>
                    </a:p>
                  </a:txBody>
                  <a:tcPr marL="3600" marR="3600" marT="3600" marB="3600">
                    <a:solidFill>
                      <a:srgbClr val="D9D9D9"/>
                    </a:solidFill>
                  </a:tcPr>
                </a:tc>
              </a:tr>
              <a:tr h="378001">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$681.3</a:t>
                      </a:r>
                    </a:p>
                  </a:txBody>
                  <a:tcPr marL="3600" marR="3600" marT="3600" marB="3600">
                    <a:solidFill>
                      <a:srgbClr val="9F2241"/>
                    </a:solidFill>
                  </a:tcPr>
                </a:tc>
              </a:tr>
            </a:tbl>
          </a:graphicData>
        </a:graphic>
      </p:graphicFrame>
      <p:graphicFrame>
        <p:nvGraphicFramePr>
          <p:cNvPr id="10" name="Table 9"/>
          <p:cNvGraphicFramePr>
            <a:graphicFrameLocks noGrp="1"/>
          </p:cNvGraphicFramePr>
          <p:nvPr/>
        </p:nvGraphicFramePr>
        <p:xfrm>
          <a:off x="1785600" y="4031991"/>
          <a:ext cx="5396400" cy="1007996"/>
        </p:xfrm>
        <a:graphic>
          <a:graphicData uri="http://schemas.openxmlformats.org/drawingml/2006/table">
            <a:tbl>
              <a:tblPr firstRow="1" bandRow="1">
                <a:tableStyleId>{5C22544A-7EE6-4342-B048-85BDC9FD1C3A}</a:tableStyleId>
              </a:tblPr>
              <a:tblGrid>
                <a:gridCol w="4255200"/>
                <a:gridCol w="1141200"/>
              </a:tblGrid>
              <a:tr h="251999">
                <a:tc>
                  <a:txBody>
                    <a:bodyPr/>
                    <a:lstStyle/>
                    <a:p>
                      <a:pPr algn="ctr">
                        <a:defRPr b="1" sz="1000">
                          <a:solidFill>
                            <a:srgbClr val="FFFFFF"/>
                          </a:solidFill>
                          <a:latin typeface="Montserrat"/>
                        </a:defRPr>
                      </a:pPr>
                      <a:r>
                        <a:t>Obras de Conservación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251999">
                <a:tc>
                  <a:txBody>
                    <a:bodyPr/>
                    <a:lstStyle/>
                    <a:p>
                      <a:pPr algn="l">
                        <a:lnSpc>
                          <a:spcPct val="100000"/>
                        </a:lnSpc>
                      </a:pPr>
                      <a:r>
                        <a:rPr sz="1000">
                          <a:latin typeface="Montserrat"/>
                        </a:rPr>
                        <a:t>Mantenimiento de infraestructura (PAO 2026)</a:t>
                      </a:r>
                    </a:p>
                  </a:txBody>
                  <a:tcPr marL="3600" marR="3600" marT="3600" marB="3600">
                    <a:solidFill>
                      <a:srgbClr val="FFFFFF"/>
                    </a:solidFill>
                  </a:tcPr>
                </a:tc>
                <a:tc>
                  <a:txBody>
                    <a:bodyPr/>
                    <a:lstStyle/>
                    <a:p>
                      <a:pPr algn="ctr">
                        <a:lnSpc>
                          <a:spcPct val="100000"/>
                        </a:lnSpc>
                      </a:pPr>
                      <a:r>
                        <a:rPr sz="1000">
                          <a:latin typeface="Montserrat"/>
                        </a:rPr>
                        <a:t>$70.9</a:t>
                      </a:r>
                    </a:p>
                  </a:txBody>
                  <a:tcPr marL="3600" marR="3600" marT="3600" marB="3600">
                    <a:solidFill>
                      <a:srgbClr val="FFFFFF"/>
                    </a:solidFill>
                  </a:tcPr>
                </a:tc>
              </a:tr>
              <a:tr h="251999">
                <a:tc>
                  <a:txBody>
                    <a:bodyPr/>
                    <a:lstStyle/>
                    <a:p>
                      <a:pPr algn="l">
                        <a:lnSpc>
                          <a:spcPct val="100000"/>
                        </a:lnSpc>
                      </a:pPr>
                      <a:r>
                        <a:rPr sz="1000">
                          <a:latin typeface="Montserrat"/>
                        </a:rPr>
                        <a:t>Fortalecimiento de UCIN en HGR 1 Querétaro y HGR 2 El Marqués</a:t>
                      </a:r>
                    </a:p>
                  </a:txBody>
                  <a:tcPr marL="3600" marR="3600" marT="3600" marB="3600">
                    <a:solidFill>
                      <a:srgbClr val="D9D9D9"/>
                    </a:solidFill>
                  </a:tcPr>
                </a:tc>
                <a:tc>
                  <a:txBody>
                    <a:bodyPr/>
                    <a:lstStyle/>
                    <a:p>
                      <a:pPr algn="ctr">
                        <a:lnSpc>
                          <a:spcPct val="100000"/>
                        </a:lnSpc>
                      </a:pPr>
                      <a:r>
                        <a:rPr sz="1000">
                          <a:latin typeface="Montserrat"/>
                        </a:rPr>
                        <a:t>$0.0</a:t>
                      </a:r>
                    </a:p>
                  </a:txBody>
                  <a:tcPr marL="3600" marR="3600" marT="3600" marB="3600">
                    <a:solidFill>
                      <a:srgbClr val="D9D9D9"/>
                    </a:solidFill>
                  </a:tcPr>
                </a:tc>
              </a:tr>
              <a:tr h="251999">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$70.9</a:t>
                      </a:r>
                    </a:p>
                  </a:txBody>
                  <a:tcPr marL="3600" marR="3600" marT="3600" marB="3600">
                    <a:solidFill>
                      <a:srgbClr val="9F2241"/>
                    </a:solidFill>
                  </a:tcPr>
                </a:tc>
              </a:tr>
            </a:tbl>
          </a:graphicData>
        </a:graphic>
      </p:graphicFrame>
      <p:graphicFrame>
        <p:nvGraphicFramePr>
          <p:cNvPr id="11" name="Table 10"/>
          <p:cNvGraphicFramePr>
            <a:graphicFrameLocks noGrp="1"/>
          </p:cNvGraphicFramePr>
          <p:nvPr/>
        </p:nvGraphicFramePr>
        <p:xfrm>
          <a:off x="1785600" y="5219987"/>
          <a:ext cx="5396400" cy="1007996"/>
        </p:xfrm>
        <a:graphic>
          <a:graphicData uri="http://schemas.openxmlformats.org/drawingml/2006/table">
            <a:tbl>
              <a:tblPr firstRow="1" bandRow="1">
                <a:tableStyleId>{5C22544A-7EE6-4342-B048-85BDC9FD1C3A}</a:tableStyleId>
              </a:tblPr>
              <a:tblGrid>
                <a:gridCol w="4255200"/>
                <a:gridCol w="1141200"/>
              </a:tblGrid>
              <a:tr h="503998">
                <a:tc>
                  <a:txBody>
                    <a:bodyPr/>
                    <a:lstStyle/>
                    <a:p>
                      <a:pPr algn="ctr">
                        <a:defRPr b="1" sz="1000">
                          <a:solidFill>
                            <a:srgbClr val="FFFFFF"/>
                          </a:solidFill>
                          <a:latin typeface="Montserrat"/>
                        </a:defRPr>
                      </a:pPr>
                      <a:r>
                        <a:t>Equipamiento Electromecánico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503998">
                <a:tc>
                  <a:txBody>
                    <a:bodyPr/>
                    <a:lstStyle/>
                    <a:p>
                      <a:pPr algn="l">
                        <a:lnSpc>
                          <a:spcPct val="100000"/>
                        </a:lnSpc>
                      </a:pPr>
                      <a:r>
                        <a:rPr sz="1000">
                          <a:latin typeface="Montserrat"/>
                        </a:rPr>
                        <a:t>28 equipos electromecánicos para 10 unidades; 13 equipos para aire acondicionado, 2 lavadoras, 2 secadoras y 11 equipos para casa de máquinas</a:t>
                      </a:r>
                    </a:p>
                  </a:txBody>
                  <a:tcPr marL="3600" marR="3600" marT="3600" marB="3600">
                    <a:solidFill>
                      <a:srgbClr val="FFFFFF"/>
                    </a:solidFill>
                  </a:tcPr>
                </a:tc>
                <a:tc>
                  <a:txBody>
                    <a:bodyPr/>
                    <a:lstStyle/>
                    <a:p>
                      <a:pPr algn="ctr">
                        <a:lnSpc>
                          <a:spcPct val="100000"/>
                        </a:lnSpc>
                      </a:pPr>
                      <a:r>
                        <a:rPr sz="1000">
                          <a:latin typeface="Montserrat"/>
                        </a:rPr>
                        <a:t>$72.7</a:t>
                      </a:r>
                    </a:p>
                  </a:txBody>
                  <a:tcPr marL="3600" marR="3600" marT="3600" marB="3600">
                    <a:solidFill>
                      <a:srgbClr val="FFFFFF"/>
                    </a:solidFill>
                  </a:tcPr>
                </a:tc>
              </a:tr>
            </a:tbl>
          </a:graphicData>
        </a:graphic>
      </p:graphicFrame>
      <p:sp>
        <p:nvSpPr>
          <p:cNvPr id="12" name="TextBox 11"/>
          <p:cNvSpPr txBox="1"/>
          <p:nvPr/>
        </p:nvSpPr>
        <p:spPr>
          <a:xfrm>
            <a:off x="5781600" y="878400"/>
            <a:ext cx="1306800" cy="338400"/>
          </a:xfrm>
          <a:prstGeom prst="rect">
            <a:avLst/>
          </a:prstGeom>
          <a:noFill/>
        </p:spPr>
        <p:txBody>
          <a:bodyPr wrap="none">
            <a:spAutoFit/>
          </a:bodyPr>
          <a:lstStyle/>
          <a:p>
            <a:pPr algn="ctr">
              <a:defRPr sz="1400" b="1">
                <a:solidFill>
                  <a:srgbClr val="FFFFFF"/>
                </a:solidFill>
                <a:latin typeface="Montserrat"/>
              </a:defRPr>
            </a:pPr>
            <a:r>
              <a:t>824.9</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64733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FE744575-7751-A208-3347-5F7CBAC2C786}"/>
            </a:ext>
          </a:extLst>
        </p:cNvPr>
        <p:cNvGrpSpPr/>
        <p:nvPr/>
      </p:nvGrpSpPr>
      <p:grpSpPr>
        <a:xfrm>
          <a:off x="0" y="0"/>
          <a:ext cx="0" cy="0"/>
          <a:chOff x="0" y="0"/>
          <a:chExt cx="0" cy="0"/>
        </a:xfrm>
      </p:grpSpPr>
      <p:pic>
        <p:nvPicPr>
          <p:cNvPr id="7" name="Google Shape;551;g3d0ffe769cd_0_0">
            <a:extLst>
              <a:ext uri="{FF2B5EF4-FFF2-40B4-BE49-F238E27FC236}">
                <a16:creationId xmlns:a16="http://schemas.microsoft.com/office/drawing/2014/main" id="{5BD5C9B2-AB8A-FA14-D2D6-EBEB470169FF}"/>
              </a:ext>
            </a:extLst>
          </p:cNvPr>
          <p:cNvPicPr preferRelativeResize="0"/>
          <p:nvPr/>
        </p:nvPicPr>
        <p:blipFill rotWithShape="1">
          <a:blip r:embed="rId4">
            <a:alphaModFix/>
          </a:blip>
          <a:srcRect l="382" t="14684" r="1598" b="17771"/>
          <a:stretch/>
        </p:blipFill>
        <p:spPr>
          <a:xfrm>
            <a:off x="230902" y="5977920"/>
            <a:ext cx="7368300" cy="2862900"/>
          </a:xfrm>
          <a:prstGeom prst="rect">
            <a:avLst/>
          </a:prstGeom>
          <a:noFill/>
          <a:ln>
            <a:noFill/>
          </a:ln>
        </p:spPr>
      </p:pic>
      <p:graphicFrame>
        <p:nvGraphicFramePr>
          <p:cNvPr id="2" name="Google Shape;394;p15">
            <a:extLst>
              <a:ext uri="{FF2B5EF4-FFF2-40B4-BE49-F238E27FC236}">
                <a16:creationId xmlns:a16="http://schemas.microsoft.com/office/drawing/2014/main" id="{57BAAA0D-10FB-75CD-3071-B491398A053A}"/>
              </a:ext>
            </a:extLst>
          </p:cNvPr>
          <p:cNvGraphicFramePr/>
          <p:nvPr/>
        </p:nvGraphicFramePr>
        <p:xfrm>
          <a:off x="287700" y="11592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en planeación</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4" name="Google Shape;559;g3d0ffe769cd_0_0">
            <a:extLst>
              <a:ext uri="{FF2B5EF4-FFF2-40B4-BE49-F238E27FC236}">
                <a16:creationId xmlns:a16="http://schemas.microsoft.com/office/drawing/2014/main" id="{74EA239F-AD11-6BB6-2B07-15FDA93930A1}"/>
              </a:ext>
            </a:extLst>
          </p:cNvPr>
          <p:cNvGraphicFramePr/>
          <p:nvPr/>
        </p:nvGraphicFramePr>
        <p:xfrm>
          <a:off x="147600" y="5029200"/>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A42145"/>
                          </a:solidFill>
                          <a:latin typeface="Montserrat"/>
                          <a:ea typeface="Montserrat"/>
                          <a:cs typeface="Montserrat"/>
                          <a:sym typeface="Montserrat"/>
                        </a:rPr>
                        <a:t>Propuestas </a:t>
                      </a:r>
                      <a:r>
                        <a:rPr lang="es" sz="2100" b="1" dirty="0">
                          <a:solidFill>
                            <a:srgbClr val="A42145"/>
                          </a:solidFill>
                          <a:latin typeface="Montserrat"/>
                          <a:ea typeface="Montserrat"/>
                          <a:cs typeface="Montserrat"/>
                          <a:sym typeface="Montserrat"/>
                        </a:rPr>
                        <a:t>en</a:t>
                      </a:r>
                      <a:r>
                        <a:rPr lang="es" sz="2100" b="1" u="none" strike="noStrike" cap="none" dirty="0">
                          <a:solidFill>
                            <a:srgbClr val="A42145"/>
                          </a:solidFill>
                          <a:latin typeface="Montserrat"/>
                          <a:ea typeface="Montserrat"/>
                          <a:cs typeface="Montserrat"/>
                          <a:sym typeface="Montserrat"/>
                        </a:rPr>
                        <a:t> valoración</a:t>
                      </a:r>
                      <a:endParaRPr sz="2100" b="1" u="none" strike="noStrike" cap="none" dirty="0">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 name="Google Shape;552;g3d0ffe769cd_0_0">
            <a:extLst>
              <a:ext uri="{FF2B5EF4-FFF2-40B4-BE49-F238E27FC236}">
                <a16:creationId xmlns:a16="http://schemas.microsoft.com/office/drawing/2014/main" id="{1CFCE444-12DD-D109-A796-7924C33A5D14}"/>
              </a:ext>
            </a:extLst>
          </p:cNvPr>
          <p:cNvSpPr/>
          <p:nvPr/>
        </p:nvSpPr>
        <p:spPr>
          <a:xfrm>
            <a:off x="234692" y="6000034"/>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 name="Google Shape;556;g3d0ffe769cd_0_0">
            <a:extLst>
              <a:ext uri="{FF2B5EF4-FFF2-40B4-BE49-F238E27FC236}">
                <a16:creationId xmlns:a16="http://schemas.microsoft.com/office/drawing/2014/main" id="{7A6658D4-29D8-8663-D2C5-74863CD96596}"/>
              </a:ext>
            </a:extLst>
          </p:cNvPr>
          <p:cNvSpPr/>
          <p:nvPr/>
        </p:nvSpPr>
        <p:spPr>
          <a:xfrm>
            <a:off x="852084" y="6140331"/>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1" name="Google Shape;553;g3d0ffe769cd_0_0">
            <a:extLst>
              <a:ext uri="{FF2B5EF4-FFF2-40B4-BE49-F238E27FC236}">
                <a16:creationId xmlns:a16="http://schemas.microsoft.com/office/drawing/2014/main" id="{C2E1F9A0-4911-B1FF-D485-66518A66B9A6}"/>
              </a:ext>
            </a:extLst>
          </p:cNvPr>
          <p:cNvSpPr/>
          <p:nvPr/>
        </p:nvSpPr>
        <p:spPr>
          <a:xfrm>
            <a:off x="290798" y="6906978"/>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2" name="Google Shape;554;g3d0ffe769cd_0_0">
            <a:extLst>
              <a:ext uri="{FF2B5EF4-FFF2-40B4-BE49-F238E27FC236}">
                <a16:creationId xmlns:a16="http://schemas.microsoft.com/office/drawing/2014/main" id="{6C0AF4EA-FBE1-4238-8146-A4C96C7D760B}"/>
              </a:ext>
            </a:extLst>
          </p:cNvPr>
          <p:cNvSpPr txBox="1"/>
          <p:nvPr/>
        </p:nvSpPr>
        <p:spPr>
          <a:xfrm>
            <a:off x="276701" y="7497965"/>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8" name="Google Shape;562;g3d0ffe769cd_0_0">
            <a:extLst>
              <a:ext uri="{FF2B5EF4-FFF2-40B4-BE49-F238E27FC236}">
                <a16:creationId xmlns:a16="http://schemas.microsoft.com/office/drawing/2014/main" id="{D407F8E2-D0BB-FA42-30DC-AD7126C10878}"/>
              </a:ext>
            </a:extLst>
          </p:cNvPr>
          <p:cNvSpPr txBox="1"/>
          <p:nvPr/>
        </p:nvSpPr>
        <p:spPr>
          <a:xfrm rot="16200000">
            <a:off x="1958850" y="7286400"/>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9" name="TextBox 1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graphicFrame>
        <p:nvGraphicFramePr>
          <p:cNvPr id="20" name="Table 19"/>
          <p:cNvGraphicFramePr>
            <a:graphicFrameLocks noGrp="1"/>
          </p:cNvGraphicFramePr>
          <p:nvPr/>
        </p:nvGraphicFramePr>
        <p:xfrm>
          <a:off x="691200" y="1584000"/>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Infraestructura</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a:txBody>
                    <a:bodyPr/>
                    <a:lstStyle/>
                    <a:p>
                      <a:pPr algn="l">
                        <a:defRPr sz="1000">
                          <a:latin typeface="Montserrat"/>
                        </a:defRPr>
                      </a:pPr>
                      <a:r>
                        <a:t>Hospital del Niño Quemado (Por definir)</a:t>
                      </a:r>
                    </a:p>
                  </a:txBody>
                  <a:tcPr>
                    <a:solidFill>
                      <a:srgbClr val="FFFFFF"/>
                    </a:solidFill>
                  </a:tcPr>
                </a:tc>
                <a:tc>
                  <a:txBody>
                    <a:bodyPr/>
                    <a:lstStyle/>
                    <a:p>
                      <a:pPr algn="ctr">
                        <a:defRPr sz="1000">
                          <a:latin typeface="Montserrat"/>
                        </a:defRPr>
                      </a:pPr>
                      <a:r>
                        <a:t>$0.0</a:t>
                      </a:r>
                    </a:p>
                  </a:txBody>
                  <a:tcPr>
                    <a:solidFill>
                      <a:srgbClr val="FFFFFF"/>
                    </a:solidFill>
                  </a:tcPr>
                </a:tc>
              </a:tr>
            </a:tbl>
          </a:graphicData>
        </a:graphic>
      </p:graphicFrame>
      <p:graphicFrame>
        <p:nvGraphicFramePr>
          <p:cNvPr id="21" name="Table 20"/>
          <p:cNvGraphicFramePr>
            <a:graphicFrameLocks noGrp="1"/>
          </p:cNvGraphicFramePr>
          <p:nvPr/>
        </p:nvGraphicFramePr>
        <p:xfrm>
          <a:off x="691200" y="2267998"/>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Conservación</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2" name="Table 21"/>
          <p:cNvGraphicFramePr>
            <a:graphicFrameLocks noGrp="1"/>
          </p:cNvGraphicFramePr>
          <p:nvPr/>
        </p:nvGraphicFramePr>
        <p:xfrm>
          <a:off x="691200" y="2951996"/>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Equipo Médico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3" name="Table 22"/>
          <p:cNvGraphicFramePr>
            <a:graphicFrameLocks noGrp="1"/>
          </p:cNvGraphicFramePr>
          <p:nvPr/>
        </p:nvGraphicFramePr>
        <p:xfrm>
          <a:off x="691200" y="3635994"/>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Equipamiento Electromecánico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4" name="Table 23"/>
          <p:cNvGraphicFramePr>
            <a:graphicFrameLocks noGrp="1"/>
          </p:cNvGraphicFramePr>
          <p:nvPr/>
        </p:nvGraphicFramePr>
        <p:xfrm>
          <a:off x="2552400" y="6141600"/>
          <a:ext cx="4928400" cy="1861200"/>
        </p:xfrm>
        <a:graphic>
          <a:graphicData uri="http://schemas.openxmlformats.org/drawingml/2006/table">
            <a:tbl>
              <a:tblPr firstRow="1" bandRow="1">
                <a:tableStyleId>{5C22544A-7EE6-4342-B048-85BDC9FD1C3A}</a:tableStyleId>
              </a:tblPr>
              <a:tblGrid>
                <a:gridCol w="471600"/>
                <a:gridCol w="1828800"/>
                <a:gridCol w="2628000"/>
              </a:tblGrid>
              <a:tr h="465300">
                <a:tc gridSpan="3">
                  <a:txBody>
                    <a:bodyPr/>
                    <a:lstStyle/>
                    <a:p>
                      <a:pPr algn="ctr">
                        <a:defRPr sz="1400" b="1">
                          <a:solidFill>
                            <a:srgbClr val="FFFFFF"/>
                          </a:solidFill>
                          <a:latin typeface="Montserrat"/>
                        </a:defRPr>
                      </a:pPr>
                      <a:r>
                        <a:t>5 Predios en ruta 2026</a:t>
                      </a:r>
                    </a:p>
                  </a:txBody>
                  <a:tcPr marL="72000" marR="72000" anchor="ctr">
                    <a:solidFill>
                      <a:srgbClr val="705085"/>
                    </a:solidFill>
                  </a:tcPr>
                </a:tc>
                <a:tc hMerge="1">
                  <a:txBody>
                    <a:bodyPr/>
                    <a:lstStyle/>
                    <a:p/>
                  </a:txBody>
                  <a:tcPr marL="72000" marR="72000" anchor="ctr"/>
                </a:tc>
                <a:tc hMerge="1">
                  <a:txBody>
                    <a:bodyPr/>
                    <a:lstStyle/>
                    <a:p/>
                  </a:txBody>
                  <a:tcPr marL="72000" marR="72000" anchor="ctr"/>
                </a:tc>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tr>
              <a:tr h="465300">
                <a:tc rowSpan="2">
                  <a:txBody>
                    <a:bodyPr/>
                    <a:lstStyle/>
                    <a:p/>
                  </a:txBody>
                  <a:tcPr marL="72000" marR="72000" anchor="ctr">
                    <a:noFill/>
                  </a:tcPr>
                </a:tc>
                <a:tc>
                  <a:txBody>
                    <a:bodyPr/>
                    <a:lstStyle/>
                    <a:p>
                      <a:pPr algn="ctr">
                        <a:defRPr sz="1200" b="1">
                          <a:solidFill>
                            <a:srgbClr val="FFFFFF"/>
                          </a:solidFill>
                          <a:latin typeface="Montserrat"/>
                        </a:defRPr>
                      </a:pPr>
                      <a:r>
                        <a:t>3 Reserva IMSS</a:t>
                      </a:r>
                    </a:p>
                  </a:txBody>
                  <a:tcPr marL="72000" marR="72000" anchor="ctr">
                    <a:noFill/>
                  </a:tcPr>
                </a:tc>
                <a:tc>
                  <a:txBody>
                    <a:bodyPr/>
                    <a:lstStyle/>
                    <a:p>
                      <a:pPr algn="ctr">
                        <a:defRPr sz="1200" b="0">
                          <a:solidFill>
                            <a:srgbClr val="FFFFFF"/>
                          </a:solidFill>
                          <a:latin typeface="Montserrat"/>
                        </a:defRPr>
                      </a:pPr>
                      <a:r>
                        <a:t>Pedro Escobedo, El Marqués</a:t>
                      </a:r>
                    </a:p>
                  </a:txBody>
                  <a:tcPr marL="72000" marR="72000" anchor="ctr">
                    <a:noFill/>
                  </a:tcPr>
                </a:tc>
              </a:tr>
              <a:tr h="465300">
                <a:tc vMerge="1">
                  <a:txBody>
                    <a:bodyPr/>
                    <a:lstStyle/>
                    <a:p/>
                  </a:txBody>
                  <a:tcPr marL="72000" marR="72000" anchor="ctr"/>
                </a:tc>
                <a:tc>
                  <a:txBody>
                    <a:bodyPr/>
                    <a:lstStyle/>
                    <a:p>
                      <a:pPr algn="ctr">
                        <a:defRPr sz="1200" b="1">
                          <a:solidFill>
                            <a:srgbClr val="FFFFFF"/>
                          </a:solidFill>
                          <a:latin typeface="Montserrat"/>
                        </a:defRPr>
                      </a:pPr>
                      <a:r>
                        <a:t>2 Donación</a:t>
                      </a:r>
                    </a:p>
                  </a:txBody>
                  <a:tcPr marL="72000" marR="72000" anchor="ctr">
                    <a:noFill/>
                  </a:tcPr>
                </a:tc>
                <a:tc>
                  <a:txBody>
                    <a:bodyPr/>
                    <a:lstStyle/>
                    <a:p>
                      <a:pPr algn="ctr">
                        <a:defRPr sz="1200" b="0">
                          <a:solidFill>
                            <a:srgbClr val="FFFFFF"/>
                          </a:solidFill>
                          <a:latin typeface="Montserrat"/>
                        </a:defRPr>
                      </a:pPr>
                      <a:r>
                        <a:t>Tequisquiapan, San Juan del Río</a:t>
                      </a:r>
                    </a:p>
                  </a:txBody>
                  <a:tcPr marL="72000" marR="72000" anchor="ctr">
                    <a:noFill/>
                  </a:tcPr>
                </a:tc>
              </a:tr>
            </a:tbl>
          </a:graphicData>
        </a:graphic>
      </p:graphicFrame>
      <p:sp>
        <p:nvSpPr>
          <p:cNvPr id="25" name="Oval 24"/>
          <p:cNvSpPr/>
          <p:nvPr/>
        </p:nvSpPr>
        <p:spPr>
          <a:xfrm>
            <a:off x="885600" y="6163200"/>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705085"/>
                </a:solidFill>
                <a:latin typeface="Montserrat"/>
              </a:defRPr>
            </a:pPr>
            <a:r>
              <a:t>12</a:t>
            </a:r>
          </a:p>
        </p:txBody>
      </p:sp>
      <p:sp>
        <p:nvSpPr>
          <p:cNvPr id="26" name="Rectangle 25"/>
          <p:cNvSpPr/>
          <p:nvPr/>
        </p:nvSpPr>
        <p:spPr>
          <a:xfrm>
            <a:off x="363600" y="6948000"/>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000" rIns="36000" tIns="36000" bIns="36000"/>
          <a:lstStyle/>
          <a:p>
            <a:pPr algn="ctr">
              <a:defRPr sz="1500" b="1">
                <a:solidFill>
                  <a:srgbClr val="FFFFFF"/>
                </a:solidFill>
                <a:latin typeface="Montserrat"/>
              </a:defRPr>
            </a:pPr>
            <a:r>
              <a:t>12 CECI IMSS</a:t>
            </a:r>
          </a:p>
          <a:p>
            <a:pPr algn="ctr">
              <a:defRPr sz="1500" b="1">
                <a:solidFill>
                  <a:srgbClr val="FFFFFF"/>
                </a:solidFill>
                <a:latin typeface="Montserrat"/>
              </a:defRPr>
            </a:pPr>
            <a:r>
              <a:t>0 CECI CAMPO</a:t>
            </a:r>
          </a:p>
        </p:txBody>
      </p:sp>
      <p:sp>
        <p:nvSpPr>
          <p:cNvPr id="27" name="TextBox 26"/>
          <p:cNvSpPr txBox="1"/>
          <p:nvPr/>
        </p:nvSpPr>
        <p:spPr>
          <a:xfrm>
            <a:off x="0" y="9273600"/>
            <a:ext cx="7574400" cy="230400"/>
          </a:xfrm>
          <a:prstGeom prst="rect">
            <a:avLst/>
          </a:prstGeom>
          <a:noFill/>
        </p:spPr>
        <p:txBody>
          <a:bodyPr wrap="square" tIns="0" bIns="0" lIns="0" rIns="0">
            <a:spAutoFit/>
          </a:bodyPr>
          <a:lstStyle/>
          <a:p>
            <a:pPr algn="l">
              <a:defRPr sz="900">
                <a:solidFill>
                  <a:srgbClr val="000000"/>
                </a:solidFill>
                <a:latin typeface="Montserrat"/>
              </a:defRPr>
            </a:pPr>
            <a:r>
              <a:t>¹ 1/Terrenos validados. Para entregar a SICT: 2 en El Marqués y Pedro Escobedo. En validación o en integración de expediente para donación: 3 en Tequisquiapan y San Juan del Río.</a:t>
            </a:r>
          </a:p>
        </p:txBody>
      </p:sp>
    </p:spTree>
    <p:extLst>
      <p:ext uri="{BB962C8B-B14F-4D97-AF65-F5344CB8AC3E}">
        <p14:creationId xmlns:p14="http://schemas.microsoft.com/office/powerpoint/2010/main" val="30077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3011565"/>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4913783"/>
            <a:ext cx="926657" cy="813175"/>
          </a:xfrm>
          <a:prstGeom prst="rect">
            <a:avLst/>
          </a:prstGeom>
          <a:noFill/>
          <a:ln>
            <a:noFill/>
          </a:ln>
        </p:spPr>
      </p:pic>
      <p:sp>
        <p:nvSpPr>
          <p:cNvPr id="460" name="Google Shape;460;p16"/>
          <p:cNvSpPr/>
          <p:nvPr/>
        </p:nvSpPr>
        <p:spPr>
          <a:xfrm>
            <a:off x="866642" y="1681836"/>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QUERÉTARO</a:t>
            </a:r>
          </a:p>
        </p:txBody>
      </p:sp>
      <p:graphicFrame>
        <p:nvGraphicFramePr>
          <p:cNvPr id="467" name="Table 466"/>
          <p:cNvGraphicFramePr>
            <a:graphicFrameLocks noGrp="1"/>
          </p:cNvGraphicFramePr>
          <p:nvPr/>
        </p:nvGraphicFramePr>
        <p:xfrm>
          <a:off x="2311200" y="1670400"/>
          <a:ext cx="5032800" cy="666000"/>
        </p:xfrm>
        <a:graphic>
          <a:graphicData uri="http://schemas.openxmlformats.org/drawingml/2006/table">
            <a:tbl>
              <a:tblPr firstRow="1" bandRow="1">
                <a:tableStyleId>{5C22544A-7EE6-4342-B048-85BDC9FD1C3A}</a:tableStyleId>
              </a:tblPr>
              <a:tblGrid>
                <a:gridCol w="1576800"/>
                <a:gridCol w="3456000"/>
              </a:tblGrid>
              <a:tr h="333000">
                <a:tc gridSpan="2">
                  <a:txBody>
                    <a:bodyPr/>
                    <a:lstStyle/>
                    <a:p>
                      <a:pPr algn="ctr"/>
                      <a:r>
                        <a:rPr b="1" sz="1000">
                          <a:solidFill>
                            <a:srgbClr val="FFFFFF"/>
                          </a:solidFill>
                          <a:latin typeface="Montserrat"/>
                        </a:rPr>
                        <a:t>GUARDERÍAS</a:t>
                      </a:r>
                    </a:p>
                  </a:txBody>
                  <a:tcPr marT="0" marB="0" marL="0" marR="0" anchor="ctr">
                    <a:solidFill>
                      <a:srgbClr val="006455"/>
                    </a:solidFill>
                  </a:tcPr>
                </a:tc>
                <a:tc hMerge="1">
                  <a:txBody>
                    <a:bodyPr/>
                    <a:lstStyle/>
                    <a:p/>
                  </a:txBody>
                  <a:tcPr/>
                </a:tc>
              </a:tr>
              <a:tr h="333000">
                <a:tc>
                  <a:txBody>
                    <a:bodyPr/>
                    <a:lstStyle/>
                    <a:p>
                      <a:pPr algn="ctr"/>
                      <a:r>
                        <a:rPr b="1" sz="1000">
                          <a:latin typeface="Montserrat"/>
                        </a:rPr>
                        <a:t>31 </a:t>
                      </a:r>
                      <a:r>
                        <a:rPr b="1" sz="1000">
                          <a:latin typeface="Montserrat"/>
                        </a:rPr>
                        <a:t>unidades</a:t>
                      </a:r>
                    </a:p>
                    <a:p>
                      <a:pPr algn="ctr">
                        <a:defRPr sz="1000">
                          <a:solidFill>
                            <a:srgbClr val="505050"/>
                          </a:solidFill>
                          <a:latin typeface="Montserrat"/>
                        </a:defRPr>
                      </a:pPr>
                      <a:r>
                        <a:t>1 directas</a:t>
                      </a:r>
                    </a:p>
                    <a:p>
                      <a:pPr algn="ctr">
                        <a:defRPr sz="1000">
                          <a:solidFill>
                            <a:srgbClr val="505050"/>
                          </a:solidFill>
                          <a:latin typeface="Montserrat"/>
                        </a:defRPr>
                      </a:pPr>
                      <a:r>
                        <a:t>30 indirectas</a:t>
                      </a:r>
                    </a:p>
                  </a:txBody>
                  <a:tcPr anchor="ctr">
                    <a:solidFill>
                      <a:srgbClr val="FFFFFF"/>
                    </a:solidFill>
                  </a:tcPr>
                </a:tc>
                <a:tc>
                  <a:txBody>
                    <a:bodyPr/>
                    <a:lstStyle/>
                    <a:p>
                      <a:pPr algn="ctr"/>
                      <a:r>
                        <a:rPr b="1" sz="1000">
                          <a:latin typeface="Montserrat"/>
                        </a:rPr>
                        <a:t>5,719 </a:t>
                      </a:r>
                      <a:r>
                        <a:rPr b="1" sz="1000">
                          <a:latin typeface="Montserrat"/>
                        </a:rPr>
                        <a:t>inscritos</a:t>
                      </a:r>
                    </a:p>
                    <a:p>
                      <a:pPr algn="ctr">
                        <a:defRPr sz="1000">
                          <a:solidFill>
                            <a:srgbClr val="505050"/>
                          </a:solidFill>
                          <a:latin typeface="Montserrat"/>
                        </a:defRPr>
                      </a:pPr>
                      <a:r>
                        <a:t>1,861 en espera</a:t>
                      </a:r>
                    </a:p>
                  </a:txBody>
                  <a:tcPr anchor="ctr">
                    <a:solidFill>
                      <a:srgbClr val="FFFFFF"/>
                    </a:solidFill>
                  </a:tcPr>
                </a:tc>
              </a:tr>
            </a:tbl>
          </a:graphicData>
        </a:graphic>
      </p:graphicFrame>
      <p:graphicFrame>
        <p:nvGraphicFramePr>
          <p:cNvPr id="468" name="Table 467"/>
          <p:cNvGraphicFramePr>
            <a:graphicFrameLocks noGrp="1"/>
          </p:cNvGraphicFramePr>
          <p:nvPr/>
        </p:nvGraphicFramePr>
        <p:xfrm>
          <a:off x="2311200" y="2570400"/>
          <a:ext cx="5032800" cy="2091599"/>
        </p:xfrm>
        <a:graphic>
          <a:graphicData uri="http://schemas.openxmlformats.org/drawingml/2006/table">
            <a:tbl>
              <a:tblPr firstRow="1" bandRow="1">
                <a:tableStyleId>{5C22544A-7EE6-4342-B048-85BDC9FD1C3A}</a:tableStyleId>
              </a:tblPr>
              <a:tblGrid>
                <a:gridCol w="1576800"/>
                <a:gridCol w="3456000"/>
              </a:tblGrid>
              <a:tr h="418319">
                <a:tc gridSpan="2">
                  <a:txBody>
                    <a:bodyPr/>
                    <a:lstStyle/>
                    <a:p>
                      <a:pPr algn="ctr">
                        <a:defRPr b="1" sz="1000">
                          <a:solidFill>
                            <a:srgbClr val="FFFFFF"/>
                          </a:solidFill>
                          <a:latin typeface="Montserrat"/>
                        </a:defRPr>
                      </a:pPr>
                      <a:r>
                        <a:t>BIENESTAR SOCIAL</a:t>
                      </a:r>
                    </a:p>
                  </a:txBody>
                  <a:tcPr anchor="ctr">
                    <a:solidFill>
                      <a:srgbClr val="006455"/>
                    </a:solidFill>
                  </a:tcPr>
                </a:tc>
                <a:tc hMerge="1">
                  <a:txBody>
                    <a:bodyPr/>
                    <a:lstStyle/>
                    <a:p/>
                  </a:txBody>
                  <a:tcPr/>
                </a:tc>
              </a:tr>
              <a:tr h="418319">
                <a:tc>
                  <a:txBody>
                    <a:bodyPr/>
                    <a:lstStyle/>
                    <a:p>
                      <a:pPr algn="ctr">
                        <a:defRPr sz="800" b="1">
                          <a:latin typeface="Montserrat"/>
                        </a:defRPr>
                      </a:pPr>
                      <a:r>
                        <a:t>1 CECEM</a:t>
                      </a:r>
                    </a:p>
                  </a:txBody>
                  <a:tcPr anchor="ctr" marL="28800" marR="28800" marT="0" marB="0">
                    <a:solidFill>
                      <a:srgbClr val="FFFFFF"/>
                    </a:solidFill>
                  </a:tcPr>
                </a:tc>
                <a:tc>
                  <a:txBody>
                    <a:bodyPr/>
                    <a:lstStyle/>
                    <a:p>
                      <a:pPr algn="ctr">
                        <a:defRPr sz="800">
                          <a:latin typeface="Montserrat"/>
                        </a:defRPr>
                      </a:pPr>
                      <a:r>
                        <a:t>San Pedrito Peñuelas</a:t>
                      </a:r>
                    </a:p>
                  </a:txBody>
                  <a:tcPr anchor="ctr" marL="28800" marR="28800" marT="0" marB="0">
                    <a:solidFill>
                      <a:srgbClr val="FFFFFF"/>
                    </a:solidFill>
                  </a:tcPr>
                </a:tc>
              </a:tr>
              <a:tr h="418319">
                <a:tc>
                  <a:txBody>
                    <a:bodyPr/>
                    <a:lstStyle/>
                    <a:p>
                      <a:pPr algn="ctr">
                        <a:defRPr sz="800" b="1">
                          <a:latin typeface="Montserrat"/>
                        </a:defRPr>
                      </a:pPr>
                      <a:r>
                        <a:t>1 Centro de Seguridad Social</a:t>
                      </a:r>
                    </a:p>
                  </a:txBody>
                  <a:tcPr anchor="ctr" marL="28800" marR="28800" marT="0" marB="0">
                    <a:solidFill>
                      <a:srgbClr val="EFEFEF"/>
                    </a:solidFill>
                  </a:tcPr>
                </a:tc>
                <a:tc>
                  <a:txBody>
                    <a:bodyPr/>
                    <a:lstStyle/>
                    <a:p>
                      <a:pPr algn="ctr">
                        <a:defRPr sz="800">
                          <a:latin typeface="Montserrat"/>
                        </a:defRPr>
                      </a:pPr>
                      <a:r>
                        <a:t>Querétaro</a:t>
                      </a:r>
                    </a:p>
                  </a:txBody>
                  <a:tcPr anchor="ctr" marL="28800" marR="28800" marT="0" marB="0">
                    <a:solidFill>
                      <a:srgbClr val="EFEFEF"/>
                    </a:solidFill>
                  </a:tcPr>
                </a:tc>
              </a:tr>
              <a:tr h="418319">
                <a:tc>
                  <a:txBody>
                    <a:bodyPr/>
                    <a:lstStyle/>
                    <a:p>
                      <a:pPr algn="ctr">
                        <a:defRPr sz="800" b="1">
                          <a:latin typeface="Montserrat"/>
                        </a:defRPr>
                      </a:pPr>
                      <a:r>
                        <a:t>1 Teatro</a:t>
                      </a:r>
                    </a:p>
                  </a:txBody>
                  <a:tcPr anchor="ctr" marL="28800" marR="28800" marT="0" marB="0">
                    <a:solidFill>
                      <a:srgbClr val="FFFFFF"/>
                    </a:solidFill>
                  </a:tcPr>
                </a:tc>
                <a:tc>
                  <a:txBody>
                    <a:bodyPr/>
                    <a:lstStyle/>
                    <a:p>
                      <a:pPr algn="ctr">
                        <a:defRPr sz="800">
                          <a:latin typeface="Montserrat"/>
                        </a:defRPr>
                      </a:pPr>
                      <a:r>
                        <a:t>Querétaro</a:t>
                      </a:r>
                    </a:p>
                  </a:txBody>
                  <a:tcPr anchor="ctr" marL="28800" marR="28800" marT="0" marB="0">
                    <a:solidFill>
                      <a:srgbClr val="FFFFFF"/>
                    </a:solidFill>
                  </a:tcPr>
                </a:tc>
              </a:tr>
              <a:tr h="418323">
                <a:tc>
                  <a:txBody>
                    <a:bodyPr/>
                    <a:lstStyle/>
                    <a:p>
                      <a:pPr algn="ctr">
                        <a:defRPr sz="800" b="1">
                          <a:latin typeface="Montserrat"/>
                        </a:defRPr>
                      </a:pPr>
                      <a:r>
                        <a:t>1 Unidad Deportiva</a:t>
                      </a:r>
                    </a:p>
                  </a:txBody>
                  <a:tcPr anchor="ctr" marL="28800" marR="28800" marT="0" marB="0">
                    <a:solidFill>
                      <a:srgbClr val="EFEFEF"/>
                    </a:solidFill>
                  </a:tcPr>
                </a:tc>
                <a:tc>
                  <a:txBody>
                    <a:bodyPr/>
                    <a:lstStyle/>
                    <a:p>
                      <a:pPr algn="ctr">
                        <a:defRPr sz="800">
                          <a:latin typeface="Montserrat"/>
                        </a:defRPr>
                      </a:pPr>
                      <a:r>
                        <a:t>Querétaro</a:t>
                      </a:r>
                    </a:p>
                  </a:txBody>
                  <a:tcPr anchor="ctr" marL="28800" marR="28800" marT="0" marB="0">
                    <a:solidFill>
                      <a:srgbClr val="EFEFEF"/>
                    </a:solidFill>
                  </a:tcPr>
                </a:tc>
              </a:tr>
            </a:tbl>
          </a:graphicData>
        </a:graphic>
      </p:graphicFrame>
      <p:graphicFrame>
        <p:nvGraphicFramePr>
          <p:cNvPr id="469" name="Table 468"/>
          <p:cNvGraphicFramePr>
            <a:graphicFrameLocks noGrp="1"/>
          </p:cNvGraphicFramePr>
          <p:nvPr/>
        </p:nvGraphicFramePr>
        <p:xfrm>
          <a:off x="2311200" y="4910400"/>
          <a:ext cx="5032800" cy="817200"/>
        </p:xfrm>
        <a:graphic>
          <a:graphicData uri="http://schemas.openxmlformats.org/drawingml/2006/table">
            <a:tbl>
              <a:tblPr firstRow="1" bandRow="1">
                <a:tableStyleId>{5C22544A-7EE6-4342-B048-85BDC9FD1C3A}</a:tableStyleId>
              </a:tblPr>
              <a:tblGrid>
                <a:gridCol w="1576800"/>
                <a:gridCol w="3456000"/>
              </a:tblGrid>
              <a:tr h="272400">
                <a:tc gridSpan="2">
                  <a:txBody>
                    <a:bodyPr/>
                    <a:lstStyle/>
                    <a:p>
                      <a:pPr algn="ctr">
                        <a:defRPr b="1" sz="1000">
                          <a:solidFill>
                            <a:srgbClr val="FFFFFF"/>
                          </a:solidFill>
                          <a:latin typeface="Montserrat"/>
                        </a:defRPr>
                      </a:pPr>
                      <a:r>
                        <a:t>CENTROS VACACIONALES, VELATORIOS Y TIENDAS</a:t>
                      </a:r>
                    </a:p>
                  </a:txBody>
                  <a:tcPr anchor="ctr">
                    <a:solidFill>
                      <a:srgbClr val="006455"/>
                    </a:solidFill>
                  </a:tcPr>
                </a:tc>
                <a:tc hMerge="1">
                  <a:txBody>
                    <a:bodyPr/>
                    <a:lstStyle/>
                    <a:p/>
                  </a:txBody>
                  <a:tcPr/>
                </a:tc>
              </a:tr>
              <a:tr h="272400">
                <a:tc>
                  <a:txBody>
                    <a:bodyPr/>
                    <a:lstStyle/>
                    <a:p>
                      <a:pPr algn="ctr">
                        <a:defRPr sz="800" b="1">
                          <a:latin typeface="Montserrat"/>
                        </a:defRPr>
                      </a:pPr>
                      <a:r>
                        <a:t>1 Tienda IMSS-SNTSS</a:t>
                      </a:r>
                    </a:p>
                  </a:txBody>
                  <a:tcPr anchor="ctr" marL="28800" marR="28800" marT="0" marB="0">
                    <a:solidFill>
                      <a:srgbClr val="FFFFFF"/>
                    </a:solidFill>
                  </a:tcPr>
                </a:tc>
                <a:tc>
                  <a:txBody>
                    <a:bodyPr/>
                    <a:lstStyle/>
                    <a:p>
                      <a:pPr algn="ctr">
                        <a:defRPr sz="800">
                          <a:latin typeface="Montserrat"/>
                        </a:defRPr>
                      </a:pPr>
                      <a:r>
                        <a:t>No. 35 Querétaro</a:t>
                      </a:r>
                    </a:p>
                  </a:txBody>
                  <a:tcPr anchor="ctr" marL="28800" marR="28800" marT="0" marB="0">
                    <a:solidFill>
                      <a:srgbClr val="FFFFFF"/>
                    </a:solidFill>
                  </a:tcPr>
                </a:tc>
              </a:tr>
              <a:tr h="272400">
                <a:tc>
                  <a:txBody>
                    <a:bodyPr/>
                    <a:lstStyle/>
                    <a:p>
                      <a:pPr algn="ctr">
                        <a:defRPr sz="800" b="1">
                          <a:latin typeface="Montserrat"/>
                        </a:defRPr>
                      </a:pPr>
                      <a:r>
                        <a:t>1 Velatorio</a:t>
                      </a:r>
                    </a:p>
                  </a:txBody>
                  <a:tcPr anchor="ctr" marL="28800" marR="28800" marT="0" marB="0">
                    <a:solidFill>
                      <a:srgbClr val="EFEFEF"/>
                    </a:solidFill>
                  </a:tcPr>
                </a:tc>
                <a:tc>
                  <a:txBody>
                    <a:bodyPr/>
                    <a:lstStyle/>
                    <a:p>
                      <a:pPr algn="ctr">
                        <a:defRPr sz="800">
                          <a:latin typeface="Montserrat"/>
                        </a:defRPr>
                      </a:pPr>
                      <a:r>
                        <a:t>Querétaro</a:t>
                      </a:r>
                    </a:p>
                  </a:txBody>
                  <a:tcPr anchor="ctr" marL="28800" marR="28800" marT="0" marB="0">
                    <a:solidFill>
                      <a:srgbClr val="EFEFEF"/>
                    </a:solidFill>
                  </a:tcPr>
                </a:tc>
              </a:tr>
            </a:tbl>
          </a:graphicData>
        </a:graphic>
      </p:graphicFrame>
      <p:pic>
        <p:nvPicPr>
          <p:cNvPr id="470" name="Picture 469" descr="map_tipo2_22_qro.png"/>
          <p:cNvPicPr>
            <a:picLocks noChangeAspect="1"/>
          </p:cNvPicPr>
          <p:nvPr/>
        </p:nvPicPr>
        <p:blipFill>
          <a:blip r:embed="rId6"/>
          <a:stretch>
            <a:fillRect/>
          </a:stretch>
        </p:blipFill>
        <p:spPr>
          <a:xfrm>
            <a:off x="2822400" y="5929200"/>
            <a:ext cx="4014000" cy="3101727"/>
          </a:xfrm>
          <a:prstGeom prst="rect">
            <a:avLst/>
          </a:prstGeom>
        </p:spPr>
      </p:pic>
      <p:sp>
        <p:nvSpPr>
          <p:cNvPr id="471" name="TextBox 470"/>
          <p:cNvSpPr txBox="1"/>
          <p:nvPr/>
        </p:nvSpPr>
        <p:spPr>
          <a:xfrm>
            <a:off x="928800" y="6598799"/>
            <a:ext cx="1364400" cy="244800"/>
          </a:xfrm>
          <a:prstGeom prst="rect">
            <a:avLst/>
          </a:prstGeom>
          <a:noFill/>
        </p:spPr>
        <p:txBody>
          <a:bodyPr wrap="none">
            <a:spAutoFit/>
          </a:bodyPr>
          <a:lstStyle/>
          <a:p>
            <a:pPr algn="ctr">
              <a:defRPr b="0" sz="1000">
                <a:solidFill>
                  <a:srgbClr val="000000"/>
                </a:solidFill>
                <a:latin typeface="Montserrat"/>
              </a:defRPr>
            </a:pPr>
            <a:r>
              <a:t>Guarderías    31</a:t>
            </a:r>
          </a:p>
        </p:txBody>
      </p:sp>
      <p:sp>
        <p:nvSpPr>
          <p:cNvPr id="472" name="TextBox 471"/>
          <p:cNvSpPr txBox="1"/>
          <p:nvPr/>
        </p:nvSpPr>
        <p:spPr>
          <a:xfrm>
            <a:off x="0" y="9273600"/>
            <a:ext cx="4258800" cy="230400"/>
          </a:xfrm>
          <a:prstGeom prst="rect">
            <a:avLst/>
          </a:prstGeom>
          <a:noFill/>
        </p:spPr>
        <p:txBody>
          <a:bodyPr wrap="square" tIns="0" bIns="0" lIns="0" rIns="0">
            <a:spAutoFit/>
          </a:bodyPr>
          <a:lstStyle/>
          <a:p>
            <a:pPr algn="l">
              <a:defRPr sz="900">
                <a:solidFill>
                  <a:srgbClr val="000000"/>
                </a:solidFill>
                <a:latin typeface="Montserrat"/>
              </a:defRPr>
            </a:pPr>
            <a:r>
              <a:t>Fuente: Dirección de Prestaciones Económicas y Sociales, abril de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dirty="0">
                          <a:solidFill>
                            <a:srgbClr val="BC955C"/>
                          </a:solidFill>
                          <a:latin typeface="Montserrat"/>
                          <a:ea typeface="Montserrat"/>
                          <a:cs typeface="Montserrat"/>
                          <a:sym typeface="Montserrat"/>
                        </a:rPr>
                        <a:t>Actividad económica</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dirty="0">
                          <a:solidFill>
                            <a:srgbClr val="BC955C"/>
                          </a:solidFill>
                          <a:latin typeface="Montserrat"/>
                          <a:ea typeface="Montserrat"/>
                          <a:cs typeface="Montserrat"/>
                          <a:sym typeface="Montserrat"/>
                        </a:rPr>
                        <a:t>Puestos de trabajo,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4"/>
                            </a:ext>
                          </a:extLst>
                        </a:rPr>
                        <a:t>por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5"/>
                            </a:ext>
                          </a:extLst>
                        </a:rPr>
                        <a:t>tipo de sector</a:t>
                      </a:r>
                      <a:endParaRPr sz="1500" u="none" strike="noStrike" cap="none" dirty="0">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graphicFrame>
        <p:nvGraphicFramePr>
          <p:cNvPr id="479" name="Table 478"/>
          <p:cNvGraphicFramePr>
            <a:graphicFrameLocks noGrp="1"/>
          </p:cNvGraphicFramePr>
          <p:nvPr/>
        </p:nvGraphicFramePr>
        <p:xfrm>
          <a:off x="284400" y="1087200"/>
          <a:ext cx="6984000" cy="1880639"/>
        </p:xfrm>
        <a:graphic>
          <a:graphicData uri="http://schemas.openxmlformats.org/drawingml/2006/table">
            <a:tbl>
              <a:tblPr firstRow="1" bandRow="1">
                <a:tableStyleId>{5C22544A-7EE6-4342-B048-85BDC9FD1C3A}</a:tableStyleId>
              </a:tblPr>
              <a:tblGrid>
                <a:gridCol w="1260000"/>
                <a:gridCol w="720000"/>
                <a:gridCol w="720000"/>
                <a:gridCol w="792000"/>
                <a:gridCol w="1260000"/>
                <a:gridCol w="720000"/>
                <a:gridCol w="720000"/>
                <a:gridCol w="792000"/>
              </a:tblGrid>
              <a:tr h="251999">
                <a:tc gridSpan="8">
                  <a:txBody>
                    <a:bodyPr/>
                    <a:lstStyle/>
                    <a:p>
                      <a:pPr algn="ctr">
                        <a:defRPr b="1" sz="1000">
                          <a:solidFill>
                            <a:srgbClr val="FFFFFF"/>
                          </a:solidFill>
                          <a:latin typeface="Montserrat"/>
                        </a:defRPr>
                      </a:pPr>
                      <a:r>
                        <a:t>PRINCIPALES EMPLEADORES</a:t>
                      </a:r>
                    </a:p>
                  </a:txBody>
                  <a:tcPr anchor="ctr">
                    <a:solidFill>
                      <a:srgbClr val="BC955C"/>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60000">
                <a:tc>
                  <a:txBody>
                    <a:bodyPr/>
                    <a:lstStyle/>
                    <a:p>
                      <a:pPr algn="ctr">
                        <a:defRPr b="1" sz="850">
                          <a:solidFill>
                            <a:srgbClr val="FFFFFF"/>
                          </a:solidFill>
                          <a:latin typeface="Montserrat"/>
                        </a:defRPr>
                      </a:pPr>
                      <a:r>
                        <a:t>Empleador público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c>
                  <a:txBody>
                    <a:bodyPr/>
                    <a:lstStyle/>
                    <a:p>
                      <a:pPr algn="ctr">
                        <a:defRPr b="1" sz="850">
                          <a:solidFill>
                            <a:srgbClr val="FFFFFF"/>
                          </a:solidFill>
                          <a:latin typeface="Montserrat"/>
                        </a:defRPr>
                      </a:pPr>
                      <a:r>
                        <a:t>Empleador Privado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r>
              <a:tr h="288000">
                <a:tc>
                  <a:txBody>
                    <a:bodyPr/>
                    <a:lstStyle/>
                    <a:p>
                      <a:pPr algn="ctr">
                        <a:defRPr sz="850">
                          <a:latin typeface="Montserrat"/>
                        </a:defRPr>
                      </a:pPr>
                      <a:r>
                        <a:t>Poder Ejecutivo del Estado de Queretaro</a:t>
                      </a:r>
                    </a:p>
                  </a:txBody>
                  <a:tcPr anchor="ctr">
                    <a:solidFill>
                      <a:srgbClr val="FFFFFF"/>
                    </a:solidFill>
                  </a:tcPr>
                </a:tc>
                <a:tc>
                  <a:txBody>
                    <a:bodyPr/>
                    <a:lstStyle/>
                    <a:p>
                      <a:pPr algn="ctr">
                        <a:defRPr sz="850">
                          <a:latin typeface="Montserrat"/>
                        </a:defRPr>
                      </a:pPr>
                      <a:r>
                        <a:t>15,113</a:t>
                      </a:r>
                    </a:p>
                  </a:txBody>
                  <a:tcPr anchor="ctr">
                    <a:solidFill>
                      <a:srgbClr val="FFFFFF"/>
                    </a:solidFill>
                  </a:tcPr>
                </a:tc>
                <a:tc>
                  <a:txBody>
                    <a:bodyPr/>
                    <a:lstStyle/>
                    <a:p>
                      <a:pPr algn="ctr">
                        <a:defRPr sz="850">
                          <a:latin typeface="Montserrat"/>
                        </a:defRPr>
                      </a:pPr>
                      <a:r>
                        <a:t>14,939</a:t>
                      </a:r>
                    </a:p>
                  </a:txBody>
                  <a:tcPr anchor="ctr">
                    <a:solidFill>
                      <a:srgbClr val="FFFFFF"/>
                    </a:solidFill>
                  </a:tcPr>
                </a:tc>
                <a:tc>
                  <a:txBody>
                    <a:bodyPr/>
                    <a:lstStyle/>
                    <a:p>
                      <a:pPr algn="ctr">
                        <a:defRPr sz="850" b="1">
                          <a:solidFill>
                            <a:srgbClr val="691C32"/>
                          </a:solidFill>
                          <a:latin typeface="Montserrat"/>
                        </a:defRPr>
                      </a:pPr>
                      <a:r>
                        <a:t>-1.2%</a:t>
                      </a:r>
                    </a:p>
                  </a:txBody>
                  <a:tcPr anchor="ctr">
                    <a:solidFill>
                      <a:srgbClr val="FFFFFF"/>
                    </a:solidFill>
                  </a:tcPr>
                </a:tc>
                <a:tc>
                  <a:txBody>
                    <a:bodyPr/>
                    <a:lstStyle/>
                    <a:p>
                      <a:pPr algn="ctr">
                        <a:defRPr sz="850">
                          <a:latin typeface="Montserrat"/>
                        </a:defRPr>
                      </a:pPr>
                      <a:r>
                        <a:t>Nueva Wal Mart de México S. de R.L. de C.V.</a:t>
                      </a:r>
                    </a:p>
                  </a:txBody>
                  <a:tcPr anchor="ctr">
                    <a:solidFill>
                      <a:srgbClr val="FFFFFF"/>
                    </a:solidFill>
                  </a:tcPr>
                </a:tc>
                <a:tc>
                  <a:txBody>
                    <a:bodyPr/>
                    <a:lstStyle/>
                    <a:p>
                      <a:pPr algn="ctr">
                        <a:defRPr sz="850">
                          <a:latin typeface="Montserrat"/>
                        </a:defRPr>
                      </a:pPr>
                      <a:r>
                        <a:t>4,807</a:t>
                      </a:r>
                    </a:p>
                  </a:txBody>
                  <a:tcPr anchor="ctr">
                    <a:solidFill>
                      <a:srgbClr val="FFFFFF"/>
                    </a:solidFill>
                  </a:tcPr>
                </a:tc>
                <a:tc>
                  <a:txBody>
                    <a:bodyPr/>
                    <a:lstStyle/>
                    <a:p>
                      <a:pPr algn="ctr">
                        <a:defRPr sz="850">
                          <a:latin typeface="Montserrat"/>
                        </a:defRPr>
                      </a:pPr>
                      <a:r>
                        <a:t>4,794</a:t>
                      </a:r>
                    </a:p>
                  </a:txBody>
                  <a:tcPr anchor="ctr">
                    <a:solidFill>
                      <a:srgbClr val="FFFFFF"/>
                    </a:solidFill>
                  </a:tcPr>
                </a:tc>
                <a:tc>
                  <a:txBody>
                    <a:bodyPr/>
                    <a:lstStyle/>
                    <a:p>
                      <a:pPr algn="ctr">
                        <a:defRPr sz="850" b="1">
                          <a:solidFill>
                            <a:srgbClr val="691C32"/>
                          </a:solidFill>
                          <a:latin typeface="Montserrat"/>
                        </a:defRPr>
                      </a:pPr>
                      <a:r>
                        <a:t>-0.3%</a:t>
                      </a:r>
                    </a:p>
                  </a:txBody>
                  <a:tcPr anchor="ctr">
                    <a:solidFill>
                      <a:srgbClr val="FFFFFF"/>
                    </a:solidFill>
                  </a:tcPr>
                </a:tc>
              </a:tr>
              <a:tr h="490320">
                <a:tc>
                  <a:txBody>
                    <a:bodyPr/>
                    <a:lstStyle/>
                    <a:p>
                      <a:pPr algn="ctr">
                        <a:defRPr sz="850">
                          <a:latin typeface="Montserrat"/>
                        </a:defRPr>
                      </a:pPr>
                      <a:r>
                        <a:t>Instituto Mexicano del Seguro Social</a:t>
                      </a:r>
                    </a:p>
                  </a:txBody>
                  <a:tcPr anchor="ctr">
                    <a:solidFill>
                      <a:srgbClr val="D9D9D9"/>
                    </a:solidFill>
                  </a:tcPr>
                </a:tc>
                <a:tc>
                  <a:txBody>
                    <a:bodyPr/>
                    <a:lstStyle/>
                    <a:p>
                      <a:pPr algn="ctr">
                        <a:defRPr sz="850">
                          <a:latin typeface="Montserrat"/>
                        </a:defRPr>
                      </a:pPr>
                      <a:r>
                        <a:t>9,981</a:t>
                      </a:r>
                    </a:p>
                  </a:txBody>
                  <a:tcPr anchor="ctr">
                    <a:solidFill>
                      <a:srgbClr val="D9D9D9"/>
                    </a:solidFill>
                  </a:tcPr>
                </a:tc>
                <a:tc>
                  <a:txBody>
                    <a:bodyPr/>
                    <a:lstStyle/>
                    <a:p>
                      <a:pPr algn="ctr">
                        <a:defRPr sz="850">
                          <a:latin typeface="Montserrat"/>
                        </a:defRPr>
                      </a:pPr>
                      <a:r>
                        <a:t>10,037</a:t>
                      </a:r>
                    </a:p>
                  </a:txBody>
                  <a:tcPr anchor="ctr">
                    <a:solidFill>
                      <a:srgbClr val="D9D9D9"/>
                    </a:solidFill>
                  </a:tcPr>
                </a:tc>
                <a:tc>
                  <a:txBody>
                    <a:bodyPr/>
                    <a:lstStyle/>
                    <a:p>
                      <a:pPr algn="ctr">
                        <a:defRPr sz="850" b="1">
                          <a:solidFill>
                            <a:srgbClr val="006455"/>
                          </a:solidFill>
                          <a:latin typeface="Montserrat"/>
                        </a:defRPr>
                      </a:pPr>
                      <a:r>
                        <a:t>0.6%</a:t>
                      </a:r>
                    </a:p>
                  </a:txBody>
                  <a:tcPr anchor="ctr">
                    <a:solidFill>
                      <a:srgbClr val="D9D9D9"/>
                    </a:solidFill>
                  </a:tcPr>
                </a:tc>
                <a:tc>
                  <a:txBody>
                    <a:bodyPr/>
                    <a:lstStyle/>
                    <a:p>
                      <a:pPr algn="ctr">
                        <a:defRPr sz="850">
                          <a:latin typeface="Montserrat"/>
                        </a:defRPr>
                      </a:pPr>
                      <a:r>
                        <a:t>Autoliv Steering Wheels México S. de R.L. de C.V.</a:t>
                      </a:r>
                    </a:p>
                  </a:txBody>
                  <a:tcPr anchor="ctr">
                    <a:solidFill>
                      <a:srgbClr val="D9D9D9"/>
                    </a:solidFill>
                  </a:tcPr>
                </a:tc>
                <a:tc>
                  <a:txBody>
                    <a:bodyPr/>
                    <a:lstStyle/>
                    <a:p>
                      <a:pPr algn="ctr">
                        <a:defRPr sz="850">
                          <a:latin typeface="Montserrat"/>
                        </a:defRPr>
                      </a:pPr>
                      <a:r>
                        <a:t>4,784</a:t>
                      </a:r>
                    </a:p>
                  </a:txBody>
                  <a:tcPr anchor="ctr">
                    <a:solidFill>
                      <a:srgbClr val="D9D9D9"/>
                    </a:solidFill>
                  </a:tcPr>
                </a:tc>
                <a:tc>
                  <a:txBody>
                    <a:bodyPr/>
                    <a:lstStyle/>
                    <a:p>
                      <a:pPr algn="ctr">
                        <a:defRPr sz="850">
                          <a:latin typeface="Montserrat"/>
                        </a:defRPr>
                      </a:pPr>
                      <a:r>
                        <a:t>4,751</a:t>
                      </a:r>
                    </a:p>
                  </a:txBody>
                  <a:tcPr anchor="ctr">
                    <a:solidFill>
                      <a:srgbClr val="D9D9D9"/>
                    </a:solidFill>
                  </a:tcPr>
                </a:tc>
                <a:tc>
                  <a:txBody>
                    <a:bodyPr/>
                    <a:lstStyle/>
                    <a:p>
                      <a:pPr algn="ctr">
                        <a:defRPr sz="850" b="1">
                          <a:solidFill>
                            <a:srgbClr val="691C32"/>
                          </a:solidFill>
                          <a:latin typeface="Montserrat"/>
                        </a:defRPr>
                      </a:pPr>
                      <a:r>
                        <a:t>-0.7%</a:t>
                      </a:r>
                    </a:p>
                  </a:txBody>
                  <a:tcPr anchor="ctr">
                    <a:solidFill>
                      <a:srgbClr val="D9D9D9"/>
                    </a:solidFill>
                  </a:tcPr>
                </a:tc>
              </a:tr>
              <a:tr h="490320">
                <a:tc>
                  <a:txBody>
                    <a:bodyPr/>
                    <a:lstStyle/>
                    <a:p>
                      <a:pPr algn="ctr">
                        <a:defRPr sz="850">
                          <a:latin typeface="Montserrat"/>
                        </a:defRPr>
                      </a:pPr>
                      <a:r>
                        <a:t>Municipio de Querétaro</a:t>
                      </a:r>
                    </a:p>
                  </a:txBody>
                  <a:tcPr anchor="ctr">
                    <a:solidFill>
                      <a:srgbClr val="FFFFFF"/>
                    </a:solidFill>
                  </a:tcPr>
                </a:tc>
                <a:tc>
                  <a:txBody>
                    <a:bodyPr/>
                    <a:lstStyle/>
                    <a:p>
                      <a:pPr algn="ctr">
                        <a:defRPr sz="850">
                          <a:latin typeface="Montserrat"/>
                        </a:defRPr>
                      </a:pPr>
                      <a:r>
                        <a:t>5,354</a:t>
                      </a:r>
                    </a:p>
                  </a:txBody>
                  <a:tcPr anchor="ctr">
                    <a:solidFill>
                      <a:srgbClr val="FFFFFF"/>
                    </a:solidFill>
                  </a:tcPr>
                </a:tc>
                <a:tc>
                  <a:txBody>
                    <a:bodyPr/>
                    <a:lstStyle/>
                    <a:p>
                      <a:pPr algn="ctr">
                        <a:defRPr sz="850">
                          <a:latin typeface="Montserrat"/>
                        </a:defRPr>
                      </a:pPr>
                      <a:r>
                        <a:t>5,410</a:t>
                      </a:r>
                    </a:p>
                  </a:txBody>
                  <a:tcPr anchor="ctr">
                    <a:solidFill>
                      <a:srgbClr val="FFFFFF"/>
                    </a:solidFill>
                  </a:tcPr>
                </a:tc>
                <a:tc>
                  <a:txBody>
                    <a:bodyPr/>
                    <a:lstStyle/>
                    <a:p>
                      <a:pPr algn="ctr">
                        <a:defRPr sz="850" b="1">
                          <a:solidFill>
                            <a:srgbClr val="006455"/>
                          </a:solidFill>
                          <a:latin typeface="Montserrat"/>
                        </a:defRPr>
                      </a:pPr>
                      <a:r>
                        <a:t>1.1%</a:t>
                      </a:r>
                    </a:p>
                  </a:txBody>
                  <a:tcPr anchor="ctr">
                    <a:solidFill>
                      <a:srgbClr val="FFFFFF"/>
                    </a:solidFill>
                  </a:tcPr>
                </a:tc>
                <a:tc>
                  <a:txBody>
                    <a:bodyPr/>
                    <a:lstStyle/>
                    <a:p>
                      <a:pPr algn="ctr">
                        <a:defRPr sz="850">
                          <a:latin typeface="Montserrat"/>
                        </a:defRPr>
                      </a:pPr>
                      <a:r>
                        <a:t>Banco Santander México S.A., Institución de Banca Multiple, Grupo Financiero San</a:t>
                      </a:r>
                    </a:p>
                  </a:txBody>
                  <a:tcPr anchor="ctr">
                    <a:solidFill>
                      <a:srgbClr val="FFFFFF"/>
                    </a:solidFill>
                  </a:tcPr>
                </a:tc>
                <a:tc>
                  <a:txBody>
                    <a:bodyPr/>
                    <a:lstStyle/>
                    <a:p>
                      <a:pPr algn="ctr">
                        <a:defRPr sz="850">
                          <a:latin typeface="Montserrat"/>
                        </a:defRPr>
                      </a:pPr>
                      <a:r>
                        <a:t>4,700</a:t>
                      </a:r>
                    </a:p>
                  </a:txBody>
                  <a:tcPr anchor="ctr">
                    <a:solidFill>
                      <a:srgbClr val="FFFFFF"/>
                    </a:solidFill>
                  </a:tcPr>
                </a:tc>
                <a:tc>
                  <a:txBody>
                    <a:bodyPr/>
                    <a:lstStyle/>
                    <a:p>
                      <a:pPr algn="ctr">
                        <a:defRPr sz="850">
                          <a:latin typeface="Montserrat"/>
                        </a:defRPr>
                      </a:pPr>
                      <a:r>
                        <a:t>4,619</a:t>
                      </a:r>
                    </a:p>
                  </a:txBody>
                  <a:tcPr anchor="ctr">
                    <a:solidFill>
                      <a:srgbClr val="FFFFFF"/>
                    </a:solidFill>
                  </a:tcPr>
                </a:tc>
                <a:tc>
                  <a:txBody>
                    <a:bodyPr/>
                    <a:lstStyle/>
                    <a:p>
                      <a:pPr algn="ctr">
                        <a:defRPr sz="850" b="1">
                          <a:solidFill>
                            <a:srgbClr val="691C32"/>
                          </a:solidFill>
                          <a:latin typeface="Montserrat"/>
                        </a:defRPr>
                      </a:pPr>
                      <a:r>
                        <a:t>-1.7%</a:t>
                      </a:r>
                    </a:p>
                  </a:txBody>
                  <a:tcPr anchor="ctr">
                    <a:solidFill>
                      <a:srgbClr val="FFFFFF"/>
                    </a:solidFill>
                  </a:tcPr>
                </a:tc>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-7.43%</a:t>
            </a:r>
          </a:p>
        </p:txBody>
      </p:sp>
      <p:sp>
        <p:nvSpPr>
          <p:cNvPr id="482" name="Rounded Rectangle 481"/>
          <p:cNvSpPr/>
          <p:nvPr/>
        </p:nvSpPr>
        <p:spPr>
          <a:xfrm>
            <a:off x="7020000" y="4176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-1.39%</a:t>
            </a:r>
          </a:p>
        </p:txBody>
      </p:sp>
      <p:sp>
        <p:nvSpPr>
          <p:cNvPr id="483" name="Rounded Rectangle 482"/>
          <p:cNvSpPr/>
          <p:nvPr/>
        </p:nvSpPr>
        <p:spPr>
          <a:xfrm>
            <a:off x="7020000" y="4572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-0.49%</a:t>
            </a:r>
          </a:p>
        </p:txBody>
      </p:sp>
      <p:sp>
        <p:nvSpPr>
          <p:cNvPr id="484" name="Rounded Rectangle 483"/>
          <p:cNvSpPr/>
          <p:nvPr/>
        </p:nvSpPr>
        <p:spPr>
          <a:xfrm>
            <a:off x="7020000" y="496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+1.70%</a:t>
            </a:r>
          </a:p>
        </p:txBody>
      </p:sp>
      <p:sp>
        <p:nvSpPr>
          <p:cNvPr id="485" name="Rounded Rectangle 484"/>
          <p:cNvSpPr/>
          <p:nvPr/>
        </p:nvSpPr>
        <p:spPr>
          <a:xfrm>
            <a:off x="7020000" y="5364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+2.11%</a:t>
            </a:r>
          </a:p>
        </p:txBody>
      </p:sp>
      <p:sp>
        <p:nvSpPr>
          <p:cNvPr id="486" name="Rounded Rectangle 485"/>
          <p:cNvSpPr/>
          <p:nvPr/>
        </p:nvSpPr>
        <p:spPr>
          <a:xfrm>
            <a:off x="7020000" y="5760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+2.92%</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+5.29%</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+9.30%</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+9.83%</a:t>
            </a:r>
          </a:p>
        </p:txBody>
      </p:sp>
      <p:sp>
        <p:nvSpPr>
          <p:cNvPr id="490" name="Rounded Rectangle 489"/>
          <p:cNvSpPr/>
          <p:nvPr/>
        </p:nvSpPr>
        <p:spPr>
          <a:xfrm>
            <a:off x="4525200" y="349199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2025</a:t>
            </a:r>
          </a:p>
        </p:txBody>
      </p:sp>
      <p:sp>
        <p:nvSpPr>
          <p:cNvPr id="491" name="Rounded Rectangle 490"/>
          <p:cNvSpPr/>
          <p:nvPr/>
        </p:nvSpPr>
        <p:spPr>
          <a:xfrm>
            <a:off x="5425200" y="349199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2026</a:t>
            </a:r>
          </a:p>
        </p:txBody>
      </p:sp>
      <p:graphicFrame>
        <p:nvGraphicFramePr>
          <p:cNvPr id="492" name="Table 491"/>
          <p:cNvGraphicFramePr>
            <a:graphicFrameLocks noGrp="1"/>
          </p:cNvGraphicFramePr>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gridCol w="838800"/>
                <a:gridCol w="838800"/>
                <a:gridCol w="838800"/>
                <a:gridCol w="838800"/>
                <a:gridCol w="1260000"/>
              </a:tblGrid>
              <a:tr h="286560">
                <a:tc rowSpan="2">
                  <a:txBody>
                    <a:bodyPr/>
                    <a:lstStyle/>
                    <a:p>
                      <a:pPr algn="ctr">
                        <a:defRPr b="1" sz="1000">
                          <a:solidFill>
                            <a:srgbClr val="FFFFFF"/>
                          </a:solidFill>
                          <a:latin typeface="Montserrat"/>
                        </a:defRPr>
                      </a:pPr>
                      <a:r>
                        <a:t>Mes</a:t>
                      </a:r>
                    </a:p>
                  </a:txBody>
                  <a:tcPr anchor="ctr">
                    <a:solidFill>
                      <a:srgbClr val="BC955C"/>
                    </a:solidFill>
                  </a:tcPr>
                </a:tc>
                <a:tc gridSpan="2">
                  <a:txBody>
                    <a:bodyPr/>
                    <a:lstStyle/>
                    <a:p>
                      <a:pPr algn="ctr">
                        <a:defRPr b="1" sz="1000">
                          <a:solidFill>
                            <a:srgbClr val="FFFFFF"/>
                          </a:solidFill>
                          <a:latin typeface="Montserrat"/>
                        </a:defRPr>
                      </a:pPr>
                      <a:r>
                        <a:t>Permanente</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gridSpan="2">
                  <a:txBody>
                    <a:bodyPr/>
                    <a:lstStyle/>
                    <a:p>
                      <a:pPr algn="ctr">
                        <a:defRPr b="1" sz="1000">
                          <a:solidFill>
                            <a:srgbClr val="FFFFFF"/>
                          </a:solidFill>
                          <a:latin typeface="Montserrat"/>
                        </a:defRPr>
                      </a:pPr>
                      <a:r>
                        <a:t>Eventual</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rowSpan="2">
                  <a:txBody>
                    <a:bodyPr/>
                    <a:lstStyle/>
                    <a:p>
                      <a:pPr algn="ctr">
                        <a:defRPr b="1" sz="1000">
                          <a:solidFill>
                            <a:srgbClr val="FFFFFF"/>
                          </a:solidFill>
                          <a:latin typeface="Montserrat"/>
                        </a:defRPr>
                      </a:pPr>
                      <a:r>
                        <a:t>Total</a:t>
                      </a:r>
                    </a:p>
                  </a:txBody>
                  <a:tcPr anchor="ctr">
                    <a:solidFill>
                      <a:srgbClr val="BC955C"/>
                    </a:solidFill>
                  </a:tcPr>
                </a:tc>
              </a:tr>
              <a:tr h="286560">
                <a:tc vMerge="1">
                  <a:txBody>
                    <a:bodyPr/>
                    <a:lstStyle/>
                    <a:p>
                      <a:pPr algn="ctr">
                        <a:defRPr b="1" sz="1000">
                          <a:solidFill>
                            <a:srgbClr val="FFFFFF"/>
                          </a:solidFill>
                          <a:latin typeface="Montserrat"/>
                        </a:defRPr>
                      </a:pP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vMerge="1">
                  <a:txBody>
                    <a:bodyPr/>
                    <a:lstStyle/>
                    <a:p>
                      <a:pPr algn="ctr">
                        <a:defRPr b="1" sz="1000">
                          <a:solidFill>
                            <a:srgbClr val="FFFFFF"/>
                          </a:solidFill>
                          <a:latin typeface="Montserrat"/>
                        </a:defRPr>
                      </a:pPr>
                    </a:p>
                  </a:txBody>
                  <a:tcPr anchor="ctr">
                    <a:solidFill>
                      <a:srgbClr val="BC955C"/>
                    </a:solidFill>
                  </a:tcPr>
                </a:tc>
              </a:tr>
              <a:tr h="270000">
                <a:tc>
                  <a:txBody>
                    <a:bodyPr/>
                    <a:lstStyle/>
                    <a:p>
                      <a:pPr algn="ctr">
                        <a:defRPr sz="900">
                          <a:latin typeface="Montserrat"/>
                        </a:defRPr>
                      </a:pPr>
                      <a:r>
                        <a:t>Abr 2025</a:t>
                      </a:r>
                    </a:p>
                  </a:txBody>
                  <a:tcPr>
                    <a:solidFill>
                      <a:srgbClr val="FFFFFF"/>
                    </a:solidFill>
                  </a:tcPr>
                </a:tc>
                <a:tc>
                  <a:txBody>
                    <a:bodyPr/>
                    <a:lstStyle/>
                    <a:p>
                      <a:pPr algn="ctr">
                        <a:defRPr sz="900">
                          <a:latin typeface="Montserrat"/>
                        </a:defRPr>
                      </a:pPr>
                      <a:r>
                        <a:t>583,375</a:t>
                      </a:r>
                    </a:p>
                  </a:txBody>
                  <a:tcPr>
                    <a:solidFill>
                      <a:srgbClr val="FFFFFF"/>
                    </a:solidFill>
                  </a:tcPr>
                </a:tc>
                <a:tc>
                  <a:txBody>
                    <a:bodyPr/>
                    <a:lstStyle/>
                    <a:p>
                      <a:pPr algn="ctr">
                        <a:defRPr sz="900">
                          <a:latin typeface="Montserrat"/>
                        </a:defRPr>
                      </a:pPr>
                      <a:r>
                        <a:t>16,174</a:t>
                      </a:r>
                    </a:p>
                  </a:txBody>
                  <a:tcPr>
                    <a:solidFill>
                      <a:srgbClr val="FFFFFF"/>
                    </a:solidFill>
                  </a:tcPr>
                </a:tc>
                <a:tc>
                  <a:txBody>
                    <a:bodyPr/>
                    <a:lstStyle/>
                    <a:p>
                      <a:pPr algn="ctr">
                        <a:defRPr sz="900">
                          <a:latin typeface="Montserrat"/>
                        </a:defRPr>
                      </a:pPr>
                      <a:r>
                        <a:t>115,315</a:t>
                      </a:r>
                    </a:p>
                  </a:txBody>
                  <a:tcPr>
                    <a:solidFill>
                      <a:srgbClr val="FFFFFF"/>
                    </a:solidFill>
                  </a:tcPr>
                </a:tc>
                <a:tc>
                  <a:txBody>
                    <a:bodyPr/>
                    <a:lstStyle/>
                    <a:p>
                      <a:pPr algn="ctr">
                        <a:defRPr sz="900">
                          <a:latin typeface="Montserrat"/>
                        </a:defRPr>
                      </a:pPr>
                      <a:r>
                        <a:t>2,425</a:t>
                      </a:r>
                    </a:p>
                  </a:txBody>
                  <a:tcPr>
                    <a:solidFill>
                      <a:srgbClr val="FFFFFF"/>
                    </a:solidFill>
                  </a:tcPr>
                </a:tc>
                <a:tc>
                  <a:txBody>
                    <a:bodyPr/>
                    <a:lstStyle/>
                    <a:p>
                      <a:pPr algn="ctr">
                        <a:defRPr sz="900">
                          <a:latin typeface="Montserrat"/>
                        </a:defRPr>
                      </a:pPr>
                      <a:r>
                        <a:t>717,289</a:t>
                      </a:r>
                    </a:p>
                  </a:txBody>
                  <a:tcPr>
                    <a:solidFill>
                      <a:srgbClr val="FFFFFF"/>
                    </a:solidFill>
                  </a:tcPr>
                </a:tc>
              </a:tr>
              <a:tr h="270000">
                <a:tc>
                  <a:txBody>
                    <a:bodyPr/>
                    <a:lstStyle/>
                    <a:p>
                      <a:pPr algn="ctr">
                        <a:defRPr sz="900">
                          <a:latin typeface="Montserrat"/>
                        </a:defRPr>
                      </a:pPr>
                      <a:r>
                        <a:t>Abr 2026</a:t>
                      </a:r>
                    </a:p>
                  </a:txBody>
                  <a:tcPr>
                    <a:solidFill>
                      <a:srgbClr val="D9D9D9"/>
                    </a:solidFill>
                  </a:tcPr>
                </a:tc>
                <a:tc>
                  <a:txBody>
                    <a:bodyPr/>
                    <a:lstStyle/>
                    <a:p>
                      <a:pPr algn="ctr">
                        <a:defRPr sz="900">
                          <a:latin typeface="Montserrat"/>
                        </a:defRPr>
                      </a:pPr>
                      <a:r>
                        <a:t>594,152</a:t>
                      </a:r>
                    </a:p>
                  </a:txBody>
                  <a:tcPr>
                    <a:solidFill>
                      <a:srgbClr val="D9D9D9"/>
                    </a:solidFill>
                  </a:tcPr>
                </a:tc>
                <a:tc>
                  <a:txBody>
                    <a:bodyPr/>
                    <a:lstStyle/>
                    <a:p>
                      <a:pPr algn="ctr">
                        <a:defRPr sz="900">
                          <a:latin typeface="Montserrat"/>
                        </a:defRPr>
                      </a:pPr>
                      <a:r>
                        <a:t>15,005</a:t>
                      </a:r>
                    </a:p>
                  </a:txBody>
                  <a:tcPr>
                    <a:solidFill>
                      <a:srgbClr val="D9D9D9"/>
                    </a:solidFill>
                  </a:tcPr>
                </a:tc>
                <a:tc>
                  <a:txBody>
                    <a:bodyPr/>
                    <a:lstStyle/>
                    <a:p>
                      <a:pPr algn="ctr">
                        <a:defRPr sz="900">
                          <a:latin typeface="Montserrat"/>
                        </a:defRPr>
                      </a:pPr>
                      <a:r>
                        <a:t>113,662</a:t>
                      </a:r>
                    </a:p>
                  </a:txBody>
                  <a:tcPr>
                    <a:solidFill>
                      <a:srgbClr val="D9D9D9"/>
                    </a:solidFill>
                  </a:tcPr>
                </a:tc>
                <a:tc>
                  <a:txBody>
                    <a:bodyPr/>
                    <a:lstStyle/>
                    <a:p>
                      <a:pPr algn="ctr">
                        <a:defRPr sz="900">
                          <a:latin typeface="Montserrat"/>
                        </a:defRPr>
                      </a:pPr>
                      <a:r>
                        <a:t>1,450</a:t>
                      </a:r>
                    </a:p>
                  </a:txBody>
                  <a:tcPr>
                    <a:solidFill>
                      <a:srgbClr val="D9D9D9"/>
                    </a:solidFill>
                  </a:tcPr>
                </a:tc>
                <a:tc>
                  <a:txBody>
                    <a:bodyPr/>
                    <a:lstStyle/>
                    <a:p>
                      <a:pPr algn="ctr">
                        <a:defRPr sz="900">
                          <a:latin typeface="Montserrat"/>
                        </a:defRPr>
                      </a:pPr>
                      <a:r>
                        <a:t>724,269</a:t>
                      </a:r>
                    </a:p>
                  </a:txBody>
                  <a:tcPr>
                    <a:solidFill>
                      <a:srgbClr val="D9D9D9"/>
                    </a:solidFill>
                  </a:tcPr>
                </a:tc>
              </a:tr>
              <a:tr h="270000">
                <a:tc>
                  <a:txBody>
                    <a:bodyPr/>
                    <a:lstStyle/>
                    <a:p>
                      <a:pPr algn="ctr">
                        <a:defRPr sz="900">
                          <a:latin typeface="Montserrat"/>
                        </a:defRPr>
                      </a:pPr>
                      <a:r>
                        <a:t>Variación %</a:t>
                      </a:r>
                    </a:p>
                  </a:txBody>
                  <a:tcPr>
                    <a:solidFill>
                      <a:srgbClr val="FFFFFF"/>
                    </a:solidFill>
                  </a:tcPr>
                </a:tc>
                <a:tc>
                  <a:txBody>
                    <a:bodyPr/>
                    <a:lstStyle/>
                    <a:p>
                      <a:pPr algn="ctr">
                        <a:defRPr sz="900" b="1">
                          <a:solidFill>
                            <a:srgbClr val="006455"/>
                          </a:solidFill>
                          <a:latin typeface="Montserrat"/>
                        </a:defRPr>
                      </a:pPr>
                      <a:r>
                        <a:t>+1.8%</a:t>
                      </a:r>
                    </a:p>
                  </a:txBody>
                  <a:tcPr>
                    <a:solidFill>
                      <a:srgbClr val="FFFFFF"/>
                    </a:solidFill>
                  </a:tcPr>
                </a:tc>
                <a:tc>
                  <a:txBody>
                    <a:bodyPr/>
                    <a:lstStyle/>
                    <a:p>
                      <a:pPr algn="ctr">
                        <a:defRPr sz="900" b="0">
                          <a:solidFill>
                            <a:srgbClr val="691C32"/>
                          </a:solidFill>
                          <a:latin typeface="Montserrat"/>
                        </a:defRPr>
                      </a:pPr>
                      <a:r>
                        <a:t>-7.2%</a:t>
                      </a:r>
                    </a:p>
                  </a:txBody>
                  <a:tcPr>
                    <a:solidFill>
                      <a:srgbClr val="FFFFFF"/>
                    </a:solidFill>
                  </a:tcPr>
                </a:tc>
                <a:tc>
                  <a:txBody>
                    <a:bodyPr/>
                    <a:lstStyle/>
                    <a:p>
                      <a:pPr algn="ctr">
                        <a:defRPr sz="900" b="0">
                          <a:solidFill>
                            <a:srgbClr val="691C32"/>
                          </a:solidFill>
                          <a:latin typeface="Montserrat"/>
                        </a:defRPr>
                      </a:pPr>
                      <a:r>
                        <a:t>-1.4%</a:t>
                      </a:r>
                    </a:p>
                  </a:txBody>
                  <a:tcPr>
                    <a:solidFill>
                      <a:srgbClr val="FFFFFF"/>
                    </a:solidFill>
                  </a:tcPr>
                </a:tc>
                <a:tc>
                  <a:txBody>
                    <a:bodyPr/>
                    <a:lstStyle/>
                    <a:p>
                      <a:pPr algn="ctr">
                        <a:defRPr sz="900" b="0">
                          <a:solidFill>
                            <a:srgbClr val="691C32"/>
                          </a:solidFill>
                          <a:latin typeface="Montserrat"/>
                        </a:defRPr>
                      </a:pPr>
                      <a:r>
                        <a:t>-40.2%</a:t>
                      </a:r>
                    </a:p>
                  </a:txBody>
                  <a:tcPr>
                    <a:solidFill>
                      <a:srgbClr val="FFFFFF"/>
                    </a:solidFill>
                  </a:tcPr>
                </a:tc>
                <a:tc>
                  <a:txBody>
                    <a:bodyPr/>
                    <a:lstStyle/>
                    <a:p>
                      <a:pPr algn="ctr">
                        <a:defRPr sz="900" b="1">
                          <a:solidFill>
                            <a:srgbClr val="006455"/>
                          </a:solidFill>
                          <a:latin typeface="Montserrat"/>
                        </a:defRPr>
                      </a:pPr>
                      <a:r>
                        <a:t>+1.0%</a:t>
                      </a:r>
                    </a:p>
                  </a:txBody>
                  <a:tcPr>
                    <a:solidFill>
                      <a:srgbClr val="FFFFFF"/>
                    </a:solidFill>
                  </a:tcPr>
                </a:tc>
              </a:tr>
            </a:tbl>
          </a:graphicData>
        </a:graphic>
      </p:graphicFrame>
      <p:sp>
        <p:nvSpPr>
          <p:cNvPr id="493" name="TextBox 492"/>
          <p:cNvSpPr txBox="1"/>
          <p:nvPr/>
        </p:nvSpPr>
        <p:spPr>
          <a:xfrm>
            <a:off x="208800" y="9313200"/>
            <a:ext cx="4316400" cy="244800"/>
          </a:xfrm>
          <a:prstGeom prst="rect">
            <a:avLst/>
          </a:prstGeom>
          <a:noFill/>
        </p:spPr>
        <p:txBody>
          <a:bodyPr wrap="square" tIns="0" bIns="0" lIns="0" rIns="0">
            <a:spAutoFit/>
          </a:bodyPr>
          <a:lstStyle/>
          <a:p>
            <a:pPr algn="l">
              <a:defRPr sz="800">
                <a:solidFill>
                  <a:srgbClr val="000000"/>
                </a:solidFill>
                <a:latin typeface="Montserrat"/>
              </a:defRPr>
            </a:pPr>
            <a:r>
              <a:t>Fuente: Dirección de Incorporación y Recaudación.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000" b="1" u="none" strike="noStrike" cap="none">
                          <a:solidFill>
                            <a:srgbClr val="BC955C"/>
                          </a:solidFill>
                          <a:latin typeface="Montserrat"/>
                          <a:ea typeface="Montserrat"/>
                          <a:cs typeface="Montserrat"/>
                          <a:sym typeface="Montserrat"/>
                        </a:rPr>
                        <a:t>Puestos de trabajo y salario base de </a:t>
                      </a:r>
                      <a:r>
                        <a:rPr lang="es" sz="2000" b="1" u="none" strike="noStrike" cap="none">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6"/>
                            </a:ext>
                          </a:extLst>
                        </a:rPr>
                        <a:t>cotización</a:t>
                      </a:r>
                      <a:endParaRPr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dirty="0">
                <a:solidFill>
                  <a:srgbClr val="5B0F00"/>
                </a:solidFill>
                <a:latin typeface="Montserrat"/>
                <a:ea typeface="Montserrat"/>
                <a:cs typeface="Montserrat"/>
                <a:sym typeface="Montserrat"/>
              </a:rPr>
              <a:t> </a:t>
            </a:r>
            <a:r>
              <a:rPr lang="es" sz="1400" b="1" i="0" u="none" strike="noStrike" cap="none" dirty="0">
                <a:solidFill>
                  <a:srgbClr val="5B0F00"/>
                </a:solidFill>
                <a:latin typeface="Montserrat"/>
                <a:ea typeface="Montserrat"/>
                <a:cs typeface="Montserrat"/>
                <a:sym typeface="Montserrat"/>
              </a:rPr>
              <a:t>Puestos de trabajo comparación interanual de cada año</a:t>
            </a:r>
            <a:endParaRPr sz="2000" b="1" i="0" u="none" strike="noStrike" cap="none" dirty="0">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C40E98EE-4DF2-1751-AF7E-15529E7A6F40}"/>
              </a:ext>
            </a:extLst>
          </p:cNvPr>
          <p:cNvSpPr/>
          <p:nvPr/>
        </p:nvSpPr>
        <p:spPr>
          <a:xfrm>
            <a:off x="839061" y="1101600"/>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$718.49</a:t>
            </a:r>
          </a:p>
          <a:p>
            <a:pPr algn="ctr">
              <a:defRPr sz="800" b="1">
                <a:solidFill>
                  <a:srgbClr val="FFFFFF"/>
                </a:solidFill>
                <a:latin typeface="Montserrat"/>
              </a:defRPr>
            </a:pPr>
            <a:r>
              <a:t>SBC</a:t>
            </a:r>
          </a:p>
          <a:p>
            <a:pPr algn="ctr">
              <a:defRPr sz="800" b="0">
                <a:solidFill>
                  <a:srgbClr val="FFFFFF"/>
                </a:solidFill>
                <a:latin typeface="Montserrat"/>
              </a:defRPr>
            </a:pPr>
            <a:r>
              <a:t>Abril</a:t>
            </a:r>
          </a:p>
        </p:txBody>
      </p:sp>
      <p:graphicFrame>
        <p:nvGraphicFramePr>
          <p:cNvPr id="503" name="Table 502"/>
          <p:cNvGraphicFramePr>
            <a:graphicFrameLocks noGrp="1"/>
          </p:cNvGraphicFramePr>
          <p:nvPr/>
        </p:nvGraphicFramePr>
        <p:xfrm>
          <a:off x="478800" y="1130400"/>
          <a:ext cx="6638400" cy="576000"/>
        </p:xfrm>
        <a:graphic>
          <a:graphicData uri="http://schemas.openxmlformats.org/drawingml/2006/table">
            <a:tbl>
              <a:tblPr firstRow="1" bandRow="1">
                <a:tableStyleId>{5C22544A-7EE6-4342-B048-85BDC9FD1C3A}</a:tableStyleId>
              </a:tblPr>
              <a:tblGrid>
                <a:gridCol w="1106400"/>
                <a:gridCol w="1106400"/>
                <a:gridCol w="1106400"/>
                <a:gridCol w="1106400"/>
                <a:gridCol w="1106400"/>
                <a:gridCol w="1106400"/>
              </a:tblGrid>
              <a:tr h="288000">
                <a:tc>
                  <a:txBody>
                    <a:bodyPr/>
                    <a:lstStyle/>
                    <a:p>
                      <a:pPr algn="ctr">
                        <a:defRPr b="1" sz="1100">
                          <a:solidFill>
                            <a:srgbClr val="FFFFFF"/>
                          </a:solidFill>
                          <a:latin typeface="Montserrat"/>
                        </a:defRPr>
                      </a:pPr>
                    </a:p>
                  </a:txBody>
                  <a:tcPr anchor="ctr">
                    <a:noFill/>
                  </a:tcPr>
                </a:tc>
                <a:tc>
                  <a:txBody>
                    <a:bodyPr/>
                    <a:lstStyle/>
                    <a:p>
                      <a:pPr algn="ctr">
                        <a:defRPr b="1" sz="1100">
                          <a:solidFill>
                            <a:srgbClr val="FFFFFF"/>
                          </a:solidFill>
                          <a:latin typeface="Montserrat"/>
                        </a:defRPr>
                      </a:pPr>
                      <a:r>
                        <a:t>2018 diciembre</a:t>
                      </a:r>
                    </a:p>
                  </a:txBody>
                  <a:tcPr anchor="ctr">
                    <a:solidFill>
                      <a:srgbClr val="A42145"/>
                    </a:solidFill>
                  </a:tcPr>
                </a:tc>
                <a:tc>
                  <a:txBody>
                    <a:bodyPr/>
                    <a:lstStyle/>
                    <a:p>
                      <a:pPr algn="ctr">
                        <a:defRPr b="1" sz="1100">
                          <a:solidFill>
                            <a:srgbClr val="FFFFFF"/>
                          </a:solidFill>
                          <a:latin typeface="Montserrat"/>
                        </a:defRPr>
                      </a:pPr>
                      <a:r>
                        <a:t>2026 Abril</a:t>
                      </a:r>
                    </a:p>
                  </a:txBody>
                  <a:tcPr anchor="ctr">
                    <a:solidFill>
                      <a:srgbClr val="A42145"/>
                    </a:solidFill>
                  </a:tcPr>
                </a:tc>
                <a:tc>
                  <a:txBody>
                    <a:bodyPr/>
                    <a:lstStyle/>
                    <a:p>
                      <a:pPr algn="ctr">
                        <a:defRPr b="1" sz="1100">
                          <a:solidFill>
                            <a:srgbClr val="FFFFFF"/>
                          </a:solidFill>
                          <a:latin typeface="Montserrat"/>
                        </a:defRPr>
                      </a:pPr>
                      <a:r>
                        <a:t>Variación %</a:t>
                      </a:r>
                    </a:p>
                  </a:txBody>
                  <a:tcPr anchor="ctr">
                    <a:solidFill>
                      <a:srgbClr val="A42145"/>
                    </a:solidFill>
                  </a:tcPr>
                </a:tc>
                <a:tc>
                  <a:txBody>
                    <a:bodyPr/>
                    <a:lstStyle/>
                    <a:p>
                      <a:pPr algn="ctr">
                        <a:defRPr b="1" sz="1100">
                          <a:solidFill>
                            <a:srgbClr val="FFFFFF"/>
                          </a:solidFill>
                          <a:latin typeface="Montserrat"/>
                        </a:defRPr>
                      </a:pPr>
                      <a:r>
                        <a:t>Nacional 2026</a:t>
                      </a:r>
                    </a:p>
                  </a:txBody>
                  <a:tcPr anchor="ctr">
                    <a:solidFill>
                      <a:srgbClr val="A42145"/>
                    </a:solidFill>
                  </a:tcPr>
                </a:tc>
                <a:tc>
                  <a:txBody>
                    <a:bodyPr/>
                    <a:lstStyle/>
                    <a:p>
                      <a:pPr algn="ctr">
                        <a:defRPr b="1" sz="1100">
                          <a:solidFill>
                            <a:srgbClr val="FFFFFF"/>
                          </a:solidFill>
                          <a:latin typeface="Montserrat"/>
                        </a:defRPr>
                      </a:pPr>
                      <a:r>
                        <a:t>Salario Mensual</a:t>
                      </a:r>
                    </a:p>
                  </a:txBody>
                  <a:tcPr anchor="ctr">
                    <a:solidFill>
                      <a:srgbClr val="A42145"/>
                    </a:solidFill>
                  </a:tcPr>
                </a:tc>
              </a:tr>
              <a:tr h="288000">
                <a:tc>
                  <a:txBody>
                    <a:bodyPr/>
                    <a:lstStyle/>
                    <a:p>
                      <a:pPr algn="ctr">
                        <a:defRPr sz="1100" b="1">
                          <a:solidFill>
                            <a:srgbClr val="FFFFFF"/>
                          </a:solidFill>
                          <a:latin typeface="Montserrat"/>
                        </a:defRPr>
                      </a:pPr>
                      <a:r>
                        <a:t>Salario Base de Cotización</a:t>
                      </a:r>
                    </a:p>
                  </a:txBody>
                  <a:tcPr anchor="ctr">
                    <a:solidFill>
                      <a:srgbClr val="A42145"/>
                    </a:solidFill>
                  </a:tcPr>
                </a:tc>
                <a:tc>
                  <a:txBody>
                    <a:bodyPr/>
                    <a:lstStyle/>
                    <a:p>
                      <a:pPr algn="ctr">
                        <a:defRPr sz="1100">
                          <a:latin typeface="Montserrat"/>
                        </a:defRPr>
                      </a:pPr>
                      <a:r>
                        <a:t>$402.99</a:t>
                      </a:r>
                    </a:p>
                  </a:txBody>
                  <a:tcPr anchor="ctr">
                    <a:solidFill>
                      <a:srgbClr val="EEEEEE"/>
                    </a:solidFill>
                  </a:tcPr>
                </a:tc>
                <a:tc>
                  <a:txBody>
                    <a:bodyPr/>
                    <a:lstStyle/>
                    <a:p>
                      <a:pPr algn="ctr">
                        <a:defRPr sz="1100" b="1">
                          <a:latin typeface="Montserrat"/>
                        </a:defRPr>
                      </a:pPr>
                      <a:r>
                        <a:t>$718.49</a:t>
                      </a:r>
                    </a:p>
                  </a:txBody>
                  <a:tcPr anchor="ctr">
                    <a:solidFill>
                      <a:srgbClr val="EEEEEE"/>
                    </a:solidFill>
                  </a:tcPr>
                </a:tc>
                <a:tc>
                  <a:txBody>
                    <a:bodyPr/>
                    <a:lstStyle/>
                    <a:p>
                      <a:pPr algn="ctr">
                        <a:defRPr sz="1100">
                          <a:latin typeface="Montserrat"/>
                        </a:defRPr>
                      </a:pPr>
                      <a:r>
                        <a:t>26.0%</a:t>
                      </a:r>
                    </a:p>
                  </a:txBody>
                  <a:tcPr anchor="ctr">
                    <a:solidFill>
                      <a:srgbClr val="EEEEEE"/>
                    </a:solidFill>
                  </a:tcPr>
                </a:tc>
                <a:tc>
                  <a:txBody>
                    <a:bodyPr/>
                    <a:lstStyle/>
                    <a:p>
                      <a:pPr algn="ctr">
                        <a:defRPr sz="1100" b="1">
                          <a:latin typeface="Montserrat"/>
                        </a:defRPr>
                      </a:pPr>
                      <a:r>
                        <a:t>$664.55</a:t>
                      </a:r>
                    </a:p>
                  </a:txBody>
                  <a:tcPr anchor="ctr">
                    <a:solidFill>
                      <a:srgbClr val="EEEEEE"/>
                    </a:solidFill>
                  </a:tcPr>
                </a:tc>
                <a:tc>
                  <a:txBody>
                    <a:bodyPr/>
                    <a:lstStyle/>
                    <a:p>
                      <a:pPr algn="ctr">
                        <a:defRPr sz="1100" b="1">
                          <a:solidFill>
                            <a:srgbClr val="9F2241"/>
                          </a:solidFill>
                          <a:latin typeface="Montserrat"/>
                        </a:defRPr>
                      </a:pPr>
                      <a:r>
                        <a:t>$21,554.7</a:t>
                      </a:r>
                    </a:p>
                  </a:txBody>
                  <a:tcPr anchor="ctr">
                    <a:solidFill>
                      <a:srgbClr val="EEEEEE"/>
                    </a:solidFill>
                  </a:tcPr>
                </a:tc>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nvGraphicFramePr>
        <p:xfrm>
          <a:off x="320400" y="6649200"/>
          <a:ext cx="7038000" cy="2051999"/>
        </p:xfrm>
        <a:graphic>
          <a:graphicData uri="http://schemas.openxmlformats.org/drawingml/2006/table">
            <a:tbl>
              <a:tblPr firstRow="1" bandRow="1">
                <a:tableStyleId>{5C22544A-7EE6-4342-B048-85BDC9FD1C3A}</a:tableStyleId>
              </a:tblPr>
              <a:tblGrid>
                <a:gridCol w="2520000"/>
                <a:gridCol w="3240000"/>
                <a:gridCol w="1278000"/>
              </a:tblGrid>
              <a:tr h="251999">
                <a:tc gridSpan="3">
                  <a:txBody>
                    <a:bodyPr/>
                    <a:lstStyle/>
                    <a:p>
                      <a:pPr algn="ctr">
                        <a:defRPr b="1" sz="1100">
                          <a:solidFill>
                            <a:srgbClr val="FFFFFF"/>
                          </a:solidFill>
                          <a:latin typeface="Montserrat"/>
                        </a:defRPr>
                      </a:pPr>
                      <a:r>
                        <a:t>PRINCIPALES DEUDORES</a:t>
                      </a:r>
                    </a:p>
                  </a:txBody>
                  <a:tcPr>
                    <a:solidFill>
                      <a:srgbClr val="006455"/>
                    </a:solidFill>
                  </a:tcPr>
                </a:tc>
                <a:tc hMerge="1">
                  <a:txBody>
                    <a:bodyPr/>
                    <a:lstStyle/>
                    <a:p/>
                  </a:txBody>
                  <a:tcPr/>
                </a:tc>
                <a:tc hMerge="1">
                  <a:txBody>
                    <a:bodyPr/>
                    <a:lstStyle/>
                    <a:p/>
                  </a:txBody>
                  <a:tcPr/>
                </a:tc>
              </a:tr>
              <a:tr h="360000">
                <a:tc>
                  <a:txBody>
                    <a:bodyPr/>
                    <a:lstStyle/>
                    <a:p>
                      <a:pPr algn="ctr">
                        <a:defRPr b="1" sz="1100">
                          <a:solidFill>
                            <a:srgbClr val="FFFFFF"/>
                          </a:solidFill>
                          <a:latin typeface="Montserrat"/>
                        </a:defRPr>
                      </a:pPr>
                      <a:r>
                        <a:t>Categoría</a:t>
                      </a:r>
                    </a:p>
                  </a:txBody>
                  <a:tcPr>
                    <a:solidFill>
                      <a:srgbClr val="006455"/>
                    </a:solidFill>
                  </a:tcPr>
                </a:tc>
                <a:tc>
                  <a:txBody>
                    <a:bodyPr/>
                    <a:lstStyle/>
                    <a:p>
                      <a:pPr algn="ctr">
                        <a:defRPr b="1" sz="1100">
                          <a:solidFill>
                            <a:srgbClr val="FFFFFF"/>
                          </a:solidFill>
                          <a:latin typeface="Montserrat"/>
                        </a:defRPr>
                      </a:pPr>
                      <a:r>
                        <a:t>Deudores</a:t>
                      </a:r>
                    </a:p>
                  </a:txBody>
                  <a:tcPr>
                    <a:solidFill>
                      <a:srgbClr val="006455"/>
                    </a:solidFill>
                  </a:tcPr>
                </a:tc>
                <a:tc>
                  <a:txBody>
                    <a:bodyPr/>
                    <a:lstStyle/>
                    <a:p>
                      <a:pPr algn="ctr">
                        <a:defRPr b="1" sz="1100">
                          <a:solidFill>
                            <a:srgbClr val="FFFFFF"/>
                          </a:solidFill>
                          <a:latin typeface="Montserrat"/>
                        </a:defRPr>
                      </a:pPr>
                      <a:r>
                        <a:t>Monto de deuda (mdp)</a:t>
                      </a:r>
                    </a:p>
                  </a:txBody>
                  <a:tcPr>
                    <a:solidFill>
                      <a:srgbClr val="006455"/>
                    </a:solidFill>
                  </a:tcPr>
                </a:tc>
              </a:tr>
              <a:tr h="288000">
                <a:tc rowSpan="2">
                  <a:txBody>
                    <a:bodyPr/>
                    <a:lstStyle/>
                    <a:p>
                      <a:pPr algn="ctr">
                        <a:defRPr sz="1100">
                          <a:solidFill>
                            <a:srgbClr val="FFFFFF"/>
                          </a:solidFill>
                          <a:latin typeface="Montserrat"/>
                        </a:defRPr>
                      </a:pPr>
                      <a:r>
                        <a:t>Principal deudor público</a:t>
                      </a:r>
                    </a:p>
                  </a:txBody>
                  <a:tcPr anchor="ctr">
                    <a:solidFill>
                      <a:srgbClr val="006455"/>
                    </a:solidFill>
                  </a:tcPr>
                </a:tc>
                <a:tc>
                  <a:txBody>
                    <a:bodyPr/>
                    <a:lstStyle/>
                    <a:p>
                      <a:pPr algn="ctr">
                        <a:defRPr sz="900">
                          <a:latin typeface="Montserrat"/>
                        </a:defRPr>
                      </a:pPr>
                      <a:r>
                        <a:t>Tribunal electoral del Estado de Querétaro</a:t>
                      </a:r>
                    </a:p>
                  </a:txBody>
                  <a:tcPr>
                    <a:solidFill>
                      <a:srgbClr val="FFFFFF"/>
                    </a:solidFill>
                  </a:tcPr>
                </a:tc>
                <a:tc>
                  <a:txBody>
                    <a:bodyPr/>
                    <a:lstStyle/>
                    <a:p>
                      <a:pPr algn="ctr">
                        <a:defRPr sz="900">
                          <a:latin typeface="Montserrat"/>
                        </a:defRPr>
                      </a:pPr>
                      <a:r>
                        <a:t>$0.05</a:t>
                      </a:r>
                    </a:p>
                  </a:txBody>
                  <a:tcPr>
                    <a:solidFill>
                      <a:srgbClr val="FFFFFF"/>
                    </a:solidFill>
                  </a:tcPr>
                </a:tc>
              </a:tr>
              <a:tr h="288000">
                <a:tc vMerge="1">
                  <a:txBody>
                    <a:bodyPr/>
                    <a:lstStyle/>
                    <a:p/>
                  </a:txBody>
                  <a:tcPr>
                    <a:solidFill>
                      <a:srgbClr val="EEEEEE"/>
                    </a:solidFill>
                  </a:tcPr>
                </a:tc>
                <a:tc>
                  <a:txBody>
                    <a:bodyPr/>
                    <a:lstStyle/>
                    <a:p>
                      <a:pPr algn="ctr">
                        <a:defRPr sz="900">
                          <a:latin typeface="Montserrat"/>
                        </a:defRPr>
                      </a:pPr>
                      <a:r>
                        <a:t>Poder Ejecutivo del Estado de Querétaro</a:t>
                      </a:r>
                    </a:p>
                  </a:txBody>
                  <a:tcPr>
                    <a:solidFill>
                      <a:srgbClr val="EEEEEE"/>
                    </a:solidFill>
                  </a:tcPr>
                </a:tc>
                <a:tc>
                  <a:txBody>
                    <a:bodyPr/>
                    <a:lstStyle/>
                    <a:p>
                      <a:pPr algn="ctr">
                        <a:defRPr sz="900">
                          <a:latin typeface="Montserrat"/>
                        </a:defRPr>
                      </a:pPr>
                      <a:r>
                        <a:t>$0.00</a:t>
                      </a:r>
                    </a:p>
                  </a:txBody>
                  <a:tcPr>
                    <a:solidFill>
                      <a:srgbClr val="EEEEEE"/>
                    </a:solidFill>
                  </a:tcPr>
                </a:tc>
              </a:tr>
              <a:tr h="288000">
                <a:tc rowSpan="3">
                  <a:txBody>
                    <a:bodyPr/>
                    <a:lstStyle/>
                    <a:p>
                      <a:pPr algn="ctr">
                        <a:defRPr sz="1100">
                          <a:solidFill>
                            <a:srgbClr val="FFFFFF"/>
                          </a:solidFill>
                          <a:latin typeface="Montserrat"/>
                        </a:defRPr>
                      </a:pPr>
                      <a:r>
                        <a:t>Principal deudor privado</a:t>
                      </a:r>
                    </a:p>
                  </a:txBody>
                  <a:tcPr anchor="ctr">
                    <a:solidFill>
                      <a:srgbClr val="006455"/>
                    </a:solidFill>
                  </a:tcPr>
                </a:tc>
                <a:tc>
                  <a:txBody>
                    <a:bodyPr/>
                    <a:lstStyle/>
                    <a:p>
                      <a:pPr algn="ctr">
                        <a:defRPr sz="900">
                          <a:latin typeface="Montserrat"/>
                        </a:defRPr>
                      </a:pPr>
                      <a:r>
                        <a:t>Ssspive Valle de México SC</a:t>
                      </a:r>
                    </a:p>
                  </a:txBody>
                  <a:tcPr>
                    <a:solidFill>
                      <a:srgbClr val="FFFFFF"/>
                    </a:solidFill>
                  </a:tcPr>
                </a:tc>
                <a:tc>
                  <a:txBody>
                    <a:bodyPr/>
                    <a:lstStyle/>
                    <a:p>
                      <a:pPr algn="ctr">
                        <a:defRPr sz="900">
                          <a:latin typeface="Montserrat"/>
                        </a:defRPr>
                      </a:pPr>
                      <a:r>
                        <a:t>$15.97</a:t>
                      </a:r>
                    </a:p>
                  </a:txBody>
                  <a:tcPr>
                    <a:solidFill>
                      <a:srgbClr val="FFFFFF"/>
                    </a:solidFill>
                  </a:tcPr>
                </a:tc>
              </a:tr>
              <a:tr h="288000">
                <a:tc vMerge="1">
                  <a:txBody>
                    <a:bodyPr/>
                    <a:lstStyle/>
                    <a:p/>
                  </a:txBody>
                  <a:tcPr>
                    <a:solidFill>
                      <a:srgbClr val="EEEEEE"/>
                    </a:solidFill>
                  </a:tcPr>
                </a:tc>
                <a:tc>
                  <a:txBody>
                    <a:bodyPr/>
                    <a:lstStyle/>
                    <a:p>
                      <a:pPr algn="ctr">
                        <a:defRPr sz="900">
                          <a:latin typeface="Montserrat"/>
                        </a:defRPr>
                      </a:pPr>
                      <a:r>
                        <a:t>Human Kind SA de CV</a:t>
                      </a:r>
                    </a:p>
                  </a:txBody>
                  <a:tcPr>
                    <a:solidFill>
                      <a:srgbClr val="EEEEEE"/>
                    </a:solidFill>
                  </a:tcPr>
                </a:tc>
                <a:tc>
                  <a:txBody>
                    <a:bodyPr/>
                    <a:lstStyle/>
                    <a:p>
                      <a:pPr algn="ctr">
                        <a:defRPr sz="900">
                          <a:latin typeface="Montserrat"/>
                        </a:defRPr>
                      </a:pPr>
                      <a:r>
                        <a:t>$14.26</a:t>
                      </a:r>
                    </a:p>
                  </a:txBody>
                  <a:tcPr>
                    <a:solidFill>
                      <a:srgbClr val="EEEEEE"/>
                    </a:solidFill>
                  </a:tcPr>
                </a:tc>
              </a:tr>
              <a:tr h="288000">
                <a:tc vMerge="1">
                  <a:txBody>
                    <a:bodyPr/>
                    <a:lstStyle/>
                    <a:p/>
                  </a:txBody>
                  <a:tcPr>
                    <a:solidFill>
                      <a:srgbClr val="006455"/>
                    </a:solidFill>
                  </a:tcPr>
                </a:tc>
                <a:tc>
                  <a:txBody>
                    <a:bodyPr/>
                    <a:lstStyle/>
                    <a:p>
                      <a:pPr algn="ctr">
                        <a:defRPr sz="900">
                          <a:latin typeface="Montserrat"/>
                        </a:defRPr>
                      </a:pPr>
                      <a:r>
                        <a:t>Bon Appetit CT S de RL de CV</a:t>
                      </a:r>
                    </a:p>
                  </a:txBody>
                  <a:tcPr>
                    <a:solidFill>
                      <a:srgbClr val="FFFFFF"/>
                    </a:solidFill>
                  </a:tcPr>
                </a:tc>
                <a:tc>
                  <a:txBody>
                    <a:bodyPr/>
                    <a:lstStyle/>
                    <a:p>
                      <a:pPr algn="ctr">
                        <a:defRPr sz="900">
                          <a:latin typeface="Montserrat"/>
                        </a:defRPr>
                      </a:pPr>
                      <a:r>
                        <a:t>$13.28</a:t>
                      </a:r>
                    </a:p>
                  </a:txBody>
                  <a:tcPr>
                    <a:solidFill>
                      <a:srgbClr val="FFFFFF"/>
                    </a:solidFill>
                  </a:tcPr>
                </a:tc>
              </a:tr>
            </a:tbl>
          </a:graphicData>
        </a:graphic>
      </p:graphicFrame>
      <p:sp>
        <p:nvSpPr>
          <p:cNvPr id="515" name="TextBox 514"/>
          <p:cNvSpPr txBox="1"/>
          <p:nvPr/>
        </p:nvSpPr>
        <p:spPr>
          <a:xfrm>
            <a:off x="251999" y="2350800"/>
            <a:ext cx="4316400" cy="244800"/>
          </a:xfrm>
          <a:prstGeom prst="rect">
            <a:avLst/>
          </a:prstGeom>
          <a:noFill/>
        </p:spPr>
        <p:txBody>
          <a:bodyPr wrap="square" tIns="0" bIns="0" lIns="0" rIns="0">
            <a:spAutoFit/>
          </a:bodyPr>
          <a:lstStyle/>
          <a:p>
            <a:pPr algn="l">
              <a:defRPr sz="800">
                <a:solidFill>
                  <a:srgbClr val="000000"/>
                </a:solidFill>
                <a:latin typeface="Montserrat"/>
              </a:defRPr>
            </a:pPr>
            <a:r>
              <a:t>Salario Base de Cotización: tado: Se utilizó como deflactor del salario el cociente del INPC entre diciembre 2018 (103.02) y abril 2026 (145.831) de 0.706434.</a:t>
            </a:r>
          </a:p>
        </p:txBody>
      </p:sp>
      <p:sp>
        <p:nvSpPr>
          <p:cNvPr id="516" name="TextBox 515"/>
          <p:cNvSpPr txBox="1"/>
          <p:nvPr/>
        </p:nvSpPr>
        <p:spPr>
          <a:xfrm>
            <a:off x="251999" y="9561600"/>
            <a:ext cx="4316400" cy="244800"/>
          </a:xfrm>
          <a:prstGeom prst="rect">
            <a:avLst/>
          </a:prstGeom>
          <a:noFill/>
        </p:spPr>
        <p:txBody>
          <a:bodyPr wrap="square" tIns="0" bIns="0" lIns="0" rIns="0">
            <a:spAutoFit/>
          </a:bodyPr>
          <a:lstStyle/>
          <a:p>
            <a:pPr algn="l">
              <a:defRPr sz="800">
                <a:solidFill>
                  <a:srgbClr val="FFFFFF"/>
                </a:solidFill>
                <a:latin typeface="Montserrat"/>
              </a:defRPr>
            </a:pPr>
            <a:r>
              <a:t>Fuente: Dirección de Incorporación y Recaudación. Corte de información abril 2026.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205 total especialistas contratados en el draft 2026</a:t>
            </a:r>
          </a:p>
        </p:txBody>
      </p:sp>
      <p:sp>
        <p:nvSpPr>
          <p:cNvPr id="4" name="TextBox 3"/>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11 en Unidades de Medicina Familiar</a:t>
            </a:r>
          </a:p>
        </p:txBody>
      </p:sp>
      <p:cxnSp>
        <p:nvCxnSpPr>
          <p:cNvPr id="5" name="Connector 4"/>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3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7" name="Table 6"/>
          <p:cNvGraphicFramePr>
            <a:graphicFrameLocks noGrp="1"/>
          </p:cNvGraphicFramePr>
          <p:nvPr/>
        </p:nvGraphicFramePr>
        <p:xfrm>
          <a:off x="39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8" name="Table 7"/>
          <p:cNvGraphicFramePr>
            <a:graphicFrameLocks noGrp="1"/>
          </p:cNvGraphicFramePr>
          <p:nvPr/>
        </p:nvGraphicFramePr>
        <p:xfrm>
          <a:off x="360000" y="2469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9" name="Table 8"/>
          <p:cNvGraphicFramePr>
            <a:graphicFrameLocks noGrp="1"/>
          </p:cNvGraphicFramePr>
          <p:nvPr/>
        </p:nvGraphicFramePr>
        <p:xfrm>
          <a:off x="3960000" y="2469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0" name="Table 9"/>
          <p:cNvGraphicFramePr>
            <a:graphicFrameLocks noGrp="1"/>
          </p:cNvGraphicFramePr>
          <p:nvPr/>
        </p:nvGraphicFramePr>
        <p:xfrm>
          <a:off x="360000" y="3369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7</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1" name="Table 10"/>
          <p:cNvGraphicFramePr>
            <a:graphicFrameLocks noGrp="1"/>
          </p:cNvGraphicFramePr>
          <p:nvPr/>
        </p:nvGraphicFramePr>
        <p:xfrm>
          <a:off x="3960000" y="3369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8</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2" name="Table 11"/>
          <p:cNvGraphicFramePr>
            <a:graphicFrameLocks noGrp="1"/>
          </p:cNvGraphicFramePr>
          <p:nvPr/>
        </p:nvGraphicFramePr>
        <p:xfrm>
          <a:off x="360000" y="4269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9</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sp>
        <p:nvSpPr>
          <p:cNvPr id="13" name="TextBox 12"/>
          <p:cNvSpPr txBox="1"/>
          <p:nvPr/>
        </p:nvSpPr>
        <p:spPr>
          <a:xfrm>
            <a:off x="360000" y="5349596"/>
            <a:ext cx="6840000" cy="360000"/>
          </a:xfrm>
          <a:prstGeom prst="rect">
            <a:avLst/>
          </a:prstGeom>
          <a:noFill/>
        </p:spPr>
        <p:txBody>
          <a:bodyPr wrap="none" anchor="ctr">
            <a:spAutoFit/>
          </a:bodyPr>
          <a:lstStyle/>
          <a:p>
            <a:pPr algn="l">
              <a:defRPr sz="2000" b="1">
                <a:solidFill>
                  <a:srgbClr val="BC955C"/>
                </a:solidFill>
                <a:latin typeface="Montserrat"/>
              </a:defRPr>
            </a:pPr>
            <a:r>
              <a:t>168 especialistas (sustitutos)</a:t>
            </a:r>
          </a:p>
        </p:txBody>
      </p:sp>
      <p:cxnSp>
        <p:nvCxnSpPr>
          <p:cNvPr id="14" name="Connector 13"/>
          <p:cNvCxnSpPr/>
          <p:nvPr/>
        </p:nvCxnSpPr>
        <p:spPr>
          <a:xfrm>
            <a:off x="360000" y="5745596"/>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5" name="Table 14"/>
          <p:cNvGraphicFramePr>
            <a:graphicFrameLocks noGrp="1"/>
          </p:cNvGraphicFramePr>
          <p:nvPr/>
        </p:nvGraphicFramePr>
        <p:xfrm>
          <a:off x="360000" y="5817596"/>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Sustitución 8 (Parte 1)</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19</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21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Oncológica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Plástica y Reconstructiva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Endocrinología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Geriatría</a:t>
                      </a:r>
                    </a:p>
                  </a:txBody>
                  <a:tcPr>
                    <a:solidFill>
                      <a:srgbClr val="F0F0F0"/>
                    </a:solidFill>
                  </a:tcPr>
                </a:tc>
                <a:tc>
                  <a:txBody>
                    <a:bodyPr/>
                    <a:lstStyle/>
                    <a:p>
                      <a:pPr algn="ctr">
                        <a:defRPr sz="800" b="0">
                          <a:solidFill>
                            <a:srgbClr val="000000"/>
                          </a:solidFill>
                          <a:latin typeface="Montserrat"/>
                        </a:defRPr>
                      </a:pPr>
                      <a:r>
                        <a:t>9</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19</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19</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bl>
          </a:graphicData>
        </a:graphic>
      </p:graphicFrame>
      <p:graphicFrame>
        <p:nvGraphicFramePr>
          <p:cNvPr id="16" name="Table 15"/>
          <p:cNvGraphicFramePr>
            <a:graphicFrameLocks noGrp="1"/>
          </p:cNvGraphicFramePr>
          <p:nvPr/>
        </p:nvGraphicFramePr>
        <p:xfrm>
          <a:off x="3960000" y="5817596"/>
          <a:ext cx="3456000" cy="324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4">
                  <a:txBody>
                    <a:bodyPr/>
                    <a:lstStyle/>
                    <a:p>
                      <a:pPr algn="ctr">
                        <a:defRPr sz="800" b="1">
                          <a:solidFill>
                            <a:srgbClr val="000000"/>
                          </a:solidFill>
                          <a:latin typeface="Montserrat"/>
                        </a:defRPr>
                      </a:pPr>
                      <a:r>
                        <a:t>Sustitución 8 (Parte 2)</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16</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Nefrología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Nefrología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Neonatología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Neumología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9</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Reumatología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168</a:t>
                      </a:r>
                    </a:p>
                  </a:txBody>
                  <a:tcPr>
                    <a:solidFill>
                      <a:srgbClr val="D3E9E7"/>
                    </a:solidFill>
                  </a:tcPr>
                </a:tc>
              </a:tr>
            </a:tbl>
          </a:graphicData>
        </a:graphic>
      </p:graphicFrame>
      <p:sp>
        <p:nvSpPr>
          <p:cNvPr id="17" name="TextBox 16"/>
          <p:cNvSpPr txBox="1"/>
          <p:nvPr/>
        </p:nvSpPr>
        <p:spPr>
          <a:xfrm>
            <a:off x="270000" y="10893595"/>
            <a:ext cx="7200000" cy="540000"/>
          </a:xfrm>
          <a:prstGeom prst="rect">
            <a:avLst/>
          </a:prstGeom>
          <a:noFill/>
        </p:spPr>
        <p:txBody>
          <a:bodyPr wrap="square">
            <a:spAutoFit/>
          </a:bodyPr>
          <a:lstStyle/>
          <a:p>
            <a:pPr algn="l">
              <a:defRPr sz="1000">
                <a:solidFill>
                  <a:srgbClr val="000000"/>
                </a:solidFill>
                <a:latin typeface="Montserrat"/>
              </a:defRPr>
            </a:pPr>
            <a:r>
              <a:t>Sustitutos se integran a los Listados de Bolsa de Trabajo, para cubrir las futuras vacantes por jubilación, renuncia, fallecimiento, etc., así como ausentismo programado y no programado.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466800">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466800">
                <a:tc>
                  <a:txBody>
                    <a:bodyPr/>
                    <a:lstStyle/>
                    <a:p>
                      <a:pPr algn="l">
                        <a:defRPr sz="1100" b="0">
                          <a:solidFill>
                            <a:srgbClr val="000000"/>
                          </a:solidFill>
                          <a:latin typeface="Montserrat"/>
                        </a:defRPr>
                      </a:pPr>
                      <a:r>
                        <a:t>Endocrinología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97.0%</a:t>
                      </a:r>
                    </a:p>
                  </a:txBody>
                  <a:tcPr anchor="ctr" marL="45720" marR="45720" marT="45720" marB="45720">
                    <a:solidFill>
                      <a:srgbClr val="D9D9D9"/>
                    </a:solidFill>
                  </a:tcPr>
                </a:tc>
              </a:tr>
              <a:tr h="466800">
                <a:tc>
                  <a:txBody>
                    <a:bodyPr/>
                    <a:lstStyle/>
                    <a:p>
                      <a:pPr algn="l">
                        <a:defRPr sz="1100" b="0">
                          <a:solidFill>
                            <a:srgbClr val="000000"/>
                          </a:solidFill>
                          <a:latin typeface="Montserrat"/>
                        </a:defRPr>
                      </a:pPr>
                      <a:r>
                        <a:t>Epidemiología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97.5%</a:t>
                      </a:r>
                    </a:p>
                  </a:txBody>
                  <a:tcPr anchor="ctr" marL="45720" marR="45720" marT="45720" marB="45720">
                    <a:solidFill>
                      <a:srgbClr val="FFFFFF"/>
                    </a:solidFill>
                  </a:tcPr>
                </a:tc>
              </a:tr>
              <a:tr h="466800">
                <a:tc>
                  <a:txBody>
                    <a:bodyPr/>
                    <a:lstStyle/>
                    <a:p>
                      <a:pPr algn="l">
                        <a:defRPr sz="1100" b="0">
                          <a:solidFill>
                            <a:srgbClr val="000000"/>
                          </a:solidFill>
                          <a:latin typeface="Montserrat"/>
                        </a:defRPr>
                      </a:pPr>
                      <a:r>
                        <a:t>Ginecología Oncológica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98.0%</a:t>
                      </a:r>
                    </a:p>
                  </a:txBody>
                  <a:tcPr anchor="ctr" marL="45720" marR="45720" marT="45720" marB="45720">
                    <a:solidFill>
                      <a:srgbClr val="D9D9D9"/>
                    </a:solidFill>
                  </a:tcPr>
                </a:tc>
              </a:tr>
              <a:tr h="466800">
                <a:tc>
                  <a:txBody>
                    <a:bodyPr/>
                    <a:lstStyle/>
                    <a:p>
                      <a:pPr algn="l">
                        <a:defRPr sz="1100" b="0">
                          <a:solidFill>
                            <a:srgbClr val="000000"/>
                          </a:solidFill>
                          <a:latin typeface="Montserrat"/>
                        </a:defRPr>
                      </a:pPr>
                      <a:r>
                        <a:t>Neumología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98.5%</a:t>
                      </a:r>
                    </a:p>
                  </a:txBody>
                  <a:tcPr anchor="ctr" marL="45720" marR="45720" marT="45720" marB="45720">
                    <a:solidFill>
                      <a:srgbClr val="FFFFFF"/>
                    </a:solidFill>
                  </a:tcPr>
                </a:tc>
              </a:tr>
              <a:tr h="466800">
                <a:tc>
                  <a:txBody>
                    <a:bodyPr/>
                    <a:lstStyle/>
                    <a:p>
                      <a:pPr algn="l">
                        <a:defRPr sz="1100" b="0">
                          <a:solidFill>
                            <a:srgbClr val="000000"/>
                          </a:solidFill>
                          <a:latin typeface="Montserrat"/>
                        </a:defRPr>
                      </a:pPr>
                      <a:r>
                        <a:t>Nefrología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99.0%</a:t>
                      </a:r>
                    </a:p>
                  </a:txBody>
                  <a:tcPr anchor="ctr" marL="45720" marR="45720" marT="45720" marB="45720">
                    <a:solidFill>
                      <a:srgbClr val="D9D9D9"/>
                    </a:solidFill>
                  </a:tcPr>
                </a:tc>
              </a:tr>
              <a:tr h="466800">
                <a:tc>
                  <a:txBody>
                    <a:bodyPr/>
                    <a:lstStyle/>
                    <a:p>
                      <a:pPr algn="l">
                        <a:defRPr sz="1100" b="0">
                          <a:solidFill>
                            <a:srgbClr val="000000"/>
                          </a:solidFill>
                          <a:latin typeface="Montserrat"/>
                        </a:defRPr>
                      </a:pPr>
                      <a:r>
                        <a:t>Oncología Médica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99.5%</a:t>
                      </a:r>
                    </a:p>
                  </a:txBody>
                  <a:tcPr anchor="ctr" marL="45720" marR="45720" marT="45720" marB="45720">
                    <a:solidFill>
                      <a:srgbClr val="FFFFFF"/>
                    </a:solidFill>
                  </a:tcPr>
                </a:tc>
              </a:tr>
              <a:tr h="466800">
                <a:tc>
                  <a:txBody>
                    <a:bodyPr/>
                    <a:lstStyle/>
                    <a:p>
                      <a:pPr algn="l">
                        <a:defRPr sz="1100" b="0">
                          <a:solidFill>
                            <a:srgbClr val="000000"/>
                          </a:solidFill>
                          <a:latin typeface="Montserrat"/>
                        </a:defRPr>
                      </a:pPr>
                      <a:r>
                        <a:t>Neumología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100.0%</a:t>
                      </a:r>
                    </a:p>
                  </a:txBody>
                  <a:tcPr anchor="ctr" marL="45720" marR="45720" marT="45720" marB="45720">
                    <a:solidFill>
                      <a:srgbClr val="D9D9D9"/>
                    </a:solidFill>
                  </a:tcPr>
                </a:tc>
              </a:tr>
              <a:tr h="466800">
                <a:tc>
                  <a:txBody>
                    <a:bodyPr/>
                    <a:lstStyle/>
                    <a:p>
                      <a:pPr algn="l">
                        <a:defRPr sz="1100" b="1">
                          <a:solidFill>
                            <a:srgbClr val="006455"/>
                          </a:solidFill>
                          <a:latin typeface="Montserrat"/>
                        </a:defRPr>
                      </a:pPr>
                      <a:r>
                        <a:t>Total</a:t>
                      </a:r>
                    </a:p>
                  </a:txBody>
                  <a:tcPr anchor="ctr" marL="45720" marR="45720" marT="45720" marB="45720">
                    <a:solidFill>
                      <a:srgbClr val="CBE6E1"/>
                    </a:solidFill>
                  </a:tcPr>
                </a:tc>
                <a:tc>
                  <a:txBody>
                    <a:bodyPr/>
                    <a:lstStyle/>
                    <a:p>
                      <a:pPr algn="ctr">
                        <a:defRPr sz="1100" b="1">
                          <a:solidFill>
                            <a:srgbClr val="006455"/>
                          </a:solidFill>
                          <a:latin typeface="Montserrat"/>
                        </a:defRPr>
                      </a:pPr>
                      <a:r>
                        <a:t>205</a:t>
                      </a:r>
                    </a:p>
                  </a:txBody>
                  <a:tcPr anchor="ctr" marL="45720" marR="45720" marT="45720" marB="45720">
                    <a:solidFill>
                      <a:srgbClr val="CBE6E1"/>
                    </a:solidFill>
                  </a:tcPr>
                </a:tc>
                <a:tc>
                  <a:txBody>
                    <a:bodyPr/>
                    <a:lstStyle/>
                    <a:p>
                      <a:pPr algn="ctr">
                        <a:defRPr sz="1100" b="1">
                          <a:solidFill>
                            <a:srgbClr val="006455"/>
                          </a:solidFill>
                          <a:latin typeface="Montserrat"/>
                        </a:defRPr>
                      </a:pPr>
                      <a:r>
                        <a:t>100.0%</a:t>
                      </a:r>
                    </a:p>
                  </a:txBody>
                  <a:tcPr anchor="ctr" marL="45720" marR="45720" marT="45720" marB="45720">
                    <a:solidFill>
                      <a:srgbClr val="CBE6E1"/>
                    </a:solidFill>
                  </a:tcPr>
                </a:tc>
              </a:tr>
            </a:tbl>
          </a:graphicData>
        </a:graphic>
      </p:graphicFrame>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TotalTime>381</TotalTime>
  <Words>342</Words>
  <Application>Microsoft Office PowerPoint</Application>
  <PresentationFormat>Personalizado</PresentationFormat>
  <Paragraphs>80</Paragraphs>
  <Slides>24</Slides>
  <Notes>21</Notes>
  <HiddenSlides>0</HiddenSlides>
  <MMClips>0</MMClips>
  <ScaleCrop>false</ScaleCrop>
  <HeadingPairs>
    <vt:vector size="4" baseType="variant">
      <vt:variant>
        <vt:lpstr>Tema</vt:lpstr>
      </vt:variant>
      <vt:variant>
        <vt:i4>1</vt:i4>
      </vt:variant>
      <vt:variant>
        <vt:lpstr>Títulos de diapositiva</vt:lpstr>
      </vt:variant>
      <vt:variant>
        <vt:i4>24</vt:i4>
      </vt:variant>
    </vt:vector>
  </HeadingPairs>
  <TitlesOfParts>
    <vt:vector size="25" baseType="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lastModifiedBy>Carlos Esponda Rosales</cp:lastModifiedBy>
  <cp:revision>101</cp:revision>
  <dcterms:modified xsi:type="dcterms:W3CDTF">2026-05-12T23:36:06Z</dcterms:modified>
</cp:coreProperties>
</file>