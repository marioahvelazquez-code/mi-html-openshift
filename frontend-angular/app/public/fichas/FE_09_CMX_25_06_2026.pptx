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89" r:id="rId3"/>
    <p:sldId id="258" r:id="rId4"/>
    <p:sldId id="259" r:id="rId5"/>
    <p:sldId id="260" r:id="rId6"/>
    <p:sldId id="301" r:id="rId7"/>
    <p:sldId id="320" r:id="rId8"/>
    <p:sldId id="321" r:id="rId9"/>
    <p:sldId id="287" r:id="rId10"/>
    <p:sldId id="262" r:id="rId11"/>
    <p:sldId id="263" r:id="rId12"/>
    <p:sldId id="280" r:id="rId13"/>
    <p:sldId id="305" r:id="rId14"/>
    <p:sldId id="267" r:id="rId15"/>
    <p:sldId id="307" r:id="rId16"/>
    <p:sldId id="322" r:id="rId17"/>
    <p:sldId id="306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16" r:id="rId27"/>
    <p:sldId id="288" r:id="rId28"/>
    <p:sldId id="270" r:id="rId29"/>
    <p:sldId id="271" r:id="rId30"/>
    <p:sldId id="272" r:id="rId31"/>
    <p:sldId id="300" r:id="rId32"/>
    <p:sldId id="297" r:id="rId33"/>
    <p:sldId id="331" r:id="rId34"/>
    <p:sldId id="277" r:id="rId35"/>
    <p:sldId id="278" r:id="rId36"/>
    <p:sldId id="279" r:id="rId37"/>
  </p:sldIdLst>
  <p:sldSz cx="7772400" cy="10058400"/>
  <p:notesSz cx="6858000" cy="9144000"/>
  <p:embeddedFontLst>
    <p:embeddedFont>
      <p:font typeface="Montserrat" panose="00000500000000000000" pitchFamily="2" charset="0"/>
      <p:regular r:id="rId39"/>
      <p:bold r:id="rId40"/>
      <p:italic r:id="rId41"/>
      <p:boldItalic r:id="rId42"/>
    </p:embeddedFont>
    <p:embeddedFont>
      <p:font typeface="Noto Sans" panose="020B0502040504020204" pitchFamily="34" charset="0"/>
      <p:regular r:id="rId43"/>
      <p:bold r:id="rId44"/>
      <p:italic r:id="rId45"/>
      <p:boldItalic r:id="rId46"/>
    </p:embeddedFont>
    <p:embeddedFont>
      <p:font typeface="Noto Sans Black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D3D9"/>
    <a:srgbClr val="9F2241"/>
    <a:srgbClr val="D3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3246C-7CC7-44CA-B3C4-319033E4D28F}" v="2" dt="2026-07-02T17:16:04.811"/>
    <p1510:client id="{908CB8D2-FE37-4A05-85B9-6FD763496DD3}" v="2" dt="2026-07-02T18:32:21.76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04" y="6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 Guadalupe Becerra Quiroz" userId="3f0ab3d9-73d5-4a96-ad75-906d0f222192" providerId="ADAL" clId="{14A85CE8-0E71-4838-BA5F-B8772D1D5B6B}"/>
    <pc:docChg chg="undo custSel modSld">
      <pc:chgData name="Monica Guadalupe Becerra Quiroz" userId="3f0ab3d9-73d5-4a96-ad75-906d0f222192" providerId="ADAL" clId="{14A85CE8-0E71-4838-BA5F-B8772D1D5B6B}" dt="2026-07-02T19:10:48.265" v="475" actId="20577"/>
      <pc:docMkLst>
        <pc:docMk/>
      </pc:docMkLst>
      <pc:sldChg chg="modSp mod">
        <pc:chgData name="Monica Guadalupe Becerra Quiroz" userId="3f0ab3d9-73d5-4a96-ad75-906d0f222192" providerId="ADAL" clId="{14A85CE8-0E71-4838-BA5F-B8772D1D5B6B}" dt="2026-07-02T19:10:48.265" v="475" actId="20577"/>
        <pc:sldMkLst>
          <pc:docMk/>
          <pc:sldMk cId="0" sldId="259"/>
        </pc:sldMkLst>
        <pc:graphicFrameChg chg="modGraphic">
          <ac:chgData name="Monica Guadalupe Becerra Quiroz" userId="3f0ab3d9-73d5-4a96-ad75-906d0f222192" providerId="ADAL" clId="{14A85CE8-0E71-4838-BA5F-B8772D1D5B6B}" dt="2026-07-02T18:11:12.627" v="11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Graphic">
          <ac:chgData name="Monica Guadalupe Becerra Quiroz" userId="3f0ab3d9-73d5-4a96-ad75-906d0f222192" providerId="ADAL" clId="{14A85CE8-0E71-4838-BA5F-B8772D1D5B6B}" dt="2026-07-02T19:10:48.265" v="475" actId="20577"/>
          <ac:graphicFrameMkLst>
            <pc:docMk/>
            <pc:sldMk cId="0" sldId="259"/>
            <ac:graphicFrameMk id="136" creationId="{00000000-0000-0000-0000-000000000000}"/>
          </ac:graphicFrameMkLst>
        </pc:graphicFrameChg>
      </pc:sldChg>
      <pc:sldChg chg="modSp mod">
        <pc:chgData name="Monica Guadalupe Becerra Quiroz" userId="3f0ab3d9-73d5-4a96-ad75-906d0f222192" providerId="ADAL" clId="{14A85CE8-0E71-4838-BA5F-B8772D1D5B6B}" dt="2026-07-02T18:38:24.471" v="458" actId="20577"/>
        <pc:sldMkLst>
          <pc:docMk/>
          <pc:sldMk cId="0" sldId="277"/>
        </pc:sldMkLst>
        <pc:graphicFrameChg chg="modGraphic">
          <ac:chgData name="Monica Guadalupe Becerra Quiroz" userId="3f0ab3d9-73d5-4a96-ad75-906d0f222192" providerId="ADAL" clId="{14A85CE8-0E71-4838-BA5F-B8772D1D5B6B}" dt="2026-07-02T18:38:24.471" v="458" actId="20577"/>
          <ac:graphicFrameMkLst>
            <pc:docMk/>
            <pc:sldMk cId="0" sldId="277"/>
            <ac:graphicFrameMk id="468" creationId="{00000000-0000-0000-0000-000000000000}"/>
          </ac:graphicFrameMkLst>
        </pc:graphicFrameChg>
      </pc:sldChg>
      <pc:sldChg chg="modSp mod">
        <pc:chgData name="Monica Guadalupe Becerra Quiroz" userId="3f0ab3d9-73d5-4a96-ad75-906d0f222192" providerId="ADAL" clId="{14A85CE8-0E71-4838-BA5F-B8772D1D5B6B}" dt="2026-07-02T18:14:01.457" v="76" actId="20577"/>
        <pc:sldMkLst>
          <pc:docMk/>
          <pc:sldMk cId="3763779569" sldId="289"/>
        </pc:sldMkLst>
        <pc:graphicFrameChg chg="modGraphic">
          <ac:chgData name="Monica Guadalupe Becerra Quiroz" userId="3f0ab3d9-73d5-4a96-ad75-906d0f222192" providerId="ADAL" clId="{14A85CE8-0E71-4838-BA5F-B8772D1D5B6B}" dt="2026-07-02T18:14:01.457" v="76" actId="20577"/>
          <ac:graphicFrameMkLst>
            <pc:docMk/>
            <pc:sldMk cId="3763779569" sldId="289"/>
            <ac:graphicFrameMk id="10" creationId="{F09607BC-0A0C-597C-203D-6F66196FEA82}"/>
          </ac:graphicFrameMkLst>
        </pc:graphicFrameChg>
      </pc:sldChg>
      <pc:sldChg chg="modSp mod">
        <pc:chgData name="Monica Guadalupe Becerra Quiroz" userId="3f0ab3d9-73d5-4a96-ad75-906d0f222192" providerId="ADAL" clId="{14A85CE8-0E71-4838-BA5F-B8772D1D5B6B}" dt="2026-07-02T18:11:47.044" v="22" actId="2165"/>
        <pc:sldMkLst>
          <pc:docMk/>
          <pc:sldMk cId="0" sldId="301"/>
        </pc:sldMkLst>
        <pc:graphicFrameChg chg="modGraphic">
          <ac:chgData name="Monica Guadalupe Becerra Quiroz" userId="3f0ab3d9-73d5-4a96-ad75-906d0f222192" providerId="ADAL" clId="{14A85CE8-0E71-4838-BA5F-B8772D1D5B6B}" dt="2026-07-02T18:11:47.044" v="22" actId="2165"/>
          <ac:graphicFrameMkLst>
            <pc:docMk/>
            <pc:sldMk cId="0" sldId="301"/>
            <ac:graphicFrameMk id="12" creationId="{61DDDE9D-0BC3-DE40-6C72-90441EC2132F}"/>
          </ac:graphicFrameMkLst>
        </pc:graphicFrameChg>
      </pc:sldChg>
      <pc:sldChg chg="modSp mod">
        <pc:chgData name="Monica Guadalupe Becerra Quiroz" userId="3f0ab3d9-73d5-4a96-ad75-906d0f222192" providerId="ADAL" clId="{14A85CE8-0E71-4838-BA5F-B8772D1D5B6B}" dt="2026-07-02T18:20:09.360" v="113" actId="20577"/>
        <pc:sldMkLst>
          <pc:docMk/>
          <pc:sldMk cId="3812118028" sldId="320"/>
        </pc:sldMkLst>
        <pc:graphicFrameChg chg="modGraphic">
          <ac:chgData name="Monica Guadalupe Becerra Quiroz" userId="3f0ab3d9-73d5-4a96-ad75-906d0f222192" providerId="ADAL" clId="{14A85CE8-0E71-4838-BA5F-B8772D1D5B6B}" dt="2026-07-02T18:20:09.360" v="113" actId="20577"/>
          <ac:graphicFrameMkLst>
            <pc:docMk/>
            <pc:sldMk cId="3812118028" sldId="320"/>
            <ac:graphicFrameMk id="15" creationId="{6EDF69BC-D6AE-5065-1273-0C24A16B7BB1}"/>
          </ac:graphicFrameMkLst>
        </pc:graphicFrameChg>
        <pc:graphicFrameChg chg="mod modGraphic">
          <ac:chgData name="Monica Guadalupe Becerra Quiroz" userId="3f0ab3d9-73d5-4a96-ad75-906d0f222192" providerId="ADAL" clId="{14A85CE8-0E71-4838-BA5F-B8772D1D5B6B}" dt="2026-07-02T18:18:56.195" v="103" actId="20577"/>
          <ac:graphicFrameMkLst>
            <pc:docMk/>
            <pc:sldMk cId="3812118028" sldId="320"/>
            <ac:graphicFrameMk id="154" creationId="{925C8F88-090D-C0BD-3C79-397FD9CC0EF9}"/>
          </ac:graphicFrameMkLst>
        </pc:graphicFrameChg>
      </pc:sldChg>
      <pc:sldChg chg="modSp mod">
        <pc:chgData name="Monica Guadalupe Becerra Quiroz" userId="3f0ab3d9-73d5-4a96-ad75-906d0f222192" providerId="ADAL" clId="{14A85CE8-0E71-4838-BA5F-B8772D1D5B6B}" dt="2026-07-02T18:37:10.445" v="423" actId="20577"/>
        <pc:sldMkLst>
          <pc:docMk/>
          <pc:sldMk cId="680994026" sldId="331"/>
        </pc:sldMkLst>
        <pc:spChg chg="mod">
          <ac:chgData name="Monica Guadalupe Becerra Quiroz" userId="3f0ab3d9-73d5-4a96-ad75-906d0f222192" providerId="ADAL" clId="{14A85CE8-0E71-4838-BA5F-B8772D1D5B6B}" dt="2026-07-02T18:37:10.445" v="423" actId="20577"/>
          <ac:spMkLst>
            <pc:docMk/>
            <pc:sldMk cId="680994026" sldId="331"/>
            <ac:spMk id="16" creationId="{00000000-0000-0000-0000-000000000000}"/>
          </ac:spMkLst>
        </pc:spChg>
        <pc:graphicFrameChg chg="mod modGraphic">
          <ac:chgData name="Monica Guadalupe Becerra Quiroz" userId="3f0ab3d9-73d5-4a96-ad75-906d0f222192" providerId="ADAL" clId="{14A85CE8-0E71-4838-BA5F-B8772D1D5B6B}" dt="2026-07-02T18:29:32.788" v="127" actId="14100"/>
          <ac:graphicFrameMkLst>
            <pc:docMk/>
            <pc:sldMk cId="680994026" sldId="331"/>
            <ac:graphicFrameMk id="8" creationId="{74EA239F-AD11-6BB6-2B07-15FDA93930A1}"/>
          </ac:graphicFrameMkLst>
        </pc:graphicFrameChg>
        <pc:graphicFrameChg chg="mod modGraphic">
          <ac:chgData name="Monica Guadalupe Becerra Quiroz" userId="3f0ab3d9-73d5-4a96-ad75-906d0f222192" providerId="ADAL" clId="{14A85CE8-0E71-4838-BA5F-B8772D1D5B6B}" dt="2026-07-02T18:35:14.261" v="415" actId="20577"/>
          <ac:graphicFrameMkLst>
            <pc:docMk/>
            <pc:sldMk cId="680994026" sldId="331"/>
            <ac:graphicFrameMk id="13" creationId="{00000000-0000-0000-0000-000000000000}"/>
          </ac:graphicFrameMkLst>
        </pc:graphicFrameChg>
        <pc:graphicFrameChg chg="mod modGraphic">
          <ac:chgData name="Monica Guadalupe Becerra Quiroz" userId="3f0ab3d9-73d5-4a96-ad75-906d0f222192" providerId="ADAL" clId="{14A85CE8-0E71-4838-BA5F-B8772D1D5B6B}" dt="2026-07-02T18:34:52.468" v="410" actId="1076"/>
          <ac:graphicFrameMkLst>
            <pc:docMk/>
            <pc:sldMk cId="680994026" sldId="331"/>
            <ac:graphicFrameMk id="14" creationId="{00000000-0000-0000-0000-000000000000}"/>
          </ac:graphicFrameMkLst>
        </pc:graphicFrameChg>
        <pc:graphicFrameChg chg="mod modGraphic">
          <ac:chgData name="Monica Guadalupe Becerra Quiroz" userId="3f0ab3d9-73d5-4a96-ad75-906d0f222192" providerId="ADAL" clId="{14A85CE8-0E71-4838-BA5F-B8772D1D5B6B}" dt="2026-07-02T18:29:39.405" v="128" actId="1076"/>
          <ac:graphicFrameMkLst>
            <pc:docMk/>
            <pc:sldMk cId="680994026" sldId="331"/>
            <ac:graphicFrameMk id="15" creationId="{00000000-0000-0000-0000-000000000000}"/>
          </ac:graphicFrameMkLst>
        </pc:graphicFrameChg>
      </pc:sldChg>
    </pc:docChg>
  </pc:docChgLst>
  <pc:docChgLst>
    <pc:chgData name="Laura Patricia Galvan Chavez" userId="6b13af50-ce8b-483e-8fc4-f994efaf3289" providerId="ADAL" clId="{655D084B-7DF1-4C24-9447-417D7DC498B8}"/>
    <pc:docChg chg="custSel modSld">
      <pc:chgData name="Laura Patricia Galvan Chavez" userId="6b13af50-ce8b-483e-8fc4-f994efaf3289" providerId="ADAL" clId="{655D084B-7DF1-4C24-9447-417D7DC498B8}" dt="2026-07-02T20:08:33.672" v="46" actId="1076"/>
      <pc:docMkLst>
        <pc:docMk/>
      </pc:docMkLst>
      <pc:sldChg chg="modSp mod">
        <pc:chgData name="Laura Patricia Galvan Chavez" userId="6b13af50-ce8b-483e-8fc4-f994efaf3289" providerId="ADAL" clId="{655D084B-7DF1-4C24-9447-417D7DC498B8}" dt="2026-07-02T20:07:59.822" v="33" actId="20577"/>
        <pc:sldMkLst>
          <pc:docMk/>
          <pc:sldMk cId="0" sldId="267"/>
        </pc:sldMkLst>
        <pc:graphicFrameChg chg="modGraphic">
          <ac:chgData name="Laura Patricia Galvan Chavez" userId="6b13af50-ce8b-483e-8fc4-f994efaf3289" providerId="ADAL" clId="{655D084B-7DF1-4C24-9447-417D7DC498B8}" dt="2026-07-02T20:07:59.822" v="33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0:07:29.022" v="12" actId="20577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7-02T20:07:15.885" v="1" actId="1076"/>
          <ac:spMkLst>
            <pc:docMk/>
            <pc:sldMk cId="540716406" sldId="280"/>
            <ac:spMk id="232" creationId="{00000000-0000-0000-0000-000000000000}"/>
          </ac:spMkLst>
        </pc:spChg>
        <pc:graphicFrameChg chg="modGraphic">
          <ac:chgData name="Laura Patricia Galvan Chavez" userId="6b13af50-ce8b-483e-8fc4-f994efaf3289" providerId="ADAL" clId="{655D084B-7DF1-4C24-9447-417D7DC498B8}" dt="2026-07-02T20:07:29.022" v="1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0:07:45.169" v="24" actId="20577"/>
        <pc:sldMkLst>
          <pc:docMk/>
          <pc:sldMk cId="0" sldId="305"/>
        </pc:sldMkLst>
        <pc:spChg chg="mod">
          <ac:chgData name="Laura Patricia Galvan Chavez" userId="6b13af50-ce8b-483e-8fc4-f994efaf3289" providerId="ADAL" clId="{655D084B-7DF1-4C24-9447-417D7DC498B8}" dt="2026-07-02T20:07:45.169" v="24" actId="20577"/>
          <ac:spMkLst>
            <pc:docMk/>
            <pc:sldMk cId="0" sldId="305"/>
            <ac:spMk id="3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20:08:33.672" v="46" actId="1076"/>
        <pc:sldMkLst>
          <pc:docMk/>
          <pc:sldMk cId="0" sldId="307"/>
        </pc:sldMkLst>
        <pc:spChg chg="mod">
          <ac:chgData name="Laura Patricia Galvan Chavez" userId="6b13af50-ce8b-483e-8fc4-f994efaf3289" providerId="ADAL" clId="{655D084B-7DF1-4C24-9447-417D7DC498B8}" dt="2026-07-02T20:08:33.672" v="46" actId="1076"/>
          <ac:spMkLst>
            <pc:docMk/>
            <pc:sldMk cId="0" sldId="307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3117283950617286E-2"/>
          <c:y val="3.5277777777777776E-2"/>
          <c:w val="0.91376543209876548"/>
          <c:h val="0.9137654320987654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9065-49DD-886A-1962615A6858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9065-49DD-886A-1962615A6858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9065-49DD-886A-1962615A6858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9065-49DD-886A-1962615A6858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6424095</c:v>
                </c:pt>
                <c:pt idx="1">
                  <c:v>2184185</c:v>
                </c:pt>
                <c:pt idx="2">
                  <c:v>449190</c:v>
                </c:pt>
                <c:pt idx="3">
                  <c:v>102496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65-49DD-886A-1962615A68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85-4840-9D9E-FB2C4CB8B5CD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085-4840-9D9E-FB2C4CB8B5CD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43.404204930311927</c:v>
                </c:pt>
                <c:pt idx="1">
                  <c:v>56.595795069688073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85-4840-9D9E-FB2C4CB8B5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93D-4792-B109-E8EB5177535A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93D-4792-B109-E8EB5177535A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7.0352592325000005</c:v>
                </c:pt>
                <c:pt idx="1">
                  <c:v>92.964740767500004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3D-4792-B109-E8EB51775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20F-4789-941F-808D917F94BC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20F-4789-941F-808D917F94BC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42.85</c:v>
                </c:pt>
                <c:pt idx="1">
                  <c:v>57.15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0F-4789-941F-808D917F9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B2A-4A4A-BAE8-F97424802742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B2A-4A4A-BAE8-F97424802742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34.840000000000003</c:v>
                </c:pt>
                <c:pt idx="1">
                  <c:v>65.16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2A-4A4A-BAE8-F97424802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9249-44F8-91FF-9861A2E3400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978</c:v>
                </c:pt>
                <c:pt idx="1">
                  <c:v>1466</c:v>
                </c:pt>
                <c:pt idx="2">
                  <c:v>1565</c:v>
                </c:pt>
                <c:pt idx="3">
                  <c:v>1569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249-44F8-91FF-9861A2E3400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Comercio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7215</c:v>
                </c:pt>
                <c:pt idx="1">
                  <c:v>3163</c:v>
                </c:pt>
                <c:pt idx="2">
                  <c:v>374712</c:v>
                </c:pt>
                <c:pt idx="3">
                  <c:v>812299</c:v>
                </c:pt>
                <c:pt idx="4">
                  <c:v>1482006</c:v>
                </c:pt>
                <c:pt idx="5">
                  <c:v>312048</c:v>
                </c:pt>
                <c:pt idx="6">
                  <c:v>17298</c:v>
                </c:pt>
                <c:pt idx="7">
                  <c:v>231421</c:v>
                </c:pt>
                <c:pt idx="8">
                  <c:v>240918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D5-47F6-A04C-63B58BEF5D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Comercio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5353</c:v>
                </c:pt>
                <c:pt idx="1">
                  <c:v>2613</c:v>
                </c:pt>
                <c:pt idx="2">
                  <c:v>356502</c:v>
                </c:pt>
                <c:pt idx="3">
                  <c:v>797806</c:v>
                </c:pt>
                <c:pt idx="4">
                  <c:v>1486660</c:v>
                </c:pt>
                <c:pt idx="5">
                  <c:v>318586</c:v>
                </c:pt>
                <c:pt idx="6">
                  <c:v>18101</c:v>
                </c:pt>
                <c:pt idx="7">
                  <c:v>248227</c:v>
                </c:pt>
                <c:pt idx="8">
                  <c:v>340745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D5-47F6-A04C-63B58BEF5D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3410553</c:v>
                </c:pt>
                <c:pt idx="1">
                  <c:v>3452240</c:v>
                </c:pt>
                <c:pt idx="2">
                  <c:v>3272727</c:v>
                </c:pt>
                <c:pt idx="3">
                  <c:v>3236212</c:v>
                </c:pt>
                <c:pt idx="4">
                  <c:v>3326061</c:v>
                </c:pt>
                <c:pt idx="5">
                  <c:v>3434727</c:v>
                </c:pt>
                <c:pt idx="6">
                  <c:v>3508104</c:v>
                </c:pt>
                <c:pt idx="7">
                  <c:v>3481080</c:v>
                </c:pt>
                <c:pt idx="8">
                  <c:v>3574593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9CE-445E-9411-804AB54B1B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18A78A40-58DE-7BCE-4D63-1A702494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>
            <a:extLst>
              <a:ext uri="{FF2B5EF4-FFF2-40B4-BE49-F238E27FC236}">
                <a16:creationId xmlns:a16="http://schemas.microsoft.com/office/drawing/2014/main" id="{881891A7-2DFD-D6F1-AE18-A09ABB821D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>
            <a:extLst>
              <a:ext uri="{FF2B5EF4-FFF2-40B4-BE49-F238E27FC236}">
                <a16:creationId xmlns:a16="http://schemas.microsoft.com/office/drawing/2014/main" id="{D48A4897-3130-4BFB-B4AA-6B509ABC3C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9" name="Google Shape;149;g370e475fb19_0_8:notes">
            <a:extLst>
              <a:ext uri="{FF2B5EF4-FFF2-40B4-BE49-F238E27FC236}">
                <a16:creationId xmlns:a16="http://schemas.microsoft.com/office/drawing/2014/main" id="{296CE7F8-BC9F-2A50-3AAF-CDD5C8BD7F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187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marL="0" marR="0" lvl="0" indent="0" algn="r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33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hart" Target="../charts/chart1.xml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chart" Target="../charts/chart6.xml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Ciudad de México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4" name="Google Shape;67;p15">
            <a:extLst>
              <a:ext uri="{FF2B5EF4-FFF2-40B4-BE49-F238E27FC236}">
                <a16:creationId xmlns:a16="http://schemas.microsoft.com/office/drawing/2014/main" id="{293CDF12-42A4-D6CD-6538-8289AC779013}"/>
              </a:ext>
            </a:extLst>
          </p:cNvPr>
          <p:cNvSpPr/>
          <p:nvPr/>
        </p:nvSpPr>
        <p:spPr>
          <a:xfrm>
            <a:off x="0" y="610143"/>
            <a:ext cx="7772400" cy="271413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9;p15">
            <a:extLst>
              <a:ext uri="{FF2B5EF4-FFF2-40B4-BE49-F238E27FC236}">
                <a16:creationId xmlns:a16="http://schemas.microsoft.com/office/drawing/2014/main" id="{28F9568D-9A1E-6A9D-BFB6-2F1DCA6D5EFC}"/>
              </a:ext>
            </a:extLst>
          </p:cNvPr>
          <p:cNvSpPr txBox="1"/>
          <p:nvPr/>
        </p:nvSpPr>
        <p:spPr>
          <a:xfrm>
            <a:off x="2777964" y="903308"/>
            <a:ext cx="38382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6455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Dra. Patricia Soto Márquez  </a:t>
            </a:r>
            <a:br>
              <a:rPr lang="es" sz="1100" b="1" i="0" u="none" strike="noStrike" cap="none">
                <a:solidFill>
                  <a:srgbClr val="006455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</a:br>
            <a:r>
              <a:rPr lang="es" sz="1100" b="1" i="0" u="none" strike="noStrike" cap="none">
                <a:solidFill>
                  <a:srgbClr val="006455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Norte </a:t>
            </a:r>
            <a:endParaRPr sz="1100" b="0" i="0" u="none" strike="noStrike" cap="none">
              <a:solidFill>
                <a:schemeClr val="dk1"/>
              </a:solidFill>
              <a:latin typeface="Montserrat" panose="00000500000000000000" pitchFamily="2" charset="0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1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Médico con especialidad en Anatomía Patológica.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1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Doctora en Alta Dirección</a:t>
            </a:r>
            <a:endParaRPr sz="1100" b="0" i="0" u="none" strike="noStrike" cap="none">
              <a:solidFill>
                <a:schemeClr val="dk1"/>
              </a:solidFill>
              <a:latin typeface="Montserrat" panose="00000500000000000000" pitchFamily="2" charset="0"/>
              <a:ea typeface="Noto Sans"/>
              <a:cs typeface="Noto Sans"/>
              <a:sym typeface="Noto Sans"/>
            </a:endParaRPr>
          </a:p>
        </p:txBody>
      </p:sp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F7F6C9E9-C3F7-C11C-9C64-3686F801A09F}"/>
              </a:ext>
            </a:extLst>
          </p:cNvPr>
          <p:cNvSpPr txBox="1"/>
          <p:nvPr/>
        </p:nvSpPr>
        <p:spPr>
          <a:xfrm>
            <a:off x="2777964" y="1961939"/>
            <a:ext cx="3838200" cy="135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100" b="1">
                <a:solidFill>
                  <a:srgbClr val="006455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Dra. Karla Guadalupe López López</a:t>
            </a:r>
            <a:endParaRPr sz="1100" b="1">
              <a:solidFill>
                <a:srgbClr val="006455"/>
              </a:solidFill>
              <a:latin typeface="Montserrat" panose="00000500000000000000" pitchFamily="2" charset="0"/>
              <a:ea typeface="Noto Sans"/>
              <a:cs typeface="Noto Sans"/>
              <a:sym typeface="Noto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>
                <a:solidFill>
                  <a:srgbClr val="006455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Sur</a:t>
            </a:r>
            <a:endParaRPr sz="1100" b="1">
              <a:solidFill>
                <a:srgbClr val="006455"/>
              </a:solidFill>
              <a:latin typeface="Montserrat" panose="00000500000000000000" pitchFamily="2" charset="0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1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Médic</a:t>
            </a:r>
            <a:r>
              <a:rPr lang="es" sz="1100">
                <a:solidFill>
                  <a:schemeClr val="dk1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o especialista en Medicina Familiar</a:t>
            </a:r>
            <a:r>
              <a:rPr lang="es" sz="1100" b="0" i="0" u="none" strike="noStrike" cap="none">
                <a:solidFill>
                  <a:schemeClr val="dk1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Maestría en Administración de Hospitales y Salud Pública.</a:t>
            </a:r>
            <a:endParaRPr sz="1100" b="0" i="0" u="none" strike="noStrike" cap="none">
              <a:solidFill>
                <a:schemeClr val="dk1"/>
              </a:solidFill>
              <a:latin typeface="Montserrat" panose="00000500000000000000" pitchFamily="2" charset="0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Inicio en el cargo: 16 Abril 2026</a:t>
            </a:r>
            <a:endParaRPr sz="1100" b="0" i="0" u="none" strike="noStrike" cap="none">
              <a:solidFill>
                <a:schemeClr val="dk1"/>
              </a:solidFill>
              <a:latin typeface="Montserrat" panose="00000500000000000000" pitchFamily="2" charset="0"/>
              <a:ea typeface="Noto Sans"/>
              <a:cs typeface="Noto Sans"/>
              <a:sym typeface="Noto Sans"/>
            </a:endParaRPr>
          </a:p>
        </p:txBody>
      </p:sp>
      <p:pic>
        <p:nvPicPr>
          <p:cNvPr id="7" name="Google Shape;74;p15" title="Unknown.jpeg">
            <a:extLst>
              <a:ext uri="{FF2B5EF4-FFF2-40B4-BE49-F238E27FC236}">
                <a16:creationId xmlns:a16="http://schemas.microsoft.com/office/drawing/2014/main" id="{9824205A-3696-163A-05EB-79CCAF50D3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9122" t="1735" r="22083" b="57643"/>
          <a:stretch/>
        </p:blipFill>
        <p:spPr>
          <a:xfrm>
            <a:off x="1139598" y="1984471"/>
            <a:ext cx="1429439" cy="120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5;p15">
            <a:extLst>
              <a:ext uri="{FF2B5EF4-FFF2-40B4-BE49-F238E27FC236}">
                <a16:creationId xmlns:a16="http://schemas.microsoft.com/office/drawing/2014/main" id="{14D71D70-5CB5-98FB-E450-3C29255181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7131" t="27012" r="65426" b="45746"/>
          <a:stretch/>
        </p:blipFill>
        <p:spPr>
          <a:xfrm>
            <a:off x="1156236" y="688265"/>
            <a:ext cx="1396164" cy="12274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71;p15">
            <a:extLst>
              <a:ext uri="{FF2B5EF4-FFF2-40B4-BE49-F238E27FC236}">
                <a16:creationId xmlns:a16="http://schemas.microsoft.com/office/drawing/2014/main" id="{B933DF8C-7FFE-A788-4016-98F23A18D542}"/>
              </a:ext>
            </a:extLst>
          </p:cNvPr>
          <p:cNvSpPr txBox="1"/>
          <p:nvPr/>
        </p:nvSpPr>
        <p:spPr>
          <a:xfrm>
            <a:off x="1087219" y="3393078"/>
            <a:ext cx="17700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6455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CDMX Norte</a:t>
            </a:r>
            <a:endParaRPr sz="1100" b="0" i="0" u="none" strike="noStrike" cap="none">
              <a:solidFill>
                <a:srgbClr val="000000"/>
              </a:solidFill>
              <a:latin typeface="Montserrat" panose="00000500000000000000" pitchFamily="2" charset="0"/>
              <a:sym typeface="Arial"/>
            </a:endParaRPr>
          </a:p>
        </p:txBody>
      </p:sp>
      <p:graphicFrame>
        <p:nvGraphicFramePr>
          <p:cNvPr id="10" name="Google Shape;72;p15">
            <a:extLst>
              <a:ext uri="{FF2B5EF4-FFF2-40B4-BE49-F238E27FC236}">
                <a16:creationId xmlns:a16="http://schemas.microsoft.com/office/drawing/2014/main" id="{F09607BC-0A0C-597C-203D-6F66196FEA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6759873"/>
              </p:ext>
            </p:extLst>
          </p:nvPr>
        </p:nvGraphicFramePr>
        <p:xfrm>
          <a:off x="520505" y="3819378"/>
          <a:ext cx="6760828" cy="53516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6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68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Dra.</a:t>
                      </a:r>
                      <a:r>
                        <a:rPr lang="es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 Beatriz Carolina Mendoza Pérez</a:t>
                      </a: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 </a:t>
                      </a:r>
                      <a:b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900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Médic</a:t>
                      </a:r>
                      <a:r>
                        <a:rPr lang="es" sz="90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o Especialista en Cardiología</a:t>
                      </a:r>
                      <a:endParaRPr sz="90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MX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 i="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mayo de 2026</a:t>
                      </a:r>
                      <a:endParaRPr sz="900" b="0" i="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Jefatura de Servicios Enf. de Prestaciones Médicas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Dra. </a:t>
                      </a:r>
                      <a:r>
                        <a:rPr lang="es" sz="900" b="1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Rubí Azcárate Rojas</a:t>
                      </a:r>
                      <a:endParaRPr sz="900" b="1" u="none" strike="noStrike" cap="none" dirty="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MX" sz="9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Doctora en Alta Dirección de Establecimientos de Salud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 u="none" strike="noStrike" cap="none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mayo 2026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5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Mtro. Sergio Durán Sagarnaga </a:t>
                      </a:r>
                      <a:endParaRPr sz="90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Maestro</a:t>
                      </a:r>
                      <a:r>
                        <a:rPr lang="es" sz="900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 en Derecho </a:t>
                      </a:r>
                      <a:endParaRPr sz="90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junio de 2021</a:t>
                      </a:r>
                      <a:endParaRPr sz="900" b="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Jefatura de Servicios de Salud en el Trabajo, Prestaciones Económicas y Sociales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C.P. Emilio Manuel Juárez Sánchez 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Licenciado en Contaduría Pública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julio 2023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9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Mtra. Ma. Félix Hernández Núñez</a:t>
                      </a:r>
                      <a:endParaRPr sz="900" b="1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Maestra en Derecho Fiscal y Administrativo</a:t>
                      </a:r>
                      <a:endParaRPr sz="90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16 abril de 2026</a:t>
                      </a:r>
                      <a:endParaRPr sz="900" b="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Jefatura de Servicios de Afiliación y Cobranza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C.P. Antonia Gutiérrez Ramírez</a:t>
                      </a:r>
                      <a:br>
                        <a:rPr lang="es" sz="900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9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Licenciada en Contaduría Pública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21 enero 2026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9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Lic. Ramses Omar Ibarra Terrazas </a:t>
                      </a:r>
                      <a:b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900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Licenciado en Administración</a:t>
                      </a:r>
                      <a:endParaRPr sz="90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marzo de 2024</a:t>
                      </a:r>
                      <a:endParaRPr sz="900" b="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Jefatura de Servicios de Desarrollo de Personal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Ing. Gustavo Armando Lombardini Bojorges </a:t>
                      </a:r>
                      <a:b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Ing. en Sistemas Computacionales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07 enero 2026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9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</a:t>
                      </a: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. Daniel Zavala Flores </a:t>
                      </a:r>
                      <a:b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90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Maestro en Administración y Políticas Públicas</a:t>
                      </a:r>
                      <a:endParaRPr sz="90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noviembre de 2022</a:t>
                      </a:r>
                      <a:endParaRPr sz="900" b="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Jefatura de Servicios de Finanzas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Mtra. Miriam Rubio Sánchez </a:t>
                      </a:r>
                      <a:r>
                        <a:rPr lang="es" sz="9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Maestra en Derecho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diciembre 2020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8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Mtro. José Jenaro Olguin Aviles </a:t>
                      </a:r>
                      <a:endParaRPr sz="900" b="1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Maestro en Administración Militar para la Seguridad y Defensa Nacional</a:t>
                      </a:r>
                      <a:endParaRPr sz="90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16 de octubre de 2019</a:t>
                      </a:r>
                      <a:endParaRPr sz="900" b="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Jefatura de Servicios Administrativos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Mtro. Antonio Rodríguez Velázquez </a:t>
                      </a:r>
                      <a:b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9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Maestro en Periodismo Político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16 octubre 2019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9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Mtro. Rodolfo Rendón López</a:t>
                      </a:r>
                      <a:endParaRPr sz="900" b="1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M</a:t>
                      </a:r>
                      <a:r>
                        <a:rPr lang="es" sz="90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aestro </a:t>
                      </a:r>
                      <a:r>
                        <a:rPr lang="es" sz="900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en Administración Pública</a:t>
                      </a:r>
                      <a:endParaRPr sz="90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16 mayo de 2024</a:t>
                      </a:r>
                      <a:endParaRPr sz="900" b="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Jefatura de Servicios Jurídicos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Lic. Daniel Gatica Mendoza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Licenciado en Derecho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septiembre 2024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81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Sección XXXII-Noroeste</a:t>
                      </a:r>
                      <a:endParaRPr sz="900" b="1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T.R. Jorge Vargas Niño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50"/>
                        <a:buFont typeface="Arial"/>
                        <a:buNone/>
                      </a:pPr>
                      <a:r>
                        <a:rPr lang="es-MX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marzo de 2026</a:t>
                      </a:r>
                      <a:endParaRPr sz="900" b="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Secretaría General SNTSS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Sección XXX</a:t>
                      </a:r>
                      <a:r>
                        <a:rPr lang="es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IV</a:t>
                      </a: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-</a:t>
                      </a:r>
                      <a:r>
                        <a:rPr lang="es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Sur</a:t>
                      </a: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oeste</a:t>
                      </a:r>
                      <a:endParaRPr sz="900" b="1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Dr. Fausto Ramírez López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b="0" u="none" strike="noStrike" cap="none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marzo 2026</a:t>
                      </a:r>
                      <a:endParaRPr sz="900" b="0" u="none" strike="noStrike" cap="none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681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Sección XXXIII-Noroeste</a:t>
                      </a:r>
                      <a:endParaRPr sz="900" b="1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Dr. Leopoldo López Juárez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50"/>
                        <a:buFont typeface="Arial"/>
                        <a:buNone/>
                      </a:pPr>
                      <a:r>
                        <a:rPr lang="es-MX" sz="900" b="1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-MX" sz="900" b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29 enero de 2025</a:t>
                      </a:r>
                      <a:endParaRPr sz="900" b="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Sección XXX</a:t>
                      </a:r>
                      <a:r>
                        <a:rPr lang="es" sz="900" b="1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V</a:t>
                      </a:r>
                      <a:r>
                        <a:rPr lang="es" sz="900" b="1" u="none" strike="noStrike" cap="none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-</a:t>
                      </a:r>
                      <a:r>
                        <a:rPr lang="es" sz="900" b="1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Su</a:t>
                      </a:r>
                      <a:r>
                        <a:rPr lang="es" sz="900" b="1" u="none" strike="noStrike" cap="none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roeste</a:t>
                      </a:r>
                      <a:endParaRPr sz="900" b="1" u="none" strike="noStrike" cap="none" dirty="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José David Lugo Juárez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Inicio en el cargo: </a:t>
                      </a:r>
                      <a:r>
                        <a:rPr lang="es" sz="900" b="0" u="none" strike="noStrike" cap="none" dirty="0">
                          <a:latin typeface="Montserrat" panose="00000500000000000000" pitchFamily="2" charset="0"/>
                          <a:ea typeface="Noto Sans"/>
                          <a:cs typeface="Noto Sans"/>
                          <a:sym typeface="Noto Sans"/>
                        </a:rPr>
                        <a:t>01 marzo 2026</a:t>
                      </a:r>
                      <a:endParaRPr sz="900" b="0" u="none" strike="noStrike" cap="none" dirty="0">
                        <a:latin typeface="Montserrat" panose="00000500000000000000" pitchFamily="2" charset="0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Google Shape;71;p15">
            <a:extLst>
              <a:ext uri="{FF2B5EF4-FFF2-40B4-BE49-F238E27FC236}">
                <a16:creationId xmlns:a16="http://schemas.microsoft.com/office/drawing/2014/main" id="{5697EA22-5F73-FCF3-CC2C-635C6BF0D8A5}"/>
              </a:ext>
            </a:extLst>
          </p:cNvPr>
          <p:cNvSpPr txBox="1"/>
          <p:nvPr/>
        </p:nvSpPr>
        <p:spPr>
          <a:xfrm>
            <a:off x="5511333" y="3371273"/>
            <a:ext cx="17700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6455"/>
                </a:solidFill>
                <a:latin typeface="Montserrat" panose="00000500000000000000" pitchFamily="2" charset="0"/>
                <a:ea typeface="Noto Sans"/>
                <a:cs typeface="Noto Sans"/>
                <a:sym typeface="Noto Sans"/>
              </a:rPr>
              <a:t>CDMX Sur</a:t>
            </a:r>
            <a:endParaRPr sz="1100" b="0" i="0" u="none" strike="noStrike" cap="none">
              <a:solidFill>
                <a:srgbClr val="000000"/>
              </a:solidFill>
              <a:latin typeface="Montserrat" panose="000005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70%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381335" y="4691546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</a:t>
            </a:r>
            <a:r>
              <a:rPr err="1"/>
              <a:t>proyección</a:t>
            </a:r>
            <a:r>
              <a:t>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088878"/>
              </p:ext>
            </p:extLst>
          </p:nvPr>
        </p:nvGraphicFramePr>
        <p:xfrm>
          <a:off x="2266200" y="1251116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433128" y="3490063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6,424,095</a:t>
            </a:r>
            <a:br>
              <a:rPr/>
            </a:br>
            <a:r>
              <a:t>70%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2400" y="3478351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466600" y="3656792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43600" y="226776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2,184,185</a:t>
            </a:r>
            <a:br>
              <a:rPr/>
            </a:br>
            <a:r>
              <a:t>24%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200" y="2708999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107585" y="2829976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19585" y="105816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449,190</a:t>
            </a:r>
            <a:br>
              <a:rPr/>
            </a:br>
            <a:r>
              <a:t>5%</a:t>
            </a:r>
          </a:p>
        </p:txBody>
      </p:sp>
      <p:pic>
        <p:nvPicPr>
          <p:cNvPr id="125" name="Picture 124" descr="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533" y="1432561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501999" y="1347528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363717" y="132952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102,496</a:t>
            </a:r>
            <a:br>
              <a:rPr/>
            </a:br>
            <a:r>
              <a:t>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4400" y="1347528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5148002" y="1459128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87557" y="240796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>
              <a:rPr/>
            </a:br>
            <a:r>
              <a:rPr err="1"/>
              <a:t>estatal</a:t>
            </a:r>
            <a:br>
              <a:rPr/>
            </a:br>
            <a:r>
              <a:t>9,159,966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61999" y="9440146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</a:t>
            </a:r>
            <a:r>
              <a:rPr err="1"/>
              <a:t>Incorporación</a:t>
            </a:r>
            <a:r>
              <a:t> y </a:t>
            </a:r>
            <a:r>
              <a:rPr err="1"/>
              <a:t>Recaudación</a:t>
            </a:r>
            <a:r>
              <a:t>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9522" y="9567369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</a:t>
            </a:r>
            <a:r>
              <a:rPr err="1"/>
              <a:t>refiere</a:t>
            </a:r>
            <a:r>
              <a:t> a personas </a:t>
            </a:r>
            <a:r>
              <a:rPr err="1"/>
              <a:t>derechohabientes</a:t>
            </a:r>
            <a:r>
              <a:t> (</a:t>
            </a:r>
            <a:r>
              <a:rPr err="1"/>
              <a:t>titulares</a:t>
            </a:r>
            <a:r>
              <a:t> y </a:t>
            </a:r>
            <a:r>
              <a:rPr err="1"/>
              <a:t>familiares</a:t>
            </a:r>
            <a:r>
              <a:t>) </a:t>
            </a:r>
            <a:r>
              <a:rPr err="1"/>
              <a:t>adscritas</a:t>
            </a:r>
            <a:r>
              <a:t>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713101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</a:t>
            </a:r>
            <a:r>
              <a:rPr err="1"/>
              <a:t>afiliación</a:t>
            </a:r>
            <a:r>
              <a:t> al Seguro de Salud de Familia </a:t>
            </a:r>
            <a:r>
              <a:rPr err="1"/>
              <a:t>disminuye</a:t>
            </a:r>
            <a:r>
              <a:t> en </a:t>
            </a:r>
            <a:r>
              <a:rPr err="1"/>
              <a:t>virtud</a:t>
            </a:r>
            <a:r>
              <a:t> del </a:t>
            </a:r>
            <a:r>
              <a:rPr err="1"/>
              <a:t>incremento</a:t>
            </a:r>
            <a:r>
              <a:t> en los </a:t>
            </a:r>
            <a:r>
              <a:rPr err="1"/>
              <a:t>nuevos</a:t>
            </a:r>
            <a:r>
              <a:t> </a:t>
            </a:r>
            <a:r>
              <a:rPr err="1"/>
              <a:t>esquemas</a:t>
            </a:r>
            <a:r>
              <a:t> de </a:t>
            </a:r>
            <a:r>
              <a:rPr err="1"/>
              <a:t>aseguramiento</a:t>
            </a:r>
            <a:r>
              <a:t>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73616"/>
              </p:ext>
            </p:extLst>
          </p:nvPr>
        </p:nvGraphicFramePr>
        <p:xfrm>
          <a:off x="242499" y="5275706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7,415,435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6,424,095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5,224,605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4,242,700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-19%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3,410,841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3,574,593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587,854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779,591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1,163,527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1,073,235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1,090,044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1,019,685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-74%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2,190,830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2,181,395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762,433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799,544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846,726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656,445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-22%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581,671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725,406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671605"/>
              </p:ext>
            </p:extLst>
          </p:nvPr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10,586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10,398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32362"/>
              </p:ext>
            </p:extLst>
          </p:nvPr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34,045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47,721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628489"/>
              </p:ext>
            </p:extLst>
          </p:nvPr>
        </p:nvGraphicFramePr>
        <p:xfrm>
          <a:off x="5947200" y="8733600"/>
          <a:ext cx="1738800" cy="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 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116632" y="9877440"/>
            <a:ext cx="5864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** PTPD </a:t>
            </a:r>
            <a:r>
              <a:rPr err="1">
                <a:solidFill>
                  <a:schemeClr val="bg1"/>
                </a:solidFill>
              </a:rPr>
              <a:t>que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superaron</a:t>
            </a:r>
            <a:r>
              <a:rPr>
                <a:solidFill>
                  <a:schemeClr val="bg1"/>
                </a:solidFill>
              </a:rPr>
              <a:t> el umbral de </a:t>
            </a:r>
            <a:r>
              <a:rPr err="1">
                <a:solidFill>
                  <a:schemeClr val="bg1"/>
                </a:solidFill>
              </a:rPr>
              <a:t>ingreso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mínimo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neto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39" name="Picture 138" descr="PTP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59725529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9_cdm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082933"/>
              </p:ext>
            </p:extLst>
          </p:nvPr>
        </p:nvGraphicFramePr>
        <p:xfrm>
          <a:off x="1706400" y="6854400"/>
          <a:ext cx="4359600" cy="14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857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2,9</a:t>
                      </a:r>
                      <a:r>
                        <a:rPr lang="es-MX" sz="1000">
                          <a:latin typeface="Montserrat"/>
                        </a:rPr>
                        <a:t>30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</a:t>
                      </a:r>
                      <a:r>
                        <a:rPr lang="es-MX" sz="1000">
                          <a:latin typeface="Montserrat"/>
                        </a:rPr>
                        <a:t>17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3,</a:t>
                      </a:r>
                      <a:r>
                        <a:rPr lang="es-MX" sz="1000" dirty="0">
                          <a:latin typeface="Montserrat"/>
                        </a:rPr>
                        <a:t>348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1,</a:t>
                      </a:r>
                      <a:r>
                        <a:rPr lang="es-MX" sz="1000" dirty="0">
                          <a:latin typeface="Montserrat"/>
                        </a:rPr>
                        <a:t>226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6,</a:t>
                      </a:r>
                      <a:r>
                        <a:rPr lang="es-MX" sz="1000" dirty="0">
                          <a:latin typeface="Montserrat"/>
                        </a:rPr>
                        <a:t>278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2,764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937547"/>
              </p:ext>
            </p:extLst>
          </p:nvPr>
        </p:nvGraphicFramePr>
        <p:xfrm>
          <a:off x="5659200" y="1155600"/>
          <a:ext cx="20268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3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HPSIQ</a:t>
                      </a:r>
                      <a:endParaRPr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60060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UMFR</a:t>
                      </a:r>
                      <a:endParaRPr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159196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44 UMF, 3 UMF-UMAA y no incluye 54 Unidades Auxiliares de Medicina Familiar.</a:t>
            </a:r>
            <a:br/>
            <a:r>
              <a:t>³ Incluye la UMFR 2 unidades.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información: </a:t>
            </a:r>
            <a:r>
              <a:rPr lang="es-MX"/>
              <a:t>mayo</a:t>
            </a:r>
            <a:r>
              <a:t>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28;g3d0b4d3c5c9_2_57" title="CMN La Raza 2.jpg">
            <a:extLst>
              <a:ext uri="{FF2B5EF4-FFF2-40B4-BE49-F238E27FC236}">
                <a16:creationId xmlns:a16="http://schemas.microsoft.com/office/drawing/2014/main" id="{D1A3CC32-1838-F468-BA0B-ECEED9BD30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501" y="1929178"/>
            <a:ext cx="3695699" cy="21405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129;g3d0b4d3c5c9_2_57">
            <a:extLst>
              <a:ext uri="{FF2B5EF4-FFF2-40B4-BE49-F238E27FC236}">
                <a16:creationId xmlns:a16="http://schemas.microsoft.com/office/drawing/2014/main" id="{ED3BDB12-7020-25F0-1AC7-2CACEC9C5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9696486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del CMN La Raza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</a:t>
                      </a:r>
                      <a:r>
                        <a:rPr lang="es" sz="1800" b="1" err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Ciuda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d de México</a:t>
                      </a:r>
                      <a:endParaRPr sz="1800" b="1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Google Shape;130;g3d0b4d3c5c9_2_57">
            <a:extLst>
              <a:ext uri="{FF2B5EF4-FFF2-40B4-BE49-F238E27FC236}">
                <a16:creationId xmlns:a16="http://schemas.microsoft.com/office/drawing/2014/main" id="{EDA40058-D5CB-E1D4-987B-4A42A047542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8040" t="62798" r="29166" b="16941"/>
          <a:stretch/>
        </p:blipFill>
        <p:spPr>
          <a:xfrm>
            <a:off x="4076700" y="1783771"/>
            <a:ext cx="3695700" cy="2388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47593CC-E203-60B8-BD00-5E98CB65D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0" y="4360763"/>
            <a:ext cx="6972299" cy="2726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B1253B66-84C6-70C4-A623-31365DE5BE72}"/>
              </a:ext>
            </a:extLst>
          </p:cNvPr>
          <p:cNvSpPr txBox="1"/>
          <p:nvPr/>
        </p:nvSpPr>
        <p:spPr>
          <a:xfrm>
            <a:off x="406400" y="9630961"/>
            <a:ext cx="3886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Corte de Información: mayo de 2026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37550B-469B-CBBA-B1B3-AA48A9B105DE}"/>
              </a:ext>
            </a:extLst>
          </p:cNvPr>
          <p:cNvSpPr txBox="1"/>
          <p:nvPr/>
        </p:nvSpPr>
        <p:spPr>
          <a:xfrm>
            <a:off x="146304" y="7319523"/>
            <a:ext cx="749756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600" b="1">
                <a:solidFill>
                  <a:srgbClr val="9F2241"/>
                </a:solidFill>
                <a:latin typeface="Montserrat" panose="00000500000000000000" pitchFamily="2" charset="0"/>
              </a:rPr>
              <a:t>21 hospitales se construyeron en la etapa fundacional (4,648 camas)</a:t>
            </a:r>
          </a:p>
          <a:p>
            <a:r>
              <a:rPr lang="es-MX" sz="1600" b="1">
                <a:solidFill>
                  <a:srgbClr val="9F2241"/>
                </a:solidFill>
                <a:latin typeface="Montserrat" panose="00000500000000000000" pitchFamily="2" charset="0"/>
              </a:rPr>
              <a:t>8 hospitales en la era neoliberal (1,461 camas)</a:t>
            </a:r>
          </a:p>
          <a:p>
            <a:r>
              <a:rPr lang="es-MX" sz="1600" b="1">
                <a:solidFill>
                  <a:srgbClr val="9F2241"/>
                </a:solidFill>
                <a:latin typeface="Montserrat" panose="00000500000000000000" pitchFamily="2" charset="0"/>
              </a:rPr>
              <a:t>3 hospitales rehabilitados en la transformación (505 camas)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</a:t>
            </a:r>
            <a:r>
              <a:rPr err="1"/>
              <a:t>quirófano</a:t>
            </a:r>
            <a:r>
              <a:t>, salas </a:t>
            </a:r>
            <a:r>
              <a:rPr err="1"/>
              <a:t>híbridas</a:t>
            </a:r>
            <a:r>
              <a:t> y salas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salas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por el OOAD.</a:t>
            </a:r>
            <a:br>
              <a:rPr/>
            </a:br>
            <a:r>
              <a:t>Corte de Información: ma</a:t>
            </a:r>
            <a:r>
              <a:rPr lang="es-MX"/>
              <a:t>y</a:t>
            </a:r>
            <a:r>
              <a:t>o de 2026</a:t>
            </a:r>
          </a:p>
        </p:txBody>
      </p:sp>
      <p:graphicFrame>
        <p:nvGraphicFramePr>
          <p:cNvPr id="11" name="Table 13">
            <a:extLst>
              <a:ext uri="{FF2B5EF4-FFF2-40B4-BE49-F238E27FC236}">
                <a16:creationId xmlns:a16="http://schemas.microsoft.com/office/drawing/2014/main" id="{AC898441-1511-F8BF-2459-AF2C0697D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303636"/>
              </p:ext>
            </p:extLst>
          </p:nvPr>
        </p:nvGraphicFramePr>
        <p:xfrm>
          <a:off x="122400" y="1066208"/>
          <a:ext cx="76500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61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Inicio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operaciones</a:t>
                      </a:r>
                      <a:endParaRPr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Camas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Camas no </a:t>
                      </a:r>
                      <a:r>
                        <a:rPr dirty="0" err="1"/>
                        <a:t>censables</a:t>
                      </a:r>
                      <a:endParaRPr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Camas de </a:t>
                      </a:r>
                      <a:r>
                        <a:rPr dirty="0" err="1"/>
                        <a:t>cuidados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intensivos</a:t>
                      </a:r>
                      <a:endParaRPr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Salas Quirúrgicas¹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Consultorios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especialidades</a:t>
                      </a:r>
                      <a:endParaRPr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HGP 3A Magdalena Salinas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HGR 1 Carlos Mc Gregor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1948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HPSIQ MF 10 Postal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24 Insurgentes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HGZ 27 Tlatelolco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32</a:t>
                      </a:r>
                      <a:endParaRPr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HGZ 1A </a:t>
                      </a:r>
                      <a:r>
                        <a:rPr dirty="0" err="1"/>
                        <a:t>Venados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30 Iztacalco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Octubre</a:t>
                      </a:r>
                      <a:r>
                        <a:t>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HGZ 2A </a:t>
                      </a:r>
                      <a:r>
                        <a:rPr dirty="0" err="1"/>
                        <a:t>PasoTroncoso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HGZMF 8 San Ángel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HGZMF 29 S. Juan Aragón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34</a:t>
                      </a:r>
                      <a:endParaRPr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HGZ 32 Villa </a:t>
                      </a:r>
                      <a:r>
                        <a:rPr b="0" dirty="0" err="1">
                          <a:solidFill>
                            <a:schemeClr val="tx1"/>
                          </a:solidFill>
                        </a:rPr>
                        <a:t>Coapa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err="1">
                          <a:solidFill>
                            <a:schemeClr val="tx1"/>
                          </a:solidFill>
                        </a:rPr>
                        <a:t>Diciembre</a:t>
                      </a:r>
                      <a:r>
                        <a:rPr b="0">
                          <a:solidFill>
                            <a:schemeClr val="tx1"/>
                          </a:solidFill>
                        </a:rPr>
                        <a:t> de 1978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201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83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53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840548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UMFR Villa </a:t>
                      </a:r>
                      <a:r>
                        <a:rPr dirty="0" err="1"/>
                        <a:t>Coapa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Septiembre</a:t>
                      </a:r>
                      <a:r>
                        <a:t>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816720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47 Vicente Guerrero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349460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HGR 2 Villa </a:t>
                      </a:r>
                      <a:r>
                        <a:rPr dirty="0" err="1"/>
                        <a:t>Coapa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982626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HGZ 48 San Pedro </a:t>
                      </a:r>
                      <a:r>
                        <a:rPr dirty="0" err="1"/>
                        <a:t>Xalpa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2010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431841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HGZ 20 </a:t>
                      </a:r>
                      <a:r>
                        <a:rPr dirty="0" err="1"/>
                        <a:t>Tláhuac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Febrero</a:t>
                      </a:r>
                      <a:r>
                        <a:t> de 2024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742483"/>
                  </a:ext>
                </a:extLst>
              </a:tr>
              <a:tr h="1961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HGR 25 I. Zaragoza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2025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92</a:t>
                      </a:r>
                      <a:endParaRPr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84</a:t>
                      </a:r>
                      <a:endParaRPr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400828"/>
                  </a:ext>
                </a:extLst>
              </a:tr>
              <a:tr h="196188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Subtotal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2,9</a:t>
                      </a:r>
                      <a:r>
                        <a:rPr lang="es-MX"/>
                        <a:t>30</a:t>
                      </a:r>
                      <a:endParaRPr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</a:t>
                      </a:r>
                      <a:r>
                        <a:rPr lang="es-MX"/>
                        <a:t>17</a:t>
                      </a:r>
                      <a:endParaRPr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  <a:r>
                        <a:rPr lang="es-MX" dirty="0"/>
                        <a:t>51</a:t>
                      </a:r>
                      <a:endParaRPr dirty="0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91000"/>
                  </a:ext>
                </a:extLst>
              </a:tr>
            </a:tbl>
          </a:graphicData>
        </a:graphic>
      </p:graphicFrame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61DDDE9D-0BC3-DE40-6C72-90441EC21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645036"/>
              </p:ext>
            </p:extLst>
          </p:nvPr>
        </p:nvGraphicFramePr>
        <p:xfrm>
          <a:off x="68552" y="5689093"/>
          <a:ext cx="7650000" cy="340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967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Inicio</a:t>
                      </a:r>
                      <a:r>
                        <a:t> de </a:t>
                      </a:r>
                      <a:r>
                        <a:rPr err="1"/>
                        <a:t>operaciones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Camas no </a:t>
                      </a:r>
                      <a:r>
                        <a:rPr dirty="0" err="1"/>
                        <a:t>censables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Camas de </a:t>
                      </a:r>
                      <a:r>
                        <a:rPr dirty="0" err="1"/>
                        <a:t>cuidados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intensivos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Salas Quirúrgicas¹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Consultorios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especialidades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76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 CMN La Raza.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Febrero</a:t>
                      </a:r>
                      <a:r>
                        <a:rPr dirty="0"/>
                        <a:t> de 1954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477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140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82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  <a:r>
                        <a:rPr lang="es-MX" dirty="0"/>
                        <a:t>0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83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21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HGO 4 CMN Siglo XXI San Angel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Julio de 1957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8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HINF CMN La Raza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Marzo de 1954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128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5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638718"/>
                  </a:ext>
                </a:extLst>
              </a:tr>
              <a:tr h="19076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HGO 3 CMN La Raza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76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La Raza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/>
                        <a:t>152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53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76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Magdalena de las Salinas.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73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76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HONCO CMN Siglo XXI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76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HP CMN Siglo XXI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11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/>
                        <a:t>10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39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76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HC CMN Siglo XXI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/>
                        <a:t>93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  <a:r>
                        <a:rPr lang="es-MX"/>
                        <a:t>1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763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HES CMN Siglo XXI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Abril de 1992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763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3,</a:t>
                      </a:r>
                      <a:r>
                        <a:rPr lang="es-MX" dirty="0"/>
                        <a:t>348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1,</a:t>
                      </a:r>
                      <a:r>
                        <a:rPr lang="es-MX" dirty="0"/>
                        <a:t>124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27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29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  <a:r>
                        <a:rPr lang="es-MX" dirty="0"/>
                        <a:t>02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763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6,278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2,441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1,053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>
          <a:extLst>
            <a:ext uri="{FF2B5EF4-FFF2-40B4-BE49-F238E27FC236}">
              <a16:creationId xmlns:a16="http://schemas.microsoft.com/office/drawing/2014/main" id="{9AF892D6-42F8-10DC-0BB6-4756BA16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>
            <a:extLst>
              <a:ext uri="{FF2B5EF4-FFF2-40B4-BE49-F238E27FC236}">
                <a16:creationId xmlns:a16="http://schemas.microsoft.com/office/drawing/2014/main" id="{13F47901-5297-CB0B-FD72-92446CF7550F}"/>
              </a:ext>
            </a:extLst>
          </p:cNvPr>
          <p:cNvGraphicFramePr/>
          <p:nvPr/>
        </p:nvGraphicFramePr>
        <p:xfrm>
          <a:off x="149075" y="602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>
            <a:extLst>
              <a:ext uri="{FF2B5EF4-FFF2-40B4-BE49-F238E27FC236}">
                <a16:creationId xmlns:a16="http://schemas.microsoft.com/office/drawing/2014/main" id="{13AC2D2B-F87D-924C-5C2C-218215D23142}"/>
              </a:ext>
            </a:extLst>
          </p:cNvPr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graphicFrame>
        <p:nvGraphicFramePr>
          <p:cNvPr id="154" name="Table 153">
            <a:extLst>
              <a:ext uri="{FF2B5EF4-FFF2-40B4-BE49-F238E27FC236}">
                <a16:creationId xmlns:a16="http://schemas.microsoft.com/office/drawing/2014/main" id="{925C8F88-090D-C0BD-3C79-397FD9CC0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13868"/>
              </p:ext>
            </p:extLst>
          </p:nvPr>
        </p:nvGraphicFramePr>
        <p:xfrm>
          <a:off x="93600" y="1115489"/>
          <a:ext cx="7534799" cy="467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8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770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Unidad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Aparatos de Tomografía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Equipos de Resonancia Magnética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Mastógrafo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Arcos en 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Máquinas de Hemodiálisis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Sala de Hemodinamia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UMFR Villa Coapa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48 San Pedro Xalpa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30 Iztacalco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HGR 25 I. Zaragoza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sz="900" dirty="0"/>
                        <a:t>1</a:t>
                      </a:r>
                      <a:endParaRPr sz="900"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sz="900" dirty="0"/>
                        <a:t>1</a:t>
                      </a:r>
                      <a:endParaRPr sz="900"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sz="900" dirty="0"/>
                        <a:t>42</a:t>
                      </a:r>
                      <a:endParaRPr sz="900"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27 Tlatelolco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HGZMF 8 San Ángel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HGR 1 Carlos Mc Gregor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20 </a:t>
                      </a:r>
                      <a:r>
                        <a:rPr sz="900" err="1"/>
                        <a:t>Tláhuac</a:t>
                      </a:r>
                      <a:endParaRPr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1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24 Insurgentes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2A PasoTroncoso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latin typeface="Montserrat"/>
                        </a:defRPr>
                      </a:pPr>
                      <a:r>
                        <a:rPr lang="es-MX" sz="9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0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32 Villa </a:t>
                      </a:r>
                      <a:r>
                        <a:rPr sz="900" err="1"/>
                        <a:t>Coapa</a:t>
                      </a:r>
                      <a:endParaRPr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HGP 3A Magdalena Salinas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HGZMF 29 S. Juan Aragón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HPSIQ MF 10 Postal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1A Venados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47 Vicente Guerrero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HGR 2 Villa Coapa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70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50"/>
                        <a:t>Subtotal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1</a:t>
                      </a:r>
                      <a:r>
                        <a:rPr lang="es-MX" sz="1050" dirty="0"/>
                        <a:t>6</a:t>
                      </a:r>
                      <a:endParaRPr sz="105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50" dirty="0"/>
                        <a:t>3</a:t>
                      </a:r>
                      <a:endParaRPr sz="105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50" dirty="0"/>
                        <a:t>5</a:t>
                      </a:r>
                      <a:endParaRPr sz="105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50"/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50" dirty="0"/>
                        <a:t>136</a:t>
                      </a:r>
                      <a:endParaRPr sz="105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50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55" name="Rectangle 154">
            <a:extLst>
              <a:ext uri="{FF2B5EF4-FFF2-40B4-BE49-F238E27FC236}">
                <a16:creationId xmlns:a16="http://schemas.microsoft.com/office/drawing/2014/main" id="{DECE246A-CE91-7D71-84E6-B99494AA37DF}"/>
              </a:ext>
            </a:extLst>
          </p:cNvPr>
          <p:cNvSpPr/>
          <p:nvPr/>
        </p:nvSpPr>
        <p:spPr>
          <a:xfrm>
            <a:off x="178200" y="9639683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3570666-6395-5F9A-373F-10B3BF1565EB}"/>
              </a:ext>
            </a:extLst>
          </p:cNvPr>
          <p:cNvSpPr txBox="1"/>
          <p:nvPr/>
        </p:nvSpPr>
        <p:spPr>
          <a:xfrm>
            <a:off x="361800" y="9496676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Proyectos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implementación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/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sustitución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2019-2025.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Incluye equipo de la c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ompra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2025-2026</a:t>
            </a:r>
            <a:endParaRPr kumimoji="0" lang="es-MX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Fuente: Cédula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actualización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variables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seleccionadas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del IFU,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enviadas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por el OOAD.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información: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mayo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2026</a:t>
            </a: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6EDF69BC-D6AE-5065-1273-0C24A16B7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213217"/>
              </p:ext>
            </p:extLst>
          </p:nvPr>
        </p:nvGraphicFramePr>
        <p:xfrm>
          <a:off x="88526" y="5862431"/>
          <a:ext cx="753479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747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Mastógrafo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Magdalena de las Salinas.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CMN Siglo XXI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6</a:t>
                      </a:r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Siglo XXI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La Raza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40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4 CMN Siglo XXI San Angel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 CMN La Raza.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3 CMN La Raza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HONCO CMN Siglo XXI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Siglo XXI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5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5</a:t>
                      </a:r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0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0</a:t>
                      </a:r>
                      <a:endParaRPr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74</a:t>
                      </a:r>
                      <a:endParaRPr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16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11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92417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68BB7F63-D4B0-8952-984D-CF9F7C38E195}"/>
              </a:ext>
            </a:extLst>
          </p:cNvPr>
          <p:cNvGrpSpPr/>
          <p:nvPr/>
        </p:nvGrpSpPr>
        <p:grpSpPr>
          <a:xfrm>
            <a:off x="-290285" y="2006571"/>
            <a:ext cx="8062685" cy="6434036"/>
            <a:chOff x="-238536" y="3583123"/>
            <a:chExt cx="8062685" cy="6434036"/>
          </a:xfrm>
        </p:grpSpPr>
        <p:sp>
          <p:nvSpPr>
            <p:cNvPr id="3" name="Google Shape;127;g3d62d805bc0_1_88">
              <a:extLst>
                <a:ext uri="{FF2B5EF4-FFF2-40B4-BE49-F238E27FC236}">
                  <a16:creationId xmlns:a16="http://schemas.microsoft.com/office/drawing/2014/main" id="{C9B7C970-F0F9-62E7-C22C-DE782D79DA49}"/>
                </a:ext>
              </a:extLst>
            </p:cNvPr>
            <p:cNvSpPr txBox="1"/>
            <p:nvPr/>
          </p:nvSpPr>
          <p:spPr>
            <a:xfrm>
              <a:off x="-238536" y="3583123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s" sz="1600" b="1" i="0" u="none" strike="noStrike" kern="0" cap="none" spc="0" normalizeH="0" baseline="0" noProof="0">
                  <a:ln>
                    <a:noFill/>
                  </a:ln>
                  <a:solidFill>
                    <a:srgbClr val="006858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rgbClr val="006858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s" sz="1600" b="1" i="0" u="none" strike="noStrike" kern="0" cap="none" spc="0" normalizeH="0" baseline="0" noProof="0">
                  <a:ln>
                    <a:noFill/>
                  </a:ln>
                  <a:solidFill>
                    <a:srgbClr val="006858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Compra 2025-2026 equipo mayor  (Instalación abril-mayo)</a:t>
              </a:r>
              <a:endParaRPr kumimoji="0" sz="2300" b="1" i="0" u="none" strike="noStrike" kern="0" cap="none" spc="0" normalizeH="0" baseline="0" noProof="0">
                <a:ln>
                  <a:noFill/>
                </a:ln>
                <a:solidFill>
                  <a:srgbClr val="006858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" name="Google Shape;119;g3d62d805bc0_1_88">
              <a:extLst>
                <a:ext uri="{FF2B5EF4-FFF2-40B4-BE49-F238E27FC236}">
                  <a16:creationId xmlns:a16="http://schemas.microsoft.com/office/drawing/2014/main" id="{072013C2-F42C-2DFB-C32A-5337EF835214}"/>
                </a:ext>
              </a:extLst>
            </p:cNvPr>
            <p:cNvSpPr/>
            <p:nvPr/>
          </p:nvSpPr>
          <p:spPr>
            <a:xfrm>
              <a:off x="126710" y="6588785"/>
              <a:ext cx="422020" cy="370486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r>
                <a:rPr kumimoji="0" lang="e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5" name="Google Shape;120;g3d62d805bc0_1_88">
              <a:extLst>
                <a:ext uri="{FF2B5EF4-FFF2-40B4-BE49-F238E27FC236}">
                  <a16:creationId xmlns:a16="http://schemas.microsoft.com/office/drawing/2014/main" id="{1ACB6866-86F3-9700-C326-3150A8DDEF9E}"/>
                </a:ext>
              </a:extLst>
            </p:cNvPr>
            <p:cNvSpPr/>
            <p:nvPr/>
          </p:nvSpPr>
          <p:spPr>
            <a:xfrm>
              <a:off x="541539" y="6588785"/>
              <a:ext cx="1867871" cy="370486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Resonadores magnéticos 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" name="Google Shape;121;g3d62d805bc0_1_88">
              <a:extLst>
                <a:ext uri="{FF2B5EF4-FFF2-40B4-BE49-F238E27FC236}">
                  <a16:creationId xmlns:a16="http://schemas.microsoft.com/office/drawing/2014/main" id="{92F388DE-EB73-BFC6-C7FB-2077930D3267}"/>
                </a:ext>
              </a:extLst>
            </p:cNvPr>
            <p:cNvSpPr txBox="1"/>
            <p:nvPr/>
          </p:nvSpPr>
          <p:spPr>
            <a:xfrm>
              <a:off x="329924" y="7330156"/>
              <a:ext cx="2291100" cy="1104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HES CMN La Raza</a:t>
              </a: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6350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HES CMN Siglo XXI</a:t>
              </a: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6350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HG CMN La Raza</a:t>
              </a:r>
            </a:p>
            <a:p>
              <a:pPr marL="0" marR="6350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$121.8 mdp</a:t>
              </a:r>
            </a:p>
          </p:txBody>
        </p:sp>
        <p:pic>
          <p:nvPicPr>
            <p:cNvPr id="7" name="Google Shape;126;g3d62d805bc0_1_88">
              <a:extLst>
                <a:ext uri="{FF2B5EF4-FFF2-40B4-BE49-F238E27FC236}">
                  <a16:creationId xmlns:a16="http://schemas.microsoft.com/office/drawing/2014/main" id="{F983CA42-9BE3-D8D9-282C-25358AC94BC7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6712" y="5058593"/>
              <a:ext cx="2264877" cy="1532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22;g3d62d805bc0_1_88">
              <a:extLst>
                <a:ext uri="{FF2B5EF4-FFF2-40B4-BE49-F238E27FC236}">
                  <a16:creationId xmlns:a16="http://schemas.microsoft.com/office/drawing/2014/main" id="{A994BCCD-7600-C700-674A-CD082555D51C}"/>
                </a:ext>
              </a:extLst>
            </p:cNvPr>
            <p:cNvSpPr/>
            <p:nvPr/>
          </p:nvSpPr>
          <p:spPr>
            <a:xfrm>
              <a:off x="3021641" y="6519561"/>
              <a:ext cx="1774492" cy="419086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3;g3d62d805bc0_1_88">
              <a:extLst>
                <a:ext uri="{FF2B5EF4-FFF2-40B4-BE49-F238E27FC236}">
                  <a16:creationId xmlns:a16="http://schemas.microsoft.com/office/drawing/2014/main" id="{FC74ADCA-54D9-54F9-BA7F-760A8346E824}"/>
                </a:ext>
              </a:extLst>
            </p:cNvPr>
            <p:cNvSpPr/>
            <p:nvPr/>
          </p:nvSpPr>
          <p:spPr>
            <a:xfrm>
              <a:off x="2616699" y="6500511"/>
              <a:ext cx="422020" cy="439709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r>
                <a:rPr kumimoji="0" lang="e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Black"/>
                  <a:ea typeface="Noto Sans Black"/>
                  <a:cs typeface="Noto Sans Black"/>
                  <a:sym typeface="Noto Sans Black"/>
                </a:rPr>
                <a:t>8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124;g3d62d805bc0_1_88">
              <a:extLst>
                <a:ext uri="{FF2B5EF4-FFF2-40B4-BE49-F238E27FC236}">
                  <a16:creationId xmlns:a16="http://schemas.microsoft.com/office/drawing/2014/main" id="{B48C242B-3E6C-93BC-62DC-9205104856A0}"/>
                </a:ext>
              </a:extLst>
            </p:cNvPr>
            <p:cNvSpPr txBox="1"/>
            <p:nvPr/>
          </p:nvSpPr>
          <p:spPr>
            <a:xfrm>
              <a:off x="2621024" y="7441291"/>
              <a:ext cx="2367900" cy="2575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defTabSz="914400" rtl="0" eaLnBrk="1" fontAlgn="auto" latinLnBrk="0" hangingPunct="1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1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UMAE Magdalena de las Salinas 64 cortes; HGZ 27 Tlatelolco, HGZMF 8 San Ángel, HGR 2 Villacoapa, HES CMN La Raza, HES CMN Siglo XXI, HTO Magdalena de las Salinas, ONCO CMN Siglo XXI </a:t>
              </a:r>
            </a:p>
            <a:p>
              <a:pPr marL="0" marR="50800" lvl="0" indent="0" algn="l" defTabSz="914400" rtl="0" eaLnBrk="1" fontAlgn="auto" latinLnBrk="0" hangingPunct="1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$225.2 mdp</a:t>
              </a:r>
            </a:p>
            <a:p>
              <a:pPr marL="0" marR="50800" lvl="0" indent="0" algn="l" defTabSz="914400" rtl="0" eaLnBrk="1" fontAlgn="auto" latinLnBrk="0" hangingPunct="1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" sz="11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Noto Sans"/>
                <a:cs typeface="Noto Sans"/>
                <a:sym typeface="Montserrat"/>
              </a:endParaRPr>
            </a:p>
            <a:p>
              <a:pPr marL="0" marR="50800" lvl="0" indent="0" algn="l" defTabSz="914400" rtl="0" eaLnBrk="1" fontAlgn="auto" latinLnBrk="0" hangingPunct="1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defTabSz="914400" rtl="0" eaLnBrk="1" fontAlgn="auto" latinLnBrk="0" hangingPunct="1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defTabSz="914400" rtl="0" eaLnBrk="1" fontAlgn="auto" latinLnBrk="0" hangingPunct="1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400" b="0" i="0" u="none" strike="noStrike" kern="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kumimoji="0" lang="es" sz="13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1" name="Google Shape;125;g3d62d805bc0_1_88">
              <a:extLst>
                <a:ext uri="{FF2B5EF4-FFF2-40B4-BE49-F238E27FC236}">
                  <a16:creationId xmlns:a16="http://schemas.microsoft.com/office/drawing/2014/main" id="{8A39C3F0-EA1A-8344-55D6-7A8676EB222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08702" y="5009324"/>
              <a:ext cx="2200172" cy="15324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16;g3d62d805bc0_1_88" title="HGZ 86 URUAPAN.jpg">
              <a:extLst>
                <a:ext uri="{FF2B5EF4-FFF2-40B4-BE49-F238E27FC236}">
                  <a16:creationId xmlns:a16="http://schemas.microsoft.com/office/drawing/2014/main" id="{F385F08B-2097-487B-F8FC-837F9F829AB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1417" t="15479" r="44279" b="26090"/>
            <a:stretch/>
          </p:blipFill>
          <p:spPr>
            <a:xfrm>
              <a:off x="5172569" y="5009324"/>
              <a:ext cx="2361295" cy="157224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3" name="Google Shape;117;g3d62d805bc0_1_88">
              <a:extLst>
                <a:ext uri="{FF2B5EF4-FFF2-40B4-BE49-F238E27FC236}">
                  <a16:creationId xmlns:a16="http://schemas.microsoft.com/office/drawing/2014/main" id="{906EFECB-D14D-EB86-3F40-B0B5C913F977}"/>
                </a:ext>
              </a:extLst>
            </p:cNvPr>
            <p:cNvSpPr/>
            <p:nvPr/>
          </p:nvSpPr>
          <p:spPr>
            <a:xfrm>
              <a:off x="5653274" y="6602655"/>
              <a:ext cx="1939230" cy="370486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kumimoji="0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118;g3d62d805bc0_1_88">
              <a:extLst>
                <a:ext uri="{FF2B5EF4-FFF2-40B4-BE49-F238E27FC236}">
                  <a16:creationId xmlns:a16="http://schemas.microsoft.com/office/drawing/2014/main" id="{45957314-22D1-00B0-6DE6-3B722909CC74}"/>
                </a:ext>
              </a:extLst>
            </p:cNvPr>
            <p:cNvSpPr/>
            <p:nvPr/>
          </p:nvSpPr>
          <p:spPr>
            <a:xfrm>
              <a:off x="5137733" y="6602655"/>
              <a:ext cx="540487" cy="370486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Black"/>
                  <a:ea typeface="Noto Sans Black"/>
                  <a:cs typeface="Noto Sans Black"/>
                  <a:sym typeface="Noto Sans Black"/>
                </a:rPr>
                <a:t>14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" name="Google Shape;128;g3d62d805bc0_1_88">
              <a:extLst>
                <a:ext uri="{FF2B5EF4-FFF2-40B4-BE49-F238E27FC236}">
                  <a16:creationId xmlns:a16="http://schemas.microsoft.com/office/drawing/2014/main" id="{C1FA6536-1B30-766F-E33A-94533BDF0A0A}"/>
                </a:ext>
              </a:extLst>
            </p:cNvPr>
            <p:cNvSpPr txBox="1"/>
            <p:nvPr/>
          </p:nvSpPr>
          <p:spPr>
            <a:xfrm>
              <a:off x="4882283" y="7383271"/>
              <a:ext cx="2941866" cy="18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9 UMF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r>
                <a:rPr kumimoji="0" lang="es" sz="10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UMF 6 Merced,  UMF 11 Peralvillo, UMF 4 Doctores, UMF 9 San Pedro de los Pinos, UMG 28 Del Valle, UMF 12 Santa Fe, UMF 15 Ermita Iztapalapa, UMF 31 Iztapalapa, UMF 45 Iztacalco</a:t>
              </a:r>
              <a:r>
                <a:rPr kumimoji="0" lang="es" sz="1050" b="0" i="0" u="none" strike="noStrike" kern="0" cap="none" spc="0" normalizeH="0" baseline="0" noProof="0">
                  <a:ln>
                    <a:noFill/>
                  </a:ln>
                  <a:solidFill>
                    <a:srgbClr val="434343"/>
                  </a:solidFill>
                  <a:effectLst/>
                  <a:uLnTx/>
                  <a:uFillTx/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2 Hospitales y 3 CMN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s" sz="1000" b="0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HGZMF 8 San Ángel, HGZ 47 Vicente Guerrero, HONCO CMN Siglo XXI, HGO 3 CMN La Raza, HGZ 2A Paso Troncoso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endParaRPr kumimoji="0" lang="es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s" sz="1300" b="1" i="0" u="none" strike="noStrike" kern="0" cap="none" spc="0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$39.9 mdp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91155" y="951871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Proyectos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implementación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/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sustitución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2019-2025.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Compra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2025-2026. </a:t>
            </a:r>
            <a:endParaRPr kumimoji="0" lang="es-MX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Fuente: Cédula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actualización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variables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seleccionadas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del IFU,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enviadas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por el OOAD.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información: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mayo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89802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470FC71-65B2-CB64-6923-74D904D087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94C8BBF8-86D4-6AD5-31E6-0EBCA18883D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EB0DB20-671F-5D57-9636-E79BDA4C952B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F89E6CF-93E7-CB00-B11E-DEAAA6D5C6C0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C8090102-E89D-5E19-F610-39C24C9C0385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6ACD4E3B-483C-3401-2FF5-09EEC53ADC2F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A2D54267-A7EA-8BA0-C9E4-FF78EA40B956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+60,394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+530,537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+1,497,424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11,931,618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530,537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5,329,044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12,132,348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5,156,911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1,497,424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2,390,093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5,578,020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248,768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60,394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122,642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351,976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83459"/>
              </p:ext>
            </p:extLst>
          </p:nvPr>
        </p:nvGraphicFramePr>
        <p:xfrm>
          <a:off x="151200" y="1692000"/>
          <a:ext cx="7473599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Doctores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184,432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79,961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C. Anahuac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-4,320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116,353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281,880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 Sta. María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382,070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16,733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165,980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404,028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Coyoacán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219,658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104,139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250,560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Peralvillo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308,259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-4,918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125,925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313,200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Legaria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237,165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105,908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241,164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Independecia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226,147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99,883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Vallejo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372,083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67,604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165,036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375,840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Azcapotzalco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127,283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C. Atzacoalco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132,523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CFE. Parque España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27,560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147,091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Fortuna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380,764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25,722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171,564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375,840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C. 7 Zaragoza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283,180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127,654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Iztacalco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232,956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102,989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La Escalera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138,065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61,474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160 El Vergel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246,588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108,950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Merced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103,380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-24,042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45,073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CFE. Xola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Soriano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257,180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117,211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250,560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UMF-UMAA 161 Av. Toluca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135,760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Col. Roma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133,159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-5,999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58,651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Azcapotzalco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242,218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111,972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253,692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Condesa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159,765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75,783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256,824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Lindavista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119,862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54,767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5,260,276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217,659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2,342,235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5,396,332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4944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2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1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494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5,396,332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A16FE652-0083-8A59-65DA-08DB539C156F}"/>
              </a:ext>
            </a:extLst>
          </p:cNvPr>
          <p:cNvSpPr txBox="1"/>
          <p:nvPr/>
        </p:nvSpPr>
        <p:spPr>
          <a:xfrm>
            <a:off x="4021202" y="6229354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7 Nuevas UMTC con   23 consultorios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1C60B8-29DC-CB53-8A06-9C260C590BC1}"/>
              </a:ext>
            </a:extLst>
          </p:cNvPr>
          <p:cNvSpPr txBox="1"/>
          <p:nvPr/>
        </p:nvSpPr>
        <p:spPr>
          <a:xfrm>
            <a:off x="4380943" y="7562113"/>
            <a:ext cx="290211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sz="1200">
                <a:latin typeface="Montserrat" panose="00000500000000000000" pitchFamily="2" charset="0"/>
              </a:rPr>
              <a:t>UMF 2 Sta. María</a:t>
            </a:r>
          </a:p>
          <a:p>
            <a:pPr marL="342900" indent="-342900">
              <a:buFont typeface="+mj-lt"/>
              <a:buAutoNum type="arabicParenR"/>
            </a:pPr>
            <a:r>
              <a:rPr lang="es-MX" sz="1200">
                <a:latin typeface="Montserrat" panose="00000500000000000000" pitchFamily="2" charset="0"/>
              </a:rPr>
              <a:t>UMF 5 C. Anáhuac</a:t>
            </a:r>
          </a:p>
          <a:p>
            <a:pPr marL="342900" indent="-342900">
              <a:buFont typeface="+mj-lt"/>
              <a:buAutoNum type="arabicParenR"/>
            </a:pPr>
            <a:r>
              <a:rPr lang="es-MX" sz="1200">
                <a:latin typeface="Montserrat" panose="00000500000000000000" pitchFamily="2" charset="0"/>
              </a:rPr>
              <a:t>UMF 19 Coyoacán</a:t>
            </a:r>
          </a:p>
          <a:p>
            <a:pPr marL="342900" indent="-342900">
              <a:buFont typeface="+mj-lt"/>
              <a:buAutoNum type="arabicParenR"/>
            </a:pPr>
            <a:r>
              <a:rPr lang="es-MX" sz="1200">
                <a:latin typeface="Montserrat" panose="00000500000000000000" pitchFamily="2" charset="0"/>
              </a:rPr>
              <a:t>UMF 22 Independencia</a:t>
            </a:r>
          </a:p>
          <a:p>
            <a:pPr marL="342900" indent="-342900">
              <a:buFont typeface="+mj-lt"/>
              <a:buAutoNum type="arabicParenR"/>
            </a:pPr>
            <a:r>
              <a:rPr lang="es-MX" sz="1200">
                <a:latin typeface="Montserrat" panose="00000500000000000000" pitchFamily="2" charset="0"/>
              </a:rPr>
              <a:t>UMF 160 El Vergel</a:t>
            </a:r>
          </a:p>
          <a:p>
            <a:pPr marL="342900" indent="-342900">
              <a:buFont typeface="+mj-lt"/>
              <a:buAutoNum type="arabicParenR"/>
            </a:pPr>
            <a:r>
              <a:rPr lang="es-MX" sz="1200">
                <a:latin typeface="Montserrat" panose="00000500000000000000" pitchFamily="2" charset="0"/>
              </a:rPr>
              <a:t>UMF 45 Iztacalco</a:t>
            </a:r>
          </a:p>
          <a:p>
            <a:pPr marL="342900" indent="-342900">
              <a:buFont typeface="+mj-lt"/>
              <a:buAutoNum type="arabicParenR"/>
            </a:pPr>
            <a:r>
              <a:rPr lang="es-MX" sz="1200">
                <a:latin typeface="Montserrat" panose="00000500000000000000" pitchFamily="2" charset="0"/>
              </a:rPr>
              <a:t>UMF 46 Soriano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22 Unidades Médicas de tiempo completo (96 consultorios)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0400" y="685337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</a:t>
            </a:r>
            <a:r>
              <a:rPr err="1"/>
              <a:t>consultas</a:t>
            </a:r>
            <a:r>
              <a:t> en 2025 </a:t>
            </a:r>
            <a:r>
              <a:rPr err="1"/>
              <a:t>fueron</a:t>
            </a:r>
            <a:r>
              <a:t> en fin de </a:t>
            </a:r>
            <a:r>
              <a:rPr err="1"/>
              <a:t>semana</a:t>
            </a:r>
            <a:r>
              <a:t> (549,680 </a:t>
            </a:r>
            <a:r>
              <a:rPr err="1"/>
              <a:t>consultas</a:t>
            </a:r>
            <a:r>
              <a:t>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02492"/>
              </p:ext>
            </p:extLst>
          </p:nvPr>
        </p:nvGraphicFramePr>
        <p:xfrm>
          <a:off x="151200" y="1695600"/>
          <a:ext cx="747359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La Joya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204,713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-9,196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89,295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206,640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San Pedro Pinos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408,459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183,801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Contreras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231,716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-2,146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108,339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Santa Fe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285,947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127,205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Aeropuerto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275,224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26,047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122,483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Col.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165,477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-2,096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72,991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Unidad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412,455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30,047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185,197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413,280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Del 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382,314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175,291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Iztapalapa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512,584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214,597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509,712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Fco. del Paso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362,060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31,161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168,691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440,832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C. Pantitlán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118,885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8,917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42 Cuajimalpa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193,978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93,192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220,416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Rojo Gómez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180,795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79,452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94 San Juan Aragón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343,668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16,063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344,400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120 Zaragoza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163,767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73,740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140 La Teja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174,631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81,209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Calz. Tlalpan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478,156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25,972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201,474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495,936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Ermita Iztapalapa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445,984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201,848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440,832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El Arbolillo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142,858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62,427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162 Tláhuac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160,862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72,191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163 Villa Coapa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195,738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155,127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20,413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69,348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5,995,398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312,358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2,681,108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6,076,064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35319"/>
                  </a:ext>
                </a:extLst>
              </a:tr>
            </a:tbl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250098"/>
              </p:ext>
            </p:extLst>
          </p:nvPr>
        </p:nvGraphicFramePr>
        <p:xfrm>
          <a:off x="125999" y="6263040"/>
          <a:ext cx="1792800" cy="1897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04500" y="7122186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7%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615460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 (1 de 2)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-5956876" y="2625841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dirty="0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29633"/>
              </p:ext>
            </p:extLst>
          </p:nvPr>
        </p:nvGraphicFramePr>
        <p:xfrm>
          <a:off x="144000" y="1494000"/>
          <a:ext cx="7340399" cy="520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25 I. Zaragoza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68,782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3A Magdalena Salinas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67,715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UMFR Villa Coapa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43,063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48 San Pedro Xalpa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198,843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46,161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89,939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24 Insurgentes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70,736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32 Villa 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210,515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66,780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91,145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216,810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Carlos Mc Gregor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335,051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104,279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138,621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335,070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 Villa 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205,575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50,373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1A Venados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233,918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95,845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San Ángel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158,010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45,895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61,647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PasoTroncoso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205,295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81,109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210,240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27 Tlatelolco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166,767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24,994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64,465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47 Vicente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Iztacalco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116,852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42 Cuajimalpa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161 Av.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46,720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29 S. Juan Aragón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245,845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68,424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801130"/>
              </p:ext>
            </p:extLst>
          </p:nvPr>
        </p:nvGraphicFramePr>
        <p:xfrm>
          <a:off x="144000" y="6694560"/>
          <a:ext cx="7340399" cy="85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UMAA 162 Tl</a:t>
                      </a:r>
                      <a:r>
                        <a:rPr lang="es-MX" b="0">
                          <a:solidFill>
                            <a:schemeClr val="tx1"/>
                          </a:solidFill>
                        </a:rPr>
                        <a:t>á</a:t>
                      </a:r>
                      <a:r>
                        <a:rPr b="0" err="1">
                          <a:solidFill>
                            <a:schemeClr val="tx1"/>
                          </a:solidFill>
                        </a:rPr>
                        <a:t>huac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28,673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12,086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9,604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HPSIQ MF 10 Postal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20,632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6,424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6,884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2,700,599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715,253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1,170,584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2,863,060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571182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dirty="0" err="1">
                <a:solidFill>
                  <a:srgbClr val="9F2241"/>
                </a:solidFill>
                <a:latin typeface="Montserrat"/>
              </a:rPr>
              <a:t>Consultas</a:t>
            </a:r>
            <a:r>
              <a:rPr sz="2100" b="1" dirty="0">
                <a:solidFill>
                  <a:srgbClr val="9F2241"/>
                </a:solidFill>
                <a:latin typeface="Montserrat"/>
              </a:rPr>
              <a:t> de </a:t>
            </a:r>
            <a:r>
              <a:rPr sz="2100" b="1" dirty="0" err="1">
                <a:solidFill>
                  <a:srgbClr val="9F2241"/>
                </a:solidFill>
                <a:latin typeface="Montserrat"/>
              </a:rPr>
              <a:t>especialidad</a:t>
            </a:r>
            <a:r>
              <a:rPr sz="2100" b="1" dirty="0">
                <a:solidFill>
                  <a:srgbClr val="9F2241"/>
                </a:solidFill>
                <a:latin typeface="Montserrat"/>
              </a:rPr>
              <a:t> 2026</a:t>
            </a:r>
            <a:r>
              <a:rPr lang="es-MX" sz="2100" b="1" dirty="0">
                <a:solidFill>
                  <a:srgbClr val="9F2241"/>
                </a:solidFill>
                <a:latin typeface="Montserrat"/>
              </a:rPr>
              <a:t> (2 de 2)</a:t>
            </a:r>
            <a:endParaRPr sz="2100" b="1" dirty="0">
              <a:solidFill>
                <a:srgbClr val="9F2241"/>
              </a:solidFill>
              <a:latin typeface="Montserrat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000" y="1494000"/>
          <a:ext cx="7340399" cy="564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Magdalena de las Salinas.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68,534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122,000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3 CMN La Raza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187,659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34,630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98,433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HPSIQ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UMFR Magdalena de las Salinas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81,318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49,591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HONCO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407,632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226,531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211,526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433,620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 CMN La Raza.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354,222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66,421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172,931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354,780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HORTO Magdalena de las Salinas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162,615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74,543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413,759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184,551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413,910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UMFR Conjunto Colonia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4 CMN Siglo XXI San Angel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161,198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38,952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78,993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183,960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La Raza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148,650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381,060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63,066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18,570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HPSIQ San Fernando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97,508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55,530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HINF CMN La Raza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2,456,312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782,171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1,219,509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2,714,960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5,156,911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1,497,424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2,390,093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5,578,020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929053"/>
              </p:ext>
            </p:extLst>
          </p:nvPr>
        </p:nvGraphicFramePr>
        <p:xfrm>
          <a:off x="4780800" y="723912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80800" y="793704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2899" y="740808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099" y="752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5,578,020 </a:t>
            </a:r>
            <a:br>
              <a:rPr/>
            </a:br>
            <a:r>
              <a:t>Meta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94463244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 (1 de 2)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520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25 I. Zaragoza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San Ángel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1A Venados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24 Insurgentes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27 Tlatelolco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Iztacalco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48 San Pedro Xalpa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3A Magdalena Salinas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32 Villa Coapa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 Villa 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Carlos Mc Gregor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29 S. Juan Aragón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47 Vicente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PasoTroncoso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161 Av.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42 Cuajimalpa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Tláhuac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946515"/>
              </p:ext>
            </p:extLst>
          </p:nvPr>
        </p:nvGraphicFramePr>
        <p:xfrm>
          <a:off x="143502" y="6338160"/>
          <a:ext cx="7340399" cy="5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UMAA 162 Tl</a:t>
                      </a:r>
                      <a:r>
                        <a:rPr lang="es-MX" b="0">
                          <a:solidFill>
                            <a:schemeClr val="tx1"/>
                          </a:solidFill>
                        </a:rPr>
                        <a:t>á</a:t>
                      </a:r>
                      <a:r>
                        <a:rPr b="0" err="1">
                          <a:solidFill>
                            <a:schemeClr val="tx1"/>
                          </a:solidFill>
                        </a:rPr>
                        <a:t>huac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2,731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617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1,084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4,698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110,505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16,520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56,612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137,156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16651"/>
            <a:ext cx="326563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dirty="0" err="1">
                <a:solidFill>
                  <a:srgbClr val="9F2241"/>
                </a:solidFill>
                <a:latin typeface="Montserrat"/>
              </a:rPr>
              <a:t>Cirugías</a:t>
            </a:r>
            <a:r>
              <a:rPr sz="2100" b="1" dirty="0">
                <a:solidFill>
                  <a:srgbClr val="9F2241"/>
                </a:solidFill>
                <a:latin typeface="Montserrat"/>
              </a:rPr>
              <a:t> 2026</a:t>
            </a:r>
            <a:r>
              <a:rPr lang="es-MX" sz="2100" b="1" dirty="0">
                <a:solidFill>
                  <a:srgbClr val="9F2241"/>
                </a:solidFill>
                <a:latin typeface="Montserrat"/>
              </a:rPr>
              <a:t> ( 2 de 2)</a:t>
            </a:r>
            <a:endParaRPr sz="2100" b="1" dirty="0">
              <a:solidFill>
                <a:srgbClr val="9F2241"/>
              </a:solidFill>
              <a:latin typeface="Montserrat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340399" cy="439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3 CMN La Raza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 CMN La Raza.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34,500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Magdalena de las Salinas.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4 CMN Siglo XXI San Angel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HONCO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HORTO Magdalena de las Salinas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HINF CMN La Raza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La Raza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138,263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43,874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66,030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214,820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248,768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60,394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122,642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351,976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88372"/>
              </p:ext>
            </p:extLst>
          </p:nvPr>
        </p:nvGraphicFramePr>
        <p:xfrm>
          <a:off x="4780800" y="584928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80800" y="6489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1200" y="5792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400" y="624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351,976 </a:t>
            </a:r>
            <a:br>
              <a:rPr/>
            </a:br>
            <a:r>
              <a:t>Meta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0">
                <a:solidFill>
                  <a:srgbClr val="BC955C"/>
                </a:solidFill>
                <a:latin typeface="Montserrat"/>
              </a:defRPr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451 en Hospitales, 8 en sede, 76 en UMF y 1274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74984"/>
            <a:ext cx="350128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451 en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(1 de 5)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60000" y="165503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735198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(</a:t>
                      </a:r>
                      <a:r>
                        <a:rPr err="1"/>
                        <a:t>Parte</a:t>
                      </a:r>
                      <a:r>
                        <a:t>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Oftalmología</a:t>
                      </a:r>
                      <a:endParaRPr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56400" y="1735198"/>
          <a:ext cx="3456000" cy="175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(</a:t>
                      </a:r>
                      <a:r>
                        <a:rPr err="1"/>
                        <a:t>Parte</a:t>
                      </a:r>
                      <a:r>
                        <a:t>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Psiquiatría</a:t>
                      </a:r>
                      <a:r>
                        <a:t> </a:t>
                      </a:r>
                      <a:r>
                        <a:rPr err="1"/>
                        <a:t>Infantil</a:t>
                      </a:r>
                      <a:r>
                        <a:t> y de la </a:t>
                      </a:r>
                      <a:r>
                        <a:rPr err="1"/>
                        <a:t>Adolescencia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429758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25 (Parte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79846" y="3509204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25 (Parte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Otorrinolaringología</a:t>
                      </a:r>
                      <a:r>
                        <a:t>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7"/>
          <p:cNvGraphicFramePr>
            <a:graphicFrameLocks noGrp="1"/>
          </p:cNvGraphicFramePr>
          <p:nvPr/>
        </p:nvGraphicFramePr>
        <p:xfrm>
          <a:off x="4051800" y="5404897"/>
          <a:ext cx="3456000" cy="3910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Dermatología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</a:t>
                      </a:r>
                      <a:r>
                        <a:rPr lang="es-MX"/>
                        <a:t>a</a:t>
                      </a:r>
                      <a:r>
                        <a:t>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909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5097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451 en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(2 de 5)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7600" y="1565521"/>
          <a:ext cx="3456000" cy="24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C/UMAA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44000" y="1572628"/>
          <a:ext cx="3456000" cy="24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</a:t>
                      </a:r>
                      <a:r>
                        <a:rPr err="1"/>
                        <a:t>Oncológica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07600" y="4079631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6"/>
          <p:cNvGraphicFramePr>
            <a:graphicFrameLocks noGrp="1"/>
          </p:cNvGraphicFramePr>
          <p:nvPr/>
        </p:nvGraphicFramePr>
        <p:xfrm>
          <a:off x="207600" y="4787999"/>
          <a:ext cx="3456000" cy="24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</a:t>
                      </a:r>
                      <a:r>
                        <a:rPr err="1"/>
                        <a:t>Crítico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07600" y="7318448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Table 7"/>
          <p:cNvGraphicFramePr>
            <a:graphicFrameLocks noGrp="1"/>
          </p:cNvGraphicFramePr>
          <p:nvPr/>
        </p:nvGraphicFramePr>
        <p:xfrm>
          <a:off x="3780000" y="4079631"/>
          <a:ext cx="3456000" cy="2830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8"/>
          <p:cNvGraphicFramePr>
            <a:graphicFrameLocks noGrp="1"/>
          </p:cNvGraphicFramePr>
          <p:nvPr/>
        </p:nvGraphicFramePr>
        <p:xfrm>
          <a:off x="3780000" y="6945361"/>
          <a:ext cx="3456000" cy="22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5257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451 en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(3 de 5)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4017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5696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</a:t>
                      </a:r>
                      <a:r>
                        <a:rPr err="1"/>
                        <a:t>Plástica</a:t>
                      </a:r>
                      <a:r>
                        <a:t> y </a:t>
                      </a:r>
                      <a:r>
                        <a:rPr err="1"/>
                        <a:t>Reconstructiva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3" name="Table 6"/>
          <p:cNvGraphicFramePr>
            <a:graphicFrameLocks noGrp="1"/>
          </p:cNvGraphicFramePr>
          <p:nvPr/>
        </p:nvGraphicFramePr>
        <p:xfrm>
          <a:off x="3886200" y="1569600"/>
          <a:ext cx="3456000" cy="4029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Otorrinolaringología</a:t>
                      </a:r>
                      <a:r>
                        <a:t>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4" name="Table 7"/>
          <p:cNvGraphicFramePr>
            <a:graphicFrameLocks noGrp="1"/>
          </p:cNvGraphicFramePr>
          <p:nvPr/>
        </p:nvGraphicFramePr>
        <p:xfrm>
          <a:off x="3956400" y="5671441"/>
          <a:ext cx="3456000" cy="292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Cardiología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Urgencias</a:t>
                      </a:r>
                      <a:r>
                        <a:t> </a:t>
                      </a:r>
                      <a:r>
                        <a:rPr err="1"/>
                        <a:t>Pediátrica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Table 8"/>
          <p:cNvGraphicFramePr>
            <a:graphicFrameLocks noGrp="1"/>
          </p:cNvGraphicFramePr>
          <p:nvPr/>
        </p:nvGraphicFramePr>
        <p:xfrm>
          <a:off x="324000" y="4762797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Table 9"/>
          <p:cNvGraphicFramePr>
            <a:graphicFrameLocks noGrp="1"/>
          </p:cNvGraphicFramePr>
          <p:nvPr/>
        </p:nvGraphicFramePr>
        <p:xfrm>
          <a:off x="360000" y="6804831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Cardiología</a:t>
                      </a:r>
                      <a:r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8"/>
          <p:cNvGraphicFramePr>
            <a:graphicFrameLocks noGrp="1"/>
          </p:cNvGraphicFramePr>
          <p:nvPr/>
        </p:nvGraphicFramePr>
        <p:xfrm>
          <a:off x="345046" y="82242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No.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Coloproctología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7662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451 en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(4 de 5)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06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64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Especialidades</a:t>
                      </a:r>
                      <a:r>
                        <a:t> 1 (</a:t>
                      </a:r>
                      <a:r>
                        <a:rPr err="1"/>
                        <a:t>Parte</a:t>
                      </a:r>
                      <a:r>
                        <a:t>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6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0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6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Nuclear e Imagenología Molecular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5383440"/>
          <a:ext cx="345600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47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8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 (Parte 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4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4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4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Neurocirugía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4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4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7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7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4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Urología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4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56400" y="5383440"/>
          <a:ext cx="34560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96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62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</a:t>
                      </a:r>
                      <a:r>
                        <a:rPr err="1"/>
                        <a:t>Oncológica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Oncología</a:t>
                      </a:r>
                      <a:r>
                        <a:t>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4354AD16-10F4-94EB-FA36-A64CD29A2FDA}"/>
              </a:ext>
            </a:extLst>
          </p:cNvPr>
          <p:cNvGraphicFramePr>
            <a:graphicFrameLocks noGrp="1"/>
          </p:cNvGraphicFramePr>
          <p:nvPr/>
        </p:nvGraphicFramePr>
        <p:xfrm>
          <a:off x="3956402" y="1569600"/>
          <a:ext cx="34560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006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6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Pediatría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5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5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Neurología</a:t>
                      </a:r>
                      <a:r>
                        <a:t> </a:t>
                      </a:r>
                      <a:r>
                        <a:rPr err="1"/>
                        <a:t>Pediátrica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5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0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" name="Table 9"/>
          <p:cNvGraphicFramePr>
            <a:graphicFrameLocks noGrp="1"/>
          </p:cNvGraphicFramePr>
          <p:nvPr/>
        </p:nvGraphicFramePr>
        <p:xfrm>
          <a:off x="3956400" y="7124640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Oncología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</a:t>
                      </a:r>
                      <a:r>
                        <a:rPr err="1"/>
                        <a:t>Paliativa</a:t>
                      </a:r>
                      <a:r>
                        <a:t>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3" name="Table 10"/>
          <p:cNvGraphicFramePr>
            <a:graphicFrameLocks noGrp="1"/>
          </p:cNvGraphicFramePr>
          <p:nvPr/>
        </p:nvGraphicFramePr>
        <p:xfrm>
          <a:off x="360000" y="81648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5257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451 en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(5 de 5)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Gineco</a:t>
                      </a:r>
                      <a:r>
                        <a:t> </a:t>
                      </a:r>
                      <a:r>
                        <a:rPr err="1"/>
                        <a:t>Obstetricia</a:t>
                      </a:r>
                      <a:r>
                        <a:t>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Gineco-pediatría</a:t>
                      </a:r>
                      <a:r>
                        <a:t> 3a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Infectología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6"/>
          <p:cNvGraphicFramePr>
            <a:graphicFrameLocks noGrp="1"/>
          </p:cNvGraphicFramePr>
          <p:nvPr/>
        </p:nvGraphicFramePr>
        <p:xfrm>
          <a:off x="360000" y="4074241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Psiquiatría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Psiquiatría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7"/>
          <p:cNvGraphicFramePr>
            <a:graphicFrameLocks noGrp="1"/>
          </p:cNvGraphicFramePr>
          <p:nvPr/>
        </p:nvGraphicFramePr>
        <p:xfrm>
          <a:off x="3956400" y="327287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Psiquiatría</a:t>
                      </a:r>
                      <a:r>
                        <a:t>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8"/>
          <p:cNvGraphicFramePr>
            <a:graphicFrameLocks noGrp="1"/>
          </p:cNvGraphicFramePr>
          <p:nvPr/>
        </p:nvGraphicFramePr>
        <p:xfrm>
          <a:off x="360000" y="4994884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Psiquiatría</a:t>
                      </a:r>
                      <a:r>
                        <a:t> C/MF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9"/>
          <p:cNvGraphicFramePr>
            <a:graphicFrameLocks noGrp="1"/>
          </p:cNvGraphicFramePr>
          <p:nvPr/>
        </p:nvGraphicFramePr>
        <p:xfrm>
          <a:off x="3956400" y="3992877"/>
          <a:ext cx="3456000" cy="1534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Traumatología</a:t>
                      </a: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0"/>
          <p:cNvSpPr txBox="1"/>
          <p:nvPr/>
        </p:nvSpPr>
        <p:spPr>
          <a:xfrm>
            <a:off x="307108" y="6171875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8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Sede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delegacional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18" name="Connector 11"/>
          <p:cNvCxnSpPr/>
          <p:nvPr/>
        </p:nvCxnSpPr>
        <p:spPr>
          <a:xfrm>
            <a:off x="307108" y="6618275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2"/>
          <p:cNvGraphicFramePr>
            <a:graphicFrameLocks noGrp="1"/>
          </p:cNvGraphicFramePr>
          <p:nvPr/>
        </p:nvGraphicFramePr>
        <p:xfrm>
          <a:off x="1579200" y="7024083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Epidemiología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612699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76 en Unidades de Medicina Familiar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(1 de 2)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Banco de Sangre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Laboratorio de Análisis Clínicos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Guardería</a:t>
                      </a:r>
                      <a:r>
                        <a:t> Hijos Madres </a:t>
                      </a:r>
                      <a:r>
                        <a:rPr err="1"/>
                        <a:t>Empleadas</a:t>
                      </a:r>
                      <a:r>
                        <a:t> No.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721599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Detección y Diagnóstico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721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621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621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401" y="4521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521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673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673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573595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573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772559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772559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17669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76 en Unidades de Medicina Familiar (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 de 2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025598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</a:t>
                      </a:r>
                      <a:r>
                        <a:rPr lang="es-MX"/>
                        <a:t>a</a:t>
                      </a:r>
                      <a:r>
                        <a:t>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025598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429598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429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161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581597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162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581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Física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2688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1809 total especialistas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contratados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16161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1274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376161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6400" y="1449987"/>
          <a:ext cx="3360602" cy="728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Alergia</a:t>
                      </a:r>
                      <a:r>
                        <a:rPr sz="800"/>
                        <a:t> e </a:t>
                      </a:r>
                      <a:r>
                        <a:rPr sz="800" err="1"/>
                        <a:t>Inmunología</a:t>
                      </a:r>
                      <a:r>
                        <a:rPr sz="800"/>
                        <a:t>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231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Alergia</a:t>
                      </a:r>
                      <a:r>
                        <a:rPr sz="800"/>
                        <a:t> e </a:t>
                      </a:r>
                      <a:r>
                        <a:rPr sz="800" err="1"/>
                        <a:t>Inmunología</a:t>
                      </a:r>
                      <a:r>
                        <a:rPr sz="800"/>
                        <a:t> Clínica </a:t>
                      </a:r>
                      <a:r>
                        <a:rPr sz="800" err="1"/>
                        <a:t>Pediátrica</a:t>
                      </a:r>
                      <a:endParaRPr sz="80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Anestesiología</a:t>
                      </a:r>
                      <a:endParaRPr sz="80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164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Anestesiología</a:t>
                      </a:r>
                      <a:r>
                        <a:rPr sz="800"/>
                        <a:t> </a:t>
                      </a:r>
                      <a:r>
                        <a:rPr sz="800" err="1"/>
                        <a:t>Pediátrica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231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231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Biología</a:t>
                      </a:r>
                      <a:r>
                        <a:rPr sz="800"/>
                        <a:t> de la </a:t>
                      </a:r>
                      <a:r>
                        <a:rPr sz="800" err="1"/>
                        <a:t>Reproducción</a:t>
                      </a:r>
                      <a:r>
                        <a:rPr sz="800"/>
                        <a:t> Humana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Cardiología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9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Cirugía </a:t>
                      </a:r>
                      <a:r>
                        <a:rPr sz="800" err="1"/>
                        <a:t>Cardiotorácica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148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Cirugía </a:t>
                      </a:r>
                      <a:r>
                        <a:rPr sz="800" err="1"/>
                        <a:t>Oncológica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8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Cirugía </a:t>
                      </a:r>
                      <a:r>
                        <a:rPr sz="800" err="1"/>
                        <a:t>Pediátrica</a:t>
                      </a:r>
                      <a:endParaRPr sz="80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Cirugía </a:t>
                      </a:r>
                      <a:r>
                        <a:rPr sz="800" err="1"/>
                        <a:t>Plástica</a:t>
                      </a:r>
                      <a:r>
                        <a:rPr sz="800"/>
                        <a:t> y </a:t>
                      </a:r>
                      <a:r>
                        <a:rPr sz="800" err="1"/>
                        <a:t>Reconstructiva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Coloproctología</a:t>
                      </a:r>
                      <a:endParaRPr sz="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456343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Dermatología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772994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Endocrinología</a:t>
                      </a:r>
                      <a:r>
                        <a:rPr sz="800"/>
                        <a:t> </a:t>
                      </a:r>
                      <a:r>
                        <a:rPr sz="800" err="1"/>
                        <a:t>Pediátrica</a:t>
                      </a:r>
                      <a:endParaRPr sz="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260260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Endoscopia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632760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Epidemiología</a:t>
                      </a:r>
                      <a:endParaRPr sz="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68515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Gastroenterología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297027"/>
                  </a:ext>
                </a:extLst>
              </a:tr>
              <a:tr h="219231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Gastroenterología</a:t>
                      </a:r>
                      <a:r>
                        <a:rPr sz="800"/>
                        <a:t> y Nutrición </a:t>
                      </a:r>
                      <a:r>
                        <a:rPr sz="800" err="1"/>
                        <a:t>Pediátrica</a:t>
                      </a:r>
                      <a:endParaRPr sz="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137712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Genética</a:t>
                      </a:r>
                      <a:r>
                        <a:rPr sz="800"/>
                        <a:t>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60973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Geriatría</a:t>
                      </a:r>
                      <a:endParaRPr sz="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31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477192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Ginecología</a:t>
                      </a:r>
                      <a:r>
                        <a:rPr sz="800"/>
                        <a:t> </a:t>
                      </a:r>
                      <a:r>
                        <a:rPr sz="800" err="1"/>
                        <a:t>Oncológica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40244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Ginecología</a:t>
                      </a:r>
                      <a:r>
                        <a:rPr sz="800"/>
                        <a:t> y </a:t>
                      </a:r>
                      <a:r>
                        <a:rPr sz="800" err="1"/>
                        <a:t>Obstetricia</a:t>
                      </a:r>
                      <a:endParaRPr sz="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76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10359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Hematología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121043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Hematología</a:t>
                      </a:r>
                      <a:r>
                        <a:rPr sz="800"/>
                        <a:t> </a:t>
                      </a:r>
                      <a:r>
                        <a:rPr sz="800" err="1"/>
                        <a:t>Pediátrica</a:t>
                      </a:r>
                      <a:endParaRPr sz="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450102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Hemodinamia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183178"/>
                  </a:ext>
                </a:extLst>
              </a:tr>
              <a:tr h="219231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Imagenología </a:t>
                      </a:r>
                      <a:r>
                        <a:rPr sz="800" err="1"/>
                        <a:t>Diagnóstico</a:t>
                      </a:r>
                      <a:r>
                        <a:rPr sz="800"/>
                        <a:t> y Terapéutica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27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03324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Infectología</a:t>
                      </a:r>
                      <a:endParaRPr sz="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872847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Infectología</a:t>
                      </a:r>
                      <a:r>
                        <a:rPr sz="800"/>
                        <a:t> </a:t>
                      </a:r>
                      <a:r>
                        <a:rPr sz="800" err="1"/>
                        <a:t>Pediátrica</a:t>
                      </a:r>
                      <a:endParaRPr sz="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4796"/>
                  </a:ext>
                </a:extLst>
              </a:tr>
              <a:tr h="1920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Laboratorio de </a:t>
                      </a:r>
                      <a:r>
                        <a:rPr sz="800" err="1"/>
                        <a:t>Análisis</a:t>
                      </a:r>
                      <a:r>
                        <a:rPr sz="800"/>
                        <a:t> </a:t>
                      </a:r>
                      <a:r>
                        <a:rPr sz="800" err="1"/>
                        <a:t>Clínicos</a:t>
                      </a:r>
                      <a:endParaRPr sz="80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45468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51800" y="1449987"/>
          <a:ext cx="3360602" cy="728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05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Medicina Familiar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95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Medicina Interna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64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Medicina Materno Fetal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Medicina Nuclear e Imagenología Molecular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Medicina de </a:t>
                      </a:r>
                      <a:r>
                        <a:rPr sz="800" err="1"/>
                        <a:t>Rehabilitación</a:t>
                      </a:r>
                      <a:endParaRPr sz="800"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25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Medicina de </a:t>
                      </a:r>
                      <a:r>
                        <a:rPr sz="800" err="1"/>
                        <a:t>Urgencias</a:t>
                      </a:r>
                      <a:endParaRPr sz="8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112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087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Medicina del Enfermo Pediátrico en Estado Crítico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Medicina del Enfermo en Estado </a:t>
                      </a:r>
                      <a:r>
                        <a:rPr sz="800" err="1"/>
                        <a:t>Crítico</a:t>
                      </a:r>
                      <a:endParaRPr sz="8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31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Medicina del Trabajo y Ambiental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Nefrología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Neonatología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Neumología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Neumología </a:t>
                      </a: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Pediátrica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56587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Neurocirugía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295834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Neurofisiología</a:t>
                      </a: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Clínica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71899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Neurología</a:t>
                      </a: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Pediátrica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585625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Oftalmología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28902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Oncología</a:t>
                      </a: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Médica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706098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Oncología</a:t>
                      </a: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Pediátrica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06328"/>
                  </a:ext>
                </a:extLst>
              </a:tr>
              <a:tr h="29708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Otorrinolaringología</a:t>
                      </a: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y Cirugía de Cabeza y Cuello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46694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Patología</a:t>
                      </a: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Clínica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12768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Pediatría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63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43833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Psiquiatría</a:t>
                      </a:r>
                      <a:endParaRPr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71783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Psiquiatría</a:t>
                      </a:r>
                      <a:r>
                        <a:rPr sz="800"/>
                        <a:t> </a:t>
                      </a:r>
                      <a:r>
                        <a:rPr sz="800" err="1"/>
                        <a:t>Infantil</a:t>
                      </a:r>
                      <a:r>
                        <a:rPr sz="800"/>
                        <a:t> y de la </a:t>
                      </a:r>
                      <a:r>
                        <a:rPr sz="800" err="1"/>
                        <a:t>Adolescencia</a:t>
                      </a:r>
                      <a:endParaRPr sz="8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790059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Radioncología</a:t>
                      </a:r>
                      <a:r>
                        <a:rPr sz="800"/>
                        <a:t> Directa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174060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Reumatología</a:t>
                      </a:r>
                      <a:endParaRPr sz="8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913692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 err="1"/>
                        <a:t>Reumatología</a:t>
                      </a:r>
                      <a:r>
                        <a:rPr sz="800"/>
                        <a:t> </a:t>
                      </a:r>
                      <a:r>
                        <a:rPr sz="800" err="1"/>
                        <a:t>Pediátrica</a:t>
                      </a:r>
                      <a:endParaRPr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034418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Terapia</a:t>
                      </a:r>
                      <a:r>
                        <a:t> Endovascular </a:t>
                      </a:r>
                      <a:r>
                        <a:rPr err="1"/>
                        <a:t>Neurológica</a:t>
                      </a:r>
                      <a:endParaRPr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765871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371018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Urología</a:t>
                      </a:r>
                      <a:endParaRPr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15961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Urología</a:t>
                      </a:r>
                      <a:r>
                        <a:t> </a:t>
                      </a:r>
                      <a:r>
                        <a:rPr err="1"/>
                        <a:t>Pediátrica</a:t>
                      </a:r>
                      <a:endParaRPr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607563"/>
                  </a:ext>
                </a:extLst>
              </a:tr>
              <a:tr h="18905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1,274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582865"/>
                  </a:ext>
                </a:extLst>
              </a:tr>
            </a:tbl>
          </a:graphicData>
        </a:graphic>
      </p:graphicFrame>
      <p:graphicFrame>
        <p:nvGraphicFramePr>
          <p:cNvPr id="10" name="Table 6"/>
          <p:cNvGraphicFramePr>
            <a:graphicFrameLocks noGrp="1"/>
          </p:cNvGraphicFramePr>
          <p:nvPr/>
        </p:nvGraphicFramePr>
        <p:xfrm>
          <a:off x="8176510" y="5029200"/>
          <a:ext cx="9468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7"/>
          <p:cNvSpPr txBox="1"/>
          <p:nvPr/>
        </p:nvSpPr>
        <p:spPr>
          <a:xfrm>
            <a:off x="212402" y="9486516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0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Sustitutos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se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integran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a los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Listados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Bolsa de Trabajo, para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cubrir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futuras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vacantes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por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jubilación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renuncia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fallecimiento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etc.,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así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como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ausentismo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programado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no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programado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958" y="696715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Contrataciones</a:t>
            </a: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por </a:t>
            </a: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especialidad</a:t>
            </a:r>
            <a:r>
              <a:rPr kumimoji="0" lang="es-MX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(1 de 2)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63523" y="1112213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9400" y="1393420"/>
          <a:ext cx="3750923" cy="729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err="1"/>
                        <a:t>Especialidad</a:t>
                      </a:r>
                      <a:endParaRPr sz="100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err="1"/>
                        <a:t>Número</a:t>
                      </a:r>
                      <a:endParaRPr sz="100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% </a:t>
                      </a:r>
                      <a:r>
                        <a:rPr sz="1000" err="1"/>
                        <a:t>Acumulado</a:t>
                      </a:r>
                      <a:endParaRPr sz="100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Anestesiología</a:t>
                      </a:r>
                      <a:endParaRPr sz="90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191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10.5%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Cirugía General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167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19.7%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152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28.1%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de </a:t>
                      </a:r>
                      <a:r>
                        <a:rPr sz="900" err="1"/>
                        <a:t>Urgencias</a:t>
                      </a:r>
                      <a:endParaRPr sz="900"/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137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35.7%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Traumatología</a:t>
                      </a:r>
                      <a:r>
                        <a:rPr sz="900"/>
                        <a:t> y </a:t>
                      </a:r>
                      <a:r>
                        <a:rPr sz="900" err="1"/>
                        <a:t>Ortopedia</a:t>
                      </a:r>
                      <a:endParaRPr sz="90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123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42.5%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Interna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112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48.7%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Ginecología</a:t>
                      </a:r>
                      <a:r>
                        <a:rPr sz="900"/>
                        <a:t> y </a:t>
                      </a:r>
                      <a:r>
                        <a:rPr sz="900" err="1"/>
                        <a:t>Obstetricia</a:t>
                      </a:r>
                      <a:endParaRPr sz="90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54.0%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Pediatría</a:t>
                      </a:r>
                      <a:endParaRPr sz="900"/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86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58.8%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8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Imagenología Diagnóstico y Terapéutica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52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61.6%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Oftalmología</a:t>
                      </a:r>
                      <a:endParaRPr sz="900"/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44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64.1%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Cardiología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43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66.5%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48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del Enfermo en Estado </a:t>
                      </a:r>
                      <a:r>
                        <a:rPr sz="900" err="1"/>
                        <a:t>Crítico</a:t>
                      </a:r>
                      <a:endParaRPr sz="900"/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38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68.6%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Geriatría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70.3%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Nefrología</a:t>
                      </a:r>
                      <a:endParaRPr sz="900"/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31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72.0%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Neonatología</a:t>
                      </a:r>
                      <a:endParaRPr sz="900"/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73.5%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Neumología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26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75.0%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de Rehabilitación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26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76.4%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Medicina del Trabajo y Ambiental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23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77.7%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Urología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78.9%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Cirugía </a:t>
                      </a: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Plástica</a:t>
                      </a: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y </a:t>
                      </a: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Reconstructiva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20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80.0%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Anatomía</a:t>
                      </a: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Patológica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81.1%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Cirugía </a:t>
                      </a: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Oncológica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17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82.0%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Psiquiatría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83.0%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35486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Otorrinolaringología</a:t>
                      </a: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y Cirugía de Cabeza y Cuello</a:t>
                      </a:r>
                    </a:p>
                  </a:txBody>
                  <a:tcPr marL="45720" marR="4572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16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83.9%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Hematología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84.7%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Neurocirugía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14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85.5%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994021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Epidemiología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86.2%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506970"/>
                  </a:ext>
                </a:extLst>
              </a:tr>
              <a:tr h="2217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 err="1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Hemodinamia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13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86.9%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43096"/>
                  </a:ext>
                </a:extLst>
              </a:tr>
            </a:tbl>
          </a:graphicData>
        </a:graphic>
      </p:graphicFrame>
      <p:graphicFrame>
        <p:nvGraphicFramePr>
          <p:cNvPr id="7" name="Table 4"/>
          <p:cNvGraphicFramePr>
            <a:graphicFrameLocks noGrp="1"/>
          </p:cNvGraphicFramePr>
          <p:nvPr/>
        </p:nvGraphicFramePr>
        <p:xfrm>
          <a:off x="4026553" y="1393418"/>
          <a:ext cx="3670247" cy="7179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41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err="1"/>
                        <a:t>Especialidad</a:t>
                      </a:r>
                      <a:endParaRPr sz="100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err="1"/>
                        <a:t>Número</a:t>
                      </a:r>
                      <a:endParaRPr sz="100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% </a:t>
                      </a:r>
                      <a:r>
                        <a:rPr sz="1000" err="1"/>
                        <a:t>Acumulado</a:t>
                      </a:r>
                      <a:endParaRPr sz="100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8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Genética</a:t>
                      </a:r>
                      <a:r>
                        <a:rPr sz="900"/>
                        <a:t> Médica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87.5%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067127"/>
                  </a:ext>
                </a:extLst>
              </a:tr>
              <a:tr h="41662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del Enfermo </a:t>
                      </a:r>
                      <a:r>
                        <a:rPr sz="900" err="1"/>
                        <a:t>Pediátrico</a:t>
                      </a:r>
                      <a:r>
                        <a:rPr sz="900"/>
                        <a:t> en Estado </a:t>
                      </a:r>
                      <a:r>
                        <a:rPr sz="900" err="1"/>
                        <a:t>Crítico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11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88.1%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245983"/>
                  </a:ext>
                </a:extLst>
              </a:tr>
              <a:tr h="26038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Oncología</a:t>
                      </a:r>
                      <a:r>
                        <a:rPr sz="900"/>
                        <a:t> Médica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10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88.7%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922646"/>
                  </a:ext>
                </a:extLst>
              </a:tr>
              <a:tr h="26038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Anestesiología</a:t>
                      </a:r>
                      <a:r>
                        <a:rPr sz="900"/>
                        <a:t> </a:t>
                      </a:r>
                      <a:r>
                        <a:rPr sz="900" err="1"/>
                        <a:t>Pediátrica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10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89.2%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280612"/>
                  </a:ext>
                </a:extLst>
              </a:tr>
              <a:tr h="26038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Cirugía </a:t>
                      </a:r>
                      <a:r>
                        <a:rPr sz="900" err="1"/>
                        <a:t>Pediátrica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10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89.8%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54260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Cirugía </a:t>
                      </a:r>
                      <a:r>
                        <a:rPr sz="900" err="1"/>
                        <a:t>Cardiotorácica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10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90.3%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Calidad de la Atención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90.8%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Cardiología</a:t>
                      </a:r>
                      <a:r>
                        <a:rPr sz="900"/>
                        <a:t> </a:t>
                      </a:r>
                      <a:r>
                        <a:rPr sz="900" err="1"/>
                        <a:t>Pediátrica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91.3%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134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Nuclear e Imagenología Molecular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91.8%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Gastroenterología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92.3%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Infectología</a:t>
                      </a:r>
                      <a:endParaRPr sz="9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92.7%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Endocrinología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8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93.2%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Coloproctología</a:t>
                      </a:r>
                      <a:endParaRPr sz="9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93.5%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Reumatología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93.9%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Endoscopia</a:t>
                      </a:r>
                      <a:endParaRPr sz="9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94.3%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Medicina Materno Fetal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94.6%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Alergia</a:t>
                      </a:r>
                      <a:r>
                        <a:rPr sz="900"/>
                        <a:t> e </a:t>
                      </a:r>
                      <a:r>
                        <a:rPr sz="900" err="1"/>
                        <a:t>Inmunología</a:t>
                      </a:r>
                      <a:r>
                        <a:rPr sz="900"/>
                        <a:t>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95.0%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Neurología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95.3%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Radioncología</a:t>
                      </a:r>
                      <a:r>
                        <a:rPr sz="900"/>
                        <a:t> Directa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95.6%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45134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Audiología</a:t>
                      </a:r>
                      <a:r>
                        <a:rPr sz="900"/>
                        <a:t> Otoneurología y </a:t>
                      </a:r>
                      <a:r>
                        <a:rPr sz="900" err="1"/>
                        <a:t>Foniatría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96.0%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Oncología</a:t>
                      </a:r>
                      <a:r>
                        <a:rPr sz="900"/>
                        <a:t> </a:t>
                      </a:r>
                      <a:r>
                        <a:rPr sz="900" err="1"/>
                        <a:t>Pediátrica</a:t>
                      </a:r>
                      <a:endParaRPr sz="9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96.3%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45134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 err="1"/>
                        <a:t>Terapia</a:t>
                      </a:r>
                      <a:r>
                        <a:rPr sz="900"/>
                        <a:t> Endovascular </a:t>
                      </a:r>
                      <a:r>
                        <a:rPr sz="900" err="1"/>
                        <a:t>Neurológica</a:t>
                      </a:r>
                      <a:endParaRPr sz="9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5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00"/>
                        <a:t>96.6%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431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860702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Contrataciones</a:t>
            </a: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por </a:t>
            </a:r>
            <a:r>
              <a:rPr kumimoji="0" sz="21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especialidad</a:t>
            </a:r>
            <a:r>
              <a:rPr kumimoji="0" lang="es-MX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(2 de 2)</a:t>
            </a:r>
            <a:endParaRPr kumimoji="0" sz="21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73798" y="1540798"/>
          <a:ext cx="4797909" cy="649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1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err="1"/>
                        <a:t>Especialidad</a:t>
                      </a:r>
                      <a:endParaRPr sz="100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Número</a:t>
                      </a:r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% </a:t>
                      </a:r>
                      <a:r>
                        <a:rPr sz="1000" err="1"/>
                        <a:t>Acumulado</a:t>
                      </a:r>
                      <a:endParaRPr sz="100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Hematología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Pediátrica</a:t>
                      </a:r>
                      <a:endParaRPr sz="10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96.9%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Servicios de Sangre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97.1%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84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Gastroenterología</a:t>
                      </a:r>
                      <a:r>
                        <a:rPr sz="1000"/>
                        <a:t> y Nutrición </a:t>
                      </a:r>
                      <a:r>
                        <a:rPr sz="1000" err="1"/>
                        <a:t>Pediátrica</a:t>
                      </a:r>
                      <a:endParaRPr sz="100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97.4%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Psiquiatría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Infantil</a:t>
                      </a:r>
                      <a:r>
                        <a:rPr sz="1000"/>
                        <a:t> y de la </a:t>
                      </a:r>
                      <a:r>
                        <a:rPr sz="1000" err="1"/>
                        <a:t>Adolescencia</a:t>
                      </a:r>
                      <a:endParaRPr sz="10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97.6%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Patología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97.8%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Medicina </a:t>
                      </a:r>
                      <a:r>
                        <a:rPr sz="1000" err="1"/>
                        <a:t>Paliativa</a:t>
                      </a:r>
                      <a:r>
                        <a:rPr sz="1000"/>
                        <a:t> y del Dolor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98.1%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Dermatología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Neurología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Pediátrica</a:t>
                      </a:r>
                      <a:endParaRPr sz="10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4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98.5%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Biología de la Reproducción Humana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Neumología </a:t>
                      </a:r>
                      <a:r>
                        <a:rPr sz="1000" err="1"/>
                        <a:t>Pediátrica</a:t>
                      </a:r>
                      <a:endParaRPr sz="10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98.8%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Ginecología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Laboratorio de </a:t>
                      </a:r>
                      <a:r>
                        <a:rPr sz="1000" err="1"/>
                        <a:t>Análisis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Clínicos</a:t>
                      </a:r>
                      <a:endParaRPr sz="10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3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99.2%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Neurocirugía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Angiología y Cirugía Vascular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99.4%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Neurofisiología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Infectología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Pediátrica</a:t>
                      </a:r>
                      <a:endParaRPr sz="10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99.6%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584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Alergia e Inmunología Clínica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Endocrinología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Pediátrica</a:t>
                      </a:r>
                      <a:endParaRPr sz="10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99.7%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Patología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Reumatología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Pediátrica</a:t>
                      </a:r>
                      <a:endParaRPr sz="10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99.8%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Urgencias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err="1"/>
                        <a:t>Urología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Pediátrica</a:t>
                      </a:r>
                      <a:endParaRPr sz="1000"/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/>
                        <a:t>99.9%</a:t>
                      </a:r>
                    </a:p>
                  </a:txBody>
                  <a:tcPr marL="45720" marR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051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sz="1000"/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sz="1000"/>
                        <a:t>1,809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sz="1000"/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1809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93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1274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353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Biología de la Reproducción Humana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Sustitución</a:t>
                      </a:r>
                      <a:r>
                        <a:t> 8 (</a:t>
                      </a:r>
                      <a:r>
                        <a:rPr err="1"/>
                        <a:t>Parte</a:t>
                      </a:r>
                      <a:r>
                        <a:t>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29785"/>
              </p:ext>
            </p:extLst>
          </p:nvPr>
        </p:nvGraphicFramePr>
        <p:xfrm>
          <a:off x="430200" y="5507039"/>
          <a:ext cx="3456000" cy="393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Laboratorio de Análisis Clínicos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Nuclear e Imagenología Molecular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5745599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4)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Neurofisiología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34343BA-0DD0-D92A-06B5-17BBF62EA3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0848540"/>
              </p:ext>
            </p:extLst>
          </p:nvPr>
        </p:nvGraphicFramePr>
        <p:xfrm>
          <a:off x="176400" y="829380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22820" y="4268026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información: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701574"/>
              </p:ext>
            </p:extLst>
          </p:nvPr>
        </p:nvGraphicFramePr>
        <p:xfrm>
          <a:off x="140401" y="1581700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2,555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18,973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419230"/>
              </p:ext>
            </p:extLst>
          </p:nvPr>
        </p:nvGraphicFramePr>
        <p:xfrm>
          <a:off x="3886200" y="158170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4,805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5817DF63-42FC-4FDB-A798-8FE5E41CB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12" y="5326093"/>
            <a:ext cx="7772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E3832B-7139-9420-5080-E777C49E59BE}"/>
              </a:ext>
            </a:extLst>
          </p:cNvPr>
          <p:cNvSpPr txBox="1"/>
          <p:nvPr/>
        </p:nvSpPr>
        <p:spPr>
          <a:xfrm>
            <a:off x="158912" y="5489087"/>
            <a:ext cx="38862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100" b="1" i="0" u="none" strike="noStrike">
                <a:solidFill>
                  <a:srgbClr val="BC955C"/>
                </a:solidFill>
                <a:effectLst/>
                <a:latin typeface="Montserrat" panose="00000500000000000000" pitchFamily="2" charset="0"/>
              </a:rPr>
              <a:t>Vive saludable, Vive feliz</a:t>
            </a:r>
            <a:endParaRPr lang="es-MX" sz="2100"/>
          </a:p>
        </p:txBody>
      </p:sp>
      <p:cxnSp>
        <p:nvCxnSpPr>
          <p:cNvPr id="13" name="Connector 4">
            <a:extLst>
              <a:ext uri="{FF2B5EF4-FFF2-40B4-BE49-F238E27FC236}">
                <a16:creationId xmlns:a16="http://schemas.microsoft.com/office/drawing/2014/main" id="{758B9518-F70C-3F60-1632-214B1A2E9096}"/>
              </a:ext>
            </a:extLst>
          </p:cNvPr>
          <p:cNvCxnSpPr/>
          <p:nvPr/>
        </p:nvCxnSpPr>
        <p:spPr>
          <a:xfrm>
            <a:off x="140401" y="5904585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1">
            <a:extLst>
              <a:ext uri="{FF2B5EF4-FFF2-40B4-BE49-F238E27FC236}">
                <a16:creationId xmlns:a16="http://schemas.microsoft.com/office/drawing/2014/main" id="{C7337B7A-212D-B3B5-A699-C19D33631A34}"/>
              </a:ext>
            </a:extLst>
          </p:cNvPr>
          <p:cNvSpPr txBox="1"/>
          <p:nvPr/>
        </p:nvSpPr>
        <p:spPr>
          <a:xfrm>
            <a:off x="402058" y="8554832"/>
            <a:ext cx="1841269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36,521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5" name="CuadroTexto 12">
            <a:extLst>
              <a:ext uri="{FF2B5EF4-FFF2-40B4-BE49-F238E27FC236}">
                <a16:creationId xmlns:a16="http://schemas.microsoft.com/office/drawing/2014/main" id="{D39B8AE7-2B68-102A-9790-BC43DA87E0BA}"/>
              </a:ext>
            </a:extLst>
          </p:cNvPr>
          <p:cNvSpPr txBox="1"/>
          <p:nvPr/>
        </p:nvSpPr>
        <p:spPr>
          <a:xfrm>
            <a:off x="3128633" y="8554832"/>
            <a:ext cx="1832957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27,311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6" name="CuadroTexto 13">
            <a:extLst>
              <a:ext uri="{FF2B5EF4-FFF2-40B4-BE49-F238E27FC236}">
                <a16:creationId xmlns:a16="http://schemas.microsoft.com/office/drawing/2014/main" id="{0CA80B35-80C1-DA1F-F270-60FF424C9C7A}"/>
              </a:ext>
            </a:extLst>
          </p:cNvPr>
          <p:cNvSpPr txBox="1"/>
          <p:nvPr/>
        </p:nvSpPr>
        <p:spPr>
          <a:xfrm>
            <a:off x="5422945" y="8554832"/>
            <a:ext cx="1841269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20,590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88B8B16C-35EA-1111-DE9F-237EFDE35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574" y="7941769"/>
            <a:ext cx="730135" cy="669175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92D554A5-CDF3-2810-7480-7228BFF3A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575" y="8088800"/>
            <a:ext cx="924445" cy="491944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B1F1C8B1-8B70-F629-6EC5-A3E8435B3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09" y="7923758"/>
            <a:ext cx="603366" cy="713510"/>
          </a:xfrm>
          <a:prstGeom prst="rect">
            <a:avLst/>
          </a:prstGeom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D5BBB340-AD7D-F4A7-C5CA-374D05536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62389"/>
              </p:ext>
            </p:extLst>
          </p:nvPr>
        </p:nvGraphicFramePr>
        <p:xfrm>
          <a:off x="655801" y="5981481"/>
          <a:ext cx="6324600" cy="803530"/>
        </p:xfrm>
        <a:graphic>
          <a:graphicData uri="http://schemas.openxmlformats.org/drawingml/2006/table">
            <a:tbl>
              <a:tblPr/>
              <a:tblGrid>
                <a:gridCol w="2390775">
                  <a:extLst>
                    <a:ext uri="{9D8B030D-6E8A-4147-A177-3AD203B41FA5}">
                      <a16:colId xmlns:a16="http://schemas.microsoft.com/office/drawing/2014/main" val="1538747884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40670302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657116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180522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de Escuelas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Escuelas visitadas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Población 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Menores tamizados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0147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2,071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1,915</a:t>
                      </a:r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649,289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400,984</a:t>
                      </a:r>
                      <a:r>
                        <a:rPr lang="es-E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981682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0693C68D-39EA-2D19-779B-9008D4AF7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001511"/>
              </p:ext>
            </p:extLst>
          </p:nvPr>
        </p:nvGraphicFramePr>
        <p:xfrm>
          <a:off x="1932150" y="6871904"/>
          <a:ext cx="3695700" cy="1019430"/>
        </p:xfrm>
        <a:graphic>
          <a:graphicData uri="http://schemas.openxmlformats.org/drawingml/2006/table">
            <a:tbl>
              <a:tblPr/>
              <a:tblGrid>
                <a:gridCol w="2390775">
                  <a:extLst>
                    <a:ext uri="{9D8B030D-6E8A-4147-A177-3AD203B41FA5}">
                      <a16:colId xmlns:a16="http://schemas.microsoft.com/office/drawing/2014/main" val="3494300990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71335103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Brigadas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Personal de enfermería IMSS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62764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8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010144"/>
                  </a:ext>
                </a:extLst>
              </a:tr>
            </a:tbl>
          </a:graphicData>
        </a:graphic>
      </p:graphicFrame>
      <p:sp>
        <p:nvSpPr>
          <p:cNvPr id="22" name="Rectangle 2">
            <a:extLst>
              <a:ext uri="{FF2B5EF4-FFF2-40B4-BE49-F238E27FC236}">
                <a16:creationId xmlns:a16="http://schemas.microsoft.com/office/drawing/2014/main" id="{D03D5B48-FA9C-00C5-F7CA-A55AF9E6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150" y="6768555"/>
            <a:ext cx="7772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31">
            <a:extLst>
              <a:ext uri="{FF2B5EF4-FFF2-40B4-BE49-F238E27FC236}">
                <a16:creationId xmlns:a16="http://schemas.microsoft.com/office/drawing/2014/main" id="{A34685C7-1BB0-4116-037D-5175D8535211}"/>
              </a:ext>
            </a:extLst>
          </p:cNvPr>
          <p:cNvSpPr txBox="1"/>
          <p:nvPr/>
        </p:nvSpPr>
        <p:spPr>
          <a:xfrm>
            <a:off x="303450" y="9577175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Corte de información: </a:t>
            </a:r>
            <a:r>
              <a:rPr lang="es-MX">
                <a:solidFill>
                  <a:schemeClr val="bg1"/>
                </a:solidFill>
              </a:rPr>
              <a:t>18</a:t>
            </a:r>
            <a:r>
              <a:rPr>
                <a:solidFill>
                  <a:schemeClr val="bg1"/>
                </a:solidFill>
              </a:rPr>
              <a:t> </a:t>
            </a:r>
            <a:r>
              <a:rPr lang="es-MX">
                <a:solidFill>
                  <a:schemeClr val="bg1"/>
                </a:solidFill>
              </a:rPr>
              <a:t>junio</a:t>
            </a:r>
            <a:r>
              <a:rPr>
                <a:solidFill>
                  <a:schemeClr val="bg1"/>
                </a:solidFill>
              </a:rPr>
              <a:t> 2026</a:t>
            </a:r>
          </a:p>
        </p:txBody>
      </p:sp>
      <p:sp>
        <p:nvSpPr>
          <p:cNvPr id="24" name="TextBox 231">
            <a:extLst>
              <a:ext uri="{FF2B5EF4-FFF2-40B4-BE49-F238E27FC236}">
                <a16:creationId xmlns:a16="http://schemas.microsoft.com/office/drawing/2014/main" id="{EDBF8802-5F3F-D7B4-316D-0EB477FB845E}"/>
              </a:ext>
            </a:extLst>
          </p:cNvPr>
          <p:cNvSpPr txBox="1"/>
          <p:nvPr/>
        </p:nvSpPr>
        <p:spPr>
          <a:xfrm>
            <a:off x="303450" y="972875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>
                <a:solidFill>
                  <a:schemeClr val="bg1"/>
                </a:solidFill>
              </a:rPr>
              <a:t>En cada brigada participan 5 personas del IMSS.</a:t>
            </a: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109,906	 Personal de Salud: 62,181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+245.4%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9,324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11,980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20,461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21,874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15,853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17,333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+46.2%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3,320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4,855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-4.3%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5,986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5,728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1,080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1,580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958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4,208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48,891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38432" y="6825600"/>
            <a:ext cx="64953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2,6</a:t>
            </a:r>
            <a:r>
              <a:rPr lang="es-MX"/>
              <a:t>28</a:t>
            </a:r>
            <a:endParaRPr/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739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6029394" y="6825600"/>
            <a:ext cx="47641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88</a:t>
            </a:r>
            <a:r>
              <a:rPr lang="es-MX"/>
              <a:t>1</a:t>
            </a: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1261162" y="7880400"/>
            <a:ext cx="72487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rPr lang="es-MX"/>
              <a:t>21,689</a:t>
            </a:r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4,642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077563" y="8690400"/>
            <a:ext cx="15776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rPr lang="es-MX"/>
              <a:t>77,865</a:t>
            </a:r>
            <a:endParaRPr/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29345"/>
              </p:ext>
            </p:extLst>
          </p:nvPr>
        </p:nvGraphicFramePr>
        <p:xfrm>
          <a:off x="219600" y="1548000"/>
          <a:ext cx="7567200" cy="34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</a:t>
                      </a:r>
                      <a:r>
                        <a:rPr sz="900" b="0" err="1">
                          <a:latin typeface="Montserrat"/>
                        </a:rPr>
                        <a:t>corazón</a:t>
                      </a:r>
                      <a:r>
                        <a:rPr sz="900" b="0">
                          <a:latin typeface="Montserrat"/>
                        </a:rPr>
                        <a:t>
(579,281)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(201,518)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(6,823)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(14,660)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(1,081)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(552,314)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(79,776)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(6,814)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(10,619)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(778)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(171,458)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(68,793)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(5,857)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(8,073)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(751)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latin typeface="Montserrat"/>
                        </a:rPr>
                        <a:t>T</a:t>
                      </a:r>
                      <a:r>
                        <a:rPr sz="900" b="0" err="1">
                          <a:latin typeface="Montserrat"/>
                        </a:rPr>
                        <a:t>raumatismos</a:t>
                      </a:r>
                      <a:r>
                        <a:rPr sz="900" b="0">
                          <a:latin typeface="Montserrat"/>
                        </a:rPr>
                        <a:t> e </a:t>
                      </a:r>
                      <a:r>
                        <a:rPr sz="900" b="0" err="1">
                          <a:latin typeface="Montserrat"/>
                        </a:rPr>
                        <a:t>intoxicaciones</a:t>
                      </a:r>
                      <a:r>
                        <a:rPr sz="900" b="0">
                          <a:latin typeface="Montserrat"/>
                        </a:rPr>
                        <a:t>
(128,783)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(53,642)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(4,914)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(5,486)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(452)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(119,678)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(49,653)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(4,374)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(5,254)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Insuficiencia</a:t>
                      </a:r>
                      <a:r>
                        <a:rPr sz="900" b="0">
                          <a:latin typeface="Montserrat"/>
                        </a:rPr>
                        <a:t> renal
(323)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360000" y="5277627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</a:t>
            </a:r>
            <a:r>
              <a:rPr err="1"/>
              <a:t>número</a:t>
            </a:r>
            <a:r>
              <a:t> de </a:t>
            </a:r>
            <a:r>
              <a:rPr err="1"/>
              <a:t>casos</a:t>
            </a:r>
            <a:r>
              <a:t> se </a:t>
            </a:r>
            <a:r>
              <a:rPr err="1"/>
              <a:t>presentan</a:t>
            </a:r>
            <a:r>
              <a:t> entre </a:t>
            </a:r>
            <a:r>
              <a:rPr err="1"/>
              <a:t>paréntesis</a:t>
            </a:r>
            <a:r>
              <a:t>.</a:t>
            </a:r>
            <a:br>
              <a:rPr/>
            </a:br>
            <a:r>
              <a:t>Fuente: IMSS/DPM/División de Información en Salud/</a:t>
            </a:r>
            <a:r>
              <a:rPr err="1"/>
              <a:t>Motivos</a:t>
            </a:r>
            <a:r>
              <a:t> de Consulta Externa (SUI27).</a:t>
            </a:r>
            <a:br>
              <a:rPr/>
            </a:br>
            <a:r>
              <a:t>Sistema de información Médico </a:t>
            </a:r>
            <a:r>
              <a:rPr err="1"/>
              <a:t>Operativo</a:t>
            </a:r>
            <a:r>
              <a:t> Central (SIMOC).</a:t>
            </a:r>
            <a:br>
              <a:rPr/>
            </a:br>
            <a:r>
              <a:rPr err="1"/>
              <a:t>Periodo</a:t>
            </a:r>
            <a:r>
              <a:t>: enero-</a:t>
            </a:r>
            <a:r>
              <a:rPr err="1"/>
              <a:t>diciembre</a:t>
            </a:r>
            <a:r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557360"/>
            <a:ext cx="7347600" cy="43405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89777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Recetas</a:t>
            </a:r>
            <a:r>
              <a:t> </a:t>
            </a:r>
            <a:r>
              <a:rPr err="1"/>
              <a:t>manuales</a:t>
            </a:r>
            <a:r>
              <a:t> y </a:t>
            </a:r>
            <a:r>
              <a:rPr err="1"/>
              <a:t>electrónicas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74320" y="66522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348391"/>
              </p:ext>
            </p:extLst>
          </p:nvPr>
        </p:nvGraphicFramePr>
        <p:xfrm>
          <a:off x="457200" y="6944158"/>
          <a:ext cx="6858000" cy="1422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1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1,109,434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10,417,587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11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810,163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10,122,469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92AE5-9C6B-24AB-648B-A98D00A1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799"/>
            <a:ext cx="7441200" cy="27029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43157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29600" y="48182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766232"/>
              </p:ext>
            </p:extLst>
          </p:nvPr>
        </p:nvGraphicFramePr>
        <p:xfrm>
          <a:off x="0" y="5320800"/>
          <a:ext cx="7200000" cy="317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041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50"/>
                        <a:t>Con mayor </a:t>
                      </a:r>
                      <a:r>
                        <a:rPr sz="1050" err="1"/>
                        <a:t>demanda</a:t>
                      </a:r>
                      <a:r>
                        <a:rPr sz="1050"/>
                        <a:t> de enero a </a:t>
                      </a:r>
                      <a:r>
                        <a:rPr lang="es-MX" sz="1050"/>
                        <a:t> mayo</a:t>
                      </a:r>
                      <a:r>
                        <a:rPr sz="105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68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1,356,132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1,031,315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688,286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638,816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628,835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550,589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539,973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520,627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500,463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27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sz="1000"/>
                        <a:t>481,160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enero al </a:t>
            </a:r>
            <a:r>
              <a:rPr lang="es-MX"/>
              <a:t> 31 de mayo </a:t>
            </a:r>
            <a:r>
              <a:t>de 2026.</a:t>
            </a:r>
          </a:p>
        </p:txBody>
      </p:sp>
    </p:spTree>
    <p:extLst>
      <p:ext uri="{BB962C8B-B14F-4D97-AF65-F5344CB8AC3E}">
        <p14:creationId xmlns:p14="http://schemas.microsoft.com/office/powerpoint/2010/main" val="929027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Aceleradores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Lineales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Salas de 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261989"/>
              </p:ext>
            </p:extLst>
          </p:nvPr>
        </p:nvGraphicFramePr>
        <p:xfrm>
          <a:off x="1785600" y="1584002"/>
          <a:ext cx="5295600" cy="2487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9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de 180 camas, Zaragoza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$2,437.6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2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Construcción</a:t>
                      </a:r>
                      <a:r>
                        <a:rPr sz="1000">
                          <a:latin typeface="Montserrat"/>
                        </a:rPr>
                        <a:t> del Inmueble de </a:t>
                      </a:r>
                      <a:r>
                        <a:rPr sz="1000" err="1">
                          <a:latin typeface="Montserrat"/>
                        </a:rPr>
                        <a:t>Sustitución</a:t>
                      </a:r>
                      <a:r>
                        <a:rPr sz="1000">
                          <a:latin typeface="Montserrat"/>
                        </a:rPr>
                        <a:t> de la Central de Servicios del Centro Médico Nacional La Raza.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$639.2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2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Ampliación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remodelación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quirófanos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Postquirúrgica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Cardiología</a:t>
                      </a:r>
                      <a:r>
                        <a:rPr sz="1000">
                          <a:latin typeface="Montserrat"/>
                        </a:rPr>
                        <a:t> “Siglo XXI”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$375.9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2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Ampliación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remodelación</a:t>
                      </a:r>
                      <a:r>
                        <a:rPr sz="1000">
                          <a:latin typeface="Montserrat"/>
                        </a:rPr>
                        <a:t> de salas de </a:t>
                      </a:r>
                      <a:r>
                        <a:rPr sz="1000" err="1">
                          <a:latin typeface="Montserrat"/>
                        </a:rPr>
                        <a:t>quirúrgicas</a:t>
                      </a:r>
                      <a:r>
                        <a:rPr sz="1000">
                          <a:latin typeface="Montserrat"/>
                        </a:rPr>
                        <a:t> en HGR No. 2, Villa </a:t>
                      </a:r>
                      <a:r>
                        <a:rPr sz="1000" err="1">
                          <a:latin typeface="Montserrat"/>
                        </a:rPr>
                        <a:t>Coapa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$285.8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2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</a:t>
                      </a:r>
                      <a:r>
                        <a:rPr sz="1000" err="1">
                          <a:latin typeface="Montserrat"/>
                        </a:rPr>
                        <a:t>Hemodinamia</a:t>
                      </a:r>
                      <a:r>
                        <a:rPr sz="1000">
                          <a:latin typeface="Montserrat"/>
                        </a:rPr>
                        <a:t> en el HGZ No. 1, Carlos Mc Gregor, Ciudad de México Sur.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$46.0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9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Sustitución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mobiliario</a:t>
                      </a:r>
                      <a:r>
                        <a:rPr sz="1000">
                          <a:latin typeface="Montserrat"/>
                        </a:rPr>
                        <a:t> de la Unidad de </a:t>
                      </a:r>
                      <a:r>
                        <a:rPr sz="1000" err="1">
                          <a:latin typeface="Montserrat"/>
                        </a:rPr>
                        <a:t>Congresos</a:t>
                      </a:r>
                      <a:r>
                        <a:rPr sz="1000">
                          <a:latin typeface="Montserrat"/>
                        </a:rPr>
                        <a:t> CMN SXXI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$5.2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9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</a:t>
                      </a:r>
                      <a:r>
                        <a:rPr sz="1000" err="1">
                          <a:latin typeface="Montserrat"/>
                        </a:rPr>
                        <a:t>Hemodinamia</a:t>
                      </a:r>
                      <a:r>
                        <a:rPr sz="1000">
                          <a:latin typeface="Montserrat"/>
                        </a:rPr>
                        <a:t> en el HC CMN Siglo XXI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$1.0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9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$3,790.7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271682"/>
              </p:ext>
            </p:extLst>
          </p:nvPr>
        </p:nvGraphicFramePr>
        <p:xfrm>
          <a:off x="1785600" y="4161077"/>
          <a:ext cx="5295600" cy="2915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8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2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$3,956.6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en 12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Ciudad de México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$668.7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en 50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Ciudad de México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$328.6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Atención Médica </a:t>
                      </a:r>
                      <a:r>
                        <a:rPr sz="1000" err="1">
                          <a:latin typeface="Montserrat"/>
                        </a:rPr>
                        <a:t>Contínua</a:t>
                      </a:r>
                      <a:r>
                        <a:rPr sz="1000">
                          <a:latin typeface="Montserrat"/>
                        </a:rPr>
                        <a:t> en 16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Ciudad de México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$78.7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en 2 </a:t>
                      </a:r>
                      <a:r>
                        <a:rPr sz="1000" err="1">
                          <a:latin typeface="Montserrat"/>
                        </a:rPr>
                        <a:t>subdelegaciones</a:t>
                      </a:r>
                      <a:r>
                        <a:rPr sz="1000">
                          <a:latin typeface="Montserrat"/>
                        </a:rPr>
                        <a:t> No. 9 y No. 10, Ciudad de México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$65.4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salud</a:t>
                      </a:r>
                      <a:r>
                        <a:rPr sz="1000">
                          <a:latin typeface="Montserrat"/>
                        </a:rPr>
                        <a:t> mental en 21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Ciudad de México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$42.7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97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 interna en 4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(H. de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 CMN Siglo XXI, Hospital de </a:t>
                      </a:r>
                      <a:r>
                        <a:rPr sz="1000" err="1">
                          <a:latin typeface="Montserrat"/>
                        </a:rPr>
                        <a:t>Ortopedia</a:t>
                      </a:r>
                      <a:r>
                        <a:rPr sz="1000">
                          <a:latin typeface="Montserrat"/>
                        </a:rPr>
                        <a:t>, Hospital de </a:t>
                      </a:r>
                      <a:r>
                        <a:rPr sz="1000" err="1">
                          <a:latin typeface="Montserrat"/>
                        </a:rPr>
                        <a:t>Traumatología</a:t>
                      </a:r>
                      <a:r>
                        <a:rPr sz="1000">
                          <a:latin typeface="Montserrat"/>
                        </a:rPr>
                        <a:t>, Hospital General del CMN La Raza)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$34.0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accesibilidad</a:t>
                      </a:r>
                      <a:r>
                        <a:rPr sz="1000">
                          <a:latin typeface="Montserrat"/>
                        </a:rPr>
                        <a:t> (</a:t>
                      </a:r>
                      <a:r>
                        <a:rPr sz="1000" err="1">
                          <a:latin typeface="Montserrat"/>
                        </a:rPr>
                        <a:t>rampas</a:t>
                      </a:r>
                      <a:r>
                        <a:rPr sz="1000">
                          <a:latin typeface="Montserrat"/>
                        </a:rPr>
                        <a:t>) en 30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Ciudad de México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$26.1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2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$5,200.8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860932"/>
              </p:ext>
            </p:extLst>
          </p:nvPr>
        </p:nvGraphicFramePr>
        <p:xfrm>
          <a:off x="1785600" y="7110833"/>
          <a:ext cx="5295600" cy="1581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60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Equipo Médico 2025, </a:t>
                      </a:r>
                      <a:r>
                        <a:rPr sz="1000" err="1"/>
                        <a:t>Instalación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7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65 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6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horizontales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9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1 barrera de </a:t>
                      </a:r>
                      <a:r>
                        <a:rPr sz="1000" err="1">
                          <a:latin typeface="Montserrat"/>
                        </a:rPr>
                        <a:t>cristal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plomo</a:t>
                      </a:r>
                      <a:r>
                        <a:rPr sz="1000">
                          <a:latin typeface="Montserrat"/>
                        </a:rPr>
                        <a:t>, 5 </a:t>
                      </a:r>
                      <a:r>
                        <a:rPr sz="1000" err="1">
                          <a:latin typeface="Montserrat"/>
                        </a:rPr>
                        <a:t>monitores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signos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vitales</a:t>
                      </a:r>
                      <a:r>
                        <a:rPr sz="1000">
                          <a:latin typeface="Montserrat"/>
                        </a:rPr>
                        <a:t> para el </a:t>
                      </a:r>
                      <a:r>
                        <a:rPr sz="1000" err="1">
                          <a:latin typeface="Montserrat"/>
                        </a:rPr>
                        <a:t>traslado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paciente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5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anestesia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básica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3 </a:t>
                      </a:r>
                      <a:r>
                        <a:rPr sz="1000" err="1">
                          <a:latin typeface="Montserrat"/>
                        </a:rPr>
                        <a:t>calibradores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dósis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radioisótopos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cofre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plomo</a:t>
                      </a:r>
                      <a:r>
                        <a:rPr sz="1000">
                          <a:latin typeface="Montserrat"/>
                        </a:rPr>
                        <a:t>, 3 </a:t>
                      </a:r>
                      <a:r>
                        <a:rPr sz="1000" err="1">
                          <a:latin typeface="Montserrat"/>
                        </a:rPr>
                        <a:t>monitores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radiación</a:t>
                      </a:r>
                      <a:r>
                        <a:rPr sz="1000">
                          <a:latin typeface="Montserrat"/>
                        </a:rPr>
                        <a:t> de pared, 2 </a:t>
                      </a:r>
                      <a:r>
                        <a:rPr sz="1000" err="1">
                          <a:latin typeface="Montserrat"/>
                        </a:rPr>
                        <a:t>aceleradores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lineales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angiógr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$690.6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037158"/>
              </p:ext>
            </p:extLst>
          </p:nvPr>
        </p:nvGraphicFramePr>
        <p:xfrm>
          <a:off x="1785600" y="8726557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$232.6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9,914.7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662609"/>
            <a:ext cx="1599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58762" y="162822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Construcción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54" y="200163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177905" y="205634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Salas de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err="1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Hemodiálisis</a:t>
            </a:r>
            <a:endParaRPr kumimoji="0" lang="en-US" sz="700" b="1" i="0" u="none" strike="noStrike" kern="0" cap="none" spc="0" normalizeH="0" baseline="0" noProof="0">
              <a:ln>
                <a:noFill/>
              </a:ln>
              <a:solidFill>
                <a:srgbClr val="A4214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15" y="2959764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177905" y="3020039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Centro de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err="1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Mezclas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CIUDAD DE MÉXICO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984277"/>
              </p:ext>
            </p:extLst>
          </p:nvPr>
        </p:nvGraphicFramePr>
        <p:xfrm>
          <a:off x="1565919" y="1661005"/>
          <a:ext cx="5587662" cy="2354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6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90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$6,132.5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</a:t>
                      </a:r>
                      <a:r>
                        <a:rPr sz="1000" err="1">
                          <a:latin typeface="Montserrat"/>
                        </a:rPr>
                        <a:t>Mezclas</a:t>
                      </a:r>
                      <a:r>
                        <a:rPr sz="1000">
                          <a:latin typeface="Montserrat"/>
                        </a:rPr>
                        <a:t> UMAE Siglo XXI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8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 en </a:t>
                      </a:r>
                      <a:r>
                        <a:rPr sz="1000" err="1">
                          <a:latin typeface="Montserrat"/>
                        </a:rPr>
                        <a:t>AEHos</a:t>
                      </a:r>
                      <a:r>
                        <a:rPr sz="1000">
                          <a:latin typeface="Montserrat"/>
                        </a:rPr>
                        <a:t> del HGZ No. 27, UMF No. 13 Azcapotzalco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</a:t>
                      </a:r>
                      <a:r>
                        <a:rPr lang="es-MX" sz="1000">
                          <a:latin typeface="Montserrat"/>
                        </a:rPr>
                        <a:t>42.1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Ampliación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área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Hemodiálisis</a:t>
                      </a:r>
                      <a:r>
                        <a:rPr sz="1000" dirty="0">
                          <a:latin typeface="Montserrat"/>
                        </a:rPr>
                        <a:t> en HGZ No. 48 San Pedro </a:t>
                      </a:r>
                      <a:r>
                        <a:rPr sz="1000" dirty="0" err="1">
                          <a:latin typeface="Montserrat"/>
                        </a:rPr>
                        <a:t>Xalpa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</a:t>
                      </a:r>
                      <a:r>
                        <a:rPr lang="es-MX" sz="1000" dirty="0">
                          <a:latin typeface="Montserrat"/>
                        </a:rPr>
                        <a:t>12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Remodelación Urgencias HGZ No. 8 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$50.49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748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Adecuación consultorios Consulta Externa HGZ No. 30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$7.65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47332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Sustitución acabados e instalaciones área Hidroterapia UMFR Siglo XXI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$7.79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614732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Rehabilitación de área Terapia ocupacional y Gimnasio de la UMFR Siglo XXI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$8.11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89844"/>
                  </a:ext>
                </a:extLst>
              </a:tr>
              <a:tr h="1859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$6,</a:t>
                      </a:r>
                      <a:r>
                        <a:rPr lang="es-MX" sz="1000" dirty="0"/>
                        <a:t>270.9</a:t>
                      </a:r>
                      <a:endParaRPr sz="1000" dirty="0"/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163206"/>
              </p:ext>
            </p:extLst>
          </p:nvPr>
        </p:nvGraphicFramePr>
        <p:xfrm>
          <a:off x="1576863" y="4053796"/>
          <a:ext cx="5587662" cy="331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6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5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Equipo Médico 2026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Programa</a:t>
                      </a:r>
                      <a:r>
                        <a:rPr sz="1000">
                          <a:latin typeface="Montserrat"/>
                        </a:rPr>
                        <a:t> para la </a:t>
                      </a: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Equipo </a:t>
                      </a:r>
                      <a:r>
                        <a:rPr sz="1000" err="1">
                          <a:latin typeface="Montserrat"/>
                        </a:rPr>
                        <a:t>CeSiECQ</a:t>
                      </a:r>
                      <a:r>
                        <a:rPr sz="1000">
                          <a:latin typeface="Montserrat"/>
                        </a:rPr>
                        <a:t> Siglo XXI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Montserrat"/>
                        </a:rPr>
                        <a:t>$35.7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140457"/>
              </p:ext>
            </p:extLst>
          </p:nvPr>
        </p:nvGraphicFramePr>
        <p:xfrm>
          <a:off x="1576863" y="4465990"/>
          <a:ext cx="5595462" cy="1098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90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Equi</a:t>
                      </a:r>
                      <a:r>
                        <a:rPr lang="es-MX" sz="1000" err="1"/>
                        <a:t>po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Electromecánico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9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37 </a:t>
                      </a:r>
                      <a:r>
                        <a:rPr sz="1000" dirty="0" err="1">
                          <a:latin typeface="Montserrat"/>
                        </a:rPr>
                        <a:t>Equipos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electromecánicos</a:t>
                      </a:r>
                      <a:r>
                        <a:rPr sz="1000" dirty="0">
                          <a:latin typeface="Montserrat"/>
                        </a:rPr>
                        <a:t> para Unidades </a:t>
                      </a:r>
                      <a:r>
                        <a:rPr sz="1000" dirty="0" err="1">
                          <a:latin typeface="Montserrat"/>
                        </a:rPr>
                        <a:t>Hospitalarias</a:t>
                      </a:r>
                      <a:r>
                        <a:rPr sz="1000" dirty="0">
                          <a:latin typeface="Montserrat"/>
                        </a:rPr>
                        <a:t>, 5 </a:t>
                      </a:r>
                      <a:r>
                        <a:rPr sz="1000" dirty="0" err="1">
                          <a:latin typeface="Montserrat"/>
                        </a:rPr>
                        <a:t>elevadores</a:t>
                      </a:r>
                      <a:r>
                        <a:rPr sz="1000" dirty="0">
                          <a:latin typeface="Montserrat"/>
                        </a:rPr>
                        <a:t>, 11 </a:t>
                      </a:r>
                      <a:r>
                        <a:rPr sz="1000" dirty="0" err="1">
                          <a:latin typeface="Montserrat"/>
                        </a:rPr>
                        <a:t>equipos</a:t>
                      </a:r>
                      <a:r>
                        <a:rPr sz="1000" dirty="0">
                          <a:latin typeface="Montserrat"/>
                        </a:rPr>
                        <a:t> para casas de </a:t>
                      </a:r>
                      <a:r>
                        <a:rPr sz="1000" dirty="0" err="1">
                          <a:latin typeface="Montserrat"/>
                        </a:rPr>
                        <a:t>máquinas</a:t>
                      </a:r>
                      <a:r>
                        <a:rPr sz="1000" dirty="0">
                          <a:latin typeface="Montserrat"/>
                        </a:rPr>
                        <a:t>, 3 para </a:t>
                      </a:r>
                      <a:r>
                        <a:rPr sz="1000" dirty="0" err="1">
                          <a:latin typeface="Montserrat"/>
                        </a:rPr>
                        <a:t>aire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acondicionado</a:t>
                      </a:r>
                      <a:r>
                        <a:rPr sz="1000" dirty="0">
                          <a:latin typeface="Montserrat"/>
                        </a:rPr>
                        <a:t>, 10 </a:t>
                      </a:r>
                      <a:r>
                        <a:rPr sz="1000" dirty="0" err="1">
                          <a:latin typeface="Montserrat"/>
                        </a:rPr>
                        <a:t>lavadoras</a:t>
                      </a:r>
                      <a:r>
                        <a:rPr sz="1000" dirty="0">
                          <a:latin typeface="Montserrat"/>
                        </a:rPr>
                        <a:t> y 8 </a:t>
                      </a:r>
                      <a:r>
                        <a:rPr sz="1000" dirty="0" err="1">
                          <a:latin typeface="Montserrat"/>
                        </a:rPr>
                        <a:t>secadoras</a:t>
                      </a:r>
                      <a:r>
                        <a:rPr sz="1000" dirty="0">
                          <a:latin typeface="Montserrat"/>
                        </a:rPr>
                        <a:t>.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$409.7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7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24 </a:t>
                      </a:r>
                      <a:r>
                        <a:rPr sz="1000" dirty="0" err="1">
                          <a:latin typeface="Montserrat"/>
                        </a:rPr>
                        <a:t>Equipos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electromecánicos</a:t>
                      </a:r>
                      <a:r>
                        <a:rPr sz="1000" dirty="0">
                          <a:latin typeface="Montserrat"/>
                        </a:rPr>
                        <a:t> para UMAEs 8 </a:t>
                      </a:r>
                      <a:r>
                        <a:rPr sz="1000" dirty="0" err="1">
                          <a:latin typeface="Montserrat"/>
                        </a:rPr>
                        <a:t>elevadores</a:t>
                      </a:r>
                      <a:r>
                        <a:rPr sz="1000" dirty="0">
                          <a:latin typeface="Montserrat"/>
                        </a:rPr>
                        <a:t>, 16 </a:t>
                      </a:r>
                      <a:r>
                        <a:rPr sz="1000" dirty="0" err="1">
                          <a:latin typeface="Montserrat"/>
                        </a:rPr>
                        <a:t>equipos</a:t>
                      </a:r>
                      <a:r>
                        <a:rPr sz="1000" dirty="0">
                          <a:latin typeface="Montserrat"/>
                        </a:rPr>
                        <a:t> para </a:t>
                      </a:r>
                      <a:r>
                        <a:rPr sz="1000" dirty="0" err="1">
                          <a:latin typeface="Montserrat"/>
                        </a:rPr>
                        <a:t>aire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acondicionado</a:t>
                      </a:r>
                      <a:r>
                        <a:rPr sz="1000" dirty="0">
                          <a:latin typeface="Montserrat"/>
                        </a:rPr>
                        <a:t>.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$176.3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$586.0</a:t>
                      </a:r>
                    </a:p>
                  </a:txBody>
                  <a:tcPr marL="3600" marR="3600" marT="3600" marB="360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84639" y="827600"/>
            <a:ext cx="8531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6,</a:t>
            </a: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892.4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mdp</a:t>
            </a:r>
          </a:p>
        </p:txBody>
      </p:sp>
      <p:graphicFrame>
        <p:nvGraphicFramePr>
          <p:cNvPr id="8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299568"/>
              </p:ext>
            </p:extLst>
          </p:nvPr>
        </p:nvGraphicFramePr>
        <p:xfrm>
          <a:off x="150550" y="5465918"/>
          <a:ext cx="7474250" cy="5244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446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147600" y="6052072"/>
            <a:ext cx="7368300" cy="269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754685" y="6241832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153802" y="6067027"/>
            <a:ext cx="7338300" cy="2684229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02742" y="6512226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</a:t>
                      </a:r>
                      <a:r>
                        <a:rPr err="1"/>
                        <a:t>Predios</a:t>
                      </a:r>
                      <a:r>
                        <a:t>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ruta</a:t>
                      </a:r>
                      <a:r>
                        <a:t>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Estatus</a:t>
                      </a:r>
                      <a:r>
                        <a:t> </a:t>
                      </a:r>
                      <a:r>
                        <a:rPr err="1"/>
                        <a:t>terrenos</a:t>
                      </a:r>
                      <a:endParaRPr/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</a:t>
                      </a:r>
                      <a:r>
                        <a:rPr err="1"/>
                        <a:t>Donación</a:t>
                      </a:r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784338" y="6301803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705085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705085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47</a:t>
            </a:r>
          </a:p>
        </p:txBody>
      </p:sp>
      <p:sp>
        <p:nvSpPr>
          <p:cNvPr id="20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189071" y="7072695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8763" y="7146323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47 CECI IMSS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0 CECI CAMPO</a:t>
            </a:r>
          </a:p>
        </p:txBody>
      </p:sp>
      <p:sp>
        <p:nvSpPr>
          <p:cNvPr id="18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193399" y="7594079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TextBox 471">
            <a:extLst>
              <a:ext uri="{FF2B5EF4-FFF2-40B4-BE49-F238E27FC236}">
                <a16:creationId xmlns:a16="http://schemas.microsoft.com/office/drawing/2014/main" id="{18407945-A14B-EAB3-1C07-2142E2151C1A}"/>
              </a:ext>
            </a:extLst>
          </p:cNvPr>
          <p:cNvSpPr txBox="1"/>
          <p:nvPr/>
        </p:nvSpPr>
        <p:spPr>
          <a:xfrm>
            <a:off x="189071" y="9575455"/>
            <a:ext cx="4258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rgbClr val="000000"/>
                </a:solidFill>
                <a:latin typeface="Montserrat"/>
              </a:defRPr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Fuente: Dirección de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Prestaciones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Económicas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Sociales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abril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2026.</a:t>
            </a:r>
          </a:p>
        </p:txBody>
      </p:sp>
      <p:sp>
        <p:nvSpPr>
          <p:cNvPr id="22" name="Google Shape;562;g3d0ffe769cd_0_0">
            <a:extLst>
              <a:ext uri="{FF2B5EF4-FFF2-40B4-BE49-F238E27FC236}">
                <a16:creationId xmlns:a16="http://schemas.microsoft.com/office/drawing/2014/main" id="{0B0A3AA2-7CAF-4953-4831-5D174E8758C7}"/>
              </a:ext>
            </a:extLst>
          </p:cNvPr>
          <p:cNvSpPr txBox="1"/>
          <p:nvPr/>
        </p:nvSpPr>
        <p:spPr>
          <a:xfrm rot="16200000">
            <a:off x="1909192" y="7685206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80994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032679"/>
              </p:ext>
            </p:extLst>
          </p:nvPr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Montserrat"/>
                        </a:rPr>
                        <a:t>111 </a:t>
                      </a:r>
                      <a:r>
                        <a:rPr sz="1000" b="1" err="1">
                          <a:latin typeface="Montserrat"/>
                        </a:rPr>
                        <a:t>unidades</a:t>
                      </a:r>
                      <a:endParaRPr sz="1000" b="1">
                        <a:latin typeface="Montserrat"/>
                      </a:endParaRPr>
                    </a:p>
                    <a:p>
                      <a:pPr algn="l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50 </a:t>
                      </a:r>
                      <a:r>
                        <a:rPr err="1"/>
                        <a:t>directas</a:t>
                      </a:r>
                      <a:endParaRPr/>
                    </a:p>
                    <a:p>
                      <a:pPr algn="l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61 </a:t>
                      </a:r>
                      <a:r>
                        <a:rPr err="1"/>
                        <a:t>indirectas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Montserrat"/>
                        </a:rPr>
                        <a:t>14,204 </a:t>
                      </a:r>
                      <a:r>
                        <a:rPr sz="1000" b="1" err="1">
                          <a:latin typeface="Montserrat"/>
                        </a:rPr>
                        <a:t>inscritos</a:t>
                      </a:r>
                      <a:endParaRPr sz="1000" b="1">
                        <a:latin typeface="Montserrat"/>
                      </a:endParaRPr>
                    </a:p>
                    <a:p>
                      <a:pPr algn="l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1,344 en </a:t>
                      </a:r>
                      <a:r>
                        <a:rPr err="1"/>
                        <a:t>espera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846060"/>
              </p:ext>
            </p:extLst>
          </p:nvPr>
        </p:nvGraphicFramePr>
        <p:xfrm>
          <a:off x="2311200" y="2570400"/>
          <a:ext cx="5032800" cy="2667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892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2 CASSAAM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San Pedro el Chico y Centro de Día (GAM)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1 CECART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Centro de Capacitación y Rehabilitación para el Trabajo (CECART)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2 CECEM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Santa María La Rivera,  </a:t>
                      </a:r>
                      <a:r>
                        <a:rPr err="1"/>
                        <a:t>Cuautepec</a:t>
                      </a:r>
                      <a:r>
                        <a:t> Barrio Alto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1 Centro Cultural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Centro Cultural Rafael Solana, GAM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rPr lang="es-MX" dirty="0"/>
                        <a:t>2 </a:t>
                      </a:r>
                      <a:r>
                        <a:rPr dirty="0"/>
                        <a:t>CRESTCAP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GAM y Coyoacán, </a:t>
                      </a:r>
                      <a:r>
                        <a:rPr err="1"/>
                        <a:t>CdMx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rPr dirty="0"/>
                        <a:t>1 Laboratorio de </a:t>
                      </a:r>
                      <a:r>
                        <a:rPr lang="es-MX" dirty="0"/>
                        <a:t>Salud en el Trabajo </a:t>
                      </a:r>
                      <a:r>
                        <a:rPr lang="es-MX"/>
                        <a:t>y Ambiental</a:t>
                      </a:r>
                      <a:endParaRPr dirty="0"/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HGZ 32 Tlalpan, CdMx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2 Centros de </a:t>
                      </a:r>
                      <a:r>
                        <a:rPr err="1"/>
                        <a:t>Artesanias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Morelos, </a:t>
                      </a:r>
                      <a:r>
                        <a:rPr err="1"/>
                        <a:t>Independencia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Álvaro Obregón, </a:t>
                      </a:r>
                      <a:r>
                        <a:rPr err="1"/>
                        <a:t>D.F.Sur</a:t>
                      </a:r>
                      <a:r>
                        <a:t>, Santa Catarina, </a:t>
                      </a:r>
                      <a:r>
                        <a:rPr err="1"/>
                        <a:t>D.F.Sur</a:t>
                      </a:r>
                      <a:r>
                        <a:t>, </a:t>
                      </a:r>
                      <a:r>
                        <a:rPr err="1"/>
                        <a:t>Piñanona</a:t>
                      </a:r>
                      <a:r>
                        <a:t>, </a:t>
                      </a:r>
                      <a:r>
                        <a:rPr err="1"/>
                        <a:t>D.F.Sur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15  Centros de </a:t>
                      </a:r>
                      <a:r>
                        <a:rPr err="1"/>
                        <a:t>Seguridad</a:t>
                      </a:r>
                      <a:r>
                        <a:t>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Contreras, </a:t>
                      </a:r>
                      <a:r>
                        <a:rPr err="1"/>
                        <a:t>Independencia</a:t>
                      </a:r>
                      <a:r>
                        <a:t>, Ignacio Zaragoza, Merced, Tepeyac, Félix Azuela, Santa Fe, </a:t>
                      </a:r>
                      <a:r>
                        <a:rPr err="1"/>
                        <a:t>Tlalpan</a:t>
                      </a:r>
                      <a:r>
                        <a:t>, Manuel Ávila Camacho, Progreso Nacional 100 Metros D1, Morelos, </a:t>
                      </a:r>
                      <a:r>
                        <a:rPr err="1"/>
                        <a:t>Anáhuac</a:t>
                      </a:r>
                      <a:r>
                        <a:t>, </a:t>
                      </a:r>
                      <a:r>
                        <a:rPr err="1"/>
                        <a:t>Atzcapotzalco</a:t>
                      </a:r>
                      <a:r>
                        <a:t>, Legaria, </a:t>
                      </a:r>
                      <a:r>
                        <a:rPr err="1"/>
                        <a:t>Tlatilco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1 Cine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rPr err="1"/>
                        <a:t>Linterna</a:t>
                      </a:r>
                      <a:r>
                        <a:t> </a:t>
                      </a:r>
                      <a:r>
                        <a:rPr err="1"/>
                        <a:t>Mágica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0892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10  </a:t>
                      </a:r>
                      <a:r>
                        <a:rPr err="1"/>
                        <a:t>Teatros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rPr err="1"/>
                        <a:t>Independencia</a:t>
                      </a:r>
                      <a:r>
                        <a:t>, Santa Fe, Julio Prieto, Legaria, Reforma, Hidalgo, Morelos, Félix Azuela, Tepeyac, Isabela Corona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0895">
                <a:tc>
                  <a:txBody>
                    <a:bodyPr/>
                    <a:lstStyle/>
                    <a:p>
                      <a:pPr algn="l">
                        <a:defRPr sz="800" b="1">
                          <a:latin typeface="Montserrat"/>
                        </a:defRPr>
                      </a:pPr>
                      <a:r>
                        <a:t>4 Unidades </a:t>
                      </a:r>
                      <a:r>
                        <a:rPr err="1"/>
                        <a:t>Deportivas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rPr dirty="0"/>
                        <a:t>Benito Juárez </a:t>
                      </a:r>
                      <a:r>
                        <a:rPr dirty="0" err="1"/>
                        <a:t>Xalpa</a:t>
                      </a:r>
                      <a:r>
                        <a:rPr dirty="0"/>
                        <a:t>, Morelos,  </a:t>
                      </a:r>
                      <a:r>
                        <a:rPr dirty="0" err="1"/>
                        <a:t>Independencia</a:t>
                      </a:r>
                      <a:r>
                        <a:rPr dirty="0"/>
                        <a:t>, GAM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820262"/>
              </p:ext>
            </p:extLst>
          </p:nvPr>
        </p:nvGraphicFramePr>
        <p:xfrm>
          <a:off x="2293200" y="5224459"/>
          <a:ext cx="5032800" cy="89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3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61 Magdalena de las Salinas, No. 62 Niño Perdido, No. 68 </a:t>
                      </a:r>
                      <a:r>
                        <a:rPr err="1"/>
                        <a:t>Independencia</a:t>
                      </a:r>
                      <a:r>
                        <a:t>, No. 169 </a:t>
                      </a:r>
                      <a:r>
                        <a:rPr err="1"/>
                        <a:t>Saludable</a:t>
                      </a:r>
                      <a:r>
                        <a:t> CMNSXXI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 Congresos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U. C. Centro Médico Nacional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3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err="1"/>
                        <a:t>Doctores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70" name="Picture 469" descr="map_tipo2_09_cdm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0400" y="5925946"/>
            <a:ext cx="2548802" cy="345368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111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316507"/>
              </p:ext>
            </p:extLst>
          </p:nvPr>
        </p:nvGraphicFramePr>
        <p:xfrm>
          <a:off x="284400" y="1087200"/>
          <a:ext cx="6984000" cy="194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Empleadores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109,121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109,906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Lieberbv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43,745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53,334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21.9%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Secretaría de la Defensa Nacional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46,562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47,092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Banco Nacional de México SA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33,930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33,673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19,062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19,024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28,644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28,916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-25.81%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-17.39%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-4.86%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+0.31%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+2.10%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+4.64%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+7.26%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+41.44%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920068"/>
              </p:ext>
            </p:extLst>
          </p:nvPr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3,063,984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416,976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3,481,080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3,046,157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528,324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3,574,593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-15.3%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+26.7%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+500.0%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+2.7%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</a:t>
            </a:r>
            <a:r>
              <a:rPr err="1"/>
              <a:t>Incorporación</a:t>
            </a:r>
            <a:r>
              <a:t> y </a:t>
            </a:r>
            <a:r>
              <a:rPr err="1"/>
              <a:t>Recaudación</a:t>
            </a:r>
            <a:r>
              <a:rPr lang="es-MX"/>
              <a:t>, mayo de 2026</a:t>
            </a:r>
            <a: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D1B78A4B-017C-C46C-EA20-11D65F9E1F4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$818.75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318731"/>
              </p:ext>
            </p:extLst>
          </p:nvPr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Variación</a:t>
                      </a:r>
                      <a:r>
                        <a:t> 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$444.27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$818.75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$24,562.5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341680"/>
              </p:ext>
            </p:extLst>
          </p:nvPr>
        </p:nvGraphicFramePr>
        <p:xfrm>
          <a:off x="320400" y="6649200"/>
          <a:ext cx="7038000" cy="256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Secretaría de la Defensa Nacional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$840.21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Notimex Agencia de Noticias del Estado Mexicano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$4.05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Corporación  Mexicana de Investigación En Materiales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Ferrocarril Interurbano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$494.06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México Railway Engineering Technology S A P I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$246.62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Desarrollo Inmobiliario Horme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$167.63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504100" y="2304241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>
                <a:solidFill>
                  <a:schemeClr val="tx1"/>
                </a:solidFill>
              </a:rPr>
              <a:t>Nota: se utilizó como deflactor del salario el cociente del INPC entre diciembre 2018 (103.02) y  preliminar de mayo  2026 (145.714) de 0.7069998. 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8623</Words>
  <Application>Microsoft Office PowerPoint</Application>
  <PresentationFormat>Personalizado</PresentationFormat>
  <Paragraphs>3498</Paragraphs>
  <Slides>36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3" baseType="lpstr">
      <vt:lpstr>Noto Sans Black</vt:lpstr>
      <vt:lpstr>Arial</vt:lpstr>
      <vt:lpstr>Times New Roman</vt:lpstr>
      <vt:lpstr>Noto Sans</vt:lpstr>
      <vt:lpstr>Calibri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Laura Patricia Galvan Chavez</cp:lastModifiedBy>
  <cp:revision>2</cp:revision>
  <dcterms:modified xsi:type="dcterms:W3CDTF">2026-07-02T20:08:42Z</dcterms:modified>
</cp:coreProperties>
</file>