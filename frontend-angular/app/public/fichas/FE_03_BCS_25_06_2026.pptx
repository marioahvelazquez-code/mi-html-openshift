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89" r:id="rId6"/>
    <p:sldId id="258" r:id="rId7"/>
    <p:sldId id="259" r:id="rId8"/>
    <p:sldId id="260" r:id="rId9"/>
    <p:sldId id="261" r:id="rId10"/>
    <p:sldId id="287" r:id="rId11"/>
    <p:sldId id="262" r:id="rId12"/>
    <p:sldId id="280" r:id="rId13"/>
    <p:sldId id="298" r:id="rId14"/>
    <p:sldId id="302" r:id="rId15"/>
    <p:sldId id="281" r:id="rId16"/>
    <p:sldId id="288" r:id="rId17"/>
    <p:sldId id="270" r:id="rId18"/>
    <p:sldId id="271" r:id="rId19"/>
    <p:sldId id="272" r:id="rId20"/>
    <p:sldId id="300" r:id="rId21"/>
    <p:sldId id="297" r:id="rId22"/>
    <p:sldId id="299" r:id="rId23"/>
    <p:sldId id="277" r:id="rId24"/>
    <p:sldId id="278" r:id="rId25"/>
    <p:sldId id="279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1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9C7A0-987C-480B-9672-99262079EFD7}" v="17" dt="2026-07-02T23:28:08.696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>
        <p:scale>
          <a:sx n="90" d="100"/>
          <a:sy n="90" d="100"/>
        </p:scale>
        <p:origin x="408" y="-76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6.xml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atricia Galvan Chavez" userId="S::laura.galvan@imss.gob.mx::6b13af50-ce8b-483e-8fc4-f994efaf3289" providerId="AD" clId="Web-{71AF3FF6-7A8F-89D8-69C8-946214AFC0BF}"/>
    <pc:docChg chg="modSld">
      <pc:chgData name="Laura Patricia Galvan Chavez" userId="S::laura.galvan@imss.gob.mx::6b13af50-ce8b-483e-8fc4-f994efaf3289" providerId="AD" clId="Web-{71AF3FF6-7A8F-89D8-69C8-946214AFC0BF}" dt="2026-06-23T19:37:22.124" v="0" actId="14100"/>
      <pc:docMkLst>
        <pc:docMk/>
      </pc:docMkLst>
      <pc:sldChg chg="modSp">
        <pc:chgData name="Laura Patricia Galvan Chavez" userId="S::laura.galvan@imss.gob.mx::6b13af50-ce8b-483e-8fc4-f994efaf3289" providerId="AD" clId="Web-{71AF3FF6-7A8F-89D8-69C8-946214AFC0BF}" dt="2026-06-23T19:37:22.124" v="0" actId="14100"/>
        <pc:sldMkLst>
          <pc:docMk/>
          <pc:sldMk cId="0" sldId="260"/>
        </pc:sldMkLst>
        <pc:picChg chg="mod">
          <ac:chgData name="Laura Patricia Galvan Chavez" userId="S::laura.galvan@imss.gob.mx::6b13af50-ce8b-483e-8fc4-f994efaf3289" providerId="AD" clId="Web-{71AF3FF6-7A8F-89D8-69C8-946214AFC0BF}" dt="2026-06-23T19:37:22.124" v="0" actId="14100"/>
          <ac:picMkLst>
            <pc:docMk/>
            <pc:sldMk cId="0" sldId="260"/>
            <ac:picMk id="6" creationId="{EE7ED226-17AB-83D0-C152-672D763CE7BF}"/>
          </ac:picMkLst>
        </pc:pic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3:09.924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3:09.924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3:09.924" v="2" actId="22"/>
          <ac:spMkLst>
            <pc:docMk/>
            <pc:sldMk cId="748044913" sldId="287"/>
            <ac:spMk id="10" creationId="{A8B4C168-7F3C-BDD4-6F71-42EA9379086C}"/>
          </ac:spMkLst>
        </pc:spChg>
        <pc:spChg chg="add">
          <ac:chgData name="Rohan Myron Oprisko" userId="a7c52ab4-f8b1-4d15-aaf6-6388cc510347" providerId="ADAL" clId="{97C26823-81C0-4343-94EC-E87AB1317939}" dt="2026-06-24T15:53:09.924" v="2" actId="22"/>
          <ac:spMkLst>
            <pc:docMk/>
            <pc:sldMk cId="748044913" sldId="287"/>
            <ac:spMk id="12" creationId="{DFAD9365-0253-39F0-3F43-9DAEBE0BE0DF}"/>
          </ac:spMkLst>
        </pc:spChg>
      </pc:sldChg>
    </pc:docChg>
  </pc:docChgLst>
  <pc:docChgLst>
    <pc:chgData name="Gerardo Jahir Lara Garcia" userId="84d5cd65-4601-4e92-b448-a9da4809e012" providerId="ADAL" clId="{848F2E50-180B-4DB9-9EF6-4803D25AC9EC}"/>
    <pc:docChg chg="undo custSel modSld">
      <pc:chgData name="Gerardo Jahir Lara Garcia" userId="84d5cd65-4601-4e92-b448-a9da4809e012" providerId="ADAL" clId="{848F2E50-180B-4DB9-9EF6-4803D25AC9EC}" dt="2026-07-02T23:28:08.696" v="212"/>
      <pc:docMkLst>
        <pc:docMk/>
      </pc:docMkLst>
      <pc:sldChg chg="modSp mod">
        <pc:chgData name="Gerardo Jahir Lara Garcia" userId="84d5cd65-4601-4e92-b448-a9da4809e012" providerId="ADAL" clId="{848F2E50-180B-4DB9-9EF6-4803D25AC9EC}" dt="2026-07-02T22:52:23.111" v="9" actId="20577"/>
        <pc:sldMkLst>
          <pc:docMk/>
          <pc:sldMk cId="0" sldId="261"/>
        </pc:sldMkLst>
        <pc:graphicFrameChg chg="modGraphic">
          <ac:chgData name="Gerardo Jahir Lara Garcia" userId="84d5cd65-4601-4e92-b448-a9da4809e012" providerId="ADAL" clId="{848F2E50-180B-4DB9-9EF6-4803D25AC9EC}" dt="2026-07-02T22:52:23.111" v="9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2:56:44.639" v="76" actId="20577"/>
        <pc:sldMkLst>
          <pc:docMk/>
          <pc:sldMk cId="0" sldId="272"/>
        </pc:sldMkLst>
        <pc:graphicFrameChg chg="mod modGraphic">
          <ac:chgData name="Gerardo Jahir Lara Garcia" userId="84d5cd65-4601-4e92-b448-a9da4809e012" providerId="ADAL" clId="{848F2E50-180B-4DB9-9EF6-4803D25AC9EC}" dt="2026-07-02T22:56:44.639" v="76" actId="20577"/>
          <ac:graphicFrameMkLst>
            <pc:docMk/>
            <pc:sldMk cId="0" sldId="272"/>
            <ac:graphicFrameMk id="10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3:28:08.696" v="212"/>
        <pc:sldMkLst>
          <pc:docMk/>
          <pc:sldMk cId="3240565764" sldId="297"/>
        </pc:sldMkLst>
        <pc:spChg chg="mod">
          <ac:chgData name="Gerardo Jahir Lara Garcia" userId="84d5cd65-4601-4e92-b448-a9da4809e012" providerId="ADAL" clId="{848F2E50-180B-4DB9-9EF6-4803D25AC9EC}" dt="2026-07-02T23:27:15.150" v="205" actId="1038"/>
          <ac:spMkLst>
            <pc:docMk/>
            <pc:sldMk cId="3240565764" sldId="297"/>
            <ac:spMk id="34" creationId="{00000000-0000-0000-0000-000000000000}"/>
          </ac:spMkLst>
        </pc:spChg>
        <pc:graphicFrameChg chg="mod modGraphic">
          <ac:chgData name="Gerardo Jahir Lara Garcia" userId="84d5cd65-4601-4e92-b448-a9da4809e012" providerId="ADAL" clId="{848F2E50-180B-4DB9-9EF6-4803D25AC9EC}" dt="2026-07-02T23:27:51.844" v="208" actId="572"/>
          <ac:graphicFrameMkLst>
            <pc:docMk/>
            <pc:sldMk cId="3240565764" sldId="297"/>
            <ac:graphicFrameMk id="31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848F2E50-180B-4DB9-9EF6-4803D25AC9EC}" dt="2026-07-02T23:28:08.696" v="212"/>
          <ac:graphicFrameMkLst>
            <pc:docMk/>
            <pc:sldMk cId="3240565764" sldId="297"/>
            <ac:graphicFrameMk id="32" creationId="{00000000-0000-0000-0000-000000000000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2T23:27:24.187" v="207" actId="1076"/>
          <ac:graphicFrameMkLst>
            <pc:docMk/>
            <pc:sldMk cId="3240565764" sldId="297"/>
            <ac:graphicFrameMk id="33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2:58:53.853" v="111" actId="1038"/>
        <pc:sldMkLst>
          <pc:docMk/>
          <pc:sldMk cId="1050299822" sldId="300"/>
        </pc:sldMkLst>
        <pc:graphicFrameChg chg="mod modGraphic">
          <ac:chgData name="Gerardo Jahir Lara Garcia" userId="84d5cd65-4601-4e92-b448-a9da4809e012" providerId="ADAL" clId="{848F2E50-180B-4DB9-9EF6-4803D25AC9EC}" dt="2026-07-02T22:58:53.853" v="111" actId="1038"/>
          <ac:graphicFrameMkLst>
            <pc:docMk/>
            <pc:sldMk cId="1050299822" sldId="300"/>
            <ac:graphicFrameMk id="9" creationId="{00000000-0000-0000-0000-000000000000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3E8D37D9-0653-CEA8-C987-30C8EAA805E5}"/>
    <pc:docChg chg="modSld">
      <pc:chgData name="Laura Patricia Galvan Chavez" userId="S::laura.galvan@imss.gob.mx::6b13af50-ce8b-483e-8fc4-f994efaf3289" providerId="AD" clId="Web-{3E8D37D9-0653-CEA8-C987-30C8EAA805E5}" dt="2026-06-23T19:39:49.647" v="21"/>
      <pc:docMkLst>
        <pc:docMk/>
      </pc:docMkLst>
      <pc:sldChg chg="modSp">
        <pc:chgData name="Laura Patricia Galvan Chavez" userId="S::laura.galvan@imss.gob.mx::6b13af50-ce8b-483e-8fc4-f994efaf3289" providerId="AD" clId="Web-{3E8D37D9-0653-CEA8-C987-30C8EAA805E5}" dt="2026-06-23T19:39:49.647" v="21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3E8D37D9-0653-CEA8-C987-30C8EAA805E5}" dt="2026-06-23T19:39:49.647" v="21"/>
          <ac:graphicFrameMkLst>
            <pc:docMk/>
            <pc:sldMk cId="0" sldId="260"/>
            <ac:graphicFrameMk id="5" creationId="{AB9DD023-F2D6-C192-FC9B-02D97E4213B4}"/>
          </ac:graphicFrameMkLst>
        </pc:graphicFrame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3T00:04:51.338" v="76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7-02T23:59:30.767" v="64" actId="20577"/>
        <pc:sldMkLst>
          <pc:docMk/>
          <pc:sldMk cId="0" sldId="259"/>
        </pc:sldMkLst>
        <pc:graphicFrameChg chg="modGraphic">
          <ac:chgData name="Laura Patricia Galvan Chavez" userId="6b13af50-ce8b-483e-8fc4-f994efaf3289" providerId="ADAL" clId="{655D084B-7DF1-4C24-9447-417D7DC498B8}" dt="2026-07-02T23:59:30.767" v="64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59:49.102" v="65" actId="1076"/>
        <pc:sldMkLst>
          <pc:docMk/>
          <pc:sldMk cId="0" sldId="260"/>
        </pc:sldMkLst>
        <pc:spChg chg="mod">
          <ac:chgData name="Laura Patricia Galvan Chavez" userId="6b13af50-ce8b-483e-8fc4-f994efaf3289" providerId="ADAL" clId="{655D084B-7DF1-4C24-9447-417D7DC498B8}" dt="2026-06-29T16:41:21.853" v="46" actId="20577"/>
          <ac:spMkLst>
            <pc:docMk/>
            <pc:sldMk cId="0" sldId="260"/>
            <ac:spMk id="7" creationId="{9449F489-7AE9-5A60-77E7-D2A5D25CB1EB}"/>
          </ac:spMkLst>
        </pc:spChg>
        <pc:picChg chg="mod">
          <ac:chgData name="Laura Patricia Galvan Chavez" userId="6b13af50-ce8b-483e-8fc4-f994efaf3289" providerId="ADAL" clId="{655D084B-7DF1-4C24-9447-417D7DC498B8}" dt="2026-07-02T23:59:49.102" v="65" actId="1076"/>
          <ac:picMkLst>
            <pc:docMk/>
            <pc:sldMk cId="0" sldId="260"/>
            <ac:picMk id="11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9T17:46:32.057" v="56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7:46:32.057" v="56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57:21.437" v="60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57:21.437" v="60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6:39:02.688" v="29" actId="20577"/>
        <pc:sldMkLst>
          <pc:docMk/>
          <pc:sldMk cId="3763779569" sldId="289"/>
        </pc:sldMkLst>
        <pc:graphicFrameChg chg="modGraphic">
          <ac:chgData name="Laura Patricia Galvan Chavez" userId="6b13af50-ce8b-483e-8fc4-f994efaf3289" providerId="ADAL" clId="{655D084B-7DF1-4C24-9447-417D7DC498B8}" dt="2026-06-29T16:39:02.688" v="29" actId="20577"/>
          <ac:graphicFrameMkLst>
            <pc:docMk/>
            <pc:sldMk cId="3763779569" sldId="289"/>
            <ac:graphicFrameMk id="6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00:04:10.901" v="73" actId="20577"/>
        <pc:sldMkLst>
          <pc:docMk/>
          <pc:sldMk cId="3240565764" sldId="297"/>
        </pc:sldMkLst>
        <pc:spChg chg="mod">
          <ac:chgData name="Laura Patricia Galvan Chavez" userId="6b13af50-ce8b-483e-8fc4-f994efaf3289" providerId="ADAL" clId="{655D084B-7DF1-4C24-9447-417D7DC498B8}" dt="2026-07-03T00:04:07.622" v="71" actId="20577"/>
          <ac:spMkLst>
            <pc:docMk/>
            <pc:sldMk cId="3240565764" sldId="297"/>
            <ac:spMk id="34" creationId="{00000000-0000-0000-0000-000000000000}"/>
          </ac:spMkLst>
        </pc:spChg>
        <pc:graphicFrameChg chg="modGraphic">
          <ac:chgData name="Laura Patricia Galvan Chavez" userId="6b13af50-ce8b-483e-8fc4-f994efaf3289" providerId="ADAL" clId="{655D084B-7DF1-4C24-9447-417D7DC498B8}" dt="2026-07-03T00:04:10.901" v="73" actId="20577"/>
          <ac:graphicFrameMkLst>
            <pc:docMk/>
            <pc:sldMk cId="3240565764" sldId="297"/>
            <ac:graphicFrameMk id="32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00:01:34.401" v="67" actId="1076"/>
        <pc:sldMkLst>
          <pc:docMk/>
          <pc:sldMk cId="3813321929" sldId="298"/>
        </pc:sldMkLst>
        <pc:graphicFrameChg chg="mod">
          <ac:chgData name="Laura Patricia Galvan Chavez" userId="6b13af50-ce8b-483e-8fc4-f994efaf3289" providerId="ADAL" clId="{655D084B-7DF1-4C24-9447-417D7DC498B8}" dt="2026-07-03T00:01:34.401" v="67" actId="1076"/>
          <ac:graphicFrameMkLst>
            <pc:docMk/>
            <pc:sldMk cId="3813321929" sldId="298"/>
            <ac:graphicFrameMk id="11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00:04:51.338" v="76" actId="20577"/>
        <pc:sldMkLst>
          <pc:docMk/>
          <pc:sldMk cId="30077326" sldId="299"/>
        </pc:sldMkLst>
        <pc:graphicFrameChg chg="modGraphic">
          <ac:chgData name="Laura Patricia Galvan Chavez" userId="6b13af50-ce8b-483e-8fc4-f994efaf3289" providerId="ADAL" clId="{655D084B-7DF1-4C24-9447-417D7DC498B8}" dt="2026-07-03T00:04:51.338" v="76" actId="20577"/>
          <ac:graphicFrameMkLst>
            <pc:docMk/>
            <pc:sldMk cId="30077326" sldId="299"/>
            <ac:graphicFrameMk id="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00:01:44.917" v="69" actId="20577"/>
        <pc:sldMkLst>
          <pc:docMk/>
          <pc:sldMk cId="0" sldId="302"/>
        </pc:sldMkLst>
        <pc:spChg chg="mod">
          <ac:chgData name="Laura Patricia Galvan Chavez" userId="6b13af50-ce8b-483e-8fc4-f994efaf3289" providerId="ADAL" clId="{655D084B-7DF1-4C24-9447-417D7DC498B8}" dt="2026-07-03T00:01:44.917" v="69" actId="20577"/>
          <ac:spMkLst>
            <pc:docMk/>
            <pc:sldMk cId="0" sldId="302"/>
            <ac:spMk id="5" creationId="{00000000-0000-0000-0000-000000000000}"/>
          </ac:spMkLst>
        </pc:spChg>
      </pc:sldChg>
    </pc:docChg>
  </pc:docChgLst>
  <pc:docChgLst>
    <pc:chgData name="Laura Patricia Galvan Chavez" userId="S::laura.galvan@imss.gob.mx::6b13af50-ce8b-483e-8fc4-f994efaf3289" providerId="AD" clId="Web-{7BF366E9-052E-2AC3-5A57-9986D0E9DDA6}"/>
    <pc:docChg chg="modSld">
      <pc:chgData name="Laura Patricia Galvan Chavez" userId="S::laura.galvan@imss.gob.mx::6b13af50-ce8b-483e-8fc4-f994efaf3289" providerId="AD" clId="Web-{7BF366E9-052E-2AC3-5A57-9986D0E9DDA6}" dt="2026-06-23T22:29:01.636" v="4" actId="1076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9B1D-47D0-9896-14C68CA1C584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9B1D-47D0-9896-14C68CA1C584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9B1D-47D0-9896-14C68CA1C584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9B1D-47D0-9896-14C68CA1C584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572158</c:v>
                </c:pt>
                <c:pt idx="1">
                  <c:v>197492</c:v>
                </c:pt>
                <c:pt idx="2">
                  <c:v>142114</c:v>
                </c:pt>
                <c:pt idx="3">
                  <c:v>9970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1D-47D0-9896-14C68CA1C5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611111111111117E-2"/>
          <c:y val="7.7611111111111117E-2"/>
          <c:w val="0.53433333333333333"/>
          <c:h val="0.5343333333333333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D31-4EE8-B493-241F24D5274F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D31-4EE8-B493-241F24D5274F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34.416206597618284</c:v>
                </c:pt>
                <c:pt idx="1">
                  <c:v>65.583793402381716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31-4EE8-B493-241F24D52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71-421B-B585-C310AA6A741B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71-421B-B585-C310AA6A741B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11.779394289700001</c:v>
                </c:pt>
                <c:pt idx="1">
                  <c:v>88.220605710299992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71-421B-B585-C310AA6A7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73F-4B19-816E-5DFFDB88F7C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73F-4B19-816E-5DFFDB88F7C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46.081971279733189</c:v>
                </c:pt>
                <c:pt idx="1">
                  <c:v>53.918028720266811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3F-4B19-816E-5DFFDB88F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25C-4CC5-9AEA-9A5BA2BD1C8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25C-4CC5-9AEA-9A5BA2BD1C8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40.490855235319003</c:v>
                </c:pt>
                <c:pt idx="1">
                  <c:v>59.509144764680997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5C-4CC5-9AEA-9A5BA2BD1C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CBBF-4EE2-8212-7CE0E305D0D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39</c:v>
                </c:pt>
                <c:pt idx="2">
                  <c:v>52</c:v>
                </c:pt>
                <c:pt idx="3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BBF-4EE2-8212-7CE0E305D0D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9446016"/>
        <c:axId val="169457536"/>
      </c:barChart>
      <c:catAx>
        <c:axId val="1694460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169457536"/>
        <c:crosses val="autoZero"/>
        <c:auto val="1"/>
        <c:lblAlgn val="ctr"/>
        <c:lblOffset val="100"/>
        <c:noMultiLvlLbl val="0"/>
      </c:catAx>
      <c:valAx>
        <c:axId val="1694575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6944601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Comercio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3430</c:v>
                </c:pt>
                <c:pt idx="1">
                  <c:v>18521</c:v>
                </c:pt>
                <c:pt idx="2">
                  <c:v>80849</c:v>
                </c:pt>
                <c:pt idx="3">
                  <c:v>41086</c:v>
                </c:pt>
                <c:pt idx="4">
                  <c:v>12695</c:v>
                </c:pt>
                <c:pt idx="5">
                  <c:v>9691</c:v>
                </c:pt>
                <c:pt idx="6">
                  <c:v>14267</c:v>
                </c:pt>
                <c:pt idx="7">
                  <c:v>42188</c:v>
                </c:pt>
                <c:pt idx="8">
                  <c:v>1689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8B0-419F-A136-4B28A8C659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Comercio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2943</c:v>
                </c:pt>
                <c:pt idx="1">
                  <c:v>18082</c:v>
                </c:pt>
                <c:pt idx="2">
                  <c:v>80631</c:v>
                </c:pt>
                <c:pt idx="3">
                  <c:v>41132</c:v>
                </c:pt>
                <c:pt idx="4">
                  <c:v>12831</c:v>
                </c:pt>
                <c:pt idx="5">
                  <c:v>9852</c:v>
                </c:pt>
                <c:pt idx="6">
                  <c:v>15125</c:v>
                </c:pt>
                <c:pt idx="7">
                  <c:v>44823</c:v>
                </c:pt>
                <c:pt idx="8">
                  <c:v>1804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8B0-419F-A136-4B28A8C65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69727104"/>
        <c:axId val="169728640"/>
      </c:barChart>
      <c:catAx>
        <c:axId val="16972710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169728640"/>
        <c:crosses val="autoZero"/>
        <c:auto val="1"/>
        <c:lblAlgn val="ctr"/>
        <c:lblOffset val="100"/>
        <c:noMultiLvlLbl val="0"/>
      </c:catAx>
      <c:valAx>
        <c:axId val="1697286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6972710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180012</c:v>
                </c:pt>
                <c:pt idx="1">
                  <c:v>187327</c:v>
                </c:pt>
                <c:pt idx="2">
                  <c:v>162411</c:v>
                </c:pt>
                <c:pt idx="3">
                  <c:v>176593</c:v>
                </c:pt>
                <c:pt idx="4">
                  <c:v>204126</c:v>
                </c:pt>
                <c:pt idx="5">
                  <c:v>221292</c:v>
                </c:pt>
                <c:pt idx="6">
                  <c:v>225112</c:v>
                </c:pt>
                <c:pt idx="7">
                  <c:v>224416</c:v>
                </c:pt>
                <c:pt idx="8">
                  <c:v>227223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8ED-4642-AE2B-C3341C1E3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70764928"/>
        <c:axId val="170766720"/>
      </c:barChart>
      <c:catAx>
        <c:axId val="1707649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0766720"/>
        <c:crosses val="autoZero"/>
        <c:auto val="1"/>
        <c:lblAlgn val="ctr"/>
        <c:lblOffset val="100"/>
        <c:noMultiLvlLbl val="0"/>
      </c:catAx>
      <c:valAx>
        <c:axId val="1707667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076492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72198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chart" Target="../charts/chart6.xml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 Sur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</a:t>
            </a:r>
            <a:r>
              <a:rPr dirty="0" err="1"/>
              <a:t>Estatal</a:t>
            </a:r>
            <a:endParaRPr dirty="0"/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Ju</a:t>
            </a:r>
            <a:r>
              <a:rPr lang="es-MX" dirty="0"/>
              <a:t>l</a:t>
            </a:r>
            <a:r>
              <a:rPr dirty="0" err="1"/>
              <a:t>io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Google Shape;66;g37670341832_11_0"/>
          <p:cNvSpPr/>
          <p:nvPr/>
        </p:nvSpPr>
        <p:spPr>
          <a:xfrm>
            <a:off x="0" y="566113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7;g37670341832_11_0"/>
          <p:cNvSpPr txBox="1"/>
          <p:nvPr/>
        </p:nvSpPr>
        <p:spPr>
          <a:xfrm>
            <a:off x="2798775" y="421912"/>
            <a:ext cx="49737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Dr. Juan Gilberto Pérez Soltero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397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Médico Cirujano</a:t>
            </a:r>
            <a:endParaRPr/>
          </a:p>
          <a:p>
            <a:pPr marL="269999" marR="0" lvl="0" indent="-1397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ontserrat"/>
              <a:buChar char="●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Especialidad en Cirugía General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397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Char char="●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Maestría en Administración de los Servicios de Salud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01 de septiembre 2022</a:t>
            </a:r>
            <a:endParaRPr sz="1200" b="1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Fué Médico Supervisor de Hospitales, Médico Supervisor líder, y titular de la Jefatura de Prestaciones Médicas en Chihuahua.</a:t>
            </a:r>
            <a:endParaRPr sz="1200" b="1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" name="Google Shape;69;g37670341832_11_0"/>
          <p:cNvGraphicFramePr/>
          <p:nvPr>
            <p:extLst>
              <p:ext uri="{D42A27DB-BD31-4B8C-83A1-F6EECF244321}">
                <p14:modId xmlns:p14="http://schemas.microsoft.com/office/powerpoint/2010/main" val="3245865337"/>
              </p:ext>
            </p:extLst>
          </p:nvPr>
        </p:nvGraphicFramePr>
        <p:xfrm>
          <a:off x="1106475" y="2390173"/>
          <a:ext cx="5529325" cy="643852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4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53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1000" u="none" strike="noStrike" cap="none" dirty="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</a:t>
                      </a:r>
                      <a:r>
                        <a:rPr lang="es" sz="10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Marco Vini</a:t>
                      </a: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</a:t>
                      </a:r>
                      <a:r>
                        <a:rPr lang="es" sz="10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io Jiménez González de la Llave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Cirujano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enero 2023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Jesús Fernando de la Toba Camacho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 de Empresas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</a:t>
                      </a: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junio 2018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3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Eneida Alvarado Coria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Contabilidad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junio 2020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Ariadna Fabiola Fernández Meza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Administración de Negocios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julio 2021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3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L.C.P. María Yadhira Camacho Carrazco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 Pública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ju</a:t>
                      </a: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nio 2017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7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José Víctor Acosta García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Gestión de la Calidad en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Establecimientos de Salud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15 de junio 2015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6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Concepción Gutiérrez Lizárraga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</a:t>
                      </a: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febrero 2023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43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de la Sección XX</a:t>
                      </a:r>
                      <a:r>
                        <a:rPr lang="es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XI</a:t>
                      </a:r>
                      <a:r>
                        <a:rPr lang="es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 Sur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Wiltber Armin Castro Montoya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Ginecólogo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diciembre</a:t>
                      </a: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2025</a:t>
                      </a:r>
                      <a:endParaRPr dirty="0"/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Google Shape;70;g37670341832_11_0"/>
          <p:cNvPicPr preferRelativeResize="0"/>
          <p:nvPr/>
        </p:nvPicPr>
        <p:blipFill rotWithShape="1">
          <a:blip r:embed="rId2">
            <a:alphaModFix/>
          </a:blip>
          <a:srcRect b="48686"/>
          <a:stretch/>
        </p:blipFill>
        <p:spPr>
          <a:xfrm>
            <a:off x="5895475" y="2374560"/>
            <a:ext cx="740325" cy="8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g37670341832_11_0"/>
          <p:cNvPicPr preferRelativeResize="0"/>
          <p:nvPr/>
        </p:nvPicPr>
        <p:blipFill rotWithShape="1">
          <a:blip r:embed="rId3">
            <a:alphaModFix/>
          </a:blip>
          <a:srcRect l="12298" r="11697" b="50345"/>
          <a:stretch/>
        </p:blipFill>
        <p:spPr>
          <a:xfrm>
            <a:off x="5895473" y="3195485"/>
            <a:ext cx="740325" cy="98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;g37670341832_11_0"/>
          <p:cNvPicPr preferRelativeResize="0"/>
          <p:nvPr/>
        </p:nvPicPr>
        <p:blipFill rotWithShape="1">
          <a:blip r:embed="rId4">
            <a:alphaModFix/>
          </a:blip>
          <a:srcRect l="4128" r="2274" b="50397"/>
          <a:stretch/>
        </p:blipFill>
        <p:spPr>
          <a:xfrm>
            <a:off x="5895475" y="4175935"/>
            <a:ext cx="740325" cy="82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3;g37670341832_11_0"/>
          <p:cNvPicPr preferRelativeResize="0"/>
          <p:nvPr/>
        </p:nvPicPr>
        <p:blipFill rotWithShape="1">
          <a:blip r:embed="rId5">
            <a:alphaModFix/>
          </a:blip>
          <a:srcRect l="5733" r="4830" b="50000"/>
          <a:stretch/>
        </p:blipFill>
        <p:spPr>
          <a:xfrm>
            <a:off x="5909600" y="4982085"/>
            <a:ext cx="740325" cy="82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4;g37670341832_11_0"/>
          <p:cNvPicPr preferRelativeResize="0"/>
          <p:nvPr/>
        </p:nvPicPr>
        <p:blipFill rotWithShape="1">
          <a:blip r:embed="rId6">
            <a:alphaModFix/>
          </a:blip>
          <a:srcRect l="3499" r="7683" b="54118"/>
          <a:stretch/>
        </p:blipFill>
        <p:spPr>
          <a:xfrm>
            <a:off x="5909600" y="5803385"/>
            <a:ext cx="740325" cy="7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5;g37670341832_11_0"/>
          <p:cNvPicPr preferRelativeResize="0"/>
          <p:nvPr/>
        </p:nvPicPr>
        <p:blipFill rotWithShape="1">
          <a:blip r:embed="rId7">
            <a:alphaModFix/>
          </a:blip>
          <a:srcRect l="1288" t="1277" r="2586" b="51793"/>
          <a:stretch/>
        </p:blipFill>
        <p:spPr>
          <a:xfrm>
            <a:off x="5909600" y="6595185"/>
            <a:ext cx="740325" cy="72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6;g37670341832_11_0"/>
          <p:cNvPicPr preferRelativeResize="0"/>
          <p:nvPr/>
        </p:nvPicPr>
        <p:blipFill rotWithShape="1">
          <a:blip r:embed="rId8">
            <a:alphaModFix/>
          </a:blip>
          <a:srcRect b="51433"/>
          <a:stretch/>
        </p:blipFill>
        <p:spPr>
          <a:xfrm>
            <a:off x="5909600" y="7323910"/>
            <a:ext cx="756325" cy="7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7;g37670341832_11_0"/>
          <p:cNvPicPr preferRelativeResize="0"/>
          <p:nvPr/>
        </p:nvPicPr>
        <p:blipFill rotWithShape="1">
          <a:blip r:embed="rId9">
            <a:alphaModFix/>
          </a:blip>
          <a:srcRect l="7050" t="6020" r="7909" b="18067"/>
          <a:stretch/>
        </p:blipFill>
        <p:spPr>
          <a:xfrm>
            <a:off x="5909600" y="8084410"/>
            <a:ext cx="740325" cy="7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8;g37670341832_11_0"/>
          <p:cNvPicPr preferRelativeResize="0"/>
          <p:nvPr/>
        </p:nvPicPr>
        <p:blipFill rotWithShape="1">
          <a:blip r:embed="rId10">
            <a:alphaModFix/>
          </a:blip>
          <a:srcRect r="-1958"/>
          <a:stretch/>
        </p:blipFill>
        <p:spPr>
          <a:xfrm>
            <a:off x="1106475" y="566125"/>
            <a:ext cx="1370875" cy="17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216875" y="274320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572,158</a:t>
            </a:r>
            <a:br>
              <a:rPr dirty="0"/>
            </a:br>
            <a:r>
              <a:rPr dirty="0"/>
              <a:t>62%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648" y="2779200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490000" y="29520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25745" y="3369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197,492</a:t>
            </a:r>
            <a:br>
              <a:rPr dirty="0"/>
            </a:br>
            <a:r>
              <a:rPr dirty="0"/>
              <a:t>21%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00" y="29016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132925" y="30744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0150" y="12311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142,114</a:t>
            </a:r>
            <a:br>
              <a:rPr dirty="0"/>
            </a:br>
            <a:r>
              <a:rPr dirty="0"/>
              <a:t>15%</a:t>
            </a:r>
          </a:p>
        </p:txBody>
      </p:sp>
      <p:pic>
        <p:nvPicPr>
          <p:cNvPr id="125" name="Picture 124" descr="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800" y="1249199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574900" y="14003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057665" y="97822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 err="1"/>
              <a:t>Otros</a:t>
            </a:r>
            <a:br>
              <a:rPr dirty="0"/>
            </a:br>
            <a:r>
              <a:rPr dirty="0"/>
              <a:t>9,970</a:t>
            </a:r>
            <a:br>
              <a:rPr dirty="0"/>
            </a:br>
            <a:r>
              <a:rPr dirty="0"/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275" y="973124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4561875" y="1145924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921,734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359561"/>
              </p:ext>
            </p:extLst>
          </p:nvPr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PDA¹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486,036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572,158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272,243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343,199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181,598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227,223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22,963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37,739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9,392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58,290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67,282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55,618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64,791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2,008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213,793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228,959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77,682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107,831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43,446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411742"/>
              </p:ext>
            </p:extLst>
          </p:nvPr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381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dirty="0"/>
                        <a:t>515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dirty="0"/>
                        <a:t>35%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81894"/>
              </p:ext>
            </p:extLst>
          </p:nvPr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1,284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3,195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dirty="0"/>
                        <a:t>149%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4270083055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3_b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9" y="1336298"/>
            <a:ext cx="5910701" cy="5423662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567932"/>
              </p:ext>
            </p:extLst>
          </p:nvPr>
        </p:nvGraphicFramePr>
        <p:xfrm>
          <a:off x="17064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Nivel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Unidades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Consultorios</a:t>
                      </a:r>
                      <a:r>
                        <a:rPr dirty="0"/>
                        <a:t>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8</a:t>
                      </a:r>
                      <a:r>
                        <a:rPr sz="1000" dirty="0">
                          <a:latin typeface="Montserrat"/>
                        </a:rP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162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713721"/>
              </p:ext>
            </p:extLst>
          </p:nvPr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2o </a:t>
                      </a:r>
                      <a:r>
                        <a:rPr dirty="0" err="1"/>
                        <a:t>Nivel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HGZ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14 UMF, 1 UMF-UMAA y no incluye 7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86;g3d0b4d3c5c9_3_0">
            <a:extLst>
              <a:ext uri="{FF2B5EF4-FFF2-40B4-BE49-F238E27FC236}">
                <a16:creationId xmlns:a16="http://schemas.microsoft.com/office/drawing/2014/main" id="{AB9DD023-F2D6-C192-FC9B-02D97E4213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2140071"/>
              </p:ext>
            </p:extLst>
          </p:nvPr>
        </p:nvGraphicFramePr>
        <p:xfrm>
          <a:off x="288000" y="1191600"/>
          <a:ext cx="73351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Hospital La Paz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Baja California Sur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92;g3d0b4d3c5c9_3_0">
            <a:extLst>
              <a:ext uri="{FF2B5EF4-FFF2-40B4-BE49-F238E27FC236}">
                <a16:creationId xmlns:a16="http://schemas.microsoft.com/office/drawing/2014/main" id="{EE7ED226-17AB-83D0-C152-672D763CE7B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90" y="2521974"/>
            <a:ext cx="3017810" cy="21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449F489-7AE9-5A60-77E7-D2A5D25CB1EB}"/>
              </a:ext>
            </a:extLst>
          </p:cNvPr>
          <p:cNvSpPr txBox="1"/>
          <p:nvPr/>
        </p:nvSpPr>
        <p:spPr>
          <a:xfrm>
            <a:off x="3527663" y="2066517"/>
            <a:ext cx="3889512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servicios el 22 de noviembre de 1958 bajo el esquema de subrogación en La Paz con consulta médica, farmacia y hospitalización, las instalaciones se habilitaron en el Hotel Gardenia, de las calles Serdán y Salvatierra.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1963 se inauguró un conjunto compuesto por: Clínica-Hospital, teatro al aire libre y las oficinas de la Subdelegación administrativa, en el malecón de La Paz.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1978 se inauguró el HGZ/MF No. 1 con 37 camas y especialidades básicas, su primer director médico fue el Dr. Enrique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Von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Borstel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Labastida, de quien por su mérito y cualidades profesionales y humanas el actual Hospital lleva su nombre.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s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" y="5330518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505866"/>
              </p:ext>
            </p:extLst>
          </p:nvPr>
        </p:nvGraphicFramePr>
        <p:xfrm>
          <a:off x="75600" y="6476399"/>
          <a:ext cx="7650000" cy="188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Inicio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operaciones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quirófano</a:t>
            </a:r>
            <a:r>
              <a:rPr dirty="0"/>
              <a:t>,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híbridas</a:t>
            </a:r>
            <a:r>
              <a:rPr dirty="0"/>
              <a:t> y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1C4A122-0293-50EC-B7A6-96178E76F6CA}"/>
              </a:ext>
            </a:extLst>
          </p:cNvPr>
          <p:cNvGrpSpPr/>
          <p:nvPr/>
        </p:nvGrpSpPr>
        <p:grpSpPr>
          <a:xfrm>
            <a:off x="-1" y="3311883"/>
            <a:ext cx="7772400" cy="2970825"/>
            <a:chOff x="-1" y="5474469"/>
            <a:chExt cx="7772400" cy="2970825"/>
          </a:xfrm>
        </p:grpSpPr>
        <p:sp>
          <p:nvSpPr>
            <p:cNvPr id="8" name="Google Shape;69;g37263673d04_0_31">
              <a:extLst>
                <a:ext uri="{FF2B5EF4-FFF2-40B4-BE49-F238E27FC236}">
                  <a16:creationId xmlns:a16="http://schemas.microsoft.com/office/drawing/2014/main" id="{F90AB457-8D6E-4542-2A90-F87F48329EF4}"/>
                </a:ext>
              </a:extLst>
            </p:cNvPr>
            <p:cNvSpPr txBox="1"/>
            <p:nvPr/>
          </p:nvSpPr>
          <p:spPr>
            <a:xfrm>
              <a:off x="-1" y="547446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82;g37263673d04_0_31">
              <a:extLst>
                <a:ext uri="{FF2B5EF4-FFF2-40B4-BE49-F238E27FC236}">
                  <a16:creationId xmlns:a16="http://schemas.microsoft.com/office/drawing/2014/main" id="{EAC39BB3-2607-460D-415B-E7A953C37494}"/>
                </a:ext>
              </a:extLst>
            </p:cNvPr>
            <p:cNvGrpSpPr/>
            <p:nvPr/>
          </p:nvGrpSpPr>
          <p:grpSpPr>
            <a:xfrm>
              <a:off x="2603399" y="7513787"/>
              <a:ext cx="2565600" cy="931507"/>
              <a:chOff x="5190698" y="7334532"/>
              <a:chExt cx="2565600" cy="931507"/>
            </a:xfrm>
          </p:grpSpPr>
          <p:sp>
            <p:nvSpPr>
              <p:cNvPr id="10" name="Google Shape;83;g37263673d04_0_31">
                <a:extLst>
                  <a:ext uri="{FF2B5EF4-FFF2-40B4-BE49-F238E27FC236}">
                    <a16:creationId xmlns:a16="http://schemas.microsoft.com/office/drawing/2014/main" id="{8F1EC2E9-A2F0-5D36-94BA-366AAC08766C}"/>
                  </a:ext>
                </a:extLst>
              </p:cNvPr>
              <p:cNvSpPr/>
              <p:nvPr/>
            </p:nvSpPr>
            <p:spPr>
              <a:xfrm>
                <a:off x="5446497" y="7334532"/>
                <a:ext cx="454202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2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84;g37263673d04_0_31">
                <a:extLst>
                  <a:ext uri="{FF2B5EF4-FFF2-40B4-BE49-F238E27FC236}">
                    <a16:creationId xmlns:a16="http://schemas.microsoft.com/office/drawing/2014/main" id="{47EA216D-D28C-2CAD-059B-7FADBBE6512C}"/>
                  </a:ext>
                </a:extLst>
              </p:cNvPr>
              <p:cNvSpPr/>
              <p:nvPr/>
            </p:nvSpPr>
            <p:spPr>
              <a:xfrm>
                <a:off x="5900699" y="7334539"/>
                <a:ext cx="1708655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85;g37263673d04_0_31">
                <a:extLst>
                  <a:ext uri="{FF2B5EF4-FFF2-40B4-BE49-F238E27FC236}">
                    <a16:creationId xmlns:a16="http://schemas.microsoft.com/office/drawing/2014/main" id="{22108236-83C5-14D9-B1F8-D25BB28E01E9}"/>
                  </a:ext>
                </a:extLst>
              </p:cNvPr>
              <p:cNvSpPr txBox="1"/>
              <p:nvPr/>
            </p:nvSpPr>
            <p:spPr>
              <a:xfrm>
                <a:off x="5190698" y="7715539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HGS 38 San José del Cabo</a:t>
                </a: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UMF 19 Vizcaíno</a:t>
                </a:r>
              </a:p>
              <a:p>
                <a:pPr lvl="0" algn="ctr">
                  <a:buSzPts val="1300"/>
                </a:pPr>
                <a:r>
                  <a:rPr lang="es-MX" sz="1300" b="1" dirty="0">
                    <a:solidFill>
                      <a:srgbClr val="595959"/>
                    </a:solidFill>
                    <a:latin typeface="Montserrat"/>
                  </a:rPr>
                  <a:t>$ 6.7 </a:t>
                </a:r>
                <a:r>
                  <a:rPr lang="es-MX" sz="1300" b="1" dirty="0" err="1">
                    <a:solidFill>
                      <a:srgbClr val="595959"/>
                    </a:solidFill>
                    <a:latin typeface="Montserrat"/>
                  </a:rPr>
                  <a:t>mdp</a:t>
                </a:r>
                <a:endParaRPr sz="130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86;g37263673d04_0_31">
              <a:extLst>
                <a:ext uri="{FF2B5EF4-FFF2-40B4-BE49-F238E27FC236}">
                  <a16:creationId xmlns:a16="http://schemas.microsoft.com/office/drawing/2014/main" id="{A28AC447-5B12-4340-2D8A-7A7E31075EE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94926" y="6139459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865844"/>
              </p:ext>
            </p:extLst>
          </p:nvPr>
        </p:nvGraphicFramePr>
        <p:xfrm>
          <a:off x="93600" y="1180800"/>
          <a:ext cx="7534799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IFU,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39788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837BBD1-9777-9628-2697-C067F430FB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62F2629-5E50-AF17-B926-15D4CD3EE4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63DE016-3D31-67C8-98DD-61DB52074824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C9C9378-729D-D7B0-CA69-32FA2BC2081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154D896-BB3A-ED14-E33F-93EE57CD55C9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A8B4C168-7F3C-BDD4-6F71-42EA9379086C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DFAD9365-0253-39F0-3F43-9DAEBE0BE0DF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+1,938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+130,683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+66,756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82463"/>
              </p:ext>
            </p:extLst>
          </p:nvPr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Indicador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962,616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rPr dirty="0"/>
                        <a:t>130,683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451,466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1,040,792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336,640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66,756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167,190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362,810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17,604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1,938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8,612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21,269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40.5%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327365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sz="1800" dirty="0"/>
              <a:t>12 UMF de </a:t>
            </a:r>
            <a:r>
              <a:rPr sz="1800" dirty="0" err="1"/>
              <a:t>lunes</a:t>
            </a:r>
            <a:r>
              <a:rPr sz="1800" dirty="0"/>
              <a:t> a </a:t>
            </a:r>
            <a:r>
              <a:rPr sz="1800" dirty="0" err="1"/>
              <a:t>viernes</a:t>
            </a:r>
            <a:endParaRPr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 Carlos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Insurgentes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Santa Rosalía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45,639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Adolfo López Mateos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Loreto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B. Tortugas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B. Asunción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La Bocana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Guerrero Negro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28,464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Vizcaíno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108,572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48,855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291,749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132,744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350,672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" name="Chart 8">
            <a:extLst>
              <a:ext uri="{FF2B5EF4-FFF2-40B4-BE49-F238E27FC236}">
                <a16:creationId xmlns:a16="http://schemas.microsoft.com/office/drawing/2014/main" id="{5B9C4F7F-87DE-C004-90BA-08EFE7189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401082"/>
              </p:ext>
            </p:extLst>
          </p:nvPr>
        </p:nvGraphicFramePr>
        <p:xfrm>
          <a:off x="4089237" y="422184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9">
            <a:extLst>
              <a:ext uri="{FF2B5EF4-FFF2-40B4-BE49-F238E27FC236}">
                <a16:creationId xmlns:a16="http://schemas.microsoft.com/office/drawing/2014/main" id="{E809E02F-D6A3-2F10-995E-1529CABD44FB}"/>
              </a:ext>
            </a:extLst>
          </p:cNvPr>
          <p:cNvSpPr txBox="1"/>
          <p:nvPr/>
        </p:nvSpPr>
        <p:spPr>
          <a:xfrm>
            <a:off x="4320985" y="4677489"/>
            <a:ext cx="7986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9F2241"/>
                </a:solidFill>
                <a:latin typeface="Montserrat"/>
              </a:rPr>
              <a:t>3</a:t>
            </a:r>
            <a:r>
              <a:rPr lang="es-MX" sz="1600" b="1" dirty="0">
                <a:solidFill>
                  <a:srgbClr val="9F2241"/>
                </a:solidFill>
                <a:latin typeface="Montserrat"/>
              </a:rPr>
              <a:t>7.9</a:t>
            </a:r>
            <a:r>
              <a:rPr sz="1600" b="1" dirty="0">
                <a:solidFill>
                  <a:srgbClr val="9F2241"/>
                </a:solidFill>
                <a:latin typeface="Montserrat"/>
              </a:rPr>
              <a:t>%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159DD776-D804-AC97-D5B1-2B9526C7B525}"/>
              </a:ext>
            </a:extLst>
          </p:cNvPr>
          <p:cNvSpPr txBox="1"/>
          <p:nvPr/>
        </p:nvSpPr>
        <p:spPr>
          <a:xfrm>
            <a:off x="3820293" y="530377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0AC603E-2A1C-1FD8-484F-E0407F7A393D}"/>
              </a:ext>
            </a:extLst>
          </p:cNvPr>
          <p:cNvSpPr txBox="1"/>
          <p:nvPr/>
        </p:nvSpPr>
        <p:spPr>
          <a:xfrm>
            <a:off x="1717205" y="4546314"/>
            <a:ext cx="285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000" dirty="0"/>
              <a:t>350,672 </a:t>
            </a:r>
            <a:br>
              <a:rPr sz="2000" dirty="0"/>
            </a:br>
            <a:r>
              <a:rPr sz="2000" dirty="0"/>
              <a:t>Meta 2026</a:t>
            </a:r>
          </a:p>
        </p:txBody>
      </p:sp>
      <p:sp>
        <p:nvSpPr>
          <p:cNvPr id="17" name="TextBox 34"/>
          <p:cNvSpPr txBox="1"/>
          <p:nvPr/>
        </p:nvSpPr>
        <p:spPr>
          <a:xfrm>
            <a:off x="147600" y="5566199"/>
            <a:ext cx="70487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rPr sz="1800" dirty="0"/>
              <a:t>3 </a:t>
            </a:r>
            <a:r>
              <a:rPr sz="1800" dirty="0" err="1"/>
              <a:t>Unidades</a:t>
            </a:r>
            <a:r>
              <a:rPr sz="1800" dirty="0"/>
              <a:t> </a:t>
            </a:r>
            <a:r>
              <a:rPr sz="1800" dirty="0" err="1"/>
              <a:t>Médicas</a:t>
            </a:r>
            <a:r>
              <a:rPr sz="1800" dirty="0"/>
              <a:t> de </a:t>
            </a:r>
            <a:r>
              <a:rPr sz="1800" dirty="0" err="1"/>
              <a:t>tiempo</a:t>
            </a:r>
            <a:r>
              <a:rPr sz="1800" dirty="0"/>
              <a:t> </a:t>
            </a:r>
            <a:r>
              <a:rPr sz="1800" dirty="0" err="1"/>
              <a:t>completo</a:t>
            </a:r>
            <a:r>
              <a:rPr sz="1800" dirty="0"/>
              <a:t> (9 </a:t>
            </a:r>
            <a:r>
              <a:rPr sz="1800" dirty="0" err="1"/>
              <a:t>consultorios</a:t>
            </a:r>
            <a:r>
              <a:rPr sz="1800" dirty="0"/>
              <a:t>)</a:t>
            </a:r>
          </a:p>
        </p:txBody>
      </p:sp>
      <p:sp>
        <p:nvSpPr>
          <p:cNvPr id="18" name="TextBox 35"/>
          <p:cNvSpPr txBox="1"/>
          <p:nvPr/>
        </p:nvSpPr>
        <p:spPr>
          <a:xfrm>
            <a:off x="125999" y="5983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9" name="Connector 36"/>
          <p:cNvCxnSpPr/>
          <p:nvPr/>
        </p:nvCxnSpPr>
        <p:spPr>
          <a:xfrm>
            <a:off x="118800" y="59082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973104"/>
              </p:ext>
            </p:extLst>
          </p:nvPr>
        </p:nvGraphicFramePr>
        <p:xfrm>
          <a:off x="151200" y="6343800"/>
          <a:ext cx="747359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San José del Cabo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75,490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34 La Paz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138,431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-68,131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65,425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 La Paz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169,902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91,463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498,192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104,545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232,378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495,936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CuadroTexto 30">
            <a:extLst>
              <a:ext uri="{FF2B5EF4-FFF2-40B4-BE49-F238E27FC236}">
                <a16:creationId xmlns:a16="http://schemas.microsoft.com/office/drawing/2014/main" id="{56309D8C-74DC-2021-A209-0C0585E7A173}"/>
              </a:ext>
            </a:extLst>
          </p:cNvPr>
          <p:cNvSpPr txBox="1"/>
          <p:nvPr/>
        </p:nvSpPr>
        <p:spPr>
          <a:xfrm>
            <a:off x="3926806" y="755984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graphicFrame>
        <p:nvGraphicFramePr>
          <p:cNvPr id="22" name="Tabla 31">
            <a:extLst>
              <a:ext uri="{FF2B5EF4-FFF2-40B4-BE49-F238E27FC236}">
                <a16:creationId xmlns:a16="http://schemas.microsoft.com/office/drawing/2014/main" id="{9D9789AF-E2B2-C5F8-0BDD-93938ED25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2938"/>
              </p:ext>
            </p:extLst>
          </p:nvPr>
        </p:nvGraphicFramePr>
        <p:xfrm>
          <a:off x="3944955" y="8708522"/>
          <a:ext cx="2970375" cy="76009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97037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46628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600" b="0" u="none" strike="noStrike" dirty="0">
                          <a:effectLst/>
                          <a:latin typeface="Montserrat" panose="00000500000000000000" pitchFamily="2" charset="0"/>
                        </a:rPr>
                        <a:t>HGSMF 2 Cd. Constitución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3" name="TextBox 38"/>
          <p:cNvSpPr txBox="1"/>
          <p:nvPr/>
        </p:nvSpPr>
        <p:spPr>
          <a:xfrm>
            <a:off x="1940400" y="74263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(58,684 consultas)</a:t>
            </a:r>
          </a:p>
        </p:txBody>
      </p:sp>
      <p:graphicFrame>
        <p:nvGraphicFramePr>
          <p:cNvPr id="24" name="Char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871082"/>
              </p:ext>
            </p:extLst>
          </p:nvPr>
        </p:nvGraphicFramePr>
        <p:xfrm>
          <a:off x="385200" y="739390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41"/>
          <p:cNvSpPr txBox="1"/>
          <p:nvPr/>
        </p:nvSpPr>
        <p:spPr>
          <a:xfrm>
            <a:off x="385200" y="8145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3107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021716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24775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No </a:t>
            </a:r>
            <a:r>
              <a:rPr dirty="0" err="1"/>
              <a:t>incluye</a:t>
            </a:r>
            <a:r>
              <a:rPr dirty="0"/>
              <a:t> la </a:t>
            </a:r>
            <a:r>
              <a:rPr dirty="0" err="1"/>
              <a:t>productividad</a:t>
            </a:r>
            <a:r>
              <a:rPr dirty="0"/>
              <a:t> de </a:t>
            </a:r>
            <a:r>
              <a:rPr dirty="0" err="1"/>
              <a:t>especialidad</a:t>
            </a:r>
            <a:r>
              <a:rPr dirty="0"/>
              <a:t> </a:t>
            </a:r>
            <a:r>
              <a:rPr dirty="0" err="1"/>
              <a:t>generada</a:t>
            </a:r>
            <a:r>
              <a:rPr dirty="0"/>
              <a:t> en UMF </a:t>
            </a:r>
            <a:r>
              <a:rPr dirty="0" err="1"/>
              <a:t>ni</a:t>
            </a:r>
            <a:r>
              <a:rPr dirty="0"/>
              <a:t> en HR. En el </a:t>
            </a:r>
            <a:r>
              <a:rPr dirty="0" err="1"/>
              <a:t>año</a:t>
            </a:r>
            <a:r>
              <a:rPr dirty="0"/>
              <a:t> 2025 no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de HR y UMR.</a:t>
            </a:r>
            <a:br>
              <a:rPr dirty="0"/>
            </a:br>
            <a:r>
              <a:rPr dirty="0"/>
              <a:t>El </a:t>
            </a:r>
            <a:r>
              <a:rPr dirty="0" err="1"/>
              <a:t>año</a:t>
            </a:r>
            <a:r>
              <a:rPr dirty="0"/>
              <a:t> de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inicia</a:t>
            </a:r>
            <a:r>
              <a:rPr dirty="0"/>
              <a:t> del 26 de </a:t>
            </a:r>
            <a:r>
              <a:rPr dirty="0" err="1"/>
              <a:t>diciembre</a:t>
            </a:r>
            <a:r>
              <a:rPr dirty="0"/>
              <a:t> del </a:t>
            </a:r>
            <a:r>
              <a:rPr dirty="0" err="1"/>
              <a:t>año</a:t>
            </a:r>
            <a:r>
              <a:rPr dirty="0"/>
              <a:t> anterior al 25 de </a:t>
            </a:r>
            <a:r>
              <a:rPr dirty="0" err="1"/>
              <a:t>diciembre</a:t>
            </a:r>
            <a:r>
              <a:rPr dirty="0"/>
              <a:t> del </a:t>
            </a:r>
            <a:r>
              <a:rPr dirty="0" err="1"/>
              <a:t>año</a:t>
            </a:r>
            <a:r>
              <a:rPr dirty="0"/>
              <a:t> en curso:2025 (del 26 de </a:t>
            </a:r>
            <a:r>
              <a:rPr dirty="0" err="1"/>
              <a:t>dic</a:t>
            </a:r>
            <a:r>
              <a:rPr dirty="0"/>
              <a:t> de 2024 al 25 de </a:t>
            </a:r>
            <a:r>
              <a:rPr dirty="0" err="1"/>
              <a:t>dic</a:t>
            </a:r>
            <a:r>
              <a:rPr dirty="0"/>
              <a:t> de 2025). </a:t>
            </a:r>
            <a:endParaRPr lang="es-MX" dirty="0"/>
          </a:p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 dirty="0">
                <a:solidFill>
                  <a:schemeClr val="bg1"/>
                </a:solidFill>
              </a:rPr>
              <a:t>No incluye las cirugías realizadas en HR. Sólo se consideran cirugías principales.</a:t>
            </a:r>
          </a:p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dirty="0" err="1"/>
              <a:t>Semana</a:t>
            </a:r>
            <a:r>
              <a:rPr dirty="0"/>
              <a:t>: 24, 7 </a:t>
            </a:r>
            <a:r>
              <a:rPr dirty="0" err="1"/>
              <a:t>junio</a:t>
            </a:r>
            <a:r>
              <a:rPr dirty="0"/>
              <a:t>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242501"/>
              </p:ext>
            </p:extLst>
          </p:nvPr>
        </p:nvGraphicFramePr>
        <p:xfrm>
          <a:off x="216570" y="1406916"/>
          <a:ext cx="7340399" cy="23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29,777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145,333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19,052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72,197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28,504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34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336,640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66,756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167,190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362,810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46.1%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436099"/>
              </p:ext>
            </p:extLst>
          </p:nvPr>
        </p:nvGraphicFramePr>
        <p:xfrm>
          <a:off x="3890747" y="3698355"/>
          <a:ext cx="1515313" cy="1418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3890747" y="4215830"/>
            <a:ext cx="1515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9F2241"/>
                </a:solidFill>
                <a:latin typeface="Montserrat"/>
              </a:rPr>
              <a:t>46.1%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890747" y="5013508"/>
            <a:ext cx="1515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456513" y="3951948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 dirty="0"/>
              <a:t>362,810 </a:t>
            </a:r>
            <a:br>
              <a:rPr sz="2400" dirty="0"/>
            </a:br>
            <a:r>
              <a:rPr sz="2400" dirty="0"/>
              <a:t>Meta 2026</a:t>
            </a:r>
          </a:p>
        </p:txBody>
      </p:sp>
      <p:graphicFrame>
        <p:nvGraphicFramePr>
          <p:cNvPr id="13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147616159"/>
              </p:ext>
            </p:extLst>
          </p:nvPr>
        </p:nvGraphicFramePr>
        <p:xfrm>
          <a:off x="143502" y="5193313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124844"/>
              </p:ext>
            </p:extLst>
          </p:nvPr>
        </p:nvGraphicFramePr>
        <p:xfrm>
          <a:off x="230172" y="5665967"/>
          <a:ext cx="7340399" cy="23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34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17,604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1,938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8,612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21,269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40.5%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Chart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526620"/>
              </p:ext>
            </p:extLst>
          </p:nvPr>
        </p:nvGraphicFramePr>
        <p:xfrm>
          <a:off x="4051800" y="7907109"/>
          <a:ext cx="1460343" cy="1433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234"/>
          <p:cNvSpPr txBox="1"/>
          <p:nvPr/>
        </p:nvSpPr>
        <p:spPr>
          <a:xfrm>
            <a:off x="4037286" y="8449675"/>
            <a:ext cx="1460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9F2241"/>
                </a:solidFill>
                <a:latin typeface="Montserrat"/>
              </a:rPr>
              <a:t>40.5%</a:t>
            </a:r>
          </a:p>
        </p:txBody>
      </p:sp>
      <p:sp>
        <p:nvSpPr>
          <p:cNvPr id="17" name="TextBox 235"/>
          <p:cNvSpPr txBox="1"/>
          <p:nvPr/>
        </p:nvSpPr>
        <p:spPr>
          <a:xfrm>
            <a:off x="4051800" y="9175507"/>
            <a:ext cx="14603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8" name="TextBox 236"/>
          <p:cNvSpPr txBox="1"/>
          <p:nvPr/>
        </p:nvSpPr>
        <p:spPr>
          <a:xfrm>
            <a:off x="1456513" y="8198756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 dirty="0"/>
              <a:t>21,269 </a:t>
            </a:r>
            <a:br>
              <a:rPr sz="2400" dirty="0"/>
            </a:br>
            <a:r>
              <a:rPr sz="2400" dirty="0"/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4689" y="1007999"/>
            <a:ext cx="40030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rPr dirty="0"/>
              <a:t>28 en </a:t>
            </a:r>
            <a:r>
              <a:rPr dirty="0" err="1"/>
              <a:t>Hospitales</a:t>
            </a:r>
            <a:r>
              <a:rPr dirty="0"/>
              <a:t>, 4 en UMF y 66 </a:t>
            </a:r>
            <a:r>
              <a:rPr dirty="0" err="1"/>
              <a:t>sustitutos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39067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28 en </a:t>
            </a:r>
            <a:r>
              <a:rPr dirty="0" err="1"/>
              <a:t>Hospitales</a:t>
            </a:r>
            <a:r>
              <a:rPr lang="es-MX" dirty="0"/>
              <a:t> (1 de 2)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271183"/>
              </p:ext>
            </p:extLst>
          </p:nvPr>
        </p:nvGraphicFramePr>
        <p:xfrm>
          <a:off x="360000" y="3210402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496794"/>
              </p:ext>
            </p:extLst>
          </p:nvPr>
        </p:nvGraphicFramePr>
        <p:xfrm>
          <a:off x="3960000" y="3210402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006271"/>
              </p:ext>
            </p:extLst>
          </p:nvPr>
        </p:nvGraphicFramePr>
        <p:xfrm>
          <a:off x="412289" y="4385744"/>
          <a:ext cx="3456000" cy="22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Ginecología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Obstetricia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TextBox 3"/>
          <p:cNvSpPr txBox="1"/>
          <p:nvPr/>
        </p:nvSpPr>
        <p:spPr>
          <a:xfrm>
            <a:off x="360000" y="7241022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en Unidades de Medicina Familiar</a:t>
            </a:r>
          </a:p>
        </p:txBody>
      </p:sp>
      <p:cxnSp>
        <p:nvCxnSpPr>
          <p:cNvPr id="13" name="Connector 4"/>
          <p:cNvCxnSpPr/>
          <p:nvPr/>
        </p:nvCxnSpPr>
        <p:spPr>
          <a:xfrm>
            <a:off x="360000" y="7637022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357666"/>
              </p:ext>
            </p:extLst>
          </p:nvPr>
        </p:nvGraphicFramePr>
        <p:xfrm>
          <a:off x="360000" y="770902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232995"/>
              </p:ext>
            </p:extLst>
          </p:nvPr>
        </p:nvGraphicFramePr>
        <p:xfrm>
          <a:off x="3960000" y="770902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119861"/>
              </p:ext>
            </p:extLst>
          </p:nvPr>
        </p:nvGraphicFramePr>
        <p:xfrm>
          <a:off x="360000" y="860902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093133"/>
              </p:ext>
            </p:extLst>
          </p:nvPr>
        </p:nvGraphicFramePr>
        <p:xfrm>
          <a:off x="3960000" y="860902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321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476124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66 </a:t>
            </a:r>
            <a:r>
              <a:rPr dirty="0" err="1"/>
              <a:t>especialistas</a:t>
            </a:r>
            <a:r>
              <a:rPr dirty="0"/>
              <a:t> </a:t>
            </a:r>
            <a:r>
              <a:rPr dirty="0" err="1"/>
              <a:t>sustitutos</a:t>
            </a:r>
            <a:r>
              <a:rPr dirty="0"/>
              <a:t> (</a:t>
            </a:r>
            <a:r>
              <a:rPr lang="es-MX" dirty="0"/>
              <a:t>2 de 2</a:t>
            </a:r>
            <a:r>
              <a:rPr dirty="0"/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617176"/>
              </p:ext>
            </p:extLst>
          </p:nvPr>
        </p:nvGraphicFramePr>
        <p:xfrm>
          <a:off x="2052000" y="1613714"/>
          <a:ext cx="3456000" cy="357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Sustitución</a:t>
                      </a:r>
                      <a:r>
                        <a:rPr dirty="0"/>
                        <a:t>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Anestesiología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Cirugía</a:t>
                      </a:r>
                      <a:r>
                        <a:rPr dirty="0"/>
                        <a:t> General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Cirugía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Oncológica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Epidemiología</a:t>
                      </a:r>
                      <a:endParaRPr dirty="0"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Ginecología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Obstetricia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Medicina</a:t>
                      </a:r>
                      <a:r>
                        <a:rPr dirty="0"/>
                        <a:t> Familiar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Medicina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Urgencias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Nefrología</a:t>
                      </a:r>
                      <a:endParaRPr dirty="0"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Neonatología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Otorrinolaringología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Cirugía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Cabeza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Cuello</a:t>
                      </a:r>
                      <a:endParaRPr dirty="0"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Pediatría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Psiquiatría</a:t>
                      </a:r>
                      <a:endParaRPr dirty="0"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Traumatología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Ortopedia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Urología</a:t>
                      </a:r>
                      <a:endParaRPr dirty="0"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6200" y="5673142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dirty="0" err="1"/>
              <a:t>Sustitutos</a:t>
            </a:r>
            <a:r>
              <a:rPr dirty="0"/>
              <a:t> se </a:t>
            </a:r>
            <a:r>
              <a:rPr dirty="0" err="1"/>
              <a:t>integran</a:t>
            </a:r>
            <a:r>
              <a:rPr dirty="0"/>
              <a:t> a los </a:t>
            </a:r>
            <a:r>
              <a:rPr dirty="0" err="1"/>
              <a:t>Listados</a:t>
            </a:r>
            <a:r>
              <a:rPr dirty="0"/>
              <a:t> de </a:t>
            </a:r>
            <a:r>
              <a:rPr dirty="0" err="1"/>
              <a:t>Bolsa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,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cubrir</a:t>
            </a:r>
            <a:r>
              <a:rPr dirty="0"/>
              <a:t> </a:t>
            </a:r>
            <a:r>
              <a:rPr dirty="0" err="1"/>
              <a:t>las</a:t>
            </a:r>
            <a:r>
              <a:rPr dirty="0"/>
              <a:t>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vacantes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jubilación</a:t>
            </a:r>
            <a:r>
              <a:rPr dirty="0"/>
              <a:t>, </a:t>
            </a:r>
            <a:r>
              <a:rPr dirty="0" err="1"/>
              <a:t>renuncia</a:t>
            </a:r>
            <a:r>
              <a:rPr dirty="0"/>
              <a:t>, </a:t>
            </a:r>
            <a:r>
              <a:rPr dirty="0" err="1"/>
              <a:t>fallecimiento</a:t>
            </a:r>
            <a:r>
              <a:rPr dirty="0"/>
              <a:t>, etc.,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ausentismo</a:t>
            </a:r>
            <a:r>
              <a:rPr dirty="0"/>
              <a:t> </a:t>
            </a:r>
            <a:r>
              <a:rPr dirty="0" err="1"/>
              <a:t>programado</a:t>
            </a:r>
            <a:r>
              <a:rPr dirty="0"/>
              <a:t> y no </a:t>
            </a:r>
            <a:r>
              <a:rPr dirty="0" err="1"/>
              <a:t>programado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99475"/>
              </p:ext>
            </p:extLst>
          </p:nvPr>
        </p:nvGraphicFramePr>
        <p:xfrm>
          <a:off x="1007999" y="1655999"/>
          <a:ext cx="5756399" cy="59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Medicina</a:t>
                      </a:r>
                      <a:r>
                        <a:rPr dirty="0"/>
                        <a:t>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Ginecología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Obstetricia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Anestesiología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Medicina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Urgencias</a:t>
                      </a:r>
                      <a:endParaRPr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Cirugía</a:t>
                      </a:r>
                      <a:r>
                        <a:rPr dirty="0"/>
                        <a:t>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Pediatría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Traumatología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Ortopedia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Medicina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Interna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95.9%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96.9%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97.9%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AE6EB7C-A0A0-8A94-2DB7-B0BA181099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9959100"/>
              </p:ext>
            </p:extLst>
          </p:nvPr>
        </p:nvGraphicFramePr>
        <p:xfrm>
          <a:off x="287050" y="881406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454196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680440"/>
              </p:ext>
            </p:extLst>
          </p:nvPr>
        </p:nvGraphicFramePr>
        <p:xfrm>
          <a:off x="77556" y="1701627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29772"/>
              </p:ext>
            </p:extLst>
          </p:nvPr>
        </p:nvGraphicFramePr>
        <p:xfrm>
          <a:off x="4037556" y="2076027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231">
            <a:extLst>
              <a:ext uri="{FF2B5EF4-FFF2-40B4-BE49-F238E27FC236}">
                <a16:creationId xmlns:a16="http://schemas.microsoft.com/office/drawing/2014/main" id="{76C4532B-D1DF-02D6-213D-3ADE2CC2E898}"/>
              </a:ext>
            </a:extLst>
          </p:cNvPr>
          <p:cNvSpPr txBox="1"/>
          <p:nvPr/>
        </p:nvSpPr>
        <p:spPr>
          <a:xfrm>
            <a:off x="642541" y="6546218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8" name="Google Shape;230;g370e87ffe7a_2_137">
            <a:extLst>
              <a:ext uri="{FF2B5EF4-FFF2-40B4-BE49-F238E27FC236}">
                <a16:creationId xmlns:a16="http://schemas.microsoft.com/office/drawing/2014/main" id="{7F1E1F8B-E3ED-D78A-6C68-F1A78435CC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2529279"/>
              </p:ext>
            </p:extLst>
          </p:nvPr>
        </p:nvGraphicFramePr>
        <p:xfrm>
          <a:off x="200058" y="536760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232">
            <a:extLst>
              <a:ext uri="{FF2B5EF4-FFF2-40B4-BE49-F238E27FC236}">
                <a16:creationId xmlns:a16="http://schemas.microsoft.com/office/drawing/2014/main" id="{6B2C0ECC-7D41-BB88-9838-CCBE7A3AD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07059"/>
              </p:ext>
            </p:extLst>
          </p:nvPr>
        </p:nvGraphicFramePr>
        <p:xfrm>
          <a:off x="659906" y="5862134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409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319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84,068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53,036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ble 232">
            <a:extLst>
              <a:ext uri="{FF2B5EF4-FFF2-40B4-BE49-F238E27FC236}">
                <a16:creationId xmlns:a16="http://schemas.microsoft.com/office/drawing/2014/main" id="{AFBAE38A-6346-03C4-07A3-2F0A0EC61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220554"/>
              </p:ext>
            </p:extLst>
          </p:nvPr>
        </p:nvGraphicFramePr>
        <p:xfrm>
          <a:off x="1735038" y="6871668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Brigadas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TextBox 231">
            <a:extLst>
              <a:ext uri="{FF2B5EF4-FFF2-40B4-BE49-F238E27FC236}">
                <a16:creationId xmlns:a16="http://schemas.microsoft.com/office/drawing/2014/main" id="{0BAB9644-6048-B699-5A49-51733ED9C44F}"/>
              </a:ext>
            </a:extLst>
          </p:cNvPr>
          <p:cNvSpPr txBox="1"/>
          <p:nvPr/>
        </p:nvSpPr>
        <p:spPr>
          <a:xfrm>
            <a:off x="1757762" y="7563679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 dirty="0"/>
              <a:t>En cada brigada participan 5 personas del IMSS.</a:t>
            </a:r>
            <a:endParaRPr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8A98D81-2FB4-0CA2-11B8-5F7D8E4BF681}"/>
              </a:ext>
            </a:extLst>
          </p:cNvPr>
          <p:cNvSpPr txBox="1"/>
          <p:nvPr/>
        </p:nvSpPr>
        <p:spPr>
          <a:xfrm>
            <a:off x="615121" y="8379671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4,063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C39BF6-6B94-6BAC-E5AF-A7A3A18C77F8}"/>
              </a:ext>
            </a:extLst>
          </p:cNvPr>
          <p:cNvSpPr txBox="1"/>
          <p:nvPr/>
        </p:nvSpPr>
        <p:spPr>
          <a:xfrm>
            <a:off x="3036893" y="8379671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3,344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A36C962-610F-F023-D470-9974DAA6BEDA}"/>
              </a:ext>
            </a:extLst>
          </p:cNvPr>
          <p:cNvSpPr txBox="1"/>
          <p:nvPr/>
        </p:nvSpPr>
        <p:spPr>
          <a:xfrm>
            <a:off x="5331205" y="8379671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1,499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7BF1126F-532C-AFEB-9081-1612E9243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834" y="7766608"/>
            <a:ext cx="730135" cy="669175"/>
          </a:xfrm>
          <a:prstGeom prst="rect">
            <a:avLst/>
          </a:prstGeom>
        </p:spPr>
      </p:pic>
      <p:pic>
        <p:nvPicPr>
          <p:cNvPr id="16" name="Imagen 15" descr="Icono&#10;&#10;El contenido generado por IA puede ser incorrecto.">
            <a:extLst>
              <a:ext uri="{FF2B5EF4-FFF2-40B4-BE49-F238E27FC236}">
                <a16:creationId xmlns:a16="http://schemas.microsoft.com/office/drawing/2014/main" id="{8994A361-CFFC-F244-CB21-0EC4BFA31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835" y="7913639"/>
            <a:ext cx="924445" cy="491944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B427DB51-4EF1-D152-9316-6183D6E69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072" y="7748597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5,675	 Personal de Salud: 3,399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+127.6%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+41.6%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810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1,234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972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423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4,144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1,507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435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6,425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103791"/>
              </p:ext>
            </p:extLst>
          </p:nvPr>
        </p:nvGraphicFramePr>
        <p:xfrm>
          <a:off x="106710" y="1548000"/>
          <a:ext cx="7567200" cy="355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Medicina</a:t>
                      </a:r>
                      <a:r>
                        <a:rPr dirty="0"/>
                        <a:t>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Especialidades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(52,304)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del </a:t>
                      </a:r>
                      <a:r>
                        <a:rPr sz="900" b="0" dirty="0" err="1">
                          <a:latin typeface="Montserrat"/>
                        </a:rPr>
                        <a:t>corazón</a:t>
                      </a:r>
                      <a:r>
                        <a:rPr sz="900" b="0" dirty="0">
                          <a:latin typeface="Montserrat"/>
                        </a:rPr>
                        <a:t>
(5,644)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Traumatismos</a:t>
                      </a:r>
                      <a:r>
                        <a:rPr sz="900" b="0" dirty="0">
                          <a:latin typeface="Montserrat"/>
                        </a:rPr>
                        <a:t> y </a:t>
                      </a:r>
                      <a:r>
                        <a:rPr sz="900" b="0" dirty="0" err="1">
                          <a:latin typeface="Montserrat"/>
                        </a:rPr>
                        <a:t>envenenamientos</a:t>
                      </a:r>
                      <a:r>
                        <a:rPr sz="900" b="0" dirty="0">
                          <a:latin typeface="Montserrat"/>
                        </a:rPr>
                        <a:t>
(642)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(1,567)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(51,656)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(5,214)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Cesárea</a:t>
                      </a:r>
                      <a:r>
                        <a:rPr sz="900" b="0" dirty="0">
                          <a:latin typeface="Montserrat"/>
                        </a:rPr>
                        <a:t>
(383)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Traumatismos</a:t>
                      </a:r>
                      <a:r>
                        <a:rPr sz="900" b="0" dirty="0">
                          <a:latin typeface="Montserrat"/>
                        </a:rPr>
                        <a:t> e </a:t>
                      </a:r>
                      <a:r>
                        <a:rPr sz="900" b="0" dirty="0" err="1">
                          <a:latin typeface="Montserrat"/>
                        </a:rPr>
                        <a:t>intoxicaciones</a:t>
                      </a:r>
                      <a:r>
                        <a:rPr sz="900" b="0" dirty="0">
                          <a:latin typeface="Montserrat"/>
                        </a:rPr>
                        <a:t>
(910)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(15,886)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(5,110)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de la </a:t>
                      </a:r>
                      <a:r>
                        <a:rPr sz="900" b="0" dirty="0" err="1">
                          <a:latin typeface="Montserrat"/>
                        </a:rPr>
                        <a:t>vesicula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biliar</a:t>
                      </a:r>
                      <a:r>
                        <a:rPr sz="900" b="0" dirty="0">
                          <a:latin typeface="Montserrat"/>
                        </a:rPr>
                        <a:t>
(399)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del </a:t>
                      </a:r>
                      <a:r>
                        <a:rPr sz="900" b="0" dirty="0" err="1">
                          <a:latin typeface="Montserrat"/>
                        </a:rPr>
                        <a:t>corazón</a:t>
                      </a:r>
                      <a:r>
                        <a:rPr sz="900" b="0" dirty="0">
                          <a:latin typeface="Montserrat"/>
                        </a:rPr>
                        <a:t>
(51)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(13,322)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(5,011)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(268)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del </a:t>
                      </a:r>
                      <a:r>
                        <a:rPr sz="900" b="0" dirty="0" err="1">
                          <a:latin typeface="Montserrat"/>
                        </a:rPr>
                        <a:t>corazón</a:t>
                      </a:r>
                      <a:r>
                        <a:rPr sz="900" b="0" dirty="0">
                          <a:latin typeface="Montserrat"/>
                        </a:rPr>
                        <a:t>
(341)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Neumonía</a:t>
                      </a:r>
                      <a:r>
                        <a:rPr sz="900" b="0" dirty="0">
                          <a:latin typeface="Montserrat"/>
                        </a:rPr>
                        <a:t> e influenza
(27)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(8,782)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(4,378)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Cirugía</a:t>
                      </a:r>
                      <a:r>
                        <a:rPr sz="900" b="0" dirty="0">
                          <a:latin typeface="Montserrat"/>
                        </a:rPr>
                        <a:t> de </a:t>
                      </a:r>
                      <a:r>
                        <a:rPr sz="900" b="0" dirty="0" err="1">
                          <a:latin typeface="Montserrat"/>
                        </a:rPr>
                        <a:t>cataratas</a:t>
                      </a:r>
                      <a:r>
                        <a:rPr sz="900" b="0" dirty="0">
                          <a:latin typeface="Montserrat"/>
                        </a:rPr>
                        <a:t> (</a:t>
                      </a:r>
                      <a:r>
                        <a:rPr sz="900" b="0" dirty="0" err="1">
                          <a:latin typeface="Montserrat"/>
                        </a:rPr>
                        <a:t>Facoemulsificación</a:t>
                      </a:r>
                      <a:r>
                        <a:rPr sz="900" b="0" dirty="0">
                          <a:latin typeface="Montserrat"/>
                        </a:rPr>
                        <a:t> con </a:t>
                      </a:r>
                      <a:r>
                        <a:rPr sz="900" b="0" dirty="0" err="1">
                          <a:latin typeface="Montserrat"/>
                        </a:rPr>
                        <a:t>implante</a:t>
                      </a:r>
                      <a:r>
                        <a:rPr sz="900" b="0" dirty="0">
                          <a:latin typeface="Montserrat"/>
                        </a:rPr>
                        <a:t> de </a:t>
                      </a:r>
                      <a:r>
                        <a:rPr sz="900" b="0" dirty="0" err="1">
                          <a:latin typeface="Montserrat"/>
                        </a:rPr>
                        <a:t>lente</a:t>
                      </a:r>
                      <a:r>
                        <a:rPr sz="900" b="0" dirty="0">
                          <a:latin typeface="Montserrat"/>
                        </a:rPr>
                        <a:t> intraocular)
(200)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Tumores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malignos</a:t>
                      </a:r>
                      <a:r>
                        <a:rPr sz="900" b="0" dirty="0">
                          <a:latin typeface="Montserrat"/>
                        </a:rPr>
                        <a:t>
(333)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del </a:t>
                      </a:r>
                      <a:r>
                        <a:rPr sz="900" b="0" dirty="0" err="1">
                          <a:latin typeface="Montserrat"/>
                        </a:rPr>
                        <a:t>hígado</a:t>
                      </a:r>
                      <a:r>
                        <a:rPr sz="900" b="0" dirty="0">
                          <a:latin typeface="Montserrat"/>
                        </a:rPr>
                        <a:t>
(24)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rPr dirty="0"/>
              <a:t>El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casos</a:t>
            </a:r>
            <a:r>
              <a:rPr dirty="0"/>
              <a:t> se </a:t>
            </a:r>
            <a:r>
              <a:rPr dirty="0" err="1"/>
              <a:t>presentan</a:t>
            </a:r>
            <a:r>
              <a:rPr dirty="0"/>
              <a:t> entre </a:t>
            </a:r>
            <a:r>
              <a:rPr dirty="0" err="1"/>
              <a:t>paréntesis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IMSS/DPM/</a:t>
            </a:r>
            <a:r>
              <a:rPr dirty="0" err="1"/>
              <a:t>División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 en </a:t>
            </a:r>
            <a:r>
              <a:rPr dirty="0" err="1"/>
              <a:t>Salud</a:t>
            </a:r>
            <a:r>
              <a:rPr dirty="0"/>
              <a:t>/</a:t>
            </a:r>
            <a:r>
              <a:rPr dirty="0" err="1"/>
              <a:t>Motivos</a:t>
            </a:r>
            <a:r>
              <a:rPr dirty="0"/>
              <a:t> de </a:t>
            </a:r>
            <a:r>
              <a:rPr dirty="0" err="1"/>
              <a:t>Consulta</a:t>
            </a:r>
            <a:r>
              <a:rPr dirty="0"/>
              <a:t> </a:t>
            </a:r>
            <a:r>
              <a:rPr dirty="0" err="1"/>
              <a:t>Externa</a:t>
            </a:r>
            <a:r>
              <a:rPr dirty="0"/>
              <a:t> (SUI27).</a:t>
            </a:r>
            <a:br>
              <a:rPr dirty="0"/>
            </a:b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Médico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Central (SIMOC).</a:t>
            </a:r>
            <a:br>
              <a:rPr dirty="0"/>
            </a:br>
            <a:r>
              <a:rPr dirty="0" err="1"/>
              <a:t>Periodo</a:t>
            </a:r>
            <a:r>
              <a:rPr dirty="0"/>
              <a:t>: </a:t>
            </a:r>
            <a:r>
              <a:rPr dirty="0" err="1"/>
              <a:t>enero-diciembre</a:t>
            </a:r>
            <a:r>
              <a:rPr dirty="0"/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850761"/>
              </p:ext>
            </p:extLst>
          </p:nvPr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198,007</a:t>
                      </a:r>
                      <a:endParaRPr sz="11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1,593,892</a:t>
                      </a:r>
                      <a:endParaRPr sz="11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8</a:t>
                      </a:r>
                      <a:r>
                        <a:rPr lang="es-MX"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9.0</a:t>
                      </a:r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100" b="1" i="0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30,</a:t>
                      </a:r>
                      <a:r>
                        <a:rPr lang="es-MX" sz="1100" b="1" i="0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823</a:t>
                      </a:r>
                      <a:endParaRPr sz="1100" b="1" i="0" u="none" strike="noStrike" cap="none" dirty="0">
                        <a:solidFill>
                          <a:srgbClr val="006455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8</a:t>
                      </a:r>
                      <a:r>
                        <a:rPr lang="es-MX"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19,972</a:t>
                      </a:r>
                      <a:endParaRPr sz="1100" b="1" dirty="0">
                        <a:solidFill>
                          <a:srgbClr val="006455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96.4%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4A44-89FC-F943-D196-A716D77B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413208"/>
              </p:ext>
            </p:extLst>
          </p:nvPr>
        </p:nvGraphicFramePr>
        <p:xfrm>
          <a:off x="275250" y="4121999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Paracetamol,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analgésico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218,971</a:t>
                      </a:r>
                    </a:p>
                  </a:txBody>
                  <a:tcPr marL="7620" marR="7620" marT="7620" marB="0" anchor="b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Cloruro</a:t>
                      </a:r>
                      <a:r>
                        <a:rPr dirty="0"/>
                        <a:t> de sodio,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inyectable</a:t>
                      </a:r>
                      <a:r>
                        <a:rPr dirty="0"/>
                        <a:t> al 0.9% (</a:t>
                      </a:r>
                      <a:r>
                        <a:rPr sz="900" b="0" i="0" u="none" strike="noStrike" cap="none" dirty="0" err="1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deshidratación</a:t>
                      </a:r>
                      <a:r>
                        <a:rPr dirty="0"/>
                        <a:t>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103,944</a:t>
                      </a:r>
                    </a:p>
                  </a:txBody>
                  <a:tcPr marL="7620" marR="7620" marT="7620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97,332</a:t>
                      </a:r>
                    </a:p>
                  </a:txBody>
                  <a:tcPr marL="7620" marR="7620" marT="7620" marB="0" anchor="b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87,715</a:t>
                      </a:r>
                    </a:p>
                  </a:txBody>
                  <a:tcPr marL="7620" marR="7620" marT="7620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87,216</a:t>
                      </a:r>
                    </a:p>
                  </a:txBody>
                  <a:tcPr marL="7620" marR="7620" marT="7620" marB="0" anchor="b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80,005</a:t>
                      </a:r>
                    </a:p>
                  </a:txBody>
                  <a:tcPr marL="7620" marR="7620" marT="7620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70,784</a:t>
                      </a:r>
                    </a:p>
                  </a:txBody>
                  <a:tcPr marL="7620" marR="7620" marT="7620" marB="0" anchor="b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62,234</a:t>
                      </a:r>
                    </a:p>
                  </a:txBody>
                  <a:tcPr marL="7620" marR="7620" marT="7620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57,504</a:t>
                      </a:r>
                    </a:p>
                  </a:txBody>
                  <a:tcPr marL="7620" marR="7620" marT="7620" marB="0" anchor="b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cap="none" dirty="0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55,810</a:t>
                      </a:r>
                    </a:p>
                  </a:txBody>
                  <a:tcPr marL="7620" marR="7620" marT="7620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Fuente</a:t>
            </a:r>
            <a:r>
              <a:rPr dirty="0"/>
              <a:t>: Portal de Control de </a:t>
            </a:r>
            <a:r>
              <a:rPr dirty="0" err="1"/>
              <a:t>Abasto</a:t>
            </a:r>
            <a:r>
              <a:rPr dirty="0"/>
              <a:t>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</a:t>
            </a:r>
            <a:r>
              <a:rPr lang="es-MX" dirty="0"/>
              <a:t>1</a:t>
            </a:r>
            <a:r>
              <a:rPr dirty="0"/>
              <a:t> de </a:t>
            </a:r>
            <a:r>
              <a:rPr lang="es-MX" dirty="0"/>
              <a:t>mayo</a:t>
            </a:r>
            <a:r>
              <a:rPr dirty="0"/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105029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20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034064" y="17717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4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5073" y="2108834"/>
            <a:ext cx="875508" cy="854908"/>
          </a:xfrm>
          <a:prstGeom prst="rect">
            <a:avLst/>
          </a:prstGeom>
        </p:spPr>
      </p:pic>
      <p:sp>
        <p:nvSpPr>
          <p:cNvPr id="25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080273" y="2108834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26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5073" y="3028943"/>
            <a:ext cx="875508" cy="854908"/>
          </a:xfrm>
          <a:prstGeom prst="rect">
            <a:avLst/>
          </a:prstGeom>
        </p:spPr>
      </p:pic>
      <p:sp>
        <p:nvSpPr>
          <p:cNvPr id="27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080273" y="3080726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/>
          </a:p>
        </p:txBody>
      </p:sp>
      <p:sp>
        <p:nvSpPr>
          <p:cNvPr id="28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034064" y="401235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9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5073" y="4299451"/>
            <a:ext cx="875508" cy="854908"/>
          </a:xfrm>
          <a:prstGeom prst="rect">
            <a:avLst/>
          </a:prstGeom>
        </p:spPr>
      </p:pic>
      <p:sp>
        <p:nvSpPr>
          <p:cNvPr id="30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080273" y="440198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BC955C"/>
                </a:solidFill>
                <a:latin typeface="Montserrat"/>
              </a:rPr>
              <a:t>Mastógrafos</a:t>
            </a:r>
            <a:endParaRPr lang="en-US" sz="800" b="1" dirty="0">
              <a:solidFill>
                <a:srgbClr val="BC955C"/>
              </a:solidFill>
              <a:latin typeface="Montserrat"/>
            </a:endParaRPr>
          </a:p>
        </p:txBody>
      </p:sp>
      <p:graphicFrame>
        <p:nvGraphicFramePr>
          <p:cNvPr id="31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838124"/>
              </p:ext>
            </p:extLst>
          </p:nvPr>
        </p:nvGraphicFramePr>
        <p:xfrm>
          <a:off x="1785600" y="1584000"/>
          <a:ext cx="5295600" cy="11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Nueva UMF No. 40 La Paz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$202.6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Estudios de </a:t>
                      </a:r>
                      <a:r>
                        <a:rPr lang="es-MX" sz="1000" dirty="0" err="1">
                          <a:latin typeface="Montserrat"/>
                        </a:rPr>
                        <a:t>Pre-inversión</a:t>
                      </a:r>
                      <a:r>
                        <a:rPr lang="es-MX" sz="1000" dirty="0">
                          <a:latin typeface="Montserrat"/>
                        </a:rPr>
                        <a:t> para el Hospital General Regional de 260 Camas en Los Cabos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b="0" dirty="0">
                          <a:latin typeface="Montserrat"/>
                        </a:rPr>
                        <a:t>$6.9</a:t>
                      </a:r>
                      <a:endParaRPr sz="1000" b="0" dirty="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8849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$2</a:t>
                      </a:r>
                      <a:r>
                        <a:rPr lang="es-MX" sz="1000" dirty="0"/>
                        <a:t>09.5</a:t>
                      </a:r>
                      <a:endParaRPr sz="1000" dirty="0"/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636521"/>
                  </a:ext>
                </a:extLst>
              </a:tr>
            </a:tbl>
          </a:graphicData>
        </a:graphic>
      </p:graphicFrame>
      <p:graphicFrame>
        <p:nvGraphicFramePr>
          <p:cNvPr id="32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104716"/>
              </p:ext>
            </p:extLst>
          </p:nvPr>
        </p:nvGraphicFramePr>
        <p:xfrm>
          <a:off x="1785600" y="2892170"/>
          <a:ext cx="5295600" cy="3184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Obras de </a:t>
                      </a:r>
                      <a:r>
                        <a:rPr sz="1000" dirty="0" err="1"/>
                        <a:t>Conservación</a:t>
                      </a:r>
                      <a:r>
                        <a:rPr sz="1000"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$139.9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mejora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2 </a:t>
                      </a:r>
                      <a:r>
                        <a:rPr sz="1000" dirty="0" err="1">
                          <a:latin typeface="Montserrat"/>
                        </a:rPr>
                        <a:t>subdelegaciones</a:t>
                      </a:r>
                      <a:r>
                        <a:rPr sz="1000" dirty="0">
                          <a:latin typeface="Montserrat"/>
                        </a:rPr>
                        <a:t> La Paz y Los Cabos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$25.8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La Paz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$17.0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6 unidades, Baja California Sur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7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4 unidades (HGSZMF No.26, HGSZ  No.38, Los Cabos; HGZ No. 1, UMAA CON UMF 34, La Paz.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$12.2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con UMAA 34 La Paz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$11.0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1 La Paz; HGSMF No. 26 Cabo San Lucas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La Paz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$0.5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2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$227.</a:t>
                      </a:r>
                      <a:r>
                        <a:rPr lang="es-MX" sz="1000" dirty="0"/>
                        <a:t>0</a:t>
                      </a:r>
                      <a:endParaRPr sz="1000" dirty="0"/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3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24449"/>
              </p:ext>
            </p:extLst>
          </p:nvPr>
        </p:nvGraphicFramePr>
        <p:xfrm>
          <a:off x="1785600" y="6262366"/>
          <a:ext cx="5295600" cy="1067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73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36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6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2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lámpara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cirugía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desfibrilador</a:t>
                      </a:r>
                      <a:r>
                        <a:rPr sz="1000">
                          <a:latin typeface="Montserrat"/>
                        </a:rPr>
                        <a:t> monitor-</a:t>
                      </a:r>
                      <a:r>
                        <a:rPr sz="1000" err="1">
                          <a:latin typeface="Montserrat"/>
                        </a:rPr>
                        <a:t>marcapaso</a:t>
                      </a:r>
                      <a:r>
                        <a:rPr sz="1000">
                          <a:latin typeface="Montserrat"/>
                        </a:rPr>
                        <a:t>, 2 </a:t>
                      </a:r>
                      <a:r>
                        <a:rPr sz="1000" err="1">
                          <a:latin typeface="Montserrat"/>
                        </a:rPr>
                        <a:t>mastógrafos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TextBox 18"/>
          <p:cNvSpPr txBox="1"/>
          <p:nvPr/>
        </p:nvSpPr>
        <p:spPr>
          <a:xfrm>
            <a:off x="6158485" y="840300"/>
            <a:ext cx="6719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4</a:t>
            </a:r>
            <a:r>
              <a:rPr lang="es-MX" dirty="0"/>
              <a:t>44.1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6369798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466085"/>
              </p:ext>
            </p:extLst>
          </p:nvPr>
        </p:nvGraphicFramePr>
        <p:xfrm>
          <a:off x="290798" y="5876817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391912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532209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7298856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889843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678278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23240"/>
              </p:ext>
            </p:extLst>
          </p:nvPr>
        </p:nvGraphicFramePr>
        <p:xfrm>
          <a:off x="2552400" y="6533478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8 </a:t>
                      </a:r>
                      <a:r>
                        <a:rPr dirty="0" err="1"/>
                        <a:t>Predios</a:t>
                      </a:r>
                      <a:r>
                        <a:rPr dirty="0"/>
                        <a:t> en </a:t>
                      </a:r>
                      <a:r>
                        <a:rPr dirty="0" err="1"/>
                        <a:t>ruta</a:t>
                      </a:r>
                      <a:r>
                        <a:rPr lang="es-MX" baseline="0" dirty="0"/>
                        <a:t> </a:t>
                      </a:r>
                      <a:r>
                        <a:rPr dirty="0"/>
                        <a:t>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Mulegé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La Paz (2), Los Cabos (4), Mulegé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val 22"/>
          <p:cNvSpPr/>
          <p:nvPr/>
        </p:nvSpPr>
        <p:spPr>
          <a:xfrm>
            <a:off x="885600" y="6555078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600" y="7339878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2400" y="8424207"/>
            <a:ext cx="49342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¹ </a:t>
            </a:r>
            <a:r>
              <a:rPr dirty="0" err="1"/>
              <a:t>Terrenos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. 1 CECI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entregar</a:t>
            </a:r>
            <a:r>
              <a:rPr dirty="0"/>
              <a:t> a SICT en </a:t>
            </a:r>
            <a:r>
              <a:rPr dirty="0" err="1"/>
              <a:t>Mulegé</a:t>
            </a:r>
            <a:r>
              <a:rPr dirty="0"/>
              <a:t>. 7 CECI en </a:t>
            </a:r>
            <a:r>
              <a:rPr dirty="0" err="1"/>
              <a:t>integración</a:t>
            </a:r>
            <a:r>
              <a:rPr dirty="0"/>
              <a:t> de </a:t>
            </a:r>
            <a:r>
              <a:rPr dirty="0" err="1"/>
              <a:t>expediente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donación</a:t>
            </a:r>
            <a:r>
              <a:rPr dirty="0"/>
              <a:t> en </a:t>
            </a:r>
            <a:r>
              <a:rPr dirty="0" err="1"/>
              <a:t>Mulegé</a:t>
            </a:r>
            <a:r>
              <a:rPr dirty="0"/>
              <a:t>, La Paz y Los </a:t>
            </a:r>
            <a:r>
              <a:rPr dirty="0" err="1"/>
              <a:t>Cabos</a:t>
            </a:r>
            <a:r>
              <a:rPr dirty="0"/>
              <a:t>.</a:t>
            </a:r>
          </a:p>
        </p:txBody>
      </p:sp>
      <p:graphicFrame>
        <p:nvGraphicFramePr>
          <p:cNvPr id="17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008995" y="155012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9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69" y="1862047"/>
            <a:ext cx="872667" cy="849944"/>
          </a:xfrm>
          <a:prstGeom prst="rect">
            <a:avLst/>
          </a:prstGeom>
        </p:spPr>
      </p:pic>
      <p:sp>
        <p:nvSpPr>
          <p:cNvPr id="30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066490" y="1992597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" name="CuadroTexto 11">
            <a:extLst>
              <a:ext uri="{FF2B5EF4-FFF2-40B4-BE49-F238E27FC236}">
                <a16:creationId xmlns:a16="http://schemas.microsoft.com/office/drawing/2014/main" id="{31F06996-6695-0609-49FC-3D48462AAA79}"/>
              </a:ext>
            </a:extLst>
          </p:cNvPr>
          <p:cNvSpPr txBox="1"/>
          <p:nvPr/>
        </p:nvSpPr>
        <p:spPr>
          <a:xfrm>
            <a:off x="-1057501" y="2863528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Centro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Mezclas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graphicFrame>
        <p:nvGraphicFramePr>
          <p:cNvPr id="32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163620"/>
              </p:ext>
            </p:extLst>
          </p:nvPr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Los Cabos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$3,802.6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693732"/>
              </p:ext>
            </p:extLst>
          </p:nvPr>
        </p:nvGraphicFramePr>
        <p:xfrm>
          <a:off x="1785600" y="226799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Obras de </a:t>
                      </a:r>
                      <a:r>
                        <a:rPr sz="1000" dirty="0" err="1"/>
                        <a:t>Conservación</a:t>
                      </a:r>
                      <a:r>
                        <a:rPr sz="1000" dirty="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Mantenimiento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infraestructura</a:t>
                      </a:r>
                      <a:r>
                        <a:rPr sz="1000" dirty="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$129.2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Central de </a:t>
                      </a:r>
                      <a:r>
                        <a:rPr sz="1000" err="1">
                          <a:latin typeface="Montserrat"/>
                        </a:rPr>
                        <a:t>Mezclas</a:t>
                      </a:r>
                      <a:r>
                        <a:rPr sz="1000">
                          <a:latin typeface="Montserrat"/>
                        </a:rPr>
                        <a:t> UMAA No. 34 La Paz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$62.2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$191.4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221787"/>
              </p:ext>
            </p:extLst>
          </p:nvPr>
        </p:nvGraphicFramePr>
        <p:xfrm>
          <a:off x="1785600" y="3203995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18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r>
                        <a:rPr sz="1000">
                          <a:latin typeface="Montserrat"/>
                        </a:rPr>
                        <a:t> para 5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Hospitalarias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$168.5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TextBox 2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4,162.5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graphicFrame>
        <p:nvGraphicFramePr>
          <p:cNvPr id="36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148182"/>
              </p:ext>
            </p:extLst>
          </p:nvPr>
        </p:nvGraphicFramePr>
        <p:xfrm>
          <a:off x="287700" y="42324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7269"/>
              </p:ext>
            </p:extLst>
          </p:nvPr>
        </p:nvGraphicFramePr>
        <p:xfrm>
          <a:off x="691200" y="4722557"/>
          <a:ext cx="63900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endParaRPr/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Transformación a UMF Plus No. 40 La Paz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$460.8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CECI 110, Mulegé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$58.0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$518.8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8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4415EBC-015E-9FFC-2C4B-DB51673DE5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266" y="2809097"/>
            <a:ext cx="872667" cy="8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28591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4565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71965"/>
              </p:ext>
            </p:extLst>
          </p:nvPr>
        </p:nvGraphicFramePr>
        <p:xfrm>
          <a:off x="2311200" y="1670400"/>
          <a:ext cx="5032800" cy="90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Montserrat"/>
                        </a:rPr>
                        <a:t>11 </a:t>
                      </a:r>
                      <a:r>
                        <a:rPr sz="1000" b="1" dirty="0" err="1">
                          <a:latin typeface="Montserrat"/>
                        </a:rPr>
                        <a:t>unidades</a:t>
                      </a:r>
                      <a:endParaRPr sz="1000" b="1" dirty="0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1 </a:t>
                      </a:r>
                      <a:r>
                        <a:rPr dirty="0" err="1"/>
                        <a:t>directas</a:t>
                      </a:r>
                      <a:endParaRPr dirty="0"/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10 </a:t>
                      </a:r>
                      <a:r>
                        <a:rPr dirty="0" err="1"/>
                        <a:t>indirectas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Montserrat"/>
                        </a:rPr>
                        <a:t>1,765 </a:t>
                      </a:r>
                      <a:r>
                        <a:rPr sz="1000" b="1" dirty="0" err="1">
                          <a:latin typeface="Montserrat"/>
                        </a:rPr>
                        <a:t>inscritos</a:t>
                      </a:r>
                      <a:endParaRPr sz="1000" b="1" dirty="0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293 en </a:t>
                      </a:r>
                      <a:r>
                        <a:rPr dirty="0" err="1"/>
                        <a:t>espera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248365"/>
              </p:ext>
            </p:extLst>
          </p:nvPr>
        </p:nvGraphicFramePr>
        <p:xfrm>
          <a:off x="2311200" y="3040300"/>
          <a:ext cx="50328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 dirty="0"/>
                        <a:t>1 Centro de </a:t>
                      </a:r>
                      <a:r>
                        <a:rPr sz="1000" dirty="0" err="1"/>
                        <a:t>Seguridad</a:t>
                      </a:r>
                      <a:r>
                        <a:rPr sz="1000" dirty="0"/>
                        <a:t>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La Paz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132276"/>
              </p:ext>
            </p:extLst>
          </p:nvPr>
        </p:nvGraphicFramePr>
        <p:xfrm>
          <a:off x="2293200" y="4417138"/>
          <a:ext cx="50328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 dirty="0"/>
                        <a:t>1 </a:t>
                      </a:r>
                      <a:r>
                        <a:rPr sz="1000" dirty="0" err="1"/>
                        <a:t>Tienda</a:t>
                      </a:r>
                      <a:r>
                        <a:rPr sz="1000" dirty="0"/>
                        <a:t>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No. 3 La Paz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8890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Prestaciones</a:t>
            </a:r>
            <a:r>
              <a:rPr dirty="0"/>
              <a:t> </a:t>
            </a:r>
            <a:r>
              <a:rPr dirty="0" err="1"/>
              <a:t>Económicas</a:t>
            </a:r>
            <a:r>
              <a:rPr dirty="0"/>
              <a:t> y </a:t>
            </a:r>
            <a:r>
              <a:rPr dirty="0" err="1"/>
              <a:t>Sociales</a:t>
            </a:r>
            <a:r>
              <a:rPr dirty="0"/>
              <a:t>, mayo de 2026.</a:t>
            </a:r>
          </a:p>
        </p:txBody>
      </p:sp>
      <p:pic>
        <p:nvPicPr>
          <p:cNvPr id="14" name="Picture 469" descr="map_tipo2_03_b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88025"/>
              </p:ext>
            </p:extLst>
          </p:nvPr>
        </p:nvGraphicFramePr>
        <p:xfrm>
          <a:off x="284400" y="1087200"/>
          <a:ext cx="6984000" cy="2191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Empleador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</a:t>
                      </a:r>
                      <a:endParaRPr dirty="0"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Empleos</a:t>
                      </a:r>
                      <a:r>
                        <a:rPr dirty="0"/>
                        <a:t>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Empleos</a:t>
                      </a:r>
                      <a:r>
                        <a:rPr dirty="0"/>
                        <a:t>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 err="1"/>
                        <a:t>Instituto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Mexicano</a:t>
                      </a:r>
                      <a:r>
                        <a:rPr dirty="0"/>
                        <a:t> del </a:t>
                      </a:r>
                      <a:r>
                        <a:rPr dirty="0" err="1"/>
                        <a:t>Seguro</a:t>
                      </a:r>
                      <a:r>
                        <a:rPr dirty="0"/>
                        <a:t>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5,675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Negocio Agricola San Enrique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 err="1"/>
                        <a:t>Comisión</a:t>
                      </a:r>
                      <a:r>
                        <a:rPr dirty="0"/>
                        <a:t> Federal de </a:t>
                      </a:r>
                      <a:r>
                        <a:rPr dirty="0" err="1"/>
                        <a:t>Electricidad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Epe</a:t>
                      </a:r>
                      <a:endParaRPr dirty="0"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1,596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1,603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 err="1"/>
                        <a:t>Solaya</a:t>
                      </a:r>
                      <a:r>
                        <a:rPr dirty="0"/>
                        <a:t>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Exportadora de sal SA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961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 err="1"/>
                        <a:t>Cadena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Comercial</a:t>
                      </a:r>
                      <a:r>
                        <a:rPr dirty="0"/>
                        <a:t>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2,027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2,062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-14.20%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-2.37%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+1.07%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+6.01%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+6.25%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+6.81%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65455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Mes</a:t>
                      </a:r>
                      <a:endParaRPr dirty="0"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156,867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224,416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161,303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1,842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52,449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11,629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227,223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+1.3%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75AA8BC5-30E8-D0F0-6F3F-3E7C51DC9CDC}"/>
              </a:ext>
            </a:extLst>
          </p:cNvPr>
          <p:cNvSpPr/>
          <p:nvPr/>
        </p:nvSpPr>
        <p:spPr>
          <a:xfrm>
            <a:off x="775561" y="11397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$640.15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72356"/>
              </p:ext>
            </p:extLst>
          </p:nvPr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2018 </a:t>
                      </a:r>
                      <a:r>
                        <a:rPr dirty="0" err="1"/>
                        <a:t>diciembre</a:t>
                      </a:r>
                      <a:endParaRPr dirty="0"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rPr dirty="0"/>
                        <a:t>$319.02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rPr dirty="0"/>
                        <a:t>$640.15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rPr dirty="0"/>
                        <a:t>41.9%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rPr dirty="0"/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rPr dirty="0"/>
                        <a:t>$19,204.5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92513"/>
              </p:ext>
            </p:extLst>
          </p:nvPr>
        </p:nvGraphicFramePr>
        <p:xfrm>
          <a:off x="320400" y="6649200"/>
          <a:ext cx="7038000" cy="249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PRINCIPALES 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Deudores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Comité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Estatal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Sanidad</a:t>
                      </a:r>
                      <a:r>
                        <a:rPr dirty="0"/>
                        <a:t> Vegetal del Estado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Aeropuertos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Servicios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Auxiliares</a:t>
                      </a:r>
                      <a:r>
                        <a:rPr dirty="0"/>
                        <a:t> Sin </a:t>
                      </a:r>
                      <a:r>
                        <a:rPr dirty="0" err="1"/>
                        <a:t>Tipo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Sociedad</a:t>
                      </a:r>
                      <a:endParaRPr dirty="0"/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$0.31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Exportadora</a:t>
                      </a:r>
                      <a:r>
                        <a:rPr dirty="0"/>
                        <a:t> de Sal S.A. de 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privado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Minera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Metalurgica</a:t>
                      </a:r>
                      <a:r>
                        <a:rPr dirty="0"/>
                        <a:t> del </a:t>
                      </a:r>
                      <a:r>
                        <a:rPr dirty="0" err="1"/>
                        <a:t>Boleo</a:t>
                      </a:r>
                      <a:r>
                        <a:rPr dirty="0"/>
                        <a:t> S A P I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$34.10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Scpp</a:t>
                      </a:r>
                      <a:r>
                        <a:rPr dirty="0"/>
                        <a:t> Cal San Ignacio S.C.L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$17.91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Scpp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Pesc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Nacles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Abulon</a:t>
                      </a:r>
                      <a:r>
                        <a:rPr dirty="0"/>
                        <a:t> S.C de R.L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$16.34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2E3E08-3E10-4E76-93AC-CEF027482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DFDAD6-8B2C-4914-B35F-8EA270CCC846}">
  <ds:schemaRefs>
    <ds:schemaRef ds:uri="http://schemas.microsoft.com/office/2006/documentManagement/types"/>
    <ds:schemaRef ds:uri="http://schemas.microsoft.com/office/2006/metadata/properties"/>
    <ds:schemaRef ds:uri="edc1cba3-a8b7-49a1-a01c-6ad98ac12acf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3d87255f-2171-4f5a-8886-6c25af21384a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B6A8353-C5C7-4CB6-94B0-B9DF35773C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1cba3-a8b7-49a1-a01c-6ad98ac12acf"/>
    <ds:schemaRef ds:uri="3d87255f-2171-4f5a-8886-6c25af213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3942</Words>
  <Application>Microsoft Office PowerPoint</Application>
  <PresentationFormat>Personalizado</PresentationFormat>
  <Paragraphs>1271</Paragraphs>
  <Slides>22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Noto Sans Black</vt:lpstr>
      <vt:lpstr>Arial</vt:lpstr>
      <vt:lpstr>Noto Sans</vt:lpstr>
      <vt:lpstr>Calibri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lastModifiedBy>Laura Patricia Galvan Chavez</cp:lastModifiedBy>
  <cp:revision>116</cp:revision>
  <dcterms:modified xsi:type="dcterms:W3CDTF">2026-07-03T00:05:01Z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