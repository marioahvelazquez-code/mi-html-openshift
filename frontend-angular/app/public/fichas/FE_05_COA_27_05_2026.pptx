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6"/>
    <p:sldId id="261" r:id="rId7"/>
    <p:sldId id="302" r:id="rId47"/>
    <p:sldId id="287" r:id="rId8"/>
    <p:sldId id="262" r:id="rId9"/>
    <p:sldId id="263" r:id="rId10"/>
    <p:sldId id="280" r:id="rId11"/>
    <p:sldId id="267" r:id="rId12"/>
    <p:sldId id="298" r:id="rId13"/>
    <p:sldId id="303" r:id="rId48"/>
    <p:sldId id="304" r:id="rId49"/>
    <p:sldId id="305" r:id="rId50"/>
    <p:sldId id="306" r:id="rId51"/>
    <p:sldId id="307" r:id="rId45"/>
    <p:sldId id="281" r:id="rId14"/>
    <p:sldId id="308" r:id="rId44"/>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682892-0182-FB5D-5DC8-5A147B210A2A}" v="121" dt="2026-05-12T21:59:59.991"/>
    <p1510:client id="{6BFE79A7-D5F3-39E9-733C-D66FEAD86F78}" v="40" dt="2026-05-12T22:51:03.393"/>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44" Type="http://schemas.openxmlformats.org/officeDocument/2006/relationships/slide" Target="slides/slide33.xml"/><Relationship Id="rId45" Type="http://schemas.openxmlformats.org/officeDocument/2006/relationships/slide" Target="slides/slide32.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0:59.316" v="0"/>
      <pc:docMkLst>
        <pc:docMk/>
      </pc:docMkLst>
      <pc:sldChg chg="add">
        <pc:chgData name="Carlos Esponda Rosales" userId="08a2b2cc-6d12-4dea-90fe-c484bece8186" providerId="ADAL" clId="{6846A1DD-3EC1-5A12-B3C5-9C410579EE4F}" dt="2026-05-08T17:30:59.316" v="0"/>
        <pc:sldMkLst>
          <pc:docMk/>
          <pc:sldMk cId="1664225171"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6:50:33.935" v="85" actId="1035"/>
      <pc:docMkLst>
        <pc:docMk/>
      </pc:docMkLst>
      <pc:sldChg chg="addSp delSp modSp mod">
        <pc:chgData name="Edgar Rosales Ortega" userId="d1d54fc2-1570-4978-babc-e22e1526833f" providerId="ADAL" clId="{66BE7C30-C669-4152-AC74-10076FC0590C}" dt="2026-04-30T22:58:57.898" v="62" actId="1035"/>
        <pc:sldMkLst>
          <pc:docMk/>
          <pc:sldMk cId="0" sldId="260"/>
        </pc:sldMkLst>
        <pc:spChg chg="add mod">
          <ac:chgData name="Edgar Rosales Ortega" userId="d1d54fc2-1570-4978-babc-e22e1526833f" providerId="ADAL" clId="{66BE7C30-C669-4152-AC74-10076FC0590C}" dt="2026-04-30T22:58:57.898" v="62" actId="1035"/>
          <ac:spMkLst>
            <pc:docMk/>
            <pc:sldMk cId="0" sldId="260"/>
            <ac:spMk id="7" creationId="{869A875B-834A-EB32-DFDC-8C3B643F744D}"/>
          </ac:spMkLst>
        </pc:spChg>
        <pc:graphicFrameChg chg="add mod modGraphic">
          <ac:chgData name="Edgar Rosales Ortega" userId="d1d54fc2-1570-4978-babc-e22e1526833f" providerId="ADAL" clId="{66BE7C30-C669-4152-AC74-10076FC0590C}" dt="2026-04-30T22:58:21.637" v="53" actId="1076"/>
          <ac:graphicFrameMkLst>
            <pc:docMk/>
            <pc:sldMk cId="0" sldId="260"/>
            <ac:graphicFrameMk id="6" creationId="{CF9870F8-F893-ED91-6B98-CAC3C8B988FF}"/>
          </ac:graphicFrameMkLst>
        </pc:graphicFrameChg>
        <pc:picChg chg="add mod">
          <ac:chgData name="Edgar Rosales Ortega" userId="d1d54fc2-1570-4978-babc-e22e1526833f" providerId="ADAL" clId="{66BE7C30-C669-4152-AC74-10076FC0590C}" dt="2026-04-30T22:58:32.819" v="56" actId="14100"/>
          <ac:picMkLst>
            <pc:docMk/>
            <pc:sldMk cId="0" sldId="260"/>
            <ac:picMk id="5" creationId="{254D2AEA-4739-9BC4-E8D0-E18F6F0B0E40}"/>
          </ac:picMkLst>
        </pc:picChg>
      </pc:sldChg>
      <pc:sldChg chg="addSp delSp modSp mod">
        <pc:chgData name="Edgar Rosales Ortega" userId="d1d54fc2-1570-4978-babc-e22e1526833f" providerId="ADAL" clId="{66BE7C30-C669-4152-AC74-10076FC0590C}" dt="2026-05-05T17:49:17.528" v="63" actId="164"/>
        <pc:sldMkLst>
          <pc:docMk/>
          <pc:sldMk cId="0" sldId="261"/>
        </pc:sldMkLst>
        <pc:spChg chg="add mod">
          <ac:chgData name="Edgar Rosales Ortega" userId="d1d54fc2-1570-4978-babc-e22e1526833f" providerId="ADAL" clId="{66BE7C30-C669-4152-AC74-10076FC0590C}" dt="2026-05-05T17:49:17.528" v="63" actId="164"/>
          <ac:spMkLst>
            <pc:docMk/>
            <pc:sldMk cId="0" sldId="261"/>
            <ac:spMk id="16" creationId="{77EA2954-1372-6DEF-2586-5F7A111A14BC}"/>
          </ac:spMkLst>
        </pc:spChg>
        <pc:spChg chg="add mod">
          <ac:chgData name="Edgar Rosales Ortega" userId="d1d54fc2-1570-4978-babc-e22e1526833f" providerId="ADAL" clId="{66BE7C30-C669-4152-AC74-10076FC0590C}" dt="2026-05-05T17:49:17.528" v="63" actId="164"/>
          <ac:spMkLst>
            <pc:docMk/>
            <pc:sldMk cId="0" sldId="261"/>
            <ac:spMk id="17" creationId="{C1AC196D-4723-903B-52BD-589DA63BE3C0}"/>
          </ac:spMkLst>
        </pc:spChg>
        <pc:spChg chg="add mod">
          <ac:chgData name="Edgar Rosales Ortega" userId="d1d54fc2-1570-4978-babc-e22e1526833f" providerId="ADAL" clId="{66BE7C30-C669-4152-AC74-10076FC0590C}" dt="2026-05-05T17:49:17.528" v="63" actId="164"/>
          <ac:spMkLst>
            <pc:docMk/>
            <pc:sldMk cId="0" sldId="261"/>
            <ac:spMk id="18" creationId="{865C0F43-706E-CA48-0F46-879542C4FDAD}"/>
          </ac:spMkLst>
        </pc:spChg>
        <pc:spChg chg="add mod">
          <ac:chgData name="Edgar Rosales Ortega" userId="d1d54fc2-1570-4978-babc-e22e1526833f" providerId="ADAL" clId="{66BE7C30-C669-4152-AC74-10076FC0590C}" dt="2026-05-05T17:49:17.528" v="63" actId="164"/>
          <ac:spMkLst>
            <pc:docMk/>
            <pc:sldMk cId="0" sldId="261"/>
            <ac:spMk id="19" creationId="{391EBCFC-551F-04D5-4EB2-A39E3DDE0EA8}"/>
          </ac:spMkLst>
        </pc:spChg>
        <pc:spChg chg="add mod">
          <ac:chgData name="Edgar Rosales Ortega" userId="d1d54fc2-1570-4978-babc-e22e1526833f" providerId="ADAL" clId="{66BE7C30-C669-4152-AC74-10076FC0590C}" dt="2026-05-05T17:49:17.528" v="63" actId="164"/>
          <ac:spMkLst>
            <pc:docMk/>
            <pc:sldMk cId="0" sldId="261"/>
            <ac:spMk id="20" creationId="{7C5B7419-BA83-96FB-A1EF-BD5058CF3813}"/>
          </ac:spMkLst>
        </pc:spChg>
        <pc:spChg chg="add mod">
          <ac:chgData name="Edgar Rosales Ortega" userId="d1d54fc2-1570-4978-babc-e22e1526833f" providerId="ADAL" clId="{66BE7C30-C669-4152-AC74-10076FC0590C}" dt="2026-05-05T17:49:17.528" v="63" actId="164"/>
          <ac:spMkLst>
            <pc:docMk/>
            <pc:sldMk cId="0" sldId="261"/>
            <ac:spMk id="21" creationId="{608F1888-469F-9840-8AAB-6248DA430A12}"/>
          </ac:spMkLst>
        </pc:spChg>
        <pc:spChg chg="add mod">
          <ac:chgData name="Edgar Rosales Ortega" userId="d1d54fc2-1570-4978-babc-e22e1526833f" providerId="ADAL" clId="{66BE7C30-C669-4152-AC74-10076FC0590C}" dt="2026-05-05T17:49:17.528" v="63" actId="164"/>
          <ac:spMkLst>
            <pc:docMk/>
            <pc:sldMk cId="0" sldId="261"/>
            <ac:spMk id="22" creationId="{B943C90F-A07E-89A1-D3F6-B4A796CC4227}"/>
          </ac:spMkLst>
        </pc:spChg>
        <pc:spChg chg="add mod">
          <ac:chgData name="Edgar Rosales Ortega" userId="d1d54fc2-1570-4978-babc-e22e1526833f" providerId="ADAL" clId="{66BE7C30-C669-4152-AC74-10076FC0590C}" dt="2026-05-05T17:49:17.528" v="63" actId="164"/>
          <ac:spMkLst>
            <pc:docMk/>
            <pc:sldMk cId="0" sldId="261"/>
            <ac:spMk id="23" creationId="{DDCBB79B-7C16-DF4C-D74A-2060309412C8}"/>
          </ac:spMkLst>
        </pc:spChg>
        <pc:spChg chg="add mod">
          <ac:chgData name="Edgar Rosales Ortega" userId="d1d54fc2-1570-4978-babc-e22e1526833f" providerId="ADAL" clId="{66BE7C30-C669-4152-AC74-10076FC0590C}" dt="2026-05-05T17:49:17.528" v="63" actId="164"/>
          <ac:spMkLst>
            <pc:docMk/>
            <pc:sldMk cId="0" sldId="261"/>
            <ac:spMk id="24" creationId="{B590CF3B-F24A-1FCD-E907-E05FD39F4785}"/>
          </ac:spMkLst>
        </pc:spChg>
        <pc:spChg chg="add mod">
          <ac:chgData name="Edgar Rosales Ortega" userId="d1d54fc2-1570-4978-babc-e22e1526833f" providerId="ADAL" clId="{66BE7C30-C669-4152-AC74-10076FC0590C}" dt="2026-05-05T17:49:17.528" v="63" actId="164"/>
          <ac:spMkLst>
            <pc:docMk/>
            <pc:sldMk cId="0" sldId="261"/>
            <ac:spMk id="27" creationId="{2BCC90C5-01B7-852D-DC0F-1EDF075B72C4}"/>
          </ac:spMkLst>
        </pc:spChg>
      </pc:sldChg>
      <pc:sldChg chg="delSp mod">
        <pc:chgData name="Edgar Rosales Ortega" userId="d1d54fc2-1570-4978-babc-e22e1526833f" providerId="ADAL" clId="{66BE7C30-C669-4152-AC74-10076FC0590C}" dt="2026-05-07T16:48:51.439" v="66" actId="478"/>
        <pc:sldMkLst>
          <pc:docMk/>
          <pc:sldMk cId="0" sldId="262"/>
        </pc:sldMkLst>
      </pc:sldChg>
      <pc:sldChg chg="addSp delSp modSp mod">
        <pc:chgData name="Edgar Rosales Ortega" userId="d1d54fc2-1570-4978-babc-e22e1526833f" providerId="ADAL" clId="{66BE7C30-C669-4152-AC74-10076FC0590C}" dt="2026-05-07T16:48:59.365" v="68" actId="478"/>
        <pc:sldMkLst>
          <pc:docMk/>
          <pc:sldMk cId="0" sldId="263"/>
        </pc:sldMkLst>
      </pc:sldChg>
      <pc:sldChg chg="modSp mod ord">
        <pc:chgData name="Edgar Rosales Ortega" userId="d1d54fc2-1570-4978-babc-e22e1526833f" providerId="ADAL" clId="{66BE7C30-C669-4152-AC74-10076FC0590C}" dt="2026-04-30T15:44:13.576" v="46"/>
        <pc:sldMkLst>
          <pc:docMk/>
          <pc:sldMk cId="0" sldId="267"/>
        </pc:sldMkLst>
        <pc:graphicFrameChg chg="modGraphic">
          <ac:chgData name="Edgar Rosales Ortega" userId="d1d54fc2-1570-4978-babc-e22e1526833f" providerId="ADAL" clId="{66BE7C30-C669-4152-AC74-10076FC0590C}" dt="2026-04-29T23:59:33.035" v="27" actId="6549"/>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6:49:14.990" v="69"/>
        <pc:sldMkLst>
          <pc:docMk/>
          <pc:sldMk cId="0" sldId="272"/>
        </pc:sldMkLst>
        <pc:graphicFrameChg chg="mod">
          <ac:chgData name="Edgar Rosales Ortega" userId="d1d54fc2-1570-4978-babc-e22e1526833f" providerId="ADAL" clId="{66BE7C30-C669-4152-AC74-10076FC0590C}" dt="2026-05-07T16:49:14.990" v="69"/>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49:45.585" v="65" actId="1076"/>
        <pc:sldMkLst>
          <pc:docMk/>
          <pc:sldMk cId="0" sldId="279"/>
        </pc:sldMkLst>
        <pc:spChg chg="add mod">
          <ac:chgData name="Edgar Rosales Ortega" userId="d1d54fc2-1570-4978-babc-e22e1526833f" providerId="ADAL" clId="{66BE7C30-C669-4152-AC74-10076FC0590C}" dt="2026-04-30T16:23:58.809" v="47" actId="1076"/>
          <ac:spMkLst>
            <pc:docMk/>
            <pc:sldMk cId="0" sldId="279"/>
            <ac:spMk id="2" creationId="{61D7B054-0212-60AA-EEFC-18B91ED6AE22}"/>
          </ac:spMkLst>
        </pc:spChg>
        <pc:spChg chg="mod">
          <ac:chgData name="Edgar Rosales Ortega" userId="d1d54fc2-1570-4978-babc-e22e1526833f" providerId="ADAL" clId="{66BE7C30-C669-4152-AC74-10076FC0590C}" dt="2026-05-05T17:49:45.585" v="65"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4:04.236" v="44"/>
        <pc:sldMkLst>
          <pc:docMk/>
          <pc:sldMk cId="540716406" sldId="280"/>
        </pc:sldMkLst>
        <pc:graphicFrameChg chg="modGraphic">
          <ac:chgData name="Edgar Rosales Ortega" userId="d1d54fc2-1570-4978-babc-e22e1526833f" providerId="ADAL" clId="{66BE7C30-C669-4152-AC74-10076FC0590C}" dt="2026-04-29T23:59:37.421" v="33" actId="20577"/>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49:30.444" v="64" actId="478"/>
        <pc:sldMkLst>
          <pc:docMk/>
          <pc:sldMk cId="3828482411" sldId="281"/>
        </pc:sldMkLst>
      </pc:sldChg>
      <pc:sldChg chg="modSp mod">
        <pc:chgData name="Edgar Rosales Ortega" userId="d1d54fc2-1570-4978-babc-e22e1526833f" providerId="ADAL" clId="{66BE7C30-C669-4152-AC74-10076FC0590C}" dt="2026-05-07T16:50:33.935" v="85" actId="1035"/>
        <pc:sldMkLst>
          <pc:docMk/>
          <pc:sldMk cId="364733940" sldId="284"/>
        </pc:sldMkLst>
        <pc:picChg chg="mod">
          <ac:chgData name="Edgar Rosales Ortega" userId="d1d54fc2-1570-4978-babc-e22e1526833f" providerId="ADAL" clId="{66BE7C30-C669-4152-AC74-10076FC0590C}" dt="2026-05-07T16:50:33.935" v="85" actId="1035"/>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3:49.218" v="42"/>
        <pc:sldMkLst>
          <pc:docMk/>
          <pc:sldMk cId="748044913" sldId="287"/>
        </pc:sldMkLst>
        <pc:graphicFrameChg chg="modGraphic">
          <ac:chgData name="Edgar Rosales Ortega" userId="d1d54fc2-1570-4978-babc-e22e1526833f" providerId="ADAL" clId="{66BE7C30-C669-4152-AC74-10076FC0590C}" dt="2026-04-29T23:59:41.682" v="39"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6:49:50.484" v="72" actId="14100"/>
        <pc:sldMkLst>
          <pc:docMk/>
          <pc:sldMk cId="3240565764" sldId="297"/>
        </pc:sldMkLst>
        <pc:picChg chg="mod">
          <ac:chgData name="Edgar Rosales Ortega" userId="d1d54fc2-1570-4978-babc-e22e1526833f" providerId="ADAL" clId="{66BE7C30-C669-4152-AC74-10076FC0590C}" dt="2026-05-07T16:49:50.484" v="72"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6BFE79A7-D5F3-39E9-733C-D66FEAD86F78}"/>
    <pc:docChg chg="modSld">
      <pc:chgData name="Gerardo Jahir Lara Garcia" userId="S::gerardo.larag@imss.gob.mx::84d5cd65-4601-4e92-b448-a9da4809e012" providerId="AD" clId="Web-{6BFE79A7-D5F3-39E9-733C-D66FEAD86F78}" dt="2026-05-12T22:45:44.129" v="19" actId="20577"/>
      <pc:docMkLst>
        <pc:docMk/>
      </pc:docMkLst>
      <pc:sldChg chg="addSp delSp modSp">
        <pc:chgData name="Gerardo Jahir Lara Garcia" userId="S::gerardo.larag@imss.gob.mx::84d5cd65-4601-4e92-b448-a9da4809e012" providerId="AD" clId="Web-{6BFE79A7-D5F3-39E9-733C-D66FEAD86F78}" dt="2026-05-12T22:45:44.129" v="19" actId="20577"/>
        <pc:sldMkLst>
          <pc:docMk/>
          <pc:sldMk cId="364733940" sldId="284"/>
        </pc:sldMkLst>
        <pc:spChg chg="mod">
          <ac:chgData name="Gerardo Jahir Lara Garcia" userId="S::gerardo.larag@imss.gob.mx::84d5cd65-4601-4e92-b448-a9da4809e012" providerId="AD" clId="Web-{6BFE79A7-D5F3-39E9-733C-D66FEAD86F78}" dt="2026-05-12T22:45:44.129" v="19" actId="20577"/>
          <ac:spMkLst>
            <pc:docMk/>
            <pc:sldMk cId="364733940" sldId="284"/>
            <ac:spMk id="6" creationId="{4578A0AA-9DC1-3453-263A-76BE5A8BE282}"/>
          </ac:spMkLst>
        </pc:spChg>
        <pc:spChg chg="mod">
          <ac:chgData name="Gerardo Jahir Lara Garcia" userId="S::gerardo.larag@imss.gob.mx::84d5cd65-4601-4e92-b448-a9da4809e012" providerId="AD" clId="Web-{6BFE79A7-D5F3-39E9-733C-D66FEAD86F78}" dt="2026-05-12T22:45:41.551" v="15" actId="20577"/>
          <ac:spMkLst>
            <pc:docMk/>
            <pc:sldMk cId="364733940" sldId="284"/>
            <ac:spMk id="12" creationId="{907F7F6F-8FF8-56A0-795F-B2A127C97D4D}"/>
          </ac:spMkLst>
        </pc:spChg>
        <pc:spChg chg="add del">
          <ac:chgData name="Gerardo Jahir Lara Garcia" userId="S::gerardo.larag@imss.gob.mx::84d5cd65-4601-4e92-b448-a9da4809e012" providerId="AD" clId="Web-{6BFE79A7-D5F3-39E9-733C-D66FEAD86F78}" dt="2026-05-12T22:45:40.285" v="12"/>
          <ac:spMkLst>
            <pc:docMk/>
            <pc:sldMk cId="364733940" sldId="284"/>
            <ac:spMk id="14" creationId="{2C157DF6-A7FD-940D-19DA-323ACD68454D}"/>
          </ac:spMkLst>
        </pc:spChg>
        <pc:picChg chg="add del">
          <ac:chgData name="Gerardo Jahir Lara Garcia" userId="S::gerardo.larag@imss.gob.mx::84d5cd65-4601-4e92-b448-a9da4809e012" providerId="AD" clId="Web-{6BFE79A7-D5F3-39E9-733C-D66FEAD86F78}" dt="2026-05-12T22:45:40.285" v="11"/>
          <ac:picMkLst>
            <pc:docMk/>
            <pc:sldMk cId="364733940" sldId="284"/>
            <ac:picMk id="13" creationId="{CA24C0E7-282C-9B96-A7B5-7554B2C6EF8D}"/>
          </ac:picMkLst>
        </pc:picChg>
      </pc:sldChg>
    </pc:docChg>
  </pc:docChgLst>
  <pc:docChgLst>
    <pc:chgData name="Gerardo Jahir Lara Garcia" userId="S::gerardo.larag@imss.gob.mx::84d5cd65-4601-4e92-b448-a9da4809e012" providerId="AD" clId="Web-{3A682892-0182-FB5D-5DC8-5A147B210A2A}"/>
    <pc:docChg chg="modSld">
      <pc:chgData name="Gerardo Jahir Lara Garcia" userId="S::gerardo.larag@imss.gob.mx::84d5cd65-4601-4e92-b448-a9da4809e012" providerId="AD" clId="Web-{3A682892-0182-FB5D-5DC8-5A147B210A2A}" dt="2026-05-12T21:59:59.991" v="86" actId="20577"/>
      <pc:docMkLst>
        <pc:docMk/>
      </pc:docMkLst>
      <pc:sldChg chg="addSp delSp modSp">
        <pc:chgData name="Gerardo Jahir Lara Garcia" userId="S::gerardo.larag@imss.gob.mx::84d5cd65-4601-4e92-b448-a9da4809e012" providerId="AD" clId="Web-{3A682892-0182-FB5D-5DC8-5A147B210A2A}" dt="2026-05-12T21:59:48.318" v="82" actId="1076"/>
        <pc:sldMkLst>
          <pc:docMk/>
          <pc:sldMk cId="364733940" sldId="284"/>
        </pc:sldMkLst>
        <pc:spChg chg="add mod">
          <ac:chgData name="Gerardo Jahir Lara Garcia" userId="S::gerardo.larag@imss.gob.mx::84d5cd65-4601-4e92-b448-a9da4809e012" providerId="AD" clId="Web-{3A682892-0182-FB5D-5DC8-5A147B210A2A}" dt="2026-05-12T21:57:28.579" v="10" actId="20577"/>
          <ac:spMkLst>
            <pc:docMk/>
            <pc:sldMk cId="364733940" sldId="284"/>
            <ac:spMk id="3" creationId="{ABCC6279-D2EB-1F1F-D811-3FFF80887FF1}"/>
          </ac:spMkLst>
        </pc:spChg>
        <pc:spChg chg="add mod">
          <ac:chgData name="Gerardo Jahir Lara Garcia" userId="S::gerardo.larag@imss.gob.mx::84d5cd65-4601-4e92-b448-a9da4809e012" providerId="AD" clId="Web-{3A682892-0182-FB5D-5DC8-5A147B210A2A}" dt="2026-05-12T21:57:39.813" v="17" actId="1076"/>
          <ac:spMkLst>
            <pc:docMk/>
            <pc:sldMk cId="364733940" sldId="284"/>
            <ac:spMk id="6" creationId="{4578A0AA-9DC1-3453-263A-76BE5A8BE282}"/>
          </ac:spMkLst>
        </pc:spChg>
        <pc:spChg chg="add del">
          <ac:chgData name="Gerardo Jahir Lara Garcia" userId="S::gerardo.larag@imss.gob.mx::84d5cd65-4601-4e92-b448-a9da4809e012" providerId="AD" clId="Web-{3A682892-0182-FB5D-5DC8-5A147B210A2A}" dt="2026-05-12T21:57:50.033" v="19"/>
          <ac:spMkLst>
            <pc:docMk/>
            <pc:sldMk cId="364733940" sldId="284"/>
            <ac:spMk id="9" creationId="{31F06996-6695-0609-49FC-3D48462AAA79}"/>
          </ac:spMkLst>
        </pc:spChg>
        <pc:spChg chg="add del">
          <ac:chgData name="Gerardo Jahir Lara Garcia" userId="S::gerardo.larag@imss.gob.mx::84d5cd65-4601-4e92-b448-a9da4809e012" providerId="AD" clId="Web-{3A682892-0182-FB5D-5DC8-5A147B210A2A}" dt="2026-05-12T21:57:50.017" v="18"/>
          <ac:spMkLst>
            <pc:docMk/>
            <pc:sldMk cId="364733940" sldId="284"/>
            <ac:spMk id="10" creationId="{E1B580E5-6D56-5F69-A504-B7466A9C0007}"/>
          </ac:spMkLst>
        </pc:spChg>
        <pc:spChg chg="add mod">
          <ac:chgData name="Gerardo Jahir Lara Garcia" userId="S::gerardo.larag@imss.gob.mx::84d5cd65-4601-4e92-b448-a9da4809e012" providerId="AD" clId="Web-{3A682892-0182-FB5D-5DC8-5A147B210A2A}" dt="2026-05-12T21:58:07.564" v="30" actId="20577"/>
          <ac:spMkLst>
            <pc:docMk/>
            <pc:sldMk cId="364733940" sldId="284"/>
            <ac:spMk id="12" creationId="{907F7F6F-8FF8-56A0-795F-B2A127C97D4D}"/>
          </ac:spMkLst>
        </pc:spChg>
        <pc:spChg chg="add mod">
          <ac:chgData name="Gerardo Jahir Lara Garcia" userId="S::gerardo.larag@imss.gob.mx::84d5cd65-4601-4e92-b448-a9da4809e012" providerId="AD" clId="Web-{3A682892-0182-FB5D-5DC8-5A147B210A2A}" dt="2026-05-12T21:59:48.318" v="82" actId="1076"/>
          <ac:spMkLst>
            <pc:docMk/>
            <pc:sldMk cId="364733940" sldId="284"/>
            <ac:spMk id="14" creationId="{2C157DF6-A7FD-940D-19DA-323ACD68454D}"/>
          </ac:spMkLst>
        </pc:spChg>
        <pc:picChg chg="add">
          <ac:chgData name="Gerardo Jahir Lara Garcia" userId="S::gerardo.larag@imss.gob.mx::84d5cd65-4601-4e92-b448-a9da4809e012" providerId="AD" clId="Web-{3A682892-0182-FB5D-5DC8-5A147B210A2A}" dt="2026-05-12T21:53:18.694" v="1"/>
          <ac:picMkLst>
            <pc:docMk/>
            <pc:sldMk cId="364733940" sldId="284"/>
            <ac:picMk id="4" creationId="{488C755F-8E2D-8CE1-6C1B-6DBB55EE2CD3}"/>
          </ac:picMkLst>
        </pc:picChg>
        <pc:picChg chg="add del">
          <ac:chgData name="Gerardo Jahir Lara Garcia" userId="S::gerardo.larag@imss.gob.mx::84d5cd65-4601-4e92-b448-a9da4809e012" providerId="AD" clId="Web-{3A682892-0182-FB5D-5DC8-5A147B210A2A}" dt="2026-05-12T21:57:50.033" v="20"/>
          <ac:picMkLst>
            <pc:docMk/>
            <pc:sldMk cId="364733940" sldId="284"/>
            <ac:picMk id="8" creationId="{93A97F7C-8571-8E37-50FF-4EEB5D75E748}"/>
          </ac:picMkLst>
        </pc:picChg>
        <pc:picChg chg="add mod">
          <ac:chgData name="Gerardo Jahir Lara Garcia" userId="S::gerardo.larag@imss.gob.mx::84d5cd65-4601-4e92-b448-a9da4809e012" providerId="AD" clId="Web-{3A682892-0182-FB5D-5DC8-5A147B210A2A}" dt="2026-05-12T21:57:56.486" v="23" actId="1076"/>
          <ac:picMkLst>
            <pc:docMk/>
            <pc:sldMk cId="364733940" sldId="284"/>
            <ac:picMk id="11" creationId="{4F2E1097-3694-6090-CBA5-667DCD67E48E}"/>
          </ac:picMkLst>
        </pc:picChg>
        <pc:picChg chg="add mod">
          <ac:chgData name="Gerardo Jahir Lara Garcia" userId="S::gerardo.larag@imss.gob.mx::84d5cd65-4601-4e92-b448-a9da4809e012" providerId="AD" clId="Web-{3A682892-0182-FB5D-5DC8-5A147B210A2A}" dt="2026-05-12T21:58:02.299" v="27" actId="1076"/>
          <ac:picMkLst>
            <pc:docMk/>
            <pc:sldMk cId="364733940" sldId="284"/>
            <ac:picMk id="13" creationId="{CA24C0E7-282C-9B96-A7B5-7554B2C6EF8D}"/>
          </ac:picMkLst>
        </pc:picChg>
      </pc:sldChg>
      <pc:sldChg chg="addSp delSp modSp">
        <pc:chgData name="Gerardo Jahir Lara Garcia" userId="S::gerardo.larag@imss.gob.mx::84d5cd65-4601-4e92-b448-a9da4809e012" providerId="AD" clId="Web-{3A682892-0182-FB5D-5DC8-5A147B210A2A}" dt="2026-05-12T21:59:59.991" v="86" actId="20577"/>
        <pc:sldMkLst>
          <pc:docMk/>
          <pc:sldMk cId="3240565764" sldId="297"/>
        </pc:sldMkLst>
        <pc:spChg chg="add mod">
          <ac:chgData name="Gerardo Jahir Lara Garcia" userId="S::gerardo.larag@imss.gob.mx::84d5cd65-4601-4e92-b448-a9da4809e012" providerId="AD" clId="Web-{3A682892-0182-FB5D-5DC8-5A147B210A2A}" dt="2026-05-12T21:59:46.162" v="77" actId="1076"/>
          <ac:spMkLst>
            <pc:docMk/>
            <pc:sldMk cId="3240565764" sldId="297"/>
            <ac:spMk id="3" creationId="{21AE8FA6-CA77-F761-93C9-BF2570CBBE30}"/>
          </ac:spMkLst>
        </pc:spChg>
        <pc:spChg chg="add mod">
          <ac:chgData name="Gerardo Jahir Lara Garcia" userId="S::gerardo.larag@imss.gob.mx::84d5cd65-4601-4e92-b448-a9da4809e012" providerId="AD" clId="Web-{3A682892-0182-FB5D-5DC8-5A147B210A2A}" dt="2026-05-12T21:59:46.162" v="75" actId="1076"/>
          <ac:spMkLst>
            <pc:docMk/>
            <pc:sldMk cId="3240565764" sldId="297"/>
            <ac:spMk id="7" creationId="{FD4175D4-66CF-7FBC-B843-C149C5339DF1}"/>
          </ac:spMkLst>
        </pc:spChg>
        <pc:spChg chg="add mod">
          <ac:chgData name="Gerardo Jahir Lara Garcia" userId="S::gerardo.larag@imss.gob.mx::84d5cd65-4601-4e92-b448-a9da4809e012" providerId="AD" clId="Web-{3A682892-0182-FB5D-5DC8-5A147B210A2A}" dt="2026-05-12T21:59:46.146" v="73" actId="1076"/>
          <ac:spMkLst>
            <pc:docMk/>
            <pc:sldMk cId="3240565764" sldId="297"/>
            <ac:spMk id="9" creationId="{50F1217E-09B0-81A3-6E99-CB1DE729ADDF}"/>
          </ac:spMkLst>
        </pc:spChg>
        <pc:spChg chg="add mod">
          <ac:chgData name="Gerardo Jahir Lara Garcia" userId="S::gerardo.larag@imss.gob.mx::84d5cd65-4601-4e92-b448-a9da4809e012" providerId="AD" clId="Web-{3A682892-0182-FB5D-5DC8-5A147B210A2A}" dt="2026-05-12T21:59:46.146" v="72" actId="1076"/>
          <ac:spMkLst>
            <pc:docMk/>
            <pc:sldMk cId="3240565764" sldId="297"/>
            <ac:spMk id="10" creationId="{991C7EE4-1170-AC4C-597D-3383D8E8A8F9}"/>
          </ac:spMkLst>
        </pc:spChg>
        <pc:spChg chg="add mod">
          <ac:chgData name="Gerardo Jahir Lara Garcia" userId="S::gerardo.larag@imss.gob.mx::84d5cd65-4601-4e92-b448-a9da4809e012" providerId="AD" clId="Web-{3A682892-0182-FB5D-5DC8-5A147B210A2A}" dt="2026-05-12T21:59:46.146" v="70" actId="1076"/>
          <ac:spMkLst>
            <pc:docMk/>
            <pc:sldMk cId="3240565764" sldId="297"/>
            <ac:spMk id="12" creationId="{CA535D92-E281-11D7-D7CB-F8BAB9F176B8}"/>
          </ac:spMkLst>
        </pc:spChg>
        <pc:spChg chg="add del mod">
          <ac:chgData name="Gerardo Jahir Lara Garcia" userId="S::gerardo.larag@imss.gob.mx::84d5cd65-4601-4e92-b448-a9da4809e012" providerId="AD" clId="Web-{3A682892-0182-FB5D-5DC8-5A147B210A2A}" dt="2026-05-12T21:59:47.271" v="79" actId="20577"/>
          <ac:spMkLst>
            <pc:docMk/>
            <pc:sldMk cId="3240565764" sldId="297"/>
            <ac:spMk id="13" creationId="{B9C2E918-974F-A566-8C8B-5DDE4ED4290B}"/>
          </ac:spMkLst>
        </pc:spChg>
        <pc:spChg chg="add del mod">
          <ac:chgData name="Gerardo Jahir Lara Garcia" userId="S::gerardo.larag@imss.gob.mx::84d5cd65-4601-4e92-b448-a9da4809e012" providerId="AD" clId="Web-{3A682892-0182-FB5D-5DC8-5A147B210A2A}" dt="2026-05-12T21:59:59.991" v="86" actId="20577"/>
          <ac:spMkLst>
            <pc:docMk/>
            <pc:sldMk cId="3240565764" sldId="297"/>
            <ac:spMk id="15" creationId="{A0083CC0-370A-999A-F425-0B0E05DEB5CF}"/>
          </ac:spMkLst>
        </pc:spChg>
        <pc:picChg chg="add mod">
          <ac:chgData name="Gerardo Jahir Lara Garcia" userId="S::gerardo.larag@imss.gob.mx::84d5cd65-4601-4e92-b448-a9da4809e012" providerId="AD" clId="Web-{3A682892-0182-FB5D-5DC8-5A147B210A2A}" dt="2026-05-12T21:59:46.162" v="76" actId="1076"/>
          <ac:picMkLst>
            <pc:docMk/>
            <pc:sldMk cId="3240565764" sldId="297"/>
            <ac:picMk id="4" creationId="{AE9FD96F-084C-5DEE-6966-05F8D1633A42}"/>
          </ac:picMkLst>
        </pc:picChg>
        <pc:picChg chg="add mod">
          <ac:chgData name="Gerardo Jahir Lara Garcia" userId="S::gerardo.larag@imss.gob.mx::84d5cd65-4601-4e92-b448-a9da4809e012" providerId="AD" clId="Web-{3A682892-0182-FB5D-5DC8-5A147B210A2A}" dt="2026-05-12T21:59:46.162" v="74" actId="1076"/>
          <ac:picMkLst>
            <pc:docMk/>
            <pc:sldMk cId="3240565764" sldId="297"/>
            <ac:picMk id="8" creationId="{170CBE01-E044-2F44-556A-69D0B561DC01}"/>
          </ac:picMkLst>
        </pc:picChg>
        <pc:picChg chg="add mod">
          <ac:chgData name="Gerardo Jahir Lara Garcia" userId="S::gerardo.larag@imss.gob.mx::84d5cd65-4601-4e92-b448-a9da4809e012" providerId="AD" clId="Web-{3A682892-0182-FB5D-5DC8-5A147B210A2A}" dt="2026-05-12T21:59:46.146" v="71" actId="1076"/>
          <ac:picMkLst>
            <pc:docMk/>
            <pc:sldMk cId="3240565764" sldId="297"/>
            <ac:picMk id="11" creationId="{F7B31A16-FD1A-331A-6F76-259EB810FD76}"/>
          </ac:picMkLst>
        </pc:picChg>
        <pc:picChg chg="add del">
          <ac:chgData name="Gerardo Jahir Lara Garcia" userId="S::gerardo.larag@imss.gob.mx::84d5cd65-4601-4e92-b448-a9da4809e012" providerId="AD" clId="Web-{3A682892-0182-FB5D-5DC8-5A147B210A2A}" dt="2026-05-12T21:59:48.037" v="8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2502503.0</c:v>
                </c:pt>
                <c:pt idx="1">
                  <c:v>257089.0</c:v>
                </c:pt>
                <c:pt idx="2">
                  <c:v>407839.0</c:v>
                </c:pt>
                <c:pt idx="3">
                  <c:v>267058.0</c:v>
                </c:pt>
                <c:pt idx="4">
                  <c:v>5896.0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38.416454445570615</c:v>
                </c:pt>
                <c:pt idx="1">
                  <c:v>61.583545554429385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8.7119434574</c:v>
                </c:pt>
                <c:pt idx="1">
                  <c:v>91.2880565426</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34.8</c:v>
                </c:pt>
                <c:pt idx="1">
                  <c:v>65.2</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36.18</c:v>
                </c:pt>
                <c:pt idx="1">
                  <c:v>63.82</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166</c:v>
                </c:pt>
                <c:pt idx="1">
                  <c:v>249</c:v>
                </c:pt>
                <c:pt idx="2">
                  <c:v>289</c:v>
                </c:pt>
                <c:pt idx="3">
                  <c:v>292</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Comercio</c:v>
                </c:pt>
                <c:pt idx="2">
                  <c:v>Servicios Sociales y Comunales</c:v>
                </c:pt>
                <c:pt idx="3">
                  <c:v>Transportes y Comunicaciones</c:v>
                </c:pt>
                <c:pt idx="4">
                  <c:v>Industrias Extractivas</c:v>
                </c:pt>
                <c:pt idx="5">
                  <c:v>Servicios para Empresas, Personas y el Hogar</c:v>
                </c:pt>
                <c:pt idx="6">
                  <c:v>Industria de la Construcción</c:v>
                </c:pt>
                <c:pt idx="7">
                  <c:v>Ind Eléctrica y Captación y Suministro de Agua Potable</c:v>
                </c:pt>
                <c:pt idx="8">
                  <c:v>Agricultura, Ganaderia, Silvicultura, Pesca y Caza</c:v>
                </c:pt>
              </c:strCache>
            </c:strRef>
          </c:cat>
          <c:val>
            <c:numRef>
              <c:f>Sheet1!$B$2:$B$10</c:f>
              <c:numCache>
                <c:formatCode>General</c:formatCode>
                <c:ptCount val="9"/>
                <c:pt idx="0">
                  <c:v>419706</c:v>
                </c:pt>
                <c:pt idx="1">
                  <c:v>139297</c:v>
                </c:pt>
                <c:pt idx="2">
                  <c:v>65767</c:v>
                </c:pt>
                <c:pt idx="3">
                  <c:v>42218</c:v>
                </c:pt>
                <c:pt idx="4">
                  <c:v>9717</c:v>
                </c:pt>
                <c:pt idx="5">
                  <c:v>106191</c:v>
                </c:pt>
                <c:pt idx="6">
                  <c:v>58513</c:v>
                </c:pt>
                <c:pt idx="7">
                  <c:v>6241</c:v>
                </c:pt>
                <c:pt idx="8">
                  <c:v>19368</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Comercio</c:v>
                </c:pt>
                <c:pt idx="2">
                  <c:v>Servicios Sociales y Comunales</c:v>
                </c:pt>
                <c:pt idx="3">
                  <c:v>Transportes y Comunicaciones</c:v>
                </c:pt>
                <c:pt idx="4">
                  <c:v>Industrias Extractivas</c:v>
                </c:pt>
                <c:pt idx="5">
                  <c:v>Servicios para Empresas, Personas y el Hogar</c:v>
                </c:pt>
                <c:pt idx="6">
                  <c:v>Industria de la Construcción</c:v>
                </c:pt>
                <c:pt idx="7">
                  <c:v>Ind Eléctrica y Captación y Suministro de Agua Potable</c:v>
                </c:pt>
                <c:pt idx="8">
                  <c:v>Agricultura, Ganaderia, Silvicultura, Pesca y Caza</c:v>
                </c:pt>
              </c:strCache>
            </c:strRef>
          </c:cat>
          <c:val>
            <c:numRef>
              <c:f>Sheet1!$C$2:$C$10</c:f>
              <c:numCache>
                <c:formatCode>General</c:formatCode>
                <c:ptCount val="9"/>
                <c:pt idx="0">
                  <c:v>398175</c:v>
                </c:pt>
                <c:pt idx="1">
                  <c:v>140281</c:v>
                </c:pt>
                <c:pt idx="2">
                  <c:v>66247</c:v>
                </c:pt>
                <c:pt idx="3">
                  <c:v>43375</c:v>
                </c:pt>
                <c:pt idx="4">
                  <c:v>9985</c:v>
                </c:pt>
                <c:pt idx="5">
                  <c:v>109965</c:v>
                </c:pt>
                <c:pt idx="6">
                  <c:v>61475</c:v>
                </c:pt>
                <c:pt idx="7">
                  <c:v>6582</c:v>
                </c:pt>
                <c:pt idx="8">
                  <c:v>21903</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775057</c:v>
                </c:pt>
                <c:pt idx="1">
                  <c:v>788765</c:v>
                </c:pt>
                <c:pt idx="2">
                  <c:v>757928</c:v>
                </c:pt>
                <c:pt idx="3">
                  <c:v>771096</c:v>
                </c:pt>
                <c:pt idx="4">
                  <c:v>814563</c:v>
                </c:pt>
                <c:pt idx="5">
                  <c:v>850971</c:v>
                </c:pt>
                <c:pt idx="6">
                  <c:v>879111</c:v>
                </c:pt>
                <c:pt idx="7">
                  <c:v>867018</c:v>
                </c:pt>
                <c:pt idx="8">
                  <c:v>857988</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Coahuila</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_Coahuila.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80%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2,502,503</a:t>
            </a:r>
            <a:br/>
            <a:r>
              <a:t>73%</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257,089</a:t>
            </a:r>
            <a:br/>
            <a:r>
              <a:t>7%</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407,839</a:t>
            </a:r>
            <a:br/>
            <a:r>
              <a:t>12%</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267,058</a:t>
            </a:r>
            <a:br/>
            <a:r>
              <a:t>8%</a:t>
            </a:r>
          </a:p>
        </p:txBody>
      </p:sp>
      <p:pic>
        <p:nvPicPr>
          <p:cNvPr id="128" name="Picture 127" descr="05.png"/>
          <p:cNvPicPr>
            <a:picLocks noChangeAspect="1"/>
          </p:cNvPicPr>
          <p:nvPr/>
        </p:nvPicPr>
        <p:blipFill>
          <a:blip r:embed="rId9"/>
          <a:stretch>
            <a:fillRect/>
          </a:stretch>
        </p:blipFill>
        <p:spPr>
          <a:xfrm>
            <a:off x="1220400" y="3290400"/>
            <a:ext cx="1019887"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5,896</a:t>
            </a:r>
            <a:br/>
            <a:r>
              <a:t>0.17%</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3,440,385</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2,331,199</a:t>
                      </a:r>
                    </a:p>
                  </a:txBody>
                  <a:tcPr>
                    <a:solidFill>
                      <a:srgbClr val="EBD2D9"/>
                    </a:solidFill>
                  </a:tcPr>
                </a:tc>
                <a:tc>
                  <a:txBody>
                    <a:bodyPr/>
                    <a:lstStyle/>
                    <a:p>
                      <a:pPr algn="ctr">
                        <a:defRPr sz="900" b="1">
                          <a:solidFill>
                            <a:srgbClr val="000000"/>
                          </a:solidFill>
                          <a:latin typeface="Montserrat"/>
                        </a:defRPr>
                      </a:pPr>
                      <a:r>
                        <a:t>2,502,503</a:t>
                      </a:r>
                    </a:p>
                  </a:txBody>
                  <a:tcPr>
                    <a:solidFill>
                      <a:srgbClr val="EBD2D9"/>
                    </a:solidFill>
                  </a:tcPr>
                </a:tc>
                <a:tc>
                  <a:txBody>
                    <a:bodyPr/>
                    <a:lstStyle/>
                    <a:p>
                      <a:pPr algn="ctr">
                        <a:defRPr sz="900" b="1">
                          <a:solidFill>
                            <a:srgbClr val="000000"/>
                          </a:solidFill>
                          <a:latin typeface="Montserrat"/>
                        </a:defRPr>
                      </a:pPr>
                      <a:r>
                        <a:t>7%</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1,116,150</a:t>
                      </a:r>
                    </a:p>
                  </a:txBody>
                  <a:tcPr>
                    <a:solidFill>
                      <a:srgbClr val="EBD2D9"/>
                    </a:solidFill>
                  </a:tcPr>
                </a:tc>
                <a:tc>
                  <a:txBody>
                    <a:bodyPr/>
                    <a:lstStyle/>
                    <a:p>
                      <a:pPr algn="ctr">
                        <a:defRPr sz="900" b="1">
                          <a:solidFill>
                            <a:srgbClr val="000000"/>
                          </a:solidFill>
                          <a:latin typeface="Montserrat"/>
                        </a:defRPr>
                      </a:pPr>
                      <a:r>
                        <a:t>1,313,525</a:t>
                      </a:r>
                    </a:p>
                  </a:txBody>
                  <a:tcPr>
                    <a:solidFill>
                      <a:srgbClr val="EBD2D9"/>
                    </a:solidFill>
                  </a:tcPr>
                </a:tc>
                <a:tc>
                  <a:txBody>
                    <a:bodyPr/>
                    <a:lstStyle/>
                    <a:p>
                      <a:pPr algn="ctr">
                        <a:defRPr sz="900" b="1">
                          <a:solidFill>
                            <a:srgbClr val="000000"/>
                          </a:solidFill>
                          <a:latin typeface="Montserrat"/>
                        </a:defRPr>
                      </a:pPr>
                      <a:r>
                        <a:t>18%</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779,580</a:t>
                      </a:r>
                    </a:p>
                  </a:txBody>
                  <a:tcPr>
                    <a:solidFill>
                      <a:srgbClr val="F8F4EC"/>
                    </a:solidFill>
                  </a:tcPr>
                </a:tc>
                <a:tc>
                  <a:txBody>
                    <a:bodyPr/>
                    <a:lstStyle/>
                    <a:p>
                      <a:pPr algn="ctr">
                        <a:defRPr sz="900" b="1">
                          <a:solidFill>
                            <a:srgbClr val="000000"/>
                          </a:solidFill>
                          <a:latin typeface="Montserrat"/>
                        </a:defRPr>
                      </a:pPr>
                      <a:r>
                        <a:t>857,988</a:t>
                      </a:r>
                    </a:p>
                  </a:txBody>
                  <a:tcPr>
                    <a:solidFill>
                      <a:srgbClr val="F8F4EC"/>
                    </a:solidFill>
                  </a:tcPr>
                </a:tc>
                <a:tc>
                  <a:txBody>
                    <a:bodyPr/>
                    <a:lstStyle/>
                    <a:p>
                      <a:pPr algn="ctr">
                        <a:defRPr sz="900" b="1">
                          <a:solidFill>
                            <a:srgbClr val="000000"/>
                          </a:solidFill>
                          <a:latin typeface="Montserrat"/>
                        </a:defRPr>
                      </a:pPr>
                      <a:r>
                        <a:t>10%</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200,511</a:t>
                      </a:r>
                    </a:p>
                  </a:txBody>
                  <a:tcPr>
                    <a:solidFill>
                      <a:srgbClr val="FFFFFF"/>
                    </a:solidFill>
                  </a:tcPr>
                </a:tc>
                <a:tc>
                  <a:txBody>
                    <a:bodyPr/>
                    <a:lstStyle/>
                    <a:p>
                      <a:pPr algn="ctr">
                        <a:defRPr sz="900">
                          <a:solidFill>
                            <a:srgbClr val="000000"/>
                          </a:solidFill>
                          <a:latin typeface="Montserrat"/>
                        </a:defRPr>
                      </a:pPr>
                      <a:r>
                        <a:t>282,875</a:t>
                      </a:r>
                    </a:p>
                  </a:txBody>
                  <a:tcPr>
                    <a:solidFill>
                      <a:srgbClr val="FFFFFF"/>
                    </a:solidFill>
                  </a:tcPr>
                </a:tc>
                <a:tc>
                  <a:txBody>
                    <a:bodyPr/>
                    <a:lstStyle/>
                    <a:p>
                      <a:pPr algn="ctr">
                        <a:defRPr sz="900">
                          <a:solidFill>
                            <a:srgbClr val="000000"/>
                          </a:solidFill>
                          <a:latin typeface="Montserrat"/>
                        </a:defRPr>
                      </a:pPr>
                      <a:r>
                        <a:t>41%</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27,176</a:t>
                      </a:r>
                    </a:p>
                  </a:txBody>
                  <a:tcPr>
                    <a:solidFill>
                      <a:srgbClr val="FFFFFF"/>
                    </a:solidFill>
                  </a:tcPr>
                </a:tc>
                <a:tc>
                  <a:txBody>
                    <a:bodyPr/>
                    <a:lstStyle/>
                    <a:p>
                      <a:pPr algn="ctr">
                        <a:defRPr sz="900">
                          <a:solidFill>
                            <a:srgbClr val="000000"/>
                          </a:solidFill>
                          <a:latin typeface="Montserrat"/>
                        </a:defRPr>
                      </a:pPr>
                      <a:r>
                        <a:t>30,843</a:t>
                      </a:r>
                    </a:p>
                  </a:txBody>
                  <a:tcPr>
                    <a:solidFill>
                      <a:srgbClr val="FFFFFF"/>
                    </a:solidFill>
                  </a:tcPr>
                </a:tc>
                <a:tc>
                  <a:txBody>
                    <a:bodyPr/>
                    <a:lstStyle/>
                    <a:p>
                      <a:pPr algn="ctr">
                        <a:defRPr sz="900">
                          <a:solidFill>
                            <a:srgbClr val="000000"/>
                          </a:solidFill>
                          <a:latin typeface="Montserrat"/>
                        </a:defRPr>
                      </a:pPr>
                      <a:r>
                        <a:t>13%</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108,883</a:t>
                      </a:r>
                    </a:p>
                  </a:txBody>
                  <a:tcPr>
                    <a:solidFill>
                      <a:srgbClr val="CCE0DD"/>
                    </a:solidFill>
                  </a:tcPr>
                </a:tc>
                <a:tc>
                  <a:txBody>
                    <a:bodyPr/>
                    <a:lstStyle/>
                    <a:p>
                      <a:pPr algn="ctr">
                        <a:defRPr sz="900" b="1">
                          <a:solidFill>
                            <a:srgbClr val="000000"/>
                          </a:solidFill>
                          <a:latin typeface="Montserrat"/>
                        </a:defRPr>
                      </a:pPr>
                      <a:r>
                        <a:t>140,258</a:t>
                      </a:r>
                    </a:p>
                  </a:txBody>
                  <a:tcPr>
                    <a:solidFill>
                      <a:srgbClr val="CCE0DD"/>
                    </a:solidFill>
                  </a:tcPr>
                </a:tc>
                <a:tc>
                  <a:txBody>
                    <a:bodyPr/>
                    <a:lstStyle/>
                    <a:p>
                      <a:pPr algn="ctr">
                        <a:defRPr sz="900" b="1">
                          <a:solidFill>
                            <a:srgbClr val="000000"/>
                          </a:solidFill>
                          <a:latin typeface="Montserrat"/>
                        </a:defRPr>
                      </a:pPr>
                      <a:r>
                        <a:t>29%</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100,219</a:t>
                      </a:r>
                    </a:p>
                  </a:txBody>
                  <a:tcPr>
                    <a:solidFill>
                      <a:srgbClr val="FFFFFF"/>
                    </a:solidFill>
                  </a:tcPr>
                </a:tc>
                <a:tc>
                  <a:txBody>
                    <a:bodyPr/>
                    <a:lstStyle/>
                    <a:p>
                      <a:pPr algn="ctr">
                        <a:defRPr sz="900">
                          <a:solidFill>
                            <a:srgbClr val="000000"/>
                          </a:solidFill>
                          <a:latin typeface="Montserrat"/>
                        </a:defRPr>
                      </a:pPr>
                      <a:r>
                        <a:t>130,103</a:t>
                      </a:r>
                    </a:p>
                  </a:txBody>
                  <a:tcPr>
                    <a:solidFill>
                      <a:srgbClr val="FFFFFF"/>
                    </a:solidFill>
                  </a:tcPr>
                </a:tc>
                <a:tc>
                  <a:txBody>
                    <a:bodyPr/>
                    <a:lstStyle/>
                    <a:p>
                      <a:pPr algn="ctr">
                        <a:defRPr sz="900">
                          <a:solidFill>
                            <a:srgbClr val="000000"/>
                          </a:solidFill>
                          <a:latin typeface="Montserrat"/>
                        </a:defRPr>
                      </a:pPr>
                      <a:r>
                        <a:t>30%</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4,109</a:t>
                      </a:r>
                    </a:p>
                  </a:txBody>
                  <a:tcPr>
                    <a:solidFill>
                      <a:srgbClr val="FFFFFF"/>
                    </a:solidFill>
                  </a:tcPr>
                </a:tc>
                <a:tc>
                  <a:txBody>
                    <a:bodyPr/>
                    <a:lstStyle/>
                    <a:p>
                      <a:pPr algn="ctr">
                        <a:defRPr sz="900">
                          <a:solidFill>
                            <a:srgbClr val="000000"/>
                          </a:solidFill>
                          <a:latin typeface="Montserrat"/>
                        </a:defRPr>
                      </a:pPr>
                      <a:r>
                        <a:t>1,292</a:t>
                      </a:r>
                    </a:p>
                  </a:txBody>
                  <a:tcPr>
                    <a:solidFill>
                      <a:srgbClr val="FFFFFF"/>
                    </a:solidFill>
                  </a:tcPr>
                </a:tc>
                <a:tc>
                  <a:txBody>
                    <a:bodyPr/>
                    <a:lstStyle/>
                    <a:p>
                      <a:pPr algn="ctr">
                        <a:defRPr sz="900">
                          <a:solidFill>
                            <a:srgbClr val="000000"/>
                          </a:solidFill>
                          <a:latin typeface="Montserrat"/>
                        </a:defRPr>
                      </a:pPr>
                      <a:r>
                        <a:t>-69%</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4,555</a:t>
                      </a:r>
                    </a:p>
                  </a:txBody>
                  <a:tcPr>
                    <a:solidFill>
                      <a:srgbClr val="FFFFFF"/>
                    </a:solidFill>
                  </a:tcPr>
                </a:tc>
                <a:tc>
                  <a:txBody>
                    <a:bodyPr/>
                    <a:lstStyle/>
                    <a:p>
                      <a:pPr algn="ctr">
                        <a:defRPr sz="900">
                          <a:solidFill>
                            <a:srgbClr val="000000"/>
                          </a:solidFill>
                          <a:latin typeface="Montserrat"/>
                        </a:defRPr>
                      </a:pPr>
                      <a:r>
                        <a:t>8,863</a:t>
                      </a:r>
                    </a:p>
                  </a:txBody>
                  <a:tcPr>
                    <a:solidFill>
                      <a:srgbClr val="FFFFFF"/>
                    </a:solidFill>
                  </a:tcPr>
                </a:tc>
                <a:tc>
                  <a:txBody>
                    <a:bodyPr/>
                    <a:lstStyle/>
                    <a:p>
                      <a:pPr algn="ctr">
                        <a:defRPr sz="900">
                          <a:solidFill>
                            <a:srgbClr val="000000"/>
                          </a:solidFill>
                          <a:latin typeface="Montserrat"/>
                        </a:defRPr>
                      </a:pPr>
                      <a:r>
                        <a:t>95%</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1,215,049</a:t>
                      </a:r>
                    </a:p>
                  </a:txBody>
                  <a:tcPr>
                    <a:solidFill>
                      <a:srgbClr val="EBD2D9"/>
                    </a:solidFill>
                  </a:tcPr>
                </a:tc>
                <a:tc>
                  <a:txBody>
                    <a:bodyPr/>
                    <a:lstStyle/>
                    <a:p>
                      <a:pPr algn="ctr">
                        <a:defRPr sz="900" b="1">
                          <a:solidFill>
                            <a:srgbClr val="000000"/>
                          </a:solidFill>
                          <a:latin typeface="Montserrat"/>
                        </a:defRPr>
                      </a:pPr>
                      <a:r>
                        <a:t>1,188,978</a:t>
                      </a:r>
                    </a:p>
                  </a:txBody>
                  <a:tcPr>
                    <a:solidFill>
                      <a:srgbClr val="EBD2D9"/>
                    </a:solidFill>
                  </a:tcPr>
                </a:tc>
                <a:tc>
                  <a:txBody>
                    <a:bodyPr/>
                    <a:lstStyle/>
                    <a:p>
                      <a:pPr algn="ctr">
                        <a:defRPr sz="900" b="1">
                          <a:solidFill>
                            <a:srgbClr val="000000"/>
                          </a:solidFill>
                          <a:latin typeface="Montserrat"/>
                        </a:defRPr>
                      </a:pPr>
                      <a:r>
                        <a:t>-2%</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414,208</a:t>
                      </a:r>
                    </a:p>
                  </a:txBody>
                  <a:tcPr>
                    <a:solidFill>
                      <a:srgbClr val="FFFFFF"/>
                    </a:solidFill>
                  </a:tcPr>
                </a:tc>
                <a:tc>
                  <a:txBody>
                    <a:bodyPr/>
                    <a:lstStyle/>
                    <a:p>
                      <a:pPr algn="ctr">
                        <a:defRPr sz="900">
                          <a:solidFill>
                            <a:srgbClr val="000000"/>
                          </a:solidFill>
                          <a:latin typeface="Montserrat"/>
                        </a:defRPr>
                      </a:pPr>
                      <a:r>
                        <a:t>426,927</a:t>
                      </a:r>
                    </a:p>
                  </a:txBody>
                  <a:tcPr>
                    <a:solidFill>
                      <a:srgbClr val="FFFFFF"/>
                    </a:solidFill>
                  </a:tcPr>
                </a:tc>
                <a:tc>
                  <a:txBody>
                    <a:bodyPr/>
                    <a:lstStyle/>
                    <a:p>
                      <a:pPr algn="ctr">
                        <a:defRPr sz="900">
                          <a:solidFill>
                            <a:srgbClr val="000000"/>
                          </a:solidFill>
                          <a:latin typeface="Montserrat"/>
                        </a:defRPr>
                      </a:pPr>
                      <a:r>
                        <a:t>3%</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604,654</a:t>
                      </a:r>
                    </a:p>
                  </a:txBody>
                  <a:tcPr>
                    <a:solidFill>
                      <a:srgbClr val="FFFFFF"/>
                    </a:solidFill>
                  </a:tcPr>
                </a:tc>
                <a:tc>
                  <a:txBody>
                    <a:bodyPr/>
                    <a:lstStyle/>
                    <a:p>
                      <a:pPr algn="ctr">
                        <a:defRPr sz="900">
                          <a:solidFill>
                            <a:srgbClr val="000000"/>
                          </a:solidFill>
                          <a:latin typeface="Montserrat"/>
                        </a:defRPr>
                      </a:pPr>
                      <a:r>
                        <a:t>513,331</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196,187</a:t>
                      </a:r>
                    </a:p>
                  </a:txBody>
                  <a:tcPr>
                    <a:solidFill>
                      <a:srgbClr val="FFFFFF"/>
                    </a:solidFill>
                  </a:tcPr>
                </a:tc>
                <a:tc>
                  <a:txBody>
                    <a:bodyPr/>
                    <a:lstStyle/>
                    <a:p>
                      <a:pPr algn="ctr">
                        <a:defRPr sz="900">
                          <a:solidFill>
                            <a:srgbClr val="000000"/>
                          </a:solidFill>
                          <a:latin typeface="Montserrat"/>
                        </a:defRPr>
                      </a:pPr>
                      <a:r>
                        <a:t>248,720</a:t>
                      </a:r>
                    </a:p>
                  </a:txBody>
                  <a:tcPr>
                    <a:solidFill>
                      <a:srgbClr val="FFFFFF"/>
                    </a:solidFill>
                  </a:tcPr>
                </a:tc>
                <a:tc>
                  <a:txBody>
                    <a:bodyPr/>
                    <a:lstStyle/>
                    <a:p>
                      <a:pPr algn="ctr">
                        <a:defRPr sz="900">
                          <a:solidFill>
                            <a:srgbClr val="000000"/>
                          </a:solidFill>
                          <a:latin typeface="Montserrat"/>
                        </a:defRPr>
                      </a:pPr>
                      <a:r>
                        <a:t>27%</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3,228</a:t>
                      </a:r>
                    </a:p>
                  </a:txBody>
                  <a:tcPr>
                    <a:solidFill>
                      <a:srgbClr val="F8F4EC"/>
                    </a:solidFill>
                  </a:tcPr>
                </a:tc>
                <a:tc>
                  <a:txBody>
                    <a:bodyPr/>
                    <a:lstStyle/>
                    <a:p>
                      <a:pPr algn="ctr">
                        <a:defRPr b="1" sz="900">
                          <a:latin typeface="Montserrat"/>
                        </a:defRPr>
                      </a:pPr>
                      <a:r>
                        <a:t>2,849</a:t>
                      </a:r>
                    </a:p>
                  </a:txBody>
                  <a:tcPr>
                    <a:solidFill>
                      <a:srgbClr val="F8F4EC"/>
                    </a:solidFill>
                  </a:tcPr>
                </a:tc>
                <a:tc>
                  <a:txBody>
                    <a:bodyPr/>
                    <a:lstStyle/>
                    <a:p>
                      <a:pPr algn="ctr">
                        <a:defRPr b="1" sz="900">
                          <a:solidFill>
                            <a:srgbClr val="A61C00"/>
                          </a:solidFill>
                          <a:latin typeface="Montserrat"/>
                        </a:defRPr>
                      </a:pPr>
                      <a:r>
                        <a:t>-11%</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9,360</a:t>
                      </a:r>
                    </a:p>
                  </a:txBody>
                  <a:tcPr>
                    <a:solidFill>
                      <a:srgbClr val="F8F4EC"/>
                    </a:solidFill>
                  </a:tcPr>
                </a:tc>
                <a:tc>
                  <a:txBody>
                    <a:bodyPr/>
                    <a:lstStyle/>
                    <a:p>
                      <a:pPr algn="ctr">
                        <a:defRPr b="1" sz="900">
                          <a:latin typeface="Montserrat"/>
                        </a:defRPr>
                      </a:pPr>
                      <a:r>
                        <a:t>12,832</a:t>
                      </a:r>
                    </a:p>
                  </a:txBody>
                  <a:tcPr>
                    <a:solidFill>
                      <a:srgbClr val="F8F4EC"/>
                    </a:solidFill>
                  </a:tcPr>
                </a:tc>
                <a:tc>
                  <a:txBody>
                    <a:bodyPr/>
                    <a:lstStyle/>
                    <a:p>
                      <a:pPr algn="ctr">
                        <a:defRPr b="1" sz="900">
                          <a:latin typeface="Montserrat"/>
                        </a:defRPr>
                      </a:pPr>
                      <a:r>
                        <a:t>37%</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05_coah.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39</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94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87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1,466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556</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248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325</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1,714</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757</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476000"/>
        </p:xfrm>
        <a:graphic>
          <a:graphicData uri="http://schemas.openxmlformats.org/drawingml/2006/table">
            <a:tbl>
              <a:tblPr firstRow="1" bandRow="1">
                <a:tableStyleId>{5C22544A-7EE6-4342-B048-85BDC9FD1C3A}</a:tableStyleId>
              </a:tblPr>
              <a:tblGrid>
                <a:gridCol w="846000"/>
                <a:gridCol w="846000"/>
                <a:gridCol w="846000"/>
                <a:gridCol w="558000"/>
              </a:tblGrid>
              <a:tr h="2952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952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952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77</a:t>
                      </a:r>
                    </a:p>
                  </a:txBody>
                  <a:tcPr marL="10800" marR="10800" marT="10800" marB="10800" anchor="ctr">
                    <a:solidFill>
                      <a:srgbClr val="FFFFFF"/>
                    </a:solidFill>
                  </a:tcPr>
                </a:tc>
                <a:tc>
                  <a:txBody>
                    <a:bodyPr/>
                    <a:lstStyle/>
                    <a:p>
                      <a:pPr algn="ctr">
                        <a:defRPr sz="1000">
                          <a:solidFill>
                            <a:srgbClr val="000000"/>
                          </a:solidFill>
                          <a:latin typeface="Montserrat"/>
                        </a:defRPr>
                      </a:pPr>
                      <a:r>
                        <a:t>80</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952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3</a:t>
                      </a:r>
                    </a:p>
                  </a:txBody>
                  <a:tcPr marL="10800" marR="10800" marT="10800" marB="10800" anchor="ctr">
                    <a:solidFill>
                      <a:srgbClr val="EFEFEF"/>
                    </a:solidFill>
                  </a:tcPr>
                </a:tc>
                <a:tc>
                  <a:txBody>
                    <a:bodyPr/>
                    <a:lstStyle/>
                    <a:p>
                      <a:pPr algn="ctr">
                        <a:defRPr sz="1000">
                          <a:solidFill>
                            <a:srgbClr val="000000"/>
                          </a:solidFill>
                          <a:latin typeface="Montserrat"/>
                        </a:defRPr>
                      </a:pPr>
                      <a:r>
                        <a:t>14</a:t>
                      </a:r>
                    </a:p>
                  </a:txBody>
                  <a:tcPr marL="10800" marR="10800" marT="10800" marB="10800" anchor="ctr">
                    <a:solidFill>
                      <a:srgbClr val="EFEFEF"/>
                    </a:solidFill>
                  </a:tcPr>
                </a:tc>
                <a:tc>
                  <a:txBody>
                    <a:bodyPr/>
                    <a:lstStyle/>
                    <a:p>
                      <a:pPr algn="ctr">
                        <a:defRPr sz="1000">
                          <a:solidFill>
                            <a:srgbClr val="000000"/>
                          </a:solidFill>
                          <a:latin typeface="Montserrat"/>
                        </a:defRPr>
                      </a:pPr>
                      <a:r>
                        <a:t>92</a:t>
                      </a:r>
                    </a:p>
                  </a:txBody>
                  <a:tcPr marL="10800" marR="10800" marT="10800" marB="10800" anchor="ctr">
                    <a:solidFill>
                      <a:srgbClr val="EFEFEF"/>
                    </a:solidFill>
                  </a:tcPr>
                </a:tc>
              </a:tr>
              <a:tr h="2952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80</a:t>
                      </a:r>
                    </a:p>
                  </a:txBody>
                  <a:tcPr marL="10800" marR="10800" marT="10800" marB="10800" anchor="ctr">
                    <a:solidFill>
                      <a:srgbClr val="D3E9E7"/>
                    </a:solidFill>
                  </a:tcPr>
                </a:tc>
                <a:tc>
                  <a:txBody>
                    <a:bodyPr/>
                    <a:lstStyle/>
                    <a:p>
                      <a:pPr algn="ctr">
                        <a:defRPr sz="1000" b="1">
                          <a:solidFill>
                            <a:srgbClr val="006556"/>
                          </a:solidFill>
                          <a:latin typeface="Montserrat"/>
                        </a:defRPr>
                      </a:pPr>
                      <a:r>
                        <a:t>94</a:t>
                      </a:r>
                    </a:p>
                  </a:txBody>
                  <a:tcPr marL="10800" marR="10800" marT="10800" marB="10800" anchor="ctr">
                    <a:solidFill>
                      <a:srgbClr val="D3E9E7"/>
                    </a:solidFill>
                  </a:tcPr>
                </a:tc>
                <a:tc>
                  <a:txBody>
                    <a:bodyPr/>
                    <a:lstStyle/>
                    <a:p>
                      <a:pPr algn="ctr">
                        <a:defRPr sz="1000" b="1">
                          <a:solidFill>
                            <a:srgbClr val="006556"/>
                          </a:solidFill>
                          <a:latin typeface="Montserrat"/>
                        </a:defRPr>
                      </a:pPr>
                      <a:r>
                        <a:t>92</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UMAA (aut)</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HR</a:t>
                      </a:r>
                    </a:p>
                  </a:txBody>
                  <a:tcPr>
                    <a:solidFill>
                      <a:srgbClr val="FFFFFF"/>
                    </a:solidFill>
                  </a:tcPr>
                </a:tc>
                <a:tc>
                  <a:txBody>
                    <a:bodyPr/>
                    <a:lstStyle/>
                    <a:p>
                      <a:pPr algn="ctr">
                        <a:defRPr sz="1000">
                          <a:solidFill>
                            <a:srgbClr val="000000"/>
                          </a:solidFill>
                          <a:latin typeface="Montserrat"/>
                        </a:defRPr>
                      </a:pPr>
                      <a:r>
                        <a:t>3</a:t>
                      </a:r>
                    </a:p>
                  </a:txBody>
                  <a:tcPr>
                    <a:solidFill>
                      <a:srgbClr val="FFFFFF"/>
                    </a:solidFill>
                  </a:tcPr>
                </a:tc>
              </a:tr>
              <a:tr h="1956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8</a:t>
                      </a:r>
                    </a:p>
                  </a:txBody>
                  <a:tcPr>
                    <a:solidFill>
                      <a:srgbClr val="EFEFEF"/>
                    </a:solidFill>
                  </a:tcPr>
                </a:tc>
              </a:tr>
              <a:tr h="1956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5</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37 UMF, 1 UMF-UMAA y no incluye 13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pic>
        <p:nvPicPr>
          <p:cNvPr id="5" name="Google Shape;98;g3d0b4d3c5c9_3_50">
            <a:extLst>
              <a:ext uri="{FF2B5EF4-FFF2-40B4-BE49-F238E27FC236}">
                <a16:creationId xmlns:a16="http://schemas.microsoft.com/office/drawing/2014/main" id="{254D2AEA-4739-9BC4-E8D0-E18F6F0B0E40}"/>
              </a:ext>
            </a:extLst>
          </p:cNvPr>
          <p:cNvPicPr preferRelativeResize="0"/>
          <p:nvPr/>
        </p:nvPicPr>
        <p:blipFill rotWithShape="1">
          <a:blip r:embed="rId4">
            <a:alphaModFix/>
          </a:blip>
          <a:srcRect/>
          <a:stretch/>
        </p:blipFill>
        <p:spPr>
          <a:xfrm>
            <a:off x="128919" y="2154819"/>
            <a:ext cx="2720323" cy="1694509"/>
          </a:xfrm>
          <a:prstGeom prst="rect">
            <a:avLst/>
          </a:prstGeom>
          <a:noFill/>
          <a:ln>
            <a:noFill/>
          </a:ln>
        </p:spPr>
      </p:pic>
      <p:graphicFrame>
        <p:nvGraphicFramePr>
          <p:cNvPr id="6" name="Google Shape;99;g3d0b4d3c5c9_3_50">
            <a:extLst>
              <a:ext uri="{FF2B5EF4-FFF2-40B4-BE49-F238E27FC236}">
                <a16:creationId xmlns:a16="http://schemas.microsoft.com/office/drawing/2014/main" id="{CF9870F8-F893-ED91-6B98-CAC3C8B988FF}"/>
              </a:ext>
            </a:extLst>
          </p:cNvPr>
          <p:cNvGraphicFramePr/>
          <p:nvPr>
            <p:extLst>
              <p:ext uri="{D42A27DB-BD31-4B8C-83A1-F6EECF244321}">
                <p14:modId xmlns:p14="http://schemas.microsoft.com/office/powerpoint/2010/main" val="2058418071"/>
              </p:ext>
            </p:extLst>
          </p:nvPr>
        </p:nvGraphicFramePr>
        <p:xfrm>
          <a:off x="288000" y="1191600"/>
          <a:ext cx="7034300" cy="548640"/>
        </p:xfrm>
        <a:graphic>
          <a:graphicData uri="http://schemas.openxmlformats.org/drawingml/2006/table">
            <a:tbl>
              <a:tblPr>
                <a:noFill/>
              </a:tblPr>
              <a:tblGrid>
                <a:gridCol w="7034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6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600"/>
                        <a:buFont typeface="Arial"/>
                        <a:buNone/>
                      </a:pPr>
                      <a:r>
                        <a:rPr lang="es" sz="1800" b="1" u="none" strike="noStrike" cap="none" dirty="0">
                          <a:solidFill>
                            <a:srgbClr val="BC955C"/>
                          </a:solidFill>
                          <a:latin typeface="Montserrat"/>
                          <a:ea typeface="Montserrat"/>
                          <a:cs typeface="Montserrat"/>
                          <a:sym typeface="Montserrat"/>
                        </a:rPr>
                        <a:t>Hospital General de Zona </a:t>
                      </a:r>
                      <a:r>
                        <a:rPr lang="es" sz="1800" b="1" dirty="0">
                          <a:solidFill>
                            <a:srgbClr val="BC955C"/>
                          </a:solidFill>
                          <a:latin typeface="Montserrat"/>
                          <a:ea typeface="Montserrat"/>
                          <a:cs typeface="Montserrat"/>
                          <a:sym typeface="Montserrat"/>
                        </a:rPr>
                        <a:t>No.</a:t>
                      </a:r>
                      <a:r>
                        <a:rPr lang="es" sz="1800" b="1" u="none" strike="noStrike" cap="none" dirty="0">
                          <a:solidFill>
                            <a:srgbClr val="BC955C"/>
                          </a:solidFill>
                          <a:latin typeface="Montserrat"/>
                          <a:ea typeface="Montserrat"/>
                          <a:cs typeface="Montserrat"/>
                          <a:sym typeface="Montserrat"/>
                        </a:rPr>
                        <a:t> 1, Saltillo</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7" name="CuadroTexto 6">
            <a:extLst>
              <a:ext uri="{FF2B5EF4-FFF2-40B4-BE49-F238E27FC236}">
                <a16:creationId xmlns:a16="http://schemas.microsoft.com/office/drawing/2014/main" id="{869A875B-834A-EB32-DFDC-8C3B643F744D}"/>
              </a:ext>
            </a:extLst>
          </p:cNvPr>
          <p:cNvSpPr txBox="1"/>
          <p:nvPr/>
        </p:nvSpPr>
        <p:spPr>
          <a:xfrm>
            <a:off x="2893486" y="2140071"/>
            <a:ext cx="4794239" cy="1897955"/>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inició con servicios en la entidad el 19 junio 1957. En 1958 con la afiliación de trabajadores de Altos Hornos de México se dio inicio al pago de cuotas del seguro de invalidez.</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HGZ 1 Saltillo inició operaciones en 1959 con servicios de consulta general y traumatología. En 1960 fue constituido oficialmente como Hospital General.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En 1961, comenzó a funcionar como Complejo Administrativo-Hospitalario IMSS, integrado por el Centro de Seguridad Social, la Delegación Estatal, y el Hospital General de Zona. 1.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coa_05.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1 Saltillo</a:t>
                      </a:r>
                    </a:p>
                  </a:txBody>
                  <a:tcPr anchor="ctr">
                    <a:solidFill>
                      <a:srgbClr val="FFFFFF"/>
                    </a:solidFill>
                  </a:tcPr>
                </a:tc>
                <a:tc>
                  <a:txBody>
                    <a:bodyPr/>
                    <a:lstStyle/>
                    <a:p>
                      <a:pPr algn="ctr">
                        <a:defRPr sz="900">
                          <a:latin typeface="Montserrat"/>
                        </a:defRPr>
                      </a:pPr>
                      <a:r>
                        <a:t>Febrero de 1961</a:t>
                      </a:r>
                    </a:p>
                  </a:txBody>
                  <a:tcPr anchor="ctr">
                    <a:solidFill>
                      <a:srgbClr val="FFFFFF"/>
                    </a:solidFill>
                  </a:tcPr>
                </a:tc>
                <a:tc>
                  <a:txBody>
                    <a:bodyPr/>
                    <a:lstStyle/>
                    <a:p>
                      <a:pPr algn="ctr">
                        <a:defRPr sz="900">
                          <a:latin typeface="Montserrat"/>
                        </a:defRPr>
                      </a:pPr>
                      <a:r>
                        <a:t>206</a:t>
                      </a:r>
                    </a:p>
                  </a:txBody>
                  <a:tcPr anchor="ctr">
                    <a:solidFill>
                      <a:srgbClr val="FFFFFF"/>
                    </a:solidFill>
                  </a:tcPr>
                </a:tc>
                <a:tc>
                  <a:txBody>
                    <a:bodyPr/>
                    <a:lstStyle/>
                    <a:p>
                      <a:pPr algn="ctr">
                        <a:defRPr sz="900">
                          <a:latin typeface="Montserrat"/>
                        </a:defRPr>
                      </a:pPr>
                      <a:r>
                        <a:t>61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13</a:t>
                      </a:r>
                    </a:p>
                  </a:txBody>
                  <a:tcPr anchor="ctr">
                    <a:solidFill>
                      <a:srgbClr val="FFFFFF"/>
                    </a:solidFill>
                  </a:tcPr>
                </a:tc>
              </a:tr>
              <a:tr h="230400">
                <a:tc>
                  <a:txBody>
                    <a:bodyPr/>
                    <a:lstStyle/>
                    <a:p>
                      <a:pPr algn="l">
                        <a:defRPr sz="900">
                          <a:latin typeface="Montserrat"/>
                        </a:defRPr>
                      </a:pPr>
                      <a:r>
                        <a:t>HGZMF 7 Monclova</a:t>
                      </a:r>
                    </a:p>
                  </a:txBody>
                  <a:tcPr anchor="ctr">
                    <a:solidFill>
                      <a:srgbClr val="EFEFEF"/>
                    </a:solidFill>
                  </a:tcPr>
                </a:tc>
                <a:tc>
                  <a:txBody>
                    <a:bodyPr/>
                    <a:lstStyle/>
                    <a:p>
                      <a:pPr algn="ctr">
                        <a:defRPr sz="900">
                          <a:latin typeface="Montserrat"/>
                        </a:defRPr>
                      </a:pPr>
                      <a:r>
                        <a:t>Noviembre de 1962</a:t>
                      </a:r>
                    </a:p>
                  </a:txBody>
                  <a:tcPr anchor="ctr">
                    <a:solidFill>
                      <a:srgbClr val="EFEFEF"/>
                    </a:solidFill>
                  </a:tcPr>
                </a:tc>
                <a:tc>
                  <a:txBody>
                    <a:bodyPr/>
                    <a:lstStyle/>
                    <a:p>
                      <a:pPr algn="ctr">
                        <a:defRPr sz="900">
                          <a:latin typeface="Montserrat"/>
                        </a:defRPr>
                      </a:pPr>
                      <a:r>
                        <a:t>274</a:t>
                      </a:r>
                    </a:p>
                  </a:txBody>
                  <a:tcPr anchor="ctr">
                    <a:solidFill>
                      <a:srgbClr val="EFEFEF"/>
                    </a:solidFill>
                  </a:tcPr>
                </a:tc>
                <a:tc>
                  <a:txBody>
                    <a:bodyPr/>
                    <a:lstStyle/>
                    <a:p>
                      <a:pPr algn="ctr">
                        <a:defRPr sz="900">
                          <a:latin typeface="Montserrat"/>
                        </a:defRPr>
                      </a:pPr>
                      <a:r>
                        <a:t>66</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a:txBody>
                    <a:bodyPr/>
                    <a:lstStyle/>
                    <a:p>
                      <a:pPr algn="l">
                        <a:defRPr sz="900">
                          <a:latin typeface="Montserrat"/>
                        </a:defRPr>
                      </a:pPr>
                      <a:r>
                        <a:t>HGZ 11 Piedras Negras</a:t>
                      </a:r>
                    </a:p>
                  </a:txBody>
                  <a:tcPr anchor="ctr">
                    <a:solidFill>
                      <a:srgbClr val="FFFFFF"/>
                    </a:solidFill>
                  </a:tcPr>
                </a:tc>
                <a:tc>
                  <a:txBody>
                    <a:bodyPr/>
                    <a:lstStyle/>
                    <a:p>
                      <a:pPr algn="ctr">
                        <a:defRPr sz="900">
                          <a:latin typeface="Montserrat"/>
                        </a:defRPr>
                      </a:pPr>
                      <a:r>
                        <a:t>Junio de 1966</a:t>
                      </a:r>
                    </a:p>
                  </a:txBody>
                  <a:tcPr anchor="ctr">
                    <a:solidFill>
                      <a:srgbClr val="FFFFFF"/>
                    </a:solidFill>
                  </a:tcPr>
                </a:tc>
                <a:tc>
                  <a:txBody>
                    <a:bodyPr/>
                    <a:lstStyle/>
                    <a:p>
                      <a:pPr algn="ctr">
                        <a:defRPr sz="900">
                          <a:latin typeface="Montserrat"/>
                        </a:defRPr>
                      </a:pPr>
                      <a:r>
                        <a:t>103</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17</a:t>
                      </a:r>
                    </a:p>
                  </a:txBody>
                  <a:tcPr anchor="ctr">
                    <a:solidFill>
                      <a:srgbClr val="FFFFFF"/>
                    </a:solidFill>
                  </a:tcPr>
                </a:tc>
              </a:tr>
              <a:tr h="230400">
                <a:tc>
                  <a:txBody>
                    <a:bodyPr/>
                    <a:lstStyle/>
                    <a:p>
                      <a:pPr algn="l">
                        <a:defRPr sz="900">
                          <a:latin typeface="Montserrat"/>
                        </a:defRPr>
                      </a:pPr>
                      <a:r>
                        <a:t>HGZMF 16 Torreón</a:t>
                      </a:r>
                    </a:p>
                  </a:txBody>
                  <a:tcPr anchor="ctr">
                    <a:solidFill>
                      <a:srgbClr val="EFEFEF"/>
                    </a:solidFill>
                  </a:tcPr>
                </a:tc>
                <a:tc>
                  <a:txBody>
                    <a:bodyPr/>
                    <a:lstStyle/>
                    <a:p>
                      <a:pPr algn="ctr">
                        <a:defRPr sz="900">
                          <a:latin typeface="Montserrat"/>
                        </a:defRPr>
                      </a:pPr>
                      <a:r>
                        <a:t>Marzo de 1970</a:t>
                      </a:r>
                    </a:p>
                  </a:txBody>
                  <a:tcPr anchor="ctr">
                    <a:solidFill>
                      <a:srgbClr val="EFEFEF"/>
                    </a:solidFill>
                  </a:tcPr>
                </a:tc>
                <a:tc>
                  <a:txBody>
                    <a:bodyPr/>
                    <a:lstStyle/>
                    <a:p>
                      <a:pPr algn="ctr">
                        <a:defRPr sz="900">
                          <a:latin typeface="Montserrat"/>
                        </a:defRPr>
                      </a:pPr>
                      <a:r>
                        <a:t>247</a:t>
                      </a:r>
                    </a:p>
                  </a:txBody>
                  <a:tcPr anchor="ctr">
                    <a:solidFill>
                      <a:srgbClr val="EFEFEF"/>
                    </a:solidFill>
                  </a:tcPr>
                </a:tc>
                <a:tc>
                  <a:txBody>
                    <a:bodyPr/>
                    <a:lstStyle/>
                    <a:p>
                      <a:pPr algn="ctr">
                        <a:defRPr sz="900">
                          <a:latin typeface="Montserrat"/>
                        </a:defRPr>
                      </a:pPr>
                      <a:r>
                        <a:t>122</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7</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a:txBody>
                    <a:bodyPr/>
                    <a:lstStyle/>
                    <a:p>
                      <a:pPr algn="l">
                        <a:defRPr sz="900">
                          <a:latin typeface="Montserrat"/>
                        </a:defRPr>
                      </a:pPr>
                      <a:r>
                        <a:t>HGZMF 24 Nueva Rosita</a:t>
                      </a:r>
                    </a:p>
                  </a:txBody>
                  <a:tcPr anchor="ctr">
                    <a:solidFill>
                      <a:srgbClr val="FFFFFF"/>
                    </a:solidFill>
                  </a:tcPr>
                </a:tc>
                <a:tc>
                  <a:txBody>
                    <a:bodyPr/>
                    <a:lstStyle/>
                    <a:p>
                      <a:pPr algn="ctr">
                        <a:defRPr sz="900">
                          <a:latin typeface="Montserrat"/>
                        </a:defRPr>
                      </a:pPr>
                      <a:r>
                        <a:t>Noviembre de 1972</a:t>
                      </a:r>
                    </a:p>
                  </a:txBody>
                  <a:tcPr anchor="ctr">
                    <a:solidFill>
                      <a:srgbClr val="FFFFFF"/>
                    </a:solidFill>
                  </a:tcPr>
                </a:tc>
                <a:tc>
                  <a:txBody>
                    <a:bodyPr/>
                    <a:lstStyle/>
                    <a:p>
                      <a:pPr algn="ctr">
                        <a:defRPr sz="900">
                          <a:latin typeface="Montserrat"/>
                        </a:defRPr>
                      </a:pPr>
                      <a:r>
                        <a:t>86</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14</a:t>
                      </a:r>
                    </a:p>
                  </a:txBody>
                  <a:tcPr anchor="ctr">
                    <a:solidFill>
                      <a:srgbClr val="FFFFFF"/>
                    </a:solidFill>
                  </a:tcPr>
                </a:tc>
              </a:tr>
              <a:tr h="230400">
                <a:tc>
                  <a:txBody>
                    <a:bodyPr/>
                    <a:lstStyle/>
                    <a:p>
                      <a:pPr algn="l">
                        <a:defRPr sz="900">
                          <a:latin typeface="Montserrat"/>
                        </a:defRPr>
                      </a:pPr>
                      <a:r>
                        <a:t>HGS 13 Cd. Acuña</a:t>
                      </a:r>
                    </a:p>
                  </a:txBody>
                  <a:tcPr anchor="ctr">
                    <a:solidFill>
                      <a:srgbClr val="EFEFEF"/>
                    </a:solidFill>
                  </a:tcPr>
                </a:tc>
                <a:tc>
                  <a:txBody>
                    <a:bodyPr/>
                    <a:lstStyle/>
                    <a:p>
                      <a:pPr algn="ctr">
                        <a:defRPr sz="900">
                          <a:latin typeface="Montserrat"/>
                        </a:defRPr>
                      </a:pPr>
                      <a:r>
                        <a:t>Mayo de 1974</a:t>
                      </a:r>
                    </a:p>
                  </a:txBody>
                  <a:tcPr anchor="ctr">
                    <a:solidFill>
                      <a:srgbClr val="EFEFEF"/>
                    </a:solidFill>
                  </a:tcPr>
                </a:tc>
                <a:tc>
                  <a:txBody>
                    <a:bodyPr/>
                    <a:lstStyle/>
                    <a:p>
                      <a:pPr algn="ctr">
                        <a:defRPr sz="900">
                          <a:latin typeface="Montserrat"/>
                        </a:defRPr>
                      </a:pPr>
                      <a:r>
                        <a:t>64</a:t>
                      </a:r>
                    </a:p>
                  </a:txBody>
                  <a:tcPr anchor="ctr">
                    <a:solidFill>
                      <a:srgbClr val="EFEFEF"/>
                    </a:solidFill>
                  </a:tcPr>
                </a:tc>
                <a:tc>
                  <a:txBody>
                    <a:bodyPr/>
                    <a:lstStyle/>
                    <a:p>
                      <a:pPr algn="ctr">
                        <a:defRPr sz="900">
                          <a:latin typeface="Montserrat"/>
                        </a:defRPr>
                      </a:pPr>
                      <a:r>
                        <a:t>31</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9</a:t>
                      </a:r>
                    </a:p>
                  </a:txBody>
                  <a:tcPr anchor="ctr">
                    <a:solidFill>
                      <a:srgbClr val="EFEFEF"/>
                    </a:solidFill>
                  </a:tcPr>
                </a:tc>
              </a:tr>
              <a:tr h="230400">
                <a:tc>
                  <a:txBody>
                    <a:bodyPr/>
                    <a:lstStyle/>
                    <a:p>
                      <a:pPr algn="l">
                        <a:defRPr sz="900">
                          <a:latin typeface="Montserrat"/>
                        </a:defRPr>
                      </a:pPr>
                      <a:r>
                        <a:t>HGZMF 2 Saltillo</a:t>
                      </a:r>
                    </a:p>
                  </a:txBody>
                  <a:tcPr anchor="ctr">
                    <a:solidFill>
                      <a:srgbClr val="FFFFFF"/>
                    </a:solidFill>
                  </a:tcPr>
                </a:tc>
                <a:tc>
                  <a:txBody>
                    <a:bodyPr/>
                    <a:lstStyle/>
                    <a:p>
                      <a:pPr algn="ctr">
                        <a:defRPr sz="900">
                          <a:latin typeface="Montserrat"/>
                        </a:defRPr>
                      </a:pPr>
                      <a:r>
                        <a:t>Junio de 1974</a:t>
                      </a:r>
                    </a:p>
                  </a:txBody>
                  <a:tcPr anchor="ctr">
                    <a:solidFill>
                      <a:srgbClr val="FFFFFF"/>
                    </a:solidFill>
                  </a:tcPr>
                </a:tc>
                <a:tc>
                  <a:txBody>
                    <a:bodyPr/>
                    <a:lstStyle/>
                    <a:p>
                      <a:pPr algn="ctr">
                        <a:defRPr sz="900">
                          <a:latin typeface="Montserrat"/>
                        </a:defRPr>
                      </a:pPr>
                      <a:r>
                        <a:t>164</a:t>
                      </a:r>
                    </a:p>
                  </a:txBody>
                  <a:tcPr anchor="ctr">
                    <a:solidFill>
                      <a:srgbClr val="FFFFFF"/>
                    </a:solidFill>
                  </a:tcPr>
                </a:tc>
                <a:tc>
                  <a:txBody>
                    <a:bodyPr/>
                    <a:lstStyle/>
                    <a:p>
                      <a:pPr algn="ctr">
                        <a:defRPr sz="900">
                          <a:latin typeface="Montserrat"/>
                        </a:defRPr>
                      </a:pPr>
                      <a:r>
                        <a:t>43</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29</a:t>
                      </a:r>
                    </a:p>
                  </a:txBody>
                  <a:tcPr anchor="ctr">
                    <a:solidFill>
                      <a:srgbClr val="FFFFFF"/>
                    </a:solidFill>
                  </a:tcPr>
                </a:tc>
              </a:tr>
              <a:tr h="230400">
                <a:tc>
                  <a:txBody>
                    <a:bodyPr/>
                    <a:lstStyle/>
                    <a:p>
                      <a:pPr algn="l">
                        <a:defRPr sz="900">
                          <a:latin typeface="Montserrat"/>
                        </a:defRPr>
                      </a:pPr>
                      <a:r>
                        <a:t>HGZMF 18 Torreón</a:t>
                      </a:r>
                    </a:p>
                  </a:txBody>
                  <a:tcPr anchor="ctr">
                    <a:solidFill>
                      <a:srgbClr val="EFEFEF"/>
                    </a:solidFill>
                  </a:tcPr>
                </a:tc>
                <a:tc>
                  <a:txBody>
                    <a:bodyPr/>
                    <a:lstStyle/>
                    <a:p>
                      <a:pPr algn="ctr">
                        <a:defRPr sz="900">
                          <a:latin typeface="Montserrat"/>
                        </a:defRPr>
                      </a:pPr>
                      <a:r>
                        <a:t>Febrero de 1975</a:t>
                      </a:r>
                    </a:p>
                  </a:txBody>
                  <a:tcPr anchor="ctr">
                    <a:solidFill>
                      <a:srgbClr val="EFEFEF"/>
                    </a:solidFill>
                  </a:tcPr>
                </a:tc>
                <a:tc>
                  <a:txBody>
                    <a:bodyPr/>
                    <a:lstStyle/>
                    <a:p>
                      <a:pPr algn="ctr">
                        <a:defRPr sz="900">
                          <a:latin typeface="Montserrat"/>
                        </a:defRPr>
                      </a:pPr>
                      <a:r>
                        <a:t>115</a:t>
                      </a:r>
                    </a:p>
                  </a:txBody>
                  <a:tcPr anchor="ctr">
                    <a:solidFill>
                      <a:srgbClr val="EFEFEF"/>
                    </a:solidFill>
                  </a:tcPr>
                </a:tc>
                <a:tc>
                  <a:txBody>
                    <a:bodyPr/>
                    <a:lstStyle/>
                    <a:p>
                      <a:pPr algn="ctr">
                        <a:defRPr sz="900">
                          <a:latin typeface="Montserrat"/>
                        </a:defRPr>
                      </a:pPr>
                      <a:r>
                        <a:t>23</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6</a:t>
                      </a:r>
                    </a:p>
                  </a:txBody>
                  <a:tcPr anchor="ctr">
                    <a:solidFill>
                      <a:srgbClr val="EFEFEF"/>
                    </a:solidFill>
                  </a:tcPr>
                </a:tc>
              </a:tr>
              <a:tr h="230400">
                <a:tc>
                  <a:txBody>
                    <a:bodyPr/>
                    <a:lstStyle/>
                    <a:p>
                      <a:pPr algn="l">
                        <a:defRPr sz="900">
                          <a:latin typeface="Montserrat"/>
                        </a:defRPr>
                      </a:pPr>
                      <a:r>
                        <a:t>HGSMF 20 Fco. I. Madero</a:t>
                      </a:r>
                    </a:p>
                  </a:txBody>
                  <a:tcPr anchor="ctr">
                    <a:solidFill>
                      <a:srgbClr val="FFFFFF"/>
                    </a:solidFill>
                  </a:tcPr>
                </a:tc>
                <a:tc>
                  <a:txBody>
                    <a:bodyPr/>
                    <a:lstStyle/>
                    <a:p>
                      <a:pPr algn="ctr">
                        <a:defRPr sz="900">
                          <a:latin typeface="Montserrat"/>
                        </a:defRPr>
                      </a:pPr>
                      <a:r>
                        <a:t>Junio de 1975</a:t>
                      </a:r>
                    </a:p>
                  </a:txBody>
                  <a:tcPr anchor="ctr">
                    <a:solidFill>
                      <a:srgbClr val="FFFFFF"/>
                    </a:solidFill>
                  </a:tcPr>
                </a:tc>
                <a:tc>
                  <a:txBody>
                    <a:bodyPr/>
                    <a:lstStyle/>
                    <a:p>
                      <a:pPr algn="ctr">
                        <a:defRPr sz="900">
                          <a:latin typeface="Montserrat"/>
                        </a:defRPr>
                      </a:pPr>
                      <a:r>
                        <a:t>32</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HGSMF 21 S. Pedro Colonias</a:t>
                      </a:r>
                    </a:p>
                  </a:txBody>
                  <a:tcPr anchor="ctr">
                    <a:solidFill>
                      <a:srgbClr val="EFEFEF"/>
                    </a:solidFill>
                  </a:tcPr>
                </a:tc>
                <a:tc>
                  <a:txBody>
                    <a:bodyPr/>
                    <a:lstStyle/>
                    <a:p>
                      <a:pPr algn="ctr">
                        <a:defRPr sz="900">
                          <a:latin typeface="Montserrat"/>
                        </a:defRPr>
                      </a:pPr>
                      <a:r>
                        <a:t>Junio de 1976</a:t>
                      </a:r>
                    </a:p>
                  </a:txBody>
                  <a:tcPr anchor="ctr">
                    <a:solidFill>
                      <a:srgbClr val="EFEFEF"/>
                    </a:solidFill>
                  </a:tcPr>
                </a:tc>
                <a:tc>
                  <a:txBody>
                    <a:bodyPr/>
                    <a:lstStyle/>
                    <a:p>
                      <a:pPr algn="ctr">
                        <a:defRPr sz="900">
                          <a:latin typeface="Montserrat"/>
                        </a:defRPr>
                      </a:pPr>
                      <a:r>
                        <a:t>26</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2</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104E9437-0840-26BD-ECBC-779486D7CA1D}"/>
              </a:ext>
            </a:extLst>
          </p:cNvPr>
          <p:cNvGrpSpPr/>
          <p:nvPr/>
        </p:nvGrpSpPr>
        <p:grpSpPr>
          <a:xfrm>
            <a:off x="0" y="5646445"/>
            <a:ext cx="7772400" cy="3378061"/>
            <a:chOff x="0" y="5646445"/>
            <a:chExt cx="7772400" cy="3378061"/>
          </a:xfrm>
        </p:grpSpPr>
        <p:pic>
          <p:nvPicPr>
            <p:cNvPr id="15" name="Google Shape;139;g3d62d805bc0_1_133" title="HGZ 86 URUAPAN.jpg">
              <a:extLst>
                <a:ext uri="{FF2B5EF4-FFF2-40B4-BE49-F238E27FC236}">
                  <a16:creationId xmlns:a16="http://schemas.microsoft.com/office/drawing/2014/main" id="{58B1E772-4387-1B00-0E0A-658A272F4985}"/>
                </a:ext>
              </a:extLst>
            </p:cNvPr>
            <p:cNvPicPr preferRelativeResize="0"/>
            <p:nvPr/>
          </p:nvPicPr>
          <p:blipFill rotWithShape="1">
            <a:blip r:embed="rId4">
              <a:alphaModFix/>
            </a:blip>
            <a:srcRect l="1417" t="15479" r="44279" b="26090"/>
            <a:stretch/>
          </p:blipFill>
          <p:spPr>
            <a:xfrm>
              <a:off x="191116" y="6271940"/>
              <a:ext cx="2367954" cy="1562335"/>
            </a:xfrm>
            <a:prstGeom prst="rect">
              <a:avLst/>
            </a:prstGeom>
            <a:noFill/>
            <a:ln>
              <a:noFill/>
            </a:ln>
            <a:effectLst>
              <a:outerShdw blurRad="114300" dist="57150" dir="10800000" algn="bl" rotWithShape="0">
                <a:srgbClr val="000000">
                  <a:alpha val="50000"/>
                </a:srgbClr>
              </a:outerShdw>
            </a:effectLst>
          </p:spPr>
        </p:pic>
        <p:sp>
          <p:nvSpPr>
            <p:cNvPr id="16" name="Google Shape;141;g3d62d805bc0_1_133">
              <a:extLst>
                <a:ext uri="{FF2B5EF4-FFF2-40B4-BE49-F238E27FC236}">
                  <a16:creationId xmlns:a16="http://schemas.microsoft.com/office/drawing/2014/main" id="{77EA2954-1372-6DEF-2586-5F7A111A14BC}"/>
                </a:ext>
              </a:extLst>
            </p:cNvPr>
            <p:cNvSpPr/>
            <p:nvPr/>
          </p:nvSpPr>
          <p:spPr>
            <a:xfrm>
              <a:off x="607840" y="7848147"/>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7" name="Google Shape;142;g3d62d805bc0_1_133">
              <a:extLst>
                <a:ext uri="{FF2B5EF4-FFF2-40B4-BE49-F238E27FC236}">
                  <a16:creationId xmlns:a16="http://schemas.microsoft.com/office/drawing/2014/main" id="{C1AC196D-4723-903B-52BD-589DA63BE3C0}"/>
                </a:ext>
              </a:extLst>
            </p:cNvPr>
            <p:cNvSpPr txBox="1"/>
            <p:nvPr/>
          </p:nvSpPr>
          <p:spPr>
            <a:xfrm>
              <a:off x="83763" y="8239706"/>
              <a:ext cx="2291100" cy="784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1300" dirty="0">
                  <a:solidFill>
                    <a:srgbClr val="595959"/>
                  </a:solidFill>
                  <a:latin typeface="Montserrat"/>
                  <a:ea typeface="Montserrat"/>
                  <a:cs typeface="Montserrat"/>
                  <a:sym typeface="Montserrat"/>
                </a:rPr>
                <a:t>HGZ 11 Piedras Negras HGZMF 18 Torreón</a:t>
              </a:r>
            </a:p>
            <a:p>
              <a:pPr marL="0" marR="0" lvl="0" indent="0" algn="l" rtl="0">
                <a:lnSpc>
                  <a:spcPct val="100000"/>
                </a:lnSpc>
                <a:spcBef>
                  <a:spcPts val="0"/>
                </a:spcBef>
                <a:spcAft>
                  <a:spcPts val="0"/>
                </a:spcAft>
                <a:buClr>
                  <a:srgbClr val="000000"/>
                </a:buClr>
                <a:buSzPts val="800"/>
                <a:buFont typeface="Arial"/>
                <a:buNone/>
              </a:pPr>
              <a:r>
                <a:rPr lang="es" sz="1300" b="1" dirty="0">
                  <a:solidFill>
                    <a:srgbClr val="595959"/>
                  </a:solidFill>
                  <a:latin typeface="Montserrat"/>
                  <a:ea typeface="Montserrat"/>
                  <a:cs typeface="Montserrat"/>
                  <a:sym typeface="Montserrat"/>
                </a:rPr>
                <a:t>$8.6 mdp</a:t>
              </a:r>
              <a:endParaRPr sz="800" b="1" dirty="0">
                <a:latin typeface="Montserrat"/>
                <a:ea typeface="Montserrat"/>
                <a:cs typeface="Montserrat"/>
                <a:sym typeface="Montserrat"/>
              </a:endParaRPr>
            </a:p>
          </p:txBody>
        </p:sp>
        <p:sp>
          <p:nvSpPr>
            <p:cNvPr id="18" name="Google Shape;143;g3d62d805bc0_1_133">
              <a:extLst>
                <a:ext uri="{FF2B5EF4-FFF2-40B4-BE49-F238E27FC236}">
                  <a16:creationId xmlns:a16="http://schemas.microsoft.com/office/drawing/2014/main" id="{865C0F43-706E-CA48-0F46-879542C4FDAD}"/>
                </a:ext>
              </a:extLst>
            </p:cNvPr>
            <p:cNvSpPr/>
            <p:nvPr/>
          </p:nvSpPr>
          <p:spPr>
            <a:xfrm>
              <a:off x="191125" y="7848136"/>
              <a:ext cx="4542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2</a:t>
              </a:r>
              <a:endParaRPr>
                <a:solidFill>
                  <a:srgbClr val="FFFFFF"/>
                </a:solidFill>
                <a:latin typeface="Noto Sans Black"/>
                <a:ea typeface="Noto Sans Black"/>
                <a:cs typeface="Noto Sans Black"/>
                <a:sym typeface="Noto Sans Black"/>
              </a:endParaRPr>
            </a:p>
          </p:txBody>
        </p:sp>
        <p:sp>
          <p:nvSpPr>
            <p:cNvPr id="19" name="Google Shape;144;g3d62d805bc0_1_133">
              <a:extLst>
                <a:ext uri="{FF2B5EF4-FFF2-40B4-BE49-F238E27FC236}">
                  <a16:creationId xmlns:a16="http://schemas.microsoft.com/office/drawing/2014/main" id="{391EBCFC-551F-04D5-4EB2-A39E3DDE0EA8}"/>
                </a:ext>
              </a:extLst>
            </p:cNvPr>
            <p:cNvSpPr/>
            <p:nvPr/>
          </p:nvSpPr>
          <p:spPr>
            <a:xfrm>
              <a:off x="2650992" y="7834269"/>
              <a:ext cx="4542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0" name="Google Shape;145;g3d62d805bc0_1_133">
              <a:extLst>
                <a:ext uri="{FF2B5EF4-FFF2-40B4-BE49-F238E27FC236}">
                  <a16:creationId xmlns:a16="http://schemas.microsoft.com/office/drawing/2014/main" id="{7C5B7419-BA83-96FB-A1EF-BD5058CF3813}"/>
                </a:ext>
              </a:extLst>
            </p:cNvPr>
            <p:cNvSpPr/>
            <p:nvPr/>
          </p:nvSpPr>
          <p:spPr>
            <a:xfrm>
              <a:off x="3124854" y="7834269"/>
              <a:ext cx="20103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21" name="Google Shape;146;g3d62d805bc0_1_133">
              <a:extLst>
                <a:ext uri="{FF2B5EF4-FFF2-40B4-BE49-F238E27FC236}">
                  <a16:creationId xmlns:a16="http://schemas.microsoft.com/office/drawing/2014/main" id="{608F1888-469F-9840-8AAB-6248DA430A12}"/>
                </a:ext>
              </a:extLst>
            </p:cNvPr>
            <p:cNvSpPr txBox="1"/>
            <p:nvPr/>
          </p:nvSpPr>
          <p:spPr>
            <a:xfrm>
              <a:off x="2634506" y="8211975"/>
              <a:ext cx="2291100" cy="662459"/>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HES 71 Torreón </a:t>
              </a:r>
            </a:p>
            <a:p>
              <a:pPr marL="0" marR="63500" lvl="0" indent="0" algn="l" rtl="0">
                <a:lnSpc>
                  <a:spcPct val="115000"/>
                </a:lnSpc>
                <a:spcBef>
                  <a:spcPts val="0"/>
                </a:spcBef>
                <a:spcAft>
                  <a:spcPts val="0"/>
                </a:spcAft>
                <a:buNone/>
              </a:pPr>
              <a:r>
                <a:rPr lang="es" sz="1300" b="1" dirty="0">
                  <a:solidFill>
                    <a:srgbClr val="595959"/>
                  </a:solidFill>
                  <a:latin typeface="Montserrat"/>
                  <a:sym typeface="Montserrat"/>
                </a:rPr>
                <a:t>$38.2 mdp</a:t>
              </a:r>
              <a:endParaRPr b="1" dirty="0"/>
            </a:p>
          </p:txBody>
        </p:sp>
        <p:sp>
          <p:nvSpPr>
            <p:cNvPr id="22" name="Google Shape;147;g3d62d805bc0_1_133">
              <a:extLst>
                <a:ext uri="{FF2B5EF4-FFF2-40B4-BE49-F238E27FC236}">
                  <a16:creationId xmlns:a16="http://schemas.microsoft.com/office/drawing/2014/main" id="{B943C90F-A07E-89A1-D3F6-B4A796CC4227}"/>
                </a:ext>
              </a:extLst>
            </p:cNvPr>
            <p:cNvSpPr/>
            <p:nvPr/>
          </p:nvSpPr>
          <p:spPr>
            <a:xfrm>
              <a:off x="5656850" y="7834274"/>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23" name="Google Shape;148;g3d62d805bc0_1_133">
              <a:extLst>
                <a:ext uri="{FF2B5EF4-FFF2-40B4-BE49-F238E27FC236}">
                  <a16:creationId xmlns:a16="http://schemas.microsoft.com/office/drawing/2014/main" id="{DDCBB79B-7C16-DF4C-D74A-2060309412C8}"/>
                </a:ext>
              </a:extLst>
            </p:cNvPr>
            <p:cNvSpPr/>
            <p:nvPr/>
          </p:nvSpPr>
          <p:spPr>
            <a:xfrm>
              <a:off x="5154811" y="7834274"/>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4" name="Google Shape;149;g3d62d805bc0_1_133">
              <a:extLst>
                <a:ext uri="{FF2B5EF4-FFF2-40B4-BE49-F238E27FC236}">
                  <a16:creationId xmlns:a16="http://schemas.microsoft.com/office/drawing/2014/main" id="{B590CF3B-F24A-1FCD-E907-E05FD39F4785}"/>
                </a:ext>
              </a:extLst>
            </p:cNvPr>
            <p:cNvSpPr txBox="1"/>
            <p:nvPr/>
          </p:nvSpPr>
          <p:spPr>
            <a:xfrm>
              <a:off x="5171572" y="8187958"/>
              <a:ext cx="2577600" cy="64585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HGZMF 2 Saltillo</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$29.6 mdp</a:t>
              </a:r>
              <a:r>
                <a:rPr lang="es" sz="1300" dirty="0">
                  <a:solidFill>
                    <a:srgbClr val="595959"/>
                  </a:solidFill>
                  <a:latin typeface="Montserrat"/>
                  <a:ea typeface="Montserrat"/>
                  <a:cs typeface="Montserrat"/>
                  <a:sym typeface="Montserrat"/>
                </a:rPr>
                <a:t> </a:t>
              </a: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25" name="Google Shape;150;g3d62d805bc0_1_133">
              <a:extLst>
                <a:ext uri="{FF2B5EF4-FFF2-40B4-BE49-F238E27FC236}">
                  <a16:creationId xmlns:a16="http://schemas.microsoft.com/office/drawing/2014/main" id="{7F2F84D0-3B52-E570-9732-39DCF1487A4C}"/>
                </a:ext>
              </a:extLst>
            </p:cNvPr>
            <p:cNvPicPr preferRelativeResize="0"/>
            <p:nvPr/>
          </p:nvPicPr>
          <p:blipFill>
            <a:blip r:embed="rId5">
              <a:alphaModFix/>
            </a:blip>
            <a:stretch>
              <a:fillRect/>
            </a:stretch>
          </p:blipFill>
          <p:spPr>
            <a:xfrm>
              <a:off x="5192547" y="6271940"/>
              <a:ext cx="2382553" cy="1562334"/>
            </a:xfrm>
            <a:prstGeom prst="rect">
              <a:avLst/>
            </a:prstGeom>
            <a:noFill/>
            <a:ln>
              <a:noFill/>
            </a:ln>
          </p:spPr>
        </p:pic>
        <p:pic>
          <p:nvPicPr>
            <p:cNvPr id="26" name="Google Shape;151;g3d62d805bc0_1_133">
              <a:extLst>
                <a:ext uri="{FF2B5EF4-FFF2-40B4-BE49-F238E27FC236}">
                  <a16:creationId xmlns:a16="http://schemas.microsoft.com/office/drawing/2014/main" id="{6468F7E8-0DB5-6B14-0607-C1A563FC9770}"/>
                </a:ext>
              </a:extLst>
            </p:cNvPr>
            <p:cNvPicPr preferRelativeResize="0"/>
            <p:nvPr/>
          </p:nvPicPr>
          <p:blipFill>
            <a:blip r:embed="rId6">
              <a:alphaModFix/>
            </a:blip>
            <a:stretch>
              <a:fillRect/>
            </a:stretch>
          </p:blipFill>
          <p:spPr>
            <a:xfrm>
              <a:off x="2650994" y="6271940"/>
              <a:ext cx="2437578" cy="1562335"/>
            </a:xfrm>
            <a:prstGeom prst="rect">
              <a:avLst/>
            </a:prstGeom>
            <a:noFill/>
            <a:ln>
              <a:noFill/>
            </a:ln>
          </p:spPr>
        </p:pic>
        <p:sp>
          <p:nvSpPr>
            <p:cNvPr id="27" name="Google Shape;158;g3d62d805bc0_1_133">
              <a:extLst>
                <a:ext uri="{FF2B5EF4-FFF2-40B4-BE49-F238E27FC236}">
                  <a16:creationId xmlns:a16="http://schemas.microsoft.com/office/drawing/2014/main" id="{2BCC90C5-01B7-852D-DC0F-1EDF075B72C4}"/>
                </a:ext>
              </a:extLst>
            </p:cNvPr>
            <p:cNvSpPr txBox="1"/>
            <p:nvPr/>
          </p:nvSpPr>
          <p:spPr>
            <a:xfrm>
              <a:off x="0" y="5646445"/>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54" name="Table 153"/>
          <p:cNvGraphicFramePr>
            <a:graphicFrameLocks noGrp="1"/>
          </p:cNvGraphicFramePr>
          <p:nvPr/>
        </p:nvGraphicFramePr>
        <p:xfrm>
          <a:off x="93600" y="1180800"/>
          <a:ext cx="7534799" cy="3456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11 Piedras Negras</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4</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24 Nueva Rosita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3</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20 Fco. I. Madero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7 Monclova</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5</a:t>
                      </a:r>
                    </a:p>
                  </a:txBody>
                  <a:tcPr>
                    <a:solidFill>
                      <a:srgbClr val="EFEFE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HGZMF 16 Torreón</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7</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27 Palau</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21 S. Pedro Colonias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UMAA 90 Torreón (Aut)</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8</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HGZMF 18 Torreón</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 13 Cd. Acuña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 Saltillo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HGZMF 2 Saltillo</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6</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92 Coahuila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33</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66435871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Resumen </a:t>
                      </a:r>
                      <a:r>
                        <a:rPr lang="es" sz="2100" b="1" u="none" strike="noStrike" cap="none" dirty="0">
                          <a:solidFill>
                            <a:srgbClr val="980000"/>
                          </a:solidFill>
                          <a:latin typeface="Montserrat"/>
                          <a:ea typeface="Montserrat"/>
                          <a:cs typeface="Montserrat"/>
                          <a:sym typeface="Montserrat"/>
                        </a:rPr>
                        <a:t>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19B74D2D-7AD2-05BC-562A-88D4606A832A}"/>
              </a:ext>
            </a:extLst>
          </p:cNvPr>
          <p:cNvGraphicFramePr/>
          <p:nvPr>
            <p:extLst>
              <p:ext uri="{D42A27DB-BD31-4B8C-83A1-F6EECF244321}">
                <p14:modId xmlns:p14="http://schemas.microsoft.com/office/powerpoint/2010/main" val="1272320527"/>
              </p:ext>
            </p:extLst>
          </p:nvPr>
        </p:nvGraphicFramePr>
        <p:xfrm>
          <a:off x="143502" y="4151846"/>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98567232-16FD-3F26-EDAB-4BDFBF049B2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099493"/>
            <a:ext cx="2975495" cy="3699793"/>
          </a:xfrm>
          <a:prstGeom prst="rect">
            <a:avLst/>
          </a:prstGeom>
        </p:spPr>
      </p:pic>
      <p:cxnSp>
        <p:nvCxnSpPr>
          <p:cNvPr id="4" name="Conector recto 3">
            <a:extLst>
              <a:ext uri="{FF2B5EF4-FFF2-40B4-BE49-F238E27FC236}">
                <a16:creationId xmlns:a16="http://schemas.microsoft.com/office/drawing/2014/main" id="{D9803403-D829-77BD-01E5-D20D452AEA0B}"/>
              </a:ext>
            </a:extLst>
          </p:cNvPr>
          <p:cNvCxnSpPr>
            <a:cxnSpLocks/>
          </p:cNvCxnSpPr>
          <p:nvPr/>
        </p:nvCxnSpPr>
        <p:spPr>
          <a:xfrm>
            <a:off x="5210629" y="5572264"/>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1561157B-7858-C3B3-E08B-EFA80D817B3A}"/>
              </a:ext>
            </a:extLst>
          </p:cNvPr>
          <p:cNvCxnSpPr>
            <a:cxnSpLocks/>
          </p:cNvCxnSpPr>
          <p:nvPr/>
        </p:nvCxnSpPr>
        <p:spPr>
          <a:xfrm>
            <a:off x="5210629" y="7234150"/>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9C2C3A9C-88A2-98CF-8A26-8BCB0343C25B}"/>
              </a:ext>
            </a:extLst>
          </p:cNvPr>
          <p:cNvSpPr txBox="1"/>
          <p:nvPr/>
        </p:nvSpPr>
        <p:spPr>
          <a:xfrm>
            <a:off x="5064096" y="5110057"/>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B9E4CE65-F1D6-665C-EF8A-5202AA95B56B}"/>
              </a:ext>
            </a:extLst>
          </p:cNvPr>
          <p:cNvSpPr txBox="1"/>
          <p:nvPr/>
        </p:nvSpPr>
        <p:spPr>
          <a:xfrm>
            <a:off x="5064096" y="6495486"/>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58FC2A07-5632-8679-A9F0-5DCE3ADDB80D}"/>
              </a:ext>
            </a:extLst>
          </p:cNvPr>
          <p:cNvSpPr txBox="1"/>
          <p:nvPr/>
        </p:nvSpPr>
        <p:spPr>
          <a:xfrm>
            <a:off x="4701239" y="8117457"/>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+21,088</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+185,290</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+274,389</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4,081,467</a:t>
                      </a:r>
                    </a:p>
                  </a:txBody>
                  <a:tcPr marL="0" marR="0" marT="0" marB="0" anchor="ctr">
                    <a:solidFill>
                      <a:srgbClr val="FFFFFF"/>
                    </a:solidFill>
                  </a:tcPr>
                </a:tc>
                <a:tc>
                  <a:txBody>
                    <a:bodyPr/>
                    <a:lstStyle/>
                    <a:p>
                      <a:pPr algn="ctr">
                        <a:defRPr sz="1000">
                          <a:solidFill>
                            <a:srgbClr val="404040"/>
                          </a:solidFill>
                          <a:latin typeface="Montserrat"/>
                        </a:defRPr>
                      </a:pPr>
                      <a:r>
                        <a:t>185,290</a:t>
                      </a:r>
                    </a:p>
                  </a:txBody>
                  <a:tcPr marL="0" marR="0" marT="0" marB="0" anchor="ctr">
                    <a:solidFill>
                      <a:srgbClr val="FFFFFF"/>
                    </a:solidFill>
                  </a:tcPr>
                </a:tc>
                <a:tc>
                  <a:txBody>
                    <a:bodyPr/>
                    <a:lstStyle/>
                    <a:p>
                      <a:pPr algn="ctr">
                        <a:defRPr sz="1000" b="1">
                          <a:solidFill>
                            <a:srgbClr val="980000"/>
                          </a:solidFill>
                          <a:latin typeface="Montserrat"/>
                        </a:defRPr>
                      </a:pPr>
                      <a:r>
                        <a:t>1,642,148</a:t>
                      </a:r>
                    </a:p>
                  </a:txBody>
                  <a:tcPr marL="0" marR="0" marT="0" marB="0" anchor="ctr">
                    <a:solidFill>
                      <a:srgbClr val="ECD3D9"/>
                    </a:solidFill>
                  </a:tcPr>
                </a:tc>
                <a:tc>
                  <a:txBody>
                    <a:bodyPr/>
                    <a:lstStyle/>
                    <a:p>
                      <a:pPr algn="ctr">
                        <a:defRPr sz="1000" b="1">
                          <a:solidFill>
                            <a:srgbClr val="980000"/>
                          </a:solidFill>
                          <a:latin typeface="Montserrat"/>
                        </a:defRPr>
                      </a:pPr>
                      <a:r>
                        <a:t>4,193,748</a:t>
                      </a:r>
                    </a:p>
                  </a:txBody>
                  <a:tcPr marL="0" marR="0" marT="0" marB="0" anchor="ctr">
                    <a:solidFill>
                      <a:srgbClr val="ECD3D9"/>
                    </a:solidFill>
                  </a:tcPr>
                </a:tc>
                <a:tc>
                  <a:txBody>
                    <a:bodyPr/>
                    <a:lstStyle/>
                    <a:p>
                      <a:pPr algn="ctr">
                        <a:defRPr sz="1000" b="1">
                          <a:solidFill>
                            <a:srgbClr val="980000"/>
                          </a:solidFill>
                          <a:latin typeface="Montserrat"/>
                        </a:defRPr>
                      </a:pPr>
                      <a:r>
                        <a:t>39.2%</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1,144,122</a:t>
                      </a:r>
                    </a:p>
                  </a:txBody>
                  <a:tcPr marL="0" marR="0" marT="0" marB="0" anchor="ctr">
                    <a:solidFill>
                      <a:srgbClr val="EFEFEF"/>
                    </a:solidFill>
                  </a:tcPr>
                </a:tc>
                <a:tc>
                  <a:txBody>
                    <a:bodyPr/>
                    <a:lstStyle/>
                    <a:p>
                      <a:pPr algn="ctr">
                        <a:defRPr sz="1000">
                          <a:solidFill>
                            <a:srgbClr val="404040"/>
                          </a:solidFill>
                          <a:latin typeface="Montserrat"/>
                        </a:defRPr>
                      </a:pPr>
                      <a:r>
                        <a:t>274,389</a:t>
                      </a:r>
                    </a:p>
                  </a:txBody>
                  <a:tcPr marL="0" marR="0" marT="0" marB="0" anchor="ctr">
                    <a:solidFill>
                      <a:srgbClr val="EFEFEF"/>
                    </a:solidFill>
                  </a:tcPr>
                </a:tc>
                <a:tc>
                  <a:txBody>
                    <a:bodyPr/>
                    <a:lstStyle/>
                    <a:p>
                      <a:pPr algn="ctr">
                        <a:defRPr sz="1000" b="1">
                          <a:solidFill>
                            <a:srgbClr val="980000"/>
                          </a:solidFill>
                          <a:latin typeface="Montserrat"/>
                        </a:defRPr>
                      </a:pPr>
                      <a:r>
                        <a:t>471,173</a:t>
                      </a:r>
                    </a:p>
                  </a:txBody>
                  <a:tcPr marL="0" marR="0" marT="0" marB="0" anchor="ctr">
                    <a:solidFill>
                      <a:srgbClr val="F4E3E7"/>
                    </a:solidFill>
                  </a:tcPr>
                </a:tc>
                <a:tc>
                  <a:txBody>
                    <a:bodyPr/>
                    <a:lstStyle/>
                    <a:p>
                      <a:pPr algn="ctr">
                        <a:defRPr sz="1000" b="1">
                          <a:solidFill>
                            <a:srgbClr val="980000"/>
                          </a:solidFill>
                          <a:latin typeface="Montserrat"/>
                        </a:defRPr>
                      </a:pPr>
                      <a:r>
                        <a:t>1,353,785</a:t>
                      </a:r>
                    </a:p>
                  </a:txBody>
                  <a:tcPr marL="0" marR="0" marT="0" marB="0" anchor="ctr">
                    <a:solidFill>
                      <a:srgbClr val="F4E3E7"/>
                    </a:solidFill>
                  </a:tcPr>
                </a:tc>
                <a:tc>
                  <a:txBody>
                    <a:bodyPr/>
                    <a:lstStyle/>
                    <a:p>
                      <a:pPr algn="ctr">
                        <a:defRPr sz="1000" b="1">
                          <a:solidFill>
                            <a:srgbClr val="980000"/>
                          </a:solidFill>
                          <a:latin typeface="Montserrat"/>
                        </a:defRPr>
                      </a:pPr>
                      <a:r>
                        <a:t>34.8%</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79,651</a:t>
                      </a:r>
                    </a:p>
                  </a:txBody>
                  <a:tcPr marL="0" marR="0" marT="0" marB="0" anchor="ctr">
                    <a:solidFill>
                      <a:srgbClr val="FFFFFF"/>
                    </a:solidFill>
                  </a:tcPr>
                </a:tc>
                <a:tc>
                  <a:txBody>
                    <a:bodyPr/>
                    <a:lstStyle/>
                    <a:p>
                      <a:pPr algn="ctr">
                        <a:defRPr sz="1000">
                          <a:solidFill>
                            <a:srgbClr val="404040"/>
                          </a:solidFill>
                          <a:latin typeface="Montserrat"/>
                        </a:defRPr>
                      </a:pPr>
                      <a:r>
                        <a:t>21,088</a:t>
                      </a:r>
                    </a:p>
                  </a:txBody>
                  <a:tcPr marL="0" marR="0" marT="0" marB="0" anchor="ctr">
                    <a:solidFill>
                      <a:srgbClr val="FFFFFF"/>
                    </a:solidFill>
                  </a:tcPr>
                </a:tc>
                <a:tc>
                  <a:txBody>
                    <a:bodyPr/>
                    <a:lstStyle/>
                    <a:p>
                      <a:pPr algn="ctr">
                        <a:defRPr sz="1000" b="1">
                          <a:solidFill>
                            <a:srgbClr val="980000"/>
                          </a:solidFill>
                          <a:latin typeface="Montserrat"/>
                        </a:defRPr>
                      </a:pPr>
                      <a:r>
                        <a:t>34,453</a:t>
                      </a:r>
                    </a:p>
                  </a:txBody>
                  <a:tcPr marL="0" marR="0" marT="0" marB="0" anchor="ctr">
                    <a:solidFill>
                      <a:srgbClr val="ECD3D9"/>
                    </a:solidFill>
                  </a:tcPr>
                </a:tc>
                <a:tc>
                  <a:txBody>
                    <a:bodyPr/>
                    <a:lstStyle/>
                    <a:p>
                      <a:pPr algn="ctr">
                        <a:defRPr sz="1000" b="1">
                          <a:solidFill>
                            <a:srgbClr val="980000"/>
                          </a:solidFill>
                          <a:latin typeface="Montserrat"/>
                        </a:defRPr>
                      </a:pPr>
                      <a:r>
                        <a:t>95,234</a:t>
                      </a:r>
                    </a:p>
                  </a:txBody>
                  <a:tcPr marL="0" marR="0" marT="0" marB="0" anchor="ctr">
                    <a:solidFill>
                      <a:srgbClr val="ECD3D9"/>
                    </a:solidFill>
                  </a:tcPr>
                </a:tc>
                <a:tc>
                  <a:txBody>
                    <a:bodyPr/>
                    <a:lstStyle/>
                    <a:p>
                      <a:pPr algn="ctr">
                        <a:defRPr sz="1000" b="1">
                          <a:solidFill>
                            <a:srgbClr val="980000"/>
                          </a:solidFill>
                          <a:latin typeface="Montserrat"/>
                        </a:defRPr>
                      </a:pPr>
                      <a:r>
                        <a:t>36.2%</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39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32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140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15 Villa Unión</a:t>
                      </a:r>
                    </a:p>
                  </a:txBody>
                  <a:tcPr marL="0" marR="0" marT="0" marB="0">
                    <a:solidFill>
                      <a:srgbClr val="FFFFFF"/>
                    </a:solidFill>
                  </a:tcPr>
                </a:tc>
                <a:tc>
                  <a:txBody>
                    <a:bodyPr/>
                    <a:lstStyle/>
                    <a:p>
                      <a:pPr algn="ctr">
                        <a:defRPr sz="1000">
                          <a:latin typeface="Montserrat"/>
                        </a:defRPr>
                      </a:pPr>
                      <a:r>
                        <a:t>12,467</a:t>
                      </a:r>
                    </a:p>
                  </a:txBody>
                  <a:tcPr marL="0" marR="0" marT="0" marB="0">
                    <a:solidFill>
                      <a:srgbClr val="FFFFFF"/>
                    </a:solidFill>
                  </a:tcPr>
                </a:tc>
                <a:tc>
                  <a:txBody>
                    <a:bodyPr/>
                    <a:lstStyle/>
                    <a:p>
                      <a:pPr algn="ctr">
                        <a:defRPr sz="1000">
                          <a:latin typeface="Montserrat"/>
                        </a:defRPr>
                      </a:pPr>
                      <a:r>
                        <a:t>-113</a:t>
                      </a:r>
                    </a:p>
                  </a:txBody>
                  <a:tcPr marL="0" marR="0" marT="0" marB="0">
                    <a:solidFill>
                      <a:srgbClr val="FFFFFF"/>
                    </a:solidFill>
                  </a:tcPr>
                </a:tc>
                <a:tc>
                  <a:txBody>
                    <a:bodyPr/>
                    <a:lstStyle/>
                    <a:p>
                      <a:pPr algn="ctr">
                        <a:defRPr sz="1000">
                          <a:latin typeface="Montserrat"/>
                        </a:defRPr>
                      </a:pPr>
                      <a:r>
                        <a:t>4,707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36.2%</a:t>
                      </a:r>
                    </a:p>
                  </a:txBody>
                  <a:tcPr marL="0" marR="0" marT="0" marB="0">
                    <a:solidFill>
                      <a:srgbClr val="ECD3D9"/>
                    </a:solidFill>
                  </a:tcPr>
                </a:tc>
              </a:tr>
              <a:tr h="151200">
                <a:tc>
                  <a:txBody>
                    <a:bodyPr/>
                    <a:lstStyle/>
                    <a:p>
                      <a:pPr algn="l">
                        <a:defRPr sz="1000">
                          <a:latin typeface="Montserrat"/>
                        </a:defRPr>
                      </a:pPr>
                      <a:r>
                        <a:t>UMF 4 Arteaga</a:t>
                      </a:r>
                    </a:p>
                  </a:txBody>
                  <a:tcPr marL="0" marR="0" marT="0" marB="0">
                    <a:solidFill>
                      <a:srgbClr val="EFEFEF"/>
                    </a:solidFill>
                  </a:tcPr>
                </a:tc>
                <a:tc>
                  <a:txBody>
                    <a:bodyPr/>
                    <a:lstStyle/>
                    <a:p>
                      <a:pPr algn="ctr">
                        <a:defRPr sz="1000">
                          <a:latin typeface="Montserrat"/>
                        </a:defRPr>
                      </a:pPr>
                      <a:r>
                        <a:t>23,227</a:t>
                      </a:r>
                    </a:p>
                  </a:txBody>
                  <a:tcPr marL="0" marR="0" marT="0" marB="0">
                    <a:solidFill>
                      <a:srgbClr val="EFEFEF"/>
                    </a:solidFill>
                  </a:tcPr>
                </a:tc>
                <a:tc>
                  <a:txBody>
                    <a:bodyPr/>
                    <a:lstStyle/>
                    <a:p>
                      <a:pPr algn="ctr">
                        <a:defRPr sz="1000">
                          <a:latin typeface="Montserrat"/>
                        </a:defRPr>
                      </a:pPr>
                      <a:r>
                        <a:t>3,410</a:t>
                      </a:r>
                    </a:p>
                  </a:txBody>
                  <a:tcPr marL="0" marR="0" marT="0" marB="0">
                    <a:solidFill>
                      <a:srgbClr val="EFEFEF"/>
                    </a:solidFill>
                  </a:tcPr>
                </a:tc>
                <a:tc>
                  <a:txBody>
                    <a:bodyPr/>
                    <a:lstStyle/>
                    <a:p>
                      <a:pPr algn="ctr">
                        <a:defRPr sz="1000">
                          <a:latin typeface="Montserrat"/>
                        </a:defRPr>
                      </a:pPr>
                      <a:r>
                        <a:t>10,076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40.2%</a:t>
                      </a:r>
                    </a:p>
                  </a:txBody>
                  <a:tcPr marL="0" marR="0" marT="0" marB="0">
                    <a:solidFill>
                      <a:srgbClr val="ECD3D9"/>
                    </a:solidFill>
                  </a:tcPr>
                </a:tc>
              </a:tr>
              <a:tr h="151200">
                <a:tc>
                  <a:txBody>
                    <a:bodyPr/>
                    <a:lstStyle/>
                    <a:p>
                      <a:pPr algn="l">
                        <a:defRPr sz="1000">
                          <a:latin typeface="Montserrat"/>
                        </a:defRPr>
                      </a:pPr>
                      <a:r>
                        <a:t>UMF 14 Zaragoza</a:t>
                      </a:r>
                    </a:p>
                  </a:txBody>
                  <a:tcPr marL="0" marR="0" marT="0" marB="0">
                    <a:solidFill>
                      <a:srgbClr val="FFFFFF"/>
                    </a:solidFill>
                  </a:tcPr>
                </a:tc>
                <a:tc>
                  <a:txBody>
                    <a:bodyPr/>
                    <a:lstStyle/>
                    <a:p>
                      <a:pPr algn="ctr">
                        <a:defRPr sz="1000">
                          <a:latin typeface="Montserrat"/>
                        </a:defRPr>
                      </a:pPr>
                      <a:r>
                        <a:t>23,155</a:t>
                      </a:r>
                    </a:p>
                  </a:txBody>
                  <a:tcPr marL="0" marR="0" marT="0" marB="0">
                    <a:solidFill>
                      <a:srgbClr val="FFFFFF"/>
                    </a:solidFill>
                  </a:tcPr>
                </a:tc>
                <a:tc>
                  <a:txBody>
                    <a:bodyPr/>
                    <a:lstStyle/>
                    <a:p>
                      <a:pPr algn="ctr">
                        <a:defRPr sz="1000">
                          <a:latin typeface="Montserrat"/>
                        </a:defRPr>
                      </a:pPr>
                      <a:r>
                        <a:t>443</a:t>
                      </a:r>
                    </a:p>
                  </a:txBody>
                  <a:tcPr marL="0" marR="0" marT="0" marB="0">
                    <a:solidFill>
                      <a:srgbClr val="FFFFFF"/>
                    </a:solidFill>
                  </a:tcPr>
                </a:tc>
                <a:tc>
                  <a:txBody>
                    <a:bodyPr/>
                    <a:lstStyle/>
                    <a:p>
                      <a:pPr algn="ctr">
                        <a:defRPr sz="1000">
                          <a:latin typeface="Montserrat"/>
                        </a:defRPr>
                      </a:pPr>
                      <a:r>
                        <a:t>7,662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30.6%</a:t>
                      </a:r>
                    </a:p>
                  </a:txBody>
                  <a:tcPr marL="0" marR="0" marT="0" marB="0">
                    <a:solidFill>
                      <a:srgbClr val="ECD3D9"/>
                    </a:solidFill>
                  </a:tcPr>
                </a:tc>
              </a:tr>
              <a:tr h="151200">
                <a:tc>
                  <a:txBody>
                    <a:bodyPr/>
                    <a:lstStyle/>
                    <a:p>
                      <a:pPr algn="l">
                        <a:defRPr sz="1000">
                          <a:latin typeface="Montserrat"/>
                        </a:defRPr>
                      </a:pPr>
                      <a:r>
                        <a:t>UMF 10 S. Buenaventura</a:t>
                      </a:r>
                    </a:p>
                  </a:txBody>
                  <a:tcPr marL="0" marR="0" marT="0" marB="0">
                    <a:solidFill>
                      <a:srgbClr val="EFEFEF"/>
                    </a:solidFill>
                  </a:tcPr>
                </a:tc>
                <a:tc>
                  <a:txBody>
                    <a:bodyPr/>
                    <a:lstStyle/>
                    <a:p>
                      <a:pPr algn="ctr">
                        <a:defRPr sz="1000">
                          <a:latin typeface="Montserrat"/>
                        </a:defRPr>
                      </a:pPr>
                      <a:r>
                        <a:t>36,469</a:t>
                      </a:r>
                    </a:p>
                  </a:txBody>
                  <a:tcPr marL="0" marR="0" marT="0" marB="0">
                    <a:solidFill>
                      <a:srgbClr val="EFEFEF"/>
                    </a:solidFill>
                  </a:tcPr>
                </a:tc>
                <a:tc>
                  <a:txBody>
                    <a:bodyPr/>
                    <a:lstStyle/>
                    <a:p>
                      <a:pPr algn="ctr">
                        <a:defRPr sz="1000">
                          <a:latin typeface="Montserrat"/>
                        </a:defRPr>
                      </a:pPr>
                      <a:r>
                        <a:t>263</a:t>
                      </a:r>
                    </a:p>
                  </a:txBody>
                  <a:tcPr marL="0" marR="0" marT="0" marB="0">
                    <a:solidFill>
                      <a:srgbClr val="EFEFEF"/>
                    </a:solidFill>
                  </a:tcPr>
                </a:tc>
                <a:tc>
                  <a:txBody>
                    <a:bodyPr/>
                    <a:lstStyle/>
                    <a:p>
                      <a:pPr algn="ctr">
                        <a:defRPr sz="1000">
                          <a:latin typeface="Montserrat"/>
                        </a:defRPr>
                      </a:pPr>
                      <a:r>
                        <a:t>14,107</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tr>
              <a:tr h="151200">
                <a:tc>
                  <a:txBody>
                    <a:bodyPr/>
                    <a:lstStyle/>
                    <a:p>
                      <a:pPr algn="l">
                        <a:defRPr sz="1000">
                          <a:latin typeface="Montserrat"/>
                        </a:defRPr>
                      </a:pPr>
                      <a:r>
                        <a:t>UMF 9 Villa Frontera</a:t>
                      </a:r>
                    </a:p>
                  </a:txBody>
                  <a:tcPr marL="0" marR="0" marT="0" marB="0">
                    <a:solidFill>
                      <a:srgbClr val="FFFFFF"/>
                    </a:solidFill>
                  </a:tcPr>
                </a:tc>
                <a:tc>
                  <a:txBody>
                    <a:bodyPr/>
                    <a:lstStyle/>
                    <a:p>
                      <a:pPr algn="ctr">
                        <a:defRPr sz="1000">
                          <a:latin typeface="Montserrat"/>
                        </a:defRPr>
                      </a:pPr>
                      <a:r>
                        <a:t>125,025</a:t>
                      </a:r>
                    </a:p>
                  </a:txBody>
                  <a:tcPr marL="0" marR="0" marT="0" marB="0">
                    <a:solidFill>
                      <a:srgbClr val="FFFFFF"/>
                    </a:solidFill>
                  </a:tcPr>
                </a:tc>
                <a:tc>
                  <a:txBody>
                    <a:bodyPr/>
                    <a:lstStyle/>
                    <a:p>
                      <a:pPr algn="ctr">
                        <a:defRPr sz="1000">
                          <a:latin typeface="Montserrat"/>
                        </a:defRPr>
                      </a:pPr>
                      <a:r>
                        <a:t>-5,274</a:t>
                      </a:r>
                    </a:p>
                  </a:txBody>
                  <a:tcPr marL="0" marR="0" marT="0" marB="0">
                    <a:solidFill>
                      <a:srgbClr val="FFFFFF"/>
                    </a:solidFill>
                  </a:tcPr>
                </a:tc>
                <a:tc>
                  <a:txBody>
                    <a:bodyPr/>
                    <a:lstStyle/>
                    <a:p>
                      <a:pPr algn="ctr">
                        <a:defRPr sz="1000">
                          <a:latin typeface="Montserrat"/>
                        </a:defRPr>
                      </a:pPr>
                      <a:r>
                        <a:t>48,556</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 31 Barroteran</a:t>
                      </a:r>
                    </a:p>
                  </a:txBody>
                  <a:tcPr marL="0" marR="0" marT="0" marB="0">
                    <a:solidFill>
                      <a:srgbClr val="EFEFEF"/>
                    </a:solidFill>
                  </a:tcPr>
                </a:tc>
                <a:tc>
                  <a:txBody>
                    <a:bodyPr/>
                    <a:lstStyle/>
                    <a:p>
                      <a:pPr algn="ctr">
                        <a:defRPr sz="1000">
                          <a:latin typeface="Montserrat"/>
                        </a:defRPr>
                      </a:pPr>
                      <a:r>
                        <a:t>34,345</a:t>
                      </a:r>
                    </a:p>
                  </a:txBody>
                  <a:tcPr marL="0" marR="0" marT="0" marB="0">
                    <a:solidFill>
                      <a:srgbClr val="EFEFEF"/>
                    </a:solidFill>
                  </a:tcPr>
                </a:tc>
                <a:tc>
                  <a:txBody>
                    <a:bodyPr/>
                    <a:lstStyle/>
                    <a:p>
                      <a:pPr algn="ctr">
                        <a:defRPr sz="1000">
                          <a:latin typeface="Montserrat"/>
                        </a:defRPr>
                      </a:pPr>
                      <a:r>
                        <a:t>3</a:t>
                      </a:r>
                    </a:p>
                  </a:txBody>
                  <a:tcPr marL="0" marR="0" marT="0" marB="0">
                    <a:solidFill>
                      <a:srgbClr val="EFEFEF"/>
                    </a:solidFill>
                  </a:tcPr>
                </a:tc>
                <a:tc>
                  <a:txBody>
                    <a:bodyPr/>
                    <a:lstStyle/>
                    <a:p>
                      <a:pPr algn="ctr">
                        <a:defRPr sz="1000">
                          <a:latin typeface="Montserrat"/>
                        </a:defRPr>
                      </a:pPr>
                      <a:r>
                        <a:t>15,190</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37.3%</a:t>
                      </a:r>
                    </a:p>
                  </a:txBody>
                  <a:tcPr marL="0" marR="0" marT="0" marB="0">
                    <a:solidFill>
                      <a:srgbClr val="ECD3D9"/>
                    </a:solidFill>
                  </a:tcPr>
                </a:tc>
              </a:tr>
              <a:tr h="151200">
                <a:tc>
                  <a:txBody>
                    <a:bodyPr/>
                    <a:lstStyle/>
                    <a:p>
                      <a:pPr algn="l">
                        <a:defRPr sz="1000">
                          <a:latin typeface="Montserrat"/>
                        </a:defRPr>
                      </a:pPr>
                      <a:r>
                        <a:t>UMF 26 Agujita</a:t>
                      </a:r>
                    </a:p>
                  </a:txBody>
                  <a:tcPr marL="0" marR="0" marT="0" marB="0">
                    <a:solidFill>
                      <a:srgbClr val="FFFFFF"/>
                    </a:solidFill>
                  </a:tcPr>
                </a:tc>
                <a:tc>
                  <a:txBody>
                    <a:bodyPr/>
                    <a:lstStyle/>
                    <a:p>
                      <a:pPr algn="ctr">
                        <a:defRPr sz="1000">
                          <a:latin typeface="Montserrat"/>
                        </a:defRPr>
                      </a:pPr>
                      <a:r>
                        <a:t>25,109</a:t>
                      </a:r>
                    </a:p>
                  </a:txBody>
                  <a:tcPr marL="0" marR="0" marT="0" marB="0">
                    <a:solidFill>
                      <a:srgbClr val="FFFFFF"/>
                    </a:solidFill>
                  </a:tcPr>
                </a:tc>
                <a:tc>
                  <a:txBody>
                    <a:bodyPr/>
                    <a:lstStyle/>
                    <a:p>
                      <a:pPr algn="ctr">
                        <a:defRPr sz="1000">
                          <a:latin typeface="Montserrat"/>
                        </a:defRPr>
                      </a:pPr>
                      <a:r>
                        <a:t>1,132</a:t>
                      </a:r>
                    </a:p>
                  </a:txBody>
                  <a:tcPr marL="0" marR="0" marT="0" marB="0">
                    <a:solidFill>
                      <a:srgbClr val="FFFFFF"/>
                    </a:solidFill>
                  </a:tcPr>
                </a:tc>
                <a:tc>
                  <a:txBody>
                    <a:bodyPr/>
                    <a:lstStyle/>
                    <a:p>
                      <a:pPr algn="ctr">
                        <a:defRPr sz="1000">
                          <a:latin typeface="Montserrat"/>
                        </a:defRPr>
                      </a:pPr>
                      <a:r>
                        <a:t>9,493</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37.9%</a:t>
                      </a:r>
                    </a:p>
                  </a:txBody>
                  <a:tcPr marL="0" marR="0" marT="0" marB="0">
                    <a:solidFill>
                      <a:srgbClr val="ECD3D9"/>
                    </a:solidFill>
                  </a:tcPr>
                </a:tc>
              </a:tr>
              <a:tr h="151200">
                <a:tc>
                  <a:txBody>
                    <a:bodyPr/>
                    <a:lstStyle/>
                    <a:p>
                      <a:pPr algn="l">
                        <a:defRPr sz="1000">
                          <a:latin typeface="Montserrat"/>
                        </a:defRPr>
                      </a:pPr>
                      <a:r>
                        <a:t>UMF 32 San José Aura</a:t>
                      </a:r>
                    </a:p>
                  </a:txBody>
                  <a:tcPr marL="0" marR="0" marT="0" marB="0">
                    <a:solidFill>
                      <a:srgbClr val="EFEFEF"/>
                    </a:solidFill>
                  </a:tcPr>
                </a:tc>
                <a:tc>
                  <a:txBody>
                    <a:bodyPr/>
                    <a:lstStyle/>
                    <a:p>
                      <a:pPr algn="ctr">
                        <a:defRPr sz="1000">
                          <a:latin typeface="Montserrat"/>
                        </a:defRPr>
                      </a:pPr>
                      <a:r>
                        <a:t>11,086</a:t>
                      </a:r>
                    </a:p>
                  </a:txBody>
                  <a:tcPr marL="0" marR="0" marT="0" marB="0">
                    <a:solidFill>
                      <a:srgbClr val="EFEFEF"/>
                    </a:solidFill>
                  </a:tcPr>
                </a:tc>
                <a:tc>
                  <a:txBody>
                    <a:bodyPr/>
                    <a:lstStyle/>
                    <a:p>
                      <a:pPr algn="ctr">
                        <a:defRPr sz="1000">
                          <a:latin typeface="Montserrat"/>
                        </a:defRPr>
                      </a:pPr>
                      <a:r>
                        <a:t>5,421</a:t>
                      </a:r>
                    </a:p>
                  </a:txBody>
                  <a:tcPr marL="0" marR="0" marT="0" marB="0">
                    <a:solidFill>
                      <a:srgbClr val="EFEFEF"/>
                    </a:solidFill>
                  </a:tcPr>
                </a:tc>
                <a:tc>
                  <a:txBody>
                    <a:bodyPr/>
                    <a:lstStyle/>
                    <a:p>
                      <a:pPr algn="ctr">
                        <a:defRPr sz="1000">
                          <a:latin typeface="Montserrat"/>
                        </a:defRPr>
                      </a:pPr>
                      <a:r>
                        <a:t>4,730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39.4%</a:t>
                      </a:r>
                    </a:p>
                  </a:txBody>
                  <a:tcPr marL="0" marR="0" marT="0" marB="0">
                    <a:solidFill>
                      <a:srgbClr val="ECD3D9"/>
                    </a:solidFill>
                  </a:tcPr>
                </a:tc>
              </a:tr>
              <a:tr h="151200">
                <a:tc>
                  <a:txBody>
                    <a:bodyPr/>
                    <a:lstStyle/>
                    <a:p>
                      <a:pPr algn="l">
                        <a:defRPr sz="1000">
                          <a:latin typeface="Montserrat"/>
                        </a:defRPr>
                      </a:pPr>
                      <a:r>
                        <a:t>UMF 28 Rancherías</a:t>
                      </a:r>
                    </a:p>
                  </a:txBody>
                  <a:tcPr marL="0" marR="0" marT="0" marB="0">
                    <a:solidFill>
                      <a:srgbClr val="FFFFFF"/>
                    </a:solidFill>
                  </a:tcPr>
                </a:tc>
                <a:tc>
                  <a:txBody>
                    <a:bodyPr/>
                    <a:lstStyle/>
                    <a:p>
                      <a:pPr algn="ctr">
                        <a:defRPr sz="1000">
                          <a:latin typeface="Montserrat"/>
                        </a:defRPr>
                      </a:pPr>
                      <a:r>
                        <a:t>3,808</a:t>
                      </a:r>
                    </a:p>
                  </a:txBody>
                  <a:tcPr marL="0" marR="0" marT="0" marB="0">
                    <a:solidFill>
                      <a:srgbClr val="FFFFFF"/>
                    </a:solidFill>
                  </a:tcPr>
                </a:tc>
                <a:tc>
                  <a:txBody>
                    <a:bodyPr/>
                    <a:lstStyle/>
                    <a:p>
                      <a:pPr algn="ctr">
                        <a:defRPr sz="1000">
                          <a:latin typeface="Montserrat"/>
                        </a:defRPr>
                      </a:pPr>
                      <a:r>
                        <a:t>311</a:t>
                      </a:r>
                    </a:p>
                  </a:txBody>
                  <a:tcPr marL="0" marR="0" marT="0" marB="0">
                    <a:solidFill>
                      <a:srgbClr val="FFFFFF"/>
                    </a:solidFill>
                  </a:tcPr>
                </a:tc>
                <a:tc>
                  <a:txBody>
                    <a:bodyPr/>
                    <a:lstStyle/>
                    <a:p>
                      <a:pPr algn="ctr">
                        <a:defRPr sz="1000">
                          <a:latin typeface="Montserrat"/>
                        </a:defRPr>
                      </a:pPr>
                      <a:r>
                        <a:t>1,845</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36.9%</a:t>
                      </a:r>
                    </a:p>
                  </a:txBody>
                  <a:tcPr marL="0" marR="0" marT="0" marB="0">
                    <a:solidFill>
                      <a:srgbClr val="ECD3D9"/>
                    </a:solidFill>
                  </a:tcPr>
                </a:tc>
              </a:tr>
              <a:tr h="151200">
                <a:tc>
                  <a:txBody>
                    <a:bodyPr/>
                    <a:lstStyle/>
                    <a:p>
                      <a:pPr algn="l">
                        <a:defRPr sz="1000">
                          <a:latin typeface="Montserrat"/>
                        </a:defRPr>
                      </a:pPr>
                      <a:r>
                        <a:t>UMF 50 Cuatro Ciénegas</a:t>
                      </a:r>
                    </a:p>
                  </a:txBody>
                  <a:tcPr marL="0" marR="0" marT="0" marB="0">
                    <a:solidFill>
                      <a:srgbClr val="EFEFEF"/>
                    </a:solidFill>
                  </a:tcPr>
                </a:tc>
                <a:tc>
                  <a:txBody>
                    <a:bodyPr/>
                    <a:lstStyle/>
                    <a:p>
                      <a:pPr algn="ctr">
                        <a:defRPr sz="1000">
                          <a:latin typeface="Montserrat"/>
                        </a:defRPr>
                      </a:pPr>
                      <a:r>
                        <a:t>12,280</a:t>
                      </a:r>
                    </a:p>
                  </a:txBody>
                  <a:tcPr marL="0" marR="0" marT="0" marB="0">
                    <a:solidFill>
                      <a:srgbClr val="EFEFEF"/>
                    </a:solidFill>
                  </a:tcPr>
                </a:tc>
                <a:tc>
                  <a:txBody>
                    <a:bodyPr/>
                    <a:lstStyle/>
                    <a:p>
                      <a:pPr algn="ctr">
                        <a:defRPr sz="1000">
                          <a:latin typeface="Montserrat"/>
                        </a:defRPr>
                      </a:pPr>
                      <a:r>
                        <a:t>-751</a:t>
                      </a:r>
                    </a:p>
                  </a:txBody>
                  <a:tcPr marL="0" marR="0" marT="0" marB="0">
                    <a:solidFill>
                      <a:srgbClr val="EFEFEF"/>
                    </a:solidFill>
                  </a:tcPr>
                </a:tc>
                <a:tc>
                  <a:txBody>
                    <a:bodyPr/>
                    <a:lstStyle/>
                    <a:p>
                      <a:pPr algn="ctr">
                        <a:defRPr sz="1000">
                          <a:latin typeface="Montserrat"/>
                        </a:defRPr>
                      </a:pPr>
                      <a:r>
                        <a:t>4,613</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35.5%</a:t>
                      </a:r>
                    </a:p>
                  </a:txBody>
                  <a:tcPr marL="0" marR="0" marT="0" marB="0">
                    <a:solidFill>
                      <a:srgbClr val="ECD3D9"/>
                    </a:solidFill>
                  </a:tcPr>
                </a:tc>
              </a:tr>
              <a:tr h="151200">
                <a:tc>
                  <a:txBody>
                    <a:bodyPr/>
                    <a:lstStyle/>
                    <a:p>
                      <a:pPr algn="l">
                        <a:defRPr sz="1000">
                          <a:latin typeface="Montserrat"/>
                        </a:defRPr>
                      </a:pPr>
                      <a:r>
                        <a:t>UMF 3 Ramos Arizpe</a:t>
                      </a:r>
                    </a:p>
                  </a:txBody>
                  <a:tcPr marL="0" marR="0" marT="0" marB="0">
                    <a:solidFill>
                      <a:srgbClr val="FFFFFF"/>
                    </a:solidFill>
                  </a:tcPr>
                </a:tc>
                <a:tc>
                  <a:txBody>
                    <a:bodyPr/>
                    <a:lstStyle/>
                    <a:p>
                      <a:pPr algn="ctr">
                        <a:defRPr sz="1000">
                          <a:latin typeface="Montserrat"/>
                        </a:defRPr>
                      </a:pPr>
                      <a:r>
                        <a:t>56,002</a:t>
                      </a:r>
                    </a:p>
                  </a:txBody>
                  <a:tcPr marL="0" marR="0" marT="0" marB="0">
                    <a:solidFill>
                      <a:srgbClr val="FFFFFF"/>
                    </a:solidFill>
                  </a:tcPr>
                </a:tc>
                <a:tc>
                  <a:txBody>
                    <a:bodyPr/>
                    <a:lstStyle/>
                    <a:p>
                      <a:pPr algn="ctr">
                        <a:defRPr sz="1000">
                          <a:latin typeface="Montserrat"/>
                        </a:defRPr>
                      </a:pPr>
                      <a:r>
                        <a:t>8,723</a:t>
                      </a:r>
                    </a:p>
                  </a:txBody>
                  <a:tcPr marL="0" marR="0" marT="0" marB="0">
                    <a:solidFill>
                      <a:srgbClr val="FFFFFF"/>
                    </a:solidFill>
                  </a:tcPr>
                </a:tc>
                <a:tc>
                  <a:txBody>
                    <a:bodyPr/>
                    <a:lstStyle/>
                    <a:p>
                      <a:pPr algn="ctr">
                        <a:defRPr sz="1000">
                          <a:latin typeface="Montserrat"/>
                        </a:defRPr>
                      </a:pPr>
                      <a:r>
                        <a:t>24,986</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25 Melchor Muz</a:t>
                      </a:r>
                    </a:p>
                  </a:txBody>
                  <a:tcPr marL="0" marR="0" marT="0" marB="0">
                    <a:solidFill>
                      <a:srgbClr val="EFEFEF"/>
                    </a:solidFill>
                  </a:tcPr>
                </a:tc>
                <a:tc>
                  <a:txBody>
                    <a:bodyPr/>
                    <a:lstStyle/>
                    <a:p>
                      <a:pPr algn="ctr">
                        <a:defRPr sz="1000">
                          <a:latin typeface="Montserrat"/>
                        </a:defRPr>
                      </a:pPr>
                      <a:r>
                        <a:t>50,797</a:t>
                      </a:r>
                    </a:p>
                  </a:txBody>
                  <a:tcPr marL="0" marR="0" marT="0" marB="0">
                    <a:solidFill>
                      <a:srgbClr val="EFEFEF"/>
                    </a:solidFill>
                  </a:tcPr>
                </a:tc>
                <a:tc>
                  <a:txBody>
                    <a:bodyPr/>
                    <a:lstStyle/>
                    <a:p>
                      <a:pPr algn="ctr">
                        <a:defRPr sz="1000">
                          <a:latin typeface="Montserrat"/>
                        </a:defRPr>
                      </a:pPr>
                      <a:r>
                        <a:t>-4,674</a:t>
                      </a:r>
                    </a:p>
                  </a:txBody>
                  <a:tcPr marL="0" marR="0" marT="0" marB="0">
                    <a:solidFill>
                      <a:srgbClr val="EFEFEF"/>
                    </a:solidFill>
                  </a:tcPr>
                </a:tc>
                <a:tc>
                  <a:txBody>
                    <a:bodyPr/>
                    <a:lstStyle/>
                    <a:p>
                      <a:pPr algn="ctr">
                        <a:defRPr sz="1000">
                          <a:latin typeface="Montserrat"/>
                        </a:defRPr>
                      </a:pPr>
                      <a:r>
                        <a:t>20,523</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32.8%</a:t>
                      </a:r>
                    </a:p>
                  </a:txBody>
                  <a:tcPr marL="0" marR="0" marT="0" marB="0">
                    <a:solidFill>
                      <a:srgbClr val="ECD3D9"/>
                    </a:solidFill>
                  </a:tcPr>
                </a:tc>
              </a:tr>
              <a:tr h="151200">
                <a:tc>
                  <a:txBody>
                    <a:bodyPr/>
                    <a:lstStyle/>
                    <a:p>
                      <a:pPr algn="l">
                        <a:defRPr sz="1000">
                          <a:latin typeface="Montserrat"/>
                        </a:defRPr>
                      </a:pPr>
                      <a:r>
                        <a:t>UMF 23 Sabinas</a:t>
                      </a:r>
                    </a:p>
                  </a:txBody>
                  <a:tcPr marL="0" marR="0" marT="0" marB="0">
                    <a:solidFill>
                      <a:srgbClr val="FFFFFF"/>
                    </a:solidFill>
                  </a:tcPr>
                </a:tc>
                <a:tc>
                  <a:txBody>
                    <a:bodyPr/>
                    <a:lstStyle/>
                    <a:p>
                      <a:pPr algn="ctr">
                        <a:defRPr sz="1000">
                          <a:latin typeface="Montserrat"/>
                        </a:defRPr>
                      </a:pPr>
                      <a:r>
                        <a:t>75,158</a:t>
                      </a:r>
                    </a:p>
                  </a:txBody>
                  <a:tcPr marL="0" marR="0" marT="0" marB="0">
                    <a:solidFill>
                      <a:srgbClr val="FFFFFF"/>
                    </a:solidFill>
                  </a:tcPr>
                </a:tc>
                <a:tc>
                  <a:txBody>
                    <a:bodyPr/>
                    <a:lstStyle/>
                    <a:p>
                      <a:pPr algn="ctr">
                        <a:defRPr sz="1000">
                          <a:latin typeface="Montserrat"/>
                        </a:defRPr>
                      </a:pPr>
                      <a:r>
                        <a:t>7,325</a:t>
                      </a:r>
                    </a:p>
                  </a:txBody>
                  <a:tcPr marL="0" marR="0" marT="0" marB="0">
                    <a:solidFill>
                      <a:srgbClr val="FFFFFF"/>
                    </a:solidFill>
                  </a:tcPr>
                </a:tc>
                <a:tc>
                  <a:txBody>
                    <a:bodyPr/>
                    <a:lstStyle/>
                    <a:p>
                      <a:pPr algn="ctr">
                        <a:defRPr sz="1000">
                          <a:latin typeface="Montserrat"/>
                        </a:defRPr>
                      </a:pPr>
                      <a:r>
                        <a:t>29,144</a:t>
                      </a:r>
                    </a:p>
                  </a:txBody>
                  <a:tcPr marL="0" marR="0" marT="0" marB="0">
                    <a:solidFill>
                      <a:srgbClr val="ECD3D9"/>
                    </a:solidFill>
                  </a:tcPr>
                </a:tc>
                <a:tc>
                  <a:txBody>
                    <a:bodyPr/>
                    <a:lstStyle/>
                    <a:p>
                      <a:pPr algn="ctr">
                        <a:defRPr sz="1000">
                          <a:latin typeface="Montserrat"/>
                        </a:defRPr>
                      </a:pPr>
                      <a:r>
                        <a:t>75,168</a:t>
                      </a:r>
                    </a:p>
                  </a:txBody>
                  <a:tcPr marL="0" marR="0" marT="0" marB="0">
                    <a:solidFill>
                      <a:srgbClr val="ECD3D9"/>
                    </a:solidFill>
                  </a:tcPr>
                </a:tc>
                <a:tc>
                  <a:txBody>
                    <a:bodyPr/>
                    <a:lstStyle/>
                    <a:p>
                      <a:pPr algn="ctr">
                        <a:defRPr sz="1000">
                          <a:latin typeface="Montserrat"/>
                        </a:defRPr>
                      </a:pPr>
                      <a:r>
                        <a:t>38.8%</a:t>
                      </a:r>
                    </a:p>
                  </a:txBody>
                  <a:tcPr marL="0" marR="0" marT="0" marB="0">
                    <a:solidFill>
                      <a:srgbClr val="ECD3D9"/>
                    </a:solidFill>
                  </a:tcPr>
                </a:tc>
              </a:tr>
              <a:tr h="151200">
                <a:tc>
                  <a:txBody>
                    <a:bodyPr/>
                    <a:lstStyle/>
                    <a:p>
                      <a:pPr algn="l">
                        <a:defRPr sz="1000">
                          <a:latin typeface="Montserrat"/>
                        </a:defRPr>
                      </a:pPr>
                      <a:r>
                        <a:t>UMF 29 Esperanzas</a:t>
                      </a:r>
                    </a:p>
                  </a:txBody>
                  <a:tcPr marL="0" marR="0" marT="0" marB="0">
                    <a:solidFill>
                      <a:srgbClr val="EFEFEF"/>
                    </a:solidFill>
                  </a:tcPr>
                </a:tc>
                <a:tc>
                  <a:txBody>
                    <a:bodyPr/>
                    <a:lstStyle/>
                    <a:p>
                      <a:pPr algn="ctr">
                        <a:defRPr sz="1000">
                          <a:latin typeface="Montserrat"/>
                        </a:defRPr>
                      </a:pPr>
                      <a:r>
                        <a:t>11,128</a:t>
                      </a:r>
                    </a:p>
                  </a:txBody>
                  <a:tcPr marL="0" marR="0" marT="0" marB="0">
                    <a:solidFill>
                      <a:srgbClr val="EFEFEF"/>
                    </a:solidFill>
                  </a:tcPr>
                </a:tc>
                <a:tc>
                  <a:txBody>
                    <a:bodyPr/>
                    <a:lstStyle/>
                    <a:p>
                      <a:pPr algn="ctr">
                        <a:defRPr sz="1000">
                          <a:latin typeface="Montserrat"/>
                        </a:defRPr>
                      </a:pPr>
                      <a:r>
                        <a:t>3,746</a:t>
                      </a:r>
                    </a:p>
                  </a:txBody>
                  <a:tcPr marL="0" marR="0" marT="0" marB="0">
                    <a:solidFill>
                      <a:srgbClr val="EFEFEF"/>
                    </a:solidFill>
                  </a:tcPr>
                </a:tc>
                <a:tc>
                  <a:txBody>
                    <a:bodyPr/>
                    <a:lstStyle/>
                    <a:p>
                      <a:pPr algn="ctr">
                        <a:defRPr sz="1000">
                          <a:latin typeface="Montserrat"/>
                        </a:defRPr>
                      </a:pPr>
                      <a:r>
                        <a:t>5,014</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41.8%</a:t>
                      </a:r>
                    </a:p>
                  </a:txBody>
                  <a:tcPr marL="0" marR="0" marT="0" marB="0">
                    <a:solidFill>
                      <a:srgbClr val="ECD3D9"/>
                    </a:solidFill>
                  </a:tcPr>
                </a:tc>
              </a:tr>
              <a:tr h="151200">
                <a:tc>
                  <a:txBody>
                    <a:bodyPr/>
                    <a:lstStyle/>
                    <a:p>
                      <a:pPr algn="l">
                        <a:defRPr sz="1000">
                          <a:latin typeface="Montserrat"/>
                        </a:defRPr>
                      </a:pPr>
                      <a:r>
                        <a:t>UMRM 52 Ocampo</a:t>
                      </a:r>
                    </a:p>
                  </a:txBody>
                  <a:tcPr marL="0" marR="0" marT="0" marB="0">
                    <a:solidFill>
                      <a:srgbClr val="FFFFFF"/>
                    </a:solidFill>
                  </a:tcPr>
                </a:tc>
                <a:tc>
                  <a:txBody>
                    <a:bodyPr/>
                    <a:lstStyle/>
                    <a:p>
                      <a:pPr algn="ctr">
                        <a:defRPr sz="1000">
                          <a:latin typeface="Montserrat"/>
                        </a:defRPr>
                      </a:pPr>
                      <a:r>
                        <a:t>6,014</a:t>
                      </a:r>
                    </a:p>
                  </a:txBody>
                  <a:tcPr marL="0" marR="0" marT="0" marB="0">
                    <a:solidFill>
                      <a:srgbClr val="FFFFFF"/>
                    </a:solidFill>
                  </a:tcPr>
                </a:tc>
                <a:tc>
                  <a:txBody>
                    <a:bodyPr/>
                    <a:lstStyle/>
                    <a:p>
                      <a:pPr algn="ctr">
                        <a:defRPr sz="1000">
                          <a:latin typeface="Montserrat"/>
                        </a:defRPr>
                      </a:pPr>
                      <a:r>
                        <a:t>-57</a:t>
                      </a:r>
                    </a:p>
                  </a:txBody>
                  <a:tcPr marL="0" marR="0" marT="0" marB="0">
                    <a:solidFill>
                      <a:srgbClr val="FFFFFF"/>
                    </a:solidFill>
                  </a:tcPr>
                </a:tc>
                <a:tc>
                  <a:txBody>
                    <a:bodyPr/>
                    <a:lstStyle/>
                    <a:p>
                      <a:pPr algn="ctr">
                        <a:defRPr sz="1000">
                          <a:latin typeface="Montserrat"/>
                        </a:defRPr>
                      </a:pPr>
                      <a:r>
                        <a:t>2,411</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34.4%</a:t>
                      </a:r>
                    </a:p>
                  </a:txBody>
                  <a:tcPr marL="0" marR="0" marT="0" marB="0">
                    <a:solidFill>
                      <a:srgbClr val="ECD3D9"/>
                    </a:solidFill>
                  </a:tcPr>
                </a:tc>
              </a:tr>
              <a:tr h="151200">
                <a:tc>
                  <a:txBody>
                    <a:bodyPr/>
                    <a:lstStyle/>
                    <a:p>
                      <a:pPr algn="l">
                        <a:defRPr sz="1000">
                          <a:latin typeface="Montserrat"/>
                        </a:defRPr>
                      </a:pPr>
                      <a:r>
                        <a:t>UMF 62 Gral. Cepeda</a:t>
                      </a:r>
                    </a:p>
                  </a:txBody>
                  <a:tcPr marL="0" marR="0" marT="0" marB="0">
                    <a:solidFill>
                      <a:srgbClr val="EFEFEF"/>
                    </a:solidFill>
                  </a:tcPr>
                </a:tc>
                <a:tc>
                  <a:txBody>
                    <a:bodyPr/>
                    <a:lstStyle/>
                    <a:p>
                      <a:pPr algn="ctr">
                        <a:defRPr sz="1000">
                          <a:latin typeface="Montserrat"/>
                        </a:defRPr>
                      </a:pPr>
                      <a:r>
                        <a:t>12,100</a:t>
                      </a:r>
                    </a:p>
                  </a:txBody>
                  <a:tcPr marL="0" marR="0" marT="0" marB="0">
                    <a:solidFill>
                      <a:srgbClr val="EFEFEF"/>
                    </a:solidFill>
                  </a:tcPr>
                </a:tc>
                <a:tc>
                  <a:txBody>
                    <a:bodyPr/>
                    <a:lstStyle/>
                    <a:p>
                      <a:pPr algn="ctr">
                        <a:defRPr sz="1000">
                          <a:latin typeface="Montserrat"/>
                        </a:defRPr>
                      </a:pPr>
                      <a:r>
                        <a:t>1,567</a:t>
                      </a:r>
                    </a:p>
                  </a:txBody>
                  <a:tcPr marL="0" marR="0" marT="0" marB="0">
                    <a:solidFill>
                      <a:srgbClr val="EFEFEF"/>
                    </a:solidFill>
                  </a:tcPr>
                </a:tc>
                <a:tc>
                  <a:txBody>
                    <a:bodyPr/>
                    <a:lstStyle/>
                    <a:p>
                      <a:pPr algn="ctr">
                        <a:defRPr sz="1000">
                          <a:latin typeface="Montserrat"/>
                        </a:defRPr>
                      </a:pPr>
                      <a:r>
                        <a:t>4,462</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34.3%</a:t>
                      </a:r>
                    </a:p>
                  </a:txBody>
                  <a:tcPr marL="0" marR="0" marT="0" marB="0">
                    <a:solidFill>
                      <a:srgbClr val="ECD3D9"/>
                    </a:solidFill>
                  </a:tcPr>
                </a:tc>
              </a:tr>
              <a:tr h="151200">
                <a:tc>
                  <a:txBody>
                    <a:bodyPr/>
                    <a:lstStyle/>
                    <a:p>
                      <a:pPr algn="l">
                        <a:defRPr sz="1000">
                          <a:latin typeface="Montserrat"/>
                        </a:defRPr>
                      </a:pPr>
                      <a:r>
                        <a:t>UMF 60 Nava</a:t>
                      </a:r>
                    </a:p>
                  </a:txBody>
                  <a:tcPr marL="0" marR="0" marT="0" marB="0">
                    <a:solidFill>
                      <a:srgbClr val="FFFFFF"/>
                    </a:solidFill>
                  </a:tcPr>
                </a:tc>
                <a:tc>
                  <a:txBody>
                    <a:bodyPr/>
                    <a:lstStyle/>
                    <a:p>
                      <a:pPr algn="ctr">
                        <a:defRPr sz="1000">
                          <a:latin typeface="Montserrat"/>
                        </a:defRPr>
                      </a:pPr>
                      <a:r>
                        <a:t>42,656</a:t>
                      </a:r>
                    </a:p>
                  </a:txBody>
                  <a:tcPr marL="0" marR="0" marT="0" marB="0">
                    <a:solidFill>
                      <a:srgbClr val="FFFFFF"/>
                    </a:solidFill>
                  </a:tcPr>
                </a:tc>
                <a:tc>
                  <a:txBody>
                    <a:bodyPr/>
                    <a:lstStyle/>
                    <a:p>
                      <a:pPr algn="ctr">
                        <a:defRPr sz="1000">
                          <a:latin typeface="Montserrat"/>
                        </a:defRPr>
                      </a:pPr>
                      <a:r>
                        <a:t>2,051</a:t>
                      </a:r>
                    </a:p>
                  </a:txBody>
                  <a:tcPr marL="0" marR="0" marT="0" marB="0">
                    <a:solidFill>
                      <a:srgbClr val="FFFFFF"/>
                    </a:solidFill>
                  </a:tcPr>
                </a:tc>
                <a:tc>
                  <a:txBody>
                    <a:bodyPr/>
                    <a:lstStyle/>
                    <a:p>
                      <a:pPr algn="ctr">
                        <a:defRPr sz="1000">
                          <a:latin typeface="Montserrat"/>
                        </a:defRPr>
                      </a:pPr>
                      <a:r>
                        <a:t>17,985</a:t>
                      </a:r>
                    </a:p>
                  </a:txBody>
                  <a:tcPr marL="0" marR="0" marT="0" marB="0">
                    <a:solidFill>
                      <a:srgbClr val="ECD3D9"/>
                    </a:solidFill>
                  </a:tcPr>
                </a:tc>
                <a:tc>
                  <a:txBody>
                    <a:bodyPr/>
                    <a:lstStyle/>
                    <a:p>
                      <a:pPr algn="ctr">
                        <a:defRPr sz="1000">
                          <a:latin typeface="Montserrat"/>
                        </a:defRPr>
                      </a:pPr>
                      <a:r>
                        <a:t>65,772</a:t>
                      </a:r>
                    </a:p>
                  </a:txBody>
                  <a:tcPr marL="0" marR="0" marT="0" marB="0">
                    <a:solidFill>
                      <a:srgbClr val="ECD3D9"/>
                    </a:solidFill>
                  </a:tcPr>
                </a:tc>
                <a:tc>
                  <a:txBody>
                    <a:bodyPr/>
                    <a:lstStyle/>
                    <a:p>
                      <a:pPr algn="ctr">
                        <a:defRPr sz="1000">
                          <a:latin typeface="Montserrat"/>
                        </a:defRPr>
                      </a:pPr>
                      <a:r>
                        <a:t>27.3%</a:t>
                      </a:r>
                    </a:p>
                  </a:txBody>
                  <a:tcPr marL="0" marR="0" marT="0" marB="0">
                    <a:solidFill>
                      <a:srgbClr val="ECD3D9"/>
                    </a:solidFill>
                  </a:tcPr>
                </a:tc>
              </a:tr>
              <a:tr h="151200">
                <a:tc>
                  <a:txBody>
                    <a:bodyPr/>
                    <a:lstStyle/>
                    <a:p>
                      <a:pPr algn="l">
                        <a:defRPr sz="1000">
                          <a:latin typeface="Montserrat"/>
                        </a:defRPr>
                      </a:pPr>
                      <a:r>
                        <a:t>UMF 12 Allende</a:t>
                      </a:r>
                    </a:p>
                  </a:txBody>
                  <a:tcPr marL="0" marR="0" marT="0" marB="0">
                    <a:solidFill>
                      <a:srgbClr val="EFEFEF"/>
                    </a:solidFill>
                  </a:tcPr>
                </a:tc>
                <a:tc>
                  <a:txBody>
                    <a:bodyPr/>
                    <a:lstStyle/>
                    <a:p>
                      <a:pPr algn="ctr">
                        <a:defRPr sz="1000">
                          <a:latin typeface="Montserrat"/>
                        </a:defRPr>
                      </a:pPr>
                      <a:r>
                        <a:t>37,249</a:t>
                      </a:r>
                    </a:p>
                  </a:txBody>
                  <a:tcPr marL="0" marR="0" marT="0" marB="0">
                    <a:solidFill>
                      <a:srgbClr val="EFEFEF"/>
                    </a:solidFill>
                  </a:tcPr>
                </a:tc>
                <a:tc>
                  <a:txBody>
                    <a:bodyPr/>
                    <a:lstStyle/>
                    <a:p>
                      <a:pPr algn="ctr">
                        <a:defRPr sz="1000">
                          <a:latin typeface="Montserrat"/>
                        </a:defRPr>
                      </a:pPr>
                      <a:r>
                        <a:t>3,536</a:t>
                      </a:r>
                    </a:p>
                  </a:txBody>
                  <a:tcPr marL="0" marR="0" marT="0" marB="0">
                    <a:solidFill>
                      <a:srgbClr val="EFEFEF"/>
                    </a:solidFill>
                  </a:tcPr>
                </a:tc>
                <a:tc>
                  <a:txBody>
                    <a:bodyPr/>
                    <a:lstStyle/>
                    <a:p>
                      <a:pPr algn="ctr">
                        <a:defRPr sz="1000">
                          <a:latin typeface="Montserrat"/>
                        </a:defRPr>
                      </a:pPr>
                      <a:r>
                        <a:t>15,230</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40.5%</a:t>
                      </a:r>
                    </a:p>
                  </a:txBody>
                  <a:tcPr marL="0" marR="0" marT="0" marB="0">
                    <a:solidFill>
                      <a:srgbClr val="ECD3D9"/>
                    </a:solidFill>
                  </a:tcPr>
                </a:tc>
              </a:tr>
              <a:tr h="151200">
                <a:tc>
                  <a:txBody>
                    <a:bodyPr/>
                    <a:lstStyle/>
                    <a:p>
                      <a:pPr algn="l">
                        <a:defRPr sz="1000">
                          <a:latin typeface="Montserrat"/>
                        </a:defRPr>
                      </a:pPr>
                      <a:r>
                        <a:t>UMF 8 Castaños</a:t>
                      </a:r>
                    </a:p>
                  </a:txBody>
                  <a:tcPr marL="0" marR="0" marT="0" marB="0">
                    <a:solidFill>
                      <a:srgbClr val="FFFFFF"/>
                    </a:solidFill>
                  </a:tcPr>
                </a:tc>
                <a:tc>
                  <a:txBody>
                    <a:bodyPr/>
                    <a:lstStyle/>
                    <a:p>
                      <a:pPr algn="ctr">
                        <a:defRPr sz="1000">
                          <a:latin typeface="Montserrat"/>
                        </a:defRPr>
                      </a:pPr>
                      <a:r>
                        <a:t>61,537</a:t>
                      </a:r>
                    </a:p>
                  </a:txBody>
                  <a:tcPr marL="0" marR="0" marT="0" marB="0">
                    <a:solidFill>
                      <a:srgbClr val="FFFFFF"/>
                    </a:solidFill>
                  </a:tcPr>
                </a:tc>
                <a:tc>
                  <a:txBody>
                    <a:bodyPr/>
                    <a:lstStyle/>
                    <a:p>
                      <a:pPr algn="ctr">
                        <a:defRPr sz="1000">
                          <a:latin typeface="Montserrat"/>
                        </a:defRPr>
                      </a:pPr>
                      <a:r>
                        <a:t>-489</a:t>
                      </a:r>
                    </a:p>
                  </a:txBody>
                  <a:tcPr marL="0" marR="0" marT="0" marB="0">
                    <a:solidFill>
                      <a:srgbClr val="FFFFFF"/>
                    </a:solidFill>
                  </a:tcPr>
                </a:tc>
                <a:tc>
                  <a:txBody>
                    <a:bodyPr/>
                    <a:lstStyle/>
                    <a:p>
                      <a:pPr algn="ctr">
                        <a:defRPr sz="1000">
                          <a:latin typeface="Montserrat"/>
                        </a:defRPr>
                      </a:pPr>
                      <a:r>
                        <a:t>22,859</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36.5%</a:t>
                      </a:r>
                    </a:p>
                  </a:txBody>
                  <a:tcPr marL="0" marR="0" marT="0" marB="0">
                    <a:solidFill>
                      <a:srgbClr val="ECD3D9"/>
                    </a:solidFill>
                  </a:tcPr>
                </a:tc>
              </a:tr>
              <a:tr h="151200">
                <a:tc>
                  <a:txBody>
                    <a:bodyPr/>
                    <a:lstStyle/>
                    <a:p>
                      <a:pPr algn="l">
                        <a:defRPr sz="1000">
                          <a:latin typeface="Montserrat"/>
                        </a:defRPr>
                      </a:pPr>
                      <a:r>
                        <a:t>UMF 64 Morelos</a:t>
                      </a:r>
                    </a:p>
                  </a:txBody>
                  <a:tcPr marL="0" marR="0" marT="0" marB="0">
                    <a:solidFill>
                      <a:srgbClr val="EFEFEF"/>
                    </a:solidFill>
                  </a:tcPr>
                </a:tc>
                <a:tc>
                  <a:txBody>
                    <a:bodyPr/>
                    <a:lstStyle/>
                    <a:p>
                      <a:pPr algn="ctr">
                        <a:defRPr sz="1000">
                          <a:latin typeface="Montserrat"/>
                        </a:defRPr>
                      </a:pPr>
                      <a:r>
                        <a:t>13,266</a:t>
                      </a:r>
                    </a:p>
                  </a:txBody>
                  <a:tcPr marL="0" marR="0" marT="0" marB="0">
                    <a:solidFill>
                      <a:srgbClr val="EFEFEF"/>
                    </a:solidFill>
                  </a:tcPr>
                </a:tc>
                <a:tc>
                  <a:txBody>
                    <a:bodyPr/>
                    <a:lstStyle/>
                    <a:p>
                      <a:pPr algn="ctr">
                        <a:defRPr sz="1000">
                          <a:latin typeface="Montserrat"/>
                        </a:defRPr>
                      </a:pPr>
                      <a:r>
                        <a:t>-746</a:t>
                      </a:r>
                    </a:p>
                  </a:txBody>
                  <a:tcPr marL="0" marR="0" marT="0" marB="0">
                    <a:solidFill>
                      <a:srgbClr val="EFEFEF"/>
                    </a:solidFill>
                  </a:tcPr>
                </a:tc>
                <a:tc>
                  <a:txBody>
                    <a:bodyPr/>
                    <a:lstStyle/>
                    <a:p>
                      <a:pPr algn="ctr">
                        <a:defRPr sz="1000">
                          <a:latin typeface="Montserrat"/>
                        </a:defRPr>
                      </a:pPr>
                      <a:r>
                        <a:t>5,184</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67 E. Hipólito</a:t>
                      </a:r>
                    </a:p>
                  </a:txBody>
                  <a:tcPr marL="0" marR="0" marT="0" marB="0">
                    <a:solidFill>
                      <a:srgbClr val="FFFFFF"/>
                    </a:solidFill>
                  </a:tcPr>
                </a:tc>
                <a:tc>
                  <a:txBody>
                    <a:bodyPr/>
                    <a:lstStyle/>
                    <a:p>
                      <a:pPr algn="ctr">
                        <a:defRPr sz="1000">
                          <a:latin typeface="Montserrat"/>
                        </a:defRPr>
                      </a:pPr>
                      <a:r>
                        <a:t>1,408</a:t>
                      </a:r>
                    </a:p>
                  </a:txBody>
                  <a:tcPr marL="0" marR="0" marT="0" marB="0">
                    <a:solidFill>
                      <a:srgbClr val="FFFFFF"/>
                    </a:solidFill>
                  </a:tcPr>
                </a:tc>
                <a:tc>
                  <a:txBody>
                    <a:bodyPr/>
                    <a:lstStyle/>
                    <a:p>
                      <a:pPr algn="ctr">
                        <a:defRPr sz="1000">
                          <a:latin typeface="Montserrat"/>
                        </a:defRPr>
                      </a:pPr>
                      <a:r>
                        <a:t>-1,449</a:t>
                      </a:r>
                    </a:p>
                  </a:txBody>
                  <a:tcPr marL="0" marR="0" marT="0" marB="0">
                    <a:solidFill>
                      <a:srgbClr val="FFFFFF"/>
                    </a:solidFill>
                  </a:tcPr>
                </a:tc>
                <a:tc>
                  <a:txBody>
                    <a:bodyPr/>
                    <a:lstStyle/>
                    <a:p>
                      <a:pPr algn="ctr">
                        <a:defRPr sz="1000">
                          <a:latin typeface="Montserrat"/>
                        </a:defRPr>
                      </a:pPr>
                      <a:r>
                        <a:t>843</a:t>
                      </a:r>
                    </a:p>
                  </a:txBody>
                  <a:tcPr marL="0" marR="0" marT="0" marB="0">
                    <a:solidFill>
                      <a:srgbClr val="ECD3D9"/>
                    </a:solidFill>
                  </a:tcPr>
                </a:tc>
                <a:tc>
                  <a:txBody>
                    <a:bodyPr/>
                    <a:lstStyle/>
                    <a:p>
                      <a:pPr algn="ctr">
                        <a:defRPr sz="1000">
                          <a:latin typeface="Montserrat"/>
                        </a:defRPr>
                      </a:pPr>
                      <a:r>
                        <a:t>3,000</a:t>
                      </a:r>
                    </a:p>
                  </a:txBody>
                  <a:tcPr marL="0" marR="0" marT="0" marB="0">
                    <a:solidFill>
                      <a:srgbClr val="ECD3D9"/>
                    </a:solidFill>
                  </a:tcPr>
                </a:tc>
                <a:tc>
                  <a:txBody>
                    <a:bodyPr/>
                    <a:lstStyle/>
                    <a:p>
                      <a:pPr algn="ctr">
                        <a:defRPr sz="1000">
                          <a:latin typeface="Montserrat"/>
                        </a:defRPr>
                      </a:pPr>
                      <a:r>
                        <a:t>28.1%</a:t>
                      </a:r>
                    </a:p>
                  </a:txBody>
                  <a:tcPr marL="0" marR="0" marT="0" marB="0">
                    <a:solidFill>
                      <a:srgbClr val="ECD3D9"/>
                    </a:solidFill>
                  </a:tcPr>
                </a:tc>
              </a:tr>
              <a:tr h="151200">
                <a:tc>
                  <a:txBody>
                    <a:bodyPr/>
                    <a:lstStyle/>
                    <a:p>
                      <a:pPr algn="l">
                        <a:defRPr sz="1000">
                          <a:latin typeface="Montserrat"/>
                        </a:defRPr>
                      </a:pPr>
                      <a:r>
                        <a:t>UMF 70 Saltillo</a:t>
                      </a:r>
                    </a:p>
                  </a:txBody>
                  <a:tcPr marL="0" marR="0" marT="0" marB="0">
                    <a:solidFill>
                      <a:srgbClr val="EFEFEF"/>
                    </a:solidFill>
                  </a:tcPr>
                </a:tc>
                <a:tc>
                  <a:txBody>
                    <a:bodyPr/>
                    <a:lstStyle/>
                    <a:p>
                      <a:pPr algn="ctr">
                        <a:defRPr sz="1000">
                          <a:latin typeface="Montserrat"/>
                        </a:defRPr>
                      </a:pPr>
                      <a:r>
                        <a:t>141,291</a:t>
                      </a:r>
                    </a:p>
                  </a:txBody>
                  <a:tcPr marL="0" marR="0" marT="0" marB="0">
                    <a:solidFill>
                      <a:srgbClr val="EFEFEF"/>
                    </a:solidFill>
                  </a:tcPr>
                </a:tc>
                <a:tc>
                  <a:txBody>
                    <a:bodyPr/>
                    <a:lstStyle/>
                    <a:p>
                      <a:pPr algn="ctr">
                        <a:defRPr sz="1000">
                          <a:latin typeface="Montserrat"/>
                        </a:defRPr>
                      </a:pPr>
                      <a:r>
                        <a:t>-750</a:t>
                      </a:r>
                    </a:p>
                  </a:txBody>
                  <a:tcPr marL="0" marR="0" marT="0" marB="0">
                    <a:solidFill>
                      <a:srgbClr val="EFEFEF"/>
                    </a:solidFill>
                  </a:tcPr>
                </a:tc>
                <a:tc>
                  <a:txBody>
                    <a:bodyPr/>
                    <a:lstStyle/>
                    <a:p>
                      <a:pPr algn="ctr">
                        <a:defRPr sz="1000">
                          <a:latin typeface="Montserrat"/>
                        </a:defRPr>
                      </a:pPr>
                      <a:r>
                        <a:t>57,576</a:t>
                      </a:r>
                    </a:p>
                  </a:txBody>
                  <a:tcPr marL="0" marR="0" marT="0" marB="0">
                    <a:solidFill>
                      <a:srgbClr val="ECD3D9"/>
                    </a:solidFill>
                  </a:tcPr>
                </a:tc>
                <a:tc>
                  <a:txBody>
                    <a:bodyPr/>
                    <a:lstStyle/>
                    <a:p>
                      <a:pPr algn="ctr">
                        <a:defRPr sz="1000">
                          <a:latin typeface="Montserrat"/>
                        </a:defRPr>
                      </a:pPr>
                      <a:r>
                        <a:t>137,808</a:t>
                      </a:r>
                    </a:p>
                  </a:txBody>
                  <a:tcPr marL="0" marR="0" marT="0" marB="0">
                    <a:solidFill>
                      <a:srgbClr val="ECD3D9"/>
                    </a:solidFill>
                  </a:tcPr>
                </a:tc>
                <a:tc>
                  <a:txBody>
                    <a:bodyPr/>
                    <a:lstStyle/>
                    <a:p>
                      <a:pPr algn="ctr">
                        <a:defRPr sz="1000">
                          <a:latin typeface="Montserrat"/>
                        </a:defRPr>
                      </a:pPr>
                      <a:r>
                        <a:t>41.8%</a:t>
                      </a:r>
                    </a:p>
                  </a:txBody>
                  <a:tcPr marL="0" marR="0" marT="0" marB="0">
                    <a:solidFill>
                      <a:srgbClr val="ECD3D9"/>
                    </a:solidFill>
                  </a:tcPr>
                </a:tc>
              </a:tr>
              <a:tr h="151200">
                <a:tc>
                  <a:txBody>
                    <a:bodyPr/>
                    <a:lstStyle/>
                    <a:p>
                      <a:pPr algn="l">
                        <a:defRPr sz="1000">
                          <a:latin typeface="Montserrat"/>
                        </a:defRPr>
                      </a:pPr>
                      <a:r>
                        <a:t>UMF 74 Nadadores</a:t>
                      </a:r>
                    </a:p>
                  </a:txBody>
                  <a:tcPr marL="0" marR="0" marT="0" marB="0">
                    <a:solidFill>
                      <a:srgbClr val="FFFFFF"/>
                    </a:solidFill>
                  </a:tcPr>
                </a:tc>
                <a:tc>
                  <a:txBody>
                    <a:bodyPr/>
                    <a:lstStyle/>
                    <a:p>
                      <a:pPr algn="ctr">
                        <a:defRPr sz="1000">
                          <a:latin typeface="Montserrat"/>
                        </a:defRPr>
                      </a:pPr>
                      <a:r>
                        <a:t>12,269</a:t>
                      </a:r>
                    </a:p>
                  </a:txBody>
                  <a:tcPr marL="0" marR="0" marT="0" marB="0">
                    <a:solidFill>
                      <a:srgbClr val="FFFFFF"/>
                    </a:solidFill>
                  </a:tcPr>
                </a:tc>
                <a:tc>
                  <a:txBody>
                    <a:bodyPr/>
                    <a:lstStyle/>
                    <a:p>
                      <a:pPr algn="ctr">
                        <a:defRPr sz="1000">
                          <a:latin typeface="Montserrat"/>
                        </a:defRPr>
                      </a:pPr>
                      <a:r>
                        <a:t>-1,121</a:t>
                      </a:r>
                    </a:p>
                  </a:txBody>
                  <a:tcPr marL="0" marR="0" marT="0" marB="0">
                    <a:solidFill>
                      <a:srgbClr val="FFFFFF"/>
                    </a:solidFill>
                  </a:tcPr>
                </a:tc>
                <a:tc>
                  <a:txBody>
                    <a:bodyPr/>
                    <a:lstStyle/>
                    <a:p>
                      <a:pPr algn="ctr">
                        <a:defRPr sz="1000">
                          <a:latin typeface="Montserrat"/>
                        </a:defRPr>
                      </a:pPr>
                      <a:r>
                        <a:t>5,295</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37.8%</a:t>
                      </a:r>
                    </a:p>
                  </a:txBody>
                  <a:tcPr marL="0" marR="0" marT="0" marB="0">
                    <a:solidFill>
                      <a:srgbClr val="ECD3D9"/>
                    </a:solidFill>
                  </a:tcPr>
                </a:tc>
              </a:tr>
              <a:tr h="151200">
                <a:tc>
                  <a:txBody>
                    <a:bodyPr/>
                    <a:lstStyle/>
                    <a:p>
                      <a:pPr algn="l">
                        <a:defRPr sz="1000">
                          <a:latin typeface="Montserrat"/>
                        </a:defRPr>
                      </a:pPr>
                      <a:r>
                        <a:t>UMF 61 Laguna del Rey</a:t>
                      </a:r>
                    </a:p>
                  </a:txBody>
                  <a:tcPr marL="0" marR="0" marT="0" marB="0">
                    <a:solidFill>
                      <a:srgbClr val="EFEFEF"/>
                    </a:solidFill>
                  </a:tcPr>
                </a:tc>
                <a:tc>
                  <a:txBody>
                    <a:bodyPr/>
                    <a:lstStyle/>
                    <a:p>
                      <a:pPr algn="ctr">
                        <a:defRPr sz="1000">
                          <a:latin typeface="Montserrat"/>
                        </a:defRPr>
                      </a:pPr>
                      <a:r>
                        <a:t>11,402</a:t>
                      </a:r>
                    </a:p>
                  </a:txBody>
                  <a:tcPr marL="0" marR="0" marT="0" marB="0">
                    <a:solidFill>
                      <a:srgbClr val="EFEFEF"/>
                    </a:solidFill>
                  </a:tcPr>
                </a:tc>
                <a:tc>
                  <a:txBody>
                    <a:bodyPr/>
                    <a:lstStyle/>
                    <a:p>
                      <a:pPr algn="ctr">
                        <a:defRPr sz="1000">
                          <a:latin typeface="Montserrat"/>
                        </a:defRPr>
                      </a:pPr>
                      <a:r>
                        <a:t>-94</a:t>
                      </a:r>
                    </a:p>
                  </a:txBody>
                  <a:tcPr marL="0" marR="0" marT="0" marB="0">
                    <a:solidFill>
                      <a:srgbClr val="EFEFEF"/>
                    </a:solidFill>
                  </a:tcPr>
                </a:tc>
                <a:tc>
                  <a:txBody>
                    <a:bodyPr/>
                    <a:lstStyle/>
                    <a:p>
                      <a:pPr algn="ctr">
                        <a:defRPr sz="1000">
                          <a:latin typeface="Montserrat"/>
                        </a:defRPr>
                      </a:pPr>
                      <a:r>
                        <a:t>4,350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36.3%</a:t>
                      </a:r>
                    </a:p>
                  </a:txBody>
                  <a:tcPr marL="0" marR="0" marT="0" marB="0">
                    <a:solidFill>
                      <a:srgbClr val="ECD3D9"/>
                    </a:solidFill>
                  </a:tcPr>
                </a:tc>
              </a:tr>
              <a:tr h="151200">
                <a:tc>
                  <a:txBody>
                    <a:bodyPr/>
                    <a:lstStyle/>
                    <a:p>
                      <a:pPr algn="l">
                        <a:defRPr sz="1000">
                          <a:latin typeface="Montserrat"/>
                        </a:defRPr>
                      </a:pPr>
                      <a:r>
                        <a:t>UMF 80 Torreón</a:t>
                      </a:r>
                    </a:p>
                  </a:txBody>
                  <a:tcPr marL="0" marR="0" marT="0" marB="0">
                    <a:solidFill>
                      <a:srgbClr val="FFFFFF"/>
                    </a:solidFill>
                  </a:tcPr>
                </a:tc>
                <a:tc>
                  <a:txBody>
                    <a:bodyPr/>
                    <a:lstStyle/>
                    <a:p>
                      <a:pPr algn="ctr">
                        <a:defRPr sz="1000">
                          <a:latin typeface="Montserrat"/>
                        </a:defRPr>
                      </a:pPr>
                      <a:r>
                        <a:t>125,039</a:t>
                      </a:r>
                    </a:p>
                  </a:txBody>
                  <a:tcPr marL="0" marR="0" marT="0" marB="0">
                    <a:solidFill>
                      <a:srgbClr val="FFFFFF"/>
                    </a:solidFill>
                  </a:tcPr>
                </a:tc>
                <a:tc>
                  <a:txBody>
                    <a:bodyPr/>
                    <a:lstStyle/>
                    <a:p>
                      <a:pPr algn="ctr">
                        <a:defRPr sz="1000">
                          <a:latin typeface="Montserrat"/>
                        </a:defRPr>
                      </a:pPr>
                      <a:r>
                        <a:t>4,403</a:t>
                      </a:r>
                    </a:p>
                  </a:txBody>
                  <a:tcPr marL="0" marR="0" marT="0" marB="0">
                    <a:solidFill>
                      <a:srgbClr val="FFFFFF"/>
                    </a:solidFill>
                  </a:tcPr>
                </a:tc>
                <a:tc>
                  <a:txBody>
                    <a:bodyPr/>
                    <a:lstStyle/>
                    <a:p>
                      <a:pPr algn="ctr">
                        <a:defRPr sz="1000">
                          <a:latin typeface="Montserrat"/>
                        </a:defRPr>
                      </a:pPr>
                      <a:r>
                        <a:t>51,427</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tr>
              <a:tr h="151200">
                <a:tc>
                  <a:txBody>
                    <a:bodyPr/>
                    <a:lstStyle/>
                    <a:p>
                      <a:pPr algn="l">
                        <a:defRPr sz="1000">
                          <a:latin typeface="Montserrat"/>
                        </a:defRPr>
                      </a:pPr>
                      <a:r>
                        <a:t>UMF 79 Piedras Negras</a:t>
                      </a:r>
                    </a:p>
                  </a:txBody>
                  <a:tcPr marL="0" marR="0" marT="0" marB="0">
                    <a:solidFill>
                      <a:srgbClr val="EFEFEF"/>
                    </a:solidFill>
                  </a:tcPr>
                </a:tc>
                <a:tc>
                  <a:txBody>
                    <a:bodyPr/>
                    <a:lstStyle/>
                    <a:p>
                      <a:pPr algn="ctr">
                        <a:defRPr sz="1000">
                          <a:latin typeface="Montserrat"/>
                        </a:defRPr>
                      </a:pPr>
                      <a:r>
                        <a:t>230,095</a:t>
                      </a:r>
                    </a:p>
                  </a:txBody>
                  <a:tcPr marL="0" marR="0" marT="0" marB="0">
                    <a:solidFill>
                      <a:srgbClr val="EFEFEF"/>
                    </a:solidFill>
                  </a:tcPr>
                </a:tc>
                <a:tc>
                  <a:txBody>
                    <a:bodyPr/>
                    <a:lstStyle/>
                    <a:p>
                      <a:pPr algn="ctr">
                        <a:defRPr sz="1000">
                          <a:latin typeface="Montserrat"/>
                        </a:defRPr>
                      </a:pPr>
                      <a:r>
                        <a:t>3,510</a:t>
                      </a:r>
                    </a:p>
                  </a:txBody>
                  <a:tcPr marL="0" marR="0" marT="0" marB="0">
                    <a:solidFill>
                      <a:srgbClr val="EFEFEF"/>
                    </a:solidFill>
                  </a:tcPr>
                </a:tc>
                <a:tc>
                  <a:txBody>
                    <a:bodyPr/>
                    <a:lstStyle/>
                    <a:p>
                      <a:pPr algn="ctr">
                        <a:defRPr sz="1000">
                          <a:latin typeface="Montserrat"/>
                        </a:defRPr>
                      </a:pPr>
                      <a:r>
                        <a:t>89,232</a:t>
                      </a:r>
                    </a:p>
                  </a:txBody>
                  <a:tcPr marL="0" marR="0" marT="0" marB="0">
                    <a:solidFill>
                      <a:srgbClr val="ECD3D9"/>
                    </a:solidFill>
                  </a:tcPr>
                </a:tc>
                <a:tc>
                  <a:txBody>
                    <a:bodyPr/>
                    <a:lstStyle/>
                    <a:p>
                      <a:pPr algn="ctr">
                        <a:defRPr sz="1000">
                          <a:latin typeface="Montserrat"/>
                        </a:defRPr>
                      </a:pPr>
                      <a:r>
                        <a:t>225,504</a:t>
                      </a:r>
                    </a:p>
                  </a:txBody>
                  <a:tcPr marL="0" marR="0" marT="0" marB="0">
                    <a:solidFill>
                      <a:srgbClr val="ECD3D9"/>
                    </a:solidFill>
                  </a:tcPr>
                </a:tc>
                <a:tc>
                  <a:txBody>
                    <a:bodyPr/>
                    <a:lstStyle/>
                    <a:p>
                      <a:pPr algn="ctr">
                        <a:defRPr sz="1000">
                          <a:latin typeface="Montserrat"/>
                        </a:defRPr>
                      </a:pPr>
                      <a:r>
                        <a:t>39.6%</a:t>
                      </a:r>
                    </a:p>
                  </a:txBody>
                  <a:tcPr marL="0" marR="0" marT="0" marB="0">
                    <a:solidFill>
                      <a:srgbClr val="ECD3D9"/>
                    </a:solidFill>
                  </a:tcPr>
                </a:tc>
              </a:tr>
              <a:tr h="151200">
                <a:tc>
                  <a:txBody>
                    <a:bodyPr/>
                    <a:lstStyle/>
                    <a:p>
                      <a:pPr algn="l">
                        <a:defRPr sz="1000">
                          <a:latin typeface="Montserrat"/>
                        </a:defRPr>
                      </a:pPr>
                      <a:r>
                        <a:t>UMF 81 Cd. Acuña</a:t>
                      </a:r>
                    </a:p>
                  </a:txBody>
                  <a:tcPr marL="0" marR="0" marT="0" marB="0">
                    <a:solidFill>
                      <a:srgbClr val="FFFFFF"/>
                    </a:solidFill>
                  </a:tcPr>
                </a:tc>
                <a:tc>
                  <a:txBody>
                    <a:bodyPr/>
                    <a:lstStyle/>
                    <a:p>
                      <a:pPr algn="ctr">
                        <a:defRPr sz="1000">
                          <a:latin typeface="Montserrat"/>
                        </a:defRPr>
                      </a:pPr>
                      <a:r>
                        <a:t>149,005</a:t>
                      </a:r>
                    </a:p>
                  </a:txBody>
                  <a:tcPr marL="0" marR="0" marT="0" marB="0">
                    <a:solidFill>
                      <a:srgbClr val="FFFFFF"/>
                    </a:solidFill>
                  </a:tcPr>
                </a:tc>
                <a:tc>
                  <a:txBody>
                    <a:bodyPr/>
                    <a:lstStyle/>
                    <a:p>
                      <a:pPr algn="ctr">
                        <a:defRPr sz="1000">
                          <a:latin typeface="Montserrat"/>
                        </a:defRPr>
                      </a:pPr>
                      <a:r>
                        <a:t>-3,040</a:t>
                      </a:r>
                    </a:p>
                  </a:txBody>
                  <a:tcPr marL="0" marR="0" marT="0" marB="0">
                    <a:solidFill>
                      <a:srgbClr val="FFFFFF"/>
                    </a:solidFill>
                  </a:tcPr>
                </a:tc>
                <a:tc>
                  <a:txBody>
                    <a:bodyPr/>
                    <a:lstStyle/>
                    <a:p>
                      <a:pPr algn="ctr">
                        <a:defRPr sz="1000">
                          <a:latin typeface="Montserrat"/>
                        </a:defRPr>
                      </a:pPr>
                      <a:r>
                        <a:t>59,373</a:t>
                      </a:r>
                    </a:p>
                  </a:txBody>
                  <a:tcPr marL="0" marR="0" marT="0" marB="0">
                    <a:solidFill>
                      <a:srgbClr val="ECD3D9"/>
                    </a:solidFill>
                  </a:tcPr>
                </a:tc>
                <a:tc>
                  <a:txBody>
                    <a:bodyPr/>
                    <a:lstStyle/>
                    <a:p>
                      <a:pPr algn="ctr">
                        <a:defRPr sz="1000">
                          <a:latin typeface="Montserrat"/>
                        </a:defRPr>
                      </a:pPr>
                      <a:r>
                        <a:t>150,336</a:t>
                      </a:r>
                    </a:p>
                  </a:txBody>
                  <a:tcPr marL="0" marR="0" marT="0" marB="0">
                    <a:solidFill>
                      <a:srgbClr val="ECD3D9"/>
                    </a:solidFill>
                  </a:tcPr>
                </a:tc>
                <a:tc>
                  <a:txBody>
                    <a:bodyPr/>
                    <a:lstStyle/>
                    <a:p>
                      <a:pPr algn="ctr">
                        <a:defRPr sz="1000">
                          <a:latin typeface="Montserrat"/>
                        </a:defRPr>
                      </a:pPr>
                      <a:r>
                        <a:t>39.5%</a:t>
                      </a:r>
                    </a:p>
                  </a:txBody>
                  <a:tcPr marL="0" marR="0" marT="0" marB="0">
                    <a:solidFill>
                      <a:srgbClr val="ECD3D9"/>
                    </a:solidFill>
                  </a:tcPr>
                </a:tc>
              </a:tr>
              <a:tr h="151200">
                <a:tc>
                  <a:txBody>
                    <a:bodyPr/>
                    <a:lstStyle/>
                    <a:p>
                      <a:pPr algn="l">
                        <a:defRPr sz="1000">
                          <a:latin typeface="Montserrat"/>
                        </a:defRPr>
                      </a:pPr>
                      <a:r>
                        <a:t>UMF 85 Roma</a:t>
                      </a:r>
                    </a:p>
                  </a:txBody>
                  <a:tcPr marL="0" marR="0" marT="0" marB="0">
                    <a:solidFill>
                      <a:srgbClr val="EFEFEF"/>
                    </a:solidFill>
                  </a:tcPr>
                </a:tc>
                <a:tc>
                  <a:txBody>
                    <a:bodyPr/>
                    <a:lstStyle/>
                    <a:p>
                      <a:pPr algn="ctr">
                        <a:defRPr sz="1000">
                          <a:latin typeface="Montserrat"/>
                        </a:defRPr>
                      </a:pPr>
                      <a:r>
                        <a:t>61,613</a:t>
                      </a:r>
                    </a:p>
                  </a:txBody>
                  <a:tcPr marL="0" marR="0" marT="0" marB="0">
                    <a:solidFill>
                      <a:srgbClr val="EFEFEF"/>
                    </a:solidFill>
                  </a:tcPr>
                </a:tc>
                <a:tc>
                  <a:txBody>
                    <a:bodyPr/>
                    <a:lstStyle/>
                    <a:p>
                      <a:pPr algn="ctr">
                        <a:defRPr sz="1000">
                          <a:latin typeface="Montserrat"/>
                        </a:defRPr>
                      </a:pPr>
                      <a:r>
                        <a:t>986</a:t>
                      </a:r>
                    </a:p>
                  </a:txBody>
                  <a:tcPr marL="0" marR="0" marT="0" marB="0">
                    <a:solidFill>
                      <a:srgbClr val="EFEFEF"/>
                    </a:solidFill>
                  </a:tcPr>
                </a:tc>
                <a:tc>
                  <a:txBody>
                    <a:bodyPr/>
                    <a:lstStyle/>
                    <a:p>
                      <a:pPr algn="ctr">
                        <a:defRPr sz="1000">
                          <a:latin typeface="Montserrat"/>
                        </a:defRPr>
                      </a:pPr>
                      <a:r>
                        <a:t>23,670</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37.8%</a:t>
                      </a:r>
                    </a:p>
                  </a:txBody>
                  <a:tcPr marL="0" marR="0" marT="0" marB="0">
                    <a:solidFill>
                      <a:srgbClr val="ECD3D9"/>
                    </a:solidFill>
                  </a:tcPr>
                </a:tc>
              </a:tr>
              <a:tr h="151200">
                <a:tc>
                  <a:txBody>
                    <a:bodyPr/>
                    <a:lstStyle/>
                    <a:p>
                      <a:pPr algn="l">
                        <a:defRPr sz="1000">
                          <a:latin typeface="Montserrat"/>
                        </a:defRPr>
                      </a:pPr>
                      <a:r>
                        <a:t>UMF 84 Monclova</a:t>
                      </a:r>
                    </a:p>
                  </a:txBody>
                  <a:tcPr marL="0" marR="0" marT="0" marB="0">
                    <a:solidFill>
                      <a:srgbClr val="FFFFFF"/>
                    </a:solidFill>
                  </a:tcPr>
                </a:tc>
                <a:tc>
                  <a:txBody>
                    <a:bodyPr/>
                    <a:lstStyle/>
                    <a:p>
                      <a:pPr algn="ctr">
                        <a:defRPr sz="1000">
                          <a:latin typeface="Montserrat"/>
                        </a:defRPr>
                      </a:pPr>
                      <a:r>
                        <a:t>66,235</a:t>
                      </a:r>
                    </a:p>
                  </a:txBody>
                  <a:tcPr marL="0" marR="0" marT="0" marB="0">
                    <a:solidFill>
                      <a:srgbClr val="FFFFFF"/>
                    </a:solidFill>
                  </a:tcPr>
                </a:tc>
                <a:tc>
                  <a:txBody>
                    <a:bodyPr/>
                    <a:lstStyle/>
                    <a:p>
                      <a:pPr algn="ctr">
                        <a:defRPr sz="1000">
                          <a:latin typeface="Montserrat"/>
                        </a:defRPr>
                      </a:pPr>
                      <a:r>
                        <a:t>-806</a:t>
                      </a:r>
                    </a:p>
                  </a:txBody>
                  <a:tcPr marL="0" marR="0" marT="0" marB="0">
                    <a:solidFill>
                      <a:srgbClr val="FFFFFF"/>
                    </a:solidFill>
                  </a:tcPr>
                </a:tc>
                <a:tc>
                  <a:txBody>
                    <a:bodyPr/>
                    <a:lstStyle/>
                    <a:p>
                      <a:pPr algn="ctr">
                        <a:defRPr sz="1000">
                          <a:latin typeface="Montserrat"/>
                        </a:defRPr>
                      </a:pPr>
                      <a:r>
                        <a:t>25,237</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39.4%</a:t>
                      </a:r>
                    </a:p>
                  </a:txBody>
                  <a:tcPr marL="0" marR="0" marT="0" marB="0">
                    <a:solidFill>
                      <a:srgbClr val="ECD3D9"/>
                    </a:solidFill>
                  </a:tcPr>
                </a:tc>
              </a:tr>
              <a:tr h="151200">
                <a:tc>
                  <a:txBody>
                    <a:bodyPr/>
                    <a:lstStyle/>
                    <a:p>
                      <a:pPr algn="l">
                        <a:defRPr sz="1000">
                          <a:latin typeface="Montserrat"/>
                        </a:defRPr>
                      </a:pPr>
                      <a:r>
                        <a:t>UMF 87 INFONAVIT</a:t>
                      </a:r>
                    </a:p>
                  </a:txBody>
                  <a:tcPr marL="0" marR="0" marT="0" marB="0">
                    <a:solidFill>
                      <a:srgbClr val="EFEFEF"/>
                    </a:solidFill>
                  </a:tcPr>
                </a:tc>
                <a:tc>
                  <a:txBody>
                    <a:bodyPr/>
                    <a:lstStyle/>
                    <a:p>
                      <a:pPr algn="ctr">
                        <a:defRPr sz="1000">
                          <a:latin typeface="Montserrat"/>
                        </a:defRPr>
                      </a:pPr>
                      <a:r>
                        <a:t>96,093</a:t>
                      </a:r>
                    </a:p>
                  </a:txBody>
                  <a:tcPr marL="0" marR="0" marT="0" marB="0">
                    <a:solidFill>
                      <a:srgbClr val="EFEFEF"/>
                    </a:solidFill>
                  </a:tcPr>
                </a:tc>
                <a:tc>
                  <a:txBody>
                    <a:bodyPr/>
                    <a:lstStyle/>
                    <a:p>
                      <a:pPr algn="ctr">
                        <a:defRPr sz="1000">
                          <a:latin typeface="Montserrat"/>
                        </a:defRPr>
                      </a:pPr>
                      <a:r>
                        <a:t>-503</a:t>
                      </a:r>
                    </a:p>
                  </a:txBody>
                  <a:tcPr marL="0" marR="0" marT="0" marB="0">
                    <a:solidFill>
                      <a:srgbClr val="EFEFEF"/>
                    </a:solidFill>
                  </a:tcPr>
                </a:tc>
                <a:tc>
                  <a:txBody>
                    <a:bodyPr/>
                    <a:lstStyle/>
                    <a:p>
                      <a:pPr algn="ctr">
                        <a:defRPr sz="1000">
                          <a:latin typeface="Montserrat"/>
                        </a:defRPr>
                      </a:pPr>
                      <a:r>
                        <a:t>38,544</a:t>
                      </a:r>
                    </a:p>
                  </a:txBody>
                  <a:tcPr marL="0" marR="0" marT="0" marB="0">
                    <a:solidFill>
                      <a:srgbClr val="ECD3D9"/>
                    </a:solidFill>
                  </a:tcPr>
                </a:tc>
                <a:tc>
                  <a:txBody>
                    <a:bodyPr/>
                    <a:lstStyle/>
                    <a:p>
                      <a:pPr algn="ctr">
                        <a:defRPr sz="1000">
                          <a:latin typeface="Montserrat"/>
                        </a:defRPr>
                      </a:pPr>
                      <a:r>
                        <a:t>100,224</a:t>
                      </a:r>
                    </a:p>
                  </a:txBody>
                  <a:tcPr marL="0" marR="0" marT="0" marB="0">
                    <a:solidFill>
                      <a:srgbClr val="ECD3D9"/>
                    </a:solidFill>
                  </a:tcPr>
                </a:tc>
                <a:tc>
                  <a:txBody>
                    <a:bodyPr/>
                    <a:lstStyle/>
                    <a:p>
                      <a:pPr algn="ctr">
                        <a:defRPr sz="1000">
                          <a:latin typeface="Montserrat"/>
                        </a:defRPr>
                      </a:pPr>
                      <a:r>
                        <a:t>38.5%</a:t>
                      </a:r>
                    </a:p>
                  </a:txBody>
                  <a:tcPr marL="0" marR="0" marT="0" marB="0">
                    <a:solidFill>
                      <a:srgbClr val="ECD3D9"/>
                    </a:solidFill>
                  </a:tcPr>
                </a:tc>
              </a:tr>
              <a:tr h="151200">
                <a:tc>
                  <a:txBody>
                    <a:bodyPr/>
                    <a:lstStyle/>
                    <a:p>
                      <a:pPr algn="l">
                        <a:defRPr sz="1000">
                          <a:latin typeface="Montserrat"/>
                        </a:defRPr>
                      </a:pPr>
                      <a:r>
                        <a:t>UMF 91 Saltillo</a:t>
                      </a:r>
                    </a:p>
                  </a:txBody>
                  <a:tcPr marL="0" marR="0" marT="0" marB="0">
                    <a:solidFill>
                      <a:srgbClr val="FFFFFF"/>
                    </a:solidFill>
                  </a:tcPr>
                </a:tc>
                <a:tc>
                  <a:txBody>
                    <a:bodyPr/>
                    <a:lstStyle/>
                    <a:p>
                      <a:pPr algn="ctr">
                        <a:defRPr sz="1000">
                          <a:latin typeface="Montserrat"/>
                        </a:defRPr>
                      </a:pPr>
                      <a:r>
                        <a:t>123,242</a:t>
                      </a:r>
                    </a:p>
                  </a:txBody>
                  <a:tcPr marL="0" marR="0" marT="0" marB="0">
                    <a:solidFill>
                      <a:srgbClr val="FFFFFF"/>
                    </a:solidFill>
                  </a:tcPr>
                </a:tc>
                <a:tc>
                  <a:txBody>
                    <a:bodyPr/>
                    <a:lstStyle/>
                    <a:p>
                      <a:pPr algn="ctr">
                        <a:defRPr sz="1000">
                          <a:latin typeface="Montserrat"/>
                        </a:defRPr>
                      </a:pPr>
                      <a:r>
                        <a:t>6,239</a:t>
                      </a:r>
                    </a:p>
                  </a:txBody>
                  <a:tcPr marL="0" marR="0" marT="0" marB="0">
                    <a:solidFill>
                      <a:srgbClr val="FFFFFF"/>
                    </a:solidFill>
                  </a:tcPr>
                </a:tc>
                <a:tc>
                  <a:txBody>
                    <a:bodyPr/>
                    <a:lstStyle/>
                    <a:p>
                      <a:pPr algn="ctr">
                        <a:defRPr sz="1000">
                          <a:latin typeface="Montserrat"/>
                        </a:defRPr>
                      </a:pPr>
                      <a:r>
                        <a:t>49,433</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39.5%</a:t>
                      </a:r>
                    </a:p>
                  </a:txBody>
                  <a:tcPr marL="0" marR="0" marT="0" marB="0">
                    <a:solidFill>
                      <a:srgbClr val="ECD3D9"/>
                    </a:solidFill>
                  </a:tcPr>
                </a:tc>
              </a:tr>
              <a:tr h="151200">
                <a:tc>
                  <a:txBody>
                    <a:bodyPr/>
                    <a:lstStyle/>
                    <a:p>
                      <a:pPr algn="l">
                        <a:defRPr sz="1000">
                          <a:latin typeface="Montserrat"/>
                        </a:defRPr>
                      </a:pPr>
                      <a:r>
                        <a:t>UMF 93 </a:t>
                      </a:r>
                    </a:p>
                  </a:txBody>
                  <a:tcPr marL="0" marR="0" marT="0" marB="0">
                    <a:solidFill>
                      <a:srgbClr val="EFEFEF"/>
                    </a:solidFill>
                  </a:tcPr>
                </a:tc>
                <a:tc>
                  <a:txBody>
                    <a:bodyPr/>
                    <a:lstStyle/>
                    <a:p>
                      <a:pPr algn="ctr">
                        <a:defRPr sz="1000">
                          <a:latin typeface="Montserrat"/>
                        </a:defRPr>
                      </a:pPr>
                      <a:r>
                        <a:t>75,709</a:t>
                      </a:r>
                    </a:p>
                  </a:txBody>
                  <a:tcPr marL="0" marR="0" marT="0" marB="0">
                    <a:solidFill>
                      <a:srgbClr val="EFEFEF"/>
                    </a:solidFill>
                  </a:tcPr>
                </a:tc>
                <a:tc>
                  <a:txBody>
                    <a:bodyPr/>
                    <a:lstStyle/>
                    <a:p>
                      <a:pPr algn="ctr">
                        <a:defRPr sz="1000">
                          <a:latin typeface="Montserrat"/>
                        </a:defRPr>
                      </a:pPr>
                      <a:r>
                        <a:t>75,709</a:t>
                      </a:r>
                    </a:p>
                  </a:txBody>
                  <a:tcPr marL="0" marR="0" marT="0" marB="0">
                    <a:solidFill>
                      <a:srgbClr val="EFEFEF"/>
                    </a:solidFill>
                  </a:tcPr>
                </a:tc>
                <a:tc>
                  <a:txBody>
                    <a:bodyPr/>
                    <a:lstStyle/>
                    <a:p>
                      <a:pPr algn="ctr">
                        <a:defRPr sz="1000">
                          <a:latin typeface="Montserrat"/>
                        </a:defRPr>
                      </a:pPr>
                      <a:r>
                        <a:t>47,913</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38.2%</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1,766,279</a:t>
                      </a:r>
                    </a:p>
                  </a:txBody>
                  <a:tcPr marL="0" marR="0" marT="0" marB="0">
                    <a:solidFill>
                      <a:srgbClr val="D3E9E7"/>
                    </a:solidFill>
                  </a:tcPr>
                </a:tc>
                <a:tc>
                  <a:txBody>
                    <a:bodyPr/>
                    <a:lstStyle/>
                    <a:p>
                      <a:pPr algn="ctr">
                        <a:defRPr sz="1000" b="1">
                          <a:solidFill>
                            <a:srgbClr val="006556"/>
                          </a:solidFill>
                          <a:latin typeface="Montserrat"/>
                        </a:defRPr>
                      </a:pPr>
                      <a:r>
                        <a:t>108,911</a:t>
                      </a:r>
                    </a:p>
                  </a:txBody>
                  <a:tcPr marL="0" marR="0" marT="0" marB="0">
                    <a:solidFill>
                      <a:srgbClr val="D3E9E7"/>
                    </a:solidFill>
                  </a:tcPr>
                </a:tc>
                <a:tc>
                  <a:txBody>
                    <a:bodyPr/>
                    <a:lstStyle/>
                    <a:p>
                      <a:pPr algn="ctr">
                        <a:defRPr sz="1000" b="1">
                          <a:solidFill>
                            <a:srgbClr val="FFFFFF"/>
                          </a:solidFill>
                          <a:latin typeface="Montserrat"/>
                        </a:defRPr>
                      </a:pPr>
                      <a:r>
                        <a:t>721,670</a:t>
                      </a:r>
                    </a:p>
                  </a:txBody>
                  <a:tcPr marL="0" marR="0" marT="0" marB="0">
                    <a:solidFill>
                      <a:srgbClr val="9F2241"/>
                    </a:solidFill>
                  </a:tcPr>
                </a:tc>
                <a:tc>
                  <a:txBody>
                    <a:bodyPr/>
                    <a:lstStyle/>
                    <a:p>
                      <a:pPr algn="ctr">
                        <a:defRPr sz="1000" b="1">
                          <a:solidFill>
                            <a:srgbClr val="FFFFFF"/>
                          </a:solidFill>
                          <a:latin typeface="Montserrat"/>
                        </a:defRPr>
                      </a:pPr>
                      <a:r>
                        <a:t>1,878,544</a:t>
                      </a:r>
                    </a:p>
                  </a:txBody>
                  <a:tcPr marL="0" marR="0" marT="0" marB="0">
                    <a:solidFill>
                      <a:srgbClr val="9F2241"/>
                    </a:solidFill>
                  </a:tcPr>
                </a:tc>
                <a:tc>
                  <a:txBody>
                    <a:bodyPr/>
                    <a:lstStyle/>
                    <a:p>
                      <a:pPr algn="ctr">
                        <a:defRPr sz="1000" b="1">
                          <a:solidFill>
                            <a:srgbClr val="FFFFFF"/>
                          </a:solidFill>
                          <a:latin typeface="Montserrat"/>
                        </a:defRPr>
                      </a:pPr>
                      <a:r>
                        <a:t>38.4%</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75528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8272800"/>
            <a:ext cx="1800000" cy="360000"/>
          </a:xfrm>
          <a:prstGeom prst="rect">
            <a:avLst/>
          </a:prstGeom>
          <a:noFill/>
        </p:spPr>
        <p:txBody>
          <a:bodyPr wrap="none">
            <a:spAutoFit/>
          </a:bodyPr>
          <a:lstStyle/>
          <a:p>
            <a:pPr algn="ctr"/>
            <a:r>
              <a:rPr sz="2400" b="1">
                <a:solidFill>
                  <a:srgbClr val="9F2241"/>
                </a:solidFill>
                <a:latin typeface="Montserrat"/>
              </a:rPr>
              <a:t>38.4%</a:t>
            </a:r>
          </a:p>
        </p:txBody>
      </p:sp>
      <p:sp>
        <p:nvSpPr>
          <p:cNvPr id="11" name="TextBox 10"/>
          <p:cNvSpPr txBox="1"/>
          <p:nvPr/>
        </p:nvSpPr>
        <p:spPr>
          <a:xfrm>
            <a:off x="4780800" y="91728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7552800"/>
            <a:ext cx="2854800" cy="1198800"/>
          </a:xfrm>
          <a:prstGeom prst="rect">
            <a:avLst/>
          </a:prstGeom>
          <a:noFill/>
        </p:spPr>
        <p:txBody>
          <a:bodyPr wrap="square">
            <a:spAutoFit/>
          </a:bodyPr>
          <a:lstStyle/>
          <a:p>
            <a:pPr algn="ctr">
              <a:defRPr sz="3600" b="1">
                <a:solidFill>
                  <a:srgbClr val="9F2241"/>
                </a:solidFill>
                <a:latin typeface="Montserrat"/>
              </a:defRPr>
            </a:pPr>
            <a:r>
              <a:t>1,878,544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1" name="CuadroTexto 10">
            <a:extLst>
              <a:ext uri="{FF2B5EF4-FFF2-40B4-BE49-F238E27FC236}">
                <a16:creationId xmlns:a16="http://schemas.microsoft.com/office/drawing/2014/main" id="{F0DCF302-2907-56E8-606C-7F21E9D471F3}"/>
              </a:ext>
            </a:extLst>
          </p:cNvPr>
          <p:cNvSpPr txBox="1"/>
          <p:nvPr/>
        </p:nvSpPr>
        <p:spPr>
          <a:xfrm>
            <a:off x="4229690" y="5163865"/>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4 Nuevas UMTC con   8 consultorios</a:t>
            </a:r>
          </a:p>
        </p:txBody>
      </p:sp>
      <p:graphicFrame>
        <p:nvGraphicFramePr>
          <p:cNvPr id="12" name="Tabla 11">
            <a:extLst>
              <a:ext uri="{FF2B5EF4-FFF2-40B4-BE49-F238E27FC236}">
                <a16:creationId xmlns:a16="http://schemas.microsoft.com/office/drawing/2014/main" id="{C5698DFF-0C68-FECC-333B-331C3D3BDE3B}"/>
              </a:ext>
            </a:extLst>
          </p:cNvPr>
          <p:cNvGraphicFramePr>
            <a:graphicFrameLocks noGrp="1"/>
          </p:cNvGraphicFramePr>
          <p:nvPr>
            <p:extLst>
              <p:ext uri="{D42A27DB-BD31-4B8C-83A1-F6EECF244321}">
                <p14:modId xmlns:p14="http://schemas.microsoft.com/office/powerpoint/2010/main" val="2413473224"/>
              </p:ext>
            </p:extLst>
          </p:nvPr>
        </p:nvGraphicFramePr>
        <p:xfrm>
          <a:off x="4684419" y="6448694"/>
          <a:ext cx="2808830" cy="130873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3  Ramos Arizpe</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91 Saltillo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81 Cd Acuña</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9 Villa Frontera</a:t>
                      </a: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3" name="TextBox 1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14" name="TextBox 1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39 Unidades de Medicina Familiar</a:t>
            </a:r>
          </a:p>
        </p:txBody>
      </p:sp>
      <p:sp>
        <p:nvSpPr>
          <p:cNvPr id="15" name="TextBox 1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7 Unidades Médicas de tiempo completo (29 consultorios)</a:t>
            </a:r>
          </a:p>
        </p:txBody>
      </p:sp>
      <p:sp>
        <p:nvSpPr>
          <p:cNvPr id="16" name="TextBox 1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7" name="Connector 1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19" name="TextBox 18"/>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(145,548 consultas)</a:t>
            </a:r>
          </a:p>
        </p:txBody>
      </p:sp>
      <p:graphicFrame>
        <p:nvGraphicFramePr>
          <p:cNvPr id="20" name="Table 19"/>
          <p:cNvGraphicFramePr>
            <a:graphicFrameLocks noGrp="1"/>
          </p:cNvGraphicFramePr>
          <p:nvPr/>
        </p:nvGraphicFramePr>
        <p:xfrm>
          <a:off x="151200" y="1695600"/>
          <a:ext cx="7473599" cy="1360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66 Torreón</a:t>
                      </a:r>
                    </a:p>
                  </a:txBody>
                  <a:tcPr marL="0" marR="0" marT="0" marB="0">
                    <a:solidFill>
                      <a:srgbClr val="FFFFFF"/>
                    </a:solidFill>
                  </a:tcPr>
                </a:tc>
                <a:tc>
                  <a:txBody>
                    <a:bodyPr/>
                    <a:lstStyle/>
                    <a:p>
                      <a:pPr algn="ctr">
                        <a:defRPr sz="1000">
                          <a:solidFill>
                            <a:srgbClr val="000000"/>
                          </a:solidFill>
                          <a:latin typeface="Montserrat"/>
                        </a:defRPr>
                      </a:pPr>
                      <a:r>
                        <a:t>290,295</a:t>
                      </a:r>
                    </a:p>
                  </a:txBody>
                  <a:tcPr marL="0" marR="0" marT="0" marB="0">
                    <a:solidFill>
                      <a:srgbClr val="FFFFFF"/>
                    </a:solidFill>
                  </a:tcPr>
                </a:tc>
                <a:tc>
                  <a:txBody>
                    <a:bodyPr/>
                    <a:lstStyle/>
                    <a:p>
                      <a:pPr algn="ctr">
                        <a:defRPr sz="1000">
                          <a:solidFill>
                            <a:srgbClr val="000000"/>
                          </a:solidFill>
                          <a:latin typeface="Montserrat"/>
                        </a:defRPr>
                      </a:pPr>
                      <a:r>
                        <a:t>-3,877</a:t>
                      </a:r>
                    </a:p>
                  </a:txBody>
                  <a:tcPr marL="0" marR="0" marT="0" marB="0">
                    <a:solidFill>
                      <a:srgbClr val="FFFFFF"/>
                    </a:solidFill>
                  </a:tcPr>
                </a:tc>
                <a:tc>
                  <a:txBody>
                    <a:bodyPr/>
                    <a:lstStyle/>
                    <a:p>
                      <a:pPr algn="ctr">
                        <a:defRPr sz="1000">
                          <a:solidFill>
                            <a:srgbClr val="000000"/>
                          </a:solidFill>
                          <a:latin typeface="Montserrat"/>
                        </a:defRPr>
                      </a:pPr>
                      <a:r>
                        <a:t>113,727</a:t>
                      </a:r>
                    </a:p>
                  </a:txBody>
                  <a:tcPr marL="0" marR="0" marT="0" marB="0">
                    <a:solidFill>
                      <a:srgbClr val="ECD3D9"/>
                    </a:solidFill>
                  </a:tcPr>
                </a:tc>
                <a:tc>
                  <a:txBody>
                    <a:bodyPr/>
                    <a:lstStyle/>
                    <a:p>
                      <a:pPr algn="ctr">
                        <a:defRPr sz="1000">
                          <a:solidFill>
                            <a:srgbClr val="000000"/>
                          </a:solidFill>
                          <a:latin typeface="Montserrat"/>
                        </a:defRPr>
                      </a:pPr>
                      <a:r>
                        <a:t>282,000</a:t>
                      </a:r>
                    </a:p>
                  </a:txBody>
                  <a:tcPr marL="0" marR="0" marT="0" marB="0">
                    <a:solidFill>
                      <a:srgbClr val="ECD3D9"/>
                    </a:solidFill>
                  </a:tcPr>
                </a:tc>
                <a:tc>
                  <a:txBody>
                    <a:bodyPr/>
                    <a:lstStyle/>
                    <a:p>
                      <a:pPr algn="ctr">
                        <a:defRPr sz="1000">
                          <a:solidFill>
                            <a:srgbClr val="000000"/>
                          </a:solidFill>
                          <a:latin typeface="Montserrat"/>
                        </a:defRPr>
                      </a:pPr>
                      <a:r>
                        <a:t>40.3%</a:t>
                      </a:r>
                    </a:p>
                  </a:txBody>
                  <a:tcPr marL="0" marR="0" marT="0" marB="0">
                    <a:solidFill>
                      <a:srgbClr val="ECD3D9"/>
                    </a:solidFill>
                  </a:tcPr>
                </a:tc>
              </a:tr>
              <a:tr h="151200">
                <a:tc>
                  <a:txBody>
                    <a:bodyPr/>
                    <a:lstStyle/>
                    <a:p>
                      <a:pPr algn="l">
                        <a:defRPr sz="1000">
                          <a:solidFill>
                            <a:srgbClr val="000000"/>
                          </a:solidFill>
                          <a:latin typeface="Montserrat"/>
                        </a:defRPr>
                      </a:pPr>
                      <a:r>
                        <a:t>UMF 83 Matamoros</a:t>
                      </a:r>
                    </a:p>
                  </a:txBody>
                  <a:tcPr marL="0" marR="0" marT="0" marB="0">
                    <a:solidFill>
                      <a:srgbClr val="EFEFEF"/>
                    </a:solidFill>
                  </a:tcPr>
                </a:tc>
                <a:tc>
                  <a:txBody>
                    <a:bodyPr/>
                    <a:lstStyle/>
                    <a:p>
                      <a:pPr algn="ctr">
                        <a:defRPr sz="1000">
                          <a:solidFill>
                            <a:srgbClr val="000000"/>
                          </a:solidFill>
                          <a:latin typeface="Montserrat"/>
                        </a:defRPr>
                      </a:pPr>
                      <a:r>
                        <a:t>87,581</a:t>
                      </a:r>
                    </a:p>
                  </a:txBody>
                  <a:tcPr marL="0" marR="0" marT="0" marB="0">
                    <a:solidFill>
                      <a:srgbClr val="EFEFEF"/>
                    </a:solidFill>
                  </a:tcPr>
                </a:tc>
                <a:tc>
                  <a:txBody>
                    <a:bodyPr/>
                    <a:lstStyle/>
                    <a:p>
                      <a:pPr algn="ctr">
                        <a:defRPr sz="1000">
                          <a:solidFill>
                            <a:srgbClr val="000000"/>
                          </a:solidFill>
                          <a:latin typeface="Montserrat"/>
                        </a:defRPr>
                      </a:pPr>
                      <a:r>
                        <a:t>6,242</a:t>
                      </a:r>
                    </a:p>
                  </a:txBody>
                  <a:tcPr marL="0" marR="0" marT="0" marB="0">
                    <a:solidFill>
                      <a:srgbClr val="EFEFEF"/>
                    </a:solidFill>
                  </a:tcPr>
                </a:tc>
                <a:tc>
                  <a:txBody>
                    <a:bodyPr/>
                    <a:lstStyle/>
                    <a:p>
                      <a:pPr algn="ctr">
                        <a:defRPr sz="1000">
                          <a:solidFill>
                            <a:srgbClr val="000000"/>
                          </a:solidFill>
                          <a:latin typeface="Montserrat"/>
                        </a:defRPr>
                      </a:pPr>
                      <a:r>
                        <a:t>34,818</a:t>
                      </a:r>
                    </a:p>
                  </a:txBody>
                  <a:tcPr marL="0" marR="0" marT="0" marB="0">
                    <a:solidFill>
                      <a:srgbClr val="ECD3D9"/>
                    </a:solidFill>
                  </a:tcPr>
                </a:tc>
                <a:tc>
                  <a:txBody>
                    <a:bodyPr/>
                    <a:lstStyle/>
                    <a:p>
                      <a:pPr algn="ctr">
                        <a:defRPr sz="1000">
                          <a:solidFill>
                            <a:srgbClr val="000000"/>
                          </a:solidFill>
                          <a:latin typeface="Montserrat"/>
                        </a:defRPr>
                      </a:pPr>
                      <a:r>
                        <a:t>85,000</a:t>
                      </a:r>
                    </a:p>
                  </a:txBody>
                  <a:tcPr marL="0" marR="0" marT="0" marB="0">
                    <a:solidFill>
                      <a:srgbClr val="ECD3D9"/>
                    </a:solidFill>
                  </a:tcPr>
                </a:tc>
                <a:tc>
                  <a:txBody>
                    <a:bodyPr/>
                    <a:lstStyle/>
                    <a:p>
                      <a:pPr algn="ctr">
                        <a:defRPr sz="1000">
                          <a:solidFill>
                            <a:srgbClr val="000000"/>
                          </a:solidFill>
                          <a:latin typeface="Montserrat"/>
                        </a:defRPr>
                      </a:pPr>
                      <a:r>
                        <a:t>41.0%</a:t>
                      </a:r>
                    </a:p>
                  </a:txBody>
                  <a:tcPr marL="0" marR="0" marT="0" marB="0">
                    <a:solidFill>
                      <a:srgbClr val="ECD3D9"/>
                    </a:solidFill>
                  </a:tcPr>
                </a:tc>
              </a:tr>
              <a:tr h="151200">
                <a:tc>
                  <a:txBody>
                    <a:bodyPr/>
                    <a:lstStyle/>
                    <a:p>
                      <a:pPr algn="l">
                        <a:defRPr sz="1000">
                          <a:solidFill>
                            <a:srgbClr val="000000"/>
                          </a:solidFill>
                          <a:latin typeface="Montserrat"/>
                        </a:defRPr>
                      </a:pPr>
                      <a:r>
                        <a:t>UMF 73 Saltillo</a:t>
                      </a:r>
                    </a:p>
                  </a:txBody>
                  <a:tcPr marL="0" marR="0" marT="0" marB="0">
                    <a:solidFill>
                      <a:srgbClr val="FFFFFF"/>
                    </a:solidFill>
                  </a:tcPr>
                </a:tc>
                <a:tc>
                  <a:txBody>
                    <a:bodyPr/>
                    <a:lstStyle/>
                    <a:p>
                      <a:pPr algn="ctr">
                        <a:defRPr sz="1000">
                          <a:solidFill>
                            <a:srgbClr val="000000"/>
                          </a:solidFill>
                          <a:latin typeface="Montserrat"/>
                        </a:defRPr>
                      </a:pPr>
                      <a:r>
                        <a:t>266,269</a:t>
                      </a:r>
                    </a:p>
                  </a:txBody>
                  <a:tcPr marL="0" marR="0" marT="0" marB="0">
                    <a:solidFill>
                      <a:srgbClr val="FFFFFF"/>
                    </a:solidFill>
                  </a:tcPr>
                </a:tc>
                <a:tc>
                  <a:txBody>
                    <a:bodyPr/>
                    <a:lstStyle/>
                    <a:p>
                      <a:pPr algn="ctr">
                        <a:defRPr sz="1000">
                          <a:solidFill>
                            <a:srgbClr val="000000"/>
                          </a:solidFill>
                          <a:latin typeface="Montserrat"/>
                        </a:defRPr>
                      </a:pPr>
                      <a:r>
                        <a:t>10,561</a:t>
                      </a:r>
                    </a:p>
                  </a:txBody>
                  <a:tcPr marL="0" marR="0" marT="0" marB="0">
                    <a:solidFill>
                      <a:srgbClr val="FFFFFF"/>
                    </a:solidFill>
                  </a:tcPr>
                </a:tc>
                <a:tc>
                  <a:txBody>
                    <a:bodyPr/>
                    <a:lstStyle/>
                    <a:p>
                      <a:pPr algn="ctr">
                        <a:defRPr sz="1000">
                          <a:solidFill>
                            <a:srgbClr val="000000"/>
                          </a:solidFill>
                          <a:latin typeface="Montserrat"/>
                        </a:defRPr>
                      </a:pPr>
                      <a:r>
                        <a:t>108,200</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39.3%</a:t>
                      </a:r>
                    </a:p>
                  </a:txBody>
                  <a:tcPr marL="0" marR="0" marT="0" marB="0">
                    <a:solidFill>
                      <a:srgbClr val="ECD3D9"/>
                    </a:solidFill>
                  </a:tcPr>
                </a:tc>
              </a:tr>
              <a:tr h="151200">
                <a:tc>
                  <a:txBody>
                    <a:bodyPr/>
                    <a:lstStyle/>
                    <a:p>
                      <a:pPr algn="l">
                        <a:defRPr sz="1000">
                          <a:solidFill>
                            <a:srgbClr val="000000"/>
                          </a:solidFill>
                          <a:latin typeface="Montserrat"/>
                        </a:defRPr>
                      </a:pPr>
                      <a:r>
                        <a:t>UMF 82 Urdiñola</a:t>
                      </a:r>
                    </a:p>
                  </a:txBody>
                  <a:tcPr marL="0" marR="0" marT="0" marB="0">
                    <a:solidFill>
                      <a:srgbClr val="EFEFEF"/>
                    </a:solidFill>
                  </a:tcPr>
                </a:tc>
                <a:tc>
                  <a:txBody>
                    <a:bodyPr/>
                    <a:lstStyle/>
                    <a:p>
                      <a:pPr algn="ctr">
                        <a:defRPr sz="1000">
                          <a:solidFill>
                            <a:srgbClr val="000000"/>
                          </a:solidFill>
                          <a:latin typeface="Montserrat"/>
                        </a:defRPr>
                      </a:pPr>
                      <a:r>
                        <a:t>276,484</a:t>
                      </a:r>
                    </a:p>
                  </a:txBody>
                  <a:tcPr marL="0" marR="0" marT="0" marB="0">
                    <a:solidFill>
                      <a:srgbClr val="EFEFEF"/>
                    </a:solidFill>
                  </a:tcPr>
                </a:tc>
                <a:tc>
                  <a:txBody>
                    <a:bodyPr/>
                    <a:lstStyle/>
                    <a:p>
                      <a:pPr algn="ctr">
                        <a:defRPr sz="1000">
                          <a:solidFill>
                            <a:srgbClr val="000000"/>
                          </a:solidFill>
                          <a:latin typeface="Montserrat"/>
                        </a:defRPr>
                      </a:pPr>
                      <a:r>
                        <a:t>15,242</a:t>
                      </a:r>
                    </a:p>
                  </a:txBody>
                  <a:tcPr marL="0" marR="0" marT="0" marB="0">
                    <a:solidFill>
                      <a:srgbClr val="EFEFEF"/>
                    </a:solidFill>
                  </a:tcPr>
                </a:tc>
                <a:tc>
                  <a:txBody>
                    <a:bodyPr/>
                    <a:lstStyle/>
                    <a:p>
                      <a:pPr algn="ctr">
                        <a:defRPr sz="1000">
                          <a:solidFill>
                            <a:srgbClr val="000000"/>
                          </a:solidFill>
                          <a:latin typeface="Montserrat"/>
                        </a:defRPr>
                      </a:pPr>
                      <a:r>
                        <a:t>112,290</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40.8%</a:t>
                      </a:r>
                    </a:p>
                  </a:txBody>
                  <a:tcPr marL="0" marR="0" marT="0" marB="0">
                    <a:solidFill>
                      <a:srgbClr val="ECD3D9"/>
                    </a:solidFill>
                  </a:tcPr>
                </a:tc>
              </a:tr>
              <a:tr h="151200">
                <a:tc>
                  <a:txBody>
                    <a:bodyPr/>
                    <a:lstStyle/>
                    <a:p>
                      <a:pPr algn="l">
                        <a:defRPr sz="1000">
                          <a:solidFill>
                            <a:srgbClr val="000000"/>
                          </a:solidFill>
                          <a:latin typeface="Montserrat"/>
                        </a:defRPr>
                      </a:pPr>
                      <a:r>
                        <a:t>UMF 86 Monclova</a:t>
                      </a:r>
                    </a:p>
                  </a:txBody>
                  <a:tcPr marL="0" marR="0" marT="0" marB="0">
                    <a:solidFill>
                      <a:srgbClr val="FFFFFF"/>
                    </a:solidFill>
                  </a:tcPr>
                </a:tc>
                <a:tc>
                  <a:txBody>
                    <a:bodyPr/>
                    <a:lstStyle/>
                    <a:p>
                      <a:pPr algn="ctr">
                        <a:defRPr sz="1000">
                          <a:solidFill>
                            <a:srgbClr val="000000"/>
                          </a:solidFill>
                          <a:latin typeface="Montserrat"/>
                        </a:defRPr>
                      </a:pPr>
                      <a:r>
                        <a:t>73,239</a:t>
                      </a:r>
                    </a:p>
                  </a:txBody>
                  <a:tcPr marL="0" marR="0" marT="0" marB="0">
                    <a:solidFill>
                      <a:srgbClr val="FFFFFF"/>
                    </a:solidFill>
                  </a:tcPr>
                </a:tc>
                <a:tc>
                  <a:txBody>
                    <a:bodyPr/>
                    <a:lstStyle/>
                    <a:p>
                      <a:pPr algn="ctr">
                        <a:defRPr sz="1000">
                          <a:solidFill>
                            <a:srgbClr val="000000"/>
                          </a:solidFill>
                          <a:latin typeface="Montserrat"/>
                        </a:defRPr>
                      </a:pPr>
                      <a:r>
                        <a:t>10,059</a:t>
                      </a:r>
                    </a:p>
                  </a:txBody>
                  <a:tcPr marL="0" marR="0" marT="0" marB="0">
                    <a:solidFill>
                      <a:srgbClr val="FFFFFF"/>
                    </a:solidFill>
                  </a:tcPr>
                </a:tc>
                <a:tc>
                  <a:txBody>
                    <a:bodyPr/>
                    <a:lstStyle/>
                    <a:p>
                      <a:pPr algn="ctr">
                        <a:defRPr sz="1000">
                          <a:solidFill>
                            <a:srgbClr val="000000"/>
                          </a:solidFill>
                          <a:latin typeface="Montserrat"/>
                        </a:defRPr>
                      </a:pPr>
                      <a:r>
                        <a:t>28,572</a:t>
                      </a:r>
                    </a:p>
                  </a:txBody>
                  <a:tcPr marL="0" marR="0" marT="0" marB="0">
                    <a:solidFill>
                      <a:srgbClr val="ECD3D9"/>
                    </a:solidFill>
                  </a:tcPr>
                </a:tc>
                <a:tc>
                  <a:txBody>
                    <a:bodyPr/>
                    <a:lstStyle/>
                    <a:p>
                      <a:pPr algn="ctr">
                        <a:defRPr sz="1000">
                          <a:solidFill>
                            <a:srgbClr val="000000"/>
                          </a:solidFill>
                          <a:latin typeface="Montserrat"/>
                        </a:defRPr>
                      </a:pPr>
                      <a:r>
                        <a:t>71,000</a:t>
                      </a:r>
                    </a:p>
                  </a:txBody>
                  <a:tcPr marL="0" marR="0" marT="0" marB="0">
                    <a:solidFill>
                      <a:srgbClr val="ECD3D9"/>
                    </a:solidFill>
                  </a:tcPr>
                </a:tc>
                <a:tc>
                  <a:txBody>
                    <a:bodyPr/>
                    <a:lstStyle/>
                    <a:p>
                      <a:pPr algn="ctr">
                        <a:defRPr sz="1000">
                          <a:solidFill>
                            <a:srgbClr val="000000"/>
                          </a:solidFill>
                          <a:latin typeface="Montserrat"/>
                        </a:defRPr>
                      </a:pPr>
                      <a:r>
                        <a:t>40.2%</a:t>
                      </a:r>
                    </a:p>
                  </a:txBody>
                  <a:tcPr marL="0" marR="0" marT="0" marB="0">
                    <a:solidFill>
                      <a:srgbClr val="ECD3D9"/>
                    </a:solidFill>
                  </a:tcPr>
                </a:tc>
              </a:tr>
              <a:tr h="151200">
                <a:tc>
                  <a:txBody>
                    <a:bodyPr/>
                    <a:lstStyle/>
                    <a:p>
                      <a:pPr algn="l">
                        <a:defRPr sz="1000">
                          <a:solidFill>
                            <a:srgbClr val="000000"/>
                          </a:solidFill>
                          <a:latin typeface="Montserrat"/>
                        </a:defRPr>
                      </a:pPr>
                      <a:r>
                        <a:t>UMF 88 Ramos Arizpe</a:t>
                      </a:r>
                    </a:p>
                  </a:txBody>
                  <a:tcPr marL="0" marR="0" marT="0" marB="0">
                    <a:solidFill>
                      <a:srgbClr val="EFEFEF"/>
                    </a:solidFill>
                  </a:tcPr>
                </a:tc>
                <a:tc>
                  <a:txBody>
                    <a:bodyPr/>
                    <a:lstStyle/>
                    <a:p>
                      <a:pPr algn="ctr">
                        <a:defRPr sz="1000">
                          <a:solidFill>
                            <a:srgbClr val="000000"/>
                          </a:solidFill>
                          <a:latin typeface="Montserrat"/>
                        </a:defRPr>
                      </a:pPr>
                      <a:r>
                        <a:t>75,639</a:t>
                      </a:r>
                    </a:p>
                  </a:txBody>
                  <a:tcPr marL="0" marR="0" marT="0" marB="0">
                    <a:solidFill>
                      <a:srgbClr val="EFEFEF"/>
                    </a:solidFill>
                  </a:tcPr>
                </a:tc>
                <a:tc>
                  <a:txBody>
                    <a:bodyPr/>
                    <a:lstStyle/>
                    <a:p>
                      <a:pPr algn="ctr">
                        <a:defRPr sz="1000">
                          <a:solidFill>
                            <a:srgbClr val="000000"/>
                          </a:solidFill>
                          <a:latin typeface="Montserrat"/>
                        </a:defRPr>
                      </a:pPr>
                      <a:r>
                        <a:t>9,269</a:t>
                      </a:r>
                    </a:p>
                  </a:txBody>
                  <a:tcPr marL="0" marR="0" marT="0" marB="0">
                    <a:solidFill>
                      <a:srgbClr val="EFEFEF"/>
                    </a:solidFill>
                  </a:tcPr>
                </a:tc>
                <a:tc>
                  <a:txBody>
                    <a:bodyPr/>
                    <a:lstStyle/>
                    <a:p>
                      <a:pPr algn="ctr">
                        <a:defRPr sz="1000">
                          <a:solidFill>
                            <a:srgbClr val="000000"/>
                          </a:solidFill>
                          <a:latin typeface="Montserrat"/>
                        </a:defRPr>
                      </a:pPr>
                      <a:r>
                        <a:t>30,661</a:t>
                      </a:r>
                    </a:p>
                  </a:txBody>
                  <a:tcPr marL="0" marR="0" marT="0" marB="0">
                    <a:solidFill>
                      <a:srgbClr val="ECD3D9"/>
                    </a:solidFill>
                  </a:tcPr>
                </a:tc>
                <a:tc>
                  <a:txBody>
                    <a:bodyPr/>
                    <a:lstStyle/>
                    <a:p>
                      <a:pPr algn="ctr">
                        <a:defRPr sz="1000">
                          <a:solidFill>
                            <a:srgbClr val="000000"/>
                          </a:solidFill>
                          <a:latin typeface="Montserrat"/>
                        </a:defRPr>
                      </a:pPr>
                      <a:r>
                        <a:t>74,000</a:t>
                      </a:r>
                    </a:p>
                  </a:txBody>
                  <a:tcPr marL="0" marR="0" marT="0" marB="0">
                    <a:solidFill>
                      <a:srgbClr val="ECD3D9"/>
                    </a:solidFill>
                  </a:tcPr>
                </a:tc>
                <a:tc>
                  <a:txBody>
                    <a:bodyPr/>
                    <a:lstStyle/>
                    <a:p>
                      <a:pPr algn="ctr">
                        <a:defRPr sz="1000">
                          <a:solidFill>
                            <a:srgbClr val="000000"/>
                          </a:solidFill>
                          <a:latin typeface="Montserrat"/>
                        </a:defRPr>
                      </a:pPr>
                      <a:r>
                        <a:t>41.4%</a:t>
                      </a:r>
                    </a:p>
                  </a:txBody>
                  <a:tcPr marL="0" marR="0" marT="0" marB="0">
                    <a:solidFill>
                      <a:srgbClr val="ECD3D9"/>
                    </a:solidFill>
                  </a:tcPr>
                </a:tc>
              </a:tr>
              <a:tr h="151200">
                <a:tc>
                  <a:txBody>
                    <a:bodyPr/>
                    <a:lstStyle/>
                    <a:p>
                      <a:pPr algn="l">
                        <a:defRPr sz="1000">
                          <a:solidFill>
                            <a:srgbClr val="000000"/>
                          </a:solidFill>
                          <a:latin typeface="Montserrat"/>
                        </a:defRPr>
                      </a:pPr>
                      <a:r>
                        <a:t>UMF-UMAA 89 Saltillo</a:t>
                      </a:r>
                    </a:p>
                  </a:txBody>
                  <a:tcPr marL="0" marR="0" marT="0" marB="0">
                    <a:solidFill>
                      <a:srgbClr val="FFFFFF"/>
                    </a:solidFill>
                  </a:tcPr>
                </a:tc>
                <a:tc>
                  <a:txBody>
                    <a:bodyPr/>
                    <a:lstStyle/>
                    <a:p>
                      <a:pPr algn="ctr">
                        <a:defRPr sz="1000">
                          <a:solidFill>
                            <a:srgbClr val="000000"/>
                          </a:solidFill>
                          <a:latin typeface="Montserrat"/>
                        </a:defRPr>
                      </a:pPr>
                      <a:r>
                        <a:t>147,891</a:t>
                      </a:r>
                    </a:p>
                  </a:txBody>
                  <a:tcPr marL="0" marR="0" marT="0" marB="0">
                    <a:solidFill>
                      <a:srgbClr val="FFFFFF"/>
                    </a:solidFill>
                  </a:tcPr>
                </a:tc>
                <a:tc>
                  <a:txBody>
                    <a:bodyPr/>
                    <a:lstStyle/>
                    <a:p>
                      <a:pPr algn="ctr">
                        <a:defRPr sz="1000">
                          <a:solidFill>
                            <a:srgbClr val="000000"/>
                          </a:solidFill>
                          <a:latin typeface="Montserrat"/>
                        </a:defRPr>
                      </a:pPr>
                      <a:r>
                        <a:t>6,915</a:t>
                      </a:r>
                    </a:p>
                  </a:txBody>
                  <a:tcPr marL="0" marR="0" marT="0" marB="0">
                    <a:solidFill>
                      <a:srgbClr val="FFFFFF"/>
                    </a:solidFill>
                  </a:tcPr>
                </a:tc>
                <a:tc>
                  <a:txBody>
                    <a:bodyPr/>
                    <a:lstStyle/>
                    <a:p>
                      <a:pPr algn="ctr">
                        <a:defRPr sz="1000">
                          <a:solidFill>
                            <a:srgbClr val="000000"/>
                          </a:solidFill>
                          <a:latin typeface="Montserrat"/>
                        </a:defRPr>
                      </a:pPr>
                      <a:r>
                        <a:t>61,764</a:t>
                      </a:r>
                    </a:p>
                  </a:txBody>
                  <a:tcPr marL="0" marR="0" marT="0" marB="0">
                    <a:solidFill>
                      <a:srgbClr val="ECD3D9"/>
                    </a:solidFill>
                  </a:tcPr>
                </a:tc>
                <a:tc>
                  <a:txBody>
                    <a:bodyPr/>
                    <a:lstStyle/>
                    <a:p>
                      <a:pPr algn="ctr">
                        <a:defRPr sz="1000">
                          <a:solidFill>
                            <a:srgbClr val="000000"/>
                          </a:solidFill>
                          <a:latin typeface="Montserrat"/>
                        </a:defRPr>
                      </a:pPr>
                      <a:r>
                        <a:t>144,000</a:t>
                      </a:r>
                    </a:p>
                  </a:txBody>
                  <a:tcPr marL="0" marR="0" marT="0" marB="0">
                    <a:solidFill>
                      <a:srgbClr val="ECD3D9"/>
                    </a:solidFill>
                  </a:tcPr>
                </a:tc>
                <a:tc>
                  <a:txBody>
                    <a:bodyPr/>
                    <a:lstStyle/>
                    <a:p>
                      <a:pPr algn="ctr">
                        <a:defRPr sz="1000">
                          <a:solidFill>
                            <a:srgbClr val="000000"/>
                          </a:solidFill>
                          <a:latin typeface="Montserrat"/>
                        </a:defRPr>
                      </a:pPr>
                      <a:r>
                        <a:t>42.9%</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1,217,398</a:t>
                      </a:r>
                    </a:p>
                  </a:txBody>
                  <a:tcPr marL="0" marR="0" marT="0" marB="0">
                    <a:solidFill>
                      <a:srgbClr val="D3E9E7"/>
                    </a:solidFill>
                  </a:tcPr>
                </a:tc>
                <a:tc>
                  <a:txBody>
                    <a:bodyPr/>
                    <a:lstStyle/>
                    <a:p>
                      <a:pPr algn="ctr">
                        <a:defRPr sz="1000" b="1">
                          <a:solidFill>
                            <a:srgbClr val="006556"/>
                          </a:solidFill>
                          <a:latin typeface="Montserrat"/>
                        </a:defRPr>
                      </a:pPr>
                      <a:r>
                        <a:t>54,411</a:t>
                      </a:r>
                    </a:p>
                  </a:txBody>
                  <a:tcPr marL="0" marR="0" marT="0" marB="0">
                    <a:solidFill>
                      <a:srgbClr val="D3E9E7"/>
                    </a:solidFill>
                  </a:tcPr>
                </a:tc>
                <a:tc>
                  <a:txBody>
                    <a:bodyPr/>
                    <a:lstStyle/>
                    <a:p>
                      <a:pPr algn="ctr">
                        <a:defRPr sz="1000" b="1">
                          <a:solidFill>
                            <a:srgbClr val="FFFFFF"/>
                          </a:solidFill>
                          <a:latin typeface="Montserrat"/>
                        </a:defRPr>
                      </a:pPr>
                      <a:r>
                        <a:t>490,032</a:t>
                      </a:r>
                    </a:p>
                  </a:txBody>
                  <a:tcPr marL="0" marR="0" marT="0" marB="0">
                    <a:solidFill>
                      <a:srgbClr val="9F2241"/>
                    </a:solidFill>
                  </a:tcPr>
                </a:tc>
                <a:tc>
                  <a:txBody>
                    <a:bodyPr/>
                    <a:lstStyle/>
                    <a:p>
                      <a:pPr algn="ctr">
                        <a:defRPr sz="1000" b="1">
                          <a:solidFill>
                            <a:srgbClr val="FFFFFF"/>
                          </a:solidFill>
                          <a:latin typeface="Montserrat"/>
                        </a:defRPr>
                      </a:pPr>
                      <a:r>
                        <a:t>1,207,040</a:t>
                      </a:r>
                    </a:p>
                  </a:txBody>
                  <a:tcPr marL="0" marR="0" marT="0" marB="0">
                    <a:solidFill>
                      <a:srgbClr val="9F2241"/>
                    </a:solidFill>
                  </a:tcPr>
                </a:tc>
                <a:tc>
                  <a:txBody>
                    <a:bodyPr/>
                    <a:lstStyle/>
                    <a:p>
                      <a:pPr algn="ctr">
                        <a:defRPr sz="1000" b="1">
                          <a:solidFill>
                            <a:srgbClr val="FFFFFF"/>
                          </a:solidFill>
                          <a:latin typeface="Montserrat"/>
                        </a:defRPr>
                      </a:pPr>
                      <a:r>
                        <a:t>40.6%</a:t>
                      </a:r>
                    </a:p>
                  </a:txBody>
                  <a:tcPr marL="0" marR="0" marT="0" marB="0">
                    <a:solidFill>
                      <a:srgbClr val="9F2241"/>
                    </a:solidFill>
                  </a:tcPr>
                </a:tc>
              </a:tr>
            </a:tbl>
          </a:graphicData>
        </a:graphic>
      </p:graphicFrame>
      <p:graphicFrame>
        <p:nvGraphicFramePr>
          <p:cNvPr id="21" name="Chart 20"/>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2" name="TextBox 21"/>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92687301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4550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UMAA 90 Torreón (Aut)</a:t>
                      </a:r>
                    </a:p>
                  </a:txBody>
                  <a:tcPr>
                    <a:solidFill>
                      <a:srgbClr val="FFFFFF"/>
                    </a:solidFill>
                  </a:tcPr>
                </a:tc>
                <a:tc>
                  <a:txBody>
                    <a:bodyPr/>
                    <a:lstStyle/>
                    <a:p>
                      <a:pPr algn="ctr">
                        <a:defRPr sz="1000">
                          <a:latin typeface="Montserrat"/>
                        </a:defRPr>
                      </a:pPr>
                      <a:r>
                        <a:t>60,312</a:t>
                      </a:r>
                    </a:p>
                  </a:txBody>
                  <a:tcPr>
                    <a:solidFill>
                      <a:srgbClr val="FFFFFF"/>
                    </a:solidFill>
                  </a:tcPr>
                </a:tc>
                <a:tc>
                  <a:txBody>
                    <a:bodyPr/>
                    <a:lstStyle/>
                    <a:p>
                      <a:pPr algn="ctr">
                        <a:defRPr sz="1000">
                          <a:latin typeface="Montserrat"/>
                        </a:defRPr>
                      </a:pPr>
                      <a:r>
                        <a:t>41,094</a:t>
                      </a:r>
                    </a:p>
                  </a:txBody>
                  <a:tcPr>
                    <a:solidFill>
                      <a:srgbClr val="FFFFFF"/>
                    </a:solidFill>
                  </a:tcPr>
                </a:tc>
                <a:tc>
                  <a:txBody>
                    <a:bodyPr/>
                    <a:lstStyle/>
                    <a:p>
                      <a:pPr algn="ctr">
                        <a:defRPr sz="1000">
                          <a:latin typeface="Montserrat"/>
                        </a:defRPr>
                      </a:pPr>
                      <a:r>
                        <a:t>30,240</a:t>
                      </a:r>
                    </a:p>
                  </a:txBody>
                  <a:tcPr>
                    <a:solidFill>
                      <a:srgbClr val="ECD3D9"/>
                    </a:solidFill>
                  </a:tcPr>
                </a:tc>
                <a:tc>
                  <a:txBody>
                    <a:bodyPr/>
                    <a:lstStyle/>
                    <a:p>
                      <a:pPr algn="ctr">
                        <a:defRPr sz="1000">
                          <a:latin typeface="Montserrat"/>
                        </a:defRPr>
                      </a:pPr>
                      <a:r>
                        <a:t>65,700</a:t>
                      </a:r>
                    </a:p>
                  </a:txBody>
                  <a:tcPr>
                    <a:solidFill>
                      <a:srgbClr val="ECD3D9"/>
                    </a:solidFill>
                  </a:tcPr>
                </a:tc>
                <a:tc>
                  <a:txBody>
                    <a:bodyPr/>
                    <a:lstStyle/>
                    <a:p>
                      <a:pPr algn="ctr">
                        <a:defRPr sz="1000">
                          <a:latin typeface="Montserrat"/>
                        </a:defRPr>
                      </a:pPr>
                      <a:r>
                        <a:t>46.0%</a:t>
                      </a:r>
                    </a:p>
                  </a:txBody>
                  <a:tcPr>
                    <a:solidFill>
                      <a:srgbClr val="ECD3D9"/>
                    </a:solidFill>
                  </a:tcPr>
                </a:tc>
              </a:tr>
              <a:tr h="284400">
                <a:tc>
                  <a:txBody>
                    <a:bodyPr/>
                    <a:lstStyle/>
                    <a:p>
                      <a:pPr algn="l">
                        <a:defRPr sz="1000">
                          <a:latin typeface="Montserrat"/>
                        </a:defRPr>
                      </a:pPr>
                      <a:r>
                        <a:t>HGZMF 16 Torreón</a:t>
                      </a:r>
                    </a:p>
                  </a:txBody>
                  <a:tcPr>
                    <a:solidFill>
                      <a:srgbClr val="EFEFEF"/>
                    </a:solidFill>
                  </a:tcPr>
                </a:tc>
                <a:tc>
                  <a:txBody>
                    <a:bodyPr/>
                    <a:lstStyle/>
                    <a:p>
                      <a:pPr algn="ctr">
                        <a:defRPr sz="1000">
                          <a:latin typeface="Montserrat"/>
                        </a:defRPr>
                      </a:pPr>
                      <a:r>
                        <a:t>160,839</a:t>
                      </a:r>
                    </a:p>
                  </a:txBody>
                  <a:tcPr>
                    <a:solidFill>
                      <a:srgbClr val="EFEFEF"/>
                    </a:solidFill>
                  </a:tcPr>
                </a:tc>
                <a:tc>
                  <a:txBody>
                    <a:bodyPr/>
                    <a:lstStyle/>
                    <a:p>
                      <a:pPr algn="ctr">
                        <a:defRPr sz="1000">
                          <a:latin typeface="Montserrat"/>
                        </a:defRPr>
                      </a:pPr>
                      <a:r>
                        <a:t>15,273</a:t>
                      </a:r>
                    </a:p>
                  </a:txBody>
                  <a:tcPr>
                    <a:solidFill>
                      <a:srgbClr val="EFEFEF"/>
                    </a:solidFill>
                  </a:tcPr>
                </a:tc>
                <a:tc>
                  <a:txBody>
                    <a:bodyPr/>
                    <a:lstStyle/>
                    <a:p>
                      <a:pPr algn="ctr">
                        <a:defRPr sz="1000">
                          <a:latin typeface="Montserrat"/>
                        </a:defRPr>
                      </a:pPr>
                      <a:r>
                        <a:t>67,173</a:t>
                      </a:r>
                    </a:p>
                  </a:txBody>
                  <a:tcPr>
                    <a:solidFill>
                      <a:srgbClr val="ECD3D9"/>
                    </a:solidFill>
                  </a:tcPr>
                </a:tc>
                <a:tc>
                  <a:txBody>
                    <a:bodyPr/>
                    <a:lstStyle/>
                    <a:p>
                      <a:pPr algn="ctr">
                        <a:defRPr sz="1000">
                          <a:latin typeface="Montserrat"/>
                        </a:defRPr>
                      </a:pPr>
                      <a:r>
                        <a:t>164,250</a:t>
                      </a:r>
                    </a:p>
                  </a:txBody>
                  <a:tcPr>
                    <a:solidFill>
                      <a:srgbClr val="ECD3D9"/>
                    </a:solidFill>
                  </a:tcPr>
                </a:tc>
                <a:tc>
                  <a:txBody>
                    <a:bodyPr/>
                    <a:lstStyle/>
                    <a:p>
                      <a:pPr algn="ctr">
                        <a:defRPr sz="1000">
                          <a:latin typeface="Montserrat"/>
                        </a:defRPr>
                      </a:pPr>
                      <a:r>
                        <a:t>40.9%</a:t>
                      </a:r>
                    </a:p>
                  </a:txBody>
                  <a:tcPr>
                    <a:solidFill>
                      <a:srgbClr val="ECD3D9"/>
                    </a:solidFill>
                  </a:tcPr>
                </a:tc>
              </a:tr>
              <a:tr h="284400">
                <a:tc>
                  <a:txBody>
                    <a:bodyPr/>
                    <a:lstStyle/>
                    <a:p>
                      <a:pPr algn="l">
                        <a:defRPr sz="1000">
                          <a:latin typeface="Montserrat"/>
                        </a:defRPr>
                      </a:pPr>
                      <a:r>
                        <a:t>HGZMF 24 Nueva Rosita</a:t>
                      </a:r>
                    </a:p>
                  </a:txBody>
                  <a:tcPr>
                    <a:solidFill>
                      <a:srgbClr val="FFFFFF"/>
                    </a:solidFill>
                  </a:tcPr>
                </a:tc>
                <a:tc>
                  <a:txBody>
                    <a:bodyPr/>
                    <a:lstStyle/>
                    <a:p>
                      <a:pPr algn="ctr">
                        <a:defRPr sz="1000">
                          <a:latin typeface="Montserrat"/>
                        </a:defRPr>
                      </a:pPr>
                      <a:r>
                        <a:t>50,888</a:t>
                      </a:r>
                    </a:p>
                  </a:txBody>
                  <a:tcPr>
                    <a:solidFill>
                      <a:srgbClr val="FFFFFF"/>
                    </a:solidFill>
                  </a:tcPr>
                </a:tc>
                <a:tc>
                  <a:txBody>
                    <a:bodyPr/>
                    <a:lstStyle/>
                    <a:p>
                      <a:pPr algn="ctr">
                        <a:defRPr sz="1000">
                          <a:latin typeface="Montserrat"/>
                        </a:defRPr>
                      </a:pPr>
                      <a:r>
                        <a:t>22,362</a:t>
                      </a:r>
                    </a:p>
                  </a:txBody>
                  <a:tcPr>
                    <a:solidFill>
                      <a:srgbClr val="FFFFFF"/>
                    </a:solidFill>
                  </a:tcPr>
                </a:tc>
                <a:tc>
                  <a:txBody>
                    <a:bodyPr/>
                    <a:lstStyle/>
                    <a:p>
                      <a:pPr algn="ctr">
                        <a:defRPr sz="1000">
                          <a:latin typeface="Montserrat"/>
                        </a:defRPr>
                      </a:pPr>
                      <a:r>
                        <a:t>23,649</a:t>
                      </a:r>
                    </a:p>
                  </a:txBody>
                  <a:tcPr>
                    <a:solidFill>
                      <a:srgbClr val="ECD3D9"/>
                    </a:solidFill>
                  </a:tcPr>
                </a:tc>
                <a:tc>
                  <a:txBody>
                    <a:bodyPr/>
                    <a:lstStyle/>
                    <a:p>
                      <a:pPr algn="ctr">
                        <a:defRPr sz="1000">
                          <a:latin typeface="Montserrat"/>
                        </a:defRPr>
                      </a:pPr>
                      <a:r>
                        <a:t>59,130</a:t>
                      </a:r>
                    </a:p>
                  </a:txBody>
                  <a:tcPr>
                    <a:solidFill>
                      <a:srgbClr val="ECD3D9"/>
                    </a:solidFill>
                  </a:tcPr>
                </a:tc>
                <a:tc>
                  <a:txBody>
                    <a:bodyPr/>
                    <a:lstStyle/>
                    <a:p>
                      <a:pPr algn="ctr">
                        <a:defRPr sz="1000">
                          <a:latin typeface="Montserrat"/>
                        </a:defRPr>
                      </a:pPr>
                      <a:r>
                        <a:t>40.0%</a:t>
                      </a:r>
                    </a:p>
                  </a:txBody>
                  <a:tcPr>
                    <a:solidFill>
                      <a:srgbClr val="ECD3D9"/>
                    </a:solidFill>
                  </a:tcPr>
                </a:tc>
              </a:tr>
              <a:tr h="284400">
                <a:tc>
                  <a:txBody>
                    <a:bodyPr/>
                    <a:lstStyle/>
                    <a:p>
                      <a:pPr algn="l">
                        <a:defRPr sz="1000">
                          <a:latin typeface="Montserrat"/>
                        </a:defRPr>
                      </a:pPr>
                      <a:r>
                        <a:t>HGZMF 18 Torreón</a:t>
                      </a:r>
                    </a:p>
                  </a:txBody>
                  <a:tcPr>
                    <a:solidFill>
                      <a:srgbClr val="EFEFEF"/>
                    </a:solidFill>
                  </a:tcPr>
                </a:tc>
                <a:tc>
                  <a:txBody>
                    <a:bodyPr/>
                    <a:lstStyle/>
                    <a:p>
                      <a:pPr algn="ctr">
                        <a:defRPr sz="1000">
                          <a:latin typeface="Montserrat"/>
                        </a:defRPr>
                      </a:pPr>
                      <a:r>
                        <a:t>28,194</a:t>
                      </a:r>
                    </a:p>
                  </a:txBody>
                  <a:tcPr>
                    <a:solidFill>
                      <a:srgbClr val="EFEFEF"/>
                    </a:solidFill>
                  </a:tcPr>
                </a:tc>
                <a:tc>
                  <a:txBody>
                    <a:bodyPr/>
                    <a:lstStyle/>
                    <a:p>
                      <a:pPr algn="ctr">
                        <a:defRPr sz="1000">
                          <a:latin typeface="Montserrat"/>
                        </a:defRPr>
                      </a:pPr>
                      <a:r>
                        <a:t>10,310</a:t>
                      </a:r>
                    </a:p>
                  </a:txBody>
                  <a:tcPr>
                    <a:solidFill>
                      <a:srgbClr val="EFEFEF"/>
                    </a:solidFill>
                  </a:tcPr>
                </a:tc>
                <a:tc>
                  <a:txBody>
                    <a:bodyPr/>
                    <a:lstStyle/>
                    <a:p>
                      <a:pPr algn="ctr">
                        <a:defRPr sz="1000">
                          <a:latin typeface="Montserrat"/>
                        </a:defRPr>
                      </a:pPr>
                      <a:r>
                        <a:t>12,918</a:t>
                      </a:r>
                    </a:p>
                  </a:txBody>
                  <a:tcPr>
                    <a:solidFill>
                      <a:srgbClr val="ECD3D9"/>
                    </a:solidFill>
                  </a:tcPr>
                </a:tc>
                <a:tc>
                  <a:txBody>
                    <a:bodyPr/>
                    <a:lstStyle/>
                    <a:p>
                      <a:pPr algn="ctr">
                        <a:defRPr sz="1000">
                          <a:latin typeface="Montserrat"/>
                        </a:defRPr>
                      </a:pPr>
                      <a:r>
                        <a:t>32,850</a:t>
                      </a:r>
                    </a:p>
                  </a:txBody>
                  <a:tcPr>
                    <a:solidFill>
                      <a:srgbClr val="ECD3D9"/>
                    </a:solidFill>
                  </a:tcPr>
                </a:tc>
                <a:tc>
                  <a:txBody>
                    <a:bodyPr/>
                    <a:lstStyle/>
                    <a:p>
                      <a:pPr algn="ctr">
                        <a:defRPr sz="1000">
                          <a:latin typeface="Montserrat"/>
                        </a:defRPr>
                      </a:pPr>
                      <a:r>
                        <a:t>39.3%</a:t>
                      </a:r>
                    </a:p>
                  </a:txBody>
                  <a:tcPr>
                    <a:solidFill>
                      <a:srgbClr val="ECD3D9"/>
                    </a:solidFill>
                  </a:tcPr>
                </a:tc>
              </a:tr>
              <a:tr h="284400">
                <a:tc>
                  <a:txBody>
                    <a:bodyPr/>
                    <a:lstStyle/>
                    <a:p>
                      <a:pPr algn="l">
                        <a:defRPr sz="1000">
                          <a:latin typeface="Montserrat"/>
                        </a:defRPr>
                      </a:pPr>
                      <a:r>
                        <a:t>HGSMF 27 Palau</a:t>
                      </a:r>
                    </a:p>
                  </a:txBody>
                  <a:tcPr>
                    <a:solidFill>
                      <a:srgbClr val="FFFFFF"/>
                    </a:solidFill>
                  </a:tcPr>
                </a:tc>
                <a:tc>
                  <a:txBody>
                    <a:bodyPr/>
                    <a:lstStyle/>
                    <a:p>
                      <a:pPr algn="ctr">
                        <a:defRPr sz="1000">
                          <a:latin typeface="Montserrat"/>
                        </a:defRPr>
                      </a:pPr>
                      <a:r>
                        <a:t>12,444</a:t>
                      </a:r>
                    </a:p>
                  </a:txBody>
                  <a:tcPr>
                    <a:solidFill>
                      <a:srgbClr val="FFFFFF"/>
                    </a:solidFill>
                  </a:tcPr>
                </a:tc>
                <a:tc>
                  <a:txBody>
                    <a:bodyPr/>
                    <a:lstStyle/>
                    <a:p>
                      <a:pPr algn="ctr">
                        <a:defRPr sz="1000">
                          <a:latin typeface="Montserrat"/>
                        </a:defRPr>
                      </a:pPr>
                      <a:r>
                        <a:t>5,051</a:t>
                      </a:r>
                    </a:p>
                  </a:txBody>
                  <a:tcPr>
                    <a:solidFill>
                      <a:srgbClr val="FFFFFF"/>
                    </a:solidFill>
                  </a:tcPr>
                </a:tc>
                <a:tc>
                  <a:txBody>
                    <a:bodyPr/>
                    <a:lstStyle/>
                    <a:p>
                      <a:pPr algn="ctr">
                        <a:defRPr sz="1000">
                          <a:latin typeface="Montserrat"/>
                        </a:defRPr>
                      </a:pPr>
                      <a:r>
                        <a:t>7,701</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39.1%</a:t>
                      </a:r>
                    </a:p>
                  </a:txBody>
                  <a:tcPr>
                    <a:solidFill>
                      <a:srgbClr val="ECD3D9"/>
                    </a:solidFill>
                  </a:tcPr>
                </a:tc>
              </a:tr>
              <a:tr h="284400">
                <a:tc>
                  <a:txBody>
                    <a:bodyPr/>
                    <a:lstStyle/>
                    <a:p>
                      <a:pPr algn="l">
                        <a:defRPr sz="1000">
                          <a:latin typeface="Montserrat"/>
                        </a:defRPr>
                      </a:pPr>
                      <a:r>
                        <a:t>HGZ 11 Piedras Negras</a:t>
                      </a:r>
                    </a:p>
                  </a:txBody>
                  <a:tcPr>
                    <a:solidFill>
                      <a:srgbClr val="EFEFEF"/>
                    </a:solidFill>
                  </a:tcPr>
                </a:tc>
                <a:tc>
                  <a:txBody>
                    <a:bodyPr/>
                    <a:lstStyle/>
                    <a:p>
                      <a:pPr algn="ctr">
                        <a:defRPr sz="1000">
                          <a:latin typeface="Montserrat"/>
                        </a:defRPr>
                      </a:pPr>
                      <a:r>
                        <a:t>88,151</a:t>
                      </a:r>
                    </a:p>
                  </a:txBody>
                  <a:tcPr>
                    <a:solidFill>
                      <a:srgbClr val="EFEFEF"/>
                    </a:solidFill>
                  </a:tcPr>
                </a:tc>
                <a:tc>
                  <a:txBody>
                    <a:bodyPr/>
                    <a:lstStyle/>
                    <a:p>
                      <a:pPr algn="ctr">
                        <a:defRPr sz="1000">
                          <a:latin typeface="Montserrat"/>
                        </a:defRPr>
                      </a:pPr>
                      <a:r>
                        <a:t>32,547</a:t>
                      </a:r>
                    </a:p>
                  </a:txBody>
                  <a:tcPr>
                    <a:solidFill>
                      <a:srgbClr val="EFEFEF"/>
                    </a:solidFill>
                  </a:tcPr>
                </a:tc>
                <a:tc>
                  <a:txBody>
                    <a:bodyPr/>
                    <a:lstStyle/>
                    <a:p>
                      <a:pPr algn="ctr">
                        <a:defRPr sz="1000">
                          <a:latin typeface="Montserrat"/>
                        </a:defRPr>
                      </a:pPr>
                      <a:r>
                        <a:t>38,057</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38.6%</a:t>
                      </a:r>
                    </a:p>
                  </a:txBody>
                  <a:tcPr>
                    <a:solidFill>
                      <a:srgbClr val="ECD3D9"/>
                    </a:solidFill>
                  </a:tcPr>
                </a:tc>
              </a:tr>
              <a:tr h="284400">
                <a:tc>
                  <a:txBody>
                    <a:bodyPr/>
                    <a:lstStyle/>
                    <a:p>
                      <a:pPr algn="l">
                        <a:defRPr sz="1000">
                          <a:latin typeface="Montserrat"/>
                        </a:defRPr>
                      </a:pPr>
                      <a:r>
                        <a:t>HGZ 1 Saltillo</a:t>
                      </a:r>
                    </a:p>
                  </a:txBody>
                  <a:tcPr>
                    <a:solidFill>
                      <a:srgbClr val="FFFFFF"/>
                    </a:solidFill>
                  </a:tcPr>
                </a:tc>
                <a:tc>
                  <a:txBody>
                    <a:bodyPr/>
                    <a:lstStyle/>
                    <a:p>
                      <a:pPr algn="ctr">
                        <a:defRPr sz="1000">
                          <a:latin typeface="Montserrat"/>
                        </a:defRPr>
                      </a:pPr>
                      <a:r>
                        <a:t>74,336</a:t>
                      </a:r>
                    </a:p>
                  </a:txBody>
                  <a:tcPr>
                    <a:solidFill>
                      <a:srgbClr val="FFFFFF"/>
                    </a:solidFill>
                  </a:tcPr>
                </a:tc>
                <a:tc>
                  <a:txBody>
                    <a:bodyPr/>
                    <a:lstStyle/>
                    <a:p>
                      <a:pPr algn="ctr">
                        <a:defRPr sz="1000">
                          <a:latin typeface="Montserrat"/>
                        </a:defRPr>
                      </a:pPr>
                      <a:r>
                        <a:t>12,453</a:t>
                      </a:r>
                    </a:p>
                  </a:txBody>
                  <a:tcPr>
                    <a:solidFill>
                      <a:srgbClr val="FFFFFF"/>
                    </a:solidFill>
                  </a:tcPr>
                </a:tc>
                <a:tc>
                  <a:txBody>
                    <a:bodyPr/>
                    <a:lstStyle/>
                    <a:p>
                      <a:pPr algn="ctr">
                        <a:defRPr sz="1000">
                          <a:latin typeface="Montserrat"/>
                        </a:defRPr>
                      </a:pPr>
                      <a:r>
                        <a:t>27,492</a:t>
                      </a:r>
                    </a:p>
                  </a:txBody>
                  <a:tcPr>
                    <a:solidFill>
                      <a:srgbClr val="ECD3D9"/>
                    </a:solidFill>
                  </a:tcPr>
                </a:tc>
                <a:tc>
                  <a:txBody>
                    <a:bodyPr/>
                    <a:lstStyle/>
                    <a:p>
                      <a:pPr algn="ctr">
                        <a:defRPr sz="1000">
                          <a:latin typeface="Montserrat"/>
                        </a:defRPr>
                      </a:pPr>
                      <a:r>
                        <a:t>78,840</a:t>
                      </a:r>
                    </a:p>
                  </a:txBody>
                  <a:tcPr>
                    <a:solidFill>
                      <a:srgbClr val="ECD3D9"/>
                    </a:solidFill>
                  </a:tcPr>
                </a:tc>
                <a:tc>
                  <a:txBody>
                    <a:bodyPr/>
                    <a:lstStyle/>
                    <a:p>
                      <a:pPr algn="ctr">
                        <a:defRPr sz="1000">
                          <a:latin typeface="Montserrat"/>
                        </a:defRPr>
                      </a:pPr>
                      <a:r>
                        <a:t>34.9%</a:t>
                      </a:r>
                    </a:p>
                  </a:txBody>
                  <a:tcPr>
                    <a:solidFill>
                      <a:srgbClr val="ECD3D9"/>
                    </a:solidFill>
                  </a:tcPr>
                </a:tc>
              </a:tr>
              <a:tr h="284400">
                <a:tc>
                  <a:txBody>
                    <a:bodyPr/>
                    <a:lstStyle/>
                    <a:p>
                      <a:pPr algn="l">
                        <a:defRPr sz="1000">
                          <a:latin typeface="Montserrat"/>
                        </a:defRPr>
                      </a:pPr>
                      <a:r>
                        <a:t>HGZMF 2 Saltillo</a:t>
                      </a:r>
                    </a:p>
                  </a:txBody>
                  <a:tcPr>
                    <a:solidFill>
                      <a:srgbClr val="EFEFEF"/>
                    </a:solidFill>
                  </a:tcPr>
                </a:tc>
                <a:tc>
                  <a:txBody>
                    <a:bodyPr/>
                    <a:lstStyle/>
                    <a:p>
                      <a:pPr algn="ctr">
                        <a:defRPr sz="1000">
                          <a:latin typeface="Montserrat"/>
                        </a:defRPr>
                      </a:pPr>
                      <a:r>
                        <a:t>141,359</a:t>
                      </a:r>
                    </a:p>
                  </a:txBody>
                  <a:tcPr>
                    <a:solidFill>
                      <a:srgbClr val="EFEFEF"/>
                    </a:solidFill>
                  </a:tcPr>
                </a:tc>
                <a:tc>
                  <a:txBody>
                    <a:bodyPr/>
                    <a:lstStyle/>
                    <a:p>
                      <a:pPr algn="ctr">
                        <a:defRPr sz="1000">
                          <a:latin typeface="Montserrat"/>
                        </a:defRPr>
                      </a:pPr>
                      <a:r>
                        <a:t>29,060</a:t>
                      </a:r>
                    </a:p>
                  </a:txBody>
                  <a:tcPr>
                    <a:solidFill>
                      <a:srgbClr val="EFEFEF"/>
                    </a:solidFill>
                  </a:tcPr>
                </a:tc>
                <a:tc>
                  <a:txBody>
                    <a:bodyPr/>
                    <a:lstStyle/>
                    <a:p>
                      <a:pPr algn="ctr">
                        <a:defRPr sz="1000">
                          <a:latin typeface="Montserrat"/>
                        </a:defRPr>
                      </a:pPr>
                      <a:r>
                        <a:t>48,570</a:t>
                      </a:r>
                    </a:p>
                  </a:txBody>
                  <a:tcPr>
                    <a:solidFill>
                      <a:srgbClr val="ECD3D9"/>
                    </a:solidFill>
                  </a:tcPr>
                </a:tc>
                <a:tc>
                  <a:txBody>
                    <a:bodyPr/>
                    <a:lstStyle/>
                    <a:p>
                      <a:pPr algn="ctr">
                        <a:defRPr sz="1000">
                          <a:latin typeface="Montserrat"/>
                        </a:defRPr>
                      </a:pPr>
                      <a:r>
                        <a:t>144,540</a:t>
                      </a:r>
                    </a:p>
                  </a:txBody>
                  <a:tcPr>
                    <a:solidFill>
                      <a:srgbClr val="ECD3D9"/>
                    </a:solidFill>
                  </a:tcPr>
                </a:tc>
                <a:tc>
                  <a:txBody>
                    <a:bodyPr/>
                    <a:lstStyle/>
                    <a:p>
                      <a:pPr algn="ctr">
                        <a:defRPr sz="1000">
                          <a:latin typeface="Montserrat"/>
                        </a:defRPr>
                      </a:pPr>
                      <a:r>
                        <a:t>33.6%</a:t>
                      </a:r>
                    </a:p>
                  </a:txBody>
                  <a:tcPr>
                    <a:solidFill>
                      <a:srgbClr val="ECD3D9"/>
                    </a:solidFill>
                  </a:tcPr>
                </a:tc>
              </a:tr>
              <a:tr h="284400">
                <a:tc>
                  <a:txBody>
                    <a:bodyPr/>
                    <a:lstStyle/>
                    <a:p>
                      <a:pPr algn="l">
                        <a:defRPr sz="1000">
                          <a:latin typeface="Montserrat"/>
                        </a:defRPr>
                      </a:pPr>
                      <a:r>
                        <a:t>HGZMF 7 Monclova</a:t>
                      </a:r>
                    </a:p>
                  </a:txBody>
                  <a:tcPr>
                    <a:solidFill>
                      <a:srgbClr val="FFFFFF"/>
                    </a:solidFill>
                  </a:tcPr>
                </a:tc>
                <a:tc>
                  <a:txBody>
                    <a:bodyPr/>
                    <a:lstStyle/>
                    <a:p>
                      <a:pPr algn="ctr">
                        <a:defRPr sz="1000">
                          <a:latin typeface="Montserrat"/>
                        </a:defRPr>
                      </a:pPr>
                      <a:r>
                        <a:t>166,052</a:t>
                      </a:r>
                    </a:p>
                  </a:txBody>
                  <a:tcPr>
                    <a:solidFill>
                      <a:srgbClr val="FFFFFF"/>
                    </a:solidFill>
                  </a:tcPr>
                </a:tc>
                <a:tc>
                  <a:txBody>
                    <a:bodyPr/>
                    <a:lstStyle/>
                    <a:p>
                      <a:pPr algn="ctr">
                        <a:defRPr sz="1000">
                          <a:latin typeface="Montserrat"/>
                        </a:defRPr>
                      </a:pPr>
                      <a:r>
                        <a:t>24,166</a:t>
                      </a:r>
                    </a:p>
                  </a:txBody>
                  <a:tcPr>
                    <a:solidFill>
                      <a:srgbClr val="FFFFFF"/>
                    </a:solidFill>
                  </a:tcPr>
                </a:tc>
                <a:tc>
                  <a:txBody>
                    <a:bodyPr/>
                    <a:lstStyle/>
                    <a:p>
                      <a:pPr algn="ctr">
                        <a:defRPr sz="1000">
                          <a:latin typeface="Montserrat"/>
                        </a:defRPr>
                      </a:pPr>
                      <a:r>
                        <a:t>55,772</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32.6%</a:t>
                      </a:r>
                    </a:p>
                  </a:txBody>
                  <a:tcPr>
                    <a:solidFill>
                      <a:srgbClr val="ECD3D9"/>
                    </a:solidFill>
                  </a:tcPr>
                </a:tc>
              </a:tr>
              <a:tr h="284400">
                <a:tc>
                  <a:txBody>
                    <a:bodyPr/>
                    <a:lstStyle/>
                    <a:p>
                      <a:pPr algn="l">
                        <a:defRPr sz="1000">
                          <a:latin typeface="Montserrat"/>
                        </a:defRPr>
                      </a:pPr>
                      <a:r>
                        <a:t>HGZ 92 Coahuila</a:t>
                      </a:r>
                    </a:p>
                  </a:txBody>
                  <a:tcPr>
                    <a:solidFill>
                      <a:srgbClr val="EFEFEF"/>
                    </a:solidFill>
                  </a:tcPr>
                </a:tc>
                <a:tc>
                  <a:txBody>
                    <a:bodyPr/>
                    <a:lstStyle/>
                    <a:p>
                      <a:pPr algn="ctr">
                        <a:defRPr sz="1000">
                          <a:latin typeface="Montserrat"/>
                        </a:defRPr>
                      </a:pPr>
                      <a:r>
                        <a:t>74,259</a:t>
                      </a:r>
                    </a:p>
                  </a:txBody>
                  <a:tcPr>
                    <a:solidFill>
                      <a:srgbClr val="EFEFEF"/>
                    </a:solidFill>
                  </a:tcPr>
                </a:tc>
                <a:tc>
                  <a:txBody>
                    <a:bodyPr/>
                    <a:lstStyle/>
                    <a:p>
                      <a:pPr algn="ctr">
                        <a:defRPr sz="1000">
                          <a:latin typeface="Montserrat"/>
                        </a:defRPr>
                      </a:pPr>
                      <a:r>
                        <a:t>33,878</a:t>
                      </a:r>
                    </a:p>
                  </a:txBody>
                  <a:tcPr>
                    <a:solidFill>
                      <a:srgbClr val="EFEFEF"/>
                    </a:solidFill>
                  </a:tcPr>
                </a:tc>
                <a:tc>
                  <a:txBody>
                    <a:bodyPr/>
                    <a:lstStyle/>
                    <a:p>
                      <a:pPr algn="ctr">
                        <a:defRPr sz="1000">
                          <a:latin typeface="Montserrat"/>
                        </a:defRPr>
                      </a:pPr>
                      <a:r>
                        <a:t>41,238</a:t>
                      </a:r>
                    </a:p>
                  </a:txBody>
                  <a:tcPr>
                    <a:solidFill>
                      <a:srgbClr val="ECD3D9"/>
                    </a:solidFill>
                  </a:tcPr>
                </a:tc>
                <a:tc>
                  <a:txBody>
                    <a:bodyPr/>
                    <a:lstStyle/>
                    <a:p>
                      <a:pPr algn="ctr">
                        <a:defRPr sz="1000">
                          <a:latin typeface="Montserrat"/>
                        </a:defRPr>
                      </a:pPr>
                      <a:r>
                        <a:t>130,305</a:t>
                      </a:r>
                    </a:p>
                  </a:txBody>
                  <a:tcPr>
                    <a:solidFill>
                      <a:srgbClr val="ECD3D9"/>
                    </a:solidFill>
                  </a:tcPr>
                </a:tc>
                <a:tc>
                  <a:txBody>
                    <a:bodyPr/>
                    <a:lstStyle/>
                    <a:p>
                      <a:pPr algn="ctr">
                        <a:defRPr sz="1000">
                          <a:latin typeface="Montserrat"/>
                        </a:defRPr>
                      </a:pPr>
                      <a:r>
                        <a:t>31.6%</a:t>
                      </a:r>
                    </a:p>
                  </a:txBody>
                  <a:tcPr>
                    <a:solidFill>
                      <a:srgbClr val="ECD3D9"/>
                    </a:solidFill>
                  </a:tcPr>
                </a:tc>
              </a:tr>
              <a:tr h="284400">
                <a:tc>
                  <a:txBody>
                    <a:bodyPr/>
                    <a:lstStyle/>
                    <a:p>
                      <a:pPr algn="l">
                        <a:defRPr sz="1000">
                          <a:latin typeface="Montserrat"/>
                        </a:defRPr>
                      </a:pPr>
                      <a:r>
                        <a:t>HGS 13 Cd. Acuña</a:t>
                      </a:r>
                    </a:p>
                  </a:txBody>
                  <a:tcPr>
                    <a:solidFill>
                      <a:srgbClr val="FFFFFF"/>
                    </a:solidFill>
                  </a:tcPr>
                </a:tc>
                <a:tc>
                  <a:txBody>
                    <a:bodyPr/>
                    <a:lstStyle/>
                    <a:p>
                      <a:pPr algn="ctr">
                        <a:defRPr sz="1000">
                          <a:latin typeface="Montserrat"/>
                        </a:defRPr>
                      </a:pPr>
                      <a:r>
                        <a:t>15,964</a:t>
                      </a:r>
                    </a:p>
                  </a:txBody>
                  <a:tcPr>
                    <a:solidFill>
                      <a:srgbClr val="FFFFFF"/>
                    </a:solidFill>
                  </a:tcPr>
                </a:tc>
                <a:tc>
                  <a:txBody>
                    <a:bodyPr/>
                    <a:lstStyle/>
                    <a:p>
                      <a:pPr algn="ctr">
                        <a:defRPr sz="1000">
                          <a:latin typeface="Montserrat"/>
                        </a:defRPr>
                      </a:pPr>
                      <a:r>
                        <a:t>5,567</a:t>
                      </a:r>
                    </a:p>
                  </a:txBody>
                  <a:tcPr>
                    <a:solidFill>
                      <a:srgbClr val="FFFFFF"/>
                    </a:solidFill>
                  </a:tcPr>
                </a:tc>
                <a:tc>
                  <a:txBody>
                    <a:bodyPr/>
                    <a:lstStyle/>
                    <a:p>
                      <a:pPr algn="ctr">
                        <a:defRPr sz="1000">
                          <a:latin typeface="Montserrat"/>
                        </a:defRPr>
                      </a:pPr>
                      <a:r>
                        <a:t>9,168</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31.4%</a:t>
                      </a:r>
                    </a:p>
                  </a:txBody>
                  <a:tcPr>
                    <a:solidFill>
                      <a:srgbClr val="ECD3D9"/>
                    </a:solidFill>
                  </a:tcPr>
                </a:tc>
              </a:tr>
              <a:tr h="284400">
                <a:tc>
                  <a:txBody>
                    <a:bodyPr/>
                    <a:lstStyle/>
                    <a:p>
                      <a:pPr algn="l">
                        <a:defRPr sz="1000">
                          <a:latin typeface="Montserrat"/>
                        </a:defRPr>
                      </a:pPr>
                      <a:r>
                        <a:t>HGSMF 20 Fco. I. Madero</a:t>
                      </a:r>
                    </a:p>
                  </a:txBody>
                  <a:tcPr>
                    <a:solidFill>
                      <a:srgbClr val="EFEFEF"/>
                    </a:solidFill>
                  </a:tcPr>
                </a:tc>
                <a:tc>
                  <a:txBody>
                    <a:bodyPr/>
                    <a:lstStyle/>
                    <a:p>
                      <a:pPr algn="ctr">
                        <a:defRPr sz="1000">
                          <a:latin typeface="Montserrat"/>
                        </a:defRPr>
                      </a:pPr>
                      <a:r>
                        <a:t>9,818</a:t>
                      </a:r>
                    </a:p>
                  </a:txBody>
                  <a:tcPr>
                    <a:solidFill>
                      <a:srgbClr val="EFEFEF"/>
                    </a:solidFill>
                  </a:tcPr>
                </a:tc>
                <a:tc>
                  <a:txBody>
                    <a:bodyPr/>
                    <a:lstStyle/>
                    <a:p>
                      <a:pPr algn="ctr">
                        <a:defRPr sz="1000">
                          <a:latin typeface="Montserrat"/>
                        </a:defRPr>
                      </a:pPr>
                      <a:r>
                        <a:t>2,301</a:t>
                      </a:r>
                    </a:p>
                  </a:txBody>
                  <a:tcPr>
                    <a:solidFill>
                      <a:srgbClr val="EFEFEF"/>
                    </a:solidFill>
                  </a:tcPr>
                </a:tc>
                <a:tc>
                  <a:txBody>
                    <a:bodyPr/>
                    <a:lstStyle/>
                    <a:p>
                      <a:pPr algn="ctr">
                        <a:defRPr sz="1000">
                          <a:latin typeface="Montserrat"/>
                        </a:defRPr>
                      </a:pPr>
                      <a:r>
                        <a:t>4,098</a:t>
                      </a:r>
                    </a:p>
                  </a:txBody>
                  <a:tcPr>
                    <a:solidFill>
                      <a:srgbClr val="ECD3D9"/>
                    </a:solidFill>
                  </a:tcPr>
                </a:tc>
                <a:tc>
                  <a:txBody>
                    <a:bodyPr/>
                    <a:lstStyle/>
                    <a:p>
                      <a:pPr algn="ctr">
                        <a:defRPr sz="1000">
                          <a:latin typeface="Montserrat"/>
                        </a:defRPr>
                      </a:pPr>
                      <a:r>
                        <a:t>13,140</a:t>
                      </a:r>
                    </a:p>
                  </a:txBody>
                  <a:tcPr>
                    <a:solidFill>
                      <a:srgbClr val="ECD3D9"/>
                    </a:solidFill>
                  </a:tcPr>
                </a:tc>
                <a:tc>
                  <a:txBody>
                    <a:bodyPr/>
                    <a:lstStyle/>
                    <a:p>
                      <a:pPr algn="ctr">
                        <a:defRPr sz="1000">
                          <a:latin typeface="Montserrat"/>
                        </a:defRPr>
                      </a:pPr>
                      <a:r>
                        <a:t>31.2%</a:t>
                      </a:r>
                    </a:p>
                  </a:txBody>
                  <a:tcPr>
                    <a:solidFill>
                      <a:srgbClr val="ECD3D9"/>
                    </a:solidFill>
                  </a:tcPr>
                </a:tc>
              </a:tr>
              <a:tr h="284400">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6,753</a:t>
                      </a:r>
                    </a:p>
                  </a:txBody>
                  <a:tcPr>
                    <a:solidFill>
                      <a:srgbClr val="FFFFFF"/>
                    </a:solidFill>
                  </a:tcPr>
                </a:tc>
                <a:tc>
                  <a:txBody>
                    <a:bodyPr/>
                    <a:lstStyle/>
                    <a:p>
                      <a:pPr algn="ctr">
                        <a:defRPr sz="1000">
                          <a:latin typeface="Montserrat"/>
                        </a:defRPr>
                      </a:pPr>
                      <a:r>
                        <a:t>1,497</a:t>
                      </a:r>
                    </a:p>
                  </a:txBody>
                  <a:tcPr>
                    <a:solidFill>
                      <a:srgbClr val="FFFFFF"/>
                    </a:solidFill>
                  </a:tcPr>
                </a:tc>
                <a:tc>
                  <a:txBody>
                    <a:bodyPr/>
                    <a:lstStyle/>
                    <a:p>
                      <a:pPr algn="ctr">
                        <a:defRPr sz="1000">
                          <a:latin typeface="Montserrat"/>
                        </a:defRPr>
                      </a:pPr>
                      <a:r>
                        <a:t>3,279</a:t>
                      </a:r>
                    </a:p>
                  </a:txBody>
                  <a:tcPr>
                    <a:solidFill>
                      <a:srgbClr val="ECD3D9"/>
                    </a:solidFill>
                  </a:tcPr>
                </a:tc>
                <a:tc>
                  <a:txBody>
                    <a:bodyPr/>
                    <a:lstStyle/>
                    <a:p>
                      <a:pPr algn="ctr">
                        <a:defRPr sz="1000">
                          <a:latin typeface="Montserrat"/>
                        </a:defRPr>
                      </a:pPr>
                      <a:r>
                        <a:t>11,680</a:t>
                      </a:r>
                    </a:p>
                  </a:txBody>
                  <a:tcPr>
                    <a:solidFill>
                      <a:srgbClr val="ECD3D9"/>
                    </a:solidFill>
                  </a:tcPr>
                </a:tc>
                <a:tc>
                  <a:txBody>
                    <a:bodyPr/>
                    <a:lstStyle/>
                    <a:p>
                      <a:pPr algn="ctr">
                        <a:defRPr sz="1000">
                          <a:latin typeface="Montserrat"/>
                        </a:defRPr>
                      </a:pPr>
                      <a:r>
                        <a:t>28.1%</a:t>
                      </a:r>
                    </a:p>
                  </a:txBody>
                  <a:tcPr>
                    <a:solidFill>
                      <a:srgbClr val="ECD3D9"/>
                    </a:solidFill>
                  </a:tcPr>
                </a:tc>
              </a:tr>
              <a:tr h="284400">
                <a:tc>
                  <a:txBody>
                    <a:bodyPr/>
                    <a:lstStyle/>
                    <a:p>
                      <a:pPr algn="l">
                        <a:defRPr sz="1000">
                          <a:latin typeface="Montserrat"/>
                        </a:defRPr>
                      </a:pPr>
                      <a:r>
                        <a:t>HGSMF 21 S. Pedro Colonias</a:t>
                      </a:r>
                    </a:p>
                  </a:txBody>
                  <a:tcPr>
                    <a:solidFill>
                      <a:srgbClr val="EFEFEF"/>
                    </a:solidFill>
                  </a:tcPr>
                </a:tc>
                <a:tc>
                  <a:txBody>
                    <a:bodyPr/>
                    <a:lstStyle/>
                    <a:p>
                      <a:pPr algn="ctr">
                        <a:defRPr sz="1000">
                          <a:latin typeface="Montserrat"/>
                        </a:defRPr>
                      </a:pPr>
                      <a:r>
                        <a:t>12,728</a:t>
                      </a:r>
                    </a:p>
                  </a:txBody>
                  <a:tcPr>
                    <a:solidFill>
                      <a:srgbClr val="EFEFEF"/>
                    </a:solidFill>
                  </a:tcPr>
                </a:tc>
                <a:tc>
                  <a:txBody>
                    <a:bodyPr/>
                    <a:lstStyle/>
                    <a:p>
                      <a:pPr algn="ctr">
                        <a:defRPr sz="1000">
                          <a:latin typeface="Montserrat"/>
                        </a:defRPr>
                      </a:pPr>
                      <a:r>
                        <a:t>6,860</a:t>
                      </a:r>
                    </a:p>
                  </a:txBody>
                  <a:tcPr>
                    <a:solidFill>
                      <a:srgbClr val="EFEFEF"/>
                    </a:solidFill>
                  </a:tcPr>
                </a:tc>
                <a:tc>
                  <a:txBody>
                    <a:bodyPr/>
                    <a:lstStyle/>
                    <a:p>
                      <a:pPr algn="ctr">
                        <a:defRPr sz="1000">
                          <a:latin typeface="Montserrat"/>
                        </a:defRPr>
                      </a:pPr>
                      <a:r>
                        <a:t>5,473</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27.8%</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902,097</a:t>
                      </a:r>
                    </a:p>
                  </a:txBody>
                  <a:tcPr>
                    <a:solidFill>
                      <a:srgbClr val="D3E9E7"/>
                    </a:solidFill>
                  </a:tcPr>
                </a:tc>
                <a:tc>
                  <a:txBody>
                    <a:bodyPr/>
                    <a:lstStyle/>
                    <a:p>
                      <a:pPr algn="ctr">
                        <a:defRPr sz="1000" b="1">
                          <a:solidFill>
                            <a:srgbClr val="006556"/>
                          </a:solidFill>
                          <a:latin typeface="Montserrat"/>
                        </a:defRPr>
                      </a:pPr>
                      <a:r>
                        <a:t>242,419</a:t>
                      </a:r>
                    </a:p>
                  </a:txBody>
                  <a:tcPr>
                    <a:solidFill>
                      <a:srgbClr val="D3E9E7"/>
                    </a:solidFill>
                  </a:tcPr>
                </a:tc>
                <a:tc>
                  <a:txBody>
                    <a:bodyPr/>
                    <a:lstStyle/>
                    <a:p>
                      <a:pPr algn="ctr">
                        <a:defRPr sz="1000" b="1">
                          <a:solidFill>
                            <a:srgbClr val="FFFFFF"/>
                          </a:solidFill>
                          <a:latin typeface="Montserrat"/>
                        </a:defRPr>
                      </a:pPr>
                      <a:r>
                        <a:t>374,828</a:t>
                      </a:r>
                    </a:p>
                  </a:txBody>
                  <a:tcPr>
                    <a:solidFill>
                      <a:srgbClr val="9F2241"/>
                    </a:solidFill>
                  </a:tcPr>
                </a:tc>
                <a:tc>
                  <a:txBody>
                    <a:bodyPr/>
                    <a:lstStyle/>
                    <a:p>
                      <a:pPr algn="ctr">
                        <a:defRPr sz="1000" b="1">
                          <a:solidFill>
                            <a:srgbClr val="FFFFFF"/>
                          </a:solidFill>
                          <a:latin typeface="Montserrat"/>
                        </a:defRPr>
                      </a:pPr>
                      <a:r>
                        <a:t>1,038,425</a:t>
                      </a:r>
                    </a:p>
                  </a:txBody>
                  <a:tcPr>
                    <a:solidFill>
                      <a:srgbClr val="9F2241"/>
                    </a:solidFill>
                  </a:tcPr>
                </a:tc>
                <a:tc>
                  <a:txBody>
                    <a:bodyPr/>
                    <a:lstStyle/>
                    <a:p>
                      <a:pPr algn="ctr">
                        <a:defRPr sz="1000" b="1">
                          <a:solidFill>
                            <a:srgbClr val="FFFFFF"/>
                          </a:solidFill>
                          <a:latin typeface="Montserrat"/>
                        </a:defRPr>
                      </a:pPr>
                      <a:r>
                        <a:t>36.1%</a:t>
                      </a:r>
                    </a:p>
                  </a:txBody>
                  <a:tcPr>
                    <a:solidFill>
                      <a:srgbClr val="9F2241"/>
                    </a:solidFill>
                  </a:tcPr>
                </a:tc>
              </a:tr>
            </a:tbl>
          </a:graphicData>
        </a:graphic>
      </p:graphicFrame>
      <p:graphicFrame>
        <p:nvGraphicFramePr>
          <p:cNvPr id="237" name="Table 236"/>
          <p:cNvGraphicFramePr>
            <a:graphicFrameLocks noGrp="1"/>
          </p:cNvGraphicFramePr>
          <p:nvPr/>
        </p:nvGraphicFramePr>
        <p:xfrm>
          <a:off x="144000" y="6102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242,025</a:t>
                      </a:r>
                    </a:p>
                  </a:txBody>
                  <a:tcPr>
                    <a:solidFill>
                      <a:srgbClr val="FFFFFF"/>
                    </a:solidFill>
                  </a:tcPr>
                </a:tc>
                <a:tc>
                  <a:txBody>
                    <a:bodyPr/>
                    <a:lstStyle/>
                    <a:p>
                      <a:pPr algn="ctr">
                        <a:defRPr sz="1000">
                          <a:latin typeface="Montserrat"/>
                        </a:defRPr>
                      </a:pPr>
                      <a:r>
                        <a:t>31,970</a:t>
                      </a:r>
                    </a:p>
                  </a:txBody>
                  <a:tcPr>
                    <a:solidFill>
                      <a:srgbClr val="FFFFFF"/>
                    </a:solidFill>
                  </a:tcPr>
                </a:tc>
                <a:tc>
                  <a:txBody>
                    <a:bodyPr/>
                    <a:lstStyle/>
                    <a:p>
                      <a:pPr algn="ctr">
                        <a:defRPr sz="1000">
                          <a:latin typeface="Montserrat"/>
                        </a:defRPr>
                      </a:pPr>
                      <a:r>
                        <a:t>96,345</a:t>
                      </a:r>
                    </a:p>
                  </a:txBody>
                  <a:tcPr>
                    <a:solidFill>
                      <a:srgbClr val="ECD3D9"/>
                    </a:solidFill>
                  </a:tcPr>
                </a:tc>
                <a:tc>
                  <a:txBody>
                    <a:bodyPr/>
                    <a:lstStyle/>
                    <a:p>
                      <a:pPr algn="ctr">
                        <a:defRPr sz="1000">
                          <a:latin typeface="Montserrat"/>
                        </a:defRPr>
                      </a:pPr>
                      <a:r>
                        <a:t>315,360</a:t>
                      </a:r>
                    </a:p>
                  </a:txBody>
                  <a:tcPr>
                    <a:solidFill>
                      <a:srgbClr val="ECD3D9"/>
                    </a:solidFill>
                  </a:tcPr>
                </a:tc>
                <a:tc>
                  <a:txBody>
                    <a:bodyPr/>
                    <a:lstStyle/>
                    <a:p>
                      <a:pPr algn="ctr">
                        <a:defRPr sz="1000">
                          <a:latin typeface="Montserrat"/>
                        </a:defRPr>
                      </a:pPr>
                      <a:r>
                        <a:t>30.6%</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242,025</a:t>
                      </a:r>
                    </a:p>
                  </a:txBody>
                  <a:tcPr>
                    <a:solidFill>
                      <a:srgbClr val="D3E9E7"/>
                    </a:solidFill>
                  </a:tcPr>
                </a:tc>
                <a:tc>
                  <a:txBody>
                    <a:bodyPr/>
                    <a:lstStyle/>
                    <a:p>
                      <a:pPr algn="ctr">
                        <a:defRPr sz="1000" b="1">
                          <a:solidFill>
                            <a:srgbClr val="006556"/>
                          </a:solidFill>
                          <a:latin typeface="Montserrat"/>
                        </a:defRPr>
                      </a:pPr>
                      <a:r>
                        <a:t>31,970</a:t>
                      </a:r>
                    </a:p>
                  </a:txBody>
                  <a:tcPr>
                    <a:solidFill>
                      <a:srgbClr val="D3E9E7"/>
                    </a:solidFill>
                  </a:tcPr>
                </a:tc>
                <a:tc>
                  <a:txBody>
                    <a:bodyPr/>
                    <a:lstStyle/>
                    <a:p>
                      <a:pPr algn="ctr">
                        <a:defRPr sz="1000" b="1">
                          <a:solidFill>
                            <a:srgbClr val="FFFFFF"/>
                          </a:solidFill>
                          <a:latin typeface="Montserrat"/>
                        </a:defRPr>
                      </a:pPr>
                      <a:r>
                        <a:t>96,345</a:t>
                      </a:r>
                    </a:p>
                  </a:txBody>
                  <a:tcPr>
                    <a:solidFill>
                      <a:srgbClr val="9F2241"/>
                    </a:solidFill>
                  </a:tcPr>
                </a:tc>
                <a:tc>
                  <a:txBody>
                    <a:bodyPr/>
                    <a:lstStyle/>
                    <a:p>
                      <a:pPr algn="ctr">
                        <a:defRPr sz="1000" b="1">
                          <a:solidFill>
                            <a:srgbClr val="FFFFFF"/>
                          </a:solidFill>
                          <a:latin typeface="Montserrat"/>
                        </a:defRPr>
                      </a:pPr>
                      <a:r>
                        <a:t>315,360</a:t>
                      </a:r>
                    </a:p>
                  </a:txBody>
                  <a:tcPr>
                    <a:solidFill>
                      <a:srgbClr val="9F2241"/>
                    </a:solidFill>
                  </a:tcPr>
                </a:tc>
                <a:tc>
                  <a:txBody>
                    <a:bodyPr/>
                    <a:lstStyle/>
                    <a:p>
                      <a:pPr algn="ctr">
                        <a:defRPr sz="1000" b="1">
                          <a:solidFill>
                            <a:srgbClr val="FFFFFF"/>
                          </a:solidFill>
                          <a:latin typeface="Montserrat"/>
                        </a:defRPr>
                      </a:pPr>
                      <a:r>
                        <a:t>30.6%</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1,144,122</a:t>
                      </a:r>
                    </a:p>
                  </a:txBody>
                  <a:tcPr>
                    <a:solidFill>
                      <a:srgbClr val="D3E9E7"/>
                    </a:solidFill>
                  </a:tcPr>
                </a:tc>
                <a:tc>
                  <a:txBody>
                    <a:bodyPr/>
                    <a:lstStyle/>
                    <a:p>
                      <a:pPr algn="ctr">
                        <a:defRPr sz="1000" b="1">
                          <a:solidFill>
                            <a:srgbClr val="006556"/>
                          </a:solidFill>
                          <a:latin typeface="Montserrat"/>
                        </a:defRPr>
                      </a:pPr>
                      <a:r>
                        <a:t>274,389</a:t>
                      </a:r>
                    </a:p>
                  </a:txBody>
                  <a:tcPr>
                    <a:solidFill>
                      <a:srgbClr val="D3E9E7"/>
                    </a:solidFill>
                  </a:tcPr>
                </a:tc>
                <a:tc>
                  <a:txBody>
                    <a:bodyPr/>
                    <a:lstStyle/>
                    <a:p>
                      <a:pPr algn="ctr">
                        <a:defRPr sz="1000" b="1">
                          <a:solidFill>
                            <a:srgbClr val="FFFFFF"/>
                          </a:solidFill>
                          <a:latin typeface="Montserrat"/>
                        </a:defRPr>
                      </a:pPr>
                      <a:r>
                        <a:t>471,173</a:t>
                      </a:r>
                    </a:p>
                  </a:txBody>
                  <a:tcPr>
                    <a:solidFill>
                      <a:srgbClr val="9F2241"/>
                    </a:solidFill>
                  </a:tcPr>
                </a:tc>
                <a:tc>
                  <a:txBody>
                    <a:bodyPr/>
                    <a:lstStyle/>
                    <a:p>
                      <a:pPr algn="ctr">
                        <a:defRPr sz="1000" b="1">
                          <a:solidFill>
                            <a:srgbClr val="FFFFFF"/>
                          </a:solidFill>
                          <a:latin typeface="Montserrat"/>
                        </a:defRPr>
                      </a:pPr>
                      <a:r>
                        <a:t>1,353,785</a:t>
                      </a:r>
                    </a:p>
                  </a:txBody>
                  <a:tcPr>
                    <a:solidFill>
                      <a:srgbClr val="9F2241"/>
                    </a:solidFill>
                  </a:tcPr>
                </a:tc>
                <a:tc>
                  <a:txBody>
                    <a:bodyPr/>
                    <a:lstStyle/>
                    <a:p>
                      <a:pPr algn="ctr">
                        <a:defRPr sz="1000" b="1">
                          <a:solidFill>
                            <a:srgbClr val="FFFFFF"/>
                          </a:solidFill>
                          <a:latin typeface="Montserrat"/>
                        </a:defRPr>
                      </a:pPr>
                      <a:r>
                        <a:t>34.8%</a:t>
                      </a:r>
                    </a:p>
                  </a:txBody>
                  <a:tcPr>
                    <a:solidFill>
                      <a:srgbClr val="9F2241"/>
                    </a:solidFill>
                  </a:tcPr>
                </a:tc>
              </a:tr>
            </a:tbl>
          </a:graphicData>
        </a:graphic>
      </p:graphicFrame>
      <p:graphicFrame>
        <p:nvGraphicFramePr>
          <p:cNvPr id="238" name="Chart 237"/>
          <p:cNvGraphicFramePr>
            <a:graphicFrameLocks noGrp="1"/>
          </p:cNvGraphicFramePr>
          <p:nvPr/>
        </p:nvGraphicFramePr>
        <p:xfrm>
          <a:off x="4780800" y="7974000"/>
          <a:ext cx="1800000" cy="1800000"/>
        </p:xfrm>
        <a:graphic>
          <a:graphicData uri="http://schemas.openxmlformats.org/drawingml/2006/chart">
            <c:chart xmlns:c="http://schemas.openxmlformats.org/drawingml/2006/chart" r:id="rId4"/>
          </a:graphicData>
        </a:graphic>
      </p:graphicFrame>
      <p:sp>
        <p:nvSpPr>
          <p:cNvPr id="239" name="TextBox 238"/>
          <p:cNvSpPr txBox="1"/>
          <p:nvPr/>
        </p:nvSpPr>
        <p:spPr>
          <a:xfrm>
            <a:off x="4780800" y="8694000"/>
            <a:ext cx="1800000" cy="360000"/>
          </a:xfrm>
          <a:prstGeom prst="rect">
            <a:avLst/>
          </a:prstGeom>
          <a:noFill/>
        </p:spPr>
        <p:txBody>
          <a:bodyPr wrap="none">
            <a:spAutoFit/>
          </a:bodyPr>
          <a:lstStyle/>
          <a:p>
            <a:pPr algn="ctr"/>
            <a:r>
              <a:rPr sz="2400" b="1">
                <a:solidFill>
                  <a:srgbClr val="9F2241"/>
                </a:solidFill>
                <a:latin typeface="Montserrat"/>
              </a:rPr>
              <a:t>34.8%</a:t>
            </a:r>
          </a:p>
        </p:txBody>
      </p:sp>
      <p:sp>
        <p:nvSpPr>
          <p:cNvPr id="240" name="TextBox 239"/>
          <p:cNvSpPr txBox="1"/>
          <p:nvPr/>
        </p:nvSpPr>
        <p:spPr>
          <a:xfrm>
            <a:off x="4780800" y="9594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1" name="TextBox 240"/>
          <p:cNvSpPr txBox="1"/>
          <p:nvPr/>
        </p:nvSpPr>
        <p:spPr>
          <a:xfrm>
            <a:off x="730799" y="7974000"/>
            <a:ext cx="2854800" cy="1198800"/>
          </a:xfrm>
          <a:prstGeom prst="rect">
            <a:avLst/>
          </a:prstGeom>
          <a:noFill/>
        </p:spPr>
        <p:txBody>
          <a:bodyPr wrap="square">
            <a:spAutoFit/>
          </a:bodyPr>
          <a:lstStyle/>
          <a:p>
            <a:pPr algn="ctr">
              <a:defRPr sz="3600" b="1">
                <a:solidFill>
                  <a:srgbClr val="9F2241"/>
                </a:solidFill>
                <a:latin typeface="Montserrat"/>
              </a:defRPr>
            </a:pPr>
            <a:r>
              <a:t>1,353,785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27595274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4550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6 Parras</a:t>
                      </a:r>
                    </a:p>
                  </a:txBody>
                  <a:tcPr>
                    <a:solidFill>
                      <a:srgbClr val="FFFFFF"/>
                    </a:solidFill>
                  </a:tcPr>
                </a:tc>
                <a:tc>
                  <a:txBody>
                    <a:bodyPr/>
                    <a:lstStyle/>
                    <a:p>
                      <a:pPr algn="ctr">
                        <a:defRPr sz="1000">
                          <a:latin typeface="Montserrat"/>
                        </a:defRPr>
                      </a:pPr>
                      <a:r>
                        <a:t>1,020</a:t>
                      </a:r>
                    </a:p>
                  </a:txBody>
                  <a:tcPr>
                    <a:solidFill>
                      <a:srgbClr val="FFFFFF"/>
                    </a:solidFill>
                  </a:tcPr>
                </a:tc>
                <a:tc>
                  <a:txBody>
                    <a:bodyPr/>
                    <a:lstStyle/>
                    <a:p>
                      <a:pPr algn="ctr">
                        <a:defRPr sz="1000">
                          <a:latin typeface="Montserrat"/>
                        </a:defRPr>
                      </a:pPr>
                      <a:r>
                        <a:t>570</a:t>
                      </a:r>
                    </a:p>
                  </a:txBody>
                  <a:tcPr>
                    <a:solidFill>
                      <a:srgbClr val="FFFFFF"/>
                    </a:solidFill>
                  </a:tcPr>
                </a:tc>
                <a:tc>
                  <a:txBody>
                    <a:bodyPr/>
                    <a:lstStyle/>
                    <a:p>
                      <a:pPr algn="ctr">
                        <a:defRPr sz="1000">
                          <a:latin typeface="Montserrat"/>
                        </a:defRPr>
                      </a:pPr>
                      <a:r>
                        <a:t>598</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47.7%</a:t>
                      </a:r>
                    </a:p>
                  </a:txBody>
                  <a:tcPr>
                    <a:solidFill>
                      <a:srgbClr val="ECD3D9"/>
                    </a:solidFill>
                  </a:tcPr>
                </a:tc>
              </a:tr>
              <a:tr h="284400">
                <a:tc>
                  <a:txBody>
                    <a:bodyPr/>
                    <a:lstStyle/>
                    <a:p>
                      <a:pPr algn="l">
                        <a:defRPr sz="1000">
                          <a:latin typeface="Montserrat"/>
                        </a:defRPr>
                      </a:pPr>
                      <a:r>
                        <a:t>UMAA 90 Torreón (Aut)</a:t>
                      </a:r>
                    </a:p>
                  </a:txBody>
                  <a:tcPr>
                    <a:solidFill>
                      <a:srgbClr val="EFEFEF"/>
                    </a:solidFill>
                  </a:tcPr>
                </a:tc>
                <a:tc>
                  <a:txBody>
                    <a:bodyPr/>
                    <a:lstStyle/>
                    <a:p>
                      <a:pPr algn="ctr">
                        <a:defRPr sz="1000">
                          <a:latin typeface="Montserrat"/>
                        </a:defRPr>
                      </a:pPr>
                      <a:r>
                        <a:t>7,359</a:t>
                      </a:r>
                    </a:p>
                  </a:txBody>
                  <a:tcPr>
                    <a:solidFill>
                      <a:srgbClr val="EFEFEF"/>
                    </a:solidFill>
                  </a:tcPr>
                </a:tc>
                <a:tc>
                  <a:txBody>
                    <a:bodyPr/>
                    <a:lstStyle/>
                    <a:p>
                      <a:pPr algn="ctr">
                        <a:defRPr sz="1000">
                          <a:latin typeface="Montserrat"/>
                        </a:defRPr>
                      </a:pPr>
                      <a:r>
                        <a:t>1,635</a:t>
                      </a:r>
                    </a:p>
                  </a:txBody>
                  <a:tcPr>
                    <a:solidFill>
                      <a:srgbClr val="EFEFEF"/>
                    </a:solidFill>
                  </a:tcPr>
                </a:tc>
                <a:tc>
                  <a:txBody>
                    <a:bodyPr/>
                    <a:lstStyle/>
                    <a:p>
                      <a:pPr algn="ctr">
                        <a:defRPr sz="1000">
                          <a:latin typeface="Montserrat"/>
                        </a:defRPr>
                      </a:pPr>
                      <a:r>
                        <a:t>3,217</a:t>
                      </a:r>
                    </a:p>
                  </a:txBody>
                  <a:tcPr>
                    <a:solidFill>
                      <a:srgbClr val="ECD3D9"/>
                    </a:solidFill>
                  </a:tcPr>
                </a:tc>
                <a:tc>
                  <a:txBody>
                    <a:bodyPr/>
                    <a:lstStyle/>
                    <a:p>
                      <a:pPr algn="ctr">
                        <a:defRPr sz="1000">
                          <a:latin typeface="Montserrat"/>
                        </a:defRPr>
                      </a:pPr>
                      <a:r>
                        <a:t>7,308</a:t>
                      </a:r>
                    </a:p>
                  </a:txBody>
                  <a:tcPr>
                    <a:solidFill>
                      <a:srgbClr val="ECD3D9"/>
                    </a:solidFill>
                  </a:tcPr>
                </a:tc>
                <a:tc>
                  <a:txBody>
                    <a:bodyPr/>
                    <a:lstStyle/>
                    <a:p>
                      <a:pPr algn="ctr">
                        <a:defRPr sz="1000">
                          <a:latin typeface="Montserrat"/>
                        </a:defRPr>
                      </a:pPr>
                      <a:r>
                        <a:t>44.0%</a:t>
                      </a:r>
                    </a:p>
                  </a:txBody>
                  <a:tcPr>
                    <a:solidFill>
                      <a:srgbClr val="ECD3D9"/>
                    </a:solidFill>
                  </a:tcPr>
                </a:tc>
              </a:tr>
              <a:tr h="284400">
                <a:tc>
                  <a:txBody>
                    <a:bodyPr/>
                    <a:lstStyle/>
                    <a:p>
                      <a:pPr algn="l">
                        <a:defRPr sz="1000">
                          <a:latin typeface="Montserrat"/>
                        </a:defRPr>
                      </a:pPr>
                      <a:r>
                        <a:t>HGSMF 27 Palau</a:t>
                      </a:r>
                    </a:p>
                  </a:txBody>
                  <a:tcPr>
                    <a:solidFill>
                      <a:srgbClr val="FFFFFF"/>
                    </a:solidFill>
                  </a:tcPr>
                </a:tc>
                <a:tc>
                  <a:txBody>
                    <a:bodyPr/>
                    <a:lstStyle/>
                    <a:p>
                      <a:pPr algn="ctr">
                        <a:defRPr sz="1000">
                          <a:latin typeface="Montserrat"/>
                        </a:defRPr>
                      </a:pPr>
                      <a:r>
                        <a:t>1,815</a:t>
                      </a:r>
                    </a:p>
                  </a:txBody>
                  <a:tcPr>
                    <a:solidFill>
                      <a:srgbClr val="FFFFFF"/>
                    </a:solidFill>
                  </a:tcPr>
                </a:tc>
                <a:tc>
                  <a:txBody>
                    <a:bodyPr/>
                    <a:lstStyle/>
                    <a:p>
                      <a:pPr algn="ctr">
                        <a:defRPr sz="1000">
                          <a:latin typeface="Montserrat"/>
                        </a:defRPr>
                      </a:pPr>
                      <a:r>
                        <a:t>1,184</a:t>
                      </a:r>
                    </a:p>
                  </a:txBody>
                  <a:tcPr>
                    <a:solidFill>
                      <a:srgbClr val="FFFFFF"/>
                    </a:solidFill>
                  </a:tcPr>
                </a:tc>
                <a:tc>
                  <a:txBody>
                    <a:bodyPr/>
                    <a:lstStyle/>
                    <a:p>
                      <a:pPr algn="ctr">
                        <a:defRPr sz="1000">
                          <a:latin typeface="Montserrat"/>
                        </a:defRPr>
                      </a:pPr>
                      <a:r>
                        <a:t>1,053</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42.0%</a:t>
                      </a:r>
                    </a:p>
                  </a:txBody>
                  <a:tcPr>
                    <a:solidFill>
                      <a:srgbClr val="ECD3D9"/>
                    </a:solidFill>
                  </a:tcPr>
                </a:tc>
              </a:tr>
              <a:tr h="284400">
                <a:tc>
                  <a:txBody>
                    <a:bodyPr/>
                    <a:lstStyle/>
                    <a:p>
                      <a:pPr algn="l">
                        <a:defRPr sz="1000">
                          <a:latin typeface="Montserrat"/>
                        </a:defRPr>
                      </a:pPr>
                      <a:r>
                        <a:t>HGS 13 Cd. Acuña</a:t>
                      </a:r>
                    </a:p>
                  </a:txBody>
                  <a:tcPr>
                    <a:solidFill>
                      <a:srgbClr val="EFEFEF"/>
                    </a:solidFill>
                  </a:tcPr>
                </a:tc>
                <a:tc>
                  <a:txBody>
                    <a:bodyPr/>
                    <a:lstStyle/>
                    <a:p>
                      <a:pPr algn="ctr">
                        <a:defRPr sz="1000">
                          <a:latin typeface="Montserrat"/>
                        </a:defRPr>
                      </a:pPr>
                      <a:r>
                        <a:t>2,291</a:t>
                      </a:r>
                    </a:p>
                  </a:txBody>
                  <a:tcPr>
                    <a:solidFill>
                      <a:srgbClr val="EFEFEF"/>
                    </a:solidFill>
                  </a:tcPr>
                </a:tc>
                <a:tc>
                  <a:txBody>
                    <a:bodyPr/>
                    <a:lstStyle/>
                    <a:p>
                      <a:pPr algn="ctr">
                        <a:defRPr sz="1000">
                          <a:latin typeface="Montserrat"/>
                        </a:defRPr>
                      </a:pPr>
                      <a:r>
                        <a:t>995</a:t>
                      </a:r>
                    </a:p>
                  </a:txBody>
                  <a:tcPr>
                    <a:solidFill>
                      <a:srgbClr val="EFEFEF"/>
                    </a:solidFill>
                  </a:tcPr>
                </a:tc>
                <a:tc>
                  <a:txBody>
                    <a:bodyPr/>
                    <a:lstStyle/>
                    <a:p>
                      <a:pPr algn="ctr">
                        <a:defRPr sz="1000">
                          <a:latin typeface="Montserrat"/>
                        </a:defRPr>
                      </a:pPr>
                      <a:r>
                        <a:t>1,519</a:t>
                      </a:r>
                    </a:p>
                  </a:txBody>
                  <a:tcPr>
                    <a:solidFill>
                      <a:srgbClr val="ECD3D9"/>
                    </a:solidFill>
                  </a:tcPr>
                </a:tc>
                <a:tc>
                  <a:txBody>
                    <a:bodyPr/>
                    <a:lstStyle/>
                    <a:p>
                      <a:pPr algn="ctr">
                        <a:defRPr sz="1000">
                          <a:latin typeface="Montserrat"/>
                        </a:defRPr>
                      </a:pPr>
                      <a:r>
                        <a:t>3,762</a:t>
                      </a:r>
                    </a:p>
                  </a:txBody>
                  <a:tcPr>
                    <a:solidFill>
                      <a:srgbClr val="ECD3D9"/>
                    </a:solidFill>
                  </a:tcPr>
                </a:tc>
                <a:tc>
                  <a:txBody>
                    <a:bodyPr/>
                    <a:lstStyle/>
                    <a:p>
                      <a:pPr algn="ctr">
                        <a:defRPr sz="1000">
                          <a:latin typeface="Montserrat"/>
                        </a:defRPr>
                      </a:pPr>
                      <a:r>
                        <a:t>40.4%</a:t>
                      </a:r>
                    </a:p>
                  </a:txBody>
                  <a:tcPr>
                    <a:solidFill>
                      <a:srgbClr val="ECD3D9"/>
                    </a:solidFill>
                  </a:tcPr>
                </a:tc>
              </a:tr>
              <a:tr h="284400">
                <a:tc>
                  <a:txBody>
                    <a:bodyPr/>
                    <a:lstStyle/>
                    <a:p>
                      <a:pPr algn="l">
                        <a:defRPr sz="1000">
                          <a:latin typeface="Montserrat"/>
                        </a:defRPr>
                      </a:pPr>
                      <a:r>
                        <a:t>HGZMF 2 Saltillo</a:t>
                      </a:r>
                    </a:p>
                  </a:txBody>
                  <a:tcPr>
                    <a:solidFill>
                      <a:srgbClr val="FFFFFF"/>
                    </a:solidFill>
                  </a:tcPr>
                </a:tc>
                <a:tc>
                  <a:txBody>
                    <a:bodyPr/>
                    <a:lstStyle/>
                    <a:p>
                      <a:pPr algn="ctr">
                        <a:defRPr sz="1000">
                          <a:latin typeface="Montserrat"/>
                        </a:defRPr>
                      </a:pPr>
                      <a:r>
                        <a:t>5,470</a:t>
                      </a:r>
                    </a:p>
                  </a:txBody>
                  <a:tcPr>
                    <a:solidFill>
                      <a:srgbClr val="FFFFFF"/>
                    </a:solidFill>
                  </a:tcPr>
                </a:tc>
                <a:tc>
                  <a:txBody>
                    <a:bodyPr/>
                    <a:lstStyle/>
                    <a:p>
                      <a:pPr algn="ctr">
                        <a:defRPr sz="1000">
                          <a:latin typeface="Montserrat"/>
                        </a:defRPr>
                      </a:pPr>
                      <a:r>
                        <a:t>1,157</a:t>
                      </a:r>
                    </a:p>
                  </a:txBody>
                  <a:tcPr>
                    <a:solidFill>
                      <a:srgbClr val="FFFFFF"/>
                    </a:solidFill>
                  </a:tcPr>
                </a:tc>
                <a:tc>
                  <a:txBody>
                    <a:bodyPr/>
                    <a:lstStyle/>
                    <a:p>
                      <a:pPr algn="ctr">
                        <a:defRPr sz="1000">
                          <a:latin typeface="Montserrat"/>
                        </a:defRPr>
                      </a:pPr>
                      <a:r>
                        <a:t>2,328</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39.8%</a:t>
                      </a:r>
                    </a:p>
                  </a:txBody>
                  <a:tcPr>
                    <a:solidFill>
                      <a:srgbClr val="ECD3D9"/>
                    </a:solidFill>
                  </a:tcPr>
                </a:tc>
              </a:tr>
              <a:tr h="284400">
                <a:tc>
                  <a:txBody>
                    <a:bodyPr/>
                    <a:lstStyle/>
                    <a:p>
                      <a:pPr algn="l">
                        <a:defRPr sz="1000">
                          <a:latin typeface="Montserrat"/>
                        </a:defRPr>
                      </a:pPr>
                      <a:r>
                        <a:t>HGSMF 21 S. Pedro Colonias</a:t>
                      </a:r>
                    </a:p>
                  </a:txBody>
                  <a:tcPr>
                    <a:solidFill>
                      <a:srgbClr val="EFEFEF"/>
                    </a:solidFill>
                  </a:tcPr>
                </a:tc>
                <a:tc>
                  <a:txBody>
                    <a:bodyPr/>
                    <a:lstStyle/>
                    <a:p>
                      <a:pPr algn="ctr">
                        <a:defRPr sz="1000">
                          <a:latin typeface="Montserrat"/>
                        </a:defRPr>
                      </a:pPr>
                      <a:r>
                        <a:t>2,027</a:t>
                      </a:r>
                    </a:p>
                  </a:txBody>
                  <a:tcPr>
                    <a:solidFill>
                      <a:srgbClr val="EFEFEF"/>
                    </a:solidFill>
                  </a:tcPr>
                </a:tc>
                <a:tc>
                  <a:txBody>
                    <a:bodyPr/>
                    <a:lstStyle/>
                    <a:p>
                      <a:pPr algn="ctr">
                        <a:defRPr sz="1000">
                          <a:latin typeface="Montserrat"/>
                        </a:defRPr>
                      </a:pPr>
                      <a:r>
                        <a:t>1,503</a:t>
                      </a:r>
                    </a:p>
                  </a:txBody>
                  <a:tcPr>
                    <a:solidFill>
                      <a:srgbClr val="EFEFEF"/>
                    </a:solidFill>
                  </a:tcPr>
                </a:tc>
                <a:tc>
                  <a:txBody>
                    <a:bodyPr/>
                    <a:lstStyle/>
                    <a:p>
                      <a:pPr algn="ctr">
                        <a:defRPr sz="1000">
                          <a:latin typeface="Montserrat"/>
                        </a:defRPr>
                      </a:pPr>
                      <a:r>
                        <a:t>704</a:t>
                      </a:r>
                    </a:p>
                  </a:txBody>
                  <a:tcPr>
                    <a:solidFill>
                      <a:srgbClr val="ECD3D9"/>
                    </a:solidFill>
                  </a:tcPr>
                </a:tc>
                <a:tc>
                  <a:txBody>
                    <a:bodyPr/>
                    <a:lstStyle/>
                    <a:p>
                      <a:pPr algn="ctr">
                        <a:defRPr sz="1000">
                          <a:latin typeface="Montserrat"/>
                        </a:defRPr>
                      </a:pPr>
                      <a:r>
                        <a:t>1,830</a:t>
                      </a:r>
                    </a:p>
                  </a:txBody>
                  <a:tcPr>
                    <a:solidFill>
                      <a:srgbClr val="ECD3D9"/>
                    </a:solidFill>
                  </a:tcPr>
                </a:tc>
                <a:tc>
                  <a:txBody>
                    <a:bodyPr/>
                    <a:lstStyle/>
                    <a:p>
                      <a:pPr algn="ctr">
                        <a:defRPr sz="1000">
                          <a:latin typeface="Montserrat"/>
                        </a:defRPr>
                      </a:pPr>
                      <a:r>
                        <a:t>38.5%</a:t>
                      </a:r>
                    </a:p>
                  </a:txBody>
                  <a:tcPr>
                    <a:solidFill>
                      <a:srgbClr val="ECD3D9"/>
                    </a:solidFill>
                  </a:tcPr>
                </a:tc>
              </a:tr>
              <a:tr h="284400">
                <a:tc>
                  <a:txBody>
                    <a:bodyPr/>
                    <a:lstStyle/>
                    <a:p>
                      <a:pPr algn="l">
                        <a:defRPr sz="1000">
                          <a:latin typeface="Montserrat"/>
                        </a:defRPr>
                      </a:pPr>
                      <a:r>
                        <a:t>HGZMF 16 Torreón</a:t>
                      </a:r>
                    </a:p>
                  </a:txBody>
                  <a:tcPr>
                    <a:solidFill>
                      <a:srgbClr val="FFFFFF"/>
                    </a:solidFill>
                  </a:tcPr>
                </a:tc>
                <a:tc>
                  <a:txBody>
                    <a:bodyPr/>
                    <a:lstStyle/>
                    <a:p>
                      <a:pPr algn="ctr">
                        <a:defRPr sz="1000">
                          <a:latin typeface="Montserrat"/>
                        </a:defRPr>
                      </a:pPr>
                      <a:r>
                        <a:t>10,223</a:t>
                      </a:r>
                    </a:p>
                  </a:txBody>
                  <a:tcPr>
                    <a:solidFill>
                      <a:srgbClr val="FFFFFF"/>
                    </a:solidFill>
                  </a:tcPr>
                </a:tc>
                <a:tc>
                  <a:txBody>
                    <a:bodyPr/>
                    <a:lstStyle/>
                    <a:p>
                      <a:pPr algn="ctr">
                        <a:defRPr sz="1000">
                          <a:latin typeface="Montserrat"/>
                        </a:defRPr>
                      </a:pPr>
                      <a:r>
                        <a:t>465</a:t>
                      </a:r>
                    </a:p>
                  </a:txBody>
                  <a:tcPr>
                    <a:solidFill>
                      <a:srgbClr val="FFFFFF"/>
                    </a:solidFill>
                  </a:tcPr>
                </a:tc>
                <a:tc>
                  <a:txBody>
                    <a:bodyPr/>
                    <a:lstStyle/>
                    <a:p>
                      <a:pPr algn="ctr">
                        <a:defRPr sz="1000">
                          <a:latin typeface="Montserrat"/>
                        </a:defRPr>
                      </a:pPr>
                      <a:r>
                        <a:t>4,082</a:t>
                      </a:r>
                    </a:p>
                  </a:txBody>
                  <a:tcPr>
                    <a:solidFill>
                      <a:srgbClr val="ECD3D9"/>
                    </a:solidFill>
                  </a:tcPr>
                </a:tc>
                <a:tc>
                  <a:txBody>
                    <a:bodyPr/>
                    <a:lstStyle/>
                    <a:p>
                      <a:pPr algn="ctr">
                        <a:defRPr sz="1000">
                          <a:latin typeface="Montserrat"/>
                        </a:defRPr>
                      </a:pPr>
                      <a:r>
                        <a:t>11,712</a:t>
                      </a:r>
                    </a:p>
                  </a:txBody>
                  <a:tcPr>
                    <a:solidFill>
                      <a:srgbClr val="ECD3D9"/>
                    </a:solidFill>
                  </a:tcPr>
                </a:tc>
                <a:tc>
                  <a:txBody>
                    <a:bodyPr/>
                    <a:lstStyle/>
                    <a:p>
                      <a:pPr algn="ctr">
                        <a:defRPr sz="1000">
                          <a:latin typeface="Montserrat"/>
                        </a:defRPr>
                      </a:pPr>
                      <a:r>
                        <a:t>34.9%</a:t>
                      </a:r>
                    </a:p>
                  </a:txBody>
                  <a:tcPr>
                    <a:solidFill>
                      <a:srgbClr val="ECD3D9"/>
                    </a:solidFill>
                  </a:tcPr>
                </a:tc>
              </a:tr>
              <a:tr h="284400">
                <a:tc>
                  <a:txBody>
                    <a:bodyPr/>
                    <a:lstStyle/>
                    <a:p>
                      <a:pPr algn="l">
                        <a:defRPr sz="1000">
                          <a:latin typeface="Montserrat"/>
                        </a:defRPr>
                      </a:pPr>
                      <a:r>
                        <a:t>HGZMF 24 Nueva Rosita</a:t>
                      </a:r>
                    </a:p>
                  </a:txBody>
                  <a:tcPr>
                    <a:solidFill>
                      <a:srgbClr val="EFEFEF"/>
                    </a:solidFill>
                  </a:tcPr>
                </a:tc>
                <a:tc>
                  <a:txBody>
                    <a:bodyPr/>
                    <a:lstStyle/>
                    <a:p>
                      <a:pPr algn="ctr">
                        <a:defRPr sz="1000">
                          <a:latin typeface="Montserrat"/>
                        </a:defRPr>
                      </a:pPr>
                      <a:r>
                        <a:t>3,207</a:t>
                      </a:r>
                    </a:p>
                  </a:txBody>
                  <a:tcPr>
                    <a:solidFill>
                      <a:srgbClr val="EFEFEF"/>
                    </a:solidFill>
                  </a:tcPr>
                </a:tc>
                <a:tc>
                  <a:txBody>
                    <a:bodyPr/>
                    <a:lstStyle/>
                    <a:p>
                      <a:pPr algn="ctr">
                        <a:defRPr sz="1000">
                          <a:latin typeface="Montserrat"/>
                        </a:defRPr>
                      </a:pPr>
                      <a:r>
                        <a:t>1,375</a:t>
                      </a:r>
                    </a:p>
                  </a:txBody>
                  <a:tcPr>
                    <a:solidFill>
                      <a:srgbClr val="EFEFEF"/>
                    </a:solidFill>
                  </a:tcPr>
                </a:tc>
                <a:tc>
                  <a:txBody>
                    <a:bodyPr/>
                    <a:lstStyle/>
                    <a:p>
                      <a:pPr algn="ctr">
                        <a:defRPr sz="1000">
                          <a:latin typeface="Montserrat"/>
                        </a:defRPr>
                      </a:pPr>
                      <a:r>
                        <a:t>1,414</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34.7%</a:t>
                      </a:r>
                    </a:p>
                  </a:txBody>
                  <a:tcPr>
                    <a:solidFill>
                      <a:srgbClr val="ECD3D9"/>
                    </a:solidFill>
                  </a:tcPr>
                </a:tc>
              </a:tr>
              <a:tr h="284400">
                <a:tc>
                  <a:txBody>
                    <a:bodyPr/>
                    <a:lstStyle/>
                    <a:p>
                      <a:pPr algn="l">
                        <a:defRPr sz="1000">
                          <a:latin typeface="Montserrat"/>
                        </a:defRPr>
                      </a:pPr>
                      <a:r>
                        <a:t>HGZ 1 Saltillo</a:t>
                      </a:r>
                    </a:p>
                  </a:txBody>
                  <a:tcPr>
                    <a:solidFill>
                      <a:srgbClr val="FFFFFF"/>
                    </a:solidFill>
                  </a:tcPr>
                </a:tc>
                <a:tc>
                  <a:txBody>
                    <a:bodyPr/>
                    <a:lstStyle/>
                    <a:p>
                      <a:pPr algn="ctr">
                        <a:defRPr sz="1000">
                          <a:latin typeface="Montserrat"/>
                        </a:defRPr>
                      </a:pPr>
                      <a:r>
                        <a:t>8,321</a:t>
                      </a:r>
                    </a:p>
                  </a:txBody>
                  <a:tcPr>
                    <a:solidFill>
                      <a:srgbClr val="FFFFFF"/>
                    </a:solidFill>
                  </a:tcPr>
                </a:tc>
                <a:tc>
                  <a:txBody>
                    <a:bodyPr/>
                    <a:lstStyle/>
                    <a:p>
                      <a:pPr algn="ctr">
                        <a:defRPr sz="1000">
                          <a:latin typeface="Montserrat"/>
                        </a:defRPr>
                      </a:pPr>
                      <a:r>
                        <a:t>366</a:t>
                      </a:r>
                    </a:p>
                  </a:txBody>
                  <a:tcPr>
                    <a:solidFill>
                      <a:srgbClr val="FFFFFF"/>
                    </a:solidFill>
                  </a:tcPr>
                </a:tc>
                <a:tc>
                  <a:txBody>
                    <a:bodyPr/>
                    <a:lstStyle/>
                    <a:p>
                      <a:pPr algn="ctr">
                        <a:defRPr sz="1000">
                          <a:latin typeface="Montserrat"/>
                        </a:defRPr>
                      </a:pPr>
                      <a:r>
                        <a:t>3,459</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33.8%</a:t>
                      </a:r>
                    </a:p>
                  </a:txBody>
                  <a:tcPr>
                    <a:solidFill>
                      <a:srgbClr val="ECD3D9"/>
                    </a:solidFill>
                  </a:tcPr>
                </a:tc>
              </a:tr>
              <a:tr h="284400">
                <a:tc>
                  <a:txBody>
                    <a:bodyPr/>
                    <a:lstStyle/>
                    <a:p>
                      <a:pPr algn="l">
                        <a:defRPr sz="1000">
                          <a:latin typeface="Montserrat"/>
                        </a:defRPr>
                      </a:pPr>
                      <a:r>
                        <a:t>HGZMF 18 Torreón</a:t>
                      </a:r>
                    </a:p>
                  </a:txBody>
                  <a:tcPr>
                    <a:solidFill>
                      <a:srgbClr val="EFEFEF"/>
                    </a:solidFill>
                  </a:tcPr>
                </a:tc>
                <a:tc>
                  <a:txBody>
                    <a:bodyPr/>
                    <a:lstStyle/>
                    <a:p>
                      <a:pPr algn="ctr">
                        <a:defRPr sz="1000">
                          <a:latin typeface="Montserrat"/>
                        </a:defRPr>
                      </a:pPr>
                      <a:r>
                        <a:t>2,927</a:t>
                      </a:r>
                    </a:p>
                  </a:txBody>
                  <a:tcPr>
                    <a:solidFill>
                      <a:srgbClr val="EFEFEF"/>
                    </a:solidFill>
                  </a:tcPr>
                </a:tc>
                <a:tc>
                  <a:txBody>
                    <a:bodyPr/>
                    <a:lstStyle/>
                    <a:p>
                      <a:pPr algn="ctr">
                        <a:defRPr sz="1000">
                          <a:latin typeface="Montserrat"/>
                        </a:defRPr>
                      </a:pPr>
                      <a:r>
                        <a:t>528</a:t>
                      </a:r>
                    </a:p>
                  </a:txBody>
                  <a:tcPr>
                    <a:solidFill>
                      <a:srgbClr val="EFEFEF"/>
                    </a:solidFill>
                  </a:tcPr>
                </a:tc>
                <a:tc>
                  <a:txBody>
                    <a:bodyPr/>
                    <a:lstStyle/>
                    <a:p>
                      <a:pPr algn="ctr">
                        <a:defRPr sz="1000">
                          <a:latin typeface="Montserrat"/>
                        </a:defRPr>
                      </a:pPr>
                      <a:r>
                        <a:t>1,364</a:t>
                      </a:r>
                    </a:p>
                  </a:txBody>
                  <a:tcPr>
                    <a:solidFill>
                      <a:srgbClr val="ECD3D9"/>
                    </a:solidFill>
                  </a:tcPr>
                </a:tc>
                <a:tc>
                  <a:txBody>
                    <a:bodyPr/>
                    <a:lstStyle/>
                    <a:p>
                      <a:pPr algn="ctr">
                        <a:defRPr sz="1000">
                          <a:latin typeface="Montserrat"/>
                        </a:defRPr>
                      </a:pPr>
                      <a:r>
                        <a:t>4,077</a:t>
                      </a:r>
                    </a:p>
                  </a:txBody>
                  <a:tcPr>
                    <a:solidFill>
                      <a:srgbClr val="ECD3D9"/>
                    </a:solidFill>
                  </a:tcPr>
                </a:tc>
                <a:tc>
                  <a:txBody>
                    <a:bodyPr/>
                    <a:lstStyle/>
                    <a:p>
                      <a:pPr algn="ctr">
                        <a:defRPr sz="1000">
                          <a:latin typeface="Montserrat"/>
                        </a:defRPr>
                      </a:pPr>
                      <a:r>
                        <a:t>33.5%</a:t>
                      </a:r>
                    </a:p>
                  </a:txBody>
                  <a:tcPr>
                    <a:solidFill>
                      <a:srgbClr val="ECD3D9"/>
                    </a:solidFill>
                  </a:tcPr>
                </a:tc>
              </a:tr>
              <a:tr h="284400">
                <a:tc>
                  <a:txBody>
                    <a:bodyPr/>
                    <a:lstStyle/>
                    <a:p>
                      <a:pPr algn="l">
                        <a:defRPr sz="1000">
                          <a:latin typeface="Montserrat"/>
                        </a:defRPr>
                      </a:pPr>
                      <a:r>
                        <a:t>HGZ 11 Piedras Negras</a:t>
                      </a:r>
                    </a:p>
                  </a:txBody>
                  <a:tcPr>
                    <a:solidFill>
                      <a:srgbClr val="FFFFFF"/>
                    </a:solidFill>
                  </a:tcPr>
                </a:tc>
                <a:tc>
                  <a:txBody>
                    <a:bodyPr/>
                    <a:lstStyle/>
                    <a:p>
                      <a:pPr algn="ctr">
                        <a:defRPr sz="1000">
                          <a:latin typeface="Montserrat"/>
                        </a:defRPr>
                      </a:pPr>
                      <a:r>
                        <a:t>4,558</a:t>
                      </a:r>
                    </a:p>
                  </a:txBody>
                  <a:tcPr>
                    <a:solidFill>
                      <a:srgbClr val="FFFFFF"/>
                    </a:solidFill>
                  </a:tcPr>
                </a:tc>
                <a:tc>
                  <a:txBody>
                    <a:bodyPr/>
                    <a:lstStyle/>
                    <a:p>
                      <a:pPr algn="ctr">
                        <a:defRPr sz="1000">
                          <a:latin typeface="Montserrat"/>
                        </a:defRPr>
                      </a:pPr>
                      <a:r>
                        <a:t>1,319</a:t>
                      </a:r>
                    </a:p>
                  </a:txBody>
                  <a:tcPr>
                    <a:solidFill>
                      <a:srgbClr val="FFFFFF"/>
                    </a:solidFill>
                  </a:tcPr>
                </a:tc>
                <a:tc>
                  <a:txBody>
                    <a:bodyPr/>
                    <a:lstStyle/>
                    <a:p>
                      <a:pPr algn="ctr">
                        <a:defRPr sz="1000">
                          <a:latin typeface="Montserrat"/>
                        </a:defRPr>
                      </a:pPr>
                      <a:r>
                        <a:t>2,269</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33.4%</a:t>
                      </a:r>
                    </a:p>
                  </a:txBody>
                  <a:tcPr>
                    <a:solidFill>
                      <a:srgbClr val="ECD3D9"/>
                    </a:solidFill>
                  </a:tcPr>
                </a:tc>
              </a:tr>
              <a:tr h="284400">
                <a:tc>
                  <a:txBody>
                    <a:bodyPr/>
                    <a:lstStyle/>
                    <a:p>
                      <a:pPr algn="l">
                        <a:defRPr sz="1000">
                          <a:latin typeface="Montserrat"/>
                        </a:defRPr>
                      </a:pPr>
                      <a:r>
                        <a:t>HGZ 92 Coahuila</a:t>
                      </a:r>
                    </a:p>
                  </a:txBody>
                  <a:tcPr>
                    <a:solidFill>
                      <a:srgbClr val="EFEFEF"/>
                    </a:solidFill>
                  </a:tcPr>
                </a:tc>
                <a:tc>
                  <a:txBody>
                    <a:bodyPr/>
                    <a:lstStyle/>
                    <a:p>
                      <a:pPr algn="ctr">
                        <a:defRPr sz="1000">
                          <a:latin typeface="Montserrat"/>
                        </a:defRPr>
                      </a:pPr>
                      <a:r>
                        <a:t>3,839</a:t>
                      </a:r>
                    </a:p>
                  </a:txBody>
                  <a:tcPr>
                    <a:solidFill>
                      <a:srgbClr val="EFEFEF"/>
                    </a:solidFill>
                  </a:tcPr>
                </a:tc>
                <a:tc>
                  <a:txBody>
                    <a:bodyPr/>
                    <a:lstStyle/>
                    <a:p>
                      <a:pPr algn="ctr">
                        <a:defRPr sz="1000">
                          <a:latin typeface="Montserrat"/>
                        </a:defRPr>
                      </a:pPr>
                      <a:r>
                        <a:t>1,458</a:t>
                      </a:r>
                    </a:p>
                  </a:txBody>
                  <a:tcPr>
                    <a:solidFill>
                      <a:srgbClr val="EFEFEF"/>
                    </a:solidFill>
                  </a:tcPr>
                </a:tc>
                <a:tc>
                  <a:txBody>
                    <a:bodyPr/>
                    <a:lstStyle/>
                    <a:p>
                      <a:pPr algn="ctr">
                        <a:defRPr sz="1000">
                          <a:latin typeface="Montserrat"/>
                        </a:defRPr>
                      </a:pPr>
                      <a:r>
                        <a:t>1,310</a:t>
                      </a:r>
                    </a:p>
                  </a:txBody>
                  <a:tcPr>
                    <a:solidFill>
                      <a:srgbClr val="ECD3D9"/>
                    </a:solidFill>
                  </a:tcPr>
                </a:tc>
                <a:tc>
                  <a:txBody>
                    <a:bodyPr/>
                    <a:lstStyle/>
                    <a:p>
                      <a:pPr algn="ctr">
                        <a:defRPr sz="1000">
                          <a:latin typeface="Montserrat"/>
                        </a:defRPr>
                      </a:pPr>
                      <a:r>
                        <a:t>4,182</a:t>
                      </a:r>
                    </a:p>
                  </a:txBody>
                  <a:tcPr>
                    <a:solidFill>
                      <a:srgbClr val="ECD3D9"/>
                    </a:solidFill>
                  </a:tcPr>
                </a:tc>
                <a:tc>
                  <a:txBody>
                    <a:bodyPr/>
                    <a:lstStyle/>
                    <a:p>
                      <a:pPr algn="ctr">
                        <a:defRPr sz="1000">
                          <a:latin typeface="Montserrat"/>
                        </a:defRPr>
                      </a:pPr>
                      <a:r>
                        <a:t>31.3%</a:t>
                      </a:r>
                    </a:p>
                  </a:txBody>
                  <a:tcPr>
                    <a:solidFill>
                      <a:srgbClr val="ECD3D9"/>
                    </a:solidFill>
                  </a:tcPr>
                </a:tc>
              </a:tr>
              <a:tr h="284400">
                <a:tc>
                  <a:txBody>
                    <a:bodyPr/>
                    <a:lstStyle/>
                    <a:p>
                      <a:pPr algn="l">
                        <a:defRPr sz="1000">
                          <a:latin typeface="Montserrat"/>
                        </a:defRPr>
                      </a:pPr>
                      <a:r>
                        <a:t>HGSMF 20 Fco. I. Madero</a:t>
                      </a:r>
                    </a:p>
                  </a:txBody>
                  <a:tcPr>
                    <a:solidFill>
                      <a:srgbClr val="FFFFFF"/>
                    </a:solidFill>
                  </a:tcPr>
                </a:tc>
                <a:tc>
                  <a:txBody>
                    <a:bodyPr/>
                    <a:lstStyle/>
                    <a:p>
                      <a:pPr algn="ctr">
                        <a:defRPr sz="1000">
                          <a:latin typeface="Montserrat"/>
                        </a:defRPr>
                      </a:pPr>
                      <a:r>
                        <a:t>2,270</a:t>
                      </a:r>
                    </a:p>
                  </a:txBody>
                  <a:tcPr>
                    <a:solidFill>
                      <a:srgbClr val="FFFFFF"/>
                    </a:solidFill>
                  </a:tcPr>
                </a:tc>
                <a:tc>
                  <a:txBody>
                    <a:bodyPr/>
                    <a:lstStyle/>
                    <a:p>
                      <a:pPr algn="ctr">
                        <a:defRPr sz="1000">
                          <a:latin typeface="Montserrat"/>
                        </a:defRPr>
                      </a:pPr>
                      <a:r>
                        <a:t>1,915</a:t>
                      </a:r>
                    </a:p>
                  </a:txBody>
                  <a:tcPr>
                    <a:solidFill>
                      <a:srgbClr val="FFFFFF"/>
                    </a:solidFill>
                  </a:tcPr>
                </a:tc>
                <a:tc>
                  <a:txBody>
                    <a:bodyPr/>
                    <a:lstStyle/>
                    <a:p>
                      <a:pPr algn="ctr">
                        <a:defRPr sz="1000">
                          <a:latin typeface="Montserrat"/>
                        </a:defRPr>
                      </a:pPr>
                      <a:r>
                        <a:t>1,026</a:t>
                      </a:r>
                    </a:p>
                  </a:txBody>
                  <a:tcPr>
                    <a:solidFill>
                      <a:srgbClr val="ECD3D9"/>
                    </a:solidFill>
                  </a:tcPr>
                </a:tc>
                <a:tc>
                  <a:txBody>
                    <a:bodyPr/>
                    <a:lstStyle/>
                    <a:p>
                      <a:pPr algn="ctr">
                        <a:defRPr sz="1000">
                          <a:latin typeface="Montserrat"/>
                        </a:defRPr>
                      </a:pPr>
                      <a:r>
                        <a:t>3,762</a:t>
                      </a:r>
                    </a:p>
                  </a:txBody>
                  <a:tcPr>
                    <a:solidFill>
                      <a:srgbClr val="ECD3D9"/>
                    </a:solidFill>
                  </a:tcPr>
                </a:tc>
                <a:tc>
                  <a:txBody>
                    <a:bodyPr/>
                    <a:lstStyle/>
                    <a:p>
                      <a:pPr algn="ctr">
                        <a:defRPr sz="1000">
                          <a:latin typeface="Montserrat"/>
                        </a:defRPr>
                      </a:pPr>
                      <a:r>
                        <a:t>27.3%</a:t>
                      </a:r>
                    </a:p>
                  </a:txBody>
                  <a:tcPr>
                    <a:solidFill>
                      <a:srgbClr val="ECD3D9"/>
                    </a:solidFill>
                  </a:tcPr>
                </a:tc>
              </a:tr>
              <a:tr h="284400">
                <a:tc>
                  <a:txBody>
                    <a:bodyPr/>
                    <a:lstStyle/>
                    <a:p>
                      <a:pPr algn="l">
                        <a:defRPr sz="1000">
                          <a:latin typeface="Montserrat"/>
                        </a:defRPr>
                      </a:pPr>
                      <a:r>
                        <a:t>HGZMF 7 Monclova</a:t>
                      </a:r>
                    </a:p>
                  </a:txBody>
                  <a:tcPr>
                    <a:solidFill>
                      <a:srgbClr val="EFEFEF"/>
                    </a:solidFill>
                  </a:tcPr>
                </a:tc>
                <a:tc>
                  <a:txBody>
                    <a:bodyPr/>
                    <a:lstStyle/>
                    <a:p>
                      <a:pPr algn="ctr">
                        <a:defRPr sz="1000">
                          <a:latin typeface="Montserrat"/>
                        </a:defRPr>
                      </a:pPr>
                      <a:r>
                        <a:t>8,932</a:t>
                      </a:r>
                    </a:p>
                  </a:txBody>
                  <a:tcPr>
                    <a:solidFill>
                      <a:srgbClr val="EFEFEF"/>
                    </a:solidFill>
                  </a:tcPr>
                </a:tc>
                <a:tc>
                  <a:txBody>
                    <a:bodyPr/>
                    <a:lstStyle/>
                    <a:p>
                      <a:pPr algn="ctr">
                        <a:defRPr sz="1000">
                          <a:latin typeface="Montserrat"/>
                        </a:defRPr>
                      </a:pPr>
                      <a:r>
                        <a:t>1,691</a:t>
                      </a:r>
                    </a:p>
                  </a:txBody>
                  <a:tcPr>
                    <a:solidFill>
                      <a:srgbClr val="EFEFEF"/>
                    </a:solidFill>
                  </a:tcPr>
                </a:tc>
                <a:tc>
                  <a:txBody>
                    <a:bodyPr/>
                    <a:lstStyle/>
                    <a:p>
                      <a:pPr algn="ctr">
                        <a:defRPr sz="1000">
                          <a:latin typeface="Montserrat"/>
                        </a:defRPr>
                      </a:pPr>
                      <a:r>
                        <a:t>2,309</a:t>
                      </a:r>
                    </a:p>
                  </a:txBody>
                  <a:tcPr>
                    <a:solidFill>
                      <a:srgbClr val="ECD3D9"/>
                    </a:solidFill>
                  </a:tcPr>
                </a:tc>
                <a:tc>
                  <a:txBody>
                    <a:bodyPr/>
                    <a:lstStyle/>
                    <a:p>
                      <a:pPr algn="ctr">
                        <a:defRPr sz="1000">
                          <a:latin typeface="Montserrat"/>
                        </a:defRPr>
                      </a:pPr>
                      <a:r>
                        <a:t>10,613</a:t>
                      </a:r>
                    </a:p>
                  </a:txBody>
                  <a:tcPr>
                    <a:solidFill>
                      <a:srgbClr val="ECD3D9"/>
                    </a:solidFill>
                  </a:tcPr>
                </a:tc>
                <a:tc>
                  <a:txBody>
                    <a:bodyPr/>
                    <a:lstStyle/>
                    <a:p>
                      <a:pPr algn="ctr">
                        <a:defRPr sz="1000">
                          <a:latin typeface="Montserrat"/>
                        </a:defRPr>
                      </a:pPr>
                      <a:r>
                        <a:t>21.8%</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64,259</a:t>
                      </a:r>
                    </a:p>
                  </a:txBody>
                  <a:tcPr>
                    <a:solidFill>
                      <a:srgbClr val="D3E9E7"/>
                    </a:solidFill>
                  </a:tcPr>
                </a:tc>
                <a:tc>
                  <a:txBody>
                    <a:bodyPr/>
                    <a:lstStyle/>
                    <a:p>
                      <a:pPr algn="ctr">
                        <a:defRPr sz="1000" b="1">
                          <a:solidFill>
                            <a:srgbClr val="006556"/>
                          </a:solidFill>
                          <a:latin typeface="Montserrat"/>
                        </a:defRPr>
                      </a:pPr>
                      <a:r>
                        <a:t>16,161</a:t>
                      </a:r>
                    </a:p>
                  </a:txBody>
                  <a:tcPr>
                    <a:solidFill>
                      <a:srgbClr val="D3E9E7"/>
                    </a:solidFill>
                  </a:tcPr>
                </a:tc>
                <a:tc>
                  <a:txBody>
                    <a:bodyPr/>
                    <a:lstStyle/>
                    <a:p>
                      <a:pPr algn="ctr">
                        <a:defRPr sz="1000" b="1">
                          <a:solidFill>
                            <a:srgbClr val="FFFFFF"/>
                          </a:solidFill>
                          <a:latin typeface="Montserrat"/>
                        </a:defRPr>
                      </a:pPr>
                      <a:r>
                        <a:t>26,652</a:t>
                      </a:r>
                    </a:p>
                  </a:txBody>
                  <a:tcPr>
                    <a:solidFill>
                      <a:srgbClr val="9F2241"/>
                    </a:solidFill>
                  </a:tcPr>
                </a:tc>
                <a:tc>
                  <a:txBody>
                    <a:bodyPr/>
                    <a:lstStyle/>
                    <a:p>
                      <a:pPr algn="ctr">
                        <a:defRPr sz="1000" b="1">
                          <a:solidFill>
                            <a:srgbClr val="FFFFFF"/>
                          </a:solidFill>
                          <a:latin typeface="Montserrat"/>
                        </a:defRPr>
                      </a:pPr>
                      <a:r>
                        <a:t>77,984</a:t>
                      </a:r>
                    </a:p>
                  </a:txBody>
                  <a:tcPr>
                    <a:solidFill>
                      <a:srgbClr val="9F2241"/>
                    </a:solidFill>
                  </a:tcPr>
                </a:tc>
                <a:tc>
                  <a:txBody>
                    <a:bodyPr/>
                    <a:lstStyle/>
                    <a:p>
                      <a:pPr algn="ctr">
                        <a:defRPr sz="1000" b="1">
                          <a:solidFill>
                            <a:srgbClr val="FFFFFF"/>
                          </a:solidFill>
                          <a:latin typeface="Montserrat"/>
                        </a:defRPr>
                      </a:pPr>
                      <a:r>
                        <a:t>34.2%</a:t>
                      </a:r>
                    </a:p>
                  </a:txBody>
                  <a:tcPr>
                    <a:solidFill>
                      <a:srgbClr val="9F2241"/>
                    </a:solidFill>
                  </a:tcPr>
                </a:tc>
              </a:tr>
            </a:tbl>
          </a:graphicData>
        </a:graphic>
      </p:graphicFrame>
      <p:graphicFrame>
        <p:nvGraphicFramePr>
          <p:cNvPr id="234" name="Table 233"/>
          <p:cNvGraphicFramePr>
            <a:graphicFrameLocks noGrp="1"/>
          </p:cNvGraphicFramePr>
          <p:nvPr/>
        </p:nvGraphicFramePr>
        <p:xfrm>
          <a:off x="144000" y="5745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15,392</a:t>
                      </a:r>
                    </a:p>
                  </a:txBody>
                  <a:tcPr>
                    <a:solidFill>
                      <a:srgbClr val="FFFFFF"/>
                    </a:solidFill>
                  </a:tcPr>
                </a:tc>
                <a:tc>
                  <a:txBody>
                    <a:bodyPr/>
                    <a:lstStyle/>
                    <a:p>
                      <a:pPr algn="ctr">
                        <a:defRPr sz="1000">
                          <a:latin typeface="Montserrat"/>
                        </a:defRPr>
                      </a:pPr>
                      <a:r>
                        <a:t>4,927</a:t>
                      </a:r>
                    </a:p>
                  </a:txBody>
                  <a:tcPr>
                    <a:solidFill>
                      <a:srgbClr val="FFFFFF"/>
                    </a:solidFill>
                  </a:tcPr>
                </a:tc>
                <a:tc>
                  <a:txBody>
                    <a:bodyPr/>
                    <a:lstStyle/>
                    <a:p>
                      <a:pPr algn="ctr">
                        <a:defRPr sz="1000">
                          <a:latin typeface="Montserrat"/>
                        </a:defRPr>
                      </a:pPr>
                      <a:r>
                        <a:t>7,801</a:t>
                      </a:r>
                    </a:p>
                  </a:txBody>
                  <a:tcPr>
                    <a:solidFill>
                      <a:srgbClr val="ECD3D9"/>
                    </a:solidFill>
                  </a:tcPr>
                </a:tc>
                <a:tc>
                  <a:txBody>
                    <a:bodyPr/>
                    <a:lstStyle/>
                    <a:p>
                      <a:pPr algn="ctr">
                        <a:defRPr sz="1000">
                          <a:latin typeface="Montserrat"/>
                        </a:defRPr>
                      </a:pPr>
                      <a:r>
                        <a:t>17,250</a:t>
                      </a:r>
                    </a:p>
                  </a:txBody>
                  <a:tcPr>
                    <a:solidFill>
                      <a:srgbClr val="ECD3D9"/>
                    </a:solidFill>
                  </a:tcPr>
                </a:tc>
                <a:tc>
                  <a:txBody>
                    <a:bodyPr/>
                    <a:lstStyle/>
                    <a:p>
                      <a:pPr algn="ctr">
                        <a:defRPr sz="1000">
                          <a:latin typeface="Montserrat"/>
                        </a:defRPr>
                      </a:pPr>
                      <a:r>
                        <a:t>45.2%</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15,392</a:t>
                      </a:r>
                    </a:p>
                  </a:txBody>
                  <a:tcPr>
                    <a:solidFill>
                      <a:srgbClr val="D3E9E7"/>
                    </a:solidFill>
                  </a:tcPr>
                </a:tc>
                <a:tc>
                  <a:txBody>
                    <a:bodyPr/>
                    <a:lstStyle/>
                    <a:p>
                      <a:pPr algn="ctr">
                        <a:defRPr sz="1000" b="1">
                          <a:solidFill>
                            <a:srgbClr val="006556"/>
                          </a:solidFill>
                          <a:latin typeface="Montserrat"/>
                        </a:defRPr>
                      </a:pPr>
                      <a:r>
                        <a:t>4,927</a:t>
                      </a:r>
                    </a:p>
                  </a:txBody>
                  <a:tcPr>
                    <a:solidFill>
                      <a:srgbClr val="D3E9E7"/>
                    </a:solidFill>
                  </a:tcPr>
                </a:tc>
                <a:tc>
                  <a:txBody>
                    <a:bodyPr/>
                    <a:lstStyle/>
                    <a:p>
                      <a:pPr algn="ctr">
                        <a:defRPr sz="1000" b="1">
                          <a:solidFill>
                            <a:srgbClr val="FFFFFF"/>
                          </a:solidFill>
                          <a:latin typeface="Montserrat"/>
                        </a:defRPr>
                      </a:pPr>
                      <a:r>
                        <a:t>7,801</a:t>
                      </a:r>
                    </a:p>
                  </a:txBody>
                  <a:tcPr>
                    <a:solidFill>
                      <a:srgbClr val="9F2241"/>
                    </a:solidFill>
                  </a:tcPr>
                </a:tc>
                <a:tc>
                  <a:txBody>
                    <a:bodyPr/>
                    <a:lstStyle/>
                    <a:p>
                      <a:pPr algn="ctr">
                        <a:defRPr sz="1000" b="1">
                          <a:solidFill>
                            <a:srgbClr val="FFFFFF"/>
                          </a:solidFill>
                          <a:latin typeface="Montserrat"/>
                        </a:defRPr>
                      </a:pPr>
                      <a:r>
                        <a:t>17,250</a:t>
                      </a:r>
                    </a:p>
                  </a:txBody>
                  <a:tcPr>
                    <a:solidFill>
                      <a:srgbClr val="9F2241"/>
                    </a:solidFill>
                  </a:tcPr>
                </a:tc>
                <a:tc>
                  <a:txBody>
                    <a:bodyPr/>
                    <a:lstStyle/>
                    <a:p>
                      <a:pPr algn="ctr">
                        <a:defRPr sz="1000" b="1">
                          <a:solidFill>
                            <a:srgbClr val="FFFFFF"/>
                          </a:solidFill>
                          <a:latin typeface="Montserrat"/>
                        </a:defRPr>
                      </a:pPr>
                      <a:r>
                        <a:t>45.2%</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79,651</a:t>
                      </a:r>
                    </a:p>
                  </a:txBody>
                  <a:tcPr>
                    <a:solidFill>
                      <a:srgbClr val="D3E9E7"/>
                    </a:solidFill>
                  </a:tcPr>
                </a:tc>
                <a:tc>
                  <a:txBody>
                    <a:bodyPr/>
                    <a:lstStyle/>
                    <a:p>
                      <a:pPr algn="ctr">
                        <a:defRPr sz="1000" b="1">
                          <a:solidFill>
                            <a:srgbClr val="006556"/>
                          </a:solidFill>
                          <a:latin typeface="Montserrat"/>
                        </a:defRPr>
                      </a:pPr>
                      <a:r>
                        <a:t>21,088</a:t>
                      </a:r>
                    </a:p>
                  </a:txBody>
                  <a:tcPr>
                    <a:solidFill>
                      <a:srgbClr val="D3E9E7"/>
                    </a:solidFill>
                  </a:tcPr>
                </a:tc>
                <a:tc>
                  <a:txBody>
                    <a:bodyPr/>
                    <a:lstStyle/>
                    <a:p>
                      <a:pPr algn="ctr">
                        <a:defRPr sz="1000" b="1">
                          <a:solidFill>
                            <a:srgbClr val="FFFFFF"/>
                          </a:solidFill>
                          <a:latin typeface="Montserrat"/>
                        </a:defRPr>
                      </a:pPr>
                      <a:r>
                        <a:t>34,453</a:t>
                      </a:r>
                    </a:p>
                  </a:txBody>
                  <a:tcPr>
                    <a:solidFill>
                      <a:srgbClr val="9F2241"/>
                    </a:solidFill>
                  </a:tcPr>
                </a:tc>
                <a:tc>
                  <a:txBody>
                    <a:bodyPr/>
                    <a:lstStyle/>
                    <a:p>
                      <a:pPr algn="ctr">
                        <a:defRPr sz="1000" b="1">
                          <a:solidFill>
                            <a:srgbClr val="FFFFFF"/>
                          </a:solidFill>
                          <a:latin typeface="Montserrat"/>
                        </a:defRPr>
                      </a:pPr>
                      <a:r>
                        <a:t>95,234</a:t>
                      </a:r>
                    </a:p>
                  </a:txBody>
                  <a:tcPr>
                    <a:solidFill>
                      <a:srgbClr val="9F2241"/>
                    </a:solidFill>
                  </a:tcPr>
                </a:tc>
                <a:tc>
                  <a:txBody>
                    <a:bodyPr/>
                    <a:lstStyle/>
                    <a:p>
                      <a:pPr algn="ctr">
                        <a:defRPr sz="1000" b="1">
                          <a:solidFill>
                            <a:srgbClr val="FFFFFF"/>
                          </a:solidFill>
                          <a:latin typeface="Montserrat"/>
                        </a:defRPr>
                      </a:pPr>
                      <a:r>
                        <a:t>36.2%</a:t>
                      </a:r>
                    </a:p>
                  </a:txBody>
                  <a:tcPr>
                    <a:solidFill>
                      <a:srgbClr val="9F2241"/>
                    </a:solidFill>
                  </a:tcPr>
                </a:tc>
              </a:tr>
            </a:tbl>
          </a:graphicData>
        </a:graphic>
      </p:graphicFrame>
      <p:graphicFrame>
        <p:nvGraphicFramePr>
          <p:cNvPr id="235" name="Chart 234"/>
          <p:cNvGraphicFramePr>
            <a:graphicFrameLocks noGrp="1"/>
          </p:cNvGraphicFramePr>
          <p:nvPr/>
        </p:nvGraphicFramePr>
        <p:xfrm>
          <a:off x="4780800" y="7617600"/>
          <a:ext cx="1800000" cy="1800000"/>
        </p:xfrm>
        <a:graphic>
          <a:graphicData uri="http://schemas.openxmlformats.org/drawingml/2006/chart">
            <c:chart xmlns:c="http://schemas.openxmlformats.org/drawingml/2006/chart" r:id="rId4"/>
          </a:graphicData>
        </a:graphic>
      </p:graphicFrame>
      <p:sp>
        <p:nvSpPr>
          <p:cNvPr id="236" name="TextBox 235"/>
          <p:cNvSpPr txBox="1"/>
          <p:nvPr/>
        </p:nvSpPr>
        <p:spPr>
          <a:xfrm>
            <a:off x="4780800" y="8337600"/>
            <a:ext cx="1800000" cy="360000"/>
          </a:xfrm>
          <a:prstGeom prst="rect">
            <a:avLst/>
          </a:prstGeom>
          <a:noFill/>
        </p:spPr>
        <p:txBody>
          <a:bodyPr wrap="none">
            <a:spAutoFit/>
          </a:bodyPr>
          <a:lstStyle/>
          <a:p>
            <a:pPr algn="ctr"/>
            <a:r>
              <a:rPr sz="2400" b="1">
                <a:solidFill>
                  <a:srgbClr val="9F2241"/>
                </a:solidFill>
                <a:latin typeface="Montserrat"/>
              </a:rPr>
              <a:t>36.2%</a:t>
            </a:r>
          </a:p>
        </p:txBody>
      </p:sp>
      <p:sp>
        <p:nvSpPr>
          <p:cNvPr id="237" name="TextBox 236"/>
          <p:cNvSpPr txBox="1"/>
          <p:nvPr/>
        </p:nvSpPr>
        <p:spPr>
          <a:xfrm>
            <a:off x="4780800" y="9237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8" name="TextBox 237"/>
          <p:cNvSpPr txBox="1"/>
          <p:nvPr/>
        </p:nvSpPr>
        <p:spPr>
          <a:xfrm>
            <a:off x="730799" y="7617600"/>
            <a:ext cx="2854800" cy="1198800"/>
          </a:xfrm>
          <a:prstGeom prst="rect">
            <a:avLst/>
          </a:prstGeom>
          <a:noFill/>
        </p:spPr>
        <p:txBody>
          <a:bodyPr wrap="square">
            <a:spAutoFit/>
          </a:bodyPr>
          <a:lstStyle/>
          <a:p>
            <a:pPr algn="ctr">
              <a:defRPr sz="3600" b="1">
                <a:solidFill>
                  <a:srgbClr val="9F2241"/>
                </a:solidFill>
                <a:latin typeface="Montserrat"/>
              </a:defRPr>
            </a:pPr>
            <a:r>
              <a:t>95,234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208 en Hospitales, 2 en sede, 113 en UMF y 114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208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Subzona 13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Subzona C/MF 20</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563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21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5639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Subzona C/MF 27</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57239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5723998"/>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7631997"/>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11</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Infectología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7631997"/>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92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Psiquiatría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25</a:t>
                      </a:r>
                    </a:p>
                  </a:txBody>
                  <a:tcPr>
                    <a:solidFill>
                      <a:srgbClr val="D3E9E7"/>
                    </a:solidFill>
                  </a:tcPr>
                </a:tc>
              </a:tr>
            </a:tbl>
          </a:graphicData>
        </a:graphic>
      </p:graphicFrame>
    </p:spTree>
    <p:extLst>
      <p:ext uri="{BB962C8B-B14F-4D97-AF65-F5344CB8AC3E}">
        <p14:creationId xmlns:p14="http://schemas.microsoft.com/office/powerpoint/2010/main" val="339102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92</a:t>
                      </a:r>
                    </a:p>
                  </a:txBody>
                  <a:tcPr anchor="ctr" marL="45720" marR="45720" marT="45720" marB="45720">
                    <a:solidFill>
                      <a:srgbClr val="FFFFFF"/>
                    </a:solidFill>
                  </a:tcPr>
                </a:tc>
                <a:tc>
                  <a:txBody>
                    <a:bodyPr/>
                    <a:lstStyle/>
                    <a:p>
                      <a:pPr algn="ctr">
                        <a:defRPr sz="1100" b="1">
                          <a:solidFill>
                            <a:srgbClr val="000000"/>
                          </a:solidFill>
                          <a:latin typeface="Montserrat"/>
                        </a:defRPr>
                      </a:pPr>
                      <a:r>
                        <a:t>21.0%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D9D9D9"/>
                    </a:solidFill>
                  </a:tcPr>
                </a:tc>
                <a:tc>
                  <a:txBody>
                    <a:bodyPr/>
                    <a:lstStyle/>
                    <a:p>
                      <a:pPr algn="ctr">
                        <a:defRPr sz="1100" b="0">
                          <a:solidFill>
                            <a:srgbClr val="000000"/>
                          </a:solidFill>
                          <a:latin typeface="Montserrat"/>
                        </a:defRPr>
                      </a:pPr>
                      <a:r>
                        <a:t>80</a:t>
                      </a:r>
                    </a:p>
                  </a:txBody>
                  <a:tcPr anchor="ctr" marL="45720" marR="45720" marT="45720" marB="45720">
                    <a:solidFill>
                      <a:srgbClr val="D9D9D9"/>
                    </a:solidFill>
                  </a:tcPr>
                </a:tc>
                <a:tc>
                  <a:txBody>
                    <a:bodyPr/>
                    <a:lstStyle/>
                    <a:p>
                      <a:pPr algn="ctr">
                        <a:defRPr sz="1100" b="1">
                          <a:solidFill>
                            <a:srgbClr val="000000"/>
                          </a:solidFill>
                          <a:latin typeface="Montserrat"/>
                        </a:defRPr>
                      </a:pPr>
                      <a:r>
                        <a:t>39.3%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45</a:t>
                      </a:r>
                    </a:p>
                  </a:txBody>
                  <a:tcPr anchor="ctr" marL="45720" marR="45720" marT="45720" marB="45720">
                    <a:solidFill>
                      <a:srgbClr val="FFFFFF"/>
                    </a:solidFill>
                  </a:tcPr>
                </a:tc>
                <a:tc>
                  <a:txBody>
                    <a:bodyPr/>
                    <a:lstStyle/>
                    <a:p>
                      <a:pPr algn="ctr">
                        <a:defRPr sz="1100" b="1">
                          <a:solidFill>
                            <a:srgbClr val="000000"/>
                          </a:solidFill>
                          <a:latin typeface="Montserrat"/>
                        </a:defRPr>
                      </a:pPr>
                      <a:r>
                        <a:t>49.6%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38</a:t>
                      </a:r>
                    </a:p>
                  </a:txBody>
                  <a:tcPr anchor="ctr" marL="45720" marR="45720" marT="45720" marB="45720">
                    <a:solidFill>
                      <a:srgbClr val="D9D9D9"/>
                    </a:solidFill>
                  </a:tcPr>
                </a:tc>
                <a:tc>
                  <a:txBody>
                    <a:bodyPr/>
                    <a:lstStyle/>
                    <a:p>
                      <a:pPr algn="ctr">
                        <a:defRPr sz="1100" b="1">
                          <a:solidFill>
                            <a:srgbClr val="000000"/>
                          </a:solidFill>
                          <a:latin typeface="Montserrat"/>
                        </a:defRPr>
                      </a:pPr>
                      <a:r>
                        <a:t>58.3%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28</a:t>
                      </a:r>
                    </a:p>
                  </a:txBody>
                  <a:tcPr anchor="ctr" marL="45720" marR="45720" marT="45720" marB="45720">
                    <a:solidFill>
                      <a:srgbClr val="FFFFFF"/>
                    </a:solidFill>
                  </a:tcPr>
                </a:tc>
                <a:tc>
                  <a:txBody>
                    <a:bodyPr/>
                    <a:lstStyle/>
                    <a:p>
                      <a:pPr algn="ctr">
                        <a:defRPr sz="1100" b="1">
                          <a:solidFill>
                            <a:srgbClr val="000000"/>
                          </a:solidFill>
                          <a:latin typeface="Montserrat"/>
                        </a:defRPr>
                      </a:pPr>
                      <a:r>
                        <a:t>64.7%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25</a:t>
                      </a:r>
                    </a:p>
                  </a:txBody>
                  <a:tcPr anchor="ctr" marL="45720" marR="45720" marT="45720" marB="45720">
                    <a:solidFill>
                      <a:srgbClr val="D9D9D9"/>
                    </a:solidFill>
                  </a:tcPr>
                </a:tc>
                <a:tc>
                  <a:txBody>
                    <a:bodyPr/>
                    <a:lstStyle/>
                    <a:p>
                      <a:pPr algn="ctr">
                        <a:defRPr sz="1100" b="1">
                          <a:solidFill>
                            <a:srgbClr val="000000"/>
                          </a:solidFill>
                          <a:latin typeface="Montserrat"/>
                        </a:defRPr>
                      </a:pPr>
                      <a:r>
                        <a:t>70.4%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22</a:t>
                      </a:r>
                    </a:p>
                  </a:txBody>
                  <a:tcPr anchor="ctr" marL="45720" marR="45720" marT="45720" marB="45720">
                    <a:solidFill>
                      <a:srgbClr val="FFFFFF"/>
                    </a:solidFill>
                  </a:tcPr>
                </a:tc>
                <a:tc>
                  <a:txBody>
                    <a:bodyPr/>
                    <a:lstStyle/>
                    <a:p>
                      <a:pPr algn="ctr">
                        <a:defRPr sz="1100" b="1">
                          <a:solidFill>
                            <a:srgbClr val="000000"/>
                          </a:solidFill>
                          <a:latin typeface="Montserrat"/>
                        </a:defRPr>
                      </a:pPr>
                      <a:r>
                        <a:t>75.5%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20</a:t>
                      </a:r>
                    </a:p>
                  </a:txBody>
                  <a:tcPr anchor="ctr" marL="45720" marR="45720" marT="45720" marB="45720">
                    <a:solidFill>
                      <a:srgbClr val="D9D9D9"/>
                    </a:solidFill>
                  </a:tcPr>
                </a:tc>
                <a:tc>
                  <a:txBody>
                    <a:bodyPr/>
                    <a:lstStyle/>
                    <a:p>
                      <a:pPr algn="ctr">
                        <a:defRPr sz="1100" b="1">
                          <a:solidFill>
                            <a:srgbClr val="000000"/>
                          </a:solidFill>
                          <a:latin typeface="Montserrat"/>
                        </a:defRPr>
                      </a:pPr>
                      <a:r>
                        <a:t>80.0%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83.2%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86.0%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87.8%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89.7%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90.8%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91.9%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92.9%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Neurocirugía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93.5%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Endocrinología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94.2%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Terapia Endovascular Neurológica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94.7%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95.1%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Servicios de Sangre</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95.6%</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Psiquiatría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97.0%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97.4%</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Medicina Nuclear e Imagenología Molecular</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97.9%</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1A88FF10-1AA9-E6ED-75C5-CA6842A69D10}"/>
              </a:ext>
            </a:extLst>
          </p:cNvPr>
          <p:cNvGraphicFramePr/>
          <p:nvPr>
            <p:extLst>
              <p:ext uri="{D42A27DB-BD31-4B8C-83A1-F6EECF244321}">
                <p14:modId xmlns:p14="http://schemas.microsoft.com/office/powerpoint/2010/main" val="825415516"/>
              </p:ext>
            </p:extLst>
          </p:nvPr>
        </p:nvGraphicFramePr>
        <p:xfrm>
          <a:off x="287050" y="94268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COAHUILA</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2,561</a:t>
                      </a:r>
                    </a:p>
                  </a:txBody>
                  <a:tcPr anchor="ctr">
                    <a:solidFill>
                      <a:srgbClr val="FFFFFF"/>
                    </a:solidFill>
                  </a:tcPr>
                </a:tc>
                <a:tc>
                  <a:txBody>
                    <a:bodyPr/>
                    <a:lstStyle/>
                    <a:p>
                      <a:pPr algn="ctr">
                        <a:defRPr sz="1000">
                          <a:latin typeface="Montserrat"/>
                        </a:defRPr>
                      </a:pPr>
                      <a:r>
                        <a:t>28.5%</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2,437</a:t>
                      </a:r>
                    </a:p>
                  </a:txBody>
                  <a:tcPr anchor="ctr">
                    <a:solidFill>
                      <a:srgbClr val="D9D9D9"/>
                    </a:solidFill>
                  </a:tcPr>
                </a:tc>
                <a:tc>
                  <a:txBody>
                    <a:bodyPr/>
                    <a:lstStyle/>
                    <a:p>
                      <a:pPr algn="ctr">
                        <a:defRPr sz="1000">
                          <a:latin typeface="Montserrat"/>
                        </a:defRPr>
                      </a:pPr>
                      <a:r>
                        <a:t>55.5%</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959</a:t>
                      </a:r>
                    </a:p>
                  </a:txBody>
                  <a:tcPr anchor="ctr">
                    <a:solidFill>
                      <a:srgbClr val="FFFFFF"/>
                    </a:solidFill>
                  </a:tcPr>
                </a:tc>
                <a:tc>
                  <a:txBody>
                    <a:bodyPr/>
                    <a:lstStyle/>
                    <a:p>
                      <a:pPr algn="ctr">
                        <a:defRPr sz="1000">
                          <a:latin typeface="Montserrat"/>
                        </a:defRPr>
                      </a:pPr>
                      <a:r>
                        <a:t>66.2%</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627</a:t>
                      </a:r>
                    </a:p>
                  </a:txBody>
                  <a:tcPr anchor="ctr">
                    <a:solidFill>
                      <a:srgbClr val="D9D9D9"/>
                    </a:solidFill>
                  </a:tcPr>
                </a:tc>
                <a:tc>
                  <a:txBody>
                    <a:bodyPr/>
                    <a:lstStyle/>
                    <a:p>
                      <a:pPr algn="ctr">
                        <a:defRPr sz="1000">
                          <a:latin typeface="Montserrat"/>
                        </a:defRPr>
                      </a:pPr>
                      <a:r>
                        <a:t>73.2%</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493</a:t>
                      </a:r>
                    </a:p>
                  </a:txBody>
                  <a:tcPr anchor="ctr">
                    <a:solidFill>
                      <a:srgbClr val="FFFFFF"/>
                    </a:solidFill>
                  </a:tcPr>
                </a:tc>
                <a:tc>
                  <a:txBody>
                    <a:bodyPr/>
                    <a:lstStyle/>
                    <a:p>
                      <a:pPr algn="ctr">
                        <a:defRPr sz="1000">
                          <a:latin typeface="Montserrat"/>
                        </a:defRPr>
                      </a:pPr>
                      <a:r>
                        <a:t>78.7%</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481</a:t>
                      </a:r>
                    </a:p>
                  </a:txBody>
                  <a:tcPr anchor="ctr">
                    <a:solidFill>
                      <a:srgbClr val="D9D9D9"/>
                    </a:solidFill>
                  </a:tcPr>
                </a:tc>
                <a:tc>
                  <a:txBody>
                    <a:bodyPr/>
                    <a:lstStyle/>
                    <a:p>
                      <a:pPr algn="ctr">
                        <a:defRPr sz="1000">
                          <a:latin typeface="Montserrat"/>
                        </a:defRPr>
                      </a:pPr>
                      <a:r>
                        <a:t>84.0%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389</a:t>
                      </a:r>
                    </a:p>
                  </a:txBody>
                  <a:tcPr anchor="ctr">
                    <a:solidFill>
                      <a:srgbClr val="FFFFFF"/>
                    </a:solidFill>
                  </a:tcPr>
                </a:tc>
                <a:tc>
                  <a:txBody>
                    <a:bodyPr/>
                    <a:lstStyle/>
                    <a:p>
                      <a:pPr algn="ctr">
                        <a:defRPr sz="1000">
                          <a:latin typeface="Montserrat"/>
                        </a:defRPr>
                      </a:pPr>
                      <a:r>
                        <a:t>88.3%</a:t>
                      </a:r>
                    </a:p>
                  </a:txBody>
                  <a:tcPr anchor="ctr">
                    <a:solidFill>
                      <a:srgbClr val="FFFFFF"/>
                    </a:solidFill>
                  </a:tcPr>
                </a:tc>
              </a:tr>
              <a:tr h="216000">
                <a:tc>
                  <a:txBody>
                    <a:bodyPr/>
                    <a:lstStyle/>
                    <a:p>
                      <a:pPr algn="l">
                        <a:defRPr sz="1000">
                          <a:latin typeface="Montserrat"/>
                        </a:defRPr>
                      </a:pPr>
                      <a:r>
                        <a:t>Angiología y Cirugía Vascular</a:t>
                      </a:r>
                    </a:p>
                  </a:txBody>
                  <a:tcPr anchor="ctr">
                    <a:solidFill>
                      <a:srgbClr val="D9D9D9"/>
                    </a:solidFill>
                  </a:tcPr>
                </a:tc>
                <a:tc>
                  <a:txBody>
                    <a:bodyPr/>
                    <a:lstStyle/>
                    <a:p>
                      <a:pPr algn="ctr">
                        <a:defRPr sz="1000">
                          <a:latin typeface="Montserrat"/>
                        </a:defRPr>
                      </a:pPr>
                      <a:r>
                        <a:t>364</a:t>
                      </a:r>
                    </a:p>
                  </a:txBody>
                  <a:tcPr anchor="ctr">
                    <a:solidFill>
                      <a:srgbClr val="D9D9D9"/>
                    </a:solidFill>
                  </a:tcPr>
                </a:tc>
                <a:tc>
                  <a:txBody>
                    <a:bodyPr/>
                    <a:lstStyle/>
                    <a:p>
                      <a:pPr algn="ctr">
                        <a:defRPr sz="1000">
                          <a:latin typeface="Montserrat"/>
                        </a:defRPr>
                      </a:pPr>
                      <a:r>
                        <a:t>92.4%</a:t>
                      </a:r>
                    </a:p>
                  </a:txBody>
                  <a:tcPr anchor="ctr">
                    <a:solidFill>
                      <a:srgbClr val="D9D9D9"/>
                    </a:solidFill>
                  </a:tcPr>
                </a:tc>
              </a:tr>
              <a:tr h="216000">
                <a:tc>
                  <a:txBody>
                    <a:bodyPr/>
                    <a:lstStyle/>
                    <a:p>
                      <a:pPr algn="l">
                        <a:defRPr sz="1000">
                          <a:latin typeface="Montserrat"/>
                        </a:defRPr>
                      </a:pPr>
                      <a:r>
                        <a:t>Cirugía Cardiotorácica</a:t>
                      </a:r>
                    </a:p>
                  </a:txBody>
                  <a:tcPr anchor="ctr">
                    <a:solidFill>
                      <a:srgbClr val="FFFFFF"/>
                    </a:solidFill>
                  </a:tcPr>
                </a:tc>
                <a:tc>
                  <a:txBody>
                    <a:bodyPr/>
                    <a:lstStyle/>
                    <a:p>
                      <a:pPr algn="ctr">
                        <a:defRPr sz="1000">
                          <a:latin typeface="Montserrat"/>
                        </a:defRPr>
                      </a:pPr>
                      <a:r>
                        <a:t>347</a:t>
                      </a:r>
                    </a:p>
                  </a:txBody>
                  <a:tcPr anchor="ctr">
                    <a:solidFill>
                      <a:srgbClr val="FFFFFF"/>
                    </a:solidFill>
                  </a:tcPr>
                </a:tc>
                <a:tc>
                  <a:txBody>
                    <a:bodyPr/>
                    <a:lstStyle/>
                    <a:p>
                      <a:pPr algn="ctr">
                        <a:defRPr sz="1000">
                          <a:latin typeface="Montserrat"/>
                        </a:defRPr>
                      </a:pPr>
                      <a:r>
                        <a:t>96.2%</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340</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8,998</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516</a:t>
                      </a:r>
                    </a:p>
                  </a:txBody>
                  <a:tcPr anchor="ctr">
                    <a:solidFill>
                      <a:srgbClr val="FFFFFF"/>
                    </a:solidFill>
                  </a:tcPr>
                </a:tc>
                <a:tc>
                  <a:txBody>
                    <a:bodyPr/>
                    <a:lstStyle/>
                    <a:p>
                      <a:pPr algn="ctr">
                        <a:defRPr sz="1000">
                          <a:latin typeface="Montserrat"/>
                        </a:defRPr>
                      </a:pPr>
                      <a:r>
                        <a:t>27.6%</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406</a:t>
                      </a:r>
                    </a:p>
                  </a:txBody>
                  <a:tcPr anchor="ctr">
                    <a:solidFill>
                      <a:srgbClr val="D9D9D9"/>
                    </a:solidFill>
                  </a:tcPr>
                </a:tc>
                <a:tc>
                  <a:txBody>
                    <a:bodyPr/>
                    <a:lstStyle/>
                    <a:p>
                      <a:pPr algn="ctr">
                        <a:defRPr sz="1000">
                          <a:latin typeface="Montserrat"/>
                        </a:defRPr>
                      </a:pPr>
                      <a:r>
                        <a:t>49.4%</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284</a:t>
                      </a:r>
                    </a:p>
                  </a:txBody>
                  <a:tcPr anchor="ctr">
                    <a:solidFill>
                      <a:srgbClr val="FFFFFF"/>
                    </a:solidFill>
                  </a:tcPr>
                </a:tc>
                <a:tc>
                  <a:txBody>
                    <a:bodyPr/>
                    <a:lstStyle/>
                    <a:p>
                      <a:pPr algn="ctr">
                        <a:defRPr sz="1000">
                          <a:latin typeface="Montserrat"/>
                        </a:defRPr>
                      </a:pPr>
                      <a:r>
                        <a:t>64.6%</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282</a:t>
                      </a:r>
                    </a:p>
                  </a:txBody>
                  <a:tcPr anchor="ctr">
                    <a:solidFill>
                      <a:srgbClr val="D9D9D9"/>
                    </a:solidFill>
                  </a:tcPr>
                </a:tc>
                <a:tc>
                  <a:txBody>
                    <a:bodyPr/>
                    <a:lstStyle/>
                    <a:p>
                      <a:pPr algn="ctr">
                        <a:defRPr sz="1000">
                          <a:latin typeface="Montserrat"/>
                        </a:defRPr>
                      </a:pPr>
                      <a:r>
                        <a:t>79.7%</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144</a:t>
                      </a:r>
                    </a:p>
                  </a:txBody>
                  <a:tcPr anchor="ctr">
                    <a:solidFill>
                      <a:srgbClr val="FFFFFF"/>
                    </a:solidFill>
                  </a:tcPr>
                </a:tc>
                <a:tc>
                  <a:txBody>
                    <a:bodyPr/>
                    <a:lstStyle/>
                    <a:p>
                      <a:pPr algn="ctr">
                        <a:defRPr sz="1000">
                          <a:latin typeface="Montserrat"/>
                        </a:defRPr>
                      </a:pPr>
                      <a:r>
                        <a:t>87.4%</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132</a:t>
                      </a:r>
                    </a:p>
                  </a:txBody>
                  <a:tcPr anchor="ctr">
                    <a:solidFill>
                      <a:srgbClr val="D9D9D9"/>
                    </a:solidFill>
                  </a:tcPr>
                </a:tc>
                <a:tc>
                  <a:txBody>
                    <a:bodyPr/>
                    <a:lstStyle/>
                    <a:p>
                      <a:pPr algn="ctr">
                        <a:defRPr sz="1000">
                          <a:latin typeface="Montserrat"/>
                        </a:defRPr>
                      </a:pPr>
                      <a:r>
                        <a:t>94.4%</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104</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1,868</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COAHUILA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20,187	 Personal de Salud: 13,398</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+58.8%</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148</a:t>
                      </a:r>
                    </a:p>
                  </a:txBody>
                  <a:tcPr marL="0" marR="0" marT="0" marB="0">
                    <a:noFill/>
                  </a:tcPr>
                </a:tc>
                <a:tc>
                  <a:txBody>
                    <a:bodyPr/>
                    <a:lstStyle/>
                    <a:p>
                      <a:pPr algn="ctr">
                        <a:defRPr b="1" sz="1500">
                          <a:solidFill>
                            <a:srgbClr val="B4975A"/>
                          </a:solidFill>
                          <a:latin typeface="Montserrat"/>
                        </a:defRPr>
                      </a:pPr>
                      <a:r>
                        <a:t>235</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+49.9%</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1,875</a:t>
                      </a:r>
                    </a:p>
                  </a:txBody>
                  <a:tcPr marL="0" marR="0" marT="0" marB="0">
                    <a:noFill/>
                  </a:tcPr>
                </a:tc>
                <a:tc>
                  <a:txBody>
                    <a:bodyPr/>
                    <a:lstStyle/>
                    <a:p>
                      <a:pPr algn="ctr">
                        <a:defRPr b="1" sz="1500">
                          <a:solidFill>
                            <a:srgbClr val="B4975A"/>
                          </a:solidFill>
                          <a:latin typeface="Montserrat"/>
                        </a:defRPr>
                      </a:pPr>
                      <a:r>
                        <a:t>2,811</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+15.5%</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4,395</a:t>
                      </a:r>
                    </a:p>
                  </a:txBody>
                  <a:tcPr marL="0" marR="0" marT="0" marB="0">
                    <a:noFill/>
                  </a:tcPr>
                </a:tc>
                <a:tc>
                  <a:txBody>
                    <a:bodyPr/>
                    <a:lstStyle/>
                    <a:p>
                      <a:pPr algn="ctr">
                        <a:defRPr b="1" sz="1500">
                          <a:solidFill>
                            <a:srgbClr val="B4975A"/>
                          </a:solidFill>
                          <a:latin typeface="Montserrat"/>
                        </a:defRPr>
                      </a:pPr>
                      <a:r>
                        <a:t>5,075</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+16.0%</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2,974</a:t>
                      </a:r>
                    </a:p>
                  </a:txBody>
                  <a:tcPr marL="0" marR="0" marT="0" marB="0">
                    <a:noFill/>
                  </a:tcPr>
                </a:tc>
                <a:tc>
                  <a:txBody>
                    <a:bodyPr/>
                    <a:lstStyle/>
                    <a:p>
                      <a:pPr algn="ctr">
                        <a:defRPr b="1" sz="1500">
                          <a:solidFill>
                            <a:srgbClr val="B4975A"/>
                          </a:solidFill>
                          <a:latin typeface="Montserrat"/>
                        </a:defRPr>
                      </a:pPr>
                      <a:r>
                        <a:t>3,451</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+88.2%</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552</a:t>
                      </a:r>
                    </a:p>
                  </a:txBody>
                  <a:tcPr marL="0" marR="0" marT="0" marB="0">
                    <a:noFill/>
                  </a:tcPr>
                </a:tc>
                <a:tc>
                  <a:txBody>
                    <a:bodyPr/>
                    <a:lstStyle/>
                    <a:p>
                      <a:pPr algn="ctr">
                        <a:defRPr b="1" sz="1500">
                          <a:solidFill>
                            <a:srgbClr val="B4975A"/>
                          </a:solidFill>
                          <a:latin typeface="Montserrat"/>
                        </a:defRPr>
                      </a:pPr>
                      <a:r>
                        <a:t>1,039</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-3.1%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812</a:t>
                      </a:r>
                    </a:p>
                  </a:txBody>
                  <a:tcPr marL="0" marR="0" marT="0" marB="0">
                    <a:noFill/>
                  </a:tcPr>
                </a:tc>
                <a:tc>
                  <a:txBody>
                    <a:bodyPr/>
                    <a:lstStyle/>
                    <a:p>
                      <a:pPr algn="ctr">
                        <a:defRPr b="1" sz="1500">
                          <a:solidFill>
                            <a:srgbClr val="B4975A"/>
                          </a:solidFill>
                          <a:latin typeface="Montserrat"/>
                        </a:defRPr>
                      </a:pPr>
                      <a:r>
                        <a:t>787</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46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29</a:t>
                      </a:r>
                    </a:p>
                  </a:txBody>
                  <a:tcPr marL="45720" marR="45720" marT="45720" marB="45720">
                    <a:solidFill>
                      <a:srgbClr val="EFEFEF"/>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29</a:t>
                      </a:r>
                    </a:p>
                  </a:txBody>
                  <a:tcPr marL="45720" marR="45720" marT="45720" marB="45720">
                    <a:solidFill>
                      <a:srgbClr val="FFFFFF"/>
                    </a:solidFill>
                  </a:tcPr>
                </a:tc>
              </a:tr>
              <a:tr h="18288">
                <a:tc>
                  <a:txBody>
                    <a:bodyPr/>
                    <a:lstStyle/>
                    <a:p>
                      <a:pPr algn="l">
                        <a:defRPr sz="800">
                          <a:latin typeface="Montserrat"/>
                        </a:defRPr>
                      </a:pPr>
                      <a:r>
                        <a:t>Traumatología y Ortopedia</a:t>
                      </a:r>
                    </a:p>
                  </a:txBody>
                  <a:tcPr marL="45720" marR="45720" marT="45720" marB="45720">
                    <a:solidFill>
                      <a:srgbClr val="EFEFEF"/>
                    </a:solidFill>
                  </a:tcPr>
                </a:tc>
                <a:tc>
                  <a:txBody>
                    <a:bodyPr/>
                    <a:lstStyle/>
                    <a:p>
                      <a:pPr algn="ctr">
                        <a:defRPr sz="800">
                          <a:latin typeface="Montserrat"/>
                        </a:defRPr>
                      </a:pPr>
                      <a:r>
                        <a:t>27</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23</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40</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34</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32</a:t>
                      </a:r>
                    </a:p>
                  </a:txBody>
                  <a:tcPr marL="45720" marR="45720" marT="45720" marB="45720">
                    <a:solidFill>
                      <a:srgbClr val="FFFFFF"/>
                    </a:solidFill>
                  </a:tcPr>
                </a:tc>
              </a:tr>
              <a:tr h="18288">
                <a:tc>
                  <a:txBody>
                    <a:bodyPr/>
                    <a:lstStyle/>
                    <a:p>
                      <a:pPr algn="l">
                        <a:defRPr sz="800">
                          <a:latin typeface="Montserrat"/>
                        </a:defRPr>
                      </a:pPr>
                      <a:r>
                        <a:t>Ginecología y Obstetricia</a:t>
                      </a:r>
                    </a:p>
                  </a:txBody>
                  <a:tcPr marL="45720" marR="45720" marT="45720" marB="45720">
                    <a:solidFill>
                      <a:srgbClr val="EFEFEF"/>
                    </a:solidFill>
                  </a:tcPr>
                </a:tc>
                <a:tc>
                  <a:txBody>
                    <a:bodyPr/>
                    <a:lstStyle/>
                    <a:p>
                      <a:pPr algn="ctr">
                        <a:defRPr sz="800">
                          <a:latin typeface="Montserrat"/>
                        </a:defRPr>
                      </a:pPr>
                      <a:r>
                        <a:t>27</a:t>
                      </a:r>
                    </a:p>
                  </a:txBody>
                  <a:tcPr marL="45720" marR="45720" marT="45720" marB="45720">
                    <a:solidFill>
                      <a:srgbClr val="EFEFEF"/>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22</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273</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148</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170</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325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916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17,183</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1,109</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246</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328</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5,074</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2,579</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33</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25,945</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(236,087)</a:t>
                      </a:r>
                    </a:p>
                  </a:txBody>
                  <a:tcPr>
                    <a:solidFill>
                      <a:srgbClr val="FFFFFF"/>
                    </a:solidFill>
                  </a:tcPr>
                </a:tc>
                <a:tc>
                  <a:txBody>
                    <a:bodyPr/>
                    <a:lstStyle/>
                    <a:p>
                      <a:pPr algn="ctr"/>
                      <a:r>
                        <a:rPr sz="900" b="0">
                          <a:latin typeface="Montserrat"/>
                        </a:rPr>
                        <a:t>Tumores malignos
(28,287)</a:t>
                      </a:r>
                    </a:p>
                  </a:txBody>
                  <a:tcPr>
                    <a:solidFill>
                      <a:srgbClr val="FFFFFF"/>
                    </a:solidFill>
                  </a:tcPr>
                </a:tc>
                <a:tc>
                  <a:txBody>
                    <a:bodyPr/>
                    <a:lstStyle/>
                    <a:p>
                      <a:pPr algn="ctr"/>
                      <a:r>
                        <a:rPr sz="900" b="0">
                          <a:latin typeface="Montserrat"/>
                        </a:rPr>
                        <a:t>Artropatias
(3,794)</a:t>
                      </a:r>
                    </a:p>
                  </a:txBody>
                  <a:tcPr>
                    <a:solidFill>
                      <a:srgbClr val="FFFFFF"/>
                    </a:solidFill>
                  </a:tcPr>
                </a:tc>
                <a:tc>
                  <a:txBody>
                    <a:bodyPr/>
                    <a:lstStyle/>
                    <a:p>
                      <a:pPr algn="ctr"/>
                      <a:r>
                        <a:rPr sz="900" b="0">
                          <a:latin typeface="Montserrat"/>
                        </a:rPr>
                        <a:t>Embarazo, parto y puerperio
(6,278)</a:t>
                      </a:r>
                    </a:p>
                  </a:txBody>
                  <a:tcPr>
                    <a:solidFill>
                      <a:srgbClr val="FFFFFF"/>
                    </a:solidFill>
                  </a:tcPr>
                </a:tc>
                <a:tc>
                  <a:txBody>
                    <a:bodyPr/>
                    <a:lstStyle/>
                    <a:p>
                      <a:pPr algn="ctr"/>
                      <a:r>
                        <a:rPr sz="900" b="0">
                          <a:latin typeface="Montserrat"/>
                        </a:rPr>
                        <a:t>Enfermedades del corazón
(467)</a:t>
                      </a:r>
                    </a:p>
                  </a:txBody>
                  <a:tcPr>
                    <a:solidFill>
                      <a:srgbClr val="FFFFFF"/>
                    </a:solidFill>
                  </a:tcPr>
                </a:tc>
              </a:tr>
              <a:tr h="489600">
                <a:tc>
                  <a:txBody>
                    <a:bodyPr/>
                    <a:lstStyle/>
                    <a:p>
                      <a:pPr algn="ctr"/>
                      <a:r>
                        <a:rPr sz="900" b="0">
                          <a:latin typeface="Montserrat"/>
                        </a:rPr>
                        <a:t>Enfermedades del corazón
(217,484)</a:t>
                      </a:r>
                    </a:p>
                  </a:txBody>
                  <a:tcPr>
                    <a:solidFill>
                      <a:srgbClr val="EFEFEF"/>
                    </a:solidFill>
                  </a:tcPr>
                </a:tc>
                <a:tc>
                  <a:txBody>
                    <a:bodyPr/>
                    <a:lstStyle/>
                    <a:p>
                      <a:pPr algn="ctr"/>
                      <a:r>
                        <a:rPr sz="900" b="0">
                          <a:latin typeface="Montserrat"/>
                        </a:rPr>
                        <a:t>Traumatismos e intoxicaciones
(19,690)</a:t>
                      </a:r>
                    </a:p>
                  </a:txBody>
                  <a:tcPr>
                    <a:solidFill>
                      <a:srgbClr val="EFEFEF"/>
                    </a:solidFill>
                  </a:tcPr>
                </a:tc>
                <a:tc>
                  <a:txBody>
                    <a:bodyPr/>
                    <a:lstStyle/>
                    <a:p>
                      <a:pPr algn="ctr"/>
                      <a:r>
                        <a:rPr sz="900" b="0">
                          <a:latin typeface="Montserrat"/>
                        </a:rPr>
                        <a:t>Traumatismos y envenenamientos
(2,541)</a:t>
                      </a:r>
                    </a:p>
                  </a:txBody>
                  <a:tcPr>
                    <a:solidFill>
                      <a:srgbClr val="EFEFEF"/>
                    </a:solidFill>
                  </a:tcPr>
                </a:tc>
                <a:tc>
                  <a:txBody>
                    <a:bodyPr/>
                    <a:lstStyle/>
                    <a:p>
                      <a:pPr algn="ctr"/>
                      <a:r>
                        <a:rPr sz="900" b="0">
                          <a:latin typeface="Montserrat"/>
                        </a:rPr>
                        <a:t>Enfermedades y trastornos de las articulaciones
(4,531)</a:t>
                      </a:r>
                    </a:p>
                  </a:txBody>
                  <a:tcPr>
                    <a:solidFill>
                      <a:srgbClr val="EFEFEF"/>
                    </a:solidFill>
                  </a:tcPr>
                </a:tc>
                <a:tc>
                  <a:txBody>
                    <a:bodyPr/>
                    <a:lstStyle/>
                    <a:p>
                      <a:pPr algn="ctr"/>
                      <a:r>
                        <a:rPr sz="900" b="0">
                          <a:latin typeface="Montserrat"/>
                        </a:rPr>
                        <a:t>Tumores malignos
(305)</a:t>
                      </a:r>
                    </a:p>
                  </a:txBody>
                  <a:tcPr>
                    <a:solidFill>
                      <a:srgbClr val="EFEFEF"/>
                    </a:solidFill>
                  </a:tcPr>
                </a:tc>
              </a:tr>
              <a:tr h="489600">
                <a:tc>
                  <a:txBody>
                    <a:bodyPr/>
                    <a:lstStyle/>
                    <a:p>
                      <a:pPr algn="ctr"/>
                      <a:r>
                        <a:rPr sz="900" b="0">
                          <a:latin typeface="Montserrat"/>
                        </a:rPr>
                        <a:t>Infecciones respiratorias agudas
(58,240)</a:t>
                      </a:r>
                    </a:p>
                  </a:txBody>
                  <a:tcPr>
                    <a:solidFill>
                      <a:srgbClr val="FFFFFF"/>
                    </a:solidFill>
                  </a:tcPr>
                </a:tc>
                <a:tc>
                  <a:txBody>
                    <a:bodyPr/>
                    <a:lstStyle/>
                    <a:p>
                      <a:pPr algn="ctr"/>
                      <a:r>
                        <a:rPr sz="900" b="0">
                          <a:latin typeface="Montserrat"/>
                        </a:rPr>
                        <a:t>Enfermedades y trastornos de las articulaciones
(18,027)</a:t>
                      </a:r>
                    </a:p>
                  </a:txBody>
                  <a:tcPr>
                    <a:solidFill>
                      <a:srgbClr val="FFFFFF"/>
                    </a:solidFill>
                  </a:tcPr>
                </a:tc>
                <a:tc>
                  <a:txBody>
                    <a:bodyPr/>
                    <a:lstStyle/>
                    <a:p>
                      <a:pPr algn="ctr"/>
                      <a:r>
                        <a:rPr sz="900" b="0">
                          <a:latin typeface="Montserrat"/>
                        </a:rPr>
                        <a:t>Los demás tumores benignos
(1,364)</a:t>
                      </a:r>
                    </a:p>
                  </a:txBody>
                  <a:tcPr>
                    <a:solidFill>
                      <a:srgbClr val="FFFFFF"/>
                    </a:solidFill>
                  </a:tcPr>
                </a:tc>
                <a:tc>
                  <a:txBody>
                    <a:bodyPr/>
                    <a:lstStyle/>
                    <a:p>
                      <a:pPr algn="ctr"/>
                      <a:r>
                        <a:rPr sz="900" b="0">
                          <a:latin typeface="Montserrat"/>
                        </a:rPr>
                        <a:t>Traumatismos e intoxicaciones
(3,531)</a:t>
                      </a:r>
                    </a:p>
                  </a:txBody>
                  <a:tcPr>
                    <a:solidFill>
                      <a:srgbClr val="FFFFFF"/>
                    </a:solidFill>
                  </a:tcPr>
                </a:tc>
                <a:tc>
                  <a:txBody>
                    <a:bodyPr/>
                    <a:lstStyle/>
                    <a:p>
                      <a:pPr algn="ctr"/>
                      <a:r>
                        <a:rPr sz="900" b="0">
                          <a:latin typeface="Montserrat"/>
                        </a:rPr>
                        <a:t>Neumonía e influenza
(287)</a:t>
                      </a:r>
                    </a:p>
                  </a:txBody>
                  <a:tcPr>
                    <a:solidFill>
                      <a:srgbClr val="FFFFFF"/>
                    </a:solidFill>
                  </a:tcPr>
                </a:tc>
              </a:tr>
              <a:tr h="489600">
                <a:tc>
                  <a:txBody>
                    <a:bodyPr/>
                    <a:lstStyle/>
                    <a:p>
                      <a:pPr algn="ctr"/>
                      <a:r>
                        <a:rPr sz="900" b="0">
                          <a:latin typeface="Montserrat"/>
                        </a:rPr>
                        <a:t>traumatismos e intoxicaciones
(36,295)</a:t>
                      </a:r>
                    </a:p>
                  </a:txBody>
                  <a:tcPr>
                    <a:solidFill>
                      <a:srgbClr val="EFEFEF"/>
                    </a:solidFill>
                  </a:tcPr>
                </a:tc>
                <a:tc>
                  <a:txBody>
                    <a:bodyPr/>
                    <a:lstStyle/>
                    <a:p>
                      <a:pPr algn="ctr"/>
                      <a:r>
                        <a:rPr sz="900" b="0">
                          <a:latin typeface="Montserrat"/>
                        </a:rPr>
                        <a:t>Enfermedades del corazón
(13,506)</a:t>
                      </a:r>
                    </a:p>
                  </a:txBody>
                  <a:tcPr>
                    <a:solidFill>
                      <a:srgbClr val="EFEFEF"/>
                    </a:solidFill>
                  </a:tcPr>
                </a:tc>
                <a:tc>
                  <a:txBody>
                    <a:bodyPr/>
                    <a:lstStyle/>
                    <a:p>
                      <a:pPr algn="ctr"/>
                      <a:r>
                        <a:rPr sz="900" b="0">
                          <a:latin typeface="Montserrat"/>
                        </a:rPr>
                        <a:t>Enfermedades de la piel y del tejido subcutáneo
(1,292)</a:t>
                      </a:r>
                    </a:p>
                  </a:txBody>
                  <a:tcPr>
                    <a:solidFill>
                      <a:srgbClr val="EFEFEF"/>
                    </a:solidFill>
                  </a:tcPr>
                </a:tc>
                <a:tc>
                  <a:txBody>
                    <a:bodyPr/>
                    <a:lstStyle/>
                    <a:p>
                      <a:pPr algn="ctr"/>
                      <a:r>
                        <a:rPr sz="900" b="0">
                          <a:latin typeface="Montserrat"/>
                        </a:rPr>
                        <a:t>Tumores malignos
(2,411)</a:t>
                      </a:r>
                    </a:p>
                  </a:txBody>
                  <a:tcPr>
                    <a:solidFill>
                      <a:srgbClr val="EFEFEF"/>
                    </a:solidFill>
                  </a:tcPr>
                </a:tc>
                <a:tc>
                  <a:txBody>
                    <a:bodyPr/>
                    <a:lstStyle/>
                    <a:p>
                      <a:pPr algn="ctr"/>
                      <a:r>
                        <a:rPr sz="900" b="0">
                          <a:latin typeface="Montserrat"/>
                        </a:rPr>
                        <a:t>Diabetes mellitus
(259)</a:t>
                      </a:r>
                    </a:p>
                  </a:txBody>
                  <a:tcPr>
                    <a:solidFill>
                      <a:srgbClr val="EFEFEF"/>
                    </a:solidFill>
                  </a:tcPr>
                </a:tc>
              </a:tr>
              <a:tr h="489600">
                <a:tc>
                  <a:txBody>
                    <a:bodyPr/>
                    <a:lstStyle/>
                    <a:p>
                      <a:pPr algn="ctr"/>
                      <a:r>
                        <a:rPr sz="900" b="0">
                          <a:latin typeface="Montserrat"/>
                        </a:rPr>
                        <a:t>Enfermedades y trastornos de las articulaciones
(34,547)</a:t>
                      </a:r>
                    </a:p>
                  </a:txBody>
                  <a:tcPr>
                    <a:solidFill>
                      <a:srgbClr val="FFFFFF"/>
                    </a:solidFill>
                  </a:tcPr>
                </a:tc>
                <a:tc>
                  <a:txBody>
                    <a:bodyPr/>
                    <a:lstStyle/>
                    <a:p>
                      <a:pPr algn="ctr"/>
                      <a:r>
                        <a:rPr sz="900" b="0">
                          <a:latin typeface="Montserrat"/>
                        </a:rPr>
                        <a:t>Problemas y enfermedades de la columna vertebral
(13,249)</a:t>
                      </a:r>
                    </a:p>
                  </a:txBody>
                  <a:tcPr>
                    <a:solidFill>
                      <a:srgbClr val="FFFFFF"/>
                    </a:solidFill>
                  </a:tcPr>
                </a:tc>
                <a:tc>
                  <a:txBody>
                    <a:bodyPr/>
                    <a:lstStyle/>
                    <a:p>
                      <a:pPr algn="ctr"/>
                      <a:r>
                        <a:rPr sz="900" b="0">
                          <a:latin typeface="Montserrat"/>
                        </a:rPr>
                        <a:t>Cesárea
(1,141)</a:t>
                      </a:r>
                    </a:p>
                  </a:txBody>
                  <a:tcPr>
                    <a:solidFill>
                      <a:srgbClr val="FFFFFF"/>
                    </a:solidFill>
                  </a:tcPr>
                </a:tc>
                <a:tc>
                  <a:txBody>
                    <a:bodyPr/>
                    <a:lstStyle/>
                    <a:p>
                      <a:pPr algn="ctr"/>
                      <a:r>
                        <a:rPr sz="900" b="0">
                          <a:latin typeface="Montserrat"/>
                        </a:rPr>
                        <a:t>Enfermedades del corazón
(2,388)</a:t>
                      </a:r>
                    </a:p>
                  </a:txBody>
                  <a:tcPr>
                    <a:solidFill>
                      <a:srgbClr val="FFFFFF"/>
                    </a:solidFill>
                  </a:tcPr>
                </a:tc>
                <a:tc>
                  <a:txBody>
                    <a:bodyPr/>
                    <a:lstStyle/>
                    <a:p>
                      <a:pPr algn="ctr"/>
                      <a:r>
                        <a:rPr sz="900" b="0">
                          <a:latin typeface="Montserrat"/>
                        </a:rPr>
                        <a:t>Insuficiencia renal
(180)</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COAHUILA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256,074</a:t>
                      </a:r>
                    </a:p>
                  </a:txBody>
                  <a:tcPr>
                    <a:solidFill>
                      <a:srgbClr val="FFFFFF"/>
                    </a:solidFill>
                  </a:tcPr>
                </a:tc>
                <a:tc>
                  <a:txBody>
                    <a:bodyPr/>
                    <a:lstStyle/>
                    <a:p>
                      <a:pPr algn="ctr"/>
                      <a:r>
                        <a:rPr sz="1100" b="0">
                          <a:solidFill>
                            <a:srgbClr val="434343"/>
                          </a:solidFill>
                          <a:latin typeface="Montserrat"/>
                        </a:rPr>
                        <a:t>2,746,344</a:t>
                      </a:r>
                    </a:p>
                  </a:txBody>
                  <a:tcPr>
                    <a:solidFill>
                      <a:srgbClr val="FFFFFF"/>
                    </a:solidFill>
                  </a:tcPr>
                </a:tc>
                <a:tc>
                  <a:txBody>
                    <a:bodyPr/>
                    <a:lstStyle/>
                    <a:p>
                      <a:pPr algn="ctr"/>
                      <a:r>
                        <a:rPr sz="1100" b="0">
                          <a:solidFill>
                            <a:srgbClr val="434343"/>
                          </a:solidFill>
                          <a:latin typeface="Montserrat"/>
                        </a:rPr>
                        <a:t>91.5%</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329,867</a:t>
                      </a:r>
                    </a:p>
                  </a:txBody>
                  <a:tcPr>
                    <a:solidFill>
                      <a:srgbClr val="D9D9D9"/>
                    </a:solidFill>
                  </a:tcPr>
                </a:tc>
                <a:tc>
                  <a:txBody>
                    <a:bodyPr/>
                    <a:lstStyle/>
                    <a:p>
                      <a:pPr algn="ctr"/>
                      <a:r>
                        <a:rPr sz="1100" b="1">
                          <a:solidFill>
                            <a:srgbClr val="006455"/>
                          </a:solidFill>
                          <a:latin typeface="Montserrat"/>
                        </a:rPr>
                        <a:t>2,568,317</a:t>
                      </a:r>
                    </a:p>
                  </a:txBody>
                  <a:tcPr>
                    <a:solidFill>
                      <a:srgbClr val="D9D9D9"/>
                    </a:solidFill>
                  </a:tcPr>
                </a:tc>
                <a:tc>
                  <a:txBody>
                    <a:bodyPr/>
                    <a:lstStyle/>
                    <a:p>
                      <a:pPr algn="ctr"/>
                      <a:r>
                        <a:rPr sz="1100" b="1">
                          <a:solidFill>
                            <a:srgbClr val="006455"/>
                          </a:solidFill>
                          <a:latin typeface="Montserrat"/>
                        </a:rPr>
                        <a:t>88.6%</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EE1BA-56C1-5770-883F-3463B17D578E}"/>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COAHUILA</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05.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1,049,356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530,601</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379,065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319,889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2F2F2"/>
                    </a:solidFill>
                  </a:tcPr>
                </a:tc>
                <a:tc>
                  <a:txBody>
                    <a:bodyPr/>
                    <a:lstStyle/>
                    <a:p>
                      <a:pPr algn="ctr">
                        <a:defRPr sz="900" b="0">
                          <a:solidFill>
                            <a:srgbClr val="333333"/>
                          </a:solidFill>
                          <a:latin typeface="Montserrat"/>
                        </a:defRPr>
                      </a:pPr>
                      <a:r>
                        <a:t>306,724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FFFFF"/>
                    </a:solidFill>
                  </a:tcPr>
                </a:tc>
                <a:tc>
                  <a:txBody>
                    <a:bodyPr/>
                    <a:lstStyle/>
                    <a:p>
                      <a:pPr algn="ctr">
                        <a:defRPr sz="900" b="0">
                          <a:solidFill>
                            <a:srgbClr val="333333"/>
                          </a:solidFill>
                          <a:latin typeface="Montserrat"/>
                        </a:defRPr>
                      </a:pPr>
                      <a:r>
                        <a:t>284,827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281,064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278,877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257,592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254,656</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1664225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5"/>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4</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505390"/>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7" name="Table 16"/>
          <p:cNvGraphicFramePr>
            <a:graphicFrameLocks noGrp="1"/>
          </p:cNvGraphicFramePr>
          <p:nvPr/>
        </p:nvGraphicFramePr>
        <p:xfrm>
          <a:off x="1785600" y="1584000"/>
          <a:ext cx="5295600" cy="720000"/>
        </p:xfrm>
        <a:graphic>
          <a:graphicData uri="http://schemas.openxmlformats.org/drawingml/2006/table">
            <a:tbl>
              <a:tblPr firstRow="1" bandRow="1">
                <a:tableStyleId>{5C22544A-7EE6-4342-B048-85BDC9FD1C3A}</a:tableStyleId>
              </a:tblPr>
              <a:tblGrid>
                <a:gridCol w="4176000"/>
                <a:gridCol w="1119600"/>
              </a:tblGrid>
              <a:tr h="36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60000">
                <a:tc>
                  <a:txBody>
                    <a:bodyPr/>
                    <a:lstStyle/>
                    <a:p>
                      <a:pPr algn="l">
                        <a:lnSpc>
                          <a:spcPct val="100000"/>
                        </a:lnSpc>
                      </a:pPr>
                      <a:r>
                        <a:rPr sz="1000">
                          <a:latin typeface="Montserrat"/>
                        </a:rPr>
                        <a:t>Nueva Sala de Hemodinamia HGZMF 7 Monclova, Coahuila de Zaragoza</a:t>
                      </a:r>
                    </a:p>
                  </a:txBody>
                  <a:tcPr marL="3600" marR="3600" marT="3600" marB="3600">
                    <a:solidFill>
                      <a:srgbClr val="FFFFFF"/>
                    </a:solidFill>
                  </a:tcPr>
                </a:tc>
                <a:tc>
                  <a:txBody>
                    <a:bodyPr/>
                    <a:lstStyle/>
                    <a:p>
                      <a:pPr algn="ctr">
                        <a:lnSpc>
                          <a:spcPct val="100000"/>
                        </a:lnSpc>
                      </a:pPr>
                      <a:r>
                        <a:rPr sz="1000">
                          <a:latin typeface="Montserrat"/>
                        </a:rPr>
                        <a:t>$34.8</a:t>
                      </a:r>
                    </a:p>
                  </a:txBody>
                  <a:tcPr marL="3600" marR="3600" marT="3600" marB="3600">
                    <a:solidFill>
                      <a:srgbClr val="FFFFFF"/>
                    </a:solidFill>
                  </a:tcPr>
                </a:tc>
              </a:tr>
            </a:tbl>
          </a:graphicData>
        </a:graphic>
      </p:graphicFrame>
      <p:graphicFrame>
        <p:nvGraphicFramePr>
          <p:cNvPr id="18" name="Table 17"/>
          <p:cNvGraphicFramePr>
            <a:graphicFrameLocks noGrp="1"/>
          </p:cNvGraphicFramePr>
          <p:nvPr/>
        </p:nvGraphicFramePr>
        <p:xfrm>
          <a:off x="1785600" y="2484000"/>
          <a:ext cx="5295600" cy="5940000"/>
        </p:xfrm>
        <a:graphic>
          <a:graphicData uri="http://schemas.openxmlformats.org/drawingml/2006/table">
            <a:tbl>
              <a:tblPr firstRow="1" bandRow="1">
                <a:tableStyleId>{5C22544A-7EE6-4342-B048-85BDC9FD1C3A}</a:tableStyleId>
              </a:tblPr>
              <a:tblGrid>
                <a:gridCol w="4176000"/>
                <a:gridCol w="1119600"/>
              </a:tblGrid>
              <a:tr h="54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4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$1,196.2</a:t>
                      </a:r>
                    </a:p>
                  </a:txBody>
                  <a:tcPr marL="3600" marR="3600" marT="3600" marB="3600">
                    <a:solidFill>
                      <a:srgbClr val="FFFFFF"/>
                    </a:solidFill>
                  </a:tcPr>
                </a:tc>
              </a:tr>
              <a:tr h="540000">
                <a:tc>
                  <a:txBody>
                    <a:bodyPr/>
                    <a:lstStyle/>
                    <a:p>
                      <a:pPr algn="l">
                        <a:lnSpc>
                          <a:spcPct val="100000"/>
                        </a:lnSpc>
                      </a:pPr>
                      <a:r>
                        <a:rPr sz="1000">
                          <a:latin typeface="Montserrat"/>
                        </a:rPr>
                        <a:t>Remodelación y mejora de imagen en el HGZMF No. 7 Monclova y HGZMF No. 2 Saltillo</a:t>
                      </a:r>
                    </a:p>
                  </a:txBody>
                  <a:tcPr marL="3600" marR="3600" marT="3600" marB="3600">
                    <a:solidFill>
                      <a:srgbClr val="D9D9D9"/>
                    </a:solidFill>
                  </a:tcPr>
                </a:tc>
                <a:tc>
                  <a:txBody>
                    <a:bodyPr/>
                    <a:lstStyle/>
                    <a:p>
                      <a:pPr algn="ctr">
                        <a:lnSpc>
                          <a:spcPct val="100000"/>
                        </a:lnSpc>
                      </a:pPr>
                      <a:r>
                        <a:rPr sz="1000">
                          <a:latin typeface="Montserrat"/>
                        </a:rPr>
                        <a:t>$265.0</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mejora en subdelegaciones en 6 unidades, Coahuila</a:t>
                      </a:r>
                    </a:p>
                  </a:txBody>
                  <a:tcPr marL="3600" marR="3600" marT="3600" marB="3600">
                    <a:solidFill>
                      <a:srgbClr val="FFFFFF"/>
                    </a:solidFill>
                  </a:tcPr>
                </a:tc>
                <a:tc>
                  <a:txBody>
                    <a:bodyPr/>
                    <a:lstStyle/>
                    <a:p>
                      <a:pPr algn="ctr">
                        <a:lnSpc>
                          <a:spcPct val="100000"/>
                        </a:lnSpc>
                      </a:pPr>
                      <a:r>
                        <a:rPr sz="1000">
                          <a:latin typeface="Montserrat"/>
                        </a:rPr>
                        <a:t>$106.3</a:t>
                      </a:r>
                    </a:p>
                  </a:txBody>
                  <a:tcPr marL="3600" marR="3600" marT="3600" marB="3600">
                    <a:solidFill>
                      <a:srgbClr val="FFFFFF"/>
                    </a:solidFill>
                  </a:tcPr>
                </a:tc>
              </a:tr>
              <a:tr h="540000">
                <a:tc>
                  <a:txBody>
                    <a:bodyPr/>
                    <a:lstStyle/>
                    <a:p>
                      <a:pPr algn="l">
                        <a:lnSpc>
                          <a:spcPct val="100000"/>
                        </a:lnSpc>
                      </a:pPr>
                      <a:r>
                        <a:rPr sz="1000">
                          <a:latin typeface="Montserrat"/>
                        </a:rPr>
                        <a:t>Intervención en áreas de Atención Médica Contínua en 8 unidades (UMAA No. 89 Saltillo, UMF No.23 Sabinas,UMF No.66 Torreón, UMF No.70 Saltillo,UMF No.79 Piedras Negras, UMF No.87 Cd. Acuña, UMF No.88 Ramos Arizpe, UMF No. 9 Frontera)</a:t>
                      </a:r>
                    </a:p>
                  </a:txBody>
                  <a:tcPr marL="3600" marR="3600" marT="3600" marB="3600">
                    <a:solidFill>
                      <a:srgbClr val="D9D9D9"/>
                    </a:solidFill>
                  </a:tcPr>
                </a:tc>
                <a:tc>
                  <a:txBody>
                    <a:bodyPr/>
                    <a:lstStyle/>
                    <a:p>
                      <a:pPr algn="ctr">
                        <a:lnSpc>
                          <a:spcPct val="100000"/>
                        </a:lnSpc>
                      </a:pPr>
                      <a:r>
                        <a:rPr sz="1000">
                          <a:latin typeface="Montserrat"/>
                        </a:rPr>
                        <a:t>$39.4</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residencias médicas en 4 unidades (UMF No.66 Torreón, UMF No.82 Saltillo, UMF No. 88 Ramos Arizpe, H. Especialidades No. 71 Torreón)</a:t>
                      </a:r>
                    </a:p>
                  </a:txBody>
                  <a:tcPr marL="3600" marR="3600" marT="3600" marB="3600">
                    <a:solidFill>
                      <a:srgbClr val="FFFFFF"/>
                    </a:solidFill>
                  </a:tcPr>
                </a:tc>
                <a:tc>
                  <a:txBody>
                    <a:bodyPr/>
                    <a:lstStyle/>
                    <a:p>
                      <a:pPr algn="ctr">
                        <a:lnSpc>
                          <a:spcPct val="100000"/>
                        </a:lnSpc>
                      </a:pPr>
                      <a:r>
                        <a:rPr sz="1000">
                          <a:latin typeface="Montserrat"/>
                        </a:rPr>
                        <a:t>$22.1</a:t>
                      </a:r>
                    </a:p>
                  </a:txBody>
                  <a:tcPr marL="3600" marR="3600" marT="3600" marB="3600">
                    <a:solidFill>
                      <a:srgbClr val="FFFFFF"/>
                    </a:solidFill>
                  </a:tcPr>
                </a:tc>
              </a:tr>
              <a:tr h="540000">
                <a:tc>
                  <a:txBody>
                    <a:bodyPr/>
                    <a:lstStyle/>
                    <a:p>
                      <a:pPr algn="l">
                        <a:lnSpc>
                          <a:spcPct val="100000"/>
                        </a:lnSpc>
                      </a:pPr>
                      <a:r>
                        <a:rPr sz="1000">
                          <a:latin typeface="Montserrat"/>
                        </a:rPr>
                        <a:t>Intervención en áreas de accesibilidad (rampas) en 4 unidades, Coahuila</a:t>
                      </a:r>
                    </a:p>
                  </a:txBody>
                  <a:tcPr marL="3600" marR="3600" marT="3600" marB="3600">
                    <a:solidFill>
                      <a:srgbClr val="D9D9D9"/>
                    </a:solidFill>
                  </a:tcPr>
                </a:tc>
                <a:tc>
                  <a:txBody>
                    <a:bodyPr/>
                    <a:lstStyle/>
                    <a:p>
                      <a:pPr algn="ctr">
                        <a:lnSpc>
                          <a:spcPct val="100000"/>
                        </a:lnSpc>
                      </a:pPr>
                      <a:r>
                        <a:rPr sz="1000">
                          <a:latin typeface="Montserrat"/>
                        </a:rPr>
                        <a:t>$13.6</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hemodiálisis interna en 4 unidades (HGZ  No.11 Piedras Negras, HGZ No.24 Nueva Rosita, HGZ No. 7 Monclova, H. Especialidades No. 71 Torreón)</a:t>
                      </a:r>
                    </a:p>
                  </a:txBody>
                  <a:tcPr marL="3600" marR="3600" marT="3600" marB="3600">
                    <a:solidFill>
                      <a:srgbClr val="FFFFFF"/>
                    </a:solidFill>
                  </a:tcPr>
                </a:tc>
                <a:tc>
                  <a:txBody>
                    <a:bodyPr/>
                    <a:lstStyle/>
                    <a:p>
                      <a:pPr algn="ctr">
                        <a:lnSpc>
                          <a:spcPct val="100000"/>
                        </a:lnSpc>
                      </a:pPr>
                      <a:r>
                        <a:rPr sz="1000">
                          <a:latin typeface="Montserrat"/>
                        </a:rPr>
                        <a:t>$12.4</a:t>
                      </a:r>
                    </a:p>
                  </a:txBody>
                  <a:tcPr marL="3600" marR="3600" marT="3600" marB="3600">
                    <a:solidFill>
                      <a:srgbClr val="FFFFFF"/>
                    </a:solidFill>
                  </a:tcPr>
                </a:tc>
              </a:tr>
              <a:tr h="540000">
                <a:tc>
                  <a:txBody>
                    <a:bodyPr/>
                    <a:lstStyle/>
                    <a:p>
                      <a:pPr algn="l">
                        <a:lnSpc>
                          <a:spcPct val="100000"/>
                        </a:lnSpc>
                      </a:pPr>
                      <a:r>
                        <a:rPr sz="1000">
                          <a:latin typeface="Montserrat"/>
                        </a:rPr>
                        <a:t>Intervención en áreas de salud mental en 3 unidades (HGZ No.1 Saltillo, HGZ No.7 Monclova, H. Especialidades No. 71 Torreón)</a:t>
                      </a:r>
                    </a:p>
                  </a:txBody>
                  <a:tcPr marL="3600" marR="3600" marT="3600" marB="3600">
                    <a:solidFill>
                      <a:srgbClr val="D9D9D9"/>
                    </a:solidFill>
                  </a:tcPr>
                </a:tc>
                <a:tc>
                  <a:txBody>
                    <a:bodyPr/>
                    <a:lstStyle/>
                    <a:p>
                      <a:pPr algn="ctr">
                        <a:lnSpc>
                          <a:spcPct val="100000"/>
                        </a:lnSpc>
                      </a:pPr>
                      <a:r>
                        <a:rPr sz="1000">
                          <a:latin typeface="Montserrat"/>
                        </a:rPr>
                        <a:t>$5.8</a:t>
                      </a:r>
                    </a:p>
                  </a:txBody>
                  <a:tcPr marL="3600" marR="3600" marT="3600" marB="3600">
                    <a:solidFill>
                      <a:srgbClr val="D9D9D9"/>
                    </a:solidFill>
                  </a:tcPr>
                </a:tc>
              </a:tr>
              <a:tr h="540000">
                <a:tc>
                  <a:txBody>
                    <a:bodyPr/>
                    <a:lstStyle/>
                    <a:p>
                      <a:pPr algn="l">
                        <a:lnSpc>
                          <a:spcPct val="100000"/>
                        </a:lnSpc>
                      </a:pPr>
                      <a:r>
                        <a:rPr sz="1000">
                          <a:latin typeface="Montserrat"/>
                        </a:rPr>
                        <a:t>Intervención en áreas de terapia intensiva en HGZ No. 11 Piedras Negras</a:t>
                      </a:r>
                    </a:p>
                  </a:txBody>
                  <a:tcPr marL="3600" marR="3600" marT="3600" marB="3600">
                    <a:solidFill>
                      <a:srgbClr val="FFFFFF"/>
                    </a:solidFill>
                  </a:tcPr>
                </a:tc>
                <a:tc>
                  <a:txBody>
                    <a:bodyPr/>
                    <a:lstStyle/>
                    <a:p>
                      <a:pPr algn="ctr">
                        <a:lnSpc>
                          <a:spcPct val="100000"/>
                        </a:lnSpc>
                      </a:pPr>
                      <a:r>
                        <a:rPr sz="1000">
                          <a:latin typeface="Montserrat"/>
                        </a:rPr>
                        <a:t>$3.2</a:t>
                      </a:r>
                    </a:p>
                  </a:txBody>
                  <a:tcPr marL="3600" marR="3600" marT="3600" marB="3600">
                    <a:solidFill>
                      <a:srgbClr val="FFFFFF"/>
                    </a:solidFill>
                  </a:tcPr>
                </a:tc>
              </a:tr>
              <a:tr h="54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$1,664.1</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8604000"/>
          <a:ext cx="5295600" cy="1620000"/>
        </p:xfrm>
        <a:graphic>
          <a:graphicData uri="http://schemas.openxmlformats.org/drawingml/2006/table">
            <a:tbl>
              <a:tblPr firstRow="1" bandRow="1">
                <a:tableStyleId>{5C22544A-7EE6-4342-B048-85BDC9FD1C3A}</a:tableStyleId>
              </a:tblPr>
              <a:tblGrid>
                <a:gridCol w="4176000"/>
                <a:gridCol w="1119600"/>
              </a:tblGrid>
              <a:tr h="81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810000">
                <a:tc>
                  <a:txBody>
                    <a:bodyPr/>
                    <a:lstStyle/>
                    <a:p>
                      <a:pPr algn="l">
                        <a:lnSpc>
                          <a:spcPct val="100000"/>
                        </a:lnSpc>
                      </a:pPr>
                      <a:r>
                        <a:rPr sz="1000">
                          <a:latin typeface="Montserrat"/>
                        </a:rPr>
                        <a:t>Adquisición de 16  piezas de equipo médico: 1 congelador horizontal de refrigerantes para vacunas, 3 refrigeradores para vacunas, 5 refrigeradores congeladores de 5.4 pies cúbicos, 1 monitor de radiación de pared, 2 monitores de signos vitales para el traslado del paciente (con protección antimagnética), 2 mastógrafos digitales con esterotaxia, 1 tomógrafo axial computarizado, 1 resonancia magnética</a:t>
                      </a:r>
                    </a:p>
                  </a:txBody>
                  <a:tcPr marL="3600" marR="3600" marT="3600" marB="3600">
                    <a:solidFill>
                      <a:srgbClr val="FFFFFF"/>
                    </a:solidFill>
                  </a:tcPr>
                </a:tc>
                <a:tc>
                  <a:txBody>
                    <a:bodyPr/>
                    <a:lstStyle/>
                    <a:p>
                      <a:pPr algn="ctr">
                        <a:lnSpc>
                          <a:spcPct val="100000"/>
                        </a:lnSpc>
                      </a:pPr>
                      <a:r>
                        <a:rPr sz="1000">
                          <a:latin typeface="Montserrat"/>
                        </a:rPr>
                        <a:t>$81.0</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040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$25.2</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1,805.1</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690420"/>
            <a:ext cx="1599000" cy="770400"/>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3</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Hospitales</a:t>
            </a:r>
            <a:endParaRPr lang="en-US" sz="800" b="1" i="0" u="none" strike="noStrike" dirty="0" err="1">
              <a:solidFill>
                <a:srgbClr val="A42145"/>
              </a:solidFill>
              <a:latin typeface="Montserrat"/>
              <a:ea typeface="Montserrat"/>
              <a:cs typeface="Montserrat"/>
            </a:endParaRPr>
          </a:p>
        </p:txBody>
      </p:sp>
      <p:pic>
        <p:nvPicPr>
          <p:cNvPr id="11" name="Imagen 10"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12" name="CuadroTexto 11">
            <a:extLst>
              <a:ext uri="{FF2B5EF4-FFF2-40B4-BE49-F238E27FC236}">
                <a16:creationId xmlns:a16="http://schemas.microsoft.com/office/drawing/2014/main" id="{907F7F6F-8FF8-56A0-795F-B2A127C97D4D}"/>
              </a:ext>
            </a:extLst>
          </p:cNvPr>
          <p:cNvSpPr txBox="1"/>
          <p:nvPr/>
        </p:nvSpPr>
        <p:spPr>
          <a:xfrm>
            <a:off x="-1233656" y="3065573"/>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a:solidFill>
                  <a:srgbClr val="A42145"/>
                </a:solidFill>
                <a:latin typeface="Montserrat"/>
              </a:rPr>
              <a:t>UMF</a:t>
            </a:r>
            <a:endParaRPr lang="en-US"/>
          </a:p>
        </p:txBody>
      </p:sp>
      <p:pic>
        <p:nvPicPr>
          <p:cNvPr id="13" name="Imagen 12"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286296" y="3874532"/>
            <a:ext cx="872667" cy="849944"/>
          </a:xfrm>
          <a:prstGeom prst="rect">
            <a:avLst/>
          </a:prstGeom>
        </p:spPr>
      </p:pic>
      <p:sp>
        <p:nvSpPr>
          <p:cNvPr id="14" name="CuadroTexto 11">
            <a:extLst>
              <a:ext uri="{FF2B5EF4-FFF2-40B4-BE49-F238E27FC236}">
                <a16:creationId xmlns:a16="http://schemas.microsoft.com/office/drawing/2014/main" id="{2C157DF6-A7FD-940D-19DA-323ACD68454D}"/>
              </a:ext>
            </a:extLst>
          </p:cNvPr>
          <p:cNvSpPr txBox="1"/>
          <p:nvPr/>
        </p:nvSpPr>
        <p:spPr>
          <a:xfrm>
            <a:off x="-1216824" y="3934807"/>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Centro de </a:t>
            </a:r>
            <a:endParaRPr lang="en-US" dirty="0"/>
          </a:p>
          <a:p>
            <a:pPr algn="ctr"/>
            <a:r>
              <a:rPr lang="en-US" sz="800" b="1" dirty="0" err="1">
                <a:solidFill>
                  <a:srgbClr val="A42145"/>
                </a:solidFill>
                <a:latin typeface="Montserrat"/>
              </a:rPr>
              <a:t>Mezclas</a:t>
            </a:r>
            <a:endParaRPr lang="en-US" dirty="0" err="1"/>
          </a:p>
        </p:txBody>
      </p:sp>
      <p:sp>
        <p:nvSpPr>
          <p:cNvPr id="15" name="TextBox 1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16" name="Table 15"/>
          <p:cNvGraphicFramePr>
            <a:graphicFrameLocks noGrp="1"/>
          </p:cNvGraphicFramePr>
          <p:nvPr/>
        </p:nvGraphicFramePr>
        <p:xfrm>
          <a:off x="1785600" y="1584000"/>
          <a:ext cx="5396400" cy="3527986"/>
        </p:xfrm>
        <a:graphic>
          <a:graphicData uri="http://schemas.openxmlformats.org/drawingml/2006/table">
            <a:tbl>
              <a:tblPr firstRow="1" bandRow="1">
                <a:tableStyleId>{5C22544A-7EE6-4342-B048-85BDC9FD1C3A}</a:tableStyleId>
              </a:tblPr>
              <a:tblGrid>
                <a:gridCol w="4255200"/>
                <a:gridCol w="1141200"/>
              </a:tblGrid>
              <a:tr h="271383">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71383">
                <a:tc>
                  <a:txBody>
                    <a:bodyPr/>
                    <a:lstStyle/>
                    <a:p>
                      <a:pPr algn="l">
                        <a:lnSpc>
                          <a:spcPct val="100000"/>
                        </a:lnSpc>
                      </a:pPr>
                      <a:r>
                        <a:rPr sz="1000">
                          <a:latin typeface="Montserrat"/>
                        </a:rPr>
                        <a:t>Hospital Regional de Especialidades, Saltillo</a:t>
                      </a:r>
                    </a:p>
                  </a:txBody>
                  <a:tcPr marL="3600" marR="3600" marT="3600" marB="3600">
                    <a:solidFill>
                      <a:srgbClr val="FFFFFF"/>
                    </a:solidFill>
                  </a:tcPr>
                </a:tc>
                <a:tc>
                  <a:txBody>
                    <a:bodyPr/>
                    <a:lstStyle/>
                    <a:p>
                      <a:pPr algn="ctr">
                        <a:lnSpc>
                          <a:spcPct val="100000"/>
                        </a:lnSpc>
                      </a:pPr>
                      <a:r>
                        <a:rPr sz="1000">
                          <a:latin typeface="Montserrat"/>
                        </a:rPr>
                        <a:t>$2,890.0</a:t>
                      </a:r>
                    </a:p>
                  </a:txBody>
                  <a:tcPr marL="3600" marR="3600" marT="3600" marB="3600">
                    <a:solidFill>
                      <a:srgbClr val="FFFFFF"/>
                    </a:solidFill>
                  </a:tcPr>
                </a:tc>
              </a:tr>
              <a:tr h="271383">
                <a:tc>
                  <a:txBody>
                    <a:bodyPr/>
                    <a:lstStyle/>
                    <a:p>
                      <a:pPr algn="l">
                        <a:lnSpc>
                          <a:spcPct val="100000"/>
                        </a:lnSpc>
                      </a:pPr>
                      <a:r>
                        <a:rPr sz="1000">
                          <a:latin typeface="Montserrat"/>
                        </a:rPr>
                        <a:t>UMF Plus Monclova (20 + 8 consultorios)</a:t>
                      </a:r>
                    </a:p>
                  </a:txBody>
                  <a:tcPr marL="3600" marR="3600" marT="3600" marB="3600">
                    <a:solidFill>
                      <a:srgbClr val="D9D9D9"/>
                    </a:solidFill>
                  </a:tcPr>
                </a:tc>
                <a:tc>
                  <a:txBody>
                    <a:bodyPr/>
                    <a:lstStyle/>
                    <a:p>
                      <a:pPr algn="ctr">
                        <a:lnSpc>
                          <a:spcPct val="100000"/>
                        </a:lnSpc>
                      </a:pPr>
                      <a:r>
                        <a:rPr sz="1000">
                          <a:latin typeface="Montserrat"/>
                        </a:rPr>
                        <a:t>$548.2</a:t>
                      </a:r>
                    </a:p>
                  </a:txBody>
                  <a:tcPr marL="3600" marR="3600" marT="3600" marB="3600">
                    <a:solidFill>
                      <a:srgbClr val="D9D9D9"/>
                    </a:solidFill>
                  </a:tcPr>
                </a:tc>
              </a:tr>
              <a:tr h="271383">
                <a:tc>
                  <a:txBody>
                    <a:bodyPr/>
                    <a:lstStyle/>
                    <a:p>
                      <a:pPr algn="l">
                        <a:lnSpc>
                          <a:spcPct val="100000"/>
                        </a:lnSpc>
                      </a:pPr>
                      <a:r>
                        <a:rPr sz="1000">
                          <a:latin typeface="Montserrat"/>
                        </a:rPr>
                        <a:t>UMF Plus Piedras Negras (20 + 8 consultorios)</a:t>
                      </a:r>
                    </a:p>
                  </a:txBody>
                  <a:tcPr marL="3600" marR="3600" marT="3600" marB="3600">
                    <a:solidFill>
                      <a:srgbClr val="FFFFFF"/>
                    </a:solidFill>
                  </a:tcPr>
                </a:tc>
                <a:tc>
                  <a:txBody>
                    <a:bodyPr/>
                    <a:lstStyle/>
                    <a:p>
                      <a:pPr algn="ctr">
                        <a:lnSpc>
                          <a:spcPct val="100000"/>
                        </a:lnSpc>
                      </a:pPr>
                      <a:r>
                        <a:rPr sz="1000">
                          <a:latin typeface="Montserrat"/>
                        </a:rPr>
                        <a:t>$548.2</a:t>
                      </a:r>
                    </a:p>
                  </a:txBody>
                  <a:tcPr marL="3600" marR="3600" marT="3600" marB="3600">
                    <a:solidFill>
                      <a:srgbClr val="FFFFFF"/>
                    </a:solidFill>
                  </a:tcPr>
                </a:tc>
              </a:tr>
              <a:tr h="271383">
                <a:tc>
                  <a:txBody>
                    <a:bodyPr/>
                    <a:lstStyle/>
                    <a:p>
                      <a:pPr algn="l">
                        <a:lnSpc>
                          <a:spcPct val="100000"/>
                        </a:lnSpc>
                      </a:pPr>
                      <a:r>
                        <a:rPr sz="1000">
                          <a:latin typeface="Montserrat"/>
                        </a:rPr>
                        <a:t>Sustitución UMF Plus Saltillo  (12 + 5 consultorios)</a:t>
                      </a:r>
                    </a:p>
                  </a:txBody>
                  <a:tcPr marL="3600" marR="3600" marT="3600" marB="3600">
                    <a:solidFill>
                      <a:srgbClr val="D9D9D9"/>
                    </a:solidFill>
                  </a:tcPr>
                </a:tc>
                <a:tc>
                  <a:txBody>
                    <a:bodyPr/>
                    <a:lstStyle/>
                    <a:p>
                      <a:pPr algn="ctr">
                        <a:lnSpc>
                          <a:spcPct val="100000"/>
                        </a:lnSpc>
                      </a:pPr>
                      <a:r>
                        <a:rPr sz="1000">
                          <a:latin typeface="Montserrat"/>
                        </a:rPr>
                        <a:t>$451.3</a:t>
                      </a:r>
                    </a:p>
                  </a:txBody>
                  <a:tcPr marL="3600" marR="3600" marT="3600" marB="3600">
                    <a:solidFill>
                      <a:srgbClr val="D9D9D9"/>
                    </a:solidFill>
                  </a:tcPr>
                </a:tc>
              </a:tr>
              <a:tr h="271383">
                <a:tc>
                  <a:txBody>
                    <a:bodyPr/>
                    <a:lstStyle/>
                    <a:p>
                      <a:pPr algn="l">
                        <a:lnSpc>
                          <a:spcPct val="100000"/>
                        </a:lnSpc>
                      </a:pPr>
                      <a:r>
                        <a:rPr sz="1000">
                          <a:latin typeface="Montserrat"/>
                        </a:rPr>
                        <a:t>UMF Plus Ramos Arizpe (10 + 5 consultorios)</a:t>
                      </a:r>
                    </a:p>
                  </a:txBody>
                  <a:tcPr marL="3600" marR="3600" marT="3600" marB="3600">
                    <a:solidFill>
                      <a:srgbClr val="FFFFFF"/>
                    </a:solidFill>
                  </a:tcPr>
                </a:tc>
                <a:tc>
                  <a:txBody>
                    <a:bodyPr/>
                    <a:lstStyle/>
                    <a:p>
                      <a:pPr algn="ctr">
                        <a:lnSpc>
                          <a:spcPct val="100000"/>
                        </a:lnSpc>
                      </a:pPr>
                      <a:r>
                        <a:rPr sz="1000">
                          <a:latin typeface="Montserrat"/>
                        </a:rPr>
                        <a:t>$444.5</a:t>
                      </a:r>
                    </a:p>
                  </a:txBody>
                  <a:tcPr marL="3600" marR="3600" marT="3600" marB="3600">
                    <a:solidFill>
                      <a:srgbClr val="FFFFFF"/>
                    </a:solidFill>
                  </a:tcPr>
                </a:tc>
              </a:tr>
              <a:tr h="271383">
                <a:tc>
                  <a:txBody>
                    <a:bodyPr/>
                    <a:lstStyle/>
                    <a:p>
                      <a:pPr algn="l">
                        <a:lnSpc>
                          <a:spcPct val="100000"/>
                        </a:lnSpc>
                      </a:pPr>
                      <a:r>
                        <a:rPr sz="1000">
                          <a:latin typeface="Montserrat"/>
                        </a:rPr>
                        <a:t>UMF Plus Torreón(10 + 5 consultorios)</a:t>
                      </a:r>
                    </a:p>
                  </a:txBody>
                  <a:tcPr marL="3600" marR="3600" marT="3600" marB="3600">
                    <a:solidFill>
                      <a:srgbClr val="D9D9D9"/>
                    </a:solidFill>
                  </a:tcPr>
                </a:tc>
                <a:tc>
                  <a:txBody>
                    <a:bodyPr/>
                    <a:lstStyle/>
                    <a:p>
                      <a:pPr algn="ctr">
                        <a:lnSpc>
                          <a:spcPct val="100000"/>
                        </a:lnSpc>
                      </a:pPr>
                      <a:r>
                        <a:rPr sz="1000">
                          <a:latin typeface="Montserrat"/>
                        </a:rPr>
                        <a:t>$444.5</a:t>
                      </a:r>
                    </a:p>
                  </a:txBody>
                  <a:tcPr marL="3600" marR="3600" marT="3600" marB="3600">
                    <a:solidFill>
                      <a:srgbClr val="D9D9D9"/>
                    </a:solidFill>
                  </a:tcPr>
                </a:tc>
              </a:tr>
              <a:tr h="271383">
                <a:tc>
                  <a:txBody>
                    <a:bodyPr/>
                    <a:lstStyle/>
                    <a:p>
                      <a:pPr algn="l">
                        <a:lnSpc>
                          <a:spcPct val="100000"/>
                        </a:lnSpc>
                      </a:pPr>
                      <a:r>
                        <a:rPr sz="1000">
                          <a:latin typeface="Montserrat"/>
                        </a:rPr>
                        <a:t>Fortalecimiento del HR Matamoros</a:t>
                      </a:r>
                    </a:p>
                  </a:txBody>
                  <a:tcPr marL="3600" marR="3600" marT="3600" marB="3600">
                    <a:solidFill>
                      <a:srgbClr val="FFFFFF"/>
                    </a:solidFill>
                  </a:tcPr>
                </a:tc>
                <a:tc>
                  <a:txBody>
                    <a:bodyPr/>
                    <a:lstStyle/>
                    <a:p>
                      <a:pPr algn="ctr">
                        <a:lnSpc>
                          <a:spcPct val="100000"/>
                        </a:lnSpc>
                      </a:pPr>
                      <a:r>
                        <a:rPr sz="1000">
                          <a:latin typeface="Montserrat"/>
                        </a:rPr>
                        <a:t>$377.5</a:t>
                      </a:r>
                    </a:p>
                  </a:txBody>
                  <a:tcPr marL="3600" marR="3600" marT="3600" marB="3600">
                    <a:solidFill>
                      <a:srgbClr val="FFFFFF"/>
                    </a:solidFill>
                  </a:tcPr>
                </a:tc>
              </a:tr>
              <a:tr h="271383">
                <a:tc>
                  <a:txBody>
                    <a:bodyPr/>
                    <a:lstStyle/>
                    <a:p>
                      <a:pPr algn="l">
                        <a:lnSpc>
                          <a:spcPct val="100000"/>
                        </a:lnSpc>
                      </a:pPr>
                      <a:r>
                        <a:rPr sz="1000">
                          <a:latin typeface="Montserrat"/>
                        </a:rPr>
                        <a:t>Fortalecimiento del HR San Buenaventura</a:t>
                      </a:r>
                    </a:p>
                  </a:txBody>
                  <a:tcPr marL="3600" marR="3600" marT="3600" marB="3600">
                    <a:solidFill>
                      <a:srgbClr val="D9D9D9"/>
                    </a:solidFill>
                  </a:tcPr>
                </a:tc>
                <a:tc>
                  <a:txBody>
                    <a:bodyPr/>
                    <a:lstStyle/>
                    <a:p>
                      <a:pPr algn="ctr">
                        <a:lnSpc>
                          <a:spcPct val="100000"/>
                        </a:lnSpc>
                      </a:pPr>
                      <a:r>
                        <a:rPr sz="1000">
                          <a:latin typeface="Montserrat"/>
                        </a:rPr>
                        <a:t>$317.2</a:t>
                      </a:r>
                    </a:p>
                  </a:txBody>
                  <a:tcPr marL="3600" marR="3600" marT="3600" marB="3600">
                    <a:solidFill>
                      <a:srgbClr val="D9D9D9"/>
                    </a:solidFill>
                  </a:tcPr>
                </a:tc>
              </a:tr>
              <a:tr h="271383">
                <a:tc>
                  <a:txBody>
                    <a:bodyPr/>
                    <a:lstStyle/>
                    <a:p>
                      <a:pPr algn="l">
                        <a:lnSpc>
                          <a:spcPct val="100000"/>
                        </a:lnSpc>
                      </a:pPr>
                      <a:r>
                        <a:rPr sz="1000">
                          <a:latin typeface="Montserrat"/>
                        </a:rPr>
                        <a:t>UMF 10+5 Santa Bárbara, Coahuila</a:t>
                      </a:r>
                    </a:p>
                  </a:txBody>
                  <a:tcPr marL="3600" marR="3600" marT="3600" marB="3600">
                    <a:solidFill>
                      <a:srgbClr val="FFFFFF"/>
                    </a:solidFill>
                  </a:tcPr>
                </a:tc>
                <a:tc>
                  <a:txBody>
                    <a:bodyPr/>
                    <a:lstStyle/>
                    <a:p>
                      <a:pPr algn="ctr">
                        <a:lnSpc>
                          <a:spcPct val="100000"/>
                        </a:lnSpc>
                      </a:pPr>
                      <a:r>
                        <a:rPr sz="1000">
                          <a:latin typeface="Montserrat"/>
                        </a:rPr>
                        <a:t>$227.0</a:t>
                      </a:r>
                    </a:p>
                  </a:txBody>
                  <a:tcPr marL="3600" marR="3600" marT="3600" marB="3600">
                    <a:solidFill>
                      <a:srgbClr val="FFFFFF"/>
                    </a:solidFill>
                  </a:tcPr>
                </a:tc>
              </a:tr>
              <a:tr h="271383">
                <a:tc>
                  <a:txBody>
                    <a:bodyPr/>
                    <a:lstStyle/>
                    <a:p>
                      <a:pPr algn="l">
                        <a:lnSpc>
                          <a:spcPct val="100000"/>
                        </a:lnSpc>
                      </a:pPr>
                      <a:r>
                        <a:rPr sz="1000">
                          <a:latin typeface="Montserrat"/>
                        </a:rPr>
                        <a:t>UMF 10+5 El Cortijo, Coahuila</a:t>
                      </a:r>
                    </a:p>
                  </a:txBody>
                  <a:tcPr marL="3600" marR="3600" marT="3600" marB="3600">
                    <a:solidFill>
                      <a:srgbClr val="D9D9D9"/>
                    </a:solidFill>
                  </a:tcPr>
                </a:tc>
                <a:tc>
                  <a:txBody>
                    <a:bodyPr/>
                    <a:lstStyle/>
                    <a:p>
                      <a:pPr algn="ctr">
                        <a:lnSpc>
                          <a:spcPct val="100000"/>
                        </a:lnSpc>
                      </a:pPr>
                      <a:r>
                        <a:rPr sz="1000">
                          <a:latin typeface="Montserrat"/>
                        </a:rPr>
                        <a:t>$216.2</a:t>
                      </a:r>
                    </a:p>
                  </a:txBody>
                  <a:tcPr marL="3600" marR="3600" marT="3600" marB="3600">
                    <a:solidFill>
                      <a:srgbClr val="D9D9D9"/>
                    </a:solidFill>
                  </a:tcPr>
                </a:tc>
              </a:tr>
              <a:tr h="271383">
                <a:tc>
                  <a:txBody>
                    <a:bodyPr/>
                    <a:lstStyle/>
                    <a:p>
                      <a:pPr algn="l">
                        <a:lnSpc>
                          <a:spcPct val="100000"/>
                        </a:lnSpc>
                      </a:pPr>
                      <a:r>
                        <a:rPr sz="1000">
                          <a:latin typeface="Montserrat"/>
                        </a:rPr>
                        <a:t>Centro de mezclas UMAE HES 71 Torreón (en proceso de licencias)</a:t>
                      </a:r>
                    </a:p>
                  </a:txBody>
                  <a:tcPr marL="3600" marR="3600" marT="3600" marB="3600">
                    <a:solidFill>
                      <a:srgbClr val="FFFFFF"/>
                    </a:solidFill>
                  </a:tcPr>
                </a:tc>
                <a:tc>
                  <a:txBody>
                    <a:bodyPr/>
                    <a:lstStyle/>
                    <a:p>
                      <a:pPr algn="ctr">
                        <a:lnSpc>
                          <a:spcPct val="100000"/>
                        </a:lnSpc>
                      </a:pPr>
                      <a:r>
                        <a:rPr sz="1000">
                          <a:latin typeface="Montserrat"/>
                        </a:rPr>
                        <a:t>$60.6</a:t>
                      </a:r>
                    </a:p>
                  </a:txBody>
                  <a:tcPr marL="3600" marR="3600" marT="3600" marB="3600">
                    <a:solidFill>
                      <a:srgbClr val="FFFFFF"/>
                    </a:solidFill>
                  </a:tcPr>
                </a:tc>
              </a:tr>
              <a:tr h="271390">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$6,525.2</a:t>
                      </a:r>
                    </a:p>
                  </a:txBody>
                  <a:tcPr marL="3600" marR="3600" marT="3600" marB="3600">
                    <a:solidFill>
                      <a:srgbClr val="9F2241"/>
                    </a:solidFill>
                  </a:tcPr>
                </a:tc>
              </a:tr>
            </a:tbl>
          </a:graphicData>
        </a:graphic>
      </p:graphicFrame>
      <p:graphicFrame>
        <p:nvGraphicFramePr>
          <p:cNvPr id="17" name="Table 16"/>
          <p:cNvGraphicFramePr>
            <a:graphicFrameLocks noGrp="1"/>
          </p:cNvGraphicFramePr>
          <p:nvPr/>
        </p:nvGraphicFramePr>
        <p:xfrm>
          <a:off x="1785600" y="5291986"/>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Ampliación y remodelación UMF  Plus San Pedro  (12 + 5 consultorios)</a:t>
                      </a:r>
                    </a:p>
                  </a:txBody>
                  <a:tcPr marL="3600" marR="3600" marT="3600" marB="3600">
                    <a:solidFill>
                      <a:srgbClr val="FFFFFF"/>
                    </a:solidFill>
                  </a:tcPr>
                </a:tc>
                <a:tc>
                  <a:txBody>
                    <a:bodyPr/>
                    <a:lstStyle/>
                    <a:p>
                      <a:pPr algn="ctr">
                        <a:lnSpc>
                          <a:spcPct val="100000"/>
                        </a:lnSpc>
                      </a:pPr>
                      <a:r>
                        <a:rPr sz="1000">
                          <a:latin typeface="Montserrat"/>
                        </a:rPr>
                        <a:t>$444.5</a:t>
                      </a:r>
                    </a:p>
                  </a:txBody>
                  <a:tcPr marL="3600" marR="3600" marT="3600" marB="3600">
                    <a:solidFill>
                      <a:srgbClr val="FFFFFF"/>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D9D9D9"/>
                    </a:solidFill>
                  </a:tcPr>
                </a:tc>
                <a:tc>
                  <a:txBody>
                    <a:bodyPr/>
                    <a:lstStyle/>
                    <a:p>
                      <a:pPr algn="ctr">
                        <a:lnSpc>
                          <a:spcPct val="100000"/>
                        </a:lnSpc>
                      </a:pPr>
                      <a:r>
                        <a:rPr sz="1000">
                          <a:latin typeface="Montserrat"/>
                        </a:rPr>
                        <a:t>$248.3</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$692.8</a:t>
                      </a:r>
                    </a:p>
                  </a:txBody>
                  <a:tcPr marL="3600" marR="3600" marT="3600" marB="3600">
                    <a:solidFill>
                      <a:srgbClr val="9F2241"/>
                    </a:solidFill>
                  </a:tcPr>
                </a:tc>
              </a:tr>
            </a:tbl>
          </a:graphicData>
        </a:graphic>
      </p:graphicFrame>
      <p:graphicFrame>
        <p:nvGraphicFramePr>
          <p:cNvPr id="18" name="Table 17"/>
          <p:cNvGraphicFramePr>
            <a:graphicFrameLocks noGrp="1"/>
          </p:cNvGraphicFramePr>
          <p:nvPr/>
        </p:nvGraphicFramePr>
        <p:xfrm>
          <a:off x="1785600" y="6479982"/>
          <a:ext cx="5396400" cy="1259995"/>
        </p:xfrm>
        <a:graphic>
          <a:graphicData uri="http://schemas.openxmlformats.org/drawingml/2006/table">
            <a:tbl>
              <a:tblPr firstRow="1" bandRow="1">
                <a:tableStyleId>{5C22544A-7EE6-4342-B048-85BDC9FD1C3A}</a:tableStyleId>
              </a:tblPr>
              <a:tblGrid>
                <a:gridCol w="4255200"/>
                <a:gridCol w="1141200"/>
              </a:tblGrid>
              <a:tr h="629997">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629998">
                <a:tc>
                  <a:txBody>
                    <a:bodyPr/>
                    <a:lstStyle/>
                    <a:p>
                      <a:pPr algn="l">
                        <a:lnSpc>
                          <a:spcPct val="100000"/>
                        </a:lnSpc>
                      </a:pPr>
                      <a:r>
                        <a:rPr sz="1000">
                          <a:latin typeface="Montserrat"/>
                        </a:rPr>
                        <a:t>158 Equipos electromecánicos para 15 Unidades; 9 elevadores, 91 equipos para casa de máquinas, 50 para aire acondicionado, 6 lavadoras y 5 secadoras. Coahuila</a:t>
                      </a:r>
                    </a:p>
                  </a:txBody>
                  <a:tcPr marL="3600" marR="3600" marT="3600" marB="3600">
                    <a:solidFill>
                      <a:srgbClr val="FFFFFF"/>
                    </a:solidFill>
                  </a:tcPr>
                </a:tc>
                <a:tc>
                  <a:txBody>
                    <a:bodyPr/>
                    <a:lstStyle/>
                    <a:p>
                      <a:pPr algn="ctr">
                        <a:lnSpc>
                          <a:spcPct val="100000"/>
                        </a:lnSpc>
                      </a:pPr>
                      <a:r>
                        <a:rPr sz="1000">
                          <a:latin typeface="Montserrat"/>
                        </a:rPr>
                        <a:t>$531.6</a:t>
                      </a:r>
                    </a:p>
                  </a:txBody>
                  <a:tcPr marL="3600" marR="3600" marT="3600" marB="3600">
                    <a:solidFill>
                      <a:srgbClr val="FFFFFF"/>
                    </a:solidFill>
                  </a:tcPr>
                </a:tc>
              </a:tr>
            </a:tbl>
          </a:graphicData>
        </a:graphic>
      </p:graphicFrame>
      <p:sp>
        <p:nvSpPr>
          <p:cNvPr id="19" name="TextBox 18"/>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7,749.6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12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3 Reserva IMSS</a:t>
                      </a:r>
                    </a:p>
                  </a:txBody>
                  <a:tcPr marL="72000" marR="72000" anchor="ctr">
                    <a:noFill/>
                  </a:tcPr>
                </a:tc>
                <a:tc>
                  <a:txBody>
                    <a:bodyPr/>
                    <a:lstStyle/>
                    <a:p>
                      <a:pPr algn="ctr">
                        <a:defRPr sz="1200" b="0">
                          <a:solidFill>
                            <a:srgbClr val="FFFFFF"/>
                          </a:solidFill>
                          <a:latin typeface="Montserrat"/>
                        </a:defRPr>
                      </a:pPr>
                      <a:r>
                        <a:t>Torreón, Parras, Ciudad Acuña</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9 Donación</a:t>
                      </a:r>
                    </a:p>
                  </a:txBody>
                  <a:tcPr marL="72000" marR="72000" anchor="ctr">
                    <a:noFill/>
                  </a:tcPr>
                </a:tc>
                <a:tc>
                  <a:txBody>
                    <a:bodyPr/>
                    <a:lstStyle/>
                    <a:p>
                      <a:pPr algn="ctr">
                        <a:defRPr sz="1200" b="0">
                          <a:solidFill>
                            <a:srgbClr val="FFFFFF"/>
                          </a:solidFill>
                          <a:latin typeface="Montserrat"/>
                        </a:defRPr>
                      </a:pPr>
                      <a:r>
                        <a:t>Monclova (2), Piedras Negras (2), Francisco I. Madero, Ramos Arizpe, Saltillo, Ciudad Acuña</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51</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49 CECI IMSS</a:t>
            </a:r>
          </a:p>
          <a:p>
            <a:pPr algn="ctr">
              <a:defRPr sz="1500" b="1">
                <a:solidFill>
                  <a:srgbClr val="FFFFFF"/>
                </a:solidFill>
                <a:latin typeface="Montserrat"/>
              </a:defRPr>
            </a:pPr>
            <a:r>
              <a:t>2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3 en Ciudad Acuña, Parras y Torreón.</a:t>
            </a:r>
            <a:br/>
            <a:r>
              <a:t>En integración de expediente para donación: 9 en Monclova, Piedras Negras, Francisco I. Madero, Ramos Arizpe, Saltillo y Ciudad Acuña.</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COAHUILA</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56 </a:t>
                      </a:r>
                      <a:r>
                        <a:rPr b="1" sz="1000">
                          <a:latin typeface="Montserrat"/>
                        </a:rPr>
                        <a:t>unidades</a:t>
                      </a:r>
                    </a:p>
                    <a:p>
                      <a:pPr algn="ctr">
                        <a:defRPr sz="1000">
                          <a:solidFill>
                            <a:srgbClr val="505050"/>
                          </a:solidFill>
                          <a:latin typeface="Montserrat"/>
                        </a:defRPr>
                      </a:pPr>
                      <a:r>
                        <a:t>5 directas</a:t>
                      </a:r>
                    </a:p>
                    <a:p>
                      <a:pPr algn="ctr">
                        <a:defRPr sz="1000">
                          <a:solidFill>
                            <a:srgbClr val="505050"/>
                          </a:solidFill>
                          <a:latin typeface="Montserrat"/>
                        </a:defRPr>
                      </a:pPr>
                      <a:r>
                        <a:t>51 indirectas</a:t>
                      </a:r>
                    </a:p>
                  </a:txBody>
                  <a:tcPr anchor="ctr">
                    <a:solidFill>
                      <a:srgbClr val="FFFFFF"/>
                    </a:solidFill>
                  </a:tcPr>
                </a:tc>
                <a:tc>
                  <a:txBody>
                    <a:bodyPr/>
                    <a:lstStyle/>
                    <a:p>
                      <a:pPr algn="ctr"/>
                      <a:r>
                        <a:rPr b="1" sz="1000">
                          <a:latin typeface="Montserrat"/>
                        </a:rPr>
                        <a:t>8,419 </a:t>
                      </a:r>
                      <a:r>
                        <a:rPr b="1" sz="1000">
                          <a:latin typeface="Montserrat"/>
                        </a:rPr>
                        <a:t>inscritos</a:t>
                      </a:r>
                    </a:p>
                    <a:p>
                      <a:pPr algn="ctr">
                        <a:defRPr sz="1000">
                          <a:solidFill>
                            <a:srgbClr val="505050"/>
                          </a:solidFill>
                          <a:latin typeface="Montserrat"/>
                        </a:defRPr>
                      </a:pPr>
                      <a:r>
                        <a:t>1,635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6971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697199">
                <a:tc>
                  <a:txBody>
                    <a:bodyPr/>
                    <a:lstStyle/>
                    <a:p>
                      <a:pPr algn="ctr">
                        <a:defRPr sz="800" b="1">
                          <a:latin typeface="Montserrat"/>
                        </a:defRPr>
                      </a:pPr>
                      <a:r>
                        <a:t>4 Centros de Seguridad Social</a:t>
                      </a:r>
                    </a:p>
                  </a:txBody>
                  <a:tcPr anchor="ctr" marL="28800" marR="28800" marT="0" marB="0">
                    <a:solidFill>
                      <a:srgbClr val="FFFFFF"/>
                    </a:solidFill>
                  </a:tcPr>
                </a:tc>
                <a:tc>
                  <a:txBody>
                    <a:bodyPr/>
                    <a:lstStyle/>
                    <a:p>
                      <a:pPr algn="ctr">
                        <a:defRPr sz="800">
                          <a:latin typeface="Montserrat"/>
                        </a:defRPr>
                      </a:pPr>
                      <a:r>
                        <a:t>Saltillo, Monclova, Sabinas(Part.) y Piedras Negras</a:t>
                      </a:r>
                    </a:p>
                  </a:txBody>
                  <a:tcPr anchor="ctr" marL="28800" marR="28800" marT="0" marB="0">
                    <a:solidFill>
                      <a:srgbClr val="FFFFFF"/>
                    </a:solidFill>
                  </a:tcPr>
                </a:tc>
              </a:tr>
              <a:tr h="697201">
                <a:tc>
                  <a:txBody>
                    <a:bodyPr/>
                    <a:lstStyle/>
                    <a:p>
                      <a:pPr algn="ctr">
                        <a:defRPr sz="800" b="1">
                          <a:latin typeface="Montserrat"/>
                        </a:defRPr>
                      </a:pPr>
                      <a:r>
                        <a:t>3 Teatros</a:t>
                      </a:r>
                    </a:p>
                  </a:txBody>
                  <a:tcPr anchor="ctr" marL="28800" marR="28800" marT="0" marB="0">
                    <a:solidFill>
                      <a:srgbClr val="EFEFEF"/>
                    </a:solidFill>
                  </a:tcPr>
                </a:tc>
                <a:tc>
                  <a:txBody>
                    <a:bodyPr/>
                    <a:lstStyle/>
                    <a:p>
                      <a:pPr algn="ctr">
                        <a:defRPr sz="800">
                          <a:latin typeface="Montserrat"/>
                        </a:defRPr>
                      </a:pPr>
                      <a:r>
                        <a:t>Saltillo, Monclova y  Piedras Negras</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5 Saltillo y No. 9 Monclova</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Torreón</a:t>
                      </a:r>
                    </a:p>
                  </a:txBody>
                  <a:tcPr anchor="ctr" marL="28800" marR="28800" marT="0" marB="0">
                    <a:solidFill>
                      <a:srgbClr val="EFEFEF"/>
                    </a:solidFill>
                  </a:tcPr>
                </a:tc>
              </a:tr>
            </a:tbl>
          </a:graphicData>
        </a:graphic>
      </p:graphicFrame>
      <p:pic>
        <p:nvPicPr>
          <p:cNvPr id="470" name="Picture 469" descr="map_tipo2_05_coah.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56</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20,227</a:t>
                      </a:r>
                    </a:p>
                  </a:txBody>
                  <a:tcPr anchor="ctr">
                    <a:solidFill>
                      <a:srgbClr val="FFFFFF"/>
                    </a:solidFill>
                  </a:tcPr>
                </a:tc>
                <a:tc>
                  <a:txBody>
                    <a:bodyPr/>
                    <a:lstStyle/>
                    <a:p>
                      <a:pPr algn="ctr">
                        <a:defRPr sz="850">
                          <a:latin typeface="Montserrat"/>
                        </a:defRPr>
                      </a:pPr>
                      <a:r>
                        <a:t>20,187</a:t>
                      </a:r>
                    </a:p>
                  </a:txBody>
                  <a:tcPr anchor="ctr">
                    <a:solidFill>
                      <a:srgbClr val="FFFFFF"/>
                    </a:solidFill>
                  </a:tcPr>
                </a:tc>
                <a:tc>
                  <a:txBody>
                    <a:bodyPr/>
                    <a:lstStyle/>
                    <a:p>
                      <a:pPr algn="ctr">
                        <a:defRPr sz="850" b="1">
                          <a:solidFill>
                            <a:srgbClr val="691C32"/>
                          </a:solidFill>
                          <a:latin typeface="Montserrat"/>
                        </a:defRPr>
                      </a:pPr>
                      <a:r>
                        <a:t>-0.2%</a:t>
                      </a:r>
                    </a:p>
                  </a:txBody>
                  <a:tcPr anchor="ctr">
                    <a:solidFill>
                      <a:srgbClr val="FFFFFF"/>
                    </a:solidFill>
                  </a:tcPr>
                </a:tc>
                <a:tc>
                  <a:txBody>
                    <a:bodyPr/>
                    <a:lstStyle/>
                    <a:p>
                      <a:pPr algn="ctr">
                        <a:defRPr sz="850">
                          <a:latin typeface="Montserrat"/>
                        </a:defRPr>
                      </a:pPr>
                      <a:r>
                        <a:t>Stellantis México S.A. de C.V.</a:t>
                      </a:r>
                    </a:p>
                  </a:txBody>
                  <a:tcPr anchor="ctr">
                    <a:solidFill>
                      <a:srgbClr val="FFFFFF"/>
                    </a:solidFill>
                  </a:tcPr>
                </a:tc>
                <a:tc>
                  <a:txBody>
                    <a:bodyPr/>
                    <a:lstStyle/>
                    <a:p>
                      <a:pPr algn="ctr">
                        <a:defRPr sz="850">
                          <a:latin typeface="Montserrat"/>
                        </a:defRPr>
                      </a:pPr>
                      <a:r>
                        <a:t>14,258</a:t>
                      </a:r>
                    </a:p>
                  </a:txBody>
                  <a:tcPr anchor="ctr">
                    <a:solidFill>
                      <a:srgbClr val="FFFFFF"/>
                    </a:solidFill>
                  </a:tcPr>
                </a:tc>
                <a:tc>
                  <a:txBody>
                    <a:bodyPr/>
                    <a:lstStyle/>
                    <a:p>
                      <a:pPr algn="ctr">
                        <a:defRPr sz="850">
                          <a:latin typeface="Montserrat"/>
                        </a:defRPr>
                      </a:pPr>
                      <a:r>
                        <a:t>14,506</a:t>
                      </a:r>
                    </a:p>
                  </a:txBody>
                  <a:tcPr anchor="ctr">
                    <a:solidFill>
                      <a:srgbClr val="FFFFFF"/>
                    </a:solidFill>
                  </a:tcPr>
                </a:tc>
                <a:tc>
                  <a:txBody>
                    <a:bodyPr/>
                    <a:lstStyle/>
                    <a:p>
                      <a:pPr algn="ctr">
                        <a:defRPr sz="850" b="1">
                          <a:solidFill>
                            <a:srgbClr val="006455"/>
                          </a:solidFill>
                          <a:latin typeface="Montserrat"/>
                        </a:defRPr>
                      </a:pPr>
                      <a:r>
                        <a:t>1.7%</a:t>
                      </a:r>
                    </a:p>
                  </a:txBody>
                  <a:tcPr anchor="ctr">
                    <a:solidFill>
                      <a:srgbClr val="FFFFFF"/>
                    </a:solidFill>
                  </a:tcPr>
                </a:tc>
              </a:tr>
              <a:tr h="490320">
                <a:tc rowSpan="2">
                  <a:txBody>
                    <a:bodyPr/>
                    <a:lstStyle/>
                    <a:p>
                      <a:pPr algn="ctr">
                        <a:defRPr sz="850">
                          <a:latin typeface="Montserrat"/>
                        </a:defRPr>
                      </a:pPr>
                      <a:r>
                        <a:t>Universidad Autónoma de Coahuila</a:t>
                      </a:r>
                    </a:p>
                  </a:txBody>
                  <a:tcPr anchor="ctr">
                    <a:solidFill>
                      <a:srgbClr val="D9D9D9"/>
                    </a:solidFill>
                  </a:tcPr>
                </a:tc>
                <a:tc rowSpan="2">
                  <a:txBody>
                    <a:bodyPr/>
                    <a:lstStyle/>
                    <a:p>
                      <a:pPr algn="ctr">
                        <a:defRPr sz="850">
                          <a:latin typeface="Montserrat"/>
                        </a:defRPr>
                      </a:pPr>
                      <a:r>
                        <a:t>7,100</a:t>
                      </a:r>
                    </a:p>
                  </a:txBody>
                  <a:tcPr anchor="ctr">
                    <a:solidFill>
                      <a:srgbClr val="D9D9D9"/>
                    </a:solidFill>
                  </a:tcPr>
                </a:tc>
                <a:tc rowSpan="2">
                  <a:txBody>
                    <a:bodyPr/>
                    <a:lstStyle/>
                    <a:p>
                      <a:pPr algn="ctr">
                        <a:defRPr sz="850">
                          <a:latin typeface="Montserrat"/>
                        </a:defRPr>
                      </a:pPr>
                      <a:r>
                        <a:t>7,090</a:t>
                      </a:r>
                    </a:p>
                  </a:txBody>
                  <a:tcPr anchor="ctr">
                    <a:solidFill>
                      <a:srgbClr val="D9D9D9"/>
                    </a:solidFill>
                  </a:tcPr>
                </a:tc>
                <a:tc rowSpan="2">
                  <a:txBody>
                    <a:bodyPr/>
                    <a:lstStyle/>
                    <a:p>
                      <a:pPr algn="ctr">
                        <a:defRPr sz="850" b="1">
                          <a:solidFill>
                            <a:srgbClr val="691C32"/>
                          </a:solidFill>
                          <a:latin typeface="Montserrat"/>
                        </a:defRPr>
                      </a:pPr>
                      <a:r>
                        <a:t>-0.1%</a:t>
                      </a:r>
                    </a:p>
                  </a:txBody>
                  <a:tcPr anchor="ctr">
                    <a:solidFill>
                      <a:srgbClr val="D9D9D9"/>
                    </a:solidFill>
                  </a:tcPr>
                </a:tc>
                <a:tc>
                  <a:txBody>
                    <a:bodyPr/>
                    <a:lstStyle/>
                    <a:p>
                      <a:pPr algn="ctr">
                        <a:defRPr sz="850">
                          <a:latin typeface="Montserrat"/>
                        </a:defRPr>
                      </a:pPr>
                      <a:r>
                        <a:t>Cadena Comercial OXXO S.A. de C.V.</a:t>
                      </a:r>
                    </a:p>
                  </a:txBody>
                  <a:tcPr anchor="ctr">
                    <a:solidFill>
                      <a:srgbClr val="D9D9D9"/>
                    </a:solidFill>
                  </a:tcPr>
                </a:tc>
                <a:tc>
                  <a:txBody>
                    <a:bodyPr/>
                    <a:lstStyle/>
                    <a:p>
                      <a:pPr algn="ctr">
                        <a:defRPr sz="850">
                          <a:latin typeface="Montserrat"/>
                        </a:defRPr>
                      </a:pPr>
                      <a:r>
                        <a:t>8,444</a:t>
                      </a:r>
                    </a:p>
                  </a:txBody>
                  <a:tcPr anchor="ctr">
                    <a:solidFill>
                      <a:srgbClr val="D9D9D9"/>
                    </a:solidFill>
                  </a:tcPr>
                </a:tc>
                <a:tc>
                  <a:txBody>
                    <a:bodyPr/>
                    <a:lstStyle/>
                    <a:p>
                      <a:pPr algn="ctr">
                        <a:defRPr sz="850">
                          <a:latin typeface="Montserrat"/>
                        </a:defRPr>
                      </a:pPr>
                      <a:r>
                        <a:t>8,453</a:t>
                      </a:r>
                    </a:p>
                  </a:txBody>
                  <a:tcPr anchor="ctr">
                    <a:solidFill>
                      <a:srgbClr val="D9D9D9"/>
                    </a:solidFill>
                  </a:tcPr>
                </a:tc>
                <a:tc>
                  <a:txBody>
                    <a:bodyPr/>
                    <a:lstStyle/>
                    <a:p>
                      <a:pPr algn="ctr">
                        <a:defRPr sz="850" b="1">
                          <a:solidFill>
                            <a:srgbClr val="006455"/>
                          </a:solidFill>
                          <a:latin typeface="Montserrat"/>
                        </a:defRPr>
                      </a:pPr>
                      <a:r>
                        <a:t>0.1%</a:t>
                      </a:r>
                    </a:p>
                  </a:txBody>
                  <a:tcPr anchor="ctr">
                    <a:solidFill>
                      <a:srgbClr val="D9D9D9"/>
                    </a:solidFill>
                  </a:tcPr>
                </a:tc>
              </a:tr>
              <a:tr h="490320">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a:txBody>
                    <a:bodyPr/>
                    <a:lstStyle/>
                    <a:p>
                      <a:pPr algn="ctr">
                        <a:defRPr sz="850">
                          <a:latin typeface="Montserrat"/>
                        </a:defRPr>
                      </a:pPr>
                      <a:r>
                        <a:t>Arneses y Accesorios de México S. de R.L. de C.V.</a:t>
                      </a:r>
                    </a:p>
                  </a:txBody>
                  <a:tcPr anchor="ctr">
                    <a:solidFill>
                      <a:srgbClr val="FFFFFF"/>
                    </a:solidFill>
                  </a:tcPr>
                </a:tc>
                <a:tc>
                  <a:txBody>
                    <a:bodyPr/>
                    <a:lstStyle/>
                    <a:p>
                      <a:pPr algn="ctr">
                        <a:defRPr sz="850">
                          <a:latin typeface="Montserrat"/>
                        </a:defRPr>
                      </a:pPr>
                      <a:r>
                        <a:t>7,767</a:t>
                      </a:r>
                    </a:p>
                  </a:txBody>
                  <a:tcPr anchor="ctr">
                    <a:solidFill>
                      <a:srgbClr val="FFFFFF"/>
                    </a:solidFill>
                  </a:tcPr>
                </a:tc>
                <a:tc>
                  <a:txBody>
                    <a:bodyPr/>
                    <a:lstStyle/>
                    <a:p>
                      <a:pPr algn="ctr">
                        <a:defRPr sz="850">
                          <a:latin typeface="Montserrat"/>
                        </a:defRPr>
                      </a:pPr>
                      <a:r>
                        <a:t>8,189</a:t>
                      </a:r>
                    </a:p>
                  </a:txBody>
                  <a:tcPr anchor="ctr">
                    <a:solidFill>
                      <a:srgbClr val="FFFFFF"/>
                    </a:solidFill>
                  </a:tcPr>
                </a:tc>
                <a:tc>
                  <a:txBody>
                    <a:bodyPr/>
                    <a:lstStyle/>
                    <a:p>
                      <a:pPr algn="ctr">
                        <a:defRPr sz="850" b="1">
                          <a:solidFill>
                            <a:srgbClr val="006455"/>
                          </a:solidFill>
                          <a:latin typeface="Montserrat"/>
                        </a:defRPr>
                      </a:pPr>
                      <a:r>
                        <a:t>5.4%</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-5.13%</a:t>
            </a:r>
          </a:p>
        </p:txBody>
      </p:sp>
      <p:sp>
        <p:nvSpPr>
          <p:cNvPr id="482" name="Rounded Rectangle 481"/>
          <p:cNvSpPr/>
          <p:nvPr/>
        </p:nvSpPr>
        <p:spPr>
          <a:xfrm>
            <a:off x="7020000" y="417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+0.71%</a:t>
            </a:r>
          </a:p>
        </p:txBody>
      </p:sp>
      <p:sp>
        <p:nvSpPr>
          <p:cNvPr id="483" name="Rounded Rectangle 482"/>
          <p:cNvSpPr/>
          <p:nvPr/>
        </p:nvSpPr>
        <p:spPr>
          <a:xfrm>
            <a:off x="7020000" y="457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+2.74%</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+2.76%</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+3.55%</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+5.06%</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+5.46%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+13.09%</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775,499</a:t>
                      </a:r>
                    </a:p>
                  </a:txBody>
                  <a:tcPr>
                    <a:solidFill>
                      <a:srgbClr val="FFFFFF"/>
                    </a:solidFill>
                  </a:tcPr>
                </a:tc>
                <a:tc>
                  <a:txBody>
                    <a:bodyPr/>
                    <a:lstStyle/>
                    <a:p>
                      <a:pPr algn="ctr">
                        <a:defRPr sz="900">
                          <a:latin typeface="Montserrat"/>
                        </a:defRPr>
                      </a:pPr>
                      <a:r>
                        <a:t>14,376</a:t>
                      </a:r>
                    </a:p>
                  </a:txBody>
                  <a:tcPr>
                    <a:solidFill>
                      <a:srgbClr val="FFFFFF"/>
                    </a:solidFill>
                  </a:tcPr>
                </a:tc>
                <a:tc>
                  <a:txBody>
                    <a:bodyPr/>
                    <a:lstStyle/>
                    <a:p>
                      <a:pPr algn="ctr">
                        <a:defRPr sz="900">
                          <a:latin typeface="Montserrat"/>
                        </a:defRPr>
                      </a:pPr>
                      <a:r>
                        <a:t>75,261</a:t>
                      </a:r>
                    </a:p>
                  </a:txBody>
                  <a:tcPr>
                    <a:solidFill>
                      <a:srgbClr val="FFFFFF"/>
                    </a:solidFill>
                  </a:tcPr>
                </a:tc>
                <a:tc>
                  <a:txBody>
                    <a:bodyPr/>
                    <a:lstStyle/>
                    <a:p>
                      <a:pPr algn="ctr">
                        <a:defRPr sz="900">
                          <a:latin typeface="Montserrat"/>
                        </a:defRPr>
                      </a:pPr>
                      <a:r>
                        <a:t>1,882</a:t>
                      </a:r>
                    </a:p>
                  </a:txBody>
                  <a:tcPr>
                    <a:solidFill>
                      <a:srgbClr val="FFFFFF"/>
                    </a:solidFill>
                  </a:tcPr>
                </a:tc>
                <a:tc>
                  <a:txBody>
                    <a:bodyPr/>
                    <a:lstStyle/>
                    <a:p>
                      <a:pPr algn="ctr">
                        <a:defRPr sz="900">
                          <a:latin typeface="Montserrat"/>
                        </a:defRPr>
                      </a:pPr>
                      <a:r>
                        <a:t>867,018</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767,736</a:t>
                      </a:r>
                    </a:p>
                  </a:txBody>
                  <a:tcPr>
                    <a:solidFill>
                      <a:srgbClr val="D9D9D9"/>
                    </a:solidFill>
                  </a:tcPr>
                </a:tc>
                <a:tc>
                  <a:txBody>
                    <a:bodyPr/>
                    <a:lstStyle/>
                    <a:p>
                      <a:pPr algn="ctr">
                        <a:defRPr sz="900">
                          <a:latin typeface="Montserrat"/>
                        </a:defRPr>
                      </a:pPr>
                      <a:r>
                        <a:t>16,568</a:t>
                      </a:r>
                    </a:p>
                  </a:txBody>
                  <a:tcPr>
                    <a:solidFill>
                      <a:srgbClr val="D9D9D9"/>
                    </a:solidFill>
                  </a:tcPr>
                </a:tc>
                <a:tc>
                  <a:txBody>
                    <a:bodyPr/>
                    <a:lstStyle/>
                    <a:p>
                      <a:pPr algn="ctr">
                        <a:defRPr sz="900">
                          <a:latin typeface="Montserrat"/>
                        </a:defRPr>
                      </a:pPr>
                      <a:r>
                        <a:t>71,539</a:t>
                      </a:r>
                    </a:p>
                  </a:txBody>
                  <a:tcPr>
                    <a:solidFill>
                      <a:srgbClr val="D9D9D9"/>
                    </a:solidFill>
                  </a:tcPr>
                </a:tc>
                <a:tc>
                  <a:txBody>
                    <a:bodyPr/>
                    <a:lstStyle/>
                    <a:p>
                      <a:pPr algn="ctr">
                        <a:defRPr sz="900">
                          <a:latin typeface="Montserrat"/>
                        </a:defRPr>
                      </a:pPr>
                      <a:r>
                        <a:t>2,145</a:t>
                      </a:r>
                    </a:p>
                  </a:txBody>
                  <a:tcPr>
                    <a:solidFill>
                      <a:srgbClr val="D9D9D9"/>
                    </a:solidFill>
                  </a:tcPr>
                </a:tc>
                <a:tc>
                  <a:txBody>
                    <a:bodyPr/>
                    <a:lstStyle/>
                    <a:p>
                      <a:pPr algn="ctr">
                        <a:defRPr sz="900">
                          <a:latin typeface="Montserrat"/>
                        </a:defRPr>
                      </a:pPr>
                      <a:r>
                        <a:t>857,988</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-1.0%</a:t>
                      </a:r>
                    </a:p>
                  </a:txBody>
                  <a:tcPr>
                    <a:solidFill>
                      <a:srgbClr val="FFFFFF"/>
                    </a:solidFill>
                  </a:tcPr>
                </a:tc>
                <a:tc>
                  <a:txBody>
                    <a:bodyPr/>
                    <a:lstStyle/>
                    <a:p>
                      <a:pPr algn="ctr">
                        <a:defRPr sz="900" b="1">
                          <a:solidFill>
                            <a:srgbClr val="006455"/>
                          </a:solidFill>
                          <a:latin typeface="Montserrat"/>
                        </a:defRPr>
                      </a:pPr>
                      <a:r>
                        <a:t>+15.2%</a:t>
                      </a:r>
                    </a:p>
                  </a:txBody>
                  <a:tcPr>
                    <a:solidFill>
                      <a:srgbClr val="FFFFFF"/>
                    </a:solidFill>
                  </a:tcPr>
                </a:tc>
                <a:tc>
                  <a:txBody>
                    <a:bodyPr/>
                    <a:lstStyle/>
                    <a:p>
                      <a:pPr algn="ctr">
                        <a:defRPr sz="900" b="0">
                          <a:solidFill>
                            <a:srgbClr val="691C32"/>
                          </a:solidFill>
                          <a:latin typeface="Montserrat"/>
                        </a:defRPr>
                      </a:pPr>
                      <a:r>
                        <a:t>-4.9%</a:t>
                      </a:r>
                    </a:p>
                  </a:txBody>
                  <a:tcPr>
                    <a:solidFill>
                      <a:srgbClr val="FFFFFF"/>
                    </a:solidFill>
                  </a:tcPr>
                </a:tc>
                <a:tc>
                  <a:txBody>
                    <a:bodyPr/>
                    <a:lstStyle/>
                    <a:p>
                      <a:pPr algn="ctr">
                        <a:defRPr sz="900" b="1">
                          <a:solidFill>
                            <a:srgbClr val="006455"/>
                          </a:solidFill>
                          <a:latin typeface="Montserrat"/>
                        </a:defRPr>
                      </a:pPr>
                      <a:r>
                        <a:t>+14.0%</a:t>
                      </a:r>
                    </a:p>
                  </a:txBody>
                  <a:tcPr>
                    <a:solidFill>
                      <a:srgbClr val="FFFFFF"/>
                    </a:solidFill>
                  </a:tcPr>
                </a:tc>
                <a:tc>
                  <a:txBody>
                    <a:bodyPr/>
                    <a:lstStyle/>
                    <a:p>
                      <a:pPr algn="ctr">
                        <a:defRPr sz="900" b="0">
                          <a:solidFill>
                            <a:srgbClr val="691C32"/>
                          </a:solidFill>
                          <a:latin typeface="Montserrat"/>
                        </a:defRPr>
                      </a:pPr>
                      <a:r>
                        <a:t>-1.0%</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1D7B054-0212-60AA-EEFC-18B91ED6AE22}"/>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$659.33</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$358.27</a:t>
                      </a:r>
                    </a:p>
                  </a:txBody>
                  <a:tcPr anchor="ctr">
                    <a:solidFill>
                      <a:srgbClr val="EEEEEE"/>
                    </a:solidFill>
                  </a:tcPr>
                </a:tc>
                <a:tc>
                  <a:txBody>
                    <a:bodyPr/>
                    <a:lstStyle/>
                    <a:p>
                      <a:pPr algn="ctr">
                        <a:defRPr sz="1100" b="1">
                          <a:latin typeface="Montserrat"/>
                        </a:defRPr>
                      </a:pPr>
                      <a:r>
                        <a:t>$659.33</a:t>
                      </a:r>
                    </a:p>
                  </a:txBody>
                  <a:tcPr anchor="ctr">
                    <a:solidFill>
                      <a:srgbClr val="EEEEEE"/>
                    </a:solidFill>
                  </a:tcPr>
                </a:tc>
                <a:tc>
                  <a:txBody>
                    <a:bodyPr/>
                    <a:lstStyle/>
                    <a:p>
                      <a:pPr algn="ctr">
                        <a:defRPr sz="1100">
                          <a:latin typeface="Montserrat"/>
                        </a:defRPr>
                      </a:pPr>
                      <a:r>
                        <a:t>30.0%</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$19,779.9</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Colegio de Bachilleres del Estado de Coahuila</a:t>
                      </a:r>
                    </a:p>
                  </a:txBody>
                  <a:tcPr>
                    <a:solidFill>
                      <a:srgbClr val="FFFFFF"/>
                    </a:solidFill>
                  </a:tcPr>
                </a:tc>
                <a:tc>
                  <a:txBody>
                    <a:bodyPr/>
                    <a:lstStyle/>
                    <a:p>
                      <a:pPr algn="ctr">
                        <a:defRPr sz="900">
                          <a:latin typeface="Montserrat"/>
                        </a:defRPr>
                      </a:pPr>
                      <a:r>
                        <a:t>$182.13</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Sistema Municipal de Aguas y Saneamiento San Pedro</a:t>
                      </a:r>
                    </a:p>
                  </a:txBody>
                  <a:tcPr>
                    <a:solidFill>
                      <a:srgbClr val="EEEEEE"/>
                    </a:solidFill>
                  </a:tcPr>
                </a:tc>
                <a:tc>
                  <a:txBody>
                    <a:bodyPr/>
                    <a:lstStyle/>
                    <a:p>
                      <a:pPr algn="ctr">
                        <a:defRPr sz="900">
                          <a:latin typeface="Montserrat"/>
                        </a:defRPr>
                      </a:pPr>
                      <a:r>
                        <a:t>$9.21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Universidad Autónoma Agraria Antonio Narro</a:t>
                      </a:r>
                    </a:p>
                  </a:txBody>
                  <a:tcPr>
                    <a:solidFill>
                      <a:srgbClr val="FFFFFF"/>
                    </a:solidFill>
                  </a:tcPr>
                </a:tc>
                <a:tc>
                  <a:txBody>
                    <a:bodyPr/>
                    <a:lstStyle/>
                    <a:p>
                      <a:pPr algn="ctr">
                        <a:defRPr sz="900">
                          <a:latin typeface="Montserrat"/>
                        </a:defRPr>
                      </a:pPr>
                      <a:r>
                        <a:t>$5.90</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Miguel Martínez Wong</a:t>
                      </a:r>
                    </a:p>
                  </a:txBody>
                  <a:tcPr>
                    <a:solidFill>
                      <a:srgbClr val="EEEEEE"/>
                    </a:solidFill>
                  </a:tcPr>
                </a:tc>
                <a:tc>
                  <a:txBody>
                    <a:bodyPr/>
                    <a:lstStyle/>
                    <a:p>
                      <a:pPr algn="ctr">
                        <a:defRPr sz="900">
                          <a:latin typeface="Montserrat"/>
                        </a:defRPr>
                      </a:pPr>
                      <a:r>
                        <a:t>$57.46</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CC Bienes Raíces SA de CV</a:t>
                      </a:r>
                    </a:p>
                  </a:txBody>
                  <a:tcPr>
                    <a:solidFill>
                      <a:srgbClr val="FFFFFF"/>
                    </a:solidFill>
                  </a:tcPr>
                </a:tc>
                <a:tc>
                  <a:txBody>
                    <a:bodyPr/>
                    <a:lstStyle/>
                    <a:p>
                      <a:pPr algn="ctr">
                        <a:defRPr sz="900">
                          <a:latin typeface="Montserrat"/>
                        </a:defRPr>
                      </a:pPr>
                      <a:r>
                        <a:t>$51.10</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Altos Hornos de México S A B de C V</a:t>
                      </a:r>
                    </a:p>
                  </a:txBody>
                  <a:tcPr>
                    <a:solidFill>
                      <a:srgbClr val="EEEEEE"/>
                    </a:solidFill>
                  </a:tcPr>
                </a:tc>
                <a:tc>
                  <a:txBody>
                    <a:bodyPr/>
                    <a:lstStyle/>
                    <a:p>
                      <a:pPr algn="ctr">
                        <a:defRPr sz="900">
                          <a:latin typeface="Montserrat"/>
                        </a:defRPr>
                      </a:pPr>
                      <a:r>
                        <a:t>$33.26</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COAHUILA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77</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83</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365,157</a:t>
                      </a:r>
                    </a:p>
                  </a:txBody>
                  <a:tcPr anchor="ctr" marL="73152" marR="73152" marT="0" marB="0">
                    <a:solidFill>
                      <a:srgbClr val="D3E9E7"/>
                    </a:solidFill>
                  </a:tcPr>
                </a:tc>
                <a:tc>
                  <a:txBody>
                    <a:bodyPr/>
                    <a:lstStyle/>
                    <a:p>
                      <a:pPr algn="ctr">
                        <a:defRPr b="1" sz="1000">
                          <a:solidFill>
                            <a:srgbClr val="006455"/>
                          </a:solidFill>
                          <a:latin typeface="Montserrat"/>
                        </a:defRPr>
                      </a:pPr>
                      <a:r>
                        <a:t>1,374</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319,854</a:t>
                      </a:r>
                    </a:p>
                  </a:txBody>
                  <a:tcPr anchor="ctr" marL="73152" marR="73152" marT="0" marB="0">
                    <a:solidFill>
                      <a:srgbClr val="FFFFFF"/>
                    </a:solidFill>
                  </a:tcPr>
                </a:tc>
                <a:tc>
                  <a:txBody>
                    <a:bodyPr/>
                    <a:lstStyle/>
                    <a:p>
                      <a:pPr algn="ctr">
                        <a:defRPr b="0" sz="1000">
                          <a:solidFill>
                            <a:srgbClr val="000000"/>
                          </a:solidFill>
                          <a:latin typeface="Montserrat"/>
                        </a:defRPr>
                      </a:pPr>
                      <a:r>
                        <a:t>1,225</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8,605</a:t>
                      </a:r>
                    </a:p>
                  </a:txBody>
                  <a:tcPr anchor="ctr" marL="73152" marR="73152" marT="0" marB="0">
                    <a:solidFill>
                      <a:srgbClr val="EFEFEF"/>
                    </a:solidFill>
                  </a:tcPr>
                </a:tc>
                <a:tc>
                  <a:txBody>
                    <a:bodyPr/>
                    <a:lstStyle/>
                    <a:p>
                      <a:pPr algn="ctr">
                        <a:defRPr b="0" sz="1000">
                          <a:solidFill>
                            <a:srgbClr val="000000"/>
                          </a:solidFill>
                          <a:latin typeface="Montserrat"/>
                        </a:defRPr>
                      </a:pPr>
                      <a:r>
                        <a:t>33</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22,937</a:t>
                      </a:r>
                    </a:p>
                  </a:txBody>
                  <a:tcPr anchor="ctr" marL="73152" marR="73152" marT="0" marB="0">
                    <a:solidFill>
                      <a:srgbClr val="FFFFFF"/>
                    </a:solidFill>
                  </a:tcPr>
                </a:tc>
                <a:tc>
                  <a:txBody>
                    <a:bodyPr/>
                    <a:lstStyle/>
                    <a:p>
                      <a:pPr algn="ctr">
                        <a:defRPr b="0" sz="1000">
                          <a:solidFill>
                            <a:srgbClr val="000000"/>
                          </a:solidFill>
                          <a:latin typeface="Montserrat"/>
                        </a:defRPr>
                      </a:pPr>
                      <a:r>
                        <a:t>63</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13,761</a:t>
                      </a:r>
                    </a:p>
                  </a:txBody>
                  <a:tcPr anchor="ctr" marL="73152" marR="73152" marT="0" marB="0">
                    <a:solidFill>
                      <a:srgbClr val="EFEFEF"/>
                    </a:solidFill>
                  </a:tcPr>
                </a:tc>
                <a:tc>
                  <a:txBody>
                    <a:bodyPr/>
                    <a:lstStyle/>
                    <a:p>
                      <a:pPr algn="ctr">
                        <a:defRPr b="0" sz="1000">
                          <a:solidFill>
                            <a:srgbClr val="000000"/>
                          </a:solidFill>
                          <a:latin typeface="Montserrat"/>
                        </a:defRPr>
                      </a:pPr>
                      <a:r>
                        <a:t>53</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1,904</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1,388</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4,023</a:t>
                      </a:r>
                    </a:p>
                  </a:txBody>
                  <a:tcPr anchor="ctr" marL="73152" marR="73152" marT="0" marB="0">
                    <a:solidFill>
                      <a:srgbClr val="FFFFFF"/>
                    </a:solidFill>
                  </a:tcPr>
                </a:tc>
                <a:tc>
                  <a:txBody>
                    <a:bodyPr/>
                    <a:lstStyle/>
                    <a:p>
                      <a:pPr algn="ctr">
                        <a:defRPr b="0" sz="1000">
                          <a:solidFill>
                            <a:srgbClr val="000000"/>
                          </a:solidFill>
                          <a:latin typeface="Montserrat"/>
                        </a:defRPr>
                      </a:pPr>
                      <a:r>
                        <a:t>11</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80</a:t>
                      </a:r>
                    </a:p>
                  </a:txBody>
                  <a:tcPr anchor="ctr" marL="73152" marR="73152" marT="0" marB="0">
                    <a:solidFill>
                      <a:srgbClr val="FFFFFF"/>
                    </a:solidFill>
                  </a:tcPr>
                </a:tc>
                <a:tc>
                  <a:txBody>
                    <a:bodyPr/>
                    <a:lstStyle/>
                    <a:p>
                      <a:pPr algn="ctr">
                        <a:defRPr b="0" sz="1000">
                          <a:solidFill>
                            <a:srgbClr val="000000"/>
                          </a:solidFill>
                          <a:latin typeface="Montserrat"/>
                        </a:defRPr>
                      </a:pPr>
                      <a:r>
                        <a:t>14</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1" sz="1000">
                          <a:solidFill>
                            <a:srgbClr val="006455"/>
                          </a:solidFill>
                          <a:latin typeface="Montserrat"/>
                        </a:defRPr>
                      </a:pPr>
                      <a:r>
                        <a:t>99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213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1</a:t>
                      </a:r>
                    </a:p>
                  </a:txBody>
                  <a:tcPr anchor="ctr" marL="73152" marR="73152" marT="0" marB="0">
                    <a:solidFill>
                      <a:srgbClr val="EFEFEF"/>
                    </a:solidFill>
                  </a:tcPr>
                </a:tc>
                <a:tc>
                  <a:txBody>
                    <a:bodyPr/>
                    <a:lstStyle/>
                    <a:p>
                      <a:pPr algn="ctr">
                        <a:defRPr b="0" sz="1000">
                          <a:solidFill>
                            <a:srgbClr val="000000"/>
                          </a:solidFill>
                          <a:latin typeface="Montserrat"/>
                        </a:defRPr>
                      </a:pPr>
                      <a:r>
                        <a:t>128</a:t>
                      </a:r>
                    </a:p>
                  </a:txBody>
                  <a:tcPr anchor="ctr" marL="73152" marR="73152" marT="0" marB="0">
                    <a:solidFill>
                      <a:srgbClr val="EFEFEF"/>
                    </a:solidFill>
                  </a:tcPr>
                </a:tc>
                <a:tc>
                  <a:txBody>
                    <a:bodyPr/>
                    <a:lstStyle/>
                    <a:p>
                      <a:pPr algn="ctr">
                        <a:defRPr b="1" sz="1000">
                          <a:solidFill>
                            <a:srgbClr val="006455"/>
                          </a:solidFill>
                          <a:latin typeface="Montserrat"/>
                        </a:defRPr>
                      </a:pPr>
                      <a:r>
                        <a:t>346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29</a:t>
                      </a:r>
                    </a:p>
                  </a:txBody>
                  <a:tcPr anchor="ctr" marL="73152" marR="73152" marT="0" marB="0">
                    <a:solidFill>
                      <a:srgbClr val="FFFFFF"/>
                    </a:solidFill>
                  </a:tcPr>
                </a:tc>
                <a:tc>
                  <a:txBody>
                    <a:bodyPr/>
                    <a:lstStyle/>
                    <a:p>
                      <a:pPr algn="ctr">
                        <a:defRPr b="0" sz="1000">
                          <a:solidFill>
                            <a:srgbClr val="000000"/>
                          </a:solidFill>
                          <a:latin typeface="Montserrat"/>
                        </a:defRPr>
                      </a:pPr>
                      <a:r>
                        <a:t>1</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12</a:t>
                      </a:r>
                    </a:p>
                  </a:txBody>
                  <a:tcPr anchor="ctr" marL="73152" marR="73152" marT="0" marB="0">
                    <a:solidFill>
                      <a:srgbClr val="FFFFFF"/>
                    </a:solidFill>
                  </a:tcPr>
                </a:tc>
                <a:tc>
                  <a:txBody>
                    <a:bodyPr/>
                    <a:lstStyle/>
                    <a:p>
                      <a:pPr algn="ctr">
                        <a:defRPr b="1" sz="1000">
                          <a:solidFill>
                            <a:srgbClr val="006455"/>
                          </a:solidFill>
                          <a:latin typeface="Montserrat"/>
                        </a:defRPr>
                      </a:pPr>
                      <a:r>
                        <a:t>44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24</a:t>
                      </a:r>
                    </a:p>
                  </a:txBody>
                  <a:tcPr anchor="ctr" marL="73152" marR="73152" marT="0" marB="0">
                    <a:solidFill>
                      <a:srgbClr val="EFEFEF"/>
                    </a:solidFill>
                  </a:tcPr>
                </a:tc>
                <a:tc>
                  <a:txBody>
                    <a:bodyPr/>
                    <a:lstStyle/>
                    <a:p>
                      <a:pPr algn="ctr">
                        <a:defRPr b="0" sz="1000">
                          <a:solidFill>
                            <a:srgbClr val="000000"/>
                          </a:solidFill>
                          <a:latin typeface="Montserrat"/>
                        </a:defRPr>
                      </a:pPr>
                      <a:r>
                        <a:t>11</a:t>
                      </a:r>
                    </a:p>
                  </a:txBody>
                  <a:tcPr anchor="ctr" marL="73152" marR="73152" marT="0" marB="0">
                    <a:solidFill>
                      <a:srgbClr val="EFEFEF"/>
                    </a:solidFill>
                  </a:tcPr>
                </a:tc>
                <a:tc>
                  <a:txBody>
                    <a:bodyPr/>
                    <a:lstStyle/>
                    <a:p>
                      <a:pPr algn="ctr">
                        <a:defRPr b="0" sz="1000">
                          <a:solidFill>
                            <a:srgbClr val="000000"/>
                          </a:solidFill>
                          <a:latin typeface="Montserrat"/>
                        </a:defRPr>
                      </a:pPr>
                      <a:r>
                        <a:t>13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1" sz="1000">
                          <a:solidFill>
                            <a:srgbClr val="006455"/>
                          </a:solidFill>
                          <a:latin typeface="Montserrat"/>
                        </a:defRPr>
                      </a:pPr>
                      <a:r>
                        <a:t>52</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85</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9</a:t>
                      </a:r>
                    </a:p>
                  </a:txBody>
                  <a:tcPr anchor="ctr" marL="73152" marR="73152" marT="0" marB="0">
                    <a:solidFill>
                      <a:srgbClr val="FFFFFF"/>
                    </a:solidFill>
                  </a:tcPr>
                </a:tc>
                <a:tc>
                  <a:txBody>
                    <a:bodyPr/>
                    <a:lstStyle/>
                    <a:p>
                      <a:pPr algn="ctr">
                        <a:defRPr b="0" sz="1000">
                          <a:solidFill>
                            <a:srgbClr val="000000"/>
                          </a:solidFill>
                          <a:latin typeface="Montserrat"/>
                        </a:defRPr>
                      </a:pPr>
                      <a:r>
                        <a:t>34</a:t>
                      </a:r>
                    </a:p>
                  </a:txBody>
                  <a:tcPr anchor="ctr" marL="73152" marR="73152" marT="0" marB="0">
                    <a:solidFill>
                      <a:srgbClr val="FFFFFF"/>
                    </a:solidFill>
                  </a:tcPr>
                </a:tc>
                <a:tc>
                  <a:txBody>
                    <a:bodyPr/>
                    <a:lstStyle/>
                    <a:p>
                      <a:pPr algn="ctr">
                        <a:defRPr b="1" sz="1000">
                          <a:solidFill>
                            <a:srgbClr val="006455"/>
                          </a:solidFill>
                          <a:latin typeface="Montserrat"/>
                        </a:defRPr>
                      </a:pPr>
                      <a:r>
                        <a:t>130</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9</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431</a:t>
                      </a:r>
                    </a:p>
                  </a:txBody>
                  <a:tcPr anchor="ctr" marL="73152" marR="73152" marT="0" marB="0">
                    <a:solidFill>
                      <a:srgbClr val="D3E9E7"/>
                    </a:solidFill>
                  </a:tcPr>
                </a:tc>
                <a:tc>
                  <a:txBody>
                    <a:bodyPr/>
                    <a:lstStyle/>
                    <a:p>
                      <a:pPr algn="ctr">
                        <a:defRPr b="1" sz="1000">
                          <a:solidFill>
                            <a:srgbClr val="006455"/>
                          </a:solidFill>
                          <a:latin typeface="Montserrat"/>
                        </a:defRPr>
                      </a:pPr>
                      <a:r>
                        <a:t>38</a:t>
                      </a:r>
                    </a:p>
                  </a:txBody>
                  <a:tcPr anchor="ctr" marL="73152" marR="73152" marT="0" marB="0">
                    <a:solidFill>
                      <a:srgbClr val="D3E9E7"/>
                    </a:solidFill>
                  </a:tcPr>
                </a:tc>
                <a:tc>
                  <a:txBody>
                    <a:bodyPr/>
                    <a:lstStyle/>
                    <a:p>
                      <a:pPr algn="ctr">
                        <a:defRPr b="1" sz="1000">
                          <a:solidFill>
                            <a:srgbClr val="006455"/>
                          </a:solidFill>
                          <a:latin typeface="Montserrat"/>
                        </a:defRPr>
                      </a:pPr>
                      <a:r>
                        <a:t>28</a:t>
                      </a:r>
                    </a:p>
                  </a:txBody>
                  <a:tcPr anchor="ctr" marL="73152" marR="73152" marT="0" marB="0">
                    <a:solidFill>
                      <a:srgbClr val="D3E9E7"/>
                    </a:solidFill>
                  </a:tcPr>
                </a:tc>
                <a:tc>
                  <a:txBody>
                    <a:bodyPr/>
                    <a:lstStyle/>
                    <a:p>
                      <a:pPr algn="ctr">
                        <a:defRPr b="1" sz="1000">
                          <a:solidFill>
                            <a:srgbClr val="006455"/>
                          </a:solidFill>
                          <a:latin typeface="Montserrat"/>
                        </a:defRPr>
                      </a:pPr>
                      <a:r>
                        <a:t>183</a:t>
                      </a:r>
                    </a:p>
                  </a:txBody>
                  <a:tcPr anchor="ctr" marL="73152" marR="73152" marT="0" marB="0">
                    <a:solidFill>
                      <a:srgbClr val="D3E9E7"/>
                    </a:solidFill>
                  </a:tcPr>
                </a:tc>
                <a:tc>
                  <a:txBody>
                    <a:bodyPr/>
                    <a:lstStyle/>
                    <a:p>
                      <a:pPr algn="ctr">
                        <a:defRPr b="1" sz="1000">
                          <a:solidFill>
                            <a:srgbClr val="006455"/>
                          </a:solidFill>
                          <a:latin typeface="Montserrat"/>
                        </a:defRPr>
                      </a:pPr>
                      <a:r>
                        <a:t>680</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322</a:t>
                      </a:r>
                    </a:p>
                  </a:txBody>
                  <a:tcPr anchor="ctr" marL="73152" marR="73152" marT="0" marB="0">
                    <a:solidFill>
                      <a:srgbClr val="D3E9E7"/>
                    </a:solidFill>
                  </a:tcPr>
                </a:tc>
                <a:tc>
                  <a:txBody>
                    <a:bodyPr/>
                    <a:lstStyle/>
                    <a:p>
                      <a:pPr algn="ctr">
                        <a:defRPr b="1" sz="1000">
                          <a:solidFill>
                            <a:srgbClr val="006455"/>
                          </a:solidFill>
                          <a:latin typeface="Montserrat"/>
                        </a:defRPr>
                      </a:pPr>
                      <a:r>
                        <a:t>358</a:t>
                      </a:r>
                    </a:p>
                  </a:txBody>
                  <a:tcPr anchor="ctr" marL="73152" marR="73152" marT="0" marB="0">
                    <a:solidFill>
                      <a:srgbClr val="D3E9E7"/>
                    </a:solidFill>
                  </a:tcPr>
                </a:tc>
                <a:tc>
                  <a:txBody>
                    <a:bodyPr/>
                    <a:lstStyle/>
                    <a:p>
                      <a:pPr algn="ctr">
                        <a:defRPr b="1" sz="1000">
                          <a:solidFill>
                            <a:srgbClr val="006455"/>
                          </a:solidFill>
                          <a:latin typeface="Montserrat"/>
                        </a:defRPr>
                      </a:pPr>
                      <a:r>
                        <a:t>2,180</a:t>
                      </a:r>
                    </a:p>
                  </a:txBody>
                  <a:tcPr anchor="ctr" marL="73152" marR="73152" marT="0" marB="0">
                    <a:solidFill>
                      <a:srgbClr val="D3E9E7"/>
                    </a:solidFill>
                  </a:tcPr>
                </a:tc>
                <a:tc>
                  <a:txBody>
                    <a:bodyPr/>
                    <a:lstStyle/>
                    <a:p>
                      <a:pPr algn="ctr">
                        <a:defRPr b="1" sz="1000">
                          <a:solidFill>
                            <a:srgbClr val="006455"/>
                          </a:solidFill>
                          <a:latin typeface="Montserrat"/>
                        </a:defRPr>
                      </a:pPr>
                      <a:r>
                        <a:t>2,647</a:t>
                      </a:r>
                    </a:p>
                  </a:txBody>
                  <a:tcPr anchor="ctr" marL="73152" marR="73152" marT="0" marB="0">
                    <a:solidFill>
                      <a:srgbClr val="D3E9E7"/>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257,089</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174,322</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82,767</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0</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365,157</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1,904</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27 Palau</a:t>
                      </a:r>
                    </a:p>
                  </a:txBody>
                  <a:tcPr anchor="ctr">
                    <a:solidFill>
                      <a:srgbClr val="FFFFFF"/>
                    </a:solidFill>
                  </a:tcPr>
                </a:tc>
                <a:tc>
                  <a:txBody>
                    <a:bodyPr/>
                    <a:lstStyle/>
                    <a:p>
                      <a:pPr algn="ctr">
                        <a:defRPr sz="900">
                          <a:latin typeface="Montserrat"/>
                        </a:defRPr>
                      </a:pPr>
                      <a:r>
                        <a:t>Octubre de 1976</a:t>
                      </a:r>
                    </a:p>
                  </a:txBody>
                  <a:tcPr anchor="ctr">
                    <a:solidFill>
                      <a:srgbClr val="FFFFFF"/>
                    </a:solidFill>
                  </a:tcPr>
                </a:tc>
                <a:tc>
                  <a:txBody>
                    <a:bodyPr/>
                    <a:lstStyle/>
                    <a:p>
                      <a:pPr algn="ctr">
                        <a:defRPr sz="900">
                          <a:latin typeface="Montserrat"/>
                        </a:defRPr>
                      </a:pPr>
                      <a:r>
                        <a:t>36</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HGSMF 6 Parras</a:t>
                      </a:r>
                    </a:p>
                  </a:txBody>
                  <a:tcPr anchor="ctr">
                    <a:solidFill>
                      <a:srgbClr val="EFEFEF"/>
                    </a:solidFill>
                  </a:tcPr>
                </a:tc>
                <a:tc>
                  <a:txBody>
                    <a:bodyPr/>
                    <a:lstStyle/>
                    <a:p>
                      <a:pPr algn="ctr">
                        <a:defRPr sz="900">
                          <a:latin typeface="Montserrat"/>
                        </a:defRPr>
                      </a:pPr>
                      <a:r>
                        <a:t>Mayo de 1989</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3</a:t>
                      </a:r>
                    </a:p>
                  </a:txBody>
                  <a:tcPr anchor="ctr">
                    <a:solidFill>
                      <a:srgbClr val="EFEFEF"/>
                    </a:solidFill>
                  </a:tcPr>
                </a:tc>
              </a:tr>
              <a:tr h="230400">
                <a:tc>
                  <a:txBody>
                    <a:bodyPr/>
                    <a:lstStyle/>
                    <a:p>
                      <a:pPr algn="l">
                        <a:defRPr sz="900">
                          <a:latin typeface="Montserrat"/>
                        </a:defRPr>
                      </a:pPr>
                      <a:r>
                        <a:t>UMAA 90 Torreón (Aut)</a:t>
                      </a:r>
                    </a:p>
                  </a:txBody>
                  <a:tcPr anchor="ctr">
                    <a:solidFill>
                      <a:srgbClr val="FFFFFF"/>
                    </a:solidFill>
                  </a:tcPr>
                </a:tc>
                <a:tc>
                  <a:txBody>
                    <a:bodyPr/>
                    <a:lstStyle/>
                    <a:p>
                      <a:pPr algn="ctr">
                        <a:defRPr sz="900">
                          <a:latin typeface="Montserrat"/>
                        </a:defRPr>
                      </a:pPr>
                      <a:r>
                        <a:t>Enero de 2009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9</a:t>
                      </a:r>
                    </a:p>
                  </a:txBody>
                  <a:tcPr anchor="ctr">
                    <a:solidFill>
                      <a:srgbClr val="FFFFFF"/>
                    </a:solidFill>
                  </a:tcPr>
                </a:tc>
              </a:tr>
              <a:tr h="230400">
                <a:tc>
                  <a:txBody>
                    <a:bodyPr/>
                    <a:lstStyle/>
                    <a:p>
                      <a:pPr algn="l">
                        <a:defRPr sz="900">
                          <a:latin typeface="Montserrat"/>
                        </a:defRPr>
                      </a:pPr>
                      <a:r>
                        <a:t>HGZ 92 Coahuila</a:t>
                      </a:r>
                    </a:p>
                  </a:txBody>
                  <a:tcPr anchor="ctr">
                    <a:solidFill>
                      <a:srgbClr val="EFEFEF"/>
                    </a:solidFill>
                  </a:tcPr>
                </a:tc>
                <a:tc>
                  <a:txBody>
                    <a:bodyPr/>
                    <a:lstStyle/>
                    <a:p>
                      <a:pPr algn="ctr">
                        <a:defRPr sz="900">
                          <a:latin typeface="Montserrat"/>
                        </a:defRPr>
                      </a:pPr>
                      <a:r>
                        <a:t>Agosto de 2020</a:t>
                      </a:r>
                    </a:p>
                  </a:txBody>
                  <a:tcPr anchor="ctr">
                    <a:solidFill>
                      <a:srgbClr val="EFEFEF"/>
                    </a:solidFill>
                  </a:tcPr>
                </a:tc>
                <a:tc>
                  <a:txBody>
                    <a:bodyPr/>
                    <a:lstStyle/>
                    <a:p>
                      <a:pPr algn="ctr">
                        <a:defRPr sz="900">
                          <a:latin typeface="Montserrat"/>
                        </a:defRPr>
                      </a:pPr>
                      <a:r>
                        <a:t>94</a:t>
                      </a:r>
                    </a:p>
                  </a:txBody>
                  <a:tcPr anchor="ctr">
                    <a:solidFill>
                      <a:srgbClr val="EFEFEF"/>
                    </a:solidFill>
                  </a:tcPr>
                </a:tc>
                <a:tc>
                  <a:txBody>
                    <a:bodyPr/>
                    <a:lstStyle/>
                    <a:p>
                      <a:pPr algn="ctr">
                        <a:defRPr sz="900">
                          <a:latin typeface="Montserrat"/>
                        </a:defRPr>
                      </a:pPr>
                      <a:r>
                        <a:t>68</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5</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1,466</a:t>
                      </a:r>
                    </a:p>
                  </a:txBody>
                  <a:tcPr anchor="ctr">
                    <a:solidFill>
                      <a:srgbClr val="D3E9E7"/>
                    </a:solidFill>
                  </a:tcPr>
                </a:tc>
                <a:tc>
                  <a:txBody>
                    <a:bodyPr/>
                    <a:lstStyle/>
                    <a:p>
                      <a:pPr algn="ctr">
                        <a:defRPr sz="900" b="1">
                          <a:solidFill>
                            <a:srgbClr val="006556"/>
                          </a:solidFill>
                          <a:latin typeface="Montserrat"/>
                        </a:defRPr>
                      </a:pPr>
                      <a:r>
                        <a:t>556</a:t>
                      </a:r>
                    </a:p>
                  </a:txBody>
                  <a:tcPr anchor="ctr">
                    <a:solidFill>
                      <a:srgbClr val="D3E9E7"/>
                    </a:solidFill>
                  </a:tcPr>
                </a:tc>
                <a:tc>
                  <a:txBody>
                    <a:bodyPr/>
                    <a:lstStyle/>
                    <a:p>
                      <a:pPr algn="ctr">
                        <a:defRPr sz="900" b="1">
                          <a:solidFill>
                            <a:srgbClr val="006556"/>
                          </a:solidFill>
                          <a:latin typeface="Montserrat"/>
                        </a:defRPr>
                      </a:pPr>
                      <a:r>
                        <a:t>36</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tc>
                  <a:txBody>
                    <a:bodyPr/>
                    <a:lstStyle/>
                    <a:p>
                      <a:pPr algn="ctr">
                        <a:defRPr sz="900" b="1">
                          <a:solidFill>
                            <a:srgbClr val="006556"/>
                          </a:solidFill>
                          <a:latin typeface="Montserrat"/>
                        </a:defRPr>
                      </a:pPr>
                      <a:r>
                        <a:t>192</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2977200"/>
          <a:ext cx="7650000" cy="1152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Ramos Arizpe</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33</a:t>
                      </a:r>
                    </a:p>
                  </a:txBody>
                  <a:tcPr anchor="ctr">
                    <a:solidFill>
                      <a:srgbClr val="FFFFFF"/>
                    </a:solidFill>
                  </a:tcPr>
                </a:tc>
                <a:tc>
                  <a:txBody>
                    <a:bodyPr/>
                    <a:lstStyle/>
                    <a:p>
                      <a:pPr algn="ctr">
                        <a:defRPr sz="900">
                          <a:latin typeface="Montserrat"/>
                        </a:defRPr>
                      </a:pPr>
                      <a:r>
                        <a:t>16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HR San Buenaventura</a:t>
                      </a:r>
                    </a:p>
                  </a:txBody>
                  <a:tcPr anchor="ctr">
                    <a:solidFill>
                      <a:srgbClr val="EFEFEF"/>
                    </a:solidFill>
                  </a:tcPr>
                </a:tc>
                <a:tc>
                  <a:txBody>
                    <a:bodyPr/>
                    <a:lstStyle/>
                    <a:p>
                      <a:pPr algn="ctr">
                        <a:defRPr sz="900">
                          <a:latin typeface="Montserrat"/>
                        </a:defRPr>
                      </a:pPr>
                      <a:r>
                        <a:t>Noviembre de 1976</a:t>
                      </a:r>
                    </a:p>
                  </a:txBody>
                  <a:tcPr anchor="ctr">
                    <a:solidFill>
                      <a:srgbClr val="EFEFEF"/>
                    </a:solidFill>
                  </a:tcPr>
                </a:tc>
                <a:tc>
                  <a:txBody>
                    <a:bodyPr/>
                    <a:lstStyle/>
                    <a:p>
                      <a:pPr algn="ctr">
                        <a:defRPr sz="900">
                          <a:latin typeface="Montserrat"/>
                        </a:defRPr>
                      </a:pPr>
                      <a:r>
                        <a:t>30</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3</a:t>
                      </a:r>
                    </a:p>
                  </a:txBody>
                  <a:tcPr anchor="ctr">
                    <a:solidFill>
                      <a:srgbClr val="EFEFEF"/>
                    </a:solidFill>
                  </a:tcPr>
                </a:tc>
              </a:tr>
              <a:tr h="230400">
                <a:tc>
                  <a:txBody>
                    <a:bodyPr/>
                    <a:lstStyle/>
                    <a:p>
                      <a:pPr algn="l">
                        <a:defRPr sz="900">
                          <a:latin typeface="Montserrat"/>
                        </a:defRPr>
                      </a:pPr>
                      <a:r>
                        <a:t>HR Matamoros</a:t>
                      </a:r>
                    </a:p>
                  </a:txBody>
                  <a:tcPr anchor="ctr">
                    <a:solidFill>
                      <a:srgbClr val="FFFFFF"/>
                    </a:solidFill>
                  </a:tcPr>
                </a:tc>
                <a:tc>
                  <a:txBody>
                    <a:bodyPr/>
                    <a:lstStyle/>
                    <a:p>
                      <a:pPr algn="ctr">
                        <a:defRPr sz="900">
                          <a:latin typeface="Montserrat"/>
                        </a:defRPr>
                      </a:pPr>
                      <a:r>
                        <a:t>Abril de 1994</a:t>
                      </a:r>
                    </a:p>
                  </a:txBody>
                  <a:tcPr anchor="ctr">
                    <a:solidFill>
                      <a:srgbClr val="FFFFFF"/>
                    </a:solidFill>
                  </a:tcPr>
                </a:tc>
                <a:tc>
                  <a:txBody>
                    <a:bodyPr/>
                    <a:lstStyle/>
                    <a:p>
                      <a:pPr algn="ctr">
                        <a:defRPr sz="900">
                          <a:latin typeface="Montserrat"/>
                        </a:defRPr>
                      </a:pPr>
                      <a:r>
                        <a:t>29</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92</a:t>
                      </a:r>
                    </a:p>
                  </a:txBody>
                  <a:tcPr anchor="ctr">
                    <a:solidFill>
                      <a:srgbClr val="D3E9E7"/>
                    </a:solidFill>
                  </a:tcPr>
                </a:tc>
                <a:tc>
                  <a:txBody>
                    <a:bodyPr/>
                    <a:lstStyle/>
                    <a:p>
                      <a:pPr algn="ctr">
                        <a:defRPr sz="900" b="1">
                          <a:solidFill>
                            <a:srgbClr val="006556"/>
                          </a:solidFill>
                          <a:latin typeface="Montserrat"/>
                        </a:defRPr>
                      </a:pPr>
                      <a:r>
                        <a:t>33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4</a:t>
                      </a:r>
                    </a:p>
                  </a:txBody>
                  <a:tcPr anchor="ctr">
                    <a:solidFill>
                      <a:srgbClr val="D3E9E7"/>
                    </a:solidFill>
                  </a:tcPr>
                </a:tc>
                <a:tc>
                  <a:txBody>
                    <a:bodyPr/>
                    <a:lstStyle/>
                    <a:p>
                      <a:pPr algn="ctr">
                        <a:defRPr sz="900" b="1">
                          <a:solidFill>
                            <a:srgbClr val="006556"/>
                          </a:solidFill>
                          <a:latin typeface="Montserrat"/>
                        </a:defRPr>
                      </a:pPr>
                      <a:r>
                        <a:t>14</a:t>
                      </a:r>
                    </a:p>
                  </a:txBody>
                  <a:tcPr anchor="ctr">
                    <a:solidFill>
                      <a:srgbClr val="D3E9E7"/>
                    </a:solidFill>
                  </a:tcPr>
                </a:tc>
              </a:tr>
            </a:tbl>
          </a:graphicData>
        </a:graphic>
      </p:graphicFrame>
      <p:graphicFrame>
        <p:nvGraphicFramePr>
          <p:cNvPr id="7" name="Table 6"/>
          <p:cNvGraphicFramePr>
            <a:graphicFrameLocks noGrp="1"/>
          </p:cNvGraphicFramePr>
          <p:nvPr/>
        </p:nvGraphicFramePr>
        <p:xfrm>
          <a:off x="75600" y="44892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HES 71 Torreón</a:t>
                      </a:r>
                    </a:p>
                  </a:txBody>
                  <a:tcPr anchor="ctr">
                    <a:solidFill>
                      <a:srgbClr val="FFFFFF"/>
                    </a:solidFill>
                  </a:tcPr>
                </a:tc>
                <a:tc>
                  <a:txBody>
                    <a:bodyPr/>
                    <a:lstStyle/>
                    <a:p>
                      <a:pPr algn="ctr">
                        <a:defRPr sz="900">
                          <a:latin typeface="Montserrat"/>
                        </a:defRPr>
                      </a:pPr>
                      <a:r>
                        <a:t>Mayo de 2002</a:t>
                      </a:r>
                    </a:p>
                  </a:txBody>
                  <a:tcPr anchor="ctr">
                    <a:solidFill>
                      <a:srgbClr val="FFFFFF"/>
                    </a:solidFill>
                  </a:tcPr>
                </a:tc>
                <a:tc>
                  <a:txBody>
                    <a:bodyPr/>
                    <a:lstStyle/>
                    <a:p>
                      <a:pPr algn="ctr">
                        <a:defRPr sz="900">
                          <a:latin typeface="Montserrat"/>
                        </a:defRPr>
                      </a:pPr>
                      <a:r>
                        <a:t>248</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26</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58</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248</a:t>
                      </a:r>
                    </a:p>
                  </a:txBody>
                  <a:tcPr anchor="ctr">
                    <a:solidFill>
                      <a:srgbClr val="D3E9E7"/>
                    </a:solidFill>
                  </a:tcPr>
                </a:tc>
                <a:tc>
                  <a:txBody>
                    <a:bodyPr/>
                    <a:lstStyle/>
                    <a:p>
                      <a:pPr algn="ctr">
                        <a:defRPr sz="900" b="1">
                          <a:solidFill>
                            <a:srgbClr val="006556"/>
                          </a:solidFill>
                          <a:latin typeface="Montserrat"/>
                        </a:defRPr>
                      </a:pPr>
                      <a:r>
                        <a:t>107</a:t>
                      </a:r>
                    </a:p>
                  </a:txBody>
                  <a:tcPr anchor="ctr">
                    <a:solidFill>
                      <a:srgbClr val="D3E9E7"/>
                    </a:solidFill>
                  </a:tcPr>
                </a:tc>
                <a:tc>
                  <a:txBody>
                    <a:bodyPr/>
                    <a:lstStyle/>
                    <a:p>
                      <a:pPr algn="ctr">
                        <a:defRPr sz="900" b="1">
                          <a:solidFill>
                            <a:srgbClr val="006556"/>
                          </a:solidFill>
                          <a:latin typeface="Montserrat"/>
                        </a:defRPr>
                      </a:pPr>
                      <a:r>
                        <a:t>26</a:t>
                      </a:r>
                    </a:p>
                  </a:txBody>
                  <a:tcPr anchor="ctr">
                    <a:solidFill>
                      <a:srgbClr val="D3E9E7"/>
                    </a:solidFill>
                  </a:tcPr>
                </a:tc>
                <a:tc>
                  <a:txBody>
                    <a:bodyPr/>
                    <a:lstStyle/>
                    <a:p>
                      <a:pPr algn="ctr">
                        <a:defRPr sz="900" b="1">
                          <a:solidFill>
                            <a:srgbClr val="006556"/>
                          </a:solidFill>
                          <a:latin typeface="Montserrat"/>
                        </a:defRPr>
                      </a:pPr>
                      <a:r>
                        <a:t>10</a:t>
                      </a:r>
                    </a:p>
                  </a:txBody>
                  <a:tcPr anchor="ctr">
                    <a:solidFill>
                      <a:srgbClr val="D3E9E7"/>
                    </a:solidFill>
                  </a:tcPr>
                </a:tc>
                <a:tc>
                  <a:txBody>
                    <a:bodyPr/>
                    <a:lstStyle/>
                    <a:p>
                      <a:pPr algn="ctr">
                        <a:defRPr sz="900" b="1">
                          <a:solidFill>
                            <a:srgbClr val="006556"/>
                          </a:solidFill>
                          <a:latin typeface="Montserrat"/>
                        </a:defRPr>
                      </a:pPr>
                      <a:r>
                        <a:t>58</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1,806</a:t>
                      </a:r>
                    </a:p>
                  </a:txBody>
                  <a:tcPr anchor="ctr">
                    <a:solidFill>
                      <a:srgbClr val="D3E9E7"/>
                    </a:solidFill>
                  </a:tcPr>
                </a:tc>
                <a:tc>
                  <a:txBody>
                    <a:bodyPr/>
                    <a:lstStyle/>
                    <a:p>
                      <a:pPr algn="ctr">
                        <a:defRPr sz="900" b="1">
                          <a:solidFill>
                            <a:srgbClr val="006556"/>
                          </a:solidFill>
                          <a:latin typeface="Montserrat"/>
                        </a:defRPr>
                      </a:pPr>
                      <a:r>
                        <a:t>696</a:t>
                      </a:r>
                    </a:p>
                  </a:txBody>
                  <a:tcPr anchor="ctr">
                    <a:solidFill>
                      <a:srgbClr val="D3E9E7"/>
                    </a:solidFill>
                  </a:tcPr>
                </a:tc>
                <a:tc>
                  <a:txBody>
                    <a:bodyPr/>
                    <a:lstStyle/>
                    <a:p>
                      <a:pPr algn="ctr">
                        <a:defRPr sz="900" b="1">
                          <a:solidFill>
                            <a:srgbClr val="006556"/>
                          </a:solidFill>
                          <a:latin typeface="Montserrat"/>
                        </a:defRPr>
                      </a:pPr>
                      <a:r>
                        <a:t>62</a:t>
                      </a:r>
                    </a:p>
                  </a:txBody>
                  <a:tcPr anchor="ctr">
                    <a:solidFill>
                      <a:srgbClr val="D3E9E7"/>
                    </a:solidFill>
                  </a:tcPr>
                </a:tc>
                <a:tc>
                  <a:txBody>
                    <a:bodyPr/>
                    <a:lstStyle/>
                    <a:p>
                      <a:pPr algn="ctr">
                        <a:defRPr sz="900" b="1">
                          <a:solidFill>
                            <a:srgbClr val="006556"/>
                          </a:solidFill>
                          <a:latin typeface="Montserrat"/>
                        </a:defRPr>
                      </a:pPr>
                      <a:r>
                        <a:t>57</a:t>
                      </a:r>
                    </a:p>
                  </a:txBody>
                  <a:tcPr anchor="ctr">
                    <a:solidFill>
                      <a:srgbClr val="D3E9E7"/>
                    </a:solidFill>
                  </a:tcPr>
                </a:tc>
                <a:tc>
                  <a:txBody>
                    <a:bodyPr/>
                    <a:lstStyle/>
                    <a:p>
                      <a:pPr algn="ctr">
                        <a:defRPr sz="900" b="1">
                          <a:solidFill>
                            <a:srgbClr val="006556"/>
                          </a:solidFill>
                          <a:latin typeface="Montserrat"/>
                        </a:defRPr>
                      </a:pPr>
                      <a:r>
                        <a:t>264</a:t>
                      </a:r>
                    </a:p>
                  </a:txBody>
                  <a:tcPr anchor="ctr">
                    <a:solidFill>
                      <a:srgbClr val="D3E9E7"/>
                    </a:solidFill>
                  </a:tcPr>
                </a:tc>
              </a:tr>
            </a:tbl>
          </a:graphicData>
        </a:graphic>
      </p:graphicFrame>
      <p:sp>
        <p:nvSpPr>
          <p:cNvPr id="8" name="TextBox 7"/>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HES 71 Torreón</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14</a:t>
                      </a:r>
                    </a:p>
                  </a:txBody>
                  <a:tcPr>
                    <a:solidFill>
                      <a:srgbClr val="FFFFFF"/>
                    </a:solidFill>
                  </a:tcPr>
                </a:tc>
                <a:tc>
                  <a:txBody>
                    <a:bodyPr/>
                    <a:lstStyle/>
                    <a:p>
                      <a:pPr algn="ctr">
                        <a:defRPr sz="1000">
                          <a:latin typeface="Montserrat"/>
                        </a:defRPr>
                      </a:pPr>
                      <a:r>
                        <a:t>3</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14</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9</a:t>
                      </a:r>
                    </a:p>
                  </a:txBody>
                  <a:tcPr>
                    <a:solidFill>
                      <a:srgbClr val="D3E9E7"/>
                    </a:solidFill>
                  </a:tcPr>
                </a:tc>
                <a:tc>
                  <a:txBody>
                    <a:bodyPr/>
                    <a:lstStyle/>
                    <a:p>
                      <a:pPr algn="ctr">
                        <a:defRPr sz="1000" b="1">
                          <a:solidFill>
                            <a:srgbClr val="006556"/>
                          </a:solidFill>
                          <a:latin typeface="Montserrat"/>
                        </a:defRPr>
                      </a:pPr>
                      <a:r>
                        <a:t>12</a:t>
                      </a:r>
                    </a:p>
                  </a:txBody>
                  <a:tcPr>
                    <a:solidFill>
                      <a:srgbClr val="D3E9E7"/>
                    </a:solidFill>
                  </a:tcPr>
                </a:tc>
                <a:tc>
                  <a:txBody>
                    <a:bodyPr/>
                    <a:lstStyle/>
                    <a:p>
                      <a:pPr algn="ctr">
                        <a:defRPr sz="1000" b="1">
                          <a:solidFill>
                            <a:srgbClr val="006556"/>
                          </a:solidFill>
                          <a:latin typeface="Montserrat"/>
                        </a:defRPr>
                      </a:pPr>
                      <a:r>
                        <a:t>47</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208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Zona C/MF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Zona C/MF 18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477599"/>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C/MF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Gastroenterología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477599"/>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de Zona C/MF 24</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897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C/MF 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6897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Rural Matamoros</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34</a:t>
                      </a:r>
                    </a:p>
                  </a:txBody>
                  <a:tcPr>
                    <a:solidFill>
                      <a:srgbClr val="D3E9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208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943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8">
                  <a:txBody>
                    <a:bodyPr/>
                    <a:lstStyle/>
                    <a:p>
                      <a:pPr algn="ctr">
                        <a:defRPr sz="800" b="1">
                          <a:solidFill>
                            <a:srgbClr val="000000"/>
                          </a:solidFill>
                          <a:latin typeface="Montserrat"/>
                        </a:defRPr>
                      </a:pPr>
                      <a:r>
                        <a:t>Hospital Rural Ramos Arizpe</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7">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30</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Rural San Buenaventura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981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de Especialidades 71</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Nuclear e Imagenología Molecular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Terapia Endovascular Neurológica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981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de Especialidades No. 71</a:t>
                      </a:r>
                    </a:p>
                  </a:txBody>
                  <a:tcPr anchor="ctr">
                    <a:noFill/>
                  </a:tcPr>
                </a:tc>
                <a:tc>
                  <a:txBody>
                    <a:bodyPr/>
                    <a:lstStyle/>
                    <a:p>
                      <a:pPr algn="ctr">
                        <a:defRPr sz="800" b="0">
                          <a:solidFill>
                            <a:srgbClr val="000000"/>
                          </a:solidFill>
                          <a:latin typeface="Montserrat"/>
                        </a:defRPr>
                      </a:pPr>
                      <a:r>
                        <a:t>Terapia Endovascular Neurológica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1" name="TextBox 10"/>
          <p:cNvSpPr txBox="1"/>
          <p:nvPr/>
        </p:nvSpPr>
        <p:spPr>
          <a:xfrm>
            <a:off x="360000" y="6321599"/>
            <a:ext cx="6840000" cy="360000"/>
          </a:xfrm>
          <a:prstGeom prst="rect">
            <a:avLst/>
          </a:prstGeom>
          <a:noFill/>
        </p:spPr>
        <p:txBody>
          <a:bodyPr wrap="none" anchor="ctr">
            <a:spAutoFit/>
          </a:bodyPr>
          <a:lstStyle/>
          <a:p>
            <a:pPr algn="l">
              <a:defRPr sz="2000" b="1">
                <a:solidFill>
                  <a:srgbClr val="BC955C"/>
                </a:solidFill>
                <a:latin typeface="Montserrat"/>
              </a:defRPr>
            </a:pPr>
            <a:r>
              <a:t>2 Sede delegacional</a:t>
            </a:r>
          </a:p>
        </p:txBody>
      </p:sp>
      <p:cxnSp>
        <p:nvCxnSpPr>
          <p:cNvPr id="12" name="Connector 11"/>
          <p:cNvCxnSpPr/>
          <p:nvPr/>
        </p:nvCxnSpPr>
        <p:spPr>
          <a:xfrm>
            <a:off x="360000" y="6717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60000" y="678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113 en Unidades de Medicina Familiar</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Puesto de Fábrica 72 UMF 61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7" name="Table 6"/>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8" name="Table 7"/>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23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9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2" name="Table 11"/>
          <p:cNvGraphicFramePr>
            <a:graphicFrameLocks noGrp="1"/>
          </p:cNvGraphicFramePr>
          <p:nvPr/>
        </p:nvGraphicFramePr>
        <p:xfrm>
          <a:off x="360000" y="47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960000" y="4773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60000" y="5673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5673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6825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6825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8" name="Table 17"/>
          <p:cNvGraphicFramePr>
            <a:graphicFrameLocks noGrp="1"/>
          </p:cNvGraphicFramePr>
          <p:nvPr/>
        </p:nvGraphicFramePr>
        <p:xfrm>
          <a:off x="360000" y="7977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9" name="Table 18"/>
          <p:cNvGraphicFramePr>
            <a:graphicFrameLocks noGrp="1"/>
          </p:cNvGraphicFramePr>
          <p:nvPr/>
        </p:nvGraphicFramePr>
        <p:xfrm>
          <a:off x="3960000" y="7977594"/>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113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79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721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721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87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873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02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025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86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177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177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88</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077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077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229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229594"/>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C/UMAA 89</a:t>
                      </a:r>
                    </a:p>
                  </a:txBody>
                  <a:tcPr anchor="ctr">
                    <a:no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437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113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No. 94 "Santa Bárbara"</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Unidad de Medicina Familiar No. 95 "El Cortijo"</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7</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sp>
        <p:nvSpPr>
          <p:cNvPr id="9" name="TextBox 8"/>
          <p:cNvSpPr txBox="1"/>
          <p:nvPr/>
        </p:nvSpPr>
        <p:spPr>
          <a:xfrm>
            <a:off x="360000" y="3657599"/>
            <a:ext cx="6840000" cy="360000"/>
          </a:xfrm>
          <a:prstGeom prst="rect">
            <a:avLst/>
          </a:prstGeom>
          <a:noFill/>
        </p:spPr>
        <p:txBody>
          <a:bodyPr wrap="none" anchor="ctr">
            <a:spAutoFit/>
          </a:bodyPr>
          <a:lstStyle/>
          <a:p>
            <a:pPr algn="l">
              <a:defRPr sz="2000" b="1">
                <a:solidFill>
                  <a:srgbClr val="BC955C"/>
                </a:solidFill>
                <a:latin typeface="Montserrat"/>
              </a:defRPr>
            </a:pPr>
            <a:r>
              <a:t>114 especialistas (sustitutos)</a:t>
            </a:r>
          </a:p>
        </p:txBody>
      </p:sp>
      <p:cxnSp>
        <p:nvCxnSpPr>
          <p:cNvPr id="10" name="Connector 9"/>
          <p:cNvCxnSpPr/>
          <p:nvPr/>
        </p:nvCxnSpPr>
        <p:spPr>
          <a:xfrm>
            <a:off x="360000" y="4053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4125599"/>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22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20</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bl>
          </a:graphicData>
        </a:graphic>
      </p:graphicFrame>
      <p:graphicFrame>
        <p:nvGraphicFramePr>
          <p:cNvPr id="12" name="Table 11"/>
          <p:cNvGraphicFramePr>
            <a:graphicFrameLocks noGrp="1"/>
          </p:cNvGraphicFramePr>
          <p:nvPr/>
        </p:nvGraphicFramePr>
        <p:xfrm>
          <a:off x="3960000" y="4125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Reumatología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114</a:t>
                      </a:r>
                    </a:p>
                  </a:txBody>
                  <a:tcPr>
                    <a:solidFill>
                      <a:srgbClr val="D3E9E7"/>
                    </a:solidFill>
                  </a:tcPr>
                </a:tc>
              </a:tr>
            </a:tbl>
          </a:graphicData>
        </a:graphic>
      </p:graphicFrame>
      <p:sp>
        <p:nvSpPr>
          <p:cNvPr id="13" name="TextBox 12"/>
          <p:cNvSpPr txBox="1"/>
          <p:nvPr/>
        </p:nvSpPr>
        <p:spPr>
          <a:xfrm>
            <a:off x="270000" y="9201598"/>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COAHUILA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381927">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381927">
                <a:tc>
                  <a:txBody>
                    <a:bodyPr/>
                    <a:lstStyle/>
                    <a:p>
                      <a:pPr algn="l">
                        <a:defRPr sz="1100" b="0">
                          <a:solidFill>
                            <a:srgbClr val="000000"/>
                          </a:solidFill>
                          <a:latin typeface="Montserrat"/>
                        </a:defRPr>
                      </a:pPr>
                      <a:r>
                        <a:t>Anatomía Patológica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98.1%</a:t>
                      </a:r>
                    </a:p>
                  </a:txBody>
                  <a:tcPr anchor="ctr" marL="45720" marR="45720" marT="45720" marB="45720">
                    <a:solidFill>
                      <a:srgbClr val="D9D9D9"/>
                    </a:solidFill>
                  </a:tcPr>
                </a:tc>
              </a:tr>
              <a:tr h="381927">
                <a:tc>
                  <a:txBody>
                    <a:bodyPr/>
                    <a:lstStyle/>
                    <a:p>
                      <a:pPr algn="l">
                        <a:defRPr sz="1100" b="0">
                          <a:solidFill>
                            <a:srgbClr val="000000"/>
                          </a:solidFill>
                          <a:latin typeface="Montserrat"/>
                        </a:defRPr>
                      </a:pPr>
                      <a:r>
                        <a:t>Infectología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98.3%</a:t>
                      </a:r>
                    </a:p>
                  </a:txBody>
                  <a:tcPr anchor="ctr" marL="45720" marR="45720" marT="45720" marB="45720">
                    <a:solidFill>
                      <a:srgbClr val="FFFFFF"/>
                    </a:solidFill>
                  </a:tcPr>
                </a:tc>
              </a:tr>
              <a:tr h="381927">
                <a:tc>
                  <a:txBody>
                    <a:bodyPr/>
                    <a:lstStyle/>
                    <a:p>
                      <a:pPr algn="l">
                        <a:defRPr sz="1100" b="0">
                          <a:solidFill>
                            <a:srgbClr val="000000"/>
                          </a:solidFill>
                          <a:latin typeface="Montserrat"/>
                        </a:defRPr>
                      </a:pPr>
                      <a:r>
                        <a:t>Endoscopia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98.6%</a:t>
                      </a:r>
                    </a:p>
                  </a:txBody>
                  <a:tcPr anchor="ctr" marL="45720" marR="45720" marT="45720" marB="45720">
                    <a:solidFill>
                      <a:srgbClr val="D9D9D9"/>
                    </a:solidFill>
                  </a:tcPr>
                </a:tc>
              </a:tr>
              <a:tr h="381927">
                <a:tc>
                  <a:txBody>
                    <a:bodyPr/>
                    <a:lstStyle/>
                    <a:p>
                      <a:pPr algn="l">
                        <a:defRPr sz="1100" b="0">
                          <a:solidFill>
                            <a:srgbClr val="000000"/>
                          </a:solidFill>
                          <a:latin typeface="Montserrat"/>
                        </a:defRPr>
                      </a:pPr>
                      <a:r>
                        <a:t>Gastroenterología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98.8%</a:t>
                      </a:r>
                    </a:p>
                  </a:txBody>
                  <a:tcPr anchor="ctr" marL="45720" marR="45720" marT="45720" marB="45720">
                    <a:solidFill>
                      <a:srgbClr val="FFFFFF"/>
                    </a:solidFill>
                  </a:tcPr>
                </a:tc>
              </a:tr>
              <a:tr h="381927">
                <a:tc>
                  <a:txBody>
                    <a:bodyPr/>
                    <a:lstStyle/>
                    <a:p>
                      <a:pPr algn="l">
                        <a:defRPr sz="1100" b="0">
                          <a:solidFill>
                            <a:srgbClr val="000000"/>
                          </a:solidFill>
                          <a:latin typeface="Montserrat"/>
                        </a:defRPr>
                      </a:pPr>
                      <a:r>
                        <a:t>Genética Médica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99.0%</a:t>
                      </a:r>
                    </a:p>
                  </a:txBody>
                  <a:tcPr anchor="ctr" marL="45720" marR="45720" marT="45720" marB="45720">
                    <a:solidFill>
                      <a:srgbClr val="D9D9D9"/>
                    </a:solidFill>
                  </a:tcPr>
                </a:tc>
              </a:tr>
              <a:tr h="381927">
                <a:tc>
                  <a:txBody>
                    <a:bodyPr/>
                    <a:lstStyle/>
                    <a:p>
                      <a:pPr algn="l">
                        <a:defRPr sz="1100" b="0">
                          <a:solidFill>
                            <a:srgbClr val="000000"/>
                          </a:solidFill>
                          <a:latin typeface="Montserrat"/>
                        </a:defRPr>
                      </a:pPr>
                      <a:r>
                        <a:t>Cirugía Plástica y Reconstructiva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381927">
                <a:tc>
                  <a:txBody>
                    <a:bodyPr/>
                    <a:lstStyle/>
                    <a:p>
                      <a:pPr algn="l">
                        <a:defRPr sz="1100" b="0">
                          <a:solidFill>
                            <a:srgbClr val="000000"/>
                          </a:solidFill>
                          <a:latin typeface="Montserrat"/>
                        </a:defRPr>
                      </a:pPr>
                      <a:r>
                        <a:t>Medicina del Enfermo Pediátrico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r h="381927">
                <a:tc>
                  <a:txBody>
                    <a:bodyPr/>
                    <a:lstStyle/>
                    <a:p>
                      <a:pPr algn="l">
                        <a:defRPr sz="1100" b="0">
                          <a:solidFill>
                            <a:srgbClr val="000000"/>
                          </a:solidFill>
                          <a:latin typeface="Montserrat"/>
                        </a:defRPr>
                      </a:pPr>
                      <a:r>
                        <a:t>Neurología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99.7%</a:t>
                      </a:r>
                    </a:p>
                  </a:txBody>
                  <a:tcPr anchor="ctr" marL="45720" marR="45720" marT="45720" marB="45720">
                    <a:solidFill>
                      <a:srgbClr val="FFFFFF"/>
                    </a:solidFill>
                  </a:tcPr>
                </a:tc>
              </a:tr>
              <a:tr h="381927">
                <a:tc>
                  <a:txBody>
                    <a:bodyPr/>
                    <a:lstStyle/>
                    <a:p>
                      <a:pPr algn="l">
                        <a:defRPr sz="1100" b="0">
                          <a:solidFill>
                            <a:srgbClr val="000000"/>
                          </a:solidFill>
                          <a:latin typeface="Montserrat"/>
                        </a:defRPr>
                      </a:pPr>
                      <a:r>
                        <a:t>Patología Clínica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99.9%</a:t>
                      </a:r>
                    </a:p>
                  </a:txBody>
                  <a:tcPr anchor="ctr" marL="45720" marR="45720" marT="45720" marB="45720">
                    <a:solidFill>
                      <a:srgbClr val="D9D9D9"/>
                    </a:solidFill>
                  </a:tcPr>
                </a:tc>
              </a:tr>
              <a:tr h="38193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437</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364</TotalTime>
  <Words>359</Words>
  <Application>Microsoft Office PowerPoint</Application>
  <PresentationFormat>Personalizado</PresentationFormat>
  <Paragraphs>97</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107</cp:revision>
  <dcterms:modified xsi:type="dcterms:W3CDTF">2026-05-12T22:51:03Z</dcterms:modified>
</cp:coreProperties>
</file>