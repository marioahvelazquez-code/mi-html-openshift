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89" r:id="rId6"/>
    <p:sldId id="258" r:id="rId7"/>
    <p:sldId id="259" r:id="rId8"/>
    <p:sldId id="260" r:id="rId9"/>
    <p:sldId id="300" r:id="rId46"/>
    <p:sldId id="261" r:id="rId10"/>
    <p:sldId id="287" r:id="rId11"/>
    <p:sldId id="262" r:id="rId12"/>
    <p:sldId id="263" r:id="rId13"/>
    <p:sldId id="280" r:id="rId14"/>
    <p:sldId id="267" r:id="rId15"/>
    <p:sldId id="298" r:id="rId16"/>
    <p:sldId id="301" r:id="rId47"/>
    <p:sldId id="302" r:id="rId48"/>
    <p:sldId id="303" r:id="rId49"/>
    <p:sldId id="304" r:id="rId50"/>
    <p:sldId id="305" r:id="rId51"/>
    <p:sldId id="281" r:id="rId17"/>
    <p:sldId id="306" r:id="rId45"/>
    <p:sldId id="288" r:id="rId18"/>
    <p:sldId id="270" r:id="rId19"/>
    <p:sldId id="271" r:id="rId20"/>
    <p:sldId id="272" r:id="rId21"/>
    <p:sldId id="299" r:id="rId22"/>
    <p:sldId id="297" r:id="rId23"/>
    <p:sldId id="284" r:id="rId24"/>
    <p:sldId id="290" r:id="rId25"/>
    <p:sldId id="277" r:id="rId26"/>
    <p:sldId id="278" r:id="rId27"/>
    <p:sldId id="279" r:id="rId28"/>
    <p:sldId id="282" r:id="rId29"/>
  </p:sldIdLst>
  <p:sldSz cx="7772400" cy="10058400"/>
  <p:notesSz cx="6858000" cy="9144000"/>
  <p:embeddedFontLs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Noto Sans" panose="020B050204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8F3B2-D3D0-E5B3-C8FD-420E1F43D035}" v="137" dt="2026-05-12T22:19:03.99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2" autoAdjust="0"/>
    <p:restoredTop sz="94759"/>
  </p:normalViewPr>
  <p:slideViewPr>
    <p:cSldViewPr snapToGrid="0">
      <p:cViewPr varScale="1">
        <p:scale>
          <a:sx n="78" d="100"/>
          <a:sy n="78" d="100"/>
        </p:scale>
        <p:origin x="3088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45" Type="http://schemas.openxmlformats.org/officeDocument/2006/relationships/slide" Target="slides/slide32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32.865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32.865" v="0"/>
        <pc:sldMkLst>
          <pc:docMk/>
          <pc:sldMk cId="940563321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7:06:05.268" v="6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4:20.743" v="55" actId="25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4:20.743" v="55" actId="255"/>
          <ac:spMkLst>
            <pc:docMk/>
            <pc:sldMk cId="0" sldId="260"/>
            <ac:spMk id="7" creationId="{E6F0CB79-1082-5D89-CF5A-6D65910CD3AF}"/>
          </ac:spMkLst>
        </pc:spChg>
        <pc:graphicFrameChg chg="add mod modGraphic">
          <ac:chgData name="Edgar Rosales Ortega" userId="d1d54fc2-1570-4978-babc-e22e1526833f" providerId="ADAL" clId="{66BE7C30-C669-4152-AC74-10076FC0590C}" dt="2026-04-30T23:03:52.330" v="42" actId="1076"/>
          <ac:graphicFrameMkLst>
            <pc:docMk/>
            <pc:sldMk cId="0" sldId="260"/>
            <ac:graphicFrameMk id="5" creationId="{6DC9DD6A-2936-288C-E063-2CADEE427F9A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4:10.854" v="54" actId="1037"/>
          <ac:picMkLst>
            <pc:docMk/>
            <pc:sldMk cId="0" sldId="260"/>
            <ac:picMk id="6" creationId="{5C14B75E-987D-5262-C18F-72D37892A4DF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5:30.393" v="58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5:32.349" v="5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5:26.021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6:50.230" v="2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05:41.307" v="6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05:41.307" v="6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1:57.370" v="57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35.180" v="37" actId="1076"/>
          <ac:spMkLst>
            <pc:docMk/>
            <pc:sldMk cId="0" sldId="279"/>
            <ac:spMk id="2" creationId="{88110417-5E73-93FD-85C4-2FAF8829EDB0}"/>
          </ac:spMkLst>
        </pc:spChg>
        <pc:spChg chg="mod">
          <ac:chgData name="Edgar Rosales Ortega" userId="d1d54fc2-1570-4978-babc-e22e1526833f" providerId="ADAL" clId="{66BE7C30-C669-4152-AC74-10076FC0590C}" dt="2026-05-05T17:51:57.370" v="57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5:21.968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6:55.216" v="2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1:39.306" v="56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6:05.268" v="6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6:05.268" v="6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5:15.047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6:58.970" v="2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5:47.512" v="6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5:47.512" v="61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9D28F3B2-D3D0-E5B3-C8FD-420E1F43D035}"/>
    <pc:docChg chg="modSld">
      <pc:chgData name="Gerardo Jahir Lara Garcia" userId="S::gerardo.larag@imss.gob.mx::84d5cd65-4601-4e92-b448-a9da4809e012" providerId="AD" clId="Web-{9D28F3B2-D3D0-E5B3-C8FD-420E1F43D035}" dt="2026-05-12T22:19:03.999" v="77" actId="1076"/>
      <pc:docMkLst>
        <pc:docMk/>
      </pc:docMkLst>
      <pc:sldChg chg="addSp delSp modSp">
        <pc:chgData name="Gerardo Jahir Lara Garcia" userId="S::gerardo.larag@imss.gob.mx::84d5cd65-4601-4e92-b448-a9da4809e012" providerId="AD" clId="Web-{9D28F3B2-D3D0-E5B3-C8FD-420E1F43D035}" dt="2026-05-12T22:19:03.999" v="77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9D28F3B2-D3D0-E5B3-C8FD-420E1F43D035}" dt="2026-05-12T22:12:36.588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9:03.983" v="76" actId="1076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8:33.904" v="53" actId="107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7:06.442" v="24"/>
          <ac:spMkLst>
            <pc:docMk/>
            <pc:sldMk cId="364733940" sldId="284"/>
            <ac:spMk id="11" creationId="{2C157DF6-A7FD-940D-19DA-323ACD68454D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9:03.999" v="77" actId="1076"/>
          <ac:spMkLst>
            <pc:docMk/>
            <pc:sldMk cId="364733940" sldId="284"/>
            <ac:spMk id="12" creationId="{4E8B9161-4F95-C649-5C51-B3F923D5B3F1}"/>
          </ac:spMkLst>
        </pc:spChg>
        <pc:picChg chg="add mod">
          <ac:chgData name="Gerardo Jahir Lara Garcia" userId="S::gerardo.larag@imss.gob.mx::84d5cd65-4601-4e92-b448-a9da4809e012" providerId="AD" clId="Web-{9D28F3B2-D3D0-E5B3-C8FD-420E1F43D035}" dt="2026-05-12T22:19:03.983" v="75" actId="1076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9D28F3B2-D3D0-E5B3-C8FD-420E1F43D035}" dt="2026-05-12T22:18:33.904" v="52" actId="1076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9D28F3B2-D3D0-E5B3-C8FD-420E1F43D035}" dt="2026-05-12T22:17:06.442" v="2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9D28F3B2-D3D0-E5B3-C8FD-420E1F43D035}" dt="2026-05-12T22:16:07.486" v="23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5:50.595" v="20" actId="20577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6:07.486" v="23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6:07.486" v="21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5:31.157" v="17" actId="20577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9D28F3B2-D3D0-E5B3-C8FD-420E1F43D035}" dt="2026-05-12T22:12:24.041" v="0"/>
          <ac:picMkLst>
            <pc:docMk/>
            <pc:sldMk cId="3240565764" sldId="297"/>
            <ac:picMk id="8" creationId="{170CBE01-E044-2F44-556A-69D0B561DC01}"/>
          </ac:picMkLst>
        </pc:picChg>
        <pc:picChg chg="add del">
          <ac:chgData name="Gerardo Jahir Lara Garcia" userId="S::gerardo.larag@imss.gob.mx::84d5cd65-4601-4e92-b448-a9da4809e012" providerId="AD" clId="Web-{9D28F3B2-D3D0-E5B3-C8FD-420E1F43D035}" dt="2026-05-12T22:16:07.486" v="22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9D28F3B2-D3D0-E5B3-C8FD-420E1F43D035}" dt="2026-05-12T22:12:24.041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1067155.0</c:v>
                </c:pt>
                <c:pt idx="1">
                  <c:v>1952597.0</c:v>
                </c:pt>
                <c:pt idx="2">
                  <c:v>494805.0</c:v>
                </c:pt>
                <c:pt idx="3">
                  <c:v>2635269.0</c:v>
                </c:pt>
                <c:pt idx="4">
                  <c:v>35643.0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36.39786448283991</c:v>
                </c:pt>
                <c:pt idx="1">
                  <c:v>63.60213551716009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6.357292981800001</c:v>
                </c:pt>
                <c:pt idx="1">
                  <c:v>93.6427070182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29.45380180661604</c:v>
                </c:pt>
                <c:pt idx="1">
                  <c:v>70.54619819338396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33.23766364551863</c:v>
                </c:pt>
                <c:pt idx="1">
                  <c:v>66.76233635448136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102</c:v>
                </c:pt>
                <c:pt idx="2">
                  <c:v>116</c:v>
                </c:pt>
                <c:pt idx="3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21771</c:v>
                </c:pt>
                <c:pt idx="1">
                  <c:v>40363</c:v>
                </c:pt>
                <c:pt idx="2">
                  <c:v>1095</c:v>
                </c:pt>
                <c:pt idx="3">
                  <c:v>17384</c:v>
                </c:pt>
                <c:pt idx="4">
                  <c:v>3243</c:v>
                </c:pt>
                <c:pt idx="5">
                  <c:v>29603</c:v>
                </c:pt>
                <c:pt idx="6">
                  <c:v>76739</c:v>
                </c:pt>
                <c:pt idx="7">
                  <c:v>62040</c:v>
                </c:pt>
                <c:pt idx="8">
                  <c:v>8775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18864</c:v>
                </c:pt>
                <c:pt idx="1">
                  <c:v>38848</c:v>
                </c:pt>
                <c:pt idx="2">
                  <c:v>1065</c:v>
                </c:pt>
                <c:pt idx="3">
                  <c:v>17029</c:v>
                </c:pt>
                <c:pt idx="4">
                  <c:v>3229</c:v>
                </c:pt>
                <c:pt idx="5">
                  <c:v>29618</c:v>
                </c:pt>
                <c:pt idx="6">
                  <c:v>76993</c:v>
                </c:pt>
                <c:pt idx="7">
                  <c:v>64633</c:v>
                </c:pt>
                <c:pt idx="8">
                  <c:v>9389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223036</c:v>
                </c:pt>
                <c:pt idx="1">
                  <c:v>222472</c:v>
                </c:pt>
                <c:pt idx="2">
                  <c:v>225177</c:v>
                </c:pt>
                <c:pt idx="3">
                  <c:v>228147</c:v>
                </c:pt>
                <c:pt idx="4">
                  <c:v>237801</c:v>
                </c:pt>
                <c:pt idx="5">
                  <c:v>245920</c:v>
                </c:pt>
                <c:pt idx="6">
                  <c:v>258205</c:v>
                </c:pt>
                <c:pt idx="7">
                  <c:v>261013</c:v>
                </c:pt>
                <c:pt idx="8">
                  <c:v>259668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Chiapas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Chi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1,067,155</a:t>
            </a:r>
            <a:br/>
            <a:r>
              <a:t>17%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1,952,597</a:t>
            </a:r>
            <a:br/>
            <a:r>
              <a:t>32%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494,805</a:t>
            </a:r>
            <a:br/>
            <a:r>
              <a:t>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2,635,269</a:t>
            </a:r>
            <a:br/>
            <a:r>
              <a:t>43%</a:t>
            </a:r>
          </a:p>
        </p:txBody>
      </p:sp>
      <p:pic>
        <p:nvPicPr>
          <p:cNvPr id="128" name="Picture 127" descr="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35,643</a:t>
            </a:r>
            <a:br/>
            <a:r>
              <a:t>0.58%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6,185,469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803,426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1,067,155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480,798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681,804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225,667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203,237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298,877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297,282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322,628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385,351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826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3,760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42" name="Picture 141" descr="PTP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7_ch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28 UMF, 1 UMF-UMAA y no incluye 13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10;g3d0b4d3c5c9_3_23">
            <a:extLst>
              <a:ext uri="{FF2B5EF4-FFF2-40B4-BE49-F238E27FC236}">
                <a16:creationId xmlns:a16="http://schemas.microsoft.com/office/drawing/2014/main" id="{6DC9DD6A-2936-288C-E063-2CADEE427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859383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Zona, Tapachula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16;g3d0b4d3c5c9_3_23">
            <a:extLst>
              <a:ext uri="{FF2B5EF4-FFF2-40B4-BE49-F238E27FC236}">
                <a16:creationId xmlns:a16="http://schemas.microsoft.com/office/drawing/2014/main" id="{5C14B75E-987D-5262-C18F-72D37892A4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20" y="2124482"/>
            <a:ext cx="2693769" cy="202372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F0CB79-1082-5D89-CF5A-6D65910CD3AF}"/>
              </a:ext>
            </a:extLst>
          </p:cNvPr>
          <p:cNvSpPr txBox="1"/>
          <p:nvPr/>
        </p:nvSpPr>
        <p:spPr>
          <a:xfrm>
            <a:off x="2981769" y="1989874"/>
            <a:ext cx="4601165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21 de mayo de 1956, el HCT autorizó el inició de la prestación de servicios de seguridad social en Chiapas.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27 de septiembre de 1956, en un inmueble del centro de Tapachula, se otorgaron servicios médicos para menos de cinco mil derechohabientes de las fincas cafetaleras de Cacahoatán 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1957 un edificio que había sido un hotel fue adaptado para ofrecer con 12 camas los servicios de consulta externa, hospitalización y cirugía.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8 de abril de 1968, se inauguró el Hospital General de Zona (HGZ) No. 1 consolidando la atención hospitalaria especializada en la región.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hi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50224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83D8A8B-59B1-13BC-D85F-42743026C8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C7739D0-971F-FDB6-13CF-63053C1FF78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AE8B1C-4CF8-6E0D-7226-9E6C11CAA59C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E5DD89D-D87F-88E6-5CFF-56F387DEFD5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4F6DE39-632F-445F-66E2-A1B5222239DC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91F226-0222-6105-ACCE-2FA3FC3D943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608396-FCEF-FD07-5FAA-28A30CD9798B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+739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+237,978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+51,605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1,606,986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237,978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608,126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1,603,424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314,000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51,605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143,306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486,545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15,333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19,860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2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E.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Chapultepec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Cacahoatan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Cd.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Mazatán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Arriaga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S.Cristobal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I. Pujiltic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Pijijiapan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Cd.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Mal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Chicoasén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Comitan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Palenque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Peñitas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Pichucalco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Mapastepec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Villaflores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Escuintha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Acapetahua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Estación Júarez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Cintalapa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Tapachula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64,815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Tapachula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69,471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898,981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171,302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333,518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916,312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64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3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2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64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916,312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9BBF1-D21B-3530-8354-611AE50B8DE0}"/>
              </a:ext>
            </a:extLst>
          </p:cNvPr>
          <p:cNvSpPr txBox="1"/>
          <p:nvPr/>
        </p:nvSpPr>
        <p:spPr>
          <a:xfrm>
            <a:off x="4118089" y="519365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5 Nuevas UMTC con   10 consultorios</a:t>
            </a:r>
          </a:p>
        </p:txBody>
      </p: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306C4051-E044-E777-922C-B3F72DE5F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33100"/>
              </p:ext>
            </p:extLst>
          </p:nvPr>
        </p:nvGraphicFramePr>
        <p:xfrm>
          <a:off x="4632011" y="6581932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17 San Cristóbal de las Casas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18 Comitán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19 Huixtla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(15 consultorios)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(64,851 consultas)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222,590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23 Tuxtla Gutiérrez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57,829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606,887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50,074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234,862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586,000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59480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30,413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168,194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53,876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51,181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179,945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314,000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51,605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143,306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486,545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9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8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486,545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515571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15,333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19,860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19,860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235 en Hospitales, 6 en sede, 20 en UMF y 110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/ MF 15 Tonalá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05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0599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9759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851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6BEACC4-E897-1DD4-BF73-5A2BFDAC4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618952"/>
              </p:ext>
            </p:extLst>
          </p:nvPr>
        </p:nvGraphicFramePr>
        <p:xfrm>
          <a:off x="287050" y="942684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11,684	 Personal de Salud: 5,895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+106.3%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+93.1%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+66.8%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2,197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+67.6%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+252.0%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328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1,002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6,450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1,655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9,018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(82,251)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(1,871)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(69,668)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(19,319)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Los demás tumores benignos
(305)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(4,242)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(4,043)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116,555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867,632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121,681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1,091,484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90.0%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35A2-BB4D-3E11-5937-DE3E8031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199,394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148,398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129,645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119,662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118,688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105,455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105,050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103,478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102,889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563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72874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Hospital </a:t>
            </a:r>
            <a:endParaRPr lang="en-US"/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(1a Etapa)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camas, Tuxtla Gutiérrez (1a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$2,920.0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proyecto HGZ 60 camas, Comitán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$2,922.4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84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$404.2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Tapachula y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HGSMF 15 Tonalá, HGSMF 19 Huixtla y HGZ 2 Tuxtla Gutiérrez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2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UMF No. 23, Tuxtla Gutiérrez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(HGZ No. 2 UMAA, UMF No.13, UMF No. 23, UMF No. 25 Tuxtla Gutiérrez;UMF No.1, UMF No. 11 Tapachula)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UMAA Tuxtla Gutiérrez y UMF No. 17 San Cristobal de las Casas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$598.6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70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3,521.1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9" y="3332627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10500" y="3428685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Rural</a:t>
            </a:r>
            <a:endParaRPr lang="en-US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078658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2143639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Centro de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4E8B9161-4F95-C649-5C51-B3F923D5B3F1}"/>
              </a:ext>
            </a:extLst>
          </p:cNvPr>
          <p:cNvSpPr txBox="1"/>
          <p:nvPr/>
        </p:nvSpPr>
        <p:spPr>
          <a:xfrm>
            <a:off x="-1183653" y="30103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Fortalecimiento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Centro de Simulación para la Excelencia Clínica y Quirúrgica en Tuxtla Gutiérrez, Chiapas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51999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del HR Bochil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$99.1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Mezclas UMF No. 1 Tapachula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$379.6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370799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31 Equipos electromecánicos para 13 unidades; 9 lavadoras, 8 secadoras, y 14 equipos para aires acondicionados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$221.0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750.2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774520"/>
              </p:ext>
            </p:extLst>
          </p:nvPr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sz="18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18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Comitan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Tuxtla Gutierrez (2a etapa)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$135.0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$935.0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77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45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413999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935.0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Tapachula, Tuxtla Gutierrez, San Cristóbal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Tuxtla Gutiérrez.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1,217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197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Tapachula, Los Pinos, Linda Vista Shanka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 Tapachula (Cierre Temporal) y No. 13 Tuxtla Gutiérrez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7_ch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Gobierno del Estado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Arnecom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-13.35%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-3.75%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-2.74%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-2.04%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+4.18%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+7.00%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261,013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219,035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9,739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27,453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259,668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110417-5E73-93FD-85C4-2FAF8829EDB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$571.92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$302.98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$571.92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$17,157.6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Ciencias y Artes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Politécnica de Tapachula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Caja Popular San Juan Bosco SC de Ap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Campo y Berries de Zamora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Procesamiento Especializado de Alimentos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2,067,867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7,853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1,945,581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7,454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35,654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9,711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10,646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16,903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24,435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1,952,597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367,076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1,585,521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881,356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2,067,867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9,711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99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Altamirano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74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Benemérito de las Américas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74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Bochil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90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Gpe Tepeyac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905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Mapastepec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Motozintla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Ocosingo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Ocozozoautla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Sn Felipe Ecatepec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Venustiano 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2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973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973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8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87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110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2316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231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A805D1-863E-47FE-87DC-FB7399B7A8C4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3d87255f-2171-4f5a-8886-6c25af21384a"/>
    <ds:schemaRef ds:uri="http://purl.org/dc/dcmitype/"/>
    <ds:schemaRef ds:uri="edc1cba3-a8b7-49a1-a01c-6ad98ac12acf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C24EA3-111D-4B65-9E97-ECF6962F8E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0E0688-E2AC-47E7-A884-5FE727475E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334</Words>
  <Application>Microsoft Office PowerPoint</Application>
  <PresentationFormat>Personalizado</PresentationFormat>
  <Paragraphs>85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102</cp:revision>
  <dcterms:modified xsi:type="dcterms:W3CDTF">2026-05-12T22:19:11Z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