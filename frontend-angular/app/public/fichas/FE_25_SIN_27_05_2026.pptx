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9" r:id="rId3"/>
    <p:sldId id="258" r:id="rId4"/>
    <p:sldId id="259" r:id="rId5"/>
    <p:sldId id="260" r:id="rId6"/>
    <p:sldId id="301" r:id="rId46"/>
    <p:sldId id="261" r:id="rId7"/>
    <p:sldId id="287" r:id="rId8"/>
    <p:sldId id="262" r:id="rId9"/>
    <p:sldId id="263" r:id="rId10"/>
    <p:sldId id="280" r:id="rId11"/>
    <p:sldId id="267" r:id="rId12"/>
    <p:sldId id="298" r:id="rId13"/>
    <p:sldId id="302" r:id="rId47"/>
    <p:sldId id="303" r:id="rId48"/>
    <p:sldId id="281" r:id="rId14"/>
    <p:sldId id="304" r:id="rId49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  <p:sldId id="282" r:id="rId26"/>
  </p:sldIdLst>
  <p:sldSz cx="7772400" cy="10058400"/>
  <p:notesSz cx="6858000" cy="914400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Noto Sans" panose="020B0502040504020204" pitchFamily="34" charset="0"/>
      <p:regular r:id="rId32"/>
      <p:bold r:id="rId33"/>
      <p:italic r:id="rId34"/>
      <p:boldItalic r:id="rId35"/>
    </p:embeddedFont>
    <p:embeddedFont>
      <p:font typeface="Noto Sans Black" panose="020B0604020202020204" charset="0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ACCAA8-ECFD-45C2-84ED-0EF97348A1FF}" v="58" dt="2026-05-12T23:43:50.688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Relationship Id="rId32" Type="http://schemas.openxmlformats.org/officeDocument/2006/relationships/font" Target="fonts/font5.fntdata"/><Relationship Id="rId33" Type="http://schemas.openxmlformats.org/officeDocument/2006/relationships/font" Target="fonts/font6.fntdata"/><Relationship Id="rId34" Type="http://schemas.openxmlformats.org/officeDocument/2006/relationships/font" Target="fonts/font7.fntdata"/><Relationship Id="rId35" Type="http://schemas.openxmlformats.org/officeDocument/2006/relationships/font" Target="fonts/font8.fntdata"/><Relationship Id="rId36" Type="http://schemas.openxmlformats.org/officeDocument/2006/relationships/font" Target="fonts/font9.fntdata"/><Relationship Id="rId37" Type="http://schemas.openxmlformats.org/officeDocument/2006/relationships/font" Target="fonts/font10.fntdata"/><Relationship Id="rId38" Type="http://schemas.openxmlformats.org/officeDocument/2006/relationships/font" Target="fonts/font11.fntdata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ardo Jahir Lara Garcia" userId="S::gerardo.larag@imss.gob.mx::84d5cd65-4601-4e92-b448-a9da4809e012" providerId="AD" clId="Web-{37ACCAA8-ECFD-45C2-84ED-0EF97348A1FF}"/>
    <pc:docChg chg="modSld">
      <pc:chgData name="Gerardo Jahir Lara Garcia" userId="S::gerardo.larag@imss.gob.mx::84d5cd65-4601-4e92-b448-a9da4809e012" providerId="AD" clId="Web-{37ACCAA8-ECFD-45C2-84ED-0EF97348A1FF}" dt="2026-05-12T23:43:49.954" v="36" actId="20577"/>
      <pc:docMkLst>
        <pc:docMk/>
      </pc:docMkLst>
      <pc:sldChg chg="addSp delSp modSp">
        <pc:chgData name="Gerardo Jahir Lara Garcia" userId="S::gerardo.larag@imss.gob.mx::84d5cd65-4601-4e92-b448-a9da4809e012" providerId="AD" clId="Web-{37ACCAA8-ECFD-45C2-84ED-0EF97348A1FF}" dt="2026-05-12T23:43:49.954" v="36" actId="20577"/>
        <pc:sldMkLst>
          <pc:docMk/>
          <pc:sldMk cId="364733940" sldId="284"/>
        </pc:sldMkLst>
        <pc:spChg chg="add">
          <ac:chgData name="Gerardo Jahir Lara Garcia" userId="S::gerardo.larag@imss.gob.mx::84d5cd65-4601-4e92-b448-a9da4809e012" providerId="AD" clId="Web-{37ACCAA8-ECFD-45C2-84ED-0EF97348A1FF}" dt="2026-05-12T23:41:50.294" v="1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37ACCAA8-ECFD-45C2-84ED-0EF97348A1FF}" dt="2026-05-12T23:43:49.954" v="36" actId="20577"/>
          <ac:spMkLst>
            <pc:docMk/>
            <pc:sldMk cId="364733940" sldId="284"/>
            <ac:spMk id="6" creationId="{4578A0AA-9DC1-3453-263A-76BE5A8BE282}"/>
          </ac:spMkLst>
        </pc:spChg>
        <pc:spChg chg="add del">
          <ac:chgData name="Gerardo Jahir Lara Garcia" userId="S::gerardo.larag@imss.gob.mx::84d5cd65-4601-4e92-b448-a9da4809e012" providerId="AD" clId="Web-{37ACCAA8-ECFD-45C2-84ED-0EF97348A1FF}" dt="2026-05-12T23:43:44.266" v="32"/>
          <ac:spMkLst>
            <pc:docMk/>
            <pc:sldMk cId="364733940" sldId="284"/>
            <ac:spMk id="9" creationId="{907F7F6F-8FF8-56A0-795F-B2A127C97D4D}"/>
          </ac:spMkLst>
        </pc:spChg>
        <pc:spChg chg="add del">
          <ac:chgData name="Gerardo Jahir Lara Garcia" userId="S::gerardo.larag@imss.gob.mx::84d5cd65-4601-4e92-b448-a9da4809e012" providerId="AD" clId="Web-{37ACCAA8-ECFD-45C2-84ED-0EF97348A1FF}" dt="2026-05-12T23:43:44.266" v="30"/>
          <ac:spMkLst>
            <pc:docMk/>
            <pc:sldMk cId="364733940" sldId="284"/>
            <ac:spMk id="11" creationId="{2C157DF6-A7FD-940D-19DA-323ACD68454D}"/>
          </ac:spMkLst>
        </pc:spChg>
        <pc:picChg chg="add">
          <ac:chgData name="Gerardo Jahir Lara Garcia" userId="S::gerardo.larag@imss.gob.mx::84d5cd65-4601-4e92-b448-a9da4809e012" providerId="AD" clId="Web-{37ACCAA8-ECFD-45C2-84ED-0EF97348A1FF}" dt="2026-05-12T23:41:50.294" v="1"/>
          <ac:picMkLst>
            <pc:docMk/>
            <pc:sldMk cId="364733940" sldId="284"/>
            <ac:picMk id="4" creationId="{488C755F-8E2D-8CE1-6C1B-6DBB55EE2CD3}"/>
          </ac:picMkLst>
        </pc:picChg>
        <pc:picChg chg="add del">
          <ac:chgData name="Gerardo Jahir Lara Garcia" userId="S::gerardo.larag@imss.gob.mx::84d5cd65-4601-4e92-b448-a9da4809e012" providerId="AD" clId="Web-{37ACCAA8-ECFD-45C2-84ED-0EF97348A1FF}" dt="2026-05-12T23:43:44.266" v="33"/>
          <ac:picMkLst>
            <pc:docMk/>
            <pc:sldMk cId="364733940" sldId="284"/>
            <ac:picMk id="8" creationId="{4F2E1097-3694-6090-CBA5-667DCD67E48E}"/>
          </ac:picMkLst>
        </pc:picChg>
        <pc:picChg chg="add del">
          <ac:chgData name="Gerardo Jahir Lara Garcia" userId="S::gerardo.larag@imss.gob.mx::84d5cd65-4601-4e92-b448-a9da4809e012" providerId="AD" clId="Web-{37ACCAA8-ECFD-45C2-84ED-0EF97348A1FF}" dt="2026-05-12T23:43:44.266" v="31"/>
          <ac:picMkLst>
            <pc:docMk/>
            <pc:sldMk cId="364733940" sldId="284"/>
            <ac:picMk id="10" creationId="{CA24C0E7-282C-9B96-A7B5-7554B2C6EF8D}"/>
          </ac:picMkLst>
        </pc:picChg>
      </pc:sldChg>
      <pc:sldChg chg="addSp delSp modSp">
        <pc:chgData name="Gerardo Jahir Lara Garcia" userId="S::gerardo.larag@imss.gob.mx::84d5cd65-4601-4e92-b448-a9da4809e012" providerId="AD" clId="Web-{37ACCAA8-ECFD-45C2-84ED-0EF97348A1FF}" dt="2026-05-12T23:43:23.828" v="29" actId="20577"/>
        <pc:sldMkLst>
          <pc:docMk/>
          <pc:sldMk cId="3240565764" sldId="297"/>
        </pc:sldMkLst>
        <pc:spChg chg="add">
          <ac:chgData name="Gerardo Jahir Lara Garcia" userId="S::gerardo.larag@imss.gob.mx::84d5cd65-4601-4e92-b448-a9da4809e012" providerId="AD" clId="Web-{37ACCAA8-ECFD-45C2-84ED-0EF97348A1FF}" dt="2026-05-12T23:41:40.013" v="0"/>
          <ac:spMkLst>
            <pc:docMk/>
            <pc:sldMk cId="3240565764" sldId="297"/>
            <ac:spMk id="3" creationId="{21AE8FA6-CA77-F761-93C9-BF2570CBBE30}"/>
          </ac:spMkLst>
        </pc:spChg>
        <pc:spChg chg="add del">
          <ac:chgData name="Gerardo Jahir Lara Garcia" userId="S::gerardo.larag@imss.gob.mx::84d5cd65-4601-4e92-b448-a9da4809e012" providerId="AD" clId="Web-{37ACCAA8-ECFD-45C2-84ED-0EF97348A1FF}" dt="2026-05-12T23:42:49.624" v="2"/>
          <ac:spMkLst>
            <pc:docMk/>
            <pc:sldMk cId="3240565764" sldId="297"/>
            <ac:spMk id="7" creationId="{FD4175D4-66CF-7FBC-B843-C149C5339DF1}"/>
          </ac:spMkLst>
        </pc:spChg>
        <pc:spChg chg="add mod">
          <ac:chgData name="Gerardo Jahir Lara Garcia" userId="S::gerardo.larag@imss.gob.mx::84d5cd65-4601-4e92-b448-a9da4809e012" providerId="AD" clId="Web-{37ACCAA8-ECFD-45C2-84ED-0EF97348A1FF}" dt="2026-05-12T23:43:01.281" v="9" actId="20577"/>
          <ac:spMkLst>
            <pc:docMk/>
            <pc:sldMk cId="3240565764" sldId="297"/>
            <ac:spMk id="9" creationId="{50F1217E-09B0-81A3-6E99-CB1DE729ADDF}"/>
          </ac:spMkLst>
        </pc:spChg>
        <pc:spChg chg="add mod">
          <ac:chgData name="Gerardo Jahir Lara Garcia" userId="S::gerardo.larag@imss.gob.mx::84d5cd65-4601-4e92-b448-a9da4809e012" providerId="AD" clId="Web-{37ACCAA8-ECFD-45C2-84ED-0EF97348A1FF}" dt="2026-05-12T23:42:55.171" v="6" actId="1076"/>
          <ac:spMkLst>
            <pc:docMk/>
            <pc:sldMk cId="3240565764" sldId="297"/>
            <ac:spMk id="10" creationId="{991C7EE4-1170-AC4C-597D-3383D8E8A8F9}"/>
          </ac:spMkLst>
        </pc:spChg>
        <pc:spChg chg="add del mod">
          <ac:chgData name="Gerardo Jahir Lara Garcia" userId="S::gerardo.larag@imss.gob.mx::84d5cd65-4601-4e92-b448-a9da4809e012" providerId="AD" clId="Web-{37ACCAA8-ECFD-45C2-84ED-0EF97348A1FF}" dt="2026-05-12T23:43:23.828" v="29" actId="20577"/>
          <ac:spMkLst>
            <pc:docMk/>
            <pc:sldMk cId="3240565764" sldId="297"/>
            <ac:spMk id="12" creationId="{CA535D92-E281-11D7-D7CB-F8BAB9F176B8}"/>
          </ac:spMkLst>
        </pc:spChg>
        <pc:spChg chg="add">
          <ac:chgData name="Gerardo Jahir Lara Garcia" userId="S::gerardo.larag@imss.gob.mx::84d5cd65-4601-4e92-b448-a9da4809e012" providerId="AD" clId="Web-{37ACCAA8-ECFD-45C2-84ED-0EF97348A1FF}" dt="2026-05-12T23:41:40.013" v="0"/>
          <ac:spMkLst>
            <pc:docMk/>
            <pc:sldMk cId="3240565764" sldId="297"/>
            <ac:spMk id="13" creationId="{B9C2E918-974F-A566-8C8B-5DDE4ED4290B}"/>
          </ac:spMkLst>
        </pc:spChg>
        <pc:spChg chg="add">
          <ac:chgData name="Gerardo Jahir Lara Garcia" userId="S::gerardo.larag@imss.gob.mx::84d5cd65-4601-4e92-b448-a9da4809e012" providerId="AD" clId="Web-{37ACCAA8-ECFD-45C2-84ED-0EF97348A1FF}" dt="2026-05-12T23:41:40.013" v="0"/>
          <ac:spMkLst>
            <pc:docMk/>
            <pc:sldMk cId="3240565764" sldId="297"/>
            <ac:spMk id="15" creationId="{A0083CC0-370A-999A-F425-0B0E05DEB5CF}"/>
          </ac:spMkLst>
        </pc:spChg>
        <pc:picChg chg="add del">
          <ac:chgData name="Gerardo Jahir Lara Garcia" userId="S::gerardo.larag@imss.gob.mx::84d5cd65-4601-4e92-b448-a9da4809e012" providerId="AD" clId="Web-{37ACCAA8-ECFD-45C2-84ED-0EF97348A1FF}" dt="2026-05-12T23:42:49.624" v="3"/>
          <ac:picMkLst>
            <pc:docMk/>
            <pc:sldMk cId="3240565764" sldId="297"/>
            <ac:picMk id="4" creationId="{AE9FD96F-084C-5DEE-6966-05F8D1633A42}"/>
          </ac:picMkLst>
        </pc:picChg>
        <pc:picChg chg="add mod">
          <ac:chgData name="Gerardo Jahir Lara Garcia" userId="S::gerardo.larag@imss.gob.mx::84d5cd65-4601-4e92-b448-a9da4809e012" providerId="AD" clId="Web-{37ACCAA8-ECFD-45C2-84ED-0EF97348A1FF}" dt="2026-05-12T23:42:55.140" v="4" actId="1076"/>
          <ac:picMkLst>
            <pc:docMk/>
            <pc:sldMk cId="3240565764" sldId="297"/>
            <ac:picMk id="8" creationId="{170CBE01-E044-2F44-556A-69D0B561DC01}"/>
          </ac:picMkLst>
        </pc:picChg>
        <pc:picChg chg="add mod">
          <ac:chgData name="Gerardo Jahir Lara Garcia" userId="S::gerardo.larag@imss.gob.mx::84d5cd65-4601-4e92-b448-a9da4809e012" providerId="AD" clId="Web-{37ACCAA8-ECFD-45C2-84ED-0EF97348A1FF}" dt="2026-05-12T23:42:55.171" v="7" actId="1076"/>
          <ac:picMkLst>
            <pc:docMk/>
            <pc:sldMk cId="3240565764" sldId="297"/>
            <ac:picMk id="11" creationId="{F7B31A16-FD1A-331A-6F76-259EB810FD76}"/>
          </ac:picMkLst>
        </pc:picChg>
      </pc:sldChg>
    </pc:docChg>
  </pc:docChgLst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7:49.508" v="0"/>
      <pc:docMkLst>
        <pc:docMk/>
      </pc:docMkLst>
      <pc:sldChg chg="add">
        <pc:chgData name="Carlos Esponda Rosales" userId="08a2b2cc-6d12-4dea-90fe-c484bece8186" providerId="ADAL" clId="{6846A1DD-3EC1-5A12-B3C5-9C410579EE4F}" dt="2026-05-08T17:37:49.508" v="0"/>
        <pc:sldMkLst>
          <pc:docMk/>
          <pc:sldMk cId="2081979528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07T19:24:03.380" v="89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17:18.001" v="79" actId="1036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17:18.001" v="79" actId="1036"/>
          <ac:spMkLst>
            <pc:docMk/>
            <pc:sldMk cId="0" sldId="260"/>
            <ac:spMk id="7" creationId="{1479888C-9BE6-F529-AE80-31E7E4721BF9}"/>
          </ac:spMkLst>
        </pc:spChg>
        <pc:graphicFrameChg chg="add mod">
          <ac:chgData name="Edgar Rosales Ortega" userId="d1d54fc2-1570-4978-babc-e22e1526833f" providerId="ADAL" clId="{66BE7C30-C669-4152-AC74-10076FC0590C}" dt="2026-04-30T23:17:10.751" v="28" actId="1076"/>
          <ac:graphicFrameMkLst>
            <pc:docMk/>
            <pc:sldMk cId="0" sldId="260"/>
            <ac:graphicFrameMk id="5" creationId="{C89141B9-0E54-09CF-5371-43414F00E0D8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17:18.001" v="79" actId="1036"/>
          <ac:picMkLst>
            <pc:docMk/>
            <pc:sldMk cId="0" sldId="260"/>
            <ac:picMk id="6" creationId="{EF93BFD4-EABE-C469-F35F-0FA17359C05A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8:04:49.469" v="80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8:04:49.469" v="80" actId="164"/>
          <ac:spMkLst>
            <pc:docMk/>
            <pc:sldMk cId="0" sldId="261"/>
            <ac:spMk id="8" creationId="{4976B7D3-2BCD-0825-E863-85F0C202C1B6}"/>
          </ac:spMkLst>
        </pc:spChg>
        <pc:spChg chg="mod">
          <ac:chgData name="Edgar Rosales Ortega" userId="d1d54fc2-1570-4978-babc-e22e1526833f" providerId="ADAL" clId="{66BE7C30-C669-4152-AC74-10076FC0590C}" dt="2026-04-23T16:46:29.164" v="12"/>
          <ac:spMkLst>
            <pc:docMk/>
            <pc:sldMk cId="0" sldId="261"/>
            <ac:spMk id="10" creationId="{AA688E61-646B-187B-5DFC-22517EC195D9}"/>
          </ac:spMkLst>
        </pc:spChg>
        <pc:spChg chg="mod">
          <ac:chgData name="Edgar Rosales Ortega" userId="d1d54fc2-1570-4978-babc-e22e1526833f" providerId="ADAL" clId="{66BE7C30-C669-4152-AC74-10076FC0590C}" dt="2026-04-23T16:46:29.164" v="12"/>
          <ac:spMkLst>
            <pc:docMk/>
            <pc:sldMk cId="0" sldId="261"/>
            <ac:spMk id="11" creationId="{129F620F-14F8-86F1-F056-7CCEFE41986B}"/>
          </ac:spMkLst>
        </pc:spChg>
        <pc:spChg chg="mod">
          <ac:chgData name="Edgar Rosales Ortega" userId="d1d54fc2-1570-4978-babc-e22e1526833f" providerId="ADAL" clId="{66BE7C30-C669-4152-AC74-10076FC0590C}" dt="2026-04-23T16:46:29.164" v="12"/>
          <ac:spMkLst>
            <pc:docMk/>
            <pc:sldMk cId="0" sldId="261"/>
            <ac:spMk id="12" creationId="{64A838F5-890B-57B6-4500-2586886DC868}"/>
          </ac:spMkLst>
        </pc:spChg>
        <pc:grpChg chg="add mod">
          <ac:chgData name="Edgar Rosales Ortega" userId="d1d54fc2-1570-4978-babc-e22e1526833f" providerId="ADAL" clId="{66BE7C30-C669-4152-AC74-10076FC0590C}" dt="2026-05-05T18:04:49.469" v="80" actId="164"/>
          <ac:grpSpMkLst>
            <pc:docMk/>
            <pc:sldMk cId="0" sldId="261"/>
            <ac:grpSpMk id="2" creationId="{E714F701-9E9D-2C1F-CB18-07FE70F08B9B}"/>
          </ac:grpSpMkLst>
        </pc:grpChg>
        <pc:grpChg chg="add mod">
          <ac:chgData name="Edgar Rosales Ortega" userId="d1d54fc2-1570-4978-babc-e22e1526833f" providerId="ADAL" clId="{66BE7C30-C669-4152-AC74-10076FC0590C}" dt="2026-05-05T18:04:49.469" v="80" actId="164"/>
          <ac:grpSpMkLst>
            <pc:docMk/>
            <pc:sldMk cId="0" sldId="261"/>
            <ac:grpSpMk id="9" creationId="{A89E61C4-0153-8804-4900-92FD0C51657D}"/>
          </ac:grpSpMkLst>
        </pc:grpChg>
        <pc:picChg chg="add mod">
          <ac:chgData name="Edgar Rosales Ortega" userId="d1d54fc2-1570-4978-babc-e22e1526833f" providerId="ADAL" clId="{66BE7C30-C669-4152-AC74-10076FC0590C}" dt="2026-05-05T18:04:49.469" v="80" actId="164"/>
          <ac:picMkLst>
            <pc:docMk/>
            <pc:sldMk cId="0" sldId="261"/>
            <ac:picMk id="13" creationId="{D883EB7F-12AB-8411-9B2B-5E0C9137A836}"/>
          </ac:picMkLst>
        </pc:picChg>
      </pc:sldChg>
      <pc:sldChg chg="delSp mod">
        <pc:chgData name="Edgar Rosales Ortega" userId="d1d54fc2-1570-4978-babc-e22e1526833f" providerId="ADAL" clId="{66BE7C30-C669-4152-AC74-10076FC0590C}" dt="2026-05-07T19:23:32.031" v="83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9:23:38.840" v="85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55:42.118" v="24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22:05.857" v="13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9:23:46.140" v="86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9:23:46.140" v="86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5:09.508" v="82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30:30.613" v="25" actId="1076"/>
          <ac:spMkLst>
            <pc:docMk/>
            <pc:sldMk cId="0" sldId="279"/>
            <ac:spMk id="2" creationId="{46F3A99A-3E43-D66B-4C5B-61943B35FC45}"/>
          </ac:spMkLst>
        </pc:spChg>
        <pc:spChg chg="mod">
          <ac:chgData name="Edgar Rosales Ortega" userId="d1d54fc2-1570-4978-babc-e22e1526833f" providerId="ADAL" clId="{66BE7C30-C669-4152-AC74-10076FC0590C}" dt="2026-05-05T18:05:09.508" v="82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55:39.526" v="22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22:08.889" v="14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4:56.281" v="81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9:24:03.380" v="89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9:24:03.380" v="89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55:34.275" v="20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22:14.336" v="15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9:23:58.526" v="88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9:23:58.526" v="88" actId="14100"/>
          <ac:picMkLst>
            <pc:docMk/>
            <pc:sldMk cId="3240565764" sldId="297"/>
            <ac:picMk id="5" creationId="{4689FF38-8CFA-FB37-4E7B-B5603B7FC116}"/>
          </ac:picMkLst>
        </pc:picChg>
      </pc:sldChg>
      <pc:sldChg chg="ord">
        <pc:chgData name="Edgar Rosales Ortega" userId="d1d54fc2-1570-4978-babc-e22e1526833f" providerId="ADAL" clId="{66BE7C30-C669-4152-AC74-10076FC0590C}" dt="2026-04-17T20:43:07.417" v="1"/>
        <pc:sldMkLst>
          <pc:docMk/>
          <pc:sldMk cId="3323458413" sldId="298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2020635.0</c:v>
                </c:pt>
                <c:pt idx="1">
                  <c:v>233545.0</c:v>
                </c:pt>
                <c:pt idx="2">
                  <c:v>587758.0</c:v>
                </c:pt>
                <c:pt idx="3">
                  <c:v>350033.0</c:v>
                </c:pt>
                <c:pt idx="4">
                  <c:v>16068.0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37.402678910254004</c:v>
                </c:pt>
                <c:pt idx="1">
                  <c:v>62.597321089745996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9.8414111403</c:v>
                </c:pt>
                <c:pt idx="1">
                  <c:v>90.1585888597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38.844744718637834</c:v>
                </c:pt>
                <c:pt idx="1">
                  <c:v>61.155255281362166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34.572530305289845</c:v>
                </c:pt>
                <c:pt idx="1">
                  <c:v>65.42746969471015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</c:v>
                </c:pt>
                <c:pt idx="1">
                  <c:v>155</c:v>
                </c:pt>
                <c:pt idx="2">
                  <c:v>177</c:v>
                </c:pt>
                <c:pt idx="3">
                  <c:v>205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Industrias Extractivas</c:v>
                </c:pt>
                <c:pt idx="2">
                  <c:v>Industrias de la Transformación</c:v>
                </c:pt>
                <c:pt idx="3">
                  <c:v>Servicios Sociales y Comunales</c:v>
                </c:pt>
                <c:pt idx="4">
                  <c:v>Industria de la Construcción</c:v>
                </c:pt>
                <c:pt idx="5">
                  <c:v>Servicios para Empresas, Personas y el Hogar</c:v>
                </c:pt>
                <c:pt idx="6">
                  <c:v>Ind Eléctrica y Captación y Suministro de Agua Potable</c:v>
                </c:pt>
                <c:pt idx="7">
                  <c:v>Comercio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78967</c:v>
                </c:pt>
                <c:pt idx="1">
                  <c:v>3535</c:v>
                </c:pt>
                <c:pt idx="2">
                  <c:v>86069</c:v>
                </c:pt>
                <c:pt idx="3">
                  <c:v>78838</c:v>
                </c:pt>
                <c:pt idx="4">
                  <c:v>52039</c:v>
                </c:pt>
                <c:pt idx="5">
                  <c:v>107493</c:v>
                </c:pt>
                <c:pt idx="6">
                  <c:v>4355</c:v>
                </c:pt>
                <c:pt idx="7">
                  <c:v>153946</c:v>
                </c:pt>
                <c:pt idx="8">
                  <c:v>35310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Industrias Extractivas</c:v>
                </c:pt>
                <c:pt idx="2">
                  <c:v>Industrias de la Transformación</c:v>
                </c:pt>
                <c:pt idx="3">
                  <c:v>Servicios Sociales y Comunales</c:v>
                </c:pt>
                <c:pt idx="4">
                  <c:v>Industria de la Construcción</c:v>
                </c:pt>
                <c:pt idx="5">
                  <c:v>Servicios para Empresas, Personas y el Hogar</c:v>
                </c:pt>
                <c:pt idx="6">
                  <c:v>Ind Eléctrica y Captación y Suministro de Agua Potable</c:v>
                </c:pt>
                <c:pt idx="7">
                  <c:v>Comercio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71634</c:v>
                </c:pt>
                <c:pt idx="1">
                  <c:v>3404</c:v>
                </c:pt>
                <c:pt idx="2">
                  <c:v>83241</c:v>
                </c:pt>
                <c:pt idx="3">
                  <c:v>76518</c:v>
                </c:pt>
                <c:pt idx="4">
                  <c:v>51152</c:v>
                </c:pt>
                <c:pt idx="5">
                  <c:v>107225</c:v>
                </c:pt>
                <c:pt idx="6">
                  <c:v>4366</c:v>
                </c:pt>
                <c:pt idx="7">
                  <c:v>154656</c:v>
                </c:pt>
                <c:pt idx="8">
                  <c:v>35724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545566</c:v>
                </c:pt>
                <c:pt idx="1">
                  <c:v>569148</c:v>
                </c:pt>
                <c:pt idx="2">
                  <c:v>568335</c:v>
                </c:pt>
                <c:pt idx="3">
                  <c:v>583413</c:v>
                </c:pt>
                <c:pt idx="4">
                  <c:v>593724</c:v>
                </c:pt>
                <c:pt idx="5">
                  <c:v>615722</c:v>
                </c:pt>
                <c:pt idx="6">
                  <c:v>615269</c:v>
                </c:pt>
                <c:pt idx="7">
                  <c:v>600552</c:v>
                </c:pt>
                <c:pt idx="8">
                  <c:v>587920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Sinaloa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_Sinalo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70%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2,020,635</a:t>
            </a:r>
            <a:br/>
            <a:r>
              <a:t>63%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233,545</a:t>
            </a:r>
            <a:br/>
            <a:r>
              <a:t>7%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587,758</a:t>
            </a:r>
            <a:br/>
            <a:r>
              <a:t>18%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350,033</a:t>
            </a:r>
            <a:br/>
            <a:r>
              <a:t>11%</a:t>
            </a:r>
          </a:p>
        </p:txBody>
      </p:sp>
      <p:pic>
        <p:nvPicPr>
          <p:cNvPr id="128" name="Picture 127" descr="2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16,068</a:t>
            </a:r>
            <a:br/>
            <a:r>
              <a:t>0.50%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3,208,039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1,839,188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2,020,635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1,007,415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1,168,144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562,199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587,920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157,744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223,089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20,676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268,627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312,160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254,634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299,023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8,261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12,221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831,773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852,491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296,583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317,070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390,931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344,251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144,259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191,170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1,699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1,339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-21%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16,248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20,889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29%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25_s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42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187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74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1,122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476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261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1,196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526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112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67657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HGP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6765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28 UMF, 13 UMFH, 1 UMF-UMAA y no incluye 28 Unidades Auxiliares de Medicina Familiar.</a:t>
            </a:r>
            <a:br/>
            <a:r>
              <a:t>² No incluye Unidades médicas móviles (UMM) ni Brigadas de salud (BS).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240;g3d0b4d3c5c9_0_62">
            <a:extLst>
              <a:ext uri="{FF2B5EF4-FFF2-40B4-BE49-F238E27FC236}">
                <a16:creationId xmlns:a16="http://schemas.microsoft.com/office/drawing/2014/main" id="{C89141B9-0E54-09CF-5371-43414F00E0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6839770"/>
              </p:ext>
            </p:extLst>
          </p:nvPr>
        </p:nvGraphicFramePr>
        <p:xfrm>
          <a:off x="286800" y="1191600"/>
          <a:ext cx="74856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8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Regional No. 1</a:t>
                      </a: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Culiacán</a:t>
                      </a:r>
                      <a:endParaRPr sz="18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242;g3d0b4d3c5c9_0_62">
            <a:extLst>
              <a:ext uri="{FF2B5EF4-FFF2-40B4-BE49-F238E27FC236}">
                <a16:creationId xmlns:a16="http://schemas.microsoft.com/office/drawing/2014/main" id="{EF93BFD4-EABE-C469-F35F-0FA17359C05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36277"/>
          <a:stretch/>
        </p:blipFill>
        <p:spPr>
          <a:xfrm>
            <a:off x="201203" y="1956773"/>
            <a:ext cx="3214749" cy="31461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479888C-9BE6-F529-AE80-31E7E4721BF9}"/>
              </a:ext>
            </a:extLst>
          </p:cNvPr>
          <p:cNvSpPr txBox="1"/>
          <p:nvPr/>
        </p:nvSpPr>
        <p:spPr>
          <a:xfrm>
            <a:off x="3675059" y="2123563"/>
            <a:ext cx="3896138" cy="2546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12 de septiembre de 1955 el IMSS inició en la entidad con la formación de la Unión Médica de Culiacán, que brindó atención subrogada.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julio de 1957 se incorporan los municipios de Ahome, El Fuerte, Guasave y Mazatlán.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19 de mayo de 1961 se inauguró el primer hospital del IMSS en la entidad, en Culiacán: el Hospital General Regional No. 1.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Se brindaron servicios básicos de hospitalización, urgencias, cirugía general, medicina interna, gineco-obstetricia y pediatría.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25_SINALO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1 Culiacán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HGP 2 Los Mochis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1961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4 Navolato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32 Guasave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1967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3 Mazatlán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28 Costa Rica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1979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49 Los Mochis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30 Guamuchil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2001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1,122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E714F701-9E9D-2C1F-CB18-07FE70F08B9B}"/>
              </a:ext>
            </a:extLst>
          </p:cNvPr>
          <p:cNvGrpSpPr/>
          <p:nvPr/>
        </p:nvGrpSpPr>
        <p:grpSpPr>
          <a:xfrm>
            <a:off x="0" y="5590910"/>
            <a:ext cx="7772400" cy="3069231"/>
            <a:chOff x="0" y="5590910"/>
            <a:chExt cx="7772400" cy="3069231"/>
          </a:xfrm>
        </p:grpSpPr>
        <p:sp>
          <p:nvSpPr>
            <p:cNvPr id="8" name="Google Shape;294;g3d635d120e2_2_123">
              <a:extLst>
                <a:ext uri="{FF2B5EF4-FFF2-40B4-BE49-F238E27FC236}">
                  <a16:creationId xmlns:a16="http://schemas.microsoft.com/office/drawing/2014/main" id="{4976B7D3-2BCD-0825-E863-85F0C202C1B6}"/>
                </a:ext>
              </a:extLst>
            </p:cNvPr>
            <p:cNvSpPr txBox="1"/>
            <p:nvPr/>
          </p:nvSpPr>
          <p:spPr>
            <a:xfrm>
              <a:off x="0" y="5590910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9" name="Google Shape;299;g3d635d120e2_2_123">
              <a:extLst>
                <a:ext uri="{FF2B5EF4-FFF2-40B4-BE49-F238E27FC236}">
                  <a16:creationId xmlns:a16="http://schemas.microsoft.com/office/drawing/2014/main" id="{A89E61C4-0153-8804-4900-92FD0C51657D}"/>
                </a:ext>
              </a:extLst>
            </p:cNvPr>
            <p:cNvGrpSpPr/>
            <p:nvPr/>
          </p:nvGrpSpPr>
          <p:grpSpPr>
            <a:xfrm>
              <a:off x="2485187" y="7644934"/>
              <a:ext cx="2295663" cy="1015207"/>
              <a:chOff x="5187963" y="7426607"/>
              <a:chExt cx="2295663" cy="1015207"/>
            </a:xfrm>
          </p:grpSpPr>
          <p:sp>
            <p:nvSpPr>
              <p:cNvPr id="10" name="Google Shape;300;g3d635d120e2_2_123">
                <a:extLst>
                  <a:ext uri="{FF2B5EF4-FFF2-40B4-BE49-F238E27FC236}">
                    <a16:creationId xmlns:a16="http://schemas.microsoft.com/office/drawing/2014/main" id="{AA688E61-646B-187B-5DFC-22517EC195D9}"/>
                  </a:ext>
                </a:extLst>
              </p:cNvPr>
              <p:cNvSpPr/>
              <p:nvPr/>
            </p:nvSpPr>
            <p:spPr>
              <a:xfrm>
                <a:off x="5290923" y="7426607"/>
                <a:ext cx="454200" cy="381000"/>
              </a:xfrm>
              <a:prstGeom prst="rect">
                <a:avLst/>
              </a:prstGeom>
              <a:gradFill>
                <a:gsLst>
                  <a:gs pos="0">
                    <a:srgbClr val="691932"/>
                  </a:gs>
                  <a:gs pos="100000">
                    <a:srgbClr val="A42145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s">
                    <a:solidFill>
                      <a:srgbClr val="FFFFFF"/>
                    </a:solidFill>
                    <a:latin typeface="Noto Sans Black"/>
                    <a:ea typeface="Noto Sans Black"/>
                    <a:cs typeface="Noto Sans Black"/>
                    <a:sym typeface="Noto Sans Black"/>
                  </a:rPr>
                  <a:t>1</a:t>
                </a:r>
                <a:endParaRPr sz="1400" b="0" i="0" u="none" strike="noStrike" cap="none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endParaRPr>
              </a:p>
            </p:txBody>
          </p:sp>
          <p:sp>
            <p:nvSpPr>
              <p:cNvPr id="11" name="Google Shape;301;g3d635d120e2_2_123">
                <a:extLst>
                  <a:ext uri="{FF2B5EF4-FFF2-40B4-BE49-F238E27FC236}">
                    <a16:creationId xmlns:a16="http://schemas.microsoft.com/office/drawing/2014/main" id="{129F620F-14F8-86F1-F056-7CCEFE41986B}"/>
                  </a:ext>
                </a:extLst>
              </p:cNvPr>
              <p:cNvSpPr/>
              <p:nvPr/>
            </p:nvSpPr>
            <p:spPr>
              <a:xfrm>
                <a:off x="5745125" y="7426614"/>
                <a:ext cx="1738500" cy="381000"/>
              </a:xfrm>
              <a:prstGeom prst="rect">
                <a:avLst/>
              </a:prstGeom>
              <a:gradFill>
                <a:gsLst>
                  <a:gs pos="0">
                    <a:srgbClr val="006455"/>
                  </a:gs>
                  <a:gs pos="100000">
                    <a:srgbClr val="1C342D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b="1" i="0" u="none" strike="noStrike" cap="none" dirty="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Mastógrafo</a:t>
                </a:r>
                <a:endParaRPr sz="1100" b="0" i="0" u="none" strike="noStrike" cap="non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302;g3d635d120e2_2_123">
                <a:extLst>
                  <a:ext uri="{FF2B5EF4-FFF2-40B4-BE49-F238E27FC236}">
                    <a16:creationId xmlns:a16="http://schemas.microsoft.com/office/drawing/2014/main" id="{64A838F5-890B-57B6-4500-2586886DC868}"/>
                  </a:ext>
                </a:extLst>
              </p:cNvPr>
              <p:cNvSpPr txBox="1"/>
              <p:nvPr/>
            </p:nvSpPr>
            <p:spPr>
              <a:xfrm>
                <a:off x="5187963" y="7891314"/>
                <a:ext cx="2291100" cy="5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63500" lvl="0" indent="0" algn="just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s" sz="1300" dirty="0">
                    <a:solidFill>
                      <a:srgbClr val="595959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UMF 46 Culiacán</a:t>
                </a:r>
              </a:p>
              <a:p>
                <a:pPr marL="0" marR="63500" lvl="0" indent="0" algn="just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300" b="1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0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id="13" name="Google Shape;303;g3d635d120e2_2_123">
              <a:extLst>
                <a:ext uri="{FF2B5EF4-FFF2-40B4-BE49-F238E27FC236}">
                  <a16:creationId xmlns:a16="http://schemas.microsoft.com/office/drawing/2014/main" id="{D883EB7F-12AB-8411-9B2B-5E0C9137A836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459175" y="6245797"/>
              <a:ext cx="2382547" cy="14664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Culiacán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49 Los Mochis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2 Los Mochis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32 Guasave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Navolato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28 Costa Rica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30 Guamuchil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3 Mazatlán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1810472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7A5BBCCB-D142-BA65-71AC-01A4691445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D759BF1B-873B-76EC-F2B8-DC4E36B0972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49584AE7-E7C4-D1B6-937F-AF6FFA49A6CD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7FBD1F7E-8F6E-71D0-B66F-40C60A9A89AB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D7201CD5-1650-6171-1095-A05483CF65F4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F1BE974-10B9-726A-A257-0D068BFDDC06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E077206-4AC8-8C2A-B2DE-70F812DA708D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+2,179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+132,501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+108,167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3,412,735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132,501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1,332,435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3,410,252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759,032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108,167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312,774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805,190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38.8%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39,066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2,179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16,228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46,939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34.6%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42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36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21, 17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574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14 Santa Rosa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11,179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-199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4,404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22 El Dorado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70,925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28,832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90,828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18 El Colorado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6,350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2,401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24 Bachoco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5,161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11 Villa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53,869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-5,202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22,887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19 Cabezón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6,663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1,148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2,195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26 La Entrada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8,405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3,241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25 Tamazula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16,046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5,545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 Topolobampo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14,225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5,454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31 El Rosario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22,059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-558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8,228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23 La Reforma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40,953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16,066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15 Juan José Ríos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38,436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14,612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9 Ruíz Cortínez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37,817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14,172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6 Ahome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25,425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9,782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7 Higuera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25,093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9,488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13 San Miguel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24,390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2,437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9,570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8 Mochicahui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23,272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-1,319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9,031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33 El Carrizo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23,011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8,506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34 E. Marmol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10 Villa Ángel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43,292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18,401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29 Escuinapa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23,073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-338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8,749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40 Jahuara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6,997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2,941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39 Chávez Talaman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2,397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41 Bamoa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23,483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2,418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9,474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 Choix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11,288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2,882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20 Pericos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11,636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4,703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21 La Cruz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41,266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18,356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27 San Ignacio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5,921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2,417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51 La Angostura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29,642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-1,126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10,801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38 La Concordia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6,507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2,787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43 San Blas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14,875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-944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5,350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50 Cosala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2,290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-1,889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1,203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45 Mazatlan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130,918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-2,109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49,762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137,808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52 Culiacán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73,110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28,785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53 Inf. Barran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13,672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-432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6,123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54 Mocorito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11,650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4,772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911,159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11,596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358,765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959,196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37.4%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8157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8877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37.4%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9777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8157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959,196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CuadroTexto 286">
            <a:extLst>
              <a:ext uri="{FF2B5EF4-FFF2-40B4-BE49-F238E27FC236}">
                <a16:creationId xmlns:a16="http://schemas.microsoft.com/office/drawing/2014/main" id="{13CBD76B-7967-0DF1-2AEA-2EDF7882800F}"/>
              </a:ext>
            </a:extLst>
          </p:cNvPr>
          <p:cNvSpPr txBox="1"/>
          <p:nvPr/>
        </p:nvSpPr>
        <p:spPr>
          <a:xfrm>
            <a:off x="4324657" y="5087087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6 Nuevas UMTC con   18 consultorios</a:t>
            </a:r>
          </a:p>
        </p:txBody>
      </p:sp>
      <p:sp>
        <p:nvSpPr>
          <p:cNvPr id="288" name="CuadroTexto 287">
            <a:extLst>
              <a:ext uri="{FF2B5EF4-FFF2-40B4-BE49-F238E27FC236}">
                <a16:creationId xmlns:a16="http://schemas.microsoft.com/office/drawing/2014/main" id="{0C091ABD-4C4F-A5A6-93EF-DC003DEF2584}"/>
              </a:ext>
            </a:extLst>
          </p:cNvPr>
          <p:cNvSpPr txBox="1"/>
          <p:nvPr/>
        </p:nvSpPr>
        <p:spPr>
          <a:xfrm>
            <a:off x="4577856" y="6557115"/>
            <a:ext cx="275347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UMFH 31 El Rosario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UMFH 13 San Miguel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UMFH 15 Juan José Ríos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 51 La Angostura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HGZMF 3 Mazatlán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 45 Mazatlán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42 Unidades de Medicina Familiar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6 Unidades Médicas de tiempo completo (31 consultorios)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293" name="Connector 292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" name="TextBox 293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2025).</a:t>
            </a:r>
            <a:br/>
            <a:r>
              <a:t>Corte de información: Semana 21, 17 mayo 2026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(173,571 consultas)</a:t>
            </a:r>
          </a:p>
        </p:txBody>
      </p:sp>
      <p:graphicFrame>
        <p:nvGraphicFramePr>
          <p:cNvPr id="296" name="Table 295"/>
          <p:cNvGraphicFramePr>
            <a:graphicFrameLocks noGrp="1"/>
          </p:cNvGraphicFramePr>
          <p:nvPr/>
        </p:nvGraphicFramePr>
        <p:xfrm>
          <a:off x="151200" y="1695600"/>
          <a:ext cx="7473599" cy="12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37 Los Mochis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389,944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-3,115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148,680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35 Culiacán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284,749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10,560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110,670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275,520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36 Culiacán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301,284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11,791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115,856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46 Culiacán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243,233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7,304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91,102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UMF-UMAA 55 Culiacán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150,001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14,657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59,590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56 Prados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149,024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16,922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57,435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1,518,235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58,119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583,333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1,469,520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39.7%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7" name="Chart 296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98" name="TextBox 297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9%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31365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28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49 Los Mochis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124,562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21,384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51,929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124,830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Culiacán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312,366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35,462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126,685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308,790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3 Mazatlán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137,455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27,798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57,262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144,540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Navolato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30,684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4,255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13,117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35,040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30 Guamuchil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19,687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8,421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32 Guasave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73,393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5,908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28,358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78,840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2 Los Mochis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16,722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52,560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28 Costa Rica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23,868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10,280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37,230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759,032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108,167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312,774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805,190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38.8%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5094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5814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38.8%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6714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5094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805,190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370737111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28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28 Costa 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2,091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2 Los Mochis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3,333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1,304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Culiacán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15,890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Navolato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1,897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2,508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30 Guamuchil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3 Mazatlán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6,076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2,707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8,519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49 Los Mochis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32 Guasave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5,436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39,066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2,179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16,228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46,939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34.6%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4737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5457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34.6%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6357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4737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46,939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210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81 en Hospitales, 4 en sede, 2 en UMF y 123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81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30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3120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49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3120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47160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47160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32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3458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para los Servicios Rurales de Salud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9ABF5456-DE19-30EB-B312-5E3E1558A8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7319151"/>
              </p:ext>
            </p:extLst>
          </p:nvPr>
        </p:nvGraphicFramePr>
        <p:xfrm>
          <a:off x="287050" y="911687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3,462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1,314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16,315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4,176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14,290	 Personal de Salud: 9,258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+63.0%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135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220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+30.4%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1,514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1,974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+14.9%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2,973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3,416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+25.8%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1,937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2,436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+281.8%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192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733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-5.0%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504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479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114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326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14,196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1,016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128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219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3,391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1,792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24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20,395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(255,148)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(18,776)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(2,184)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(4,643)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(298)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(172,285)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(17,853)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(1,591)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(3,411)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(223)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(36,001)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Problemas y enfermedades de la columna vertebral
(15,445)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(826)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(1,291)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(174)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(30,724)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(13,190)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cataratas (Facoemulsificación con implante de lente intraocular)
(712)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perinatales
(1,251)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(152)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(27,741)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(8,821)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(662)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(979)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(90)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182,568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2,768,251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55,983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2,731,577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98.0%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7A187-13E6-B380-52A1-BB125CE94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1,071,135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442,982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434,173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Telmisartán, tableta (antihipertensivo)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433,095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424,213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Celecoxib, cápsula (antiinflamatorio)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418,318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417,526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369,560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sin fibra, suspensión (nutrición)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338,254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Hidroclorotiazida, tableta (diurético)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312,801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19795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55374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2854979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41" y="3226702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216694" y="3240492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0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156903" y="4149206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724" y="4492793"/>
            <a:ext cx="875508" cy="854908"/>
          </a:xfrm>
          <a:prstGeom prst="rect">
            <a:avLst/>
          </a:prstGeom>
        </p:spPr>
      </p:pic>
      <p:sp>
        <p:nvSpPr>
          <p:cNvPr id="12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217668" y="4619125"/>
            <a:ext cx="3886200" cy="5078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Mastógrafo</a:t>
            </a:r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B9C2E918-974F-A566-8C8B-5DDE4ED4290B}"/>
              </a:ext>
            </a:extLst>
          </p:cNvPr>
          <p:cNvSpPr txBox="1"/>
          <p:nvPr/>
        </p:nvSpPr>
        <p:spPr>
          <a:xfrm>
            <a:off x="-1156903" y="167329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4" name="Imagen 1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365C7D6-999E-5396-FE1A-9AF265B06D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28" y="2016881"/>
            <a:ext cx="875508" cy="854908"/>
          </a:xfrm>
          <a:prstGeom prst="rect">
            <a:avLst/>
          </a:prstGeom>
        </p:spPr>
      </p:pic>
      <p:sp>
        <p:nvSpPr>
          <p:cNvPr id="15" name="CuadroTexto 12">
            <a:extLst>
              <a:ext uri="{FF2B5EF4-FFF2-40B4-BE49-F238E27FC236}">
                <a16:creationId xmlns:a16="http://schemas.microsoft.com/office/drawing/2014/main" id="{A0083CC0-370A-999A-F425-0B0E05DEB5CF}"/>
              </a:ext>
            </a:extLst>
          </p:cNvPr>
          <p:cNvSpPr txBox="1"/>
          <p:nvPr/>
        </p:nvSpPr>
        <p:spPr>
          <a:xfrm>
            <a:off x="-1216707" y="2030671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Sala de </a:t>
            </a: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Hemodinamia</a:t>
            </a:r>
            <a:endParaRPr lang="en-US" sz="700" b="1">
              <a:solidFill>
                <a:srgbClr val="BC955C"/>
              </a:solidFill>
              <a:latin typeface="Montserra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1584000"/>
          <a:ext cx="52956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equipamiento médico y adminstrativo para nueva sala de hemodinamia en el HGZ No. 3, Mazatlán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Estudios de Preinversión y proyecto ejecutivo para el HGR de 216 camas, Culiacán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$22.3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$59.0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3204000"/>
          <a:ext cx="52956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0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$138.7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5 unidades (HGZ No.28 Costa Rica Sinaloa, HGZ No.3 Mazatlán, HGZ No.49 Los Mochis; HGR No.1, HGZ No.32, Culiacán)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$11.3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2 unidades (HGZ No.49 Ahome, HGR No.1 Culiacán)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urgencias en UMF No. 36 Culiacán y UMF No. 22 El Dorado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Hemodinamia en el HGZ No. 3, Mazatlán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subdelegación Mazatlán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$1.5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Rehabilitación de Alberca Semiolímpica, Culiacán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$182.3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785600" y="6984000"/>
          <a:ext cx="529560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63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10 piezas de equipo médico: 7 refrigeradores con congelador de 5.4 pies cúbicos, 1 monitor de signos vitales para el traslado del paciente (con protección antimagnética), 1 equipo de anestesia básica (con protección antimagnética), 1 mastógrafo digital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785600" y="842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$22.0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269.5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28870"/>
            <a:ext cx="1599000" cy="75993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154552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1584000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General Regional Culiacan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$2,568.8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2267998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$177.3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área de Hemodiálisis en HGZMF No. 3 Mazatlán y UMAA No. 55 Culiacán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$12.1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$189.4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3455994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50 Equipos electromecánicos para 13 unidades; 20 equipos para aire acondicionado, 19 lavadoras y 11 secadoras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$154.7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2,912.9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Centro de Educación y Cuidado Infantil (CECI) 250 lugares Mazatlán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$76.0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519997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3203995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887993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76.0 mdp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Mazatlán, Escuinapa, Salvador Alvarado (Guamúchil)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Mazatlán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6" name="Oval 25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39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27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12 CECI CAMPO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Para entregar a SICT: 2 en Mazatlán y Escuinapa.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60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58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10,598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3,477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1831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Culiacán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CEBIS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El Rosario, Navolato y Guamúchil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8 Centros de Seguridad Social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Culiacán, Ahome, Los Mochis, Guasave, Mazatlán, Navolato, Ruiz Cortines y Juan José Ríos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418323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Teatro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Culiacán, Los Mochis y Mazatlán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42 Culiacán, No. 40 Los Mochis y No. 41 Mazatlán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25_s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60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Universidad Autónoma de Sinaloa Nivel Superior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14,361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Coppel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16,888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16,613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14,287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14,290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Operadora de Servicios Paquetexpress S A P I de Cv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11,528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11,532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Culiacán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5,420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5,423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Conductores Tecnologicos de Juárez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10,194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10,609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-9.29%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-3.71%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-3.29%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-2.94%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-1.70%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-0.25%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+0.25%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+0.46%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+1.17%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482,147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18,778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52,973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46,654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600,552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480,951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22,096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49,565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35,308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587,920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46F3A99A-3E43-D66B-4C5B-61943B35FC45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$534.72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$257.11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$534.72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46.9%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$16,041.6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Navolato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$162.45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Junta Municipal de Agua Potable y Alcantarillado de Guasave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$156.94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Guasave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$156.61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Grupo Papelero la Unión SAS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$66.61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Daniel Cárdenas Cevallos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$60.17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Operadora de Servicios Paquetexpress S A P I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$53.48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399,058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1,500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358,072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1,372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4,910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26,597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9,479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1,269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3,290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316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357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641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717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748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4,933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4,922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233,545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101,387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132,158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10,270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399,058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1,269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Villa Unión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El Fuerte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1998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1,169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210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81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El Fuerte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para los Servicios Rurales de Salud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Villa Unión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233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Gineco-pediatría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0000" y="5565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4 Sede delegacional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0000" y="5961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6033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210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 en Unidades de Medicina Familiar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0000" y="2649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123 especialistas (sustitutos)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0000" y="3045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0000" y="3117599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960000" y="3117599"/>
          <a:ext cx="3456000" cy="259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1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1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70000" y="8193598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52515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5251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5251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5251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5251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5251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5251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52515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210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341</Words>
  <Application>Microsoft Office PowerPoint</Application>
  <PresentationFormat>Personalizado</PresentationFormat>
  <Paragraphs>93</Paragraphs>
  <Slides>25</Slides>
  <Notes>22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6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106</cp:revision>
  <dcterms:modified xsi:type="dcterms:W3CDTF">2026-05-12T23:43:54Z</dcterms:modified>
</cp:coreProperties>
</file>