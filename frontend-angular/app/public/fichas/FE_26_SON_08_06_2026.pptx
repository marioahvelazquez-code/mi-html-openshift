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301" r:id="rId45"/>
    <p:sldId id="261" r:id="rId7"/>
    <p:sldId id="302" r:id="rId46"/>
    <p:sldId id="287" r:id="rId8"/>
    <p:sldId id="262" r:id="rId9"/>
    <p:sldId id="303" r:id="rId47"/>
    <p:sldId id="263" r:id="rId10"/>
    <p:sldId id="280" r:id="rId11"/>
    <p:sldId id="267" r:id="rId12"/>
    <p:sldId id="298" r:id="rId13"/>
    <p:sldId id="304" r:id="rId48"/>
    <p:sldId id="305" r:id="rId49"/>
    <p:sldId id="306" r:id="rId50"/>
    <p:sldId id="307" r:id="rId51"/>
    <p:sldId id="308" r:id="rId44"/>
    <p:sldId id="309" r:id="rId43"/>
    <p:sldId id="310" r:id="rId42"/>
    <p:sldId id="281" r:id="rId14"/>
    <p:sldId id="311" r:id="rId41"/>
    <p:sldId id="312" r:id="rId40"/>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AF29E1-4DD4-456F-7631-B64FA96A0E0C}" v="111" dt="2026-05-12T23:53:27.702"/>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0" Type="http://schemas.openxmlformats.org/officeDocument/2006/relationships/slide" Target="slides/slide36.xml"/><Relationship Id="rId41" Type="http://schemas.openxmlformats.org/officeDocument/2006/relationships/slide" Target="slides/slide35.xml"/><Relationship Id="rId42" Type="http://schemas.openxmlformats.org/officeDocument/2006/relationships/slide" Target="slides/slide34.xml"/><Relationship Id="rId43" Type="http://schemas.openxmlformats.org/officeDocument/2006/relationships/slide" Target="slides/slide33.xml"/><Relationship Id="rId44" Type="http://schemas.openxmlformats.org/officeDocument/2006/relationships/slide" Target="slides/slide32.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Jahir Lara Garcia" userId="S::gerardo.larag@imss.gob.mx::84d5cd65-4601-4e92-b448-a9da4809e012" providerId="AD" clId="Web-{F2AF29E1-4DD4-456F-7631-B64FA96A0E0C}"/>
    <pc:docChg chg="modSld">
      <pc:chgData name="Gerardo Jahir Lara Garcia" userId="S::gerardo.larag@imss.gob.mx::84d5cd65-4601-4e92-b448-a9da4809e012" providerId="AD" clId="Web-{F2AF29E1-4DD4-456F-7631-B64FA96A0E0C}" dt="2026-05-12T23:53:27.702" v="56"/>
      <pc:docMkLst>
        <pc:docMk/>
      </pc:docMkLst>
      <pc:sldChg chg="addSp delSp modSp">
        <pc:chgData name="Gerardo Jahir Lara Garcia" userId="S::gerardo.larag@imss.gob.mx::84d5cd65-4601-4e92-b448-a9da4809e012" providerId="AD" clId="Web-{F2AF29E1-4DD4-456F-7631-B64FA96A0E0C}" dt="2026-05-12T23:53:27.702" v="56"/>
        <pc:sldMkLst>
          <pc:docMk/>
          <pc:sldMk cId="364733940" sldId="284"/>
        </pc:sldMkLst>
        <pc:spChg chg="add">
          <ac:chgData name="Gerardo Jahir Lara Garcia" userId="S::gerardo.larag@imss.gob.mx::84d5cd65-4601-4e92-b448-a9da4809e012" providerId="AD" clId="Web-{F2AF29E1-4DD4-456F-7631-B64FA96A0E0C}" dt="2026-05-12T23:44:57.091" v="1"/>
          <ac:spMkLst>
            <pc:docMk/>
            <pc:sldMk cId="364733940" sldId="284"/>
            <ac:spMk id="3" creationId="{ABCC6279-D2EB-1F1F-D811-3FFF80887FF1}"/>
          </ac:spMkLst>
        </pc:spChg>
        <pc:spChg chg="add mod">
          <ac:chgData name="Gerardo Jahir Lara Garcia" userId="S::gerardo.larag@imss.gob.mx::84d5cd65-4601-4e92-b448-a9da4809e012" providerId="AD" clId="Web-{F2AF29E1-4DD4-456F-7631-B64FA96A0E0C}" dt="2026-05-12T23:53:11.577" v="40" actId="20577"/>
          <ac:spMkLst>
            <pc:docMk/>
            <pc:sldMk cId="364733940" sldId="284"/>
            <ac:spMk id="6" creationId="{4578A0AA-9DC1-3453-263A-76BE5A8BE282}"/>
          </ac:spMkLst>
        </pc:spChg>
        <pc:spChg chg="add mod">
          <ac:chgData name="Gerardo Jahir Lara Garcia" userId="S::gerardo.larag@imss.gob.mx::84d5cd65-4601-4e92-b448-a9da4809e012" providerId="AD" clId="Web-{F2AF29E1-4DD4-456F-7631-B64FA96A0E0C}" dt="2026-05-12T23:53:26.468" v="54" actId="1076"/>
          <ac:spMkLst>
            <pc:docMk/>
            <pc:sldMk cId="364733940" sldId="284"/>
            <ac:spMk id="9" creationId="{907F7F6F-8FF8-56A0-795F-B2A127C97D4D}"/>
          </ac:spMkLst>
        </pc:spChg>
        <pc:spChg chg="add del">
          <ac:chgData name="Gerardo Jahir Lara Garcia" userId="S::gerardo.larag@imss.gob.mx::84d5cd65-4601-4e92-b448-a9da4809e012" providerId="AD" clId="Web-{F2AF29E1-4DD4-456F-7631-B64FA96A0E0C}" dt="2026-05-12T23:53:27.702" v="55"/>
          <ac:spMkLst>
            <pc:docMk/>
            <pc:sldMk cId="364733940" sldId="284"/>
            <ac:spMk id="11" creationId="{2C157DF6-A7FD-940D-19DA-323ACD68454D}"/>
          </ac:spMkLst>
        </pc:spChg>
        <pc:picChg chg="add">
          <ac:chgData name="Gerardo Jahir Lara Garcia" userId="S::gerardo.larag@imss.gob.mx::84d5cd65-4601-4e92-b448-a9da4809e012" providerId="AD" clId="Web-{F2AF29E1-4DD4-456F-7631-B64FA96A0E0C}" dt="2026-05-12T23:44:57.091" v="1"/>
          <ac:picMkLst>
            <pc:docMk/>
            <pc:sldMk cId="364733940" sldId="284"/>
            <ac:picMk id="4" creationId="{488C755F-8E2D-8CE1-6C1B-6DBB55EE2CD3}"/>
          </ac:picMkLst>
        </pc:picChg>
        <pc:picChg chg="add">
          <ac:chgData name="Gerardo Jahir Lara Garcia" userId="S::gerardo.larag@imss.gob.mx::84d5cd65-4601-4e92-b448-a9da4809e012" providerId="AD" clId="Web-{F2AF29E1-4DD4-456F-7631-B64FA96A0E0C}" dt="2026-05-12T23:44:57.091" v="1"/>
          <ac:picMkLst>
            <pc:docMk/>
            <pc:sldMk cId="364733940" sldId="284"/>
            <ac:picMk id="8" creationId="{4F2E1097-3694-6090-CBA5-667DCD67E48E}"/>
          </ac:picMkLst>
        </pc:picChg>
        <pc:picChg chg="add del">
          <ac:chgData name="Gerardo Jahir Lara Garcia" userId="S::gerardo.larag@imss.gob.mx::84d5cd65-4601-4e92-b448-a9da4809e012" providerId="AD" clId="Web-{F2AF29E1-4DD4-456F-7631-B64FA96A0E0C}" dt="2026-05-12T23:53:27.702" v="56"/>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2AF29E1-4DD4-456F-7631-B64FA96A0E0C}" dt="2026-05-12T23:52:19.512" v="37" actId="1076"/>
        <pc:sldMkLst>
          <pc:docMk/>
          <pc:sldMk cId="3240565764" sldId="297"/>
        </pc:sldMkLst>
        <pc:spChg chg="add">
          <ac:chgData name="Gerardo Jahir Lara Garcia" userId="S::gerardo.larag@imss.gob.mx::84d5cd65-4601-4e92-b448-a9da4809e012" providerId="AD" clId="Web-{F2AF29E1-4DD4-456F-7631-B64FA96A0E0C}" dt="2026-05-12T23:44:49.122" v="0"/>
          <ac:spMkLst>
            <pc:docMk/>
            <pc:sldMk cId="3240565764" sldId="297"/>
            <ac:spMk id="3" creationId="{21AE8FA6-CA77-F761-93C9-BF2570CBBE30}"/>
          </ac:spMkLst>
        </pc:spChg>
        <pc:spChg chg="add mod">
          <ac:chgData name="Gerardo Jahir Lara Garcia" userId="S::gerardo.larag@imss.gob.mx::84d5cd65-4601-4e92-b448-a9da4809e012" providerId="AD" clId="Web-{F2AF29E1-4DD4-456F-7631-B64FA96A0E0C}" dt="2026-05-12T23:51:39.589" v="5" actId="20577"/>
          <ac:spMkLst>
            <pc:docMk/>
            <pc:sldMk cId="3240565764" sldId="297"/>
            <ac:spMk id="7" creationId="{FD4175D4-66CF-7FBC-B843-C149C5339DF1}"/>
          </ac:spMkLst>
        </pc:spChg>
        <pc:spChg chg="add mod">
          <ac:chgData name="Gerardo Jahir Lara Garcia" userId="S::gerardo.larag@imss.gob.mx::84d5cd65-4601-4e92-b448-a9da4809e012" providerId="AD" clId="Web-{F2AF29E1-4DD4-456F-7631-B64FA96A0E0C}" dt="2026-05-12T23:51:42.074" v="6" actId="20577"/>
          <ac:spMkLst>
            <pc:docMk/>
            <pc:sldMk cId="3240565764" sldId="297"/>
            <ac:spMk id="9" creationId="{50F1217E-09B0-81A3-6E99-CB1DE729ADDF}"/>
          </ac:spMkLst>
        </pc:spChg>
        <pc:spChg chg="add">
          <ac:chgData name="Gerardo Jahir Lara Garcia" userId="S::gerardo.larag@imss.gob.mx::84d5cd65-4601-4e92-b448-a9da4809e012" providerId="AD" clId="Web-{F2AF29E1-4DD4-456F-7631-B64FA96A0E0C}" dt="2026-05-12T23:44:49.122" v="0"/>
          <ac:spMkLst>
            <pc:docMk/>
            <pc:sldMk cId="3240565764" sldId="297"/>
            <ac:spMk id="10" creationId="{991C7EE4-1170-AC4C-597D-3383D8E8A8F9}"/>
          </ac:spMkLst>
        </pc:spChg>
        <pc:spChg chg="add del mod">
          <ac:chgData name="Gerardo Jahir Lara Garcia" userId="S::gerardo.larag@imss.gob.mx::84d5cd65-4601-4e92-b448-a9da4809e012" providerId="AD" clId="Web-{F2AF29E1-4DD4-456F-7631-B64FA96A0E0C}" dt="2026-05-12T23:52:19.512" v="37" actId="1076"/>
          <ac:spMkLst>
            <pc:docMk/>
            <pc:sldMk cId="3240565764" sldId="297"/>
            <ac:spMk id="12" creationId="{CA535D92-E281-11D7-D7CB-F8BAB9F176B8}"/>
          </ac:spMkLst>
        </pc:spChg>
        <pc:spChg chg="add">
          <ac:chgData name="Gerardo Jahir Lara Garcia" userId="S::gerardo.larag@imss.gob.mx::84d5cd65-4601-4e92-b448-a9da4809e012" providerId="AD" clId="Web-{F2AF29E1-4DD4-456F-7631-B64FA96A0E0C}" dt="2026-05-12T23:44:49.122" v="0"/>
          <ac:spMkLst>
            <pc:docMk/>
            <pc:sldMk cId="3240565764" sldId="297"/>
            <ac:spMk id="13" creationId="{B9C2E918-974F-A566-8C8B-5DDE4ED4290B}"/>
          </ac:spMkLst>
        </pc:spChg>
        <pc:spChg chg="add">
          <ac:chgData name="Gerardo Jahir Lara Garcia" userId="S::gerardo.larag@imss.gob.mx::84d5cd65-4601-4e92-b448-a9da4809e012" providerId="AD" clId="Web-{F2AF29E1-4DD4-456F-7631-B64FA96A0E0C}" dt="2026-05-12T23:44:49.122" v="0"/>
          <ac:spMkLst>
            <pc:docMk/>
            <pc:sldMk cId="3240565764" sldId="297"/>
            <ac:spMk id="15" creationId="{A0083CC0-370A-999A-F425-0B0E05DEB5CF}"/>
          </ac:spMkLst>
        </pc:spChg>
        <pc:picChg chg="add">
          <ac:chgData name="Gerardo Jahir Lara Garcia" userId="S::gerardo.larag@imss.gob.mx::84d5cd65-4601-4e92-b448-a9da4809e012" providerId="AD" clId="Web-{F2AF29E1-4DD4-456F-7631-B64FA96A0E0C}" dt="2026-05-12T23:44:49.122" v="0"/>
          <ac:picMkLst>
            <pc:docMk/>
            <pc:sldMk cId="3240565764" sldId="297"/>
            <ac:picMk id="8" creationId="{170CBE01-E044-2F44-556A-69D0B561DC01}"/>
          </ac:picMkLst>
        </pc:picChg>
        <pc:picChg chg="add">
          <ac:chgData name="Gerardo Jahir Lara Garcia" userId="S::gerardo.larag@imss.gob.mx::84d5cd65-4601-4e92-b448-a9da4809e012" providerId="AD" clId="Web-{F2AF29E1-4DD4-456F-7631-B64FA96A0E0C}" dt="2026-05-12T23:44:49.122" v="0"/>
          <ac:picMkLst>
            <pc:docMk/>
            <pc:sldMk cId="3240565764" sldId="297"/>
            <ac:picMk id="11" creationId="{F7B31A16-FD1A-331A-6F76-259EB810FD76}"/>
          </ac:picMkLst>
        </pc:picChg>
        <pc:picChg chg="add">
          <ac:chgData name="Gerardo Jahir Lara Garcia" userId="S::gerardo.larag@imss.gob.mx::84d5cd65-4601-4e92-b448-a9da4809e012" providerId="AD" clId="Web-{F2AF29E1-4DD4-456F-7631-B64FA96A0E0C}" dt="2026-05-12T23:44:49.122" v="0"/>
          <ac:picMkLst>
            <pc:docMk/>
            <pc:sldMk cId="3240565764" sldId="297"/>
            <ac:picMk id="14" creationId="{C365C7D6-999E-5396-FE1A-9AF265B06DAC}"/>
          </ac:picMkLst>
        </pc:picChg>
      </pc:sldChg>
    </pc:docChg>
  </pc:docChgLst>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8:04.259" v="0"/>
      <pc:docMkLst>
        <pc:docMk/>
      </pc:docMkLst>
      <pc:sldChg chg="add">
        <pc:chgData name="Carlos Esponda Rosales" userId="08a2b2cc-6d12-4dea-90fe-c484bece8186" providerId="ADAL" clId="{6846A1DD-3EC1-5A12-B3C5-9C410579EE4F}" dt="2026-05-08T17:38:04.259" v="0"/>
        <pc:sldMkLst>
          <pc:docMk/>
          <pc:sldMk cId="3226513037"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5:03.327" v="42" actId="14100"/>
      <pc:docMkLst>
        <pc:docMk/>
      </pc:docMkLst>
      <pc:sldChg chg="addSp delSp modSp mod">
        <pc:chgData name="Edgar Rosales Ortega" userId="d1d54fc2-1570-4978-babc-e22e1526833f" providerId="ADAL" clId="{66BE7C30-C669-4152-AC74-10076FC0590C}" dt="2026-04-30T23:18:02.674" v="33" actId="14100"/>
        <pc:sldMkLst>
          <pc:docMk/>
          <pc:sldMk cId="0" sldId="260"/>
        </pc:sldMkLst>
        <pc:spChg chg="add mod">
          <ac:chgData name="Edgar Rosales Ortega" userId="d1d54fc2-1570-4978-babc-e22e1526833f" providerId="ADAL" clId="{66BE7C30-C669-4152-AC74-10076FC0590C}" dt="2026-04-30T23:17:57.065" v="32" actId="255"/>
          <ac:spMkLst>
            <pc:docMk/>
            <pc:sldMk cId="0" sldId="260"/>
            <ac:spMk id="7" creationId="{37AD33CC-3346-DBC9-41BC-99541EAB00C3}"/>
          </ac:spMkLst>
        </pc:spChg>
        <pc:graphicFrameChg chg="add mod">
          <ac:chgData name="Edgar Rosales Ortega" userId="d1d54fc2-1570-4978-babc-e22e1526833f" providerId="ADAL" clId="{66BE7C30-C669-4152-AC74-10076FC0590C}" dt="2026-04-30T23:17:41.989" v="30" actId="1076"/>
          <ac:graphicFrameMkLst>
            <pc:docMk/>
            <pc:sldMk cId="0" sldId="260"/>
            <ac:graphicFrameMk id="5" creationId="{74DD9426-A309-3225-DCDA-6F3B89E8C015}"/>
          </ac:graphicFrameMkLst>
        </pc:graphicFrameChg>
        <pc:picChg chg="add mod">
          <ac:chgData name="Edgar Rosales Ortega" userId="d1d54fc2-1570-4978-babc-e22e1526833f" providerId="ADAL" clId="{66BE7C30-C669-4152-AC74-10076FC0590C}" dt="2026-04-30T23:18:02.674" v="33" actId="14100"/>
          <ac:picMkLst>
            <pc:docMk/>
            <pc:sldMk cId="0" sldId="260"/>
            <ac:picMk id="6" creationId="{12C3749D-A4C4-C3C8-77CD-9B84C096F5C8}"/>
          </ac:picMkLst>
        </pc:picChg>
      </pc:sldChg>
      <pc:sldChg chg="addSp delSp modSp mod">
        <pc:chgData name="Edgar Rosales Ortega" userId="d1d54fc2-1570-4978-babc-e22e1526833f" providerId="ADAL" clId="{66BE7C30-C669-4152-AC74-10076FC0590C}" dt="2026-05-05T18:05:24.067" v="34" actId="164"/>
        <pc:sldMkLst>
          <pc:docMk/>
          <pc:sldMk cId="0" sldId="261"/>
        </pc:sldMkLst>
        <pc:spChg chg="add mod">
          <ac:chgData name="Edgar Rosales Ortega" userId="d1d54fc2-1570-4978-babc-e22e1526833f" providerId="ADAL" clId="{66BE7C30-C669-4152-AC74-10076FC0590C}" dt="2026-05-05T18:05:24.067" v="34" actId="164"/>
          <ac:spMkLst>
            <pc:docMk/>
            <pc:sldMk cId="0" sldId="261"/>
            <ac:spMk id="16" creationId="{CF47C194-841F-710C-1A90-CD3B122ED6AA}"/>
          </ac:spMkLst>
        </pc:spChg>
        <pc:spChg chg="add mod">
          <ac:chgData name="Edgar Rosales Ortega" userId="d1d54fc2-1570-4978-babc-e22e1526833f" providerId="ADAL" clId="{66BE7C30-C669-4152-AC74-10076FC0590C}" dt="2026-05-05T18:05:24.067" v="34" actId="164"/>
          <ac:spMkLst>
            <pc:docMk/>
            <pc:sldMk cId="0" sldId="261"/>
            <ac:spMk id="17" creationId="{171D8105-643F-8515-D78A-7BC7DACE5B0E}"/>
          </ac:spMkLst>
        </pc:spChg>
        <pc:spChg chg="add mod">
          <ac:chgData name="Edgar Rosales Ortega" userId="d1d54fc2-1570-4978-babc-e22e1526833f" providerId="ADAL" clId="{66BE7C30-C669-4152-AC74-10076FC0590C}" dt="2026-05-05T18:05:24.067" v="34" actId="164"/>
          <ac:spMkLst>
            <pc:docMk/>
            <pc:sldMk cId="0" sldId="261"/>
            <ac:spMk id="18" creationId="{CD678D11-3C22-2EFD-B609-C88A990FB6D1}"/>
          </ac:spMkLst>
        </pc:spChg>
        <pc:spChg chg="add mod">
          <ac:chgData name="Edgar Rosales Ortega" userId="d1d54fc2-1570-4978-babc-e22e1526833f" providerId="ADAL" clId="{66BE7C30-C669-4152-AC74-10076FC0590C}" dt="2026-05-05T18:05:24.067" v="34" actId="164"/>
          <ac:spMkLst>
            <pc:docMk/>
            <pc:sldMk cId="0" sldId="261"/>
            <ac:spMk id="19" creationId="{B8A9FB1E-B581-75B3-7C52-B6193D2826F7}"/>
          </ac:spMkLst>
        </pc:spChg>
        <pc:spChg chg="add mod">
          <ac:chgData name="Edgar Rosales Ortega" userId="d1d54fc2-1570-4978-babc-e22e1526833f" providerId="ADAL" clId="{66BE7C30-C669-4152-AC74-10076FC0590C}" dt="2026-05-05T18:05:24.067" v="34" actId="164"/>
          <ac:spMkLst>
            <pc:docMk/>
            <pc:sldMk cId="0" sldId="261"/>
            <ac:spMk id="20" creationId="{649E2E95-469F-6B6E-21A6-6B856E36DCFA}"/>
          </ac:spMkLst>
        </pc:spChg>
        <pc:spChg chg="add mod">
          <ac:chgData name="Edgar Rosales Ortega" userId="d1d54fc2-1570-4978-babc-e22e1526833f" providerId="ADAL" clId="{66BE7C30-C669-4152-AC74-10076FC0590C}" dt="2026-05-05T18:05:24.067" v="34" actId="164"/>
          <ac:spMkLst>
            <pc:docMk/>
            <pc:sldMk cId="0" sldId="261"/>
            <ac:spMk id="21" creationId="{D8863BBE-83F1-9130-1071-8C6A565DA1C7}"/>
          </ac:spMkLst>
        </pc:spChg>
        <pc:spChg chg="add mod">
          <ac:chgData name="Edgar Rosales Ortega" userId="d1d54fc2-1570-4978-babc-e22e1526833f" providerId="ADAL" clId="{66BE7C30-C669-4152-AC74-10076FC0590C}" dt="2026-05-05T18:05:24.067" v="34" actId="164"/>
          <ac:spMkLst>
            <pc:docMk/>
            <pc:sldMk cId="0" sldId="261"/>
            <ac:spMk id="23" creationId="{090C37A1-9510-0AE5-1A1A-53E0D0974073}"/>
          </ac:spMkLst>
        </pc:spChg>
        <pc:spChg chg="add mod">
          <ac:chgData name="Edgar Rosales Ortega" userId="d1d54fc2-1570-4978-babc-e22e1526833f" providerId="ADAL" clId="{66BE7C30-C669-4152-AC74-10076FC0590C}" dt="2026-05-05T18:05:24.067" v="34" actId="164"/>
          <ac:spMkLst>
            <pc:docMk/>
            <pc:sldMk cId="0" sldId="261"/>
            <ac:spMk id="24" creationId="{26BEDF19-C264-8248-5061-12E168CEBC44}"/>
          </ac:spMkLst>
        </pc:spChg>
        <pc:spChg chg="add mod">
          <ac:chgData name="Edgar Rosales Ortega" userId="d1d54fc2-1570-4978-babc-e22e1526833f" providerId="ADAL" clId="{66BE7C30-C669-4152-AC74-10076FC0590C}" dt="2026-05-05T18:05:24.067" v="34" actId="164"/>
          <ac:spMkLst>
            <pc:docMk/>
            <pc:sldMk cId="0" sldId="261"/>
            <ac:spMk id="25" creationId="{EB95A018-AD66-A194-CCBD-A5DFDE3B3BF8}"/>
          </ac:spMkLst>
        </pc:spChg>
        <pc:spChg chg="add mod">
          <ac:chgData name="Edgar Rosales Ortega" userId="d1d54fc2-1570-4978-babc-e22e1526833f" providerId="ADAL" clId="{66BE7C30-C669-4152-AC74-10076FC0590C}" dt="2026-05-05T18:05:24.067" v="34" actId="164"/>
          <ac:spMkLst>
            <pc:docMk/>
            <pc:sldMk cId="0" sldId="261"/>
            <ac:spMk id="27" creationId="{100CEE07-E33A-83A9-AFA7-1A2F8EC496BB}"/>
          </ac:spMkLst>
        </pc:spChg>
      </pc:sldChg>
      <pc:sldChg chg="delSp mod">
        <pc:chgData name="Edgar Rosales Ortega" userId="d1d54fc2-1570-4978-babc-e22e1526833f" providerId="ADAL" clId="{66BE7C30-C669-4152-AC74-10076FC0590C}" dt="2026-05-07T19:24:33.048" v="37" actId="478"/>
        <pc:sldMkLst>
          <pc:docMk/>
          <pc:sldMk cId="0" sldId="262"/>
        </pc:sldMkLst>
      </pc:sldChg>
      <pc:sldChg chg="addSp delSp modSp mod">
        <pc:chgData name="Edgar Rosales Ortega" userId="d1d54fc2-1570-4978-babc-e22e1526833f" providerId="ADAL" clId="{66BE7C30-C669-4152-AC74-10076FC0590C}" dt="2026-05-07T19:24:41.417" v="39" actId="478"/>
        <pc:sldMkLst>
          <pc:docMk/>
          <pc:sldMk cId="0" sldId="263"/>
        </pc:sldMkLst>
      </pc:sldChg>
      <pc:sldChg chg="modSp mod ord">
        <pc:chgData name="Edgar Rosales Ortega" userId="d1d54fc2-1570-4978-babc-e22e1526833f" providerId="ADAL" clId="{66BE7C30-C669-4152-AC74-10076FC0590C}" dt="2026-04-30T15:56:11.926" v="25"/>
        <pc:sldMkLst>
          <pc:docMk/>
          <pc:sldMk cId="0" sldId="267"/>
        </pc:sldMkLst>
        <pc:graphicFrameChg chg="modGraphic">
          <ac:chgData name="Edgar Rosales Ortega" userId="d1d54fc2-1570-4978-babc-e22e1526833f" providerId="ADAL" clId="{66BE7C30-C669-4152-AC74-10076FC0590C}" dt="2026-04-30T00:22:34.418"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4:50.659" v="40"/>
        <pc:sldMkLst>
          <pc:docMk/>
          <pc:sldMk cId="0" sldId="272"/>
        </pc:sldMkLst>
        <pc:graphicFrameChg chg="mod">
          <ac:chgData name="Edgar Rosales Ortega" userId="d1d54fc2-1570-4978-babc-e22e1526833f" providerId="ADAL" clId="{66BE7C30-C669-4152-AC74-10076FC0590C}" dt="2026-05-07T19:24:50.659" v="40"/>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5:48.079" v="36" actId="1076"/>
        <pc:sldMkLst>
          <pc:docMk/>
          <pc:sldMk cId="0" sldId="279"/>
        </pc:sldMkLst>
        <pc:spChg chg="add mod">
          <ac:chgData name="Edgar Rosales Ortega" userId="d1d54fc2-1570-4978-babc-e22e1526833f" providerId="ADAL" clId="{66BE7C30-C669-4152-AC74-10076FC0590C}" dt="2026-04-30T16:30:51.394" v="26" actId="1076"/>
          <ac:spMkLst>
            <pc:docMk/>
            <pc:sldMk cId="0" sldId="279"/>
            <ac:spMk id="2" creationId="{98CEF7E4-EB13-8DC7-CE0B-EE65878BFD6E}"/>
          </ac:spMkLst>
        </pc:spChg>
        <pc:spChg chg="mod">
          <ac:chgData name="Edgar Rosales Ortega" userId="d1d54fc2-1570-4978-babc-e22e1526833f" providerId="ADAL" clId="{66BE7C30-C669-4152-AC74-10076FC0590C}" dt="2026-05-05T18:05:48.079" v="3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6:09.353" v="23"/>
        <pc:sldMkLst>
          <pc:docMk/>
          <pc:sldMk cId="540716406" sldId="280"/>
        </pc:sldMkLst>
        <pc:graphicFrameChg chg="modGraphic">
          <ac:chgData name="Edgar Rosales Ortega" userId="d1d54fc2-1570-4978-babc-e22e1526833f" providerId="ADAL" clId="{66BE7C30-C669-4152-AC74-10076FC0590C}" dt="2026-04-30T00:22:37.247"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5:29.256" v="35" actId="478"/>
        <pc:sldMkLst>
          <pc:docMk/>
          <pc:sldMk cId="3828482411" sldId="281"/>
        </pc:sldMkLst>
      </pc:sldChg>
      <pc:sldChg chg="modSp mod">
        <pc:chgData name="Edgar Rosales Ortega" userId="d1d54fc2-1570-4978-babc-e22e1526833f" providerId="ADAL" clId="{66BE7C30-C669-4152-AC74-10076FC0590C}" dt="2026-05-07T19:25:03.327" v="42" actId="14100"/>
        <pc:sldMkLst>
          <pc:docMk/>
          <pc:sldMk cId="364733940" sldId="284"/>
        </pc:sldMkLst>
        <pc:picChg chg="mod">
          <ac:chgData name="Edgar Rosales Ortega" userId="d1d54fc2-1570-4978-babc-e22e1526833f" providerId="ADAL" clId="{66BE7C30-C669-4152-AC74-10076FC0590C}" dt="2026-05-07T19:25:03.327" v="42"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5:55.127" v="21"/>
        <pc:sldMkLst>
          <pc:docMk/>
          <pc:sldMk cId="748044913" sldId="287"/>
        </pc:sldMkLst>
        <pc:graphicFrameChg chg="modGraphic">
          <ac:chgData name="Edgar Rosales Ortega" userId="d1d54fc2-1570-4978-babc-e22e1526833f" providerId="ADAL" clId="{66BE7C30-C669-4152-AC74-10076FC0590C}" dt="2026-04-30T00:22:40.221"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4:56.401" v="41" actId="14100"/>
        <pc:sldMkLst>
          <pc:docMk/>
          <pc:sldMk cId="3240565764" sldId="297"/>
        </pc:sldMkLst>
        <pc:picChg chg="mod">
          <ac:chgData name="Edgar Rosales Ortega" userId="d1d54fc2-1570-4978-babc-e22e1526833f" providerId="ADAL" clId="{66BE7C30-C669-4152-AC74-10076FC0590C}" dt="2026-05-07T19:24:56.401" v="41"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3:19.022" v="1"/>
        <pc:sldMkLst>
          <pc:docMk/>
          <pc:sldMk cId="1614469682"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2041603.0</c:v>
                </c:pt>
                <c:pt idx="1">
                  <c:v>295070.0</c:v>
                </c:pt>
                <c:pt idx="2">
                  <c:v>822590.0</c:v>
                </c:pt>
                <c:pt idx="3">
                  <c:v>9361.0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39.829616015876084</c:v>
                </c:pt>
                <c:pt idx="1">
                  <c:v>60.170383984123916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14.289958045699999</c:v>
                </c:pt>
                <c:pt idx="1">
                  <c:v>85.7100419543</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35.34</c:v>
                </c:pt>
                <c:pt idx="1">
                  <c:v>64.66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31.57</c:v>
                </c:pt>
                <c:pt idx="1">
                  <c:v>68.43</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167</c:v>
                </c:pt>
                <c:pt idx="1">
                  <c:v>304</c:v>
                </c:pt>
                <c:pt idx="2">
                  <c:v>316</c:v>
                </c:pt>
                <c:pt idx="3">
                  <c:v>277</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Sheet1!$B$2:$B$10</c:f>
              <c:numCache>
                <c:formatCode>General</c:formatCode>
                <c:ptCount val="9"/>
                <c:pt idx="0">
                  <c:v>55588</c:v>
                </c:pt>
                <c:pt idx="1">
                  <c:v>189405</c:v>
                </c:pt>
                <c:pt idx="2">
                  <c:v>106003</c:v>
                </c:pt>
                <c:pt idx="3">
                  <c:v>50087</c:v>
                </c:pt>
                <c:pt idx="4">
                  <c:v>31335</c:v>
                </c:pt>
                <c:pt idx="5">
                  <c:v>141176</c:v>
                </c:pt>
                <c:pt idx="6">
                  <c:v>6641</c:v>
                </c:pt>
                <c:pt idx="7">
                  <c:v>60859</c:v>
                </c:pt>
                <c:pt idx="8">
                  <c:v>13828</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 de la Construcción</c:v>
                </c:pt>
                <c:pt idx="1">
                  <c:v>Industrias de la Transformación</c:v>
                </c:pt>
                <c:pt idx="2">
                  <c:v>Servicios para Empresas, Personas y el Hogar</c:v>
                </c:pt>
                <c:pt idx="3">
                  <c:v>Servicios Sociales y Comunales</c:v>
                </c:pt>
                <c:pt idx="4">
                  <c:v>Transportes y Comunicaciones</c:v>
                </c:pt>
                <c:pt idx="5">
                  <c:v>Comercio</c:v>
                </c:pt>
                <c:pt idx="6">
                  <c:v>Ind Eléctrica y Captación y Suministro de Agua Potable</c:v>
                </c:pt>
                <c:pt idx="7">
                  <c:v>Agricultura, Ganaderia, Silvicultura, Pesca y Caza</c:v>
                </c:pt>
                <c:pt idx="8">
                  <c:v>Industrias Extractivas</c:v>
                </c:pt>
              </c:strCache>
            </c:strRef>
          </c:cat>
          <c:val>
            <c:numRef>
              <c:f>Sheet1!$C$2:$C$10</c:f>
              <c:numCache>
                <c:formatCode>General</c:formatCode>
                <c:ptCount val="9"/>
                <c:pt idx="0">
                  <c:v>52274</c:v>
                </c:pt>
                <c:pt idx="1">
                  <c:v>185402</c:v>
                </c:pt>
                <c:pt idx="2">
                  <c:v>105423</c:v>
                </c:pt>
                <c:pt idx="3">
                  <c:v>50268</c:v>
                </c:pt>
                <c:pt idx="4">
                  <c:v>31622</c:v>
                </c:pt>
                <c:pt idx="5">
                  <c:v>142526</c:v>
                </c:pt>
                <c:pt idx="6">
                  <c:v>6760</c:v>
                </c:pt>
                <c:pt idx="7">
                  <c:v>63814</c:v>
                </c:pt>
                <c:pt idx="8">
                  <c:v>15008</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609765</c:v>
                </c:pt>
                <c:pt idx="1">
                  <c:v>627026</c:v>
                </c:pt>
                <c:pt idx="2">
                  <c:v>620209</c:v>
                </c:pt>
                <c:pt idx="3">
                  <c:v>625220</c:v>
                </c:pt>
                <c:pt idx="4">
                  <c:v>653571</c:v>
                </c:pt>
                <c:pt idx="5">
                  <c:v>666038</c:v>
                </c:pt>
                <c:pt idx="6">
                  <c:v>669838</c:v>
                </c:pt>
                <c:pt idx="7">
                  <c:v>654922</c:v>
                </c:pt>
                <c:pt idx="8">
                  <c:v>653097</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3.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Sonora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6_Sonor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2,041,603</a:t>
            </a:r>
            <a:br/>
            <a:r>
              <a:t>64%</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295,070</a:t>
            </a:r>
            <a:br/>
            <a:r>
              <a:t>9%</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822,590</a:t>
            </a:r>
            <a:br/>
            <a:r>
              <a:t>26%</a:t>
            </a:r>
          </a:p>
        </p:txBody>
      </p:sp>
      <p:pic>
        <p:nvPicPr>
          <p:cNvPr id="125" name="Picture 124" descr="26.png"/>
          <p:cNvPicPr>
            <a:picLocks noChangeAspect="1"/>
          </p:cNvPicPr>
          <p:nvPr/>
        </p:nvPicPr>
        <p:blipFill>
          <a:blip r:embed="rId8"/>
          <a:stretch>
            <a:fillRect/>
          </a:stretch>
        </p:blipFill>
        <p:spPr>
          <a:xfrm>
            <a:off x="1220400" y="3290400"/>
            <a:ext cx="1247031"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9,361</a:t>
            </a:r>
            <a:br/>
            <a:r>
              <a:t>0.30%</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3,168,624</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1,839,183</a:t>
                      </a:r>
                    </a:p>
                  </a:txBody>
                  <a:tcPr>
                    <a:solidFill>
                      <a:srgbClr val="EBD2D9"/>
                    </a:solidFill>
                  </a:tcPr>
                </a:tc>
                <a:tc>
                  <a:txBody>
                    <a:bodyPr/>
                    <a:lstStyle/>
                    <a:p>
                      <a:pPr algn="ctr">
                        <a:defRPr sz="900" b="1">
                          <a:solidFill>
                            <a:srgbClr val="000000"/>
                          </a:solidFill>
                          <a:latin typeface="Montserrat"/>
                        </a:defRPr>
                      </a:pPr>
                      <a:r>
                        <a:t>2,041,603</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989,213</a:t>
                      </a:r>
                    </a:p>
                  </a:txBody>
                  <a:tcPr>
                    <a:solidFill>
                      <a:srgbClr val="EBD2D9"/>
                    </a:solidFill>
                  </a:tcPr>
                </a:tc>
                <a:tc>
                  <a:txBody>
                    <a:bodyPr/>
                    <a:lstStyle/>
                    <a:p>
                      <a:pPr algn="ctr">
                        <a:defRPr sz="900" b="1">
                          <a:solidFill>
                            <a:srgbClr val="000000"/>
                          </a:solidFill>
                          <a:latin typeface="Montserrat"/>
                        </a:defRPr>
                      </a:pPr>
                      <a:r>
                        <a:t>1,175,122</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607,140</a:t>
                      </a:r>
                    </a:p>
                  </a:txBody>
                  <a:tcPr>
                    <a:solidFill>
                      <a:srgbClr val="F8F4EC"/>
                    </a:solidFill>
                  </a:tcPr>
                </a:tc>
                <a:tc>
                  <a:txBody>
                    <a:bodyPr/>
                    <a:lstStyle/>
                    <a:p>
                      <a:pPr algn="ctr">
                        <a:defRPr sz="900" b="1">
                          <a:solidFill>
                            <a:srgbClr val="000000"/>
                          </a:solidFill>
                          <a:latin typeface="Montserrat"/>
                        </a:defRPr>
                      </a:pPr>
                      <a:r>
                        <a:t>653,097</a:t>
                      </a:r>
                    </a:p>
                  </a:txBody>
                  <a:tcPr>
                    <a:solidFill>
                      <a:srgbClr val="F8F4EC"/>
                    </a:solidFill>
                  </a:tcPr>
                </a:tc>
                <a:tc>
                  <a:txBody>
                    <a:bodyPr/>
                    <a:lstStyle/>
                    <a:p>
                      <a:pPr algn="ctr">
                        <a:defRPr sz="900" b="1">
                          <a:solidFill>
                            <a:srgbClr val="000000"/>
                          </a:solidFill>
                          <a:latin typeface="Montserrat"/>
                        </a:defRPr>
                      </a:pPr>
                      <a:r>
                        <a:t>8%</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155,322</a:t>
                      </a:r>
                    </a:p>
                  </a:txBody>
                  <a:tcPr>
                    <a:solidFill>
                      <a:srgbClr val="FFFFFF"/>
                    </a:solidFill>
                  </a:tcPr>
                </a:tc>
                <a:tc>
                  <a:txBody>
                    <a:bodyPr/>
                    <a:lstStyle/>
                    <a:p>
                      <a:pPr algn="ctr">
                        <a:defRPr sz="900">
                          <a:solidFill>
                            <a:srgbClr val="000000"/>
                          </a:solidFill>
                          <a:latin typeface="Montserrat"/>
                        </a:defRPr>
                      </a:pPr>
                      <a:r>
                        <a:t>227,636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24,914</a:t>
                      </a:r>
                    </a:p>
                  </a:txBody>
                  <a:tcPr>
                    <a:solidFill>
                      <a:srgbClr val="FFFFFF"/>
                    </a:solidFill>
                  </a:tcPr>
                </a:tc>
                <a:tc>
                  <a:txBody>
                    <a:bodyPr/>
                    <a:lstStyle/>
                    <a:p>
                      <a:pPr algn="ctr">
                        <a:defRPr sz="900">
                          <a:solidFill>
                            <a:srgbClr val="000000"/>
                          </a:solidFill>
                          <a:latin typeface="Montserrat"/>
                        </a:defRPr>
                      </a:pPr>
                      <a:r>
                        <a:t>24,494</a:t>
                      </a:r>
                    </a:p>
                  </a:txBody>
                  <a:tcPr>
                    <a:solidFill>
                      <a:srgbClr val="FFFFFF"/>
                    </a:solidFill>
                  </a:tcPr>
                </a:tc>
                <a:tc>
                  <a:txBody>
                    <a:bodyPr/>
                    <a:lstStyle/>
                    <a:p>
                      <a:pPr algn="ctr">
                        <a:defRPr sz="900">
                          <a:solidFill>
                            <a:srgbClr val="000000"/>
                          </a:solidFill>
                          <a:latin typeface="Montserrat"/>
                        </a:defRPr>
                      </a:pPr>
                      <a:r>
                        <a:t>-2%</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201,837</a:t>
                      </a:r>
                    </a:p>
                  </a:txBody>
                  <a:tcPr>
                    <a:solidFill>
                      <a:srgbClr val="CCE0DD"/>
                    </a:solidFill>
                  </a:tcPr>
                </a:tc>
                <a:tc>
                  <a:txBody>
                    <a:bodyPr/>
                    <a:lstStyle/>
                    <a:p>
                      <a:pPr algn="ctr">
                        <a:defRPr sz="900" b="1">
                          <a:solidFill>
                            <a:srgbClr val="000000"/>
                          </a:solidFill>
                          <a:latin typeface="Montserrat"/>
                        </a:defRPr>
                      </a:pPr>
                      <a:r>
                        <a:t>233,542</a:t>
                      </a:r>
                    </a:p>
                  </a:txBody>
                  <a:tcPr>
                    <a:solidFill>
                      <a:srgbClr val="CCE0DD"/>
                    </a:solidFill>
                  </a:tcPr>
                </a:tc>
                <a:tc>
                  <a:txBody>
                    <a:bodyPr/>
                    <a:lstStyle/>
                    <a:p>
                      <a:pPr algn="ctr">
                        <a:defRPr sz="900" b="1">
                          <a:solidFill>
                            <a:srgbClr val="000000"/>
                          </a:solidFill>
                          <a:latin typeface="Montserrat"/>
                        </a:defRPr>
                      </a:pPr>
                      <a:r>
                        <a:t>16%</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192,124</a:t>
                      </a:r>
                    </a:p>
                  </a:txBody>
                  <a:tcPr>
                    <a:solidFill>
                      <a:srgbClr val="FFFFFF"/>
                    </a:solidFill>
                  </a:tcPr>
                </a:tc>
                <a:tc>
                  <a:txBody>
                    <a:bodyPr/>
                    <a:lstStyle/>
                    <a:p>
                      <a:pPr algn="ctr">
                        <a:defRPr sz="900">
                          <a:solidFill>
                            <a:srgbClr val="000000"/>
                          </a:solidFill>
                          <a:latin typeface="Montserrat"/>
                        </a:defRPr>
                      </a:pPr>
                      <a:r>
                        <a:t>222,942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4,522</a:t>
                      </a:r>
                    </a:p>
                  </a:txBody>
                  <a:tcPr>
                    <a:solidFill>
                      <a:srgbClr val="FFFFFF"/>
                    </a:solidFill>
                  </a:tcPr>
                </a:tc>
                <a:tc>
                  <a:txBody>
                    <a:bodyPr/>
                    <a:lstStyle/>
                    <a:p>
                      <a:pPr algn="ctr">
                        <a:defRPr sz="900">
                          <a:solidFill>
                            <a:srgbClr val="000000"/>
                          </a:solidFill>
                          <a:latin typeface="Montserrat"/>
                        </a:defRPr>
                      </a:pPr>
                      <a:r>
                        <a:t>1,173</a:t>
                      </a:r>
                    </a:p>
                  </a:txBody>
                  <a:tcPr>
                    <a:solidFill>
                      <a:srgbClr val="FFFFFF"/>
                    </a:solidFill>
                  </a:tcPr>
                </a:tc>
                <a:tc>
                  <a:txBody>
                    <a:bodyPr/>
                    <a:lstStyle/>
                    <a:p>
                      <a:pPr algn="ctr">
                        <a:defRPr sz="900">
                          <a:solidFill>
                            <a:srgbClr val="000000"/>
                          </a:solidFill>
                          <a:latin typeface="Montserrat"/>
                        </a:defRPr>
                      </a:pPr>
                      <a:r>
                        <a:t>-74%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5,191</a:t>
                      </a:r>
                    </a:p>
                  </a:txBody>
                  <a:tcPr>
                    <a:solidFill>
                      <a:srgbClr val="FFFFFF"/>
                    </a:solidFill>
                  </a:tcPr>
                </a:tc>
                <a:tc>
                  <a:txBody>
                    <a:bodyPr/>
                    <a:lstStyle/>
                    <a:p>
                      <a:pPr algn="ctr">
                        <a:defRPr sz="900">
                          <a:solidFill>
                            <a:srgbClr val="000000"/>
                          </a:solidFill>
                          <a:latin typeface="Montserrat"/>
                        </a:defRPr>
                      </a:pPr>
                      <a:r>
                        <a:t>9,427</a:t>
                      </a:r>
                    </a:p>
                  </a:txBody>
                  <a:tcPr>
                    <a:solidFill>
                      <a:srgbClr val="FFFFFF"/>
                    </a:solidFill>
                  </a:tcPr>
                </a:tc>
                <a:tc>
                  <a:txBody>
                    <a:bodyPr/>
                    <a:lstStyle/>
                    <a:p>
                      <a:pPr algn="ctr">
                        <a:defRPr sz="900">
                          <a:solidFill>
                            <a:srgbClr val="000000"/>
                          </a:solidFill>
                          <a:latin typeface="Montserrat"/>
                        </a:defRPr>
                      </a:pPr>
                      <a:r>
                        <a:t>82%</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849,970</a:t>
                      </a:r>
                    </a:p>
                  </a:txBody>
                  <a:tcPr>
                    <a:solidFill>
                      <a:srgbClr val="EBD2D9"/>
                    </a:solidFill>
                  </a:tcPr>
                </a:tc>
                <a:tc>
                  <a:txBody>
                    <a:bodyPr/>
                    <a:lstStyle/>
                    <a:p>
                      <a:pPr algn="ctr">
                        <a:defRPr sz="900" b="1">
                          <a:solidFill>
                            <a:srgbClr val="000000"/>
                          </a:solidFill>
                          <a:latin typeface="Montserrat"/>
                        </a:defRPr>
                      </a:pPr>
                      <a:r>
                        <a:t>866,481</a:t>
                      </a:r>
                    </a:p>
                  </a:txBody>
                  <a:tcPr>
                    <a:solidFill>
                      <a:srgbClr val="EBD2D9"/>
                    </a:solidFill>
                  </a:tcPr>
                </a:tc>
                <a:tc>
                  <a:txBody>
                    <a:bodyPr/>
                    <a:lstStyle/>
                    <a:p>
                      <a:pPr algn="ctr">
                        <a:defRPr sz="900" b="1">
                          <a:solidFill>
                            <a:srgbClr val="000000"/>
                          </a:solidFill>
                          <a:latin typeface="Montserrat"/>
                        </a:defRPr>
                      </a:pPr>
                      <a:r>
                        <a:t>2%</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283,081</a:t>
                      </a:r>
                    </a:p>
                  </a:txBody>
                  <a:tcPr>
                    <a:solidFill>
                      <a:srgbClr val="FFFFFF"/>
                    </a:solidFill>
                  </a:tcPr>
                </a:tc>
                <a:tc>
                  <a:txBody>
                    <a:bodyPr/>
                    <a:lstStyle/>
                    <a:p>
                      <a:pPr algn="ctr">
                        <a:defRPr sz="900">
                          <a:solidFill>
                            <a:srgbClr val="000000"/>
                          </a:solidFill>
                          <a:latin typeface="Montserrat"/>
                        </a:defRPr>
                      </a:pPr>
                      <a:r>
                        <a:t>313,604</a:t>
                      </a:r>
                    </a:p>
                  </a:txBody>
                  <a:tcPr>
                    <a:solidFill>
                      <a:srgbClr val="FFFFFF"/>
                    </a:solidFill>
                  </a:tcPr>
                </a:tc>
                <a:tc>
                  <a:txBody>
                    <a:bodyPr/>
                    <a:lstStyle/>
                    <a:p>
                      <a:pPr algn="ctr">
                        <a:defRPr sz="900">
                          <a:solidFill>
                            <a:srgbClr val="000000"/>
                          </a:solidFill>
                          <a:latin typeface="Montserrat"/>
                        </a:defRPr>
                      </a:pPr>
                      <a:r>
                        <a:t>11%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426,839</a:t>
                      </a:r>
                    </a:p>
                  </a:txBody>
                  <a:tcPr>
                    <a:solidFill>
                      <a:srgbClr val="FFFFFF"/>
                    </a:solidFill>
                  </a:tcPr>
                </a:tc>
                <a:tc>
                  <a:txBody>
                    <a:bodyPr/>
                    <a:lstStyle/>
                    <a:p>
                      <a:pPr algn="ctr">
                        <a:defRPr sz="900">
                          <a:solidFill>
                            <a:srgbClr val="000000"/>
                          </a:solidFill>
                          <a:latin typeface="Montserrat"/>
                        </a:defRPr>
                      </a:pPr>
                      <a:r>
                        <a:t>364,064</a:t>
                      </a:r>
                    </a:p>
                  </a:txBody>
                  <a:tcPr>
                    <a:solidFill>
                      <a:srgbClr val="FFFFFF"/>
                    </a:solidFill>
                  </a:tcPr>
                </a:tc>
                <a:tc>
                  <a:txBody>
                    <a:bodyPr/>
                    <a:lstStyle/>
                    <a:p>
                      <a:pPr algn="ctr">
                        <a:defRPr sz="900">
                          <a:solidFill>
                            <a:srgbClr val="000000"/>
                          </a:solidFill>
                          <a:latin typeface="Montserrat"/>
                        </a:defRPr>
                      </a:pPr>
                      <a:r>
                        <a:t>-15%</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140,050</a:t>
                      </a:r>
                    </a:p>
                  </a:txBody>
                  <a:tcPr>
                    <a:solidFill>
                      <a:srgbClr val="FFFFFF"/>
                    </a:solidFill>
                  </a:tcPr>
                </a:tc>
                <a:tc>
                  <a:txBody>
                    <a:bodyPr/>
                    <a:lstStyle/>
                    <a:p>
                      <a:pPr algn="ctr">
                        <a:defRPr sz="900">
                          <a:solidFill>
                            <a:srgbClr val="000000"/>
                          </a:solidFill>
                          <a:latin typeface="Montserrat"/>
                        </a:defRPr>
                      </a:pPr>
                      <a:r>
                        <a:t>188,813</a:t>
                      </a:r>
                    </a:p>
                  </a:txBody>
                  <a:tcPr>
                    <a:solidFill>
                      <a:srgbClr val="FFFFFF"/>
                    </a:solidFill>
                  </a:tcPr>
                </a:tc>
                <a:tc>
                  <a:txBody>
                    <a:bodyPr/>
                    <a:lstStyle/>
                    <a:p>
                      <a:pPr algn="ctr">
                        <a:defRPr sz="900">
                          <a:solidFill>
                            <a:srgbClr val="000000"/>
                          </a:solidFill>
                          <a:latin typeface="Montserrat"/>
                        </a:defRPr>
                      </a:pPr>
                      <a:r>
                        <a:t>35%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2,154</a:t>
                      </a:r>
                    </a:p>
                  </a:txBody>
                  <a:tcPr>
                    <a:solidFill>
                      <a:srgbClr val="F8F4EC"/>
                    </a:solidFill>
                  </a:tcPr>
                </a:tc>
                <a:tc>
                  <a:txBody>
                    <a:bodyPr/>
                    <a:lstStyle/>
                    <a:p>
                      <a:pPr algn="ctr">
                        <a:defRPr b="1" sz="900">
                          <a:latin typeface="Montserrat"/>
                        </a:defRPr>
                      </a:pPr>
                      <a:r>
                        <a:t>2,256</a:t>
                      </a:r>
                    </a:p>
                  </a:txBody>
                  <a:tcPr>
                    <a:solidFill>
                      <a:srgbClr val="F8F4EC"/>
                    </a:solidFill>
                  </a:tcPr>
                </a:tc>
                <a:tc>
                  <a:txBody>
                    <a:bodyPr/>
                    <a:lstStyle/>
                    <a:p>
                      <a:pPr algn="ctr">
                        <a:defRPr b="1" sz="900">
                          <a:latin typeface="Montserrat"/>
                        </a:defRPr>
                      </a:pPr>
                      <a:r>
                        <a:t>4%</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12,809</a:t>
                      </a:r>
                    </a:p>
                  </a:txBody>
                  <a:tcPr>
                    <a:solidFill>
                      <a:srgbClr val="F8F4EC"/>
                    </a:solidFill>
                  </a:tcPr>
                </a:tc>
                <a:tc>
                  <a:txBody>
                    <a:bodyPr/>
                    <a:lstStyle/>
                    <a:p>
                      <a:pPr algn="ctr">
                        <a:defRPr b="1" sz="900">
                          <a:latin typeface="Montserrat"/>
                        </a:defRPr>
                      </a:pPr>
                      <a:r>
                        <a:t>16,905</a:t>
                      </a:r>
                    </a:p>
                  </a:txBody>
                  <a:tcPr>
                    <a:solidFill>
                      <a:srgbClr val="F8F4EC"/>
                    </a:solidFill>
                  </a:tcPr>
                </a:tc>
                <a:tc>
                  <a:txBody>
                    <a:bodyPr/>
                    <a:lstStyle/>
                    <a:p>
                      <a:pPr algn="ctr">
                        <a:defRPr b="1" sz="900">
                          <a:latin typeface="Montserrat"/>
                        </a:defRPr>
                      </a:pPr>
                      <a:r>
                        <a:t>32%</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142086423"/>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6_son.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404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63</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69</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1,468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782</a:t>
                      </a:r>
                    </a:p>
                  </a:txBody>
                  <a:tcPr marL="10800" marR="10800" marT="10800" marB="10800" anchor="ctr">
                    <a:solidFill>
                      <a:srgbClr val="EFEFEF"/>
                    </a:solidFill>
                  </a:tcPr>
                </a:tc>
              </a:tr>
              <a:tr h="234000">
                <a:tc>
                  <a:txBody>
                    <a:bodyPr/>
                    <a:lstStyle/>
                    <a:p>
                      <a:pPr algn="l">
                        <a:defRPr sz="1000">
                          <a:solidFill>
                            <a:srgbClr val="000000"/>
                          </a:solidFill>
                          <a:latin typeface="Montserrat"/>
                        </a:defRPr>
                      </a:pPr>
                      <a:r>
                        <a:rPr sz="1000">
                          <a:latin typeface="Montserrat"/>
                        </a:rPr>
                        <a:t>Tercer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188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128</a:t>
                      </a:r>
                    </a:p>
                  </a:txBody>
                  <a:tcPr marL="10800" marR="10800" marT="10800" marB="10800" anchor="ctr">
                    <a:solidFill>
                      <a:srgbClr val="FFFFF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81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253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1,679</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979</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1956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1956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8</a:t>
                      </a:r>
                    </a:p>
                  </a:txBody>
                  <a:tcPr>
                    <a:solidFill>
                      <a:srgbClr val="EFEFEF"/>
                    </a:solidFill>
                  </a:tcPr>
                </a:tc>
              </a:tr>
              <a:tr h="1956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7</a:t>
                      </a:r>
                    </a:p>
                  </a:txBody>
                  <a:tcPr>
                    <a:solidFill>
                      <a:srgbClr val="FFFFFF"/>
                    </a:solidFill>
                  </a:tcPr>
                </a:tc>
              </a:tr>
              <a:tr h="19560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195600">
                <a:tc>
                  <a:txBody>
                    <a:bodyPr/>
                    <a:lstStyle/>
                    <a:p>
                      <a:pPr algn="ctr">
                        <a:defRPr sz="1000">
                          <a:solidFill>
                            <a:srgbClr val="000000"/>
                          </a:solidFill>
                          <a:latin typeface="Montserrat"/>
                        </a:defRPr>
                      </a:pPr>
                      <a:r>
                        <a:t>HGP</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1956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17</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58 UMF, 4 UMFH, 1 UMF-UMAA y no incluye 6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39;g3d0b4d3c5c9_0_62">
            <a:extLst>
              <a:ext uri="{FF2B5EF4-FFF2-40B4-BE49-F238E27FC236}">
                <a16:creationId xmlns:a16="http://schemas.microsoft.com/office/drawing/2014/main" id="{74DD9426-A309-3225-DCDA-6F3B89E8C015}"/>
              </a:ext>
            </a:extLst>
          </p:cNvPr>
          <p:cNvGraphicFramePr/>
          <p:nvPr>
            <p:extLst>
              <p:ext uri="{D42A27DB-BD31-4B8C-83A1-F6EECF244321}">
                <p14:modId xmlns:p14="http://schemas.microsoft.com/office/powerpoint/2010/main" val="2715667220"/>
              </p:ext>
            </p:extLst>
          </p:nvPr>
        </p:nvGraphicFramePr>
        <p:xfrm>
          <a:off x="288000" y="1191600"/>
          <a:ext cx="7198700" cy="48768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600" b="1" dirty="0">
                          <a:solidFill>
                            <a:srgbClr val="A42145"/>
                          </a:solidFill>
                          <a:latin typeface="Montserrat"/>
                          <a:ea typeface="Montserrat"/>
                          <a:cs typeface="Montserrat"/>
                          <a:sym typeface="Montserrat"/>
                        </a:rPr>
                        <a:t>Primer hospital en la entidad:</a:t>
                      </a:r>
                      <a:endParaRPr sz="16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600" b="1" dirty="0">
                          <a:solidFill>
                            <a:srgbClr val="BC955C"/>
                          </a:solidFill>
                          <a:latin typeface="Montserrat"/>
                          <a:ea typeface="Montserrat"/>
                          <a:cs typeface="Montserrat"/>
                          <a:sym typeface="Montserrat"/>
                        </a:rPr>
                        <a:t>Clínica de Ciudad Obregón, Ciudad Obregón</a:t>
                      </a:r>
                      <a:endParaRPr sz="16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43;g3d0b4d3c5c9_0_62">
            <a:extLst>
              <a:ext uri="{FF2B5EF4-FFF2-40B4-BE49-F238E27FC236}">
                <a16:creationId xmlns:a16="http://schemas.microsoft.com/office/drawing/2014/main" id="{12C3749D-A4C4-C3C8-77CD-9B84C096F5C8}"/>
              </a:ext>
            </a:extLst>
          </p:cNvPr>
          <p:cNvPicPr preferRelativeResize="0"/>
          <p:nvPr/>
        </p:nvPicPr>
        <p:blipFill>
          <a:blip r:embed="rId4">
            <a:alphaModFix/>
          </a:blip>
          <a:stretch>
            <a:fillRect/>
          </a:stretch>
        </p:blipFill>
        <p:spPr>
          <a:xfrm>
            <a:off x="285700" y="2180618"/>
            <a:ext cx="2668507" cy="1653963"/>
          </a:xfrm>
          <a:prstGeom prst="rect">
            <a:avLst/>
          </a:prstGeom>
          <a:noFill/>
          <a:ln>
            <a:noFill/>
          </a:ln>
        </p:spPr>
      </p:pic>
      <p:sp>
        <p:nvSpPr>
          <p:cNvPr id="7" name="CuadroTexto 6">
            <a:extLst>
              <a:ext uri="{FF2B5EF4-FFF2-40B4-BE49-F238E27FC236}">
                <a16:creationId xmlns:a16="http://schemas.microsoft.com/office/drawing/2014/main" id="{37AD33CC-3346-DBC9-41BC-99541EAB00C3}"/>
              </a:ext>
            </a:extLst>
          </p:cNvPr>
          <p:cNvSpPr txBox="1"/>
          <p:nvPr/>
        </p:nvSpPr>
        <p:spPr>
          <a:xfrm>
            <a:off x="2969447" y="1931906"/>
            <a:ext cx="4517253" cy="2405787"/>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el 12 de octubre de 1954, iniciándose la prestación de servicios médicos en una clínica ubicada en Ciudad Obregón otorgando consultas principalmente de medicina general y atención básica, ese mismo año se extendió a otros municipios al sur del estado.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Hospital General de Zona No. 1 (HGZ No. 1) Ubicado en Ciudad Obregón, Sonora, es la primera unidad hospitalaria del IMSS en Cajeme, inaugurada hacia 1957, en el contexto de la expansión del seguro social en zonas agrícolas del país.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Inició operaciones con servicios básicos de hospitalización, urgencias, cirugía general, medicina interna, gineco-obstetricia y pediatría.</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6_SONOR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2534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HGZ 2 Hermosillo</a:t>
                      </a:r>
                    </a:p>
                  </a:txBody>
                  <a:tcPr anchor="ctr">
                    <a:solidFill>
                      <a:srgbClr val="FFFFFF"/>
                    </a:solidFill>
                  </a:tcPr>
                </a:tc>
                <a:tc>
                  <a:txBody>
                    <a:bodyPr/>
                    <a:lstStyle/>
                    <a:p>
                      <a:pPr algn="ctr">
                        <a:defRPr sz="900">
                          <a:latin typeface="Montserrat"/>
                        </a:defRPr>
                      </a:pPr>
                      <a:r>
                        <a:t>Agosto de 1958</a:t>
                      </a:r>
                    </a:p>
                  </a:txBody>
                  <a:tcPr anchor="ctr">
                    <a:solidFill>
                      <a:srgbClr val="FFFFFF"/>
                    </a:solidFill>
                  </a:tcPr>
                </a:tc>
                <a:tc>
                  <a:txBody>
                    <a:bodyPr/>
                    <a:lstStyle/>
                    <a:p>
                      <a:pPr algn="ctr">
                        <a:defRPr sz="900">
                          <a:latin typeface="Montserrat"/>
                        </a:defRPr>
                      </a:pPr>
                      <a:r>
                        <a:t>149</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a:txBody>
                    <a:bodyPr/>
                    <a:lstStyle/>
                    <a:p>
                      <a:pPr algn="l">
                        <a:defRPr sz="900">
                          <a:latin typeface="Montserrat"/>
                        </a:defRPr>
                      </a:pPr>
                      <a:r>
                        <a:t>HGZ 3 Navojoa</a:t>
                      </a:r>
                    </a:p>
                  </a:txBody>
                  <a:tcPr anchor="ctr">
                    <a:solidFill>
                      <a:srgbClr val="EFEFEF"/>
                    </a:solidFill>
                  </a:tcPr>
                </a:tc>
                <a:tc>
                  <a:txBody>
                    <a:bodyPr/>
                    <a:lstStyle/>
                    <a:p>
                      <a:pPr algn="ctr">
                        <a:defRPr sz="900">
                          <a:latin typeface="Montserrat"/>
                        </a:defRPr>
                      </a:pPr>
                      <a:r>
                        <a:t>Agosto de 1958</a:t>
                      </a:r>
                    </a:p>
                  </a:txBody>
                  <a:tcPr anchor="ctr">
                    <a:solidFill>
                      <a:srgbClr val="EFEFEF"/>
                    </a:solidFill>
                  </a:tcPr>
                </a:tc>
                <a:tc>
                  <a:txBody>
                    <a:bodyPr/>
                    <a:lstStyle/>
                    <a:p>
                      <a:pPr algn="ctr">
                        <a:defRPr sz="900">
                          <a:latin typeface="Montserrat"/>
                        </a:defRPr>
                      </a:pPr>
                      <a:r>
                        <a:t>75</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HGZ 4 Guaymas</a:t>
                      </a:r>
                    </a:p>
                  </a:txBody>
                  <a:tcPr anchor="ctr">
                    <a:solidFill>
                      <a:srgbClr val="FFFFFF"/>
                    </a:solidFill>
                  </a:tcPr>
                </a:tc>
                <a:tc>
                  <a:txBody>
                    <a:bodyPr/>
                    <a:lstStyle/>
                    <a:p>
                      <a:pPr algn="ctr">
                        <a:defRPr sz="900">
                          <a:latin typeface="Montserrat"/>
                        </a:defRPr>
                      </a:pPr>
                      <a:r>
                        <a:t>Noviembre de 1958</a:t>
                      </a:r>
                    </a:p>
                  </a:txBody>
                  <a:tcPr anchor="ctr">
                    <a:solidFill>
                      <a:srgbClr val="FFFFFF"/>
                    </a:solidFill>
                  </a:tcPr>
                </a:tc>
                <a:tc>
                  <a:txBody>
                    <a:bodyPr/>
                    <a:lstStyle/>
                    <a:p>
                      <a:pPr algn="ctr">
                        <a:defRPr sz="900">
                          <a:latin typeface="Montserrat"/>
                        </a:defRPr>
                      </a:pPr>
                      <a:r>
                        <a:t>91</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15</a:t>
                      </a:r>
                    </a:p>
                  </a:txBody>
                  <a:tcPr anchor="ctr">
                    <a:solidFill>
                      <a:srgbClr val="FFFFFF"/>
                    </a:solidFill>
                  </a:tcPr>
                </a:tc>
              </a:tr>
              <a:tr h="230400">
                <a:tc>
                  <a:txBody>
                    <a:bodyPr/>
                    <a:lstStyle/>
                    <a:p>
                      <a:pPr algn="l">
                        <a:defRPr sz="900">
                          <a:latin typeface="Montserrat"/>
                        </a:defRPr>
                      </a:pPr>
                      <a:r>
                        <a:t>HGS 12 S. Luis Rio Colorado</a:t>
                      </a:r>
                    </a:p>
                  </a:txBody>
                  <a:tcPr anchor="ctr">
                    <a:solidFill>
                      <a:srgbClr val="EFEFEF"/>
                    </a:solidFill>
                  </a:tcPr>
                </a:tc>
                <a:tc>
                  <a:txBody>
                    <a:bodyPr/>
                    <a:lstStyle/>
                    <a:p>
                      <a:pPr algn="ctr">
                        <a:defRPr sz="900">
                          <a:latin typeface="Montserrat"/>
                        </a:defRPr>
                      </a:pPr>
                      <a:r>
                        <a:t>Febrero de 1964</a:t>
                      </a:r>
                    </a:p>
                  </a:txBody>
                  <a:tcPr anchor="ctr">
                    <a:solidFill>
                      <a:srgbClr val="EFEFEF"/>
                    </a:solidFill>
                  </a:tcPr>
                </a:tc>
                <a:tc>
                  <a:txBody>
                    <a:bodyPr/>
                    <a:lstStyle/>
                    <a:p>
                      <a:pPr algn="ctr">
                        <a:defRPr sz="900">
                          <a:latin typeface="Montserrat"/>
                        </a:defRPr>
                      </a:pPr>
                      <a:r>
                        <a:t>34</a:t>
                      </a:r>
                    </a:p>
                  </a:txBody>
                  <a:tcPr anchor="ctr">
                    <a:solidFill>
                      <a:srgbClr val="EFEFEF"/>
                    </a:solidFill>
                  </a:tcPr>
                </a:tc>
                <a:tc>
                  <a:txBody>
                    <a:bodyPr/>
                    <a:lstStyle/>
                    <a:p>
                      <a:pPr algn="ctr">
                        <a:defRPr sz="900">
                          <a:latin typeface="Montserrat"/>
                        </a:defRPr>
                      </a:pPr>
                      <a:r>
                        <a:t>25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8</a:t>
                      </a:r>
                    </a:p>
                  </a:txBody>
                  <a:tcPr anchor="ctr">
                    <a:solidFill>
                      <a:srgbClr val="EFEFEF"/>
                    </a:solidFill>
                  </a:tcPr>
                </a:tc>
              </a:tr>
              <a:tr h="230400">
                <a:tc>
                  <a:txBody>
                    <a:bodyPr/>
                    <a:lstStyle/>
                    <a:p>
                      <a:pPr algn="l">
                        <a:defRPr sz="900">
                          <a:latin typeface="Montserrat"/>
                        </a:defRPr>
                      </a:pPr>
                      <a:r>
                        <a:t>HGSMF 6 Valle Hermosillo</a:t>
                      </a:r>
                    </a:p>
                  </a:txBody>
                  <a:tcPr anchor="ctr">
                    <a:solidFill>
                      <a:srgbClr val="FFFFFF"/>
                    </a:solidFill>
                  </a:tcPr>
                </a:tc>
                <a:tc>
                  <a:txBody>
                    <a:bodyPr/>
                    <a:lstStyle/>
                    <a:p>
                      <a:pPr algn="ctr">
                        <a:defRPr sz="900">
                          <a:latin typeface="Montserrat"/>
                        </a:defRPr>
                      </a:pPr>
                      <a:r>
                        <a:t>Febrero de 1964</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2</a:t>
                      </a:r>
                    </a:p>
                  </a:txBody>
                  <a:tcPr anchor="ctr">
                    <a:solidFill>
                      <a:srgbClr val="FFFFFF"/>
                    </a:solidFill>
                  </a:tcPr>
                </a:tc>
              </a:tr>
              <a:tr h="230400">
                <a:tc>
                  <a:txBody>
                    <a:bodyPr/>
                    <a:lstStyle/>
                    <a:p>
                      <a:pPr algn="l">
                        <a:defRPr sz="900">
                          <a:latin typeface="Montserrat"/>
                        </a:defRPr>
                      </a:pPr>
                      <a:r>
                        <a:t>HGSMF 7 Huatabampo</a:t>
                      </a:r>
                    </a:p>
                  </a:txBody>
                  <a:tcPr anchor="ctr">
                    <a:solidFill>
                      <a:srgbClr val="EFEFEF"/>
                    </a:solidFill>
                  </a:tcPr>
                </a:tc>
                <a:tc>
                  <a:txBody>
                    <a:bodyPr/>
                    <a:lstStyle/>
                    <a:p>
                      <a:pPr algn="ctr">
                        <a:defRPr sz="900">
                          <a:latin typeface="Montserrat"/>
                        </a:defRPr>
                      </a:pPr>
                      <a:r>
                        <a:t>Febrero de 1967</a:t>
                      </a:r>
                    </a:p>
                  </a:txBody>
                  <a:tcPr anchor="ctr">
                    <a:solidFill>
                      <a:srgbClr val="EFEFEF"/>
                    </a:solidFill>
                  </a:tcPr>
                </a:tc>
                <a:tc>
                  <a:txBody>
                    <a:bodyPr/>
                    <a:lstStyle/>
                    <a:p>
                      <a:pPr algn="ctr">
                        <a:defRPr sz="900">
                          <a:latin typeface="Montserrat"/>
                        </a:defRPr>
                      </a:pPr>
                      <a:r>
                        <a:t>28</a:t>
                      </a:r>
                    </a:p>
                  </a:txBody>
                  <a:tcPr anchor="ctr">
                    <a:solidFill>
                      <a:srgbClr val="EFEFEF"/>
                    </a:solidFill>
                  </a:tcPr>
                </a:tc>
                <a:tc>
                  <a:txBody>
                    <a:bodyPr/>
                    <a:lstStyle/>
                    <a:p>
                      <a:pPr algn="ctr">
                        <a:defRPr sz="900">
                          <a:latin typeface="Montserrat"/>
                        </a:defRPr>
                      </a:pPr>
                      <a:r>
                        <a:t>17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3</a:t>
                      </a:r>
                    </a:p>
                  </a:txBody>
                  <a:tcPr anchor="ctr">
                    <a:solidFill>
                      <a:srgbClr val="EFEFEF"/>
                    </a:solidFill>
                  </a:tcPr>
                </a:tc>
              </a:tr>
              <a:tr h="230400">
                <a:tc>
                  <a:txBody>
                    <a:bodyPr/>
                    <a:lstStyle/>
                    <a:p>
                      <a:pPr algn="l">
                        <a:defRPr sz="900">
                          <a:latin typeface="Montserrat"/>
                        </a:defRPr>
                      </a:pPr>
                      <a:r>
                        <a:t>HGR 1 Cd. Obregón</a:t>
                      </a:r>
                    </a:p>
                  </a:txBody>
                  <a:tcPr anchor="ctr">
                    <a:solidFill>
                      <a:srgbClr val="FFFFFF"/>
                    </a:solidFill>
                  </a:tcPr>
                </a:tc>
                <a:tc>
                  <a:txBody>
                    <a:bodyPr/>
                    <a:lstStyle/>
                    <a:p>
                      <a:pPr algn="ctr">
                        <a:defRPr sz="900">
                          <a:latin typeface="Montserrat"/>
                        </a:defRPr>
                      </a:pPr>
                      <a:r>
                        <a:t>Mayo de 1969</a:t>
                      </a:r>
                    </a:p>
                  </a:txBody>
                  <a:tcPr anchor="ctr">
                    <a:solidFill>
                      <a:srgbClr val="FFFFFF"/>
                    </a:solidFill>
                  </a:tcPr>
                </a:tc>
                <a:tc>
                  <a:txBody>
                    <a:bodyPr/>
                    <a:lstStyle/>
                    <a:p>
                      <a:pPr algn="ctr">
                        <a:defRPr sz="900">
                          <a:latin typeface="Montserrat"/>
                        </a:defRPr>
                      </a:pPr>
                      <a:r>
                        <a:t>272</a:t>
                      </a:r>
                    </a:p>
                  </a:txBody>
                  <a:tcPr anchor="ctr">
                    <a:solidFill>
                      <a:srgbClr val="FFFFFF"/>
                    </a:solidFill>
                  </a:tcPr>
                </a:tc>
                <a:tc>
                  <a:txBody>
                    <a:bodyPr/>
                    <a:lstStyle/>
                    <a:p>
                      <a:pPr algn="ctr">
                        <a:defRPr sz="900">
                          <a:latin typeface="Montserrat"/>
                        </a:defRPr>
                      </a:pPr>
                      <a:r>
                        <a:t>108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42</a:t>
                      </a:r>
                    </a:p>
                  </a:txBody>
                  <a:tcPr anchor="ctr">
                    <a:solidFill>
                      <a:srgbClr val="FFFFFF"/>
                    </a:solidFill>
                  </a:tcPr>
                </a:tc>
              </a:tr>
              <a:tr h="230400">
                <a:tc>
                  <a:txBody>
                    <a:bodyPr/>
                    <a:lstStyle/>
                    <a:p>
                      <a:pPr algn="l">
                        <a:defRPr sz="900">
                          <a:latin typeface="Montserrat"/>
                        </a:defRPr>
                      </a:pPr>
                      <a:r>
                        <a:t>HGP Hermosillo</a:t>
                      </a:r>
                    </a:p>
                  </a:txBody>
                  <a:tcPr anchor="ctr">
                    <a:solidFill>
                      <a:srgbClr val="EFEFEF"/>
                    </a:solidFill>
                  </a:tcPr>
                </a:tc>
                <a:tc>
                  <a:txBody>
                    <a:bodyPr/>
                    <a:lstStyle/>
                    <a:p>
                      <a:pPr algn="ctr">
                        <a:defRPr sz="900">
                          <a:latin typeface="Montserrat"/>
                        </a:defRPr>
                      </a:pPr>
                      <a:r>
                        <a:t>Agosto de 1970</a:t>
                      </a:r>
                    </a:p>
                  </a:txBody>
                  <a:tcPr anchor="ctr">
                    <a:solidFill>
                      <a:srgbClr val="EFEFEF"/>
                    </a:solidFill>
                  </a:tcPr>
                </a:tc>
                <a:tc>
                  <a:txBody>
                    <a:bodyPr/>
                    <a:lstStyle/>
                    <a:p>
                      <a:pPr algn="ctr">
                        <a:defRPr sz="900">
                          <a:latin typeface="Montserrat"/>
                        </a:defRPr>
                      </a:pPr>
                      <a:r>
                        <a:t>125</a:t>
                      </a:r>
                    </a:p>
                  </a:txBody>
                  <a:tcPr anchor="ctr">
                    <a:solidFill>
                      <a:srgbClr val="EFEFEF"/>
                    </a:solidFill>
                  </a:tcPr>
                </a:tc>
                <a:tc>
                  <a:txBody>
                    <a:bodyPr/>
                    <a:lstStyle/>
                    <a:p>
                      <a:pPr algn="ctr">
                        <a:defRPr sz="900">
                          <a:latin typeface="Montserrat"/>
                        </a:defRPr>
                      </a:pPr>
                      <a:r>
                        <a:t>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12</a:t>
                      </a:r>
                    </a:p>
                  </a:txBody>
                  <a:tcPr anchor="ctr">
                    <a:solidFill>
                      <a:srgbClr val="EFEFEF"/>
                    </a:solidFill>
                  </a:tcPr>
                </a:tc>
              </a:tr>
              <a:tr h="230400">
                <a:tc>
                  <a:txBody>
                    <a:bodyPr/>
                    <a:lstStyle/>
                    <a:p>
                      <a:pPr algn="l">
                        <a:defRPr sz="900">
                          <a:latin typeface="Montserrat"/>
                        </a:defRPr>
                      </a:pPr>
                      <a:r>
                        <a:t>HGZ 8 Caborca</a:t>
                      </a:r>
                    </a:p>
                  </a:txBody>
                  <a:tcPr anchor="ctr">
                    <a:solidFill>
                      <a:srgbClr val="FFFFFF"/>
                    </a:solidFill>
                  </a:tcPr>
                </a:tc>
                <a:tc>
                  <a:txBody>
                    <a:bodyPr/>
                    <a:lstStyle/>
                    <a:p>
                      <a:pPr algn="ctr">
                        <a:defRPr sz="900">
                          <a:latin typeface="Montserrat"/>
                        </a:defRPr>
                      </a:pPr>
                      <a:r>
                        <a:t>Octubre de 1972</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7</a:t>
                      </a:r>
                    </a:p>
                  </a:txBody>
                  <a:tcPr anchor="ctr">
                    <a:solidFill>
                      <a:srgbClr val="FFFFFF"/>
                    </a:solidFill>
                  </a:tcPr>
                </a:tc>
              </a:tr>
              <a:tr h="230400">
                <a:tc>
                  <a:txBody>
                    <a:bodyPr/>
                    <a:lstStyle/>
                    <a:p>
                      <a:pPr algn="l">
                        <a:defRPr sz="900">
                          <a:latin typeface="Montserrat"/>
                        </a:defRPr>
                      </a:pPr>
                      <a:r>
                        <a:t>HGS 9 Puerto Peñasco</a:t>
                      </a:r>
                    </a:p>
                  </a:txBody>
                  <a:tcPr anchor="ctr">
                    <a:solidFill>
                      <a:srgbClr val="EFEFEF"/>
                    </a:solidFill>
                  </a:tcPr>
                </a:tc>
                <a:tc>
                  <a:txBody>
                    <a:bodyPr/>
                    <a:lstStyle/>
                    <a:p>
                      <a:pPr algn="ctr">
                        <a:defRPr sz="900">
                          <a:latin typeface="Montserrat"/>
                        </a:defRPr>
                      </a:pPr>
                      <a:r>
                        <a:t>Noviembre de 1972</a:t>
                      </a:r>
                    </a:p>
                  </a:txBody>
                  <a:tcPr anchor="ctr">
                    <a:solidFill>
                      <a:srgbClr val="EFEFEF"/>
                    </a:solidFill>
                  </a:tcPr>
                </a:tc>
                <a:tc>
                  <a:txBody>
                    <a:bodyPr/>
                    <a:lstStyle/>
                    <a:p>
                      <a:pPr algn="ctr">
                        <a:defRPr sz="900">
                          <a:latin typeface="Montserrat"/>
                        </a:defRPr>
                      </a:pPr>
                      <a:r>
                        <a:t>15</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8C90F11A-897D-ADF2-9B9E-208A1DE16F5B}"/>
              </a:ext>
            </a:extLst>
          </p:cNvPr>
          <p:cNvGrpSpPr/>
          <p:nvPr/>
        </p:nvGrpSpPr>
        <p:grpSpPr>
          <a:xfrm>
            <a:off x="149075" y="4598622"/>
            <a:ext cx="7772400" cy="3683043"/>
            <a:chOff x="149075" y="4598622"/>
            <a:chExt cx="7772400" cy="3683043"/>
          </a:xfrm>
        </p:grpSpPr>
        <p:pic>
          <p:nvPicPr>
            <p:cNvPr id="15" name="Google Shape;315;g3d635d120e2_2_152" title="HGZ 86 URUAPAN.jpg">
              <a:extLst>
                <a:ext uri="{FF2B5EF4-FFF2-40B4-BE49-F238E27FC236}">
                  <a16:creationId xmlns:a16="http://schemas.microsoft.com/office/drawing/2014/main" id="{FFA1A1CB-0FE6-88DF-DB30-3B2A5A65A246}"/>
                </a:ext>
              </a:extLst>
            </p:cNvPr>
            <p:cNvPicPr preferRelativeResize="0"/>
            <p:nvPr/>
          </p:nvPicPr>
          <p:blipFill rotWithShape="1">
            <a:blip r:embed="rId4">
              <a:alphaModFix/>
            </a:blip>
            <a:srcRect l="1417" t="15479" r="44279" b="26090"/>
            <a:stretch/>
          </p:blipFill>
          <p:spPr>
            <a:xfrm>
              <a:off x="211288" y="5224972"/>
              <a:ext cx="2401009" cy="1562332"/>
            </a:xfrm>
            <a:prstGeom prst="rect">
              <a:avLst/>
            </a:prstGeom>
            <a:noFill/>
            <a:ln>
              <a:noFill/>
            </a:ln>
            <a:effectLst>
              <a:outerShdw blurRad="114300" dist="57150" dir="10800000" algn="bl" rotWithShape="0">
                <a:srgbClr val="000000">
                  <a:alpha val="50000"/>
                </a:srgbClr>
              </a:outerShdw>
            </a:effectLst>
          </p:spPr>
        </p:pic>
        <p:sp>
          <p:nvSpPr>
            <p:cNvPr id="16" name="Google Shape;317;g3d635d120e2_2_152">
              <a:extLst>
                <a:ext uri="{FF2B5EF4-FFF2-40B4-BE49-F238E27FC236}">
                  <a16:creationId xmlns:a16="http://schemas.microsoft.com/office/drawing/2014/main" id="{CF47C194-841F-710C-1A90-CD3B122ED6AA}"/>
                </a:ext>
              </a:extLst>
            </p:cNvPr>
            <p:cNvSpPr/>
            <p:nvPr/>
          </p:nvSpPr>
          <p:spPr>
            <a:xfrm>
              <a:off x="633829" y="6801176"/>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7" name="Google Shape;318;g3d635d120e2_2_152">
              <a:extLst>
                <a:ext uri="{FF2B5EF4-FFF2-40B4-BE49-F238E27FC236}">
                  <a16:creationId xmlns:a16="http://schemas.microsoft.com/office/drawing/2014/main" id="{171D8105-643F-8515-D78A-7BC7DACE5B0E}"/>
                </a:ext>
              </a:extLst>
            </p:cNvPr>
            <p:cNvSpPr/>
            <p:nvPr/>
          </p:nvSpPr>
          <p:spPr>
            <a:xfrm>
              <a:off x="211297" y="6801165"/>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3</a:t>
              </a:r>
              <a:endParaRPr>
                <a:solidFill>
                  <a:srgbClr val="FFFFFF"/>
                </a:solidFill>
                <a:latin typeface="Noto Sans Black"/>
                <a:ea typeface="Noto Sans Black"/>
                <a:cs typeface="Noto Sans Black"/>
                <a:sym typeface="Noto Sans Black"/>
              </a:endParaRPr>
            </a:p>
          </p:txBody>
        </p:sp>
        <p:sp>
          <p:nvSpPr>
            <p:cNvPr id="18" name="Google Shape;321;g3d635d120e2_2_152">
              <a:extLst>
                <a:ext uri="{FF2B5EF4-FFF2-40B4-BE49-F238E27FC236}">
                  <a16:creationId xmlns:a16="http://schemas.microsoft.com/office/drawing/2014/main" id="{CD678D11-3C22-2EFD-B609-C88A990FB6D1}"/>
                </a:ext>
              </a:extLst>
            </p:cNvPr>
            <p:cNvSpPr txBox="1"/>
            <p:nvPr/>
          </p:nvSpPr>
          <p:spPr>
            <a:xfrm>
              <a:off x="149075" y="459862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19" name="Google Shape;322;g3d635d120e2_2_152">
              <a:extLst>
                <a:ext uri="{FF2B5EF4-FFF2-40B4-BE49-F238E27FC236}">
                  <a16:creationId xmlns:a16="http://schemas.microsoft.com/office/drawing/2014/main" id="{B8A9FB1E-B581-75B3-7C52-B6193D2826F7}"/>
                </a:ext>
              </a:extLst>
            </p:cNvPr>
            <p:cNvSpPr/>
            <p:nvPr/>
          </p:nvSpPr>
          <p:spPr>
            <a:xfrm>
              <a:off x="5820950" y="6824110"/>
              <a:ext cx="19098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Tomógrafo</a:t>
              </a:r>
              <a:endParaRPr sz="1100" b="0" i="0" u="none" strike="noStrike" cap="none">
                <a:solidFill>
                  <a:srgbClr val="FFFFFF"/>
                </a:solidFill>
                <a:latin typeface="Arial"/>
                <a:ea typeface="Arial"/>
                <a:cs typeface="Arial"/>
                <a:sym typeface="Arial"/>
              </a:endParaRPr>
            </a:p>
          </p:txBody>
        </p:sp>
        <p:sp>
          <p:nvSpPr>
            <p:cNvPr id="20" name="Google Shape;323;g3d635d120e2_2_152">
              <a:extLst>
                <a:ext uri="{FF2B5EF4-FFF2-40B4-BE49-F238E27FC236}">
                  <a16:creationId xmlns:a16="http://schemas.microsoft.com/office/drawing/2014/main" id="{649E2E95-469F-6B6E-21A6-6B856E36DCFA}"/>
                </a:ext>
              </a:extLst>
            </p:cNvPr>
            <p:cNvSpPr/>
            <p:nvPr/>
          </p:nvSpPr>
          <p:spPr>
            <a:xfrm>
              <a:off x="5318911" y="6824110"/>
              <a:ext cx="5070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1" name="Google Shape;324;g3d635d120e2_2_152">
              <a:extLst>
                <a:ext uri="{FF2B5EF4-FFF2-40B4-BE49-F238E27FC236}">
                  <a16:creationId xmlns:a16="http://schemas.microsoft.com/office/drawing/2014/main" id="{D8863BBE-83F1-9130-1071-8C6A565DA1C7}"/>
                </a:ext>
              </a:extLst>
            </p:cNvPr>
            <p:cNvSpPr txBox="1"/>
            <p:nvPr/>
          </p:nvSpPr>
          <p:spPr>
            <a:xfrm>
              <a:off x="5335672" y="7177793"/>
              <a:ext cx="2577600" cy="628732"/>
            </a:xfrm>
            <a:prstGeom prst="rect">
              <a:avLst/>
            </a:prstGeom>
            <a:noFill/>
            <a:ln>
              <a:noFill/>
            </a:ln>
          </p:spPr>
          <p:txBody>
            <a:bodyPr spcFirstLastPara="1" wrap="square" lIns="91425" tIns="91425" rIns="91425" bIns="91425" anchor="t" anchorCtr="0">
              <a:spAutoFit/>
            </a:bodyPr>
            <a:lstStyle/>
            <a:p>
              <a:pPr marL="0" marR="50800" lvl="0" indent="0" algn="l" rtl="0">
                <a:lnSpc>
                  <a:spcPct val="111000"/>
                </a:lnSpc>
                <a:spcBef>
                  <a:spcPts val="0"/>
                </a:spcBef>
                <a:spcAft>
                  <a:spcPts val="0"/>
                </a:spcAft>
                <a:buNone/>
              </a:pPr>
              <a:r>
                <a:rPr lang="es" sz="1300" dirty="0">
                  <a:solidFill>
                    <a:srgbClr val="595959"/>
                  </a:solidFill>
                  <a:latin typeface="Montserrat"/>
                  <a:ea typeface="Montserrat"/>
                  <a:cs typeface="Montserrat"/>
                  <a:sym typeface="Montserrat"/>
                </a:rPr>
                <a:t>HGZ 2 Hermosillo</a:t>
              </a:r>
            </a:p>
            <a:p>
              <a:pPr marL="0" marR="50800" lvl="0" indent="0" algn="l" rtl="0">
                <a:lnSpc>
                  <a:spcPct val="111000"/>
                </a:lnSpc>
                <a:spcBef>
                  <a:spcPts val="0"/>
                </a:spcBef>
                <a:spcAft>
                  <a:spcPts val="0"/>
                </a:spcAft>
                <a:buNone/>
              </a:pPr>
              <a:r>
                <a:rPr lang="es" sz="1300" b="1" dirty="0">
                  <a:solidFill>
                    <a:srgbClr val="595959"/>
                  </a:solidFill>
                  <a:latin typeface="Montserrat"/>
                  <a:ea typeface="Montserrat"/>
                  <a:cs typeface="Montserrat"/>
                  <a:sym typeface="Montserrat"/>
                </a:rPr>
                <a:t>$29.6</a:t>
              </a:r>
              <a:r>
                <a:rPr lang="es" sz="1300" dirty="0">
                  <a:solidFill>
                    <a:srgbClr val="595959"/>
                  </a:solidFill>
                  <a:latin typeface="Montserrat"/>
                  <a:ea typeface="Montserrat"/>
                  <a:cs typeface="Montserrat"/>
                  <a:sym typeface="Montserrat"/>
                </a:rPr>
                <a:t> </a:t>
              </a:r>
              <a:r>
                <a:rPr lang="es" sz="1300" b="1" dirty="0">
                  <a:solidFill>
                    <a:srgbClr val="595959"/>
                  </a:solidFill>
                  <a:latin typeface="Montserrat"/>
                  <a:ea typeface="Montserrat"/>
                  <a:cs typeface="Montserrat"/>
                  <a:sym typeface="Montserrat"/>
                </a:rPr>
                <a:t>mdp</a:t>
              </a:r>
              <a:r>
                <a:rPr lang="es" sz="1300" dirty="0">
                  <a:solidFill>
                    <a:srgbClr val="595959"/>
                  </a:solidFill>
                  <a:latin typeface="Montserrat"/>
                  <a:ea typeface="Montserrat"/>
                  <a:cs typeface="Montserrat"/>
                  <a:sym typeface="Montserrat"/>
                </a:rPr>
                <a:t>  </a:t>
              </a:r>
              <a:endParaRPr dirty="0">
                <a:solidFill>
                  <a:srgbClr val="434343"/>
                </a:solidFill>
                <a:latin typeface="Noto Sans"/>
                <a:ea typeface="Noto Sans"/>
                <a:cs typeface="Noto Sans"/>
                <a:sym typeface="Noto Sans"/>
              </a:endParaRPr>
            </a:p>
          </p:txBody>
        </p:sp>
        <p:pic>
          <p:nvPicPr>
            <p:cNvPr id="22" name="Google Shape;325;g3d635d120e2_2_152">
              <a:extLst>
                <a:ext uri="{FF2B5EF4-FFF2-40B4-BE49-F238E27FC236}">
                  <a16:creationId xmlns:a16="http://schemas.microsoft.com/office/drawing/2014/main" id="{3F43E408-3A4D-A425-DF2E-AE42C809243C}"/>
                </a:ext>
              </a:extLst>
            </p:cNvPr>
            <p:cNvPicPr preferRelativeResize="0"/>
            <p:nvPr/>
          </p:nvPicPr>
          <p:blipFill>
            <a:blip r:embed="rId5">
              <a:alphaModFix/>
            </a:blip>
            <a:stretch>
              <a:fillRect/>
            </a:stretch>
          </p:blipFill>
          <p:spPr>
            <a:xfrm>
              <a:off x="5356647" y="5261775"/>
              <a:ext cx="2382553" cy="1562334"/>
            </a:xfrm>
            <a:prstGeom prst="rect">
              <a:avLst/>
            </a:prstGeom>
            <a:noFill/>
            <a:ln>
              <a:noFill/>
            </a:ln>
          </p:spPr>
        </p:pic>
        <p:sp>
          <p:nvSpPr>
            <p:cNvPr id="23" name="Google Shape;326;g3d635d120e2_2_152">
              <a:extLst>
                <a:ext uri="{FF2B5EF4-FFF2-40B4-BE49-F238E27FC236}">
                  <a16:creationId xmlns:a16="http://schemas.microsoft.com/office/drawing/2014/main" id="{090C37A1-9510-0AE5-1A1A-53E0D0974073}"/>
                </a:ext>
              </a:extLst>
            </p:cNvPr>
            <p:cNvSpPr/>
            <p:nvPr/>
          </p:nvSpPr>
          <p:spPr>
            <a:xfrm>
              <a:off x="2655047" y="6819748"/>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
                  <a:solidFill>
                    <a:srgbClr val="FFFFFF"/>
                  </a:solidFill>
                  <a:latin typeface="Noto Sans Black"/>
                  <a:ea typeface="Noto Sans Black"/>
                  <a:cs typeface="Noto Sans Black"/>
                  <a:sym typeface="Noto Sans Black"/>
                </a:rPr>
                <a:t>1</a:t>
              </a:r>
              <a:endParaRPr sz="1400" b="0" i="0" u="none" strike="noStrike" cap="none">
                <a:solidFill>
                  <a:srgbClr val="FFFFFF"/>
                </a:solidFill>
                <a:latin typeface="Noto Sans Black"/>
                <a:ea typeface="Noto Sans Black"/>
                <a:cs typeface="Noto Sans Black"/>
                <a:sym typeface="Noto Sans Black"/>
              </a:endParaRPr>
            </a:p>
          </p:txBody>
        </p:sp>
        <p:sp>
          <p:nvSpPr>
            <p:cNvPr id="24" name="Google Shape;327;g3d635d120e2_2_152">
              <a:extLst>
                <a:ext uri="{FF2B5EF4-FFF2-40B4-BE49-F238E27FC236}">
                  <a16:creationId xmlns:a16="http://schemas.microsoft.com/office/drawing/2014/main" id="{26BEDF19-C264-8248-5061-12E168CEBC44}"/>
                </a:ext>
              </a:extLst>
            </p:cNvPr>
            <p:cNvSpPr/>
            <p:nvPr/>
          </p:nvSpPr>
          <p:spPr>
            <a:xfrm>
              <a:off x="3113254" y="6819748"/>
              <a:ext cx="2038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s" sz="1300" b="1" i="0" u="none" strike="noStrike" cap="none">
                  <a:solidFill>
                    <a:srgbClr val="FFFFFF"/>
                  </a:solidFill>
                  <a:latin typeface="Montserrat"/>
                  <a:ea typeface="Montserrat"/>
                  <a:cs typeface="Montserrat"/>
                  <a:sym typeface="Montserrat"/>
                </a:rPr>
                <a:t>Resonador magnético </a:t>
              </a:r>
              <a:endParaRPr sz="1300" b="1" i="0" u="none" strike="noStrike" cap="none">
                <a:solidFill>
                  <a:srgbClr val="FFFFFF"/>
                </a:solidFill>
                <a:latin typeface="Montserrat"/>
                <a:ea typeface="Montserrat"/>
                <a:cs typeface="Montserrat"/>
                <a:sym typeface="Montserrat"/>
              </a:endParaRPr>
            </a:p>
          </p:txBody>
        </p:sp>
        <p:sp>
          <p:nvSpPr>
            <p:cNvPr id="25" name="Google Shape;328;g3d635d120e2_2_152">
              <a:extLst>
                <a:ext uri="{FF2B5EF4-FFF2-40B4-BE49-F238E27FC236}">
                  <a16:creationId xmlns:a16="http://schemas.microsoft.com/office/drawing/2014/main" id="{EB95A018-AD66-A194-CCBD-A5DFDE3B3BF8}"/>
                </a:ext>
              </a:extLst>
            </p:cNvPr>
            <p:cNvSpPr txBox="1"/>
            <p:nvPr/>
          </p:nvSpPr>
          <p:spPr>
            <a:xfrm>
              <a:off x="2612299" y="7274203"/>
              <a:ext cx="2323200" cy="892522"/>
            </a:xfrm>
            <a:prstGeom prst="rect">
              <a:avLst/>
            </a:prstGeom>
            <a:noFill/>
            <a:ln>
              <a:noFill/>
            </a:ln>
          </p:spPr>
          <p:txBody>
            <a:bodyPr spcFirstLastPara="1" wrap="square" lIns="91425" tIns="91425" rIns="91425" bIns="91425" anchor="t" anchorCtr="0">
              <a:spAutoFit/>
            </a:bodyPr>
            <a:lstStyle/>
            <a:p>
              <a:pPr marL="0" marR="63500" lvl="0" indent="0" algn="l" rtl="0">
                <a:lnSpc>
                  <a:spcPct val="115000"/>
                </a:lnSpc>
                <a:spcBef>
                  <a:spcPts val="0"/>
                </a:spcBef>
                <a:spcAft>
                  <a:spcPts val="0"/>
                </a:spcAft>
                <a:buNone/>
              </a:pPr>
              <a:r>
                <a:rPr lang="es" sz="1300" dirty="0">
                  <a:solidFill>
                    <a:schemeClr val="dk2"/>
                  </a:solidFill>
                  <a:latin typeface="Montserrat"/>
                  <a:ea typeface="Montserrat"/>
                  <a:cs typeface="Montserrat"/>
                  <a:sym typeface="Montserrat"/>
                </a:rPr>
                <a:t>HES 2 CMN Noreste Obregón </a:t>
              </a:r>
              <a:r>
                <a:rPr lang="es" sz="1300" dirty="0">
                  <a:solidFill>
                    <a:srgbClr val="595959"/>
                  </a:solidFill>
                  <a:latin typeface="Montserrat"/>
                  <a:ea typeface="Montserrat"/>
                  <a:cs typeface="Montserrat"/>
                  <a:sym typeface="Montserrat"/>
                </a:rPr>
                <a:t> </a:t>
              </a:r>
            </a:p>
            <a:p>
              <a:pPr marL="0" marR="63500" lvl="0" indent="0" algn="l" rtl="0">
                <a:lnSpc>
                  <a:spcPct val="115000"/>
                </a:lnSpc>
                <a:spcBef>
                  <a:spcPts val="0"/>
                </a:spcBef>
                <a:spcAft>
                  <a:spcPts val="0"/>
                </a:spcAft>
                <a:buNone/>
              </a:pPr>
              <a:r>
                <a:rPr lang="es" sz="1300" b="1" dirty="0">
                  <a:solidFill>
                    <a:srgbClr val="595959"/>
                  </a:solidFill>
                  <a:latin typeface="Montserrat"/>
                  <a:sym typeface="Montserrat"/>
                </a:rPr>
                <a:t>$40.6 mdp</a:t>
              </a:r>
              <a:endParaRPr b="1" dirty="0"/>
            </a:p>
          </p:txBody>
        </p:sp>
        <p:pic>
          <p:nvPicPr>
            <p:cNvPr id="26" name="Google Shape;329;g3d635d120e2_2_152">
              <a:extLst>
                <a:ext uri="{FF2B5EF4-FFF2-40B4-BE49-F238E27FC236}">
                  <a16:creationId xmlns:a16="http://schemas.microsoft.com/office/drawing/2014/main" id="{EE8CD3DF-64BC-9AC4-D8EA-D1F49A6F24D3}"/>
                </a:ext>
              </a:extLst>
            </p:cNvPr>
            <p:cNvPicPr preferRelativeResize="0"/>
            <p:nvPr/>
          </p:nvPicPr>
          <p:blipFill>
            <a:blip r:embed="rId6">
              <a:alphaModFix/>
            </a:blip>
            <a:stretch>
              <a:fillRect/>
            </a:stretch>
          </p:blipFill>
          <p:spPr>
            <a:xfrm>
              <a:off x="2632779" y="5257422"/>
              <a:ext cx="2471605" cy="1562331"/>
            </a:xfrm>
            <a:prstGeom prst="rect">
              <a:avLst/>
            </a:prstGeom>
            <a:noFill/>
            <a:ln>
              <a:noFill/>
            </a:ln>
          </p:spPr>
        </p:pic>
        <p:sp>
          <p:nvSpPr>
            <p:cNvPr id="27" name="Google Shape;319;g3d635d120e2_2_152">
              <a:extLst>
                <a:ext uri="{FF2B5EF4-FFF2-40B4-BE49-F238E27FC236}">
                  <a16:creationId xmlns:a16="http://schemas.microsoft.com/office/drawing/2014/main" id="{100CEE07-E33A-83A9-AFA7-1A2F8EC496BB}"/>
                </a:ext>
              </a:extLst>
            </p:cNvPr>
            <p:cNvSpPr txBox="1"/>
            <p:nvPr/>
          </p:nvSpPr>
          <p:spPr>
            <a:xfrm>
              <a:off x="156834" y="7176777"/>
              <a:ext cx="2323200" cy="1104888"/>
            </a:xfrm>
            <a:prstGeom prst="rect">
              <a:avLst/>
            </a:prstGeom>
            <a:noFill/>
            <a:ln>
              <a:noFill/>
            </a:ln>
          </p:spPr>
          <p:txBody>
            <a:bodyPr spcFirstLastPara="1" wrap="square" lIns="91425" tIns="91425" rIns="91425" bIns="91425" anchor="t" anchorCtr="0">
              <a:spAutoFit/>
            </a:bodyPr>
            <a:lstStyle/>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UMF 5 Nogales</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 2 Hermosillo </a:t>
              </a:r>
              <a:endParaRPr sz="1300" dirty="0">
                <a:solidFill>
                  <a:srgbClr val="595959"/>
                </a:solidFill>
                <a:latin typeface="Montserrat"/>
                <a:ea typeface="Montserrat"/>
                <a:cs typeface="Montserrat"/>
                <a:sym typeface="Montserrat"/>
              </a:endParaRPr>
            </a:p>
            <a:p>
              <a:pPr marL="0" marR="508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Cd. Obregón</a:t>
              </a:r>
            </a:p>
            <a:p>
              <a:pPr marL="0" marR="508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$8.6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54" name="Table 153"/>
          <p:cNvGraphicFramePr>
            <a:graphicFrameLocks noGrp="1"/>
          </p:cNvGraphicFramePr>
          <p:nvPr/>
        </p:nvGraphicFramePr>
        <p:xfrm>
          <a:off x="93600" y="1180800"/>
          <a:ext cx="7534799" cy="410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 14 Hermosillo C/U quemados</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19</a:t>
                      </a:r>
                    </a:p>
                  </a:txBody>
                  <a:tcPr>
                    <a:solidFill>
                      <a:srgbClr val="FFFFFF"/>
                    </a:solidFill>
                  </a:tcPr>
                </a:tc>
                <a:tc>
                  <a:txBody>
                    <a:bodyPr/>
                    <a:lstStyle/>
                    <a:p>
                      <a:pPr algn="ctr">
                        <a:defRPr sz="1000">
                          <a:latin typeface="Montserrat"/>
                        </a:defRPr>
                      </a:pPr>
                      <a:r>
                        <a:t>1</a:t>
                      </a:r>
                    </a:p>
                  </a:txBody>
                  <a:tcPr>
                    <a:solidFill>
                      <a:srgbClr val="E6D194"/>
                    </a:solidFill>
                  </a:tcPr>
                </a:tc>
              </a:tr>
              <a:tr h="216000">
                <a:tc>
                  <a:txBody>
                    <a:bodyPr/>
                    <a:lstStyle/>
                    <a:p>
                      <a:pPr algn="l">
                        <a:defRPr sz="1000">
                          <a:latin typeface="Montserrat"/>
                        </a:defRPr>
                      </a:pPr>
                      <a:r>
                        <a:t>HGZ 8 Caborca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7 Huatabampo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4 Guaymas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HGR 1 Cd.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15 Dr. Ernesto Ramos Johnson Bours</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11</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5 Nogales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14</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27</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HGP Hermosillo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16</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16</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12</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7</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122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01710691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D639DDB7-A38F-0D13-DA66-0BC5F528460F}"/>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3E6EBD21-AB7B-9C38-23E9-201660A43F14}"/>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1ECD57CC-AFF3-B01A-20A8-662C858766DE}"/>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39C27293-5D8D-FA11-B3E6-74A95BE5ADDD}"/>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20D6A8D5-20A9-3113-CA5E-C7BDC65E818F}"/>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31F0E926-36F4-98FD-5FA6-3F83A79F383E}"/>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898949C-E1BB-8892-42F3-2F55F0C16EB4}"/>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+15,746</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+197,445</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+204,100</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3,288,009</a:t>
                      </a:r>
                    </a:p>
                  </a:txBody>
                  <a:tcPr marL="0" marR="0" marT="0" marB="0" anchor="ctr">
                    <a:solidFill>
                      <a:srgbClr val="FFFFFF"/>
                    </a:solidFill>
                  </a:tcPr>
                </a:tc>
                <a:tc>
                  <a:txBody>
                    <a:bodyPr/>
                    <a:lstStyle/>
                    <a:p>
                      <a:pPr algn="ctr">
                        <a:defRPr sz="1000">
                          <a:solidFill>
                            <a:srgbClr val="404040"/>
                          </a:solidFill>
                          <a:latin typeface="Montserrat"/>
                        </a:defRPr>
                      </a:pPr>
                      <a:r>
                        <a:t>197,445</a:t>
                      </a:r>
                    </a:p>
                  </a:txBody>
                  <a:tcPr marL="0" marR="0" marT="0" marB="0" anchor="ctr">
                    <a:solidFill>
                      <a:srgbClr val="FFFFFF"/>
                    </a:solidFill>
                  </a:tcPr>
                </a:tc>
                <a:tc>
                  <a:txBody>
                    <a:bodyPr/>
                    <a:lstStyle/>
                    <a:p>
                      <a:pPr algn="ctr">
                        <a:defRPr sz="1000" b="1">
                          <a:solidFill>
                            <a:srgbClr val="980000"/>
                          </a:solidFill>
                          <a:latin typeface="Montserrat"/>
                        </a:defRPr>
                      </a:pPr>
                      <a:r>
                        <a:t>1,370,982</a:t>
                      </a:r>
                    </a:p>
                  </a:txBody>
                  <a:tcPr marL="0" marR="0" marT="0" marB="0" anchor="ctr">
                    <a:solidFill>
                      <a:srgbClr val="ECD3D9"/>
                    </a:solidFill>
                  </a:tcPr>
                </a:tc>
                <a:tc>
                  <a:txBody>
                    <a:bodyPr/>
                    <a:lstStyle/>
                    <a:p>
                      <a:pPr algn="ctr">
                        <a:defRPr sz="1000" b="1">
                          <a:solidFill>
                            <a:srgbClr val="980000"/>
                          </a:solidFill>
                          <a:latin typeface="Montserrat"/>
                        </a:defRPr>
                      </a:pPr>
                      <a:r>
                        <a:t>3,333,200</a:t>
                      </a:r>
                    </a:p>
                  </a:txBody>
                  <a:tcPr marL="0" marR="0" marT="0" marB="0" anchor="ctr">
                    <a:solidFill>
                      <a:srgbClr val="ECD3D9"/>
                    </a:solidFill>
                  </a:tcPr>
                </a:tc>
                <a:tc>
                  <a:txBody>
                    <a:bodyPr/>
                    <a:lstStyle/>
                    <a:p>
                      <a:pPr algn="ctr">
                        <a:defRPr sz="1000" b="1">
                          <a:solidFill>
                            <a:srgbClr val="980000"/>
                          </a:solidFill>
                          <a:latin typeface="Montserrat"/>
                        </a:defRPr>
                      </a:pPr>
                      <a:r>
                        <a:t>41.1%</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1,085,759</a:t>
                      </a:r>
                    </a:p>
                  </a:txBody>
                  <a:tcPr marL="0" marR="0" marT="0" marB="0" anchor="ctr">
                    <a:solidFill>
                      <a:srgbClr val="EFEFEF"/>
                    </a:solidFill>
                  </a:tcPr>
                </a:tc>
                <a:tc>
                  <a:txBody>
                    <a:bodyPr/>
                    <a:lstStyle/>
                    <a:p>
                      <a:pPr algn="ctr">
                        <a:defRPr sz="1000">
                          <a:solidFill>
                            <a:srgbClr val="404040"/>
                          </a:solidFill>
                          <a:latin typeface="Montserrat"/>
                        </a:defRPr>
                      </a:pPr>
                      <a:r>
                        <a:t>204,100</a:t>
                      </a:r>
                    </a:p>
                  </a:txBody>
                  <a:tcPr marL="0" marR="0" marT="0" marB="0" anchor="ctr">
                    <a:solidFill>
                      <a:srgbClr val="EFEFEF"/>
                    </a:solidFill>
                  </a:tcPr>
                </a:tc>
                <a:tc>
                  <a:txBody>
                    <a:bodyPr/>
                    <a:lstStyle/>
                    <a:p>
                      <a:pPr algn="ctr">
                        <a:defRPr sz="1000" b="1">
                          <a:solidFill>
                            <a:srgbClr val="980000"/>
                          </a:solidFill>
                          <a:latin typeface="Montserrat"/>
                        </a:defRPr>
                      </a:pPr>
                      <a:r>
                        <a:t>461,533</a:t>
                      </a:r>
                    </a:p>
                  </a:txBody>
                  <a:tcPr marL="0" marR="0" marT="0" marB="0" anchor="ctr">
                    <a:solidFill>
                      <a:srgbClr val="F4E3E7"/>
                    </a:solidFill>
                  </a:tcPr>
                </a:tc>
                <a:tc>
                  <a:txBody>
                    <a:bodyPr/>
                    <a:lstStyle/>
                    <a:p>
                      <a:pPr algn="ctr">
                        <a:defRPr sz="1000" b="1">
                          <a:solidFill>
                            <a:srgbClr val="980000"/>
                          </a:solidFill>
                          <a:latin typeface="Montserrat"/>
                        </a:defRPr>
                      </a:pPr>
                      <a:r>
                        <a:t>1,305,970</a:t>
                      </a:r>
                    </a:p>
                  </a:txBody>
                  <a:tcPr marL="0" marR="0" marT="0" marB="0" anchor="ctr">
                    <a:solidFill>
                      <a:srgbClr val="F4E3E7"/>
                    </a:solidFill>
                  </a:tcPr>
                </a:tc>
                <a:tc>
                  <a:txBody>
                    <a:bodyPr/>
                    <a:lstStyle/>
                    <a:p>
                      <a:pPr algn="ctr">
                        <a:defRPr sz="1000" b="1">
                          <a:solidFill>
                            <a:srgbClr val="980000"/>
                          </a:solidFill>
                          <a:latin typeface="Montserrat"/>
                        </a:defRPr>
                      </a:pPr>
                      <a:r>
                        <a:t>35.3%</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67,545</a:t>
                      </a:r>
                    </a:p>
                  </a:txBody>
                  <a:tcPr marL="0" marR="0" marT="0" marB="0" anchor="ctr">
                    <a:solidFill>
                      <a:srgbClr val="FFFFFF"/>
                    </a:solidFill>
                  </a:tcPr>
                </a:tc>
                <a:tc>
                  <a:txBody>
                    <a:bodyPr/>
                    <a:lstStyle/>
                    <a:p>
                      <a:pPr algn="ctr">
                        <a:defRPr sz="1000">
                          <a:solidFill>
                            <a:srgbClr val="404040"/>
                          </a:solidFill>
                          <a:latin typeface="Montserrat"/>
                        </a:defRPr>
                      </a:pPr>
                      <a:r>
                        <a:t>15,746</a:t>
                      </a:r>
                    </a:p>
                  </a:txBody>
                  <a:tcPr marL="0" marR="0" marT="0" marB="0" anchor="ctr">
                    <a:solidFill>
                      <a:srgbClr val="FFFFFF"/>
                    </a:solidFill>
                  </a:tcPr>
                </a:tc>
                <a:tc>
                  <a:txBody>
                    <a:bodyPr/>
                    <a:lstStyle/>
                    <a:p>
                      <a:pPr algn="ctr">
                        <a:defRPr sz="1000" b="1">
                          <a:solidFill>
                            <a:srgbClr val="980000"/>
                          </a:solidFill>
                          <a:latin typeface="Montserrat"/>
                        </a:defRPr>
                      </a:pPr>
                      <a:r>
                        <a:t>27,742</a:t>
                      </a:r>
                    </a:p>
                  </a:txBody>
                  <a:tcPr marL="0" marR="0" marT="0" marB="0" anchor="ctr">
                    <a:solidFill>
                      <a:srgbClr val="ECD3D9"/>
                    </a:solidFill>
                  </a:tcPr>
                </a:tc>
                <a:tc>
                  <a:txBody>
                    <a:bodyPr/>
                    <a:lstStyle/>
                    <a:p>
                      <a:pPr algn="ctr">
                        <a:defRPr sz="1000" b="1">
                          <a:solidFill>
                            <a:srgbClr val="980000"/>
                          </a:solidFill>
                          <a:latin typeface="Montserrat"/>
                        </a:defRPr>
                      </a:pPr>
                      <a:r>
                        <a:t>87,869</a:t>
                      </a:r>
                    </a:p>
                  </a:txBody>
                  <a:tcPr marL="0" marR="0" marT="0" marB="0" anchor="ctr">
                    <a:solidFill>
                      <a:srgbClr val="ECD3D9"/>
                    </a:solidFill>
                  </a:tcPr>
                </a:tc>
                <a:tc>
                  <a:txBody>
                    <a:bodyPr/>
                    <a:lstStyle/>
                    <a:p>
                      <a:pPr algn="ctr">
                        <a:defRPr sz="1000" b="1">
                          <a:solidFill>
                            <a:srgbClr val="980000"/>
                          </a:solidFill>
                          <a:latin typeface="Montserrat"/>
                        </a:defRPr>
                      </a:pPr>
                      <a:r>
                        <a:t>31.6%</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589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28 Bacum</a:t>
                      </a:r>
                    </a:p>
                  </a:txBody>
                  <a:tcPr marL="0" marR="0" marT="0" marB="0">
                    <a:solidFill>
                      <a:srgbClr val="FFFFFF"/>
                    </a:solidFill>
                  </a:tcPr>
                </a:tc>
                <a:tc>
                  <a:txBody>
                    <a:bodyPr/>
                    <a:lstStyle/>
                    <a:p>
                      <a:pPr algn="ctr">
                        <a:defRPr sz="1000">
                          <a:latin typeface="Montserrat"/>
                        </a:defRPr>
                      </a:pPr>
                      <a:r>
                        <a:t>10,852</a:t>
                      </a:r>
                    </a:p>
                  </a:txBody>
                  <a:tcPr marL="0" marR="0" marT="0" marB="0">
                    <a:solidFill>
                      <a:srgbClr val="FFFFFF"/>
                    </a:solidFill>
                  </a:tcPr>
                </a:tc>
                <a:tc>
                  <a:txBody>
                    <a:bodyPr/>
                    <a:lstStyle/>
                    <a:p>
                      <a:pPr algn="ctr">
                        <a:defRPr sz="1000">
                          <a:latin typeface="Montserrat"/>
                        </a:defRPr>
                      </a:pPr>
                      <a:r>
                        <a:t>2,602</a:t>
                      </a:r>
                    </a:p>
                  </a:txBody>
                  <a:tcPr marL="0" marR="0" marT="0" marB="0">
                    <a:solidFill>
                      <a:srgbClr val="FFFFFF"/>
                    </a:solidFill>
                  </a:tcPr>
                </a:tc>
                <a:tc>
                  <a:txBody>
                    <a:bodyPr/>
                    <a:lstStyle/>
                    <a:p>
                      <a:pPr algn="ctr">
                        <a:defRPr sz="1000">
                          <a:latin typeface="Montserrat"/>
                        </a:defRPr>
                      </a:pPr>
                      <a:r>
                        <a:t>4,821</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15 Etchojoa</a:t>
                      </a:r>
                    </a:p>
                  </a:txBody>
                  <a:tcPr marL="0" marR="0" marT="0" marB="0">
                    <a:solidFill>
                      <a:srgbClr val="EFEFEF"/>
                    </a:solidFill>
                  </a:tcPr>
                </a:tc>
                <a:tc>
                  <a:txBody>
                    <a:bodyPr/>
                    <a:lstStyle/>
                    <a:p>
                      <a:pPr algn="ctr">
                        <a:defRPr sz="1000">
                          <a:latin typeface="Montserrat"/>
                        </a:defRPr>
                      </a:pPr>
                      <a:r>
                        <a:t>13,818</a:t>
                      </a:r>
                    </a:p>
                  </a:txBody>
                  <a:tcPr marL="0" marR="0" marT="0" marB="0">
                    <a:solidFill>
                      <a:srgbClr val="EFEFEF"/>
                    </a:solidFill>
                  </a:tcPr>
                </a:tc>
                <a:tc>
                  <a:txBody>
                    <a:bodyPr/>
                    <a:lstStyle/>
                    <a:p>
                      <a:pPr algn="ctr">
                        <a:defRPr sz="1000">
                          <a:latin typeface="Montserrat"/>
                        </a:defRPr>
                      </a:pPr>
                      <a:r>
                        <a:t>382</a:t>
                      </a:r>
                    </a:p>
                  </a:txBody>
                  <a:tcPr marL="0" marR="0" marT="0" marB="0">
                    <a:solidFill>
                      <a:srgbClr val="EFEFEF"/>
                    </a:solidFill>
                  </a:tcPr>
                </a:tc>
                <a:tc>
                  <a:txBody>
                    <a:bodyPr/>
                    <a:lstStyle/>
                    <a:p>
                      <a:pPr algn="ctr">
                        <a:defRPr sz="1000">
                          <a:latin typeface="Montserrat"/>
                        </a:defRPr>
                      </a:pPr>
                      <a:r>
                        <a:t>6,031</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43.1%</a:t>
                      </a:r>
                    </a:p>
                  </a:txBody>
                  <a:tcPr marL="0" marR="0" marT="0" marB="0">
                    <a:solidFill>
                      <a:srgbClr val="ECD3D9"/>
                    </a:solidFill>
                  </a:tcPr>
                </a:tc>
              </a:tr>
              <a:tr h="151200">
                <a:tc>
                  <a:txBody>
                    <a:bodyPr/>
                    <a:lstStyle/>
                    <a:p>
                      <a:pPr algn="l">
                        <a:defRPr sz="1000">
                          <a:latin typeface="Montserrat"/>
                        </a:defRPr>
                      </a:pPr>
                      <a:r>
                        <a:t>UMF 36 Quetchehueca</a:t>
                      </a:r>
                    </a:p>
                  </a:txBody>
                  <a:tcPr marL="0" marR="0" marT="0" marB="0">
                    <a:solidFill>
                      <a:srgbClr val="FFFFFF"/>
                    </a:solidFill>
                  </a:tcPr>
                </a:tc>
                <a:tc>
                  <a:txBody>
                    <a:bodyPr/>
                    <a:lstStyle/>
                    <a:p>
                      <a:pPr algn="ctr">
                        <a:defRPr sz="1000">
                          <a:latin typeface="Montserrat"/>
                        </a:defRPr>
                      </a:pPr>
                      <a:r>
                        <a:t>7,586</a:t>
                      </a:r>
                    </a:p>
                  </a:txBody>
                  <a:tcPr marL="0" marR="0" marT="0" marB="0">
                    <a:solidFill>
                      <a:srgbClr val="FFFFFF"/>
                    </a:solidFill>
                  </a:tcPr>
                </a:tc>
                <a:tc>
                  <a:txBody>
                    <a:bodyPr/>
                    <a:lstStyle/>
                    <a:p>
                      <a:pPr algn="ctr">
                        <a:defRPr sz="1000">
                          <a:latin typeface="Montserrat"/>
                        </a:defRPr>
                      </a:pPr>
                      <a:r>
                        <a:t>899</a:t>
                      </a:r>
                    </a:p>
                  </a:txBody>
                  <a:tcPr marL="0" marR="0" marT="0" marB="0">
                    <a:solidFill>
                      <a:srgbClr val="FFFFFF"/>
                    </a:solidFill>
                  </a:tcPr>
                </a:tc>
                <a:tc>
                  <a:txBody>
                    <a:bodyPr/>
                    <a:lstStyle/>
                    <a:p>
                      <a:pPr algn="ctr">
                        <a:defRPr sz="1000">
                          <a:latin typeface="Montserrat"/>
                        </a:defRPr>
                      </a:pPr>
                      <a:r>
                        <a:t>3,595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33 Cocorit</a:t>
                      </a:r>
                    </a:p>
                  </a:txBody>
                  <a:tcPr marL="0" marR="0" marT="0" marB="0">
                    <a:solidFill>
                      <a:srgbClr val="EFEFEF"/>
                    </a:solidFill>
                  </a:tcPr>
                </a:tc>
                <a:tc>
                  <a:txBody>
                    <a:bodyPr/>
                    <a:lstStyle/>
                    <a:p>
                      <a:pPr algn="ctr">
                        <a:defRPr sz="1000">
                          <a:latin typeface="Montserrat"/>
                        </a:defRPr>
                      </a:pPr>
                      <a:r>
                        <a:t>62,453</a:t>
                      </a:r>
                    </a:p>
                  </a:txBody>
                  <a:tcPr marL="0" marR="0" marT="0" marB="0">
                    <a:solidFill>
                      <a:srgbClr val="EFEFEF"/>
                    </a:solidFill>
                  </a:tcPr>
                </a:tc>
                <a:tc>
                  <a:txBody>
                    <a:bodyPr/>
                    <a:lstStyle/>
                    <a:p>
                      <a:pPr algn="ctr">
                        <a:defRPr sz="1000">
                          <a:latin typeface="Montserrat"/>
                        </a:defRPr>
                      </a:pPr>
                      <a:r>
                        <a:t>7,096</a:t>
                      </a:r>
                    </a:p>
                  </a:txBody>
                  <a:tcPr marL="0" marR="0" marT="0" marB="0">
                    <a:solidFill>
                      <a:srgbClr val="EFEFEF"/>
                    </a:solidFill>
                  </a:tcPr>
                </a:tc>
                <a:tc>
                  <a:txBody>
                    <a:bodyPr/>
                    <a:lstStyle/>
                    <a:p>
                      <a:pPr algn="ctr">
                        <a:defRPr sz="1000">
                          <a:latin typeface="Montserrat"/>
                        </a:defRPr>
                      </a:pPr>
                      <a:r>
                        <a:t>26,985</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43.1%</a:t>
                      </a:r>
                    </a:p>
                  </a:txBody>
                  <a:tcPr marL="0" marR="0" marT="0" marB="0">
                    <a:solidFill>
                      <a:srgbClr val="ECD3D9"/>
                    </a:solidFill>
                  </a:tcPr>
                </a:tc>
              </a:tr>
              <a:tr h="151200">
                <a:tc>
                  <a:txBody>
                    <a:bodyPr/>
                    <a:lstStyle/>
                    <a:p>
                      <a:pPr algn="l">
                        <a:defRPr sz="1000">
                          <a:latin typeface="Montserrat"/>
                        </a:defRPr>
                      </a:pPr>
                      <a:r>
                        <a:t>UMF 34 Cuauhtémoc</a:t>
                      </a:r>
                    </a:p>
                  </a:txBody>
                  <a:tcPr marL="0" marR="0" marT="0" marB="0">
                    <a:solidFill>
                      <a:srgbClr val="FFFFFF"/>
                    </a:solidFill>
                  </a:tcPr>
                </a:tc>
                <a:tc>
                  <a:txBody>
                    <a:bodyPr/>
                    <a:lstStyle/>
                    <a:p>
                      <a:pPr algn="ctr">
                        <a:defRPr sz="1000">
                          <a:latin typeface="Montserrat"/>
                        </a:defRPr>
                      </a:pPr>
                      <a:r>
                        <a:t>8,248</a:t>
                      </a:r>
                    </a:p>
                  </a:txBody>
                  <a:tcPr marL="0" marR="0" marT="0" marB="0">
                    <a:solidFill>
                      <a:srgbClr val="FFFFFF"/>
                    </a:solidFill>
                  </a:tcPr>
                </a:tc>
                <a:tc>
                  <a:txBody>
                    <a:bodyPr/>
                    <a:lstStyle/>
                    <a:p>
                      <a:pPr algn="ctr">
                        <a:defRPr sz="1000">
                          <a:latin typeface="Montserrat"/>
                        </a:defRPr>
                      </a:pPr>
                      <a:r>
                        <a:t>606</a:t>
                      </a:r>
                    </a:p>
                  </a:txBody>
                  <a:tcPr marL="0" marR="0" marT="0" marB="0">
                    <a:solidFill>
                      <a:srgbClr val="FFFFFF"/>
                    </a:solidFill>
                  </a:tcPr>
                </a:tc>
                <a:tc>
                  <a:txBody>
                    <a:bodyPr/>
                    <a:lstStyle/>
                    <a:p>
                      <a:pPr algn="ctr">
                        <a:defRPr sz="1000">
                          <a:latin typeface="Montserrat"/>
                        </a:defRPr>
                      </a:pPr>
                      <a:r>
                        <a:t>3,662</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36.6%</a:t>
                      </a:r>
                    </a:p>
                  </a:txBody>
                  <a:tcPr marL="0" marR="0" marT="0" marB="0">
                    <a:solidFill>
                      <a:srgbClr val="ECD3D9"/>
                    </a:solidFill>
                  </a:tcPr>
                </a:tc>
              </a:tr>
              <a:tr h="151200">
                <a:tc>
                  <a:txBody>
                    <a:bodyPr/>
                    <a:lstStyle/>
                    <a:p>
                      <a:pPr algn="l">
                        <a:defRPr sz="1000">
                          <a:latin typeface="Montserrat"/>
                        </a:defRPr>
                      </a:pPr>
                      <a:r>
                        <a:t>UMF 29 E. Fco. J. Mina</a:t>
                      </a:r>
                    </a:p>
                  </a:txBody>
                  <a:tcPr marL="0" marR="0" marT="0" marB="0">
                    <a:solidFill>
                      <a:srgbClr val="EFEFEF"/>
                    </a:solidFill>
                  </a:tcPr>
                </a:tc>
                <a:tc>
                  <a:txBody>
                    <a:bodyPr/>
                    <a:lstStyle/>
                    <a:p>
                      <a:pPr algn="ctr">
                        <a:defRPr sz="1000">
                          <a:latin typeface="Montserrat"/>
                        </a:defRPr>
                      </a:pPr>
                      <a:r>
                        <a:t>14,220</a:t>
                      </a:r>
                    </a:p>
                  </a:txBody>
                  <a:tcPr marL="0" marR="0" marT="0" marB="0">
                    <a:solidFill>
                      <a:srgbClr val="EFEFEF"/>
                    </a:solidFill>
                  </a:tcPr>
                </a:tc>
                <a:tc>
                  <a:txBody>
                    <a:bodyPr/>
                    <a:lstStyle/>
                    <a:p>
                      <a:pPr algn="ctr">
                        <a:defRPr sz="1000">
                          <a:latin typeface="Montserrat"/>
                        </a:defRPr>
                      </a:pPr>
                      <a:r>
                        <a:t>4,002</a:t>
                      </a:r>
                    </a:p>
                  </a:txBody>
                  <a:tcPr marL="0" marR="0" marT="0" marB="0">
                    <a:solidFill>
                      <a:srgbClr val="EFEFEF"/>
                    </a:solidFill>
                  </a:tcPr>
                </a:tc>
                <a:tc>
                  <a:txBody>
                    <a:bodyPr/>
                    <a:lstStyle/>
                    <a:p>
                      <a:pPr algn="ctr">
                        <a:defRPr sz="1000">
                          <a:latin typeface="Montserrat"/>
                        </a:defRPr>
                      </a:pPr>
                      <a:r>
                        <a:t>5,847</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31 1o. de Mayo</a:t>
                      </a:r>
                    </a:p>
                  </a:txBody>
                  <a:tcPr marL="0" marR="0" marT="0" marB="0">
                    <a:solidFill>
                      <a:srgbClr val="FFFFFF"/>
                    </a:solidFill>
                  </a:tcPr>
                </a:tc>
                <a:tc>
                  <a:txBody>
                    <a:bodyPr/>
                    <a:lstStyle/>
                    <a:p>
                      <a:pPr algn="ctr">
                        <a:defRPr sz="1000">
                          <a:latin typeface="Montserrat"/>
                        </a:defRPr>
                      </a:pPr>
                      <a:r>
                        <a:t>4,875</a:t>
                      </a:r>
                    </a:p>
                  </a:txBody>
                  <a:tcPr marL="0" marR="0" marT="0" marB="0">
                    <a:solidFill>
                      <a:srgbClr val="FFFFFF"/>
                    </a:solidFill>
                  </a:tcPr>
                </a:tc>
                <a:tc>
                  <a:txBody>
                    <a:bodyPr/>
                    <a:lstStyle/>
                    <a:p>
                      <a:pPr algn="ctr">
                        <a:defRPr sz="1000">
                          <a:latin typeface="Montserrat"/>
                        </a:defRPr>
                      </a:pPr>
                      <a:r>
                        <a:t>537</a:t>
                      </a:r>
                    </a:p>
                  </a:txBody>
                  <a:tcPr marL="0" marR="0" marT="0" marB="0">
                    <a:solidFill>
                      <a:srgbClr val="FFFFFF"/>
                    </a:solidFill>
                  </a:tcPr>
                </a:tc>
                <a:tc>
                  <a:txBody>
                    <a:bodyPr/>
                    <a:lstStyle/>
                    <a:p>
                      <a:pPr algn="ctr">
                        <a:defRPr sz="1000">
                          <a:latin typeface="Montserrat"/>
                        </a:defRPr>
                      </a:pPr>
                      <a:r>
                        <a:t>2,005</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33.4%</a:t>
                      </a:r>
                    </a:p>
                  </a:txBody>
                  <a:tcPr marL="0" marR="0" marT="0" marB="0">
                    <a:solidFill>
                      <a:srgbClr val="ECD3D9"/>
                    </a:solidFill>
                  </a:tcPr>
                </a:tc>
              </a:tr>
              <a:tr h="151200">
                <a:tc>
                  <a:txBody>
                    <a:bodyPr/>
                    <a:lstStyle/>
                    <a:p>
                      <a:pPr algn="l">
                        <a:defRPr sz="1000">
                          <a:latin typeface="Montserrat"/>
                        </a:defRPr>
                      </a:pPr>
                      <a:r>
                        <a:t>UMF 35 Pueblo Yaqui</a:t>
                      </a:r>
                    </a:p>
                  </a:txBody>
                  <a:tcPr marL="0" marR="0" marT="0" marB="0">
                    <a:solidFill>
                      <a:srgbClr val="EFEFEF"/>
                    </a:solidFill>
                  </a:tcPr>
                </a:tc>
                <a:tc>
                  <a:txBody>
                    <a:bodyPr/>
                    <a:lstStyle/>
                    <a:p>
                      <a:pPr algn="ctr">
                        <a:defRPr sz="1000">
                          <a:latin typeface="Montserrat"/>
                        </a:defRPr>
                      </a:pPr>
                      <a:r>
                        <a:t>22,872</a:t>
                      </a:r>
                    </a:p>
                  </a:txBody>
                  <a:tcPr marL="0" marR="0" marT="0" marB="0">
                    <a:solidFill>
                      <a:srgbClr val="EFEFEF"/>
                    </a:solidFill>
                  </a:tcPr>
                </a:tc>
                <a:tc>
                  <a:txBody>
                    <a:bodyPr/>
                    <a:lstStyle/>
                    <a:p>
                      <a:pPr algn="ctr">
                        <a:defRPr sz="1000">
                          <a:latin typeface="Montserrat"/>
                        </a:defRPr>
                      </a:pPr>
                      <a:r>
                        <a:t>1,171</a:t>
                      </a:r>
                    </a:p>
                  </a:txBody>
                  <a:tcPr marL="0" marR="0" marT="0" marB="0">
                    <a:solidFill>
                      <a:srgbClr val="EFEFEF"/>
                    </a:solidFill>
                  </a:tcPr>
                </a:tc>
                <a:tc>
                  <a:txBody>
                    <a:bodyPr/>
                    <a:lstStyle/>
                    <a:p>
                      <a:pPr algn="ctr">
                        <a:defRPr sz="1000">
                          <a:latin typeface="Montserrat"/>
                        </a:defRPr>
                      </a:pPr>
                      <a:r>
                        <a:t>8,901</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35.5%</a:t>
                      </a:r>
                    </a:p>
                  </a:txBody>
                  <a:tcPr marL="0" marR="0" marT="0" marB="0">
                    <a:solidFill>
                      <a:srgbClr val="ECD3D9"/>
                    </a:solidFill>
                  </a:tcPr>
                </a:tc>
              </a:tr>
              <a:tr h="151200">
                <a:tc>
                  <a:txBody>
                    <a:bodyPr/>
                    <a:lstStyle/>
                    <a:p>
                      <a:pPr algn="l">
                        <a:defRPr sz="1000">
                          <a:latin typeface="Montserrat"/>
                        </a:defRPr>
                      </a:pPr>
                      <a:r>
                        <a:t>UMF 17 Villa Juárez</a:t>
                      </a:r>
                    </a:p>
                  </a:txBody>
                  <a:tcPr marL="0" marR="0" marT="0" marB="0">
                    <a:solidFill>
                      <a:srgbClr val="FFFFFF"/>
                    </a:solidFill>
                  </a:tcPr>
                </a:tc>
                <a:tc>
                  <a:txBody>
                    <a:bodyPr/>
                    <a:lstStyle/>
                    <a:p>
                      <a:pPr algn="ctr">
                        <a:defRPr sz="1000">
                          <a:latin typeface="Montserrat"/>
                        </a:defRPr>
                      </a:pPr>
                      <a:r>
                        <a:t>26,728</a:t>
                      </a:r>
                    </a:p>
                  </a:txBody>
                  <a:tcPr marL="0" marR="0" marT="0" marB="0">
                    <a:solidFill>
                      <a:srgbClr val="FFFFFF"/>
                    </a:solidFill>
                  </a:tcPr>
                </a:tc>
                <a:tc>
                  <a:txBody>
                    <a:bodyPr/>
                    <a:lstStyle/>
                    <a:p>
                      <a:pPr algn="ctr">
                        <a:defRPr sz="1000">
                          <a:latin typeface="Montserrat"/>
                        </a:defRPr>
                      </a:pPr>
                      <a:r>
                        <a:t>2,467</a:t>
                      </a:r>
                    </a:p>
                  </a:txBody>
                  <a:tcPr marL="0" marR="0" marT="0" marB="0">
                    <a:solidFill>
                      <a:srgbClr val="FFFFFF"/>
                    </a:solidFill>
                  </a:tcPr>
                </a:tc>
                <a:tc>
                  <a:txBody>
                    <a:bodyPr/>
                    <a:lstStyle/>
                    <a:p>
                      <a:pPr algn="ctr">
                        <a:defRPr sz="1000">
                          <a:latin typeface="Montserrat"/>
                        </a:defRPr>
                      </a:pPr>
                      <a:r>
                        <a:t>10,432</a:t>
                      </a:r>
                    </a:p>
                  </a:txBody>
                  <a:tcPr marL="0" marR="0" marT="0" marB="0">
                    <a:solidFill>
                      <a:srgbClr val="ECD3D9"/>
                    </a:solidFill>
                  </a:tcPr>
                </a:tc>
                <a:tc>
                  <a:txBody>
                    <a:bodyPr/>
                    <a:lstStyle/>
                    <a:p>
                      <a:pPr algn="ctr">
                        <a:defRPr sz="1000">
                          <a:latin typeface="Montserrat"/>
                        </a:defRPr>
                      </a:pPr>
                      <a:r>
                        <a:t>26,000</a:t>
                      </a:r>
                    </a:p>
                  </a:txBody>
                  <a:tcPr marL="0" marR="0" marT="0" marB="0">
                    <a:solidFill>
                      <a:srgbClr val="ECD3D9"/>
                    </a:solidFill>
                  </a:tcPr>
                </a:tc>
                <a:tc>
                  <a:txBody>
                    <a:bodyPr/>
                    <a:lstStyle/>
                    <a:p>
                      <a:pPr algn="ctr">
                        <a:defRPr sz="1000">
                          <a:latin typeface="Montserrat"/>
                        </a:defRPr>
                      </a:pPr>
                      <a:r>
                        <a:t>40.1%</a:t>
                      </a:r>
                    </a:p>
                  </a:txBody>
                  <a:tcPr marL="0" marR="0" marT="0" marB="0">
                    <a:solidFill>
                      <a:srgbClr val="ECD3D9"/>
                    </a:solidFill>
                  </a:tcPr>
                </a:tc>
              </a:tr>
              <a:tr h="151200">
                <a:tc>
                  <a:txBody>
                    <a:bodyPr/>
                    <a:lstStyle/>
                    <a:p>
                      <a:pPr algn="l">
                        <a:defRPr sz="1000">
                          <a:latin typeface="Montserrat"/>
                        </a:defRPr>
                      </a:pPr>
                      <a:r>
                        <a:t>UMF 14 Bacobampo</a:t>
                      </a:r>
                    </a:p>
                  </a:txBody>
                  <a:tcPr marL="0" marR="0" marT="0" marB="0">
                    <a:solidFill>
                      <a:srgbClr val="EFEFEF"/>
                    </a:solidFill>
                  </a:tcPr>
                </a:tc>
                <a:tc>
                  <a:txBody>
                    <a:bodyPr/>
                    <a:lstStyle/>
                    <a:p>
                      <a:pPr algn="ctr">
                        <a:defRPr sz="1000">
                          <a:latin typeface="Montserrat"/>
                        </a:defRPr>
                      </a:pPr>
                      <a:r>
                        <a:t>12,242</a:t>
                      </a:r>
                    </a:p>
                  </a:txBody>
                  <a:tcPr marL="0" marR="0" marT="0" marB="0">
                    <a:solidFill>
                      <a:srgbClr val="EFEFEF"/>
                    </a:solidFill>
                  </a:tcPr>
                </a:tc>
                <a:tc>
                  <a:txBody>
                    <a:bodyPr/>
                    <a:lstStyle/>
                    <a:p>
                      <a:pPr algn="ctr">
                        <a:defRPr sz="1000">
                          <a:latin typeface="Montserrat"/>
                        </a:defRPr>
                      </a:pPr>
                      <a:r>
                        <a:t>1,076</a:t>
                      </a:r>
                    </a:p>
                  </a:txBody>
                  <a:tcPr marL="0" marR="0" marT="0" marB="0">
                    <a:solidFill>
                      <a:srgbClr val="EFEFEF"/>
                    </a:solidFill>
                  </a:tcPr>
                </a:tc>
                <a:tc>
                  <a:txBody>
                    <a:bodyPr/>
                    <a:lstStyle/>
                    <a:p>
                      <a:pPr algn="ctr">
                        <a:defRPr sz="1000">
                          <a:latin typeface="Montserrat"/>
                        </a:defRPr>
                      </a:pPr>
                      <a:r>
                        <a:t>5,574</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42.9%</a:t>
                      </a:r>
                    </a:p>
                  </a:txBody>
                  <a:tcPr marL="0" marR="0" marT="0" marB="0">
                    <a:solidFill>
                      <a:srgbClr val="ECD3D9"/>
                    </a:solidFill>
                  </a:tcPr>
                </a:tc>
              </a:tr>
              <a:tr h="151200">
                <a:tc>
                  <a:txBody>
                    <a:bodyPr/>
                    <a:lstStyle/>
                    <a:p>
                      <a:pPr algn="l">
                        <a:defRPr sz="1000">
                          <a:latin typeface="Montserrat"/>
                        </a:defRPr>
                      </a:pPr>
                      <a:r>
                        <a:t>UMF 16 San Pedro</a:t>
                      </a:r>
                    </a:p>
                  </a:txBody>
                  <a:tcPr marL="0" marR="0" marT="0" marB="0">
                    <a:solidFill>
                      <a:srgbClr val="FFFFFF"/>
                    </a:solidFill>
                  </a:tcPr>
                </a:tc>
                <a:tc>
                  <a:txBody>
                    <a:bodyPr/>
                    <a:lstStyle/>
                    <a:p>
                      <a:pPr algn="ctr">
                        <a:defRPr sz="1000">
                          <a:latin typeface="Montserrat"/>
                        </a:defRPr>
                      </a:pPr>
                      <a:r>
                        <a:t>7,570</a:t>
                      </a:r>
                    </a:p>
                  </a:txBody>
                  <a:tcPr marL="0" marR="0" marT="0" marB="0">
                    <a:solidFill>
                      <a:srgbClr val="FFFFFF"/>
                    </a:solidFill>
                  </a:tcPr>
                </a:tc>
                <a:tc>
                  <a:txBody>
                    <a:bodyPr/>
                    <a:lstStyle/>
                    <a:p>
                      <a:pPr algn="ctr">
                        <a:defRPr sz="1000">
                          <a:latin typeface="Montserrat"/>
                        </a:defRPr>
                      </a:pPr>
                      <a:r>
                        <a:t>84</a:t>
                      </a:r>
                    </a:p>
                  </a:txBody>
                  <a:tcPr marL="0" marR="0" marT="0" marB="0">
                    <a:solidFill>
                      <a:srgbClr val="FFFFFF"/>
                    </a:solidFill>
                  </a:tcPr>
                </a:tc>
                <a:tc>
                  <a:txBody>
                    <a:bodyPr/>
                    <a:lstStyle/>
                    <a:p>
                      <a:pPr algn="ctr">
                        <a:defRPr sz="1000">
                          <a:latin typeface="Montserrat"/>
                        </a:defRPr>
                      </a:pPr>
                      <a:r>
                        <a:t>3,150</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35.0%</a:t>
                      </a:r>
                    </a:p>
                  </a:txBody>
                  <a:tcPr marL="0" marR="0" marT="0" marB="0">
                    <a:solidFill>
                      <a:srgbClr val="ECD3D9"/>
                    </a:solidFill>
                  </a:tcPr>
                </a:tc>
              </a:tr>
              <a:tr h="151200">
                <a:tc>
                  <a:txBody>
                    <a:bodyPr/>
                    <a:lstStyle/>
                    <a:p>
                      <a:pPr algn="l">
                        <a:defRPr sz="1000">
                          <a:latin typeface="Montserrat"/>
                        </a:defRPr>
                      </a:pPr>
                      <a:r>
                        <a:t>UMF 18 C. Militar</a:t>
                      </a:r>
                    </a:p>
                  </a:txBody>
                  <a:tcPr marL="0" marR="0" marT="0" marB="0">
                    <a:solidFill>
                      <a:srgbClr val="EFEFEF"/>
                    </a:solidFill>
                  </a:tcPr>
                </a:tc>
                <a:tc>
                  <a:txBody>
                    <a:bodyPr/>
                    <a:lstStyle/>
                    <a:p>
                      <a:pPr algn="ctr">
                        <a:defRPr sz="1000">
                          <a:latin typeface="Montserrat"/>
                        </a:defRPr>
                      </a:pPr>
                      <a:r>
                        <a:t>13,956</a:t>
                      </a:r>
                    </a:p>
                  </a:txBody>
                  <a:tcPr marL="0" marR="0" marT="0" marB="0">
                    <a:solidFill>
                      <a:srgbClr val="EFEFEF"/>
                    </a:solidFill>
                  </a:tcPr>
                </a:tc>
                <a:tc>
                  <a:txBody>
                    <a:bodyPr/>
                    <a:lstStyle/>
                    <a:p>
                      <a:pPr algn="ctr">
                        <a:defRPr sz="1000">
                          <a:latin typeface="Montserrat"/>
                        </a:defRPr>
                      </a:pPr>
                      <a:r>
                        <a:t>1,724</a:t>
                      </a:r>
                    </a:p>
                  </a:txBody>
                  <a:tcPr marL="0" marR="0" marT="0" marB="0">
                    <a:solidFill>
                      <a:srgbClr val="EFEFEF"/>
                    </a:solidFill>
                  </a:tcPr>
                </a:tc>
                <a:tc>
                  <a:txBody>
                    <a:bodyPr/>
                    <a:lstStyle/>
                    <a:p>
                      <a:pPr algn="ctr">
                        <a:defRPr sz="1000">
                          <a:latin typeface="Montserrat"/>
                        </a:defRPr>
                      </a:pPr>
                      <a:r>
                        <a:t>5,401</a:t>
                      </a:r>
                    </a:p>
                  </a:txBody>
                  <a:tcPr marL="0" marR="0" marT="0" marB="0">
                    <a:solidFill>
                      <a:srgbClr val="ECD3D9"/>
                    </a:solidFill>
                  </a:tcPr>
                </a:tc>
                <a:tc>
                  <a:txBody>
                    <a:bodyPr/>
                    <a:lstStyle/>
                    <a:p>
                      <a:pPr algn="ctr">
                        <a:defRPr sz="1000">
                          <a:latin typeface="Montserrat"/>
                        </a:defRPr>
                      </a:pPr>
                      <a:r>
                        <a:t>15,000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20 Jupare</a:t>
                      </a:r>
                    </a:p>
                  </a:txBody>
                  <a:tcPr marL="0" marR="0" marT="0" marB="0">
                    <a:solidFill>
                      <a:srgbClr val="FFFFFF"/>
                    </a:solidFill>
                  </a:tcPr>
                </a:tc>
                <a:tc>
                  <a:txBody>
                    <a:bodyPr/>
                    <a:lstStyle/>
                    <a:p>
                      <a:pPr algn="ctr">
                        <a:defRPr sz="1000">
                          <a:latin typeface="Montserrat"/>
                        </a:defRPr>
                      </a:pPr>
                      <a:r>
                        <a:t>6,526</a:t>
                      </a:r>
                    </a:p>
                  </a:txBody>
                  <a:tcPr marL="0" marR="0" marT="0" marB="0">
                    <a:solidFill>
                      <a:srgbClr val="FFFFFF"/>
                    </a:solidFill>
                  </a:tcPr>
                </a:tc>
                <a:tc>
                  <a:txBody>
                    <a:bodyPr/>
                    <a:lstStyle/>
                    <a:p>
                      <a:pPr algn="ctr">
                        <a:defRPr sz="1000">
                          <a:latin typeface="Montserrat"/>
                        </a:defRPr>
                      </a:pPr>
                      <a:r>
                        <a:t>314</a:t>
                      </a:r>
                    </a:p>
                  </a:txBody>
                  <a:tcPr marL="0" marR="0" marT="0" marB="0">
                    <a:solidFill>
                      <a:srgbClr val="FFFFFF"/>
                    </a:solidFill>
                  </a:tcPr>
                </a:tc>
                <a:tc>
                  <a:txBody>
                    <a:bodyPr/>
                    <a:lstStyle/>
                    <a:p>
                      <a:pPr algn="ctr">
                        <a:defRPr sz="1000">
                          <a:latin typeface="Montserrat"/>
                        </a:defRPr>
                      </a:pPr>
                      <a:r>
                        <a:t>2,654</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24 Santa Ana</a:t>
                      </a:r>
                    </a:p>
                  </a:txBody>
                  <a:tcPr marL="0" marR="0" marT="0" marB="0">
                    <a:solidFill>
                      <a:srgbClr val="EFEFEF"/>
                    </a:solidFill>
                  </a:tcPr>
                </a:tc>
                <a:tc>
                  <a:txBody>
                    <a:bodyPr/>
                    <a:lstStyle/>
                    <a:p>
                      <a:pPr algn="ctr">
                        <a:defRPr sz="1000">
                          <a:latin typeface="Montserrat"/>
                        </a:defRPr>
                      </a:pPr>
                      <a:r>
                        <a:t>10,160</a:t>
                      </a:r>
                    </a:p>
                  </a:txBody>
                  <a:tcPr marL="0" marR="0" marT="0" marB="0">
                    <a:solidFill>
                      <a:srgbClr val="EFEFEF"/>
                    </a:solidFill>
                  </a:tcPr>
                </a:tc>
                <a:tc>
                  <a:txBody>
                    <a:bodyPr/>
                    <a:lstStyle/>
                    <a:p>
                      <a:pPr algn="ctr">
                        <a:defRPr sz="1000">
                          <a:latin typeface="Montserrat"/>
                        </a:defRPr>
                      </a:pPr>
                      <a:r>
                        <a:t>758</a:t>
                      </a:r>
                    </a:p>
                  </a:txBody>
                  <a:tcPr marL="0" marR="0" marT="0" marB="0">
                    <a:solidFill>
                      <a:srgbClr val="EFEFEF"/>
                    </a:solidFill>
                  </a:tcPr>
                </a:tc>
                <a:tc>
                  <a:txBody>
                    <a:bodyPr/>
                    <a:lstStyle/>
                    <a:p>
                      <a:pPr algn="ctr">
                        <a:defRPr sz="1000">
                          <a:latin typeface="Montserrat"/>
                        </a:defRPr>
                      </a:pPr>
                      <a:r>
                        <a:t>5,066</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42.2%</a:t>
                      </a:r>
                    </a:p>
                  </a:txBody>
                  <a:tcPr marL="0" marR="0" marT="0" marB="0">
                    <a:solidFill>
                      <a:srgbClr val="ECD3D9"/>
                    </a:solidFill>
                  </a:tcPr>
                </a:tc>
              </a:tr>
              <a:tr h="151200">
                <a:tc>
                  <a:txBody>
                    <a:bodyPr/>
                    <a:lstStyle/>
                    <a:p>
                      <a:pPr algn="l">
                        <a:defRPr sz="1000">
                          <a:latin typeface="Montserrat"/>
                        </a:defRPr>
                      </a:pPr>
                      <a:r>
                        <a:t>UMF 21 Magdalena</a:t>
                      </a:r>
                    </a:p>
                  </a:txBody>
                  <a:tcPr marL="0" marR="0" marT="0" marB="0">
                    <a:solidFill>
                      <a:srgbClr val="FFFFFF"/>
                    </a:solidFill>
                  </a:tcPr>
                </a:tc>
                <a:tc>
                  <a:txBody>
                    <a:bodyPr/>
                    <a:lstStyle/>
                    <a:p>
                      <a:pPr algn="ctr">
                        <a:defRPr sz="1000">
                          <a:latin typeface="Montserrat"/>
                        </a:defRPr>
                      </a:pPr>
                      <a:r>
                        <a:t>27,519</a:t>
                      </a:r>
                    </a:p>
                  </a:txBody>
                  <a:tcPr marL="0" marR="0" marT="0" marB="0">
                    <a:solidFill>
                      <a:srgbClr val="FFFFFF"/>
                    </a:solidFill>
                  </a:tcPr>
                </a:tc>
                <a:tc>
                  <a:txBody>
                    <a:bodyPr/>
                    <a:lstStyle/>
                    <a:p>
                      <a:pPr algn="ctr">
                        <a:defRPr sz="1000">
                          <a:latin typeface="Montserrat"/>
                        </a:defRPr>
                      </a:pPr>
                      <a:r>
                        <a:t>914</a:t>
                      </a:r>
                    </a:p>
                  </a:txBody>
                  <a:tcPr marL="0" marR="0" marT="0" marB="0">
                    <a:solidFill>
                      <a:srgbClr val="FFFFFF"/>
                    </a:solidFill>
                  </a:tcPr>
                </a:tc>
                <a:tc>
                  <a:txBody>
                    <a:bodyPr/>
                    <a:lstStyle/>
                    <a:p>
                      <a:pPr algn="ctr">
                        <a:defRPr sz="1000">
                          <a:latin typeface="Montserrat"/>
                        </a:defRPr>
                      </a:pPr>
                      <a:r>
                        <a:t>12,287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32.7%</a:t>
                      </a:r>
                    </a:p>
                  </a:txBody>
                  <a:tcPr marL="0" marR="0" marT="0" marB="0">
                    <a:solidFill>
                      <a:srgbClr val="ECD3D9"/>
                    </a:solidFill>
                  </a:tcPr>
                </a:tc>
              </a:tr>
              <a:tr h="151200">
                <a:tc>
                  <a:txBody>
                    <a:bodyPr/>
                    <a:lstStyle/>
                    <a:p>
                      <a:pPr algn="l">
                        <a:defRPr sz="1000">
                          <a:latin typeface="Montserrat"/>
                        </a:defRPr>
                      </a:pPr>
                      <a:r>
                        <a:t>UMF 22 Pitiquito</a:t>
                      </a:r>
                    </a:p>
                  </a:txBody>
                  <a:tcPr marL="0" marR="0" marT="0" marB="0">
                    <a:solidFill>
                      <a:srgbClr val="EFEFEF"/>
                    </a:solidFill>
                  </a:tcPr>
                </a:tc>
                <a:tc>
                  <a:txBody>
                    <a:bodyPr/>
                    <a:lstStyle/>
                    <a:p>
                      <a:pPr algn="ctr">
                        <a:defRPr sz="1000">
                          <a:latin typeface="Montserrat"/>
                        </a:defRPr>
                      </a:pPr>
                      <a:r>
                        <a:t>7,199</a:t>
                      </a:r>
                    </a:p>
                  </a:txBody>
                  <a:tcPr marL="0" marR="0" marT="0" marB="0">
                    <a:solidFill>
                      <a:srgbClr val="EFEFEF"/>
                    </a:solidFill>
                  </a:tcPr>
                </a:tc>
                <a:tc>
                  <a:txBody>
                    <a:bodyPr/>
                    <a:lstStyle/>
                    <a:p>
                      <a:pPr algn="ctr">
                        <a:defRPr sz="1000">
                          <a:latin typeface="Montserrat"/>
                        </a:defRPr>
                      </a:pPr>
                      <a:r>
                        <a:t>16</a:t>
                      </a:r>
                    </a:p>
                  </a:txBody>
                  <a:tcPr marL="0" marR="0" marT="0" marB="0">
                    <a:solidFill>
                      <a:srgbClr val="EFEFEF"/>
                    </a:solidFill>
                  </a:tcPr>
                </a:tc>
                <a:tc>
                  <a:txBody>
                    <a:bodyPr/>
                    <a:lstStyle/>
                    <a:p>
                      <a:pPr algn="ctr">
                        <a:defRPr sz="1000">
                          <a:latin typeface="Montserrat"/>
                        </a:defRPr>
                      </a:pPr>
                      <a:r>
                        <a:t>2,855</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31.7%</a:t>
                      </a:r>
                    </a:p>
                  </a:txBody>
                  <a:tcPr marL="0" marR="0" marT="0" marB="0">
                    <a:solidFill>
                      <a:srgbClr val="ECD3D9"/>
                    </a:solidFill>
                  </a:tcPr>
                </a:tc>
              </a:tr>
              <a:tr h="151200">
                <a:tc>
                  <a:txBody>
                    <a:bodyPr/>
                    <a:lstStyle/>
                    <a:p>
                      <a:pPr algn="l">
                        <a:defRPr sz="1000">
                          <a:latin typeface="Montserrat"/>
                        </a:defRPr>
                      </a:pPr>
                      <a:r>
                        <a:t>UMFH 9 Luis B. Sánchez</a:t>
                      </a:r>
                    </a:p>
                  </a:txBody>
                  <a:tcPr marL="0" marR="0" marT="0" marB="0">
                    <a:solidFill>
                      <a:srgbClr val="FFFFFF"/>
                    </a:solidFill>
                  </a:tcPr>
                </a:tc>
                <a:tc>
                  <a:txBody>
                    <a:bodyPr/>
                    <a:lstStyle/>
                    <a:p>
                      <a:pPr algn="ctr">
                        <a:defRPr sz="1000">
                          <a:latin typeface="Montserrat"/>
                        </a:defRPr>
                      </a:pPr>
                      <a:r>
                        <a:t>18,064</a:t>
                      </a:r>
                    </a:p>
                  </a:txBody>
                  <a:tcPr marL="0" marR="0" marT="0" marB="0">
                    <a:solidFill>
                      <a:srgbClr val="FFFFFF"/>
                    </a:solidFill>
                  </a:tcPr>
                </a:tc>
                <a:tc>
                  <a:txBody>
                    <a:bodyPr/>
                    <a:lstStyle/>
                    <a:p>
                      <a:pPr algn="ctr">
                        <a:defRPr sz="1000">
                          <a:latin typeface="Montserrat"/>
                        </a:defRPr>
                      </a:pPr>
                      <a:r>
                        <a:t>138</a:t>
                      </a:r>
                    </a:p>
                  </a:txBody>
                  <a:tcPr marL="0" marR="0" marT="0" marB="0">
                    <a:solidFill>
                      <a:srgbClr val="FFFFFF"/>
                    </a:solidFill>
                  </a:tcPr>
                </a:tc>
                <a:tc>
                  <a:txBody>
                    <a:bodyPr/>
                    <a:lstStyle/>
                    <a:p>
                      <a:pPr algn="ctr">
                        <a:defRPr sz="1000">
                          <a:latin typeface="Montserrat"/>
                        </a:defRPr>
                      </a:pPr>
                      <a:r>
                        <a:t>7,036</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37.0%</a:t>
                      </a:r>
                    </a:p>
                  </a:txBody>
                  <a:tcPr marL="0" marR="0" marT="0" marB="0">
                    <a:solidFill>
                      <a:srgbClr val="ECD3D9"/>
                    </a:solidFill>
                  </a:tcPr>
                </a:tc>
              </a:tr>
              <a:tr h="151200">
                <a:tc>
                  <a:txBody>
                    <a:bodyPr/>
                    <a:lstStyle/>
                    <a:p>
                      <a:pPr algn="l">
                        <a:defRPr sz="1000">
                          <a:latin typeface="Montserrat"/>
                        </a:defRPr>
                      </a:pPr>
                      <a:r>
                        <a:t>UMF 32 El Coyote</a:t>
                      </a:r>
                    </a:p>
                  </a:txBody>
                  <a:tcPr marL="0" marR="0" marT="0" marB="0">
                    <a:solidFill>
                      <a:srgbClr val="EFEFEF"/>
                    </a:solidFill>
                  </a:tcPr>
                </a:tc>
                <a:tc>
                  <a:txBody>
                    <a:bodyPr/>
                    <a:lstStyle/>
                    <a:p>
                      <a:pPr algn="ctr">
                        <a:defRPr sz="1000">
                          <a:latin typeface="Montserrat"/>
                        </a:defRPr>
                      </a:pPr>
                      <a:r>
                        <a:t>9,503</a:t>
                      </a:r>
                    </a:p>
                  </a:txBody>
                  <a:tcPr marL="0" marR="0" marT="0" marB="0">
                    <a:solidFill>
                      <a:srgbClr val="EFEFEF"/>
                    </a:solidFill>
                  </a:tcPr>
                </a:tc>
                <a:tc>
                  <a:txBody>
                    <a:bodyPr/>
                    <a:lstStyle/>
                    <a:p>
                      <a:pPr algn="ctr">
                        <a:defRPr sz="1000">
                          <a:latin typeface="Montserrat"/>
                        </a:defRPr>
                      </a:pPr>
                      <a:r>
                        <a:t>607</a:t>
                      </a:r>
                    </a:p>
                  </a:txBody>
                  <a:tcPr marL="0" marR="0" marT="0" marB="0">
                    <a:solidFill>
                      <a:srgbClr val="EFEFEF"/>
                    </a:solidFill>
                  </a:tcPr>
                </a:tc>
                <a:tc>
                  <a:txBody>
                    <a:bodyPr/>
                    <a:lstStyle/>
                    <a:p>
                      <a:pPr algn="ctr">
                        <a:defRPr sz="1000">
                          <a:latin typeface="Montserrat"/>
                        </a:defRPr>
                      </a:pPr>
                      <a:r>
                        <a:t>3,765</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34.2%</a:t>
                      </a:r>
                    </a:p>
                  </a:txBody>
                  <a:tcPr marL="0" marR="0" marT="0" marB="0">
                    <a:solidFill>
                      <a:srgbClr val="ECD3D9"/>
                    </a:solidFill>
                  </a:tcPr>
                </a:tc>
              </a:tr>
              <a:tr h="151200">
                <a:tc>
                  <a:txBody>
                    <a:bodyPr/>
                    <a:lstStyle/>
                    <a:p>
                      <a:pPr algn="l">
                        <a:defRPr sz="1000">
                          <a:latin typeface="Montserrat"/>
                        </a:defRPr>
                      </a:pPr>
                      <a:r>
                        <a:t>UMF 26 Yavaros</a:t>
                      </a:r>
                    </a:p>
                  </a:txBody>
                  <a:tcPr marL="0" marR="0" marT="0" marB="0">
                    <a:solidFill>
                      <a:srgbClr val="FFFFFF"/>
                    </a:solidFill>
                  </a:tcPr>
                </a:tc>
                <a:tc>
                  <a:txBody>
                    <a:bodyPr/>
                    <a:lstStyle/>
                    <a:p>
                      <a:pPr algn="ctr">
                        <a:defRPr sz="1000">
                          <a:latin typeface="Montserrat"/>
                        </a:defRPr>
                      </a:pPr>
                      <a:r>
                        <a:t>6,457</a:t>
                      </a:r>
                    </a:p>
                  </a:txBody>
                  <a:tcPr marL="0" marR="0" marT="0" marB="0">
                    <a:solidFill>
                      <a:srgbClr val="FFFFFF"/>
                    </a:solidFill>
                  </a:tcPr>
                </a:tc>
                <a:tc>
                  <a:txBody>
                    <a:bodyPr/>
                    <a:lstStyle/>
                    <a:p>
                      <a:pPr algn="ctr">
                        <a:defRPr sz="1000">
                          <a:latin typeface="Montserrat"/>
                        </a:defRPr>
                      </a:pPr>
                      <a:r>
                        <a:t>211</a:t>
                      </a:r>
                    </a:p>
                  </a:txBody>
                  <a:tcPr marL="0" marR="0" marT="0" marB="0">
                    <a:solidFill>
                      <a:srgbClr val="FFFFFF"/>
                    </a:solidFill>
                  </a:tcPr>
                </a:tc>
                <a:tc>
                  <a:txBody>
                    <a:bodyPr/>
                    <a:lstStyle/>
                    <a:p>
                      <a:pPr algn="ctr">
                        <a:defRPr sz="1000">
                          <a:latin typeface="Montserrat"/>
                        </a:defRPr>
                      </a:pPr>
                      <a:r>
                        <a:t>3,027</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37.8%</a:t>
                      </a:r>
                    </a:p>
                  </a:txBody>
                  <a:tcPr marL="0" marR="0" marT="0" marB="0">
                    <a:solidFill>
                      <a:srgbClr val="ECD3D9"/>
                    </a:solidFill>
                  </a:tcPr>
                </a:tc>
              </a:tr>
              <a:tr h="151200">
                <a:tc>
                  <a:txBody>
                    <a:bodyPr/>
                    <a:lstStyle/>
                    <a:p>
                      <a:pPr algn="l">
                        <a:defRPr sz="1000">
                          <a:latin typeface="Montserrat"/>
                        </a:defRPr>
                      </a:pPr>
                      <a:r>
                        <a:t>UMF 38 Altar</a:t>
                      </a:r>
                    </a:p>
                  </a:txBody>
                  <a:tcPr marL="0" marR="0" marT="0" marB="0">
                    <a:solidFill>
                      <a:srgbClr val="EFEFEF"/>
                    </a:solidFill>
                  </a:tcPr>
                </a:tc>
                <a:tc>
                  <a:txBody>
                    <a:bodyPr/>
                    <a:lstStyle/>
                    <a:p>
                      <a:pPr algn="ctr">
                        <a:defRPr sz="1000">
                          <a:latin typeface="Montserrat"/>
                        </a:defRPr>
                      </a:pPr>
                      <a:r>
                        <a:t>3,542</a:t>
                      </a:r>
                    </a:p>
                  </a:txBody>
                  <a:tcPr marL="0" marR="0" marT="0" marB="0">
                    <a:solidFill>
                      <a:srgbClr val="EFEFEF"/>
                    </a:solidFill>
                  </a:tcPr>
                </a:tc>
                <a:tc>
                  <a:txBody>
                    <a:bodyPr/>
                    <a:lstStyle/>
                    <a:p>
                      <a:pPr algn="ctr">
                        <a:defRPr sz="1000">
                          <a:latin typeface="Montserrat"/>
                        </a:defRPr>
                      </a:pPr>
                      <a:r>
                        <a:t>461</a:t>
                      </a:r>
                    </a:p>
                  </a:txBody>
                  <a:tcPr marL="0" marR="0" marT="0" marB="0">
                    <a:solidFill>
                      <a:srgbClr val="EFEFEF"/>
                    </a:solidFill>
                  </a:tcPr>
                </a:tc>
                <a:tc>
                  <a:txBody>
                    <a:bodyPr/>
                    <a:lstStyle/>
                    <a:p>
                      <a:pPr algn="ctr">
                        <a:defRPr sz="1000">
                          <a:latin typeface="Montserrat"/>
                        </a:defRPr>
                      </a:pPr>
                      <a:r>
                        <a:t>1,522</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30.4%</a:t>
                      </a:r>
                    </a:p>
                  </a:txBody>
                  <a:tcPr marL="0" marR="0" marT="0" marB="0">
                    <a:solidFill>
                      <a:srgbClr val="ECD3D9"/>
                    </a:solidFill>
                  </a:tcPr>
                </a:tc>
              </a:tr>
              <a:tr h="151200">
                <a:tc>
                  <a:txBody>
                    <a:bodyPr/>
                    <a:lstStyle/>
                    <a:p>
                      <a:pPr algn="l">
                        <a:defRPr sz="1000">
                          <a:latin typeface="Montserrat"/>
                        </a:defRPr>
                      </a:pPr>
                      <a:r>
                        <a:t>UMF 30 José Bacum</a:t>
                      </a:r>
                    </a:p>
                  </a:txBody>
                  <a:tcPr marL="0" marR="0" marT="0" marB="0">
                    <a:solidFill>
                      <a:srgbClr val="FFFFFF"/>
                    </a:solidFill>
                  </a:tcPr>
                </a:tc>
                <a:tc>
                  <a:txBody>
                    <a:bodyPr/>
                    <a:lstStyle/>
                    <a:p>
                      <a:pPr algn="ctr">
                        <a:defRPr sz="1000">
                          <a:latin typeface="Montserrat"/>
                        </a:defRPr>
                      </a:pPr>
                      <a:r>
                        <a:t>10,458</a:t>
                      </a:r>
                    </a:p>
                  </a:txBody>
                  <a:tcPr marL="0" marR="0" marT="0" marB="0">
                    <a:solidFill>
                      <a:srgbClr val="FFFFFF"/>
                    </a:solidFill>
                  </a:tcPr>
                </a:tc>
                <a:tc>
                  <a:txBody>
                    <a:bodyPr/>
                    <a:lstStyle/>
                    <a:p>
                      <a:pPr algn="ctr">
                        <a:defRPr sz="1000">
                          <a:latin typeface="Montserrat"/>
                        </a:defRPr>
                      </a:pPr>
                      <a:r>
                        <a:t>2,495</a:t>
                      </a:r>
                    </a:p>
                  </a:txBody>
                  <a:tcPr marL="0" marR="0" marT="0" marB="0">
                    <a:solidFill>
                      <a:srgbClr val="FFFFFF"/>
                    </a:solidFill>
                  </a:tcPr>
                </a:tc>
                <a:tc>
                  <a:txBody>
                    <a:bodyPr/>
                    <a:lstStyle/>
                    <a:p>
                      <a:pPr algn="ctr">
                        <a:defRPr sz="1000">
                          <a:latin typeface="Montserrat"/>
                        </a:defRPr>
                      </a:pPr>
                      <a:r>
                        <a:t>4,487</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13 Palma</a:t>
                      </a:r>
                    </a:p>
                  </a:txBody>
                  <a:tcPr marL="0" marR="0" marT="0" marB="0">
                    <a:solidFill>
                      <a:srgbClr val="EFEFEF"/>
                    </a:solidFill>
                  </a:tcPr>
                </a:tc>
                <a:tc>
                  <a:txBody>
                    <a:bodyPr/>
                    <a:lstStyle/>
                    <a:p>
                      <a:pPr algn="ctr">
                        <a:defRPr sz="1000">
                          <a:latin typeface="Montserrat"/>
                        </a:defRPr>
                      </a:pPr>
                      <a:r>
                        <a:t>15,580</a:t>
                      </a:r>
                    </a:p>
                  </a:txBody>
                  <a:tcPr marL="0" marR="0" marT="0" marB="0">
                    <a:solidFill>
                      <a:srgbClr val="EFEFEF"/>
                    </a:solidFill>
                  </a:tcPr>
                </a:tc>
                <a:tc>
                  <a:txBody>
                    <a:bodyPr/>
                    <a:lstStyle/>
                    <a:p>
                      <a:pPr algn="ctr">
                        <a:defRPr sz="1000">
                          <a:latin typeface="Montserrat"/>
                        </a:defRPr>
                      </a:pPr>
                      <a:r>
                        <a:t>5,928</a:t>
                      </a:r>
                    </a:p>
                  </a:txBody>
                  <a:tcPr marL="0" marR="0" marT="0" marB="0">
                    <a:solidFill>
                      <a:srgbClr val="EFEFEF"/>
                    </a:solidFill>
                  </a:tcPr>
                </a:tc>
                <a:tc>
                  <a:txBody>
                    <a:bodyPr/>
                    <a:lstStyle/>
                    <a:p>
                      <a:pPr algn="ctr">
                        <a:defRPr sz="1000">
                          <a:latin typeface="Montserrat"/>
                        </a:defRPr>
                      </a:pPr>
                      <a:r>
                        <a:t>8,343</a:t>
                      </a:r>
                    </a:p>
                  </a:txBody>
                  <a:tcPr marL="0" marR="0" marT="0" marB="0">
                    <a:solidFill>
                      <a:srgbClr val="ECD3D9"/>
                    </a:solidFill>
                  </a:tcPr>
                </a:tc>
                <a:tc>
                  <a:txBody>
                    <a:bodyPr/>
                    <a:lstStyle/>
                    <a:p>
                      <a:pPr algn="ctr">
                        <a:defRPr sz="1000">
                          <a:latin typeface="Montserrat"/>
                        </a:defRPr>
                      </a:pPr>
                      <a:r>
                        <a:t>16,000</a:t>
                      </a:r>
                    </a:p>
                  </a:txBody>
                  <a:tcPr marL="0" marR="0" marT="0" marB="0">
                    <a:solidFill>
                      <a:srgbClr val="ECD3D9"/>
                    </a:solidFill>
                  </a:tcPr>
                </a:tc>
                <a:tc>
                  <a:txBody>
                    <a:bodyPr/>
                    <a:lstStyle/>
                    <a:p>
                      <a:pPr algn="ctr">
                        <a:defRPr sz="1000">
                          <a:latin typeface="Montserrat"/>
                        </a:defRPr>
                      </a:pPr>
                      <a:r>
                        <a:t>52.1%</a:t>
                      </a:r>
                    </a:p>
                  </a:txBody>
                  <a:tcPr marL="0" marR="0" marT="0" marB="0">
                    <a:solidFill>
                      <a:srgbClr val="ECD3D9"/>
                    </a:solidFill>
                  </a:tcPr>
                </a:tc>
              </a:tr>
              <a:tr h="151200">
                <a:tc>
                  <a:txBody>
                    <a:bodyPr/>
                    <a:lstStyle/>
                    <a:p>
                      <a:pPr algn="l">
                        <a:defRPr sz="1000">
                          <a:latin typeface="Montserrat"/>
                        </a:defRPr>
                      </a:pPr>
                      <a:r>
                        <a:t>UMF 27 Potam</a:t>
                      </a:r>
                    </a:p>
                  </a:txBody>
                  <a:tcPr marL="0" marR="0" marT="0" marB="0">
                    <a:solidFill>
                      <a:srgbClr val="FFFFFF"/>
                    </a:solidFill>
                  </a:tcPr>
                </a:tc>
                <a:tc>
                  <a:txBody>
                    <a:bodyPr/>
                    <a:lstStyle/>
                    <a:p>
                      <a:pPr algn="ctr">
                        <a:defRPr sz="1000">
                          <a:latin typeface="Montserrat"/>
                        </a:defRPr>
                      </a:pPr>
                      <a:r>
                        <a:t>8,999</a:t>
                      </a:r>
                    </a:p>
                  </a:txBody>
                  <a:tcPr marL="0" marR="0" marT="0" marB="0">
                    <a:solidFill>
                      <a:srgbClr val="FFFFFF"/>
                    </a:solidFill>
                  </a:tcPr>
                </a:tc>
                <a:tc>
                  <a:txBody>
                    <a:bodyPr/>
                    <a:lstStyle/>
                    <a:p>
                      <a:pPr algn="ctr">
                        <a:defRPr sz="1000">
                          <a:latin typeface="Montserrat"/>
                        </a:defRPr>
                      </a:pPr>
                      <a:r>
                        <a:t>2,407</a:t>
                      </a:r>
                    </a:p>
                  </a:txBody>
                  <a:tcPr marL="0" marR="0" marT="0" marB="0">
                    <a:solidFill>
                      <a:srgbClr val="FFFFFF"/>
                    </a:solidFill>
                  </a:tcPr>
                </a:tc>
                <a:tc>
                  <a:txBody>
                    <a:bodyPr/>
                    <a:lstStyle/>
                    <a:p>
                      <a:pPr algn="ctr">
                        <a:defRPr sz="1000">
                          <a:latin typeface="Montserrat"/>
                        </a:defRPr>
                      </a:pPr>
                      <a:r>
                        <a:t>3,858</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38.6%</a:t>
                      </a:r>
                    </a:p>
                  </a:txBody>
                  <a:tcPr marL="0" marR="0" marT="0" marB="0">
                    <a:solidFill>
                      <a:srgbClr val="ECD3D9"/>
                    </a:solidFill>
                  </a:tcPr>
                </a:tc>
              </a:tr>
              <a:tr h="151200">
                <a:tc>
                  <a:txBody>
                    <a:bodyPr/>
                    <a:lstStyle/>
                    <a:p>
                      <a:pPr algn="l">
                        <a:defRPr sz="1000">
                          <a:latin typeface="Montserrat"/>
                        </a:defRPr>
                      </a:pPr>
                      <a:r>
                        <a:t>UMFH 11 Vicam</a:t>
                      </a:r>
                    </a:p>
                  </a:txBody>
                  <a:tcPr marL="0" marR="0" marT="0" marB="0">
                    <a:solidFill>
                      <a:srgbClr val="EFEFEF"/>
                    </a:solidFill>
                  </a:tcPr>
                </a:tc>
                <a:tc>
                  <a:txBody>
                    <a:bodyPr/>
                    <a:lstStyle/>
                    <a:p>
                      <a:pPr algn="ctr">
                        <a:defRPr sz="1000">
                          <a:latin typeface="Montserrat"/>
                        </a:defRPr>
                      </a:pPr>
                      <a:r>
                        <a:t>16,676</a:t>
                      </a:r>
                    </a:p>
                  </a:txBody>
                  <a:tcPr marL="0" marR="0" marT="0" marB="0">
                    <a:solidFill>
                      <a:srgbClr val="EFEFEF"/>
                    </a:solidFill>
                  </a:tcPr>
                </a:tc>
                <a:tc>
                  <a:txBody>
                    <a:bodyPr/>
                    <a:lstStyle/>
                    <a:p>
                      <a:pPr algn="ctr">
                        <a:defRPr sz="1000">
                          <a:latin typeface="Montserrat"/>
                        </a:defRPr>
                      </a:pPr>
                      <a:r>
                        <a:t>3,105</a:t>
                      </a:r>
                    </a:p>
                  </a:txBody>
                  <a:tcPr marL="0" marR="0" marT="0" marB="0">
                    <a:solidFill>
                      <a:srgbClr val="EFEFEF"/>
                    </a:solidFill>
                  </a:tcPr>
                </a:tc>
                <a:tc>
                  <a:txBody>
                    <a:bodyPr/>
                    <a:lstStyle/>
                    <a:p>
                      <a:pPr algn="ctr">
                        <a:defRPr sz="1000">
                          <a:latin typeface="Montserrat"/>
                        </a:defRPr>
                      </a:pPr>
                      <a:r>
                        <a:t>7,183</a:t>
                      </a:r>
                    </a:p>
                  </a:txBody>
                  <a:tcPr marL="0" marR="0" marT="0" marB="0">
                    <a:solidFill>
                      <a:srgbClr val="ECD3D9"/>
                    </a:solidFill>
                  </a:tcPr>
                </a:tc>
                <a:tc>
                  <a:txBody>
                    <a:bodyPr/>
                    <a:lstStyle/>
                    <a:p>
                      <a:pPr algn="ctr">
                        <a:defRPr sz="1000">
                          <a:latin typeface="Montserrat"/>
                        </a:defRPr>
                      </a:pPr>
                      <a:r>
                        <a:t>18,000</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UMFH 10 Benjamín Hill</a:t>
                      </a:r>
                    </a:p>
                  </a:txBody>
                  <a:tcPr marL="0" marR="0" marT="0" marB="0">
                    <a:solidFill>
                      <a:srgbClr val="FFFFFF"/>
                    </a:solidFill>
                  </a:tcPr>
                </a:tc>
                <a:tc>
                  <a:txBody>
                    <a:bodyPr/>
                    <a:lstStyle/>
                    <a:p>
                      <a:pPr algn="ctr">
                        <a:defRPr sz="1000">
                          <a:latin typeface="Montserrat"/>
                        </a:defRPr>
                      </a:pPr>
                      <a:r>
                        <a:t>6,669</a:t>
                      </a:r>
                    </a:p>
                  </a:txBody>
                  <a:tcPr marL="0" marR="0" marT="0" marB="0">
                    <a:solidFill>
                      <a:srgbClr val="FFFFFF"/>
                    </a:solidFill>
                  </a:tcPr>
                </a:tc>
                <a:tc>
                  <a:txBody>
                    <a:bodyPr/>
                    <a:lstStyle/>
                    <a:p>
                      <a:pPr algn="ctr">
                        <a:defRPr sz="1000">
                          <a:latin typeface="Montserrat"/>
                        </a:defRPr>
                      </a:pPr>
                      <a:r>
                        <a:t>549</a:t>
                      </a:r>
                    </a:p>
                  </a:txBody>
                  <a:tcPr marL="0" marR="0" marT="0" marB="0">
                    <a:solidFill>
                      <a:srgbClr val="FFFFFF"/>
                    </a:solidFill>
                  </a:tcPr>
                </a:tc>
                <a:tc>
                  <a:txBody>
                    <a:bodyPr/>
                    <a:lstStyle/>
                    <a:p>
                      <a:pPr algn="ctr">
                        <a:defRPr sz="1000">
                          <a:latin typeface="Montserrat"/>
                        </a:defRPr>
                      </a:pPr>
                      <a:r>
                        <a:t>3,062</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38.3%</a:t>
                      </a:r>
                    </a:p>
                  </a:txBody>
                  <a:tcPr marL="0" marR="0" marT="0" marB="0">
                    <a:solidFill>
                      <a:srgbClr val="ECD3D9"/>
                    </a:solidFill>
                  </a:tcPr>
                </a:tc>
              </a:tr>
              <a:tr h="151200">
                <a:tc>
                  <a:txBody>
                    <a:bodyPr/>
                    <a:lstStyle/>
                    <a:p>
                      <a:pPr algn="l">
                        <a:defRPr sz="1000">
                          <a:latin typeface="Montserrat"/>
                        </a:defRPr>
                      </a:pPr>
                      <a:r>
                        <a:t>UMF 47 Aconchi</a:t>
                      </a:r>
                    </a:p>
                  </a:txBody>
                  <a:tcPr marL="0" marR="0" marT="0" marB="0">
                    <a:solidFill>
                      <a:srgbClr val="EFEFEF"/>
                    </a:solidFill>
                  </a:tcPr>
                </a:tc>
                <a:tc>
                  <a:txBody>
                    <a:bodyPr/>
                    <a:lstStyle/>
                    <a:p>
                      <a:pPr algn="ctr">
                        <a:defRPr sz="1000">
                          <a:latin typeface="Montserrat"/>
                        </a:defRPr>
                      </a:pPr>
                      <a:r>
                        <a:t>12,785</a:t>
                      </a:r>
                    </a:p>
                  </a:txBody>
                  <a:tcPr marL="0" marR="0" marT="0" marB="0">
                    <a:solidFill>
                      <a:srgbClr val="EFEFEF"/>
                    </a:solidFill>
                  </a:tcPr>
                </a:tc>
                <a:tc>
                  <a:txBody>
                    <a:bodyPr/>
                    <a:lstStyle/>
                    <a:p>
                      <a:pPr algn="ctr">
                        <a:defRPr sz="1000">
                          <a:latin typeface="Montserrat"/>
                        </a:defRPr>
                      </a:pPr>
                      <a:r>
                        <a:t>-622</a:t>
                      </a:r>
                    </a:p>
                  </a:txBody>
                  <a:tcPr marL="0" marR="0" marT="0" marB="0">
                    <a:solidFill>
                      <a:srgbClr val="EFEFEF"/>
                    </a:solidFill>
                  </a:tcPr>
                </a:tc>
                <a:tc>
                  <a:txBody>
                    <a:bodyPr/>
                    <a:lstStyle/>
                    <a:p>
                      <a:pPr algn="ctr">
                        <a:defRPr sz="1000">
                          <a:latin typeface="Montserrat"/>
                        </a:defRPr>
                      </a:pPr>
                      <a:r>
                        <a:t>5,556</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39.7%</a:t>
                      </a:r>
                    </a:p>
                  </a:txBody>
                  <a:tcPr marL="0" marR="0" marT="0" marB="0">
                    <a:solidFill>
                      <a:srgbClr val="ECD3D9"/>
                    </a:solidFill>
                  </a:tcPr>
                </a:tc>
              </a:tr>
              <a:tr h="151200">
                <a:tc>
                  <a:txBody>
                    <a:bodyPr/>
                    <a:lstStyle/>
                    <a:p>
                      <a:pPr algn="l">
                        <a:defRPr sz="1000">
                          <a:latin typeface="Montserrat"/>
                        </a:defRPr>
                      </a:pPr>
                      <a:r>
                        <a:t>UMF 46 Sahuaripa</a:t>
                      </a:r>
                    </a:p>
                  </a:txBody>
                  <a:tcPr marL="0" marR="0" marT="0" marB="0">
                    <a:solidFill>
                      <a:srgbClr val="FFFFFF"/>
                    </a:solidFill>
                  </a:tcPr>
                </a:tc>
                <a:tc>
                  <a:txBody>
                    <a:bodyPr/>
                    <a:lstStyle/>
                    <a:p>
                      <a:pPr algn="ctr">
                        <a:defRPr sz="1000">
                          <a:latin typeface="Montserrat"/>
                        </a:defRPr>
                      </a:pPr>
                      <a:r>
                        <a:t>5,297</a:t>
                      </a:r>
                    </a:p>
                  </a:txBody>
                  <a:tcPr marL="0" marR="0" marT="0" marB="0">
                    <a:solidFill>
                      <a:srgbClr val="FFFFFF"/>
                    </a:solidFill>
                  </a:tcPr>
                </a:tc>
                <a:tc>
                  <a:txBody>
                    <a:bodyPr/>
                    <a:lstStyle/>
                    <a:p>
                      <a:pPr algn="ctr">
                        <a:defRPr sz="1000">
                          <a:latin typeface="Montserrat"/>
                        </a:defRPr>
                      </a:pPr>
                      <a:r>
                        <a:t>706</a:t>
                      </a:r>
                    </a:p>
                  </a:txBody>
                  <a:tcPr marL="0" marR="0" marT="0" marB="0">
                    <a:solidFill>
                      <a:srgbClr val="FFFFFF"/>
                    </a:solidFill>
                  </a:tcPr>
                </a:tc>
                <a:tc>
                  <a:txBody>
                    <a:bodyPr/>
                    <a:lstStyle/>
                    <a:p>
                      <a:pPr algn="ctr">
                        <a:defRPr sz="1000">
                          <a:latin typeface="Montserrat"/>
                        </a:defRPr>
                      </a:pPr>
                      <a:r>
                        <a:t>2,618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49 Cumpas</a:t>
                      </a:r>
                    </a:p>
                  </a:txBody>
                  <a:tcPr marL="0" marR="0" marT="0" marB="0">
                    <a:solidFill>
                      <a:srgbClr val="EFEFEF"/>
                    </a:solidFill>
                  </a:tcPr>
                </a:tc>
                <a:tc>
                  <a:txBody>
                    <a:bodyPr/>
                    <a:lstStyle/>
                    <a:p>
                      <a:pPr algn="ctr">
                        <a:defRPr sz="1000">
                          <a:latin typeface="Montserrat"/>
                        </a:defRPr>
                      </a:pPr>
                      <a:r>
                        <a:t>10,446</a:t>
                      </a:r>
                    </a:p>
                  </a:txBody>
                  <a:tcPr marL="0" marR="0" marT="0" marB="0">
                    <a:solidFill>
                      <a:srgbClr val="EFEFEF"/>
                    </a:solidFill>
                  </a:tcPr>
                </a:tc>
                <a:tc>
                  <a:txBody>
                    <a:bodyPr/>
                    <a:lstStyle/>
                    <a:p>
                      <a:pPr algn="ctr">
                        <a:defRPr sz="1000">
                          <a:latin typeface="Montserrat"/>
                        </a:defRPr>
                      </a:pPr>
                      <a:r>
                        <a:t>-132</a:t>
                      </a:r>
                    </a:p>
                  </a:txBody>
                  <a:tcPr marL="0" marR="0" marT="0" marB="0">
                    <a:solidFill>
                      <a:srgbClr val="EFEFEF"/>
                    </a:solidFill>
                  </a:tcPr>
                </a:tc>
                <a:tc>
                  <a:txBody>
                    <a:bodyPr/>
                    <a:lstStyle/>
                    <a:p>
                      <a:pPr algn="ctr">
                        <a:defRPr sz="1000">
                          <a:latin typeface="Montserrat"/>
                        </a:defRPr>
                      </a:pPr>
                      <a:r>
                        <a:t>4,320</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36.0%</a:t>
                      </a:r>
                    </a:p>
                  </a:txBody>
                  <a:tcPr marL="0" marR="0" marT="0" marB="0">
                    <a:solidFill>
                      <a:srgbClr val="ECD3D9"/>
                    </a:solidFill>
                  </a:tcPr>
                </a:tc>
              </a:tr>
              <a:tr h="151200">
                <a:tc>
                  <a:txBody>
                    <a:bodyPr/>
                    <a:lstStyle/>
                    <a:p>
                      <a:pPr algn="l">
                        <a:defRPr sz="1000">
                          <a:latin typeface="Montserrat"/>
                        </a:defRPr>
                      </a:pPr>
                      <a:r>
                        <a:t>UMF 50 Esqueda</a:t>
                      </a:r>
                    </a:p>
                  </a:txBody>
                  <a:tcPr marL="0" marR="0" marT="0" marB="0">
                    <a:solidFill>
                      <a:srgbClr val="FFFFFF"/>
                    </a:solidFill>
                  </a:tcPr>
                </a:tc>
                <a:tc>
                  <a:txBody>
                    <a:bodyPr/>
                    <a:lstStyle/>
                    <a:p>
                      <a:pPr algn="ctr">
                        <a:defRPr sz="1000">
                          <a:latin typeface="Montserrat"/>
                        </a:defRPr>
                      </a:pPr>
                      <a:r>
                        <a:t>10,493</a:t>
                      </a:r>
                    </a:p>
                  </a:txBody>
                  <a:tcPr marL="0" marR="0" marT="0" marB="0">
                    <a:solidFill>
                      <a:srgbClr val="FFFFFF"/>
                    </a:solidFill>
                  </a:tcPr>
                </a:tc>
                <a:tc>
                  <a:txBody>
                    <a:bodyPr/>
                    <a:lstStyle/>
                    <a:p>
                      <a:pPr algn="ctr">
                        <a:defRPr sz="1000">
                          <a:latin typeface="Montserrat"/>
                        </a:defRPr>
                      </a:pPr>
                      <a:r>
                        <a:t>464</a:t>
                      </a:r>
                    </a:p>
                  </a:txBody>
                  <a:tcPr marL="0" marR="0" marT="0" marB="0">
                    <a:solidFill>
                      <a:srgbClr val="FFFFFF"/>
                    </a:solidFill>
                  </a:tcPr>
                </a:tc>
                <a:tc>
                  <a:txBody>
                    <a:bodyPr/>
                    <a:lstStyle/>
                    <a:p>
                      <a:pPr algn="ctr">
                        <a:defRPr sz="1000">
                          <a:latin typeface="Montserrat"/>
                        </a:defRPr>
                      </a:pPr>
                      <a:r>
                        <a:t>4,484</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37.4%</a:t>
                      </a:r>
                    </a:p>
                  </a:txBody>
                  <a:tcPr marL="0" marR="0" marT="0" marB="0">
                    <a:solidFill>
                      <a:srgbClr val="ECD3D9"/>
                    </a:solidFill>
                  </a:tcPr>
                </a:tc>
              </a:tr>
              <a:tr h="151200">
                <a:tc>
                  <a:txBody>
                    <a:bodyPr/>
                    <a:lstStyle/>
                    <a:p>
                      <a:pPr algn="l">
                        <a:defRPr sz="1000">
                          <a:latin typeface="Montserrat"/>
                        </a:defRPr>
                      </a:pPr>
                      <a:r>
                        <a:t>UMF 43 Rosario</a:t>
                      </a:r>
                    </a:p>
                  </a:txBody>
                  <a:tcPr marL="0" marR="0" marT="0" marB="0">
                    <a:solidFill>
                      <a:srgbClr val="EFEFEF"/>
                    </a:solidFill>
                  </a:tcPr>
                </a:tc>
                <a:tc>
                  <a:txBody>
                    <a:bodyPr/>
                    <a:lstStyle/>
                    <a:p>
                      <a:pPr algn="ctr">
                        <a:defRPr sz="1000">
                          <a:latin typeface="Montserrat"/>
                        </a:defRPr>
                      </a:pPr>
                      <a:r>
                        <a:t>8,309</a:t>
                      </a:r>
                    </a:p>
                  </a:txBody>
                  <a:tcPr marL="0" marR="0" marT="0" marB="0">
                    <a:solidFill>
                      <a:srgbClr val="EFEFEF"/>
                    </a:solidFill>
                  </a:tcPr>
                </a:tc>
                <a:tc>
                  <a:txBody>
                    <a:bodyPr/>
                    <a:lstStyle/>
                    <a:p>
                      <a:pPr algn="ctr">
                        <a:defRPr sz="1000">
                          <a:latin typeface="Montserrat"/>
                        </a:defRPr>
                      </a:pPr>
                      <a:r>
                        <a:t>496</a:t>
                      </a:r>
                    </a:p>
                  </a:txBody>
                  <a:tcPr marL="0" marR="0" marT="0" marB="0">
                    <a:solidFill>
                      <a:srgbClr val="EFEFEF"/>
                    </a:solidFill>
                  </a:tcPr>
                </a:tc>
                <a:tc>
                  <a:txBody>
                    <a:bodyPr/>
                    <a:lstStyle/>
                    <a:p>
                      <a:pPr algn="ctr">
                        <a:defRPr sz="1000">
                          <a:latin typeface="Montserrat"/>
                        </a:defRPr>
                      </a:pPr>
                      <a:r>
                        <a:t>3,469</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38.5%</a:t>
                      </a:r>
                    </a:p>
                  </a:txBody>
                  <a:tcPr marL="0" marR="0" marT="0" marB="0">
                    <a:solidFill>
                      <a:srgbClr val="ECD3D9"/>
                    </a:solidFill>
                  </a:tcPr>
                </a:tc>
              </a:tr>
              <a:tr h="151200">
                <a:tc>
                  <a:txBody>
                    <a:bodyPr/>
                    <a:lstStyle/>
                    <a:p>
                      <a:pPr algn="l">
                        <a:defRPr sz="1000">
                          <a:latin typeface="Montserrat"/>
                        </a:defRPr>
                      </a:pPr>
                      <a:r>
                        <a:t>UMF 48 Moctezuma</a:t>
                      </a:r>
                    </a:p>
                  </a:txBody>
                  <a:tcPr marL="0" marR="0" marT="0" marB="0">
                    <a:solidFill>
                      <a:srgbClr val="FFFFFF"/>
                    </a:solidFill>
                  </a:tcPr>
                </a:tc>
                <a:tc>
                  <a:txBody>
                    <a:bodyPr/>
                    <a:lstStyle/>
                    <a:p>
                      <a:pPr algn="ctr">
                        <a:defRPr sz="1000">
                          <a:latin typeface="Montserrat"/>
                        </a:defRPr>
                      </a:pPr>
                      <a:r>
                        <a:t>7,775</a:t>
                      </a:r>
                    </a:p>
                  </a:txBody>
                  <a:tcPr marL="0" marR="0" marT="0" marB="0">
                    <a:solidFill>
                      <a:srgbClr val="FFFFFF"/>
                    </a:solidFill>
                  </a:tcPr>
                </a:tc>
                <a:tc>
                  <a:txBody>
                    <a:bodyPr/>
                    <a:lstStyle/>
                    <a:p>
                      <a:pPr algn="ctr">
                        <a:defRPr sz="1000">
                          <a:latin typeface="Montserrat"/>
                        </a:defRPr>
                      </a:pPr>
                      <a:r>
                        <a:t>167</a:t>
                      </a:r>
                    </a:p>
                  </a:txBody>
                  <a:tcPr marL="0" marR="0" marT="0" marB="0">
                    <a:solidFill>
                      <a:srgbClr val="FFFFFF"/>
                    </a:solidFill>
                  </a:tcPr>
                </a:tc>
                <a:tc>
                  <a:txBody>
                    <a:bodyPr/>
                    <a:lstStyle/>
                    <a:p>
                      <a:pPr algn="ctr">
                        <a:defRPr sz="1000">
                          <a:latin typeface="Montserrat"/>
                        </a:defRPr>
                      </a:pPr>
                      <a:r>
                        <a:t>3,322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36.9%</a:t>
                      </a:r>
                    </a:p>
                  </a:txBody>
                  <a:tcPr marL="0" marR="0" marT="0" marB="0">
                    <a:solidFill>
                      <a:srgbClr val="ECD3D9"/>
                    </a:solidFill>
                  </a:tcPr>
                </a:tc>
              </a:tr>
              <a:tr h="151200">
                <a:tc>
                  <a:txBody>
                    <a:bodyPr/>
                    <a:lstStyle/>
                    <a:p>
                      <a:pPr algn="l">
                        <a:defRPr sz="1000">
                          <a:latin typeface="Montserrat"/>
                        </a:defRPr>
                      </a:pPr>
                      <a:r>
                        <a:t>UMF 44 Naco</a:t>
                      </a:r>
                    </a:p>
                  </a:txBody>
                  <a:tcPr marL="0" marR="0" marT="0" marB="0">
                    <a:solidFill>
                      <a:srgbClr val="EFEFEF"/>
                    </a:solidFill>
                  </a:tcPr>
                </a:tc>
                <a:tc>
                  <a:txBody>
                    <a:bodyPr/>
                    <a:lstStyle/>
                    <a:p>
                      <a:pPr algn="ctr">
                        <a:defRPr sz="1000">
                          <a:latin typeface="Montserrat"/>
                        </a:defRPr>
                      </a:pPr>
                      <a:r>
                        <a:t>5,688</a:t>
                      </a:r>
                    </a:p>
                  </a:txBody>
                  <a:tcPr marL="0" marR="0" marT="0" marB="0">
                    <a:solidFill>
                      <a:srgbClr val="EFEFEF"/>
                    </a:solidFill>
                  </a:tcPr>
                </a:tc>
                <a:tc>
                  <a:txBody>
                    <a:bodyPr/>
                    <a:lstStyle/>
                    <a:p>
                      <a:pPr algn="ctr">
                        <a:defRPr sz="1000">
                          <a:latin typeface="Montserrat"/>
                        </a:defRPr>
                      </a:pPr>
                      <a:r>
                        <a:t>-213</a:t>
                      </a:r>
                    </a:p>
                  </a:txBody>
                  <a:tcPr marL="0" marR="0" marT="0" marB="0">
                    <a:solidFill>
                      <a:srgbClr val="EFEFEF"/>
                    </a:solidFill>
                  </a:tcPr>
                </a:tc>
                <a:tc>
                  <a:txBody>
                    <a:bodyPr/>
                    <a:lstStyle/>
                    <a:p>
                      <a:pPr algn="ctr">
                        <a:defRPr sz="1000">
                          <a:latin typeface="Montserrat"/>
                        </a:defRPr>
                      </a:pPr>
                      <a:r>
                        <a:t>2,508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UMFH 51 C. Libertad</a:t>
                      </a:r>
                    </a:p>
                  </a:txBody>
                  <a:tcPr marL="0" marR="0" marT="0" marB="0">
                    <a:solidFill>
                      <a:srgbClr val="FFFFFF"/>
                    </a:solidFill>
                  </a:tcPr>
                </a:tc>
                <a:tc>
                  <a:txBody>
                    <a:bodyPr/>
                    <a:lstStyle/>
                    <a:p>
                      <a:pPr algn="ctr">
                        <a:defRPr sz="1000">
                          <a:latin typeface="Montserrat"/>
                        </a:defRPr>
                      </a:pPr>
                      <a:r>
                        <a:t>7,005</a:t>
                      </a:r>
                    </a:p>
                  </a:txBody>
                  <a:tcPr marL="0" marR="0" marT="0" marB="0">
                    <a:solidFill>
                      <a:srgbClr val="FFFFFF"/>
                    </a:solidFill>
                  </a:tcPr>
                </a:tc>
                <a:tc>
                  <a:txBody>
                    <a:bodyPr/>
                    <a:lstStyle/>
                    <a:p>
                      <a:pPr algn="ctr">
                        <a:defRPr sz="1000">
                          <a:latin typeface="Montserrat"/>
                        </a:defRPr>
                      </a:pPr>
                      <a:r>
                        <a:t>598</a:t>
                      </a:r>
                    </a:p>
                  </a:txBody>
                  <a:tcPr marL="0" marR="0" marT="0" marB="0">
                    <a:solidFill>
                      <a:srgbClr val="FFFFFF"/>
                    </a:solidFill>
                  </a:tcPr>
                </a:tc>
                <a:tc>
                  <a:txBody>
                    <a:bodyPr/>
                    <a:lstStyle/>
                    <a:p>
                      <a:pPr algn="ctr">
                        <a:defRPr sz="1000">
                          <a:latin typeface="Montserrat"/>
                        </a:defRPr>
                      </a:pPr>
                      <a:r>
                        <a:t>3,281</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53 Marte R. Gómez</a:t>
                      </a:r>
                    </a:p>
                  </a:txBody>
                  <a:tcPr marL="0" marR="0" marT="0" marB="0">
                    <a:solidFill>
                      <a:srgbClr val="EFEFEF"/>
                    </a:solidFill>
                  </a:tcPr>
                </a:tc>
                <a:tc>
                  <a:txBody>
                    <a:bodyPr/>
                    <a:lstStyle/>
                    <a:p>
                      <a:pPr algn="ctr">
                        <a:defRPr sz="1000">
                          <a:latin typeface="Montserrat"/>
                        </a:defRPr>
                      </a:pPr>
                      <a:r>
                        <a:t>22,119</a:t>
                      </a:r>
                    </a:p>
                  </a:txBody>
                  <a:tcPr marL="0" marR="0" marT="0" marB="0">
                    <a:solidFill>
                      <a:srgbClr val="EFEFEF"/>
                    </a:solidFill>
                  </a:tcPr>
                </a:tc>
                <a:tc>
                  <a:txBody>
                    <a:bodyPr/>
                    <a:lstStyle/>
                    <a:p>
                      <a:pPr algn="ctr">
                        <a:defRPr sz="1000">
                          <a:latin typeface="Montserrat"/>
                        </a:defRPr>
                      </a:pPr>
                      <a:r>
                        <a:t>-752</a:t>
                      </a:r>
                    </a:p>
                  </a:txBody>
                  <a:tcPr marL="0" marR="0" marT="0" marB="0">
                    <a:solidFill>
                      <a:srgbClr val="EFEFEF"/>
                    </a:solidFill>
                  </a:tcPr>
                </a:tc>
                <a:tc>
                  <a:txBody>
                    <a:bodyPr/>
                    <a:lstStyle/>
                    <a:p>
                      <a:pPr algn="ctr">
                        <a:defRPr sz="1000">
                          <a:latin typeface="Montserrat"/>
                        </a:defRPr>
                      </a:pPr>
                      <a:r>
                        <a:t>10,544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52 Sonoita</a:t>
                      </a:r>
                    </a:p>
                  </a:txBody>
                  <a:tcPr marL="0" marR="0" marT="0" marB="0">
                    <a:solidFill>
                      <a:srgbClr val="FFFFFF"/>
                    </a:solidFill>
                  </a:tcPr>
                </a:tc>
                <a:tc>
                  <a:txBody>
                    <a:bodyPr/>
                    <a:lstStyle/>
                    <a:p>
                      <a:pPr algn="ctr">
                        <a:defRPr sz="1000">
                          <a:latin typeface="Montserrat"/>
                        </a:defRPr>
                      </a:pPr>
                      <a:r>
                        <a:t>5,138</a:t>
                      </a:r>
                    </a:p>
                  </a:txBody>
                  <a:tcPr marL="0" marR="0" marT="0" marB="0">
                    <a:solidFill>
                      <a:srgbClr val="FFFFFF"/>
                    </a:solidFill>
                  </a:tcPr>
                </a:tc>
                <a:tc>
                  <a:txBody>
                    <a:bodyPr/>
                    <a:lstStyle/>
                    <a:p>
                      <a:pPr algn="ctr">
                        <a:defRPr sz="1000">
                          <a:latin typeface="Montserrat"/>
                        </a:defRPr>
                      </a:pPr>
                      <a:r>
                        <a:t>956</a:t>
                      </a:r>
                    </a:p>
                  </a:txBody>
                  <a:tcPr marL="0" marR="0" marT="0" marB="0">
                    <a:solidFill>
                      <a:srgbClr val="FFFFFF"/>
                    </a:solidFill>
                  </a:tcPr>
                </a:tc>
                <a:tc>
                  <a:txBody>
                    <a:bodyPr/>
                    <a:lstStyle/>
                    <a:p>
                      <a:pPr algn="ctr">
                        <a:defRPr sz="1000">
                          <a:latin typeface="Montserrat"/>
                        </a:defRPr>
                      </a:pPr>
                      <a:r>
                        <a:t>2,353</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39.2%</a:t>
                      </a:r>
                    </a:p>
                  </a:txBody>
                  <a:tcPr marL="0" marR="0" marT="0" marB="0">
                    <a:solidFill>
                      <a:srgbClr val="ECD3D9"/>
                    </a:solidFill>
                  </a:tcPr>
                </a:tc>
              </a:tr>
              <a:tr h="151200">
                <a:tc>
                  <a:txBody>
                    <a:bodyPr/>
                    <a:lstStyle/>
                    <a:p>
                      <a:pPr algn="l">
                        <a:defRPr sz="1000">
                          <a:latin typeface="Montserrat"/>
                        </a:defRPr>
                      </a:pPr>
                      <a:r>
                        <a:t>UMF 8 Caborca</a:t>
                      </a:r>
                    </a:p>
                  </a:txBody>
                  <a:tcPr marL="0" marR="0" marT="0" marB="0">
                    <a:solidFill>
                      <a:srgbClr val="EFEFEF"/>
                    </a:solidFill>
                  </a:tcPr>
                </a:tc>
                <a:tc>
                  <a:txBody>
                    <a:bodyPr/>
                    <a:lstStyle/>
                    <a:p>
                      <a:pPr algn="ctr">
                        <a:defRPr sz="1000">
                          <a:latin typeface="Montserrat"/>
                        </a:defRPr>
                      </a:pPr>
                      <a:r>
                        <a:t>63,569</a:t>
                      </a:r>
                    </a:p>
                  </a:txBody>
                  <a:tcPr marL="0" marR="0" marT="0" marB="0">
                    <a:solidFill>
                      <a:srgbClr val="EFEFEF"/>
                    </a:solidFill>
                  </a:tcPr>
                </a:tc>
                <a:tc>
                  <a:txBody>
                    <a:bodyPr/>
                    <a:lstStyle/>
                    <a:p>
                      <a:pPr algn="ctr">
                        <a:defRPr sz="1000">
                          <a:latin typeface="Montserrat"/>
                        </a:defRPr>
                      </a:pPr>
                      <a:r>
                        <a:t>76</a:t>
                      </a:r>
                    </a:p>
                  </a:txBody>
                  <a:tcPr marL="0" marR="0" marT="0" marB="0">
                    <a:solidFill>
                      <a:srgbClr val="EFEFEF"/>
                    </a:solidFill>
                  </a:tcPr>
                </a:tc>
                <a:tc>
                  <a:txBody>
                    <a:bodyPr/>
                    <a:lstStyle/>
                    <a:p>
                      <a:pPr algn="ctr">
                        <a:defRPr sz="1000">
                          <a:latin typeface="Montserrat"/>
                        </a:defRPr>
                      </a:pPr>
                      <a:r>
                        <a:t>25,706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55 Cananea</a:t>
                      </a:r>
                    </a:p>
                  </a:txBody>
                  <a:tcPr marL="0" marR="0" marT="0" marB="0">
                    <a:solidFill>
                      <a:srgbClr val="FFFFFF"/>
                    </a:solidFill>
                  </a:tcPr>
                </a:tc>
                <a:tc>
                  <a:txBody>
                    <a:bodyPr/>
                    <a:lstStyle/>
                    <a:p>
                      <a:pPr algn="ctr">
                        <a:defRPr sz="1000">
                          <a:latin typeface="Montserrat"/>
                        </a:defRPr>
                      </a:pPr>
                      <a:r>
                        <a:t>38,064</a:t>
                      </a:r>
                    </a:p>
                  </a:txBody>
                  <a:tcPr marL="0" marR="0" marT="0" marB="0">
                    <a:solidFill>
                      <a:srgbClr val="FFFFFF"/>
                    </a:solidFill>
                  </a:tcPr>
                </a:tc>
                <a:tc>
                  <a:txBody>
                    <a:bodyPr/>
                    <a:lstStyle/>
                    <a:p>
                      <a:pPr algn="ctr">
                        <a:defRPr sz="1000">
                          <a:latin typeface="Montserrat"/>
                        </a:defRPr>
                      </a:pPr>
                      <a:r>
                        <a:t>163</a:t>
                      </a:r>
                    </a:p>
                  </a:txBody>
                  <a:tcPr marL="0" marR="0" marT="0" marB="0">
                    <a:solidFill>
                      <a:srgbClr val="FFFFFF"/>
                    </a:solidFill>
                  </a:tcPr>
                </a:tc>
                <a:tc>
                  <a:txBody>
                    <a:bodyPr/>
                    <a:lstStyle/>
                    <a:p>
                      <a:pPr algn="ctr">
                        <a:defRPr sz="1000">
                          <a:latin typeface="Montserrat"/>
                        </a:defRPr>
                      </a:pPr>
                      <a:r>
                        <a:t>18,811</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56 E. Ortíz</a:t>
                      </a:r>
                    </a:p>
                  </a:txBody>
                  <a:tcPr marL="0" marR="0" marT="0" marB="0">
                    <a:solidFill>
                      <a:srgbClr val="EFEFEF"/>
                    </a:solidFill>
                  </a:tcPr>
                </a:tc>
                <a:tc>
                  <a:txBody>
                    <a:bodyPr/>
                    <a:lstStyle/>
                    <a:p>
                      <a:pPr algn="ctr">
                        <a:defRPr sz="1000">
                          <a:latin typeface="Montserrat"/>
                        </a:defRPr>
                      </a:pPr>
                      <a:r>
                        <a:t>4,064</a:t>
                      </a:r>
                    </a:p>
                  </a:txBody>
                  <a:tcPr marL="0" marR="0" marT="0" marB="0">
                    <a:solidFill>
                      <a:srgbClr val="EFEFEF"/>
                    </a:solidFill>
                  </a:tcPr>
                </a:tc>
                <a:tc>
                  <a:txBody>
                    <a:bodyPr/>
                    <a:lstStyle/>
                    <a:p>
                      <a:pPr algn="ctr">
                        <a:defRPr sz="1000">
                          <a:latin typeface="Montserrat"/>
                        </a:defRPr>
                      </a:pPr>
                      <a:r>
                        <a:t>1,041</a:t>
                      </a:r>
                    </a:p>
                  </a:txBody>
                  <a:tcPr marL="0" marR="0" marT="0" marB="0">
                    <a:solidFill>
                      <a:srgbClr val="EFEFEF"/>
                    </a:solidFill>
                  </a:tcPr>
                </a:tc>
                <a:tc>
                  <a:txBody>
                    <a:bodyPr/>
                    <a:lstStyle/>
                    <a:p>
                      <a:pPr algn="ctr">
                        <a:defRPr sz="1000">
                          <a:latin typeface="Montserrat"/>
                        </a:defRPr>
                      </a:pPr>
                      <a:r>
                        <a:t>2,281</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45.6%</a:t>
                      </a:r>
                    </a:p>
                  </a:txBody>
                  <a:tcPr marL="0" marR="0" marT="0" marB="0">
                    <a:solidFill>
                      <a:srgbClr val="ECD3D9"/>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96" name="CuadroTexto 295">
            <a:extLst>
              <a:ext uri="{FF2B5EF4-FFF2-40B4-BE49-F238E27FC236}">
                <a16:creationId xmlns:a16="http://schemas.microsoft.com/office/drawing/2014/main" id="{E538A53A-A982-4EE0-E633-CCC69C4FB7AB}"/>
              </a:ext>
            </a:extLst>
          </p:cNvPr>
          <p:cNvSpPr txBox="1"/>
          <p:nvPr/>
        </p:nvSpPr>
        <p:spPr>
          <a:xfrm>
            <a:off x="4362328" y="5368357"/>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3 Nuevas UMTC con   3 consultorios</a:t>
            </a:r>
          </a:p>
        </p:txBody>
      </p:sp>
      <p:sp>
        <p:nvSpPr>
          <p:cNvPr id="297" name="CuadroTexto 296">
            <a:extLst>
              <a:ext uri="{FF2B5EF4-FFF2-40B4-BE49-F238E27FC236}">
                <a16:creationId xmlns:a16="http://schemas.microsoft.com/office/drawing/2014/main" id="{D6E01CA8-B30C-49C0-BE16-BCECE1F6C67E}"/>
              </a:ext>
            </a:extLst>
          </p:cNvPr>
          <p:cNvSpPr txBox="1"/>
          <p:nvPr/>
        </p:nvSpPr>
        <p:spPr>
          <a:xfrm>
            <a:off x="4703839" y="6645380"/>
            <a:ext cx="2837915" cy="954107"/>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HGSMF 6 Valle Hermosillo</a:t>
            </a:r>
          </a:p>
          <a:p>
            <a:pPr marL="342900" indent="-342900">
              <a:buFont typeface="+mj-lt"/>
              <a:buAutoNum type="arabicParenR"/>
            </a:pPr>
            <a:r>
              <a:rPr lang="es-MX" dirty="0">
                <a:latin typeface="Montserrat" panose="00000500000000000000" pitchFamily="2" charset="0"/>
              </a:rPr>
              <a:t>UMF 19 Agua Prieta</a:t>
            </a:r>
          </a:p>
          <a:p>
            <a:pPr marL="342900" indent="-342900">
              <a:buFont typeface="+mj-lt"/>
              <a:buAutoNum type="arabicParenR"/>
            </a:pPr>
            <a:r>
              <a:rPr lang="es-MX" dirty="0">
                <a:latin typeface="Montserrat" panose="00000500000000000000" pitchFamily="2" charset="0"/>
              </a:rPr>
              <a:t>UMF 55 Cananea</a:t>
            </a:r>
          </a:p>
        </p:txBody>
      </p:sp>
      <p:sp>
        <p:nvSpPr>
          <p:cNvPr id="298" name="TextBox 29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99" name="TextBox 29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300" name="TextBox 299"/>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8 Unidades Médicas de tiempo completo (40 consultorios)</a:t>
            </a:r>
          </a:p>
        </p:txBody>
      </p:sp>
      <p:sp>
        <p:nvSpPr>
          <p:cNvPr id="301" name="TextBox 30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302" name="Connector 30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303" name="TextBox 302"/>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304" name="TextBox 303"/>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(269,864 consultas)</a:t>
            </a:r>
          </a:p>
        </p:txBody>
      </p:sp>
      <p:graphicFrame>
        <p:nvGraphicFramePr>
          <p:cNvPr id="305" name="Table 304"/>
          <p:cNvGraphicFramePr>
            <a:graphicFrameLocks noGrp="1"/>
          </p:cNvGraphicFramePr>
          <p:nvPr/>
        </p:nvGraphicFramePr>
        <p:xfrm>
          <a:off x="151200" y="1695600"/>
          <a:ext cx="7473599" cy="15120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4 Guaymas</a:t>
                      </a:r>
                    </a:p>
                  </a:txBody>
                  <a:tcPr marL="0" marR="0" marT="0" marB="0">
                    <a:solidFill>
                      <a:srgbClr val="FFFFFF"/>
                    </a:solidFill>
                  </a:tcPr>
                </a:tc>
                <a:tc>
                  <a:txBody>
                    <a:bodyPr/>
                    <a:lstStyle/>
                    <a:p>
                      <a:pPr algn="ctr">
                        <a:defRPr sz="1000">
                          <a:solidFill>
                            <a:srgbClr val="000000"/>
                          </a:solidFill>
                          <a:latin typeface="Montserrat"/>
                        </a:defRPr>
                      </a:pPr>
                      <a:r>
                        <a:t>176,872</a:t>
                      </a:r>
                    </a:p>
                  </a:txBody>
                  <a:tcPr marL="0" marR="0" marT="0" marB="0">
                    <a:solidFill>
                      <a:srgbClr val="FFFFFF"/>
                    </a:solidFill>
                  </a:tcPr>
                </a:tc>
                <a:tc>
                  <a:txBody>
                    <a:bodyPr/>
                    <a:lstStyle/>
                    <a:p>
                      <a:pPr algn="ctr">
                        <a:defRPr sz="1000">
                          <a:solidFill>
                            <a:srgbClr val="000000"/>
                          </a:solidFill>
                          <a:latin typeface="Montserrat"/>
                        </a:defRPr>
                      </a:pPr>
                      <a:r>
                        <a:t>8,279</a:t>
                      </a:r>
                    </a:p>
                  </a:txBody>
                  <a:tcPr marL="0" marR="0" marT="0" marB="0">
                    <a:solidFill>
                      <a:srgbClr val="FFFFFF"/>
                    </a:solidFill>
                  </a:tcPr>
                </a:tc>
                <a:tc>
                  <a:txBody>
                    <a:bodyPr/>
                    <a:lstStyle/>
                    <a:p>
                      <a:pPr algn="ctr">
                        <a:defRPr sz="1000">
                          <a:solidFill>
                            <a:srgbClr val="000000"/>
                          </a:solidFill>
                          <a:latin typeface="Montserrat"/>
                        </a:defRPr>
                      </a:pPr>
                      <a:r>
                        <a:t>74,106</a:t>
                      </a:r>
                    </a:p>
                  </a:txBody>
                  <a:tcPr marL="0" marR="0" marT="0" marB="0">
                    <a:solidFill>
                      <a:srgbClr val="ECD3D9"/>
                    </a:solidFill>
                  </a:tcPr>
                </a:tc>
                <a:tc>
                  <a:txBody>
                    <a:bodyPr/>
                    <a:lstStyle/>
                    <a:p>
                      <a:pPr algn="ctr">
                        <a:defRPr sz="1000">
                          <a:solidFill>
                            <a:srgbClr val="000000"/>
                          </a:solidFill>
                          <a:latin typeface="Montserrat"/>
                        </a:defRPr>
                      </a:pPr>
                      <a:r>
                        <a:t>171,000</a:t>
                      </a:r>
                    </a:p>
                  </a:txBody>
                  <a:tcPr marL="0" marR="0" marT="0" marB="0">
                    <a:solidFill>
                      <a:srgbClr val="ECD3D9"/>
                    </a:solidFill>
                  </a:tcPr>
                </a:tc>
                <a:tc>
                  <a:txBody>
                    <a:bodyPr/>
                    <a:lstStyle/>
                    <a:p>
                      <a:pPr algn="ctr">
                        <a:defRPr sz="1000">
                          <a:solidFill>
                            <a:srgbClr val="000000"/>
                          </a:solidFill>
                          <a:latin typeface="Montserrat"/>
                        </a:defRPr>
                      </a:pPr>
                      <a:r>
                        <a:t>43.3%</a:t>
                      </a:r>
                    </a:p>
                  </a:txBody>
                  <a:tcPr marL="0" marR="0" marT="0" marB="0">
                    <a:solidFill>
                      <a:srgbClr val="ECD3D9"/>
                    </a:solidFill>
                  </a:tcPr>
                </a:tc>
              </a:tr>
              <a:tr h="151200">
                <a:tc>
                  <a:txBody>
                    <a:bodyPr/>
                    <a:lstStyle/>
                    <a:p>
                      <a:pPr algn="l">
                        <a:defRPr sz="1000">
                          <a:solidFill>
                            <a:srgbClr val="000000"/>
                          </a:solidFill>
                          <a:latin typeface="Montserrat"/>
                        </a:defRPr>
                      </a:pPr>
                      <a:r>
                        <a:t>UMF 1 Obregón</a:t>
                      </a:r>
                    </a:p>
                  </a:txBody>
                  <a:tcPr marL="0" marR="0" marT="0" marB="0">
                    <a:solidFill>
                      <a:srgbClr val="EFEFEF"/>
                    </a:solidFill>
                  </a:tcPr>
                </a:tc>
                <a:tc>
                  <a:txBody>
                    <a:bodyPr/>
                    <a:lstStyle/>
                    <a:p>
                      <a:pPr algn="ctr">
                        <a:defRPr sz="1000">
                          <a:solidFill>
                            <a:srgbClr val="000000"/>
                          </a:solidFill>
                          <a:latin typeface="Montserrat"/>
                        </a:defRPr>
                      </a:pPr>
                      <a:r>
                        <a:t>408,308</a:t>
                      </a:r>
                    </a:p>
                  </a:txBody>
                  <a:tcPr marL="0" marR="0" marT="0" marB="0">
                    <a:solidFill>
                      <a:srgbClr val="EFEFEF"/>
                    </a:solidFill>
                  </a:tcPr>
                </a:tc>
                <a:tc>
                  <a:txBody>
                    <a:bodyPr/>
                    <a:lstStyle/>
                    <a:p>
                      <a:pPr algn="ctr">
                        <a:defRPr sz="1000">
                          <a:solidFill>
                            <a:srgbClr val="000000"/>
                          </a:solidFill>
                          <a:latin typeface="Montserrat"/>
                        </a:defRPr>
                      </a:pPr>
                      <a:r>
                        <a:t>23,144</a:t>
                      </a:r>
                    </a:p>
                  </a:txBody>
                  <a:tcPr marL="0" marR="0" marT="0" marB="0">
                    <a:solidFill>
                      <a:srgbClr val="EFEFEF"/>
                    </a:solidFill>
                  </a:tcPr>
                </a:tc>
                <a:tc>
                  <a:txBody>
                    <a:bodyPr/>
                    <a:lstStyle/>
                    <a:p>
                      <a:pPr algn="ctr">
                        <a:defRPr sz="1000">
                          <a:solidFill>
                            <a:srgbClr val="000000"/>
                          </a:solidFill>
                          <a:latin typeface="Montserrat"/>
                        </a:defRPr>
                      </a:pPr>
                      <a:r>
                        <a:t>164,961</a:t>
                      </a:r>
                    </a:p>
                  </a:txBody>
                  <a:tcPr marL="0" marR="0" marT="0" marB="0">
                    <a:solidFill>
                      <a:srgbClr val="ECD3D9"/>
                    </a:solidFill>
                  </a:tcPr>
                </a:tc>
                <a:tc>
                  <a:txBody>
                    <a:bodyPr/>
                    <a:lstStyle/>
                    <a:p>
                      <a:pPr algn="ctr">
                        <a:defRPr sz="1000">
                          <a:solidFill>
                            <a:srgbClr val="000000"/>
                          </a:solidFill>
                          <a:latin typeface="Montserrat"/>
                        </a:defRPr>
                      </a:pPr>
                      <a:r>
                        <a:t>396,000</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37 Hermosillo</a:t>
                      </a:r>
                    </a:p>
                  </a:txBody>
                  <a:tcPr marL="0" marR="0" marT="0" marB="0">
                    <a:solidFill>
                      <a:srgbClr val="FFFFFF"/>
                    </a:solidFill>
                  </a:tcPr>
                </a:tc>
                <a:tc>
                  <a:txBody>
                    <a:bodyPr/>
                    <a:lstStyle/>
                    <a:p>
                      <a:pPr algn="ctr">
                        <a:defRPr sz="1000">
                          <a:solidFill>
                            <a:srgbClr val="000000"/>
                          </a:solidFill>
                          <a:latin typeface="Montserrat"/>
                        </a:defRPr>
                      </a:pPr>
                      <a:r>
                        <a:t>291,338</a:t>
                      </a:r>
                    </a:p>
                  </a:txBody>
                  <a:tcPr marL="0" marR="0" marT="0" marB="0">
                    <a:solidFill>
                      <a:srgbClr val="FFFFFF"/>
                    </a:solidFill>
                  </a:tcPr>
                </a:tc>
                <a:tc>
                  <a:txBody>
                    <a:bodyPr/>
                    <a:lstStyle/>
                    <a:p>
                      <a:pPr algn="ctr">
                        <a:defRPr sz="1000">
                          <a:solidFill>
                            <a:srgbClr val="000000"/>
                          </a:solidFill>
                          <a:latin typeface="Montserrat"/>
                        </a:defRPr>
                      </a:pPr>
                      <a:r>
                        <a:t>16,868</a:t>
                      </a:r>
                    </a:p>
                  </a:txBody>
                  <a:tcPr marL="0" marR="0" marT="0" marB="0">
                    <a:solidFill>
                      <a:srgbClr val="FFFFFF"/>
                    </a:solidFill>
                  </a:tcPr>
                </a:tc>
                <a:tc>
                  <a:txBody>
                    <a:bodyPr/>
                    <a:lstStyle/>
                    <a:p>
                      <a:pPr algn="ctr">
                        <a:defRPr sz="1000">
                          <a:solidFill>
                            <a:srgbClr val="000000"/>
                          </a:solidFill>
                          <a:latin typeface="Montserrat"/>
                        </a:defRPr>
                      </a:pPr>
                      <a:r>
                        <a:t>120,616</a:t>
                      </a:r>
                    </a:p>
                  </a:txBody>
                  <a:tcPr marL="0" marR="0" marT="0" marB="0">
                    <a:solidFill>
                      <a:srgbClr val="ECD3D9"/>
                    </a:solidFill>
                  </a:tcPr>
                </a:tc>
                <a:tc>
                  <a:txBody>
                    <a:bodyPr/>
                    <a:lstStyle/>
                    <a:p>
                      <a:pPr algn="ctr">
                        <a:defRPr sz="1000">
                          <a:solidFill>
                            <a:srgbClr val="000000"/>
                          </a:solidFill>
                          <a:latin typeface="Montserrat"/>
                        </a:defRPr>
                      </a:pPr>
                      <a:r>
                        <a:t>289,296</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2 Hermosillo</a:t>
                      </a:r>
                    </a:p>
                  </a:txBody>
                  <a:tcPr marL="0" marR="0" marT="0" marB="0">
                    <a:solidFill>
                      <a:srgbClr val="EFEFEF"/>
                    </a:solidFill>
                  </a:tcPr>
                </a:tc>
                <a:tc>
                  <a:txBody>
                    <a:bodyPr/>
                    <a:lstStyle/>
                    <a:p>
                      <a:pPr algn="ctr">
                        <a:defRPr sz="1000">
                          <a:solidFill>
                            <a:srgbClr val="000000"/>
                          </a:solidFill>
                          <a:latin typeface="Montserrat"/>
                        </a:defRPr>
                      </a:pPr>
                      <a:r>
                        <a:t>288,417</a:t>
                      </a:r>
                    </a:p>
                  </a:txBody>
                  <a:tcPr marL="0" marR="0" marT="0" marB="0">
                    <a:solidFill>
                      <a:srgbClr val="EFEFEF"/>
                    </a:solidFill>
                  </a:tcPr>
                </a:tc>
                <a:tc>
                  <a:txBody>
                    <a:bodyPr/>
                    <a:lstStyle/>
                    <a:p>
                      <a:pPr algn="ctr">
                        <a:defRPr sz="1000">
                          <a:solidFill>
                            <a:srgbClr val="000000"/>
                          </a:solidFill>
                          <a:latin typeface="Montserrat"/>
                        </a:defRPr>
                      </a:pPr>
                      <a:r>
                        <a:t>11,343</a:t>
                      </a:r>
                    </a:p>
                  </a:txBody>
                  <a:tcPr marL="0" marR="0" marT="0" marB="0">
                    <a:solidFill>
                      <a:srgbClr val="EFEFEF"/>
                    </a:solidFill>
                  </a:tcPr>
                </a:tc>
                <a:tc>
                  <a:txBody>
                    <a:bodyPr/>
                    <a:lstStyle/>
                    <a:p>
                      <a:pPr algn="ctr">
                        <a:defRPr sz="1000">
                          <a:solidFill>
                            <a:srgbClr val="000000"/>
                          </a:solidFill>
                          <a:latin typeface="Montserrat"/>
                        </a:defRPr>
                      </a:pPr>
                      <a:r>
                        <a:t>119,916</a:t>
                      </a:r>
                    </a:p>
                  </a:txBody>
                  <a:tcPr marL="0" marR="0" marT="0" marB="0">
                    <a:solidFill>
                      <a:srgbClr val="ECD3D9"/>
                    </a:solidFill>
                  </a:tcPr>
                </a:tc>
                <a:tc>
                  <a:txBody>
                    <a:bodyPr/>
                    <a:lstStyle/>
                    <a:p>
                      <a:pPr algn="ctr">
                        <a:defRPr sz="1000">
                          <a:solidFill>
                            <a:srgbClr val="000000"/>
                          </a:solidFill>
                          <a:latin typeface="Montserrat"/>
                        </a:defRPr>
                      </a:pPr>
                      <a:r>
                        <a:t>279,000</a:t>
                      </a:r>
                    </a:p>
                  </a:txBody>
                  <a:tcPr marL="0" marR="0" marT="0" marB="0">
                    <a:solidFill>
                      <a:srgbClr val="ECD3D9"/>
                    </a:solidFill>
                  </a:tcPr>
                </a:tc>
                <a:tc>
                  <a:txBody>
                    <a:bodyPr/>
                    <a:lstStyle/>
                    <a:p>
                      <a:pPr algn="ctr">
                        <a:defRPr sz="1000">
                          <a:solidFill>
                            <a:srgbClr val="000000"/>
                          </a:solidFill>
                          <a:latin typeface="Montserrat"/>
                        </a:defRPr>
                      </a:pPr>
                      <a:r>
                        <a:t>43.0%</a:t>
                      </a:r>
                    </a:p>
                  </a:txBody>
                  <a:tcPr marL="0" marR="0" marT="0" marB="0">
                    <a:solidFill>
                      <a:srgbClr val="ECD3D9"/>
                    </a:solidFill>
                  </a:tcPr>
                </a:tc>
              </a:tr>
              <a:tr h="151200">
                <a:tc>
                  <a:txBody>
                    <a:bodyPr/>
                    <a:lstStyle/>
                    <a:p>
                      <a:pPr algn="l">
                        <a:defRPr sz="1000">
                          <a:solidFill>
                            <a:srgbClr val="000000"/>
                          </a:solidFill>
                          <a:latin typeface="Montserrat"/>
                        </a:defRPr>
                      </a:pPr>
                      <a:r>
                        <a:t>UMF 59 Navojoa</a:t>
                      </a:r>
                    </a:p>
                  </a:txBody>
                  <a:tcPr marL="0" marR="0" marT="0" marB="0">
                    <a:solidFill>
                      <a:srgbClr val="FFFFFF"/>
                    </a:solidFill>
                  </a:tcPr>
                </a:tc>
                <a:tc>
                  <a:txBody>
                    <a:bodyPr/>
                    <a:lstStyle/>
                    <a:p>
                      <a:pPr algn="ctr">
                        <a:defRPr sz="1000">
                          <a:solidFill>
                            <a:srgbClr val="000000"/>
                          </a:solidFill>
                          <a:latin typeface="Montserrat"/>
                        </a:defRPr>
                      </a:pPr>
                      <a:r>
                        <a:t>42,118</a:t>
                      </a:r>
                    </a:p>
                  </a:txBody>
                  <a:tcPr marL="0" marR="0" marT="0" marB="0">
                    <a:solidFill>
                      <a:srgbClr val="FFFFFF"/>
                    </a:solidFill>
                  </a:tcPr>
                </a:tc>
                <a:tc>
                  <a:txBody>
                    <a:bodyPr/>
                    <a:lstStyle/>
                    <a:p>
                      <a:pPr algn="ctr">
                        <a:defRPr sz="1000">
                          <a:solidFill>
                            <a:srgbClr val="000000"/>
                          </a:solidFill>
                          <a:latin typeface="Montserrat"/>
                        </a:defRPr>
                      </a:pPr>
                      <a:r>
                        <a:t>2,316</a:t>
                      </a:r>
                    </a:p>
                  </a:txBody>
                  <a:tcPr marL="0" marR="0" marT="0" marB="0">
                    <a:solidFill>
                      <a:srgbClr val="FFFFFF"/>
                    </a:solidFill>
                  </a:tcPr>
                </a:tc>
                <a:tc>
                  <a:txBody>
                    <a:bodyPr/>
                    <a:lstStyle/>
                    <a:p>
                      <a:pPr algn="ctr">
                        <a:defRPr sz="1000">
                          <a:solidFill>
                            <a:srgbClr val="000000"/>
                          </a:solidFill>
                          <a:latin typeface="Montserrat"/>
                        </a:defRPr>
                      </a:pPr>
                      <a:r>
                        <a:t>17,194</a:t>
                      </a:r>
                    </a:p>
                  </a:txBody>
                  <a:tcPr marL="0" marR="0" marT="0" marB="0">
                    <a:solidFill>
                      <a:srgbClr val="ECD3D9"/>
                    </a:solidFill>
                  </a:tcPr>
                </a:tc>
                <a:tc>
                  <a:txBody>
                    <a:bodyPr/>
                    <a:lstStyle/>
                    <a:p>
                      <a:pPr algn="ctr">
                        <a:defRPr sz="1000">
                          <a:solidFill>
                            <a:srgbClr val="000000"/>
                          </a:solidFill>
                          <a:latin typeface="Montserrat"/>
                        </a:defRPr>
                      </a:pPr>
                      <a:r>
                        <a:t>41,000</a:t>
                      </a:r>
                    </a:p>
                  </a:txBody>
                  <a:tcPr marL="0" marR="0" marT="0" marB="0">
                    <a:solidFill>
                      <a:srgbClr val="ECD3D9"/>
                    </a:solidFill>
                  </a:tcPr>
                </a:tc>
                <a:tc>
                  <a:txBody>
                    <a:bodyPr/>
                    <a:lstStyle/>
                    <a:p>
                      <a:pPr algn="ctr">
                        <a:defRPr sz="1000">
                          <a:solidFill>
                            <a:srgbClr val="000000"/>
                          </a:solidFill>
                          <a:latin typeface="Montserrat"/>
                        </a:defRPr>
                      </a:pPr>
                      <a:r>
                        <a:t>41.9%</a:t>
                      </a:r>
                    </a:p>
                  </a:txBody>
                  <a:tcPr marL="0" marR="0" marT="0" marB="0">
                    <a:solidFill>
                      <a:srgbClr val="ECD3D9"/>
                    </a:solidFill>
                  </a:tcPr>
                </a:tc>
              </a:tr>
              <a:tr h="151200">
                <a:tc>
                  <a:txBody>
                    <a:bodyPr/>
                    <a:lstStyle/>
                    <a:p>
                      <a:pPr algn="l">
                        <a:defRPr sz="1000">
                          <a:solidFill>
                            <a:srgbClr val="000000"/>
                          </a:solidFill>
                          <a:latin typeface="Montserrat"/>
                        </a:defRPr>
                      </a:pPr>
                      <a:r>
                        <a:t>UMF 61 Navojoa</a:t>
                      </a:r>
                    </a:p>
                  </a:txBody>
                  <a:tcPr marL="0" marR="0" marT="0" marB="0">
                    <a:solidFill>
                      <a:srgbClr val="EFEFEF"/>
                    </a:solidFill>
                  </a:tcPr>
                </a:tc>
                <a:tc>
                  <a:txBody>
                    <a:bodyPr/>
                    <a:lstStyle/>
                    <a:p>
                      <a:pPr algn="ctr">
                        <a:defRPr sz="1000">
                          <a:solidFill>
                            <a:srgbClr val="000000"/>
                          </a:solidFill>
                          <a:latin typeface="Montserrat"/>
                        </a:defRPr>
                      </a:pPr>
                      <a:r>
                        <a:t>44,257</a:t>
                      </a:r>
                    </a:p>
                  </a:txBody>
                  <a:tcPr marL="0" marR="0" marT="0" marB="0">
                    <a:solidFill>
                      <a:srgbClr val="EFEFEF"/>
                    </a:solidFill>
                  </a:tcPr>
                </a:tc>
                <a:tc>
                  <a:txBody>
                    <a:bodyPr/>
                    <a:lstStyle/>
                    <a:p>
                      <a:pPr algn="ctr">
                        <a:defRPr sz="1000">
                          <a:solidFill>
                            <a:srgbClr val="000000"/>
                          </a:solidFill>
                          <a:latin typeface="Montserrat"/>
                        </a:defRPr>
                      </a:pPr>
                      <a:r>
                        <a:t>1,892</a:t>
                      </a:r>
                    </a:p>
                  </a:txBody>
                  <a:tcPr marL="0" marR="0" marT="0" marB="0">
                    <a:solidFill>
                      <a:srgbClr val="EFEFEF"/>
                    </a:solidFill>
                  </a:tcPr>
                </a:tc>
                <a:tc>
                  <a:txBody>
                    <a:bodyPr/>
                    <a:lstStyle/>
                    <a:p>
                      <a:pPr algn="ctr">
                        <a:defRPr sz="1000">
                          <a:solidFill>
                            <a:srgbClr val="000000"/>
                          </a:solidFill>
                          <a:latin typeface="Montserrat"/>
                        </a:defRPr>
                      </a:pPr>
                      <a:r>
                        <a:t>17,702</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41.2%</a:t>
                      </a:r>
                    </a:p>
                  </a:txBody>
                  <a:tcPr marL="0" marR="0" marT="0" marB="0">
                    <a:solidFill>
                      <a:srgbClr val="ECD3D9"/>
                    </a:solidFill>
                  </a:tcPr>
                </a:tc>
              </a:tr>
              <a:tr h="151200">
                <a:tc>
                  <a:txBody>
                    <a:bodyPr/>
                    <a:lstStyle/>
                    <a:p>
                      <a:pPr algn="l">
                        <a:defRPr sz="1000">
                          <a:solidFill>
                            <a:srgbClr val="000000"/>
                          </a:solidFill>
                          <a:latin typeface="Montserrat"/>
                        </a:defRPr>
                      </a:pPr>
                      <a:r>
                        <a:t>UMF 38 S. Luis Rio Colorado</a:t>
                      </a:r>
                    </a:p>
                  </a:txBody>
                  <a:tcPr marL="0" marR="0" marT="0" marB="0">
                    <a:solidFill>
                      <a:srgbClr val="FFFFFF"/>
                    </a:solidFill>
                  </a:tcPr>
                </a:tc>
                <a:tc>
                  <a:txBody>
                    <a:bodyPr/>
                    <a:lstStyle/>
                    <a:p>
                      <a:pPr algn="ctr">
                        <a:defRPr sz="1000">
                          <a:solidFill>
                            <a:srgbClr val="000000"/>
                          </a:solidFill>
                          <a:latin typeface="Montserrat"/>
                        </a:defRPr>
                      </a:pPr>
                      <a:r>
                        <a:t>166,719</a:t>
                      </a:r>
                    </a:p>
                  </a:txBody>
                  <a:tcPr marL="0" marR="0" marT="0" marB="0">
                    <a:solidFill>
                      <a:srgbClr val="FFFFFF"/>
                    </a:solidFill>
                  </a:tcPr>
                </a:tc>
                <a:tc>
                  <a:txBody>
                    <a:bodyPr/>
                    <a:lstStyle/>
                    <a:p>
                      <a:pPr algn="ctr">
                        <a:defRPr sz="1000">
                          <a:solidFill>
                            <a:srgbClr val="000000"/>
                          </a:solidFill>
                          <a:latin typeface="Montserrat"/>
                        </a:defRPr>
                      </a:pPr>
                      <a:r>
                        <a:t>8,723</a:t>
                      </a:r>
                    </a:p>
                  </a:txBody>
                  <a:tcPr marL="0" marR="0" marT="0" marB="0">
                    <a:solidFill>
                      <a:srgbClr val="FFFFFF"/>
                    </a:solidFill>
                  </a:tcPr>
                </a:tc>
                <a:tc>
                  <a:txBody>
                    <a:bodyPr/>
                    <a:lstStyle/>
                    <a:p>
                      <a:pPr algn="ctr">
                        <a:defRPr sz="1000">
                          <a:solidFill>
                            <a:srgbClr val="000000"/>
                          </a:solidFill>
                          <a:latin typeface="Montserrat"/>
                        </a:defRPr>
                      </a:pPr>
                      <a:r>
                        <a:t>69,438</a:t>
                      </a:r>
                    </a:p>
                  </a:txBody>
                  <a:tcPr marL="0" marR="0" marT="0" marB="0">
                    <a:solidFill>
                      <a:srgbClr val="ECD3D9"/>
                    </a:solidFill>
                  </a:tcPr>
                </a:tc>
                <a:tc>
                  <a:txBody>
                    <a:bodyPr/>
                    <a:lstStyle/>
                    <a:p>
                      <a:pPr algn="ctr">
                        <a:defRPr sz="1000">
                          <a:solidFill>
                            <a:srgbClr val="000000"/>
                          </a:solidFill>
                          <a:latin typeface="Montserrat"/>
                        </a:defRPr>
                      </a:pPr>
                      <a:r>
                        <a:t>161,000</a:t>
                      </a:r>
                    </a:p>
                  </a:txBody>
                  <a:tcPr marL="0" marR="0" marT="0" marB="0">
                    <a:solidFill>
                      <a:srgbClr val="ECD3D9"/>
                    </a:solidFill>
                  </a:tcPr>
                </a:tc>
                <a:tc>
                  <a:txBody>
                    <a:bodyPr/>
                    <a:lstStyle/>
                    <a:p>
                      <a:pPr algn="ctr">
                        <a:defRPr sz="1000">
                          <a:solidFill>
                            <a:srgbClr val="000000"/>
                          </a:solidFill>
                          <a:latin typeface="Montserrat"/>
                        </a:defRPr>
                      </a:pPr>
                      <a:r>
                        <a:t>43.1%</a:t>
                      </a:r>
                    </a:p>
                  </a:txBody>
                  <a:tcPr marL="0" marR="0" marT="0" marB="0">
                    <a:solidFill>
                      <a:srgbClr val="ECD3D9"/>
                    </a:solidFill>
                  </a:tcPr>
                </a:tc>
              </a:tr>
              <a:tr h="151200">
                <a:tc>
                  <a:txBody>
                    <a:bodyPr/>
                    <a:lstStyle/>
                    <a:p>
                      <a:pPr algn="l">
                        <a:defRPr sz="1000">
                          <a:solidFill>
                            <a:srgbClr val="000000"/>
                          </a:solidFill>
                          <a:latin typeface="Montserrat"/>
                        </a:defRPr>
                      </a:pPr>
                      <a:r>
                        <a:t>UMF-UMAA 68 Hermosillo</a:t>
                      </a:r>
                    </a:p>
                  </a:txBody>
                  <a:tcPr marL="0" marR="0" marT="0" marB="0">
                    <a:solidFill>
                      <a:srgbClr val="EFEFEF"/>
                    </a:solidFill>
                  </a:tcPr>
                </a:tc>
                <a:tc>
                  <a:txBody>
                    <a:bodyPr/>
                    <a:lstStyle/>
                    <a:p>
                      <a:pPr algn="ctr">
                        <a:defRPr sz="1000">
                          <a:solidFill>
                            <a:srgbClr val="000000"/>
                          </a:solidFill>
                          <a:latin typeface="Montserrat"/>
                        </a:defRPr>
                      </a:pPr>
                      <a:r>
                        <a:t>207,564</a:t>
                      </a:r>
                    </a:p>
                  </a:txBody>
                  <a:tcPr marL="0" marR="0" marT="0" marB="0">
                    <a:solidFill>
                      <a:srgbClr val="EFEFEF"/>
                    </a:solidFill>
                  </a:tcPr>
                </a:tc>
                <a:tc>
                  <a:txBody>
                    <a:bodyPr/>
                    <a:lstStyle/>
                    <a:p>
                      <a:pPr algn="ctr">
                        <a:defRPr sz="1000">
                          <a:solidFill>
                            <a:srgbClr val="000000"/>
                          </a:solidFill>
                          <a:latin typeface="Montserrat"/>
                        </a:defRPr>
                      </a:pPr>
                      <a:r>
                        <a:t>20,810</a:t>
                      </a:r>
                    </a:p>
                  </a:txBody>
                  <a:tcPr marL="0" marR="0" marT="0" marB="0">
                    <a:solidFill>
                      <a:srgbClr val="EFEFEF"/>
                    </a:solidFill>
                  </a:tcPr>
                </a:tc>
                <a:tc>
                  <a:txBody>
                    <a:bodyPr/>
                    <a:lstStyle/>
                    <a:p>
                      <a:pPr algn="ctr">
                        <a:defRPr sz="1000">
                          <a:solidFill>
                            <a:srgbClr val="000000"/>
                          </a:solidFill>
                          <a:latin typeface="Montserrat"/>
                        </a:defRPr>
                      </a:pPr>
                      <a:r>
                        <a:t>83,228</a:t>
                      </a:r>
                    </a:p>
                  </a:txBody>
                  <a:tcPr marL="0" marR="0" marT="0" marB="0">
                    <a:solidFill>
                      <a:srgbClr val="ECD3D9"/>
                    </a:solidFill>
                  </a:tcPr>
                </a:tc>
                <a:tc>
                  <a:txBody>
                    <a:bodyPr/>
                    <a:lstStyle/>
                    <a:p>
                      <a:pPr algn="ctr">
                        <a:defRPr sz="1000">
                          <a:solidFill>
                            <a:srgbClr val="000000"/>
                          </a:solidFill>
                          <a:latin typeface="Montserrat"/>
                        </a:defRPr>
                      </a:pPr>
                      <a:r>
                        <a:t>201,000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1,625,593</a:t>
                      </a:r>
                    </a:p>
                  </a:txBody>
                  <a:tcPr marL="0" marR="0" marT="0" marB="0">
                    <a:solidFill>
                      <a:srgbClr val="D3E9E7"/>
                    </a:solidFill>
                  </a:tcPr>
                </a:tc>
                <a:tc>
                  <a:txBody>
                    <a:bodyPr/>
                    <a:lstStyle/>
                    <a:p>
                      <a:pPr algn="ctr">
                        <a:defRPr sz="1000" b="1">
                          <a:solidFill>
                            <a:srgbClr val="006556"/>
                          </a:solidFill>
                          <a:latin typeface="Montserrat"/>
                        </a:defRPr>
                      </a:pPr>
                      <a:r>
                        <a:t>93,375</a:t>
                      </a:r>
                    </a:p>
                  </a:txBody>
                  <a:tcPr marL="0" marR="0" marT="0" marB="0">
                    <a:solidFill>
                      <a:srgbClr val="D3E9E7"/>
                    </a:solidFill>
                  </a:tcPr>
                </a:tc>
                <a:tc>
                  <a:txBody>
                    <a:bodyPr/>
                    <a:lstStyle/>
                    <a:p>
                      <a:pPr algn="ctr">
                        <a:defRPr sz="1000" b="1">
                          <a:solidFill>
                            <a:srgbClr val="FFFFFF"/>
                          </a:solidFill>
                          <a:latin typeface="Montserrat"/>
                        </a:defRPr>
                      </a:pPr>
                      <a:r>
                        <a:t>667,161</a:t>
                      </a:r>
                    </a:p>
                  </a:txBody>
                  <a:tcPr marL="0" marR="0" marT="0" marB="0">
                    <a:solidFill>
                      <a:srgbClr val="9F2241"/>
                    </a:solidFill>
                  </a:tcPr>
                </a:tc>
                <a:tc>
                  <a:txBody>
                    <a:bodyPr/>
                    <a:lstStyle/>
                    <a:p>
                      <a:pPr algn="ctr">
                        <a:defRPr sz="1000" b="1">
                          <a:solidFill>
                            <a:srgbClr val="FFFFFF"/>
                          </a:solidFill>
                          <a:latin typeface="Montserrat"/>
                        </a:defRPr>
                      </a:pPr>
                      <a:r>
                        <a:t>1,581,296</a:t>
                      </a:r>
                    </a:p>
                  </a:txBody>
                  <a:tcPr marL="0" marR="0" marT="0" marB="0">
                    <a:solidFill>
                      <a:srgbClr val="9F2241"/>
                    </a:solidFill>
                  </a:tcPr>
                </a:tc>
                <a:tc>
                  <a:txBody>
                    <a:bodyPr/>
                    <a:lstStyle/>
                    <a:p>
                      <a:pPr algn="ctr">
                        <a:defRPr sz="1000" b="1">
                          <a:solidFill>
                            <a:srgbClr val="FFFFFF"/>
                          </a:solidFill>
                          <a:latin typeface="Montserrat"/>
                        </a:defRPr>
                      </a:pPr>
                      <a:r>
                        <a:t>42.2%</a:t>
                      </a:r>
                    </a:p>
                  </a:txBody>
                  <a:tcPr marL="0" marR="0" marT="0" marB="0">
                    <a:solidFill>
                      <a:srgbClr val="9F2241"/>
                    </a:solidFill>
                  </a:tcPr>
                </a:tc>
              </a:tr>
            </a:tbl>
          </a:graphicData>
        </a:graphic>
      </p:graphicFrame>
      <p:graphicFrame>
        <p:nvGraphicFramePr>
          <p:cNvPr id="306" name="Chart 305"/>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307" name="TextBox 306"/>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34838217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23 Nacozari</a:t>
                      </a:r>
                    </a:p>
                  </a:txBody>
                  <a:tcPr>
                    <a:solidFill>
                      <a:srgbClr val="FFFFFF"/>
                    </a:solidFill>
                  </a:tcPr>
                </a:tc>
                <a:tc>
                  <a:txBody>
                    <a:bodyPr/>
                    <a:lstStyle/>
                    <a:p>
                      <a:pPr algn="ctr">
                        <a:defRPr sz="1000">
                          <a:latin typeface="Montserrat"/>
                        </a:defRPr>
                      </a:pPr>
                      <a:r>
                        <a:t>8,944</a:t>
                      </a:r>
                    </a:p>
                  </a:txBody>
                  <a:tcPr>
                    <a:solidFill>
                      <a:srgbClr val="FFFFFF"/>
                    </a:solidFill>
                  </a:tcPr>
                </a:tc>
                <a:tc>
                  <a:txBody>
                    <a:bodyPr/>
                    <a:lstStyle/>
                    <a:p>
                      <a:pPr algn="ctr">
                        <a:defRPr sz="1000">
                          <a:latin typeface="Montserrat"/>
                        </a:defRPr>
                      </a:pPr>
                      <a:r>
                        <a:t>14</a:t>
                      </a:r>
                    </a:p>
                  </a:txBody>
                  <a:tcPr>
                    <a:solidFill>
                      <a:srgbClr val="FFFFFF"/>
                    </a:solidFill>
                  </a:tcPr>
                </a:tc>
                <a:tc>
                  <a:txBody>
                    <a:bodyPr/>
                    <a:lstStyle/>
                    <a:p>
                      <a:pPr algn="ctr">
                        <a:defRPr sz="1000">
                          <a:latin typeface="Montserrat"/>
                        </a:defRPr>
                      </a:pPr>
                      <a:r>
                        <a:t>5,249</a:t>
                      </a:r>
                    </a:p>
                  </a:txBody>
                  <a:tcPr>
                    <a:solidFill>
                      <a:srgbClr val="ECD3D9"/>
                    </a:solidFill>
                  </a:tcPr>
                </a:tc>
                <a:tc>
                  <a:txBody>
                    <a:bodyPr/>
                    <a:lstStyle/>
                    <a:p>
                      <a:pPr algn="ctr">
                        <a:defRPr sz="1000">
                          <a:latin typeface="Montserrat"/>
                        </a:defRPr>
                      </a:pPr>
                      <a:r>
                        <a:t>11,680</a:t>
                      </a:r>
                    </a:p>
                  </a:txBody>
                  <a:tcPr>
                    <a:solidFill>
                      <a:srgbClr val="ECD3D9"/>
                    </a:solidFill>
                  </a:tcPr>
                </a:tc>
                <a:tc>
                  <a:txBody>
                    <a:bodyPr/>
                    <a:lstStyle/>
                    <a:p>
                      <a:pPr algn="ctr">
                        <a:defRPr sz="1000">
                          <a:latin typeface="Montserrat"/>
                        </a:defRPr>
                      </a:pPr>
                      <a:r>
                        <a:t>44.9%</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194,621</a:t>
                      </a:r>
                    </a:p>
                  </a:txBody>
                  <a:tcPr>
                    <a:solidFill>
                      <a:srgbClr val="EFEFEF"/>
                    </a:solidFill>
                  </a:tcPr>
                </a:tc>
                <a:tc>
                  <a:txBody>
                    <a:bodyPr/>
                    <a:lstStyle/>
                    <a:p>
                      <a:pPr algn="ctr">
                        <a:defRPr sz="1000">
                          <a:latin typeface="Montserrat"/>
                        </a:defRPr>
                      </a:pPr>
                      <a:r>
                        <a:t>26,034</a:t>
                      </a:r>
                    </a:p>
                  </a:txBody>
                  <a:tcPr>
                    <a:solidFill>
                      <a:srgbClr val="EFEFEF"/>
                    </a:solidFill>
                  </a:tcPr>
                </a:tc>
                <a:tc>
                  <a:txBody>
                    <a:bodyPr/>
                    <a:lstStyle/>
                    <a:p>
                      <a:pPr algn="ctr">
                        <a:defRPr sz="1000">
                          <a:latin typeface="Montserrat"/>
                        </a:defRPr>
                      </a:pPr>
                      <a:r>
                        <a:t>82,139</a:t>
                      </a:r>
                    </a:p>
                  </a:txBody>
                  <a:tcPr>
                    <a:solidFill>
                      <a:srgbClr val="ECD3D9"/>
                    </a:solidFill>
                  </a:tcPr>
                </a:tc>
                <a:tc>
                  <a:txBody>
                    <a:bodyPr/>
                    <a:lstStyle/>
                    <a:p>
                      <a:pPr algn="ctr">
                        <a:defRPr sz="1000">
                          <a:latin typeface="Montserrat"/>
                        </a:defRPr>
                      </a:pPr>
                      <a:r>
                        <a:t>203,670</a:t>
                      </a:r>
                    </a:p>
                  </a:txBody>
                  <a:tcPr>
                    <a:solidFill>
                      <a:srgbClr val="ECD3D9"/>
                    </a:solidFill>
                  </a:tcPr>
                </a:tc>
                <a:tc>
                  <a:txBody>
                    <a:bodyPr/>
                    <a:lstStyle/>
                    <a:p>
                      <a:pPr algn="ctr">
                        <a:defRPr sz="1000">
                          <a:latin typeface="Montserrat"/>
                        </a:defRPr>
                      </a:pPr>
                      <a:r>
                        <a:t>40.3%</a:t>
                      </a:r>
                    </a:p>
                  </a:txBody>
                  <a:tcPr>
                    <a:solidFill>
                      <a:srgbClr val="ECD3D9"/>
                    </a:solidFill>
                  </a:tcPr>
                </a:tc>
              </a:tr>
              <a:tr h="284400">
                <a:tc>
                  <a:txBody>
                    <a:bodyPr/>
                    <a:lstStyle/>
                    <a:p>
                      <a:pPr algn="l">
                        <a:defRPr sz="1000">
                          <a:latin typeface="Montserrat"/>
                        </a:defRPr>
                      </a:pPr>
                      <a:r>
                        <a:t>HGS 12 S. Luis Rio Colorado</a:t>
                      </a:r>
                    </a:p>
                  </a:txBody>
                  <a:tcPr>
                    <a:solidFill>
                      <a:srgbClr val="FFFFFF"/>
                    </a:solidFill>
                  </a:tcPr>
                </a:tc>
                <a:tc>
                  <a:txBody>
                    <a:bodyPr/>
                    <a:lstStyle/>
                    <a:p>
                      <a:pPr algn="ctr">
                        <a:defRPr sz="1000">
                          <a:latin typeface="Montserrat"/>
                        </a:defRPr>
                      </a:pPr>
                      <a:r>
                        <a:t>27,069</a:t>
                      </a:r>
                    </a:p>
                  </a:txBody>
                  <a:tcPr>
                    <a:solidFill>
                      <a:srgbClr val="FFFFFF"/>
                    </a:solidFill>
                  </a:tcPr>
                </a:tc>
                <a:tc>
                  <a:txBody>
                    <a:bodyPr/>
                    <a:lstStyle/>
                    <a:p>
                      <a:pPr algn="ctr">
                        <a:defRPr sz="1000">
                          <a:latin typeface="Montserrat"/>
                        </a:defRPr>
                      </a:pPr>
                      <a:r>
                        <a:t>3,586</a:t>
                      </a:r>
                    </a:p>
                  </a:txBody>
                  <a:tcPr>
                    <a:solidFill>
                      <a:srgbClr val="FFFFFF"/>
                    </a:solidFill>
                  </a:tcPr>
                </a:tc>
                <a:tc>
                  <a:txBody>
                    <a:bodyPr/>
                    <a:lstStyle/>
                    <a:p>
                      <a:pPr algn="ctr">
                        <a:defRPr sz="1000">
                          <a:latin typeface="Montserrat"/>
                        </a:defRPr>
                      </a:pPr>
                      <a:r>
                        <a:t>11,583</a:t>
                      </a:r>
                    </a:p>
                  </a:txBody>
                  <a:tcPr>
                    <a:solidFill>
                      <a:srgbClr val="ECD3D9"/>
                    </a:solidFill>
                  </a:tcPr>
                </a:tc>
                <a:tc>
                  <a:txBody>
                    <a:bodyPr/>
                    <a:lstStyle/>
                    <a:p>
                      <a:pPr algn="ctr">
                        <a:defRPr sz="1000">
                          <a:latin typeface="Montserrat"/>
                        </a:defRPr>
                      </a:pPr>
                      <a:r>
                        <a:t>29,200</a:t>
                      </a:r>
                    </a:p>
                  </a:txBody>
                  <a:tcPr>
                    <a:solidFill>
                      <a:srgbClr val="ECD3D9"/>
                    </a:solidFill>
                  </a:tcPr>
                </a:tc>
                <a:tc>
                  <a:txBody>
                    <a:bodyPr/>
                    <a:lstStyle/>
                    <a:p>
                      <a:pPr algn="ctr">
                        <a:defRPr sz="1000">
                          <a:latin typeface="Montserrat"/>
                        </a:defRPr>
                      </a:pPr>
                      <a:r>
                        <a:t>39.7%</a:t>
                      </a:r>
                    </a:p>
                  </a:txBody>
                  <a:tcPr>
                    <a:solidFill>
                      <a:srgbClr val="ECD3D9"/>
                    </a:solidFill>
                  </a:tcPr>
                </a:tc>
              </a:tr>
              <a:tr h="284400">
                <a:tc>
                  <a:txBody>
                    <a:bodyPr/>
                    <a:lstStyle/>
                    <a:p>
                      <a:pPr algn="l">
                        <a:defRPr sz="1000">
                          <a:latin typeface="Montserrat"/>
                        </a:defRPr>
                      </a:pPr>
                      <a:r>
                        <a:t>HGZ 2 Hermosillo</a:t>
                      </a:r>
                    </a:p>
                  </a:txBody>
                  <a:tcPr>
                    <a:solidFill>
                      <a:srgbClr val="EFEFEF"/>
                    </a:solidFill>
                  </a:tcPr>
                </a:tc>
                <a:tc>
                  <a:txBody>
                    <a:bodyPr/>
                    <a:lstStyle/>
                    <a:p>
                      <a:pPr algn="ctr">
                        <a:defRPr sz="1000">
                          <a:latin typeface="Montserrat"/>
                        </a:defRPr>
                      </a:pPr>
                      <a:r>
                        <a:t>148,168</a:t>
                      </a:r>
                    </a:p>
                  </a:txBody>
                  <a:tcPr>
                    <a:solidFill>
                      <a:srgbClr val="EFEFEF"/>
                    </a:solidFill>
                  </a:tcPr>
                </a:tc>
                <a:tc>
                  <a:txBody>
                    <a:bodyPr/>
                    <a:lstStyle/>
                    <a:p>
                      <a:pPr algn="ctr">
                        <a:defRPr sz="1000">
                          <a:latin typeface="Montserrat"/>
                        </a:defRPr>
                      </a:pPr>
                      <a:r>
                        <a:t>28,138</a:t>
                      </a:r>
                    </a:p>
                  </a:txBody>
                  <a:tcPr>
                    <a:solidFill>
                      <a:srgbClr val="EFEFEF"/>
                    </a:solidFill>
                  </a:tcPr>
                </a:tc>
                <a:tc>
                  <a:txBody>
                    <a:bodyPr/>
                    <a:lstStyle/>
                    <a:p>
                      <a:pPr algn="ctr">
                        <a:defRPr sz="1000">
                          <a:latin typeface="Montserrat"/>
                        </a:defRPr>
                      </a:pPr>
                      <a:r>
                        <a:t>62,339</a:t>
                      </a:r>
                    </a:p>
                  </a:txBody>
                  <a:tcPr>
                    <a:solidFill>
                      <a:srgbClr val="ECD3D9"/>
                    </a:solidFill>
                  </a:tcPr>
                </a:tc>
                <a:tc>
                  <a:txBody>
                    <a:bodyPr/>
                    <a:lstStyle/>
                    <a:p>
                      <a:pPr algn="ctr">
                        <a:defRPr sz="1000">
                          <a:latin typeface="Montserrat"/>
                        </a:defRPr>
                      </a:pPr>
                      <a:r>
                        <a:t>157,680</a:t>
                      </a:r>
                    </a:p>
                  </a:txBody>
                  <a:tcPr>
                    <a:solidFill>
                      <a:srgbClr val="ECD3D9"/>
                    </a:solidFill>
                  </a:tcPr>
                </a:tc>
                <a:tc>
                  <a:txBody>
                    <a:bodyPr/>
                    <a:lstStyle/>
                    <a:p>
                      <a:pPr algn="ctr">
                        <a:defRPr sz="1000">
                          <a:latin typeface="Montserrat"/>
                        </a:defRPr>
                      </a:pPr>
                      <a:r>
                        <a:t>39.5%</a:t>
                      </a:r>
                    </a:p>
                  </a:txBody>
                  <a:tcPr>
                    <a:solidFill>
                      <a:srgbClr val="ECD3D9"/>
                    </a:solidFill>
                  </a:tcPr>
                </a:tc>
              </a:tr>
              <a:tr h="284400">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10,851</a:t>
                      </a:r>
                    </a:p>
                  </a:txBody>
                  <a:tcPr>
                    <a:solidFill>
                      <a:srgbClr val="FFFFFF"/>
                    </a:solidFill>
                  </a:tcPr>
                </a:tc>
                <a:tc>
                  <a:txBody>
                    <a:bodyPr/>
                    <a:lstStyle/>
                    <a:p>
                      <a:pPr algn="ctr">
                        <a:defRPr sz="1000">
                          <a:latin typeface="Montserrat"/>
                        </a:defRPr>
                      </a:pPr>
                      <a:r>
                        <a:t>-225</a:t>
                      </a:r>
                    </a:p>
                  </a:txBody>
                  <a:tcPr>
                    <a:solidFill>
                      <a:srgbClr val="FFFFFF"/>
                    </a:solidFill>
                  </a:tcPr>
                </a:tc>
                <a:tc>
                  <a:txBody>
                    <a:bodyPr/>
                    <a:lstStyle/>
                    <a:p>
                      <a:pPr algn="ctr">
                        <a:defRPr sz="1000">
                          <a:latin typeface="Montserrat"/>
                        </a:defRPr>
                      </a:pPr>
                      <a:r>
                        <a:t>4,850</a:t>
                      </a:r>
                    </a:p>
                  </a:txBody>
                  <a:tcPr>
                    <a:solidFill>
                      <a:srgbClr val="ECD3D9"/>
                    </a:solidFill>
                  </a:tcPr>
                </a:tc>
                <a:tc>
                  <a:txBody>
                    <a:bodyPr/>
                    <a:lstStyle/>
                    <a:p>
                      <a:pPr algn="ctr">
                        <a:defRPr sz="1000">
                          <a:latin typeface="Montserrat"/>
                        </a:defRPr>
                      </a:pPr>
                      <a:r>
                        <a:t>12,410</a:t>
                      </a:r>
                    </a:p>
                  </a:txBody>
                  <a:tcPr>
                    <a:solidFill>
                      <a:srgbClr val="ECD3D9"/>
                    </a:solidFill>
                  </a:tcPr>
                </a:tc>
                <a:tc>
                  <a:txBody>
                    <a:bodyPr/>
                    <a:lstStyle/>
                    <a:p>
                      <a:pPr algn="ctr">
                        <a:defRPr sz="1000">
                          <a:latin typeface="Montserrat"/>
                        </a:defRPr>
                      </a:pPr>
                      <a:r>
                        <a:t>39.1%</a:t>
                      </a:r>
                    </a:p>
                  </a:txBody>
                  <a:tcPr>
                    <a:solidFill>
                      <a:srgbClr val="ECD3D9"/>
                    </a:solidFill>
                  </a:tcPr>
                </a:tc>
              </a:tr>
              <a:tr h="284400">
                <a:tc>
                  <a:txBody>
                    <a:bodyPr/>
                    <a:lstStyle/>
                    <a:p>
                      <a:pPr algn="l">
                        <a:defRPr sz="1000">
                          <a:latin typeface="Montserrat"/>
                        </a:defRPr>
                      </a:pPr>
                      <a:r>
                        <a:t>HGZ 5 Nogales</a:t>
                      </a:r>
                    </a:p>
                  </a:txBody>
                  <a:tcPr>
                    <a:solidFill>
                      <a:srgbClr val="EFEFEF"/>
                    </a:solidFill>
                  </a:tcPr>
                </a:tc>
                <a:tc>
                  <a:txBody>
                    <a:bodyPr/>
                    <a:lstStyle/>
                    <a:p>
                      <a:pPr algn="ctr">
                        <a:defRPr sz="1000">
                          <a:latin typeface="Montserrat"/>
                        </a:defRPr>
                      </a:pPr>
                      <a:r>
                        <a:t>146,588</a:t>
                      </a:r>
                    </a:p>
                  </a:txBody>
                  <a:tcPr>
                    <a:solidFill>
                      <a:srgbClr val="EFEFEF"/>
                    </a:solidFill>
                  </a:tcPr>
                </a:tc>
                <a:tc>
                  <a:txBody>
                    <a:bodyPr/>
                    <a:lstStyle/>
                    <a:p>
                      <a:pPr algn="ctr">
                        <a:defRPr sz="1000">
                          <a:latin typeface="Montserrat"/>
                        </a:defRPr>
                      </a:pPr>
                      <a:r>
                        <a:t>34,153</a:t>
                      </a:r>
                    </a:p>
                  </a:txBody>
                  <a:tcPr>
                    <a:solidFill>
                      <a:srgbClr val="EFEFEF"/>
                    </a:solidFill>
                  </a:tcPr>
                </a:tc>
                <a:tc>
                  <a:txBody>
                    <a:bodyPr/>
                    <a:lstStyle/>
                    <a:p>
                      <a:pPr algn="ctr">
                        <a:defRPr sz="1000">
                          <a:latin typeface="Montserrat"/>
                        </a:defRPr>
                      </a:pPr>
                      <a:r>
                        <a:t>66,707</a:t>
                      </a:r>
                    </a:p>
                  </a:txBody>
                  <a:tcPr>
                    <a:solidFill>
                      <a:srgbClr val="ECD3D9"/>
                    </a:solidFill>
                  </a:tcPr>
                </a:tc>
                <a:tc>
                  <a:txBody>
                    <a:bodyPr/>
                    <a:lstStyle/>
                    <a:p>
                      <a:pPr algn="ctr">
                        <a:defRPr sz="1000">
                          <a:latin typeface="Montserrat"/>
                        </a:defRPr>
                      </a:pPr>
                      <a:r>
                        <a:t>179,945</a:t>
                      </a:r>
                    </a:p>
                  </a:txBody>
                  <a:tcPr>
                    <a:solidFill>
                      <a:srgbClr val="ECD3D9"/>
                    </a:solidFill>
                  </a:tcPr>
                </a:tc>
                <a:tc>
                  <a:txBody>
                    <a:bodyPr/>
                    <a:lstStyle/>
                    <a:p>
                      <a:pPr algn="ctr">
                        <a:defRPr sz="1000">
                          <a:latin typeface="Montserrat"/>
                        </a:defRPr>
                      </a:pPr>
                      <a:r>
                        <a:t>37.1%</a:t>
                      </a:r>
                    </a:p>
                  </a:txBody>
                  <a:tcPr>
                    <a:solidFill>
                      <a:srgbClr val="ECD3D9"/>
                    </a:solidFill>
                  </a:tcPr>
                </a:tc>
              </a:tr>
              <a:tr h="284400">
                <a:tc>
                  <a:txBody>
                    <a:bodyPr/>
                    <a:lstStyle/>
                    <a:p>
                      <a:pPr algn="l">
                        <a:defRPr sz="1000">
                          <a:latin typeface="Montserrat"/>
                        </a:defRPr>
                      </a:pPr>
                      <a:r>
                        <a:t>HGS 9 Puerto Peñasco</a:t>
                      </a:r>
                    </a:p>
                  </a:txBody>
                  <a:tcPr>
                    <a:solidFill>
                      <a:srgbClr val="FFFFFF"/>
                    </a:solidFill>
                  </a:tcPr>
                </a:tc>
                <a:tc>
                  <a:txBody>
                    <a:bodyPr/>
                    <a:lstStyle/>
                    <a:p>
                      <a:pPr algn="ctr">
                        <a:defRPr sz="1000">
                          <a:latin typeface="Montserrat"/>
                        </a:defRPr>
                      </a:pPr>
                      <a:r>
                        <a:t>12,477</a:t>
                      </a:r>
                    </a:p>
                  </a:txBody>
                  <a:tcPr>
                    <a:solidFill>
                      <a:srgbClr val="FFFFFF"/>
                    </a:solidFill>
                  </a:tcPr>
                </a:tc>
                <a:tc>
                  <a:txBody>
                    <a:bodyPr/>
                    <a:lstStyle/>
                    <a:p>
                      <a:pPr algn="ctr">
                        <a:defRPr sz="1000">
                          <a:latin typeface="Montserrat"/>
                        </a:defRPr>
                      </a:pPr>
                      <a:r>
                        <a:t>4,204</a:t>
                      </a:r>
                    </a:p>
                  </a:txBody>
                  <a:tcPr>
                    <a:solidFill>
                      <a:srgbClr val="FFFFFF"/>
                    </a:solidFill>
                  </a:tcPr>
                </a:tc>
                <a:tc>
                  <a:txBody>
                    <a:bodyPr/>
                    <a:lstStyle/>
                    <a:p>
                      <a:pPr algn="ctr">
                        <a:defRPr sz="1000">
                          <a:latin typeface="Montserrat"/>
                        </a:defRPr>
                      </a:pPr>
                      <a:r>
                        <a:t>6,472</a:t>
                      </a:r>
                    </a:p>
                  </a:txBody>
                  <a:tcPr>
                    <a:solidFill>
                      <a:srgbClr val="ECD3D9"/>
                    </a:solidFill>
                  </a:tcPr>
                </a:tc>
                <a:tc>
                  <a:txBody>
                    <a:bodyPr/>
                    <a:lstStyle/>
                    <a:p>
                      <a:pPr algn="ctr">
                        <a:defRPr sz="1000">
                          <a:latin typeface="Montserrat"/>
                        </a:defRPr>
                      </a:pPr>
                      <a:r>
                        <a:t>17,520</a:t>
                      </a:r>
                    </a:p>
                  </a:txBody>
                  <a:tcPr>
                    <a:solidFill>
                      <a:srgbClr val="ECD3D9"/>
                    </a:solidFill>
                  </a:tcPr>
                </a:tc>
                <a:tc>
                  <a:txBody>
                    <a:bodyPr/>
                    <a:lstStyle/>
                    <a:p>
                      <a:pPr algn="ctr">
                        <a:defRPr sz="1000">
                          <a:latin typeface="Montserrat"/>
                        </a:defRPr>
                      </a:pPr>
                      <a:r>
                        <a:t>36.9%</a:t>
                      </a:r>
                    </a:p>
                  </a:txBody>
                  <a:tcPr>
                    <a:solidFill>
                      <a:srgbClr val="ECD3D9"/>
                    </a:solidFill>
                  </a:tcPr>
                </a:tc>
              </a:tr>
              <a:tr h="284400">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163,334</a:t>
                      </a:r>
                    </a:p>
                  </a:txBody>
                  <a:tcPr>
                    <a:solidFill>
                      <a:srgbClr val="EFEFEF"/>
                    </a:solidFill>
                  </a:tcPr>
                </a:tc>
                <a:tc>
                  <a:txBody>
                    <a:bodyPr/>
                    <a:lstStyle/>
                    <a:p>
                      <a:pPr algn="ctr">
                        <a:defRPr sz="1000">
                          <a:latin typeface="Montserrat"/>
                        </a:defRPr>
                      </a:pPr>
                      <a:r>
                        <a:t>28,809</a:t>
                      </a:r>
                    </a:p>
                  </a:txBody>
                  <a:tcPr>
                    <a:solidFill>
                      <a:srgbClr val="EFEFEF"/>
                    </a:solidFill>
                  </a:tcPr>
                </a:tc>
                <a:tc>
                  <a:txBody>
                    <a:bodyPr/>
                    <a:lstStyle/>
                    <a:p>
                      <a:pPr algn="ctr">
                        <a:defRPr sz="1000">
                          <a:latin typeface="Montserrat"/>
                        </a:defRPr>
                      </a:pPr>
                      <a:r>
                        <a:t>62,007</a:t>
                      </a:r>
                    </a:p>
                  </a:txBody>
                  <a:tcPr>
                    <a:solidFill>
                      <a:srgbClr val="ECD3D9"/>
                    </a:solidFill>
                  </a:tcPr>
                </a:tc>
                <a:tc>
                  <a:txBody>
                    <a:bodyPr/>
                    <a:lstStyle/>
                    <a:p>
                      <a:pPr algn="ctr">
                        <a:defRPr sz="1000">
                          <a:latin typeface="Montserrat"/>
                        </a:defRPr>
                      </a:pPr>
                      <a:r>
                        <a:t>170,820</a:t>
                      </a:r>
                    </a:p>
                  </a:txBody>
                  <a:tcPr>
                    <a:solidFill>
                      <a:srgbClr val="ECD3D9"/>
                    </a:solidFill>
                  </a:tcPr>
                </a:tc>
                <a:tc>
                  <a:txBody>
                    <a:bodyPr/>
                    <a:lstStyle/>
                    <a:p>
                      <a:pPr algn="ctr">
                        <a:defRPr sz="1000">
                          <a:latin typeface="Montserrat"/>
                        </a:defRPr>
                      </a:pPr>
                      <a:r>
                        <a:t>36.3%</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19,723</a:t>
                      </a:r>
                    </a:p>
                  </a:txBody>
                  <a:tcPr>
                    <a:solidFill>
                      <a:srgbClr val="FFFFFF"/>
                    </a:solidFill>
                  </a:tcPr>
                </a:tc>
                <a:tc>
                  <a:txBody>
                    <a:bodyPr/>
                    <a:lstStyle/>
                    <a:p>
                      <a:pPr algn="ctr">
                        <a:defRPr sz="1000">
                          <a:latin typeface="Montserrat"/>
                        </a:defRPr>
                      </a:pPr>
                      <a:r>
                        <a:t>1,814</a:t>
                      </a:r>
                    </a:p>
                  </a:txBody>
                  <a:tcPr>
                    <a:solidFill>
                      <a:srgbClr val="FFFFFF"/>
                    </a:solidFill>
                  </a:tcPr>
                </a:tc>
                <a:tc>
                  <a:txBody>
                    <a:bodyPr/>
                    <a:lstStyle/>
                    <a:p>
                      <a:pPr algn="ctr">
                        <a:defRPr sz="1000">
                          <a:latin typeface="Montserrat"/>
                        </a:defRPr>
                      </a:pPr>
                      <a:r>
                        <a:t>6,921</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35.1%</a:t>
                      </a:r>
                    </a:p>
                  </a:txBody>
                  <a:tcPr>
                    <a:solidFill>
                      <a:srgbClr val="ECD3D9"/>
                    </a:solidFill>
                  </a:tcPr>
                </a:tc>
              </a:tr>
              <a:tr h="284400">
                <a:tc>
                  <a:txBody>
                    <a:bodyPr/>
                    <a:lstStyle/>
                    <a:p>
                      <a:pPr algn="l">
                        <a:defRPr sz="1000">
                          <a:latin typeface="Montserrat"/>
                        </a:defRPr>
                      </a:pPr>
                      <a:r>
                        <a:t>HGP Hermosillo</a:t>
                      </a:r>
                    </a:p>
                  </a:txBody>
                  <a:tcPr>
                    <a:solidFill>
                      <a:srgbClr val="EFEFEF"/>
                    </a:solidFill>
                  </a:tcPr>
                </a:tc>
                <a:tc>
                  <a:txBody>
                    <a:bodyPr/>
                    <a:lstStyle/>
                    <a:p>
                      <a:pPr algn="ctr">
                        <a:defRPr sz="1000">
                          <a:latin typeface="Montserrat"/>
                        </a:defRPr>
                      </a:pPr>
                      <a:r>
                        <a:t>46,759</a:t>
                      </a:r>
                    </a:p>
                  </a:txBody>
                  <a:tcPr>
                    <a:solidFill>
                      <a:srgbClr val="EFEFEF"/>
                    </a:solidFill>
                  </a:tcPr>
                </a:tc>
                <a:tc>
                  <a:txBody>
                    <a:bodyPr/>
                    <a:lstStyle/>
                    <a:p>
                      <a:pPr algn="ctr">
                        <a:defRPr sz="1000">
                          <a:latin typeface="Montserrat"/>
                        </a:defRPr>
                      </a:pPr>
                      <a:r>
                        <a:t>6,636</a:t>
                      </a:r>
                    </a:p>
                  </a:txBody>
                  <a:tcPr>
                    <a:solidFill>
                      <a:srgbClr val="EFEFEF"/>
                    </a:solidFill>
                  </a:tcPr>
                </a:tc>
                <a:tc>
                  <a:txBody>
                    <a:bodyPr/>
                    <a:lstStyle/>
                    <a:p>
                      <a:pPr algn="ctr">
                        <a:defRPr sz="1000">
                          <a:latin typeface="Montserrat"/>
                        </a:defRPr>
                      </a:pPr>
                      <a:r>
                        <a:t>19,802</a:t>
                      </a:r>
                    </a:p>
                  </a:txBody>
                  <a:tcPr>
                    <a:solidFill>
                      <a:srgbClr val="ECD3D9"/>
                    </a:solidFill>
                  </a:tcPr>
                </a:tc>
                <a:tc>
                  <a:txBody>
                    <a:bodyPr/>
                    <a:lstStyle/>
                    <a:p>
                      <a:pPr algn="ctr">
                        <a:defRPr sz="1000">
                          <a:latin typeface="Montserrat"/>
                        </a:defRPr>
                      </a:pPr>
                      <a:r>
                        <a:t>65,700</a:t>
                      </a:r>
                    </a:p>
                  </a:txBody>
                  <a:tcPr>
                    <a:solidFill>
                      <a:srgbClr val="ECD3D9"/>
                    </a:solidFill>
                  </a:tcPr>
                </a:tc>
                <a:tc>
                  <a:txBody>
                    <a:bodyPr/>
                    <a:lstStyle/>
                    <a:p>
                      <a:pPr algn="ctr">
                        <a:defRPr sz="1000">
                          <a:latin typeface="Montserrat"/>
                        </a:defRPr>
                      </a:pPr>
                      <a:r>
                        <a:t>30.1%</a:t>
                      </a:r>
                    </a:p>
                  </a:txBody>
                  <a:tcPr>
                    <a:solidFill>
                      <a:srgbClr val="ECD3D9"/>
                    </a:solidFill>
                  </a:tcPr>
                </a:tc>
              </a:tr>
              <a:tr h="284400">
                <a:tc>
                  <a:txBody>
                    <a:bodyPr/>
                    <a:lstStyle/>
                    <a:p>
                      <a:pPr algn="l">
                        <a:defRPr sz="1000">
                          <a:latin typeface="Montserrat"/>
                        </a:defRPr>
                      </a:pPr>
                      <a:r>
                        <a:t>HGZ 4 Guaymas</a:t>
                      </a:r>
                    </a:p>
                  </a:txBody>
                  <a:tcPr>
                    <a:solidFill>
                      <a:srgbClr val="FFFFFF"/>
                    </a:solidFill>
                  </a:tcPr>
                </a:tc>
                <a:tc>
                  <a:txBody>
                    <a:bodyPr/>
                    <a:lstStyle/>
                    <a:p>
                      <a:pPr algn="ctr">
                        <a:defRPr sz="1000">
                          <a:latin typeface="Montserrat"/>
                        </a:defRPr>
                      </a:pPr>
                      <a:r>
                        <a:t>47,164</a:t>
                      </a:r>
                    </a:p>
                  </a:txBody>
                  <a:tcPr>
                    <a:solidFill>
                      <a:srgbClr val="FFFFFF"/>
                    </a:solidFill>
                  </a:tcPr>
                </a:tc>
                <a:tc>
                  <a:txBody>
                    <a:bodyPr/>
                    <a:lstStyle/>
                    <a:p>
                      <a:pPr algn="ctr">
                        <a:defRPr sz="1000">
                          <a:latin typeface="Montserrat"/>
                        </a:defRPr>
                      </a:pPr>
                      <a:r>
                        <a:t>7,201</a:t>
                      </a:r>
                    </a:p>
                  </a:txBody>
                  <a:tcPr>
                    <a:solidFill>
                      <a:srgbClr val="FFFFFF"/>
                    </a:solidFill>
                  </a:tcPr>
                </a:tc>
                <a:tc>
                  <a:txBody>
                    <a:bodyPr/>
                    <a:lstStyle/>
                    <a:p>
                      <a:pPr algn="ctr">
                        <a:defRPr sz="1000">
                          <a:latin typeface="Montserrat"/>
                        </a:defRPr>
                      </a:pPr>
                      <a:r>
                        <a:t>18,996</a:t>
                      </a:r>
                    </a:p>
                  </a:txBody>
                  <a:tcPr>
                    <a:solidFill>
                      <a:srgbClr val="ECD3D9"/>
                    </a:solidFill>
                  </a:tcPr>
                </a:tc>
                <a:tc>
                  <a:txBody>
                    <a:bodyPr/>
                    <a:lstStyle/>
                    <a:p>
                      <a:pPr algn="ctr">
                        <a:defRPr sz="1000">
                          <a:latin typeface="Montserrat"/>
                        </a:defRPr>
                      </a:pPr>
                      <a:r>
                        <a:t>68,255</a:t>
                      </a:r>
                    </a:p>
                  </a:txBody>
                  <a:tcPr>
                    <a:solidFill>
                      <a:srgbClr val="ECD3D9"/>
                    </a:solidFill>
                  </a:tcPr>
                </a:tc>
                <a:tc>
                  <a:txBody>
                    <a:bodyPr/>
                    <a:lstStyle/>
                    <a:p>
                      <a:pPr algn="ctr">
                        <a:defRPr sz="1000">
                          <a:latin typeface="Montserrat"/>
                        </a:defRPr>
                      </a:pPr>
                      <a:r>
                        <a:t>27.8%</a:t>
                      </a:r>
                    </a:p>
                  </a:txBody>
                  <a:tcPr>
                    <a:solidFill>
                      <a:srgbClr val="ECD3D9"/>
                    </a:solidFill>
                  </a:tcPr>
                </a:tc>
              </a:tr>
              <a:tr h="284400">
                <a:tc>
                  <a:txBody>
                    <a:bodyPr/>
                    <a:lstStyle/>
                    <a:p>
                      <a:pPr algn="l">
                        <a:defRPr sz="1000">
                          <a:latin typeface="Montserrat"/>
                        </a:defRPr>
                      </a:pPr>
                      <a:r>
                        <a:t>HGZ 3 Navojoa</a:t>
                      </a:r>
                    </a:p>
                  </a:txBody>
                  <a:tcPr>
                    <a:solidFill>
                      <a:srgbClr val="EFEFEF"/>
                    </a:solidFill>
                  </a:tcPr>
                </a:tc>
                <a:tc>
                  <a:txBody>
                    <a:bodyPr/>
                    <a:lstStyle/>
                    <a:p>
                      <a:pPr algn="ctr">
                        <a:defRPr sz="1000">
                          <a:latin typeface="Montserrat"/>
                        </a:defRPr>
                      </a:pPr>
                      <a:r>
                        <a:t>51,932</a:t>
                      </a:r>
                    </a:p>
                  </a:txBody>
                  <a:tcPr>
                    <a:solidFill>
                      <a:srgbClr val="EFEFEF"/>
                    </a:solidFill>
                  </a:tcPr>
                </a:tc>
                <a:tc>
                  <a:txBody>
                    <a:bodyPr/>
                    <a:lstStyle/>
                    <a:p>
                      <a:pPr algn="ctr">
                        <a:defRPr sz="1000">
                          <a:latin typeface="Montserrat"/>
                        </a:defRPr>
                      </a:pPr>
                      <a:r>
                        <a:t>6,660</a:t>
                      </a:r>
                    </a:p>
                  </a:txBody>
                  <a:tcPr>
                    <a:solidFill>
                      <a:srgbClr val="EFEFEF"/>
                    </a:solidFill>
                  </a:tcPr>
                </a:tc>
                <a:tc>
                  <a:txBody>
                    <a:bodyPr/>
                    <a:lstStyle/>
                    <a:p>
                      <a:pPr algn="ctr">
                        <a:defRPr sz="1000">
                          <a:latin typeface="Montserrat"/>
                        </a:defRPr>
                      </a:pPr>
                      <a:r>
                        <a:t>22,514</a:t>
                      </a:r>
                    </a:p>
                  </a:txBody>
                  <a:tcPr>
                    <a:solidFill>
                      <a:srgbClr val="ECD3D9"/>
                    </a:solidFill>
                  </a:tcPr>
                </a:tc>
                <a:tc>
                  <a:txBody>
                    <a:bodyPr/>
                    <a:lstStyle/>
                    <a:p>
                      <a:pPr algn="ctr">
                        <a:defRPr sz="1000">
                          <a:latin typeface="Montserrat"/>
                        </a:defRPr>
                      </a:pPr>
                      <a:r>
                        <a:t>86,870</a:t>
                      </a:r>
                    </a:p>
                  </a:txBody>
                  <a:tcPr>
                    <a:solidFill>
                      <a:srgbClr val="ECD3D9"/>
                    </a:solidFill>
                  </a:tcPr>
                </a:tc>
                <a:tc>
                  <a:txBody>
                    <a:bodyPr/>
                    <a:lstStyle/>
                    <a:p>
                      <a:pPr algn="ctr">
                        <a:defRPr sz="1000">
                          <a:latin typeface="Montserrat"/>
                        </a:defRPr>
                      </a:pPr>
                      <a:r>
                        <a:t>25.9%</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12,588</a:t>
                      </a:r>
                    </a:p>
                  </a:txBody>
                  <a:tcPr>
                    <a:solidFill>
                      <a:srgbClr val="FFFFFF"/>
                    </a:solidFill>
                  </a:tcPr>
                </a:tc>
                <a:tc>
                  <a:txBody>
                    <a:bodyPr/>
                    <a:lstStyle/>
                    <a:p>
                      <a:pPr algn="ctr">
                        <a:defRPr sz="1000">
                          <a:latin typeface="Montserrat"/>
                        </a:defRPr>
                      </a:pPr>
                      <a:r>
                        <a:t>7,113</a:t>
                      </a:r>
                    </a:p>
                  </a:txBody>
                  <a:tcPr>
                    <a:solidFill>
                      <a:srgbClr val="FFFFFF"/>
                    </a:solidFill>
                  </a:tcPr>
                </a:tc>
                <a:tc>
                  <a:txBody>
                    <a:bodyPr/>
                    <a:lstStyle/>
                    <a:p>
                      <a:pPr algn="ctr">
                        <a:defRPr sz="1000">
                          <a:latin typeface="Montserrat"/>
                        </a:defRPr>
                      </a:pPr>
                      <a:r>
                        <a:t>4,749</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24.1%</a:t>
                      </a:r>
                    </a:p>
                  </a:txBody>
                  <a:tcPr>
                    <a:solidFill>
                      <a:srgbClr val="ECD3D9"/>
                    </a:solidFill>
                  </a:tcPr>
                </a:tc>
              </a:tr>
              <a:tr h="284400">
                <a:tc>
                  <a:txBody>
                    <a:bodyPr/>
                    <a:lstStyle/>
                    <a:p>
                      <a:pPr algn="l">
                        <a:defRPr sz="1000">
                          <a:latin typeface="Montserrat"/>
                        </a:defRPr>
                      </a:pPr>
                      <a:r>
                        <a:t>HGSMF 7 Huatabampo</a:t>
                      </a:r>
                    </a:p>
                  </a:txBody>
                  <a:tcPr>
                    <a:solidFill>
                      <a:srgbClr val="EFEFEF"/>
                    </a:solidFill>
                  </a:tcPr>
                </a:tc>
                <a:tc>
                  <a:txBody>
                    <a:bodyPr/>
                    <a:lstStyle/>
                    <a:p>
                      <a:pPr algn="ctr">
                        <a:defRPr sz="1000">
                          <a:latin typeface="Montserrat"/>
                        </a:defRPr>
                      </a:pPr>
                      <a:r>
                        <a:t>11,655</a:t>
                      </a:r>
                    </a:p>
                  </a:txBody>
                  <a:tcPr>
                    <a:solidFill>
                      <a:srgbClr val="EFEFEF"/>
                    </a:solidFill>
                  </a:tcPr>
                </a:tc>
                <a:tc>
                  <a:txBody>
                    <a:bodyPr/>
                    <a:lstStyle/>
                    <a:p>
                      <a:pPr algn="ctr">
                        <a:defRPr sz="1000">
                          <a:latin typeface="Montserrat"/>
                        </a:defRPr>
                      </a:pPr>
                      <a:r>
                        <a:t>1,648</a:t>
                      </a:r>
                    </a:p>
                  </a:txBody>
                  <a:tcPr>
                    <a:solidFill>
                      <a:srgbClr val="EFEFEF"/>
                    </a:solidFill>
                  </a:tcPr>
                </a:tc>
                <a:tc>
                  <a:txBody>
                    <a:bodyPr/>
                    <a:lstStyle/>
                    <a:p>
                      <a:pPr algn="ctr">
                        <a:defRPr sz="1000">
                          <a:latin typeface="Montserrat"/>
                        </a:defRPr>
                      </a:pPr>
                      <a:r>
                        <a:t>4,514</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22.9%</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12,525</a:t>
                      </a:r>
                    </a:p>
                  </a:txBody>
                  <a:tcPr>
                    <a:solidFill>
                      <a:srgbClr val="FFFFFF"/>
                    </a:solidFill>
                  </a:tcPr>
                </a:tc>
                <a:tc>
                  <a:txBody>
                    <a:bodyPr/>
                    <a:lstStyle/>
                    <a:p>
                      <a:pPr algn="ctr">
                        <a:defRPr sz="1000">
                          <a:latin typeface="Montserrat"/>
                        </a:defRPr>
                      </a:pPr>
                      <a:r>
                        <a:t>2,439</a:t>
                      </a:r>
                    </a:p>
                  </a:txBody>
                  <a:tcPr>
                    <a:solidFill>
                      <a:srgbClr val="FFFFFF"/>
                    </a:solidFill>
                  </a:tcPr>
                </a:tc>
                <a:tc>
                  <a:txBody>
                    <a:bodyPr/>
                    <a:lstStyle/>
                    <a:p>
                      <a:pPr algn="ctr">
                        <a:defRPr sz="1000">
                          <a:latin typeface="Montserrat"/>
                        </a:defRPr>
                      </a:pPr>
                      <a:r>
                        <a:t>3,963</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20.1%</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914,398</a:t>
                      </a:r>
                    </a:p>
                  </a:txBody>
                  <a:tcPr>
                    <a:solidFill>
                      <a:srgbClr val="D3E9E7"/>
                    </a:solidFill>
                  </a:tcPr>
                </a:tc>
                <a:tc>
                  <a:txBody>
                    <a:bodyPr/>
                    <a:lstStyle/>
                    <a:p>
                      <a:pPr algn="ctr">
                        <a:defRPr sz="1000" b="1">
                          <a:solidFill>
                            <a:srgbClr val="006556"/>
                          </a:solidFill>
                          <a:latin typeface="Montserrat"/>
                        </a:defRPr>
                      </a:pPr>
                      <a:r>
                        <a:t>158,224</a:t>
                      </a:r>
                    </a:p>
                  </a:txBody>
                  <a:tcPr>
                    <a:solidFill>
                      <a:srgbClr val="D3E9E7"/>
                    </a:solidFill>
                  </a:tcPr>
                </a:tc>
                <a:tc>
                  <a:txBody>
                    <a:bodyPr/>
                    <a:lstStyle/>
                    <a:p>
                      <a:pPr algn="ctr">
                        <a:defRPr sz="1000" b="1">
                          <a:solidFill>
                            <a:srgbClr val="FFFFFF"/>
                          </a:solidFill>
                          <a:latin typeface="Montserrat"/>
                        </a:defRPr>
                      </a:pPr>
                      <a:r>
                        <a:t>382,805</a:t>
                      </a:r>
                    </a:p>
                  </a:txBody>
                  <a:tcPr>
                    <a:solidFill>
                      <a:srgbClr val="9F2241"/>
                    </a:solidFill>
                  </a:tcPr>
                </a:tc>
                <a:tc>
                  <a:txBody>
                    <a:bodyPr/>
                    <a:lstStyle/>
                    <a:p>
                      <a:pPr algn="ctr">
                        <a:defRPr sz="1000" b="1">
                          <a:solidFill>
                            <a:srgbClr val="FFFFFF"/>
                          </a:solidFill>
                          <a:latin typeface="Montserrat"/>
                        </a:defRPr>
                      </a:pPr>
                      <a:r>
                        <a:t>1,082,590</a:t>
                      </a:r>
                    </a:p>
                  </a:txBody>
                  <a:tcPr>
                    <a:solidFill>
                      <a:srgbClr val="9F2241"/>
                    </a:solidFill>
                  </a:tcPr>
                </a:tc>
                <a:tc>
                  <a:txBody>
                    <a:bodyPr/>
                    <a:lstStyle/>
                    <a:p>
                      <a:pPr algn="ctr">
                        <a:defRPr sz="1000" b="1">
                          <a:solidFill>
                            <a:srgbClr val="FFFFFF"/>
                          </a:solidFill>
                          <a:latin typeface="Montserrat"/>
                        </a:defRPr>
                      </a:pPr>
                      <a:r>
                        <a:t>35.4%</a:t>
                      </a:r>
                    </a:p>
                  </a:txBody>
                  <a:tcPr>
                    <a:solidFill>
                      <a:srgbClr val="9F2241"/>
                    </a:solidFill>
                  </a:tcPr>
                </a:tc>
              </a:tr>
            </a:tbl>
          </a:graphicData>
        </a:graphic>
      </p:graphicFrame>
      <p:graphicFrame>
        <p:nvGraphicFramePr>
          <p:cNvPr id="237" name="Table 236"/>
          <p:cNvGraphicFramePr>
            <a:graphicFrameLocks noGrp="1"/>
          </p:cNvGraphicFramePr>
          <p:nvPr/>
        </p:nvGraphicFramePr>
        <p:xfrm>
          <a:off x="144000" y="63900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171,361</a:t>
                      </a:r>
                    </a:p>
                  </a:txBody>
                  <a:tcPr>
                    <a:solidFill>
                      <a:srgbClr val="FFFFFF"/>
                    </a:solidFill>
                  </a:tcPr>
                </a:tc>
                <a:tc>
                  <a:txBody>
                    <a:bodyPr/>
                    <a:lstStyle/>
                    <a:p>
                      <a:pPr algn="ctr">
                        <a:defRPr sz="1000">
                          <a:latin typeface="Montserrat"/>
                        </a:defRPr>
                      </a:pPr>
                      <a:r>
                        <a:t>45,876</a:t>
                      </a:r>
                    </a:p>
                  </a:txBody>
                  <a:tcPr>
                    <a:solidFill>
                      <a:srgbClr val="FFFFFF"/>
                    </a:solidFill>
                  </a:tcPr>
                </a:tc>
                <a:tc>
                  <a:txBody>
                    <a:bodyPr/>
                    <a:lstStyle/>
                    <a:p>
                      <a:pPr algn="ctr">
                        <a:defRPr sz="1000">
                          <a:latin typeface="Montserrat"/>
                        </a:defRPr>
                      </a:pPr>
                      <a:r>
                        <a:t>78,728</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35.2%</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171,361</a:t>
                      </a:r>
                    </a:p>
                  </a:txBody>
                  <a:tcPr>
                    <a:solidFill>
                      <a:srgbClr val="D3E9E7"/>
                    </a:solidFill>
                  </a:tcPr>
                </a:tc>
                <a:tc>
                  <a:txBody>
                    <a:bodyPr/>
                    <a:lstStyle/>
                    <a:p>
                      <a:pPr algn="ctr">
                        <a:defRPr sz="1000" b="1">
                          <a:solidFill>
                            <a:srgbClr val="006556"/>
                          </a:solidFill>
                          <a:latin typeface="Montserrat"/>
                        </a:defRPr>
                      </a:pPr>
                      <a:r>
                        <a:t>45,876</a:t>
                      </a:r>
                    </a:p>
                  </a:txBody>
                  <a:tcPr>
                    <a:solidFill>
                      <a:srgbClr val="D3E9E7"/>
                    </a:solidFill>
                  </a:tcPr>
                </a:tc>
                <a:tc>
                  <a:txBody>
                    <a:bodyPr/>
                    <a:lstStyle/>
                    <a:p>
                      <a:pPr algn="ctr">
                        <a:defRPr sz="1000" b="1">
                          <a:solidFill>
                            <a:srgbClr val="FFFFFF"/>
                          </a:solidFill>
                          <a:latin typeface="Montserrat"/>
                        </a:defRPr>
                      </a:pPr>
                      <a:r>
                        <a:t>78,728</a:t>
                      </a:r>
                    </a:p>
                  </a:txBody>
                  <a:tcPr>
                    <a:solidFill>
                      <a:srgbClr val="9F2241"/>
                    </a:solidFill>
                  </a:tcPr>
                </a:tc>
                <a:tc>
                  <a:txBody>
                    <a:bodyPr/>
                    <a:lstStyle/>
                    <a:p>
                      <a:pPr algn="ctr">
                        <a:defRPr sz="1000" b="1">
                          <a:solidFill>
                            <a:srgbClr val="FFFFFF"/>
                          </a:solidFill>
                          <a:latin typeface="Montserrat"/>
                        </a:defRPr>
                      </a:pPr>
                      <a:r>
                        <a:t>223,380</a:t>
                      </a:r>
                    </a:p>
                  </a:txBody>
                  <a:tcPr>
                    <a:solidFill>
                      <a:srgbClr val="9F2241"/>
                    </a:solidFill>
                  </a:tcPr>
                </a:tc>
                <a:tc>
                  <a:txBody>
                    <a:bodyPr/>
                    <a:lstStyle/>
                    <a:p>
                      <a:pPr algn="ctr">
                        <a:defRPr sz="1000" b="1">
                          <a:solidFill>
                            <a:srgbClr val="FFFFFF"/>
                          </a:solidFill>
                          <a:latin typeface="Montserrat"/>
                        </a:defRPr>
                      </a:pPr>
                      <a:r>
                        <a:t>35.2%</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1,085,759</a:t>
                      </a:r>
                    </a:p>
                  </a:txBody>
                  <a:tcPr>
                    <a:solidFill>
                      <a:srgbClr val="D3E9E7"/>
                    </a:solidFill>
                  </a:tcPr>
                </a:tc>
                <a:tc>
                  <a:txBody>
                    <a:bodyPr/>
                    <a:lstStyle/>
                    <a:p>
                      <a:pPr algn="ctr">
                        <a:defRPr sz="1000" b="1">
                          <a:solidFill>
                            <a:srgbClr val="006556"/>
                          </a:solidFill>
                          <a:latin typeface="Montserrat"/>
                        </a:defRPr>
                      </a:pPr>
                      <a:r>
                        <a:t>204,100</a:t>
                      </a:r>
                    </a:p>
                  </a:txBody>
                  <a:tcPr>
                    <a:solidFill>
                      <a:srgbClr val="D3E9E7"/>
                    </a:solidFill>
                  </a:tcPr>
                </a:tc>
                <a:tc>
                  <a:txBody>
                    <a:bodyPr/>
                    <a:lstStyle/>
                    <a:p>
                      <a:pPr algn="ctr">
                        <a:defRPr sz="1000" b="1">
                          <a:solidFill>
                            <a:srgbClr val="FFFFFF"/>
                          </a:solidFill>
                          <a:latin typeface="Montserrat"/>
                        </a:defRPr>
                      </a:pPr>
                      <a:r>
                        <a:t>461,533</a:t>
                      </a:r>
                    </a:p>
                  </a:txBody>
                  <a:tcPr>
                    <a:solidFill>
                      <a:srgbClr val="9F2241"/>
                    </a:solidFill>
                  </a:tcPr>
                </a:tc>
                <a:tc>
                  <a:txBody>
                    <a:bodyPr/>
                    <a:lstStyle/>
                    <a:p>
                      <a:pPr algn="ctr">
                        <a:defRPr sz="1000" b="1">
                          <a:solidFill>
                            <a:srgbClr val="FFFFFF"/>
                          </a:solidFill>
                          <a:latin typeface="Montserrat"/>
                        </a:defRPr>
                      </a:pPr>
                      <a:r>
                        <a:t>1,305,970</a:t>
                      </a:r>
                    </a:p>
                  </a:txBody>
                  <a:tcPr>
                    <a:solidFill>
                      <a:srgbClr val="9F2241"/>
                    </a:solidFill>
                  </a:tcPr>
                </a:tc>
                <a:tc>
                  <a:txBody>
                    <a:bodyPr/>
                    <a:lstStyle/>
                    <a:p>
                      <a:pPr algn="ctr">
                        <a:defRPr sz="1000" b="1">
                          <a:solidFill>
                            <a:srgbClr val="FFFFFF"/>
                          </a:solidFill>
                          <a:latin typeface="Montserrat"/>
                        </a:defRPr>
                      </a:pPr>
                      <a:r>
                        <a:t>35.3%</a:t>
                      </a:r>
                    </a:p>
                  </a:txBody>
                  <a:tcPr>
                    <a:solidFill>
                      <a:srgbClr val="9F2241"/>
                    </a:solidFill>
                  </a:tcPr>
                </a:tc>
              </a:tr>
            </a:tbl>
          </a:graphicData>
        </a:graphic>
      </p:graphicFrame>
      <p:graphicFrame>
        <p:nvGraphicFramePr>
          <p:cNvPr id="238" name="Chart 237"/>
          <p:cNvGraphicFramePr>
            <a:graphicFrameLocks noGrp="1"/>
          </p:cNvGraphicFramePr>
          <p:nvPr/>
        </p:nvGraphicFramePr>
        <p:xfrm>
          <a:off x="4780800" y="8262000"/>
          <a:ext cx="1800000" cy="1800000"/>
        </p:xfrm>
        <a:graphic>
          <a:graphicData uri="http://schemas.openxmlformats.org/drawingml/2006/chart">
            <c:chart xmlns:c="http://schemas.openxmlformats.org/drawingml/2006/chart" r:id="rId4"/>
          </a:graphicData>
        </a:graphic>
      </p:graphicFrame>
      <p:sp>
        <p:nvSpPr>
          <p:cNvPr id="239" name="TextBox 238"/>
          <p:cNvSpPr txBox="1"/>
          <p:nvPr/>
        </p:nvSpPr>
        <p:spPr>
          <a:xfrm>
            <a:off x="4780800" y="8982000"/>
            <a:ext cx="1800000" cy="360000"/>
          </a:xfrm>
          <a:prstGeom prst="rect">
            <a:avLst/>
          </a:prstGeom>
          <a:noFill/>
        </p:spPr>
        <p:txBody>
          <a:bodyPr wrap="none">
            <a:spAutoFit/>
          </a:bodyPr>
          <a:lstStyle/>
          <a:p>
            <a:pPr algn="ctr"/>
            <a:r>
              <a:rPr sz="2400" b="1">
                <a:solidFill>
                  <a:srgbClr val="9F2241"/>
                </a:solidFill>
                <a:latin typeface="Montserrat"/>
              </a:rPr>
              <a:t>35.3%</a:t>
            </a:r>
          </a:p>
        </p:txBody>
      </p:sp>
      <p:sp>
        <p:nvSpPr>
          <p:cNvPr id="240" name="TextBox 239"/>
          <p:cNvSpPr txBox="1"/>
          <p:nvPr/>
        </p:nvSpPr>
        <p:spPr>
          <a:xfrm>
            <a:off x="4780800" y="988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1" name="TextBox 240"/>
          <p:cNvSpPr txBox="1"/>
          <p:nvPr/>
        </p:nvSpPr>
        <p:spPr>
          <a:xfrm>
            <a:off x="730799" y="8262000"/>
            <a:ext cx="2854800" cy="1198800"/>
          </a:xfrm>
          <a:prstGeom prst="rect">
            <a:avLst/>
          </a:prstGeom>
          <a:noFill/>
        </p:spPr>
        <p:txBody>
          <a:bodyPr wrap="square">
            <a:spAutoFit/>
          </a:bodyPr>
          <a:lstStyle/>
          <a:p>
            <a:pPr algn="ctr">
              <a:defRPr sz="3600" b="1">
                <a:solidFill>
                  <a:srgbClr val="9F2241"/>
                </a:solidFill>
                <a:latin typeface="Montserrat"/>
              </a:defRPr>
            </a:pPr>
            <a:r>
              <a:t>1,305,970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397272654"/>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48348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8 Caborca</a:t>
                      </a:r>
                    </a:p>
                  </a:txBody>
                  <a:tcPr>
                    <a:solidFill>
                      <a:srgbClr val="FFFFFF"/>
                    </a:solidFill>
                  </a:tcPr>
                </a:tc>
                <a:tc>
                  <a:txBody>
                    <a:bodyPr/>
                    <a:lstStyle/>
                    <a:p>
                      <a:pPr algn="ctr">
                        <a:defRPr sz="1000">
                          <a:latin typeface="Montserrat"/>
                        </a:defRPr>
                      </a:pPr>
                      <a:r>
                        <a:t>1,127</a:t>
                      </a:r>
                    </a:p>
                  </a:txBody>
                  <a:tcPr>
                    <a:solidFill>
                      <a:srgbClr val="FFFFFF"/>
                    </a:solidFill>
                  </a:tcPr>
                </a:tc>
                <a:tc>
                  <a:txBody>
                    <a:bodyPr/>
                    <a:lstStyle/>
                    <a:p>
                      <a:pPr algn="ctr">
                        <a:defRPr sz="1000">
                          <a:latin typeface="Montserrat"/>
                        </a:defRPr>
                      </a:pPr>
                      <a:r>
                        <a:t>238</a:t>
                      </a:r>
                    </a:p>
                  </a:txBody>
                  <a:tcPr>
                    <a:solidFill>
                      <a:srgbClr val="FFFFFF"/>
                    </a:solidFill>
                  </a:tcPr>
                </a:tc>
                <a:tc>
                  <a:txBody>
                    <a:bodyPr/>
                    <a:lstStyle/>
                    <a:p>
                      <a:pPr algn="ctr">
                        <a:defRPr sz="1000">
                          <a:latin typeface="Montserrat"/>
                        </a:defRPr>
                      </a:pPr>
                      <a:r>
                        <a:t>590</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43.4%</a:t>
                      </a:r>
                    </a:p>
                  </a:txBody>
                  <a:tcPr>
                    <a:solidFill>
                      <a:srgbClr val="ECD3D9"/>
                    </a:solidFill>
                  </a:tcPr>
                </a:tc>
              </a:tr>
              <a:tr h="284400">
                <a:tc>
                  <a:txBody>
                    <a:bodyPr/>
                    <a:lstStyle/>
                    <a:p>
                      <a:pPr algn="l">
                        <a:defRPr sz="1000">
                          <a:latin typeface="Montserrat"/>
                        </a:defRPr>
                      </a:pPr>
                      <a:r>
                        <a:t>HGSMF 23 Nacozari</a:t>
                      </a:r>
                    </a:p>
                  </a:txBody>
                  <a:tcPr>
                    <a:solidFill>
                      <a:srgbClr val="EFEFEF"/>
                    </a:solidFill>
                  </a:tcPr>
                </a:tc>
                <a:tc>
                  <a:txBody>
                    <a:bodyPr/>
                    <a:lstStyle/>
                    <a:p>
                      <a:pPr algn="ctr">
                        <a:defRPr sz="1000">
                          <a:latin typeface="Montserrat"/>
                        </a:defRPr>
                      </a:pPr>
                      <a:r>
                        <a:t>1,160</a:t>
                      </a:r>
                    </a:p>
                  </a:txBody>
                  <a:tcPr>
                    <a:solidFill>
                      <a:srgbClr val="EFEFEF"/>
                    </a:solidFill>
                  </a:tcPr>
                </a:tc>
                <a:tc>
                  <a:txBody>
                    <a:bodyPr/>
                    <a:lstStyle/>
                    <a:p>
                      <a:pPr algn="ctr">
                        <a:defRPr sz="1000">
                          <a:latin typeface="Montserrat"/>
                        </a:defRPr>
                      </a:pPr>
                      <a:r>
                        <a:t>488</a:t>
                      </a:r>
                    </a:p>
                  </a:txBody>
                  <a:tcPr>
                    <a:solidFill>
                      <a:srgbClr val="EFEFEF"/>
                    </a:solidFill>
                  </a:tcPr>
                </a:tc>
                <a:tc>
                  <a:txBody>
                    <a:bodyPr/>
                    <a:lstStyle/>
                    <a:p>
                      <a:pPr algn="ctr">
                        <a:defRPr sz="1000">
                          <a:latin typeface="Montserrat"/>
                        </a:defRPr>
                      </a:pPr>
                      <a:r>
                        <a:t>576</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42.4%</a:t>
                      </a:r>
                    </a:p>
                  </a:txBody>
                  <a:tcPr>
                    <a:solidFill>
                      <a:srgbClr val="ECD3D9"/>
                    </a:solidFill>
                  </a:tcPr>
                </a:tc>
              </a:tr>
              <a:tr h="284400">
                <a:tc>
                  <a:txBody>
                    <a:bodyPr/>
                    <a:lstStyle/>
                    <a:p>
                      <a:pPr algn="l">
                        <a:defRPr sz="1000">
                          <a:latin typeface="Montserrat"/>
                        </a:defRPr>
                      </a:pPr>
                      <a:r>
                        <a:t>HGZ 5 Nogales</a:t>
                      </a:r>
                    </a:p>
                  </a:txBody>
                  <a:tcPr>
                    <a:solidFill>
                      <a:srgbClr val="FFFFFF"/>
                    </a:solidFill>
                  </a:tcPr>
                </a:tc>
                <a:tc>
                  <a:txBody>
                    <a:bodyPr/>
                    <a:lstStyle/>
                    <a:p>
                      <a:pPr algn="ctr">
                        <a:defRPr sz="1000">
                          <a:latin typeface="Montserrat"/>
                        </a:defRPr>
                      </a:pPr>
                      <a:r>
                        <a:t>8,514</a:t>
                      </a:r>
                    </a:p>
                  </a:txBody>
                  <a:tcPr>
                    <a:solidFill>
                      <a:srgbClr val="FFFFFF"/>
                    </a:solidFill>
                  </a:tcPr>
                </a:tc>
                <a:tc>
                  <a:txBody>
                    <a:bodyPr/>
                    <a:lstStyle/>
                    <a:p>
                      <a:pPr algn="ctr">
                        <a:defRPr sz="1000">
                          <a:latin typeface="Montserrat"/>
                        </a:defRPr>
                      </a:pPr>
                      <a:r>
                        <a:t>976</a:t>
                      </a:r>
                    </a:p>
                  </a:txBody>
                  <a:tcPr>
                    <a:solidFill>
                      <a:srgbClr val="FFFFFF"/>
                    </a:solidFill>
                  </a:tcPr>
                </a:tc>
                <a:tc>
                  <a:txBody>
                    <a:bodyPr/>
                    <a:lstStyle/>
                    <a:p>
                      <a:pPr algn="ctr">
                        <a:defRPr sz="1000">
                          <a:latin typeface="Montserrat"/>
                        </a:defRPr>
                      </a:pPr>
                      <a:r>
                        <a:t>4,237</a:t>
                      </a:r>
                    </a:p>
                  </a:txBody>
                  <a:tcPr>
                    <a:solidFill>
                      <a:srgbClr val="ECD3D9"/>
                    </a:solidFill>
                  </a:tcPr>
                </a:tc>
                <a:tc>
                  <a:txBody>
                    <a:bodyPr/>
                    <a:lstStyle/>
                    <a:p>
                      <a:pPr algn="ctr">
                        <a:defRPr sz="1000">
                          <a:latin typeface="Montserrat"/>
                        </a:defRPr>
                      </a:pPr>
                      <a:r>
                        <a:t>10,248</a:t>
                      </a:r>
                    </a:p>
                  </a:txBody>
                  <a:tcPr>
                    <a:solidFill>
                      <a:srgbClr val="ECD3D9"/>
                    </a:solidFill>
                  </a:tcPr>
                </a:tc>
                <a:tc>
                  <a:txBody>
                    <a:bodyPr/>
                    <a:lstStyle/>
                    <a:p>
                      <a:pPr algn="ctr">
                        <a:defRPr sz="1000">
                          <a:latin typeface="Montserrat"/>
                        </a:defRPr>
                      </a:pPr>
                      <a:r>
                        <a:t>41.3%</a:t>
                      </a:r>
                    </a:p>
                  </a:txBody>
                  <a:tcPr>
                    <a:solidFill>
                      <a:srgbClr val="ECD3D9"/>
                    </a:solidFill>
                  </a:tcPr>
                </a:tc>
              </a:tr>
              <a:tr h="284400">
                <a:tc>
                  <a:txBody>
                    <a:bodyPr/>
                    <a:lstStyle/>
                    <a:p>
                      <a:pPr algn="l">
                        <a:defRPr sz="1000">
                          <a:latin typeface="Montserrat"/>
                        </a:defRPr>
                      </a:pPr>
                      <a:r>
                        <a:t>HGZ 14 Hermosillo C/U quemados</a:t>
                      </a:r>
                    </a:p>
                  </a:txBody>
                  <a:tcPr>
                    <a:solidFill>
                      <a:srgbClr val="EFEFEF"/>
                    </a:solidFill>
                  </a:tcPr>
                </a:tc>
                <a:tc>
                  <a:txBody>
                    <a:bodyPr/>
                    <a:lstStyle/>
                    <a:p>
                      <a:pPr algn="ctr">
                        <a:defRPr sz="1000">
                          <a:latin typeface="Montserrat"/>
                        </a:defRPr>
                      </a:pPr>
                      <a:r>
                        <a:t>10,402</a:t>
                      </a:r>
                    </a:p>
                  </a:txBody>
                  <a:tcPr>
                    <a:solidFill>
                      <a:srgbClr val="EFEFEF"/>
                    </a:solidFill>
                  </a:tcPr>
                </a:tc>
                <a:tc>
                  <a:txBody>
                    <a:bodyPr/>
                    <a:lstStyle/>
                    <a:p>
                      <a:pPr algn="ctr">
                        <a:defRPr sz="1000">
                          <a:latin typeface="Montserrat"/>
                        </a:defRPr>
                      </a:pPr>
                      <a:r>
                        <a:t>1,917</a:t>
                      </a:r>
                    </a:p>
                  </a:txBody>
                  <a:tcPr>
                    <a:solidFill>
                      <a:srgbClr val="EFEFEF"/>
                    </a:solidFill>
                  </a:tcPr>
                </a:tc>
                <a:tc>
                  <a:txBody>
                    <a:bodyPr/>
                    <a:lstStyle/>
                    <a:p>
                      <a:pPr algn="ctr">
                        <a:defRPr sz="1000">
                          <a:latin typeface="Montserrat"/>
                        </a:defRPr>
                      </a:pPr>
                      <a:r>
                        <a:t>4,629</a:t>
                      </a:r>
                    </a:p>
                  </a:txBody>
                  <a:tcPr>
                    <a:solidFill>
                      <a:srgbClr val="ECD3D9"/>
                    </a:solidFill>
                  </a:tcPr>
                </a:tc>
                <a:tc>
                  <a:txBody>
                    <a:bodyPr/>
                    <a:lstStyle/>
                    <a:p>
                      <a:pPr algn="ctr">
                        <a:defRPr sz="1000">
                          <a:latin typeface="Montserrat"/>
                        </a:defRPr>
                      </a:pPr>
                      <a:r>
                        <a:t>12,077</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HGSMF 7 Huatabampo</a:t>
                      </a:r>
                    </a:p>
                  </a:txBody>
                  <a:tcPr>
                    <a:solidFill>
                      <a:srgbClr val="FFFFFF"/>
                    </a:solidFill>
                  </a:tcPr>
                </a:tc>
                <a:tc>
                  <a:txBody>
                    <a:bodyPr/>
                    <a:lstStyle/>
                    <a:p>
                      <a:pPr algn="ctr">
                        <a:defRPr sz="1000">
                          <a:latin typeface="Montserrat"/>
                        </a:defRPr>
                      </a:pPr>
                      <a:r>
                        <a:t>956</a:t>
                      </a:r>
                    </a:p>
                  </a:txBody>
                  <a:tcPr>
                    <a:solidFill>
                      <a:srgbClr val="FFFFFF"/>
                    </a:solidFill>
                  </a:tcPr>
                </a:tc>
                <a:tc>
                  <a:txBody>
                    <a:bodyPr/>
                    <a:lstStyle/>
                    <a:p>
                      <a:pPr algn="ctr">
                        <a:defRPr sz="1000">
                          <a:latin typeface="Montserrat"/>
                        </a:defRPr>
                      </a:pPr>
                      <a:r>
                        <a:t>232</a:t>
                      </a:r>
                    </a:p>
                  </a:txBody>
                  <a:tcPr>
                    <a:solidFill>
                      <a:srgbClr val="FFFFFF"/>
                    </a:solidFill>
                  </a:tcPr>
                </a:tc>
                <a:tc>
                  <a:txBody>
                    <a:bodyPr/>
                    <a:lstStyle/>
                    <a:p>
                      <a:pPr algn="ctr">
                        <a:defRPr sz="1000">
                          <a:latin typeface="Montserrat"/>
                        </a:defRPr>
                      </a:pPr>
                      <a:r>
                        <a:t>479</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38.2%</a:t>
                      </a:r>
                    </a:p>
                  </a:txBody>
                  <a:tcPr>
                    <a:solidFill>
                      <a:srgbClr val="ECD3D9"/>
                    </a:solidFill>
                  </a:tcPr>
                </a:tc>
              </a:tr>
              <a:tr h="284400">
                <a:tc>
                  <a:txBody>
                    <a:bodyPr/>
                    <a:lstStyle/>
                    <a:p>
                      <a:pPr algn="l">
                        <a:defRPr sz="1000">
                          <a:latin typeface="Montserrat"/>
                        </a:defRPr>
                      </a:pPr>
                      <a:r>
                        <a:t>HGR 1 Cd. Obregón</a:t>
                      </a:r>
                    </a:p>
                  </a:txBody>
                  <a:tcPr>
                    <a:solidFill>
                      <a:srgbClr val="EFEFEF"/>
                    </a:solidFill>
                  </a:tcPr>
                </a:tc>
                <a:tc>
                  <a:txBody>
                    <a:bodyPr/>
                    <a:lstStyle/>
                    <a:p>
                      <a:pPr algn="ctr">
                        <a:defRPr sz="1000">
                          <a:latin typeface="Montserrat"/>
                        </a:defRPr>
                      </a:pPr>
                      <a:r>
                        <a:t>10,215</a:t>
                      </a:r>
                    </a:p>
                  </a:txBody>
                  <a:tcPr>
                    <a:solidFill>
                      <a:srgbClr val="EFEFEF"/>
                    </a:solidFill>
                  </a:tcPr>
                </a:tc>
                <a:tc>
                  <a:txBody>
                    <a:bodyPr/>
                    <a:lstStyle/>
                    <a:p>
                      <a:pPr algn="ctr">
                        <a:defRPr sz="1000">
                          <a:latin typeface="Montserrat"/>
                        </a:defRPr>
                      </a:pPr>
                      <a:r>
                        <a:t>857</a:t>
                      </a:r>
                    </a:p>
                  </a:txBody>
                  <a:tcPr>
                    <a:solidFill>
                      <a:srgbClr val="EFEFEF"/>
                    </a:solidFill>
                  </a:tcPr>
                </a:tc>
                <a:tc>
                  <a:txBody>
                    <a:bodyPr/>
                    <a:lstStyle/>
                    <a:p>
                      <a:pPr algn="ctr">
                        <a:defRPr sz="1000">
                          <a:latin typeface="Montserrat"/>
                        </a:defRPr>
                      </a:pPr>
                      <a:r>
                        <a:t>4,423</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36.6%</a:t>
                      </a:r>
                    </a:p>
                  </a:txBody>
                  <a:tcPr>
                    <a:solidFill>
                      <a:srgbClr val="ECD3D9"/>
                    </a:solidFill>
                  </a:tcPr>
                </a:tc>
              </a:tr>
              <a:tr h="284400">
                <a:tc>
                  <a:txBody>
                    <a:bodyPr/>
                    <a:lstStyle/>
                    <a:p>
                      <a:pPr algn="l">
                        <a:defRPr sz="1000">
                          <a:latin typeface="Montserrat"/>
                        </a:defRPr>
                      </a:pPr>
                      <a:r>
                        <a:t>HGSMF 12 Aguaprieta</a:t>
                      </a:r>
                    </a:p>
                  </a:txBody>
                  <a:tcPr>
                    <a:solidFill>
                      <a:srgbClr val="FFFFFF"/>
                    </a:solidFill>
                  </a:tcPr>
                </a:tc>
                <a:tc>
                  <a:txBody>
                    <a:bodyPr/>
                    <a:lstStyle/>
                    <a:p>
                      <a:pPr algn="ctr">
                        <a:defRPr sz="1000">
                          <a:latin typeface="Montserrat"/>
                        </a:defRPr>
                      </a:pPr>
                      <a:r>
                        <a:t>1,295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487</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35.8%</a:t>
                      </a:r>
                    </a:p>
                  </a:txBody>
                  <a:tcPr>
                    <a:solidFill>
                      <a:srgbClr val="ECD3D9"/>
                    </a:solidFill>
                  </a:tcPr>
                </a:tc>
              </a:tr>
              <a:tr h="284400">
                <a:tc>
                  <a:txBody>
                    <a:bodyPr/>
                    <a:lstStyle/>
                    <a:p>
                      <a:pPr algn="l">
                        <a:defRPr sz="1000">
                          <a:latin typeface="Montserrat"/>
                        </a:defRPr>
                      </a:pPr>
                      <a:r>
                        <a:t>HGS 12 S. Luis Rio Colorado</a:t>
                      </a:r>
                    </a:p>
                  </a:txBody>
                  <a:tcPr>
                    <a:solidFill>
                      <a:srgbClr val="EFEFEF"/>
                    </a:solidFill>
                  </a:tcPr>
                </a:tc>
                <a:tc>
                  <a:txBody>
                    <a:bodyPr/>
                    <a:lstStyle/>
                    <a:p>
                      <a:pPr algn="ctr">
                        <a:defRPr sz="1000">
                          <a:latin typeface="Montserrat"/>
                        </a:defRPr>
                      </a:pPr>
                      <a:r>
                        <a:t>2,506</a:t>
                      </a:r>
                    </a:p>
                  </a:txBody>
                  <a:tcPr>
                    <a:solidFill>
                      <a:srgbClr val="EFEFEF"/>
                    </a:solidFill>
                  </a:tcPr>
                </a:tc>
                <a:tc>
                  <a:txBody>
                    <a:bodyPr/>
                    <a:lstStyle/>
                    <a:p>
                      <a:pPr algn="ctr">
                        <a:defRPr sz="1000">
                          <a:latin typeface="Montserrat"/>
                        </a:defRPr>
                      </a:pPr>
                      <a:r>
                        <a:t>391</a:t>
                      </a:r>
                    </a:p>
                  </a:txBody>
                  <a:tcPr>
                    <a:solidFill>
                      <a:srgbClr val="EFEFEF"/>
                    </a:solidFill>
                  </a:tcPr>
                </a:tc>
                <a:tc>
                  <a:txBody>
                    <a:bodyPr/>
                    <a:lstStyle/>
                    <a:p>
                      <a:pPr algn="ctr">
                        <a:defRPr sz="1000">
                          <a:latin typeface="Montserrat"/>
                        </a:defRPr>
                      </a:pPr>
                      <a:r>
                        <a:t>929</a:t>
                      </a:r>
                    </a:p>
                  </a:txBody>
                  <a:tcPr>
                    <a:solidFill>
                      <a:srgbClr val="ECD3D9"/>
                    </a:solidFill>
                  </a:tcPr>
                </a:tc>
                <a:tc>
                  <a:txBody>
                    <a:bodyPr/>
                    <a:lstStyle/>
                    <a:p>
                      <a:pPr algn="ctr">
                        <a:defRPr sz="1000">
                          <a:latin typeface="Montserrat"/>
                        </a:defRPr>
                      </a:pPr>
                      <a:r>
                        <a:t>2,718</a:t>
                      </a:r>
                    </a:p>
                  </a:txBody>
                  <a:tcPr>
                    <a:solidFill>
                      <a:srgbClr val="ECD3D9"/>
                    </a:solidFill>
                  </a:tcPr>
                </a:tc>
                <a:tc>
                  <a:txBody>
                    <a:bodyPr/>
                    <a:lstStyle/>
                    <a:p>
                      <a:pPr algn="ctr">
                        <a:defRPr sz="1000">
                          <a:latin typeface="Montserrat"/>
                        </a:defRPr>
                      </a:pPr>
                      <a:r>
                        <a:t>34.2%</a:t>
                      </a:r>
                    </a:p>
                  </a:txBody>
                  <a:tcPr>
                    <a:solidFill>
                      <a:srgbClr val="ECD3D9"/>
                    </a:solidFill>
                  </a:tcPr>
                </a:tc>
              </a:tr>
              <a:tr h="284400">
                <a:tc>
                  <a:txBody>
                    <a:bodyPr/>
                    <a:lstStyle/>
                    <a:p>
                      <a:pPr algn="l">
                        <a:defRPr sz="1000">
                          <a:latin typeface="Montserrat"/>
                        </a:defRPr>
                      </a:pPr>
                      <a:r>
                        <a:t>HGSMF 6 Valle Hermosillo</a:t>
                      </a:r>
                    </a:p>
                  </a:txBody>
                  <a:tcPr>
                    <a:solidFill>
                      <a:srgbClr val="FFFFFF"/>
                    </a:solidFill>
                  </a:tcPr>
                </a:tc>
                <a:tc>
                  <a:txBody>
                    <a:bodyPr/>
                    <a:lstStyle/>
                    <a:p>
                      <a:pPr algn="ctr">
                        <a:defRPr sz="1000">
                          <a:latin typeface="Montserrat"/>
                        </a:defRPr>
                      </a:pPr>
                      <a:r>
                        <a:t>1,918</a:t>
                      </a:r>
                    </a:p>
                  </a:txBody>
                  <a:tcPr>
                    <a:solidFill>
                      <a:srgbClr val="FFFFFF"/>
                    </a:solidFill>
                  </a:tcPr>
                </a:tc>
                <a:tc>
                  <a:txBody>
                    <a:bodyPr/>
                    <a:lstStyle/>
                    <a:p>
                      <a:pPr algn="ctr">
                        <a:defRPr sz="1000">
                          <a:latin typeface="Montserrat"/>
                        </a:defRPr>
                      </a:pPr>
                      <a:r>
                        <a:t>1,496</a:t>
                      </a:r>
                    </a:p>
                  </a:txBody>
                  <a:tcPr>
                    <a:solidFill>
                      <a:srgbClr val="FFFFFF"/>
                    </a:solidFill>
                  </a:tcPr>
                </a:tc>
                <a:tc>
                  <a:txBody>
                    <a:bodyPr/>
                    <a:lstStyle/>
                    <a:p>
                      <a:pPr algn="ctr">
                        <a:defRPr sz="1000">
                          <a:latin typeface="Montserrat"/>
                        </a:defRPr>
                      </a:pPr>
                      <a:r>
                        <a:t>742</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29.6%</a:t>
                      </a:r>
                    </a:p>
                  </a:txBody>
                  <a:tcPr>
                    <a:solidFill>
                      <a:srgbClr val="ECD3D9"/>
                    </a:solidFill>
                  </a:tcPr>
                </a:tc>
              </a:tr>
              <a:tr h="284400">
                <a:tc>
                  <a:txBody>
                    <a:bodyPr/>
                    <a:lstStyle/>
                    <a:p>
                      <a:pPr algn="l">
                        <a:defRPr sz="1000">
                          <a:latin typeface="Montserrat"/>
                        </a:defRPr>
                      </a:pPr>
                      <a:r>
                        <a:t>HGS 9 Puerto Peñasco</a:t>
                      </a:r>
                    </a:p>
                  </a:txBody>
                  <a:tcPr>
                    <a:solidFill>
                      <a:srgbClr val="EFEFEF"/>
                    </a:solidFill>
                  </a:tcPr>
                </a:tc>
                <a:tc>
                  <a:txBody>
                    <a:bodyPr/>
                    <a:lstStyle/>
                    <a:p>
                      <a:pPr algn="ctr">
                        <a:defRPr sz="1000">
                          <a:latin typeface="Montserrat"/>
                        </a:defRPr>
                      </a:pPr>
                      <a:r>
                        <a:t>750</a:t>
                      </a:r>
                    </a:p>
                  </a:txBody>
                  <a:tcPr>
                    <a:solidFill>
                      <a:srgbClr val="EFEFEF"/>
                    </a:solidFill>
                  </a:tcPr>
                </a:tc>
                <a:tc>
                  <a:txBody>
                    <a:bodyPr/>
                    <a:lstStyle/>
                    <a:p>
                      <a:pPr algn="ctr">
                        <a:defRPr sz="1000">
                          <a:latin typeface="Montserrat"/>
                        </a:defRPr>
                      </a:pPr>
                      <a:r>
                        <a:t>122</a:t>
                      </a:r>
                    </a:p>
                  </a:txBody>
                  <a:tcPr>
                    <a:solidFill>
                      <a:srgbClr val="EFEFEF"/>
                    </a:solidFill>
                  </a:tcPr>
                </a:tc>
                <a:tc>
                  <a:txBody>
                    <a:bodyPr/>
                    <a:lstStyle/>
                    <a:p>
                      <a:pPr algn="ctr">
                        <a:defRPr sz="1000">
                          <a:latin typeface="Montserrat"/>
                        </a:defRPr>
                      </a:pPr>
                      <a:r>
                        <a:t>367</a:t>
                      </a:r>
                    </a:p>
                  </a:txBody>
                  <a:tcPr>
                    <a:solidFill>
                      <a:srgbClr val="ECD3D9"/>
                    </a:solidFill>
                  </a:tcPr>
                </a:tc>
                <a:tc>
                  <a:txBody>
                    <a:bodyPr/>
                    <a:lstStyle/>
                    <a:p>
                      <a:pPr algn="ctr">
                        <a:defRPr sz="1000">
                          <a:latin typeface="Montserrat"/>
                        </a:defRPr>
                      </a:pPr>
                      <a:r>
                        <a:t>1,254</a:t>
                      </a:r>
                    </a:p>
                  </a:txBody>
                  <a:tcPr>
                    <a:solidFill>
                      <a:srgbClr val="ECD3D9"/>
                    </a:solidFill>
                  </a:tcPr>
                </a:tc>
                <a:tc>
                  <a:txBody>
                    <a:bodyPr/>
                    <a:lstStyle/>
                    <a:p>
                      <a:pPr algn="ctr">
                        <a:defRPr sz="1000">
                          <a:latin typeface="Montserrat"/>
                        </a:defRPr>
                      </a:pPr>
                      <a:r>
                        <a:t>29.3%</a:t>
                      </a:r>
                    </a:p>
                  </a:txBody>
                  <a:tcPr>
                    <a:solidFill>
                      <a:srgbClr val="ECD3D9"/>
                    </a:solidFill>
                  </a:tcPr>
                </a:tc>
              </a:tr>
              <a:tr h="284400">
                <a:tc>
                  <a:txBody>
                    <a:bodyPr/>
                    <a:lstStyle/>
                    <a:p>
                      <a:pPr algn="l">
                        <a:defRPr sz="1000">
                          <a:latin typeface="Montserrat"/>
                        </a:defRPr>
                      </a:pPr>
                      <a:r>
                        <a:t>HGZ 2 Hermosillo</a:t>
                      </a:r>
                    </a:p>
                  </a:txBody>
                  <a:tcPr>
                    <a:solidFill>
                      <a:srgbClr val="FFFFFF"/>
                    </a:solidFill>
                  </a:tcPr>
                </a:tc>
                <a:tc>
                  <a:txBody>
                    <a:bodyPr/>
                    <a:lstStyle/>
                    <a:p>
                      <a:pPr algn="ctr">
                        <a:defRPr sz="1000">
                          <a:latin typeface="Montserrat"/>
                        </a:defRPr>
                      </a:pPr>
                      <a:r>
                        <a:t>4,101</a:t>
                      </a:r>
                    </a:p>
                  </a:txBody>
                  <a:tcPr>
                    <a:solidFill>
                      <a:srgbClr val="FFFFFF"/>
                    </a:solidFill>
                  </a:tcPr>
                </a:tc>
                <a:tc>
                  <a:txBody>
                    <a:bodyPr/>
                    <a:lstStyle/>
                    <a:p>
                      <a:pPr algn="ctr">
                        <a:defRPr sz="1000">
                          <a:latin typeface="Montserrat"/>
                        </a:defRPr>
                      </a:pPr>
                      <a:r>
                        <a:t>543</a:t>
                      </a:r>
                    </a:p>
                  </a:txBody>
                  <a:tcPr>
                    <a:solidFill>
                      <a:srgbClr val="FFFFFF"/>
                    </a:solidFill>
                  </a:tcPr>
                </a:tc>
                <a:tc>
                  <a:txBody>
                    <a:bodyPr/>
                    <a:lstStyle/>
                    <a:p>
                      <a:pPr algn="ctr">
                        <a:defRPr sz="1000">
                          <a:latin typeface="Montserrat"/>
                        </a:defRPr>
                      </a:pPr>
                      <a:r>
                        <a:t>1,798</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26.5%</a:t>
                      </a:r>
                    </a:p>
                  </a:txBody>
                  <a:tcPr>
                    <a:solidFill>
                      <a:srgbClr val="ECD3D9"/>
                    </a:solidFill>
                  </a:tcPr>
                </a:tc>
              </a:tr>
              <a:tr h="284400">
                <a:tc>
                  <a:txBody>
                    <a:bodyPr/>
                    <a:lstStyle/>
                    <a:p>
                      <a:pPr algn="l">
                        <a:defRPr sz="1000">
                          <a:latin typeface="Montserrat"/>
                        </a:defRPr>
                      </a:pPr>
                      <a:r>
                        <a:t>HGP Hermosillo</a:t>
                      </a:r>
                    </a:p>
                  </a:txBody>
                  <a:tcPr>
                    <a:solidFill>
                      <a:srgbClr val="EFEFEF"/>
                    </a:solidFill>
                  </a:tcPr>
                </a:tc>
                <a:tc>
                  <a:txBody>
                    <a:bodyPr/>
                    <a:lstStyle/>
                    <a:p>
                      <a:pPr algn="ctr">
                        <a:defRPr sz="1000">
                          <a:latin typeface="Montserrat"/>
                        </a:defRPr>
                      </a:pPr>
                      <a:r>
                        <a:t>3,733</a:t>
                      </a:r>
                    </a:p>
                  </a:txBody>
                  <a:tcPr>
                    <a:solidFill>
                      <a:srgbClr val="EFEFEF"/>
                    </a:solidFill>
                  </a:tcPr>
                </a:tc>
                <a:tc>
                  <a:txBody>
                    <a:bodyPr/>
                    <a:lstStyle/>
                    <a:p>
                      <a:pPr algn="ctr">
                        <a:defRPr sz="1000">
                          <a:latin typeface="Montserrat"/>
                        </a:defRPr>
                      </a:pPr>
                      <a:r>
                        <a:t>622</a:t>
                      </a:r>
                    </a:p>
                  </a:txBody>
                  <a:tcPr>
                    <a:solidFill>
                      <a:srgbClr val="EFEFEF"/>
                    </a:solidFill>
                  </a:tcPr>
                </a:tc>
                <a:tc>
                  <a:txBody>
                    <a:bodyPr/>
                    <a:lstStyle/>
                    <a:p>
                      <a:pPr algn="ctr">
                        <a:defRPr sz="1000">
                          <a:latin typeface="Montserrat"/>
                        </a:defRPr>
                      </a:pPr>
                      <a:r>
                        <a:t>1,341</a:t>
                      </a:r>
                    </a:p>
                  </a:txBody>
                  <a:tcPr>
                    <a:solidFill>
                      <a:srgbClr val="ECD3D9"/>
                    </a:solidFill>
                  </a:tcPr>
                </a:tc>
                <a:tc>
                  <a:txBody>
                    <a:bodyPr/>
                    <a:lstStyle/>
                    <a:p>
                      <a:pPr algn="ctr">
                        <a:defRPr sz="1000">
                          <a:latin typeface="Montserrat"/>
                        </a:defRPr>
                      </a:pPr>
                      <a:r>
                        <a:t>5,175</a:t>
                      </a:r>
                    </a:p>
                  </a:txBody>
                  <a:tcPr>
                    <a:solidFill>
                      <a:srgbClr val="ECD3D9"/>
                    </a:solidFill>
                  </a:tcPr>
                </a:tc>
                <a:tc>
                  <a:txBody>
                    <a:bodyPr/>
                    <a:lstStyle/>
                    <a:p>
                      <a:pPr algn="ctr">
                        <a:defRPr sz="1000">
                          <a:latin typeface="Montserrat"/>
                        </a:defRPr>
                      </a:pPr>
                      <a:r>
                        <a:t>25.9%</a:t>
                      </a:r>
                    </a:p>
                  </a:txBody>
                  <a:tcPr>
                    <a:solidFill>
                      <a:srgbClr val="ECD3D9"/>
                    </a:solidFill>
                  </a:tcPr>
                </a:tc>
              </a:tr>
              <a:tr h="284400">
                <a:tc>
                  <a:txBody>
                    <a:bodyPr/>
                    <a:lstStyle/>
                    <a:p>
                      <a:pPr algn="l">
                        <a:defRPr sz="1000">
                          <a:latin typeface="Montserrat"/>
                        </a:defRPr>
                      </a:pPr>
                      <a:r>
                        <a:t>HGZ 3 Navojoa</a:t>
                      </a:r>
                    </a:p>
                  </a:txBody>
                  <a:tcPr>
                    <a:solidFill>
                      <a:srgbClr val="FFFFFF"/>
                    </a:solidFill>
                  </a:tcPr>
                </a:tc>
                <a:tc>
                  <a:txBody>
                    <a:bodyPr/>
                    <a:lstStyle/>
                    <a:p>
                      <a:pPr algn="ctr">
                        <a:defRPr sz="1000">
                          <a:latin typeface="Montserrat"/>
                        </a:defRPr>
                      </a:pPr>
                      <a:r>
                        <a:t>3,495</a:t>
                      </a:r>
                    </a:p>
                  </a:txBody>
                  <a:tcPr>
                    <a:solidFill>
                      <a:srgbClr val="FFFFFF"/>
                    </a:solidFill>
                  </a:tcPr>
                </a:tc>
                <a:tc>
                  <a:txBody>
                    <a:bodyPr/>
                    <a:lstStyle/>
                    <a:p>
                      <a:pPr algn="ctr">
                        <a:defRPr sz="1000">
                          <a:latin typeface="Montserrat"/>
                        </a:defRPr>
                      </a:pPr>
                      <a:r>
                        <a:t>358</a:t>
                      </a:r>
                    </a:p>
                  </a:txBody>
                  <a:tcPr>
                    <a:solidFill>
                      <a:srgbClr val="FFFFFF"/>
                    </a:solidFill>
                  </a:tcPr>
                </a:tc>
                <a:tc>
                  <a:txBody>
                    <a:bodyPr/>
                    <a:lstStyle/>
                    <a:p>
                      <a:pPr algn="ctr">
                        <a:defRPr sz="1000">
                          <a:latin typeface="Montserrat"/>
                        </a:defRPr>
                      </a:pPr>
                      <a:r>
                        <a:t>1,222</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22.5%</a:t>
                      </a:r>
                    </a:p>
                  </a:txBody>
                  <a:tcPr>
                    <a:solidFill>
                      <a:srgbClr val="ECD3D9"/>
                    </a:solidFill>
                  </a:tcPr>
                </a:tc>
              </a:tr>
              <a:tr h="284400">
                <a:tc>
                  <a:txBody>
                    <a:bodyPr/>
                    <a:lstStyle/>
                    <a:p>
                      <a:pPr algn="l">
                        <a:defRPr sz="1000">
                          <a:latin typeface="Montserrat"/>
                        </a:defRPr>
                      </a:pPr>
                      <a:r>
                        <a:t>HGZ 4 Guaymas</a:t>
                      </a:r>
                    </a:p>
                  </a:txBody>
                  <a:tcPr>
                    <a:solidFill>
                      <a:srgbClr val="EFEFEF"/>
                    </a:solidFill>
                  </a:tcPr>
                </a:tc>
                <a:tc>
                  <a:txBody>
                    <a:bodyPr/>
                    <a:lstStyle/>
                    <a:p>
                      <a:pPr algn="ctr">
                        <a:defRPr sz="1000">
                          <a:latin typeface="Montserrat"/>
                        </a:defRPr>
                      </a:pPr>
                      <a:r>
                        <a:t>2,395</a:t>
                      </a:r>
                    </a:p>
                  </a:txBody>
                  <a:tcPr>
                    <a:solidFill>
                      <a:srgbClr val="EFEFEF"/>
                    </a:solidFill>
                  </a:tcPr>
                </a:tc>
                <a:tc>
                  <a:txBody>
                    <a:bodyPr/>
                    <a:lstStyle/>
                    <a:p>
                      <a:pPr algn="ctr">
                        <a:defRPr sz="1000">
                          <a:latin typeface="Montserrat"/>
                        </a:defRPr>
                      </a:pPr>
                      <a:r>
                        <a:t>372</a:t>
                      </a:r>
                    </a:p>
                  </a:txBody>
                  <a:tcPr>
                    <a:solidFill>
                      <a:srgbClr val="EFEFEF"/>
                    </a:solidFill>
                  </a:tcPr>
                </a:tc>
                <a:tc>
                  <a:txBody>
                    <a:bodyPr/>
                    <a:lstStyle/>
                    <a:p>
                      <a:pPr algn="ctr">
                        <a:defRPr sz="1000">
                          <a:latin typeface="Montserrat"/>
                        </a:defRPr>
                      </a:pPr>
                      <a:r>
                        <a:t>1,160</a:t>
                      </a:r>
                    </a:p>
                  </a:txBody>
                  <a:tcPr>
                    <a:solidFill>
                      <a:srgbClr val="ECD3D9"/>
                    </a:solidFill>
                  </a:tcPr>
                </a:tc>
                <a:tc>
                  <a:txBody>
                    <a:bodyPr/>
                    <a:lstStyle/>
                    <a:p>
                      <a:pPr algn="ctr">
                        <a:defRPr sz="1000">
                          <a:latin typeface="Montserrat"/>
                        </a:defRPr>
                      </a:pPr>
                      <a:r>
                        <a:t>5,436</a:t>
                      </a:r>
                    </a:p>
                  </a:txBody>
                  <a:tcPr>
                    <a:solidFill>
                      <a:srgbClr val="ECD3D9"/>
                    </a:solidFill>
                  </a:tcPr>
                </a:tc>
                <a:tc>
                  <a:txBody>
                    <a:bodyPr/>
                    <a:lstStyle/>
                    <a:p>
                      <a:pPr algn="ctr">
                        <a:defRPr sz="1000">
                          <a:latin typeface="Montserrat"/>
                        </a:defRPr>
                      </a:pPr>
                      <a:r>
                        <a:t>21.3%</a:t>
                      </a:r>
                    </a:p>
                  </a:txBody>
                  <a:tcPr>
                    <a:solidFill>
                      <a:srgbClr val="ECD3D9"/>
                    </a:solidFill>
                  </a:tcPr>
                </a:tc>
              </a:tr>
              <a:tr h="284400">
                <a:tc>
                  <a:txBody>
                    <a:bodyPr/>
                    <a:lstStyle/>
                    <a:p>
                      <a:pPr algn="l">
                        <a:defRPr sz="1000">
                          <a:latin typeface="Montserrat"/>
                        </a:defRPr>
                      </a:pPr>
                      <a:r>
                        <a:t>HGSMF 54 Empalme</a:t>
                      </a:r>
                    </a:p>
                  </a:txBody>
                  <a:tcPr>
                    <a:solidFill>
                      <a:srgbClr val="FFFFFF"/>
                    </a:solidFill>
                  </a:tcPr>
                </a:tc>
                <a:tc>
                  <a:txBody>
                    <a:bodyPr/>
                    <a:lstStyle/>
                    <a:p>
                      <a:pPr algn="ctr">
                        <a:defRPr sz="1000">
                          <a:latin typeface="Montserrat"/>
                        </a:defRPr>
                      </a:pPr>
                      <a:r>
                        <a:t>745</a:t>
                      </a:r>
                    </a:p>
                  </a:txBody>
                  <a:tcPr>
                    <a:solidFill>
                      <a:srgbClr val="FFFFFF"/>
                    </a:solidFill>
                  </a:tcPr>
                </a:tc>
                <a:tc>
                  <a:txBody>
                    <a:bodyPr/>
                    <a:lstStyle/>
                    <a:p>
                      <a:pPr algn="ctr">
                        <a:defRPr sz="1000">
                          <a:latin typeface="Montserrat"/>
                        </a:defRPr>
                      </a:pPr>
                      <a:r>
                        <a:t>158</a:t>
                      </a:r>
                    </a:p>
                  </a:txBody>
                  <a:tcPr>
                    <a:solidFill>
                      <a:srgbClr val="FFFFFF"/>
                    </a:solidFill>
                  </a:tcPr>
                </a:tc>
                <a:tc>
                  <a:txBody>
                    <a:bodyPr/>
                    <a:lstStyle/>
                    <a:p>
                      <a:pPr algn="ctr">
                        <a:defRPr sz="1000">
                          <a:latin typeface="Montserrat"/>
                        </a:defRPr>
                      </a:pPr>
                      <a:r>
                        <a:t>312</a:t>
                      </a:r>
                    </a:p>
                  </a:txBody>
                  <a:tcPr>
                    <a:solidFill>
                      <a:srgbClr val="ECD3D9"/>
                    </a:solidFill>
                  </a:tcPr>
                </a:tc>
                <a:tc>
                  <a:txBody>
                    <a:bodyPr/>
                    <a:lstStyle/>
                    <a:p>
                      <a:pPr algn="ctr">
                        <a:defRPr sz="1000">
                          <a:latin typeface="Montserrat"/>
                        </a:defRPr>
                      </a:pPr>
                      <a:r>
                        <a:t>1,566</a:t>
                      </a:r>
                    </a:p>
                  </a:txBody>
                  <a:tcPr>
                    <a:solidFill>
                      <a:srgbClr val="ECD3D9"/>
                    </a:solidFill>
                  </a:tcPr>
                </a:tc>
                <a:tc>
                  <a:txBody>
                    <a:bodyPr/>
                    <a:lstStyle/>
                    <a:p>
                      <a:pPr algn="ctr">
                        <a:defRPr sz="1000">
                          <a:latin typeface="Montserrat"/>
                        </a:defRPr>
                      </a:pPr>
                      <a:r>
                        <a:t>19.9%</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53,312</a:t>
                      </a:r>
                    </a:p>
                  </a:txBody>
                  <a:tcPr>
                    <a:solidFill>
                      <a:srgbClr val="D3E9E7"/>
                    </a:solidFill>
                  </a:tcPr>
                </a:tc>
                <a:tc>
                  <a:txBody>
                    <a:bodyPr/>
                    <a:lstStyle/>
                    <a:p>
                      <a:pPr algn="ctr">
                        <a:defRPr sz="1000" b="1">
                          <a:solidFill>
                            <a:srgbClr val="006556"/>
                          </a:solidFill>
                          <a:latin typeface="Montserrat"/>
                        </a:defRPr>
                      </a:pPr>
                      <a:r>
                        <a:t>8,807</a:t>
                      </a:r>
                    </a:p>
                  </a:txBody>
                  <a:tcPr>
                    <a:solidFill>
                      <a:srgbClr val="D3E9E7"/>
                    </a:solidFill>
                  </a:tcPr>
                </a:tc>
                <a:tc>
                  <a:txBody>
                    <a:bodyPr/>
                    <a:lstStyle/>
                    <a:p>
                      <a:pPr algn="ctr">
                        <a:defRPr sz="1000" b="1">
                          <a:solidFill>
                            <a:srgbClr val="FFFFFF"/>
                          </a:solidFill>
                          <a:latin typeface="Montserrat"/>
                        </a:defRPr>
                      </a:pPr>
                      <a:r>
                        <a:t>23,292</a:t>
                      </a:r>
                    </a:p>
                  </a:txBody>
                  <a:tcPr>
                    <a:solidFill>
                      <a:srgbClr val="9F2241"/>
                    </a:solidFill>
                  </a:tcPr>
                </a:tc>
                <a:tc>
                  <a:txBody>
                    <a:bodyPr/>
                    <a:lstStyle/>
                    <a:p>
                      <a:pPr algn="ctr">
                        <a:defRPr sz="1000" b="1">
                          <a:solidFill>
                            <a:srgbClr val="FFFFFF"/>
                          </a:solidFill>
                          <a:latin typeface="Montserrat"/>
                        </a:defRPr>
                      </a:pPr>
                      <a:r>
                        <a:t>70,619</a:t>
                      </a:r>
                    </a:p>
                  </a:txBody>
                  <a:tcPr>
                    <a:solidFill>
                      <a:srgbClr val="9F2241"/>
                    </a:solidFill>
                  </a:tcPr>
                </a:tc>
                <a:tc>
                  <a:txBody>
                    <a:bodyPr/>
                    <a:lstStyle/>
                    <a:p>
                      <a:pPr algn="ctr">
                        <a:defRPr sz="1000" b="1">
                          <a:solidFill>
                            <a:srgbClr val="FFFFFF"/>
                          </a:solidFill>
                          <a:latin typeface="Montserrat"/>
                        </a:defRPr>
                      </a:pPr>
                      <a:r>
                        <a:t>33.0%</a:t>
                      </a:r>
                    </a:p>
                  </a:txBody>
                  <a:tcPr>
                    <a:solidFill>
                      <a:srgbClr val="9F2241"/>
                    </a:solidFill>
                  </a:tcPr>
                </a:tc>
              </a:tr>
            </a:tbl>
          </a:graphicData>
        </a:graphic>
      </p:graphicFrame>
      <p:graphicFrame>
        <p:nvGraphicFramePr>
          <p:cNvPr id="234" name="Table 233"/>
          <p:cNvGraphicFramePr>
            <a:graphicFrameLocks noGrp="1"/>
          </p:cNvGraphicFramePr>
          <p:nvPr/>
        </p:nvGraphicFramePr>
        <p:xfrm>
          <a:off x="144000" y="6033600"/>
          <a:ext cx="7340399" cy="11376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14,233</a:t>
                      </a:r>
                    </a:p>
                  </a:txBody>
                  <a:tcPr>
                    <a:solidFill>
                      <a:srgbClr val="FFFFFF"/>
                    </a:solidFill>
                  </a:tcPr>
                </a:tc>
                <a:tc>
                  <a:txBody>
                    <a:bodyPr/>
                    <a:lstStyle/>
                    <a:p>
                      <a:pPr algn="ctr">
                        <a:defRPr sz="1000">
                          <a:latin typeface="Montserrat"/>
                        </a:defRPr>
                      </a:pPr>
                      <a:r>
                        <a:t>6,939</a:t>
                      </a:r>
                    </a:p>
                  </a:txBody>
                  <a:tcPr>
                    <a:solidFill>
                      <a:srgbClr val="FFFFFF"/>
                    </a:solidFill>
                  </a:tcPr>
                </a:tc>
                <a:tc>
                  <a:txBody>
                    <a:bodyPr/>
                    <a:lstStyle/>
                    <a:p>
                      <a:pPr algn="ctr">
                        <a:defRPr sz="1000">
                          <a:latin typeface="Montserrat"/>
                        </a:defRPr>
                      </a:pPr>
                      <a:r>
                        <a:t>4,450</a:t>
                      </a:r>
                    </a:p>
                  </a:txBody>
                  <a:tcPr>
                    <a:solidFill>
                      <a:srgbClr val="ECD3D9"/>
                    </a:solidFill>
                  </a:tcPr>
                </a:tc>
                <a:tc>
                  <a:txBody>
                    <a:bodyPr/>
                    <a:lstStyle/>
                    <a:p>
                      <a:pPr algn="ctr">
                        <a:defRPr sz="1000">
                          <a:latin typeface="Montserrat"/>
                        </a:defRPr>
                      </a:pPr>
                      <a:r>
                        <a:t>17,250</a:t>
                      </a:r>
                    </a:p>
                  </a:txBody>
                  <a:tcPr>
                    <a:solidFill>
                      <a:srgbClr val="ECD3D9"/>
                    </a:solidFill>
                  </a:tcPr>
                </a:tc>
                <a:tc>
                  <a:txBody>
                    <a:bodyPr/>
                    <a:lstStyle/>
                    <a:p>
                      <a:pPr algn="ctr">
                        <a:defRPr sz="1000">
                          <a:latin typeface="Montserrat"/>
                        </a:defRPr>
                      </a:pPr>
                      <a:r>
                        <a:t>25.8%</a:t>
                      </a:r>
                    </a:p>
                  </a:txBody>
                  <a:tcPr>
                    <a:solidFill>
                      <a:srgbClr val="ECD3D9"/>
                    </a:solidFill>
                  </a:tcPr>
                </a:tc>
              </a:tr>
              <a:tr h="2844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14,233</a:t>
                      </a:r>
                    </a:p>
                  </a:txBody>
                  <a:tcPr>
                    <a:solidFill>
                      <a:srgbClr val="D3E9E7"/>
                    </a:solidFill>
                  </a:tcPr>
                </a:tc>
                <a:tc>
                  <a:txBody>
                    <a:bodyPr/>
                    <a:lstStyle/>
                    <a:p>
                      <a:pPr algn="ctr">
                        <a:defRPr sz="1000" b="1">
                          <a:solidFill>
                            <a:srgbClr val="006556"/>
                          </a:solidFill>
                          <a:latin typeface="Montserrat"/>
                        </a:defRPr>
                      </a:pPr>
                      <a:r>
                        <a:t>6,939</a:t>
                      </a:r>
                    </a:p>
                  </a:txBody>
                  <a:tcPr>
                    <a:solidFill>
                      <a:srgbClr val="D3E9E7"/>
                    </a:solidFill>
                  </a:tcPr>
                </a:tc>
                <a:tc>
                  <a:txBody>
                    <a:bodyPr/>
                    <a:lstStyle/>
                    <a:p>
                      <a:pPr algn="ctr">
                        <a:defRPr sz="1000" b="1">
                          <a:solidFill>
                            <a:srgbClr val="FFFFFF"/>
                          </a:solidFill>
                          <a:latin typeface="Montserrat"/>
                        </a:defRPr>
                      </a:pPr>
                      <a:r>
                        <a:t>4,450</a:t>
                      </a:r>
                    </a:p>
                  </a:txBody>
                  <a:tcPr>
                    <a:solidFill>
                      <a:srgbClr val="9F2241"/>
                    </a:solidFill>
                  </a:tcPr>
                </a:tc>
                <a:tc>
                  <a:txBody>
                    <a:bodyPr/>
                    <a:lstStyle/>
                    <a:p>
                      <a:pPr algn="ctr">
                        <a:defRPr sz="1000" b="1">
                          <a:solidFill>
                            <a:srgbClr val="FFFFFF"/>
                          </a:solidFill>
                          <a:latin typeface="Montserrat"/>
                        </a:defRPr>
                      </a:pPr>
                      <a:r>
                        <a:t>17,250</a:t>
                      </a:r>
                    </a:p>
                  </a:txBody>
                  <a:tcPr>
                    <a:solidFill>
                      <a:srgbClr val="9F2241"/>
                    </a:solidFill>
                  </a:tcPr>
                </a:tc>
                <a:tc>
                  <a:txBody>
                    <a:bodyPr/>
                    <a:lstStyle/>
                    <a:p>
                      <a:pPr algn="ctr">
                        <a:defRPr sz="1000" b="1">
                          <a:solidFill>
                            <a:srgbClr val="FFFFFF"/>
                          </a:solidFill>
                          <a:latin typeface="Montserrat"/>
                        </a:defRPr>
                      </a:pPr>
                      <a:r>
                        <a:t>25.8%</a:t>
                      </a:r>
                    </a:p>
                  </a:txBody>
                  <a:tcPr>
                    <a:solidFill>
                      <a:srgbClr val="9F2241"/>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67,545</a:t>
                      </a:r>
                    </a:p>
                  </a:txBody>
                  <a:tcPr>
                    <a:solidFill>
                      <a:srgbClr val="D3E9E7"/>
                    </a:solidFill>
                  </a:tcPr>
                </a:tc>
                <a:tc>
                  <a:txBody>
                    <a:bodyPr/>
                    <a:lstStyle/>
                    <a:p>
                      <a:pPr algn="ctr">
                        <a:defRPr sz="1000" b="1">
                          <a:solidFill>
                            <a:srgbClr val="006556"/>
                          </a:solidFill>
                          <a:latin typeface="Montserrat"/>
                        </a:defRPr>
                      </a:pPr>
                      <a:r>
                        <a:t>15,746</a:t>
                      </a:r>
                    </a:p>
                  </a:txBody>
                  <a:tcPr>
                    <a:solidFill>
                      <a:srgbClr val="D3E9E7"/>
                    </a:solidFill>
                  </a:tcPr>
                </a:tc>
                <a:tc>
                  <a:txBody>
                    <a:bodyPr/>
                    <a:lstStyle/>
                    <a:p>
                      <a:pPr algn="ctr">
                        <a:defRPr sz="1000" b="1">
                          <a:solidFill>
                            <a:srgbClr val="FFFFFF"/>
                          </a:solidFill>
                          <a:latin typeface="Montserrat"/>
                        </a:defRPr>
                      </a:pPr>
                      <a:r>
                        <a:t>27,742</a:t>
                      </a:r>
                    </a:p>
                  </a:txBody>
                  <a:tcPr>
                    <a:solidFill>
                      <a:srgbClr val="9F2241"/>
                    </a:solidFill>
                  </a:tcPr>
                </a:tc>
                <a:tc>
                  <a:txBody>
                    <a:bodyPr/>
                    <a:lstStyle/>
                    <a:p>
                      <a:pPr algn="ctr">
                        <a:defRPr sz="1000" b="1">
                          <a:solidFill>
                            <a:srgbClr val="FFFFFF"/>
                          </a:solidFill>
                          <a:latin typeface="Montserrat"/>
                        </a:defRPr>
                      </a:pPr>
                      <a:r>
                        <a:t>87,869</a:t>
                      </a:r>
                    </a:p>
                  </a:txBody>
                  <a:tcPr>
                    <a:solidFill>
                      <a:srgbClr val="9F2241"/>
                    </a:solidFill>
                  </a:tcPr>
                </a:tc>
                <a:tc>
                  <a:txBody>
                    <a:bodyPr/>
                    <a:lstStyle/>
                    <a:p>
                      <a:pPr algn="ctr">
                        <a:defRPr sz="1000" b="1">
                          <a:solidFill>
                            <a:srgbClr val="FFFFFF"/>
                          </a:solidFill>
                          <a:latin typeface="Montserrat"/>
                        </a:defRPr>
                      </a:pPr>
                      <a:r>
                        <a:t>31.6%</a:t>
                      </a:r>
                    </a:p>
                  </a:txBody>
                  <a:tcPr>
                    <a:solidFill>
                      <a:srgbClr val="9F2241"/>
                    </a:solidFill>
                  </a:tcPr>
                </a:tc>
              </a:tr>
            </a:tbl>
          </a:graphicData>
        </a:graphic>
      </p:graphicFrame>
      <p:graphicFrame>
        <p:nvGraphicFramePr>
          <p:cNvPr id="235" name="Chart 234"/>
          <p:cNvGraphicFramePr>
            <a:graphicFrameLocks noGrp="1"/>
          </p:cNvGraphicFramePr>
          <p:nvPr/>
        </p:nvGraphicFramePr>
        <p:xfrm>
          <a:off x="4780800" y="7905600"/>
          <a:ext cx="1800000" cy="1800000"/>
        </p:xfrm>
        <a:graphic>
          <a:graphicData uri="http://schemas.openxmlformats.org/drawingml/2006/chart">
            <c:chart xmlns:c="http://schemas.openxmlformats.org/drawingml/2006/chart" r:id="rId4"/>
          </a:graphicData>
        </a:graphic>
      </p:graphicFrame>
      <p:sp>
        <p:nvSpPr>
          <p:cNvPr id="236" name="TextBox 235"/>
          <p:cNvSpPr txBox="1"/>
          <p:nvPr/>
        </p:nvSpPr>
        <p:spPr>
          <a:xfrm>
            <a:off x="4780800" y="8625600"/>
            <a:ext cx="1800000" cy="360000"/>
          </a:xfrm>
          <a:prstGeom prst="rect">
            <a:avLst/>
          </a:prstGeom>
          <a:noFill/>
        </p:spPr>
        <p:txBody>
          <a:bodyPr wrap="none">
            <a:spAutoFit/>
          </a:bodyPr>
          <a:lstStyle/>
          <a:p>
            <a:pPr algn="ctr"/>
            <a:r>
              <a:rPr sz="2400" b="1">
                <a:solidFill>
                  <a:srgbClr val="9F2241"/>
                </a:solidFill>
                <a:latin typeface="Montserrat"/>
              </a:rPr>
              <a:t>31.6%</a:t>
            </a:r>
          </a:p>
        </p:txBody>
      </p:sp>
      <p:sp>
        <p:nvSpPr>
          <p:cNvPr id="237" name="TextBox 236"/>
          <p:cNvSpPr txBox="1"/>
          <p:nvPr/>
        </p:nvSpPr>
        <p:spPr>
          <a:xfrm>
            <a:off x="4780800" y="952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8" name="TextBox 237"/>
          <p:cNvSpPr txBox="1"/>
          <p:nvPr/>
        </p:nvSpPr>
        <p:spPr>
          <a:xfrm>
            <a:off x="730799" y="7905600"/>
            <a:ext cx="2854800" cy="1198800"/>
          </a:xfrm>
          <a:prstGeom prst="rect">
            <a:avLst/>
          </a:prstGeom>
          <a:noFill/>
        </p:spPr>
        <p:txBody>
          <a:bodyPr wrap="square">
            <a:spAutoFit/>
          </a:bodyPr>
          <a:lstStyle/>
          <a:p>
            <a:pPr algn="ctr">
              <a:defRPr sz="3600" b="1">
                <a:solidFill>
                  <a:srgbClr val="9F2241"/>
                </a:solidFill>
                <a:latin typeface="Montserrat"/>
              </a:defRPr>
            </a:pPr>
            <a:r>
              <a:t>87,869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298 en Hospitales, 1 en sede, 46 en UMF y 153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Radioncología Directa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Hospital General de Subzona C/MF 12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8</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Subzona C/MF 23</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54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6</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235998"/>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Subzona C/MF 7</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extLst>
      <p:ext uri="{BB962C8B-B14F-4D97-AF65-F5344CB8AC3E}">
        <p14:creationId xmlns:p14="http://schemas.microsoft.com/office/powerpoint/2010/main" val="1614469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90</a:t>
                      </a:r>
                    </a:p>
                  </a:txBody>
                  <a:tcPr anchor="ctr" marL="45720" marR="45720" marT="45720" marB="45720">
                    <a:solidFill>
                      <a:srgbClr val="FFFFFF"/>
                    </a:solidFill>
                  </a:tcPr>
                </a:tc>
                <a:tc>
                  <a:txBody>
                    <a:bodyPr/>
                    <a:lstStyle/>
                    <a:p>
                      <a:pPr algn="ctr">
                        <a:defRPr sz="1100" b="1">
                          <a:solidFill>
                            <a:srgbClr val="000000"/>
                          </a:solidFill>
                          <a:latin typeface="Montserrat"/>
                        </a:defRPr>
                      </a:pPr>
                      <a:r>
                        <a:t>18.0%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65</a:t>
                      </a:r>
                    </a:p>
                  </a:txBody>
                  <a:tcPr anchor="ctr" marL="45720" marR="45720" marT="45720" marB="45720">
                    <a:solidFill>
                      <a:srgbClr val="D9D9D9"/>
                    </a:solidFill>
                  </a:tcPr>
                </a:tc>
                <a:tc>
                  <a:txBody>
                    <a:bodyPr/>
                    <a:lstStyle/>
                    <a:p>
                      <a:pPr algn="ctr">
                        <a:defRPr sz="1100" b="1">
                          <a:solidFill>
                            <a:srgbClr val="000000"/>
                          </a:solidFill>
                          <a:latin typeface="Montserrat"/>
                        </a:defRPr>
                      </a:pPr>
                      <a:r>
                        <a:t>31.1%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FFFFFF"/>
                    </a:solidFill>
                  </a:tcPr>
                </a:tc>
                <a:tc>
                  <a:txBody>
                    <a:bodyPr/>
                    <a:lstStyle/>
                    <a:p>
                      <a:pPr algn="ctr">
                        <a:defRPr sz="1100" b="0">
                          <a:solidFill>
                            <a:srgbClr val="000000"/>
                          </a:solidFill>
                          <a:latin typeface="Montserrat"/>
                        </a:defRPr>
                      </a:pPr>
                      <a:r>
                        <a:t>46</a:t>
                      </a:r>
                    </a:p>
                  </a:txBody>
                  <a:tcPr anchor="ctr" marL="45720" marR="45720" marT="45720" marB="45720">
                    <a:solidFill>
                      <a:srgbClr val="FFFFFF"/>
                    </a:solidFill>
                  </a:tcPr>
                </a:tc>
                <a:tc>
                  <a:txBody>
                    <a:bodyPr/>
                    <a:lstStyle/>
                    <a:p>
                      <a:pPr algn="ctr">
                        <a:defRPr sz="1100" b="1">
                          <a:solidFill>
                            <a:srgbClr val="000000"/>
                          </a:solidFill>
                          <a:latin typeface="Montserrat"/>
                        </a:defRPr>
                      </a:pPr>
                      <a:r>
                        <a:t>40.3%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38</a:t>
                      </a:r>
                    </a:p>
                  </a:txBody>
                  <a:tcPr anchor="ctr" marL="45720" marR="45720" marT="45720" marB="45720">
                    <a:solidFill>
                      <a:srgbClr val="D9D9D9"/>
                    </a:solidFill>
                  </a:tcPr>
                </a:tc>
                <a:tc>
                  <a:txBody>
                    <a:bodyPr/>
                    <a:lstStyle/>
                    <a:p>
                      <a:pPr algn="ctr">
                        <a:defRPr sz="1100" b="1">
                          <a:solidFill>
                            <a:srgbClr val="000000"/>
                          </a:solidFill>
                          <a:latin typeface="Montserrat"/>
                        </a:defRPr>
                      </a:pPr>
                      <a:r>
                        <a:t>47.9%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34</a:t>
                      </a:r>
                    </a:p>
                  </a:txBody>
                  <a:tcPr anchor="ctr" marL="45720" marR="45720" marT="45720" marB="45720">
                    <a:solidFill>
                      <a:srgbClr val="FFFFFF"/>
                    </a:solidFill>
                  </a:tcPr>
                </a:tc>
                <a:tc>
                  <a:txBody>
                    <a:bodyPr/>
                    <a:lstStyle/>
                    <a:p>
                      <a:pPr algn="ctr">
                        <a:defRPr sz="1100" b="1">
                          <a:solidFill>
                            <a:srgbClr val="000000"/>
                          </a:solidFill>
                          <a:latin typeface="Montserrat"/>
                        </a:defRPr>
                      </a:pPr>
                      <a:r>
                        <a:t>54.8%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33</a:t>
                      </a:r>
                    </a:p>
                  </a:txBody>
                  <a:tcPr anchor="ctr" marL="45720" marR="45720" marT="45720" marB="45720">
                    <a:solidFill>
                      <a:srgbClr val="D9D9D9"/>
                    </a:solidFill>
                  </a:tcPr>
                </a:tc>
                <a:tc>
                  <a:txBody>
                    <a:bodyPr/>
                    <a:lstStyle/>
                    <a:p>
                      <a:pPr algn="ctr">
                        <a:defRPr sz="1100" b="1">
                          <a:solidFill>
                            <a:srgbClr val="000000"/>
                          </a:solidFill>
                          <a:latin typeface="Montserrat"/>
                        </a:defRPr>
                      </a:pPr>
                      <a:r>
                        <a:t>61.4%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31</a:t>
                      </a:r>
                    </a:p>
                  </a:txBody>
                  <a:tcPr anchor="ctr" marL="45720" marR="45720" marT="45720" marB="45720">
                    <a:solidFill>
                      <a:srgbClr val="FFFFFF"/>
                    </a:solidFill>
                  </a:tcPr>
                </a:tc>
                <a:tc>
                  <a:txBody>
                    <a:bodyPr/>
                    <a:lstStyle/>
                    <a:p>
                      <a:pPr algn="ctr">
                        <a:defRPr sz="1100" b="1">
                          <a:solidFill>
                            <a:srgbClr val="000000"/>
                          </a:solidFill>
                          <a:latin typeface="Montserrat"/>
                        </a:defRPr>
                      </a:pPr>
                      <a:r>
                        <a:t>67.6%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31</a:t>
                      </a:r>
                    </a:p>
                  </a:txBody>
                  <a:tcPr anchor="ctr" marL="45720" marR="45720" marT="45720" marB="45720">
                    <a:solidFill>
                      <a:srgbClr val="D9D9D9"/>
                    </a:solidFill>
                  </a:tcPr>
                </a:tc>
                <a:tc>
                  <a:txBody>
                    <a:bodyPr/>
                    <a:lstStyle/>
                    <a:p>
                      <a:pPr algn="ctr">
                        <a:defRPr sz="1100" b="1">
                          <a:solidFill>
                            <a:srgbClr val="000000"/>
                          </a:solidFill>
                          <a:latin typeface="Montserrat"/>
                        </a:defRPr>
                      </a:pPr>
                      <a:r>
                        <a:t>73.8%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13</a:t>
                      </a:r>
                    </a:p>
                  </a:txBody>
                  <a:tcPr anchor="ctr" marL="45720" marR="45720" marT="45720" marB="45720">
                    <a:solidFill>
                      <a:srgbClr val="FFFFFF"/>
                    </a:solidFill>
                  </a:tcPr>
                </a:tc>
                <a:tc>
                  <a:txBody>
                    <a:bodyPr/>
                    <a:lstStyle/>
                    <a:p>
                      <a:pPr algn="ctr">
                        <a:defRPr sz="1100" b="1">
                          <a:solidFill>
                            <a:srgbClr val="000000"/>
                          </a:solidFill>
                          <a:latin typeface="Montserrat"/>
                        </a:defRPr>
                      </a:pPr>
                      <a:r>
                        <a:t>76.5%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12</a:t>
                      </a:r>
                    </a:p>
                  </a:txBody>
                  <a:tcPr anchor="ctr" marL="45720" marR="45720" marT="45720" marB="45720">
                    <a:solidFill>
                      <a:srgbClr val="D9D9D9"/>
                    </a:solidFill>
                  </a:tcPr>
                </a:tc>
                <a:tc>
                  <a:txBody>
                    <a:bodyPr/>
                    <a:lstStyle/>
                    <a:p>
                      <a:pPr algn="ctr">
                        <a:defRPr sz="1100" b="1">
                          <a:solidFill>
                            <a:srgbClr val="000000"/>
                          </a:solidFill>
                          <a:latin typeface="Montserrat"/>
                        </a:defRPr>
                      </a:pPr>
                      <a:r>
                        <a:t>78.9%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FFFFFF"/>
                    </a:solidFill>
                  </a:tcPr>
                </a:tc>
                <a:tc>
                  <a:txBody>
                    <a:bodyPr/>
                    <a:lstStyle/>
                    <a:p>
                      <a:pPr algn="ctr">
                        <a:defRPr sz="1100" b="0">
                          <a:solidFill>
                            <a:srgbClr val="000000"/>
                          </a:solidFill>
                          <a:latin typeface="Montserrat"/>
                        </a:defRPr>
                      </a:pPr>
                      <a:r>
                        <a:t>10</a:t>
                      </a:r>
                    </a:p>
                  </a:txBody>
                  <a:tcPr anchor="ctr" marL="45720" marR="45720" marT="45720" marB="45720">
                    <a:solidFill>
                      <a:srgbClr val="FFFFFF"/>
                    </a:solidFill>
                  </a:tcPr>
                </a:tc>
                <a:tc>
                  <a:txBody>
                    <a:bodyPr/>
                    <a:lstStyle/>
                    <a:p>
                      <a:pPr algn="ctr">
                        <a:defRPr sz="1100" b="1">
                          <a:solidFill>
                            <a:srgbClr val="000000"/>
                          </a:solidFill>
                          <a:latin typeface="Montserrat"/>
                        </a:defRPr>
                      </a:pPr>
                      <a:r>
                        <a:t>80.9%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82.1%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83.3%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84.5%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85.5%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86.5%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5</a:t>
                      </a:r>
                    </a:p>
                  </a:txBody>
                  <a:tcPr anchor="ctr" marL="45720" marR="45720" marT="45720" marB="45720">
                    <a:solidFill>
                      <a:srgbClr val="FFFFFF"/>
                    </a:solidFill>
                  </a:tcPr>
                </a:tc>
                <a:tc>
                  <a:txBody>
                    <a:bodyPr/>
                    <a:lstStyle/>
                    <a:p>
                      <a:pPr algn="ctr">
                        <a:defRPr sz="1100" b="1">
                          <a:solidFill>
                            <a:srgbClr val="000000"/>
                          </a:solidFill>
                          <a:latin typeface="Montserrat"/>
                        </a:defRPr>
                      </a:pPr>
                      <a:r>
                        <a:t>87.5%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Rehabilitación</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88.5%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Servicios de Sangre</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89.3%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89.9%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90.5%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Hematología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91.1%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91.7%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92.1%</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Patología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92.5%</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94EDEE1-9138-38CB-735A-E5A11EE0B749}"/>
              </a:ext>
            </a:extLst>
          </p:cNvPr>
          <p:cNvGraphicFramePr/>
          <p:nvPr>
            <p:extLst>
              <p:ext uri="{D42A27DB-BD31-4B8C-83A1-F6EECF244321}">
                <p14:modId xmlns:p14="http://schemas.microsoft.com/office/powerpoint/2010/main" val="2076743781"/>
              </p:ext>
            </p:extLst>
          </p:nvPr>
        </p:nvGraphicFramePr>
        <p:xfrm>
          <a:off x="287050" y="924940"/>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2,573</a:t>
                      </a:r>
                    </a:p>
                  </a:txBody>
                  <a:tcPr anchor="ctr">
                    <a:solidFill>
                      <a:srgbClr val="FFFFFF"/>
                    </a:solidFill>
                  </a:tcPr>
                </a:tc>
                <a:tc>
                  <a:txBody>
                    <a:bodyPr/>
                    <a:lstStyle/>
                    <a:p>
                      <a:pPr algn="ctr">
                        <a:defRPr sz="1000">
                          <a:latin typeface="Montserrat"/>
                        </a:defRPr>
                      </a:pPr>
                      <a:r>
                        <a:t>27.8%</a:t>
                      </a:r>
                    </a:p>
                  </a:txBody>
                  <a:tcPr anchor="ctr">
                    <a:solidFill>
                      <a:srgbClr val="FFFFFF"/>
                    </a:solidFill>
                  </a:tcPr>
                </a:tc>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2,260</a:t>
                      </a:r>
                    </a:p>
                  </a:txBody>
                  <a:tcPr anchor="ctr">
                    <a:solidFill>
                      <a:srgbClr val="D9D9D9"/>
                    </a:solidFill>
                  </a:tcPr>
                </a:tc>
                <a:tc>
                  <a:txBody>
                    <a:bodyPr/>
                    <a:lstStyle/>
                    <a:p>
                      <a:pPr algn="ctr">
                        <a:defRPr sz="1000">
                          <a:latin typeface="Montserrat"/>
                        </a:defRPr>
                      </a:pPr>
                      <a:r>
                        <a:t>52.3%</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1,144</a:t>
                      </a:r>
                    </a:p>
                  </a:txBody>
                  <a:tcPr anchor="ctr">
                    <a:solidFill>
                      <a:srgbClr val="FFFFFF"/>
                    </a:solidFill>
                  </a:tcPr>
                </a:tc>
                <a:tc>
                  <a:txBody>
                    <a:bodyPr/>
                    <a:lstStyle/>
                    <a:p>
                      <a:pPr algn="ctr">
                        <a:defRPr sz="1000">
                          <a:latin typeface="Montserrat"/>
                        </a:defRPr>
                      </a:pPr>
                      <a:r>
                        <a:t>64.6%</a:t>
                      </a:r>
                    </a:p>
                  </a:txBody>
                  <a:tcPr anchor="ctr">
                    <a:solidFill>
                      <a:srgbClr val="FFFFFF"/>
                    </a:solidFill>
                  </a:tcPr>
                </a:tc>
              </a:tr>
              <a:tr h="216000">
                <a:tc>
                  <a:txBody>
                    <a:bodyPr/>
                    <a:lstStyle/>
                    <a:p>
                      <a:pPr algn="l">
                        <a:defRPr sz="1000">
                          <a:latin typeface="Montserrat"/>
                        </a:defRPr>
                      </a:pPr>
                      <a:r>
                        <a:t>Ginecología</a:t>
                      </a:r>
                    </a:p>
                  </a:txBody>
                  <a:tcPr anchor="ctr">
                    <a:solidFill>
                      <a:srgbClr val="D9D9D9"/>
                    </a:solidFill>
                  </a:tcPr>
                </a:tc>
                <a:tc>
                  <a:txBody>
                    <a:bodyPr/>
                    <a:lstStyle/>
                    <a:p>
                      <a:pPr algn="ctr">
                        <a:defRPr sz="1000">
                          <a:latin typeface="Montserrat"/>
                        </a:defRPr>
                      </a:pPr>
                      <a:r>
                        <a:t>798</a:t>
                      </a:r>
                    </a:p>
                  </a:txBody>
                  <a:tcPr anchor="ctr">
                    <a:solidFill>
                      <a:srgbClr val="D9D9D9"/>
                    </a:solidFill>
                  </a:tcPr>
                </a:tc>
                <a:tc>
                  <a:txBody>
                    <a:bodyPr/>
                    <a:lstStyle/>
                    <a:p>
                      <a:pPr algn="ctr">
                        <a:defRPr sz="1000">
                          <a:latin typeface="Montserrat"/>
                        </a:defRPr>
                      </a:pPr>
                      <a:r>
                        <a:t>73.3%</a:t>
                      </a:r>
                    </a:p>
                  </a:txBody>
                  <a:tcPr anchor="ctr">
                    <a:solidFill>
                      <a:srgbClr val="D9D9D9"/>
                    </a:solidFill>
                  </a:tcPr>
                </a:tc>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798</a:t>
                      </a:r>
                    </a:p>
                  </a:txBody>
                  <a:tcPr anchor="ctr">
                    <a:solidFill>
                      <a:srgbClr val="FFFFFF"/>
                    </a:solidFill>
                  </a:tcPr>
                </a:tc>
                <a:tc>
                  <a:txBody>
                    <a:bodyPr/>
                    <a:lstStyle/>
                    <a:p>
                      <a:pPr algn="ctr">
                        <a:defRPr sz="1000">
                          <a:latin typeface="Montserrat"/>
                        </a:defRPr>
                      </a:pPr>
                      <a:r>
                        <a:t>81.9%</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506</a:t>
                      </a:r>
                    </a:p>
                  </a:txBody>
                  <a:tcPr anchor="ctr">
                    <a:solidFill>
                      <a:srgbClr val="D9D9D9"/>
                    </a:solidFill>
                  </a:tcPr>
                </a:tc>
                <a:tc>
                  <a:txBody>
                    <a:bodyPr/>
                    <a:lstStyle/>
                    <a:p>
                      <a:pPr algn="ctr">
                        <a:defRPr sz="1000">
                          <a:latin typeface="Montserrat"/>
                        </a:defRPr>
                      </a:pPr>
                      <a:r>
                        <a:t>87.3%</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407</a:t>
                      </a:r>
                    </a:p>
                  </a:txBody>
                  <a:tcPr anchor="ctr">
                    <a:solidFill>
                      <a:srgbClr val="FFFFFF"/>
                    </a:solidFill>
                  </a:tcPr>
                </a:tc>
                <a:tc>
                  <a:txBody>
                    <a:bodyPr/>
                    <a:lstStyle/>
                    <a:p>
                      <a:pPr algn="ctr">
                        <a:defRPr sz="1000">
                          <a:latin typeface="Montserrat"/>
                        </a:defRPr>
                      </a:pPr>
                      <a:r>
                        <a:t>91.8%</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303</a:t>
                      </a:r>
                    </a:p>
                  </a:txBody>
                  <a:tcPr anchor="ctr">
                    <a:solidFill>
                      <a:srgbClr val="D9D9D9"/>
                    </a:solidFill>
                  </a:tcPr>
                </a:tc>
                <a:tc>
                  <a:txBody>
                    <a:bodyPr/>
                    <a:lstStyle/>
                    <a:p>
                      <a:pPr algn="ctr">
                        <a:defRPr sz="1000">
                          <a:latin typeface="Montserrat"/>
                        </a:defRPr>
                      </a:pPr>
                      <a:r>
                        <a:t>95.0%</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256</a:t>
                      </a:r>
                    </a:p>
                  </a:txBody>
                  <a:tcPr anchor="ctr">
                    <a:solidFill>
                      <a:srgbClr val="FFFFFF"/>
                    </a:solidFill>
                  </a:tcPr>
                </a:tc>
                <a:tc>
                  <a:txBody>
                    <a:bodyPr/>
                    <a:lstStyle/>
                    <a:p>
                      <a:pPr algn="ctr">
                        <a:defRPr sz="1000">
                          <a:latin typeface="Montserrat"/>
                        </a:defRPr>
                      </a:pPr>
                      <a:r>
                        <a:t>97.8%</a:t>
                      </a:r>
                    </a:p>
                  </a:txBody>
                  <a:tcPr anchor="ctr">
                    <a:solidFill>
                      <a:srgbClr val="FFFFFF"/>
                    </a:solidFill>
                  </a:tcPr>
                </a:tc>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204</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9,249</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645</a:t>
                      </a:r>
                    </a:p>
                  </a:txBody>
                  <a:tcPr anchor="ctr">
                    <a:solidFill>
                      <a:srgbClr val="FFFFFF"/>
                    </a:solidFill>
                  </a:tcPr>
                </a:tc>
                <a:tc>
                  <a:txBody>
                    <a:bodyPr/>
                    <a:lstStyle/>
                    <a:p>
                      <a:pPr algn="ctr">
                        <a:defRPr sz="1000">
                          <a:latin typeface="Montserrat"/>
                        </a:defRPr>
                      </a:pPr>
                      <a:r>
                        <a:t>27.7%</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526</a:t>
                      </a:r>
                    </a:p>
                  </a:txBody>
                  <a:tcPr anchor="ctr">
                    <a:solidFill>
                      <a:srgbClr val="D9D9D9"/>
                    </a:solidFill>
                  </a:tcPr>
                </a:tc>
                <a:tc>
                  <a:txBody>
                    <a:bodyPr/>
                    <a:lstStyle/>
                    <a:p>
                      <a:pPr algn="ctr">
                        <a:defRPr sz="1000">
                          <a:latin typeface="Montserrat"/>
                        </a:defRPr>
                      </a:pPr>
                      <a:r>
                        <a:t>50.2%</a:t>
                      </a:r>
                    </a:p>
                  </a:txBody>
                  <a:tcPr anchor="ctr">
                    <a:solidFill>
                      <a:srgbClr val="D9D9D9"/>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432</a:t>
                      </a:r>
                    </a:p>
                  </a:txBody>
                  <a:tcPr anchor="ctr">
                    <a:solidFill>
                      <a:srgbClr val="FFFFFF"/>
                    </a:solidFill>
                  </a:tcPr>
                </a:tc>
                <a:tc>
                  <a:txBody>
                    <a:bodyPr/>
                    <a:lstStyle/>
                    <a:p>
                      <a:pPr algn="ctr">
                        <a:defRPr sz="1000">
                          <a:latin typeface="Montserrat"/>
                        </a:defRPr>
                      </a:pPr>
                      <a:r>
                        <a:t>68.8%</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246</a:t>
                      </a:r>
                    </a:p>
                  </a:txBody>
                  <a:tcPr anchor="ctr">
                    <a:solidFill>
                      <a:srgbClr val="D9D9D9"/>
                    </a:solidFill>
                  </a:tcPr>
                </a:tc>
                <a:tc>
                  <a:txBody>
                    <a:bodyPr/>
                    <a:lstStyle/>
                    <a:p>
                      <a:pPr algn="ctr">
                        <a:defRPr sz="1000">
                          <a:latin typeface="Montserrat"/>
                        </a:defRPr>
                      </a:pPr>
                      <a:r>
                        <a:t>79.3%</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214</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208</a:t>
                      </a:r>
                    </a:p>
                  </a:txBody>
                  <a:tcPr anchor="ctr">
                    <a:solidFill>
                      <a:srgbClr val="D9D9D9"/>
                    </a:solidFill>
                  </a:tcPr>
                </a:tc>
                <a:tc>
                  <a:txBody>
                    <a:bodyPr/>
                    <a:lstStyle/>
                    <a:p>
                      <a:pPr algn="ctr">
                        <a:defRPr sz="1000">
                          <a:latin typeface="Montserrat"/>
                        </a:defRPr>
                      </a:pPr>
                      <a:r>
                        <a:t>97.4%</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60</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2,331</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SONORA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19,863	 Personal de Salud: 13,406</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+76.0%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150</a:t>
                      </a:r>
                    </a:p>
                  </a:txBody>
                  <a:tcPr marL="0" marR="0" marT="0" marB="0">
                    <a:noFill/>
                  </a:tcPr>
                </a:tc>
                <a:tc>
                  <a:txBody>
                    <a:bodyPr/>
                    <a:lstStyle/>
                    <a:p>
                      <a:pPr algn="ctr">
                        <a:defRPr b="1" sz="1500">
                          <a:solidFill>
                            <a:srgbClr val="B4975A"/>
                          </a:solidFill>
                          <a:latin typeface="Montserrat"/>
                        </a:defRPr>
                      </a:pPr>
                      <a:r>
                        <a:t>264</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+61.0%</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1,920</a:t>
                      </a:r>
                    </a:p>
                  </a:txBody>
                  <a:tcPr marL="0" marR="0" marT="0" marB="0">
                    <a:noFill/>
                  </a:tcPr>
                </a:tc>
                <a:tc>
                  <a:txBody>
                    <a:bodyPr/>
                    <a:lstStyle/>
                    <a:p>
                      <a:pPr algn="ctr">
                        <a:defRPr b="1" sz="1500">
                          <a:solidFill>
                            <a:srgbClr val="B4975A"/>
                          </a:solidFill>
                          <a:latin typeface="Montserrat"/>
                        </a:defRPr>
                      </a:pPr>
                      <a:r>
                        <a:t>3,091</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+18.8%</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4,151</a:t>
                      </a:r>
                    </a:p>
                  </a:txBody>
                  <a:tcPr marL="0" marR="0" marT="0" marB="0">
                    <a:noFill/>
                  </a:tcPr>
                </a:tc>
                <a:tc>
                  <a:txBody>
                    <a:bodyPr/>
                    <a:lstStyle/>
                    <a:p>
                      <a:pPr algn="ctr">
                        <a:defRPr b="1" sz="1500">
                          <a:solidFill>
                            <a:srgbClr val="B4975A"/>
                          </a:solidFill>
                          <a:latin typeface="Montserrat"/>
                        </a:defRPr>
                      </a:pPr>
                      <a:r>
                        <a:t>4,933</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+26.7%</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2,605</a:t>
                      </a:r>
                    </a:p>
                  </a:txBody>
                  <a:tcPr marL="0" marR="0" marT="0" marB="0">
                    <a:noFill/>
                  </a:tcPr>
                </a:tc>
                <a:tc>
                  <a:txBody>
                    <a:bodyPr/>
                    <a:lstStyle/>
                    <a:p>
                      <a:pPr algn="ctr">
                        <a:defRPr b="1" sz="1500">
                          <a:solidFill>
                            <a:srgbClr val="B4975A"/>
                          </a:solidFill>
                          <a:latin typeface="Montserrat"/>
                        </a:defRPr>
                      </a:pPr>
                      <a:r>
                        <a:t>3,300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+60.7%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629</a:t>
                      </a:r>
                    </a:p>
                  </a:txBody>
                  <a:tcPr marL="0" marR="0" marT="0" marB="0">
                    <a:noFill/>
                  </a:tcPr>
                </a:tc>
                <a:tc>
                  <a:txBody>
                    <a:bodyPr/>
                    <a:lstStyle/>
                    <a:p>
                      <a:pPr algn="ctr">
                        <a:defRPr b="1" sz="1500">
                          <a:solidFill>
                            <a:srgbClr val="B4975A"/>
                          </a:solidFill>
                          <a:latin typeface="Montserrat"/>
                        </a:defRPr>
                      </a:pPr>
                      <a:r>
                        <a:t>1,011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-1.2%</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817</a:t>
                      </a:r>
                    </a:p>
                  </a:txBody>
                  <a:tcPr marL="0" marR="0" marT="0" marB="0">
                    <a:noFill/>
                  </a:tcPr>
                </a:tc>
                <a:tc>
                  <a:txBody>
                    <a:bodyPr/>
                    <a:lstStyle/>
                    <a:p>
                      <a:pPr algn="ctr">
                        <a:defRPr b="1" sz="1500">
                          <a:solidFill>
                            <a:srgbClr val="B4975A"/>
                          </a:solidFill>
                          <a:latin typeface="Montserrat"/>
                        </a:defRPr>
                      </a:pPr>
                      <a:r>
                        <a:t>807</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66</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41</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39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27</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23</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44</a:t>
                      </a:r>
                    </a:p>
                  </a:txBody>
                  <a:tcPr marL="45720" marR="45720" marT="45720" marB="45720">
                    <a:solidFill>
                      <a:srgbClr val="FFFFFF"/>
                    </a:solidFill>
                  </a:tcPr>
                </a:tc>
              </a:tr>
              <a:tr h="18288">
                <a:tc>
                  <a:txBody>
                    <a:bodyPr/>
                    <a:lstStyle/>
                    <a:p>
                      <a:pPr algn="l">
                        <a:defRPr sz="800">
                          <a:latin typeface="Montserrat"/>
                        </a:defRPr>
                      </a:pPr>
                      <a:r>
                        <a:t>Anestesiología</a:t>
                      </a:r>
                    </a:p>
                  </a:txBody>
                  <a:tcPr marL="45720" marR="45720" marT="45720" marB="45720">
                    <a:solidFill>
                      <a:srgbClr val="EFEFEF"/>
                    </a:solidFill>
                  </a:tcPr>
                </a:tc>
                <a:tc>
                  <a:txBody>
                    <a:bodyPr/>
                    <a:lstStyle/>
                    <a:p>
                      <a:pPr algn="ctr">
                        <a:defRPr sz="800">
                          <a:latin typeface="Montserrat"/>
                        </a:defRPr>
                      </a:pPr>
                      <a:r>
                        <a:t>42</a:t>
                      </a:r>
                    </a:p>
                  </a:txBody>
                  <a:tcPr marL="45720" marR="45720" marT="45720" marB="45720">
                    <a:solidFill>
                      <a:srgbClr val="EFEFEF"/>
                    </a:solidFill>
                  </a:tcPr>
                </a:tc>
              </a:tr>
              <a:tr h="18288">
                <a:tc>
                  <a:txBody>
                    <a:bodyPr/>
                    <a:lstStyle/>
                    <a:p>
                      <a:pPr algn="l">
                        <a:defRPr sz="800">
                          <a:latin typeface="Montserrat"/>
                        </a:defRPr>
                      </a:pPr>
                      <a:r>
                        <a:t>Ginecología y Obstetricia</a:t>
                      </a:r>
                    </a:p>
                  </a:txBody>
                  <a:tcPr marL="45720" marR="45720" marT="45720" marB="45720">
                    <a:solidFill>
                      <a:srgbClr val="FFFFFF"/>
                    </a:solidFill>
                  </a:tcPr>
                </a:tc>
                <a:tc>
                  <a:txBody>
                    <a:bodyPr/>
                    <a:lstStyle/>
                    <a:p>
                      <a:pPr algn="ctr">
                        <a:defRPr sz="800">
                          <a:latin typeface="Montserrat"/>
                        </a:defRPr>
                      </a:pPr>
                      <a:r>
                        <a:t>25</a:t>
                      </a:r>
                    </a:p>
                  </a:txBody>
                  <a:tcPr marL="45720" marR="45720" marT="45720" marB="45720">
                    <a:solidFill>
                      <a:srgbClr val="FFFFFF"/>
                    </a:solidFill>
                  </a:tcPr>
                </a:tc>
              </a:tr>
              <a:tr h="18288">
                <a:tc>
                  <a:txBody>
                    <a:bodyPr/>
                    <a:lstStyle/>
                    <a:p>
                      <a:pPr algn="l">
                        <a:defRPr sz="800">
                          <a:latin typeface="Montserrat"/>
                        </a:defRPr>
                      </a:pPr>
                      <a:r>
                        <a:t>Pediatría</a:t>
                      </a:r>
                    </a:p>
                  </a:txBody>
                  <a:tcPr marL="45720" marR="45720" marT="45720" marB="45720">
                    <a:solidFill>
                      <a:srgbClr val="EFEFEF"/>
                    </a:solidFill>
                  </a:tcPr>
                </a:tc>
                <a:tc>
                  <a:txBody>
                    <a:bodyPr/>
                    <a:lstStyle/>
                    <a:p>
                      <a:pPr algn="ctr">
                        <a:defRPr sz="800">
                          <a:latin typeface="Montserrat"/>
                        </a:defRPr>
                      </a:pPr>
                      <a:r>
                        <a:t>23</a:t>
                      </a:r>
                    </a:p>
                  </a:txBody>
                  <a:tcPr marL="45720" marR="45720" marT="45720" marB="45720">
                    <a:solidFill>
                      <a:srgbClr val="EFEFEF"/>
                    </a:solidFill>
                  </a:tcPr>
                </a:tc>
              </a:tr>
              <a:tr h="18288">
                <a:tc>
                  <a:txBody>
                    <a:bodyPr/>
                    <a:lstStyle/>
                    <a:p>
                      <a:pPr algn="l">
                        <a:defRPr sz="800">
                          <a:latin typeface="Montserrat"/>
                        </a:defRPr>
                      </a:pPr>
                      <a:r>
                        <a:t>Cirugía General</a:t>
                      </a:r>
                    </a:p>
                  </a:txBody>
                  <a:tcPr marL="45720" marR="45720" marT="45720" marB="45720">
                    <a:solidFill>
                      <a:srgbClr val="FFFFFF"/>
                    </a:solidFill>
                  </a:tcPr>
                </a:tc>
                <a:tc>
                  <a:txBody>
                    <a:bodyPr/>
                    <a:lstStyle/>
                    <a:p>
                      <a:pPr algn="ctr">
                        <a:defRPr sz="800">
                          <a:latin typeface="Montserrat"/>
                        </a:defRPr>
                      </a:pPr>
                      <a:r>
                        <a:t>22</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287</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777</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601</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665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2,330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13,842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895</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187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239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4,695</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1,758</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27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21,190</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Enfermedades del corazón
(256,688)</a:t>
                      </a:r>
                    </a:p>
                  </a:txBody>
                  <a:tcPr>
                    <a:solidFill>
                      <a:srgbClr val="FFFFFF"/>
                    </a:solidFill>
                  </a:tcPr>
                </a:tc>
                <a:tc>
                  <a:txBody>
                    <a:bodyPr/>
                    <a:lstStyle/>
                    <a:p>
                      <a:pPr algn="ctr"/>
                      <a:r>
                        <a:rPr sz="900" b="0">
                          <a:latin typeface="Montserrat"/>
                        </a:rPr>
                        <a:t>Traumatismos e intoxicaciones
(21,960)</a:t>
                      </a:r>
                    </a:p>
                  </a:txBody>
                  <a:tcPr>
                    <a:solidFill>
                      <a:srgbClr val="FFFFFF"/>
                    </a:solidFill>
                  </a:tcPr>
                </a:tc>
                <a:tc>
                  <a:txBody>
                    <a:bodyPr/>
                    <a:lstStyle/>
                    <a:p>
                      <a:pPr algn="ctr"/>
                      <a:r>
                        <a:rPr sz="900" b="0">
                          <a:latin typeface="Montserrat"/>
                        </a:rPr>
                        <a:t>Traumatismos y envenenamientos
(2,096)</a:t>
                      </a:r>
                    </a:p>
                  </a:txBody>
                  <a:tcPr>
                    <a:solidFill>
                      <a:srgbClr val="FFFFFF"/>
                    </a:solidFill>
                  </a:tcPr>
                </a:tc>
                <a:tc>
                  <a:txBody>
                    <a:bodyPr/>
                    <a:lstStyle/>
                    <a:p>
                      <a:pPr algn="ctr"/>
                      <a:r>
                        <a:rPr sz="900" b="0">
                          <a:latin typeface="Montserrat"/>
                        </a:rPr>
                        <a:t>Embarazo, parto y puerperio
(5,318)</a:t>
                      </a:r>
                    </a:p>
                  </a:txBody>
                  <a:tcPr>
                    <a:solidFill>
                      <a:srgbClr val="FFFFFF"/>
                    </a:solidFill>
                  </a:tcPr>
                </a:tc>
                <a:tc>
                  <a:txBody>
                    <a:bodyPr/>
                    <a:lstStyle/>
                    <a:p>
                      <a:pPr algn="ctr"/>
                      <a:r>
                        <a:rPr sz="900" b="0">
                          <a:latin typeface="Montserrat"/>
                        </a:rPr>
                        <a:t>Enfermedades del corazón
(347)</a:t>
                      </a:r>
                    </a:p>
                  </a:txBody>
                  <a:tcPr>
                    <a:solidFill>
                      <a:srgbClr val="FFFFFF"/>
                    </a:solidFill>
                  </a:tcPr>
                </a:tc>
              </a:tr>
              <a:tr h="489600">
                <a:tc>
                  <a:txBody>
                    <a:bodyPr/>
                    <a:lstStyle/>
                    <a:p>
                      <a:pPr algn="ctr"/>
                      <a:r>
                        <a:rPr sz="900" b="0">
                          <a:latin typeface="Montserrat"/>
                        </a:rPr>
                        <a:t>Diabetes mellitus
(162,507)</a:t>
                      </a:r>
                    </a:p>
                  </a:txBody>
                  <a:tcPr>
                    <a:solidFill>
                      <a:srgbClr val="EFEFEF"/>
                    </a:solidFill>
                  </a:tcPr>
                </a:tc>
                <a:tc>
                  <a:txBody>
                    <a:bodyPr/>
                    <a:lstStyle/>
                    <a:p>
                      <a:pPr algn="ctr"/>
                      <a:r>
                        <a:rPr sz="900" b="0">
                          <a:latin typeface="Montserrat"/>
                        </a:rPr>
                        <a:t>Tumores malignos
(20,362)</a:t>
                      </a:r>
                    </a:p>
                  </a:txBody>
                  <a:tcPr>
                    <a:solidFill>
                      <a:srgbClr val="EFEFEF"/>
                    </a:solidFill>
                  </a:tcPr>
                </a:tc>
                <a:tc>
                  <a:txBody>
                    <a:bodyPr/>
                    <a:lstStyle/>
                    <a:p>
                      <a:pPr algn="ctr"/>
                      <a:r>
                        <a:rPr sz="900" b="0">
                          <a:latin typeface="Montserrat"/>
                        </a:rPr>
                        <a:t>Cirugía de vesicula biliar (Colecistectomía)
(1,180)</a:t>
                      </a:r>
                    </a:p>
                  </a:txBody>
                  <a:tcPr>
                    <a:solidFill>
                      <a:srgbClr val="EFEFEF"/>
                    </a:solidFill>
                  </a:tcPr>
                </a:tc>
                <a:tc>
                  <a:txBody>
                    <a:bodyPr/>
                    <a:lstStyle/>
                    <a:p>
                      <a:pPr algn="ctr"/>
                      <a:r>
                        <a:rPr sz="900" b="0">
                          <a:latin typeface="Montserrat"/>
                        </a:rPr>
                        <a:t>Traumatismos e intoxicaciones
(2,994)</a:t>
                      </a:r>
                    </a:p>
                  </a:txBody>
                  <a:tcPr>
                    <a:solidFill>
                      <a:srgbClr val="EFEFEF"/>
                    </a:solidFill>
                  </a:tcPr>
                </a:tc>
                <a:tc>
                  <a:txBody>
                    <a:bodyPr/>
                    <a:lstStyle/>
                    <a:p>
                      <a:pPr algn="ctr"/>
                      <a:r>
                        <a:rPr sz="900" b="0">
                          <a:latin typeface="Montserrat"/>
                        </a:rPr>
                        <a:t>Neumonía e influenza
(235)</a:t>
                      </a:r>
                    </a:p>
                  </a:txBody>
                  <a:tcPr>
                    <a:solidFill>
                      <a:srgbClr val="EFEFEF"/>
                    </a:solidFill>
                  </a:tcPr>
                </a:tc>
              </a:tr>
              <a:tr h="489600">
                <a:tc>
                  <a:txBody>
                    <a:bodyPr/>
                    <a:lstStyle/>
                    <a:p>
                      <a:pPr algn="ctr"/>
                      <a:r>
                        <a:rPr sz="900" b="0">
                          <a:latin typeface="Montserrat"/>
                        </a:rPr>
                        <a:t>Infecciones respiratorias agudas
(39,428)</a:t>
                      </a:r>
                    </a:p>
                  </a:txBody>
                  <a:tcPr>
                    <a:solidFill>
                      <a:srgbClr val="FFFFFF"/>
                    </a:solidFill>
                  </a:tcPr>
                </a:tc>
                <a:tc>
                  <a:txBody>
                    <a:bodyPr/>
                    <a:lstStyle/>
                    <a:p>
                      <a:pPr algn="ctr"/>
                      <a:r>
                        <a:rPr sz="900" b="0">
                          <a:latin typeface="Montserrat"/>
                        </a:rPr>
                        <a:t>Enfermedades del corazón
(17,600)</a:t>
                      </a:r>
                    </a:p>
                  </a:txBody>
                  <a:tcPr>
                    <a:solidFill>
                      <a:srgbClr val="FFFFFF"/>
                    </a:solidFill>
                  </a:tcPr>
                </a:tc>
                <a:tc>
                  <a:txBody>
                    <a:bodyPr/>
                    <a:lstStyle/>
                    <a:p>
                      <a:pPr algn="ctr"/>
                      <a:r>
                        <a:rPr sz="900" b="0">
                          <a:latin typeface="Montserrat"/>
                        </a:rPr>
                        <a:t>Cesárea
(1,177)</a:t>
                      </a:r>
                    </a:p>
                  </a:txBody>
                  <a:tcPr>
                    <a:solidFill>
                      <a:srgbClr val="FFFFFF"/>
                    </a:solidFill>
                  </a:tcPr>
                </a:tc>
                <a:tc>
                  <a:txBody>
                    <a:bodyPr/>
                    <a:lstStyle/>
                    <a:p>
                      <a:pPr algn="ctr"/>
                      <a:r>
                        <a:rPr sz="900" b="0">
                          <a:latin typeface="Montserrat"/>
                        </a:rPr>
                        <a:t>Tumores malignos
(1,591)</a:t>
                      </a:r>
                    </a:p>
                  </a:txBody>
                  <a:tcPr>
                    <a:solidFill>
                      <a:srgbClr val="FFFFFF"/>
                    </a:solidFill>
                  </a:tcPr>
                </a:tc>
                <a:tc>
                  <a:txBody>
                    <a:bodyPr/>
                    <a:lstStyle/>
                    <a:p>
                      <a:pPr algn="ctr"/>
                      <a:r>
                        <a:rPr sz="900" b="0">
                          <a:latin typeface="Montserrat"/>
                        </a:rPr>
                        <a:t>Tumores malignos
(226)</a:t>
                      </a:r>
                    </a:p>
                  </a:txBody>
                  <a:tcPr>
                    <a:solidFill>
                      <a:srgbClr val="FFFFFF"/>
                    </a:solidFill>
                  </a:tcPr>
                </a:tc>
              </a:tr>
              <a:tr h="489600">
                <a:tc>
                  <a:txBody>
                    <a:bodyPr/>
                    <a:lstStyle/>
                    <a:p>
                      <a:pPr algn="ctr"/>
                      <a:r>
                        <a:rPr sz="900" b="0">
                          <a:latin typeface="Montserrat"/>
                        </a:rPr>
                        <a:t>traumatismos e intoxicaciones
(31,903)</a:t>
                      </a:r>
                    </a:p>
                  </a:txBody>
                  <a:tcPr>
                    <a:solidFill>
                      <a:srgbClr val="EFEFEF"/>
                    </a:solidFill>
                  </a:tcPr>
                </a:tc>
                <a:tc>
                  <a:txBody>
                    <a:bodyPr/>
                    <a:lstStyle/>
                    <a:p>
                      <a:pPr algn="ctr"/>
                      <a:r>
                        <a:rPr sz="900" b="0">
                          <a:latin typeface="Montserrat"/>
                        </a:rPr>
                        <a:t>Enfermedades y trastornos de las articulaciones
(15,742)</a:t>
                      </a:r>
                    </a:p>
                  </a:txBody>
                  <a:tcPr>
                    <a:solidFill>
                      <a:srgbClr val="EFEFEF"/>
                    </a:solidFill>
                  </a:tcPr>
                </a:tc>
                <a:tc>
                  <a:txBody>
                    <a:bodyPr/>
                    <a:lstStyle/>
                    <a:p>
                      <a:pPr algn="ctr"/>
                      <a:r>
                        <a:rPr sz="900" b="0">
                          <a:latin typeface="Montserrat"/>
                        </a:rPr>
                        <a:t>Cirugía de Hernias (Hernioplastía)
(1,173)</a:t>
                      </a:r>
                    </a:p>
                  </a:txBody>
                  <a:tcPr>
                    <a:solidFill>
                      <a:srgbClr val="EFEFEF"/>
                    </a:solidFill>
                  </a:tcPr>
                </a:tc>
                <a:tc>
                  <a:txBody>
                    <a:bodyPr/>
                    <a:lstStyle/>
                    <a:p>
                      <a:pPr algn="ctr"/>
                      <a:r>
                        <a:rPr sz="900" b="0">
                          <a:latin typeface="Montserrat"/>
                        </a:rPr>
                        <a:t>Enfermedades de la vesicula biliar
(1,567)</a:t>
                      </a:r>
                    </a:p>
                  </a:txBody>
                  <a:tcPr>
                    <a:solidFill>
                      <a:srgbClr val="EFEFEF"/>
                    </a:solidFill>
                  </a:tcPr>
                </a:tc>
                <a:tc>
                  <a:txBody>
                    <a:bodyPr/>
                    <a:lstStyle/>
                    <a:p>
                      <a:pPr algn="ctr"/>
                      <a:r>
                        <a:rPr sz="900" b="0">
                          <a:latin typeface="Montserrat"/>
                        </a:rPr>
                        <a:t>Insuficiencia renal
(125)</a:t>
                      </a:r>
                    </a:p>
                  </a:txBody>
                  <a:tcPr>
                    <a:solidFill>
                      <a:srgbClr val="EFEFEF"/>
                    </a:solidFill>
                  </a:tcPr>
                </a:tc>
              </a:tr>
              <a:tr h="489600">
                <a:tc>
                  <a:txBody>
                    <a:bodyPr/>
                    <a:lstStyle/>
                    <a:p>
                      <a:pPr algn="ctr"/>
                      <a:r>
                        <a:rPr sz="900" b="0">
                          <a:latin typeface="Montserrat"/>
                        </a:rPr>
                        <a:t>Enfermedades mentales
(27,911)</a:t>
                      </a:r>
                    </a:p>
                  </a:txBody>
                  <a:tcPr>
                    <a:solidFill>
                      <a:srgbClr val="FFFFFF"/>
                    </a:solidFill>
                  </a:tcPr>
                </a:tc>
                <a:tc>
                  <a:txBody>
                    <a:bodyPr/>
                    <a:lstStyle/>
                    <a:p>
                      <a:pPr algn="ctr"/>
                      <a:r>
                        <a:rPr sz="900" b="0">
                          <a:latin typeface="Montserrat"/>
                        </a:rPr>
                        <a:t>Problemas y enfermedades de la columna vertebral
(15,134)</a:t>
                      </a:r>
                    </a:p>
                  </a:txBody>
                  <a:tcPr>
                    <a:solidFill>
                      <a:srgbClr val="FFFFFF"/>
                    </a:solidFill>
                  </a:tcPr>
                </a:tc>
                <a:tc>
                  <a:txBody>
                    <a:bodyPr/>
                    <a:lstStyle/>
                    <a:p>
                      <a:pPr algn="ctr"/>
                      <a:r>
                        <a:rPr sz="900" b="0">
                          <a:latin typeface="Montserrat"/>
                        </a:rPr>
                        <a:t>Tumores malignos
(864)</a:t>
                      </a:r>
                    </a:p>
                  </a:txBody>
                  <a:tcPr>
                    <a:solidFill>
                      <a:srgbClr val="FFFFFF"/>
                    </a:solidFill>
                  </a:tcPr>
                </a:tc>
                <a:tc>
                  <a:txBody>
                    <a:bodyPr/>
                    <a:lstStyle/>
                    <a:p>
                      <a:pPr algn="ctr"/>
                      <a:r>
                        <a:rPr sz="900" b="0">
                          <a:latin typeface="Montserrat"/>
                        </a:rPr>
                        <a:t>Enfermedades del corazón
(1,545)</a:t>
                      </a:r>
                    </a:p>
                  </a:txBody>
                  <a:tcPr>
                    <a:solidFill>
                      <a:srgbClr val="FFFFFF"/>
                    </a:solidFill>
                  </a:tcPr>
                </a:tc>
                <a:tc>
                  <a:txBody>
                    <a:bodyPr/>
                    <a:lstStyle/>
                    <a:p>
                      <a:pPr algn="ctr"/>
                      <a:r>
                        <a:rPr sz="900" b="0">
                          <a:latin typeface="Montserrat"/>
                        </a:rPr>
                        <a:t>Enfermedades cerebrovasculares
(114)</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327,843</a:t>
                      </a:r>
                    </a:p>
                  </a:txBody>
                  <a:tcPr>
                    <a:solidFill>
                      <a:srgbClr val="FFFFFF"/>
                    </a:solidFill>
                  </a:tcPr>
                </a:tc>
                <a:tc>
                  <a:txBody>
                    <a:bodyPr/>
                    <a:lstStyle/>
                    <a:p>
                      <a:pPr algn="ctr"/>
                      <a:r>
                        <a:rPr sz="1100" b="0">
                          <a:solidFill>
                            <a:srgbClr val="434343"/>
                          </a:solidFill>
                          <a:latin typeface="Montserrat"/>
                        </a:rPr>
                        <a:t>2,418,584</a:t>
                      </a:r>
                    </a:p>
                  </a:txBody>
                  <a:tcPr>
                    <a:solidFill>
                      <a:srgbClr val="FFFFFF"/>
                    </a:solidFill>
                  </a:tcPr>
                </a:tc>
                <a:tc>
                  <a:txBody>
                    <a:bodyPr/>
                    <a:lstStyle/>
                    <a:p>
                      <a:pPr algn="ctr"/>
                      <a:r>
                        <a:rPr sz="1100" b="0">
                          <a:solidFill>
                            <a:srgbClr val="434343"/>
                          </a:solidFill>
                          <a:latin typeface="Montserrat"/>
                        </a:rPr>
                        <a:t>88.1%</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211,768</a:t>
                      </a:r>
                    </a:p>
                  </a:txBody>
                  <a:tcPr>
                    <a:solidFill>
                      <a:srgbClr val="D9D9D9"/>
                    </a:solidFill>
                  </a:tcPr>
                </a:tc>
                <a:tc>
                  <a:txBody>
                    <a:bodyPr/>
                    <a:lstStyle/>
                    <a:p>
                      <a:pPr algn="ctr"/>
                      <a:r>
                        <a:rPr sz="1100" b="1">
                          <a:solidFill>
                            <a:srgbClr val="006455"/>
                          </a:solidFill>
                          <a:latin typeface="Montserrat"/>
                        </a:rPr>
                        <a:t>2,488,396</a:t>
                      </a:r>
                    </a:p>
                  </a:txBody>
                  <a:tcPr>
                    <a:solidFill>
                      <a:srgbClr val="D9D9D9"/>
                    </a:solidFill>
                  </a:tcPr>
                </a:tc>
                <a:tc>
                  <a:txBody>
                    <a:bodyPr/>
                    <a:lstStyle/>
                    <a:p>
                      <a:pPr algn="ctr"/>
                      <a:r>
                        <a:rPr sz="1100" b="1">
                          <a:solidFill>
                            <a:srgbClr val="006455"/>
                          </a:solidFill>
                          <a:latin typeface="Montserrat"/>
                        </a:rPr>
                        <a:t>92.2%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1CF01-BF96-98B2-A6A9-B91705CBB331}"/>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SONORA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6.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925,354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Telmisartán, tableta (antihipertensivo)</a:t>
                      </a:r>
                    </a:p>
                  </a:txBody>
                  <a:tcPr marL="18000" marR="18000" marT="18000" marB="18000" anchor="ctr">
                    <a:solidFill>
                      <a:srgbClr val="FFFFFF"/>
                    </a:solidFill>
                  </a:tcPr>
                </a:tc>
                <a:tc>
                  <a:txBody>
                    <a:bodyPr/>
                    <a:lstStyle/>
                    <a:p>
                      <a:pPr algn="ctr">
                        <a:defRPr sz="900" b="0">
                          <a:solidFill>
                            <a:srgbClr val="333333"/>
                          </a:solidFill>
                          <a:latin typeface="Montserrat"/>
                        </a:defRPr>
                      </a:pPr>
                      <a:r>
                        <a:t>527,049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401,606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337,730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333,736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297,810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291,163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290,987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259,869</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Metoprolol, tableta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251,873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3226513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68626"/>
            <a:ext cx="1599000" cy="71857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3</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5035471"/>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5379058"/>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5449119"/>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Resonancia</a:t>
            </a:r>
          </a:p>
          <a:p>
            <a:pPr algn="ctr"/>
            <a:r>
              <a:rPr lang="en-US" sz="700" b="1" dirty="0" err="1">
                <a:solidFill>
                  <a:srgbClr val="BC955C"/>
                </a:solidFill>
                <a:latin typeface="Montserrat"/>
              </a:rPr>
              <a:t>Magnética</a:t>
            </a:r>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7" name="Table 16"/>
          <p:cNvGraphicFramePr>
            <a:graphicFrameLocks noGrp="1"/>
          </p:cNvGraphicFramePr>
          <p:nvPr/>
        </p:nvGraphicFramePr>
        <p:xfrm>
          <a:off x="1785600" y="1584000"/>
          <a:ext cx="5295600" cy="4320000"/>
        </p:xfrm>
        <a:graphic>
          <a:graphicData uri="http://schemas.openxmlformats.org/drawingml/2006/table">
            <a:tbl>
              <a:tblPr firstRow="1" bandRow="1">
                <a:tableStyleId>{5C22544A-7EE6-4342-B048-85BDC9FD1C3A}</a:tableStyleId>
              </a:tblPr>
              <a:tblGrid>
                <a:gridCol w="4176000"/>
                <a:gridCol w="1119600"/>
              </a:tblGrid>
              <a:tr h="392727">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92727">
                <a:tc>
                  <a:txBody>
                    <a:bodyPr/>
                    <a:lstStyle/>
                    <a:p>
                      <a:pPr algn="l">
                        <a:lnSpc>
                          <a:spcPct val="100000"/>
                        </a:lnSpc>
                      </a:pPr>
                      <a:r>
                        <a:rPr sz="1000">
                          <a:latin typeface="Montserrat"/>
                        </a:rPr>
                        <a:t>Sustitución de UMF No. 67, Ciudad Obregón</a:t>
                      </a:r>
                    </a:p>
                  </a:txBody>
                  <a:tcPr marL="3600" marR="3600" marT="3600" marB="3600">
                    <a:solidFill>
                      <a:srgbClr val="FFFFFF"/>
                    </a:solidFill>
                  </a:tcPr>
                </a:tc>
                <a:tc>
                  <a:txBody>
                    <a:bodyPr/>
                    <a:lstStyle/>
                    <a:p>
                      <a:pPr algn="ctr">
                        <a:lnSpc>
                          <a:spcPct val="100000"/>
                        </a:lnSpc>
                      </a:pPr>
                      <a:r>
                        <a:rPr sz="1000">
                          <a:latin typeface="Montserrat"/>
                        </a:rPr>
                        <a:t>$234.2</a:t>
                      </a:r>
                    </a:p>
                  </a:txBody>
                  <a:tcPr marL="3600" marR="3600" marT="3600" marB="3600">
                    <a:solidFill>
                      <a:srgbClr val="FFFFFF"/>
                    </a:solidFill>
                  </a:tcPr>
                </a:tc>
              </a:tr>
              <a:tr h="392727">
                <a:tc>
                  <a:txBody>
                    <a:bodyPr/>
                    <a:lstStyle/>
                    <a:p>
                      <a:pPr algn="l">
                        <a:lnSpc>
                          <a:spcPct val="100000"/>
                        </a:lnSpc>
                      </a:pPr>
                      <a:r>
                        <a:rPr sz="1000">
                          <a:latin typeface="Montserrat"/>
                        </a:rPr>
                        <a:t>Centro de Simulación para Formación de Especialistas, Hermosillo</a:t>
                      </a:r>
                    </a:p>
                  </a:txBody>
                  <a:tcPr marL="3600" marR="3600" marT="3600" marB="3600">
                    <a:solidFill>
                      <a:srgbClr val="D9D9D9"/>
                    </a:solidFill>
                  </a:tcPr>
                </a:tc>
                <a:tc>
                  <a:txBody>
                    <a:bodyPr/>
                    <a:lstStyle/>
                    <a:p>
                      <a:pPr algn="ctr">
                        <a:lnSpc>
                          <a:spcPct val="100000"/>
                        </a:lnSpc>
                      </a:pPr>
                      <a:r>
                        <a:rPr sz="1000">
                          <a:latin typeface="Montserrat"/>
                        </a:rPr>
                        <a:t>$139.0</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y proyecto ejecutivo para el HGZ de 120 camas, San Luis Río Colorado</a:t>
                      </a:r>
                    </a:p>
                  </a:txBody>
                  <a:tcPr marL="3600" marR="3600" marT="3600" marB="3600">
                    <a:solidFill>
                      <a:srgbClr val="FFFFFF"/>
                    </a:solidFill>
                  </a:tcPr>
                </a:tc>
                <a:tc>
                  <a:txBody>
                    <a:bodyPr/>
                    <a:lstStyle/>
                    <a:p>
                      <a:pPr algn="ctr">
                        <a:lnSpc>
                          <a:spcPct val="100000"/>
                        </a:lnSpc>
                      </a:pPr>
                      <a:r>
                        <a:rPr sz="1000">
                          <a:latin typeface="Montserrat"/>
                        </a:rPr>
                        <a:t>$85.5</a:t>
                      </a:r>
                    </a:p>
                  </a:txBody>
                  <a:tcPr marL="3600" marR="3600" marT="3600" marB="3600">
                    <a:solidFill>
                      <a:srgbClr val="FFFFFF"/>
                    </a:solidFill>
                  </a:tcPr>
                </a:tc>
              </a:tr>
              <a:tr h="392727">
                <a:tc>
                  <a:txBody>
                    <a:bodyPr/>
                    <a:lstStyle/>
                    <a:p>
                      <a:pPr algn="l">
                        <a:lnSpc>
                          <a:spcPct val="100000"/>
                        </a:lnSpc>
                      </a:pPr>
                      <a:r>
                        <a:rPr sz="1000">
                          <a:latin typeface="Montserrat"/>
                        </a:rPr>
                        <a:t>UMF No. 51, 2 Consultorio con AMC, Puerto Libertad</a:t>
                      </a:r>
                    </a:p>
                  </a:txBody>
                  <a:tcPr marL="3600" marR="3600" marT="3600" marB="3600">
                    <a:solidFill>
                      <a:srgbClr val="D9D9D9"/>
                    </a:solidFill>
                  </a:tcPr>
                </a:tc>
                <a:tc>
                  <a:txBody>
                    <a:bodyPr/>
                    <a:lstStyle/>
                    <a:p>
                      <a:pPr algn="ctr">
                        <a:lnSpc>
                          <a:spcPct val="100000"/>
                        </a:lnSpc>
                      </a:pPr>
                      <a:r>
                        <a:rPr sz="1000">
                          <a:latin typeface="Montserrat"/>
                        </a:rPr>
                        <a:t>$36.6</a:t>
                      </a:r>
                    </a:p>
                  </a:txBody>
                  <a:tcPr marL="3600" marR="3600" marT="3600" marB="3600">
                    <a:solidFill>
                      <a:srgbClr val="D9D9D9"/>
                    </a:solidFill>
                  </a:tcPr>
                </a:tc>
              </a:tr>
              <a:tr h="392727">
                <a:tc>
                  <a:txBody>
                    <a:bodyPr/>
                    <a:lstStyle/>
                    <a:p>
                      <a:pPr algn="l">
                        <a:lnSpc>
                          <a:spcPct val="100000"/>
                        </a:lnSpc>
                      </a:pPr>
                      <a:r>
                        <a:rPr sz="1000">
                          <a:latin typeface="Montserrat"/>
                        </a:rPr>
                        <a:t>Nueva Sala de Hemodinamia en el HGZ 14 Hermosillo</a:t>
                      </a:r>
                    </a:p>
                  </a:txBody>
                  <a:tcPr marL="3600" marR="3600" marT="3600" marB="3600">
                    <a:solidFill>
                      <a:srgbClr val="FFFFFF"/>
                    </a:solidFill>
                  </a:tcPr>
                </a:tc>
                <a:tc>
                  <a:txBody>
                    <a:bodyPr/>
                    <a:lstStyle/>
                    <a:p>
                      <a:pPr algn="ctr">
                        <a:lnSpc>
                          <a:spcPct val="100000"/>
                        </a:lnSpc>
                      </a:pPr>
                      <a:r>
                        <a:rPr sz="1000">
                          <a:latin typeface="Montserrat"/>
                        </a:rPr>
                        <a:t>$36.0</a:t>
                      </a:r>
                    </a:p>
                  </a:txBody>
                  <a:tcPr marL="3600" marR="3600" marT="3600" marB="3600">
                    <a:solidFill>
                      <a:srgbClr val="FFFFFF"/>
                    </a:solidFill>
                  </a:tcPr>
                </a:tc>
              </a:tr>
              <a:tr h="392727">
                <a:tc>
                  <a:txBody>
                    <a:bodyPr/>
                    <a:lstStyle/>
                    <a:p>
                      <a:pPr algn="l">
                        <a:lnSpc>
                          <a:spcPct val="100000"/>
                        </a:lnSpc>
                      </a:pPr>
                      <a:r>
                        <a:rPr sz="1000">
                          <a:latin typeface="Montserrat"/>
                        </a:rPr>
                        <a:t>Remodelación y ampliación de la UMF No. 55, Cananea</a:t>
                      </a:r>
                    </a:p>
                  </a:txBody>
                  <a:tcPr marL="3600" marR="3600" marT="3600" marB="3600">
                    <a:solidFill>
                      <a:srgbClr val="D9D9D9"/>
                    </a:solidFill>
                  </a:tcPr>
                </a:tc>
                <a:tc>
                  <a:txBody>
                    <a:bodyPr/>
                    <a:lstStyle/>
                    <a:p>
                      <a:pPr algn="ctr">
                        <a:lnSpc>
                          <a:spcPct val="100000"/>
                        </a:lnSpc>
                      </a:pPr>
                      <a:r>
                        <a:rPr sz="1000">
                          <a:latin typeface="Montserrat"/>
                        </a:rPr>
                        <a:t>$34.9</a:t>
                      </a:r>
                    </a:p>
                  </a:txBody>
                  <a:tcPr marL="3600" marR="3600" marT="3600" marB="3600">
                    <a:solidFill>
                      <a:srgbClr val="D9D9D9"/>
                    </a:solidFill>
                  </a:tcPr>
                </a:tc>
              </a:tr>
              <a:tr h="392727">
                <a:tc>
                  <a:txBody>
                    <a:bodyPr/>
                    <a:lstStyle/>
                    <a:p>
                      <a:pPr algn="l">
                        <a:lnSpc>
                          <a:spcPct val="100000"/>
                        </a:lnSpc>
                      </a:pPr>
                      <a:r>
                        <a:rPr sz="1000">
                          <a:latin typeface="Montserrat"/>
                        </a:rPr>
                        <a:t>Ampliación y remodelación del área de Quirófanos del HGSZ/MF No. 12, Agua Prieta</a:t>
                      </a:r>
                    </a:p>
                  </a:txBody>
                  <a:tcPr marL="3600" marR="3600" marT="3600" marB="3600">
                    <a:solidFill>
                      <a:srgbClr val="FFFFFF"/>
                    </a:solidFill>
                  </a:tcPr>
                </a:tc>
                <a:tc>
                  <a:txBody>
                    <a:bodyPr/>
                    <a:lstStyle/>
                    <a:p>
                      <a:pPr algn="ctr">
                        <a:lnSpc>
                          <a:spcPct val="100000"/>
                        </a:lnSpc>
                      </a:pPr>
                      <a:r>
                        <a:rPr sz="1000">
                          <a:latin typeface="Montserrat"/>
                        </a:rPr>
                        <a:t>$34.8</a:t>
                      </a:r>
                    </a:p>
                  </a:txBody>
                  <a:tcPr marL="3600" marR="3600" marT="3600" marB="3600">
                    <a:solidFill>
                      <a:srgbClr val="FFFFFF"/>
                    </a:solidFill>
                  </a:tcPr>
                </a:tc>
              </a:tr>
              <a:tr h="392727">
                <a:tc>
                  <a:txBody>
                    <a:bodyPr/>
                    <a:lstStyle/>
                    <a:p>
                      <a:pPr algn="l">
                        <a:lnSpc>
                          <a:spcPct val="100000"/>
                        </a:lnSpc>
                      </a:pPr>
                      <a:r>
                        <a:rPr sz="1000">
                          <a:latin typeface="Montserrat"/>
                        </a:rPr>
                        <a:t>Ampliación de la UMF No. 38, 4 consultorios, San Luis Río Colorado</a:t>
                      </a:r>
                    </a:p>
                  </a:txBody>
                  <a:tcPr marL="3600" marR="3600" marT="3600" marB="3600">
                    <a:solidFill>
                      <a:srgbClr val="D9D9D9"/>
                    </a:solidFill>
                  </a:tcPr>
                </a:tc>
                <a:tc>
                  <a:txBody>
                    <a:bodyPr/>
                    <a:lstStyle/>
                    <a:p>
                      <a:pPr algn="ctr">
                        <a:lnSpc>
                          <a:spcPct val="100000"/>
                        </a:lnSpc>
                      </a:pPr>
                      <a:r>
                        <a:rPr sz="1000">
                          <a:latin typeface="Montserrat"/>
                        </a:rPr>
                        <a:t>$30.3</a:t>
                      </a:r>
                    </a:p>
                  </a:txBody>
                  <a:tcPr marL="3600" marR="3600" marT="3600" marB="3600">
                    <a:solidFill>
                      <a:srgbClr val="D9D9D9"/>
                    </a:solidFill>
                  </a:tcPr>
                </a:tc>
              </a:tr>
              <a:tr h="392727">
                <a:tc>
                  <a:txBody>
                    <a:bodyPr/>
                    <a:lstStyle/>
                    <a:p>
                      <a:pPr algn="l">
                        <a:lnSpc>
                          <a:spcPct val="100000"/>
                        </a:lnSpc>
                      </a:pPr>
                      <a:r>
                        <a:rPr sz="1000">
                          <a:latin typeface="Montserrat"/>
                        </a:rPr>
                        <a:t>Estudios de Preinversión para el HGZ de 120 camas, Guaymas</a:t>
                      </a:r>
                    </a:p>
                  </a:txBody>
                  <a:tcPr marL="3600" marR="3600" marT="3600" marB="3600">
                    <a:solidFill>
                      <a:srgbClr val="FFFFFF"/>
                    </a:solidFill>
                  </a:tcPr>
                </a:tc>
                <a:tc>
                  <a:txBody>
                    <a:bodyPr/>
                    <a:lstStyle/>
                    <a:p>
                      <a:pPr algn="ctr">
                        <a:lnSpc>
                          <a:spcPct val="100000"/>
                        </a:lnSpc>
                      </a:pPr>
                      <a:r>
                        <a:rPr sz="1000">
                          <a:latin typeface="Montserrat"/>
                        </a:rPr>
                        <a:t>$20.9</a:t>
                      </a:r>
                    </a:p>
                  </a:txBody>
                  <a:tcPr marL="3600" marR="3600" marT="3600" marB="3600">
                    <a:solidFill>
                      <a:srgbClr val="FFFFFF"/>
                    </a:solidFill>
                  </a:tcPr>
                </a:tc>
              </a:tr>
              <a:tr h="39273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$652.2</a:t>
                      </a:r>
                    </a:p>
                  </a:txBody>
                  <a:tcPr marL="3600" marR="3600" marT="3600" marB="3600">
                    <a:solidFill>
                      <a:srgbClr val="ECE1D2"/>
                    </a:solidFill>
                  </a:tcPr>
                </a:tc>
              </a:tr>
            </a:tbl>
          </a:graphicData>
        </a:graphic>
      </p:graphicFrame>
      <p:graphicFrame>
        <p:nvGraphicFramePr>
          <p:cNvPr id="18" name="Table 17"/>
          <p:cNvGraphicFramePr>
            <a:graphicFrameLocks noGrp="1"/>
          </p:cNvGraphicFramePr>
          <p:nvPr/>
        </p:nvGraphicFramePr>
        <p:xfrm>
          <a:off x="1785600" y="6084000"/>
          <a:ext cx="5295600" cy="45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$780.5</a:t>
                      </a:r>
                    </a:p>
                  </a:txBody>
                  <a:tcPr marL="3600" marR="3600" marT="3600" marB="3600">
                    <a:solidFill>
                      <a:srgbClr val="FFFFFF"/>
                    </a:solidFill>
                  </a:tcPr>
                </a:tc>
              </a:tr>
              <a:tr h="450000">
                <a:tc>
                  <a:txBody>
                    <a:bodyPr/>
                    <a:lstStyle/>
                    <a:p>
                      <a:pPr algn="l">
                        <a:lnSpc>
                          <a:spcPct val="100000"/>
                        </a:lnSpc>
                      </a:pPr>
                      <a:r>
                        <a:rPr sz="1000">
                          <a:latin typeface="Montserrat"/>
                        </a:rPr>
                        <a:t>Remodelación y mejora de imagen en el HGZ No. 3 Navojoa</a:t>
                      </a:r>
                    </a:p>
                  </a:txBody>
                  <a:tcPr marL="3600" marR="3600" marT="3600" marB="3600">
                    <a:solidFill>
                      <a:srgbClr val="D9D9D9"/>
                    </a:solidFill>
                  </a:tcPr>
                </a:tc>
                <a:tc>
                  <a:txBody>
                    <a:bodyPr/>
                    <a:lstStyle/>
                    <a:p>
                      <a:pPr algn="ctr">
                        <a:lnSpc>
                          <a:spcPct val="100000"/>
                        </a:lnSpc>
                      </a:pPr>
                      <a:r>
                        <a:rPr sz="1000">
                          <a:latin typeface="Montserrat"/>
                        </a:rPr>
                        <a:t>$103.1</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residencias médicas en 8 unidades (H. de Especialidades No.2 Obregón, HGSZ No.54, HGSZ No.6, HGZ No.4, Guaymas; HGZ No.5 Nogales, HGR No.1 Cajeme, HGP Hermosillo, UMF No.5 Nogales)</a:t>
                      </a:r>
                    </a:p>
                  </a:txBody>
                  <a:tcPr marL="3600" marR="3600" marT="3600" marB="3600">
                    <a:solidFill>
                      <a:srgbClr val="FFFFFF"/>
                    </a:solidFill>
                  </a:tcPr>
                </a:tc>
                <a:tc>
                  <a:txBody>
                    <a:bodyPr/>
                    <a:lstStyle/>
                    <a:p>
                      <a:pPr algn="ctr">
                        <a:lnSpc>
                          <a:spcPct val="100000"/>
                        </a:lnSpc>
                      </a:pPr>
                      <a:r>
                        <a:rPr sz="1000">
                          <a:latin typeface="Montserrat"/>
                        </a:rPr>
                        <a:t>$58.3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terapia intensiva en 3 unidades (UMAE HE No.2, HGR No.1 Cajeme; HGZ No.14 Hermosillo)</a:t>
                      </a:r>
                    </a:p>
                  </a:txBody>
                  <a:tcPr marL="3600" marR="3600" marT="3600" marB="3600">
                    <a:solidFill>
                      <a:srgbClr val="D9D9D9"/>
                    </a:solidFill>
                  </a:tcPr>
                </a:tc>
                <a:tc>
                  <a:txBody>
                    <a:bodyPr/>
                    <a:lstStyle/>
                    <a:p>
                      <a:pPr algn="ctr">
                        <a:lnSpc>
                          <a:spcPct val="100000"/>
                        </a:lnSpc>
                      </a:pPr>
                      <a:r>
                        <a:rPr sz="1000">
                          <a:latin typeface="Montserrat"/>
                        </a:rPr>
                        <a:t>$27.9</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mejora en subdelegaciones en Caborca y Hermosillo</a:t>
                      </a:r>
                    </a:p>
                  </a:txBody>
                  <a:tcPr marL="3600" marR="3600" marT="3600" marB="3600">
                    <a:solidFill>
                      <a:srgbClr val="FFFFFF"/>
                    </a:solidFill>
                  </a:tcPr>
                </a:tc>
                <a:tc>
                  <a:txBody>
                    <a:bodyPr/>
                    <a:lstStyle/>
                    <a:p>
                      <a:pPr algn="ctr">
                        <a:lnSpc>
                          <a:spcPct val="100000"/>
                        </a:lnSpc>
                      </a:pPr>
                      <a:r>
                        <a:rPr sz="1000">
                          <a:latin typeface="Montserrat"/>
                        </a:rPr>
                        <a:t>$11.2</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accesibilidad (rampas) en 21 unidades, Sonora</a:t>
                      </a:r>
                    </a:p>
                  </a:txBody>
                  <a:tcPr marL="3600" marR="3600" marT="3600" marB="3600">
                    <a:solidFill>
                      <a:srgbClr val="D9D9D9"/>
                    </a:solidFill>
                  </a:tcPr>
                </a:tc>
                <a:tc>
                  <a:txBody>
                    <a:bodyPr/>
                    <a:lstStyle/>
                    <a:p>
                      <a:pPr algn="ctr">
                        <a:lnSpc>
                          <a:spcPct val="100000"/>
                        </a:lnSpc>
                      </a:pPr>
                      <a:r>
                        <a:rPr sz="1000">
                          <a:latin typeface="Montserrat"/>
                        </a:rPr>
                        <a:t>$9.3</a:t>
                      </a:r>
                    </a:p>
                  </a:txBody>
                  <a:tcPr marL="3600" marR="3600" marT="3600" marB="3600">
                    <a:solidFill>
                      <a:srgbClr val="D9D9D9"/>
                    </a:solidFill>
                  </a:tcPr>
                </a:tc>
              </a:tr>
              <a:tr h="450000">
                <a:tc>
                  <a:txBody>
                    <a:bodyPr/>
                    <a:lstStyle/>
                    <a:p>
                      <a:pPr algn="l">
                        <a:lnSpc>
                          <a:spcPct val="100000"/>
                        </a:lnSpc>
                      </a:pPr>
                      <a:r>
                        <a:rPr sz="1000">
                          <a:latin typeface="Montserrat"/>
                        </a:rPr>
                        <a:t>Intervención en áreas de hemodiálisis interna en HGSZ No.54 Empalme y HGZ No. 8 Caborca</a:t>
                      </a:r>
                    </a:p>
                  </a:txBody>
                  <a:tcPr marL="3600" marR="3600" marT="3600" marB="3600">
                    <a:solidFill>
                      <a:srgbClr val="FFFFFF"/>
                    </a:solidFill>
                  </a:tcPr>
                </a:tc>
                <a:tc>
                  <a:txBody>
                    <a:bodyPr/>
                    <a:lstStyle/>
                    <a:p>
                      <a:pPr algn="ctr">
                        <a:lnSpc>
                          <a:spcPct val="100000"/>
                        </a:lnSpc>
                      </a:pPr>
                      <a:r>
                        <a:rPr sz="1000">
                          <a:latin typeface="Montserrat"/>
                        </a:rPr>
                        <a:t>$3.3</a:t>
                      </a:r>
                    </a:p>
                  </a:txBody>
                  <a:tcPr marL="3600" marR="3600" marT="3600" marB="3600">
                    <a:solidFill>
                      <a:srgbClr val="FFFFFF"/>
                    </a:solidFill>
                  </a:tcPr>
                </a:tc>
              </a:tr>
              <a:tr h="450000">
                <a:tc>
                  <a:txBody>
                    <a:bodyPr/>
                    <a:lstStyle/>
                    <a:p>
                      <a:pPr algn="l">
                        <a:lnSpc>
                          <a:spcPct val="100000"/>
                        </a:lnSpc>
                      </a:pPr>
                      <a:r>
                        <a:rPr sz="1000">
                          <a:latin typeface="Montserrat"/>
                        </a:rPr>
                        <a:t>Intervención en áreas de salud mental en HGR No. 1 Cajeme</a:t>
                      </a:r>
                    </a:p>
                  </a:txBody>
                  <a:tcPr marL="3600" marR="3600" marT="3600" marB="3600">
                    <a:solidFill>
                      <a:srgbClr val="D9D9D9"/>
                    </a:solidFill>
                  </a:tcPr>
                </a:tc>
                <a:tc>
                  <a:txBody>
                    <a:bodyPr/>
                    <a:lstStyle/>
                    <a:p>
                      <a:pPr algn="ctr">
                        <a:lnSpc>
                          <a:spcPct val="100000"/>
                        </a:lnSpc>
                      </a:pPr>
                      <a:r>
                        <a:rPr sz="1000">
                          <a:latin typeface="Montserrat"/>
                        </a:rPr>
                        <a:t>$2.6</a:t>
                      </a:r>
                    </a:p>
                  </a:txBody>
                  <a:tcPr marL="3600" marR="3600" marT="3600" marB="3600">
                    <a:solidFill>
                      <a:srgbClr val="D9D9D9"/>
                    </a:solidFill>
                  </a:tcPr>
                </a:tc>
              </a:tr>
              <a:tr h="450000">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$996.2</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10764000"/>
          <a:ext cx="5295600" cy="1980000"/>
        </p:xfrm>
        <a:graphic>
          <a:graphicData uri="http://schemas.openxmlformats.org/drawingml/2006/table">
            <a:tbl>
              <a:tblPr firstRow="1" bandRow="1">
                <a:tableStyleId>{5C22544A-7EE6-4342-B048-85BDC9FD1C3A}</a:tableStyleId>
              </a:tblPr>
              <a:tblGrid>
                <a:gridCol w="4176000"/>
                <a:gridCol w="1119600"/>
              </a:tblGrid>
              <a:tr h="99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990000">
                <a:tc>
                  <a:txBody>
                    <a:bodyPr/>
                    <a:lstStyle/>
                    <a:p>
                      <a:pPr algn="l">
                        <a:lnSpc>
                          <a:spcPct val="100000"/>
                        </a:lnSpc>
                      </a:pPr>
                      <a:r>
                        <a:rPr sz="1000">
                          <a:latin typeface="Montserrat"/>
                        </a:rPr>
                        <a:t>Adquisición de 45 piezas de equipo médico: 2 congeladores horizontales de refrigerantes para vacunas, 6 refrigeradores para vacunas, 7 refrigeradores congeladores de 5.4 pies cúbicos, 1 barrera de cristal de plomo, 12 blindajes para protección de rayos gamma en fuente abierta, 1 calibrador de dosis de radioisótopos, 1 cofre de plomo, 7 monitores de radiación de pared, 1 monitor de signos vitales para el traslado del paciente (con protección antimagnética), 1 unidad de anestesia básica (con prote</a:t>
                      </a:r>
                    </a:p>
                  </a:txBody>
                  <a:tcPr marL="3600" marR="3600" marT="3600" marB="3600">
                    <a:solidFill>
                      <a:srgbClr val="FFFFFF"/>
                    </a:solidFill>
                  </a:tcPr>
                </a:tc>
                <a:tc>
                  <a:txBody>
                    <a:bodyPr/>
                    <a:lstStyle/>
                    <a:p>
                      <a:pPr algn="ctr">
                        <a:lnSpc>
                          <a:spcPct val="100000"/>
                        </a:lnSpc>
                      </a:pPr>
                      <a:r>
                        <a:rPr sz="1000">
                          <a:latin typeface="Montserrat"/>
                        </a:rPr>
                        <a:t>$88.4</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129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$15.0</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1,751.8</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154552"/>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2</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Hospitales</a:t>
            </a:r>
            <a:endParaRPr lang="en-US" sz="800" b="1" i="0" u="none" strike="noStrike">
              <a:solidFill>
                <a:srgbClr val="A42145"/>
              </a:solidFill>
              <a:latin typeface="Montserrat"/>
              <a:ea typeface="Montserrat"/>
              <a:cs typeface="Montserrat"/>
            </a:endParaRPr>
          </a:p>
        </p:txBody>
      </p:sp>
      <p:pic>
        <p:nvPicPr>
          <p:cNvPr id="8" name="Imagen 7" descr="Forma, Círculo&#10;&#10;El contenido generado por IA puede ser incorrecto.">
            <a:extLst>
              <a:ext uri="{FF2B5EF4-FFF2-40B4-BE49-F238E27FC236}">
                <a16:creationId xmlns:a16="http://schemas.microsoft.com/office/drawing/2014/main" id="{4F2E1097-3694-6090-CBA5-667DCD67E48E}"/>
              </a:ext>
            </a:extLst>
          </p:cNvPr>
          <p:cNvPicPr>
            <a:picLocks noChangeAspect="1"/>
          </p:cNvPicPr>
          <p:nvPr/>
        </p:nvPicPr>
        <p:blipFill>
          <a:blip r:embed="rId5"/>
          <a:stretch>
            <a:fillRect/>
          </a:stretch>
        </p:blipFill>
        <p:spPr>
          <a:xfrm>
            <a:off x="269463" y="2938439"/>
            <a:ext cx="872667" cy="849944"/>
          </a:xfrm>
          <a:prstGeom prst="rect">
            <a:avLst/>
          </a:prstGeom>
        </p:spPr>
      </p:pic>
      <p:sp>
        <p:nvSpPr>
          <p:cNvPr id="9" name="CuadroTexto 11">
            <a:extLst>
              <a:ext uri="{FF2B5EF4-FFF2-40B4-BE49-F238E27FC236}">
                <a16:creationId xmlns:a16="http://schemas.microsoft.com/office/drawing/2014/main" id="{907F7F6F-8FF8-56A0-795F-B2A127C97D4D}"/>
              </a:ext>
            </a:extLst>
          </p:cNvPr>
          <p:cNvSpPr txBox="1"/>
          <p:nvPr/>
        </p:nvSpPr>
        <p:spPr>
          <a:xfrm>
            <a:off x="-1233656" y="3013910"/>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rPr>
              <a:t>Hospital de </a:t>
            </a:r>
          </a:p>
          <a:p>
            <a:pPr algn="ctr"/>
            <a:r>
              <a:rPr lang="en-US" sz="800" b="1" dirty="0" err="1">
                <a:solidFill>
                  <a:srgbClr val="A42145"/>
                </a:solidFill>
                <a:latin typeface="Montserrat"/>
              </a:rPr>
              <a:t>Rescate</a:t>
            </a:r>
          </a:p>
        </p:txBody>
      </p:sp>
      <p:sp>
        <p:nvSpPr>
          <p:cNvPr id="10" name="TextBox 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11" name="Table 10"/>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23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23998">
                <a:tc>
                  <a:txBody>
                    <a:bodyPr/>
                    <a:lstStyle/>
                    <a:p>
                      <a:pPr algn="l">
                        <a:lnSpc>
                          <a:spcPct val="100000"/>
                        </a:lnSpc>
                      </a:pPr>
                      <a:r>
                        <a:rPr sz="1000">
                          <a:latin typeface="Montserrat"/>
                        </a:rPr>
                        <a:t>Hospital General de Zona Guaymas</a:t>
                      </a:r>
                    </a:p>
                  </a:txBody>
                  <a:tcPr marL="3600" marR="3600" marT="3600" marB="3600">
                    <a:solidFill>
                      <a:srgbClr val="FFFFFF"/>
                    </a:solidFill>
                  </a:tcPr>
                </a:tc>
                <a:tc>
                  <a:txBody>
                    <a:bodyPr/>
                    <a:lstStyle/>
                    <a:p>
                      <a:pPr algn="ctr">
                        <a:lnSpc>
                          <a:spcPct val="100000"/>
                        </a:lnSpc>
                      </a:pPr>
                      <a:r>
                        <a:rPr sz="1000">
                          <a:latin typeface="Montserrat"/>
                        </a:rPr>
                        <a:t>$2,710.0</a:t>
                      </a:r>
                    </a:p>
                  </a:txBody>
                  <a:tcPr marL="3600" marR="3600" marT="3600" marB="3600">
                    <a:solidFill>
                      <a:srgbClr val="FFFFFF"/>
                    </a:solidFill>
                  </a:tcPr>
                </a:tc>
              </a:tr>
              <a:tr h="323998">
                <a:tc>
                  <a:txBody>
                    <a:bodyPr/>
                    <a:lstStyle/>
                    <a:p>
                      <a:pPr algn="l">
                        <a:lnSpc>
                          <a:spcPct val="100000"/>
                        </a:lnSpc>
                      </a:pPr>
                      <a:r>
                        <a:rPr sz="1000">
                          <a:latin typeface="Montserrat"/>
                        </a:rPr>
                        <a:t>Hospital General de Zona San Luis Rio Colorado</a:t>
                      </a:r>
                    </a:p>
                  </a:txBody>
                  <a:tcPr marL="3600" marR="3600" marT="3600" marB="3600">
                    <a:solidFill>
                      <a:srgbClr val="D9D9D9"/>
                    </a:solidFill>
                  </a:tcPr>
                </a:tc>
                <a:tc>
                  <a:txBody>
                    <a:bodyPr/>
                    <a:lstStyle/>
                    <a:p>
                      <a:pPr algn="ctr">
                        <a:lnSpc>
                          <a:spcPct val="100000"/>
                        </a:lnSpc>
                      </a:pPr>
                      <a:r>
                        <a:rPr sz="1000">
                          <a:latin typeface="Montserrat"/>
                        </a:rPr>
                        <a:t>$2,171.9</a:t>
                      </a:r>
                    </a:p>
                  </a:txBody>
                  <a:tcPr marL="3600" marR="3600" marT="3600" marB="3600">
                    <a:solidFill>
                      <a:srgbClr val="D9D9D9"/>
                    </a:solidFill>
                  </a:tcPr>
                </a:tc>
              </a:tr>
              <a:tr h="323998">
                <a:tc>
                  <a:txBody>
                    <a:bodyPr/>
                    <a:lstStyle/>
                    <a:p>
                      <a:pPr algn="l">
                        <a:lnSpc>
                          <a:spcPct val="100000"/>
                        </a:lnSpc>
                      </a:pPr>
                      <a:r>
                        <a:rPr sz="1000">
                          <a:latin typeface="Montserrat"/>
                        </a:rPr>
                        <a:t>Hospital General de Zona Navojoa</a:t>
                      </a:r>
                    </a:p>
                  </a:txBody>
                  <a:tcPr marL="3600" marR="3600" marT="3600" marB="3600">
                    <a:solidFill>
                      <a:srgbClr val="FFFFFF"/>
                    </a:solidFill>
                  </a:tcPr>
                </a:tc>
                <a:tc>
                  <a:txBody>
                    <a:bodyPr/>
                    <a:lstStyle/>
                    <a:p>
                      <a:pPr algn="ctr">
                        <a:lnSpc>
                          <a:spcPct val="100000"/>
                        </a:lnSpc>
                      </a:pPr>
                      <a:r>
                        <a:rPr sz="1000">
                          <a:latin typeface="Montserrat"/>
                        </a:rPr>
                        <a:t>$1,548.2</a:t>
                      </a:r>
                    </a:p>
                  </a:txBody>
                  <a:tcPr marL="3600" marR="3600" marT="3600" marB="3600">
                    <a:solidFill>
                      <a:srgbClr val="FFFFFF"/>
                    </a:solidFill>
                  </a:tcPr>
                </a:tc>
              </a:tr>
              <a:tr h="323998">
                <a:tc>
                  <a:txBody>
                    <a:bodyPr/>
                    <a:lstStyle/>
                    <a:p>
                      <a:pPr algn="l">
                        <a:lnSpc>
                          <a:spcPct val="100000"/>
                        </a:lnSpc>
                      </a:pPr>
                      <a:r>
                        <a:rPr sz="1000">
                          <a:latin typeface="Montserrat"/>
                        </a:rPr>
                        <a:t>Centro de Simulación para la Excelencia Clínica y Quirúrgica Norte, en Sonora</a:t>
                      </a:r>
                    </a:p>
                  </a:txBody>
                  <a:tcPr marL="3600" marR="3600" marT="3600" marB="3600">
                    <a:solidFill>
                      <a:srgbClr val="D9D9D9"/>
                    </a:solidFill>
                  </a:tcPr>
                </a:tc>
                <a:tc>
                  <a:txBody>
                    <a:bodyPr/>
                    <a:lstStyle/>
                    <a:p>
                      <a:pPr algn="ctr">
                        <a:lnSpc>
                          <a:spcPct val="100000"/>
                        </a:lnSpc>
                      </a:pPr>
                      <a:r>
                        <a:rPr sz="1000">
                          <a:latin typeface="Montserrat"/>
                        </a:rPr>
                        <a:t>$152.1</a:t>
                      </a:r>
                    </a:p>
                  </a:txBody>
                  <a:tcPr marL="3600" marR="3600" marT="3600" marB="3600">
                    <a:solidFill>
                      <a:srgbClr val="D9D9D9"/>
                    </a:solidFill>
                  </a:tcPr>
                </a:tc>
              </a:tr>
              <a:tr h="323998">
                <a:tc>
                  <a:txBody>
                    <a:bodyPr/>
                    <a:lstStyle/>
                    <a:p>
                      <a:pPr algn="l">
                        <a:lnSpc>
                          <a:spcPct val="100000"/>
                        </a:lnSpc>
                      </a:pPr>
                      <a:r>
                        <a:rPr sz="1000">
                          <a:latin typeface="Montserrat"/>
                        </a:rPr>
                        <a:t>Construcción de área para residencias médicas de la UMAE, HE No. 2 en Ciudad Obregón Sonora, Sonora.</a:t>
                      </a:r>
                    </a:p>
                  </a:txBody>
                  <a:tcPr marL="3600" marR="3600" marT="3600" marB="3600">
                    <a:solidFill>
                      <a:srgbClr val="FFFFFF"/>
                    </a:solidFill>
                  </a:tcPr>
                </a:tc>
                <a:tc>
                  <a:txBody>
                    <a:bodyPr/>
                    <a:lstStyle/>
                    <a:p>
                      <a:pPr algn="ctr">
                        <a:lnSpc>
                          <a:spcPct val="100000"/>
                        </a:lnSpc>
                      </a:pPr>
                      <a:r>
                        <a:rPr sz="1000">
                          <a:latin typeface="Montserrat"/>
                        </a:rPr>
                        <a:t>$57.7</a:t>
                      </a:r>
                    </a:p>
                  </a:txBody>
                  <a:tcPr marL="3600" marR="3600" marT="3600" marB="3600">
                    <a:solidFill>
                      <a:srgbClr val="FFFFFF"/>
                    </a:solidFill>
                  </a:tcPr>
                </a:tc>
              </a:tr>
              <a:tr h="324003">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$6,639.9</a:t>
                      </a:r>
                    </a:p>
                  </a:txBody>
                  <a:tcPr marL="3600" marR="3600" marT="3600" marB="3600">
                    <a:solidFill>
                      <a:srgbClr val="9F2241"/>
                    </a:solidFill>
                  </a:tcPr>
                </a:tc>
              </a:tr>
            </a:tbl>
          </a:graphicData>
        </a:graphic>
      </p:graphicFrame>
      <p:graphicFrame>
        <p:nvGraphicFramePr>
          <p:cNvPr id="12" name="Table 11"/>
          <p:cNvGraphicFramePr>
            <a:graphicFrameLocks noGrp="1"/>
          </p:cNvGraphicFramePr>
          <p:nvPr/>
        </p:nvGraphicFramePr>
        <p:xfrm>
          <a:off x="1785600" y="4031991"/>
          <a:ext cx="5396400" cy="1259995"/>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HGZ No. 15 “Dr. Ernesto Ramos Bours” Hermosillo, Sonora</a:t>
                      </a:r>
                    </a:p>
                  </a:txBody>
                  <a:tcPr marL="3600" marR="3600" marT="3600" marB="3600">
                    <a:solidFill>
                      <a:srgbClr val="FFFFFF"/>
                    </a:solidFill>
                  </a:tcPr>
                </a:tc>
                <a:tc>
                  <a:txBody>
                    <a:bodyPr/>
                    <a:lstStyle/>
                    <a:p>
                      <a:pPr algn="ctr">
                        <a:lnSpc>
                          <a:spcPct val="100000"/>
                        </a:lnSpc>
                      </a:pPr>
                      <a:r>
                        <a:rPr sz="1000">
                          <a:latin typeface="Montserrat"/>
                        </a:rPr>
                        <a:t>$1,029.4</a:t>
                      </a:r>
                    </a:p>
                  </a:txBody>
                  <a:tcPr marL="3600" marR="3600" marT="3600" marB="3600">
                    <a:solidFill>
                      <a:srgbClr val="FFFFFF"/>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D9D9D9"/>
                    </a:solidFill>
                  </a:tcPr>
                </a:tc>
                <a:tc>
                  <a:txBody>
                    <a:bodyPr/>
                    <a:lstStyle/>
                    <a:p>
                      <a:pPr algn="ctr">
                        <a:lnSpc>
                          <a:spcPct val="100000"/>
                        </a:lnSpc>
                      </a:pPr>
                      <a:r>
                        <a:rPr sz="1000">
                          <a:latin typeface="Montserrat"/>
                        </a:rPr>
                        <a:t>$192.1</a:t>
                      </a:r>
                    </a:p>
                  </a:txBody>
                  <a:tcPr marL="3600" marR="3600" marT="3600" marB="3600">
                    <a:solidFill>
                      <a:srgbClr val="D9D9D9"/>
                    </a:solidFill>
                  </a:tcPr>
                </a:tc>
              </a:tr>
              <a:tr h="251999">
                <a:tc>
                  <a:txBody>
                    <a:bodyPr/>
                    <a:lstStyle/>
                    <a:p>
                      <a:pPr algn="l">
                        <a:lnSpc>
                          <a:spcPct val="100000"/>
                        </a:lnSpc>
                      </a:pPr>
                      <a:r>
                        <a:rPr sz="1000">
                          <a:latin typeface="Montserrat"/>
                        </a:rPr>
                        <a:t>Centro de mezclas UMAE HES 2</a:t>
                      </a:r>
                    </a:p>
                  </a:txBody>
                  <a:tcPr marL="3600" marR="3600" marT="3600" marB="3600">
                    <a:solidFill>
                      <a:srgbClr val="FFFFFF"/>
                    </a:solidFill>
                  </a:tcPr>
                </a:tc>
                <a:tc>
                  <a:txBody>
                    <a:bodyPr/>
                    <a:lstStyle/>
                    <a:p>
                      <a:pPr algn="ctr">
                        <a:lnSpc>
                          <a:spcPct val="100000"/>
                        </a:lnSpc>
                      </a:pPr>
                      <a:r>
                        <a:rPr sz="1000">
                          <a:latin typeface="Montserrat"/>
                        </a:rPr>
                        <a:t>$22.7</a:t>
                      </a:r>
                    </a:p>
                  </a:txBody>
                  <a:tcPr marL="3600" marR="3600" marT="3600" marB="3600">
                    <a:solidFill>
                      <a:srgbClr val="FFFFFF"/>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$1,244.2</a:t>
                      </a:r>
                    </a:p>
                  </a:txBody>
                  <a:tcPr marL="3600" marR="3600" marT="3600" marB="3600">
                    <a:solidFill>
                      <a:srgbClr val="9F2241"/>
                    </a:solidFill>
                  </a:tcPr>
                </a:tc>
              </a:tr>
            </a:tbl>
          </a:graphicData>
        </a:graphic>
      </p:graphicFrame>
      <p:graphicFrame>
        <p:nvGraphicFramePr>
          <p:cNvPr id="13" name="Table 12"/>
          <p:cNvGraphicFramePr>
            <a:graphicFrameLocks noGrp="1"/>
          </p:cNvGraphicFramePr>
          <p:nvPr/>
        </p:nvGraphicFramePr>
        <p:xfrm>
          <a:off x="1785600" y="5471986"/>
          <a:ext cx="5396400" cy="1259995"/>
        </p:xfrm>
        <a:graphic>
          <a:graphicData uri="http://schemas.openxmlformats.org/drawingml/2006/table">
            <a:tbl>
              <a:tblPr firstRow="1" bandRow="1">
                <a:tableStyleId>{5C22544A-7EE6-4342-B048-85BDC9FD1C3A}</a:tableStyleId>
              </a:tblPr>
              <a:tblGrid>
                <a:gridCol w="4255200"/>
                <a:gridCol w="1141200"/>
              </a:tblGrid>
              <a:tr h="629997">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629998">
                <a:tc>
                  <a:txBody>
                    <a:bodyPr/>
                    <a:lstStyle/>
                    <a:p>
                      <a:pPr algn="l">
                        <a:lnSpc>
                          <a:spcPct val="100000"/>
                        </a:lnSpc>
                      </a:pPr>
                      <a:r>
                        <a:rPr sz="1000">
                          <a:latin typeface="Montserrat"/>
                        </a:rPr>
                        <a:t>81 Equipos electromecánicos para 20 unidades; 62 equipos de aire acondicionado, 3 equipos para casa de máquinas, 2 elevadores, 8 lavadoras y 6 secadoras</a:t>
                      </a:r>
                    </a:p>
                  </a:txBody>
                  <a:tcPr marL="3600" marR="3600" marT="3600" marB="3600">
                    <a:solidFill>
                      <a:srgbClr val="FFFFFF"/>
                    </a:solidFill>
                  </a:tcPr>
                </a:tc>
                <a:tc>
                  <a:txBody>
                    <a:bodyPr/>
                    <a:lstStyle/>
                    <a:p>
                      <a:pPr algn="ctr">
                        <a:lnSpc>
                          <a:spcPct val="100000"/>
                        </a:lnSpc>
                      </a:pPr>
                      <a:r>
                        <a:rPr sz="1000">
                          <a:latin typeface="Montserrat"/>
                        </a:rPr>
                        <a:t>$750.6</a:t>
                      </a:r>
                    </a:p>
                  </a:txBody>
                  <a:tcPr marL="3600" marR="3600" marT="3600" marB="3600">
                    <a:solidFill>
                      <a:srgbClr val="FFFFFF"/>
                    </a:solidFill>
                  </a:tcPr>
                </a:tc>
              </a:tr>
            </a:tbl>
          </a:graphicData>
        </a:graphic>
      </p:graphicFrame>
      <p:sp>
        <p:nvSpPr>
          <p:cNvPr id="14" name="TextBox 13"/>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8,634.7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Cajeme, Hermosillo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6 Donación</a:t>
                      </a:r>
                    </a:p>
                  </a:txBody>
                  <a:tcPr marL="72000" marR="72000" anchor="ctr">
                    <a:noFill/>
                  </a:tcPr>
                </a:tc>
                <a:tc>
                  <a:txBody>
                    <a:bodyPr/>
                    <a:lstStyle/>
                    <a:p>
                      <a:pPr algn="ctr">
                        <a:defRPr sz="1200" b="0">
                          <a:solidFill>
                            <a:srgbClr val="FFFFFF"/>
                          </a:solidFill>
                          <a:latin typeface="Montserrat"/>
                        </a:defRPr>
                      </a:pPr>
                      <a:r>
                        <a:t>Cajeme, Hermosillo (3), Nogales, Puerto Peñasco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48</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42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Cajeme y Hermosillo. En integración de expediente para donación: 6 en Hermosillo, Puerto Peñasco, Cajeme y Nogales.</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SONORA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54 </a:t>
                      </a:r>
                      <a:r>
                        <a:rPr b="1" sz="1000">
                          <a:latin typeface="Montserrat"/>
                        </a:rPr>
                        <a:t>unidades</a:t>
                      </a:r>
                    </a:p>
                    <a:p>
                      <a:pPr algn="ctr">
                        <a:defRPr sz="1000">
                          <a:solidFill>
                            <a:srgbClr val="505050"/>
                          </a:solidFill>
                          <a:latin typeface="Montserrat"/>
                        </a:defRPr>
                      </a:pPr>
                      <a:r>
                        <a:t>5 directas</a:t>
                      </a:r>
                    </a:p>
                    <a:p>
                      <a:pPr algn="ctr">
                        <a:defRPr sz="1000">
                          <a:solidFill>
                            <a:srgbClr val="505050"/>
                          </a:solidFill>
                          <a:latin typeface="Montserrat"/>
                        </a:defRPr>
                      </a:pPr>
                      <a:r>
                        <a:t>49 indirectas</a:t>
                      </a:r>
                    </a:p>
                  </a:txBody>
                  <a:tcPr anchor="ctr">
                    <a:solidFill>
                      <a:srgbClr val="FFFFFF"/>
                    </a:solidFill>
                  </a:tcPr>
                </a:tc>
                <a:tc>
                  <a:txBody>
                    <a:bodyPr/>
                    <a:lstStyle/>
                    <a:p>
                      <a:pPr algn="ctr"/>
                      <a:r>
                        <a:rPr b="1" sz="1000">
                          <a:latin typeface="Montserrat"/>
                        </a:rPr>
                        <a:t>10,044 </a:t>
                      </a:r>
                      <a:r>
                        <a:rPr b="1" sz="1000">
                          <a:latin typeface="Montserrat"/>
                        </a:rPr>
                        <a:t>inscritos</a:t>
                      </a:r>
                    </a:p>
                    <a:p>
                      <a:pPr algn="ctr">
                        <a:defRPr sz="1000">
                          <a:solidFill>
                            <a:srgbClr val="505050"/>
                          </a:solidFill>
                          <a:latin typeface="Montserrat"/>
                        </a:defRPr>
                      </a:pPr>
                      <a:r>
                        <a:t>3,287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10457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1045800">
                <a:tc>
                  <a:txBody>
                    <a:bodyPr/>
                    <a:lstStyle/>
                    <a:p>
                      <a:pPr algn="ctr">
                        <a:defRPr sz="800" b="1">
                          <a:latin typeface="Montserrat"/>
                        </a:defRPr>
                      </a:pPr>
                      <a:r>
                        <a:t>6 Centros de Seguridad Social</a:t>
                      </a:r>
                    </a:p>
                  </a:txBody>
                  <a:tcPr anchor="ctr" marL="28800" marR="28800" marT="0" marB="0">
                    <a:solidFill>
                      <a:srgbClr val="FFFFFF"/>
                    </a:solidFill>
                  </a:tcPr>
                </a:tc>
                <a:tc>
                  <a:txBody>
                    <a:bodyPr/>
                    <a:lstStyle/>
                    <a:p>
                      <a:pPr algn="ctr">
                        <a:defRPr sz="800">
                          <a:latin typeface="Montserrat"/>
                        </a:defRPr>
                      </a:pPr>
                      <a:r>
                        <a:t>Ciudad Obregón, Hermosillo, Huatabampo, Navojoa, Nogales y Empalme</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Tiendas IMSS-SNTSS</a:t>
                      </a:r>
                    </a:p>
                  </a:txBody>
                  <a:tcPr anchor="ctr" marL="28800" marR="28800" marT="0" marB="0">
                    <a:solidFill>
                      <a:srgbClr val="FFFFFF"/>
                    </a:solidFill>
                  </a:tcPr>
                </a:tc>
                <a:tc>
                  <a:txBody>
                    <a:bodyPr/>
                    <a:lstStyle/>
                    <a:p>
                      <a:pPr algn="ctr">
                        <a:defRPr sz="800">
                          <a:latin typeface="Montserrat"/>
                        </a:defRPr>
                      </a:pPr>
                      <a:r>
                        <a:t>No. 43 Ciudad Obregón y No. 44 Hermosillo</a:t>
                      </a:r>
                    </a:p>
                  </a:txBody>
                  <a:tcPr anchor="ctr" marL="28800" marR="28800" marT="0" marB="0">
                    <a:solidFill>
                      <a:srgbClr val="FFFFFF"/>
                    </a:solidFill>
                  </a:tcPr>
                </a:tc>
              </a:tr>
            </a:tbl>
          </a:graphicData>
        </a:graphic>
      </p:graphicFrame>
      <p:pic>
        <p:nvPicPr>
          <p:cNvPr id="470" name="Picture 469" descr="map_tipo2_26_son.png"/>
          <p:cNvPicPr>
            <a:picLocks noChangeAspect="1"/>
          </p:cNvPicPr>
          <p:nvPr/>
        </p:nvPicPr>
        <p:blipFill>
          <a:blip r:embed="rId6"/>
          <a:stretch>
            <a:fillRect/>
          </a:stretch>
        </p:blipFill>
        <p:spPr>
          <a:xfrm>
            <a:off x="2822400" y="5929200"/>
            <a:ext cx="2656800" cy="2848943"/>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54</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19,728</a:t>
                      </a:r>
                    </a:p>
                  </a:txBody>
                  <a:tcPr anchor="ctr">
                    <a:solidFill>
                      <a:srgbClr val="FFFFFF"/>
                    </a:solidFill>
                  </a:tcPr>
                </a:tc>
                <a:tc>
                  <a:txBody>
                    <a:bodyPr/>
                    <a:lstStyle/>
                    <a:p>
                      <a:pPr algn="ctr">
                        <a:defRPr sz="850">
                          <a:latin typeface="Montserrat"/>
                        </a:defRPr>
                      </a:pPr>
                      <a:r>
                        <a:t>19,863</a:t>
                      </a:r>
                    </a:p>
                  </a:txBody>
                  <a:tcPr anchor="ctr">
                    <a:solidFill>
                      <a:srgbClr val="FFFFFF"/>
                    </a:solidFill>
                  </a:tcPr>
                </a:tc>
                <a:tc>
                  <a:txBody>
                    <a:bodyPr/>
                    <a:lstStyle/>
                    <a:p>
                      <a:pPr algn="ctr">
                        <a:defRPr sz="850" b="1">
                          <a:solidFill>
                            <a:srgbClr val="006455"/>
                          </a:solidFill>
                          <a:latin typeface="Montserrat"/>
                        </a:defRPr>
                      </a:pPr>
                      <a:r>
                        <a:t>0.7%</a:t>
                      </a:r>
                    </a:p>
                  </a:txBody>
                  <a:tcPr anchor="ctr">
                    <a:solidFill>
                      <a:srgbClr val="FFFFFF"/>
                    </a:solidFill>
                  </a:tcPr>
                </a:tc>
                <a:tc>
                  <a:txBody>
                    <a:bodyPr/>
                    <a:lstStyle/>
                    <a:p>
                      <a:pPr algn="ctr">
                        <a:defRPr sz="850">
                          <a:latin typeface="Montserrat"/>
                        </a:defRPr>
                      </a:pPr>
                      <a:r>
                        <a:t>Maquilas Teta Kawi S.A. de C.V.</a:t>
                      </a:r>
                    </a:p>
                  </a:txBody>
                  <a:tcPr anchor="ctr">
                    <a:solidFill>
                      <a:srgbClr val="FFFFFF"/>
                    </a:solidFill>
                  </a:tcPr>
                </a:tc>
                <a:tc>
                  <a:txBody>
                    <a:bodyPr/>
                    <a:lstStyle/>
                    <a:p>
                      <a:pPr algn="ctr">
                        <a:defRPr sz="850">
                          <a:latin typeface="Montserrat"/>
                        </a:defRPr>
                      </a:pPr>
                      <a:r>
                        <a:t>15,085</a:t>
                      </a:r>
                    </a:p>
                  </a:txBody>
                  <a:tcPr anchor="ctr">
                    <a:solidFill>
                      <a:srgbClr val="FFFFFF"/>
                    </a:solidFill>
                  </a:tcPr>
                </a:tc>
                <a:tc>
                  <a:txBody>
                    <a:bodyPr/>
                    <a:lstStyle/>
                    <a:p>
                      <a:pPr algn="ctr">
                        <a:defRPr sz="850">
                          <a:latin typeface="Montserrat"/>
                        </a:defRPr>
                      </a:pPr>
                      <a:r>
                        <a:t>15,088</a:t>
                      </a:r>
                    </a:p>
                  </a:txBody>
                  <a:tcPr anchor="ctr">
                    <a:solidFill>
                      <a:srgbClr val="FFFFFF"/>
                    </a:solidFill>
                  </a:tcPr>
                </a:tc>
                <a:tc>
                  <a:txBody>
                    <a:bodyPr/>
                    <a:lstStyle/>
                    <a:p>
                      <a:pPr algn="ctr">
                        <a:defRPr sz="850">
                          <a:latin typeface="Montserrat"/>
                        </a:defRPr>
                      </a:pPr>
                      <a:r>
                        <a:t>0.0%</a:t>
                      </a:r>
                    </a:p>
                  </a:txBody>
                  <a:tcPr anchor="ctr">
                    <a:solidFill>
                      <a:srgbClr val="FFFFFF"/>
                    </a:solidFill>
                  </a:tcPr>
                </a:tc>
              </a:tr>
              <a:tr h="490320">
                <a:tc rowSpan="2">
                  <a:txBody>
                    <a:bodyPr/>
                    <a:lstStyle/>
                    <a:p>
                      <a:pPr algn="ctr">
                        <a:defRPr sz="850">
                          <a:latin typeface="Montserrat"/>
                        </a:defRPr>
                      </a:pPr>
                      <a:r>
                        <a:t>Comisión Federal de Electricidad Epe</a:t>
                      </a:r>
                    </a:p>
                  </a:txBody>
                  <a:tcPr anchor="ctr">
                    <a:solidFill>
                      <a:srgbClr val="D9D9D9"/>
                    </a:solidFill>
                  </a:tcPr>
                </a:tc>
                <a:tc rowSpan="2">
                  <a:txBody>
                    <a:bodyPr/>
                    <a:lstStyle/>
                    <a:p>
                      <a:pPr algn="ctr">
                        <a:defRPr sz="850">
                          <a:latin typeface="Montserrat"/>
                        </a:defRPr>
                      </a:pPr>
                      <a:r>
                        <a:t>4,230</a:t>
                      </a:r>
                    </a:p>
                  </a:txBody>
                  <a:tcPr anchor="ctr">
                    <a:solidFill>
                      <a:srgbClr val="D9D9D9"/>
                    </a:solidFill>
                  </a:tcPr>
                </a:tc>
                <a:tc rowSpan="2">
                  <a:txBody>
                    <a:bodyPr/>
                    <a:lstStyle/>
                    <a:p>
                      <a:pPr algn="ctr">
                        <a:defRPr sz="850">
                          <a:latin typeface="Montserrat"/>
                        </a:defRPr>
                      </a:pPr>
                      <a:r>
                        <a:t>4,178</a:t>
                      </a:r>
                    </a:p>
                  </a:txBody>
                  <a:tcPr anchor="ctr">
                    <a:solidFill>
                      <a:srgbClr val="D9D9D9"/>
                    </a:solidFill>
                  </a:tcPr>
                </a:tc>
                <a:tc rowSpan="2">
                  <a:txBody>
                    <a:bodyPr/>
                    <a:lstStyle/>
                    <a:p>
                      <a:pPr algn="ctr">
                        <a:defRPr sz="850" b="1">
                          <a:solidFill>
                            <a:srgbClr val="691C32"/>
                          </a:solidFill>
                          <a:latin typeface="Montserrat"/>
                        </a:defRPr>
                      </a:pPr>
                      <a:r>
                        <a:t>-1.2%</a:t>
                      </a:r>
                    </a:p>
                  </a:txBody>
                  <a:tcPr anchor="ctr">
                    <a:solidFill>
                      <a:srgbClr val="D9D9D9"/>
                    </a:solidFill>
                  </a:tcPr>
                </a:tc>
                <a:tc>
                  <a:txBody>
                    <a:bodyPr/>
                    <a:lstStyle/>
                    <a:p>
                      <a:pPr algn="ctr">
                        <a:defRPr sz="850">
                          <a:latin typeface="Montserrat"/>
                        </a:defRPr>
                      </a:pPr>
                      <a:r>
                        <a:t>Grupo Yazaki S.A. de C.V.</a:t>
                      </a:r>
                    </a:p>
                  </a:txBody>
                  <a:tcPr anchor="ctr">
                    <a:solidFill>
                      <a:srgbClr val="D9D9D9"/>
                    </a:solidFill>
                  </a:tcPr>
                </a:tc>
                <a:tc>
                  <a:txBody>
                    <a:bodyPr/>
                    <a:lstStyle/>
                    <a:p>
                      <a:pPr algn="ctr">
                        <a:defRPr sz="850">
                          <a:latin typeface="Montserrat"/>
                        </a:defRPr>
                      </a:pPr>
                      <a:r>
                        <a:t>12,112</a:t>
                      </a:r>
                    </a:p>
                  </a:txBody>
                  <a:tcPr anchor="ctr">
                    <a:solidFill>
                      <a:srgbClr val="D9D9D9"/>
                    </a:solidFill>
                  </a:tcPr>
                </a:tc>
                <a:tc>
                  <a:txBody>
                    <a:bodyPr/>
                    <a:lstStyle/>
                    <a:p>
                      <a:pPr algn="ctr">
                        <a:defRPr sz="850">
                          <a:latin typeface="Montserrat"/>
                        </a:defRPr>
                      </a:pPr>
                      <a:r>
                        <a:t>11,983</a:t>
                      </a:r>
                    </a:p>
                  </a:txBody>
                  <a:tcPr anchor="ctr">
                    <a:solidFill>
                      <a:srgbClr val="D9D9D9"/>
                    </a:solidFill>
                  </a:tcPr>
                </a:tc>
                <a:tc>
                  <a:txBody>
                    <a:bodyPr/>
                    <a:lstStyle/>
                    <a:p>
                      <a:pPr algn="ctr">
                        <a:defRPr sz="850" b="1">
                          <a:solidFill>
                            <a:srgbClr val="691C32"/>
                          </a:solidFill>
                          <a:latin typeface="Montserrat"/>
                        </a:defRPr>
                      </a:pPr>
                      <a:r>
                        <a:t>-1.1%</a:t>
                      </a:r>
                    </a:p>
                  </a:txBody>
                  <a:tcPr anchor="ctr">
                    <a:solidFill>
                      <a:srgbClr val="D9D9D9"/>
                    </a:solidFill>
                  </a:tcPr>
                </a:tc>
              </a:tr>
              <a:tr h="490320">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vMerge="1">
                  <a:txBody>
                    <a:bodyPr/>
                    <a:lstStyle/>
                    <a:p>
                      <a:pPr algn="ctr">
                        <a:defRPr sz="850">
                          <a:latin typeface="Montserrat"/>
                        </a:defRPr>
                      </a:pPr>
                    </a:p>
                  </a:txBody>
                  <a:tcPr anchor="ctr">
                    <a:solidFill>
                      <a:srgbClr val="FFFFFF"/>
                    </a:solidFill>
                  </a:tcPr>
                </a:tc>
                <a:tc>
                  <a:txBody>
                    <a:bodyPr/>
                    <a:lstStyle/>
                    <a:p>
                      <a:pPr algn="ctr">
                        <a:defRPr sz="850">
                          <a:latin typeface="Montserrat"/>
                        </a:defRPr>
                      </a:pPr>
                      <a:r>
                        <a:t>Amp Amermex S.A. de C.V.</a:t>
                      </a:r>
                    </a:p>
                  </a:txBody>
                  <a:tcPr anchor="ctr">
                    <a:solidFill>
                      <a:srgbClr val="FFFFFF"/>
                    </a:solidFill>
                  </a:tcPr>
                </a:tc>
                <a:tc>
                  <a:txBody>
                    <a:bodyPr/>
                    <a:lstStyle/>
                    <a:p>
                      <a:pPr algn="ctr">
                        <a:defRPr sz="850">
                          <a:latin typeface="Montserrat"/>
                        </a:defRPr>
                      </a:pPr>
                      <a:r>
                        <a:t>6,447</a:t>
                      </a:r>
                    </a:p>
                  </a:txBody>
                  <a:tcPr anchor="ctr">
                    <a:solidFill>
                      <a:srgbClr val="FFFFFF"/>
                    </a:solidFill>
                  </a:tcPr>
                </a:tc>
                <a:tc>
                  <a:txBody>
                    <a:bodyPr/>
                    <a:lstStyle/>
                    <a:p>
                      <a:pPr algn="ctr">
                        <a:defRPr sz="850">
                          <a:latin typeface="Montserrat"/>
                        </a:defRPr>
                      </a:pPr>
                      <a:r>
                        <a:t>6,601</a:t>
                      </a:r>
                    </a:p>
                  </a:txBody>
                  <a:tcPr anchor="ctr">
                    <a:solidFill>
                      <a:srgbClr val="FFFFFF"/>
                    </a:solidFill>
                  </a:tcPr>
                </a:tc>
                <a:tc>
                  <a:txBody>
                    <a:bodyPr/>
                    <a:lstStyle/>
                    <a:p>
                      <a:pPr algn="ctr">
                        <a:defRPr sz="850" b="1">
                          <a:solidFill>
                            <a:srgbClr val="006455"/>
                          </a:solidFill>
                          <a:latin typeface="Montserrat"/>
                        </a:defRPr>
                      </a:pPr>
                      <a:r>
                        <a:t>2.4%</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-5.96%</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-0.55%</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+0.92%</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+0.96%</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+4.86%</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+8.53%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546,817</a:t>
                      </a:r>
                    </a:p>
                  </a:txBody>
                  <a:tcPr>
                    <a:solidFill>
                      <a:srgbClr val="FFFFFF"/>
                    </a:solidFill>
                  </a:tcPr>
                </a:tc>
                <a:tc>
                  <a:txBody>
                    <a:bodyPr/>
                    <a:lstStyle/>
                    <a:p>
                      <a:pPr algn="ctr">
                        <a:defRPr sz="900">
                          <a:latin typeface="Montserrat"/>
                        </a:defRPr>
                      </a:pPr>
                      <a:r>
                        <a:t>18,826</a:t>
                      </a:r>
                    </a:p>
                  </a:txBody>
                  <a:tcPr>
                    <a:solidFill>
                      <a:srgbClr val="FFFFFF"/>
                    </a:solidFill>
                  </a:tcPr>
                </a:tc>
                <a:tc>
                  <a:txBody>
                    <a:bodyPr/>
                    <a:lstStyle/>
                    <a:p>
                      <a:pPr algn="ctr">
                        <a:defRPr sz="900">
                          <a:latin typeface="Montserrat"/>
                        </a:defRPr>
                      </a:pPr>
                      <a:r>
                        <a:t>60,119</a:t>
                      </a:r>
                    </a:p>
                  </a:txBody>
                  <a:tcPr>
                    <a:solidFill>
                      <a:srgbClr val="FFFFFF"/>
                    </a:solidFill>
                  </a:tcPr>
                </a:tc>
                <a:tc>
                  <a:txBody>
                    <a:bodyPr/>
                    <a:lstStyle/>
                    <a:p>
                      <a:pPr algn="ctr">
                        <a:defRPr sz="900">
                          <a:latin typeface="Montserrat"/>
                        </a:defRPr>
                      </a:pPr>
                      <a:r>
                        <a:t>29,160</a:t>
                      </a:r>
                    </a:p>
                  </a:txBody>
                  <a:tcPr>
                    <a:solidFill>
                      <a:srgbClr val="FFFFFF"/>
                    </a:solidFill>
                  </a:tcPr>
                </a:tc>
                <a:tc>
                  <a:txBody>
                    <a:bodyPr/>
                    <a:lstStyle/>
                    <a:p>
                      <a:pPr algn="ctr">
                        <a:defRPr sz="900">
                          <a:latin typeface="Montserrat"/>
                        </a:defRPr>
                      </a:pPr>
                      <a:r>
                        <a:t>654,922</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545,759</a:t>
                      </a:r>
                    </a:p>
                  </a:txBody>
                  <a:tcPr>
                    <a:solidFill>
                      <a:srgbClr val="D9D9D9"/>
                    </a:solidFill>
                  </a:tcPr>
                </a:tc>
                <a:tc>
                  <a:txBody>
                    <a:bodyPr/>
                    <a:lstStyle/>
                    <a:p>
                      <a:pPr algn="ctr">
                        <a:defRPr sz="900">
                          <a:latin typeface="Montserrat"/>
                        </a:defRPr>
                      </a:pPr>
                      <a:r>
                        <a:t>20,042</a:t>
                      </a:r>
                    </a:p>
                  </a:txBody>
                  <a:tcPr>
                    <a:solidFill>
                      <a:srgbClr val="D9D9D9"/>
                    </a:solidFill>
                  </a:tcPr>
                </a:tc>
                <a:tc>
                  <a:txBody>
                    <a:bodyPr/>
                    <a:lstStyle/>
                    <a:p>
                      <a:pPr algn="ctr">
                        <a:defRPr sz="900">
                          <a:latin typeface="Montserrat"/>
                        </a:defRPr>
                      </a:pPr>
                      <a:r>
                        <a:t>57,285</a:t>
                      </a:r>
                    </a:p>
                  </a:txBody>
                  <a:tcPr>
                    <a:solidFill>
                      <a:srgbClr val="D9D9D9"/>
                    </a:solidFill>
                  </a:tcPr>
                </a:tc>
                <a:tc>
                  <a:txBody>
                    <a:bodyPr/>
                    <a:lstStyle/>
                    <a:p>
                      <a:pPr algn="ctr">
                        <a:defRPr sz="900">
                          <a:latin typeface="Montserrat"/>
                        </a:defRPr>
                      </a:pPr>
                      <a:r>
                        <a:t>30,011</a:t>
                      </a:r>
                    </a:p>
                  </a:txBody>
                  <a:tcPr>
                    <a:solidFill>
                      <a:srgbClr val="D9D9D9"/>
                    </a:solidFill>
                  </a:tcPr>
                </a:tc>
                <a:tc>
                  <a:txBody>
                    <a:bodyPr/>
                    <a:lstStyle/>
                    <a:p>
                      <a:pPr algn="ctr">
                        <a:defRPr sz="900">
                          <a:latin typeface="Montserrat"/>
                        </a:defRPr>
                      </a:pPr>
                      <a:r>
                        <a:t>653,097</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-0.2%</a:t>
                      </a:r>
                    </a:p>
                  </a:txBody>
                  <a:tcPr>
                    <a:solidFill>
                      <a:srgbClr val="FFFFFF"/>
                    </a:solidFill>
                  </a:tcPr>
                </a:tc>
                <a:tc>
                  <a:txBody>
                    <a:bodyPr/>
                    <a:lstStyle/>
                    <a:p>
                      <a:pPr algn="ctr">
                        <a:defRPr sz="900" b="1">
                          <a:solidFill>
                            <a:srgbClr val="006455"/>
                          </a:solidFill>
                          <a:latin typeface="Montserrat"/>
                        </a:defRPr>
                      </a:pPr>
                      <a:r>
                        <a:t>+6.5%</a:t>
                      </a:r>
                    </a:p>
                  </a:txBody>
                  <a:tcPr>
                    <a:solidFill>
                      <a:srgbClr val="FFFFFF"/>
                    </a:solidFill>
                  </a:tcPr>
                </a:tc>
                <a:tc>
                  <a:txBody>
                    <a:bodyPr/>
                    <a:lstStyle/>
                    <a:p>
                      <a:pPr algn="ctr">
                        <a:defRPr sz="900" b="0">
                          <a:solidFill>
                            <a:srgbClr val="691C32"/>
                          </a:solidFill>
                          <a:latin typeface="Montserrat"/>
                        </a:defRPr>
                      </a:pPr>
                      <a:r>
                        <a:t>-4.7%</a:t>
                      </a:r>
                    </a:p>
                  </a:txBody>
                  <a:tcPr>
                    <a:solidFill>
                      <a:srgbClr val="FFFFFF"/>
                    </a:solidFill>
                  </a:tcPr>
                </a:tc>
                <a:tc>
                  <a:txBody>
                    <a:bodyPr/>
                    <a:lstStyle/>
                    <a:p>
                      <a:pPr algn="ctr">
                        <a:defRPr sz="900" b="1">
                          <a:solidFill>
                            <a:srgbClr val="006455"/>
                          </a:solidFill>
                          <a:latin typeface="Montserrat"/>
                        </a:defRPr>
                      </a:pPr>
                      <a:r>
                        <a:t>+2.9%</a:t>
                      </a:r>
                    </a:p>
                  </a:txBody>
                  <a:tcPr>
                    <a:solidFill>
                      <a:srgbClr val="FFFFFF"/>
                    </a:solidFill>
                  </a:tcPr>
                </a:tc>
                <a:tc>
                  <a:txBody>
                    <a:bodyPr/>
                    <a:lstStyle/>
                    <a:p>
                      <a:pPr algn="ctr">
                        <a:defRPr sz="900" b="0">
                          <a:solidFill>
                            <a:srgbClr val="691C32"/>
                          </a:solidFill>
                          <a:latin typeface="Montserrat"/>
                        </a:defRPr>
                      </a:pPr>
                      <a:r>
                        <a:t>-0.3%</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98CEF7E4-EB13-8DC7-CE0B-EE65878BFD6E}"/>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$622.84</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$309.68</a:t>
                      </a:r>
                    </a:p>
                  </a:txBody>
                  <a:tcPr anchor="ctr">
                    <a:solidFill>
                      <a:srgbClr val="EEEEEE"/>
                    </a:solidFill>
                  </a:tcPr>
                </a:tc>
                <a:tc>
                  <a:txBody>
                    <a:bodyPr/>
                    <a:lstStyle/>
                    <a:p>
                      <a:pPr algn="ctr">
                        <a:defRPr sz="1100" b="1">
                          <a:latin typeface="Montserrat"/>
                        </a:defRPr>
                      </a:pPr>
                      <a:r>
                        <a:t>$622.84</a:t>
                      </a:r>
                    </a:p>
                  </a:txBody>
                  <a:tcPr anchor="ctr">
                    <a:solidFill>
                      <a:srgbClr val="EEEEEE"/>
                    </a:solidFill>
                  </a:tcPr>
                </a:tc>
                <a:tc>
                  <a:txBody>
                    <a:bodyPr/>
                    <a:lstStyle/>
                    <a:p>
                      <a:pPr algn="ctr">
                        <a:defRPr sz="1100">
                          <a:latin typeface="Montserrat"/>
                        </a:defRPr>
                      </a:pPr>
                      <a:r>
                        <a:t>42.1%</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$18,685.2</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Organismo Operador Municipal de Agua Potable, Alcantarillado y Saneamiento de Huatabampo</a:t>
                      </a:r>
                    </a:p>
                  </a:txBody>
                  <a:tcPr>
                    <a:solidFill>
                      <a:srgbClr val="FFFFFF"/>
                    </a:solidFill>
                  </a:tcPr>
                </a:tc>
                <a:tc>
                  <a:txBody>
                    <a:bodyPr/>
                    <a:lstStyle/>
                    <a:p>
                      <a:pPr algn="ctr">
                        <a:defRPr sz="900">
                          <a:latin typeface="Montserrat"/>
                        </a:defRPr>
                      </a:pPr>
                      <a:r>
                        <a:t>$3.45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Organismo Operador Municipal de Agua Potable, Alcantarillado y Saneamiento de Nogales</a:t>
                      </a:r>
                    </a:p>
                  </a:txBody>
                  <a:tcPr>
                    <a:solidFill>
                      <a:srgbClr val="EEEEEE"/>
                    </a:solidFill>
                  </a:tcPr>
                </a:tc>
                <a:tc>
                  <a:txBody>
                    <a:bodyPr/>
                    <a:lstStyle/>
                    <a:p>
                      <a:pPr algn="ctr">
                        <a:defRPr sz="900">
                          <a:latin typeface="Montserrat"/>
                        </a:defRPr>
                      </a:pPr>
                      <a:r>
                        <a:t>$3.16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Organismo Operador Municipal de Agua Potable, Alcantarillado y Saneamiento de Ciudad Obregón</a:t>
                      </a:r>
                    </a:p>
                  </a:txBody>
                  <a:tcPr>
                    <a:solidFill>
                      <a:srgbClr val="FFFFFF"/>
                    </a:solidFill>
                  </a:tcPr>
                </a:tc>
                <a:tc>
                  <a:txBody>
                    <a:bodyPr/>
                    <a:lstStyle/>
                    <a:p>
                      <a:pPr algn="ctr">
                        <a:defRPr sz="900">
                          <a:latin typeface="Montserrat"/>
                        </a:defRPr>
                      </a:pPr>
                      <a:r>
                        <a:t>$2.86</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Videxport SA de CV</a:t>
                      </a:r>
                    </a:p>
                  </a:txBody>
                  <a:tcPr>
                    <a:solidFill>
                      <a:srgbClr val="EEEEEE"/>
                    </a:solidFill>
                  </a:tcPr>
                </a:tc>
                <a:tc>
                  <a:txBody>
                    <a:bodyPr/>
                    <a:lstStyle/>
                    <a:p>
                      <a:pPr algn="ctr">
                        <a:defRPr sz="900">
                          <a:latin typeface="Montserrat"/>
                        </a:defRPr>
                      </a:pPr>
                      <a:r>
                        <a:t>$75.01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Servicios Especializados de Personal Administrativo del Pitic SA de CV</a:t>
                      </a:r>
                    </a:p>
                  </a:txBody>
                  <a:tcPr>
                    <a:solidFill>
                      <a:srgbClr val="FFFFFF"/>
                    </a:solidFill>
                  </a:tcPr>
                </a:tc>
                <a:tc>
                  <a:txBody>
                    <a:bodyPr/>
                    <a:lstStyle/>
                    <a:p>
                      <a:pPr algn="ctr">
                        <a:defRPr sz="900">
                          <a:latin typeface="Montserrat"/>
                        </a:defRPr>
                      </a:pPr>
                      <a:r>
                        <a:t>$18.36</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Viñedos Alta SAPI de CV</a:t>
                      </a:r>
                    </a:p>
                  </a:txBody>
                  <a:tcPr>
                    <a:solidFill>
                      <a:srgbClr val="EEEEEE"/>
                    </a:solidFill>
                  </a:tcPr>
                </a:tc>
                <a:tc>
                  <a:txBody>
                    <a:bodyPr/>
                    <a:lstStyle/>
                    <a:p>
                      <a:pPr algn="ctr">
                        <a:defRPr sz="900">
                          <a:latin typeface="Montserrat"/>
                        </a:defRPr>
                      </a:pPr>
                      <a:r>
                        <a:t>$18.35</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2073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23 Nacozari</a:t>
                      </a:r>
                    </a:p>
                  </a:txBody>
                  <a:tcPr anchor="ctr">
                    <a:solidFill>
                      <a:srgbClr val="FFFFFF"/>
                    </a:solidFill>
                  </a:tcPr>
                </a:tc>
                <a:tc>
                  <a:txBody>
                    <a:bodyPr/>
                    <a:lstStyle/>
                    <a:p>
                      <a:pPr algn="ctr">
                        <a:defRPr sz="900">
                          <a:latin typeface="Montserrat"/>
                        </a:defRPr>
                      </a:pPr>
                      <a:r>
                        <a:t>Noviembre de 1978</a:t>
                      </a:r>
                    </a:p>
                  </a:txBody>
                  <a:tcPr anchor="ctr">
                    <a:solidFill>
                      <a:srgbClr val="FFFFFF"/>
                    </a:solidFill>
                  </a:tcPr>
                </a:tc>
                <a:tc>
                  <a:txBody>
                    <a:bodyPr/>
                    <a:lstStyle/>
                    <a:p>
                      <a:pPr algn="ctr">
                        <a:defRPr sz="900">
                          <a:latin typeface="Montserrat"/>
                        </a:defRPr>
                      </a:pPr>
                      <a:r>
                        <a:t>18</a:t>
                      </a:r>
                    </a:p>
                  </a:txBody>
                  <a:tcPr anchor="ctr">
                    <a:solidFill>
                      <a:srgbClr val="FFFFFF"/>
                    </a:solidFill>
                  </a:tcPr>
                </a:tc>
                <a:tc>
                  <a:txBody>
                    <a:bodyPr/>
                    <a:lstStyle/>
                    <a:p>
                      <a:pPr algn="ctr">
                        <a:defRPr sz="900">
                          <a:latin typeface="Montserrat"/>
                        </a:defRPr>
                      </a:pPr>
                      <a:r>
                        <a:t>19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HGSMF 54 Empalme</a:t>
                      </a:r>
                    </a:p>
                  </a:txBody>
                  <a:tcPr anchor="ctr">
                    <a:solidFill>
                      <a:srgbClr val="EFEFEF"/>
                    </a:solidFill>
                  </a:tcPr>
                </a:tc>
                <a:tc>
                  <a:txBody>
                    <a:bodyPr/>
                    <a:lstStyle/>
                    <a:p>
                      <a:pPr algn="ctr">
                        <a:defRPr sz="900">
                          <a:latin typeface="Montserrat"/>
                        </a:defRPr>
                      </a:pPr>
                      <a:r>
                        <a:t>Octubre de 1984</a:t>
                      </a:r>
                    </a:p>
                  </a:txBody>
                  <a:tcPr anchor="ctr">
                    <a:solidFill>
                      <a:srgbClr val="EFEFEF"/>
                    </a:solidFill>
                  </a:tcPr>
                </a:tc>
                <a:tc>
                  <a:txBody>
                    <a:bodyPr/>
                    <a:lstStyle/>
                    <a:p>
                      <a:pPr algn="ctr">
                        <a:defRPr sz="900">
                          <a:latin typeface="Montserrat"/>
                        </a:defRPr>
                      </a:pPr>
                      <a:r>
                        <a:t>19</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2</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HGSMF 12 Aguaprieta</a:t>
                      </a:r>
                    </a:p>
                  </a:txBody>
                  <a:tcPr anchor="ctr">
                    <a:solidFill>
                      <a:srgbClr val="FFFFFF"/>
                    </a:solidFill>
                  </a:tcPr>
                </a:tc>
                <a:tc>
                  <a:txBody>
                    <a:bodyPr/>
                    <a:lstStyle/>
                    <a:p>
                      <a:pPr algn="ctr">
                        <a:defRPr sz="900">
                          <a:latin typeface="Montserrat"/>
                        </a:defRPr>
                      </a:pPr>
                      <a:r>
                        <a:t>Diciembre de 1985</a:t>
                      </a:r>
                    </a:p>
                  </a:txBody>
                  <a:tcPr anchor="ctr">
                    <a:solidFill>
                      <a:srgbClr val="FFFFFF"/>
                    </a:solidFill>
                  </a:tcPr>
                </a:tc>
                <a:tc>
                  <a:txBody>
                    <a:bodyPr/>
                    <a:lstStyle/>
                    <a:p>
                      <a:pPr algn="ctr">
                        <a:defRPr sz="900">
                          <a:latin typeface="Montserrat"/>
                        </a:defRPr>
                      </a:pPr>
                      <a:r>
                        <a:t>31</a:t>
                      </a:r>
                    </a:p>
                  </a:txBody>
                  <a:tcPr anchor="ctr">
                    <a:solidFill>
                      <a:srgbClr val="FFFFFF"/>
                    </a:solidFill>
                  </a:tcPr>
                </a:tc>
                <a:tc>
                  <a:txBody>
                    <a:bodyPr/>
                    <a:lstStyle/>
                    <a:p>
                      <a:pPr algn="ctr">
                        <a:defRPr sz="900">
                          <a:latin typeface="Montserrat"/>
                        </a:defRPr>
                      </a:pPr>
                      <a:r>
                        <a:t>11</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4</a:t>
                      </a:r>
                    </a:p>
                  </a:txBody>
                  <a:tcPr anchor="ctr">
                    <a:solidFill>
                      <a:srgbClr val="FFFFFF"/>
                    </a:solidFill>
                  </a:tcPr>
                </a:tc>
              </a:tr>
              <a:tr h="230400">
                <a:tc>
                  <a:txBody>
                    <a:bodyPr/>
                    <a:lstStyle/>
                    <a:p>
                      <a:pPr algn="l">
                        <a:defRPr sz="900">
                          <a:latin typeface="Montserrat"/>
                        </a:defRPr>
                      </a:pPr>
                      <a:r>
                        <a:t>HGZ 14 Hermosillo C/U quemados</a:t>
                      </a:r>
                    </a:p>
                  </a:txBody>
                  <a:tcPr anchor="ctr">
                    <a:solidFill>
                      <a:srgbClr val="EFEFEF"/>
                    </a:solidFill>
                  </a:tcPr>
                </a:tc>
                <a:tc>
                  <a:txBody>
                    <a:bodyPr/>
                    <a:lstStyle/>
                    <a:p>
                      <a:pPr algn="ctr">
                        <a:defRPr sz="900">
                          <a:latin typeface="Montserrat"/>
                        </a:defRPr>
                      </a:pPr>
                      <a:r>
                        <a:t>Marzo de 2013</a:t>
                      </a:r>
                    </a:p>
                  </a:txBody>
                  <a:tcPr anchor="ctr">
                    <a:solidFill>
                      <a:srgbClr val="EFEFEF"/>
                    </a:solidFill>
                  </a:tcPr>
                </a:tc>
                <a:tc>
                  <a:txBody>
                    <a:bodyPr/>
                    <a:lstStyle/>
                    <a:p>
                      <a:pPr algn="ctr">
                        <a:defRPr sz="900">
                          <a:latin typeface="Montserrat"/>
                        </a:defRPr>
                      </a:pPr>
                      <a:r>
                        <a:t>208</a:t>
                      </a:r>
                    </a:p>
                  </a:txBody>
                  <a:tcPr anchor="ctr">
                    <a:solidFill>
                      <a:srgbClr val="EFEFEF"/>
                    </a:solidFill>
                  </a:tcPr>
                </a:tc>
                <a:tc>
                  <a:txBody>
                    <a:bodyPr/>
                    <a:lstStyle/>
                    <a:p>
                      <a:pPr algn="ctr">
                        <a:defRPr sz="900">
                          <a:latin typeface="Montserrat"/>
                        </a:defRPr>
                      </a:pPr>
                      <a:r>
                        <a:t>118</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35</a:t>
                      </a:r>
                    </a:p>
                  </a:txBody>
                  <a:tcPr anchor="ctr">
                    <a:solidFill>
                      <a:srgbClr val="EFEFEF"/>
                    </a:solidFill>
                  </a:tcPr>
                </a:tc>
              </a:tr>
              <a:tr h="230400">
                <a:tc>
                  <a:txBody>
                    <a:bodyPr/>
                    <a:lstStyle/>
                    <a:p>
                      <a:pPr algn="l">
                        <a:defRPr sz="900">
                          <a:latin typeface="Montserrat"/>
                        </a:defRPr>
                      </a:pPr>
                      <a:r>
                        <a:t>HGZ 5 Nogales</a:t>
                      </a:r>
                    </a:p>
                  </a:txBody>
                  <a:tcPr anchor="ctr">
                    <a:solidFill>
                      <a:srgbClr val="FFFFFF"/>
                    </a:solidFill>
                  </a:tcPr>
                </a:tc>
                <a:tc>
                  <a:txBody>
                    <a:bodyPr/>
                    <a:lstStyle/>
                    <a:p>
                      <a:pPr algn="ctr">
                        <a:defRPr sz="900">
                          <a:latin typeface="Montserrat"/>
                        </a:defRPr>
                      </a:pPr>
                      <a:r>
                        <a:t>Marzo de 2018</a:t>
                      </a:r>
                    </a:p>
                  </a:txBody>
                  <a:tcPr anchor="ctr">
                    <a:solidFill>
                      <a:srgbClr val="FFFFFF"/>
                    </a:solidFill>
                  </a:tcPr>
                </a:tc>
                <a:tc>
                  <a:txBody>
                    <a:bodyPr/>
                    <a:lstStyle/>
                    <a:p>
                      <a:pPr algn="ctr">
                        <a:defRPr sz="900">
                          <a:latin typeface="Montserrat"/>
                        </a:defRPr>
                      </a:pPr>
                      <a:r>
                        <a:t>158</a:t>
                      </a:r>
                    </a:p>
                  </a:txBody>
                  <a:tcPr anchor="ctr">
                    <a:solidFill>
                      <a:srgbClr val="FFFFFF"/>
                    </a:solidFill>
                  </a:tcPr>
                </a:tc>
                <a:tc>
                  <a:txBody>
                    <a:bodyPr/>
                    <a:lstStyle/>
                    <a:p>
                      <a:pPr algn="ctr">
                        <a:defRPr sz="900">
                          <a:latin typeface="Montserrat"/>
                        </a:defRPr>
                      </a:pPr>
                      <a:r>
                        <a:t>77</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a:txBody>
                    <a:bodyPr/>
                    <a:lstStyle/>
                    <a:p>
                      <a:pPr algn="l">
                        <a:defRPr sz="900">
                          <a:latin typeface="Montserrat"/>
                        </a:defRPr>
                      </a:pPr>
                      <a:r>
                        <a:t>HGZ 15 Dr. Ernesto Ramos Johnson Bours</a:t>
                      </a:r>
                    </a:p>
                  </a:txBody>
                  <a:tcPr anchor="ctr">
                    <a:solidFill>
                      <a:srgbClr val="EFEFEF"/>
                    </a:solidFill>
                  </a:tcPr>
                </a:tc>
                <a:tc>
                  <a:txBody>
                    <a:bodyPr/>
                    <a:lstStyle/>
                    <a:p>
                      <a:pPr algn="ctr">
                        <a:defRPr sz="900">
                          <a:latin typeface="Montserrat"/>
                        </a:defRPr>
                      </a:pPr>
                      <a:r>
                        <a:t>Enero de 2026</a:t>
                      </a:r>
                    </a:p>
                  </a:txBody>
                  <a:tcPr anchor="ctr">
                    <a:solidFill>
                      <a:srgbClr val="EFEFEF"/>
                    </a:solidFill>
                  </a:tcPr>
                </a:tc>
                <a:tc>
                  <a:txBody>
                    <a:bodyPr/>
                    <a:lstStyle/>
                    <a:p>
                      <a:pPr algn="ctr">
                        <a:defRPr sz="900">
                          <a:latin typeface="Montserrat"/>
                        </a:defRPr>
                      </a:pPr>
                      <a:r>
                        <a:t>92</a:t>
                      </a:r>
                    </a:p>
                  </a:txBody>
                  <a:tcPr anchor="ctr">
                    <a:solidFill>
                      <a:srgbClr val="EFEFEF"/>
                    </a:solidFill>
                  </a:tcPr>
                </a:tc>
                <a:tc>
                  <a:txBody>
                    <a:bodyPr/>
                    <a:lstStyle/>
                    <a:p>
                      <a:pPr algn="ctr">
                        <a:defRPr sz="900">
                          <a:latin typeface="Montserrat"/>
                        </a:defRPr>
                      </a:pPr>
                      <a:r>
                        <a:t>38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6</a:t>
                      </a:r>
                    </a:p>
                  </a:txBody>
                  <a:tcPr anchor="ctr">
                    <a:solidFill>
                      <a:srgbClr val="EFEFEF"/>
                    </a:solidFill>
                  </a:tcPr>
                </a:tc>
                <a:tc>
                  <a:txBody>
                    <a:bodyPr/>
                    <a:lstStyle/>
                    <a:p>
                      <a:pPr algn="ctr">
                        <a:defRPr sz="900">
                          <a:latin typeface="Montserrat"/>
                        </a:defRPr>
                      </a:pPr>
                      <a:r>
                        <a:t>11</a:t>
                      </a:r>
                    </a:p>
                  </a:txBody>
                  <a:tcPr anchor="ctr">
                    <a:solidFill>
                      <a:srgbClr val="EFEFEF"/>
                    </a:solidFill>
                  </a:tcPr>
                </a:tc>
              </a:tr>
              <a:tr h="230400">
                <a:tc>
                  <a:txBody>
                    <a:bodyPr/>
                    <a:lstStyle/>
                    <a:p>
                      <a:pPr algn="l">
                        <a:defRPr sz="900">
                          <a:latin typeface="Montserrat"/>
                        </a:defRPr>
                      </a:pPr>
                      <a:r>
                        <a:t>HGZ 16</a:t>
                      </a:r>
                    </a:p>
                  </a:txBody>
                  <a:tcPr anchor="ctr">
                    <a:solidFill>
                      <a:srgbClr val="FFFFFF"/>
                    </a:solidFill>
                  </a:tcPr>
                </a:tc>
                <a:tc>
                  <a:txBody>
                    <a:bodyPr/>
                    <a:lstStyle/>
                    <a:p>
                      <a:pPr algn="ctr">
                        <a:defRPr sz="900">
                          <a:latin typeface="Montserrat"/>
                        </a:defRPr>
                      </a:pPr>
                      <a:r>
                        <a:t>Febrero de 2026</a:t>
                      </a:r>
                    </a:p>
                  </a:txBody>
                  <a:tcPr anchor="ctr">
                    <a:solidFill>
                      <a:srgbClr val="FFFFFF"/>
                    </a:solidFill>
                  </a:tcPr>
                </a:tc>
                <a:tc>
                  <a:txBody>
                    <a:bodyPr/>
                    <a:lstStyle/>
                    <a:p>
                      <a:pPr algn="ctr">
                        <a:defRPr sz="900">
                          <a:latin typeface="Montserrat"/>
                        </a:defRPr>
                      </a:pPr>
                      <a:r>
                        <a:t>107</a:t>
                      </a:r>
                    </a:p>
                  </a:txBody>
                  <a:tcPr anchor="ctr">
                    <a:solidFill>
                      <a:srgbClr val="FFFFFF"/>
                    </a:solidFill>
                  </a:tcPr>
                </a:tc>
                <a:tc>
                  <a:txBody>
                    <a:bodyPr/>
                    <a:lstStyle/>
                    <a:p>
                      <a:pPr algn="ctr">
                        <a:defRPr sz="900">
                          <a:latin typeface="Montserrat"/>
                        </a:defRPr>
                      </a:pPr>
                      <a:r>
                        <a:t>66</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5</a:t>
                      </a:r>
                    </a:p>
                  </a:txBody>
                  <a:tcPr anchor="ctr">
                    <a:solidFill>
                      <a:srgbClr val="FFFFFF"/>
                    </a:solidFill>
                  </a:tcPr>
                </a:tc>
                <a:tc>
                  <a:txBody>
                    <a:bodyPr/>
                    <a:lstStyle/>
                    <a:p>
                      <a:pPr algn="ctr">
                        <a:defRPr sz="900">
                          <a:latin typeface="Montserrat"/>
                        </a:defRPr>
                      </a:pPr>
                      <a:r>
                        <a:t>32</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1,468</a:t>
                      </a:r>
                    </a:p>
                  </a:txBody>
                  <a:tcPr anchor="ctr">
                    <a:solidFill>
                      <a:srgbClr val="D3E9E7"/>
                    </a:solidFill>
                  </a:tcPr>
                </a:tc>
                <a:tc>
                  <a:txBody>
                    <a:bodyPr/>
                    <a:lstStyle/>
                    <a:p>
                      <a:pPr algn="ctr">
                        <a:defRPr sz="900" b="1">
                          <a:solidFill>
                            <a:srgbClr val="006556"/>
                          </a:solidFill>
                          <a:latin typeface="Montserrat"/>
                        </a:defRPr>
                      </a:pPr>
                      <a:r>
                        <a:t>782</a:t>
                      </a:r>
                    </a:p>
                  </a:txBody>
                  <a:tcPr anchor="ctr">
                    <a:solidFill>
                      <a:srgbClr val="D3E9E7"/>
                    </a:solidFill>
                  </a:tcPr>
                </a:tc>
                <a:tc>
                  <a:txBody>
                    <a:bodyPr/>
                    <a:lstStyle/>
                    <a:p>
                      <a:pPr algn="ctr">
                        <a:defRPr sz="900" b="1">
                          <a:solidFill>
                            <a:srgbClr val="006556"/>
                          </a:solidFill>
                          <a:latin typeface="Montserrat"/>
                        </a:defRPr>
                      </a:pPr>
                      <a:r>
                        <a:t>68</a:t>
                      </a:r>
                    </a:p>
                  </a:txBody>
                  <a:tcPr anchor="ctr">
                    <a:solidFill>
                      <a:srgbClr val="D3E9E7"/>
                    </a:solidFill>
                  </a:tcPr>
                </a:tc>
                <a:tc>
                  <a:txBody>
                    <a:bodyPr/>
                    <a:lstStyle/>
                    <a:p>
                      <a:pPr algn="ctr">
                        <a:defRPr sz="900" b="1">
                          <a:solidFill>
                            <a:srgbClr val="006556"/>
                          </a:solidFill>
                          <a:latin typeface="Montserrat"/>
                        </a:defRPr>
                      </a:pPr>
                      <a:r>
                        <a:t>59</a:t>
                      </a:r>
                    </a:p>
                  </a:txBody>
                  <a:tcPr anchor="ctr">
                    <a:solidFill>
                      <a:srgbClr val="D3E9E7"/>
                    </a:solidFill>
                  </a:tcPr>
                </a:tc>
                <a:tc>
                  <a:txBody>
                    <a:bodyPr/>
                    <a:lstStyle/>
                    <a:p>
                      <a:pPr algn="ctr">
                        <a:defRPr sz="900" b="1">
                          <a:solidFill>
                            <a:srgbClr val="006556"/>
                          </a:solidFill>
                          <a:latin typeface="Montserrat"/>
                        </a:defRPr>
                      </a:pPr>
                      <a:r>
                        <a:t>273</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75600" y="3668400"/>
          <a:ext cx="7650000" cy="9216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HES 2 CMN Noroeste Obregón</a:t>
                      </a:r>
                    </a:p>
                  </a:txBody>
                  <a:tcPr anchor="ctr">
                    <a:solidFill>
                      <a:srgbClr val="FFFFFF"/>
                    </a:solidFill>
                  </a:tcPr>
                </a:tc>
                <a:tc>
                  <a:txBody>
                    <a:bodyPr/>
                    <a:lstStyle/>
                    <a:p>
                      <a:pPr algn="ctr">
                        <a:defRPr sz="900">
                          <a:latin typeface="Montserrat"/>
                        </a:defRPr>
                      </a:pPr>
                      <a:r>
                        <a:t>Septiembre de 1988</a:t>
                      </a:r>
                    </a:p>
                  </a:txBody>
                  <a:tcPr anchor="ctr">
                    <a:solidFill>
                      <a:srgbClr val="FFFFFF"/>
                    </a:solidFill>
                  </a:tcPr>
                </a:tc>
                <a:tc>
                  <a:txBody>
                    <a:bodyPr/>
                    <a:lstStyle/>
                    <a:p>
                      <a:pPr algn="ctr">
                        <a:defRPr sz="900">
                          <a:latin typeface="Montserrat"/>
                        </a:defRPr>
                      </a:pPr>
                      <a:r>
                        <a:t>188</a:t>
                      </a:r>
                    </a:p>
                  </a:txBody>
                  <a:tcPr anchor="ctr">
                    <a:solidFill>
                      <a:srgbClr val="FFFFFF"/>
                    </a:solidFill>
                  </a:tcPr>
                </a:tc>
                <a:tc>
                  <a:txBody>
                    <a:bodyPr/>
                    <a:lstStyle/>
                    <a:p>
                      <a:pPr algn="ctr">
                        <a:defRPr sz="900">
                          <a:latin typeface="Montserrat"/>
                        </a:defRPr>
                      </a:pPr>
                      <a:r>
                        <a:t>128</a:t>
                      </a:r>
                    </a:p>
                  </a:txBody>
                  <a:tcPr anchor="ctr">
                    <a:solidFill>
                      <a:srgbClr val="FFFFFF"/>
                    </a:solidFill>
                  </a:tcPr>
                </a:tc>
                <a:tc>
                  <a:txBody>
                    <a:bodyPr/>
                    <a:lstStyle/>
                    <a:p>
                      <a:pPr algn="ctr">
                        <a:defRPr sz="900">
                          <a:latin typeface="Montserrat"/>
                        </a:defRPr>
                      </a:pPr>
                      <a:r>
                        <a:t>29</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38</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188</a:t>
                      </a:r>
                    </a:p>
                  </a:txBody>
                  <a:tcPr anchor="ctr">
                    <a:solidFill>
                      <a:srgbClr val="D3E9E7"/>
                    </a:solidFill>
                  </a:tcPr>
                </a:tc>
                <a:tc>
                  <a:txBody>
                    <a:bodyPr/>
                    <a:lstStyle/>
                    <a:p>
                      <a:pPr algn="ctr">
                        <a:defRPr sz="900" b="1">
                          <a:solidFill>
                            <a:srgbClr val="006556"/>
                          </a:solidFill>
                          <a:latin typeface="Montserrat"/>
                        </a:defRPr>
                      </a:pPr>
                      <a:r>
                        <a:t>128</a:t>
                      </a:r>
                    </a:p>
                  </a:txBody>
                  <a:tcPr anchor="ctr">
                    <a:solidFill>
                      <a:srgbClr val="D3E9E7"/>
                    </a:solidFill>
                  </a:tcPr>
                </a:tc>
                <a:tc>
                  <a:txBody>
                    <a:bodyPr/>
                    <a:lstStyle/>
                    <a:p>
                      <a:pPr algn="ctr">
                        <a:defRPr sz="900" b="1">
                          <a:solidFill>
                            <a:srgbClr val="006556"/>
                          </a:solidFill>
                          <a:latin typeface="Montserrat"/>
                        </a:defRPr>
                      </a:pPr>
                      <a:r>
                        <a:t>29</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c>
                  <a:txBody>
                    <a:bodyPr/>
                    <a:lstStyle/>
                    <a:p>
                      <a:pPr algn="ctr">
                        <a:defRPr sz="900" b="1">
                          <a:solidFill>
                            <a:srgbClr val="006556"/>
                          </a:solidFill>
                          <a:latin typeface="Montserrat"/>
                        </a:defRPr>
                      </a:pPr>
                      <a:r>
                        <a:t>38</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1,656</a:t>
                      </a:r>
                    </a:p>
                  </a:txBody>
                  <a:tcPr anchor="ctr">
                    <a:solidFill>
                      <a:srgbClr val="D3E9E7"/>
                    </a:solidFill>
                  </a:tcPr>
                </a:tc>
                <a:tc>
                  <a:txBody>
                    <a:bodyPr/>
                    <a:lstStyle/>
                    <a:p>
                      <a:pPr algn="ctr">
                        <a:defRPr sz="900" b="1">
                          <a:solidFill>
                            <a:srgbClr val="006556"/>
                          </a:solidFill>
                          <a:latin typeface="Montserrat"/>
                        </a:defRPr>
                      </a:pPr>
                      <a:r>
                        <a:t>910</a:t>
                      </a:r>
                    </a:p>
                  </a:txBody>
                  <a:tcPr anchor="ctr">
                    <a:solidFill>
                      <a:srgbClr val="D3E9E7"/>
                    </a:solidFill>
                  </a:tcPr>
                </a:tc>
                <a:tc>
                  <a:txBody>
                    <a:bodyPr/>
                    <a:lstStyle/>
                    <a:p>
                      <a:pPr algn="ctr">
                        <a:defRPr sz="900" b="1">
                          <a:solidFill>
                            <a:srgbClr val="006556"/>
                          </a:solidFill>
                          <a:latin typeface="Montserrat"/>
                        </a:defRPr>
                      </a:pPr>
                      <a:r>
                        <a:t>97</a:t>
                      </a:r>
                    </a:p>
                  </a:txBody>
                  <a:tcPr anchor="ctr">
                    <a:solidFill>
                      <a:srgbClr val="D3E9E7"/>
                    </a:solidFill>
                  </a:tcPr>
                </a:tc>
                <a:tc>
                  <a:txBody>
                    <a:bodyPr/>
                    <a:lstStyle/>
                    <a:p>
                      <a:pPr algn="ctr">
                        <a:defRPr sz="900" b="1">
                          <a:solidFill>
                            <a:srgbClr val="006556"/>
                          </a:solidFill>
                          <a:latin typeface="Montserrat"/>
                        </a:defRPr>
                      </a:pPr>
                      <a:r>
                        <a:t>69</a:t>
                      </a:r>
                    </a:p>
                  </a:txBody>
                  <a:tcPr anchor="ctr">
                    <a:solidFill>
                      <a:srgbClr val="D3E9E7"/>
                    </a:solidFill>
                  </a:tcPr>
                </a:tc>
                <a:tc>
                  <a:txBody>
                    <a:bodyPr/>
                    <a:lstStyle/>
                    <a:p>
                      <a:pPr algn="ctr">
                        <a:defRPr sz="900" b="1">
                          <a:solidFill>
                            <a:srgbClr val="006556"/>
                          </a:solidFill>
                          <a:latin typeface="Montserrat"/>
                        </a:defRPr>
                      </a:pPr>
                      <a:r>
                        <a:t>311</a:t>
                      </a:r>
                    </a:p>
                  </a:txBody>
                  <a:tcPr anchor="ctr">
                    <a:solidFill>
                      <a:srgbClr val="D3E9E7"/>
                    </a:solidFill>
                  </a:tcPr>
                </a:tc>
              </a:tr>
            </a:tbl>
          </a:graphicData>
        </a:graphic>
      </p:graphicFrame>
      <p:sp>
        <p:nvSpPr>
          <p:cNvPr id="7" name="TextBox 6"/>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30000"/>
            <a:ext cx="7473600" cy="381600"/>
          </a:xfrm>
          <a:prstGeom prst="rect">
            <a:avLst/>
          </a:prstGeom>
          <a:noFill/>
        </p:spPr>
        <p:txBody>
          <a:bodyPr wrap="none">
            <a:spAutoFit/>
          </a:bodyPr>
          <a:lstStyle/>
          <a:p>
            <a:pPr algn="l">
              <a:defRPr sz="2100" b="1">
                <a:solidFill>
                  <a:srgbClr val="BC955C"/>
                </a:solidFill>
                <a:latin typeface="Montserrat"/>
              </a:defRPr>
            </a:pPr>
            <a:r>
              <a:t>Equipo relevante</a:t>
            </a:r>
          </a:p>
        </p:txBody>
      </p:sp>
      <p:cxnSp>
        <p:nvCxnSpPr>
          <p:cNvPr id="4" name="Connector 3"/>
          <p:cNvCxnSpPr/>
          <p:nvPr/>
        </p:nvCxnSpPr>
        <p:spPr>
          <a:xfrm>
            <a:off x="147600" y="10116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93600" y="1692000"/>
          <a:ext cx="7534799" cy="864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UMAE</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HES 2 CMN Noroeste Obregón</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5</a:t>
                      </a:r>
                    </a:p>
                  </a:txBody>
                  <a:tcPr>
                    <a:solidFill>
                      <a:srgbClr val="FFFFFF"/>
                    </a:solidFill>
                  </a:tcPr>
                </a:tc>
                <a:tc>
                  <a:txBody>
                    <a:bodyPr/>
                    <a:lstStyle/>
                    <a:p>
                      <a:pPr algn="ctr">
                        <a:defRPr sz="1000">
                          <a:latin typeface="Montserrat"/>
                        </a:defRPr>
                      </a:pPr>
                      <a:r>
                        <a:t>37</a:t>
                      </a:r>
                    </a:p>
                  </a:txBody>
                  <a:tcPr>
                    <a:solidFill>
                      <a:srgbClr val="FFFFFF"/>
                    </a:solidFill>
                  </a:tcPr>
                </a:tc>
                <a:tc>
                  <a:txBody>
                    <a:bodyPr/>
                    <a:lstStyle/>
                    <a:p>
                      <a:pPr algn="ctr">
                        <a:defRPr sz="1000">
                          <a:latin typeface="Montserrat"/>
                        </a:defRPr>
                      </a:pPr>
                      <a:r>
                        <a:t>2</a:t>
                      </a:r>
                    </a:p>
                  </a:txBody>
                  <a:tcPr>
                    <a:solidFill>
                      <a:srgbClr val="FFFFFF"/>
                    </a:solidFill>
                  </a:tcPr>
                </a:tc>
              </a:tr>
              <a:tr h="216000">
                <a:tc>
                  <a:txBody>
                    <a:bodyPr/>
                    <a:lstStyle/>
                    <a:p>
                      <a:pPr algn="l">
                        <a:defRPr sz="1000" b="1">
                          <a:solidFill>
                            <a:srgbClr val="006556"/>
                          </a:solidFill>
                          <a:latin typeface="Montserrat"/>
                        </a:defRPr>
                      </a:pPr>
                      <a:r>
                        <a:t>Subtotal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5</a:t>
                      </a:r>
                    </a:p>
                  </a:txBody>
                  <a:tcPr>
                    <a:solidFill>
                      <a:srgbClr val="D3E9E7"/>
                    </a:solidFill>
                  </a:tcPr>
                </a:tc>
                <a:tc>
                  <a:txBody>
                    <a:bodyPr/>
                    <a:lstStyle/>
                    <a:p>
                      <a:pPr algn="ctr">
                        <a:defRPr sz="1000" b="1">
                          <a:solidFill>
                            <a:srgbClr val="006556"/>
                          </a:solidFill>
                          <a:latin typeface="Montserrat"/>
                        </a:defRPr>
                      </a:pPr>
                      <a:r>
                        <a:t>37</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6</a:t>
                      </a:r>
                    </a:p>
                  </a:txBody>
                  <a:tcPr>
                    <a:solidFill>
                      <a:srgbClr val="D3E9E7"/>
                    </a:solidFill>
                  </a:tcPr>
                </a:tc>
                <a:tc>
                  <a:txBody>
                    <a:bodyPr/>
                    <a:lstStyle/>
                    <a:p>
                      <a:pPr algn="ctr">
                        <a:defRPr sz="1000" b="1">
                          <a:solidFill>
                            <a:srgbClr val="006556"/>
                          </a:solidFill>
                          <a:latin typeface="Montserrat"/>
                        </a:defRPr>
                      </a:pPr>
                      <a:r>
                        <a:t>11</a:t>
                      </a:r>
                    </a:p>
                  </a:txBody>
                  <a:tcPr>
                    <a:solidFill>
                      <a:srgbClr val="D3E9E7"/>
                    </a:solidFill>
                  </a:tcPr>
                </a:tc>
                <a:tc>
                  <a:txBody>
                    <a:bodyPr/>
                    <a:lstStyle/>
                    <a:p>
                      <a:pPr algn="ctr">
                        <a:defRPr sz="1000" b="1">
                          <a:solidFill>
                            <a:srgbClr val="006556"/>
                          </a:solidFill>
                          <a:latin typeface="Montserrat"/>
                        </a:defRPr>
                      </a:pPr>
                      <a:r>
                        <a:t>159</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6" name="Rectangle 5"/>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62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54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6" name="Connector 5"/>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151200" y="1692000"/>
          <a:ext cx="7473599" cy="2721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40 F. Sarabia</a:t>
                      </a:r>
                    </a:p>
                  </a:txBody>
                  <a:tcPr marL="0" marR="0" marT="0" marB="0">
                    <a:solidFill>
                      <a:srgbClr val="FFFFFF"/>
                    </a:solidFill>
                  </a:tcPr>
                </a:tc>
                <a:tc>
                  <a:txBody>
                    <a:bodyPr/>
                    <a:lstStyle/>
                    <a:p>
                      <a:pPr algn="ctr">
                        <a:defRPr sz="1000">
                          <a:latin typeface="Montserrat"/>
                        </a:defRPr>
                      </a:pPr>
                      <a:r>
                        <a:t>6,640</a:t>
                      </a:r>
                    </a:p>
                  </a:txBody>
                  <a:tcPr marL="0" marR="0" marT="0" marB="0">
                    <a:solidFill>
                      <a:srgbClr val="FFFFFF"/>
                    </a:solidFill>
                  </a:tcPr>
                </a:tc>
                <a:tc>
                  <a:txBody>
                    <a:bodyPr/>
                    <a:lstStyle/>
                    <a:p>
                      <a:pPr algn="ctr">
                        <a:defRPr sz="1000">
                          <a:latin typeface="Montserrat"/>
                        </a:defRPr>
                      </a:pPr>
                      <a:r>
                        <a:t>313</a:t>
                      </a:r>
                    </a:p>
                  </a:txBody>
                  <a:tcPr marL="0" marR="0" marT="0" marB="0">
                    <a:solidFill>
                      <a:srgbClr val="FFFFFF"/>
                    </a:solidFill>
                  </a:tcPr>
                </a:tc>
                <a:tc>
                  <a:txBody>
                    <a:bodyPr/>
                    <a:lstStyle/>
                    <a:p>
                      <a:pPr algn="ctr">
                        <a:defRPr sz="1000">
                          <a:latin typeface="Montserrat"/>
                        </a:defRPr>
                      </a:pPr>
                      <a:r>
                        <a:t>2,558</a:t>
                      </a:r>
                    </a:p>
                  </a:txBody>
                  <a:tcPr marL="0" marR="0" marT="0" marB="0">
                    <a:solidFill>
                      <a:srgbClr val="ECD3D9"/>
                    </a:solidFill>
                  </a:tcPr>
                </a:tc>
                <a:tc>
                  <a:txBody>
                    <a:bodyPr/>
                    <a:lstStyle/>
                    <a:p>
                      <a:pPr algn="ctr">
                        <a:defRPr sz="1000">
                          <a:latin typeface="Montserrat"/>
                        </a:defRPr>
                      </a:pPr>
                      <a:r>
                        <a:t>8,000</a:t>
                      </a:r>
                    </a:p>
                  </a:txBody>
                  <a:tcPr marL="0" marR="0" marT="0" marB="0">
                    <a:solidFill>
                      <a:srgbClr val="ECD3D9"/>
                    </a:solidFill>
                  </a:tcPr>
                </a:tc>
                <a:tc>
                  <a:txBody>
                    <a:bodyPr/>
                    <a:lstStyle/>
                    <a:p>
                      <a:pPr algn="ctr">
                        <a:defRPr sz="1000">
                          <a:latin typeface="Montserrat"/>
                        </a:defRPr>
                      </a:pPr>
                      <a:r>
                        <a:t>32.0%</a:t>
                      </a:r>
                    </a:p>
                  </a:txBody>
                  <a:tcPr marL="0" marR="0" marT="0" marB="0">
                    <a:solidFill>
                      <a:srgbClr val="ECD3D9"/>
                    </a:solidFill>
                  </a:tcPr>
                </a:tc>
              </a:tr>
              <a:tr h="151200">
                <a:tc>
                  <a:txBody>
                    <a:bodyPr/>
                    <a:lstStyle/>
                    <a:p>
                      <a:pPr algn="l">
                        <a:defRPr sz="1000">
                          <a:latin typeface="Montserrat"/>
                        </a:defRPr>
                      </a:pPr>
                      <a:r>
                        <a:t>UMF 41 P. Colorado</a:t>
                      </a:r>
                    </a:p>
                  </a:txBody>
                  <a:tcPr marL="0" marR="0" marT="0" marB="0">
                    <a:solidFill>
                      <a:srgbClr val="EFEFEF"/>
                    </a:solidFill>
                  </a:tcPr>
                </a:tc>
                <a:tc>
                  <a:txBody>
                    <a:bodyPr/>
                    <a:lstStyle/>
                    <a:p>
                      <a:pPr algn="ctr">
                        <a:defRPr sz="1000">
                          <a:latin typeface="Montserrat"/>
                        </a:defRPr>
                      </a:pPr>
                      <a:r>
                        <a:t>5,008</a:t>
                      </a:r>
                    </a:p>
                  </a:txBody>
                  <a:tcPr marL="0" marR="0" marT="0" marB="0">
                    <a:solidFill>
                      <a:srgbClr val="EFEFEF"/>
                    </a:solidFill>
                  </a:tcPr>
                </a:tc>
                <a:tc>
                  <a:txBody>
                    <a:bodyPr/>
                    <a:lstStyle/>
                    <a:p>
                      <a:pPr algn="ctr">
                        <a:defRPr sz="1000">
                          <a:latin typeface="Montserrat"/>
                        </a:defRPr>
                      </a:pPr>
                      <a:r>
                        <a:t>441</a:t>
                      </a:r>
                    </a:p>
                  </a:txBody>
                  <a:tcPr marL="0" marR="0" marT="0" marB="0">
                    <a:solidFill>
                      <a:srgbClr val="EFEFEF"/>
                    </a:solidFill>
                  </a:tcPr>
                </a:tc>
                <a:tc>
                  <a:txBody>
                    <a:bodyPr/>
                    <a:lstStyle/>
                    <a:p>
                      <a:pPr algn="ctr">
                        <a:defRPr sz="1000">
                          <a:latin typeface="Montserrat"/>
                        </a:defRPr>
                      </a:pPr>
                      <a:r>
                        <a:t>2,177</a:t>
                      </a:r>
                    </a:p>
                  </a:txBody>
                  <a:tcPr marL="0" marR="0" marT="0" marB="0">
                    <a:solidFill>
                      <a:srgbClr val="ECD3D9"/>
                    </a:solidFill>
                  </a:tcPr>
                </a:tc>
                <a:tc>
                  <a:txBody>
                    <a:bodyPr/>
                    <a:lstStyle/>
                    <a:p>
                      <a:pPr algn="ctr">
                        <a:defRPr sz="1000">
                          <a:latin typeface="Montserrat"/>
                        </a:defRPr>
                      </a:pPr>
                      <a:r>
                        <a:t>6,000</a:t>
                      </a:r>
                    </a:p>
                  </a:txBody>
                  <a:tcPr marL="0" marR="0" marT="0" marB="0">
                    <a:solidFill>
                      <a:srgbClr val="ECD3D9"/>
                    </a:solidFill>
                  </a:tcPr>
                </a:tc>
                <a:tc>
                  <a:txBody>
                    <a:bodyPr/>
                    <a:lstStyle/>
                    <a:p>
                      <a:pPr algn="ctr">
                        <a:defRPr sz="1000">
                          <a:latin typeface="Montserrat"/>
                        </a:defRPr>
                      </a:pPr>
                      <a:r>
                        <a:t>36.3%</a:t>
                      </a:r>
                    </a:p>
                  </a:txBody>
                  <a:tcPr marL="0" marR="0" marT="0" marB="0">
                    <a:solidFill>
                      <a:srgbClr val="ECD3D9"/>
                    </a:solidFill>
                  </a:tcPr>
                </a:tc>
              </a:tr>
              <a:tr h="151200">
                <a:tc>
                  <a:txBody>
                    <a:bodyPr/>
                    <a:lstStyle/>
                    <a:p>
                      <a:pPr algn="l">
                        <a:defRPr sz="1000">
                          <a:latin typeface="Montserrat"/>
                        </a:defRPr>
                      </a:pPr>
                      <a:r>
                        <a:t>UMF 45 Bahía Lobos</a:t>
                      </a:r>
                    </a:p>
                  </a:txBody>
                  <a:tcPr marL="0" marR="0" marT="0" marB="0">
                    <a:solidFill>
                      <a:srgbClr val="FFFFFF"/>
                    </a:solidFill>
                  </a:tcPr>
                </a:tc>
                <a:tc>
                  <a:txBody>
                    <a:bodyPr/>
                    <a:lstStyle/>
                    <a:p>
                      <a:pPr algn="ctr">
                        <a:defRPr sz="1000">
                          <a:latin typeface="Montserrat"/>
                        </a:defRPr>
                      </a:pPr>
                      <a:r>
                        <a:t>3,629</a:t>
                      </a:r>
                    </a:p>
                  </a:txBody>
                  <a:tcPr marL="0" marR="0" marT="0" marB="0">
                    <a:solidFill>
                      <a:srgbClr val="FFFFFF"/>
                    </a:solidFill>
                  </a:tcPr>
                </a:tc>
                <a:tc>
                  <a:txBody>
                    <a:bodyPr/>
                    <a:lstStyle/>
                    <a:p>
                      <a:pPr algn="ctr">
                        <a:defRPr sz="1000">
                          <a:latin typeface="Montserrat"/>
                        </a:defRPr>
                      </a:pPr>
                      <a:r>
                        <a:t>256</a:t>
                      </a:r>
                    </a:p>
                  </a:txBody>
                  <a:tcPr marL="0" marR="0" marT="0" marB="0">
                    <a:solidFill>
                      <a:srgbClr val="FFFFFF"/>
                    </a:solidFill>
                  </a:tcPr>
                </a:tc>
                <a:tc>
                  <a:txBody>
                    <a:bodyPr/>
                    <a:lstStyle/>
                    <a:p>
                      <a:pPr algn="ctr">
                        <a:defRPr sz="1000">
                          <a:latin typeface="Montserrat"/>
                        </a:defRPr>
                      </a:pPr>
                      <a:r>
                        <a:t>1,425</a:t>
                      </a:r>
                    </a:p>
                  </a:txBody>
                  <a:tcPr marL="0" marR="0" marT="0" marB="0">
                    <a:solidFill>
                      <a:srgbClr val="ECD3D9"/>
                    </a:solidFill>
                  </a:tcPr>
                </a:tc>
                <a:tc>
                  <a:txBody>
                    <a:bodyPr/>
                    <a:lstStyle/>
                    <a:p>
                      <a:pPr algn="ctr">
                        <a:defRPr sz="1000">
                          <a:latin typeface="Montserrat"/>
                        </a:defRPr>
                      </a:pPr>
                      <a:r>
                        <a:t>5,000</a:t>
                      </a:r>
                    </a:p>
                  </a:txBody>
                  <a:tcPr marL="0" marR="0" marT="0" marB="0">
                    <a:solidFill>
                      <a:srgbClr val="ECD3D9"/>
                    </a:solidFill>
                  </a:tcPr>
                </a:tc>
                <a:tc>
                  <a:txBody>
                    <a:bodyPr/>
                    <a:lstStyle/>
                    <a:p>
                      <a:pPr algn="ctr">
                        <a:defRPr sz="1000">
                          <a:latin typeface="Montserrat"/>
                        </a:defRPr>
                      </a:pPr>
                      <a:r>
                        <a:t>28.5%</a:t>
                      </a:r>
                    </a:p>
                  </a:txBody>
                  <a:tcPr marL="0" marR="0" marT="0" marB="0">
                    <a:solidFill>
                      <a:srgbClr val="ECD3D9"/>
                    </a:solidFill>
                  </a:tcPr>
                </a:tc>
              </a:tr>
              <a:tr h="151200">
                <a:tc>
                  <a:txBody>
                    <a:bodyPr/>
                    <a:lstStyle/>
                    <a:p>
                      <a:pPr algn="l">
                        <a:defRPr sz="1000">
                          <a:latin typeface="Montserrat"/>
                        </a:defRPr>
                      </a:pPr>
                      <a:r>
                        <a:t>UMF 39 Atotonilco</a:t>
                      </a:r>
                    </a:p>
                  </a:txBody>
                  <a:tcPr marL="0" marR="0" marT="0" marB="0">
                    <a:solidFill>
                      <a:srgbClr val="EFEFEF"/>
                    </a:solidFill>
                  </a:tcPr>
                </a:tc>
                <a:tc>
                  <a:txBody>
                    <a:bodyPr/>
                    <a:lstStyle/>
                    <a:p>
                      <a:pPr algn="ctr">
                        <a:defRPr sz="1000">
                          <a:latin typeface="Montserrat"/>
                        </a:defRPr>
                      </a:pPr>
                      <a:r>
                        <a:t>2,947</a:t>
                      </a:r>
                    </a:p>
                  </a:txBody>
                  <a:tcPr marL="0" marR="0" marT="0" marB="0">
                    <a:solidFill>
                      <a:srgbClr val="EFEFEF"/>
                    </a:solidFill>
                  </a:tcPr>
                </a:tc>
                <a:tc>
                  <a:txBody>
                    <a:bodyPr/>
                    <a:lstStyle/>
                    <a:p>
                      <a:pPr algn="ctr">
                        <a:defRPr sz="1000">
                          <a:latin typeface="Montserrat"/>
                        </a:defRPr>
                      </a:pPr>
                      <a:r>
                        <a:t>26</a:t>
                      </a:r>
                    </a:p>
                  </a:txBody>
                  <a:tcPr marL="0" marR="0" marT="0" marB="0">
                    <a:solidFill>
                      <a:srgbClr val="EFEFEF"/>
                    </a:solidFill>
                  </a:tcPr>
                </a:tc>
                <a:tc>
                  <a:txBody>
                    <a:bodyPr/>
                    <a:lstStyle/>
                    <a:p>
                      <a:pPr algn="ctr">
                        <a:defRPr sz="1000">
                          <a:latin typeface="Montserrat"/>
                        </a:defRPr>
                      </a:pPr>
                      <a:r>
                        <a:t>1,247</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31.2%</a:t>
                      </a:r>
                    </a:p>
                  </a:txBody>
                  <a:tcPr marL="0" marR="0" marT="0" marB="0">
                    <a:solidFill>
                      <a:srgbClr val="ECD3D9"/>
                    </a:solidFill>
                  </a:tcPr>
                </a:tc>
              </a:tr>
              <a:tr h="151200">
                <a:tc>
                  <a:txBody>
                    <a:bodyPr/>
                    <a:lstStyle/>
                    <a:p>
                      <a:pPr algn="l">
                        <a:defRPr sz="1000">
                          <a:latin typeface="Montserrat"/>
                        </a:defRPr>
                      </a:pPr>
                      <a:r>
                        <a:t>UMF 25 Ures</a:t>
                      </a:r>
                    </a:p>
                  </a:txBody>
                  <a:tcPr marL="0" marR="0" marT="0" marB="0">
                    <a:solidFill>
                      <a:srgbClr val="FFFFFF"/>
                    </a:solidFill>
                  </a:tcPr>
                </a:tc>
                <a:tc>
                  <a:txBody>
                    <a:bodyPr/>
                    <a:lstStyle/>
                    <a:p>
                      <a:pPr algn="ctr">
                        <a:defRPr sz="1000">
                          <a:latin typeface="Montserrat"/>
                        </a:defRPr>
                      </a:pPr>
                      <a:r>
                        <a:t>11,681</a:t>
                      </a:r>
                    </a:p>
                  </a:txBody>
                  <a:tcPr marL="0" marR="0" marT="0" marB="0">
                    <a:solidFill>
                      <a:srgbClr val="FFFFFF"/>
                    </a:solidFill>
                  </a:tcPr>
                </a:tc>
                <a:tc>
                  <a:txBody>
                    <a:bodyPr/>
                    <a:lstStyle/>
                    <a:p>
                      <a:pPr algn="ctr">
                        <a:defRPr sz="1000">
                          <a:latin typeface="Montserrat"/>
                        </a:defRPr>
                      </a:pPr>
                      <a:r>
                        <a:t>1,277</a:t>
                      </a:r>
                    </a:p>
                  </a:txBody>
                  <a:tcPr marL="0" marR="0" marT="0" marB="0">
                    <a:solidFill>
                      <a:srgbClr val="FFFFFF"/>
                    </a:solidFill>
                  </a:tcPr>
                </a:tc>
                <a:tc>
                  <a:txBody>
                    <a:bodyPr/>
                    <a:lstStyle/>
                    <a:p>
                      <a:pPr algn="ctr">
                        <a:defRPr sz="1000">
                          <a:latin typeface="Montserrat"/>
                        </a:defRPr>
                      </a:pPr>
                      <a:r>
                        <a:t>4,931</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42 Alamos</a:t>
                      </a:r>
                    </a:p>
                  </a:txBody>
                  <a:tcPr marL="0" marR="0" marT="0" marB="0">
                    <a:solidFill>
                      <a:srgbClr val="EFEFEF"/>
                    </a:solidFill>
                  </a:tcPr>
                </a:tc>
                <a:tc>
                  <a:txBody>
                    <a:bodyPr/>
                    <a:lstStyle/>
                    <a:p>
                      <a:pPr algn="ctr">
                        <a:defRPr sz="1000">
                          <a:latin typeface="Montserrat"/>
                        </a:defRPr>
                      </a:pPr>
                      <a:r>
                        <a:t>11,761</a:t>
                      </a:r>
                    </a:p>
                  </a:txBody>
                  <a:tcPr marL="0" marR="0" marT="0" marB="0">
                    <a:solidFill>
                      <a:srgbClr val="EFEFEF"/>
                    </a:solidFill>
                  </a:tcPr>
                </a:tc>
                <a:tc>
                  <a:txBody>
                    <a:bodyPr/>
                    <a:lstStyle/>
                    <a:p>
                      <a:pPr algn="ctr">
                        <a:defRPr sz="1000">
                          <a:latin typeface="Montserrat"/>
                        </a:defRPr>
                      </a:pPr>
                      <a:r>
                        <a:t>861</a:t>
                      </a:r>
                    </a:p>
                  </a:txBody>
                  <a:tcPr marL="0" marR="0" marT="0" marB="0">
                    <a:solidFill>
                      <a:srgbClr val="EFEFEF"/>
                    </a:solidFill>
                  </a:tcPr>
                </a:tc>
                <a:tc>
                  <a:txBody>
                    <a:bodyPr/>
                    <a:lstStyle/>
                    <a:p>
                      <a:pPr algn="ctr">
                        <a:defRPr sz="1000">
                          <a:latin typeface="Montserrat"/>
                        </a:defRPr>
                      </a:pPr>
                      <a:r>
                        <a:t>4,779</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36.8%</a:t>
                      </a:r>
                    </a:p>
                  </a:txBody>
                  <a:tcPr marL="0" marR="0" marT="0" marB="0">
                    <a:solidFill>
                      <a:srgbClr val="ECD3D9"/>
                    </a:solidFill>
                  </a:tcPr>
                </a:tc>
              </a:tr>
              <a:tr h="151200">
                <a:tc>
                  <a:txBody>
                    <a:bodyPr/>
                    <a:lstStyle/>
                    <a:p>
                      <a:pPr algn="l">
                        <a:defRPr sz="1000">
                          <a:latin typeface="Montserrat"/>
                        </a:defRPr>
                      </a:pPr>
                      <a:r>
                        <a:t>UMF 57 Navojoa</a:t>
                      </a:r>
                    </a:p>
                  </a:txBody>
                  <a:tcPr marL="0" marR="0" marT="0" marB="0">
                    <a:solidFill>
                      <a:srgbClr val="FFFFFF"/>
                    </a:solidFill>
                  </a:tcPr>
                </a:tc>
                <a:tc>
                  <a:txBody>
                    <a:bodyPr/>
                    <a:lstStyle/>
                    <a:p>
                      <a:pPr algn="ctr">
                        <a:defRPr sz="1000">
                          <a:latin typeface="Montserrat"/>
                        </a:defRPr>
                      </a:pPr>
                      <a:r>
                        <a:t>40,249</a:t>
                      </a:r>
                    </a:p>
                  </a:txBody>
                  <a:tcPr marL="0" marR="0" marT="0" marB="0">
                    <a:solidFill>
                      <a:srgbClr val="FFFFFF"/>
                    </a:solidFill>
                  </a:tcPr>
                </a:tc>
                <a:tc>
                  <a:txBody>
                    <a:bodyPr/>
                    <a:lstStyle/>
                    <a:p>
                      <a:pPr algn="ctr">
                        <a:defRPr sz="1000">
                          <a:latin typeface="Montserrat"/>
                        </a:defRPr>
                      </a:pPr>
                      <a:r>
                        <a:t>1,047</a:t>
                      </a:r>
                    </a:p>
                  </a:txBody>
                  <a:tcPr marL="0" marR="0" marT="0" marB="0">
                    <a:solidFill>
                      <a:srgbClr val="FFFFFF"/>
                    </a:solidFill>
                  </a:tcPr>
                </a:tc>
                <a:tc>
                  <a:txBody>
                    <a:bodyPr/>
                    <a:lstStyle/>
                    <a:p>
                      <a:pPr algn="ctr">
                        <a:defRPr sz="1000">
                          <a:latin typeface="Montserrat"/>
                        </a:defRPr>
                      </a:pPr>
                      <a:r>
                        <a:t>16,109</a:t>
                      </a:r>
                    </a:p>
                  </a:txBody>
                  <a:tcPr marL="0" marR="0" marT="0" marB="0">
                    <a:solidFill>
                      <a:srgbClr val="ECD3D9"/>
                    </a:solidFill>
                  </a:tcPr>
                </a:tc>
                <a:tc>
                  <a:txBody>
                    <a:bodyPr/>
                    <a:lstStyle/>
                    <a:p>
                      <a:pPr algn="ctr">
                        <a:defRPr sz="1000">
                          <a:latin typeface="Montserrat"/>
                        </a:defRPr>
                      </a:pPr>
                      <a:r>
                        <a:t>39,000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60 Navojoa</a:t>
                      </a:r>
                    </a:p>
                  </a:txBody>
                  <a:tcPr marL="0" marR="0" marT="0" marB="0">
                    <a:solidFill>
                      <a:srgbClr val="EFEFEF"/>
                    </a:solidFill>
                  </a:tcPr>
                </a:tc>
                <a:tc>
                  <a:txBody>
                    <a:bodyPr/>
                    <a:lstStyle/>
                    <a:p>
                      <a:pPr algn="ctr">
                        <a:defRPr sz="1000">
                          <a:latin typeface="Montserrat"/>
                        </a:defRPr>
                      </a:pPr>
                      <a:r>
                        <a:t>38,424</a:t>
                      </a:r>
                    </a:p>
                  </a:txBody>
                  <a:tcPr marL="0" marR="0" marT="0" marB="0">
                    <a:solidFill>
                      <a:srgbClr val="EFEFEF"/>
                    </a:solidFill>
                  </a:tcPr>
                </a:tc>
                <a:tc>
                  <a:txBody>
                    <a:bodyPr/>
                    <a:lstStyle/>
                    <a:p>
                      <a:pPr algn="ctr">
                        <a:defRPr sz="1000">
                          <a:latin typeface="Montserrat"/>
                        </a:defRPr>
                      </a:pPr>
                      <a:r>
                        <a:t>998</a:t>
                      </a:r>
                    </a:p>
                  </a:txBody>
                  <a:tcPr marL="0" marR="0" marT="0" marB="0">
                    <a:solidFill>
                      <a:srgbClr val="EFEFEF"/>
                    </a:solidFill>
                  </a:tcPr>
                </a:tc>
                <a:tc>
                  <a:txBody>
                    <a:bodyPr/>
                    <a:lstStyle/>
                    <a:p>
                      <a:pPr algn="ctr">
                        <a:defRPr sz="1000">
                          <a:latin typeface="Montserrat"/>
                        </a:defRPr>
                      </a:pPr>
                      <a:r>
                        <a:t>15,317</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62 Navojoa</a:t>
                      </a:r>
                    </a:p>
                  </a:txBody>
                  <a:tcPr marL="0" marR="0" marT="0" marB="0">
                    <a:solidFill>
                      <a:srgbClr val="FFFFFF"/>
                    </a:solidFill>
                  </a:tcPr>
                </a:tc>
                <a:tc>
                  <a:txBody>
                    <a:bodyPr/>
                    <a:lstStyle/>
                    <a:p>
                      <a:pPr algn="ctr">
                        <a:defRPr sz="1000">
                          <a:latin typeface="Montserrat"/>
                        </a:defRPr>
                      </a:pPr>
                      <a:r>
                        <a:t>37,524</a:t>
                      </a:r>
                    </a:p>
                  </a:txBody>
                  <a:tcPr marL="0" marR="0" marT="0" marB="0">
                    <a:solidFill>
                      <a:srgbClr val="FFFFFF"/>
                    </a:solidFill>
                  </a:tcPr>
                </a:tc>
                <a:tc>
                  <a:txBody>
                    <a:bodyPr/>
                    <a:lstStyle/>
                    <a:p>
                      <a:pPr algn="ctr">
                        <a:defRPr sz="1000">
                          <a:latin typeface="Montserrat"/>
                        </a:defRPr>
                      </a:pPr>
                      <a:r>
                        <a:t>611</a:t>
                      </a:r>
                    </a:p>
                  </a:txBody>
                  <a:tcPr marL="0" marR="0" marT="0" marB="0">
                    <a:solidFill>
                      <a:srgbClr val="FFFFFF"/>
                    </a:solidFill>
                  </a:tcPr>
                </a:tc>
                <a:tc>
                  <a:txBody>
                    <a:bodyPr/>
                    <a:lstStyle/>
                    <a:p>
                      <a:pPr algn="ctr">
                        <a:defRPr sz="1000">
                          <a:latin typeface="Montserrat"/>
                        </a:defRPr>
                      </a:pPr>
                      <a:r>
                        <a:t>15,294</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40.7%</a:t>
                      </a:r>
                    </a:p>
                  </a:txBody>
                  <a:tcPr marL="0" marR="0" marT="0" marB="0">
                    <a:solidFill>
                      <a:srgbClr val="ECD3D9"/>
                    </a:solidFill>
                  </a:tcPr>
                </a:tc>
              </a:tr>
              <a:tr h="151200">
                <a:tc>
                  <a:txBody>
                    <a:bodyPr/>
                    <a:lstStyle/>
                    <a:p>
                      <a:pPr algn="l">
                        <a:defRPr sz="1000">
                          <a:latin typeface="Montserrat"/>
                        </a:defRPr>
                      </a:pPr>
                      <a:r>
                        <a:t>UMF 63 Hermosillo</a:t>
                      </a:r>
                    </a:p>
                  </a:txBody>
                  <a:tcPr marL="0" marR="0" marT="0" marB="0">
                    <a:solidFill>
                      <a:srgbClr val="EFEFEF"/>
                    </a:solidFill>
                  </a:tcPr>
                </a:tc>
                <a:tc>
                  <a:txBody>
                    <a:bodyPr/>
                    <a:lstStyle/>
                    <a:p>
                      <a:pPr algn="ctr">
                        <a:defRPr sz="1000">
                          <a:latin typeface="Montserrat"/>
                        </a:defRPr>
                      </a:pPr>
                      <a:r>
                        <a:t>65,851</a:t>
                      </a:r>
                    </a:p>
                  </a:txBody>
                  <a:tcPr marL="0" marR="0" marT="0" marB="0">
                    <a:solidFill>
                      <a:srgbClr val="EFEFEF"/>
                    </a:solidFill>
                  </a:tcPr>
                </a:tc>
                <a:tc>
                  <a:txBody>
                    <a:bodyPr/>
                    <a:lstStyle/>
                    <a:p>
                      <a:pPr algn="ctr">
                        <a:defRPr sz="1000">
                          <a:latin typeface="Montserrat"/>
                        </a:defRPr>
                      </a:pPr>
                      <a:r>
                        <a:t>-64</a:t>
                      </a:r>
                    </a:p>
                  </a:txBody>
                  <a:tcPr marL="0" marR="0" marT="0" marB="0">
                    <a:solidFill>
                      <a:srgbClr val="EFEFEF"/>
                    </a:solidFill>
                  </a:tcPr>
                </a:tc>
                <a:tc>
                  <a:txBody>
                    <a:bodyPr/>
                    <a:lstStyle/>
                    <a:p>
                      <a:pPr algn="ctr">
                        <a:defRPr sz="1000">
                          <a:latin typeface="Montserrat"/>
                        </a:defRPr>
                      </a:pPr>
                      <a:r>
                        <a:t>26,445</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41.3%</a:t>
                      </a:r>
                    </a:p>
                  </a:txBody>
                  <a:tcPr marL="0" marR="0" marT="0" marB="0">
                    <a:solidFill>
                      <a:srgbClr val="ECD3D9"/>
                    </a:solidFill>
                  </a:tcPr>
                </a:tc>
              </a:tr>
              <a:tr h="151200">
                <a:tc>
                  <a:txBody>
                    <a:bodyPr/>
                    <a:lstStyle/>
                    <a:p>
                      <a:pPr algn="l">
                        <a:defRPr sz="1000">
                          <a:latin typeface="Montserrat"/>
                        </a:defRPr>
                      </a:pPr>
                      <a:r>
                        <a:t>UMF 65 Hermosillo</a:t>
                      </a:r>
                    </a:p>
                  </a:txBody>
                  <a:tcPr marL="0" marR="0" marT="0" marB="0">
                    <a:solidFill>
                      <a:srgbClr val="FFFFFF"/>
                    </a:solidFill>
                  </a:tcPr>
                </a:tc>
                <a:tc>
                  <a:txBody>
                    <a:bodyPr/>
                    <a:lstStyle/>
                    <a:p>
                      <a:pPr algn="ctr">
                        <a:defRPr sz="1000">
                          <a:latin typeface="Montserrat"/>
                        </a:defRPr>
                      </a:pPr>
                      <a:r>
                        <a:t>65,683</a:t>
                      </a:r>
                    </a:p>
                  </a:txBody>
                  <a:tcPr marL="0" marR="0" marT="0" marB="0">
                    <a:solidFill>
                      <a:srgbClr val="FFFFFF"/>
                    </a:solidFill>
                  </a:tcPr>
                </a:tc>
                <a:tc>
                  <a:txBody>
                    <a:bodyPr/>
                    <a:lstStyle/>
                    <a:p>
                      <a:pPr algn="ctr">
                        <a:defRPr sz="1000">
                          <a:latin typeface="Montserrat"/>
                        </a:defRPr>
                      </a:pPr>
                      <a:r>
                        <a:t>1,363</a:t>
                      </a:r>
                    </a:p>
                  </a:txBody>
                  <a:tcPr marL="0" marR="0" marT="0" marB="0">
                    <a:solidFill>
                      <a:srgbClr val="FFFFFF"/>
                    </a:solidFill>
                  </a:tcPr>
                </a:tc>
                <a:tc>
                  <a:txBody>
                    <a:bodyPr/>
                    <a:lstStyle/>
                    <a:p>
                      <a:pPr algn="ctr">
                        <a:defRPr sz="1000">
                          <a:latin typeface="Montserrat"/>
                        </a:defRPr>
                      </a:pPr>
                      <a:r>
                        <a:t>26,779</a:t>
                      </a:r>
                    </a:p>
                  </a:txBody>
                  <a:tcPr marL="0" marR="0" marT="0" marB="0">
                    <a:solidFill>
                      <a:srgbClr val="ECD3D9"/>
                    </a:solidFill>
                  </a:tcPr>
                </a:tc>
                <a:tc>
                  <a:txBody>
                    <a:bodyPr/>
                    <a:lstStyle/>
                    <a:p>
                      <a:pPr algn="ctr">
                        <a:defRPr sz="1000">
                          <a:latin typeface="Montserrat"/>
                        </a:defRPr>
                      </a:pPr>
                      <a:r>
                        <a:t>64,000</a:t>
                      </a:r>
                    </a:p>
                  </a:txBody>
                  <a:tcPr marL="0" marR="0" marT="0" marB="0">
                    <a:solidFill>
                      <a:srgbClr val="ECD3D9"/>
                    </a:solidFill>
                  </a:tcPr>
                </a:tc>
                <a:tc>
                  <a:txBody>
                    <a:bodyPr/>
                    <a:lstStyle/>
                    <a:p>
                      <a:pPr algn="ctr">
                        <a:defRPr sz="1000">
                          <a:latin typeface="Montserrat"/>
                        </a:defRPr>
                      </a:pPr>
                      <a:r>
                        <a:t>41.8%</a:t>
                      </a:r>
                    </a:p>
                  </a:txBody>
                  <a:tcPr marL="0" marR="0" marT="0" marB="0">
                    <a:solidFill>
                      <a:srgbClr val="ECD3D9"/>
                    </a:solidFill>
                  </a:tcPr>
                </a:tc>
              </a:tr>
              <a:tr h="151200">
                <a:tc>
                  <a:txBody>
                    <a:bodyPr/>
                    <a:lstStyle/>
                    <a:p>
                      <a:pPr algn="l">
                        <a:defRPr sz="1000">
                          <a:latin typeface="Montserrat"/>
                        </a:defRPr>
                      </a:pPr>
                      <a:r>
                        <a:t>UMF 64 Nogales</a:t>
                      </a:r>
                    </a:p>
                  </a:txBody>
                  <a:tcPr marL="0" marR="0" marT="0" marB="0">
                    <a:solidFill>
                      <a:srgbClr val="EFEFEF"/>
                    </a:solidFill>
                  </a:tcPr>
                </a:tc>
                <a:tc>
                  <a:txBody>
                    <a:bodyPr/>
                    <a:lstStyle/>
                    <a:p>
                      <a:pPr algn="ctr">
                        <a:defRPr sz="1000">
                          <a:latin typeface="Montserrat"/>
                        </a:defRPr>
                      </a:pPr>
                      <a:r>
                        <a:t>75,972</a:t>
                      </a:r>
                    </a:p>
                  </a:txBody>
                  <a:tcPr marL="0" marR="0" marT="0" marB="0">
                    <a:solidFill>
                      <a:srgbClr val="EFEFEF"/>
                    </a:solidFill>
                  </a:tcPr>
                </a:tc>
                <a:tc>
                  <a:txBody>
                    <a:bodyPr/>
                    <a:lstStyle/>
                    <a:p>
                      <a:pPr algn="ctr">
                        <a:defRPr sz="1000">
                          <a:latin typeface="Montserrat"/>
                        </a:defRPr>
                      </a:pPr>
                      <a:r>
                        <a:t>-1,667</a:t>
                      </a:r>
                    </a:p>
                  </a:txBody>
                  <a:tcPr marL="0" marR="0" marT="0" marB="0">
                    <a:solidFill>
                      <a:srgbClr val="EFEFEF"/>
                    </a:solidFill>
                  </a:tcPr>
                </a:tc>
                <a:tc>
                  <a:txBody>
                    <a:bodyPr/>
                    <a:lstStyle/>
                    <a:p>
                      <a:pPr algn="ctr">
                        <a:defRPr sz="1000">
                          <a:latin typeface="Montserrat"/>
                        </a:defRPr>
                      </a:pPr>
                      <a:r>
                        <a:t>30,331</a:t>
                      </a:r>
                    </a:p>
                  </a:txBody>
                  <a:tcPr marL="0" marR="0" marT="0" marB="0">
                    <a:solidFill>
                      <a:srgbClr val="ECD3D9"/>
                    </a:solidFill>
                  </a:tcPr>
                </a:tc>
                <a:tc>
                  <a:txBody>
                    <a:bodyPr/>
                    <a:lstStyle/>
                    <a:p>
                      <a:pPr algn="ctr">
                        <a:defRPr sz="1000">
                          <a:latin typeface="Montserrat"/>
                        </a:defRPr>
                      </a:pPr>
                      <a:r>
                        <a:t>74,000</a:t>
                      </a:r>
                    </a:p>
                  </a:txBody>
                  <a:tcPr marL="0" marR="0" marT="0" marB="0">
                    <a:solidFill>
                      <a:srgbClr val="ECD3D9"/>
                    </a:solidFill>
                  </a:tcPr>
                </a:tc>
                <a:tc>
                  <a:txBody>
                    <a:bodyPr/>
                    <a:lstStyle/>
                    <a:p>
                      <a:pPr algn="ctr">
                        <a:defRPr sz="1000">
                          <a:latin typeface="Montserrat"/>
                        </a:defRPr>
                      </a:pPr>
                      <a:r>
                        <a:t>41.0%</a:t>
                      </a:r>
                    </a:p>
                  </a:txBody>
                  <a:tcPr marL="0" marR="0" marT="0" marB="0">
                    <a:solidFill>
                      <a:srgbClr val="ECD3D9"/>
                    </a:solidFill>
                  </a:tcPr>
                </a:tc>
              </a:tr>
              <a:tr h="151200">
                <a:tc>
                  <a:txBody>
                    <a:bodyPr/>
                    <a:lstStyle/>
                    <a:p>
                      <a:pPr algn="l">
                        <a:defRPr sz="1000">
                          <a:latin typeface="Montserrat"/>
                        </a:defRPr>
                      </a:pPr>
                      <a:r>
                        <a:t>UMF 67 Obregón</a:t>
                      </a:r>
                    </a:p>
                  </a:txBody>
                  <a:tcPr marL="0" marR="0" marT="0" marB="0">
                    <a:solidFill>
                      <a:srgbClr val="FFFFFF"/>
                    </a:solidFill>
                  </a:tcPr>
                </a:tc>
                <a:tc>
                  <a:txBody>
                    <a:bodyPr/>
                    <a:lstStyle/>
                    <a:p>
                      <a:pPr algn="ctr">
                        <a:defRPr sz="1000">
                          <a:latin typeface="Montserrat"/>
                        </a:defRPr>
                      </a:pPr>
                      <a:r>
                        <a:t>57,885</a:t>
                      </a:r>
                    </a:p>
                  </a:txBody>
                  <a:tcPr marL="0" marR="0" marT="0" marB="0">
                    <a:solidFill>
                      <a:srgbClr val="FFFFFF"/>
                    </a:solidFill>
                  </a:tcPr>
                </a:tc>
                <a:tc>
                  <a:txBody>
                    <a:bodyPr/>
                    <a:lstStyle/>
                    <a:p>
                      <a:pPr algn="ctr">
                        <a:defRPr sz="1000">
                          <a:latin typeface="Montserrat"/>
                        </a:defRPr>
                      </a:pPr>
                      <a:r>
                        <a:t>4,635</a:t>
                      </a:r>
                    </a:p>
                  </a:txBody>
                  <a:tcPr marL="0" marR="0" marT="0" marB="0">
                    <a:solidFill>
                      <a:srgbClr val="FFFFFF"/>
                    </a:solidFill>
                  </a:tcPr>
                </a:tc>
                <a:tc>
                  <a:txBody>
                    <a:bodyPr/>
                    <a:lstStyle/>
                    <a:p>
                      <a:pPr algn="ctr">
                        <a:defRPr sz="1000">
                          <a:latin typeface="Montserrat"/>
                        </a:defRPr>
                      </a:pPr>
                      <a:r>
                        <a:t>23,756</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37.9%</a:t>
                      </a:r>
                    </a:p>
                  </a:txBody>
                  <a:tcPr marL="0" marR="0" marT="0" marB="0">
                    <a:solidFill>
                      <a:srgbClr val="ECD3D9"/>
                    </a:solidFill>
                  </a:tcPr>
                </a:tc>
              </a:tr>
              <a:tr h="151200">
                <a:tc>
                  <a:txBody>
                    <a:bodyPr/>
                    <a:lstStyle/>
                    <a:p>
                      <a:pPr algn="l">
                        <a:defRPr sz="1000">
                          <a:latin typeface="Montserrat"/>
                        </a:defRPr>
                      </a:pPr>
                      <a:r>
                        <a:t>UMF 9 Puerto Peñasco</a:t>
                      </a:r>
                    </a:p>
                  </a:txBody>
                  <a:tcPr marL="0" marR="0" marT="0" marB="0">
                    <a:solidFill>
                      <a:srgbClr val="EFEFEF"/>
                    </a:solidFill>
                  </a:tcPr>
                </a:tc>
                <a:tc>
                  <a:txBody>
                    <a:bodyPr/>
                    <a:lstStyle/>
                    <a:p>
                      <a:pPr algn="ctr">
                        <a:defRPr sz="1000">
                          <a:latin typeface="Montserrat"/>
                        </a:defRPr>
                      </a:pPr>
                      <a:r>
                        <a:t>63,380</a:t>
                      </a:r>
                    </a:p>
                  </a:txBody>
                  <a:tcPr marL="0" marR="0" marT="0" marB="0">
                    <a:solidFill>
                      <a:srgbClr val="EFEFEF"/>
                    </a:solidFill>
                  </a:tcPr>
                </a:tc>
                <a:tc>
                  <a:txBody>
                    <a:bodyPr/>
                    <a:lstStyle/>
                    <a:p>
                      <a:pPr algn="ctr">
                        <a:defRPr sz="1000">
                          <a:latin typeface="Montserrat"/>
                        </a:defRPr>
                      </a:pPr>
                      <a:r>
                        <a:t>10,114</a:t>
                      </a:r>
                    </a:p>
                  </a:txBody>
                  <a:tcPr marL="0" marR="0" marT="0" marB="0">
                    <a:solidFill>
                      <a:srgbClr val="EFEFEF"/>
                    </a:solidFill>
                  </a:tcPr>
                </a:tc>
                <a:tc>
                  <a:txBody>
                    <a:bodyPr/>
                    <a:lstStyle/>
                    <a:p>
                      <a:pPr algn="ctr">
                        <a:defRPr sz="1000">
                          <a:latin typeface="Montserrat"/>
                        </a:defRPr>
                      </a:pPr>
                      <a:r>
                        <a:t>27,591</a:t>
                      </a:r>
                    </a:p>
                  </a:txBody>
                  <a:tcPr marL="0" marR="0" marT="0" marB="0">
                    <a:solidFill>
                      <a:srgbClr val="ECD3D9"/>
                    </a:solidFill>
                  </a:tcPr>
                </a:tc>
                <a:tc>
                  <a:txBody>
                    <a:bodyPr/>
                    <a:lstStyle/>
                    <a:p>
                      <a:pPr algn="ctr">
                        <a:defRPr sz="1000">
                          <a:latin typeface="Montserrat"/>
                        </a:defRPr>
                      </a:pPr>
                      <a:r>
                        <a:t>62,640</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tr>
              <a:tr h="151200">
                <a:tc>
                  <a:txBody>
                    <a:bodyPr/>
                    <a:lstStyle/>
                    <a:p>
                      <a:pPr algn="l">
                        <a:defRPr sz="1000">
                          <a:latin typeface="Montserrat"/>
                        </a:defRPr>
                      </a:pPr>
                      <a:r>
                        <a:t>UMF 19 Agua Prieta</a:t>
                      </a:r>
                    </a:p>
                  </a:txBody>
                  <a:tcPr marL="0" marR="0" marT="0" marB="0">
                    <a:solidFill>
                      <a:srgbClr val="FFFFFF"/>
                    </a:solidFill>
                  </a:tcPr>
                </a:tc>
                <a:tc>
                  <a:txBody>
                    <a:bodyPr/>
                    <a:lstStyle/>
                    <a:p>
                      <a:pPr algn="ctr">
                        <a:defRPr sz="1000">
                          <a:latin typeface="Montserrat"/>
                        </a:defRPr>
                      </a:pPr>
                      <a:r>
                        <a:t>48,410</a:t>
                      </a:r>
                    </a:p>
                  </a:txBody>
                  <a:tcPr marL="0" marR="0" marT="0" marB="0">
                    <a:solidFill>
                      <a:srgbClr val="FFFFFF"/>
                    </a:solidFill>
                  </a:tcPr>
                </a:tc>
                <a:tc>
                  <a:txBody>
                    <a:bodyPr/>
                    <a:lstStyle/>
                    <a:p>
                      <a:pPr algn="ctr">
                        <a:defRPr sz="1000">
                          <a:latin typeface="Montserrat"/>
                        </a:defRPr>
                      </a:pPr>
                      <a:r>
                        <a:t>2,965</a:t>
                      </a:r>
                    </a:p>
                  </a:txBody>
                  <a:tcPr marL="0" marR="0" marT="0" marB="0">
                    <a:solidFill>
                      <a:srgbClr val="FFFFFF"/>
                    </a:solidFill>
                  </a:tcPr>
                </a:tc>
                <a:tc>
                  <a:txBody>
                    <a:bodyPr/>
                    <a:lstStyle/>
                    <a:p>
                      <a:pPr algn="ctr">
                        <a:defRPr sz="1000">
                          <a:latin typeface="Montserrat"/>
                        </a:defRPr>
                      </a:pPr>
                      <a:r>
                        <a:t>20,257</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l">
                        <a:defRPr sz="1000">
                          <a:latin typeface="Montserrat"/>
                        </a:defRPr>
                      </a:pPr>
                      <a:r>
                        <a:t>UMF 66 Cd Obregón</a:t>
                      </a:r>
                    </a:p>
                  </a:txBody>
                  <a:tcPr marL="0" marR="0" marT="0" marB="0">
                    <a:solidFill>
                      <a:srgbClr val="EFEFEF"/>
                    </a:solidFill>
                  </a:tcPr>
                </a:tc>
                <a:tc>
                  <a:txBody>
                    <a:bodyPr/>
                    <a:lstStyle/>
                    <a:p>
                      <a:pPr algn="ctr">
                        <a:defRPr sz="1000">
                          <a:latin typeface="Montserrat"/>
                        </a:defRPr>
                      </a:pPr>
                      <a:r>
                        <a:t>118,237</a:t>
                      </a:r>
                    </a:p>
                  </a:txBody>
                  <a:tcPr marL="0" marR="0" marT="0" marB="0">
                    <a:solidFill>
                      <a:srgbClr val="EFEFEF"/>
                    </a:solidFill>
                  </a:tcPr>
                </a:tc>
                <a:tc>
                  <a:txBody>
                    <a:bodyPr/>
                    <a:lstStyle/>
                    <a:p>
                      <a:pPr algn="ctr">
                        <a:defRPr sz="1000">
                          <a:latin typeface="Montserrat"/>
                        </a:defRPr>
                      </a:pPr>
                      <a:r>
                        <a:t>5,860</a:t>
                      </a:r>
                    </a:p>
                  </a:txBody>
                  <a:tcPr marL="0" marR="0" marT="0" marB="0">
                    <a:solidFill>
                      <a:srgbClr val="EFEFEF"/>
                    </a:solidFill>
                  </a:tcPr>
                </a:tc>
                <a:tc>
                  <a:txBody>
                    <a:bodyPr/>
                    <a:lstStyle/>
                    <a:p>
                      <a:pPr algn="ctr">
                        <a:defRPr sz="1000">
                          <a:latin typeface="Montserrat"/>
                        </a:defRPr>
                      </a:pPr>
                      <a:r>
                        <a:t>50,789</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1,206,805</a:t>
                      </a:r>
                    </a:p>
                  </a:txBody>
                  <a:tcPr marL="0" marR="0" marT="0" marB="0">
                    <a:solidFill>
                      <a:srgbClr val="D3E9E7"/>
                    </a:solidFill>
                  </a:tcPr>
                </a:tc>
                <a:tc>
                  <a:txBody>
                    <a:bodyPr/>
                    <a:lstStyle/>
                    <a:p>
                      <a:pPr algn="ctr">
                        <a:defRPr sz="1000" b="1">
                          <a:solidFill>
                            <a:srgbClr val="006556"/>
                          </a:solidFill>
                          <a:latin typeface="Montserrat"/>
                        </a:defRPr>
                      </a:pPr>
                      <a:r>
                        <a:t>72,533</a:t>
                      </a:r>
                    </a:p>
                  </a:txBody>
                  <a:tcPr marL="0" marR="0" marT="0" marB="0">
                    <a:solidFill>
                      <a:srgbClr val="D3E9E7"/>
                    </a:solidFill>
                  </a:tcPr>
                </a:tc>
                <a:tc>
                  <a:txBody>
                    <a:bodyPr/>
                    <a:lstStyle/>
                    <a:p>
                      <a:pPr algn="ctr">
                        <a:defRPr sz="1000" b="1">
                          <a:solidFill>
                            <a:srgbClr val="FFFFFF"/>
                          </a:solidFill>
                          <a:latin typeface="Montserrat"/>
                        </a:defRPr>
                      </a:pPr>
                      <a:r>
                        <a:t>510,587</a:t>
                      </a:r>
                    </a:p>
                  </a:txBody>
                  <a:tcPr marL="0" marR="0" marT="0" marB="0">
                    <a:solidFill>
                      <a:srgbClr val="9F2241"/>
                    </a:solidFill>
                  </a:tcPr>
                </a:tc>
                <a:tc>
                  <a:txBody>
                    <a:bodyPr/>
                    <a:lstStyle/>
                    <a:p>
                      <a:pPr algn="ctr">
                        <a:defRPr sz="1000" b="1">
                          <a:solidFill>
                            <a:srgbClr val="FFFFFF"/>
                          </a:solidFill>
                          <a:latin typeface="Montserrat"/>
                        </a:defRPr>
                      </a:pPr>
                      <a:r>
                        <a:t>1,281,928</a:t>
                      </a:r>
                    </a:p>
                  </a:txBody>
                  <a:tcPr marL="0" marR="0" marT="0" marB="0">
                    <a:solidFill>
                      <a:srgbClr val="9F2241"/>
                    </a:solidFill>
                  </a:tcPr>
                </a:tc>
                <a:tc>
                  <a:txBody>
                    <a:bodyPr/>
                    <a:lstStyle/>
                    <a:p>
                      <a:pPr algn="ctr">
                        <a:defRPr sz="1000" b="1">
                          <a:solidFill>
                            <a:srgbClr val="FFFFFF"/>
                          </a:solidFill>
                          <a:latin typeface="Montserrat"/>
                        </a:defRPr>
                      </a:pPr>
                      <a:r>
                        <a:t>39.8%</a:t>
                      </a:r>
                    </a:p>
                  </a:txBody>
                  <a:tcPr marL="0" marR="0" marT="0" marB="0">
                    <a:solidFill>
                      <a:srgbClr val="9F2241"/>
                    </a:solidFill>
                  </a:tcPr>
                </a:tc>
              </a:tr>
            </a:tbl>
          </a:graphicData>
        </a:graphic>
      </p:graphicFrame>
      <p:graphicFrame>
        <p:nvGraphicFramePr>
          <p:cNvPr id="8" name="Chart 7"/>
          <p:cNvGraphicFramePr>
            <a:graphicFrameLocks noGrp="1"/>
          </p:cNvGraphicFramePr>
          <p:nvPr/>
        </p:nvGraphicFramePr>
        <p:xfrm>
          <a:off x="4780800" y="5133600"/>
          <a:ext cx="1800000" cy="1800000"/>
        </p:xfrm>
        <a:graphic>
          <a:graphicData uri="http://schemas.openxmlformats.org/drawingml/2006/chart">
            <c:chart xmlns:c="http://schemas.openxmlformats.org/drawingml/2006/chart" r:id="rId2"/>
          </a:graphicData>
        </a:graphic>
      </p:graphicFrame>
      <p:sp>
        <p:nvSpPr>
          <p:cNvPr id="9" name="TextBox 8"/>
          <p:cNvSpPr txBox="1"/>
          <p:nvPr/>
        </p:nvSpPr>
        <p:spPr>
          <a:xfrm>
            <a:off x="4780800" y="5853600"/>
            <a:ext cx="1800000" cy="360000"/>
          </a:xfrm>
          <a:prstGeom prst="rect">
            <a:avLst/>
          </a:prstGeom>
          <a:noFill/>
        </p:spPr>
        <p:txBody>
          <a:bodyPr wrap="none">
            <a:spAutoFit/>
          </a:bodyPr>
          <a:lstStyle/>
          <a:p>
            <a:pPr algn="ctr"/>
            <a:r>
              <a:rPr sz="2400" b="1">
                <a:solidFill>
                  <a:srgbClr val="9F2241"/>
                </a:solidFill>
                <a:latin typeface="Montserrat"/>
              </a:rPr>
              <a:t>39.8%</a:t>
            </a:r>
          </a:p>
        </p:txBody>
      </p:sp>
      <p:sp>
        <p:nvSpPr>
          <p:cNvPr id="10" name="TextBox 9"/>
          <p:cNvSpPr txBox="1"/>
          <p:nvPr/>
        </p:nvSpPr>
        <p:spPr>
          <a:xfrm>
            <a:off x="4780800" y="6753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1" name="TextBox 10"/>
          <p:cNvSpPr txBox="1"/>
          <p:nvPr/>
        </p:nvSpPr>
        <p:spPr>
          <a:xfrm>
            <a:off x="730799" y="5133600"/>
            <a:ext cx="2854800" cy="1198800"/>
          </a:xfrm>
          <a:prstGeom prst="rect">
            <a:avLst/>
          </a:prstGeom>
          <a:noFill/>
        </p:spPr>
        <p:txBody>
          <a:bodyPr wrap="square">
            <a:spAutoFit/>
          </a:bodyPr>
          <a:lstStyle/>
          <a:p>
            <a:pPr algn="ctr">
              <a:defRPr sz="3600" b="1">
                <a:solidFill>
                  <a:srgbClr val="9F2241"/>
                </a:solidFill>
                <a:latin typeface="Montserrat"/>
              </a:defRPr>
            </a:pPr>
            <a:r>
              <a:t>1,281,928 </a:t>
            </a:r>
            <a:br/>
            <a:r>
              <a:t>Meta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General de Subzona C/MF 9</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27</a:t>
                      </a:r>
                    </a:p>
                  </a:txBody>
                  <a:tcPr>
                    <a:solidFill>
                      <a:srgbClr val="D3E9E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15</a:t>
                      </a:r>
                    </a:p>
                  </a:txBody>
                  <a:tcPr anchor="ctr">
                    <a:noFill/>
                  </a:tcPr>
                </a:tc>
                <a:tc>
                  <a:txBody>
                    <a:bodyPr/>
                    <a:lstStyle/>
                    <a:p>
                      <a:pPr algn="ctr">
                        <a:defRPr sz="800" b="0">
                          <a:solidFill>
                            <a:srgbClr val="000000"/>
                          </a:solidFill>
                          <a:latin typeface="Montserrat"/>
                        </a:defRPr>
                      </a:pPr>
                      <a:r>
                        <a:t>Anestesiología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Coloproctología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Patología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36</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General de Zona 16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Alergia e Inmunología Clínica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Angiología y Cirugía Vascular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Infectología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Paliativa y del Dolor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9" name="Table 8"/>
          <p:cNvGraphicFramePr>
            <a:graphicFrameLocks noGrp="1"/>
          </p:cNvGraphicFramePr>
          <p:nvPr/>
        </p:nvGraphicFramePr>
        <p:xfrm>
          <a:off x="360000" y="5745599"/>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16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Patología Clínica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45</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745599"/>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Cirugía Plástica y Reconstructiva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Oncología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17</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42336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5</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Endoscopia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18</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42336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298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Hospital de Especialidades 2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Cardiotorácica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Laboratorio de Análisis Clínicos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Nuclear e Imagenología Molecular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en Estado Crítico</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Servicios de Sangre</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bl>
          </a:graphicData>
        </a:graphic>
      </p:graphicFrame>
      <p:graphicFrame>
        <p:nvGraphicFramePr>
          <p:cNvPr id="8" name="Table 7"/>
          <p:cNvGraphicFramePr>
            <a:graphicFrameLocks noGrp="1"/>
          </p:cNvGraphicFramePr>
          <p:nvPr/>
        </p:nvGraphicFramePr>
        <p:xfrm>
          <a:off x="3960000" y="15696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de Especialidades 2 (Parte 2)</a:t>
                      </a:r>
                    </a:p>
                  </a:txBody>
                  <a:tcPr anchor="ctr">
                    <a:no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43</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745599"/>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de Gineco-pediatría 1</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Enfermo Pediátrico en Estado Crítico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7" name="TextBox 6"/>
          <p:cNvSpPr txBox="1"/>
          <p:nvPr/>
        </p:nvSpPr>
        <p:spPr>
          <a:xfrm>
            <a:off x="360000" y="2649599"/>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a:t>
            </a:r>
          </a:p>
        </p:txBody>
      </p:sp>
      <p:cxnSp>
        <p:nvCxnSpPr>
          <p:cNvPr id="8" name="Connector 7"/>
          <p:cNvCxnSpPr/>
          <p:nvPr/>
        </p:nvCxnSpPr>
        <p:spPr>
          <a:xfrm>
            <a:off x="360000" y="30455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360000" y="31175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3117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42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42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17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54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321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960000" y="6321596"/>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37</a:t>
                      </a:r>
                    </a:p>
                  </a:txBody>
                  <a:tcPr anchor="ctr">
                    <a:no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Trabajo y Ambiental</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7" name="Table 16"/>
          <p:cNvGraphicFramePr>
            <a:graphicFrameLocks noGrp="1"/>
          </p:cNvGraphicFramePr>
          <p:nvPr/>
        </p:nvGraphicFramePr>
        <p:xfrm>
          <a:off x="360000" y="7473595"/>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8" name="Table 17"/>
          <p:cNvGraphicFramePr>
            <a:graphicFrameLocks noGrp="1"/>
          </p:cNvGraphicFramePr>
          <p:nvPr/>
        </p:nvGraphicFramePr>
        <p:xfrm>
          <a:off x="3960000" y="7473595"/>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41</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9" name="Table 18"/>
          <p:cNvGraphicFramePr>
            <a:graphicFrameLocks noGrp="1"/>
          </p:cNvGraphicFramePr>
          <p:nvPr/>
        </p:nvGraphicFramePr>
        <p:xfrm>
          <a:off x="3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20" name="Table 19"/>
          <p:cNvGraphicFramePr>
            <a:graphicFrameLocks noGrp="1"/>
          </p:cNvGraphicFramePr>
          <p:nvPr/>
        </p:nvGraphicFramePr>
        <p:xfrm>
          <a:off x="3960000" y="8625594"/>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48</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46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Unidad de Medicina Familiar 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973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64</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873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66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773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773598"/>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Unidad de Medicina Familiar C/UMAA 68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a:t>
                      </a:r>
                    </a:p>
                  </a:txBody>
                  <a:tcPr>
                    <a:solidFill>
                      <a:srgbClr val="D3E9E7"/>
                    </a:solidFill>
                  </a:tcPr>
                </a:tc>
              </a:tr>
            </a:tbl>
          </a:graphicData>
        </a:graphic>
      </p:graphicFrame>
      <p:graphicFrame>
        <p:nvGraphicFramePr>
          <p:cNvPr id="15" name="Table 14"/>
          <p:cNvGraphicFramePr>
            <a:graphicFrameLocks noGrp="1"/>
          </p:cNvGraphicFramePr>
          <p:nvPr/>
        </p:nvGraphicFramePr>
        <p:xfrm>
          <a:off x="360000" y="642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C/hosp 10</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498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153 especialistas (sustitutos)</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Anatomía Patológica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Genética Médica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Hematología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11</a:t>
                      </a:r>
                    </a:p>
                  </a:txBody>
                  <a:tcPr>
                    <a:solidFill>
                      <a:srgbClr val="FFFFFF"/>
                    </a:solidFill>
                  </a:tcPr>
                </a:tc>
              </a:tr>
            </a:tbl>
          </a:graphicData>
        </a:graphic>
      </p:graphicFrame>
      <p:graphicFrame>
        <p:nvGraphicFramePr>
          <p:cNvPr id="7" name="Table 6"/>
          <p:cNvGraphicFramePr>
            <a:graphicFrameLocks noGrp="1"/>
          </p:cNvGraphicFramePr>
          <p:nvPr/>
        </p:nvGraphicFramePr>
        <p:xfrm>
          <a:off x="3960000" y="1569600"/>
          <a:ext cx="3456000" cy="216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9">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Neurología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14</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153</a:t>
                      </a:r>
                    </a:p>
                  </a:txBody>
                  <a:tcPr>
                    <a:solidFill>
                      <a:srgbClr val="D3E9E7"/>
                    </a:solidFill>
                  </a:tcPr>
                </a:tc>
              </a:tr>
            </a:tbl>
          </a:graphicData>
        </a:graphic>
      </p:graphicFrame>
      <p:sp>
        <p:nvSpPr>
          <p:cNvPr id="8" name="TextBox 7"/>
          <p:cNvSpPr txBox="1"/>
          <p:nvPr/>
        </p:nvSpPr>
        <p:spPr>
          <a:xfrm>
            <a:off x="270000" y="6645599"/>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93.3%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Neurología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Coloproctología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94.5%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95.7%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Genética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Endoscopia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Endocrinología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Anestesiología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97.5%</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Angiología y Cirugía Vascular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Cardiotorácica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del Enfermo Pediátrico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Nuclear e Imagenología Molecular</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Paliativa y del Dolor</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Infectología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Laboratorio de Análisis Clínicos</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r h="161600">
                <a:tc>
                  <a:txBody>
                    <a:bodyPr/>
                    <a:lstStyle/>
                    <a:p>
                      <a:pPr algn="l">
                        <a:defRPr sz="1100" b="0">
                          <a:solidFill>
                            <a:srgbClr val="000000"/>
                          </a:solidFill>
                          <a:latin typeface="Montserrat"/>
                        </a:defRPr>
                      </a:pPr>
                      <a:r>
                        <a:t>Hematología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99.5%</a:t>
                      </a:r>
                    </a:p>
                  </a:txBody>
                  <a:tcPr anchor="ctr" marL="45720" marR="45720" marT="45720" marB="45720">
                    <a:solidFill>
                      <a:srgbClr val="D9D9D9"/>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SONORA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288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88000">
                <a:tc>
                  <a:txBody>
                    <a:bodyPr/>
                    <a:lstStyle/>
                    <a:p>
                      <a:pPr algn="l">
                        <a:defRPr sz="1100" b="0">
                          <a:solidFill>
                            <a:srgbClr val="000000"/>
                          </a:solidFill>
                          <a:latin typeface="Montserrat"/>
                        </a:defRPr>
                      </a:pPr>
                      <a:r>
                        <a:t>Radioncología Directa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99.7%</a:t>
                      </a:r>
                    </a:p>
                  </a:txBody>
                  <a:tcPr anchor="ctr" marL="45720" marR="45720" marT="45720" marB="45720">
                    <a:solidFill>
                      <a:srgbClr val="FFFFFF"/>
                    </a:solidFill>
                  </a:tcPr>
                </a:tc>
              </a:tr>
              <a:tr h="288000">
                <a:tc>
                  <a:txBody>
                    <a:bodyPr/>
                    <a:lstStyle/>
                    <a:p>
                      <a:pPr algn="l">
                        <a:defRPr sz="1100" b="0">
                          <a:solidFill>
                            <a:srgbClr val="000000"/>
                          </a:solidFill>
                          <a:latin typeface="Montserrat"/>
                        </a:defRPr>
                      </a:pPr>
                      <a:r>
                        <a:t>Psiquiatría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288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498</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389</TotalTime>
  <Words>364</Words>
  <Application>Microsoft Office PowerPoint</Application>
  <PresentationFormat>Personalizado</PresentationFormat>
  <Paragraphs>92</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111</cp:revision>
  <dcterms:modified xsi:type="dcterms:W3CDTF">2026-05-12T23:53:30Z</dcterms:modified>
</cp:coreProperties>
</file>