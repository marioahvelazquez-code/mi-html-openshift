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9" r:id="rId3"/>
    <p:sldId id="258" r:id="rId4"/>
    <p:sldId id="259" r:id="rId5"/>
    <p:sldId id="310" r:id="rId6"/>
    <p:sldId id="301" r:id="rId7"/>
    <p:sldId id="302" r:id="rId8"/>
    <p:sldId id="261" r:id="rId9"/>
    <p:sldId id="287" r:id="rId10"/>
    <p:sldId id="262" r:id="rId11"/>
    <p:sldId id="263" r:id="rId12"/>
    <p:sldId id="280" r:id="rId13"/>
    <p:sldId id="267" r:id="rId14"/>
    <p:sldId id="304" r:id="rId15"/>
    <p:sldId id="306" r:id="rId16"/>
    <p:sldId id="307" r:id="rId17"/>
    <p:sldId id="311" r:id="rId18"/>
    <p:sldId id="288" r:id="rId19"/>
    <p:sldId id="270" r:id="rId20"/>
    <p:sldId id="271" r:id="rId21"/>
    <p:sldId id="272" r:id="rId22"/>
    <p:sldId id="300" r:id="rId23"/>
    <p:sldId id="297" r:id="rId24"/>
    <p:sldId id="284" r:id="rId25"/>
    <p:sldId id="277" r:id="rId26"/>
    <p:sldId id="278" r:id="rId27"/>
    <p:sldId id="279" r:id="rId28"/>
  </p:sldIdLst>
  <p:sldSz cx="7772400" cy="100584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  <p:embeddedFont>
      <p:font typeface="Noto Sans Black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D6F3CB-D99D-4F85-8A5B-73C4452A34AC}" v="29" dt="2026-07-02T17:48:55.55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68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5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8FC3-4321-80F3-35D716BE4EA9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8FC3-4321-80F3-35D716BE4EA9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8FC3-4321-80F3-35D716BE4EA9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8FC3-4321-80F3-35D716BE4EA9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4448487</c:v>
                </c:pt>
                <c:pt idx="1">
                  <c:v>329033</c:v>
                </c:pt>
                <c:pt idx="2">
                  <c:v>1716542</c:v>
                </c:pt>
                <c:pt idx="3">
                  <c:v>22140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C3-4321-80F3-35D716BE4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136-4A7A-B3F1-B754DA55B125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136-4A7A-B3F1-B754DA55B125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45.961415731532199</c:v>
                </c:pt>
                <c:pt idx="1">
                  <c:v>54.038584268467801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36-4A7A-B3F1-B754DA55B1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7A-4FF0-A059-C8FCA99C9668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7A-4FF0-A059-C8FCA99C9668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9.4813941774000003</c:v>
                </c:pt>
                <c:pt idx="1">
                  <c:v>90.518605822599994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7A-4FF0-A059-C8FCA99C9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DA7-4EAC-8845-A03919461E8B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DA7-4EAC-8845-A03919461E8B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45.51</c:v>
                </c:pt>
                <c:pt idx="1">
                  <c:v>54.49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A7-4EAC-8845-A03919461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144-435B-A099-2B0C39FD1ACC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144-435B-A099-2B0C39FD1ACC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46.42</c:v>
                </c:pt>
                <c:pt idx="1">
                  <c:v>53.58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44-435B-A099-2B0C39FD1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CB08-4C93-ADEE-F3C90428BB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</c:v>
                </c:pt>
                <c:pt idx="1">
                  <c:v>677</c:v>
                </c:pt>
                <c:pt idx="2">
                  <c:v>637</c:v>
                </c:pt>
                <c:pt idx="3">
                  <c:v>614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B08-4C93-ADEE-F3C90428BB2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Transportes y Comunicaciones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Agricultura, Ganaderia, Silvicultura, Pesca y Caza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4494</c:v>
                </c:pt>
                <c:pt idx="1">
                  <c:v>170201</c:v>
                </c:pt>
                <c:pt idx="2">
                  <c:v>390513</c:v>
                </c:pt>
                <c:pt idx="3">
                  <c:v>176367</c:v>
                </c:pt>
                <c:pt idx="4">
                  <c:v>11414</c:v>
                </c:pt>
                <c:pt idx="5">
                  <c:v>665267</c:v>
                </c:pt>
                <c:pt idx="6">
                  <c:v>12099</c:v>
                </c:pt>
                <c:pt idx="7">
                  <c:v>383525</c:v>
                </c:pt>
                <c:pt idx="8">
                  <c:v>128187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FE4-4E14-8B2D-ACABE11B83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Transportes y Comunicaciones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Agricultura, Ganaderia, Silvicultura, Pesca y Caza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4407</c:v>
                </c:pt>
                <c:pt idx="1">
                  <c:v>170550</c:v>
                </c:pt>
                <c:pt idx="2">
                  <c:v>392047</c:v>
                </c:pt>
                <c:pt idx="3">
                  <c:v>178217</c:v>
                </c:pt>
                <c:pt idx="4">
                  <c:v>11551</c:v>
                </c:pt>
                <c:pt idx="5">
                  <c:v>675366</c:v>
                </c:pt>
                <c:pt idx="6">
                  <c:v>12456</c:v>
                </c:pt>
                <c:pt idx="7">
                  <c:v>395935</c:v>
                </c:pt>
                <c:pt idx="8">
                  <c:v>132632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FE4-4E14-8B2D-ACABE11B8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1597150</c:v>
                </c:pt>
                <c:pt idx="1">
                  <c:v>1638868</c:v>
                </c:pt>
                <c:pt idx="2">
                  <c:v>1569741</c:v>
                </c:pt>
                <c:pt idx="3">
                  <c:v>1651797</c:v>
                </c:pt>
                <c:pt idx="4">
                  <c:v>1742353</c:v>
                </c:pt>
                <c:pt idx="5">
                  <c:v>1831995</c:v>
                </c:pt>
                <c:pt idx="6">
                  <c:v>1901397</c:v>
                </c:pt>
                <c:pt idx="7">
                  <c:v>1942067</c:v>
                </c:pt>
                <c:pt idx="8">
                  <c:v>1973161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B09-4945-8E43-848B9065F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hart" Target="../charts/chart1.xml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chart" Target="../charts/chart6.xml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Nuevo León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Google Shape;66;p15">
            <a:extLst>
              <a:ext uri="{FF2B5EF4-FFF2-40B4-BE49-F238E27FC236}">
                <a16:creationId xmlns:a16="http://schemas.microsoft.com/office/drawing/2014/main" id="{B7BEBB48-D7A5-8C38-04B0-F0DF3B73E454}"/>
              </a:ext>
            </a:extLst>
          </p:cNvPr>
          <p:cNvSpPr/>
          <p:nvPr/>
        </p:nvSpPr>
        <p:spPr>
          <a:xfrm>
            <a:off x="-11658" y="580135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Google Shape;67;p15">
            <a:extLst>
              <a:ext uri="{FF2B5EF4-FFF2-40B4-BE49-F238E27FC236}">
                <a16:creationId xmlns:a16="http://schemas.microsoft.com/office/drawing/2014/main" id="{10FCA89A-E233-3879-BFF2-532329EC64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1262590"/>
              </p:ext>
            </p:extLst>
          </p:nvPr>
        </p:nvGraphicFramePr>
        <p:xfrm>
          <a:off x="54580" y="2312216"/>
          <a:ext cx="7639925" cy="71302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7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9599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-MX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Dra. Laura Inés Peña Santamaría </a:t>
                      </a: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(Encargada)</a:t>
                      </a:r>
                      <a:endParaRPr lang="es-MX"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Médico especialista</a:t>
                      </a:r>
                      <a:r>
                        <a:rPr lang="es-MX" sz="1100" u="none" strike="noStrike" cap="none" baseline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-MX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Anestesiología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Inicio en el cargo: 01 de juio de 2026</a:t>
                      </a:r>
                      <a:endParaRPr lang="es"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318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y Sociales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José Roberto Mansur Debernardi 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 Administración de Empresas 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junio de 2023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585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Juana Guadalupe Jacques Gómez</a:t>
                      </a:r>
                      <a:endParaRPr sz="1800"/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 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 de julio de 2025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6588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"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David Santiago Garza Bautista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Administración de Empresas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Gestión Pública y en Dirección de RH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septiembre de 2018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828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Finanzas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Rebeca López Elizondo 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</a:t>
                      </a:r>
                      <a:r>
                        <a:rPr lang="es-MX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</a:t>
                      </a: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Contaduría Pública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 de mayo de 2026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0480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"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Ing. Noé Olvera Villanueva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Ing. Mecánico Electricista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enero de 2025 </a:t>
                      </a: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5444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Sadrac Torres Sotelo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 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marzo de 2023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5444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Secretaria General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II </a:t>
                      </a:r>
                      <a:endParaRPr sz="1800"/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Diana Dolores Luna García</a:t>
                      </a: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0" u="none" strike="noStrike" cap="none">
                          <a:solidFill>
                            <a:schemeClr val="dk1"/>
                          </a:solidFill>
                          <a:latin typeface="Montserrat"/>
                          <a:sym typeface="Montserrat"/>
                        </a:rPr>
                        <a:t>Lic. </a:t>
                      </a:r>
                      <a:r>
                        <a:rPr lang="es-MX" sz="1100" b="0" u="none" strike="noStrike" cap="none">
                          <a:solidFill>
                            <a:schemeClr val="dk1"/>
                          </a:solidFill>
                          <a:latin typeface="Montserrat"/>
                          <a:sym typeface="Montserrat"/>
                        </a:rPr>
                        <a:t>e</a:t>
                      </a:r>
                      <a:r>
                        <a:rPr lang="es" sz="1100" b="0" u="none" strike="noStrike" cap="none">
                          <a:solidFill>
                            <a:schemeClr val="dk1"/>
                          </a:solidFill>
                          <a:latin typeface="Montserrat"/>
                          <a:sym typeface="Montserrat"/>
                        </a:rPr>
                        <a:t>n Psicología</a:t>
                      </a:r>
                      <a:endParaRPr sz="1800" b="0"/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 de julio de 2025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35380FAC-0352-9482-5A0A-97D8179E0D1C}"/>
              </a:ext>
            </a:extLst>
          </p:cNvPr>
          <p:cNvSpPr txBox="1"/>
          <p:nvPr/>
        </p:nvSpPr>
        <p:spPr>
          <a:xfrm>
            <a:off x="2605832" y="556907"/>
            <a:ext cx="4489129" cy="190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Dra. Miralda Aguilar Patraca</a:t>
            </a:r>
            <a:endParaRPr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0799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Médica Familiar</a:t>
            </a:r>
            <a:endParaRPr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0799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Maestría en Administración de Hospitales y Servicios de Salud</a:t>
            </a:r>
            <a:endParaRPr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01 de diciembre 2024</a:t>
            </a:r>
            <a:endParaRPr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Google Shape;70;p15" descr="E:\DCIM\175CANON\IMG_9866.JPG">
            <a:extLst>
              <a:ext uri="{FF2B5EF4-FFF2-40B4-BE49-F238E27FC236}">
                <a16:creationId xmlns:a16="http://schemas.microsoft.com/office/drawing/2014/main" id="{B8741FCA-8F63-8501-A76D-33FE90FDAE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6819" t="15657" r="27661" b="20398"/>
          <a:stretch>
            <a:fillRect/>
          </a:stretch>
        </p:blipFill>
        <p:spPr>
          <a:xfrm rot="-5400000">
            <a:off x="6731395" y="6029234"/>
            <a:ext cx="841232" cy="1065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5">
            <a:extLst>
              <a:ext uri="{FF2B5EF4-FFF2-40B4-BE49-F238E27FC236}">
                <a16:creationId xmlns:a16="http://schemas.microsoft.com/office/drawing/2014/main" id="{FB83EC6E-0832-2FA4-4AC0-28AD8778E2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539" t="57805" r="54566" b="24476"/>
          <a:stretch/>
        </p:blipFill>
        <p:spPr>
          <a:xfrm>
            <a:off x="6619288" y="3278792"/>
            <a:ext cx="1086258" cy="956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;p15">
            <a:extLst>
              <a:ext uri="{FF2B5EF4-FFF2-40B4-BE49-F238E27FC236}">
                <a16:creationId xmlns:a16="http://schemas.microsoft.com/office/drawing/2014/main" id="{8F9207C4-DAF3-46D3-1284-DCCC928133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842" t="34679" r="70856" b="49845"/>
          <a:stretch/>
        </p:blipFill>
        <p:spPr>
          <a:xfrm>
            <a:off x="6619289" y="4246318"/>
            <a:ext cx="1096030" cy="919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3;p15">
            <a:extLst>
              <a:ext uri="{FF2B5EF4-FFF2-40B4-BE49-F238E27FC236}">
                <a16:creationId xmlns:a16="http://schemas.microsoft.com/office/drawing/2014/main" id="{A41383D0-1002-97F8-C932-81CC8A54C0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9703" t="36468" r="52994" b="47310"/>
          <a:stretch/>
        </p:blipFill>
        <p:spPr>
          <a:xfrm>
            <a:off x="6629060" y="5191124"/>
            <a:ext cx="1086258" cy="950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5;p15">
            <a:extLst>
              <a:ext uri="{FF2B5EF4-FFF2-40B4-BE49-F238E27FC236}">
                <a16:creationId xmlns:a16="http://schemas.microsoft.com/office/drawing/2014/main" id="{EE1B5B48-0F27-BA7F-C40C-77E425C690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972" t="57662" r="80638" b="28345"/>
          <a:stretch>
            <a:fillRect/>
          </a:stretch>
        </p:blipFill>
        <p:spPr>
          <a:xfrm>
            <a:off x="6650858" y="7878117"/>
            <a:ext cx="1065445" cy="82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6;p15" descr="C:\Users\maribel.garciai\Desktop\WhatsApp Image 2026-01-29 at 3.44.25 PM copia.png">
            <a:extLst>
              <a:ext uri="{FF2B5EF4-FFF2-40B4-BE49-F238E27FC236}">
                <a16:creationId xmlns:a16="http://schemas.microsoft.com/office/drawing/2014/main" id="{2969BC38-D72B-42C4-4D87-15695F18FF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211" y="429193"/>
            <a:ext cx="1695760" cy="1883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6FE177A-739E-E38F-39FB-482BF38520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51"/>
          <a:stretch>
            <a:fillRect/>
          </a:stretch>
        </p:blipFill>
        <p:spPr bwMode="auto">
          <a:xfrm>
            <a:off x="6629060" y="2328384"/>
            <a:ext cx="1086258" cy="93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oogle Shape;77;p15">
            <a:extLst>
              <a:ext uri="{FF2B5EF4-FFF2-40B4-BE49-F238E27FC236}">
                <a16:creationId xmlns:a16="http://schemas.microsoft.com/office/drawing/2014/main" id="{68CB8B32-CEFC-732D-4C4E-36D6FD0B315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24561"/>
          <a:stretch>
            <a:fillRect/>
          </a:stretch>
        </p:blipFill>
        <p:spPr>
          <a:xfrm>
            <a:off x="6629060" y="8707272"/>
            <a:ext cx="1065445" cy="746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4;p15">
            <a:extLst>
              <a:ext uri="{FF2B5EF4-FFF2-40B4-BE49-F238E27FC236}">
                <a16:creationId xmlns:a16="http://schemas.microsoft.com/office/drawing/2014/main" id="{59437104-C8D1-CA20-C55C-D54CE7F9FF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8568" t="36265" r="43548" b="50758"/>
          <a:stretch>
            <a:fillRect/>
          </a:stretch>
        </p:blipFill>
        <p:spPr>
          <a:xfrm>
            <a:off x="6649872" y="6988141"/>
            <a:ext cx="1065446" cy="877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68%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726662" y="4623207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</a:t>
            </a:r>
            <a:r>
              <a:rPr err="1"/>
              <a:t>proyección</a:t>
            </a:r>
            <a:r>
              <a:t>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369178" y="32094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4,448,487</a:t>
            </a:r>
            <a:br>
              <a:rPr/>
            </a:br>
            <a:r>
              <a:t>68%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603" y="3193821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518893" y="33390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82806" y="284005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329,033</a:t>
            </a:r>
            <a:br>
              <a:rPr/>
            </a:br>
            <a:r>
              <a:t>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454" y="3327849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108203" y="3066824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30000" y="1191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1,716,542</a:t>
            </a:r>
            <a:br>
              <a:rPr/>
            </a:br>
            <a:r>
              <a:t>26%</a:t>
            </a:r>
          </a:p>
        </p:txBody>
      </p:sp>
      <p:pic>
        <p:nvPicPr>
          <p:cNvPr id="125" name="Picture 124" descr="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1735199"/>
            <a:ext cx="9555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079027" y="15659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677200" y="122282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22,140</a:t>
            </a:r>
            <a:br>
              <a:rPr/>
            </a:br>
            <a:r>
              <a:t>0.34%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9281" y="1249025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119478" y="1422631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6,516,202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4,122,799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4,448,487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2,310,445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2,552,804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1,608,191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1,973,161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329,831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485,355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326,998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192,835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1,812,354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1,895,683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663,871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728,020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898,001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815,280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3,583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3,747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21,895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31,431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976514392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9_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031505"/>
              </p:ext>
            </p:extLst>
          </p:nvPr>
        </p:nvGraphicFramePr>
        <p:xfrm>
          <a:off x="1706400" y="6854400"/>
          <a:ext cx="4359600" cy="14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58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  <a:r>
                        <a:rPr lang="es-MX" sz="1000">
                          <a:latin typeface="Montserrat"/>
                        </a:rPr>
                        <a:t>4</a:t>
                      </a: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  <a:r>
                        <a:rPr lang="es-MX" sz="1000">
                          <a:latin typeface="Montserrat"/>
                        </a:rPr>
                        <a:t>57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2,658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</a:t>
                      </a:r>
                      <a:r>
                        <a:rPr lang="es-MX" sz="1000">
                          <a:latin typeface="Montserrat"/>
                        </a:rPr>
                        <a:t>08</a:t>
                      </a: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198000" y="9546057"/>
            <a:ext cx="72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Incluye</a:t>
            </a:r>
            <a:r>
              <a:t> 47 UMF, 3 UMFH, 1 UMF-UMAA y no </a:t>
            </a:r>
            <a:r>
              <a:rPr err="1"/>
              <a:t>incluye</a:t>
            </a:r>
            <a:r>
              <a:t> 7 Unidades </a:t>
            </a:r>
            <a:r>
              <a:rPr err="1"/>
              <a:t>Auxiliares</a:t>
            </a:r>
            <a:r>
              <a:t> de Medicina Familiar.</a:t>
            </a:r>
            <a:br>
              <a:rPr/>
            </a:br>
            <a:r>
              <a:t>³ </a:t>
            </a:r>
            <a:r>
              <a:rPr err="1"/>
              <a:t>Incluye</a:t>
            </a:r>
            <a:r>
              <a:t> la UMFR 1 </a:t>
            </a:r>
            <a:r>
              <a:rPr err="1"/>
              <a:t>unidades</a:t>
            </a:r>
            <a:r>
              <a:t>.</a:t>
            </a:r>
            <a:endParaRPr lang="es-MX"/>
          </a:p>
          <a:p>
            <a:pPr>
              <a:defRPr sz="700">
                <a:solidFill>
                  <a:srgbClr val="FFFFFF"/>
                </a:solidFill>
                <a:latin typeface="Montserrat"/>
              </a:defRPr>
            </a:pPr>
            <a:r>
              <a:rPr lang="es-MX">
                <a:solidFill>
                  <a:schemeClr val="bg1"/>
                </a:solidFill>
              </a:rPr>
              <a:t>HGR Santa Catarina en construcción.</a:t>
            </a:r>
          </a:p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11500" y="9908704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información: m</a:t>
            </a:r>
            <a:r>
              <a:rPr lang="es-MX" err="1"/>
              <a:t>ayo</a:t>
            </a:r>
            <a:r>
              <a:t>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7;g3d0b4d3c5c9_2_44">
            <a:extLst>
              <a:ext uri="{FF2B5EF4-FFF2-40B4-BE49-F238E27FC236}">
                <a16:creationId xmlns:a16="http://schemas.microsoft.com/office/drawing/2014/main" id="{6CC13DD0-CDE9-DA9A-B21F-4F6777C651C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122" y="2199881"/>
            <a:ext cx="5451224" cy="2535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200;g3d0b4d3c5c9_2_44">
            <a:extLst>
              <a:ext uri="{FF2B5EF4-FFF2-40B4-BE49-F238E27FC236}">
                <a16:creationId xmlns:a16="http://schemas.microsoft.com/office/drawing/2014/main" id="{05D392A7-4856-B5FA-7BA0-DACBE1B0143E}"/>
              </a:ext>
            </a:extLst>
          </p:cNvPr>
          <p:cNvGraphicFramePr/>
          <p:nvPr/>
        </p:nvGraphicFramePr>
        <p:xfrm>
          <a:off x="282278" y="1331058"/>
          <a:ext cx="7198700" cy="51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Traumatologia y Ortopedia No. 21, Monterrey</a:t>
                      </a:r>
                      <a:endParaRPr sz="1800" b="1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382AF01-7334-4981-80B3-0CFDE2EEDB3F}"/>
              </a:ext>
            </a:extLst>
          </p:cNvPr>
          <p:cNvSpPr txBox="1"/>
          <p:nvPr/>
        </p:nvSpPr>
        <p:spPr>
          <a:xfrm>
            <a:off x="1167940" y="5003597"/>
            <a:ext cx="5669588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</a:t>
            </a:r>
            <a:r>
              <a:rPr kumimoji="0" lang="es-ES" sz="10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 </a:t>
            </a:r>
            <a:r>
              <a:rPr kumimoji="0" lang="es-E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1 de noviembre de 1945, se inicia la atención médica y servicios de seguridad social en la entidad.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La primera unidad en abrir fue la Unidad de Medicina Familiar No. 3</a:t>
            </a:r>
            <a:r>
              <a:rPr kumimoji="0" lang="es-ES" sz="10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,</a:t>
            </a:r>
            <a:r>
              <a:rPr kumimoji="0" lang="es-E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 que funcionó como el primer punto de atención primaria para trabajadores y sus familias.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15 de mayo de 1952 se inauguró la Unidad Médica de Alta Especialidad No. 21 de Traumatología y Ortopedia, primer hospital que operó formalmente bajo el IMSS en Monterrey e inició sus operaciones completas en noviembre del mismo año.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Este hospital se convirtió en el primer establecimiento hospitalario de mayor complejidad en la región, y brindó cobertura principalmente a trabajadores de la industria siderúrgica, cementera, vidriera, cervecera.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Capacidad</a:t>
            </a: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médica </a:t>
            </a: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instalada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19_NUEVO_LE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1" y="7851047"/>
            <a:ext cx="7488000" cy="72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800" y="9507600"/>
            <a:ext cx="73872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FFFFFF"/>
                </a:solidFill>
                <a:latin typeface="Montserrat"/>
              </a:defRPr>
            </a:pP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Información: ma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81383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Capacidad</a:t>
            </a: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médica </a:t>
            </a: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instalada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46304" y="1131704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28" y="4784741"/>
          <a:ext cx="7650000" cy="188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FFFFFF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¹Incluye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quirófano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híbridas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salas de urgencias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mixtas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no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considera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tococirugía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expulsión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Cédula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actualización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variables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seleccionados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del IFU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enviados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por el OOAD.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Información: ma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2026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E89590AF-6100-2D36-10DB-DFC9D726682A}"/>
              </a:ext>
            </a:extLst>
          </p:cNvPr>
          <p:cNvGraphicFramePr>
            <a:graphicFrameLocks noGrp="1"/>
          </p:cNvGraphicFramePr>
          <p:nvPr/>
        </p:nvGraphicFramePr>
        <p:xfrm>
          <a:off x="56628" y="1341067"/>
          <a:ext cx="7650000" cy="3377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922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197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Septiembre</a:t>
                      </a:r>
                      <a:r>
                        <a:t>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197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0790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175" y="80228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Equipo </a:t>
            </a: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relevante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68598" y="1269783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999" y="5073375"/>
          <a:ext cx="7534799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7</a:t>
                      </a:r>
                      <a:endParaRPr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  <a:r>
                        <a:rPr lang="es-MX"/>
                        <a:t>5</a:t>
                      </a:r>
                      <a:endParaRPr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825" y="9719911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175" y="9499193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Proyectos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implementación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/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sustitución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2019-2025.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Incluye equipo mayor de c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ompra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2025-2026. </a:t>
            </a:r>
            <a:endParaRPr kumimoji="0" lang="es-MX" sz="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Cédula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actualización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variables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seleccionadas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del IFU,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enviadas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por el OOAD.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información: ma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2026</a:t>
            </a:r>
          </a:p>
        </p:txBody>
      </p:sp>
      <p:graphicFrame>
        <p:nvGraphicFramePr>
          <p:cNvPr id="8" name="Table 153">
            <a:extLst>
              <a:ext uri="{FF2B5EF4-FFF2-40B4-BE49-F238E27FC236}">
                <a16:creationId xmlns:a16="http://schemas.microsoft.com/office/drawing/2014/main" id="{8EA12916-61FE-505A-EC2B-080AE05CB526}"/>
              </a:ext>
            </a:extLst>
          </p:cNvPr>
          <p:cNvGraphicFramePr>
            <a:graphicFrameLocks noGrp="1"/>
          </p:cNvGraphicFramePr>
          <p:nvPr/>
        </p:nvGraphicFramePr>
        <p:xfrm>
          <a:off x="122175" y="1657050"/>
          <a:ext cx="7534799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032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2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591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5</a:t>
                      </a:r>
                      <a:endParaRPr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7</a:t>
                      </a:r>
                      <a:endParaRPr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665704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6F1E9E07-5573-4BB2-3BB0-C8509AE0A884}"/>
              </a:ext>
            </a:extLst>
          </p:cNvPr>
          <p:cNvGrpSpPr/>
          <p:nvPr/>
        </p:nvGrpSpPr>
        <p:grpSpPr>
          <a:xfrm>
            <a:off x="149075" y="1257782"/>
            <a:ext cx="7342929" cy="4642128"/>
            <a:chOff x="149075" y="1257782"/>
            <a:chExt cx="7342929" cy="4642128"/>
          </a:xfrm>
        </p:grpSpPr>
        <p:sp>
          <p:nvSpPr>
            <p:cNvPr id="16" name="Google Shape;234;g3d635d120e2_2_8">
              <a:extLst>
                <a:ext uri="{FF2B5EF4-FFF2-40B4-BE49-F238E27FC236}">
                  <a16:creationId xmlns:a16="http://schemas.microsoft.com/office/drawing/2014/main" id="{9A60B5AE-6A52-40E0-BA55-4A26B285A8CB}"/>
                </a:ext>
              </a:extLst>
            </p:cNvPr>
            <p:cNvSpPr/>
            <p:nvPr/>
          </p:nvSpPr>
          <p:spPr>
            <a:xfrm>
              <a:off x="1420587" y="3655087"/>
              <a:ext cx="2037049" cy="290037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35;g3d635d120e2_2_8">
              <a:extLst>
                <a:ext uri="{FF2B5EF4-FFF2-40B4-BE49-F238E27FC236}">
                  <a16:creationId xmlns:a16="http://schemas.microsoft.com/office/drawing/2014/main" id="{61D90382-60EB-098E-75D1-0BEC13CE7E81}"/>
                </a:ext>
              </a:extLst>
            </p:cNvPr>
            <p:cNvSpPr/>
            <p:nvPr/>
          </p:nvSpPr>
          <p:spPr>
            <a:xfrm>
              <a:off x="682941" y="3659608"/>
              <a:ext cx="737646" cy="285516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r>
                <a:rPr kumimoji="0" lang="e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rPr>
                <a:t>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8" name="Google Shape;236;g3d635d120e2_2_8">
              <a:extLst>
                <a:ext uri="{FF2B5EF4-FFF2-40B4-BE49-F238E27FC236}">
                  <a16:creationId xmlns:a16="http://schemas.microsoft.com/office/drawing/2014/main" id="{E80D2EB8-2C4E-5C34-8FD5-5E1D5E74BCC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5506" y="2134267"/>
              <a:ext cx="2755038" cy="1513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242;g3d635d120e2_2_8">
              <a:extLst>
                <a:ext uri="{FF2B5EF4-FFF2-40B4-BE49-F238E27FC236}">
                  <a16:creationId xmlns:a16="http://schemas.microsoft.com/office/drawing/2014/main" id="{3FCEE298-4446-4A50-BD3E-D57BC2E1A790}"/>
                </a:ext>
              </a:extLst>
            </p:cNvPr>
            <p:cNvSpPr txBox="1"/>
            <p:nvPr/>
          </p:nvSpPr>
          <p:spPr>
            <a:xfrm>
              <a:off x="1109836" y="4050886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HGZ 17 Monterrey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HGZ 4 Guadalupe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HTO 21 Monterrey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$118.7 mdp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0" name="Google Shape;229;g3d635d120e2_2_8">
              <a:extLst>
                <a:ext uri="{FF2B5EF4-FFF2-40B4-BE49-F238E27FC236}">
                  <a16:creationId xmlns:a16="http://schemas.microsoft.com/office/drawing/2014/main" id="{E627C803-CBD1-F47B-CFAE-CAF8DA45223F}"/>
                </a:ext>
              </a:extLst>
            </p:cNvPr>
            <p:cNvGrpSpPr/>
            <p:nvPr/>
          </p:nvGrpSpPr>
          <p:grpSpPr>
            <a:xfrm>
              <a:off x="4527146" y="3820676"/>
              <a:ext cx="2548738" cy="296510"/>
              <a:chOff x="5322926" y="4594067"/>
              <a:chExt cx="2827966" cy="288971"/>
            </a:xfrm>
          </p:grpSpPr>
          <p:sp>
            <p:nvSpPr>
              <p:cNvPr id="24" name="Google Shape;230;g3d635d120e2_2_8">
                <a:extLst>
                  <a:ext uri="{FF2B5EF4-FFF2-40B4-BE49-F238E27FC236}">
                    <a16:creationId xmlns:a16="http://schemas.microsoft.com/office/drawing/2014/main" id="{447CD27E-6218-1FB9-1FAE-A2237CEC39ED}"/>
                  </a:ext>
                </a:extLst>
              </p:cNvPr>
              <p:cNvSpPr/>
              <p:nvPr/>
            </p:nvSpPr>
            <p:spPr>
              <a:xfrm>
                <a:off x="5322926" y="4594067"/>
                <a:ext cx="780240" cy="288971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 Black"/>
                    <a:ea typeface="Noto Sans Black"/>
                    <a:cs typeface="Noto Sans Black"/>
                    <a:sym typeface="Noto Sans Black"/>
                  </a:rPr>
                  <a:t>10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25" name="Google Shape;231;g3d635d120e2_2_8">
                <a:extLst>
                  <a:ext uri="{FF2B5EF4-FFF2-40B4-BE49-F238E27FC236}">
                    <a16:creationId xmlns:a16="http://schemas.microsoft.com/office/drawing/2014/main" id="{8F81BDF3-E550-6075-30DD-797C29A5FB27}"/>
                  </a:ext>
                </a:extLst>
              </p:cNvPr>
              <p:cNvSpPr/>
              <p:nvPr/>
            </p:nvSpPr>
            <p:spPr>
              <a:xfrm>
                <a:off x="6093909" y="4603249"/>
                <a:ext cx="2056983" cy="279788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  <a:tabLst/>
                  <a:defRPr/>
                </a:pPr>
                <a:r>
                  <a:rPr kumimoji="0" lang="es" sz="13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kumimoji="0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" name="Google Shape;232;g3d635d120e2_2_8">
              <a:extLst>
                <a:ext uri="{FF2B5EF4-FFF2-40B4-BE49-F238E27FC236}">
                  <a16:creationId xmlns:a16="http://schemas.microsoft.com/office/drawing/2014/main" id="{FA077940-501E-A491-26CF-906DA2019C2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79225" y="2037222"/>
              <a:ext cx="2755038" cy="1890832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22" name="Google Shape;241;g3d635d120e2_2_8">
              <a:extLst>
                <a:ext uri="{FF2B5EF4-FFF2-40B4-BE49-F238E27FC236}">
                  <a16:creationId xmlns:a16="http://schemas.microsoft.com/office/drawing/2014/main" id="{28619D78-1686-20B9-2ABA-6F2391182686}"/>
                </a:ext>
              </a:extLst>
            </p:cNvPr>
            <p:cNvSpPr txBox="1"/>
            <p:nvPr/>
          </p:nvSpPr>
          <p:spPr>
            <a:xfrm>
              <a:off x="4591636" y="4093310"/>
              <a:ext cx="2900368" cy="180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25" tIns="89025" rIns="89025" bIns="890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  <a:tabLst/>
                <a:defRPr/>
              </a:pPr>
              <a:r>
                <a:rPr kumimoji="0" lang="es" sz="1266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5 UMF</a:t>
              </a:r>
              <a:endParaRPr kumimoji="0" sz="1266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  <a:tabLst/>
                <a:defRPr/>
              </a:pPr>
              <a:r>
                <a:rPr kumimoji="0" lang="es" sz="974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UMF 14 Cadereyta, UMF 35 Monterrey, UMF 31 San Nicolas de los Garza, UMF 43 Escobedo y UMG 32 V. Guadalupe</a:t>
              </a:r>
              <a:endParaRPr kumimoji="0" sz="974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  <a:tabLst/>
                <a:defRPr/>
              </a:pPr>
              <a:r>
                <a:rPr kumimoji="0" lang="es" sz="1266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5 Hospitales</a:t>
              </a:r>
              <a:endParaRPr kumimoji="0" sz="1266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71"/>
                <a:buFont typeface="Arial"/>
                <a:buNone/>
                <a:tabLst/>
                <a:defRPr/>
              </a:pPr>
              <a:r>
                <a:rPr kumimoji="0" lang="es" sz="974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HGO 23 Monterrey, HGZMF 2 Monterrey, HGZMF 6 S. Nicolás de los Garza, HGSMF 11 Montemorelos, HGZ 67 Apodaca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71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$33.8 mdp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  <a:tabLst/>
                <a:defRPr/>
              </a:pPr>
              <a:endParaRPr kumimoji="0" sz="1266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26AEFA8-5436-75D3-C758-BA8AA5B3E09E}"/>
                </a:ext>
              </a:extLst>
            </p:cNvPr>
            <p:cNvSpPr txBox="1"/>
            <p:nvPr/>
          </p:nvSpPr>
          <p:spPr>
            <a:xfrm>
              <a:off x="149075" y="1257782"/>
              <a:ext cx="66950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400" b="1" i="0" u="none" strike="noStrike" kern="0" cap="none" spc="0" normalizeH="0" baseline="0" noProof="0">
                  <a:ln>
                    <a:noFill/>
                  </a:ln>
                  <a:solidFill>
                    <a:srgbClr val="006858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Fortalecimiento de equipo médico mayor</a:t>
              </a:r>
              <a:endPara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ES" sz="1400" b="1" i="0" u="none" strike="noStrike" kern="0" cap="none" spc="0" normalizeH="0" baseline="0" noProof="0">
                  <a:ln>
                    <a:noFill/>
                  </a:ln>
                  <a:solidFill>
                    <a:srgbClr val="006858"/>
                  </a:solidFill>
                  <a:effectLst/>
                  <a:uLnTx/>
                  <a:uFillTx/>
                  <a:latin typeface="Montserrat" panose="00000500000000000000" pitchFamily="2" charset="0"/>
                  <a:cs typeface="Arial"/>
                  <a:sym typeface="Arial"/>
                </a:rPr>
                <a:t>Compra 2025-2026</a:t>
              </a:r>
              <a:endParaRPr kumimoji="0" lang="es-MX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36DF2AC-F32D-ADD1-3964-F97564924BEE}"/>
              </a:ext>
            </a:extLst>
          </p:cNvPr>
          <p:cNvGrpSpPr/>
          <p:nvPr/>
        </p:nvGrpSpPr>
        <p:grpSpPr>
          <a:xfrm>
            <a:off x="886745" y="6270615"/>
            <a:ext cx="6270201" cy="2730893"/>
            <a:chOff x="756375" y="4463760"/>
            <a:chExt cx="6270201" cy="2730893"/>
          </a:xfrm>
        </p:grpSpPr>
        <p:sp>
          <p:nvSpPr>
            <p:cNvPr id="27" name="Google Shape;237;g3d635d120e2_2_8">
              <a:extLst>
                <a:ext uri="{FF2B5EF4-FFF2-40B4-BE49-F238E27FC236}">
                  <a16:creationId xmlns:a16="http://schemas.microsoft.com/office/drawing/2014/main" id="{F2714972-880C-9688-5F2A-6F90DD3AA8FA}"/>
                </a:ext>
              </a:extLst>
            </p:cNvPr>
            <p:cNvSpPr/>
            <p:nvPr/>
          </p:nvSpPr>
          <p:spPr>
            <a:xfrm>
              <a:off x="1210575" y="6045233"/>
              <a:ext cx="2010300" cy="3735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Resonador magnético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8" name="Google Shape;238;g3d635d120e2_2_8">
              <a:extLst>
                <a:ext uri="{FF2B5EF4-FFF2-40B4-BE49-F238E27FC236}">
                  <a16:creationId xmlns:a16="http://schemas.microsoft.com/office/drawing/2014/main" id="{AEE7FE33-1622-ABF4-9C1F-173008E6A736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3294" y="4534707"/>
              <a:ext cx="2437581" cy="1545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39;g3d635d120e2_2_8">
              <a:extLst>
                <a:ext uri="{FF2B5EF4-FFF2-40B4-BE49-F238E27FC236}">
                  <a16:creationId xmlns:a16="http://schemas.microsoft.com/office/drawing/2014/main" id="{4A5AFF74-816E-A49A-0D84-693297F31E69}"/>
                </a:ext>
              </a:extLst>
            </p:cNvPr>
            <p:cNvSpPr/>
            <p:nvPr/>
          </p:nvSpPr>
          <p:spPr>
            <a:xfrm>
              <a:off x="756375" y="6075179"/>
              <a:ext cx="454200" cy="343554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r>
                <a:rPr kumimoji="0" lang="e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0" name="Google Shape;243;g3d635d120e2_2_8">
              <a:extLst>
                <a:ext uri="{FF2B5EF4-FFF2-40B4-BE49-F238E27FC236}">
                  <a16:creationId xmlns:a16="http://schemas.microsoft.com/office/drawing/2014/main" id="{B1EC9B91-702F-6C44-5D6C-23F8928BE439}"/>
                </a:ext>
              </a:extLst>
            </p:cNvPr>
            <p:cNvSpPr txBox="1"/>
            <p:nvPr/>
          </p:nvSpPr>
          <p:spPr>
            <a:xfrm>
              <a:off x="1088009" y="6597206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HES 25 Monterrey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cs typeface="Arial"/>
                  <a:sym typeface="Arial"/>
                </a:rPr>
                <a:t>$40.6 mdp</a:t>
              </a:r>
              <a:endParaRPr kumimoji="0" lang="es" sz="1300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cs typeface="Arial"/>
                <a:sym typeface="Montserrat"/>
              </a:endParaRPr>
            </a:p>
          </p:txBody>
        </p:sp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84F9DA91-1702-5E82-DDF7-148673E1F2A2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2048" y="4463760"/>
              <a:ext cx="2697564" cy="1965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Google Shape;237;g3d635d120e2_2_8">
              <a:extLst>
                <a:ext uri="{FF2B5EF4-FFF2-40B4-BE49-F238E27FC236}">
                  <a16:creationId xmlns:a16="http://schemas.microsoft.com/office/drawing/2014/main" id="{006AD9CD-2780-E740-1C8C-6EACF39C50C6}"/>
                </a:ext>
              </a:extLst>
            </p:cNvPr>
            <p:cNvSpPr/>
            <p:nvPr/>
          </p:nvSpPr>
          <p:spPr>
            <a:xfrm>
              <a:off x="4830975" y="6370224"/>
              <a:ext cx="1882738" cy="369846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Angiógrafo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" name="Google Shape;239;g3d635d120e2_2_8">
              <a:extLst>
                <a:ext uri="{FF2B5EF4-FFF2-40B4-BE49-F238E27FC236}">
                  <a16:creationId xmlns:a16="http://schemas.microsoft.com/office/drawing/2014/main" id="{5F123575-3BEE-8375-1288-E5091D498E81}"/>
                </a:ext>
              </a:extLst>
            </p:cNvPr>
            <p:cNvSpPr/>
            <p:nvPr/>
          </p:nvSpPr>
          <p:spPr>
            <a:xfrm>
              <a:off x="4248854" y="6362370"/>
              <a:ext cx="582121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r>
                <a:rPr kumimoji="0" lang="e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4" name="Google Shape;243;g3d635d120e2_2_8">
              <a:extLst>
                <a:ext uri="{FF2B5EF4-FFF2-40B4-BE49-F238E27FC236}">
                  <a16:creationId xmlns:a16="http://schemas.microsoft.com/office/drawing/2014/main" id="{F291BCB1-6C69-CE80-1204-77B7A34B5960}"/>
                </a:ext>
              </a:extLst>
            </p:cNvPr>
            <p:cNvSpPr txBox="1"/>
            <p:nvPr/>
          </p:nvSpPr>
          <p:spPr>
            <a:xfrm>
              <a:off x="4748376" y="6763553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cs typeface="Arial"/>
                  <a:sym typeface="Arial"/>
                </a:rPr>
                <a:t>$25.3 mdp</a:t>
              </a:r>
              <a:endParaRPr kumimoji="0" lang="es" sz="1300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cs typeface="Arial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19108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B47F6B8-3D81-1F6D-BBBD-610B44398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50BAFD6-A418-706F-1BEE-901C47C1522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0323EF9-3D95-46FC-1F11-6282A6A2B567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666A425-99C8-FE55-B993-C52B0B7830DF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747030EF-CEDF-3320-1981-AA79D2D29757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4E12B150-1A20-834F-F796-3460950A176E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FFCECFB9-2C22-1AB0-9B66-2A58076EE98C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información: </a:t>
            </a:r>
            <a:r>
              <a:rPr dirty="0" err="1"/>
              <a:t>semana</a:t>
            </a:r>
            <a:r>
              <a:rPr dirty="0"/>
              <a:t> 24, 7 </a:t>
            </a:r>
            <a:r>
              <a:rPr dirty="0" err="1"/>
              <a:t>junio</a:t>
            </a:r>
            <a:r>
              <a:rPr dirty="0"/>
              <a:t> 2026</a:t>
            </a:r>
            <a:br>
              <a:rPr dirty="0"/>
            </a:br>
            <a:r>
              <a:rPr dirty="0"/>
              <a:t>¹Las </a:t>
            </a:r>
            <a:r>
              <a:rPr dirty="0" err="1"/>
              <a:t>consultas</a:t>
            </a:r>
            <a:r>
              <a:rPr dirty="0"/>
              <a:t> de </a:t>
            </a:r>
            <a:r>
              <a:rPr dirty="0" err="1"/>
              <a:t>medicina</a:t>
            </a:r>
            <a:r>
              <a:rPr dirty="0"/>
              <a:t> familiar </a:t>
            </a:r>
            <a:r>
              <a:rPr dirty="0" err="1"/>
              <a:t>incluyen</a:t>
            </a:r>
            <a:r>
              <a:rPr dirty="0"/>
              <a:t> los </a:t>
            </a:r>
            <a:r>
              <a:rPr dirty="0" err="1"/>
              <a:t>hospitales</a:t>
            </a:r>
            <a:r>
              <a:rPr dirty="0"/>
              <a:t>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+28,652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+752,007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+160,075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7,479,758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752,007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3,450,400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7,464,504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1,905,805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160,075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966,128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2,122,840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122,892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28,652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64,852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139,710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83,218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Gral. Teran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196,188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92,399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48,032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24,936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Anáhuac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Lampazos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Villa Aldama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China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Galeana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Dr. Arroyo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Cerralvo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Agualeguas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Aramberri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La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294,601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142,337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Hualahuises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San Rafael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126,048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62,539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Dr. González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64,795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30,526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San Nicolas de los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122,181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97,900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58,363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217,548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691,370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1,504,240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1920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9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46.0%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8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447" y="653112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1,504,240 </a:t>
            </a:r>
            <a:br>
              <a:rPr/>
            </a:br>
            <a:r>
              <a:t>Meta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9036A9B7-BAF4-52BB-2C3C-B325A3B7219A}"/>
              </a:ext>
            </a:extLst>
          </p:cNvPr>
          <p:cNvSpPr txBox="1"/>
          <p:nvPr/>
        </p:nvSpPr>
        <p:spPr>
          <a:xfrm>
            <a:off x="4383303" y="671013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8 Nuevas UMTC con   27 consultorios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C37F19-71B3-7E8E-95D3-685C11090B9A}"/>
              </a:ext>
            </a:extLst>
          </p:cNvPr>
          <p:cNvSpPr txBox="1"/>
          <p:nvPr/>
        </p:nvSpPr>
        <p:spPr>
          <a:xfrm>
            <a:off x="4581075" y="7671570"/>
            <a:ext cx="31913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UMF 3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UMF 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HGZMF 6 S. Nicolas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UMF 73 San Nicolas de los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UMF 35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UMF 36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UMF 72 Buena Vista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100">
                <a:latin typeface="Montserrat" panose="00000500000000000000" pitchFamily="2" charset="0"/>
              </a:rPr>
              <a:t>UMF 26 Monterrey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 (113 consultorios)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0400" y="78408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</a:t>
            </a:r>
            <a:r>
              <a:rPr err="1"/>
              <a:t>consultas</a:t>
            </a:r>
            <a:r>
              <a:t> en 2025 </a:t>
            </a:r>
            <a:r>
              <a:rPr err="1"/>
              <a:t>fueron</a:t>
            </a:r>
            <a:r>
              <a:t> en fin de </a:t>
            </a:r>
            <a:r>
              <a:rPr err="1"/>
              <a:t>semana</a:t>
            </a:r>
            <a:r>
              <a:t> (613,481 </a:t>
            </a:r>
            <a:r>
              <a:rPr err="1"/>
              <a:t>consultas</a:t>
            </a:r>
            <a:r>
              <a:t>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9585"/>
              </p:ext>
            </p:extLst>
          </p:nvPr>
        </p:nvGraphicFramePr>
        <p:xfrm>
          <a:off x="151200" y="1695600"/>
          <a:ext cx="7473599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El Cercado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11,646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39,301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442,430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40,119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193,784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14 Cadereyta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106,748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56,297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16 Allende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28,603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Apodaca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111,768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V.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199,722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91,780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Villa García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84,397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 San Pedro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362,165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176,524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69,683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151,536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Ciénega Flores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74,416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35,482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56,842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371,644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162,633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401,295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183,448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S. Nicolas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27,028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413,280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Salinas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32,987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29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71,478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134,231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60,841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Pino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304,145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138,232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Escobedo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282,838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133,217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S. Pedro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52,497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Sta. Catarina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137,189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64,196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4445"/>
              </p:ext>
            </p:extLst>
          </p:nvPr>
        </p:nvGraphicFramePr>
        <p:xfrm>
          <a:off x="332925" y="7606801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32925" y="82656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097363"/>
              </p:ext>
            </p:extLst>
          </p:nvPr>
        </p:nvGraphicFramePr>
        <p:xfrm>
          <a:off x="147600" y="5598390"/>
          <a:ext cx="7473599" cy="929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60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b="0"/>
                        <a:t>UMF 66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b="0"/>
                        <a:t>203,361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b="0"/>
                        <a:t>2,336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99,572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198,000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50.3%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68 Rincón de la Sierra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77,697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Lincoln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63,646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Zuazua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45,729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71 Metroplex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140,739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65,236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5,188,389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460,180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2,399,335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5,165,072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420202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77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100,438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-12,080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62,210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89,628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227,779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112,823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138,706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69,817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7 San Pedro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1,156,677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51,521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576,611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1,205,230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5238000"/>
          <a:ext cx="7340399" cy="26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188,644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88,828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UMFR 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73,113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315,451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52,873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165,212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36,623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HPSIQ 22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749,128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108,554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389,517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917,610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1,905,805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160,075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966,128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2,122,840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561076"/>
              </p:ext>
            </p:extLst>
          </p:nvPr>
        </p:nvGraphicFramePr>
        <p:xfrm>
          <a:off x="5149100" y="7800911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5149100" y="838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45.5%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884400" y="802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94301" y="8054493"/>
            <a:ext cx="2854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3200"/>
              <a:t>2,122,840 </a:t>
            </a:r>
            <a:br>
              <a:rPr sz="3200"/>
            </a:br>
            <a:r>
              <a:rPr sz="3200"/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553201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49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7 San Pedro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62,370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10,084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29,924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70,089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4593600"/>
          <a:ext cx="7340399" cy="20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6,588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60,522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34,928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69,621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122,892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28,652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64,852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139,710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329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80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46.4%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425200" y="702576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32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139,710 </a:t>
            </a:r>
            <a:br>
              <a:rPr/>
            </a:br>
            <a:r>
              <a:t>Meta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8204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127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 de 3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81974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Nefrología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Oftalmología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86200" y="1581974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Cardiología 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5ABFD7C3-62A3-71EB-3849-13976C5953E4}"/>
              </a:ext>
            </a:extLst>
          </p:cNvPr>
          <p:cNvGraphicFramePr>
            <a:graphicFrameLocks noGrp="1"/>
          </p:cNvGraphicFramePr>
          <p:nvPr/>
        </p:nvGraphicFramePr>
        <p:xfrm>
          <a:off x="360000" y="3525973"/>
          <a:ext cx="3456000" cy="4149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Hematología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Oncología</a:t>
                      </a:r>
                      <a:r>
                        <a:t>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32CA55A6-D581-56A4-8B57-C4074EE3B026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3394347"/>
          <a:ext cx="3456000" cy="175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3A4E9557-5BB9-2499-43B4-C080082B0562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5110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Table 9">
            <a:extLst>
              <a:ext uri="{FF2B5EF4-FFF2-40B4-BE49-F238E27FC236}">
                <a16:creationId xmlns:a16="http://schemas.microsoft.com/office/drawing/2014/main" id="{D3581EE5-E1AB-9422-2769-C3469FDB9DE1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6706373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Otorrinolaringología</a:t>
                      </a:r>
                      <a:r>
                        <a:t> y </a:t>
                      </a:r>
                      <a:r>
                        <a:rPr err="1"/>
                        <a:t>Cirugía</a:t>
                      </a:r>
                      <a:r>
                        <a:t>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439896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 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Sede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delegacional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(2 de 3) 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12575" y="163752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Sede</a:t>
                      </a:r>
                      <a:r>
                        <a:t> </a:t>
                      </a:r>
                      <a:r>
                        <a:rPr err="1"/>
                        <a:t>Delegación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517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56400" y="407292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765173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56400" y="47969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75218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56400" y="552759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01625" y="648171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56400" y="6269355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21598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56400" y="7061979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</a:t>
                      </a:r>
                      <a:r>
                        <a:rPr err="1"/>
                        <a:t>hosp</a:t>
                      </a:r>
                      <a:r>
                        <a:t> 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9151B8C5-4BCF-11B9-A7AA-2626A992EE90}"/>
              </a:ext>
            </a:extLst>
          </p:cNvPr>
          <p:cNvGraphicFramePr>
            <a:graphicFrameLocks noGrp="1"/>
          </p:cNvGraphicFramePr>
          <p:nvPr/>
        </p:nvGraphicFramePr>
        <p:xfrm>
          <a:off x="324000" y="7945517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con UMAA No.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Table 7">
            <a:extLst>
              <a:ext uri="{FF2B5EF4-FFF2-40B4-BE49-F238E27FC236}">
                <a16:creationId xmlns:a16="http://schemas.microsoft.com/office/drawing/2014/main" id="{337E4B99-208B-382D-7BB0-14A44F87CA19}"/>
              </a:ext>
            </a:extLst>
          </p:cNvPr>
          <p:cNvGraphicFramePr>
            <a:graphicFrameLocks noGrp="1"/>
          </p:cNvGraphicFramePr>
          <p:nvPr/>
        </p:nvGraphicFramePr>
        <p:xfrm>
          <a:off x="3956400" y="7973356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Física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Audiología</a:t>
                      </a:r>
                      <a:r>
                        <a:t> Otoneurología y </a:t>
                      </a:r>
                      <a:r>
                        <a:rPr err="1"/>
                        <a:t>Foniatría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6000" y="1081545"/>
            <a:ext cx="493436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248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especialistas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sustitutos</a:t>
            </a:r>
            <a:r>
              <a:rPr lang="es-MX" sz="2000" b="1">
                <a:solidFill>
                  <a:srgbClr val="BC955C"/>
                </a:solidFill>
                <a:latin typeface="Montserrat"/>
              </a:rPr>
              <a:t> (3 de 3)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2158557"/>
          <a:ext cx="3456000" cy="455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Anatomía</a:t>
                      </a:r>
                      <a:r>
                        <a:t> </a:t>
                      </a:r>
                      <a:r>
                        <a:rPr err="1"/>
                        <a:t>Patológica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Hemodinamia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</a:t>
                      </a:r>
                      <a:r>
                        <a:rPr lang="es-MX"/>
                        <a:t>a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7686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6884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2749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</a:t>
                      </a:r>
                      <a:r>
                        <a:rPr err="1"/>
                        <a:t>Imagenología</a:t>
                      </a:r>
                      <a:r>
                        <a:t> Molecular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49838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86200" y="2184241"/>
          <a:ext cx="3456000" cy="294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1">
                  <a:txBody>
                    <a:bodyPr/>
                    <a:lstStyle/>
                    <a:p>
                      <a:r>
                        <a:rPr lang="es-MX" sz="800" b="1">
                          <a:latin typeface="Montserrat" panose="00000500000000000000" pitchFamily="2" charset="0"/>
                        </a:rPr>
                        <a:t>Sustitución 8 </a:t>
                      </a:r>
                      <a:endParaRPr sz="800" b="1">
                        <a:latin typeface="Montserrat" panose="00000500000000000000" pitchFamily="2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Nefrología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Neonatología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70000" y="51335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Radioncología</a:t>
                      </a:r>
                      <a:r>
                        <a:t> Directa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1035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000">
                <a:solidFill>
                  <a:srgbClr val="000000"/>
                </a:solidFill>
                <a:latin typeface="Montserrat"/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9799" y="1677240"/>
          <a:ext cx="3566401" cy="656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Especialidad</a:t>
                      </a:r>
                    </a:p>
                  </a:txBody>
                  <a:tcPr marL="14400" marR="14400" marT="14400" marB="1440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Número</a:t>
                      </a:r>
                    </a:p>
                  </a:txBody>
                  <a:tcPr marL="14400" marR="14400" marT="14400" marB="14400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% Acumulado</a:t>
                      </a:r>
                    </a:p>
                  </a:txBody>
                  <a:tcPr marL="14400" marR="14400" marT="14400" marB="14400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Familiar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15.2%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Anestesiología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25.3%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General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34.3%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Traumatología y Ortopedia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41.8%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 Urgencias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47.6%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Interna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52.6%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Imagenología Diagnóstico y Terapéutica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57.3%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Ginecología</a:t>
                      </a:r>
                      <a:r>
                        <a:rPr sz="900"/>
                        <a:t> y </a:t>
                      </a:r>
                      <a:r>
                        <a:rPr sz="900" err="1"/>
                        <a:t>Obstetricia</a:t>
                      </a:r>
                      <a:endParaRPr sz="90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61.1%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Pediatría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64.4%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Geriatría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67.1%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Cardiología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69.4%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Oftalmología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71.6%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Otorrinolaringología y Cirugía de Cabeza y Cuello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73.6%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del Trabajo y Ambiental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75.6%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Neumología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77.4%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Plástica y Reconstructiva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79.1%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Pediátrica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80.7%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Cardiotorácica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82.2%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del Enfermo en Estado Crítico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83.7%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Nefrología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84.9%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Urología</a:t>
                      </a:r>
                      <a:endParaRPr sz="90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86.2%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Epidemiología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87.2%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Anatomía Patológica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88.2%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Radioncología Directa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89.2%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Psiquiatría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89.9%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ACD39A3-8C71-47E8-D938-517731E0B95F}"/>
              </a:ext>
            </a:extLst>
          </p:cNvPr>
          <p:cNvGraphicFramePr>
            <a:graphicFrameLocks noGrp="1"/>
          </p:cNvGraphicFramePr>
          <p:nvPr/>
        </p:nvGraphicFramePr>
        <p:xfrm>
          <a:off x="4284601" y="1677240"/>
          <a:ext cx="3278249" cy="693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Especialidad</a:t>
                      </a:r>
                    </a:p>
                  </a:txBody>
                  <a:tcPr marL="14400" marR="14400" marT="14400" marB="1440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Número</a:t>
                      </a:r>
                    </a:p>
                  </a:txBody>
                  <a:tcPr marL="14400" marR="14400" marT="14400" marB="14400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% Acumulado</a:t>
                      </a:r>
                    </a:p>
                  </a:txBody>
                  <a:tcPr marL="14400" marR="14400" marT="14400" marB="14400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Oncología Médica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90.7%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Hemodinamia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91.4%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Gastroenterología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92.2%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Hematología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92.9%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Neurocirugía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93.7%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Endocrinología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94.2%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 Rehabilitación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94.7%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Neonatología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95.2%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Dermatología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95.7%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Neurología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Gastroenterología</a:t>
                      </a:r>
                      <a:r>
                        <a:rPr sz="900"/>
                        <a:t> y Nutrición </a:t>
                      </a:r>
                      <a:r>
                        <a:rPr sz="900" err="1"/>
                        <a:t>Pediátrica</a:t>
                      </a:r>
                      <a:endParaRPr sz="90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Cardiología Pediátrica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Endoscopia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96.9%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Calidad de la Atención Clínica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97.2%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Audiología Otoneurología y Foniatría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97.4%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Alergia e Inmunología Clínica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97.7%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Oncológica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97.9%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Nefrología</a:t>
                      </a:r>
                      <a:r>
                        <a:rPr sz="900"/>
                        <a:t> </a:t>
                      </a:r>
                      <a:r>
                        <a:rPr sz="900" err="1"/>
                        <a:t>Pediátrica</a:t>
                      </a:r>
                      <a:endParaRPr sz="90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98.2%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Materno Fetal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98.4%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Nuclear e Imagenología Molecular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98.7%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Infectología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98.9%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Neurología Pediátrica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99.2%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Patología Clínica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99.4%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Reumatología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99.7%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Urología</a:t>
                      </a:r>
                      <a:r>
                        <a:rPr sz="900"/>
                        <a:t> </a:t>
                      </a:r>
                      <a:r>
                        <a:rPr sz="900" err="1"/>
                        <a:t>Ginecológica</a:t>
                      </a:r>
                      <a:endParaRPr sz="900"/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99.9%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900" b="1">
                          <a:solidFill>
                            <a:srgbClr val="006455"/>
                          </a:solidFill>
                        </a:rPr>
                        <a:t>Total</a:t>
                      </a:r>
                      <a:endParaRPr sz="900" b="1">
                        <a:solidFill>
                          <a:srgbClr val="006455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900" b="1">
                          <a:solidFill>
                            <a:srgbClr val="006455"/>
                          </a:solidFill>
                        </a:rPr>
                        <a:t>399</a:t>
                      </a:r>
                      <a:endParaRPr sz="900" b="1">
                        <a:solidFill>
                          <a:srgbClr val="006455"/>
                        </a:solidFill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900" b="1">
                          <a:solidFill>
                            <a:srgbClr val="006455"/>
                          </a:solidFill>
                        </a:rPr>
                        <a:t>100%</a:t>
                      </a:r>
                      <a:endParaRPr sz="900" b="1">
                        <a:solidFill>
                          <a:srgbClr val="006455"/>
                        </a:solidFill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9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089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20C4CA6-8BFA-859B-3085-CED55AF65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809545"/>
              </p:ext>
            </p:extLst>
          </p:nvPr>
        </p:nvGraphicFramePr>
        <p:xfrm>
          <a:off x="178099" y="829380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4155471"/>
            <a:ext cx="3314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información: semana 24, 7 junio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494239"/>
              </p:ext>
            </p:extLst>
          </p:nvPr>
        </p:nvGraphicFramePr>
        <p:xfrm>
          <a:off x="176400" y="1625900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52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</a:t>
                      </a:r>
                      <a:r>
                        <a:rPr err="1"/>
                        <a:t>acumulado</a:t>
                      </a:r>
                      <a:r>
                        <a:t>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34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34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15,916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349285"/>
              </p:ext>
            </p:extLst>
          </p:nvPr>
        </p:nvGraphicFramePr>
        <p:xfrm>
          <a:off x="3926000" y="161320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Sustitución</a:t>
                      </a:r>
                      <a:r>
                        <a:t> de </a:t>
                      </a:r>
                      <a:r>
                        <a:rPr err="1"/>
                        <a:t>rodilla</a:t>
                      </a: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3,842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7" name="Connector 4">
            <a:extLst>
              <a:ext uri="{FF2B5EF4-FFF2-40B4-BE49-F238E27FC236}">
                <a16:creationId xmlns:a16="http://schemas.microsoft.com/office/drawing/2014/main" id="{B80ABF03-FAED-9A3A-A182-8F2EC8EC5A5A}"/>
              </a:ext>
            </a:extLst>
          </p:cNvPr>
          <p:cNvCxnSpPr/>
          <p:nvPr/>
        </p:nvCxnSpPr>
        <p:spPr>
          <a:xfrm>
            <a:off x="271100" y="56759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80973C5-5AC4-206C-8488-42E80C7A43A1}"/>
              </a:ext>
            </a:extLst>
          </p:cNvPr>
          <p:cNvSpPr txBox="1"/>
          <p:nvPr/>
        </p:nvSpPr>
        <p:spPr>
          <a:xfrm>
            <a:off x="176400" y="5260402"/>
            <a:ext cx="38862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100" b="1" i="0" u="none" strike="noStrike">
                <a:solidFill>
                  <a:srgbClr val="BC955C"/>
                </a:solidFill>
                <a:effectLst/>
                <a:latin typeface="Montserrat" panose="00000500000000000000" pitchFamily="2" charset="0"/>
              </a:rPr>
              <a:t>Vive saludable, Vive feliz</a:t>
            </a:r>
            <a:endParaRPr lang="es-MX" sz="210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3190A042-65A3-0B62-313C-AB5C5CC64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63956"/>
              </p:ext>
            </p:extLst>
          </p:nvPr>
        </p:nvGraphicFramePr>
        <p:xfrm>
          <a:off x="2119500" y="6738683"/>
          <a:ext cx="3695700" cy="803530"/>
        </p:xfrm>
        <a:graphic>
          <a:graphicData uri="http://schemas.openxmlformats.org/drawingml/2006/table">
            <a:tbl>
              <a:tblPr/>
              <a:tblGrid>
                <a:gridCol w="1868300">
                  <a:extLst>
                    <a:ext uri="{9D8B030D-6E8A-4147-A177-3AD203B41FA5}">
                      <a16:colId xmlns:a16="http://schemas.microsoft.com/office/drawing/2014/main" val="1522853533"/>
                    </a:ext>
                  </a:extLst>
                </a:gridCol>
                <a:gridCol w="1827400">
                  <a:extLst>
                    <a:ext uri="{9D8B030D-6E8A-4147-A177-3AD203B41FA5}">
                      <a16:colId xmlns:a16="http://schemas.microsoft.com/office/drawing/2014/main" val="373124678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Brigadas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Personal de enfermería IMSS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7530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31541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D017A02B-2CDF-968D-DBE1-0AEFE361E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83141"/>
              </p:ext>
            </p:extLst>
          </p:nvPr>
        </p:nvGraphicFramePr>
        <p:xfrm>
          <a:off x="723900" y="5834852"/>
          <a:ext cx="6324600" cy="803530"/>
        </p:xfrm>
        <a:graphic>
          <a:graphicData uri="http://schemas.openxmlformats.org/drawingml/2006/table">
            <a:tbl>
              <a:tblPr/>
              <a:tblGrid>
                <a:gridCol w="2390775">
                  <a:extLst>
                    <a:ext uri="{9D8B030D-6E8A-4147-A177-3AD203B41FA5}">
                      <a16:colId xmlns:a16="http://schemas.microsoft.com/office/drawing/2014/main" val="3497872416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7959731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553747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3159727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de Escuelas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Escuelas visitadas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Población 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Menores tamizados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352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2,400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2,289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583,860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316,408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15938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7557210B-2A38-40A8-5AD7-58620349C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5192713"/>
            <a:ext cx="7772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231">
            <a:extLst>
              <a:ext uri="{FF2B5EF4-FFF2-40B4-BE49-F238E27FC236}">
                <a16:creationId xmlns:a16="http://schemas.microsoft.com/office/drawing/2014/main" id="{280452BB-C080-45F5-A39F-F7A122669974}"/>
              </a:ext>
            </a:extLst>
          </p:cNvPr>
          <p:cNvSpPr txBox="1"/>
          <p:nvPr/>
        </p:nvSpPr>
        <p:spPr>
          <a:xfrm>
            <a:off x="226800" y="957774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>
                <a:solidFill>
                  <a:schemeClr val="bg1"/>
                </a:solidFill>
              </a:rPr>
              <a:t>En cada brigada participan 5 personas del IMSS.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" name="TextBox 231">
            <a:extLst>
              <a:ext uri="{FF2B5EF4-FFF2-40B4-BE49-F238E27FC236}">
                <a16:creationId xmlns:a16="http://schemas.microsoft.com/office/drawing/2014/main" id="{7B1BF6E6-7F0E-7383-E242-25D8B964D9F6}"/>
              </a:ext>
            </a:extLst>
          </p:cNvPr>
          <p:cNvSpPr txBox="1"/>
          <p:nvPr/>
        </p:nvSpPr>
        <p:spPr>
          <a:xfrm>
            <a:off x="176400" y="970085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Corte de </a:t>
            </a:r>
            <a:r>
              <a:rPr err="1">
                <a:solidFill>
                  <a:schemeClr val="bg1"/>
                </a:solidFill>
              </a:rPr>
              <a:t>información</a:t>
            </a:r>
            <a:r>
              <a:rPr>
                <a:solidFill>
                  <a:schemeClr val="bg1"/>
                </a:solidFill>
              </a:rPr>
              <a:t>: </a:t>
            </a:r>
            <a:r>
              <a:rPr lang="es-MX">
                <a:solidFill>
                  <a:schemeClr val="bg1"/>
                </a:solidFill>
              </a:rPr>
              <a:t>18</a:t>
            </a:r>
            <a:r>
              <a:rPr>
                <a:solidFill>
                  <a:schemeClr val="bg1"/>
                </a:solidFill>
              </a:rPr>
              <a:t> </a:t>
            </a:r>
            <a:r>
              <a:rPr lang="es-MX">
                <a:solidFill>
                  <a:schemeClr val="bg1"/>
                </a:solidFill>
              </a:rPr>
              <a:t>junio</a:t>
            </a:r>
            <a:r>
              <a:rPr>
                <a:solidFill>
                  <a:schemeClr val="bg1"/>
                </a:solidFill>
              </a:rPr>
              <a:t> 2026</a:t>
            </a:r>
          </a:p>
        </p:txBody>
      </p:sp>
      <p:sp>
        <p:nvSpPr>
          <p:cNvPr id="19" name="CuadroTexto 11">
            <a:extLst>
              <a:ext uri="{FF2B5EF4-FFF2-40B4-BE49-F238E27FC236}">
                <a16:creationId xmlns:a16="http://schemas.microsoft.com/office/drawing/2014/main" id="{421C8AB1-4ACE-2AB8-CBDC-DE1F2B95D667}"/>
              </a:ext>
            </a:extLst>
          </p:cNvPr>
          <p:cNvSpPr txBox="1"/>
          <p:nvPr/>
        </p:nvSpPr>
        <p:spPr>
          <a:xfrm>
            <a:off x="282946" y="8303537"/>
            <a:ext cx="1841269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29,902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CuadroTexto 12">
            <a:extLst>
              <a:ext uri="{FF2B5EF4-FFF2-40B4-BE49-F238E27FC236}">
                <a16:creationId xmlns:a16="http://schemas.microsoft.com/office/drawing/2014/main" id="{8BE3385A-FABB-1A40-5B2C-38F96EB25A10}"/>
              </a:ext>
            </a:extLst>
          </p:cNvPr>
          <p:cNvSpPr txBox="1"/>
          <p:nvPr/>
        </p:nvSpPr>
        <p:spPr>
          <a:xfrm>
            <a:off x="3009521" y="8303537"/>
            <a:ext cx="1832957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18,840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1" name="CuadroTexto 13">
            <a:extLst>
              <a:ext uri="{FF2B5EF4-FFF2-40B4-BE49-F238E27FC236}">
                <a16:creationId xmlns:a16="http://schemas.microsoft.com/office/drawing/2014/main" id="{C3F1806A-68D6-77FA-C639-950669A966B3}"/>
              </a:ext>
            </a:extLst>
          </p:cNvPr>
          <p:cNvSpPr txBox="1"/>
          <p:nvPr/>
        </p:nvSpPr>
        <p:spPr>
          <a:xfrm>
            <a:off x="5303833" y="8303537"/>
            <a:ext cx="184126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8,944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F1E8851F-D7AA-9C53-6C6A-8BB708476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462" y="7690474"/>
            <a:ext cx="730135" cy="669175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10AB2567-54AC-8174-3EEF-CDC2002D8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463" y="7837505"/>
            <a:ext cx="924445" cy="491944"/>
          </a:xfrm>
          <a:prstGeom prst="rect">
            <a:avLst/>
          </a:prstGeom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D804C0A7-E54E-A6E2-CC1F-82C5D9D4D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97" y="7672463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32,353	 Personal de Salud: 22,256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+110.2%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4,699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7,203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7,974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5,086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6,032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+48.2%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2,090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-4.5%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1,194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61183504"/>
              </p:ext>
            </p:extLst>
          </p:nvPr>
        </p:nvGraphicFramePr>
        <p:xfrm>
          <a:off x="248035" y="583576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31,714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1,295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383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399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8,743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3,285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45,037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89043"/>
              </p:ext>
            </p:extLst>
          </p:nvPr>
        </p:nvGraphicFramePr>
        <p:xfrm>
          <a:off x="219600" y="1548000"/>
          <a:ext cx="7567200" cy="327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(432,283)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(47,954)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(5,952)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(7,061)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(408,579)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(37,308)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(3,179)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(7,056)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(86,770)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(29,899)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(2,824)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(4,844)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latin typeface="Montserrat"/>
                        </a:rPr>
                        <a:t>T</a:t>
                      </a:r>
                      <a:r>
                        <a:rPr sz="900" b="0" err="1">
                          <a:latin typeface="Montserrat"/>
                        </a:rPr>
                        <a:t>raumatismos</a:t>
                      </a:r>
                      <a:r>
                        <a:rPr sz="900" b="0">
                          <a:latin typeface="Montserrat"/>
                        </a:rPr>
                        <a:t> e </a:t>
                      </a:r>
                      <a:r>
                        <a:rPr sz="900" b="0" err="1">
                          <a:latin typeface="Montserrat"/>
                        </a:rPr>
                        <a:t>intoxicaciones</a:t>
                      </a:r>
                      <a:r>
                        <a:rPr sz="900" b="0">
                          <a:latin typeface="Montserrat"/>
                        </a:rPr>
                        <a:t>
(78,709)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(28,515)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(53,118)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(19,617)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(1,975)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(2,319)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Otras</a:t>
                      </a:r>
                      <a:r>
                        <a:rPr sz="900" b="0">
                          <a:latin typeface="Montserrat"/>
                        </a:rPr>
                        <a:t> enfermedades </a:t>
                      </a:r>
                      <a:r>
                        <a:rPr sz="900" b="0" err="1">
                          <a:latin typeface="Montserrat"/>
                        </a:rPr>
                        <a:t>respiratorias</a:t>
                      </a:r>
                      <a:r>
                        <a:rPr sz="900" b="0">
                          <a:latin typeface="Montserrat"/>
                        </a:rPr>
                        <a:t>
(280)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89530" y="5012581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</a:t>
            </a:r>
            <a:r>
              <a:rPr err="1"/>
              <a:t>número</a:t>
            </a:r>
            <a:r>
              <a:t> de </a:t>
            </a:r>
            <a:r>
              <a:rPr err="1"/>
              <a:t>casos</a:t>
            </a:r>
            <a:r>
              <a:t> se </a:t>
            </a:r>
            <a:r>
              <a:rPr err="1"/>
              <a:t>presentan</a:t>
            </a:r>
            <a:r>
              <a:t> entre </a:t>
            </a:r>
            <a:r>
              <a:rPr err="1"/>
              <a:t>paréntesis</a:t>
            </a:r>
            <a:r>
              <a:t>.</a:t>
            </a:r>
            <a:br>
              <a:rPr/>
            </a:br>
            <a:r>
              <a:t>Fuente: IMSS/DPM/División de Información en Salud/</a:t>
            </a:r>
            <a:r>
              <a:rPr err="1"/>
              <a:t>Motivos</a:t>
            </a:r>
            <a:r>
              <a:t> de Consulta Externa (SUI27).</a:t>
            </a:r>
            <a:br>
              <a:rPr/>
            </a:br>
            <a:r>
              <a:t>Sistema de información Médico </a:t>
            </a:r>
            <a:r>
              <a:rPr err="1"/>
              <a:t>Operativo</a:t>
            </a:r>
            <a:r>
              <a:t> Central (SIMOC).</a:t>
            </a:r>
            <a:br>
              <a:rPr/>
            </a:br>
            <a:r>
              <a:rPr err="1"/>
              <a:t>Periodo</a:t>
            </a:r>
            <a:r>
              <a:t>: enero-</a:t>
            </a:r>
            <a:r>
              <a:rPr err="1"/>
              <a:t>diciembre</a:t>
            </a:r>
            <a:r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19600" y="9708329"/>
            <a:ext cx="42444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Corte de información: </a:t>
            </a:r>
            <a:r>
              <a:rPr err="1">
                <a:solidFill>
                  <a:schemeClr val="bg1"/>
                </a:solidFill>
              </a:rPr>
              <a:t>marzo</a:t>
            </a:r>
            <a:r>
              <a:rPr>
                <a:solidFill>
                  <a:schemeClr val="bg1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514337"/>
              </p:ext>
            </p:extLst>
          </p:nvPr>
        </p:nvGraphicFramePr>
        <p:xfrm>
          <a:off x="457200" y="6798119"/>
          <a:ext cx="6858000" cy="144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6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75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380,309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5,556,557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75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340,451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5,273,736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FAB3-3619-9B51-51CB-ABBE2426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799"/>
            <a:ext cx="7441200" cy="29309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00" y="44003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0" y="49325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25734"/>
              </p:ext>
            </p:extLst>
          </p:nvPr>
        </p:nvGraphicFramePr>
        <p:xfrm>
          <a:off x="129600" y="5320800"/>
          <a:ext cx="7200000" cy="299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633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Con mayor </a:t>
                      </a:r>
                      <a:r>
                        <a:rPr sz="1000" err="1"/>
                        <a:t>demanda</a:t>
                      </a:r>
                      <a:r>
                        <a:rPr sz="1000"/>
                        <a:t> de enero a </a:t>
                      </a:r>
                      <a:r>
                        <a:rPr lang="es-MX" sz="1000"/>
                        <a:t>mayo</a:t>
                      </a:r>
                      <a:r>
                        <a:rPr sz="100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1,776,849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833,877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 err="1"/>
                        <a:t>Atorvastatina</a:t>
                      </a:r>
                      <a:r>
                        <a:rPr sz="1000"/>
                        <a:t>, </a:t>
                      </a:r>
                      <a:r>
                        <a:rPr sz="1000" err="1"/>
                        <a:t>tableta</a:t>
                      </a:r>
                      <a:r>
                        <a:rPr sz="1000"/>
                        <a:t> (</a:t>
                      </a:r>
                      <a:r>
                        <a:rPr sz="1000" err="1"/>
                        <a:t>reducir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colesterol</a:t>
                      </a:r>
                      <a:r>
                        <a:rPr sz="1000"/>
                        <a:t> y </a:t>
                      </a:r>
                      <a:r>
                        <a:rPr sz="1000" err="1"/>
                        <a:t>triglicéridos</a:t>
                      </a:r>
                      <a:r>
                        <a:rPr sz="1000"/>
                        <a:t>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652,220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579,457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550,601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449,354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Amlodipino, tableta o cápsula (presión alta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381,315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332,687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324,570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92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290,365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enero al </a:t>
            </a:r>
            <a:r>
              <a:rPr lang="es-MX"/>
              <a:t>31 de mayo </a:t>
            </a:r>
            <a:r>
              <a:t>de 2026.</a:t>
            </a:r>
          </a:p>
        </p:txBody>
      </p:sp>
    </p:spTree>
    <p:extLst>
      <p:ext uri="{BB962C8B-B14F-4D97-AF65-F5344CB8AC3E}">
        <p14:creationId xmlns:p14="http://schemas.microsoft.com/office/powerpoint/2010/main" val="2914491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204271" y="213703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53446" y="2458346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64981" y="248163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8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35054" y="3395026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64981" y="3408816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9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205190" y="4317530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00156" y="4681746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05190" y="4737324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5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Mastógrafos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146336"/>
              </p:ext>
            </p:extLst>
          </p:nvPr>
        </p:nvGraphicFramePr>
        <p:xfrm>
          <a:off x="1785600" y="2013235"/>
          <a:ext cx="5295600" cy="368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6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$1,582.6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en 20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Nuevo León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$193.6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en 20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Nuevo León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$169.6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en 8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(H. de </a:t>
                      </a:r>
                      <a:r>
                        <a:rPr sz="1000" err="1">
                          <a:latin typeface="Montserrat"/>
                        </a:rPr>
                        <a:t>Cardiología</a:t>
                      </a:r>
                      <a:r>
                        <a:rPr sz="1000">
                          <a:latin typeface="Montserrat"/>
                        </a:rPr>
                        <a:t> No. 34 Monterrey,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de </a:t>
                      </a:r>
                      <a:r>
                        <a:rPr sz="1000" err="1">
                          <a:latin typeface="Montserrat"/>
                        </a:rPr>
                        <a:t>Gineco</a:t>
                      </a:r>
                      <a:r>
                        <a:rPr sz="1000">
                          <a:latin typeface="Montserrat"/>
                        </a:rPr>
                        <a:t>-Obst. No. 23 Monterrey, HGZ No.17, HGZ No.2, HGZ No. 33, en Monterrey, HGZ No.4 Guadalupe, HGZ No.6 San Nicolas de los Garza, HGZ No.67 Apodaca)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$162.2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 interna en 9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(HGSZ No.12 Linares, HGZ No.17, HGZ No.2, HGZ No.33 en Monterrey; HGZ No.4 Guadalupe, HGZ No.67 Apodaca, HGZ No.6, UMAA  No.65, UMAA No.7, en San Nicolas de los Garza)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$48.5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7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subdelegaciones</a:t>
                      </a:r>
                      <a:r>
                        <a:rPr sz="1000">
                          <a:latin typeface="Montserrat"/>
                        </a:rPr>
                        <a:t> No.1, 2, 3 y 4 Nuevo León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$38.0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7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accesibilidad</a:t>
                      </a:r>
                      <a:r>
                        <a:rPr sz="1000">
                          <a:latin typeface="Montserrat"/>
                        </a:rPr>
                        <a:t> (</a:t>
                      </a:r>
                      <a:r>
                        <a:rPr sz="1000" err="1">
                          <a:latin typeface="Montserrat"/>
                        </a:rPr>
                        <a:t>rampas</a:t>
                      </a:r>
                      <a:r>
                        <a:rPr sz="1000">
                          <a:latin typeface="Montserrat"/>
                        </a:rPr>
                        <a:t>) en 13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Nuevo León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05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salud</a:t>
                      </a:r>
                      <a:r>
                        <a:rPr sz="1000">
                          <a:latin typeface="Montserrat"/>
                        </a:rPr>
                        <a:t> mental en 4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(HGZ No.17, HGZ No.33 en Monterrey; HGZ No.4 Guadalupe, HGZ No.6 San Nicolas de los Garza)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$2.3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6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$2,218.9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777452"/>
              </p:ext>
            </p:extLst>
          </p:nvPr>
        </p:nvGraphicFramePr>
        <p:xfrm>
          <a:off x="1785600" y="5818138"/>
          <a:ext cx="5295600" cy="1490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29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9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53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4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horizontales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21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anestesia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básicas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barrera de </a:t>
                      </a:r>
                      <a:r>
                        <a:rPr sz="1000" err="1">
                          <a:latin typeface="Montserrat"/>
                        </a:rPr>
                        <a:t>cristal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plomo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cofre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plomo</a:t>
                      </a:r>
                      <a:r>
                        <a:rPr sz="1000">
                          <a:latin typeface="Montserrat"/>
                        </a:rPr>
                        <a:t>, 1 monitor de </a:t>
                      </a:r>
                      <a:r>
                        <a:rPr sz="1000" err="1">
                          <a:latin typeface="Montserrat"/>
                        </a:rPr>
                        <a:t>radiación</a:t>
                      </a:r>
                      <a:r>
                        <a:rPr sz="1000">
                          <a:latin typeface="Montserrat"/>
                        </a:rPr>
                        <a:t> de pared, 2 </a:t>
                      </a:r>
                      <a:r>
                        <a:rPr sz="1000" err="1">
                          <a:latin typeface="Montserrat"/>
                        </a:rPr>
                        <a:t>monitores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el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,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5 mastógrafos </a:t>
                      </a:r>
                      <a:r>
                        <a:rPr sz="1000" err="1">
                          <a:latin typeface="Montserrat"/>
                        </a:rPr>
                        <a:t>digitales</a:t>
                      </a:r>
                      <a:r>
                        <a:rPr sz="1000">
                          <a:latin typeface="Montserrat"/>
                        </a:rPr>
                        <a:t> con </a:t>
                      </a:r>
                      <a:r>
                        <a:rPr sz="1000" err="1">
                          <a:latin typeface="Montserrat"/>
                        </a:rPr>
                        <a:t>estereotaxia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tomosíntesis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para to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$229.6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03546"/>
              </p:ext>
            </p:extLst>
          </p:nvPr>
        </p:nvGraphicFramePr>
        <p:xfrm>
          <a:off x="1785600" y="7362113"/>
          <a:ext cx="5295600" cy="429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6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5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8404007"/>
              </p:ext>
            </p:extLst>
          </p:nvPr>
        </p:nvGraphicFramePr>
        <p:xfrm>
          <a:off x="167319" y="98772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24825" y="876635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602200" y="622199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068097" y="138784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69" y="164602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068097" y="173825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69" y="2553070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064861" y="2666910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UMF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704912"/>
              </p:ext>
            </p:extLst>
          </p:nvPr>
        </p:nvGraphicFramePr>
        <p:xfrm>
          <a:off x="1785600" y="1418833"/>
          <a:ext cx="5396400" cy="635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6755">
                <a:tc>
                  <a:txBody>
                    <a:bodyPr/>
                    <a:lstStyle/>
                    <a:p>
                      <a:pPr algn="just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75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No.15  Monterrey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$481.6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75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10 + 5  Benito Juárez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$220.8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75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$702.4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571379"/>
              </p:ext>
            </p:extLst>
          </p:nvPr>
        </p:nvGraphicFramePr>
        <p:xfrm>
          <a:off x="1785600" y="2062115"/>
          <a:ext cx="5396400" cy="345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29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9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$452.5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486124"/>
              </p:ext>
            </p:extLst>
          </p:nvPr>
        </p:nvGraphicFramePr>
        <p:xfrm>
          <a:off x="1785600" y="2439087"/>
          <a:ext cx="5396400" cy="738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80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42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7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4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r>
                        <a:rPr sz="1000">
                          <a:latin typeface="Montserrat"/>
                        </a:rPr>
                        <a:t>, 11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de casa de </a:t>
                      </a:r>
                      <a:r>
                        <a:rPr sz="1000" err="1">
                          <a:latin typeface="Montserrat"/>
                        </a:rPr>
                        <a:t>máquinas</a:t>
                      </a:r>
                      <a:r>
                        <a:rPr sz="1000">
                          <a:latin typeface="Montserrat"/>
                        </a:rPr>
                        <a:t>, 21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 y 2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r>
                        <a:rPr sz="1000">
                          <a:latin typeface="Montserrat"/>
                        </a:rPr>
                        <a:t>. Nuevo León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$388.7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875200" y="772638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1,543.6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graphicFrame>
        <p:nvGraphicFramePr>
          <p:cNvPr id="15" name="Google Shape;394;p15">
            <a:extLst>
              <a:ext uri="{FF2B5EF4-FFF2-40B4-BE49-F238E27FC236}">
                <a16:creationId xmlns:a16="http://schemas.microsoft.com/office/drawing/2014/main" id="{C317A280-9AD4-CFDC-E363-1022449DA2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459943"/>
              </p:ext>
            </p:extLst>
          </p:nvPr>
        </p:nvGraphicFramePr>
        <p:xfrm>
          <a:off x="167319" y="3516854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9">
            <a:extLst>
              <a:ext uri="{FF2B5EF4-FFF2-40B4-BE49-F238E27FC236}">
                <a16:creationId xmlns:a16="http://schemas.microsoft.com/office/drawing/2014/main" id="{F73BC85C-2B78-A66F-F66B-D79DD8D39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155707"/>
              </p:ext>
            </p:extLst>
          </p:nvPr>
        </p:nvGraphicFramePr>
        <p:xfrm>
          <a:off x="691200" y="3958437"/>
          <a:ext cx="6390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endParaRPr/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Santa Catarina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$2,892.5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Centro de Atención Oncológica HGZ No. </a:t>
                      </a:r>
                      <a:r>
                        <a:rPr lang="es-MX"/>
                        <a:t>67 Apodaca</a:t>
                      </a:r>
                      <a:endParaRPr dirty="0"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$264.0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Plus No. 1, </a:t>
                      </a:r>
                      <a:r>
                        <a:rPr err="1"/>
                        <a:t>Paraje</a:t>
                      </a:r>
                      <a:r>
                        <a:t> San José II García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Santa Catarina (ZIMIX)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Clínica de </a:t>
                      </a:r>
                      <a:r>
                        <a:rPr err="1"/>
                        <a:t>Detección</a:t>
                      </a:r>
                      <a:r>
                        <a:t> de </a:t>
                      </a:r>
                      <a:r>
                        <a:rPr err="1"/>
                        <a:t>Cáncer</a:t>
                      </a:r>
                      <a:r>
                        <a:t> de mama, Fuente Bella General Escobedo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Santa Cecilia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$160.0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</a:t>
                      </a:r>
                      <a:r>
                        <a:rPr err="1"/>
                        <a:t>Simulación</a:t>
                      </a:r>
                      <a:r>
                        <a:t> para la Excelencia Clínica y </a:t>
                      </a:r>
                      <a:r>
                        <a:rPr err="1"/>
                        <a:t>Quirúrgica</a:t>
                      </a:r>
                      <a:r>
                        <a:t> en la ciudad de Monterrey, Nuevo León.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$157.0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Remodelación Teatro IMSS Monterrey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$98.0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$4,191.5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7" name="Google Shape;551;g3d0ffe769cd_0_0">
            <a:extLst>
              <a:ext uri="{FF2B5EF4-FFF2-40B4-BE49-F238E27FC236}">
                <a16:creationId xmlns:a16="http://schemas.microsoft.com/office/drawing/2014/main" id="{75D8A571-FD75-D839-F5B9-A0D9225F222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149075" y="6995840"/>
            <a:ext cx="7368300" cy="24403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" name="Google Shape;559;g3d0ffe769cd_0_0">
            <a:extLst>
              <a:ext uri="{FF2B5EF4-FFF2-40B4-BE49-F238E27FC236}">
                <a16:creationId xmlns:a16="http://schemas.microsoft.com/office/drawing/2014/main" id="{50CF3F4D-0C08-2696-55A1-249E65785A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7613759"/>
              </p:ext>
            </p:extLst>
          </p:nvPr>
        </p:nvGraphicFramePr>
        <p:xfrm>
          <a:off x="149075" y="6549237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Google Shape;552;g3d0ffe769cd_0_0">
            <a:extLst>
              <a:ext uri="{FF2B5EF4-FFF2-40B4-BE49-F238E27FC236}">
                <a16:creationId xmlns:a16="http://schemas.microsoft.com/office/drawing/2014/main" id="{45F9BF6E-C78E-FEC8-D268-D9A31AD56DA6}"/>
              </a:ext>
            </a:extLst>
          </p:cNvPr>
          <p:cNvSpPr/>
          <p:nvPr/>
        </p:nvSpPr>
        <p:spPr>
          <a:xfrm>
            <a:off x="123227" y="6995839"/>
            <a:ext cx="7426992" cy="2440361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21">
            <a:extLst>
              <a:ext uri="{FF2B5EF4-FFF2-40B4-BE49-F238E27FC236}">
                <a16:creationId xmlns:a16="http://schemas.microsoft.com/office/drawing/2014/main" id="{B4148C14-003C-D36D-032A-E555ABA18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69399"/>
              </p:ext>
            </p:extLst>
          </p:nvPr>
        </p:nvGraphicFramePr>
        <p:xfrm>
          <a:off x="2532500" y="7065685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Estatus</a:t>
                      </a:r>
                      <a:r>
                        <a:t> </a:t>
                      </a:r>
                      <a:r>
                        <a:rPr err="1"/>
                        <a:t>terrenos</a:t>
                      </a:r>
                      <a:r>
                        <a:t>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Pesquería</a:t>
                      </a:r>
                      <a:r>
                        <a:t>, Escobedo (3), Zuazua, García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Google Shape;556;g3d0ffe769cd_0_0">
            <a:extLst>
              <a:ext uri="{FF2B5EF4-FFF2-40B4-BE49-F238E27FC236}">
                <a16:creationId xmlns:a16="http://schemas.microsoft.com/office/drawing/2014/main" id="{66E3DBB7-24E5-26F1-6C68-8A21D4951874}"/>
              </a:ext>
            </a:extLst>
          </p:cNvPr>
          <p:cNvSpPr/>
          <p:nvPr/>
        </p:nvSpPr>
        <p:spPr>
          <a:xfrm>
            <a:off x="691200" y="7061722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Oval 22">
            <a:extLst>
              <a:ext uri="{FF2B5EF4-FFF2-40B4-BE49-F238E27FC236}">
                <a16:creationId xmlns:a16="http://schemas.microsoft.com/office/drawing/2014/main" id="{9B059D29-2077-AC92-E73F-1EC39D60101D}"/>
              </a:ext>
            </a:extLst>
          </p:cNvPr>
          <p:cNvSpPr/>
          <p:nvPr/>
        </p:nvSpPr>
        <p:spPr>
          <a:xfrm>
            <a:off x="720363" y="7091707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82</a:t>
            </a:r>
          </a:p>
        </p:txBody>
      </p:sp>
      <p:sp>
        <p:nvSpPr>
          <p:cNvPr id="23" name="Google Shape;553;g3d0ffe769cd_0_0">
            <a:extLst>
              <a:ext uri="{FF2B5EF4-FFF2-40B4-BE49-F238E27FC236}">
                <a16:creationId xmlns:a16="http://schemas.microsoft.com/office/drawing/2014/main" id="{85B3EDB2-E320-D6C6-B2C6-1DEC47F05FE6}"/>
              </a:ext>
            </a:extLst>
          </p:cNvPr>
          <p:cNvSpPr/>
          <p:nvPr/>
        </p:nvSpPr>
        <p:spPr>
          <a:xfrm>
            <a:off x="255025" y="7996285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B81C9-2FF0-1550-2257-054E17C6EB3D}"/>
              </a:ext>
            </a:extLst>
          </p:cNvPr>
          <p:cNvSpPr/>
          <p:nvPr/>
        </p:nvSpPr>
        <p:spPr>
          <a:xfrm>
            <a:off x="327827" y="8037307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82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0 CECI CAMPO</a:t>
            </a:r>
          </a:p>
        </p:txBody>
      </p:sp>
      <p:sp>
        <p:nvSpPr>
          <p:cNvPr id="26" name="Google Shape;554;g3d0ffe769cd_0_0">
            <a:extLst>
              <a:ext uri="{FF2B5EF4-FFF2-40B4-BE49-F238E27FC236}">
                <a16:creationId xmlns:a16="http://schemas.microsoft.com/office/drawing/2014/main" id="{B30A6756-776A-D5DB-61FE-B5793E421FB1}"/>
              </a:ext>
            </a:extLst>
          </p:cNvPr>
          <p:cNvSpPr txBox="1"/>
          <p:nvPr/>
        </p:nvSpPr>
        <p:spPr>
          <a:xfrm>
            <a:off x="123227" y="8963700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B6052525-656F-35D4-38AB-509E7F85B66D}"/>
              </a:ext>
            </a:extLst>
          </p:cNvPr>
          <p:cNvSpPr txBox="1"/>
          <p:nvPr/>
        </p:nvSpPr>
        <p:spPr>
          <a:xfrm>
            <a:off x="48925" y="9632957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Terrenos</a:t>
            </a:r>
            <a:r>
              <a:t> </a:t>
            </a:r>
            <a:r>
              <a:rPr err="1"/>
              <a:t>validados</a:t>
            </a:r>
            <a:r>
              <a:t>. 7 CECI en </a:t>
            </a:r>
            <a:r>
              <a:rPr err="1"/>
              <a:t>validación</a:t>
            </a:r>
            <a:r>
              <a:t> o en </a:t>
            </a:r>
            <a:r>
              <a:rPr err="1"/>
              <a:t>integración</a:t>
            </a:r>
            <a:r>
              <a:t> de </a:t>
            </a:r>
            <a:r>
              <a:rPr err="1"/>
              <a:t>expediente</a:t>
            </a:r>
            <a:r>
              <a:t> para </a:t>
            </a:r>
            <a:r>
              <a:rPr err="1"/>
              <a:t>donación</a:t>
            </a:r>
            <a:r>
              <a:t> en </a:t>
            </a:r>
            <a:r>
              <a:rPr err="1"/>
              <a:t>Pesquería</a:t>
            </a:r>
            <a:r>
              <a:t>, Escobedo, Zuazua, García y Monterrey.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461" y="2702440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642" y="4208787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821490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1436000" y="707408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769399"/>
              </p:ext>
            </p:extLst>
          </p:nvPr>
        </p:nvGraphicFramePr>
        <p:xfrm>
          <a:off x="2311200" y="1670400"/>
          <a:ext cx="5032800" cy="831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296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4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74 indirectas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12,674 </a:t>
                      </a:r>
                      <a:r>
                        <a:rPr sz="1000" b="1" err="1">
                          <a:latin typeface="Montserrat"/>
                        </a:rPr>
                        <a:t>inscritos</a:t>
                      </a:r>
                      <a:endParaRPr sz="1000" b="1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2,991 en </a:t>
                      </a:r>
                      <a:r>
                        <a:rPr err="1"/>
                        <a:t>espera</a:t>
                      </a:r>
                      <a:endParaRPr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700050"/>
              </p:ext>
            </p:extLst>
          </p:nvPr>
        </p:nvGraphicFramePr>
        <p:xfrm>
          <a:off x="2311200" y="2570401"/>
          <a:ext cx="5032800" cy="1705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887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87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</a:t>
                      </a:r>
                      <a:r>
                        <a:rPr err="1"/>
                        <a:t>STyA</a:t>
                      </a:r>
                      <a:endParaRPr/>
                    </a:p>
                  </a:txBody>
                  <a:tcPr marL="28800" marR="288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err="1"/>
                        <a:t>Subdelegación</a:t>
                      </a:r>
                      <a:r>
                        <a:t> No.4, Monterrey , NL</a:t>
                      </a:r>
                    </a:p>
                  </a:txBody>
                  <a:tcPr marL="28800" marR="2880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87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marL="28800" marR="288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marL="28800" marR="2880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87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marL="28800" marR="288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 1, Monterrey 2 (San Nicolás de Los Garza), Cadereyta Jiménez (No. 5), Guadalupe Cercado (No. 3), Linares (No. 7), Montemorelos (No. 6), Sabinas Hidalgo (No. 4) e Independencia</a:t>
                      </a:r>
                    </a:p>
                  </a:txBody>
                  <a:tcPr marL="28800" marR="2880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9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marL="28800" marR="2880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12166"/>
              </p:ext>
            </p:extLst>
          </p:nvPr>
        </p:nvGraphicFramePr>
        <p:xfrm>
          <a:off x="2311200" y="4446062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marL="28800" marR="288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32 Monterrey </a:t>
                      </a:r>
                      <a:r>
                        <a:rPr err="1"/>
                        <a:t>Independencia</a:t>
                      </a:r>
                      <a:endParaRPr/>
                    </a:p>
                  </a:txBody>
                  <a:tcPr marL="28800" marR="2880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marL="28800" marR="2880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19_n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742" y="5241018"/>
            <a:ext cx="2236516" cy="405493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1689606" y="7023687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rPr err="1"/>
              <a:t>Guarderías</a:t>
            </a:r>
            <a:r>
              <a:t>    79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530239"/>
              </p:ext>
            </p:extLst>
          </p:nvPr>
        </p:nvGraphicFramePr>
        <p:xfrm>
          <a:off x="284400" y="1087200"/>
          <a:ext cx="6984000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Empleadores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6,147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6,182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14,068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14,021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Soriana S.A. de C.V.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11,612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11,698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+1.52%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+2.95%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+3.24%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+3.47%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471749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1,764,772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171,249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1,942,067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1,797,288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170,004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1,973,161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+1.8%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-10.4%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+1.6%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</a:t>
            </a:r>
            <a:r>
              <a:rPr err="1"/>
              <a:t>Incorporación</a:t>
            </a:r>
            <a:r>
              <a:t> y </a:t>
            </a:r>
            <a:r>
              <a:rPr err="1"/>
              <a:t>Recaudación</a:t>
            </a:r>
            <a:r>
              <a:rPr lang="es-MX"/>
              <a:t>, mayo 2026</a:t>
            </a:r>
            <a: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7F5C3B4-C02D-4899-6560-7B5406E99DC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$739.60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$397.12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$739.60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$22,188.0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117660"/>
              </p:ext>
            </p:extLst>
          </p:nvPr>
        </p:nvGraphicFramePr>
        <p:xfrm>
          <a:off x="320400" y="6649200"/>
          <a:ext cx="7038000" cy="256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Nacional de Educación Profesional Técnica del 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Integral Para El Manejo Ecológico y Procesamiento de Desechos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Educativa Metropolitana SC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$32.78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Carrier Mexico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$31.39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Global Facilities Management S A P I de CV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$27.30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  <p:sp>
        <p:nvSpPr>
          <p:cNvPr id="3" name="TextBox 514">
            <a:extLst>
              <a:ext uri="{FF2B5EF4-FFF2-40B4-BE49-F238E27FC236}">
                <a16:creationId xmlns:a16="http://schemas.microsoft.com/office/drawing/2014/main" id="{4F39234F-F35A-307E-66E1-3C3BE78FD0D1}"/>
              </a:ext>
            </a:extLst>
          </p:cNvPr>
          <p:cNvSpPr txBox="1"/>
          <p:nvPr/>
        </p:nvSpPr>
        <p:spPr>
          <a:xfrm>
            <a:off x="745200" y="2350182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>
                <a:solidFill>
                  <a:schemeClr val="tx1"/>
                </a:solidFill>
              </a:rPr>
              <a:t> Nota: se utilizó como deflactor del salario el cociente del INPC entre diciembre 2018 (103.02) y  preliminar de mayo  2026 (145.714) de 0.7069998.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5787</Words>
  <Application>Microsoft Office PowerPoint</Application>
  <PresentationFormat>Personalizado</PresentationFormat>
  <Paragraphs>2156</Paragraphs>
  <Slides>27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Arial</vt:lpstr>
      <vt:lpstr>Montserrat</vt:lpstr>
      <vt:lpstr>Calibri</vt:lpstr>
      <vt:lpstr>Noto Sans Black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Monica Guadalupe Becerra Quiroz</cp:lastModifiedBy>
  <cp:revision>2</cp:revision>
  <dcterms:modified xsi:type="dcterms:W3CDTF">2026-07-02T19:39:19Z</dcterms:modified>
</cp:coreProperties>
</file>