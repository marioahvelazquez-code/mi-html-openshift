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11A90-CC6B-404D-F995-25361F36054F}" v="95" dt="2026-05-12T23:30:11.244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30.430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30.430" v="0"/>
        <pc:sldMkLst>
          <pc:docMk/>
          <pc:sldMk cId="521389287" sldId="300"/>
        </pc:sldMkLst>
      </pc:sldChg>
    </pc:docChg>
  </pc:docChgLst>
  <pc:docChgLst>
    <pc:chgData name="Gerardo Jahir Lara Garcia" userId="S::gerardo.larag@imss.gob.mx::84d5cd65-4601-4e92-b448-a9da4809e012" providerId="AD" clId="Web-{3E411A90-CC6B-404D-F995-25361F36054F}"/>
    <pc:docChg chg="modSld">
      <pc:chgData name="Gerardo Jahir Lara Garcia" userId="S::gerardo.larag@imss.gob.mx::84d5cd65-4601-4e92-b448-a9da4809e012" providerId="AD" clId="Web-{3E411A90-CC6B-404D-F995-25361F36054F}" dt="2026-05-12T23:30:11.244" v="56"/>
      <pc:docMkLst>
        <pc:docMk/>
      </pc:docMkLst>
      <pc:sldChg chg="addSp delSp modSp">
        <pc:chgData name="Gerardo Jahir Lara Garcia" userId="S::gerardo.larag@imss.gob.mx::84d5cd65-4601-4e92-b448-a9da4809e012" providerId="AD" clId="Web-{3E411A90-CC6B-404D-F995-25361F36054F}" dt="2026-05-12T23:30:11.244" v="5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E411A90-CC6B-404D-F995-25361F36054F}" dt="2026-05-12T23:28:36.19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30:08.948" v="52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30:11.244" v="55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30:11.244" v="53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E411A90-CC6B-404D-F995-25361F36054F}" dt="2026-05-12T23:28:36.19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30:11.244" v="56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30:11.244" v="54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3E411A90-CC6B-404D-F995-25361F36054F}" dt="2026-05-12T23:29:43.837" v="48" actId="20577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3E411A90-CC6B-404D-F995-25361F36054F}" dt="2026-05-12T23:28:54.710" v="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8:54.726" v="7" actId="107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9:11.492" v="15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8:54.757" v="1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3E411A90-CC6B-404D-F995-25361F36054F}" dt="2026-05-12T23:29:43.837" v="48" actId="20577"/>
          <ac:spMkLst>
            <pc:docMk/>
            <pc:sldMk cId="3240565764" sldId="297"/>
            <ac:spMk id="12" creationId="{CA535D92-E281-11D7-D7CB-F8BAB9F176B8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28:47.382" v="4"/>
          <ac:spMkLst>
            <pc:docMk/>
            <pc:sldMk cId="3240565764" sldId="297"/>
            <ac:spMk id="13" creationId="{B9C2E918-974F-A566-8C8B-5DDE4ED4290B}"/>
          </ac:spMkLst>
        </pc:spChg>
        <pc:spChg chg="add del">
          <ac:chgData name="Gerardo Jahir Lara Garcia" userId="S::gerardo.larag@imss.gob.mx::84d5cd65-4601-4e92-b448-a9da4809e012" providerId="AD" clId="Web-{3E411A90-CC6B-404D-F995-25361F36054F}" dt="2026-05-12T23:28:47.382" v="2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3E411A90-CC6B-404D-F995-25361F36054F}" dt="2026-05-12T23:28:54.726" v="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3E411A90-CC6B-404D-F995-25361F36054F}" dt="2026-05-12T23:28:54.741" v="8" actId="1076"/>
          <ac:picMkLst>
            <pc:docMk/>
            <pc:sldMk cId="3240565764" sldId="297"/>
            <ac:picMk id="8" creationId="{170CBE01-E044-2F44-556A-69D0B561DC01}"/>
          </ac:picMkLst>
        </pc:picChg>
        <pc:picChg chg="mod">
          <ac:chgData name="Gerardo Jahir Lara Garcia" userId="S::gerardo.larag@imss.gob.mx::84d5cd65-4601-4e92-b448-a9da4809e012" providerId="AD" clId="Web-{3E411A90-CC6B-404D-F995-25361F36054F}" dt="2026-05-12T23:28:54.757" v="11" actId="1076"/>
          <ac:picMkLst>
            <pc:docMk/>
            <pc:sldMk cId="3240565764" sldId="297"/>
            <ac:picMk id="11" creationId="{F7B31A16-FD1A-331A-6F76-259EB810FD76}"/>
          </ac:picMkLst>
        </pc:picChg>
        <pc:picChg chg="add del">
          <ac:chgData name="Gerardo Jahir Lara Garcia" userId="S::gerardo.larag@imss.gob.mx::84d5cd65-4601-4e92-b448-a9da4809e012" providerId="AD" clId="Web-{3E411A90-CC6B-404D-F995-25361F36054F}" dt="2026-05-12T23:28:47.382" v="3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4:54.688" v="9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4:22.948" v="86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4:22.948" v="86" actId="1035"/>
          <ac:spMkLst>
            <pc:docMk/>
            <pc:sldMk cId="0" sldId="260"/>
            <ac:spMk id="7" creationId="{E9A9F19C-64E4-C758-2BFE-6116BFFCE38A}"/>
          </ac:spMkLst>
        </pc:spChg>
        <pc:graphicFrameChg chg="add mod">
          <ac:chgData name="Edgar Rosales Ortega" userId="d1d54fc2-1570-4978-babc-e22e1526833f" providerId="ADAL" clId="{66BE7C30-C669-4152-AC74-10076FC0590C}" dt="2026-04-30T23:14:15.787" v="33" actId="1076"/>
          <ac:graphicFrameMkLst>
            <pc:docMk/>
            <pc:sldMk cId="0" sldId="260"/>
            <ac:graphicFrameMk id="5" creationId="{264DC50A-7E66-297F-D344-B35AC39BECD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4:22.948" v="86" actId="1035"/>
          <ac:picMkLst>
            <pc:docMk/>
            <pc:sldMk cId="0" sldId="260"/>
            <ac:picMk id="6" creationId="{EBC3D16A-4653-A42A-DFF1-062F16DF9B40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1:34.798" v="8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8" creationId="{DA0047B3-B8B0-7F52-15A1-C223990E9A8D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9" creationId="{15A75C99-64CE-95D7-96FA-5D103464E8D5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10" creationId="{48867681-4C11-0450-7173-1E1DD2123BA3}"/>
          </ac:spMkLst>
        </pc:spChg>
        <pc:spChg chg="add mod">
          <ac:chgData name="Edgar Rosales Ortega" userId="d1d54fc2-1570-4978-babc-e22e1526833f" providerId="ADAL" clId="{66BE7C30-C669-4152-AC74-10076FC0590C}" dt="2026-05-05T18:01:34.798" v="87" actId="164"/>
          <ac:spMkLst>
            <pc:docMk/>
            <pc:sldMk cId="0" sldId="261"/>
            <ac:spMk id="11" creationId="{98ABA49B-1E9C-EC1C-E802-0EDAB42C239B}"/>
          </ac:spMkLst>
        </pc:spChg>
        <pc:grpChg chg="add mod">
          <ac:chgData name="Edgar Rosales Ortega" userId="d1d54fc2-1570-4978-babc-e22e1526833f" providerId="ADAL" clId="{66BE7C30-C669-4152-AC74-10076FC0590C}" dt="2026-05-05T18:01:34.798" v="87" actId="164"/>
          <ac:grpSpMkLst>
            <pc:docMk/>
            <pc:sldMk cId="0" sldId="261"/>
            <ac:grpSpMk id="2" creationId="{59602872-7344-7441-6226-27D443EF1B70}"/>
          </ac:grpSpMkLst>
        </pc:grpChg>
        <pc:picChg chg="add mod">
          <ac:chgData name="Edgar Rosales Ortega" userId="d1d54fc2-1570-4978-babc-e22e1526833f" providerId="ADAL" clId="{66BE7C30-C669-4152-AC74-10076FC0590C}" dt="2026-05-05T18:01:34.798" v="87" actId="164"/>
          <ac:picMkLst>
            <pc:docMk/>
            <pc:sldMk cId="0" sldId="261"/>
            <ac:picMk id="7" creationId="{F9210E39-E9C0-E7BE-C4FA-E748628BE8F8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4:09.822" v="90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4:15.094" v="92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2:45.333" v="28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9:46.152" v="17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4:25.559" v="93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4:25.559" v="93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2:06.238" v="89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8:20.721" v="29" actId="1076"/>
          <ac:spMkLst>
            <pc:docMk/>
            <pc:sldMk cId="0" sldId="279"/>
            <ac:spMk id="2" creationId="{92398965-9147-3718-4A2A-A726D3FA31D5}"/>
          </ac:spMkLst>
        </pc:spChg>
        <pc:spChg chg="mod">
          <ac:chgData name="Edgar Rosales Ortega" userId="d1d54fc2-1570-4978-babc-e22e1526833f" providerId="ADAL" clId="{66BE7C30-C669-4152-AC74-10076FC0590C}" dt="2026-05-05T18:02:06.238" v="89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2:42.052" v="26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9:49.753" v="18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1:40.477" v="88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4:54.688" v="9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4:54.688" v="9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2:35.006" v="24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9:54.370" v="19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4:39.351" v="95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4:39.351" v="95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863129.0</c:v>
                </c:pt>
                <c:pt idx="1">
                  <c:v>1166968.0</c:v>
                </c:pt>
                <c:pt idx="2">
                  <c:v>538673.0</c:v>
                </c:pt>
                <c:pt idx="3">
                  <c:v>1744804.0</c:v>
                </c:pt>
                <c:pt idx="4">
                  <c:v>55423.0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41.47501654533421</c:v>
                </c:pt>
                <c:pt idx="1">
                  <c:v>58.52498345466579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8.8857096101</c:v>
                </c:pt>
                <c:pt idx="1">
                  <c:v>91.1142903899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31.985455775410117</c:v>
                </c:pt>
                <c:pt idx="1">
                  <c:v>68.01454422458988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34.59535256410257</c:v>
                </c:pt>
                <c:pt idx="1">
                  <c:v>65.40464743589743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80</c:v>
                </c:pt>
                <c:pt idx="2">
                  <c:v>64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8831</c:v>
                </c:pt>
                <c:pt idx="1">
                  <c:v>2875</c:v>
                </c:pt>
                <c:pt idx="2">
                  <c:v>17206</c:v>
                </c:pt>
                <c:pt idx="3">
                  <c:v>20912</c:v>
                </c:pt>
                <c:pt idx="4">
                  <c:v>68485</c:v>
                </c:pt>
                <c:pt idx="5">
                  <c:v>58499</c:v>
                </c:pt>
                <c:pt idx="6">
                  <c:v>47867</c:v>
                </c:pt>
                <c:pt idx="7">
                  <c:v>9492</c:v>
                </c:pt>
                <c:pt idx="8">
                  <c:v>1083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8552</c:v>
                </c:pt>
                <c:pt idx="1">
                  <c:v>2808</c:v>
                </c:pt>
                <c:pt idx="2">
                  <c:v>16954</c:v>
                </c:pt>
                <c:pt idx="3">
                  <c:v>21189</c:v>
                </c:pt>
                <c:pt idx="4">
                  <c:v>69899</c:v>
                </c:pt>
                <c:pt idx="5">
                  <c:v>60074</c:v>
                </c:pt>
                <c:pt idx="6">
                  <c:v>50732</c:v>
                </c:pt>
                <c:pt idx="7">
                  <c:v>10473</c:v>
                </c:pt>
                <c:pt idx="8">
                  <c:v>1549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216157</c:v>
                </c:pt>
                <c:pt idx="1">
                  <c:v>216976</c:v>
                </c:pt>
                <c:pt idx="2">
                  <c:v>216037</c:v>
                </c:pt>
                <c:pt idx="3">
                  <c:v>212191</c:v>
                </c:pt>
                <c:pt idx="4">
                  <c:v>217228</c:v>
                </c:pt>
                <c:pt idx="5">
                  <c:v>225008</c:v>
                </c:pt>
                <c:pt idx="6">
                  <c:v>235248</c:v>
                </c:pt>
                <c:pt idx="7">
                  <c:v>235250</c:v>
                </c:pt>
                <c:pt idx="8">
                  <c:v>242230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Oaxaca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_Oax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46%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863,129</a:t>
            </a:r>
            <a:br/>
            <a:r>
              <a:t>20%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1,166,968</a:t>
            </a:r>
            <a:br/>
            <a:r>
              <a:t>27%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538,673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1,744,804</a:t>
            </a:r>
            <a:br/>
            <a:r>
              <a:t>40%</a:t>
            </a:r>
          </a:p>
        </p:txBody>
      </p:sp>
      <p:pic>
        <p:nvPicPr>
          <p:cNvPr id="128" name="Picture 127" descr="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55,423</a:t>
            </a:r>
            <a:br/>
            <a:r>
              <a:t>1%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4,368,997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746,140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863,129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453,621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559,873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215,491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242,230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184,301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217,703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292,519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303,256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744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3,106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4,170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0_o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26 UMF y no incluye 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03;g3d0b4d3c5c9_2_44">
            <a:extLst>
              <a:ext uri="{FF2B5EF4-FFF2-40B4-BE49-F238E27FC236}">
                <a16:creationId xmlns:a16="http://schemas.microsoft.com/office/drawing/2014/main" id="{264DC50A-7E66-297F-D344-B35AC39BEC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302163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04;g3d0b4d3c5c9_2_44">
            <a:extLst>
              <a:ext uri="{FF2B5EF4-FFF2-40B4-BE49-F238E27FC236}">
                <a16:creationId xmlns:a16="http://schemas.microsoft.com/office/drawing/2014/main" id="{EBC3D16A-4653-A42A-DFF1-062F16DF9B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474534"/>
            <a:ext cx="3064515" cy="15785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A9F19C-64E4-C758-2BFE-6116BFFCE38A}"/>
              </a:ext>
            </a:extLst>
          </p:cNvPr>
          <p:cNvSpPr txBox="1"/>
          <p:nvPr/>
        </p:nvSpPr>
        <p:spPr>
          <a:xfrm>
            <a:off x="3288994" y="2005784"/>
            <a:ext cx="4403362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incorporó a la entidad el 1 de agosto de 1951, el 23 de noviembre de 1952 dieron inicio las actividades médicas y administrativas con afiliación de patrones y trabajadores.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Inicialmente las consultas se otorgaban bajo un esquema de subrogación, principalmente en consultorios externos y sanatorios privados.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  del IMSS fue el Hospital General de Zona No. 1 “Dr. Demetrio Mayoral Pardo”, construido en un terreno cedido por el Gobierno estatal, se inauguró el 21 de marzo de 1958.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43 camas censables y daba servicios de consulta externa, urgencias, hospitalización general y auxiliares de diagnóstico y tratamiento, posteriormente el IMSS extendió sus servicios al Istmo, la Costa y la Cuenca del Papaloapan.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0_OAXA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9602872-7344-7441-6226-27D443EF1B70}"/>
              </a:ext>
            </a:extLst>
          </p:cNvPr>
          <p:cNvGrpSpPr/>
          <p:nvPr/>
        </p:nvGrpSpPr>
        <p:grpSpPr>
          <a:xfrm>
            <a:off x="0" y="5677439"/>
            <a:ext cx="7772400" cy="3264084"/>
            <a:chOff x="0" y="5677439"/>
            <a:chExt cx="7772400" cy="3264084"/>
          </a:xfrm>
        </p:grpSpPr>
        <p:pic>
          <p:nvPicPr>
            <p:cNvPr id="7" name="Google Shape;254;g3d635d120e2_2_52" title="HGZ 86 URUAPAN.jpg">
              <a:extLst>
                <a:ext uri="{FF2B5EF4-FFF2-40B4-BE49-F238E27FC236}">
                  <a16:creationId xmlns:a16="http://schemas.microsoft.com/office/drawing/2014/main" id="{F9210E39-E9C0-E7BE-C4FA-E748628BE8F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2618338" y="6379359"/>
              <a:ext cx="2401009" cy="1562332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8" name="Google Shape;256;g3d635d120e2_2_52">
              <a:extLst>
                <a:ext uri="{FF2B5EF4-FFF2-40B4-BE49-F238E27FC236}">
                  <a16:creationId xmlns:a16="http://schemas.microsoft.com/office/drawing/2014/main" id="{DA0047B3-B8B0-7F52-15A1-C223990E9A8D}"/>
                </a:ext>
              </a:extLst>
            </p:cNvPr>
            <p:cNvSpPr/>
            <p:nvPr/>
          </p:nvSpPr>
          <p:spPr>
            <a:xfrm>
              <a:off x="3040879" y="7955562"/>
              <a:ext cx="19365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9" name="Google Shape;257;g3d635d120e2_2_52">
              <a:extLst>
                <a:ext uri="{FF2B5EF4-FFF2-40B4-BE49-F238E27FC236}">
                  <a16:creationId xmlns:a16="http://schemas.microsoft.com/office/drawing/2014/main" id="{15A75C99-64CE-95D7-96FA-5D103464E8D5}"/>
                </a:ext>
              </a:extLst>
            </p:cNvPr>
            <p:cNvSpPr/>
            <p:nvPr/>
          </p:nvSpPr>
          <p:spPr>
            <a:xfrm>
              <a:off x="2618347" y="7955552"/>
              <a:ext cx="4605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259;g3d635d120e2_2_52">
              <a:extLst>
                <a:ext uri="{FF2B5EF4-FFF2-40B4-BE49-F238E27FC236}">
                  <a16:creationId xmlns:a16="http://schemas.microsoft.com/office/drawing/2014/main" id="{48867681-4C11-0450-7173-1E1DD2123BA3}"/>
                </a:ext>
              </a:extLst>
            </p:cNvPr>
            <p:cNvSpPr txBox="1"/>
            <p:nvPr/>
          </p:nvSpPr>
          <p:spPr>
            <a:xfrm>
              <a:off x="0" y="567743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" name="Google Shape;263;g3d635d120e2_2_52">
              <a:extLst>
                <a:ext uri="{FF2B5EF4-FFF2-40B4-BE49-F238E27FC236}">
                  <a16:creationId xmlns:a16="http://schemas.microsoft.com/office/drawing/2014/main" id="{98ABA49B-1E9C-EC1C-E802-0EDAB42C239B}"/>
                </a:ext>
              </a:extLst>
            </p:cNvPr>
            <p:cNvSpPr txBox="1"/>
            <p:nvPr/>
          </p:nvSpPr>
          <p:spPr>
            <a:xfrm>
              <a:off x="2657250" y="8296761"/>
              <a:ext cx="2323200" cy="6447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HGZ-UMAA 1 Oaxaca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$4.3 mdp</a:t>
              </a:r>
              <a:endParaRPr sz="13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603113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009F924-1254-C67D-5E6A-F7C5E6303E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3E289D8-A751-02F8-A52A-BE012299F99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9FFF475-7DF4-4798-D160-798F4A962BAC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ADDA902-2D20-1BA4-3A11-4C591D8B594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E614CD7-CEFB-3BE9-58E8-8E5180A3E913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65A174-9038-CFF9-FD4A-F58553046339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A45551-1C83-9C30-97EF-465C4E461C60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+1,209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+117,815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+21,847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1,202,419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117,815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522,613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1,210,480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128,467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21,847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56,739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7,920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3,454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9,984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20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12,995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Cuicatlán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Cd. Ixtpepec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San Pablo Villa de Etla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Temazcal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Acatlán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Estación El Refugio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Vicente Oax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Zimatlán de Álvarez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Ocotlán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UMRM 21 Tamazulapan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Ixtlan de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Pedro Pochutla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Barrio La Soledad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San Pedro Tapanatepec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San Pablo Huitzo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59 Loma Bonita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Teotitlán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32,254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120,324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290,112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7384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458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358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7384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290,112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adroTexto 242">
            <a:extLst>
              <a:ext uri="{FF2B5EF4-FFF2-40B4-BE49-F238E27FC236}">
                <a16:creationId xmlns:a16="http://schemas.microsoft.com/office/drawing/2014/main" id="{6D536F3D-2906-19E1-62A3-F8849EBB7091}"/>
              </a:ext>
            </a:extLst>
          </p:cNvPr>
          <p:cNvSpPr txBox="1"/>
          <p:nvPr/>
        </p:nvSpPr>
        <p:spPr>
          <a:xfrm>
            <a:off x="4252081" y="519014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1 consultorio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E6C906C4-DDEF-0E2A-5DDF-37DE5C3CA135}"/>
              </a:ext>
            </a:extLst>
          </p:cNvPr>
          <p:cNvSpPr txBox="1"/>
          <p:nvPr/>
        </p:nvSpPr>
        <p:spPr>
          <a:xfrm>
            <a:off x="4674409" y="6472755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5 Sto. Domingo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(16 consultorios)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(73,847 consultas)</a:t>
            </a:r>
          </a:p>
        </p:txBody>
      </p:sp>
      <p:graphicFrame>
        <p:nvGraphicFramePr>
          <p:cNvPr id="252" name="Table 251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Juchitan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24,487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Tuxtepec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190,571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81,038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Pinotepa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21,456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11,066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Sta Lucía del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61,645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Puerto Escondido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16,726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38 FF.CC.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77,607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Oaxaca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74,803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804,641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76,984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347,372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790,728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Chart 252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4" name="TextBox 253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9745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50,802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128,467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21,847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56,739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32.0%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177,390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03062375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7,920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3,454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9,984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34.6%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9,984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152 en Hospitales, 2 en sede, 5 en UMF y 50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5639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563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Heroica Cd Huajuapan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para los Servicios Rurales de Salud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Huautla de Jiménez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65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804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para los Servicios Rurales de Salud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8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B4F2D61-A7D7-8B9F-DD62-50393BC5F9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4655252"/>
              </p:ext>
            </p:extLst>
          </p:nvPr>
        </p:nvGraphicFramePr>
        <p:xfrm>
          <a:off x="287050" y="97367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Ambulatoria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5,488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8,551	 Personal de Salud: 3,563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+172.7%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+41.7%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638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+22.0%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+281.1%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-17.2%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5,306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1,478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7,663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(77,690)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(7,898)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(1,695)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(54,667)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(6,231)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(25,371)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(5,044)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(12,344)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(4,908)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Parasitosis
(11,632)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(4,404)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660,140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113,038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855,203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88.3%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A323-20B8-60B1-350A-2A1CC345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255,964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219,398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170,640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157,168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127,144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86,659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77,494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76,468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75,846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SITAGLIPTINA, METFORMINA. COMPRIMIDO O TABLETA CADA COMPRIMIDO CONTIENE: FOSFATO DE SITAGLIPTINA MONOHIDRATADA O CLORHIDRATO DE SITAGLIPTINA MONOHIDRATADA EQUIVALENTE A 50 MG DE SITAGLIPTINA CLORHIDRATO DE METFORMINA 850 MG. ENVASE CON 28 COMPRIMIDOS O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68,708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389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2956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073153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08694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298755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02947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9100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25364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37997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Implementación de la Sala de Hemodinamia en el Hospital General de Zona No. 1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48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(HGSZ No.41 Huatulco, HGZMF No.2 Salina Cruz, HGZ No.3 Tuxtepec; HGZ No.1, UMF No.1 en Oaxaca)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5 unidades,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Oaxaca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3 Tuxtepec y HGZMF No. 2 Salina Cruz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HGSZ No. 41 Huatulco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$225.8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626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3 refrigeradores para vacunas, 2 refrigeradores con congelador de 5.4 pies cúbicos,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278.7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Oaxaca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$2,893.0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$235.0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2951996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Modernización de 3 elevadores para el HGZ No. 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3,145.3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HR Huajuapan de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$343.0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343.0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Lorenzo Cacaotepec, Matías Romero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San Lorenzo Cacaotepec y Matías Romero.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13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1,427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San Martín Mexicapan,  Santa Lucia del Camino, Salina Cruz, San Juan Bautista y Santa Cruz Xoxocotlán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Oaxaca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6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133 Huajuapan de León, No. 161 Matías Romero, No. 33 Oaxaca de Juárez, No. 135 Puerto Escondido, No. 52 Tlaxiaco y No. 110 Tuxtepec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0_o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1805692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8,551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Oaxaca de Juárez Oaxaca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Ica Fluor Daniel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-3.16%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+2.69%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+5.99%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+10.34%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+43.03%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235,250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202,810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31,707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242,230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92398965-9147-3718-4A2A-A726D3FA31D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$544.57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$281.96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$544.57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$16,337.1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Benito Juárez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Capacitación y Productividad para el Trabajo del Estado de Oaxaca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Estudios de Bachillerato del  Estado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Infraestructura Capital Mexicano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$18.89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Integradora de Servicios Harmont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Trayectoria e Imagen Sofisticada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1,390,235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5,253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1,236,940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4,739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30,610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67,788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54,897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11,563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24,065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1,589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3,226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9,234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13,288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1,166,968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206,801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960,167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755,074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1,390,235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13,389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7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Miahuatlán de Porfirio Díaz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Heroica Ciudad de Huajuapan de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Santiago Jamiltepec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Tlacolula de Matamoros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Matías Romero Avendaño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Huautla de Jiménez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Ildefonso Villa Alta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Santiago Juxtlahuaca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Heroica Ciudad de Tlaxiaco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Jamiltepec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Matías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Miahuatlán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Santiago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152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Tlacolula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Tlaxiaco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413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809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881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6213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 en Unidades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6609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68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68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58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7581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50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367</Words>
  <Application>Microsoft Office PowerPoint</Application>
  <PresentationFormat>Personalizado</PresentationFormat>
  <Paragraphs>87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104</cp:revision>
  <dcterms:modified xsi:type="dcterms:W3CDTF">2026-05-12T23:30:16Z</dcterms:modified>
</cp:coreProperties>
</file>