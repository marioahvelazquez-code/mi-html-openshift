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5"/>
    <p:sldId id="281" r:id="rId14"/>
    <p:sldId id="302" r:id="rId46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4147C-DB00-96FD-4AA7-63BFF6BDB407}" v="8" dt="2026-05-12T23:38:16.22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7:19.089" v="0"/>
      <pc:docMkLst>
        <pc:docMk/>
      </pc:docMkLst>
      <pc:sldChg chg="add">
        <pc:chgData name="Carlos Esponda Rosales" userId="08a2b2cc-6d12-4dea-90fe-c484bece8186" providerId="ADAL" clId="{6846A1DD-3EC1-5A12-B3C5-9C410579EE4F}" dt="2026-05-08T17:37:19.089" v="0"/>
        <pc:sldMkLst>
          <pc:docMk/>
          <pc:sldMk cId="3925082217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9:22:03.223" v="96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5:52.165" v="86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5:52.165" v="86" actId="1035"/>
          <ac:spMkLst>
            <pc:docMk/>
            <pc:sldMk cId="0" sldId="260"/>
            <ac:spMk id="7" creationId="{C6D3A16D-EFF4-3DC6-9694-CE9F2FEEBB24}"/>
          </ac:spMkLst>
        </pc:spChg>
        <pc:graphicFrameChg chg="add mod">
          <ac:chgData name="Edgar Rosales Ortega" userId="d1d54fc2-1570-4978-babc-e22e1526833f" providerId="ADAL" clId="{66BE7C30-C669-4152-AC74-10076FC0590C}" dt="2026-04-30T23:15:46.114" v="33" actId="1076"/>
          <ac:graphicFrameMkLst>
            <pc:docMk/>
            <pc:sldMk cId="0" sldId="260"/>
            <ac:graphicFrameMk id="5" creationId="{D8C2A735-074A-55C8-3F59-031D3FB649A6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5:52.165" v="86" actId="1035"/>
          <ac:picMkLst>
            <pc:docMk/>
            <pc:sldMk cId="0" sldId="260"/>
            <ac:picMk id="6" creationId="{0E1F6321-2C00-1327-744A-E336BB645B49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3:33.075" v="87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12" creationId="{F02F79B8-8CBC-EFFB-DD09-B6B3EF39DA3D}"/>
          </ac:spMkLst>
        </pc:spChg>
        <pc:spChg chg="mod">
          <ac:chgData name="Edgar Rosales Ortega" userId="d1d54fc2-1570-4978-babc-e22e1526833f" providerId="ADAL" clId="{66BE7C30-C669-4152-AC74-10076FC0590C}" dt="2026-04-23T16:42:36.158" v="17"/>
          <ac:spMkLst>
            <pc:docMk/>
            <pc:sldMk cId="0" sldId="261"/>
            <ac:spMk id="14" creationId="{1F4D6E89-9947-C233-53FF-CF11F3C54D97}"/>
          </ac:spMkLst>
        </pc:spChg>
        <pc:spChg chg="mod">
          <ac:chgData name="Edgar Rosales Ortega" userId="d1d54fc2-1570-4978-babc-e22e1526833f" providerId="ADAL" clId="{66BE7C30-C669-4152-AC74-10076FC0590C}" dt="2026-04-23T16:42:36.158" v="17"/>
          <ac:spMkLst>
            <pc:docMk/>
            <pc:sldMk cId="0" sldId="261"/>
            <ac:spMk id="15" creationId="{708EF55A-EFFA-EBB7-FA29-5F95BE18F041}"/>
          </ac:spMkLst>
        </pc:spChg>
        <pc:spChg chg="mod">
          <ac:chgData name="Edgar Rosales Ortega" userId="d1d54fc2-1570-4978-babc-e22e1526833f" providerId="ADAL" clId="{66BE7C30-C669-4152-AC74-10076FC0590C}" dt="2026-04-23T16:42:36.158" v="17"/>
          <ac:spMkLst>
            <pc:docMk/>
            <pc:sldMk cId="0" sldId="261"/>
            <ac:spMk id="16" creationId="{E4618E85-D8CD-5CDD-3661-F5A8EFD67B5F}"/>
          </ac:spMkLst>
        </pc:spChg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18" creationId="{A4B01364-AC45-1381-8E22-FB7474B7E741}"/>
          </ac:spMkLst>
        </pc:spChg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19" creationId="{D6A34318-FC4A-28C3-554D-85F238C8973D}"/>
          </ac:spMkLst>
        </pc:spChg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20" creationId="{88E1B452-A2F0-C5AB-7239-C00231546D12}"/>
          </ac:spMkLst>
        </pc:spChg>
        <pc:grpChg chg="add mod">
          <ac:chgData name="Edgar Rosales Ortega" userId="d1d54fc2-1570-4978-babc-e22e1526833f" providerId="ADAL" clId="{66BE7C30-C669-4152-AC74-10076FC0590C}" dt="2026-05-05T18:03:33.075" v="87" actId="164"/>
          <ac:grpSpMkLst>
            <pc:docMk/>
            <pc:sldMk cId="0" sldId="261"/>
            <ac:grpSpMk id="2" creationId="{B19D4341-1432-1C12-3EAD-C56FBBA86FFA}"/>
          </ac:grpSpMkLst>
        </pc:grpChg>
        <pc:grpChg chg="add mod">
          <ac:chgData name="Edgar Rosales Ortega" userId="d1d54fc2-1570-4978-babc-e22e1526833f" providerId="ADAL" clId="{66BE7C30-C669-4152-AC74-10076FC0590C}" dt="2026-05-05T18:03:33.075" v="87" actId="164"/>
          <ac:grpSpMkLst>
            <pc:docMk/>
            <pc:sldMk cId="0" sldId="261"/>
            <ac:grpSpMk id="13" creationId="{E574FF6B-09CE-387C-7330-53A076BFC7B2}"/>
          </ac:grpSpMkLst>
        </pc:grpChg>
        <pc:picChg chg="add mod">
          <ac:chgData name="Edgar Rosales Ortega" userId="d1d54fc2-1570-4978-babc-e22e1526833f" providerId="ADAL" clId="{66BE7C30-C669-4152-AC74-10076FC0590C}" dt="2026-05-05T18:03:33.075" v="87" actId="164"/>
          <ac:picMkLst>
            <pc:docMk/>
            <pc:sldMk cId="0" sldId="261"/>
            <ac:picMk id="17" creationId="{B813A054-1A15-ABCF-25EE-F72A53E5A457}"/>
          </ac:picMkLst>
        </pc:picChg>
        <pc:picChg chg="add mod">
          <ac:chgData name="Edgar Rosales Ortega" userId="d1d54fc2-1570-4978-babc-e22e1526833f" providerId="ADAL" clId="{66BE7C30-C669-4152-AC74-10076FC0590C}" dt="2026-05-05T18:03:33.075" v="87" actId="164"/>
          <ac:picMkLst>
            <pc:docMk/>
            <pc:sldMk cId="0" sldId="261"/>
            <ac:picMk id="21" creationId="{C525274C-4C28-7E26-ACDA-36621001C217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1:29.339" v="90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1:33.589" v="92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4:18.083" v="29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1:13.970" v="18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1:41.106" v="93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1:41.106" v="93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3:51.006" v="89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9:20.262" v="30" actId="1076"/>
          <ac:spMkLst>
            <pc:docMk/>
            <pc:sldMk cId="0" sldId="279"/>
            <ac:spMk id="2" creationId="{62391EDD-4B23-D3E5-2FCE-4A1ADDD2D95E}"/>
          </ac:spMkLst>
        </pc:spChg>
        <pc:spChg chg="mod">
          <ac:chgData name="Edgar Rosales Ortega" userId="d1d54fc2-1570-4978-babc-e22e1526833f" providerId="ADAL" clId="{66BE7C30-C669-4152-AC74-10076FC0590C}" dt="2026-05-05T18:03:51.006" v="89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4:15.732" v="27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1:17.098" v="19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3:39.285" v="88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2:03.223" v="96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2:03.223" v="96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4:11.128" v="25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1:20.596" v="20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1:46.951" v="94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1:46.951" v="94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2:40.414" v="1"/>
        <pc:sldMkLst>
          <pc:docMk/>
          <pc:sldMk cId="813959304" sldId="298"/>
        </pc:sldMkLst>
      </pc:sldChg>
    </pc:docChg>
  </pc:docChgLst>
  <pc:docChgLst>
    <pc:chgData name="Gerardo Jahir Lara Garcia" userId="S::gerardo.larag@imss.gob.mx::84d5cd65-4601-4e92-b448-a9da4809e012" providerId="AD" clId="Web-{5544147C-DB00-96FD-4AA7-63BFF6BDB407}"/>
    <pc:docChg chg="modSld">
      <pc:chgData name="Gerardo Jahir Lara Garcia" userId="S::gerardo.larag@imss.gob.mx::84d5cd65-4601-4e92-b448-a9da4809e012" providerId="AD" clId="Web-{5544147C-DB00-96FD-4AA7-63BFF6BDB407}" dt="2026-05-12T23:38:16.223" v="7" actId="1076"/>
      <pc:docMkLst>
        <pc:docMk/>
      </pc:docMkLst>
      <pc:sldChg chg="addSp modSp">
        <pc:chgData name="Gerardo Jahir Lara Garcia" userId="S::gerardo.larag@imss.gob.mx::84d5cd65-4601-4e92-b448-a9da4809e012" providerId="AD" clId="Web-{5544147C-DB00-96FD-4AA7-63BFF6BDB407}" dt="2026-05-12T23:38:16.223" v="7" actId="1076"/>
        <pc:sldMkLst>
          <pc:docMk/>
          <pc:sldMk cId="364733940" sldId="284"/>
        </pc:sldMkLst>
        <pc:picChg chg="add mod">
          <ac:chgData name="Gerardo Jahir Lara Garcia" userId="S::gerardo.larag@imss.gob.mx::84d5cd65-4601-4e92-b448-a9da4809e012" providerId="AD" clId="Web-{5544147C-DB00-96FD-4AA7-63BFF6BDB407}" dt="2026-05-12T23:38:16.223" v="7" actId="1076"/>
          <ac:picMkLst>
            <pc:docMk/>
            <pc:sldMk cId="364733940" sldId="284"/>
            <ac:picMk id="3" creationId="{FDC0E336-71D8-6DC2-4345-A446A183783D}"/>
          </ac:picMkLst>
        </pc:picChg>
      </pc:sldChg>
      <pc:sldChg chg="addSp modSp">
        <pc:chgData name="Gerardo Jahir Lara Garcia" userId="S::gerardo.larag@imss.gob.mx::84d5cd65-4601-4e92-b448-a9da4809e012" providerId="AD" clId="Web-{5544147C-DB00-96FD-4AA7-63BFF6BDB407}" dt="2026-05-12T23:37:31.800" v="3" actId="1076"/>
        <pc:sldMkLst>
          <pc:docMk/>
          <pc:sldMk cId="3240565764" sldId="297"/>
        </pc:sldMkLst>
        <pc:picChg chg="add mod">
          <ac:chgData name="Gerardo Jahir Lara Garcia" userId="S::gerardo.larag@imss.gob.mx::84d5cd65-4601-4e92-b448-a9da4809e012" providerId="AD" clId="Web-{5544147C-DB00-96FD-4AA7-63BFF6BDB407}" dt="2026-05-12T23:37:31.800" v="3" actId="1076"/>
          <ac:picMkLst>
            <pc:docMk/>
            <pc:sldMk cId="3240565764" sldId="297"/>
            <ac:picMk id="3" creationId="{AF1AAF71-801C-5CD5-657A-22D44370E489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1155497.0</c:v>
                </c:pt>
                <c:pt idx="1">
                  <c:v>212055.0</c:v>
                </c:pt>
                <c:pt idx="2">
                  <c:v>762528.0</c:v>
                </c:pt>
                <c:pt idx="3">
                  <c:v>11002.0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36.15909090909091</c:v>
                </c:pt>
                <c:pt idx="1">
                  <c:v>63.84090909090909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25.2031333207</c:v>
                </c:pt>
                <c:pt idx="1">
                  <c:v>74.7968666793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35.414378046897404</c:v>
                </c:pt>
                <c:pt idx="1">
                  <c:v>64.58562195310259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37.815617206982544</c:v>
                </c:pt>
                <c:pt idx="1">
                  <c:v>62.184382793017456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63</c:v>
                </c:pt>
                <c:pt idx="2">
                  <c:v>65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 Eléctrica y Captación y Suministro de Agua Potable</c:v>
                </c:pt>
                <c:pt idx="4">
                  <c:v>Transportes y Comunicaciones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para Empresas, Personas y el Hogar</c:v>
                </c:pt>
                <c:pt idx="8">
                  <c:v>Servicios Sociales y Comunales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4561</c:v>
                </c:pt>
                <c:pt idx="1">
                  <c:v>725</c:v>
                </c:pt>
                <c:pt idx="2">
                  <c:v>74387</c:v>
                </c:pt>
                <c:pt idx="3">
                  <c:v>3332</c:v>
                </c:pt>
                <c:pt idx="4">
                  <c:v>41000</c:v>
                </c:pt>
                <c:pt idx="5">
                  <c:v>13759</c:v>
                </c:pt>
                <c:pt idx="6">
                  <c:v>87797</c:v>
                </c:pt>
                <c:pt idx="7">
                  <c:v>266411</c:v>
                </c:pt>
                <c:pt idx="8">
                  <c:v>36465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 Eléctrica y Captación y Suministro de Agua Potable</c:v>
                </c:pt>
                <c:pt idx="4">
                  <c:v>Transportes y Comunicaciones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para Empresas, Personas y el Hogar</c:v>
                </c:pt>
                <c:pt idx="8">
                  <c:v>Servicios Sociales y Comunales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3633</c:v>
                </c:pt>
                <c:pt idx="1">
                  <c:v>592</c:v>
                </c:pt>
                <c:pt idx="2">
                  <c:v>68782</c:v>
                </c:pt>
                <c:pt idx="3">
                  <c:v>3288</c:v>
                </c:pt>
                <c:pt idx="4">
                  <c:v>40637</c:v>
                </c:pt>
                <c:pt idx="5">
                  <c:v>13775</c:v>
                </c:pt>
                <c:pt idx="6">
                  <c:v>87996</c:v>
                </c:pt>
                <c:pt idx="7">
                  <c:v>268653</c:v>
                </c:pt>
                <c:pt idx="8">
                  <c:v>36992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441383</c:v>
                </c:pt>
                <c:pt idx="1">
                  <c:v>463068</c:v>
                </c:pt>
                <c:pt idx="2">
                  <c:v>379254</c:v>
                </c:pt>
                <c:pt idx="3">
                  <c:v>384821</c:v>
                </c:pt>
                <c:pt idx="4">
                  <c:v>453929</c:v>
                </c:pt>
                <c:pt idx="5">
                  <c:v>491986</c:v>
                </c:pt>
                <c:pt idx="6">
                  <c:v>523883</c:v>
                </c:pt>
                <c:pt idx="7">
                  <c:v>528437</c:v>
                </c:pt>
                <c:pt idx="8">
                  <c:v>524348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noticiasclaro.com/imss-en-quintana-roo-celebra-66-anos-de-servicio-fortaleciendo-la-seguridad-social/" TargetMode="External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Quintana Roo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_Quintana R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1,155,497</a:t>
            </a:r>
            <a:br/>
            <a:r>
              <a:t>54%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212,055</a:t>
            </a:r>
            <a:br/>
            <a:r>
              <a:t>10%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762,528</a:t>
            </a:r>
            <a:br/>
            <a:r>
              <a:t>36%</a:t>
            </a:r>
          </a:p>
        </p:txBody>
      </p:sp>
      <p:pic>
        <p:nvPicPr>
          <p:cNvPr id="125" name="Picture 124" descr="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11,002</a:t>
            </a:r>
            <a:br/>
            <a:r>
              <a:t>0.51%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2,141,082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972,330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1,155,497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577,424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730,966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447,348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524,348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79,806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129,389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394,906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424,531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89,048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575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694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3,582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4,887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031909799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3_qro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9 UMF y no incluye 8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25;g3d0b4d3c5c9_0_66">
            <a:extLst>
              <a:ext uri="{FF2B5EF4-FFF2-40B4-BE49-F238E27FC236}">
                <a16:creationId xmlns:a16="http://schemas.microsoft.com/office/drawing/2014/main" id="{D8C2A735-074A-55C8-3F59-031D3FB64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0883167"/>
              </p:ext>
            </p:extLst>
          </p:nvPr>
        </p:nvGraphicFramePr>
        <p:xfrm>
          <a:off x="28685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Clínica de la avenida Chapultepec, Chetumal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31;g3d0b4d3c5c9_0_66">
            <a:extLst>
              <a:ext uri="{FF2B5EF4-FFF2-40B4-BE49-F238E27FC236}">
                <a16:creationId xmlns:a16="http://schemas.microsoft.com/office/drawing/2014/main" id="{0E1F6321-2C00-1327-744A-E336BB645B4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04" y="2178517"/>
            <a:ext cx="3238894" cy="21157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6D3A16D-EFF4-3DC6-9694-CE9F2FEEBB24}"/>
              </a:ext>
            </a:extLst>
          </p:cNvPr>
          <p:cNvSpPr txBox="1"/>
          <p:nvPr/>
        </p:nvSpPr>
        <p:spPr>
          <a:xfrm>
            <a:off x="3495260" y="1880810"/>
            <a:ext cx="3889512" cy="314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el 15 de agosto de 1958, con la afiliación de trabajadores en Chetumal, y el 21 de noviembre de 1958 comenzaron formalmente los servicios médicos.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esta primera etapa, el Instituto operó como Subdelegación de Yucatán y las consultas se otorgaban bajo un esquema de subrogación, utilizando hospitales locales, con atención de medicina general y urgencias básicas.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2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Quintana Roo se consolidó a partir de la Clínica de la avenida Chapultepec, en Chetumal, que inició operaciones en 1959 y fue inaugurada oficialmente en 1961.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3_QUINTANA_RO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B19D4341-1432-1C12-3EAD-C56FBBA86FFA}"/>
              </a:ext>
            </a:extLst>
          </p:cNvPr>
          <p:cNvGrpSpPr/>
          <p:nvPr/>
        </p:nvGrpSpPr>
        <p:grpSpPr>
          <a:xfrm>
            <a:off x="0" y="5563685"/>
            <a:ext cx="7772400" cy="3359923"/>
            <a:chOff x="0" y="5563685"/>
            <a:chExt cx="7772400" cy="3359923"/>
          </a:xfrm>
        </p:grpSpPr>
        <p:sp>
          <p:nvSpPr>
            <p:cNvPr id="12" name="Google Shape;272;g3d635d120e2_2_87">
              <a:extLst>
                <a:ext uri="{FF2B5EF4-FFF2-40B4-BE49-F238E27FC236}">
                  <a16:creationId xmlns:a16="http://schemas.microsoft.com/office/drawing/2014/main" id="{F02F79B8-8CBC-EFFB-DD09-B6B3EF39DA3D}"/>
                </a:ext>
              </a:extLst>
            </p:cNvPr>
            <p:cNvSpPr txBox="1"/>
            <p:nvPr/>
          </p:nvSpPr>
          <p:spPr>
            <a:xfrm>
              <a:off x="0" y="5563685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3" name="Google Shape;277;g3d635d120e2_2_87">
              <a:extLst>
                <a:ext uri="{FF2B5EF4-FFF2-40B4-BE49-F238E27FC236}">
                  <a16:creationId xmlns:a16="http://schemas.microsoft.com/office/drawing/2014/main" id="{E574FF6B-09CE-387C-7330-53A076BFC7B2}"/>
                </a:ext>
              </a:extLst>
            </p:cNvPr>
            <p:cNvGrpSpPr/>
            <p:nvPr/>
          </p:nvGrpSpPr>
          <p:grpSpPr>
            <a:xfrm>
              <a:off x="639462" y="7854185"/>
              <a:ext cx="2295663" cy="1015207"/>
              <a:chOff x="5187963" y="7426607"/>
              <a:chExt cx="2295663" cy="1015207"/>
            </a:xfrm>
          </p:grpSpPr>
          <p:sp>
            <p:nvSpPr>
              <p:cNvPr id="14" name="Google Shape;278;g3d635d120e2_2_87">
                <a:extLst>
                  <a:ext uri="{FF2B5EF4-FFF2-40B4-BE49-F238E27FC236}">
                    <a16:creationId xmlns:a16="http://schemas.microsoft.com/office/drawing/2014/main" id="{1F4D6E89-9947-C233-53FF-CF11F3C54D97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5" name="Google Shape;279;g3d635d120e2_2_87">
                <a:extLst>
                  <a:ext uri="{FF2B5EF4-FFF2-40B4-BE49-F238E27FC236}">
                    <a16:creationId xmlns:a16="http://schemas.microsoft.com/office/drawing/2014/main" id="{708EF55A-EFFA-EBB7-FA29-5F95BE18F041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80;g3d635d120e2_2_87">
                <a:extLst>
                  <a:ext uri="{FF2B5EF4-FFF2-40B4-BE49-F238E27FC236}">
                    <a16:creationId xmlns:a16="http://schemas.microsoft.com/office/drawing/2014/main" id="{E4618E85-D8CD-5CDD-3661-F5A8EFD67B5F}"/>
                  </a:ext>
                </a:extLst>
              </p:cNvPr>
              <p:cNvSpPr txBox="1"/>
              <p:nvPr/>
            </p:nvSpPr>
            <p:spPr>
              <a:xfrm>
                <a:off x="5187963" y="7891314"/>
                <a:ext cx="22911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HGZ18 Playa del Carmen</a:t>
                </a:r>
              </a:p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b="1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7" name="Google Shape;281;g3d635d120e2_2_87">
              <a:extLst>
                <a:ext uri="{FF2B5EF4-FFF2-40B4-BE49-F238E27FC236}">
                  <a16:creationId xmlns:a16="http://schemas.microsoft.com/office/drawing/2014/main" id="{B813A054-1A15-ABCF-25EE-F72A53E5A45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3449" y="6455048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283;g3d635d120e2_2_87">
              <a:extLst>
                <a:ext uri="{FF2B5EF4-FFF2-40B4-BE49-F238E27FC236}">
                  <a16:creationId xmlns:a16="http://schemas.microsoft.com/office/drawing/2014/main" id="{A4B01364-AC45-1381-8E22-FB7474B7E741}"/>
                </a:ext>
              </a:extLst>
            </p:cNvPr>
            <p:cNvSpPr/>
            <p:nvPr/>
          </p:nvSpPr>
          <p:spPr>
            <a:xfrm>
              <a:off x="4909874" y="794119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84;g3d635d120e2_2_87">
              <a:extLst>
                <a:ext uri="{FF2B5EF4-FFF2-40B4-BE49-F238E27FC236}">
                  <a16:creationId xmlns:a16="http://schemas.microsoft.com/office/drawing/2014/main" id="{D6A34318-FC4A-28C3-554D-85F238C8973D}"/>
                </a:ext>
              </a:extLst>
            </p:cNvPr>
            <p:cNvSpPr/>
            <p:nvPr/>
          </p:nvSpPr>
          <p:spPr>
            <a:xfrm>
              <a:off x="4407836" y="794119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0" name="Google Shape;285;g3d635d120e2_2_87">
              <a:extLst>
                <a:ext uri="{FF2B5EF4-FFF2-40B4-BE49-F238E27FC236}">
                  <a16:creationId xmlns:a16="http://schemas.microsoft.com/office/drawing/2014/main" id="{88E1B452-A2F0-C5AB-7239-C00231546D12}"/>
                </a:ext>
              </a:extLst>
            </p:cNvPr>
            <p:cNvSpPr txBox="1"/>
            <p:nvPr/>
          </p:nvSpPr>
          <p:spPr>
            <a:xfrm>
              <a:off x="4424597" y="829487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18 Playa del Carmen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1" name="Google Shape;286;g3d635d120e2_2_87">
              <a:extLst>
                <a:ext uri="{FF2B5EF4-FFF2-40B4-BE49-F238E27FC236}">
                  <a16:creationId xmlns:a16="http://schemas.microsoft.com/office/drawing/2014/main" id="{C525274C-4C28-7E26-ACDA-36621001C217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45572" y="637885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46711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F4C0BC0-DA02-340E-332B-94160E6547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A505D8E-F14A-228A-2F9E-BDCF0A55918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3B5DD38-D850-1E42-C16E-E6D6052C3FD9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2A023FE-D1CA-DD0B-23D9-B0B22AC81F8C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35F8760-C02F-3FA3-67C9-F00132E16A5D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A2E73A-3ACB-3326-EBF8-0C2A5A731471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0A4034E-DE0D-51E4-A41E-BB6CFFE7B96E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+353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+78,325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+38,616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1,455,069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78,325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574,336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1,426,224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402,225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38,616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160,544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453,330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21,659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9,705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25,664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Isla Mujeres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Pucte Río Hondo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F. Carrillo Puerto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40,922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-1,231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15,910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16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388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478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16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44,000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adroTexto 269">
            <a:extLst>
              <a:ext uri="{FF2B5EF4-FFF2-40B4-BE49-F238E27FC236}">
                <a16:creationId xmlns:a16="http://schemas.microsoft.com/office/drawing/2014/main" id="{F5D2CBAA-9537-F565-A1E3-CC4D93FD6A85}"/>
              </a:ext>
            </a:extLst>
          </p:cNvPr>
          <p:cNvSpPr txBox="1"/>
          <p:nvPr/>
        </p:nvSpPr>
        <p:spPr>
          <a:xfrm>
            <a:off x="4462292" y="563809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 (50 consultorios)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(293,430 consultas)</a:t>
            </a:r>
          </a:p>
        </p:txBody>
      </p:sp>
      <p:graphicFrame>
        <p:nvGraphicFramePr>
          <p:cNvPr id="278" name="Table 277"/>
          <p:cNvGraphicFramePr>
            <a:graphicFrameLocks noGrp="1"/>
          </p:cNvGraphicFramePr>
          <p:nvPr/>
        </p:nvGraphicFramePr>
        <p:xfrm>
          <a:off x="151200" y="1695600"/>
          <a:ext cx="7473599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Playa Carmen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238,894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94,089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Cancún Norte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217,602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83,239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Cancún Sur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224,619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87,526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Cancún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107,378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8,448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Cancún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203,467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79,414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Los Héroes de la Salud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172,300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27,254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68,735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1,164,260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71,601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458,881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1,129,000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9" name="Chart 27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0" name="TextBox 27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25%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670800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69,325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81,242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402,225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38,616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160,544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453,330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51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2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1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51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453,330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2185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21,659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9,705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25,664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16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8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37.8%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7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16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25,664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34 en Hospitales, 1 en sede, 6 en UMF y 82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0679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0679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47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479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59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D154C63-07B8-77A8-3D76-CF7A67F79A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1997382"/>
              </p:ext>
            </p:extLst>
          </p:nvPr>
        </p:nvGraphicFramePr>
        <p:xfrm>
          <a:off x="287050" y="92718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5,758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1,648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7,165	 Personal de Salud: 4,690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+347.1%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+44.1%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1,744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1,240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+141.0%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-15.9%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6,075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377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65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96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1,682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8,982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(77,921)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(10,609)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(3,359)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(61,462)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(6,656)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(719)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(1,406)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(27,117)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(6,519)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(726)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(24,786)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 por virus de la inmunodeficiencia humana
(6,189)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(17,666)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(3,965)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(470)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63,593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705,008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62,121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876,845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D635-B0B2-E32B-06ED-D16A9210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176,833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159,585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154,513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suspensión oral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117,885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104,093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93,425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90,871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83,683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74,731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70,199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08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28870"/>
            <a:ext cx="1599000" cy="7583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1AAF71-801C-5CD5-657A-22D44370E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" y="1603897"/>
            <a:ext cx="1683088" cy="4018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imagenen el HGZMF No. 1 Chetumal y HGR No. 17 Cancún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$112.7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(HGZMF No.1, Chetumal; HGZ No.3, HGR No.17 en Cancún)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(HGZMF No.1 Othon P. Blanco, HGR No.17, UMF No.16 Cancún; UMF No.11, HGZ No.18 Solidaridad)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HGR No. 17 Benito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Cancún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Sala de Hemodinamia HGZ No. 17 Cancún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$730.2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554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2 refrigeradores congeladores de 5.4 pies cúbicos, 1 monitor de signos vitales para el traslado del paciente (con protección antimagnética),1 equipo de anestesia básica, (con protección antimagnética),1 mastógrafo digital con estereotaxia, 1 unidad para tomografía axial computarizada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716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783.4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DC0E336-71D8-6DC2-4345-A446A1837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" y="1668681"/>
            <a:ext cx="1811616" cy="1561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Unidad de Diagnóstico y Tratamiento Ambulatorio (UDTA)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$2,000.0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 20+8, Solidaridad, Playa del Carmen (terreno en trámite)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$548.2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 10+5, Solidaridad, Puerto Aventuras (terreno en trámite)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Unidad de trasplante renal y células hematopoyéticas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780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$2,992.7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4031991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$95.3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 18 Playa del Carmen y HGP 7 Puerto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$95.3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5219987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Instalación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Instalación de 2  piezas de equipo médico relevante: 1 Mastógrafo digital con estereotaxia, 1 Unidad para Tomografía Axial Computarizada de Alta Resolución.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6659982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10 Equipos electromecánicos para 4 unidades; 3 elevadores, 4 lavadoras y 3 secadoras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3,158.1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Benito Juárez (3), Playa del Carmen (2), Cozumel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19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integración de expediente para donación: 6 en Benito Juárez, Playa del Carmen, y Cozumel.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3,214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737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Pucté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Chetumal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95 Chetumal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3_qro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6058758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Hotelera Palace Resorts S de Rl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Benito Juárez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Solaya Hospitality Management Group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8,190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8,199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Playa del Carmen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Experiencias Xcaret Parques S A P I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-20.35%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-18.34%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-7.53%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-0.89%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+0.84%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364,473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528,437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380,240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142,772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524,348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62391EDD-4B23-D3E5-2FCE-4A1ADDD2D95E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$590.42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$263.11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$590.42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$17,712.6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Puerto 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Solidaridad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$0.74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Benito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Operadora Hotelera del Corredor Mayakoba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Indepensa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$19.25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5349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82 especialistas (sustitutos)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5745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817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817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0000" y="10893596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57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321</Words>
  <Application>Microsoft Office PowerPoint</Application>
  <PresentationFormat>Personalizado</PresentationFormat>
  <Paragraphs>86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101</cp:revision>
  <dcterms:modified xsi:type="dcterms:W3CDTF">2026-05-12T23:38:18Z</dcterms:modified>
</cp:coreProperties>
</file>