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287" r:id="rId8"/>
    <p:sldId id="262" r:id="rId9"/>
    <p:sldId id="263" r:id="rId10"/>
    <p:sldId id="280" r:id="rId11"/>
    <p:sldId id="267" r:id="rId12"/>
    <p:sldId id="298" r:id="rId13"/>
    <p:sldId id="302" r:id="rId47"/>
    <p:sldId id="303" r:id="rId48"/>
    <p:sldId id="304" r:id="rId49"/>
    <p:sldId id="281" r:id="rId14"/>
    <p:sldId id="305" r:id="rId50"/>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9FBBA6-AFD3-E048-4833-C63FEAB62A41}" v="76" dt="2026-05-13T00:00:32.610"/>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29.646" v="0"/>
      <pc:docMkLst>
        <pc:docMk/>
      </pc:docMkLst>
      <pc:sldChg chg="add">
        <pc:chgData name="Carlos Esponda Rosales" userId="08a2b2cc-6d12-4dea-90fe-c484bece8186" providerId="ADAL" clId="{6846A1DD-3EC1-5A12-B3C5-9C410579EE4F}" dt="2026-05-08T17:38:29.646" v="0"/>
        <pc:sldMkLst>
          <pc:docMk/>
          <pc:sldMk cId="110968613"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6:50.356" v="94" actId="14100"/>
      <pc:docMkLst>
        <pc:docMk/>
      </pc:docMkLst>
      <pc:sldChg chg="addSp delSp modSp mod">
        <pc:chgData name="Edgar Rosales Ortega" userId="d1d54fc2-1570-4978-babc-e22e1526833f" providerId="ADAL" clId="{66BE7C30-C669-4152-AC74-10076FC0590C}" dt="2026-04-30T23:18:49.424" v="83" actId="1036"/>
        <pc:sldMkLst>
          <pc:docMk/>
          <pc:sldMk cId="0" sldId="260"/>
        </pc:sldMkLst>
        <pc:spChg chg="add mod">
          <ac:chgData name="Edgar Rosales Ortega" userId="d1d54fc2-1570-4978-babc-e22e1526833f" providerId="ADAL" clId="{66BE7C30-C669-4152-AC74-10076FC0590C}" dt="2026-04-30T23:18:49.424" v="83" actId="1036"/>
          <ac:spMkLst>
            <pc:docMk/>
            <pc:sldMk cId="0" sldId="260"/>
            <ac:spMk id="7" creationId="{47C18AA5-16CE-E9BB-B9A7-2A31CF00968A}"/>
          </ac:spMkLst>
        </pc:spChg>
        <pc:graphicFrameChg chg="add mod">
          <ac:chgData name="Edgar Rosales Ortega" userId="d1d54fc2-1570-4978-babc-e22e1526833f" providerId="ADAL" clId="{66BE7C30-C669-4152-AC74-10076FC0590C}" dt="2026-04-30T23:18:44.829" v="34" actId="1076"/>
          <ac:graphicFrameMkLst>
            <pc:docMk/>
            <pc:sldMk cId="0" sldId="260"/>
            <ac:graphicFrameMk id="5" creationId="{04FBA469-16E2-B7DE-1FA8-ECC94DD46987}"/>
          </ac:graphicFrameMkLst>
        </pc:graphicFrameChg>
        <pc:picChg chg="add mod">
          <ac:chgData name="Edgar Rosales Ortega" userId="d1d54fc2-1570-4978-babc-e22e1526833f" providerId="ADAL" clId="{66BE7C30-C669-4152-AC74-10076FC0590C}" dt="2026-04-30T23:18:49.424" v="83" actId="1036"/>
          <ac:picMkLst>
            <pc:docMk/>
            <pc:sldMk cId="0" sldId="260"/>
            <ac:picMk id="6" creationId="{5D1BEE81-670A-254B-15C8-6E5B3A507319}"/>
          </ac:picMkLst>
        </pc:picChg>
      </pc:sldChg>
      <pc:sldChg chg="addSp delSp modSp mod">
        <pc:chgData name="Edgar Rosales Ortega" userId="d1d54fc2-1570-4978-babc-e22e1526833f" providerId="ADAL" clId="{66BE7C30-C669-4152-AC74-10076FC0590C}" dt="2026-05-05T18:06:42.727" v="84" actId="164"/>
        <pc:sldMkLst>
          <pc:docMk/>
          <pc:sldMk cId="0" sldId="261"/>
        </pc:sldMkLst>
        <pc:spChg chg="add mod">
          <ac:chgData name="Edgar Rosales Ortega" userId="d1d54fc2-1570-4978-babc-e22e1526833f" providerId="ADAL" clId="{66BE7C30-C669-4152-AC74-10076FC0590C}" dt="2026-05-05T18:06:42.727" v="84" actId="164"/>
          <ac:spMkLst>
            <pc:docMk/>
            <pc:sldMk cId="0" sldId="261"/>
            <ac:spMk id="11" creationId="{15F1182A-7491-49BB-7139-9C1E73A9F6D1}"/>
          </ac:spMkLst>
        </pc:spChg>
        <pc:spChg chg="add mod">
          <ac:chgData name="Edgar Rosales Ortega" userId="d1d54fc2-1570-4978-babc-e22e1526833f" providerId="ADAL" clId="{66BE7C30-C669-4152-AC74-10076FC0590C}" dt="2026-05-05T18:06:42.727" v="84" actId="164"/>
          <ac:spMkLst>
            <pc:docMk/>
            <pc:sldMk cId="0" sldId="261"/>
            <ac:spMk id="12" creationId="{3000DFC8-3938-379A-A0FA-8B95E3630C2A}"/>
          </ac:spMkLst>
        </pc:spChg>
        <pc:spChg chg="add mod">
          <ac:chgData name="Edgar Rosales Ortega" userId="d1d54fc2-1570-4978-babc-e22e1526833f" providerId="ADAL" clId="{66BE7C30-C669-4152-AC74-10076FC0590C}" dt="2026-05-05T18:06:42.727" v="84" actId="164"/>
          <ac:spMkLst>
            <pc:docMk/>
            <pc:sldMk cId="0" sldId="261"/>
            <ac:spMk id="13" creationId="{7F2F59B8-8A70-F74F-07A3-3BF3795A5D32}"/>
          </ac:spMkLst>
        </pc:spChg>
        <pc:spChg chg="add mod">
          <ac:chgData name="Edgar Rosales Ortega" userId="d1d54fc2-1570-4978-babc-e22e1526833f" providerId="ADAL" clId="{66BE7C30-C669-4152-AC74-10076FC0590C}" dt="2026-05-05T18:06:42.727" v="84" actId="164"/>
          <ac:spMkLst>
            <pc:docMk/>
            <pc:sldMk cId="0" sldId="261"/>
            <ac:spMk id="14" creationId="{9B822026-9942-8E1F-C557-93F7219EFC46}"/>
          </ac:spMkLst>
        </pc:spChg>
        <pc:spChg chg="add mod">
          <ac:chgData name="Edgar Rosales Ortega" userId="d1d54fc2-1570-4978-babc-e22e1526833f" providerId="ADAL" clId="{66BE7C30-C669-4152-AC74-10076FC0590C}" dt="2026-05-05T18:06:42.727" v="84" actId="164"/>
          <ac:spMkLst>
            <pc:docMk/>
            <pc:sldMk cId="0" sldId="261"/>
            <ac:spMk id="16" creationId="{3BF01D4D-2266-FB4B-A92A-A8982BD85703}"/>
          </ac:spMkLst>
        </pc:spChg>
        <pc:spChg chg="add mod">
          <ac:chgData name="Edgar Rosales Ortega" userId="d1d54fc2-1570-4978-babc-e22e1526833f" providerId="ADAL" clId="{66BE7C30-C669-4152-AC74-10076FC0590C}" dt="2026-05-05T18:06:42.727" v="84" actId="164"/>
          <ac:spMkLst>
            <pc:docMk/>
            <pc:sldMk cId="0" sldId="261"/>
            <ac:spMk id="17" creationId="{A08A6AB6-5482-5BF6-3B59-969168CC9558}"/>
          </ac:spMkLst>
        </pc:spChg>
        <pc:spChg chg="add mod">
          <ac:chgData name="Edgar Rosales Ortega" userId="d1d54fc2-1570-4978-babc-e22e1526833f" providerId="ADAL" clId="{66BE7C30-C669-4152-AC74-10076FC0590C}" dt="2026-05-05T18:06:42.727" v="84" actId="164"/>
          <ac:spMkLst>
            <pc:docMk/>
            <pc:sldMk cId="0" sldId="261"/>
            <ac:spMk id="18" creationId="{7C144941-F9EA-2560-D24F-E72F845666E0}"/>
          </ac:spMkLst>
        </pc:spChg>
        <pc:grpChg chg="add mod">
          <ac:chgData name="Edgar Rosales Ortega" userId="d1d54fc2-1570-4978-babc-e22e1526833f" providerId="ADAL" clId="{66BE7C30-C669-4152-AC74-10076FC0590C}" dt="2026-05-05T18:06:42.727" v="84" actId="164"/>
          <ac:grpSpMkLst>
            <pc:docMk/>
            <pc:sldMk cId="0" sldId="261"/>
            <ac:grpSpMk id="2" creationId="{C7F762BE-3FC0-C6E7-D587-23061586B637}"/>
          </ac:grpSpMkLst>
        </pc:grpChg>
        <pc:picChg chg="add mod">
          <ac:chgData name="Edgar Rosales Ortega" userId="d1d54fc2-1570-4978-babc-e22e1526833f" providerId="ADAL" clId="{66BE7C30-C669-4152-AC74-10076FC0590C}" dt="2026-05-05T18:06:42.727" v="84" actId="164"/>
          <ac:picMkLst>
            <pc:docMk/>
            <pc:sldMk cId="0" sldId="261"/>
            <ac:picMk id="15" creationId="{D5A5FF13-ECDA-25E8-3130-DFB306A31007}"/>
          </ac:picMkLst>
        </pc:picChg>
        <pc:picChg chg="add mod">
          <ac:chgData name="Edgar Rosales Ortega" userId="d1d54fc2-1570-4978-babc-e22e1526833f" providerId="ADAL" clId="{66BE7C30-C669-4152-AC74-10076FC0590C}" dt="2026-05-05T18:06:42.727" v="84" actId="164"/>
          <ac:picMkLst>
            <pc:docMk/>
            <pc:sldMk cId="0" sldId="261"/>
            <ac:picMk id="19" creationId="{3037E67E-542B-FC8F-CE61-530C00523A91}"/>
          </ac:picMkLst>
        </pc:picChg>
      </pc:sldChg>
      <pc:sldChg chg="delSp mod">
        <pc:chgData name="Edgar Rosales Ortega" userId="d1d54fc2-1570-4978-babc-e22e1526833f" providerId="ADAL" clId="{66BE7C30-C669-4152-AC74-10076FC0590C}" dt="2026-05-07T19:26:19.367" v="87" actId="478"/>
        <pc:sldMkLst>
          <pc:docMk/>
          <pc:sldMk cId="0" sldId="262"/>
        </pc:sldMkLst>
      </pc:sldChg>
      <pc:sldChg chg="addSp delSp modSp mod">
        <pc:chgData name="Edgar Rosales Ortega" userId="d1d54fc2-1570-4978-babc-e22e1526833f" providerId="ADAL" clId="{66BE7C30-C669-4152-AC74-10076FC0590C}" dt="2026-05-07T19:26:24.720" v="89" actId="478"/>
        <pc:sldMkLst>
          <pc:docMk/>
          <pc:sldMk cId="0" sldId="263"/>
        </pc:sldMkLst>
      </pc:sldChg>
      <pc:sldChg chg="modSp mod ord">
        <pc:chgData name="Edgar Rosales Ortega" userId="d1d54fc2-1570-4978-babc-e22e1526833f" providerId="ADAL" clId="{66BE7C30-C669-4152-AC74-10076FC0590C}" dt="2026-04-30T15:57:09.727" v="29"/>
        <pc:sldMkLst>
          <pc:docMk/>
          <pc:sldMk cId="0" sldId="267"/>
        </pc:sldMkLst>
        <pc:graphicFrameChg chg="modGraphic">
          <ac:chgData name="Edgar Rosales Ortega" userId="d1d54fc2-1570-4978-babc-e22e1526833f" providerId="ADAL" clId="{66BE7C30-C669-4152-AC74-10076FC0590C}" dt="2026-04-30T00:23:30.195" v="18"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6:32.257" v="90"/>
        <pc:sldMkLst>
          <pc:docMk/>
          <pc:sldMk cId="0" sldId="272"/>
        </pc:sldMkLst>
        <pc:graphicFrameChg chg="mod">
          <ac:chgData name="Edgar Rosales Ortega" userId="d1d54fc2-1570-4978-babc-e22e1526833f" providerId="ADAL" clId="{66BE7C30-C669-4152-AC74-10076FC0590C}" dt="2026-05-07T19:26:32.257" v="90"/>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6:59.385" v="86" actId="1076"/>
        <pc:sldMkLst>
          <pc:docMk/>
          <pc:sldMk cId="0" sldId="279"/>
        </pc:sldMkLst>
        <pc:spChg chg="add mod">
          <ac:chgData name="Edgar Rosales Ortega" userId="d1d54fc2-1570-4978-babc-e22e1526833f" providerId="ADAL" clId="{66BE7C30-C669-4152-AC74-10076FC0590C}" dt="2026-04-30T16:31:24.669" v="30" actId="1076"/>
          <ac:spMkLst>
            <pc:docMk/>
            <pc:sldMk cId="0" sldId="279"/>
            <ac:spMk id="2" creationId="{2CDE77CF-0CB7-B059-0698-44B3FD6C4492}"/>
          </ac:spMkLst>
        </pc:spChg>
        <pc:spChg chg="mod">
          <ac:chgData name="Edgar Rosales Ortega" userId="d1d54fc2-1570-4978-babc-e22e1526833f" providerId="ADAL" clId="{66BE7C30-C669-4152-AC74-10076FC0590C}" dt="2026-05-05T18:06:59.385" v="8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7:06.914" v="27"/>
        <pc:sldMkLst>
          <pc:docMk/>
          <pc:sldMk cId="540716406" sldId="280"/>
        </pc:sldMkLst>
        <pc:graphicFrameChg chg="modGraphic">
          <ac:chgData name="Edgar Rosales Ortega" userId="d1d54fc2-1570-4978-babc-e22e1526833f" providerId="ADAL" clId="{66BE7C30-C669-4152-AC74-10076FC0590C}" dt="2026-04-30T00:23:33.475" v="19"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6:47.666" v="85" actId="478"/>
        <pc:sldMkLst>
          <pc:docMk/>
          <pc:sldMk cId="3828482411" sldId="281"/>
        </pc:sldMkLst>
      </pc:sldChg>
      <pc:sldChg chg="modSp mod">
        <pc:chgData name="Edgar Rosales Ortega" userId="d1d54fc2-1570-4978-babc-e22e1526833f" providerId="ADAL" clId="{66BE7C30-C669-4152-AC74-10076FC0590C}" dt="2026-05-07T19:26:50.356" v="94" actId="14100"/>
        <pc:sldMkLst>
          <pc:docMk/>
          <pc:sldMk cId="364733940" sldId="284"/>
        </pc:sldMkLst>
        <pc:picChg chg="mod">
          <ac:chgData name="Edgar Rosales Ortega" userId="d1d54fc2-1570-4978-babc-e22e1526833f" providerId="ADAL" clId="{66BE7C30-C669-4152-AC74-10076FC0590C}" dt="2026-05-07T19:26:50.356" v="94"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7:02.651" v="25"/>
        <pc:sldMkLst>
          <pc:docMk/>
          <pc:sldMk cId="748044913" sldId="287"/>
        </pc:sldMkLst>
        <pc:graphicFrameChg chg="modGraphic">
          <ac:chgData name="Edgar Rosales Ortega" userId="d1d54fc2-1570-4978-babc-e22e1526833f" providerId="ADAL" clId="{66BE7C30-C669-4152-AC74-10076FC0590C}" dt="2026-04-30T00:23:36.379" v="20"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6:44.422" v="93" actId="14100"/>
        <pc:sldMkLst>
          <pc:docMk/>
          <pc:sldMk cId="3240565764" sldId="297"/>
        </pc:sldMkLst>
        <pc:picChg chg="mod">
          <ac:chgData name="Edgar Rosales Ortega" userId="d1d54fc2-1570-4978-babc-e22e1526833f" providerId="ADAL" clId="{66BE7C30-C669-4152-AC74-10076FC0590C}" dt="2026-05-07T19:26:44.422"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3:43.232" v="1"/>
        <pc:sldMkLst>
          <pc:docMk/>
          <pc:sldMk cId="3609473420" sldId="298"/>
        </pc:sldMkLst>
      </pc:sldChg>
    </pc:docChg>
  </pc:docChgLst>
  <pc:docChgLst>
    <pc:chgData name="Gerardo Jahir Lara Garcia" userId="S::gerardo.larag@imss.gob.mx::84d5cd65-4601-4e92-b448-a9da4809e012" providerId="AD" clId="Web-{7D9FBBA6-AFD3-E048-4833-C63FEAB62A41}"/>
    <pc:docChg chg="modSld">
      <pc:chgData name="Gerardo Jahir Lara Garcia" userId="S::gerardo.larag@imss.gob.mx::84d5cd65-4601-4e92-b448-a9da4809e012" providerId="AD" clId="Web-{7D9FBBA6-AFD3-E048-4833-C63FEAB62A41}" dt="2026-05-13T00:00:32.610" v="46" actId="1076"/>
      <pc:docMkLst>
        <pc:docMk/>
      </pc:docMkLst>
      <pc:sldChg chg="addSp delSp modSp">
        <pc:chgData name="Gerardo Jahir Lara Garcia" userId="S::gerardo.larag@imss.gob.mx::84d5cd65-4601-4e92-b448-a9da4809e012" providerId="AD" clId="Web-{7D9FBBA6-AFD3-E048-4833-C63FEAB62A41}" dt="2026-05-13T00:00:32.610" v="46" actId="1076"/>
        <pc:sldMkLst>
          <pc:docMk/>
          <pc:sldMk cId="364733940" sldId="284"/>
        </pc:sldMkLst>
        <pc:spChg chg="add mod">
          <ac:chgData name="Gerardo Jahir Lara Garcia" userId="S::gerardo.larag@imss.gob.mx::84d5cd65-4601-4e92-b448-a9da4809e012" providerId="AD" clId="Web-{7D9FBBA6-AFD3-E048-4833-C63FEAB62A41}" dt="2026-05-13T00:00:04.844" v="21" actId="20577"/>
          <ac:spMkLst>
            <pc:docMk/>
            <pc:sldMk cId="364733940" sldId="284"/>
            <ac:spMk id="3" creationId="{ABCC6279-D2EB-1F1F-D811-3FFF80887FF1}"/>
          </ac:spMkLst>
        </pc:spChg>
        <pc:spChg chg="add mod">
          <ac:chgData name="Gerardo Jahir Lara Garcia" userId="S::gerardo.larag@imss.gob.mx::84d5cd65-4601-4e92-b448-a9da4809e012" providerId="AD" clId="Web-{7D9FBBA6-AFD3-E048-4833-C63FEAB62A41}" dt="2026-05-13T00:00:32.610" v="46" actId="1076"/>
          <ac:spMkLst>
            <pc:docMk/>
            <pc:sldMk cId="364733940" sldId="284"/>
            <ac:spMk id="6" creationId="{4578A0AA-9DC1-3453-263A-76BE5A8BE282}"/>
          </ac:spMkLst>
        </pc:spChg>
        <pc:spChg chg="add del">
          <ac:chgData name="Gerardo Jahir Lara Garcia" userId="S::gerardo.larag@imss.gob.mx::84d5cd65-4601-4e92-b448-a9da4809e012" providerId="AD" clId="Web-{7D9FBBA6-AFD3-E048-4833-C63FEAB62A41}" dt="2026-05-12T23:59:53.218" v="16"/>
          <ac:spMkLst>
            <pc:docMk/>
            <pc:sldMk cId="364733940" sldId="284"/>
            <ac:spMk id="9" creationId="{907F7F6F-8FF8-56A0-795F-B2A127C97D4D}"/>
          </ac:spMkLst>
        </pc:spChg>
        <pc:spChg chg="add del">
          <ac:chgData name="Gerardo Jahir Lara Garcia" userId="S::gerardo.larag@imss.gob.mx::84d5cd65-4601-4e92-b448-a9da4809e012" providerId="AD" clId="Web-{7D9FBBA6-AFD3-E048-4833-C63FEAB62A41}" dt="2026-05-12T23:59:53.218" v="14"/>
          <ac:spMkLst>
            <pc:docMk/>
            <pc:sldMk cId="364733940" sldId="284"/>
            <ac:spMk id="11" creationId="{2C157DF6-A7FD-940D-19DA-323ACD68454D}"/>
          </ac:spMkLst>
        </pc:spChg>
        <pc:picChg chg="add">
          <ac:chgData name="Gerardo Jahir Lara Garcia" userId="S::gerardo.larag@imss.gob.mx::84d5cd65-4601-4e92-b448-a9da4809e012" providerId="AD" clId="Web-{7D9FBBA6-AFD3-E048-4833-C63FEAB62A41}" dt="2026-05-12T23:58:48.779" v="1"/>
          <ac:picMkLst>
            <pc:docMk/>
            <pc:sldMk cId="364733940" sldId="284"/>
            <ac:picMk id="4" creationId="{488C755F-8E2D-8CE1-6C1B-6DBB55EE2CD3}"/>
          </ac:picMkLst>
        </pc:picChg>
        <pc:picChg chg="add del">
          <ac:chgData name="Gerardo Jahir Lara Garcia" userId="S::gerardo.larag@imss.gob.mx::84d5cd65-4601-4e92-b448-a9da4809e012" providerId="AD" clId="Web-{7D9FBBA6-AFD3-E048-4833-C63FEAB62A41}" dt="2026-05-12T23:59:53.218" v="17"/>
          <ac:picMkLst>
            <pc:docMk/>
            <pc:sldMk cId="364733940" sldId="284"/>
            <ac:picMk id="8" creationId="{4F2E1097-3694-6090-CBA5-667DCD67E48E}"/>
          </ac:picMkLst>
        </pc:picChg>
        <pc:picChg chg="add del">
          <ac:chgData name="Gerardo Jahir Lara Garcia" userId="S::gerardo.larag@imss.gob.mx::84d5cd65-4601-4e92-b448-a9da4809e012" providerId="AD" clId="Web-{7D9FBBA6-AFD3-E048-4833-C63FEAB62A41}" dt="2026-05-12T23:59:53.218" v="15"/>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7D9FBBA6-AFD3-E048-4833-C63FEAB62A41}" dt="2026-05-12T23:59:35.624" v="13" actId="20577"/>
        <pc:sldMkLst>
          <pc:docMk/>
          <pc:sldMk cId="3240565764" sldId="297"/>
        </pc:sldMkLst>
        <pc:spChg chg="add del">
          <ac:chgData name="Gerardo Jahir Lara Garcia" userId="S::gerardo.larag@imss.gob.mx::84d5cd65-4601-4e92-b448-a9da4809e012" providerId="AD" clId="Web-{7D9FBBA6-AFD3-E048-4833-C63FEAB62A41}" dt="2026-05-12T23:59:25.280" v="6"/>
          <ac:spMkLst>
            <pc:docMk/>
            <pc:sldMk cId="3240565764" sldId="297"/>
            <ac:spMk id="3" creationId="{21AE8FA6-CA77-F761-93C9-BF2570CBBE30}"/>
          </ac:spMkLst>
        </pc:spChg>
        <pc:spChg chg="add del">
          <ac:chgData name="Gerardo Jahir Lara Garcia" userId="S::gerardo.larag@imss.gob.mx::84d5cd65-4601-4e92-b448-a9da4809e012" providerId="AD" clId="Web-{7D9FBBA6-AFD3-E048-4833-C63FEAB62A41}" dt="2026-05-12T23:59:25.280" v="4"/>
          <ac:spMkLst>
            <pc:docMk/>
            <pc:sldMk cId="3240565764" sldId="297"/>
            <ac:spMk id="7" creationId="{FD4175D4-66CF-7FBC-B843-C149C5339DF1}"/>
          </ac:spMkLst>
        </pc:spChg>
        <pc:spChg chg="add del">
          <ac:chgData name="Gerardo Jahir Lara Garcia" userId="S::gerardo.larag@imss.gob.mx::84d5cd65-4601-4e92-b448-a9da4809e012" providerId="AD" clId="Web-{7D9FBBA6-AFD3-E048-4833-C63FEAB62A41}" dt="2026-05-12T23:59:25.280" v="2"/>
          <ac:spMkLst>
            <pc:docMk/>
            <pc:sldMk cId="3240565764" sldId="297"/>
            <ac:spMk id="9" creationId="{50F1217E-09B0-81A3-6E99-CB1DE729ADDF}"/>
          </ac:spMkLst>
        </pc:spChg>
        <pc:spChg chg="add mod">
          <ac:chgData name="Gerardo Jahir Lara Garcia" userId="S::gerardo.larag@imss.gob.mx::84d5cd65-4601-4e92-b448-a9da4809e012" providerId="AD" clId="Web-{7D9FBBA6-AFD3-E048-4833-C63FEAB62A41}" dt="2026-05-12T23:59:32.561" v="9" actId="1076"/>
          <ac:spMkLst>
            <pc:docMk/>
            <pc:sldMk cId="3240565764" sldId="297"/>
            <ac:spMk id="10" creationId="{991C7EE4-1170-AC4C-597D-3383D8E8A8F9}"/>
          </ac:spMkLst>
        </pc:spChg>
        <pc:spChg chg="add mod">
          <ac:chgData name="Gerardo Jahir Lara Garcia" userId="S::gerardo.larag@imss.gob.mx::84d5cd65-4601-4e92-b448-a9da4809e012" providerId="AD" clId="Web-{7D9FBBA6-AFD3-E048-4833-C63FEAB62A41}" dt="2026-05-12T23:59:35.624" v="13" actId="20577"/>
          <ac:spMkLst>
            <pc:docMk/>
            <pc:sldMk cId="3240565764" sldId="297"/>
            <ac:spMk id="12" creationId="{CA535D92-E281-11D7-D7CB-F8BAB9F176B8}"/>
          </ac:spMkLst>
        </pc:spChg>
        <pc:spChg chg="add">
          <ac:chgData name="Gerardo Jahir Lara Garcia" userId="S::gerardo.larag@imss.gob.mx::84d5cd65-4601-4e92-b448-a9da4809e012" providerId="AD" clId="Web-{7D9FBBA6-AFD3-E048-4833-C63FEAB62A41}" dt="2026-05-12T23:58:39.278" v="0"/>
          <ac:spMkLst>
            <pc:docMk/>
            <pc:sldMk cId="3240565764" sldId="297"/>
            <ac:spMk id="13" creationId="{B9C2E918-974F-A566-8C8B-5DDE4ED4290B}"/>
          </ac:spMkLst>
        </pc:spChg>
        <pc:spChg chg="add">
          <ac:chgData name="Gerardo Jahir Lara Garcia" userId="S::gerardo.larag@imss.gob.mx::84d5cd65-4601-4e92-b448-a9da4809e012" providerId="AD" clId="Web-{7D9FBBA6-AFD3-E048-4833-C63FEAB62A41}" dt="2026-05-12T23:58:39.278" v="0"/>
          <ac:spMkLst>
            <pc:docMk/>
            <pc:sldMk cId="3240565764" sldId="297"/>
            <ac:spMk id="15" creationId="{A0083CC0-370A-999A-F425-0B0E05DEB5CF}"/>
          </ac:spMkLst>
        </pc:spChg>
        <pc:picChg chg="add del">
          <ac:chgData name="Gerardo Jahir Lara Garcia" userId="S::gerardo.larag@imss.gob.mx::84d5cd65-4601-4e92-b448-a9da4809e012" providerId="AD" clId="Web-{7D9FBBA6-AFD3-E048-4833-C63FEAB62A41}" dt="2026-05-12T23:59:25.280" v="5"/>
          <ac:picMkLst>
            <pc:docMk/>
            <pc:sldMk cId="3240565764" sldId="297"/>
            <ac:picMk id="4" creationId="{AE9FD96F-084C-5DEE-6966-05F8D1633A42}"/>
          </ac:picMkLst>
        </pc:picChg>
        <pc:picChg chg="del">
          <ac:chgData name="Gerardo Jahir Lara Garcia" userId="S::gerardo.larag@imss.gob.mx::84d5cd65-4601-4e92-b448-a9da4809e012" providerId="AD" clId="Web-{7D9FBBA6-AFD3-E048-4833-C63FEAB62A41}" dt="2026-05-12T23:59:25.280" v="3"/>
          <ac:picMkLst>
            <pc:docMk/>
            <pc:sldMk cId="3240565764" sldId="297"/>
            <ac:picMk id="8" creationId="{170CBE01-E044-2F44-556A-69D0B561DC01}"/>
          </ac:picMkLst>
        </pc:picChg>
        <pc:picChg chg="add mod">
          <ac:chgData name="Gerardo Jahir Lara Garcia" userId="S::gerardo.larag@imss.gob.mx::84d5cd65-4601-4e92-b448-a9da4809e012" providerId="AD" clId="Web-{7D9FBBA6-AFD3-E048-4833-C63FEAB62A41}" dt="2026-05-12T23:59:32.577" v="10" actId="1076"/>
          <ac:picMkLst>
            <pc:docMk/>
            <pc:sldMk cId="3240565764" sldId="297"/>
            <ac:picMk id="11" creationId="{F7B31A16-FD1A-331A-6F76-259EB810FD76}"/>
          </ac:picMkLst>
        </pc:picChg>
        <pc:picChg chg="add">
          <ac:chgData name="Gerardo Jahir Lara Garcia" userId="S::gerardo.larag@imss.gob.mx::84d5cd65-4601-4e92-b448-a9da4809e012" providerId="AD" clId="Web-{7D9FBBA6-AFD3-E048-4833-C63FEAB62A41}" dt="2026-05-12T23:58:39.278"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2054000.0</c:v>
                </c:pt>
                <c:pt idx="1">
                  <c:v>244977.0</c:v>
                </c:pt>
                <c:pt idx="2">
                  <c:v>419881.0</c:v>
                </c:pt>
                <c:pt idx="3">
                  <c:v>955076.0</c:v>
                </c:pt>
                <c:pt idx="4">
                  <c:v>103538.0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34.38716335757814</c:v>
                </c:pt>
                <c:pt idx="1">
                  <c:v>65.61283664242185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10.201812022999999</c:v>
                </c:pt>
                <c:pt idx="1">
                  <c:v>89.798187977</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31.70220149795246</c:v>
                </c:pt>
                <c:pt idx="1">
                  <c:v>68.29779850204754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30.81992092335956</c:v>
                </c:pt>
                <c:pt idx="1">
                  <c:v>69.18007907664044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89</c:v>
                </c:pt>
                <c:pt idx="1">
                  <c:v>156</c:v>
                </c:pt>
                <c:pt idx="2">
                  <c:v>131</c:v>
                </c:pt>
                <c:pt idx="3">
                  <c:v>128</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Industrias Extractivas</c:v>
                </c:pt>
                <c:pt idx="2">
                  <c:v>Transportes y Comunicaciones</c:v>
                </c:pt>
                <c:pt idx="3">
                  <c:v>Industrias de la Transformación</c:v>
                </c:pt>
                <c:pt idx="4">
                  <c:v>Agricultura, Ganaderia, Silvicultura, Pesca y Caza</c:v>
                </c:pt>
                <c:pt idx="5">
                  <c:v>Servicios Sociales y Comunales</c:v>
                </c:pt>
                <c:pt idx="6">
                  <c:v>Ind Eléctrica y Captación y Suministro de Agua Potable</c:v>
                </c:pt>
                <c:pt idx="7">
                  <c:v>Comercio</c:v>
                </c:pt>
                <c:pt idx="8">
                  <c:v>Industria de la Construcción</c:v>
                </c:pt>
              </c:strCache>
            </c:strRef>
          </c:cat>
          <c:val>
            <c:numRef>
              <c:f>Sheet1!$B$2:$B$10</c:f>
              <c:numCache>
                <c:formatCode>General</c:formatCode>
                <c:ptCount val="9"/>
                <c:pt idx="0">
                  <c:v>81586</c:v>
                </c:pt>
                <c:pt idx="1">
                  <c:v>1447</c:v>
                </c:pt>
                <c:pt idx="2">
                  <c:v>77275</c:v>
                </c:pt>
                <c:pt idx="3">
                  <c:v>289642</c:v>
                </c:pt>
                <c:pt idx="4">
                  <c:v>9442</c:v>
                </c:pt>
                <c:pt idx="5">
                  <c:v>54268</c:v>
                </c:pt>
                <c:pt idx="6">
                  <c:v>9970</c:v>
                </c:pt>
                <c:pt idx="7">
                  <c:v>130238</c:v>
                </c:pt>
                <c:pt idx="8">
                  <c:v>42116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Industrias Extractivas</c:v>
                </c:pt>
                <c:pt idx="2">
                  <c:v>Transportes y Comunicaciones</c:v>
                </c:pt>
                <c:pt idx="3">
                  <c:v>Industrias de la Transformación</c:v>
                </c:pt>
                <c:pt idx="4">
                  <c:v>Agricultura, Ganaderia, Silvicultura, Pesca y Caza</c:v>
                </c:pt>
                <c:pt idx="5">
                  <c:v>Servicios Sociales y Comunales</c:v>
                </c:pt>
                <c:pt idx="6">
                  <c:v>Ind Eléctrica y Captación y Suministro de Agua Potable</c:v>
                </c:pt>
                <c:pt idx="7">
                  <c:v>Comercio</c:v>
                </c:pt>
                <c:pt idx="8">
                  <c:v>Industria de la Construcción</c:v>
                </c:pt>
              </c:strCache>
            </c:strRef>
          </c:cat>
          <c:val>
            <c:numRef>
              <c:f>Sheet1!$C$2:$C$10</c:f>
              <c:numCache>
                <c:formatCode>General</c:formatCode>
                <c:ptCount val="9"/>
                <c:pt idx="0">
                  <c:v>76611</c:v>
                </c:pt>
                <c:pt idx="1">
                  <c:v>1368</c:v>
                </c:pt>
                <c:pt idx="2">
                  <c:v>73075</c:v>
                </c:pt>
                <c:pt idx="3">
                  <c:v>278905</c:v>
                </c:pt>
                <c:pt idx="4">
                  <c:v>9239</c:v>
                </c:pt>
                <c:pt idx="5">
                  <c:v>54557</c:v>
                </c:pt>
                <c:pt idx="6">
                  <c:v>10047</c:v>
                </c:pt>
                <c:pt idx="7">
                  <c:v>133187</c:v>
                </c:pt>
                <c:pt idx="8">
                  <c:v>44118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662440</c:v>
                </c:pt>
                <c:pt idx="1">
                  <c:v>678244</c:v>
                </c:pt>
                <c:pt idx="2">
                  <c:v>664641</c:v>
                </c:pt>
                <c:pt idx="3">
                  <c:v>666983</c:v>
                </c:pt>
                <c:pt idx="4">
                  <c:v>696239</c:v>
                </c:pt>
                <c:pt idx="5">
                  <c:v>697273</c:v>
                </c:pt>
                <c:pt idx="6">
                  <c:v>701314</c:v>
                </c:pt>
                <c:pt idx="7">
                  <c:v>695984</c:v>
                </c:pt>
                <c:pt idx="8">
                  <c:v>681107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hyperlink" Target="https://oem.com.mx/elsoldetampico/ciencia-y-salud/se-cumplen-73-anos-del-imss-en-tamaulipas-historia-logros-y-futuro-13331569" TargetMode="External"/><Relationship Id="rId6"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Tamaulipas</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8_Tamaulipas.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2,054,000</a:t>
            </a:r>
            <a:br/>
            <a:r>
              <a:t>54%</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244,977</a:t>
            </a:r>
            <a:br/>
            <a:r>
              <a:t>6%</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419,881</a:t>
            </a:r>
            <a:br/>
            <a:r>
              <a:t>11%</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955,076</a:t>
            </a:r>
            <a:br/>
            <a:r>
              <a:t>25%</a:t>
            </a:r>
          </a:p>
        </p:txBody>
      </p:sp>
      <p:pic>
        <p:nvPicPr>
          <p:cNvPr id="128" name="Picture 127" descr="28.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103,538</a:t>
            </a:r>
            <a:br/>
            <a:r>
              <a:t>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3,777,472</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1,928,671</a:t>
                      </a:r>
                    </a:p>
                  </a:txBody>
                  <a:tcPr>
                    <a:solidFill>
                      <a:srgbClr val="EBD2D9"/>
                    </a:solidFill>
                  </a:tcPr>
                </a:tc>
                <a:tc>
                  <a:txBody>
                    <a:bodyPr/>
                    <a:lstStyle/>
                    <a:p>
                      <a:pPr algn="ctr">
                        <a:defRPr sz="900" b="1">
                          <a:solidFill>
                            <a:srgbClr val="000000"/>
                          </a:solidFill>
                          <a:latin typeface="Montserrat"/>
                        </a:defRPr>
                      </a:pPr>
                      <a:r>
                        <a:t>2,062,734</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1,013,374</a:t>
                      </a:r>
                    </a:p>
                  </a:txBody>
                  <a:tcPr>
                    <a:solidFill>
                      <a:srgbClr val="EBD2D9"/>
                    </a:solidFill>
                  </a:tcPr>
                </a:tc>
                <a:tc>
                  <a:txBody>
                    <a:bodyPr/>
                    <a:lstStyle/>
                    <a:p>
                      <a:pPr algn="ctr">
                        <a:defRPr sz="900" b="1">
                          <a:solidFill>
                            <a:srgbClr val="000000"/>
                          </a:solidFill>
                          <a:latin typeface="Montserrat"/>
                        </a:defRPr>
                      </a:pPr>
                      <a:r>
                        <a:t>1,183,822</a:t>
                      </a:r>
                    </a:p>
                  </a:txBody>
                  <a:tcPr>
                    <a:solidFill>
                      <a:srgbClr val="EBD2D9"/>
                    </a:solidFill>
                  </a:tcPr>
                </a:tc>
                <a:tc>
                  <a:txBody>
                    <a:bodyPr/>
                    <a:lstStyle/>
                    <a:p>
                      <a:pPr algn="ctr">
                        <a:defRPr sz="900" b="1">
                          <a:solidFill>
                            <a:srgbClr val="000000"/>
                          </a:solidFill>
                          <a:latin typeface="Montserrat"/>
                        </a:defRPr>
                      </a:pPr>
                      <a:r>
                        <a:t>17%</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674,263</a:t>
                      </a:r>
                    </a:p>
                  </a:txBody>
                  <a:tcPr>
                    <a:solidFill>
                      <a:srgbClr val="F8F4EC"/>
                    </a:solidFill>
                  </a:tcPr>
                </a:tc>
                <a:tc>
                  <a:txBody>
                    <a:bodyPr/>
                    <a:lstStyle/>
                    <a:p>
                      <a:pPr algn="ctr">
                        <a:defRPr sz="900" b="1">
                          <a:solidFill>
                            <a:srgbClr val="000000"/>
                          </a:solidFill>
                          <a:latin typeface="Montserrat"/>
                        </a:defRPr>
                      </a:pPr>
                      <a:r>
                        <a:t>681,107</a:t>
                      </a:r>
                    </a:p>
                  </a:txBody>
                  <a:tcPr>
                    <a:solidFill>
                      <a:srgbClr val="F8F4EC"/>
                    </a:solidFill>
                  </a:tcPr>
                </a:tc>
                <a:tc>
                  <a:txBody>
                    <a:bodyPr/>
                    <a:lstStyle/>
                    <a:p>
                      <a:pPr algn="ctr">
                        <a:defRPr sz="900" b="1">
                          <a:solidFill>
                            <a:srgbClr val="000000"/>
                          </a:solidFill>
                          <a:latin typeface="Montserrat"/>
                        </a:defRPr>
                      </a:pPr>
                      <a:r>
                        <a:t>1%</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139,092</a:t>
                      </a:r>
                    </a:p>
                  </a:txBody>
                  <a:tcPr>
                    <a:solidFill>
                      <a:srgbClr val="FFFFFF"/>
                    </a:solidFill>
                  </a:tcPr>
                </a:tc>
                <a:tc>
                  <a:txBody>
                    <a:bodyPr/>
                    <a:lstStyle/>
                    <a:p>
                      <a:pPr algn="ctr">
                        <a:defRPr sz="900">
                          <a:solidFill>
                            <a:srgbClr val="000000"/>
                          </a:solidFill>
                          <a:latin typeface="Montserrat"/>
                        </a:defRPr>
                      </a:pPr>
                      <a:r>
                        <a:t>207,602</a:t>
                      </a:r>
                    </a:p>
                  </a:txBody>
                  <a:tcPr>
                    <a:solidFill>
                      <a:srgbClr val="FFFFFF"/>
                    </a:solidFill>
                  </a:tcPr>
                </a:tc>
                <a:tc>
                  <a:txBody>
                    <a:bodyPr/>
                    <a:lstStyle/>
                    <a:p>
                      <a:pPr algn="ctr">
                        <a:defRPr sz="900">
                          <a:solidFill>
                            <a:srgbClr val="000000"/>
                          </a:solidFill>
                          <a:latin typeface="Montserrat"/>
                        </a:defRPr>
                      </a:pPr>
                      <a:r>
                        <a:t>49%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23,380</a:t>
                      </a:r>
                    </a:p>
                  </a:txBody>
                  <a:tcPr>
                    <a:solidFill>
                      <a:srgbClr val="FFFFFF"/>
                    </a:solidFill>
                  </a:tcPr>
                </a:tc>
                <a:tc>
                  <a:txBody>
                    <a:bodyPr/>
                    <a:lstStyle/>
                    <a:p>
                      <a:pPr algn="ctr">
                        <a:defRPr sz="900">
                          <a:solidFill>
                            <a:srgbClr val="000000"/>
                          </a:solidFill>
                          <a:latin typeface="Montserrat"/>
                        </a:defRPr>
                      </a:pPr>
                      <a:r>
                        <a:t>26,759</a:t>
                      </a:r>
                    </a:p>
                  </a:txBody>
                  <a:tcPr>
                    <a:solidFill>
                      <a:srgbClr val="FFFFFF"/>
                    </a:solidFill>
                  </a:tcPr>
                </a:tc>
                <a:tc>
                  <a:txBody>
                    <a:bodyPr/>
                    <a:lstStyle/>
                    <a:p>
                      <a:pPr algn="ctr">
                        <a:defRPr sz="900">
                          <a:solidFill>
                            <a:srgbClr val="000000"/>
                          </a:solidFill>
                          <a:latin typeface="Montserrat"/>
                        </a:defRPr>
                      </a:pPr>
                      <a:r>
                        <a:t>14%</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176,639</a:t>
                      </a:r>
                    </a:p>
                  </a:txBody>
                  <a:tcPr>
                    <a:solidFill>
                      <a:srgbClr val="CCE0DD"/>
                    </a:solidFill>
                  </a:tcPr>
                </a:tc>
                <a:tc>
                  <a:txBody>
                    <a:bodyPr/>
                    <a:lstStyle/>
                    <a:p>
                      <a:pPr algn="ctr">
                        <a:defRPr sz="900" b="1">
                          <a:solidFill>
                            <a:srgbClr val="000000"/>
                          </a:solidFill>
                          <a:latin typeface="Montserrat"/>
                        </a:defRPr>
                      </a:pPr>
                      <a:r>
                        <a:t>209,197</a:t>
                      </a:r>
                    </a:p>
                  </a:txBody>
                  <a:tcPr>
                    <a:solidFill>
                      <a:srgbClr val="CCE0DD"/>
                    </a:solidFill>
                  </a:tcPr>
                </a:tc>
                <a:tc>
                  <a:txBody>
                    <a:bodyPr/>
                    <a:lstStyle/>
                    <a:p>
                      <a:pPr algn="ctr">
                        <a:defRPr sz="900" b="1">
                          <a:solidFill>
                            <a:srgbClr val="000000"/>
                          </a:solidFill>
                          <a:latin typeface="Montserrat"/>
                        </a:defRPr>
                      </a:pPr>
                      <a:r>
                        <a:t>18%</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168,148</a:t>
                      </a:r>
                    </a:p>
                  </a:txBody>
                  <a:tcPr>
                    <a:solidFill>
                      <a:srgbClr val="FFFFFF"/>
                    </a:solidFill>
                  </a:tcPr>
                </a:tc>
                <a:tc>
                  <a:txBody>
                    <a:bodyPr/>
                    <a:lstStyle/>
                    <a:p>
                      <a:pPr algn="ctr">
                        <a:defRPr sz="900">
                          <a:solidFill>
                            <a:srgbClr val="000000"/>
                          </a:solidFill>
                          <a:latin typeface="Montserrat"/>
                        </a:defRPr>
                      </a:pPr>
                      <a:r>
                        <a:t>201,397</a:t>
                      </a:r>
                    </a:p>
                  </a:txBody>
                  <a:tcPr>
                    <a:solidFill>
                      <a:srgbClr val="FFFFFF"/>
                    </a:solidFill>
                  </a:tcPr>
                </a:tc>
                <a:tc>
                  <a:txBody>
                    <a:bodyPr/>
                    <a:lstStyle/>
                    <a:p>
                      <a:pPr algn="ctr">
                        <a:defRPr sz="900">
                          <a:solidFill>
                            <a:srgbClr val="000000"/>
                          </a:solidFill>
                          <a:latin typeface="Montserrat"/>
                        </a:defRPr>
                      </a:pPr>
                      <a:r>
                        <a:t>20%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5,021</a:t>
                      </a:r>
                    </a:p>
                  </a:txBody>
                  <a:tcPr>
                    <a:solidFill>
                      <a:srgbClr val="FFFFFF"/>
                    </a:solidFill>
                  </a:tcPr>
                </a:tc>
                <a:tc>
                  <a:txBody>
                    <a:bodyPr/>
                    <a:lstStyle/>
                    <a:p>
                      <a:pPr algn="ctr">
                        <a:defRPr sz="900">
                          <a:solidFill>
                            <a:srgbClr val="000000"/>
                          </a:solidFill>
                          <a:latin typeface="Montserrat"/>
                        </a:defRPr>
                      </a:pPr>
                      <a:r>
                        <a:t>1,723</a:t>
                      </a:r>
                    </a:p>
                  </a:txBody>
                  <a:tcPr>
                    <a:solidFill>
                      <a:srgbClr val="FFFFFF"/>
                    </a:solidFill>
                  </a:tcPr>
                </a:tc>
                <a:tc>
                  <a:txBody>
                    <a:bodyPr/>
                    <a:lstStyle/>
                    <a:p>
                      <a:pPr algn="ctr">
                        <a:defRPr sz="900">
                          <a:solidFill>
                            <a:srgbClr val="000000"/>
                          </a:solidFill>
                          <a:latin typeface="Montserrat"/>
                        </a:defRPr>
                      </a:pPr>
                      <a:r>
                        <a:t>-66%</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3,470</a:t>
                      </a:r>
                    </a:p>
                  </a:txBody>
                  <a:tcPr>
                    <a:solidFill>
                      <a:srgbClr val="FFFFFF"/>
                    </a:solidFill>
                  </a:tcPr>
                </a:tc>
                <a:tc>
                  <a:txBody>
                    <a:bodyPr/>
                    <a:lstStyle/>
                    <a:p>
                      <a:pPr algn="ctr">
                        <a:defRPr sz="900">
                          <a:solidFill>
                            <a:srgbClr val="000000"/>
                          </a:solidFill>
                          <a:latin typeface="Montserrat"/>
                        </a:defRPr>
                      </a:pPr>
                      <a:r>
                        <a:t>6,077</a:t>
                      </a:r>
                    </a:p>
                  </a:txBody>
                  <a:tcPr>
                    <a:solidFill>
                      <a:srgbClr val="FFFFFF"/>
                    </a:solidFill>
                  </a:tcPr>
                </a:tc>
                <a:tc>
                  <a:txBody>
                    <a:bodyPr/>
                    <a:lstStyle/>
                    <a:p>
                      <a:pPr algn="ctr">
                        <a:defRPr sz="900">
                          <a:solidFill>
                            <a:srgbClr val="000000"/>
                          </a:solidFill>
                          <a:latin typeface="Montserrat"/>
                        </a:defRPr>
                      </a:pPr>
                      <a:r>
                        <a:t>75%</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915,297</a:t>
                      </a:r>
                    </a:p>
                  </a:txBody>
                  <a:tcPr>
                    <a:solidFill>
                      <a:srgbClr val="EBD2D9"/>
                    </a:solidFill>
                  </a:tcPr>
                </a:tc>
                <a:tc>
                  <a:txBody>
                    <a:bodyPr/>
                    <a:lstStyle/>
                    <a:p>
                      <a:pPr algn="ctr">
                        <a:defRPr sz="900" b="1">
                          <a:solidFill>
                            <a:srgbClr val="000000"/>
                          </a:solidFill>
                          <a:latin typeface="Montserrat"/>
                        </a:defRPr>
                      </a:pPr>
                      <a:r>
                        <a:t>878,912</a:t>
                      </a:r>
                    </a:p>
                  </a:txBody>
                  <a:tcPr>
                    <a:solidFill>
                      <a:srgbClr val="EBD2D9"/>
                    </a:solidFill>
                  </a:tcPr>
                </a:tc>
                <a:tc>
                  <a:txBody>
                    <a:bodyPr/>
                    <a:lstStyle/>
                    <a:p>
                      <a:pPr algn="ctr">
                        <a:defRPr sz="900" b="1">
                          <a:solidFill>
                            <a:srgbClr val="000000"/>
                          </a:solidFill>
                          <a:latin typeface="Montserrat"/>
                        </a:defRPr>
                      </a:pPr>
                      <a:r>
                        <a:t>-4%</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302,364</a:t>
                      </a:r>
                    </a:p>
                  </a:txBody>
                  <a:tcPr>
                    <a:solidFill>
                      <a:srgbClr val="FFFFFF"/>
                    </a:solidFill>
                  </a:tcPr>
                </a:tc>
                <a:tc>
                  <a:txBody>
                    <a:bodyPr/>
                    <a:lstStyle/>
                    <a:p>
                      <a:pPr algn="ctr">
                        <a:defRPr sz="900">
                          <a:solidFill>
                            <a:srgbClr val="000000"/>
                          </a:solidFill>
                          <a:latin typeface="Montserrat"/>
                        </a:defRPr>
                      </a:pPr>
                      <a:r>
                        <a:t>317,582</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458,579</a:t>
                      </a:r>
                    </a:p>
                  </a:txBody>
                  <a:tcPr>
                    <a:solidFill>
                      <a:srgbClr val="FFFFFF"/>
                    </a:solidFill>
                  </a:tcPr>
                </a:tc>
                <a:tc>
                  <a:txBody>
                    <a:bodyPr/>
                    <a:lstStyle/>
                    <a:p>
                      <a:pPr algn="ctr">
                        <a:defRPr sz="900">
                          <a:solidFill>
                            <a:srgbClr val="000000"/>
                          </a:solidFill>
                          <a:latin typeface="Montserrat"/>
                        </a:defRPr>
                      </a:pPr>
                      <a:r>
                        <a:t>375,450</a:t>
                      </a:r>
                    </a:p>
                  </a:txBody>
                  <a:tcPr>
                    <a:solidFill>
                      <a:srgbClr val="FFFFFF"/>
                    </a:solidFill>
                  </a:tcPr>
                </a:tc>
                <a:tc>
                  <a:txBody>
                    <a:bodyPr/>
                    <a:lstStyle/>
                    <a:p>
                      <a:pPr algn="ctr">
                        <a:defRPr sz="900">
                          <a:solidFill>
                            <a:srgbClr val="000000"/>
                          </a:solidFill>
                          <a:latin typeface="Montserrat"/>
                        </a:defRPr>
                      </a:pPr>
                      <a:r>
                        <a:t>-18%</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154,354</a:t>
                      </a:r>
                    </a:p>
                  </a:txBody>
                  <a:tcPr>
                    <a:solidFill>
                      <a:srgbClr val="FFFFFF"/>
                    </a:solidFill>
                  </a:tcPr>
                </a:tc>
                <a:tc>
                  <a:txBody>
                    <a:bodyPr/>
                    <a:lstStyle/>
                    <a:p>
                      <a:pPr algn="ctr">
                        <a:defRPr sz="900">
                          <a:solidFill>
                            <a:srgbClr val="000000"/>
                          </a:solidFill>
                          <a:latin typeface="Montserrat"/>
                        </a:defRPr>
                      </a:pPr>
                      <a:r>
                        <a:t>185,880</a:t>
                      </a:r>
                    </a:p>
                  </a:txBody>
                  <a:tcPr>
                    <a:solidFill>
                      <a:srgbClr val="FFFFFF"/>
                    </a:solidFill>
                  </a:tcPr>
                </a:tc>
                <a:tc>
                  <a:txBody>
                    <a:bodyPr/>
                    <a:lstStyle/>
                    <a:p>
                      <a:pPr algn="ctr">
                        <a:defRPr sz="900">
                          <a:solidFill>
                            <a:srgbClr val="000000"/>
                          </a:solidFill>
                          <a:latin typeface="Montserrat"/>
                        </a:defRPr>
                      </a:pPr>
                      <a:r>
                        <a:t>20%</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1,462</a:t>
                      </a:r>
                    </a:p>
                  </a:txBody>
                  <a:tcPr>
                    <a:solidFill>
                      <a:srgbClr val="F8F4EC"/>
                    </a:solidFill>
                  </a:tcPr>
                </a:tc>
                <a:tc>
                  <a:txBody>
                    <a:bodyPr/>
                    <a:lstStyle/>
                    <a:p>
                      <a:pPr algn="ctr">
                        <a:defRPr b="1" sz="900">
                          <a:latin typeface="Montserrat"/>
                        </a:defRPr>
                      </a:pPr>
                      <a:r>
                        <a:t>1,438</a:t>
                      </a:r>
                    </a:p>
                  </a:txBody>
                  <a:tcPr>
                    <a:solidFill>
                      <a:srgbClr val="F8F4EC"/>
                    </a:solidFill>
                  </a:tcPr>
                </a:tc>
                <a:tc>
                  <a:txBody>
                    <a:bodyPr/>
                    <a:lstStyle/>
                    <a:p>
                      <a:pPr algn="ctr">
                        <a:defRPr b="1" sz="900">
                          <a:solidFill>
                            <a:srgbClr val="A61C00"/>
                          </a:solidFill>
                          <a:latin typeface="Montserrat"/>
                        </a:defRPr>
                      </a:pPr>
                      <a:r>
                        <a:t>-1%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9,258</a:t>
                      </a:r>
                    </a:p>
                  </a:txBody>
                  <a:tcPr>
                    <a:solidFill>
                      <a:srgbClr val="F8F4EC"/>
                    </a:solidFill>
                  </a:tcPr>
                </a:tc>
                <a:tc>
                  <a:txBody>
                    <a:bodyPr/>
                    <a:lstStyle/>
                    <a:p>
                      <a:pPr algn="ctr">
                        <a:defRPr b="1" sz="900">
                          <a:latin typeface="Montserrat"/>
                        </a:defRPr>
                      </a:pPr>
                      <a:r>
                        <a:t>11,842</a:t>
                      </a:r>
                    </a:p>
                  </a:txBody>
                  <a:tcPr>
                    <a:solidFill>
                      <a:srgbClr val="F8F4EC"/>
                    </a:solidFill>
                  </a:tcPr>
                </a:tc>
                <a:tc>
                  <a:txBody>
                    <a:bodyPr/>
                    <a:lstStyle/>
                    <a:p>
                      <a:pPr algn="ctr">
                        <a:defRPr b="1" sz="900">
                          <a:latin typeface="Montserrat"/>
                        </a:defRPr>
                      </a:pPr>
                      <a:r>
                        <a:t>28%</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8_tamps.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42</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273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74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1,043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452</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289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1,043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526</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16</a:t>
                      </a:r>
                    </a:p>
                  </a:txBody>
                  <a:tcPr marL="10800" marR="10800" marT="10800" marB="10800" anchor="ctr">
                    <a:solidFill>
                      <a:srgbClr val="EFEFEF"/>
                    </a:solidFill>
                  </a:tcPr>
                </a:tc>
                <a:tc>
                  <a:txBody>
                    <a:bodyPr/>
                    <a:lstStyle/>
                    <a:p>
                      <a:pPr algn="ctr">
                        <a:defRPr sz="1000">
                          <a:solidFill>
                            <a:srgbClr val="000000"/>
                          </a:solidFill>
                          <a:latin typeface="Montserrat"/>
                        </a:defRPr>
                      </a:pPr>
                      <a:r>
                        <a:t>89</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106</a:t>
                      </a:r>
                    </a:p>
                  </a:txBody>
                  <a:tcPr marL="10800" marR="10800" marT="10800" marB="10800" anchor="ctr">
                    <a:solidFill>
                      <a:srgbClr val="D3E9E7"/>
                    </a:solidFill>
                  </a:tcPr>
                </a:tc>
                <a:tc>
                  <a:txBody>
                    <a:bodyPr/>
                    <a:lstStyle/>
                    <a:p>
                      <a:pPr algn="ctr">
                        <a:defRPr sz="1000" b="1">
                          <a:solidFill>
                            <a:srgbClr val="006556"/>
                          </a:solidFill>
                          <a:latin typeface="Montserrat"/>
                        </a:defRPr>
                      </a:pPr>
                      <a:r>
                        <a:t>118</a:t>
                      </a:r>
                    </a:p>
                  </a:txBody>
                  <a:tcPr marL="10800" marR="10800" marT="10800" marB="10800" anchor="ctr">
                    <a:solidFill>
                      <a:srgbClr val="D3E9E7"/>
                    </a:solidFill>
                  </a:tcPr>
                </a:tc>
                <a:tc>
                  <a:txBody>
                    <a:bodyPr/>
                    <a:lstStyle/>
                    <a:p>
                      <a:pPr algn="ctr">
                        <a:defRPr sz="1000" b="1">
                          <a:solidFill>
                            <a:srgbClr val="006556"/>
                          </a:solidFill>
                          <a:latin typeface="Montserrat"/>
                        </a:defRPr>
                      </a:pPr>
                      <a:r>
                        <a:t>89</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4</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40 UMF, 2 UMF-UMAA y no incluye 6 Unidades Auxiliares de Medicina Familiar.</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54;g3d0b4d3c5c9_0_58">
            <a:extLst>
              <a:ext uri="{FF2B5EF4-FFF2-40B4-BE49-F238E27FC236}">
                <a16:creationId xmlns:a16="http://schemas.microsoft.com/office/drawing/2014/main" id="{04FBA469-16E2-B7DE-1FA8-ECC94DD46987}"/>
              </a:ext>
            </a:extLst>
          </p:cNvPr>
          <p:cNvGraphicFramePr/>
          <p:nvPr>
            <p:extLst>
              <p:ext uri="{D42A27DB-BD31-4B8C-83A1-F6EECF244321}">
                <p14:modId xmlns:p14="http://schemas.microsoft.com/office/powerpoint/2010/main" val="3359309684"/>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No. 11, Nuevo Laredo</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56;g3d0b4d3c5c9_0_58">
            <a:extLst>
              <a:ext uri="{FF2B5EF4-FFF2-40B4-BE49-F238E27FC236}">
                <a16:creationId xmlns:a16="http://schemas.microsoft.com/office/drawing/2014/main" id="{5D1BEE81-670A-254B-15C8-6E5B3A507319}"/>
              </a:ext>
            </a:extLst>
          </p:cNvPr>
          <p:cNvPicPr preferRelativeResize="0"/>
          <p:nvPr/>
        </p:nvPicPr>
        <p:blipFill>
          <a:blip r:embed="rId4">
            <a:alphaModFix/>
          </a:blip>
          <a:stretch>
            <a:fillRect/>
          </a:stretch>
        </p:blipFill>
        <p:spPr>
          <a:xfrm flipH="1">
            <a:off x="371060" y="2347411"/>
            <a:ext cx="2716696" cy="1846181"/>
          </a:xfrm>
          <a:prstGeom prst="rect">
            <a:avLst/>
          </a:prstGeom>
          <a:noFill/>
          <a:ln>
            <a:noFill/>
          </a:ln>
        </p:spPr>
      </p:pic>
      <p:sp>
        <p:nvSpPr>
          <p:cNvPr id="7" name="CuadroTexto 6">
            <a:extLst>
              <a:ext uri="{FF2B5EF4-FFF2-40B4-BE49-F238E27FC236}">
                <a16:creationId xmlns:a16="http://schemas.microsoft.com/office/drawing/2014/main" id="{47C18AA5-16CE-E9BB-B9A7-2A31CF00968A}"/>
              </a:ext>
            </a:extLst>
          </p:cNvPr>
          <p:cNvSpPr txBox="1"/>
          <p:nvPr/>
        </p:nvSpPr>
        <p:spPr>
          <a:xfrm>
            <a:off x="3286539" y="1898332"/>
            <a:ext cx="4330413" cy="2744341"/>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el 1 de agosto de 1951, en Nuevo Laredo, con el servicio de afiliación y vigencia. El 26 de julio de 1952, los servicios médicos se otorgaron mediante consulta externa en un edificio provisional (antiguas garitas de un puente internacional), mientras que la atención hospitalaria era subrogada al Sanatorio Isabel.</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Tamaulipas fue la Clínica Hospital No. 11, en Nuevo Laredo, inaugurado el 1 de octubre de 1964. En 1980 fue remodelada y elevada a la categoría de Hospital General de Zona (HGZ) No. 11.</a:t>
            </a:r>
            <a:r>
              <a:rPr lang="es-ES" sz="1100" b="0" i="0" u="none" strike="noStrike" dirty="0">
                <a:solidFill>
                  <a:srgbClr val="000000"/>
                </a:solidFill>
                <a:effectLst/>
                <a:latin typeface="Montserrat" panose="00000500000000000000" pitchFamily="2" charset="0"/>
                <a:hlinkClick r:id="rId5"/>
              </a:rPr>
              <a:t> </a:t>
            </a:r>
            <a:endParaRPr lang="es-ES" sz="1100" b="0" i="0" u="none" strike="noStrike" dirty="0">
              <a:solidFill>
                <a:srgbClr val="000000"/>
              </a:solidFill>
              <a:effectLst/>
              <a:latin typeface="Montserrat" panose="00000500000000000000" pitchFamily="2" charset="0"/>
            </a:endParaRP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La unidad contaba con capacidad hospitalaria acorde a un hospital general de la época, y brindó consulta externa, hospitalización general, urgencias, cirugía básica, gineco‑obstetricia, medicina interna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8_TAMAULIPAS.png"/>
          <p:cNvPicPr>
            <a:picLocks noChangeAspect="1"/>
          </p:cNvPicPr>
          <p:nvPr/>
        </p:nvPicPr>
        <p:blipFill>
          <a:blip r:embed="rId6"/>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304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 Mante</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t>130</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16</a:t>
                      </a:r>
                    </a:p>
                  </a:txBody>
                  <a:tcPr anchor="ctr">
                    <a:solidFill>
                      <a:srgbClr val="FFFFFF"/>
                    </a:solidFill>
                  </a:tcPr>
                </a:tc>
              </a:tr>
              <a:tr h="230400">
                <a:tc>
                  <a:txBody>
                    <a:bodyPr/>
                    <a:lstStyle/>
                    <a:p>
                      <a:pPr algn="l">
                        <a:defRPr sz="900">
                          <a:latin typeface="Montserrat"/>
                        </a:defRPr>
                      </a:pPr>
                      <a:r>
                        <a:t>HGZ 11 Nuevo Laredo</a:t>
                      </a:r>
                    </a:p>
                  </a:txBody>
                  <a:tcPr anchor="ctr">
                    <a:solidFill>
                      <a:srgbClr val="EFEFEF"/>
                    </a:solidFill>
                  </a:tcPr>
                </a:tc>
                <a:tc>
                  <a:txBody>
                    <a:bodyPr/>
                    <a:lstStyle/>
                    <a:p>
                      <a:pPr algn="ctr">
                        <a:defRPr sz="900">
                          <a:latin typeface="Montserrat"/>
                        </a:defRPr>
                      </a:pPr>
                      <a:r>
                        <a:t>Octubre de 1964</a:t>
                      </a:r>
                    </a:p>
                  </a:txBody>
                  <a:tcPr anchor="ctr">
                    <a:solidFill>
                      <a:srgbClr val="EFEFEF"/>
                    </a:solidFill>
                  </a:tcPr>
                </a:tc>
                <a:tc>
                  <a:txBody>
                    <a:bodyPr/>
                    <a:lstStyle/>
                    <a:p>
                      <a:pPr algn="ctr">
                        <a:defRPr sz="900">
                          <a:latin typeface="Montserrat"/>
                        </a:defRPr>
                      </a:pPr>
                      <a:r>
                        <a:t>102</a:t>
                      </a:r>
                    </a:p>
                  </a:txBody>
                  <a:tcPr anchor="ctr">
                    <a:solidFill>
                      <a:srgbClr val="EFEFEF"/>
                    </a:solidFill>
                  </a:tcPr>
                </a:tc>
                <a:tc>
                  <a:txBody>
                    <a:bodyPr/>
                    <a:lstStyle/>
                    <a:p>
                      <a:pPr algn="ctr">
                        <a:defRPr sz="900">
                          <a:latin typeface="Montserrat"/>
                        </a:defRPr>
                      </a:pPr>
                      <a:r>
                        <a:t>54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HGZMF 1 Ciudad Victoria</a:t>
                      </a:r>
                    </a:p>
                  </a:txBody>
                  <a:tcPr anchor="ctr">
                    <a:solidFill>
                      <a:srgbClr val="FFFFFF"/>
                    </a:solidFill>
                  </a:tcPr>
                </a:tc>
                <a:tc>
                  <a:txBody>
                    <a:bodyPr/>
                    <a:lstStyle/>
                    <a:p>
                      <a:pPr algn="ctr">
                        <a:defRPr sz="900">
                          <a:latin typeface="Montserrat"/>
                        </a:defRPr>
                      </a:pPr>
                      <a:r>
                        <a:t>Febrero de 1968</a:t>
                      </a:r>
                    </a:p>
                  </a:txBody>
                  <a:tcPr anchor="ctr">
                    <a:solidFill>
                      <a:srgbClr val="FFFFFF"/>
                    </a:solidFill>
                  </a:tcPr>
                </a:tc>
                <a:tc>
                  <a:txBody>
                    <a:bodyPr/>
                    <a:lstStyle/>
                    <a:p>
                      <a:pPr algn="ctr">
                        <a:defRPr sz="900">
                          <a:latin typeface="Montserrat"/>
                        </a:defRPr>
                      </a:pPr>
                      <a:r>
                        <a:t>97</a:t>
                      </a:r>
                    </a:p>
                  </a:txBody>
                  <a:tcPr anchor="ctr">
                    <a:solidFill>
                      <a:srgbClr val="FFFFFF"/>
                    </a:solidFill>
                  </a:tcPr>
                </a:tc>
                <a:tc>
                  <a:txBody>
                    <a:bodyPr/>
                    <a:lstStyle/>
                    <a:p>
                      <a:pPr algn="ctr">
                        <a:defRPr sz="900">
                          <a:latin typeface="Montserrat"/>
                        </a:defRPr>
                      </a:pPr>
                      <a:r>
                        <a:t>50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HGZ-UMAA 15 Ciudad Reynosa</a:t>
                      </a:r>
                    </a:p>
                  </a:txBody>
                  <a:tcPr anchor="ctr">
                    <a:solidFill>
                      <a:srgbClr val="EFEFEF"/>
                    </a:solidFill>
                  </a:tcPr>
                </a:tc>
                <a:tc>
                  <a:txBody>
                    <a:bodyPr/>
                    <a:lstStyle/>
                    <a:p>
                      <a:pPr algn="ctr">
                        <a:defRPr sz="900">
                          <a:latin typeface="Montserrat"/>
                        </a:defRPr>
                      </a:pPr>
                      <a:r>
                        <a:t>Febrero de 1968</a:t>
                      </a:r>
                    </a:p>
                  </a:txBody>
                  <a:tcPr anchor="ctr">
                    <a:solidFill>
                      <a:srgbClr val="EFEFEF"/>
                    </a:solidFill>
                  </a:tcPr>
                </a:tc>
                <a:tc>
                  <a:txBody>
                    <a:bodyPr/>
                    <a:lstStyle/>
                    <a:p>
                      <a:pPr algn="ctr">
                        <a:defRPr sz="900">
                          <a:latin typeface="Montserrat"/>
                        </a:defRPr>
                      </a:pPr>
                      <a:r>
                        <a:t>160</a:t>
                      </a:r>
                    </a:p>
                  </a:txBody>
                  <a:tcPr anchor="ctr">
                    <a:solidFill>
                      <a:srgbClr val="EFEFEF"/>
                    </a:solidFill>
                  </a:tcPr>
                </a:tc>
                <a:tc>
                  <a:txBody>
                    <a:bodyPr/>
                    <a:lstStyle/>
                    <a:p>
                      <a:pPr algn="ctr">
                        <a:defRPr sz="900">
                          <a:latin typeface="Montserrat"/>
                        </a:defRPr>
                      </a:pPr>
                      <a:r>
                        <a:t>87</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24</a:t>
                      </a:r>
                    </a:p>
                  </a:txBody>
                  <a:tcPr anchor="ctr">
                    <a:solidFill>
                      <a:srgbClr val="EFEFEF"/>
                    </a:solidFill>
                  </a:tcPr>
                </a:tc>
              </a:tr>
              <a:tr h="230400">
                <a:tc>
                  <a:txBody>
                    <a:bodyPr/>
                    <a:lstStyle/>
                    <a:p>
                      <a:pPr algn="l">
                        <a:defRPr sz="900">
                          <a:latin typeface="Montserrat"/>
                        </a:defRPr>
                      </a:pPr>
                      <a:r>
                        <a:t>HGR 6 Ciudad Madero.</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286</a:t>
                      </a:r>
                    </a:p>
                  </a:txBody>
                  <a:tcPr anchor="ctr">
                    <a:solidFill>
                      <a:srgbClr val="FFFFFF"/>
                    </a:solidFill>
                  </a:tcPr>
                </a:tc>
                <a:tc>
                  <a:txBody>
                    <a:bodyPr/>
                    <a:lstStyle/>
                    <a:p>
                      <a:pPr algn="ctr">
                        <a:defRPr sz="900">
                          <a:latin typeface="Montserrat"/>
                        </a:defRPr>
                      </a:pPr>
                      <a:r>
                        <a:t>118</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44</a:t>
                      </a:r>
                    </a:p>
                  </a:txBody>
                  <a:tcPr anchor="ctr">
                    <a:solidFill>
                      <a:srgbClr val="FFFFFF"/>
                    </a:solidFill>
                  </a:tcPr>
                </a:tc>
              </a:tr>
              <a:tr h="230400">
                <a:tc>
                  <a:txBody>
                    <a:bodyPr/>
                    <a:lstStyle/>
                    <a:p>
                      <a:pPr algn="l">
                        <a:defRPr sz="900">
                          <a:latin typeface="Montserrat"/>
                        </a:defRPr>
                      </a:pPr>
                      <a:r>
                        <a:t>HGZ 13 Matamoros</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161</a:t>
                      </a:r>
                    </a:p>
                  </a:txBody>
                  <a:tcPr anchor="ctr">
                    <a:solidFill>
                      <a:srgbClr val="EFEFEF"/>
                    </a:solidFill>
                  </a:tcPr>
                </a:tc>
                <a:tc>
                  <a:txBody>
                    <a:bodyPr/>
                    <a:lstStyle/>
                    <a:p>
                      <a:pPr algn="ctr">
                        <a:defRPr sz="900">
                          <a:latin typeface="Montserrat"/>
                        </a:defRPr>
                      </a:pPr>
                      <a:r>
                        <a:t>70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18</a:t>
                      </a:r>
                    </a:p>
                  </a:txBody>
                  <a:tcPr anchor="ctr">
                    <a:solidFill>
                      <a:srgbClr val="EFEFEF"/>
                    </a:solidFill>
                  </a:tcPr>
                </a:tc>
              </a:tr>
              <a:tr h="230400">
                <a:tc>
                  <a:txBody>
                    <a:bodyPr/>
                    <a:lstStyle/>
                    <a:p>
                      <a:pPr algn="l">
                        <a:defRPr sz="900">
                          <a:latin typeface="Montserrat"/>
                        </a:defRPr>
                      </a:pPr>
                      <a:r>
                        <a:t>HGS 17 Miguel Alemán</a:t>
                      </a:r>
                    </a:p>
                  </a:txBody>
                  <a:tcPr anchor="ctr">
                    <a:solidFill>
                      <a:srgbClr val="FFFFFF"/>
                    </a:solidFill>
                  </a:tcPr>
                </a:tc>
                <a:tc>
                  <a:txBody>
                    <a:bodyPr/>
                    <a:lstStyle/>
                    <a:p>
                      <a:pPr algn="ctr">
                        <a:defRPr sz="900">
                          <a:latin typeface="Montserrat"/>
                        </a:defRPr>
                      </a:pPr>
                      <a:r>
                        <a:t>Marzo de 2012</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HGR 270 Reynosa</a:t>
                      </a:r>
                    </a:p>
                  </a:txBody>
                  <a:tcPr anchor="ctr">
                    <a:solidFill>
                      <a:srgbClr val="EFEFEF"/>
                    </a:solidFill>
                  </a:tcPr>
                </a:tc>
                <a:tc>
                  <a:txBody>
                    <a:bodyPr/>
                    <a:lstStyle/>
                    <a:p>
                      <a:pPr algn="ctr">
                        <a:defRPr sz="900">
                          <a:latin typeface="Montserrat"/>
                        </a:defRPr>
                      </a:pPr>
                      <a:r>
                        <a:t>Marzo de 2015</a:t>
                      </a:r>
                    </a:p>
                  </a:txBody>
                  <a:tcPr anchor="ctr">
                    <a:solidFill>
                      <a:srgbClr val="EFEFEF"/>
                    </a:solidFill>
                  </a:tcPr>
                </a:tc>
                <a:tc>
                  <a:txBody>
                    <a:bodyPr/>
                    <a:lstStyle/>
                    <a:p>
                      <a:pPr algn="ctr">
                        <a:defRPr sz="900">
                          <a:latin typeface="Montserrat"/>
                        </a:defRPr>
                      </a:pPr>
                      <a:r>
                        <a:t>240</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1,203</a:t>
                      </a:r>
                    </a:p>
                  </a:txBody>
                  <a:tcPr anchor="ctr">
                    <a:solidFill>
                      <a:srgbClr val="D3E9E7"/>
                    </a:solidFill>
                  </a:tcPr>
                </a:tc>
                <a:tc>
                  <a:txBody>
                    <a:bodyPr/>
                    <a:lstStyle/>
                    <a:p>
                      <a:pPr algn="ctr">
                        <a:defRPr sz="900" b="1">
                          <a:solidFill>
                            <a:srgbClr val="006556"/>
                          </a:solidFill>
                          <a:latin typeface="Montserrat"/>
                        </a:defRPr>
                      </a:pPr>
                      <a:r>
                        <a:t>539</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36</a:t>
                      </a:r>
                    </a:p>
                  </a:txBody>
                  <a:tcPr anchor="ctr">
                    <a:solidFill>
                      <a:srgbClr val="D3E9E7"/>
                    </a:solidFill>
                  </a:tcPr>
                </a:tc>
                <a:tc>
                  <a:txBody>
                    <a:bodyPr/>
                    <a:lstStyle/>
                    <a:p>
                      <a:pPr algn="ctr">
                        <a:defRPr sz="900" b="1">
                          <a:solidFill>
                            <a:srgbClr val="006556"/>
                          </a:solidFill>
                          <a:latin typeface="Montserrat"/>
                        </a:defRPr>
                      </a:pPr>
                      <a:r>
                        <a:t>178</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C7F762BE-3FC0-C6E7-D587-23061586B637}"/>
              </a:ext>
            </a:extLst>
          </p:cNvPr>
          <p:cNvGrpSpPr/>
          <p:nvPr/>
        </p:nvGrpSpPr>
        <p:grpSpPr>
          <a:xfrm>
            <a:off x="0" y="5028082"/>
            <a:ext cx="7772400" cy="3648888"/>
            <a:chOff x="0" y="5028082"/>
            <a:chExt cx="7772400" cy="3648888"/>
          </a:xfrm>
        </p:grpSpPr>
        <p:sp>
          <p:nvSpPr>
            <p:cNvPr id="11" name="Google Shape;342;g3d635d120e2_2_186">
              <a:extLst>
                <a:ext uri="{FF2B5EF4-FFF2-40B4-BE49-F238E27FC236}">
                  <a16:creationId xmlns:a16="http://schemas.microsoft.com/office/drawing/2014/main" id="{15F1182A-7491-49BB-7139-9C1E73A9F6D1}"/>
                </a:ext>
              </a:extLst>
            </p:cNvPr>
            <p:cNvSpPr txBox="1"/>
            <p:nvPr/>
          </p:nvSpPr>
          <p:spPr>
            <a:xfrm>
              <a:off x="0" y="502808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12" name="Google Shape;343;g3d635d120e2_2_186">
              <a:extLst>
                <a:ext uri="{FF2B5EF4-FFF2-40B4-BE49-F238E27FC236}">
                  <a16:creationId xmlns:a16="http://schemas.microsoft.com/office/drawing/2014/main" id="{3000DFC8-3938-379A-A0FA-8B95E3630C2A}"/>
                </a:ext>
              </a:extLst>
            </p:cNvPr>
            <p:cNvSpPr/>
            <p:nvPr/>
          </p:nvSpPr>
          <p:spPr>
            <a:xfrm>
              <a:off x="5078164" y="7453049"/>
              <a:ext cx="1909800" cy="3801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r>
                <a:rPr lang="es" sz="1300" b="1">
                  <a:solidFill>
                    <a:srgbClr val="FFFFFF"/>
                  </a:solidFill>
                  <a:latin typeface="Montserrat"/>
                  <a:ea typeface="Montserrat"/>
                  <a:cs typeface="Montserrat"/>
                  <a:sym typeface="Montserrat"/>
                </a:rPr>
                <a:t>s</a:t>
              </a:r>
              <a:endParaRPr sz="1100" b="0" i="0" u="none" strike="noStrike" cap="none">
                <a:solidFill>
                  <a:srgbClr val="FFFFFF"/>
                </a:solidFill>
                <a:latin typeface="Arial"/>
                <a:ea typeface="Arial"/>
                <a:cs typeface="Arial"/>
                <a:sym typeface="Arial"/>
              </a:endParaRPr>
            </a:p>
          </p:txBody>
        </p:sp>
        <p:sp>
          <p:nvSpPr>
            <p:cNvPr id="13" name="Google Shape;344;g3d635d120e2_2_186">
              <a:extLst>
                <a:ext uri="{FF2B5EF4-FFF2-40B4-BE49-F238E27FC236}">
                  <a16:creationId xmlns:a16="http://schemas.microsoft.com/office/drawing/2014/main" id="{7F2F59B8-8A70-F74F-07A3-3BF3795A5D32}"/>
                </a:ext>
              </a:extLst>
            </p:cNvPr>
            <p:cNvSpPr/>
            <p:nvPr/>
          </p:nvSpPr>
          <p:spPr>
            <a:xfrm>
              <a:off x="4576123" y="7453049"/>
              <a:ext cx="507000" cy="3801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2</a:t>
              </a:r>
              <a:endParaRPr sz="1400" b="0" i="0" u="none" strike="noStrike" cap="none">
                <a:solidFill>
                  <a:srgbClr val="FFFFFF"/>
                </a:solidFill>
                <a:latin typeface="Noto Sans Black"/>
                <a:ea typeface="Noto Sans Black"/>
                <a:cs typeface="Noto Sans Black"/>
                <a:sym typeface="Noto Sans Black"/>
              </a:endParaRPr>
            </a:p>
          </p:txBody>
        </p:sp>
        <p:sp>
          <p:nvSpPr>
            <p:cNvPr id="14" name="Google Shape;345;g3d635d120e2_2_186">
              <a:extLst>
                <a:ext uri="{FF2B5EF4-FFF2-40B4-BE49-F238E27FC236}">
                  <a16:creationId xmlns:a16="http://schemas.microsoft.com/office/drawing/2014/main" id="{9B822026-9942-8E1F-C557-93F7219EFC46}"/>
                </a:ext>
              </a:extLst>
            </p:cNvPr>
            <p:cNvSpPr txBox="1"/>
            <p:nvPr/>
          </p:nvSpPr>
          <p:spPr>
            <a:xfrm>
              <a:off x="4592884" y="7809070"/>
              <a:ext cx="2577600" cy="867900"/>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HGZ-UMAA 15 Reynosa</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 HGZ 13 Matamoros</a:t>
              </a:r>
            </a:p>
            <a:p>
              <a:pPr marL="0" marR="50800" lvl="0" indent="0" algn="l" rtl="0">
                <a:lnSpc>
                  <a:spcPct val="111000"/>
                </a:lnSpc>
                <a:spcBef>
                  <a:spcPts val="0"/>
                </a:spcBef>
                <a:spcAft>
                  <a:spcPts val="0"/>
                </a:spcAft>
                <a:buNone/>
              </a:pPr>
              <a:r>
                <a:rPr lang="es" sz="1300" b="1" dirty="0">
                  <a:solidFill>
                    <a:srgbClr val="595959"/>
                  </a:solidFill>
                  <a:latin typeface="Montserrat"/>
                  <a:ea typeface="Noto Sans"/>
                  <a:cs typeface="Noto Sans"/>
                  <a:sym typeface="Montserrat"/>
                </a:rPr>
                <a:t>$59.3 mdp</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5" name="Google Shape;346;g3d635d120e2_2_186">
              <a:extLst>
                <a:ext uri="{FF2B5EF4-FFF2-40B4-BE49-F238E27FC236}">
                  <a16:creationId xmlns:a16="http://schemas.microsoft.com/office/drawing/2014/main" id="{D5A5FF13-ECDA-25E8-3130-DFB306A31007}"/>
                </a:ext>
              </a:extLst>
            </p:cNvPr>
            <p:cNvPicPr preferRelativeResize="0"/>
            <p:nvPr/>
          </p:nvPicPr>
          <p:blipFill>
            <a:blip r:embed="rId4">
              <a:alphaModFix/>
            </a:blip>
            <a:stretch>
              <a:fillRect/>
            </a:stretch>
          </p:blipFill>
          <p:spPr>
            <a:xfrm>
              <a:off x="4613859" y="5880389"/>
              <a:ext cx="2382565" cy="1572660"/>
            </a:xfrm>
            <a:prstGeom prst="rect">
              <a:avLst/>
            </a:prstGeom>
            <a:noFill/>
            <a:ln>
              <a:noFill/>
            </a:ln>
          </p:spPr>
        </p:pic>
        <p:sp>
          <p:nvSpPr>
            <p:cNvPr id="16" name="Google Shape;347;g3d635d120e2_2_186">
              <a:extLst>
                <a:ext uri="{FF2B5EF4-FFF2-40B4-BE49-F238E27FC236}">
                  <a16:creationId xmlns:a16="http://schemas.microsoft.com/office/drawing/2014/main" id="{3BF01D4D-2266-FB4B-A92A-A8982BD85703}"/>
                </a:ext>
              </a:extLst>
            </p:cNvPr>
            <p:cNvSpPr/>
            <p:nvPr/>
          </p:nvSpPr>
          <p:spPr>
            <a:xfrm>
              <a:off x="1227523" y="7442715"/>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7" name="Google Shape;348;g3d635d120e2_2_186">
              <a:extLst>
                <a:ext uri="{FF2B5EF4-FFF2-40B4-BE49-F238E27FC236}">
                  <a16:creationId xmlns:a16="http://schemas.microsoft.com/office/drawing/2014/main" id="{A08A6AB6-5482-5BF6-3B59-969168CC9558}"/>
                </a:ext>
              </a:extLst>
            </p:cNvPr>
            <p:cNvSpPr/>
            <p:nvPr/>
          </p:nvSpPr>
          <p:spPr>
            <a:xfrm>
              <a:off x="1685730" y="7442715"/>
              <a:ext cx="2038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18" name="Google Shape;349;g3d635d120e2_2_186">
              <a:extLst>
                <a:ext uri="{FF2B5EF4-FFF2-40B4-BE49-F238E27FC236}">
                  <a16:creationId xmlns:a16="http://schemas.microsoft.com/office/drawing/2014/main" id="{7C144941-F9EA-2560-D24F-E72F845666E0}"/>
                </a:ext>
              </a:extLst>
            </p:cNvPr>
            <p:cNvSpPr txBox="1"/>
            <p:nvPr/>
          </p:nvSpPr>
          <p:spPr>
            <a:xfrm>
              <a:off x="1184775" y="7897170"/>
              <a:ext cx="2323200" cy="64476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chemeClr val="dk2"/>
                  </a:solidFill>
                  <a:latin typeface="Montserrat"/>
                  <a:ea typeface="Montserrat"/>
                  <a:cs typeface="Montserrat"/>
                  <a:sym typeface="Montserrat"/>
                </a:rPr>
                <a:t>HGR 270 Reynosa</a:t>
              </a:r>
            </a:p>
            <a:p>
              <a:pPr marL="0" marR="63500" lvl="0" indent="0" algn="l" rtl="0">
                <a:lnSpc>
                  <a:spcPct val="115000"/>
                </a:lnSpc>
                <a:spcBef>
                  <a:spcPts val="0"/>
                </a:spcBef>
                <a:spcAft>
                  <a:spcPts val="0"/>
                </a:spcAft>
                <a:buNone/>
              </a:pPr>
              <a:r>
                <a:rPr lang="es" sz="1300" b="1" dirty="0">
                  <a:solidFill>
                    <a:schemeClr val="dk2"/>
                  </a:solidFill>
                  <a:latin typeface="Montserrat"/>
                  <a:ea typeface="Montserrat"/>
                  <a:cs typeface="Montserrat"/>
                  <a:sym typeface="Montserrat"/>
                </a:rPr>
                <a:t>$40.6 mdp</a:t>
              </a:r>
              <a:r>
                <a:rPr lang="es" sz="1300" dirty="0">
                  <a:solidFill>
                    <a:schemeClr val="dk2"/>
                  </a:solidFill>
                  <a:latin typeface="Montserrat"/>
                  <a:ea typeface="Montserrat"/>
                  <a:cs typeface="Montserrat"/>
                  <a:sym typeface="Montserrat"/>
                </a:rPr>
                <a:t> </a:t>
              </a:r>
              <a:r>
                <a:rPr lang="es" sz="1300" dirty="0">
                  <a:solidFill>
                    <a:srgbClr val="595959"/>
                  </a:solidFill>
                  <a:latin typeface="Montserrat"/>
                  <a:ea typeface="Montserrat"/>
                  <a:cs typeface="Montserrat"/>
                  <a:sym typeface="Montserrat"/>
                </a:rPr>
                <a:t> </a:t>
              </a:r>
              <a:endParaRPr dirty="0"/>
            </a:p>
          </p:txBody>
        </p:sp>
        <p:pic>
          <p:nvPicPr>
            <p:cNvPr id="19" name="Google Shape;350;g3d635d120e2_2_186">
              <a:extLst>
                <a:ext uri="{FF2B5EF4-FFF2-40B4-BE49-F238E27FC236}">
                  <a16:creationId xmlns:a16="http://schemas.microsoft.com/office/drawing/2014/main" id="{3037E67E-542B-FC8F-CE61-530C00523A91}"/>
                </a:ext>
              </a:extLst>
            </p:cNvPr>
            <p:cNvPicPr preferRelativeResize="0"/>
            <p:nvPr/>
          </p:nvPicPr>
          <p:blipFill>
            <a:blip r:embed="rId5">
              <a:alphaModFix/>
            </a:blip>
            <a:stretch>
              <a:fillRect/>
            </a:stretch>
          </p:blipFill>
          <p:spPr>
            <a:xfrm>
              <a:off x="1205255" y="5880389"/>
              <a:ext cx="2471605" cy="1562331"/>
            </a:xfrm>
            <a:prstGeom prst="rect">
              <a:avLst/>
            </a:prstGeom>
            <a:noFill/>
            <a:ln>
              <a:noFill/>
            </a:ln>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54" name="Table 153"/>
          <p:cNvGraphicFramePr>
            <a:graphicFrameLocks noGrp="1"/>
          </p:cNvGraphicFramePr>
          <p:nvPr/>
        </p:nvGraphicFramePr>
        <p:xfrm>
          <a:off x="93600" y="1180800"/>
          <a:ext cx="7534799" cy="216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11 Nuevo Laredo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17 Miguel Alemán</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270 Reynosa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1 Ciudad Victoria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HGZ-UMAA 15 Ciudad Reynosa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13 Matamoros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34</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20682882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9B7FBCC8-0893-C56E-8BFC-BE23B90C8EF9}"/>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B099A3F0-BBD0-96C1-5C02-94B86A8DEBD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30B8AFA2-F0CA-673A-3E65-D8F91348E4CA}"/>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75653194-3E3F-A95F-E78E-F0C0987E5559}"/>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422A3FF9-9CEB-CD26-106D-6B41D4AA546E}"/>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FC7F3CF1-AD01-0CEF-E886-2ACC8926219A}"/>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889E72D9-2731-D20B-7E8F-16C7329FC68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+10,284</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+735,852</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+266,907</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4,161,357</a:t>
                      </a:r>
                    </a:p>
                  </a:txBody>
                  <a:tcPr marL="0" marR="0" marT="0" marB="0" anchor="ctr">
                    <a:solidFill>
                      <a:srgbClr val="FFFFFF"/>
                    </a:solidFill>
                  </a:tcPr>
                </a:tc>
                <a:tc>
                  <a:txBody>
                    <a:bodyPr/>
                    <a:lstStyle/>
                    <a:p>
                      <a:pPr algn="ctr">
                        <a:defRPr sz="1000">
                          <a:solidFill>
                            <a:srgbClr val="404040"/>
                          </a:solidFill>
                          <a:latin typeface="Montserrat"/>
                        </a:defRPr>
                      </a:pPr>
                      <a:r>
                        <a:t>735,852</a:t>
                      </a:r>
                    </a:p>
                  </a:txBody>
                  <a:tcPr marL="0" marR="0" marT="0" marB="0" anchor="ctr">
                    <a:solidFill>
                      <a:srgbClr val="FFFFFF"/>
                    </a:solidFill>
                  </a:tcPr>
                </a:tc>
                <a:tc>
                  <a:txBody>
                    <a:bodyPr/>
                    <a:lstStyle/>
                    <a:p>
                      <a:pPr algn="ctr">
                        <a:defRPr sz="1000" b="1">
                          <a:solidFill>
                            <a:srgbClr val="980000"/>
                          </a:solidFill>
                          <a:latin typeface="Montserrat"/>
                        </a:defRPr>
                      </a:pPr>
                      <a:r>
                        <a:t>1,441,402</a:t>
                      </a:r>
                    </a:p>
                  </a:txBody>
                  <a:tcPr marL="0" marR="0" marT="0" marB="0" anchor="ctr">
                    <a:solidFill>
                      <a:srgbClr val="ECD3D9"/>
                    </a:solidFill>
                  </a:tcPr>
                </a:tc>
                <a:tc>
                  <a:txBody>
                    <a:bodyPr/>
                    <a:lstStyle/>
                    <a:p>
                      <a:pPr algn="ctr">
                        <a:defRPr sz="1000" b="1">
                          <a:solidFill>
                            <a:srgbClr val="980000"/>
                          </a:solidFill>
                          <a:latin typeface="Montserrat"/>
                        </a:defRPr>
                      </a:pPr>
                      <a:r>
                        <a:t>4,112,256</a:t>
                      </a:r>
                    </a:p>
                  </a:txBody>
                  <a:tcPr marL="0" marR="0" marT="0" marB="0" anchor="ctr">
                    <a:solidFill>
                      <a:srgbClr val="ECD3D9"/>
                    </a:solidFill>
                  </a:tcPr>
                </a:tc>
                <a:tc>
                  <a:txBody>
                    <a:bodyPr/>
                    <a:lstStyle/>
                    <a:p>
                      <a:pPr algn="ctr">
                        <a:defRPr sz="1000" b="1">
                          <a:solidFill>
                            <a:srgbClr val="980000"/>
                          </a:solidFill>
                          <a:latin typeface="Montserrat"/>
                        </a:defRPr>
                      </a:pPr>
                      <a:r>
                        <a:t>35.1%</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691,555</a:t>
                      </a:r>
                    </a:p>
                  </a:txBody>
                  <a:tcPr marL="0" marR="0" marT="0" marB="0" anchor="ctr">
                    <a:solidFill>
                      <a:srgbClr val="EFEFEF"/>
                    </a:solidFill>
                  </a:tcPr>
                </a:tc>
                <a:tc>
                  <a:txBody>
                    <a:bodyPr/>
                    <a:lstStyle/>
                    <a:p>
                      <a:pPr algn="ctr">
                        <a:defRPr sz="1000">
                          <a:solidFill>
                            <a:srgbClr val="404040"/>
                          </a:solidFill>
                          <a:latin typeface="Montserrat"/>
                        </a:defRPr>
                      </a:pPr>
                      <a:r>
                        <a:t>266,907</a:t>
                      </a:r>
                    </a:p>
                  </a:txBody>
                  <a:tcPr marL="0" marR="0" marT="0" marB="0" anchor="ctr">
                    <a:solidFill>
                      <a:srgbClr val="EFEFEF"/>
                    </a:solidFill>
                  </a:tcPr>
                </a:tc>
                <a:tc>
                  <a:txBody>
                    <a:bodyPr/>
                    <a:lstStyle/>
                    <a:p>
                      <a:pPr algn="ctr">
                        <a:defRPr sz="1000" b="1">
                          <a:solidFill>
                            <a:srgbClr val="980000"/>
                          </a:solidFill>
                          <a:latin typeface="Montserrat"/>
                        </a:defRPr>
                      </a:pPr>
                      <a:r>
                        <a:t>251,213</a:t>
                      </a:r>
                    </a:p>
                  </a:txBody>
                  <a:tcPr marL="0" marR="0" marT="0" marB="0" anchor="ctr">
                    <a:solidFill>
                      <a:srgbClr val="F4E3E7"/>
                    </a:solidFill>
                  </a:tcPr>
                </a:tc>
                <a:tc>
                  <a:txBody>
                    <a:bodyPr/>
                    <a:lstStyle/>
                    <a:p>
                      <a:pPr algn="ctr">
                        <a:defRPr sz="1000" b="1">
                          <a:solidFill>
                            <a:srgbClr val="980000"/>
                          </a:solidFill>
                          <a:latin typeface="Montserrat"/>
                        </a:defRPr>
                      </a:pPr>
                      <a:r>
                        <a:t>792,415</a:t>
                      </a:r>
                    </a:p>
                  </a:txBody>
                  <a:tcPr marL="0" marR="0" marT="0" marB="0" anchor="ctr">
                    <a:solidFill>
                      <a:srgbClr val="F4E3E7"/>
                    </a:solidFill>
                  </a:tcPr>
                </a:tc>
                <a:tc>
                  <a:txBody>
                    <a:bodyPr/>
                    <a:lstStyle/>
                    <a:p>
                      <a:pPr algn="ctr">
                        <a:defRPr sz="1000" b="1">
                          <a:solidFill>
                            <a:srgbClr val="980000"/>
                          </a:solidFill>
                          <a:latin typeface="Montserrat"/>
                        </a:defRPr>
                      </a:pPr>
                      <a:r>
                        <a:t>31.7%</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38,021</a:t>
                      </a:r>
                    </a:p>
                  </a:txBody>
                  <a:tcPr marL="0" marR="0" marT="0" marB="0" anchor="ctr">
                    <a:solidFill>
                      <a:srgbClr val="FFFFFF"/>
                    </a:solidFill>
                  </a:tcPr>
                </a:tc>
                <a:tc>
                  <a:txBody>
                    <a:bodyPr/>
                    <a:lstStyle/>
                    <a:p>
                      <a:pPr algn="ctr">
                        <a:defRPr sz="1000">
                          <a:solidFill>
                            <a:srgbClr val="404040"/>
                          </a:solidFill>
                          <a:latin typeface="Montserrat"/>
                        </a:defRPr>
                      </a:pPr>
                      <a:r>
                        <a:t>10,284</a:t>
                      </a:r>
                    </a:p>
                  </a:txBody>
                  <a:tcPr marL="0" marR="0" marT="0" marB="0" anchor="ctr">
                    <a:solidFill>
                      <a:srgbClr val="FFFFFF"/>
                    </a:solidFill>
                  </a:tcPr>
                </a:tc>
                <a:tc>
                  <a:txBody>
                    <a:bodyPr/>
                    <a:lstStyle/>
                    <a:p>
                      <a:pPr algn="ctr">
                        <a:defRPr sz="1000" b="1">
                          <a:solidFill>
                            <a:srgbClr val="980000"/>
                          </a:solidFill>
                          <a:latin typeface="Montserrat"/>
                        </a:defRPr>
                      </a:pPr>
                      <a:r>
                        <a:t>15,434</a:t>
                      </a:r>
                    </a:p>
                  </a:txBody>
                  <a:tcPr marL="0" marR="0" marT="0" marB="0" anchor="ctr">
                    <a:solidFill>
                      <a:srgbClr val="ECD3D9"/>
                    </a:solidFill>
                  </a:tcPr>
                </a:tc>
                <a:tc>
                  <a:txBody>
                    <a:bodyPr/>
                    <a:lstStyle/>
                    <a:p>
                      <a:pPr algn="ctr">
                        <a:defRPr sz="1000" b="1">
                          <a:solidFill>
                            <a:srgbClr val="980000"/>
                          </a:solidFill>
                          <a:latin typeface="Montserrat"/>
                        </a:defRPr>
                      </a:pPr>
                      <a:r>
                        <a:t>50,078</a:t>
                      </a:r>
                    </a:p>
                  </a:txBody>
                  <a:tcPr marL="0" marR="0" marT="0" marB="0" anchor="ctr">
                    <a:solidFill>
                      <a:srgbClr val="ECD3D9"/>
                    </a:solidFill>
                  </a:tcPr>
                </a:tc>
                <a:tc>
                  <a:txBody>
                    <a:bodyPr/>
                    <a:lstStyle/>
                    <a:p>
                      <a:pPr algn="ctr">
                        <a:defRPr sz="1000" b="1">
                          <a:solidFill>
                            <a:srgbClr val="980000"/>
                          </a:solidFill>
                          <a:latin typeface="Montserrat"/>
                        </a:defRPr>
                      </a:pPr>
                      <a:r>
                        <a:t>30.8%</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443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12 E. Ramírez</a:t>
                      </a:r>
                    </a:p>
                  </a:txBody>
                  <a:tcPr marL="0" marR="0" marT="0" marB="0">
                    <a:solidFill>
                      <a:srgbClr val="FFFFFF"/>
                    </a:solidFill>
                  </a:tcPr>
                </a:tc>
                <a:tc>
                  <a:txBody>
                    <a:bodyPr/>
                    <a:lstStyle/>
                    <a:p>
                      <a:pPr algn="ctr">
                        <a:defRPr sz="1000">
                          <a:latin typeface="Montserrat"/>
                        </a:defRPr>
                      </a:pPr>
                      <a:r>
                        <a:t>5,091</a:t>
                      </a:r>
                    </a:p>
                  </a:txBody>
                  <a:tcPr marL="0" marR="0" marT="0" marB="0">
                    <a:solidFill>
                      <a:srgbClr val="FFFFFF"/>
                    </a:solidFill>
                  </a:tcPr>
                </a:tc>
                <a:tc>
                  <a:txBody>
                    <a:bodyPr/>
                    <a:lstStyle/>
                    <a:p>
                      <a:pPr algn="ctr">
                        <a:defRPr sz="1000">
                          <a:latin typeface="Montserrat"/>
                        </a:defRPr>
                      </a:pPr>
                      <a:r>
                        <a:t>-815</a:t>
                      </a:r>
                    </a:p>
                  </a:txBody>
                  <a:tcPr marL="0" marR="0" marT="0" marB="0">
                    <a:solidFill>
                      <a:srgbClr val="FFFFFF"/>
                    </a:solidFill>
                  </a:tcPr>
                </a:tc>
                <a:tc>
                  <a:txBody>
                    <a:bodyPr/>
                    <a:lstStyle/>
                    <a:p>
                      <a:pPr algn="ctr">
                        <a:defRPr sz="1000">
                          <a:latin typeface="Montserrat"/>
                        </a:defRPr>
                      </a:pPr>
                      <a:r>
                        <a:t>1,600</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26.7%</a:t>
                      </a:r>
                    </a:p>
                  </a:txBody>
                  <a:tcPr marL="0" marR="0" marT="0" marB="0">
                    <a:solidFill>
                      <a:srgbClr val="ECD3D9"/>
                    </a:solidFill>
                  </a:tcPr>
                </a:tc>
              </a:tr>
              <a:tr h="151200">
                <a:tc>
                  <a:txBody>
                    <a:bodyPr/>
                    <a:lstStyle/>
                    <a:p>
                      <a:pPr algn="l">
                        <a:defRPr sz="1000">
                          <a:latin typeface="Montserrat"/>
                        </a:defRPr>
                      </a:pPr>
                      <a:r>
                        <a:t>UMF 22 Ciudad Mier</a:t>
                      </a:r>
                    </a:p>
                  </a:txBody>
                  <a:tcPr marL="0" marR="0" marT="0" marB="0">
                    <a:solidFill>
                      <a:srgbClr val="EFEFEF"/>
                    </a:solidFill>
                  </a:tcPr>
                </a:tc>
                <a:tc>
                  <a:txBody>
                    <a:bodyPr/>
                    <a:lstStyle/>
                    <a:p>
                      <a:pPr algn="ctr">
                        <a:defRPr sz="1000">
                          <a:latin typeface="Montserrat"/>
                        </a:defRPr>
                      </a:pPr>
                      <a:r>
                        <a:t>4,141</a:t>
                      </a:r>
                    </a:p>
                  </a:txBody>
                  <a:tcPr marL="0" marR="0" marT="0" marB="0">
                    <a:solidFill>
                      <a:srgbClr val="EFEFEF"/>
                    </a:solidFill>
                  </a:tcPr>
                </a:tc>
                <a:tc>
                  <a:txBody>
                    <a:bodyPr/>
                    <a:lstStyle/>
                    <a:p>
                      <a:pPr algn="ctr">
                        <a:defRPr sz="1000">
                          <a:latin typeface="Montserrat"/>
                        </a:defRPr>
                      </a:pPr>
                      <a:r>
                        <a:t>1,001</a:t>
                      </a:r>
                    </a:p>
                  </a:txBody>
                  <a:tcPr marL="0" marR="0" marT="0" marB="0">
                    <a:solidFill>
                      <a:srgbClr val="EFEFEF"/>
                    </a:solidFill>
                  </a:tcPr>
                </a:tc>
                <a:tc>
                  <a:txBody>
                    <a:bodyPr/>
                    <a:lstStyle/>
                    <a:p>
                      <a:pPr algn="ctr">
                        <a:defRPr sz="1000">
                          <a:latin typeface="Montserrat"/>
                        </a:defRPr>
                      </a:pPr>
                      <a:r>
                        <a:t>1,964</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32.7%</a:t>
                      </a:r>
                    </a:p>
                  </a:txBody>
                  <a:tcPr marL="0" marR="0" marT="0" marB="0">
                    <a:solidFill>
                      <a:srgbClr val="ECD3D9"/>
                    </a:solidFill>
                  </a:tcPr>
                </a:tc>
              </a:tr>
              <a:tr h="151200">
                <a:tc>
                  <a:txBody>
                    <a:bodyPr/>
                    <a:lstStyle/>
                    <a:p>
                      <a:pPr algn="l">
                        <a:defRPr sz="1000">
                          <a:latin typeface="Montserrat"/>
                        </a:defRPr>
                      </a:pPr>
                      <a:r>
                        <a:t>UMF 30 Villa Aldama</a:t>
                      </a:r>
                    </a:p>
                  </a:txBody>
                  <a:tcPr marL="0" marR="0" marT="0" marB="0">
                    <a:solidFill>
                      <a:srgbClr val="FFFFFF"/>
                    </a:solidFill>
                  </a:tcPr>
                </a:tc>
                <a:tc>
                  <a:txBody>
                    <a:bodyPr/>
                    <a:lstStyle/>
                    <a:p>
                      <a:pPr algn="ctr">
                        <a:defRPr sz="1000">
                          <a:latin typeface="Montserrat"/>
                        </a:defRPr>
                      </a:pPr>
                      <a:r>
                        <a:t>10,713</a:t>
                      </a:r>
                    </a:p>
                  </a:txBody>
                  <a:tcPr marL="0" marR="0" marT="0" marB="0">
                    <a:solidFill>
                      <a:srgbClr val="FFFFFF"/>
                    </a:solidFill>
                  </a:tcPr>
                </a:tc>
                <a:tc>
                  <a:txBody>
                    <a:bodyPr/>
                    <a:lstStyle/>
                    <a:p>
                      <a:pPr algn="ctr">
                        <a:defRPr sz="1000">
                          <a:latin typeface="Montserrat"/>
                        </a:defRPr>
                      </a:pPr>
                      <a:r>
                        <a:t>1,580</a:t>
                      </a:r>
                    </a:p>
                  </a:txBody>
                  <a:tcPr marL="0" marR="0" marT="0" marB="0">
                    <a:solidFill>
                      <a:srgbClr val="FFFFFF"/>
                    </a:solidFill>
                  </a:tcPr>
                </a:tc>
                <a:tc>
                  <a:txBody>
                    <a:bodyPr/>
                    <a:lstStyle/>
                    <a:p>
                      <a:pPr algn="ctr">
                        <a:defRPr sz="1000">
                          <a:latin typeface="Montserrat"/>
                        </a:defRPr>
                      </a:pPr>
                      <a:r>
                        <a:t>4,390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36.6%</a:t>
                      </a:r>
                    </a:p>
                  </a:txBody>
                  <a:tcPr marL="0" marR="0" marT="0" marB="0">
                    <a:solidFill>
                      <a:srgbClr val="ECD3D9"/>
                    </a:solidFill>
                  </a:tcPr>
                </a:tc>
              </a:tr>
              <a:tr h="151200">
                <a:tc>
                  <a:txBody>
                    <a:bodyPr/>
                    <a:lstStyle/>
                    <a:p>
                      <a:pPr algn="l">
                        <a:defRPr sz="1000">
                          <a:latin typeface="Montserrat"/>
                        </a:defRPr>
                      </a:pPr>
                      <a:r>
                        <a:t>UMF 26 Loma Alta</a:t>
                      </a:r>
                    </a:p>
                  </a:txBody>
                  <a:tcPr marL="0" marR="0" marT="0" marB="0">
                    <a:solidFill>
                      <a:srgbClr val="EFEFEF"/>
                    </a:solidFill>
                  </a:tcPr>
                </a:tc>
                <a:tc>
                  <a:txBody>
                    <a:bodyPr/>
                    <a:lstStyle/>
                    <a:p>
                      <a:pPr algn="ctr">
                        <a:defRPr sz="1000">
                          <a:latin typeface="Montserrat"/>
                        </a:defRPr>
                      </a:pPr>
                      <a:r>
                        <a:t>8,619</a:t>
                      </a:r>
                    </a:p>
                  </a:txBody>
                  <a:tcPr marL="0" marR="0" marT="0" marB="0">
                    <a:solidFill>
                      <a:srgbClr val="EFEFEF"/>
                    </a:solidFill>
                  </a:tcPr>
                </a:tc>
                <a:tc>
                  <a:txBody>
                    <a:bodyPr/>
                    <a:lstStyle/>
                    <a:p>
                      <a:pPr algn="ctr">
                        <a:defRPr sz="1000">
                          <a:latin typeface="Montserrat"/>
                        </a:defRPr>
                      </a:pPr>
                      <a:r>
                        <a:t>1,113</a:t>
                      </a:r>
                    </a:p>
                  </a:txBody>
                  <a:tcPr marL="0" marR="0" marT="0" marB="0">
                    <a:solidFill>
                      <a:srgbClr val="EFEFEF"/>
                    </a:solidFill>
                  </a:tcPr>
                </a:tc>
                <a:tc>
                  <a:txBody>
                    <a:bodyPr/>
                    <a:lstStyle/>
                    <a:p>
                      <a:pPr algn="ctr">
                        <a:defRPr sz="1000">
                          <a:latin typeface="Montserrat"/>
                        </a:defRPr>
                      </a:pPr>
                      <a:r>
                        <a:t>3,414</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34.1%</a:t>
                      </a:r>
                    </a:p>
                  </a:txBody>
                  <a:tcPr marL="0" marR="0" marT="0" marB="0">
                    <a:solidFill>
                      <a:srgbClr val="ECD3D9"/>
                    </a:solidFill>
                  </a:tcPr>
                </a:tc>
              </a:tr>
              <a:tr h="151200">
                <a:tc>
                  <a:txBody>
                    <a:bodyPr/>
                    <a:lstStyle/>
                    <a:p>
                      <a:pPr algn="l">
                        <a:defRPr sz="1000">
                          <a:latin typeface="Montserrat"/>
                        </a:defRPr>
                      </a:pPr>
                      <a:r>
                        <a:t>UMF 25 E. González</a:t>
                      </a:r>
                    </a:p>
                  </a:txBody>
                  <a:tcPr marL="0" marR="0" marT="0" marB="0">
                    <a:solidFill>
                      <a:srgbClr val="FFFFFF"/>
                    </a:solidFill>
                  </a:tcPr>
                </a:tc>
                <a:tc>
                  <a:txBody>
                    <a:bodyPr/>
                    <a:lstStyle/>
                    <a:p>
                      <a:pPr algn="ctr">
                        <a:defRPr sz="1000">
                          <a:latin typeface="Montserrat"/>
                        </a:defRPr>
                      </a:pPr>
                      <a:r>
                        <a:t>11,792</a:t>
                      </a:r>
                    </a:p>
                  </a:txBody>
                  <a:tcPr marL="0" marR="0" marT="0" marB="0">
                    <a:solidFill>
                      <a:srgbClr val="FFFFFF"/>
                    </a:solidFill>
                  </a:tcPr>
                </a:tc>
                <a:tc>
                  <a:txBody>
                    <a:bodyPr/>
                    <a:lstStyle/>
                    <a:p>
                      <a:pPr algn="ctr">
                        <a:defRPr sz="1000">
                          <a:latin typeface="Montserrat"/>
                        </a:defRPr>
                      </a:pPr>
                      <a:r>
                        <a:t>2,067</a:t>
                      </a:r>
                    </a:p>
                  </a:txBody>
                  <a:tcPr marL="0" marR="0" marT="0" marB="0">
                    <a:solidFill>
                      <a:srgbClr val="FFFFFF"/>
                    </a:solidFill>
                  </a:tcPr>
                </a:tc>
                <a:tc>
                  <a:txBody>
                    <a:bodyPr/>
                    <a:lstStyle/>
                    <a:p>
                      <a:pPr algn="ctr">
                        <a:defRPr sz="1000">
                          <a:latin typeface="Montserrat"/>
                        </a:defRPr>
                      </a:pPr>
                      <a:r>
                        <a:t>4,760</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36.6%</a:t>
                      </a:r>
                    </a:p>
                  </a:txBody>
                  <a:tcPr marL="0" marR="0" marT="0" marB="0">
                    <a:solidFill>
                      <a:srgbClr val="ECD3D9"/>
                    </a:solidFill>
                  </a:tcPr>
                </a:tc>
              </a:tr>
              <a:tr h="151200">
                <a:tc>
                  <a:txBody>
                    <a:bodyPr/>
                    <a:lstStyle/>
                    <a:p>
                      <a:pPr algn="l">
                        <a:defRPr sz="1000">
                          <a:latin typeface="Montserrat"/>
                        </a:defRPr>
                      </a:pPr>
                      <a:r>
                        <a:t>UMF 10 Altamira</a:t>
                      </a:r>
                    </a:p>
                  </a:txBody>
                  <a:tcPr marL="0" marR="0" marT="0" marB="0">
                    <a:solidFill>
                      <a:srgbClr val="EFEFEF"/>
                    </a:solidFill>
                  </a:tcPr>
                </a:tc>
                <a:tc>
                  <a:txBody>
                    <a:bodyPr/>
                    <a:lstStyle/>
                    <a:p>
                      <a:pPr algn="ctr">
                        <a:defRPr sz="1000">
                          <a:latin typeface="Montserrat"/>
                        </a:defRPr>
                      </a:pPr>
                      <a:r>
                        <a:t>65,730</a:t>
                      </a:r>
                    </a:p>
                  </a:txBody>
                  <a:tcPr marL="0" marR="0" marT="0" marB="0">
                    <a:solidFill>
                      <a:srgbClr val="EFEFEF"/>
                    </a:solidFill>
                  </a:tcPr>
                </a:tc>
                <a:tc>
                  <a:txBody>
                    <a:bodyPr/>
                    <a:lstStyle/>
                    <a:p>
                      <a:pPr algn="ctr">
                        <a:defRPr sz="1000">
                          <a:latin typeface="Montserrat"/>
                        </a:defRPr>
                      </a:pPr>
                      <a:r>
                        <a:t>16,782</a:t>
                      </a:r>
                    </a:p>
                  </a:txBody>
                  <a:tcPr marL="0" marR="0" marT="0" marB="0">
                    <a:solidFill>
                      <a:srgbClr val="EFEFEF"/>
                    </a:solidFill>
                  </a:tcPr>
                </a:tc>
                <a:tc>
                  <a:txBody>
                    <a:bodyPr/>
                    <a:lstStyle/>
                    <a:p>
                      <a:pPr algn="ctr">
                        <a:defRPr sz="1000">
                          <a:latin typeface="Montserrat"/>
                        </a:defRPr>
                      </a:pPr>
                      <a:r>
                        <a:t>23,782</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8 E. Cuauhtémoc</a:t>
                      </a:r>
                    </a:p>
                  </a:txBody>
                  <a:tcPr marL="0" marR="0" marT="0" marB="0">
                    <a:solidFill>
                      <a:srgbClr val="FFFFFF"/>
                    </a:solidFill>
                  </a:tcPr>
                </a:tc>
                <a:tc>
                  <a:txBody>
                    <a:bodyPr/>
                    <a:lstStyle/>
                    <a:p>
                      <a:pPr algn="ctr">
                        <a:defRPr sz="1000">
                          <a:latin typeface="Montserrat"/>
                        </a:defRPr>
                      </a:pPr>
                      <a:r>
                        <a:t>8,996</a:t>
                      </a:r>
                    </a:p>
                  </a:txBody>
                  <a:tcPr marL="0" marR="0" marT="0" marB="0">
                    <a:solidFill>
                      <a:srgbClr val="FFFFFF"/>
                    </a:solidFill>
                  </a:tcPr>
                </a:tc>
                <a:tc>
                  <a:txBody>
                    <a:bodyPr/>
                    <a:lstStyle/>
                    <a:p>
                      <a:pPr algn="ctr">
                        <a:defRPr sz="1000">
                          <a:latin typeface="Montserrat"/>
                        </a:defRPr>
                      </a:pPr>
                      <a:r>
                        <a:t>2,702</a:t>
                      </a:r>
                    </a:p>
                  </a:txBody>
                  <a:tcPr marL="0" marR="0" marT="0" marB="0">
                    <a:solidFill>
                      <a:srgbClr val="FFFFFF"/>
                    </a:solidFill>
                  </a:tcPr>
                </a:tc>
                <a:tc>
                  <a:txBody>
                    <a:bodyPr/>
                    <a:lstStyle/>
                    <a:p>
                      <a:pPr algn="ctr">
                        <a:defRPr sz="1000">
                          <a:latin typeface="Montserrat"/>
                        </a:defRPr>
                      </a:pPr>
                      <a:r>
                        <a:t>3,336</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33.4%</a:t>
                      </a:r>
                    </a:p>
                  </a:txBody>
                  <a:tcPr marL="0" marR="0" marT="0" marB="0">
                    <a:solidFill>
                      <a:srgbClr val="ECD3D9"/>
                    </a:solidFill>
                  </a:tcPr>
                </a:tc>
              </a:tr>
              <a:tr h="151200">
                <a:tc>
                  <a:txBody>
                    <a:bodyPr/>
                    <a:lstStyle/>
                    <a:p>
                      <a:pPr algn="l">
                        <a:defRPr sz="1000">
                          <a:latin typeface="Montserrat"/>
                        </a:defRPr>
                      </a:pPr>
                      <a:r>
                        <a:t>UMF 20 Ciudad Camargo</a:t>
                      </a:r>
                    </a:p>
                  </a:txBody>
                  <a:tcPr marL="0" marR="0" marT="0" marB="0">
                    <a:solidFill>
                      <a:srgbClr val="EFEFEF"/>
                    </a:solidFill>
                  </a:tcPr>
                </a:tc>
                <a:tc>
                  <a:txBody>
                    <a:bodyPr/>
                    <a:lstStyle/>
                    <a:p>
                      <a:pPr algn="ctr">
                        <a:defRPr sz="1000">
                          <a:latin typeface="Montserrat"/>
                        </a:defRPr>
                      </a:pPr>
                      <a:r>
                        <a:t>9,194</a:t>
                      </a:r>
                    </a:p>
                  </a:txBody>
                  <a:tcPr marL="0" marR="0" marT="0" marB="0">
                    <a:solidFill>
                      <a:srgbClr val="EFEFEF"/>
                    </a:solidFill>
                  </a:tcPr>
                </a:tc>
                <a:tc>
                  <a:txBody>
                    <a:bodyPr/>
                    <a:lstStyle/>
                    <a:p>
                      <a:pPr algn="ctr">
                        <a:defRPr sz="1000">
                          <a:latin typeface="Montserrat"/>
                        </a:defRPr>
                      </a:pPr>
                      <a:r>
                        <a:t>2,223</a:t>
                      </a:r>
                    </a:p>
                  </a:txBody>
                  <a:tcPr marL="0" marR="0" marT="0" marB="0">
                    <a:solidFill>
                      <a:srgbClr val="EFEFEF"/>
                    </a:solidFill>
                  </a:tcPr>
                </a:tc>
                <a:tc>
                  <a:txBody>
                    <a:bodyPr/>
                    <a:lstStyle/>
                    <a:p>
                      <a:pPr algn="ctr">
                        <a:defRPr sz="1000">
                          <a:latin typeface="Montserrat"/>
                        </a:defRPr>
                      </a:pPr>
                      <a:r>
                        <a:t>3,636</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 19 C. Miguel Aleman</a:t>
                      </a:r>
                    </a:p>
                  </a:txBody>
                  <a:tcPr marL="0" marR="0" marT="0" marB="0">
                    <a:solidFill>
                      <a:srgbClr val="FFFFFF"/>
                    </a:solidFill>
                  </a:tcPr>
                </a:tc>
                <a:tc>
                  <a:txBody>
                    <a:bodyPr/>
                    <a:lstStyle/>
                    <a:p>
                      <a:pPr algn="ctr">
                        <a:defRPr sz="1000">
                          <a:latin typeface="Montserrat"/>
                        </a:defRPr>
                      </a:pPr>
                      <a:r>
                        <a:t>12,684</a:t>
                      </a:r>
                    </a:p>
                  </a:txBody>
                  <a:tcPr marL="0" marR="0" marT="0" marB="0">
                    <a:solidFill>
                      <a:srgbClr val="FFFFFF"/>
                    </a:solidFill>
                  </a:tcPr>
                </a:tc>
                <a:tc>
                  <a:txBody>
                    <a:bodyPr/>
                    <a:lstStyle/>
                    <a:p>
                      <a:pPr algn="ctr">
                        <a:defRPr sz="1000">
                          <a:latin typeface="Montserrat"/>
                        </a:defRPr>
                      </a:pPr>
                      <a:r>
                        <a:t>1,680</a:t>
                      </a:r>
                    </a:p>
                  </a:txBody>
                  <a:tcPr marL="0" marR="0" marT="0" marB="0">
                    <a:solidFill>
                      <a:srgbClr val="FFFFFF"/>
                    </a:solidFill>
                  </a:tcPr>
                </a:tc>
                <a:tc>
                  <a:txBody>
                    <a:bodyPr/>
                    <a:lstStyle/>
                    <a:p>
                      <a:pPr algn="ctr">
                        <a:defRPr sz="1000">
                          <a:latin typeface="Montserrat"/>
                        </a:defRPr>
                      </a:pPr>
                      <a:r>
                        <a:t>4,420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31.6%</a:t>
                      </a:r>
                    </a:p>
                  </a:txBody>
                  <a:tcPr marL="0" marR="0" marT="0" marB="0">
                    <a:solidFill>
                      <a:srgbClr val="ECD3D9"/>
                    </a:solidFill>
                  </a:tcPr>
                </a:tc>
              </a:tr>
              <a:tr h="151200">
                <a:tc>
                  <a:txBody>
                    <a:bodyPr/>
                    <a:lstStyle/>
                    <a:p>
                      <a:pPr algn="l">
                        <a:defRPr sz="1000">
                          <a:latin typeface="Montserrat"/>
                        </a:defRPr>
                      </a:pPr>
                      <a:r>
                        <a:t>UMF 18 Valle Hermoso</a:t>
                      </a:r>
                    </a:p>
                  </a:txBody>
                  <a:tcPr marL="0" marR="0" marT="0" marB="0">
                    <a:solidFill>
                      <a:srgbClr val="EFEFEF"/>
                    </a:solidFill>
                  </a:tcPr>
                </a:tc>
                <a:tc>
                  <a:txBody>
                    <a:bodyPr/>
                    <a:lstStyle/>
                    <a:p>
                      <a:pPr algn="ctr">
                        <a:defRPr sz="1000">
                          <a:latin typeface="Montserrat"/>
                        </a:defRPr>
                      </a:pPr>
                      <a:r>
                        <a:t>42,914</a:t>
                      </a:r>
                    </a:p>
                  </a:txBody>
                  <a:tcPr marL="0" marR="0" marT="0" marB="0">
                    <a:solidFill>
                      <a:srgbClr val="EFEFEF"/>
                    </a:solidFill>
                  </a:tcPr>
                </a:tc>
                <a:tc>
                  <a:txBody>
                    <a:bodyPr/>
                    <a:lstStyle/>
                    <a:p>
                      <a:pPr algn="ctr">
                        <a:defRPr sz="1000">
                          <a:latin typeface="Montserrat"/>
                        </a:defRPr>
                      </a:pPr>
                      <a:r>
                        <a:t>5,588</a:t>
                      </a:r>
                    </a:p>
                  </a:txBody>
                  <a:tcPr marL="0" marR="0" marT="0" marB="0">
                    <a:solidFill>
                      <a:srgbClr val="EFEFEF"/>
                    </a:solidFill>
                  </a:tcPr>
                </a:tc>
                <a:tc>
                  <a:txBody>
                    <a:bodyPr/>
                    <a:lstStyle/>
                    <a:p>
                      <a:pPr algn="ctr">
                        <a:defRPr sz="1000">
                          <a:latin typeface="Montserrat"/>
                        </a:defRPr>
                      </a:pPr>
                      <a:r>
                        <a:t>17,946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28.6%</a:t>
                      </a:r>
                    </a:p>
                  </a:txBody>
                  <a:tcPr marL="0" marR="0" marT="0" marB="0">
                    <a:solidFill>
                      <a:srgbClr val="ECD3D9"/>
                    </a:solidFill>
                  </a:tcPr>
                </a:tc>
              </a:tr>
              <a:tr h="151200">
                <a:tc>
                  <a:txBody>
                    <a:bodyPr/>
                    <a:lstStyle/>
                    <a:p>
                      <a:pPr algn="l">
                        <a:defRPr sz="1000">
                          <a:latin typeface="Montserrat"/>
                        </a:defRPr>
                      </a:pPr>
                      <a:r>
                        <a:t>UMF 29 E. Manuel</a:t>
                      </a:r>
                    </a:p>
                  </a:txBody>
                  <a:tcPr marL="0" marR="0" marT="0" marB="0">
                    <a:solidFill>
                      <a:srgbClr val="FFFFFF"/>
                    </a:solidFill>
                  </a:tcPr>
                </a:tc>
                <a:tc>
                  <a:txBody>
                    <a:bodyPr/>
                    <a:lstStyle/>
                    <a:p>
                      <a:pPr algn="ctr">
                        <a:defRPr sz="1000">
                          <a:latin typeface="Montserrat"/>
                        </a:defRPr>
                      </a:pPr>
                      <a:r>
                        <a:t>7,564</a:t>
                      </a:r>
                    </a:p>
                  </a:txBody>
                  <a:tcPr marL="0" marR="0" marT="0" marB="0">
                    <a:solidFill>
                      <a:srgbClr val="FFFFFF"/>
                    </a:solidFill>
                  </a:tcPr>
                </a:tc>
                <a:tc>
                  <a:txBody>
                    <a:bodyPr/>
                    <a:lstStyle/>
                    <a:p>
                      <a:pPr algn="ctr">
                        <a:defRPr sz="1000">
                          <a:latin typeface="Montserrat"/>
                        </a:defRPr>
                      </a:pPr>
                      <a:r>
                        <a:t>1,360</a:t>
                      </a:r>
                    </a:p>
                  </a:txBody>
                  <a:tcPr marL="0" marR="0" marT="0" marB="0">
                    <a:solidFill>
                      <a:srgbClr val="FFFFFF"/>
                    </a:solidFill>
                  </a:tcPr>
                </a:tc>
                <a:tc>
                  <a:txBody>
                    <a:bodyPr/>
                    <a:lstStyle/>
                    <a:p>
                      <a:pPr algn="ctr">
                        <a:defRPr sz="1000">
                          <a:latin typeface="Montserrat"/>
                        </a:defRPr>
                      </a:pPr>
                      <a:r>
                        <a:t>3,280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 27 Ocampo</a:t>
                      </a:r>
                    </a:p>
                  </a:txBody>
                  <a:tcPr marL="0" marR="0" marT="0" marB="0">
                    <a:solidFill>
                      <a:srgbClr val="EFEFEF"/>
                    </a:solidFill>
                  </a:tcPr>
                </a:tc>
                <a:tc>
                  <a:txBody>
                    <a:bodyPr/>
                    <a:lstStyle/>
                    <a:p>
                      <a:pPr algn="ctr">
                        <a:defRPr sz="1000">
                          <a:latin typeface="Montserrat"/>
                        </a:defRPr>
                      </a:pPr>
                      <a:r>
                        <a:t>7,323</a:t>
                      </a:r>
                    </a:p>
                  </a:txBody>
                  <a:tcPr marL="0" marR="0" marT="0" marB="0">
                    <a:solidFill>
                      <a:srgbClr val="EFEFEF"/>
                    </a:solidFill>
                  </a:tcPr>
                </a:tc>
                <a:tc>
                  <a:txBody>
                    <a:bodyPr/>
                    <a:lstStyle/>
                    <a:p>
                      <a:pPr algn="ctr">
                        <a:defRPr sz="1000">
                          <a:latin typeface="Montserrat"/>
                        </a:defRPr>
                      </a:pPr>
                      <a:r>
                        <a:t>44</a:t>
                      </a:r>
                    </a:p>
                  </a:txBody>
                  <a:tcPr marL="0" marR="0" marT="0" marB="0">
                    <a:solidFill>
                      <a:srgbClr val="EFEFEF"/>
                    </a:solidFill>
                  </a:tcPr>
                </a:tc>
                <a:tc>
                  <a:txBody>
                    <a:bodyPr/>
                    <a:lstStyle/>
                    <a:p>
                      <a:pPr algn="ctr">
                        <a:defRPr sz="1000">
                          <a:latin typeface="Montserrat"/>
                        </a:defRPr>
                      </a:pPr>
                      <a:r>
                        <a:t>2,577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32.2%</a:t>
                      </a:r>
                    </a:p>
                  </a:txBody>
                  <a:tcPr marL="0" marR="0" marT="0" marB="0">
                    <a:solidFill>
                      <a:srgbClr val="ECD3D9"/>
                    </a:solidFill>
                  </a:tcPr>
                </a:tc>
              </a:tr>
              <a:tr h="151200">
                <a:tc>
                  <a:txBody>
                    <a:bodyPr/>
                    <a:lstStyle/>
                    <a:p>
                      <a:pPr algn="l">
                        <a:defRPr sz="1000">
                          <a:latin typeface="Montserrat"/>
                        </a:defRPr>
                      </a:pPr>
                      <a:r>
                        <a:t>UMF 2 Ciudad Limón</a:t>
                      </a:r>
                    </a:p>
                  </a:txBody>
                  <a:tcPr marL="0" marR="0" marT="0" marB="0">
                    <a:solidFill>
                      <a:srgbClr val="FFFFFF"/>
                    </a:solidFill>
                  </a:tcPr>
                </a:tc>
                <a:tc>
                  <a:txBody>
                    <a:bodyPr/>
                    <a:lstStyle/>
                    <a:p>
                      <a:pPr algn="ctr">
                        <a:defRPr sz="1000">
                          <a:latin typeface="Montserrat"/>
                        </a:defRPr>
                      </a:pPr>
                      <a:r>
                        <a:t>7,301</a:t>
                      </a:r>
                    </a:p>
                  </a:txBody>
                  <a:tcPr marL="0" marR="0" marT="0" marB="0">
                    <a:solidFill>
                      <a:srgbClr val="FFFFFF"/>
                    </a:solidFill>
                  </a:tcPr>
                </a:tc>
                <a:tc>
                  <a:txBody>
                    <a:bodyPr/>
                    <a:lstStyle/>
                    <a:p>
                      <a:pPr algn="ctr">
                        <a:defRPr sz="1000">
                          <a:latin typeface="Montserrat"/>
                        </a:defRPr>
                      </a:pPr>
                      <a:r>
                        <a:t>1,142</a:t>
                      </a:r>
                    </a:p>
                  </a:txBody>
                  <a:tcPr marL="0" marR="0" marT="0" marB="0">
                    <a:solidFill>
                      <a:srgbClr val="FFFFFF"/>
                    </a:solidFill>
                  </a:tcPr>
                </a:tc>
                <a:tc>
                  <a:txBody>
                    <a:bodyPr/>
                    <a:lstStyle/>
                    <a:p>
                      <a:pPr algn="ctr">
                        <a:defRPr sz="1000">
                          <a:latin typeface="Montserrat"/>
                        </a:defRPr>
                      </a:pPr>
                      <a:r>
                        <a:t>2,365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26.3%</a:t>
                      </a:r>
                    </a:p>
                  </a:txBody>
                  <a:tcPr marL="0" marR="0" marT="0" marB="0">
                    <a:solidFill>
                      <a:srgbClr val="ECD3D9"/>
                    </a:solidFill>
                  </a:tcPr>
                </a:tc>
              </a:tr>
              <a:tr h="151200">
                <a:tc>
                  <a:txBody>
                    <a:bodyPr/>
                    <a:lstStyle/>
                    <a:p>
                      <a:pPr algn="l">
                        <a:defRPr sz="1000">
                          <a:latin typeface="Montserrat"/>
                        </a:defRPr>
                      </a:pPr>
                      <a:r>
                        <a:t>UMF 4 I. Guayalejo</a:t>
                      </a:r>
                    </a:p>
                  </a:txBody>
                  <a:tcPr marL="0" marR="0" marT="0" marB="0">
                    <a:solidFill>
                      <a:srgbClr val="EFEFEF"/>
                    </a:solidFill>
                  </a:tcPr>
                </a:tc>
                <a:tc>
                  <a:txBody>
                    <a:bodyPr/>
                    <a:lstStyle/>
                    <a:p>
                      <a:pPr algn="ctr">
                        <a:defRPr sz="1000">
                          <a:latin typeface="Montserrat"/>
                        </a:defRPr>
                      </a:pPr>
                      <a:r>
                        <a:t>8,031</a:t>
                      </a:r>
                    </a:p>
                  </a:txBody>
                  <a:tcPr marL="0" marR="0" marT="0" marB="0">
                    <a:solidFill>
                      <a:srgbClr val="EFEFEF"/>
                    </a:solidFill>
                  </a:tcPr>
                </a:tc>
                <a:tc>
                  <a:txBody>
                    <a:bodyPr/>
                    <a:lstStyle/>
                    <a:p>
                      <a:pPr algn="ctr">
                        <a:defRPr sz="1000">
                          <a:latin typeface="Montserrat"/>
                        </a:defRPr>
                      </a:pPr>
                      <a:r>
                        <a:t>2,405</a:t>
                      </a:r>
                    </a:p>
                  </a:txBody>
                  <a:tcPr marL="0" marR="0" marT="0" marB="0">
                    <a:solidFill>
                      <a:srgbClr val="EFEFEF"/>
                    </a:solidFill>
                  </a:tcPr>
                </a:tc>
                <a:tc>
                  <a:txBody>
                    <a:bodyPr/>
                    <a:lstStyle/>
                    <a:p>
                      <a:pPr algn="ctr">
                        <a:defRPr sz="1000">
                          <a:latin typeface="Montserrat"/>
                        </a:defRPr>
                      </a:pPr>
                      <a:r>
                        <a:t>3,065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34.1%</a:t>
                      </a:r>
                    </a:p>
                  </a:txBody>
                  <a:tcPr marL="0" marR="0" marT="0" marB="0">
                    <a:solidFill>
                      <a:srgbClr val="ECD3D9"/>
                    </a:solidFill>
                  </a:tcPr>
                </a:tc>
              </a:tr>
              <a:tr h="151200">
                <a:tc>
                  <a:txBody>
                    <a:bodyPr/>
                    <a:lstStyle/>
                    <a:p>
                      <a:pPr algn="l">
                        <a:defRPr sz="1000">
                          <a:latin typeface="Montserrat"/>
                        </a:defRPr>
                      </a:pPr>
                      <a:r>
                        <a:t>UMF 31 Guemez</a:t>
                      </a:r>
                    </a:p>
                  </a:txBody>
                  <a:tcPr marL="0" marR="0" marT="0" marB="0">
                    <a:solidFill>
                      <a:srgbClr val="FFFFFF"/>
                    </a:solidFill>
                  </a:tcPr>
                </a:tc>
                <a:tc>
                  <a:txBody>
                    <a:bodyPr/>
                    <a:lstStyle/>
                    <a:p>
                      <a:pPr algn="ctr">
                        <a:defRPr sz="1000">
                          <a:latin typeface="Montserrat"/>
                        </a:defRPr>
                      </a:pPr>
                      <a:r>
                        <a:t>7,382</a:t>
                      </a:r>
                    </a:p>
                  </a:txBody>
                  <a:tcPr marL="0" marR="0" marT="0" marB="0">
                    <a:solidFill>
                      <a:srgbClr val="FFFFFF"/>
                    </a:solidFill>
                  </a:tcPr>
                </a:tc>
                <a:tc>
                  <a:txBody>
                    <a:bodyPr/>
                    <a:lstStyle/>
                    <a:p>
                      <a:pPr algn="ctr">
                        <a:defRPr sz="1000">
                          <a:latin typeface="Montserrat"/>
                        </a:defRPr>
                      </a:pPr>
                      <a:r>
                        <a:t>2,898</a:t>
                      </a:r>
                    </a:p>
                  </a:txBody>
                  <a:tcPr marL="0" marR="0" marT="0" marB="0">
                    <a:solidFill>
                      <a:srgbClr val="FFFFFF"/>
                    </a:solidFill>
                  </a:tcPr>
                </a:tc>
                <a:tc>
                  <a:txBody>
                    <a:bodyPr/>
                    <a:lstStyle/>
                    <a:p>
                      <a:pPr algn="ctr">
                        <a:defRPr sz="1000">
                          <a:latin typeface="Montserrat"/>
                        </a:defRPr>
                      </a:pPr>
                      <a:r>
                        <a:t>3,345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21 Nueva Cd. Guerrero</a:t>
                      </a:r>
                    </a:p>
                  </a:txBody>
                  <a:tcPr marL="0" marR="0" marT="0" marB="0">
                    <a:solidFill>
                      <a:srgbClr val="EFEFEF"/>
                    </a:solidFill>
                  </a:tcPr>
                </a:tc>
                <a:tc>
                  <a:txBody>
                    <a:bodyPr/>
                    <a:lstStyle/>
                    <a:p>
                      <a:pPr algn="ctr">
                        <a:defRPr sz="1000">
                          <a:latin typeface="Montserrat"/>
                        </a:defRPr>
                      </a:pPr>
                      <a:r>
                        <a:t>3,308</a:t>
                      </a:r>
                    </a:p>
                  </a:txBody>
                  <a:tcPr marL="0" marR="0" marT="0" marB="0">
                    <a:solidFill>
                      <a:srgbClr val="EFEFEF"/>
                    </a:solidFill>
                  </a:tcPr>
                </a:tc>
                <a:tc>
                  <a:txBody>
                    <a:bodyPr/>
                    <a:lstStyle/>
                    <a:p>
                      <a:pPr algn="ctr">
                        <a:defRPr sz="1000">
                          <a:latin typeface="Montserrat"/>
                        </a:defRPr>
                      </a:pPr>
                      <a:r>
                        <a:t>2,992</a:t>
                      </a:r>
                    </a:p>
                  </a:txBody>
                  <a:tcPr marL="0" marR="0" marT="0" marB="0">
                    <a:solidFill>
                      <a:srgbClr val="EFEFEF"/>
                    </a:solidFill>
                  </a:tcPr>
                </a:tc>
                <a:tc>
                  <a:txBody>
                    <a:bodyPr/>
                    <a:lstStyle/>
                    <a:p>
                      <a:pPr algn="ctr">
                        <a:defRPr sz="1000">
                          <a:latin typeface="Montserrat"/>
                        </a:defRPr>
                      </a:pPr>
                      <a:r>
                        <a:t>1,545</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30.9%</a:t>
                      </a:r>
                    </a:p>
                  </a:txBody>
                  <a:tcPr marL="0" marR="0" marT="0" marB="0">
                    <a:solidFill>
                      <a:srgbClr val="ECD3D9"/>
                    </a:solidFill>
                  </a:tcPr>
                </a:tc>
              </a:tr>
              <a:tr h="151200">
                <a:tc>
                  <a:txBody>
                    <a:bodyPr/>
                    <a:lstStyle/>
                    <a:p>
                      <a:pPr algn="l">
                        <a:defRPr sz="1000">
                          <a:latin typeface="Montserrat"/>
                        </a:defRPr>
                      </a:pPr>
                      <a:r>
                        <a:t>UMF 28 Villa Llera</a:t>
                      </a:r>
                    </a:p>
                  </a:txBody>
                  <a:tcPr marL="0" marR="0" marT="0" marB="0">
                    <a:solidFill>
                      <a:srgbClr val="FFFFFF"/>
                    </a:solidFill>
                  </a:tcPr>
                </a:tc>
                <a:tc>
                  <a:txBody>
                    <a:bodyPr/>
                    <a:lstStyle/>
                    <a:p>
                      <a:pPr algn="ctr">
                        <a:defRPr sz="1000">
                          <a:latin typeface="Montserrat"/>
                        </a:defRPr>
                      </a:pPr>
                      <a:r>
                        <a:t>13,627</a:t>
                      </a:r>
                    </a:p>
                  </a:txBody>
                  <a:tcPr marL="0" marR="0" marT="0" marB="0">
                    <a:solidFill>
                      <a:srgbClr val="FFFFFF"/>
                    </a:solidFill>
                  </a:tcPr>
                </a:tc>
                <a:tc>
                  <a:txBody>
                    <a:bodyPr/>
                    <a:lstStyle/>
                    <a:p>
                      <a:pPr algn="ctr">
                        <a:defRPr sz="1000">
                          <a:latin typeface="Montserrat"/>
                        </a:defRPr>
                      </a:pPr>
                      <a:r>
                        <a:t>3,500</a:t>
                      </a:r>
                    </a:p>
                  </a:txBody>
                  <a:tcPr marL="0" marR="0" marT="0" marB="0">
                    <a:solidFill>
                      <a:srgbClr val="FFFFFF"/>
                    </a:solidFill>
                  </a:tcPr>
                </a:tc>
                <a:tc>
                  <a:txBody>
                    <a:bodyPr/>
                    <a:lstStyle/>
                    <a:p>
                      <a:pPr algn="ctr">
                        <a:defRPr sz="1000">
                          <a:latin typeface="Montserrat"/>
                        </a:defRPr>
                      </a:pPr>
                      <a:r>
                        <a:t>5,294</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35.3%</a:t>
                      </a:r>
                    </a:p>
                  </a:txBody>
                  <a:tcPr marL="0" marR="0" marT="0" marB="0">
                    <a:solidFill>
                      <a:srgbClr val="ECD3D9"/>
                    </a:solidFill>
                  </a:tcPr>
                </a:tc>
              </a:tr>
              <a:tr h="151200">
                <a:tc>
                  <a:txBody>
                    <a:bodyPr/>
                    <a:lstStyle/>
                    <a:p>
                      <a:pPr algn="l">
                        <a:defRPr sz="1000">
                          <a:latin typeface="Montserrat"/>
                        </a:defRPr>
                      </a:pPr>
                      <a:r>
                        <a:t>UMF 66 San Fernando</a:t>
                      </a:r>
                    </a:p>
                  </a:txBody>
                  <a:tcPr marL="0" marR="0" marT="0" marB="0">
                    <a:solidFill>
                      <a:srgbClr val="EFEFEF"/>
                    </a:solidFill>
                  </a:tcPr>
                </a:tc>
                <a:tc>
                  <a:txBody>
                    <a:bodyPr/>
                    <a:lstStyle/>
                    <a:p>
                      <a:pPr algn="ctr">
                        <a:defRPr sz="1000">
                          <a:latin typeface="Montserrat"/>
                        </a:defRPr>
                      </a:pPr>
                      <a:r>
                        <a:t>12,201</a:t>
                      </a:r>
                    </a:p>
                  </a:txBody>
                  <a:tcPr marL="0" marR="0" marT="0" marB="0">
                    <a:solidFill>
                      <a:srgbClr val="EFEFEF"/>
                    </a:solidFill>
                  </a:tcPr>
                </a:tc>
                <a:tc>
                  <a:txBody>
                    <a:bodyPr/>
                    <a:lstStyle/>
                    <a:p>
                      <a:pPr algn="ctr">
                        <a:defRPr sz="1000">
                          <a:latin typeface="Montserrat"/>
                        </a:defRPr>
                      </a:pPr>
                      <a:r>
                        <a:t>-182</a:t>
                      </a:r>
                    </a:p>
                  </a:txBody>
                  <a:tcPr marL="0" marR="0" marT="0" marB="0">
                    <a:solidFill>
                      <a:srgbClr val="EFEFEF"/>
                    </a:solidFill>
                  </a:tcPr>
                </a:tc>
                <a:tc>
                  <a:txBody>
                    <a:bodyPr/>
                    <a:lstStyle/>
                    <a:p>
                      <a:pPr algn="ctr">
                        <a:defRPr sz="1000">
                          <a:latin typeface="Montserrat"/>
                        </a:defRPr>
                      </a:pPr>
                      <a:r>
                        <a:t>4,049</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68 Jiménez</a:t>
                      </a:r>
                    </a:p>
                  </a:txBody>
                  <a:tcPr marL="0" marR="0" marT="0" marB="0">
                    <a:solidFill>
                      <a:srgbClr val="FFFFFF"/>
                    </a:solidFill>
                  </a:tcPr>
                </a:tc>
                <a:tc>
                  <a:txBody>
                    <a:bodyPr/>
                    <a:lstStyle/>
                    <a:p>
                      <a:pPr algn="ctr">
                        <a:defRPr sz="1000">
                          <a:latin typeface="Montserrat"/>
                        </a:defRPr>
                      </a:pPr>
                      <a:r>
                        <a:t>7,088</a:t>
                      </a:r>
                    </a:p>
                  </a:txBody>
                  <a:tcPr marL="0" marR="0" marT="0" marB="0">
                    <a:solidFill>
                      <a:srgbClr val="FFFFFF"/>
                    </a:solidFill>
                  </a:tcPr>
                </a:tc>
                <a:tc>
                  <a:txBody>
                    <a:bodyPr/>
                    <a:lstStyle/>
                    <a:p>
                      <a:pPr algn="ctr">
                        <a:defRPr sz="1000">
                          <a:latin typeface="Montserrat"/>
                        </a:defRPr>
                      </a:pPr>
                      <a:r>
                        <a:t>2,570</a:t>
                      </a:r>
                    </a:p>
                  </a:txBody>
                  <a:tcPr marL="0" marR="0" marT="0" marB="0">
                    <a:solidFill>
                      <a:srgbClr val="FFFFFF"/>
                    </a:solidFill>
                  </a:tcPr>
                </a:tc>
                <a:tc>
                  <a:txBody>
                    <a:bodyPr/>
                    <a:lstStyle/>
                    <a:p>
                      <a:pPr algn="ctr">
                        <a:defRPr sz="1000">
                          <a:latin typeface="Montserrat"/>
                        </a:defRPr>
                      </a:pPr>
                      <a:r>
                        <a:t>2,842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35.5%</a:t>
                      </a:r>
                    </a:p>
                  </a:txBody>
                  <a:tcPr marL="0" marR="0" marT="0" marB="0">
                    <a:solidFill>
                      <a:srgbClr val="ECD3D9"/>
                    </a:solidFill>
                  </a:tcPr>
                </a:tc>
              </a:tr>
              <a:tr h="151200">
                <a:tc>
                  <a:txBody>
                    <a:bodyPr/>
                    <a:lstStyle/>
                    <a:p>
                      <a:pPr algn="l">
                        <a:defRPr sz="1000">
                          <a:latin typeface="Montserrat"/>
                        </a:defRPr>
                      </a:pPr>
                      <a:r>
                        <a:t>UMF 69 Abasolo</a:t>
                      </a:r>
                    </a:p>
                  </a:txBody>
                  <a:tcPr marL="0" marR="0" marT="0" marB="0">
                    <a:solidFill>
                      <a:srgbClr val="EFEFEF"/>
                    </a:solidFill>
                  </a:tcPr>
                </a:tc>
                <a:tc>
                  <a:txBody>
                    <a:bodyPr/>
                    <a:lstStyle/>
                    <a:p>
                      <a:pPr algn="ctr">
                        <a:defRPr sz="1000">
                          <a:latin typeface="Montserrat"/>
                        </a:defRPr>
                      </a:pPr>
                      <a:r>
                        <a:t>4,946</a:t>
                      </a:r>
                    </a:p>
                  </a:txBody>
                  <a:tcPr marL="0" marR="0" marT="0" marB="0">
                    <a:solidFill>
                      <a:srgbClr val="EFEFEF"/>
                    </a:solidFill>
                  </a:tcPr>
                </a:tc>
                <a:tc>
                  <a:txBody>
                    <a:bodyPr/>
                    <a:lstStyle/>
                    <a:p>
                      <a:pPr algn="ctr">
                        <a:defRPr sz="1000">
                          <a:latin typeface="Montserrat"/>
                        </a:defRPr>
                      </a:pPr>
                      <a:r>
                        <a:t>2,173</a:t>
                      </a:r>
                    </a:p>
                  </a:txBody>
                  <a:tcPr marL="0" marR="0" marT="0" marB="0">
                    <a:solidFill>
                      <a:srgbClr val="EFEFEF"/>
                    </a:solidFill>
                  </a:tcPr>
                </a:tc>
                <a:tc>
                  <a:txBody>
                    <a:bodyPr/>
                    <a:lstStyle/>
                    <a:p>
                      <a:pPr algn="ctr">
                        <a:defRPr sz="1000">
                          <a:latin typeface="Montserrat"/>
                        </a:defRPr>
                      </a:pPr>
                      <a:r>
                        <a:t>2,220</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37.0%</a:t>
                      </a:r>
                    </a:p>
                  </a:txBody>
                  <a:tcPr marL="0" marR="0" marT="0" marB="0">
                    <a:solidFill>
                      <a:srgbClr val="ECD3D9"/>
                    </a:solidFill>
                  </a:tcPr>
                </a:tc>
              </a:tr>
              <a:tr h="151200">
                <a:tc>
                  <a:txBody>
                    <a:bodyPr/>
                    <a:lstStyle/>
                    <a:p>
                      <a:pPr algn="l">
                        <a:defRPr sz="1000">
                          <a:latin typeface="Montserrat"/>
                        </a:defRPr>
                      </a:pPr>
                      <a:r>
                        <a:t>UMF 73 Villagran Hidalgo</a:t>
                      </a:r>
                    </a:p>
                  </a:txBody>
                  <a:tcPr marL="0" marR="0" marT="0" marB="0">
                    <a:solidFill>
                      <a:srgbClr val="FFFFFF"/>
                    </a:solidFill>
                  </a:tcPr>
                </a:tc>
                <a:tc>
                  <a:txBody>
                    <a:bodyPr/>
                    <a:lstStyle/>
                    <a:p>
                      <a:pPr algn="ctr">
                        <a:defRPr sz="1000">
                          <a:latin typeface="Montserrat"/>
                        </a:defRPr>
                      </a:pPr>
                      <a:r>
                        <a:t>3,393</a:t>
                      </a:r>
                    </a:p>
                  </a:txBody>
                  <a:tcPr marL="0" marR="0" marT="0" marB="0">
                    <a:solidFill>
                      <a:srgbClr val="FFFFFF"/>
                    </a:solidFill>
                  </a:tcPr>
                </a:tc>
                <a:tc>
                  <a:txBody>
                    <a:bodyPr/>
                    <a:lstStyle/>
                    <a:p>
                      <a:pPr algn="ctr">
                        <a:defRPr sz="1000">
                          <a:latin typeface="Montserrat"/>
                        </a:defRPr>
                      </a:pPr>
                      <a:r>
                        <a:t>1,760</a:t>
                      </a:r>
                    </a:p>
                  </a:txBody>
                  <a:tcPr marL="0" marR="0" marT="0" marB="0">
                    <a:solidFill>
                      <a:srgbClr val="FFFFFF"/>
                    </a:solidFill>
                  </a:tcPr>
                </a:tc>
                <a:tc>
                  <a:txBody>
                    <a:bodyPr/>
                    <a:lstStyle/>
                    <a:p>
                      <a:pPr algn="ctr">
                        <a:defRPr sz="1000">
                          <a:latin typeface="Montserrat"/>
                        </a:defRPr>
                      </a:pPr>
                      <a:r>
                        <a:t>1,771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35.4%</a:t>
                      </a:r>
                    </a:p>
                  </a:txBody>
                  <a:tcPr marL="0" marR="0" marT="0" marB="0">
                    <a:solidFill>
                      <a:srgbClr val="ECD3D9"/>
                    </a:solidFill>
                  </a:tcPr>
                </a:tc>
              </a:tr>
              <a:tr h="151200">
                <a:tc>
                  <a:txBody>
                    <a:bodyPr/>
                    <a:lstStyle/>
                    <a:p>
                      <a:pPr algn="l">
                        <a:defRPr sz="1000">
                          <a:latin typeface="Montserrat"/>
                        </a:defRPr>
                      </a:pPr>
                      <a:r>
                        <a:t>UMF 70 Soto la Marina</a:t>
                      </a:r>
                    </a:p>
                  </a:txBody>
                  <a:tcPr marL="0" marR="0" marT="0" marB="0">
                    <a:solidFill>
                      <a:srgbClr val="EFEFEF"/>
                    </a:solidFill>
                  </a:tcPr>
                </a:tc>
                <a:tc>
                  <a:txBody>
                    <a:bodyPr/>
                    <a:lstStyle/>
                    <a:p>
                      <a:pPr algn="ctr">
                        <a:defRPr sz="1000">
                          <a:latin typeface="Montserrat"/>
                        </a:defRPr>
                      </a:pPr>
                      <a:r>
                        <a:t>7,873</a:t>
                      </a:r>
                    </a:p>
                  </a:txBody>
                  <a:tcPr marL="0" marR="0" marT="0" marB="0">
                    <a:solidFill>
                      <a:srgbClr val="EFEFEF"/>
                    </a:solidFill>
                  </a:tcPr>
                </a:tc>
                <a:tc>
                  <a:txBody>
                    <a:bodyPr/>
                    <a:lstStyle/>
                    <a:p>
                      <a:pPr algn="ctr">
                        <a:defRPr sz="1000">
                          <a:latin typeface="Montserrat"/>
                        </a:defRPr>
                      </a:pPr>
                      <a:r>
                        <a:t>2,891</a:t>
                      </a:r>
                    </a:p>
                  </a:txBody>
                  <a:tcPr marL="0" marR="0" marT="0" marB="0">
                    <a:solidFill>
                      <a:srgbClr val="EFEFEF"/>
                    </a:solidFill>
                  </a:tcPr>
                </a:tc>
                <a:tc>
                  <a:txBody>
                    <a:bodyPr/>
                    <a:lstStyle/>
                    <a:p>
                      <a:pPr algn="ctr">
                        <a:defRPr sz="1000">
                          <a:latin typeface="Montserrat"/>
                        </a:defRPr>
                      </a:pPr>
                      <a:r>
                        <a:t>3,234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35.9%</a:t>
                      </a:r>
                    </a:p>
                  </a:txBody>
                  <a:tcPr marL="0" marR="0" marT="0" marB="0">
                    <a:solidFill>
                      <a:srgbClr val="ECD3D9"/>
                    </a:solidFill>
                  </a:tcPr>
                </a:tc>
              </a:tr>
              <a:tr h="151200">
                <a:tc>
                  <a:txBody>
                    <a:bodyPr/>
                    <a:lstStyle/>
                    <a:p>
                      <a:pPr algn="l">
                        <a:defRPr sz="1000">
                          <a:latin typeface="Montserrat"/>
                        </a:defRPr>
                      </a:pPr>
                      <a:r>
                        <a:t>UMF 72 Hidalgo</a:t>
                      </a:r>
                    </a:p>
                  </a:txBody>
                  <a:tcPr marL="0" marR="0" marT="0" marB="0">
                    <a:solidFill>
                      <a:srgbClr val="FFFFFF"/>
                    </a:solidFill>
                  </a:tcPr>
                </a:tc>
                <a:tc>
                  <a:txBody>
                    <a:bodyPr/>
                    <a:lstStyle/>
                    <a:p>
                      <a:pPr algn="ctr">
                        <a:defRPr sz="1000">
                          <a:latin typeface="Montserrat"/>
                        </a:defRPr>
                      </a:pPr>
                      <a:r>
                        <a:t>3,774</a:t>
                      </a:r>
                    </a:p>
                  </a:txBody>
                  <a:tcPr marL="0" marR="0" marT="0" marB="0">
                    <a:solidFill>
                      <a:srgbClr val="FFFFFF"/>
                    </a:solidFill>
                  </a:tcPr>
                </a:tc>
                <a:tc>
                  <a:txBody>
                    <a:bodyPr/>
                    <a:lstStyle/>
                    <a:p>
                      <a:pPr algn="ctr">
                        <a:defRPr sz="1000">
                          <a:latin typeface="Montserrat"/>
                        </a:defRPr>
                      </a:pPr>
                      <a:r>
                        <a:t>1,707</a:t>
                      </a:r>
                    </a:p>
                  </a:txBody>
                  <a:tcPr marL="0" marR="0" marT="0" marB="0">
                    <a:solidFill>
                      <a:srgbClr val="FFFFFF"/>
                    </a:solidFill>
                  </a:tcPr>
                </a:tc>
                <a:tc>
                  <a:txBody>
                    <a:bodyPr/>
                    <a:lstStyle/>
                    <a:p>
                      <a:pPr algn="ctr">
                        <a:defRPr sz="1000">
                          <a:latin typeface="Montserrat"/>
                        </a:defRPr>
                      </a:pPr>
                      <a:r>
                        <a:t>1,869</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79 Matamoros</a:t>
                      </a:r>
                    </a:p>
                  </a:txBody>
                  <a:tcPr marL="0" marR="0" marT="0" marB="0">
                    <a:solidFill>
                      <a:srgbClr val="EFEFEF"/>
                    </a:solidFill>
                  </a:tcPr>
                </a:tc>
                <a:tc>
                  <a:txBody>
                    <a:bodyPr/>
                    <a:lstStyle/>
                    <a:p>
                      <a:pPr algn="ctr">
                        <a:defRPr sz="1000">
                          <a:latin typeface="Montserrat"/>
                        </a:defRPr>
                      </a:pPr>
                      <a:r>
                        <a:t>328,175</a:t>
                      </a:r>
                    </a:p>
                  </a:txBody>
                  <a:tcPr marL="0" marR="0" marT="0" marB="0">
                    <a:solidFill>
                      <a:srgbClr val="EFEFEF"/>
                    </a:solidFill>
                  </a:tcPr>
                </a:tc>
                <a:tc>
                  <a:txBody>
                    <a:bodyPr/>
                    <a:lstStyle/>
                    <a:p>
                      <a:pPr algn="ctr">
                        <a:defRPr sz="1000">
                          <a:latin typeface="Montserrat"/>
                        </a:defRPr>
                      </a:pPr>
                      <a:r>
                        <a:t>64,830</a:t>
                      </a:r>
                    </a:p>
                  </a:txBody>
                  <a:tcPr marL="0" marR="0" marT="0" marB="0">
                    <a:solidFill>
                      <a:srgbClr val="EFEFEF"/>
                    </a:solidFill>
                  </a:tcPr>
                </a:tc>
                <a:tc>
                  <a:txBody>
                    <a:bodyPr/>
                    <a:lstStyle/>
                    <a:p>
                      <a:pPr algn="ctr">
                        <a:defRPr sz="1000">
                          <a:latin typeface="Montserrat"/>
                        </a:defRPr>
                      </a:pPr>
                      <a:r>
                        <a:t>122,252</a:t>
                      </a:r>
                    </a:p>
                  </a:txBody>
                  <a:tcPr marL="0" marR="0" marT="0" marB="0">
                    <a:solidFill>
                      <a:srgbClr val="ECD3D9"/>
                    </a:solidFill>
                  </a:tcPr>
                </a:tc>
                <a:tc>
                  <a:txBody>
                    <a:bodyPr/>
                    <a:lstStyle/>
                    <a:p>
                      <a:pPr algn="ctr">
                        <a:defRPr sz="1000">
                          <a:latin typeface="Montserrat"/>
                        </a:defRPr>
                      </a:pPr>
                      <a:r>
                        <a:t>316,000</a:t>
                      </a:r>
                    </a:p>
                  </a:txBody>
                  <a:tcPr marL="0" marR="0" marT="0" marB="0">
                    <a:solidFill>
                      <a:srgbClr val="ECD3D9"/>
                    </a:solidFill>
                  </a:tcPr>
                </a:tc>
                <a:tc>
                  <a:txBody>
                    <a:bodyPr/>
                    <a:lstStyle/>
                    <a:p>
                      <a:pPr algn="ctr">
                        <a:defRPr sz="1000">
                          <a:latin typeface="Montserrat"/>
                        </a:defRPr>
                      </a:pPr>
                      <a:r>
                        <a:t>38.7%</a:t>
                      </a:r>
                    </a:p>
                  </a:txBody>
                  <a:tcPr marL="0" marR="0" marT="0" marB="0">
                    <a:solidFill>
                      <a:srgbClr val="ECD3D9"/>
                    </a:solidFill>
                  </a:tcPr>
                </a:tc>
              </a:tr>
              <a:tr h="151200">
                <a:tc>
                  <a:txBody>
                    <a:bodyPr/>
                    <a:lstStyle/>
                    <a:p>
                      <a:pPr algn="l">
                        <a:defRPr sz="1000">
                          <a:latin typeface="Montserrat"/>
                        </a:defRPr>
                      </a:pPr>
                      <a:r>
                        <a:t>UMF 35 Nuevo Morelos</a:t>
                      </a:r>
                    </a:p>
                  </a:txBody>
                  <a:tcPr marL="0" marR="0" marT="0" marB="0">
                    <a:solidFill>
                      <a:srgbClr val="FFFFFF"/>
                    </a:solidFill>
                  </a:tcPr>
                </a:tc>
                <a:tc>
                  <a:txBody>
                    <a:bodyPr/>
                    <a:lstStyle/>
                    <a:p>
                      <a:pPr algn="ctr">
                        <a:defRPr sz="1000">
                          <a:latin typeface="Montserrat"/>
                        </a:defRPr>
                      </a:pPr>
                      <a:r>
                        <a:t>4,217</a:t>
                      </a:r>
                    </a:p>
                  </a:txBody>
                  <a:tcPr marL="0" marR="0" marT="0" marB="0">
                    <a:solidFill>
                      <a:srgbClr val="FFFFFF"/>
                    </a:solidFill>
                  </a:tcPr>
                </a:tc>
                <a:tc>
                  <a:txBody>
                    <a:bodyPr/>
                    <a:lstStyle/>
                    <a:p>
                      <a:pPr algn="ctr">
                        <a:defRPr sz="1000">
                          <a:latin typeface="Montserrat"/>
                        </a:defRPr>
                      </a:pPr>
                      <a:r>
                        <a:t>683</a:t>
                      </a:r>
                    </a:p>
                  </a:txBody>
                  <a:tcPr marL="0" marR="0" marT="0" marB="0">
                    <a:solidFill>
                      <a:srgbClr val="FFFFFF"/>
                    </a:solidFill>
                  </a:tcPr>
                </a:tc>
                <a:tc>
                  <a:txBody>
                    <a:bodyPr/>
                    <a:lstStyle/>
                    <a:p>
                      <a:pPr algn="ctr">
                        <a:defRPr sz="1000">
                          <a:latin typeface="Montserrat"/>
                        </a:defRPr>
                      </a:pPr>
                      <a:r>
                        <a:t>1,500</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25.0%</a:t>
                      </a:r>
                    </a:p>
                  </a:txBody>
                  <a:tcPr marL="0" marR="0" marT="0" marB="0">
                    <a:solidFill>
                      <a:srgbClr val="ECD3D9"/>
                    </a:solidFill>
                  </a:tcPr>
                </a:tc>
              </a:tr>
              <a:tr h="151200">
                <a:tc>
                  <a:txBody>
                    <a:bodyPr/>
                    <a:lstStyle/>
                    <a:p>
                      <a:pPr algn="l">
                        <a:defRPr sz="1000">
                          <a:latin typeface="Montserrat"/>
                        </a:defRPr>
                      </a:pPr>
                      <a:r>
                        <a:t>UMF 34 Antiguo Morelos</a:t>
                      </a:r>
                    </a:p>
                  </a:txBody>
                  <a:tcPr marL="0" marR="0" marT="0" marB="0">
                    <a:solidFill>
                      <a:srgbClr val="EFEFEF"/>
                    </a:solidFill>
                  </a:tcPr>
                </a:tc>
                <a:tc>
                  <a:txBody>
                    <a:bodyPr/>
                    <a:lstStyle/>
                    <a:p>
                      <a:pPr algn="ctr">
                        <a:defRPr sz="1000">
                          <a:latin typeface="Montserrat"/>
                        </a:defRPr>
                      </a:pPr>
                      <a:r>
                        <a:t>6,237</a:t>
                      </a:r>
                    </a:p>
                  </a:txBody>
                  <a:tcPr marL="0" marR="0" marT="0" marB="0">
                    <a:solidFill>
                      <a:srgbClr val="EFEFEF"/>
                    </a:solidFill>
                  </a:tcPr>
                </a:tc>
                <a:tc>
                  <a:txBody>
                    <a:bodyPr/>
                    <a:lstStyle/>
                    <a:p>
                      <a:pPr algn="ctr">
                        <a:defRPr sz="1000">
                          <a:latin typeface="Montserrat"/>
                        </a:defRPr>
                      </a:pPr>
                      <a:r>
                        <a:t>784</a:t>
                      </a:r>
                    </a:p>
                  </a:txBody>
                  <a:tcPr marL="0" marR="0" marT="0" marB="0">
                    <a:solidFill>
                      <a:srgbClr val="EFEFEF"/>
                    </a:solidFill>
                  </a:tcPr>
                </a:tc>
                <a:tc>
                  <a:txBody>
                    <a:bodyPr/>
                    <a:lstStyle/>
                    <a:p>
                      <a:pPr algn="ctr">
                        <a:defRPr sz="1000">
                          <a:latin typeface="Montserrat"/>
                        </a:defRPr>
                      </a:pPr>
                      <a:r>
                        <a:t>2,192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27.4%</a:t>
                      </a:r>
                    </a:p>
                  </a:txBody>
                  <a:tcPr marL="0" marR="0" marT="0" marB="0">
                    <a:solidFill>
                      <a:srgbClr val="ECD3D9"/>
                    </a:solidFill>
                  </a:tcPr>
                </a:tc>
              </a:tr>
              <a:tr h="151200">
                <a:tc>
                  <a:txBody>
                    <a:bodyPr/>
                    <a:lstStyle/>
                    <a:p>
                      <a:pPr algn="l">
                        <a:defRPr sz="1000">
                          <a:latin typeface="Montserrat"/>
                        </a:defRPr>
                      </a:pPr>
                      <a:r>
                        <a:t>UMF 23 Ciudad Gustavo Díaz Ordaz</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1,511</a:t>
                      </a:r>
                    </a:p>
                  </a:txBody>
                  <a:tcPr marL="0" marR="0" marT="0" marB="0">
                    <a:solidFill>
                      <a:srgbClr val="FFFFFF"/>
                    </a:solidFill>
                  </a:tcPr>
                </a:tc>
                <a:tc>
                  <a:txBody>
                    <a:bodyPr/>
                    <a:lstStyle/>
                    <a:p>
                      <a:pPr algn="ctr">
                        <a:defRPr sz="1000">
                          <a:latin typeface="Montserrat"/>
                        </a:defRPr>
                      </a:pPr>
                      <a:r>
                        <a:t>2,510</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31.4%</a:t>
                      </a:r>
                    </a:p>
                  </a:txBody>
                  <a:tcPr marL="0" marR="0" marT="0" marB="0">
                    <a:solidFill>
                      <a:srgbClr val="ECD3D9"/>
                    </a:solidFill>
                  </a:tcPr>
                </a:tc>
              </a:tr>
              <a:tr h="151200">
                <a:tc>
                  <a:txBody>
                    <a:bodyPr/>
                    <a:lstStyle/>
                    <a:p>
                      <a:pPr algn="l">
                        <a:defRPr sz="1000">
                          <a:latin typeface="Montserrat"/>
                        </a:defRPr>
                      </a:pPr>
                      <a:r>
                        <a:t>UMF 14 Nva. Apoloria</a:t>
                      </a:r>
                    </a:p>
                  </a:txBody>
                  <a:tcPr marL="0" marR="0" marT="0" marB="0">
                    <a:solidFill>
                      <a:srgbClr val="EFEFEF"/>
                    </a:solidFill>
                  </a:tcPr>
                </a:tc>
                <a:tc>
                  <a:txBody>
                    <a:bodyPr/>
                    <a:lstStyle/>
                    <a:p>
                      <a:pPr algn="ctr">
                        <a:defRPr sz="1000">
                          <a:latin typeface="Montserrat"/>
                        </a:defRPr>
                      </a:pPr>
                      <a:r>
                        <a:t>4,762</a:t>
                      </a:r>
                    </a:p>
                  </a:txBody>
                  <a:tcPr marL="0" marR="0" marT="0" marB="0">
                    <a:solidFill>
                      <a:srgbClr val="EFEFEF"/>
                    </a:solidFill>
                  </a:tcPr>
                </a:tc>
                <a:tc>
                  <a:txBody>
                    <a:bodyPr/>
                    <a:lstStyle/>
                    <a:p>
                      <a:pPr algn="ctr">
                        <a:defRPr sz="1000">
                          <a:latin typeface="Montserrat"/>
                        </a:defRPr>
                      </a:pPr>
                      <a:r>
                        <a:t>685</a:t>
                      </a:r>
                    </a:p>
                  </a:txBody>
                  <a:tcPr marL="0" marR="0" marT="0" marB="0">
                    <a:solidFill>
                      <a:srgbClr val="EFEFEF"/>
                    </a:solidFill>
                  </a:tcPr>
                </a:tc>
                <a:tc>
                  <a:txBody>
                    <a:bodyPr/>
                    <a:lstStyle/>
                    <a:p>
                      <a:pPr algn="ctr">
                        <a:defRPr sz="1000">
                          <a:latin typeface="Montserrat"/>
                        </a:defRPr>
                      </a:pPr>
                      <a:r>
                        <a:t>1,440</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24.0%</a:t>
                      </a:r>
                    </a:p>
                  </a:txBody>
                  <a:tcPr marL="0" marR="0" marT="0" marB="0">
                    <a:solidFill>
                      <a:srgbClr val="ECD3D9"/>
                    </a:solidFill>
                  </a:tcPr>
                </a:tc>
              </a:tr>
              <a:tr h="151200">
                <a:tc>
                  <a:txBody>
                    <a:bodyPr/>
                    <a:lstStyle/>
                    <a:p>
                      <a:pPr algn="l">
                        <a:defRPr sz="1000">
                          <a:latin typeface="Montserrat"/>
                        </a:defRPr>
                      </a:pPr>
                      <a:r>
                        <a:t>UMF 36 Matamoros</a:t>
                      </a:r>
                    </a:p>
                  </a:txBody>
                  <a:tcPr marL="0" marR="0" marT="0" marB="0">
                    <a:solidFill>
                      <a:srgbClr val="FFFFFF"/>
                    </a:solidFill>
                  </a:tcPr>
                </a:tc>
                <a:tc>
                  <a:txBody>
                    <a:bodyPr/>
                    <a:lstStyle/>
                    <a:p>
                      <a:pPr algn="ctr">
                        <a:defRPr sz="1000">
                          <a:latin typeface="Montserrat"/>
                        </a:defRPr>
                      </a:pPr>
                      <a:r>
                        <a:t>310,734</a:t>
                      </a:r>
                    </a:p>
                  </a:txBody>
                  <a:tcPr marL="0" marR="0" marT="0" marB="0">
                    <a:solidFill>
                      <a:srgbClr val="FFFFFF"/>
                    </a:solidFill>
                  </a:tcPr>
                </a:tc>
                <a:tc>
                  <a:txBody>
                    <a:bodyPr/>
                    <a:lstStyle/>
                    <a:p>
                      <a:pPr algn="ctr">
                        <a:defRPr sz="1000">
                          <a:latin typeface="Montserrat"/>
                        </a:defRPr>
                      </a:pPr>
                      <a:r>
                        <a:t>45,147</a:t>
                      </a:r>
                    </a:p>
                  </a:txBody>
                  <a:tcPr marL="0" marR="0" marT="0" marB="0">
                    <a:solidFill>
                      <a:srgbClr val="FFFFFF"/>
                    </a:solidFill>
                  </a:tcPr>
                </a:tc>
                <a:tc>
                  <a:txBody>
                    <a:bodyPr/>
                    <a:lstStyle/>
                    <a:p>
                      <a:pPr algn="ctr">
                        <a:defRPr sz="1000">
                          <a:latin typeface="Montserrat"/>
                        </a:defRPr>
                      </a:pPr>
                      <a:r>
                        <a:t>101,239</a:t>
                      </a:r>
                    </a:p>
                  </a:txBody>
                  <a:tcPr marL="0" marR="0" marT="0" marB="0">
                    <a:solidFill>
                      <a:srgbClr val="ECD3D9"/>
                    </a:solidFill>
                  </a:tcPr>
                </a:tc>
                <a:tc>
                  <a:txBody>
                    <a:bodyPr/>
                    <a:lstStyle/>
                    <a:p>
                      <a:pPr algn="ctr">
                        <a:defRPr sz="1000">
                          <a:latin typeface="Montserrat"/>
                        </a:defRPr>
                      </a:pPr>
                      <a:r>
                        <a:t>302,000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5 Xicotencatl</a:t>
                      </a:r>
                    </a:p>
                  </a:txBody>
                  <a:tcPr marL="0" marR="0" marT="0" marB="0">
                    <a:solidFill>
                      <a:srgbClr val="EFEFEF"/>
                    </a:solidFill>
                  </a:tcPr>
                </a:tc>
                <a:tc>
                  <a:txBody>
                    <a:bodyPr/>
                    <a:lstStyle/>
                    <a:p>
                      <a:pPr algn="ctr">
                        <a:defRPr sz="1000">
                          <a:latin typeface="Montserrat"/>
                        </a:defRPr>
                      </a:pPr>
                      <a:r>
                        <a:t>22,702</a:t>
                      </a:r>
                    </a:p>
                  </a:txBody>
                  <a:tcPr marL="0" marR="0" marT="0" marB="0">
                    <a:solidFill>
                      <a:srgbClr val="EFEFEF"/>
                    </a:solidFill>
                  </a:tcPr>
                </a:tc>
                <a:tc>
                  <a:txBody>
                    <a:bodyPr/>
                    <a:lstStyle/>
                    <a:p>
                      <a:pPr algn="ctr">
                        <a:defRPr sz="1000">
                          <a:latin typeface="Montserrat"/>
                        </a:defRPr>
                      </a:pPr>
                      <a:r>
                        <a:t>1,617</a:t>
                      </a:r>
                    </a:p>
                  </a:txBody>
                  <a:tcPr marL="0" marR="0" marT="0" marB="0">
                    <a:solidFill>
                      <a:srgbClr val="EFEFEF"/>
                    </a:solidFill>
                  </a:tcPr>
                </a:tc>
                <a:tc>
                  <a:txBody>
                    <a:bodyPr/>
                    <a:lstStyle/>
                    <a:p>
                      <a:pPr algn="ctr">
                        <a:defRPr sz="1000">
                          <a:latin typeface="Montserrat"/>
                        </a:defRPr>
                      </a:pPr>
                      <a:r>
                        <a:t>7,470</a:t>
                      </a:r>
                    </a:p>
                  </a:txBody>
                  <a:tcPr marL="0" marR="0" marT="0" marB="0">
                    <a:solidFill>
                      <a:srgbClr val="ECD3D9"/>
                    </a:solidFill>
                  </a:tcPr>
                </a:tc>
                <a:tc>
                  <a:txBody>
                    <a:bodyPr/>
                    <a:lstStyle/>
                    <a:p>
                      <a:pPr algn="ctr">
                        <a:defRPr sz="1000">
                          <a:latin typeface="Montserrat"/>
                        </a:defRPr>
                      </a:pPr>
                      <a:r>
                        <a:t>24,000</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24 Mante</a:t>
                      </a:r>
                    </a:p>
                  </a:txBody>
                  <a:tcPr marL="0" marR="0" marT="0" marB="0">
                    <a:solidFill>
                      <a:srgbClr val="FFFFFF"/>
                    </a:solidFill>
                  </a:tcPr>
                </a:tc>
                <a:tc>
                  <a:txBody>
                    <a:bodyPr/>
                    <a:lstStyle/>
                    <a:p>
                      <a:pPr algn="ctr">
                        <a:defRPr sz="1000">
                          <a:latin typeface="Montserrat"/>
                        </a:defRPr>
                      </a:pPr>
                      <a:r>
                        <a:t>206,492</a:t>
                      </a:r>
                    </a:p>
                  </a:txBody>
                  <a:tcPr marL="0" marR="0" marT="0" marB="0">
                    <a:solidFill>
                      <a:srgbClr val="FFFFFF"/>
                    </a:solidFill>
                  </a:tcPr>
                </a:tc>
                <a:tc>
                  <a:txBody>
                    <a:bodyPr/>
                    <a:lstStyle/>
                    <a:p>
                      <a:pPr algn="ctr">
                        <a:defRPr sz="1000">
                          <a:latin typeface="Montserrat"/>
                        </a:defRPr>
                      </a:pPr>
                      <a:r>
                        <a:t>33,916</a:t>
                      </a:r>
                    </a:p>
                  </a:txBody>
                  <a:tcPr marL="0" marR="0" marT="0" marB="0">
                    <a:solidFill>
                      <a:srgbClr val="FFFFFF"/>
                    </a:solidFill>
                  </a:tcPr>
                </a:tc>
                <a:tc>
                  <a:txBody>
                    <a:bodyPr/>
                    <a:lstStyle/>
                    <a:p>
                      <a:pPr algn="ctr">
                        <a:defRPr sz="1000">
                          <a:latin typeface="Montserrat"/>
                        </a:defRPr>
                      </a:pPr>
                      <a:r>
                        <a:t>66,988</a:t>
                      </a:r>
                    </a:p>
                  </a:txBody>
                  <a:tcPr marL="0" marR="0" marT="0" marB="0">
                    <a:solidFill>
                      <a:srgbClr val="ECD3D9"/>
                    </a:solidFill>
                  </a:tcPr>
                </a:tc>
                <a:tc>
                  <a:txBody>
                    <a:bodyPr/>
                    <a:lstStyle/>
                    <a:p>
                      <a:pPr algn="ctr">
                        <a:defRPr sz="1000">
                          <a:latin typeface="Montserrat"/>
                        </a:defRPr>
                      </a:pPr>
                      <a:r>
                        <a:t>200,000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67 Ciudad Victoria c/Rehab</a:t>
                      </a:r>
                    </a:p>
                  </a:txBody>
                  <a:tcPr marL="0" marR="0" marT="0" marB="0">
                    <a:solidFill>
                      <a:srgbClr val="EFEFEF"/>
                    </a:solidFill>
                  </a:tcPr>
                </a:tc>
                <a:tc>
                  <a:txBody>
                    <a:bodyPr/>
                    <a:lstStyle/>
                    <a:p>
                      <a:pPr algn="ctr">
                        <a:defRPr sz="1000">
                          <a:latin typeface="Montserrat"/>
                        </a:defRPr>
                      </a:pPr>
                      <a:r>
                        <a:t>183,789</a:t>
                      </a:r>
                    </a:p>
                  </a:txBody>
                  <a:tcPr marL="0" marR="0" marT="0" marB="0">
                    <a:solidFill>
                      <a:srgbClr val="EFEFEF"/>
                    </a:solidFill>
                  </a:tcPr>
                </a:tc>
                <a:tc>
                  <a:txBody>
                    <a:bodyPr/>
                    <a:lstStyle/>
                    <a:p>
                      <a:pPr algn="ctr">
                        <a:defRPr sz="1000">
                          <a:latin typeface="Montserrat"/>
                        </a:defRPr>
                      </a:pPr>
                      <a:r>
                        <a:t>31,873</a:t>
                      </a:r>
                    </a:p>
                  </a:txBody>
                  <a:tcPr marL="0" marR="0" marT="0" marB="0">
                    <a:solidFill>
                      <a:srgbClr val="EFEFEF"/>
                    </a:solidFill>
                  </a:tcPr>
                </a:tc>
                <a:tc>
                  <a:txBody>
                    <a:bodyPr/>
                    <a:lstStyle/>
                    <a:p>
                      <a:pPr algn="ctr">
                        <a:defRPr sz="1000">
                          <a:latin typeface="Montserrat"/>
                        </a:defRPr>
                      </a:pPr>
                      <a:r>
                        <a:t>63,786</a:t>
                      </a:r>
                    </a:p>
                  </a:txBody>
                  <a:tcPr marL="0" marR="0" marT="0" marB="0">
                    <a:solidFill>
                      <a:srgbClr val="ECD3D9"/>
                    </a:solidFill>
                  </a:tcPr>
                </a:tc>
                <a:tc>
                  <a:txBody>
                    <a:bodyPr/>
                    <a:lstStyle/>
                    <a:p>
                      <a:pPr algn="ctr">
                        <a:defRPr sz="1000">
                          <a:latin typeface="Montserrat"/>
                        </a:defRPr>
                      </a:pPr>
                      <a:r>
                        <a:t>187,920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UMF-UMAA 76 Nuevo Laredo</a:t>
                      </a:r>
                    </a:p>
                  </a:txBody>
                  <a:tcPr marL="0" marR="0" marT="0" marB="0">
                    <a:solidFill>
                      <a:srgbClr val="FFFFFF"/>
                    </a:solidFill>
                  </a:tcPr>
                </a:tc>
                <a:tc>
                  <a:txBody>
                    <a:bodyPr/>
                    <a:lstStyle/>
                    <a:p>
                      <a:pPr algn="ctr">
                        <a:defRPr sz="1000">
                          <a:latin typeface="Montserrat"/>
                        </a:defRPr>
                      </a:pPr>
                      <a:r>
                        <a:t>121,649</a:t>
                      </a:r>
                    </a:p>
                  </a:txBody>
                  <a:tcPr marL="0" marR="0" marT="0" marB="0">
                    <a:solidFill>
                      <a:srgbClr val="FFFFFF"/>
                    </a:solidFill>
                  </a:tcPr>
                </a:tc>
                <a:tc>
                  <a:txBody>
                    <a:bodyPr/>
                    <a:lstStyle/>
                    <a:p>
                      <a:pPr algn="ctr">
                        <a:defRPr sz="1000">
                          <a:latin typeface="Montserrat"/>
                        </a:defRPr>
                      </a:pPr>
                      <a:r>
                        <a:t>10,756</a:t>
                      </a:r>
                    </a:p>
                  </a:txBody>
                  <a:tcPr marL="0" marR="0" marT="0" marB="0">
                    <a:solidFill>
                      <a:srgbClr val="FFFFFF"/>
                    </a:solidFill>
                  </a:tcPr>
                </a:tc>
                <a:tc>
                  <a:txBody>
                    <a:bodyPr/>
                    <a:lstStyle/>
                    <a:p>
                      <a:pPr algn="ctr">
                        <a:defRPr sz="1000">
                          <a:latin typeface="Montserrat"/>
                        </a:defRPr>
                      </a:pPr>
                      <a:r>
                        <a:t>41,462</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41 Balcones de Alcalá</a:t>
                      </a:r>
                    </a:p>
                  </a:txBody>
                  <a:tcPr marL="0" marR="0" marT="0" marB="0">
                    <a:solidFill>
                      <a:srgbClr val="EFEFEF"/>
                    </a:solidFill>
                  </a:tcPr>
                </a:tc>
                <a:tc>
                  <a:txBody>
                    <a:bodyPr/>
                    <a:lstStyle/>
                    <a:p>
                      <a:pPr algn="ctr">
                        <a:defRPr sz="1000">
                          <a:latin typeface="Montserrat"/>
                        </a:defRPr>
                      </a:pPr>
                      <a:r>
                        <a:t>129,870</a:t>
                      </a:r>
                    </a:p>
                  </a:txBody>
                  <a:tcPr marL="0" marR="0" marT="0" marB="0">
                    <a:solidFill>
                      <a:srgbClr val="EFEFEF"/>
                    </a:solidFill>
                  </a:tcPr>
                </a:tc>
                <a:tc>
                  <a:txBody>
                    <a:bodyPr/>
                    <a:lstStyle/>
                    <a:p>
                      <a:pPr algn="ctr">
                        <a:defRPr sz="1000">
                          <a:latin typeface="Montserrat"/>
                        </a:defRPr>
                      </a:pPr>
                      <a:r>
                        <a:t>18,156</a:t>
                      </a:r>
                    </a:p>
                  </a:txBody>
                  <a:tcPr marL="0" marR="0" marT="0" marB="0">
                    <a:solidFill>
                      <a:srgbClr val="EFEFEF"/>
                    </a:solidFill>
                  </a:tcPr>
                </a:tc>
                <a:tc>
                  <a:txBody>
                    <a:bodyPr/>
                    <a:lstStyle/>
                    <a:p>
                      <a:pPr algn="ctr">
                        <a:defRPr sz="1000">
                          <a:latin typeface="Montserrat"/>
                        </a:defRPr>
                      </a:pPr>
                      <a:r>
                        <a:t>42,225</a:t>
                      </a:r>
                    </a:p>
                  </a:txBody>
                  <a:tcPr marL="0" marR="0" marT="0" marB="0">
                    <a:solidFill>
                      <a:srgbClr val="ECD3D9"/>
                    </a:solidFill>
                  </a:tcPr>
                </a:tc>
                <a:tc>
                  <a:txBody>
                    <a:bodyPr/>
                    <a:lstStyle/>
                    <a:p>
                      <a:pPr algn="ctr">
                        <a:defRPr sz="1000">
                          <a:latin typeface="Montserrat"/>
                        </a:defRPr>
                      </a:pPr>
                      <a:r>
                        <a:t>127,000</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1,599,459</a:t>
                      </a:r>
                    </a:p>
                  </a:txBody>
                  <a:tcPr marL="0" marR="0" marT="0" marB="0">
                    <a:solidFill>
                      <a:srgbClr val="D3E9E7"/>
                    </a:solidFill>
                  </a:tcPr>
                </a:tc>
                <a:tc>
                  <a:txBody>
                    <a:bodyPr/>
                    <a:lstStyle/>
                    <a:p>
                      <a:pPr algn="ctr">
                        <a:defRPr sz="1000" b="1">
                          <a:solidFill>
                            <a:srgbClr val="006556"/>
                          </a:solidFill>
                          <a:latin typeface="Montserrat"/>
                        </a:defRPr>
                      </a:pPr>
                      <a:r>
                        <a:t>269,139</a:t>
                      </a:r>
                    </a:p>
                  </a:txBody>
                  <a:tcPr marL="0" marR="0" marT="0" marB="0">
                    <a:solidFill>
                      <a:srgbClr val="D3E9E7"/>
                    </a:solidFill>
                  </a:tcPr>
                </a:tc>
                <a:tc>
                  <a:txBody>
                    <a:bodyPr/>
                    <a:lstStyle/>
                    <a:p>
                      <a:pPr algn="ctr">
                        <a:defRPr sz="1000" b="1">
                          <a:solidFill>
                            <a:srgbClr val="FFFFFF"/>
                          </a:solidFill>
                          <a:latin typeface="Montserrat"/>
                        </a:defRPr>
                      </a:pPr>
                      <a:r>
                        <a:t>559,768</a:t>
                      </a:r>
                    </a:p>
                  </a:txBody>
                  <a:tcPr marL="0" marR="0" marT="0" marB="0">
                    <a:solidFill>
                      <a:srgbClr val="9F2241"/>
                    </a:solidFill>
                  </a:tcPr>
                </a:tc>
                <a:tc>
                  <a:txBody>
                    <a:bodyPr/>
                    <a:lstStyle/>
                    <a:p>
                      <a:pPr algn="ctr">
                        <a:defRPr sz="1000" b="1">
                          <a:solidFill>
                            <a:srgbClr val="FFFFFF"/>
                          </a:solidFill>
                          <a:latin typeface="Montserrat"/>
                        </a:defRPr>
                      </a:pPr>
                      <a:r>
                        <a:t>1,627,840</a:t>
                      </a:r>
                    </a:p>
                  </a:txBody>
                  <a:tcPr marL="0" marR="0" marT="0" marB="0">
                    <a:solidFill>
                      <a:srgbClr val="9F2241"/>
                    </a:solidFill>
                  </a:tcPr>
                </a:tc>
                <a:tc>
                  <a:txBody>
                    <a:bodyPr/>
                    <a:lstStyle/>
                    <a:p>
                      <a:pPr algn="ctr">
                        <a:defRPr sz="1000" b="1">
                          <a:solidFill>
                            <a:srgbClr val="FFFFFF"/>
                          </a:solidFill>
                          <a:latin typeface="Montserrat"/>
                        </a:defRPr>
                      </a:pPr>
                      <a:r>
                        <a:t>34.4%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8552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575200"/>
            <a:ext cx="1800000" cy="360000"/>
          </a:xfrm>
          <a:prstGeom prst="rect">
            <a:avLst/>
          </a:prstGeom>
          <a:noFill/>
        </p:spPr>
        <p:txBody>
          <a:bodyPr wrap="none">
            <a:spAutoFit/>
          </a:bodyPr>
          <a:lstStyle/>
          <a:p>
            <a:pPr algn="ctr"/>
            <a:r>
              <a:rPr sz="2400" b="1">
                <a:solidFill>
                  <a:srgbClr val="9F2241"/>
                </a:solidFill>
                <a:latin typeface="Montserrat"/>
              </a:rPr>
              <a:t>34.4%</a:t>
            </a:r>
          </a:p>
        </p:txBody>
      </p:sp>
      <p:sp>
        <p:nvSpPr>
          <p:cNvPr id="11" name="TextBox 10"/>
          <p:cNvSpPr txBox="1"/>
          <p:nvPr/>
        </p:nvSpPr>
        <p:spPr>
          <a:xfrm>
            <a:off x="4780800" y="94752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855200"/>
            <a:ext cx="2854800" cy="1198800"/>
          </a:xfrm>
          <a:prstGeom prst="rect">
            <a:avLst/>
          </a:prstGeom>
          <a:noFill/>
        </p:spPr>
        <p:txBody>
          <a:bodyPr wrap="square">
            <a:spAutoFit/>
          </a:bodyPr>
          <a:lstStyle/>
          <a:p>
            <a:pPr algn="ctr">
              <a:defRPr sz="3600" b="1">
                <a:solidFill>
                  <a:srgbClr val="9F2241"/>
                </a:solidFill>
                <a:latin typeface="Montserrat"/>
              </a:defRPr>
            </a:pPr>
            <a:r>
              <a:t>1,627,840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316" name="CuadroTexto 315">
            <a:extLst>
              <a:ext uri="{FF2B5EF4-FFF2-40B4-BE49-F238E27FC236}">
                <a16:creationId xmlns:a16="http://schemas.microsoft.com/office/drawing/2014/main" id="{D9F31008-9FFC-2E06-821E-01FD7ED7822D}"/>
              </a:ext>
            </a:extLst>
          </p:cNvPr>
          <p:cNvSpPr txBox="1"/>
          <p:nvPr/>
        </p:nvSpPr>
        <p:spPr>
          <a:xfrm>
            <a:off x="4362328" y="5355106"/>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Nuevas UMTC con   7 consultorios</a:t>
            </a:r>
          </a:p>
        </p:txBody>
      </p:sp>
      <p:sp>
        <p:nvSpPr>
          <p:cNvPr id="317" name="CuadroTexto 316">
            <a:extLst>
              <a:ext uri="{FF2B5EF4-FFF2-40B4-BE49-F238E27FC236}">
                <a16:creationId xmlns:a16="http://schemas.microsoft.com/office/drawing/2014/main" id="{F95BCF7C-8897-CBB8-0345-4FA6908826F5}"/>
              </a:ext>
            </a:extLst>
          </p:cNvPr>
          <p:cNvSpPr txBox="1"/>
          <p:nvPr/>
        </p:nvSpPr>
        <p:spPr>
          <a:xfrm>
            <a:off x="4362327" y="6495146"/>
            <a:ext cx="3454851" cy="954107"/>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41 Balcones de Alcalá</a:t>
            </a:r>
          </a:p>
          <a:p>
            <a:pPr marL="342900" indent="-342900">
              <a:buFont typeface="+mj-lt"/>
              <a:buAutoNum type="arabicParenR"/>
            </a:pPr>
            <a:r>
              <a:rPr lang="es-MX" dirty="0">
                <a:latin typeface="Montserrat" panose="00000500000000000000" pitchFamily="2" charset="0"/>
              </a:rPr>
              <a:t>UMF-UMAA 76 Nuevo Laredo</a:t>
            </a:r>
          </a:p>
          <a:p>
            <a:pPr marL="342900" indent="-342900">
              <a:buFont typeface="+mj-lt"/>
              <a:buAutoNum type="arabicParenR"/>
            </a:pPr>
            <a:r>
              <a:rPr lang="es-MX" dirty="0">
                <a:latin typeface="Montserrat" panose="00000500000000000000" pitchFamily="2" charset="0"/>
              </a:rPr>
              <a:t>UMF 67 Ciudad Victoria c/</a:t>
            </a:r>
            <a:r>
              <a:rPr lang="es-MX" dirty="0" err="1">
                <a:latin typeface="Montserrat" panose="00000500000000000000" pitchFamily="2" charset="0"/>
              </a:rPr>
              <a:t>Rehab</a:t>
            </a:r>
            <a:endParaRPr lang="es-MX" dirty="0">
              <a:latin typeface="Montserrat" panose="00000500000000000000" pitchFamily="2" charset="0"/>
            </a:endParaRPr>
          </a:p>
          <a:p>
            <a:pPr marL="342900" indent="-342900">
              <a:buFont typeface="+mj-lt"/>
              <a:buAutoNum type="arabicParenR"/>
            </a:pPr>
            <a:r>
              <a:rPr lang="es-MX" dirty="0">
                <a:latin typeface="Montserrat" panose="00000500000000000000" pitchFamily="2" charset="0"/>
              </a:rPr>
              <a:t>UMF 10 Altamira</a:t>
            </a:r>
          </a:p>
        </p:txBody>
      </p:sp>
      <p:sp>
        <p:nvSpPr>
          <p:cNvPr id="318" name="TextBox 3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19" name="TextBox 3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320" name="TextBox 31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21" name="TextBox 32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22" name="Connector 3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23" name="TextBox 32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324" name="TextBox 32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(289,971 consultas)</a:t>
            </a:r>
          </a:p>
        </p:txBody>
      </p:sp>
      <p:graphicFrame>
        <p:nvGraphicFramePr>
          <p:cNvPr id="325" name="Table 324"/>
          <p:cNvGraphicFramePr>
            <a:graphicFrameLocks noGrp="1"/>
          </p:cNvGraphicFramePr>
          <p:nvPr/>
        </p:nvGraphicFramePr>
        <p:xfrm>
          <a:off x="151200" y="1695600"/>
          <a:ext cx="7473599" cy="1512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17 Río Bravo</a:t>
                      </a:r>
                    </a:p>
                  </a:txBody>
                  <a:tcPr marL="0" marR="0" marT="0" marB="0">
                    <a:solidFill>
                      <a:srgbClr val="FFFFFF"/>
                    </a:solidFill>
                  </a:tcPr>
                </a:tc>
                <a:tc>
                  <a:txBody>
                    <a:bodyPr/>
                    <a:lstStyle/>
                    <a:p>
                      <a:pPr algn="ctr">
                        <a:defRPr sz="1000">
                          <a:solidFill>
                            <a:srgbClr val="000000"/>
                          </a:solidFill>
                          <a:latin typeface="Montserrat"/>
                        </a:defRPr>
                      </a:pPr>
                      <a:r>
                        <a:t>128,229</a:t>
                      </a:r>
                    </a:p>
                  </a:txBody>
                  <a:tcPr marL="0" marR="0" marT="0" marB="0">
                    <a:solidFill>
                      <a:srgbClr val="FFFFFF"/>
                    </a:solidFill>
                  </a:tcPr>
                </a:tc>
                <a:tc>
                  <a:txBody>
                    <a:bodyPr/>
                    <a:lstStyle/>
                    <a:p>
                      <a:pPr algn="ctr">
                        <a:defRPr sz="1000">
                          <a:solidFill>
                            <a:srgbClr val="000000"/>
                          </a:solidFill>
                          <a:latin typeface="Montserrat"/>
                        </a:defRPr>
                      </a:pPr>
                      <a:r>
                        <a:t>21,505</a:t>
                      </a:r>
                    </a:p>
                  </a:txBody>
                  <a:tcPr marL="0" marR="0" marT="0" marB="0">
                    <a:solidFill>
                      <a:srgbClr val="FFFFFF"/>
                    </a:solidFill>
                  </a:tcPr>
                </a:tc>
                <a:tc>
                  <a:txBody>
                    <a:bodyPr/>
                    <a:lstStyle/>
                    <a:p>
                      <a:pPr algn="ctr">
                        <a:defRPr sz="1000">
                          <a:solidFill>
                            <a:srgbClr val="000000"/>
                          </a:solidFill>
                          <a:latin typeface="Montserrat"/>
                        </a:defRPr>
                      </a:pPr>
                      <a:r>
                        <a:t>45,599</a:t>
                      </a:r>
                    </a:p>
                  </a:txBody>
                  <a:tcPr marL="0" marR="0" marT="0" marB="0">
                    <a:solidFill>
                      <a:srgbClr val="ECD3D9"/>
                    </a:solidFill>
                  </a:tcPr>
                </a:tc>
                <a:tc>
                  <a:txBody>
                    <a:bodyPr/>
                    <a:lstStyle/>
                    <a:p>
                      <a:pPr algn="ctr">
                        <a:defRPr sz="1000">
                          <a:solidFill>
                            <a:srgbClr val="000000"/>
                          </a:solidFill>
                          <a:latin typeface="Montserrat"/>
                        </a:defRPr>
                      </a:pPr>
                      <a:r>
                        <a:t>125,000</a:t>
                      </a:r>
                    </a:p>
                  </a:txBody>
                  <a:tcPr marL="0" marR="0" marT="0" marB="0">
                    <a:solidFill>
                      <a:srgbClr val="ECD3D9"/>
                    </a:solidFill>
                  </a:tcPr>
                </a:tc>
                <a:tc>
                  <a:txBody>
                    <a:bodyPr/>
                    <a:lstStyle/>
                    <a:p>
                      <a:pPr algn="ctr">
                        <a:defRPr sz="1000">
                          <a:solidFill>
                            <a:srgbClr val="000000"/>
                          </a:solidFill>
                          <a:latin typeface="Montserrat"/>
                        </a:defRPr>
                      </a:pPr>
                      <a:r>
                        <a:t>36.5%</a:t>
                      </a:r>
                    </a:p>
                  </a:txBody>
                  <a:tcPr marL="0" marR="0" marT="0" marB="0">
                    <a:solidFill>
                      <a:srgbClr val="ECD3D9"/>
                    </a:solidFill>
                  </a:tcPr>
                </a:tc>
              </a:tr>
              <a:tr h="151200">
                <a:tc>
                  <a:txBody>
                    <a:bodyPr/>
                    <a:lstStyle/>
                    <a:p>
                      <a:pPr algn="l">
                        <a:defRPr sz="1000">
                          <a:solidFill>
                            <a:srgbClr val="000000"/>
                          </a:solidFill>
                          <a:latin typeface="Montserrat"/>
                        </a:defRPr>
                      </a:pPr>
                      <a:r>
                        <a:t>UMF 77 Ciudad Madero</a:t>
                      </a:r>
                    </a:p>
                  </a:txBody>
                  <a:tcPr marL="0" marR="0" marT="0" marB="0">
                    <a:solidFill>
                      <a:srgbClr val="EFEFEF"/>
                    </a:solidFill>
                  </a:tcPr>
                </a:tc>
                <a:tc>
                  <a:txBody>
                    <a:bodyPr/>
                    <a:lstStyle/>
                    <a:p>
                      <a:pPr algn="ctr">
                        <a:defRPr sz="1000">
                          <a:solidFill>
                            <a:srgbClr val="000000"/>
                          </a:solidFill>
                          <a:latin typeface="Montserrat"/>
                        </a:defRPr>
                      </a:pPr>
                      <a:r>
                        <a:t>594,464</a:t>
                      </a:r>
                    </a:p>
                  </a:txBody>
                  <a:tcPr marL="0" marR="0" marT="0" marB="0">
                    <a:solidFill>
                      <a:srgbClr val="EFEFEF"/>
                    </a:solidFill>
                  </a:tcPr>
                </a:tc>
                <a:tc>
                  <a:txBody>
                    <a:bodyPr/>
                    <a:lstStyle/>
                    <a:p>
                      <a:pPr algn="ctr">
                        <a:defRPr sz="1000">
                          <a:solidFill>
                            <a:srgbClr val="000000"/>
                          </a:solidFill>
                          <a:latin typeface="Montserrat"/>
                        </a:defRPr>
                      </a:pPr>
                      <a:r>
                        <a:t>118,090</a:t>
                      </a:r>
                    </a:p>
                  </a:txBody>
                  <a:tcPr marL="0" marR="0" marT="0" marB="0">
                    <a:solidFill>
                      <a:srgbClr val="EFEFEF"/>
                    </a:solidFill>
                  </a:tcPr>
                </a:tc>
                <a:tc>
                  <a:txBody>
                    <a:bodyPr/>
                    <a:lstStyle/>
                    <a:p>
                      <a:pPr algn="ctr">
                        <a:defRPr sz="1000">
                          <a:solidFill>
                            <a:srgbClr val="000000"/>
                          </a:solidFill>
                          <a:latin typeface="Montserrat"/>
                        </a:defRPr>
                      </a:pPr>
                      <a:r>
                        <a:t>201,463</a:t>
                      </a:r>
                    </a:p>
                  </a:txBody>
                  <a:tcPr marL="0" marR="0" marT="0" marB="0">
                    <a:solidFill>
                      <a:srgbClr val="ECD3D9"/>
                    </a:solidFill>
                  </a:tcPr>
                </a:tc>
                <a:tc>
                  <a:txBody>
                    <a:bodyPr/>
                    <a:lstStyle/>
                    <a:p>
                      <a:pPr algn="ctr">
                        <a:defRPr sz="1000">
                          <a:solidFill>
                            <a:srgbClr val="000000"/>
                          </a:solidFill>
                          <a:latin typeface="Montserrat"/>
                        </a:defRPr>
                      </a:pPr>
                      <a:r>
                        <a:t>570,000</a:t>
                      </a:r>
                    </a:p>
                  </a:txBody>
                  <a:tcPr marL="0" marR="0" marT="0" marB="0">
                    <a:solidFill>
                      <a:srgbClr val="ECD3D9"/>
                    </a:solidFill>
                  </a:tcPr>
                </a:tc>
                <a:tc>
                  <a:txBody>
                    <a:bodyPr/>
                    <a:lstStyle/>
                    <a:p>
                      <a:pPr algn="ctr">
                        <a:defRPr sz="1000">
                          <a:solidFill>
                            <a:srgbClr val="000000"/>
                          </a:solidFill>
                          <a:latin typeface="Montserrat"/>
                        </a:defRPr>
                      </a:pPr>
                      <a:r>
                        <a:t>35.3%</a:t>
                      </a:r>
                    </a:p>
                  </a:txBody>
                  <a:tcPr marL="0" marR="0" marT="0" marB="0">
                    <a:solidFill>
                      <a:srgbClr val="ECD3D9"/>
                    </a:solidFill>
                  </a:tcPr>
                </a:tc>
              </a:tr>
              <a:tr h="151200">
                <a:tc>
                  <a:txBody>
                    <a:bodyPr/>
                    <a:lstStyle/>
                    <a:p>
                      <a:pPr algn="l">
                        <a:defRPr sz="1000">
                          <a:solidFill>
                            <a:srgbClr val="000000"/>
                          </a:solidFill>
                          <a:latin typeface="Montserrat"/>
                        </a:defRPr>
                      </a:pPr>
                      <a:r>
                        <a:t>UMF 78 Nuevo Laredo</a:t>
                      </a:r>
                    </a:p>
                  </a:txBody>
                  <a:tcPr marL="0" marR="0" marT="0" marB="0">
                    <a:solidFill>
                      <a:srgbClr val="FFFFFF"/>
                    </a:solidFill>
                  </a:tcPr>
                </a:tc>
                <a:tc>
                  <a:txBody>
                    <a:bodyPr/>
                    <a:lstStyle/>
                    <a:p>
                      <a:pPr algn="ctr">
                        <a:defRPr sz="1000">
                          <a:solidFill>
                            <a:srgbClr val="000000"/>
                          </a:solidFill>
                          <a:latin typeface="Montserrat"/>
                        </a:defRPr>
                      </a:pPr>
                      <a:r>
                        <a:t>422,019</a:t>
                      </a:r>
                    </a:p>
                  </a:txBody>
                  <a:tcPr marL="0" marR="0" marT="0" marB="0">
                    <a:solidFill>
                      <a:srgbClr val="FFFFFF"/>
                    </a:solidFill>
                  </a:tcPr>
                </a:tc>
                <a:tc>
                  <a:txBody>
                    <a:bodyPr/>
                    <a:lstStyle/>
                    <a:p>
                      <a:pPr algn="ctr">
                        <a:defRPr sz="1000">
                          <a:solidFill>
                            <a:srgbClr val="000000"/>
                          </a:solidFill>
                          <a:latin typeface="Montserrat"/>
                        </a:defRPr>
                      </a:pPr>
                      <a:r>
                        <a:t>74,549</a:t>
                      </a:r>
                    </a:p>
                  </a:txBody>
                  <a:tcPr marL="0" marR="0" marT="0" marB="0">
                    <a:solidFill>
                      <a:srgbClr val="FFFFFF"/>
                    </a:solidFill>
                  </a:tcPr>
                </a:tc>
                <a:tc>
                  <a:txBody>
                    <a:bodyPr/>
                    <a:lstStyle/>
                    <a:p>
                      <a:pPr algn="ctr">
                        <a:defRPr sz="1000">
                          <a:solidFill>
                            <a:srgbClr val="000000"/>
                          </a:solidFill>
                          <a:latin typeface="Montserrat"/>
                        </a:defRPr>
                      </a:pPr>
                      <a:r>
                        <a:t>128,613</a:t>
                      </a:r>
                    </a:p>
                  </a:txBody>
                  <a:tcPr marL="0" marR="0" marT="0" marB="0">
                    <a:solidFill>
                      <a:srgbClr val="ECD3D9"/>
                    </a:solidFill>
                  </a:tcPr>
                </a:tc>
                <a:tc>
                  <a:txBody>
                    <a:bodyPr/>
                    <a:lstStyle/>
                    <a:p>
                      <a:pPr algn="ctr">
                        <a:defRPr sz="1000">
                          <a:solidFill>
                            <a:srgbClr val="000000"/>
                          </a:solidFill>
                          <a:latin typeface="Montserrat"/>
                        </a:defRPr>
                      </a:pPr>
                      <a:r>
                        <a:t>409,000</a:t>
                      </a:r>
                    </a:p>
                  </a:txBody>
                  <a:tcPr marL="0" marR="0" marT="0" marB="0">
                    <a:solidFill>
                      <a:srgbClr val="ECD3D9"/>
                    </a:solidFill>
                  </a:tcPr>
                </a:tc>
                <a:tc>
                  <a:txBody>
                    <a:bodyPr/>
                    <a:lstStyle/>
                    <a:p>
                      <a:pPr algn="ctr">
                        <a:defRPr sz="1000">
                          <a:solidFill>
                            <a:srgbClr val="000000"/>
                          </a:solidFill>
                          <a:latin typeface="Montserrat"/>
                        </a:defRPr>
                      </a:pPr>
                      <a:r>
                        <a:t>31.4%</a:t>
                      </a:r>
                    </a:p>
                  </a:txBody>
                  <a:tcPr marL="0" marR="0" marT="0" marB="0">
                    <a:solidFill>
                      <a:srgbClr val="ECD3D9"/>
                    </a:solidFill>
                  </a:tcPr>
                </a:tc>
              </a:tr>
              <a:tr h="151200">
                <a:tc>
                  <a:txBody>
                    <a:bodyPr/>
                    <a:lstStyle/>
                    <a:p>
                      <a:pPr algn="l">
                        <a:defRPr sz="1000">
                          <a:solidFill>
                            <a:srgbClr val="000000"/>
                          </a:solidFill>
                          <a:latin typeface="Montserrat"/>
                        </a:defRPr>
                      </a:pPr>
                      <a:r>
                        <a:t>UMF 33 Ciudad Reynosa</a:t>
                      </a:r>
                    </a:p>
                  </a:txBody>
                  <a:tcPr marL="0" marR="0" marT="0" marB="0">
                    <a:solidFill>
                      <a:srgbClr val="EFEFEF"/>
                    </a:solidFill>
                  </a:tcPr>
                </a:tc>
                <a:tc>
                  <a:txBody>
                    <a:bodyPr/>
                    <a:lstStyle/>
                    <a:p>
                      <a:pPr algn="ctr">
                        <a:defRPr sz="1000">
                          <a:solidFill>
                            <a:srgbClr val="000000"/>
                          </a:solidFill>
                          <a:latin typeface="Montserrat"/>
                        </a:defRPr>
                      </a:pPr>
                      <a:r>
                        <a:t>447,334</a:t>
                      </a:r>
                    </a:p>
                  </a:txBody>
                  <a:tcPr marL="0" marR="0" marT="0" marB="0">
                    <a:solidFill>
                      <a:srgbClr val="EFEFEF"/>
                    </a:solidFill>
                  </a:tcPr>
                </a:tc>
                <a:tc>
                  <a:txBody>
                    <a:bodyPr/>
                    <a:lstStyle/>
                    <a:p>
                      <a:pPr algn="ctr">
                        <a:defRPr sz="1000">
                          <a:solidFill>
                            <a:srgbClr val="000000"/>
                          </a:solidFill>
                          <a:latin typeface="Montserrat"/>
                        </a:defRPr>
                      </a:pPr>
                      <a:r>
                        <a:t>87,311</a:t>
                      </a:r>
                    </a:p>
                  </a:txBody>
                  <a:tcPr marL="0" marR="0" marT="0" marB="0">
                    <a:solidFill>
                      <a:srgbClr val="EFEFEF"/>
                    </a:solidFill>
                  </a:tcPr>
                </a:tc>
                <a:tc>
                  <a:txBody>
                    <a:bodyPr/>
                    <a:lstStyle/>
                    <a:p>
                      <a:pPr algn="ctr">
                        <a:defRPr sz="1000">
                          <a:solidFill>
                            <a:srgbClr val="000000"/>
                          </a:solidFill>
                          <a:latin typeface="Montserrat"/>
                        </a:defRPr>
                      </a:pPr>
                      <a:r>
                        <a:t>168,856</a:t>
                      </a:r>
                    </a:p>
                  </a:txBody>
                  <a:tcPr marL="0" marR="0" marT="0" marB="0">
                    <a:solidFill>
                      <a:srgbClr val="ECD3D9"/>
                    </a:solidFill>
                  </a:tcPr>
                </a:tc>
                <a:tc>
                  <a:txBody>
                    <a:bodyPr/>
                    <a:lstStyle/>
                    <a:p>
                      <a:pPr algn="ctr">
                        <a:defRPr sz="1000">
                          <a:solidFill>
                            <a:srgbClr val="000000"/>
                          </a:solidFill>
                          <a:latin typeface="Montserrat"/>
                        </a:defRPr>
                      </a:pPr>
                      <a:r>
                        <a:t>432,000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38 Tampico</a:t>
                      </a:r>
                    </a:p>
                  </a:txBody>
                  <a:tcPr marL="0" marR="0" marT="0" marB="0">
                    <a:solidFill>
                      <a:srgbClr val="FFFFFF"/>
                    </a:solidFill>
                  </a:tcPr>
                </a:tc>
                <a:tc>
                  <a:txBody>
                    <a:bodyPr/>
                    <a:lstStyle/>
                    <a:p>
                      <a:pPr algn="ctr">
                        <a:defRPr sz="1000">
                          <a:solidFill>
                            <a:srgbClr val="000000"/>
                          </a:solidFill>
                          <a:latin typeface="Montserrat"/>
                        </a:defRPr>
                      </a:pPr>
                      <a:r>
                        <a:t>187,810</a:t>
                      </a:r>
                    </a:p>
                  </a:txBody>
                  <a:tcPr marL="0" marR="0" marT="0" marB="0">
                    <a:solidFill>
                      <a:srgbClr val="FFFFFF"/>
                    </a:solidFill>
                  </a:tcPr>
                </a:tc>
                <a:tc>
                  <a:txBody>
                    <a:bodyPr/>
                    <a:lstStyle/>
                    <a:p>
                      <a:pPr algn="ctr">
                        <a:defRPr sz="1000">
                          <a:solidFill>
                            <a:srgbClr val="000000"/>
                          </a:solidFill>
                          <a:latin typeface="Montserrat"/>
                        </a:defRPr>
                      </a:pPr>
                      <a:r>
                        <a:t>35,985</a:t>
                      </a:r>
                    </a:p>
                  </a:txBody>
                  <a:tcPr marL="0" marR="0" marT="0" marB="0">
                    <a:solidFill>
                      <a:srgbClr val="FFFFFF"/>
                    </a:solidFill>
                  </a:tcPr>
                </a:tc>
                <a:tc>
                  <a:txBody>
                    <a:bodyPr/>
                    <a:lstStyle/>
                    <a:p>
                      <a:pPr algn="ctr">
                        <a:defRPr sz="1000">
                          <a:solidFill>
                            <a:srgbClr val="000000"/>
                          </a:solidFill>
                          <a:latin typeface="Montserrat"/>
                        </a:defRPr>
                      </a:pPr>
                      <a:r>
                        <a:t>60,905</a:t>
                      </a:r>
                    </a:p>
                  </a:txBody>
                  <a:tcPr marL="0" marR="0" marT="0" marB="0">
                    <a:solidFill>
                      <a:srgbClr val="ECD3D9"/>
                    </a:solidFill>
                  </a:tcPr>
                </a:tc>
                <a:tc>
                  <a:txBody>
                    <a:bodyPr/>
                    <a:lstStyle/>
                    <a:p>
                      <a:pPr algn="ctr">
                        <a:defRPr sz="1000">
                          <a:solidFill>
                            <a:srgbClr val="000000"/>
                          </a:solidFill>
                          <a:latin typeface="Montserrat"/>
                        </a:defRPr>
                      </a:pPr>
                      <a:r>
                        <a:t>183,000</a:t>
                      </a:r>
                    </a:p>
                  </a:txBody>
                  <a:tcPr marL="0" marR="0" marT="0" marB="0">
                    <a:solidFill>
                      <a:srgbClr val="ECD3D9"/>
                    </a:solidFill>
                  </a:tcPr>
                </a:tc>
                <a:tc>
                  <a:txBody>
                    <a:bodyPr/>
                    <a:lstStyle/>
                    <a:p>
                      <a:pPr algn="ctr">
                        <a:defRPr sz="1000">
                          <a:solidFill>
                            <a:srgbClr val="000000"/>
                          </a:solidFill>
                          <a:latin typeface="Montserrat"/>
                        </a:defRPr>
                      </a:pPr>
                      <a:r>
                        <a:t>33.3%</a:t>
                      </a:r>
                    </a:p>
                  </a:txBody>
                  <a:tcPr marL="0" marR="0" marT="0" marB="0">
                    <a:solidFill>
                      <a:srgbClr val="ECD3D9"/>
                    </a:solidFill>
                  </a:tcPr>
                </a:tc>
              </a:tr>
              <a:tr h="151200">
                <a:tc>
                  <a:txBody>
                    <a:bodyPr/>
                    <a:lstStyle/>
                    <a:p>
                      <a:pPr algn="l">
                        <a:defRPr sz="1000">
                          <a:solidFill>
                            <a:srgbClr val="000000"/>
                          </a:solidFill>
                          <a:latin typeface="Montserrat"/>
                        </a:defRPr>
                      </a:pPr>
                      <a:r>
                        <a:t>UMF 40 Jarachina</a:t>
                      </a:r>
                    </a:p>
                  </a:txBody>
                  <a:tcPr marL="0" marR="0" marT="0" marB="0">
                    <a:solidFill>
                      <a:srgbClr val="EFEFEF"/>
                    </a:solidFill>
                  </a:tcPr>
                </a:tc>
                <a:tc>
                  <a:txBody>
                    <a:bodyPr/>
                    <a:lstStyle/>
                    <a:p>
                      <a:pPr algn="ctr">
                        <a:defRPr sz="1000">
                          <a:solidFill>
                            <a:srgbClr val="000000"/>
                          </a:solidFill>
                          <a:latin typeface="Montserrat"/>
                        </a:defRPr>
                      </a:pPr>
                      <a:r>
                        <a:t>171,461</a:t>
                      </a:r>
                    </a:p>
                  </a:txBody>
                  <a:tcPr marL="0" marR="0" marT="0" marB="0">
                    <a:solidFill>
                      <a:srgbClr val="EFEFEF"/>
                    </a:solidFill>
                  </a:tcPr>
                </a:tc>
                <a:tc>
                  <a:txBody>
                    <a:bodyPr/>
                    <a:lstStyle/>
                    <a:p>
                      <a:pPr algn="ctr">
                        <a:defRPr sz="1000">
                          <a:solidFill>
                            <a:srgbClr val="000000"/>
                          </a:solidFill>
                          <a:latin typeface="Montserrat"/>
                        </a:defRPr>
                      </a:pPr>
                      <a:r>
                        <a:t>28,082</a:t>
                      </a:r>
                    </a:p>
                  </a:txBody>
                  <a:tcPr marL="0" marR="0" marT="0" marB="0">
                    <a:solidFill>
                      <a:srgbClr val="EFEFEF"/>
                    </a:solidFill>
                  </a:tcPr>
                </a:tc>
                <a:tc>
                  <a:txBody>
                    <a:bodyPr/>
                    <a:lstStyle/>
                    <a:p>
                      <a:pPr algn="ctr">
                        <a:defRPr sz="1000">
                          <a:solidFill>
                            <a:srgbClr val="000000"/>
                          </a:solidFill>
                          <a:latin typeface="Montserrat"/>
                        </a:defRPr>
                      </a:pPr>
                      <a:r>
                        <a:t>60,740</a:t>
                      </a:r>
                    </a:p>
                  </a:txBody>
                  <a:tcPr marL="0" marR="0" marT="0" marB="0">
                    <a:solidFill>
                      <a:srgbClr val="ECD3D9"/>
                    </a:solidFill>
                  </a:tcPr>
                </a:tc>
                <a:tc>
                  <a:txBody>
                    <a:bodyPr/>
                    <a:lstStyle/>
                    <a:p>
                      <a:pPr algn="ctr">
                        <a:defRPr sz="1000">
                          <a:solidFill>
                            <a:srgbClr val="000000"/>
                          </a:solidFill>
                          <a:latin typeface="Montserrat"/>
                        </a:defRPr>
                      </a:pPr>
                      <a:r>
                        <a:t>165,000</a:t>
                      </a:r>
                    </a:p>
                  </a:txBody>
                  <a:tcPr marL="0" marR="0" marT="0" marB="0">
                    <a:solidFill>
                      <a:srgbClr val="ECD3D9"/>
                    </a:solidFill>
                  </a:tcPr>
                </a:tc>
                <a:tc>
                  <a:txBody>
                    <a:bodyPr/>
                    <a:lstStyle/>
                    <a:p>
                      <a:pPr algn="ctr">
                        <a:defRPr sz="1000">
                          <a:solidFill>
                            <a:srgbClr val="000000"/>
                          </a:solidFill>
                          <a:latin typeface="Montserrat"/>
                        </a:defRPr>
                      </a:pPr>
                      <a:r>
                        <a:t>36.8%</a:t>
                      </a:r>
                    </a:p>
                  </a:txBody>
                  <a:tcPr marL="0" marR="0" marT="0" marB="0">
                    <a:solidFill>
                      <a:srgbClr val="ECD3D9"/>
                    </a:solidFill>
                  </a:tcPr>
                </a:tc>
              </a:tr>
              <a:tr h="151200">
                <a:tc>
                  <a:txBody>
                    <a:bodyPr/>
                    <a:lstStyle/>
                    <a:p>
                      <a:pPr algn="l">
                        <a:defRPr sz="1000">
                          <a:solidFill>
                            <a:srgbClr val="000000"/>
                          </a:solidFill>
                          <a:latin typeface="Montserrat"/>
                        </a:defRPr>
                      </a:pPr>
                      <a:r>
                        <a:t>UMF 16 Altamira</a:t>
                      </a:r>
                    </a:p>
                  </a:txBody>
                  <a:tcPr marL="0" marR="0" marT="0" marB="0">
                    <a:solidFill>
                      <a:srgbClr val="FFFFFF"/>
                    </a:solidFill>
                  </a:tcPr>
                </a:tc>
                <a:tc>
                  <a:txBody>
                    <a:bodyPr/>
                    <a:lstStyle/>
                    <a:p>
                      <a:pPr algn="ctr">
                        <a:defRPr sz="1000">
                          <a:solidFill>
                            <a:srgbClr val="000000"/>
                          </a:solidFill>
                          <a:latin typeface="Montserrat"/>
                        </a:defRPr>
                      </a:pPr>
                      <a:r>
                        <a:t>196,006</a:t>
                      </a:r>
                    </a:p>
                  </a:txBody>
                  <a:tcPr marL="0" marR="0" marT="0" marB="0">
                    <a:solidFill>
                      <a:srgbClr val="FFFFFF"/>
                    </a:solidFill>
                  </a:tcPr>
                </a:tc>
                <a:tc>
                  <a:txBody>
                    <a:bodyPr/>
                    <a:lstStyle/>
                    <a:p>
                      <a:pPr algn="ctr">
                        <a:defRPr sz="1000">
                          <a:solidFill>
                            <a:srgbClr val="000000"/>
                          </a:solidFill>
                          <a:latin typeface="Montserrat"/>
                        </a:defRPr>
                      </a:pPr>
                      <a:r>
                        <a:t>22,424</a:t>
                      </a:r>
                    </a:p>
                  </a:txBody>
                  <a:tcPr marL="0" marR="0" marT="0" marB="0">
                    <a:solidFill>
                      <a:srgbClr val="FFFFFF"/>
                    </a:solidFill>
                  </a:tcPr>
                </a:tc>
                <a:tc>
                  <a:txBody>
                    <a:bodyPr/>
                    <a:lstStyle/>
                    <a:p>
                      <a:pPr algn="ctr">
                        <a:defRPr sz="1000">
                          <a:solidFill>
                            <a:srgbClr val="000000"/>
                          </a:solidFill>
                          <a:latin typeface="Montserrat"/>
                        </a:defRPr>
                      </a:pPr>
                      <a:r>
                        <a:t>66,772</a:t>
                      </a:r>
                    </a:p>
                  </a:txBody>
                  <a:tcPr marL="0" marR="0" marT="0" marB="0">
                    <a:solidFill>
                      <a:srgbClr val="ECD3D9"/>
                    </a:solidFill>
                  </a:tcPr>
                </a:tc>
                <a:tc>
                  <a:txBody>
                    <a:bodyPr/>
                    <a:lstStyle/>
                    <a:p>
                      <a:pPr algn="ctr">
                        <a:defRPr sz="1000">
                          <a:solidFill>
                            <a:srgbClr val="000000"/>
                          </a:solidFill>
                          <a:latin typeface="Montserrat"/>
                        </a:defRPr>
                      </a:pPr>
                      <a:r>
                        <a:t>191,000</a:t>
                      </a:r>
                    </a:p>
                  </a:txBody>
                  <a:tcPr marL="0" marR="0" marT="0" marB="0">
                    <a:solidFill>
                      <a:srgbClr val="ECD3D9"/>
                    </a:solidFill>
                  </a:tcPr>
                </a:tc>
                <a:tc>
                  <a:txBody>
                    <a:bodyPr/>
                    <a:lstStyle/>
                    <a:p>
                      <a:pPr algn="ctr">
                        <a:defRPr sz="1000">
                          <a:solidFill>
                            <a:srgbClr val="000000"/>
                          </a:solidFill>
                          <a:latin typeface="Montserrat"/>
                        </a:defRPr>
                      </a:pPr>
                      <a:r>
                        <a:t>35.0%</a:t>
                      </a:r>
                    </a:p>
                  </a:txBody>
                  <a:tcPr marL="0" marR="0" marT="0" marB="0">
                    <a:solidFill>
                      <a:srgbClr val="ECD3D9"/>
                    </a:solidFill>
                  </a:tcPr>
                </a:tc>
              </a:tr>
              <a:tr h="151200">
                <a:tc>
                  <a:txBody>
                    <a:bodyPr/>
                    <a:lstStyle/>
                    <a:p>
                      <a:pPr algn="l">
                        <a:defRPr sz="1000">
                          <a:solidFill>
                            <a:srgbClr val="000000"/>
                          </a:solidFill>
                          <a:latin typeface="Montserrat"/>
                        </a:defRPr>
                      </a:pPr>
                      <a:r>
                        <a:t>UMF-UMAA 39 y Rehab</a:t>
                      </a:r>
                    </a:p>
                  </a:txBody>
                  <a:tcPr marL="0" marR="0" marT="0" marB="0">
                    <a:solidFill>
                      <a:srgbClr val="EFEFEF"/>
                    </a:solidFill>
                  </a:tcPr>
                </a:tc>
                <a:tc>
                  <a:txBody>
                    <a:bodyPr/>
                    <a:lstStyle/>
                    <a:p>
                      <a:pPr algn="ctr">
                        <a:defRPr sz="1000">
                          <a:solidFill>
                            <a:srgbClr val="000000"/>
                          </a:solidFill>
                          <a:latin typeface="Montserrat"/>
                        </a:defRPr>
                      </a:pPr>
                      <a:r>
                        <a:t>193,987</a:t>
                      </a:r>
                    </a:p>
                  </a:txBody>
                  <a:tcPr marL="0" marR="0" marT="0" marB="0">
                    <a:solidFill>
                      <a:srgbClr val="EFEFEF"/>
                    </a:solidFill>
                  </a:tcPr>
                </a:tc>
                <a:tc>
                  <a:txBody>
                    <a:bodyPr/>
                    <a:lstStyle/>
                    <a:p>
                      <a:pPr algn="ctr">
                        <a:defRPr sz="1000">
                          <a:solidFill>
                            <a:srgbClr val="000000"/>
                          </a:solidFill>
                          <a:latin typeface="Montserrat"/>
                        </a:defRPr>
                      </a:pPr>
                      <a:r>
                        <a:t>37,224</a:t>
                      </a:r>
                    </a:p>
                  </a:txBody>
                  <a:tcPr marL="0" marR="0" marT="0" marB="0">
                    <a:solidFill>
                      <a:srgbClr val="EFEFEF"/>
                    </a:solidFill>
                  </a:tcPr>
                </a:tc>
                <a:tc>
                  <a:txBody>
                    <a:bodyPr/>
                    <a:lstStyle/>
                    <a:p>
                      <a:pPr algn="ctr">
                        <a:defRPr sz="1000">
                          <a:solidFill>
                            <a:srgbClr val="000000"/>
                          </a:solidFill>
                          <a:latin typeface="Montserrat"/>
                        </a:defRPr>
                      </a:pPr>
                      <a:r>
                        <a:t>68,964</a:t>
                      </a:r>
                    </a:p>
                  </a:txBody>
                  <a:tcPr marL="0" marR="0" marT="0" marB="0">
                    <a:solidFill>
                      <a:srgbClr val="ECD3D9"/>
                    </a:solidFill>
                  </a:tcPr>
                </a:tc>
                <a:tc>
                  <a:txBody>
                    <a:bodyPr/>
                    <a:lstStyle/>
                    <a:p>
                      <a:pPr algn="ctr">
                        <a:defRPr sz="1000">
                          <a:solidFill>
                            <a:srgbClr val="000000"/>
                          </a:solidFill>
                          <a:latin typeface="Montserrat"/>
                        </a:defRPr>
                      </a:pPr>
                      <a:r>
                        <a:t>189,000</a:t>
                      </a:r>
                    </a:p>
                  </a:txBody>
                  <a:tcPr marL="0" marR="0" marT="0" marB="0">
                    <a:solidFill>
                      <a:srgbClr val="ECD3D9"/>
                    </a:solidFill>
                  </a:tcPr>
                </a:tc>
                <a:tc>
                  <a:txBody>
                    <a:bodyPr/>
                    <a:lstStyle/>
                    <a:p>
                      <a:pPr algn="ctr">
                        <a:defRPr sz="1000">
                          <a:solidFill>
                            <a:srgbClr val="000000"/>
                          </a:solidFill>
                          <a:latin typeface="Montserrat"/>
                        </a:defRPr>
                      </a:pPr>
                      <a:r>
                        <a:t>36.5%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2,341,310</a:t>
                      </a:r>
                    </a:p>
                  </a:txBody>
                  <a:tcPr marL="0" marR="0" marT="0" marB="0">
                    <a:solidFill>
                      <a:srgbClr val="D3E9E7"/>
                    </a:solidFill>
                  </a:tcPr>
                </a:tc>
                <a:tc>
                  <a:txBody>
                    <a:bodyPr/>
                    <a:lstStyle/>
                    <a:p>
                      <a:pPr algn="ctr">
                        <a:defRPr sz="1000" b="1">
                          <a:solidFill>
                            <a:srgbClr val="006556"/>
                          </a:solidFill>
                          <a:latin typeface="Montserrat"/>
                        </a:defRPr>
                      </a:pPr>
                      <a:r>
                        <a:t>425,170</a:t>
                      </a:r>
                    </a:p>
                  </a:txBody>
                  <a:tcPr marL="0" marR="0" marT="0" marB="0">
                    <a:solidFill>
                      <a:srgbClr val="D3E9E7"/>
                    </a:solidFill>
                  </a:tcPr>
                </a:tc>
                <a:tc>
                  <a:txBody>
                    <a:bodyPr/>
                    <a:lstStyle/>
                    <a:p>
                      <a:pPr algn="ctr">
                        <a:defRPr sz="1000" b="1">
                          <a:solidFill>
                            <a:srgbClr val="FFFFFF"/>
                          </a:solidFill>
                          <a:latin typeface="Montserrat"/>
                        </a:defRPr>
                      </a:pPr>
                      <a:r>
                        <a:t>801,912</a:t>
                      </a:r>
                    </a:p>
                  </a:txBody>
                  <a:tcPr marL="0" marR="0" marT="0" marB="0">
                    <a:solidFill>
                      <a:srgbClr val="9F2241"/>
                    </a:solidFill>
                  </a:tcPr>
                </a:tc>
                <a:tc>
                  <a:txBody>
                    <a:bodyPr/>
                    <a:lstStyle/>
                    <a:p>
                      <a:pPr algn="ctr">
                        <a:defRPr sz="1000" b="1">
                          <a:solidFill>
                            <a:srgbClr val="FFFFFF"/>
                          </a:solidFill>
                          <a:latin typeface="Montserrat"/>
                        </a:defRPr>
                      </a:pPr>
                      <a:r>
                        <a:t>2,264,000</a:t>
                      </a:r>
                    </a:p>
                  </a:txBody>
                  <a:tcPr marL="0" marR="0" marT="0" marB="0">
                    <a:solidFill>
                      <a:srgbClr val="9F2241"/>
                    </a:solidFill>
                  </a:tcPr>
                </a:tc>
                <a:tc>
                  <a:txBody>
                    <a:bodyPr/>
                    <a:lstStyle/>
                    <a:p>
                      <a:pPr algn="ctr">
                        <a:defRPr sz="1000" b="1">
                          <a:solidFill>
                            <a:srgbClr val="FFFFFF"/>
                          </a:solidFill>
                          <a:latin typeface="Montserrat"/>
                        </a:defRPr>
                      </a:pPr>
                      <a:r>
                        <a:t>35.4%</a:t>
                      </a:r>
                    </a:p>
                  </a:txBody>
                  <a:tcPr marL="0" marR="0" marT="0" marB="0">
                    <a:solidFill>
                      <a:srgbClr val="9F2241"/>
                    </a:solidFill>
                  </a:tcPr>
                </a:tc>
              </a:tr>
            </a:tbl>
          </a:graphicData>
        </a:graphic>
      </p:graphicFrame>
      <p:graphicFrame>
        <p:nvGraphicFramePr>
          <p:cNvPr id="326" name="Chart 32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327" name="TextBox 32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53406548"/>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2559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69,767</a:t>
                      </a:r>
                    </a:p>
                  </a:txBody>
                  <a:tcPr>
                    <a:solidFill>
                      <a:srgbClr val="FFFFFF"/>
                    </a:solidFill>
                  </a:tcPr>
                </a:tc>
                <a:tc>
                  <a:txBody>
                    <a:bodyPr/>
                    <a:lstStyle/>
                    <a:p>
                      <a:pPr algn="ctr">
                        <a:defRPr sz="1000">
                          <a:latin typeface="Montserrat"/>
                        </a:defRPr>
                      </a:pPr>
                      <a:r>
                        <a:t>34,458</a:t>
                      </a:r>
                    </a:p>
                  </a:txBody>
                  <a:tcPr>
                    <a:solidFill>
                      <a:srgbClr val="FFFFFF"/>
                    </a:solidFill>
                  </a:tcPr>
                </a:tc>
                <a:tc>
                  <a:txBody>
                    <a:bodyPr/>
                    <a:lstStyle/>
                    <a:p>
                      <a:pPr algn="ctr">
                        <a:defRPr sz="1000">
                          <a:latin typeface="Montserrat"/>
                        </a:defRPr>
                      </a:pPr>
                      <a:r>
                        <a:t>29,223</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40.4%</a:t>
                      </a:r>
                    </a:p>
                  </a:txBody>
                  <a:tcPr>
                    <a:solidFill>
                      <a:srgbClr val="ECD3D9"/>
                    </a:solidFill>
                  </a:tcPr>
                </a:tc>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248,890</a:t>
                      </a:r>
                    </a:p>
                  </a:txBody>
                  <a:tcPr>
                    <a:solidFill>
                      <a:srgbClr val="EFEFEF"/>
                    </a:solidFill>
                  </a:tcPr>
                </a:tc>
                <a:tc>
                  <a:txBody>
                    <a:bodyPr/>
                    <a:lstStyle/>
                    <a:p>
                      <a:pPr algn="ctr">
                        <a:defRPr sz="1000">
                          <a:latin typeface="Montserrat"/>
                        </a:defRPr>
                      </a:pPr>
                      <a:r>
                        <a:t>78,168</a:t>
                      </a:r>
                    </a:p>
                  </a:txBody>
                  <a:tcPr>
                    <a:solidFill>
                      <a:srgbClr val="EFEFEF"/>
                    </a:solidFill>
                  </a:tcPr>
                </a:tc>
                <a:tc>
                  <a:txBody>
                    <a:bodyPr/>
                    <a:lstStyle/>
                    <a:p>
                      <a:pPr algn="ctr">
                        <a:defRPr sz="1000">
                          <a:latin typeface="Montserrat"/>
                        </a:defRPr>
                      </a:pPr>
                      <a:r>
                        <a:t>89,418</a:t>
                      </a:r>
                    </a:p>
                  </a:txBody>
                  <a:tcPr>
                    <a:solidFill>
                      <a:srgbClr val="ECD3D9"/>
                    </a:solidFill>
                  </a:tcPr>
                </a:tc>
                <a:tc>
                  <a:txBody>
                    <a:bodyPr/>
                    <a:lstStyle/>
                    <a:p>
                      <a:pPr algn="ctr">
                        <a:defRPr sz="1000">
                          <a:latin typeface="Montserrat"/>
                        </a:defRPr>
                      </a:pPr>
                      <a:r>
                        <a:t>249,660</a:t>
                      </a:r>
                    </a:p>
                  </a:txBody>
                  <a:tcPr>
                    <a:solidFill>
                      <a:srgbClr val="ECD3D9"/>
                    </a:solidFill>
                  </a:tcPr>
                </a:tc>
                <a:tc>
                  <a:txBody>
                    <a:bodyPr/>
                    <a:lstStyle/>
                    <a:p>
                      <a:pPr algn="ctr">
                        <a:defRPr sz="1000">
                          <a:latin typeface="Montserrat"/>
                        </a:defRPr>
                      </a:pPr>
                      <a:r>
                        <a:t>35.8%</a:t>
                      </a:r>
                    </a:p>
                  </a:txBody>
                  <a:tcPr>
                    <a:solidFill>
                      <a:srgbClr val="ECD3D9"/>
                    </a:solidFill>
                  </a:tcPr>
                </a:tc>
              </a:tr>
              <a:tr h="2844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109,384</a:t>
                      </a:r>
                    </a:p>
                  </a:txBody>
                  <a:tcPr>
                    <a:solidFill>
                      <a:srgbClr val="FFFFFF"/>
                    </a:solidFill>
                  </a:tcPr>
                </a:tc>
                <a:tc>
                  <a:txBody>
                    <a:bodyPr/>
                    <a:lstStyle/>
                    <a:p>
                      <a:pPr algn="ctr">
                        <a:defRPr sz="1000">
                          <a:latin typeface="Montserrat"/>
                        </a:defRPr>
                      </a:pPr>
                      <a:r>
                        <a:t>50,761</a:t>
                      </a:r>
                    </a:p>
                  </a:txBody>
                  <a:tcPr>
                    <a:solidFill>
                      <a:srgbClr val="FFFFFF"/>
                    </a:solidFill>
                  </a:tcPr>
                </a:tc>
                <a:tc>
                  <a:txBody>
                    <a:bodyPr/>
                    <a:lstStyle/>
                    <a:p>
                      <a:pPr algn="ctr">
                        <a:defRPr sz="1000">
                          <a:latin typeface="Montserrat"/>
                        </a:defRPr>
                      </a:pPr>
                      <a:r>
                        <a:t>37,401</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33.5%</a:t>
                      </a:r>
                    </a:p>
                  </a:txBody>
                  <a:tcPr>
                    <a:solidFill>
                      <a:srgbClr val="ECD3D9"/>
                    </a:solidFill>
                  </a:tcPr>
                </a:tc>
              </a:tr>
              <a:tr h="284400">
                <a:tc>
                  <a:txBody>
                    <a:bodyPr/>
                    <a:lstStyle/>
                    <a:p>
                      <a:pPr algn="l">
                        <a:defRPr sz="1000">
                          <a:latin typeface="Montserrat"/>
                        </a:defRPr>
                      </a:pPr>
                      <a:r>
                        <a:t>HGZMF 1 Ciudad Victoria</a:t>
                      </a:r>
                    </a:p>
                  </a:txBody>
                  <a:tcPr>
                    <a:solidFill>
                      <a:srgbClr val="EFEFEF"/>
                    </a:solidFill>
                  </a:tcPr>
                </a:tc>
                <a:tc>
                  <a:txBody>
                    <a:bodyPr/>
                    <a:lstStyle/>
                    <a:p>
                      <a:pPr algn="ctr">
                        <a:defRPr sz="1000">
                          <a:latin typeface="Montserrat"/>
                        </a:defRPr>
                      </a:pPr>
                      <a:r>
                        <a:t>79,253</a:t>
                      </a:r>
                    </a:p>
                  </a:txBody>
                  <a:tcPr>
                    <a:solidFill>
                      <a:srgbClr val="EFEFEF"/>
                    </a:solidFill>
                  </a:tcPr>
                </a:tc>
                <a:tc>
                  <a:txBody>
                    <a:bodyPr/>
                    <a:lstStyle/>
                    <a:p>
                      <a:pPr algn="ctr">
                        <a:defRPr sz="1000">
                          <a:latin typeface="Montserrat"/>
                        </a:defRPr>
                      </a:pPr>
                      <a:r>
                        <a:t>24,533</a:t>
                      </a:r>
                    </a:p>
                  </a:txBody>
                  <a:tcPr>
                    <a:solidFill>
                      <a:srgbClr val="EFEFEF"/>
                    </a:solidFill>
                  </a:tcPr>
                </a:tc>
                <a:tc>
                  <a:txBody>
                    <a:bodyPr/>
                    <a:lstStyle/>
                    <a:p>
                      <a:pPr algn="ctr">
                        <a:defRPr sz="1000">
                          <a:latin typeface="Montserrat"/>
                        </a:defRPr>
                      </a:pPr>
                      <a:r>
                        <a:t>24,998</a:t>
                      </a:r>
                    </a:p>
                  </a:txBody>
                  <a:tcPr>
                    <a:solidFill>
                      <a:srgbClr val="ECD3D9"/>
                    </a:solidFill>
                  </a:tcPr>
                </a:tc>
                <a:tc>
                  <a:txBody>
                    <a:bodyPr/>
                    <a:lstStyle/>
                    <a:p>
                      <a:pPr algn="ctr">
                        <a:defRPr sz="1000">
                          <a:latin typeface="Montserrat"/>
                        </a:defRPr>
                      </a:pPr>
                      <a:r>
                        <a:t>85,410</a:t>
                      </a:r>
                    </a:p>
                  </a:txBody>
                  <a:tcPr>
                    <a:solidFill>
                      <a:srgbClr val="ECD3D9"/>
                    </a:solidFill>
                  </a:tcPr>
                </a:tc>
                <a:tc>
                  <a:txBody>
                    <a:bodyPr/>
                    <a:lstStyle/>
                    <a:p>
                      <a:pPr algn="ctr">
                        <a:defRPr sz="1000">
                          <a:latin typeface="Montserrat"/>
                        </a:defRPr>
                      </a:pPr>
                      <a:r>
                        <a:t>29.3%</a:t>
                      </a:r>
                    </a:p>
                  </a:txBody>
                  <a:tcPr>
                    <a:solidFill>
                      <a:srgbClr val="ECD3D9"/>
                    </a:solidFill>
                  </a:tcPr>
                </a:tc>
              </a:tr>
              <a:tr h="284400">
                <a:tc>
                  <a:txBody>
                    <a:bodyPr/>
                    <a:lstStyle/>
                    <a:p>
                      <a:pPr algn="l">
                        <a:defRPr sz="1000">
                          <a:latin typeface="Montserrat"/>
                        </a:defRPr>
                      </a:pPr>
                      <a:r>
                        <a:t>HGZ 11 Nuevo Laredo</a:t>
                      </a:r>
                    </a:p>
                  </a:txBody>
                  <a:tcPr>
                    <a:solidFill>
                      <a:srgbClr val="FFFFFF"/>
                    </a:solidFill>
                  </a:tcPr>
                </a:tc>
                <a:tc>
                  <a:txBody>
                    <a:bodyPr/>
                    <a:lstStyle/>
                    <a:p>
                      <a:pPr algn="ctr">
                        <a:defRPr sz="1000">
                          <a:latin typeface="Montserrat"/>
                        </a:defRPr>
                      </a:pPr>
                      <a:r>
                        <a:t>64,327</a:t>
                      </a:r>
                    </a:p>
                  </a:txBody>
                  <a:tcPr>
                    <a:solidFill>
                      <a:srgbClr val="FFFFFF"/>
                    </a:solidFill>
                  </a:tcPr>
                </a:tc>
                <a:tc>
                  <a:txBody>
                    <a:bodyPr/>
                    <a:lstStyle/>
                    <a:p>
                      <a:pPr algn="ctr">
                        <a:defRPr sz="1000">
                          <a:latin typeface="Montserrat"/>
                        </a:defRPr>
                      </a:pPr>
                      <a:r>
                        <a:t>22,875</a:t>
                      </a:r>
                    </a:p>
                  </a:txBody>
                  <a:tcPr>
                    <a:solidFill>
                      <a:srgbClr val="FFFFFF"/>
                    </a:solidFill>
                  </a:tcPr>
                </a:tc>
                <a:tc>
                  <a:txBody>
                    <a:bodyPr/>
                    <a:lstStyle/>
                    <a:p>
                      <a:pPr algn="ctr">
                        <a:defRPr sz="1000">
                          <a:latin typeface="Montserrat"/>
                        </a:defRPr>
                      </a:pPr>
                      <a:r>
                        <a:t>23,512</a:t>
                      </a:r>
                    </a:p>
                  </a:txBody>
                  <a:tcPr>
                    <a:solidFill>
                      <a:srgbClr val="ECD3D9"/>
                    </a:solidFill>
                  </a:tcPr>
                </a:tc>
                <a:tc>
                  <a:txBody>
                    <a:bodyPr/>
                    <a:lstStyle/>
                    <a:p>
                      <a:pPr algn="ctr">
                        <a:defRPr sz="1000">
                          <a:latin typeface="Montserrat"/>
                        </a:defRPr>
                      </a:pPr>
                      <a:r>
                        <a:t>80,665</a:t>
                      </a:r>
                    </a:p>
                  </a:txBody>
                  <a:tcPr>
                    <a:solidFill>
                      <a:srgbClr val="ECD3D9"/>
                    </a:solidFill>
                  </a:tcPr>
                </a:tc>
                <a:tc>
                  <a:txBody>
                    <a:bodyPr/>
                    <a:lstStyle/>
                    <a:p>
                      <a:pPr algn="ctr">
                        <a:defRPr sz="1000">
                          <a:latin typeface="Montserrat"/>
                        </a:defRPr>
                      </a:pPr>
                      <a:r>
                        <a:t>29.1%</a:t>
                      </a:r>
                    </a:p>
                  </a:txBody>
                  <a:tcPr>
                    <a:solidFill>
                      <a:srgbClr val="ECD3D9"/>
                    </a:solidFill>
                  </a:tcPr>
                </a:tc>
              </a:tr>
              <a:tr h="2844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117,467</a:t>
                      </a:r>
                    </a:p>
                  </a:txBody>
                  <a:tcPr>
                    <a:solidFill>
                      <a:srgbClr val="EFEFEF"/>
                    </a:solidFill>
                  </a:tcPr>
                </a:tc>
                <a:tc>
                  <a:txBody>
                    <a:bodyPr/>
                    <a:lstStyle/>
                    <a:p>
                      <a:pPr algn="ctr">
                        <a:defRPr sz="1000">
                          <a:latin typeface="Montserrat"/>
                        </a:defRPr>
                      </a:pPr>
                      <a:r>
                        <a:t>54,681</a:t>
                      </a:r>
                    </a:p>
                  </a:txBody>
                  <a:tcPr>
                    <a:solidFill>
                      <a:srgbClr val="EFEFEF"/>
                    </a:solidFill>
                  </a:tcPr>
                </a:tc>
                <a:tc>
                  <a:txBody>
                    <a:bodyPr/>
                    <a:lstStyle/>
                    <a:p>
                      <a:pPr algn="ctr">
                        <a:defRPr sz="1000">
                          <a:latin typeface="Montserrat"/>
                        </a:defRPr>
                      </a:pPr>
                      <a:r>
                        <a:t>45,578</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28.9%</a:t>
                      </a:r>
                    </a:p>
                  </a:txBody>
                  <a:tcPr>
                    <a:solidFill>
                      <a:srgbClr val="ECD3D9"/>
                    </a:solidFill>
                  </a:tcPr>
                </a:tc>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2,467</a:t>
                      </a:r>
                    </a:p>
                  </a:txBody>
                  <a:tcPr>
                    <a:solidFill>
                      <a:srgbClr val="FFFFFF"/>
                    </a:solidFill>
                  </a:tcPr>
                </a:tc>
                <a:tc>
                  <a:txBody>
                    <a:bodyPr/>
                    <a:lstStyle/>
                    <a:p>
                      <a:pPr algn="ctr">
                        <a:defRPr sz="1000">
                          <a:latin typeface="Montserrat"/>
                        </a:defRPr>
                      </a:pPr>
                      <a:r>
                        <a:t>1,431</a:t>
                      </a:r>
                    </a:p>
                  </a:txBody>
                  <a:tcPr>
                    <a:solidFill>
                      <a:srgbClr val="FFFFFF"/>
                    </a:solidFill>
                  </a:tcPr>
                </a:tc>
                <a:tc>
                  <a:txBody>
                    <a:bodyPr/>
                    <a:lstStyle/>
                    <a:p>
                      <a:pPr algn="ctr">
                        <a:defRPr sz="1000">
                          <a:latin typeface="Montserrat"/>
                        </a:defRPr>
                      </a:pPr>
                      <a:r>
                        <a:t>1,083</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3.1%</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691,555</a:t>
                      </a:r>
                    </a:p>
                  </a:txBody>
                  <a:tcPr>
                    <a:solidFill>
                      <a:srgbClr val="D3E9E7"/>
                    </a:solidFill>
                  </a:tcPr>
                </a:tc>
                <a:tc>
                  <a:txBody>
                    <a:bodyPr/>
                    <a:lstStyle/>
                    <a:p>
                      <a:pPr algn="ctr">
                        <a:defRPr sz="1000" b="1">
                          <a:solidFill>
                            <a:srgbClr val="006556"/>
                          </a:solidFill>
                          <a:latin typeface="Montserrat"/>
                        </a:defRPr>
                      </a:pPr>
                      <a:r>
                        <a:t>266,907</a:t>
                      </a:r>
                    </a:p>
                  </a:txBody>
                  <a:tcPr>
                    <a:solidFill>
                      <a:srgbClr val="D3E9E7"/>
                    </a:solidFill>
                  </a:tcPr>
                </a:tc>
                <a:tc>
                  <a:txBody>
                    <a:bodyPr/>
                    <a:lstStyle/>
                    <a:p>
                      <a:pPr algn="ctr">
                        <a:defRPr sz="1000" b="1">
                          <a:solidFill>
                            <a:srgbClr val="FFFFFF"/>
                          </a:solidFill>
                          <a:latin typeface="Montserrat"/>
                        </a:defRPr>
                      </a:pPr>
                      <a:r>
                        <a:t>251,213</a:t>
                      </a:r>
                    </a:p>
                  </a:txBody>
                  <a:tcPr>
                    <a:solidFill>
                      <a:srgbClr val="9F2241"/>
                    </a:solidFill>
                  </a:tcPr>
                </a:tc>
                <a:tc>
                  <a:txBody>
                    <a:bodyPr/>
                    <a:lstStyle/>
                    <a:p>
                      <a:pPr algn="ctr">
                        <a:defRPr sz="1000" b="1">
                          <a:solidFill>
                            <a:srgbClr val="FFFFFF"/>
                          </a:solidFill>
                          <a:latin typeface="Montserrat"/>
                        </a:defRPr>
                      </a:pPr>
                      <a:r>
                        <a:t>792,415</a:t>
                      </a:r>
                    </a:p>
                  </a:txBody>
                  <a:tcPr>
                    <a:solidFill>
                      <a:srgbClr val="9F2241"/>
                    </a:solidFill>
                  </a:tcPr>
                </a:tc>
                <a:tc>
                  <a:txBody>
                    <a:bodyPr/>
                    <a:lstStyle/>
                    <a:p>
                      <a:pPr algn="ctr">
                        <a:defRPr sz="1000" b="1">
                          <a:solidFill>
                            <a:srgbClr val="FFFFFF"/>
                          </a:solidFill>
                          <a:latin typeface="Montserrat"/>
                        </a:defRPr>
                      </a:pPr>
                      <a:r>
                        <a:t>31.7%</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4806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5526000"/>
            <a:ext cx="1800000" cy="360000"/>
          </a:xfrm>
          <a:prstGeom prst="rect">
            <a:avLst/>
          </a:prstGeom>
          <a:noFill/>
        </p:spPr>
        <p:txBody>
          <a:bodyPr wrap="none">
            <a:spAutoFit/>
          </a:bodyPr>
          <a:lstStyle/>
          <a:p>
            <a:pPr algn="ctr"/>
            <a:r>
              <a:rPr sz="2400" b="1">
                <a:solidFill>
                  <a:srgbClr val="9F2241"/>
                </a:solidFill>
                <a:latin typeface="Montserrat"/>
              </a:rPr>
              <a:t>31.7%</a:t>
            </a:r>
          </a:p>
        </p:txBody>
      </p:sp>
      <p:sp>
        <p:nvSpPr>
          <p:cNvPr id="239" name="TextBox 238"/>
          <p:cNvSpPr txBox="1"/>
          <p:nvPr/>
        </p:nvSpPr>
        <p:spPr>
          <a:xfrm>
            <a:off x="4780800" y="642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4806000"/>
            <a:ext cx="2854800" cy="1198800"/>
          </a:xfrm>
          <a:prstGeom prst="rect">
            <a:avLst/>
          </a:prstGeom>
          <a:noFill/>
        </p:spPr>
        <p:txBody>
          <a:bodyPr wrap="square">
            <a:spAutoFit/>
          </a:bodyPr>
          <a:lstStyle/>
          <a:p>
            <a:pPr algn="ctr">
              <a:defRPr sz="3600" b="1">
                <a:solidFill>
                  <a:srgbClr val="9F2241"/>
                </a:solidFill>
                <a:latin typeface="Montserrat"/>
              </a:defRPr>
            </a:pPr>
            <a:r>
              <a:t>792,415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04985121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2559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4,641</a:t>
                      </a:r>
                    </a:p>
                  </a:txBody>
                  <a:tcPr>
                    <a:solidFill>
                      <a:srgbClr val="FFFFFF"/>
                    </a:solidFill>
                  </a:tcPr>
                </a:tc>
                <a:tc>
                  <a:txBody>
                    <a:bodyPr/>
                    <a:lstStyle/>
                    <a:p>
                      <a:pPr algn="ctr">
                        <a:defRPr sz="1000">
                          <a:latin typeface="Montserrat"/>
                        </a:defRPr>
                      </a:pPr>
                      <a:r>
                        <a:t>1,843</a:t>
                      </a:r>
                    </a:p>
                  </a:txBody>
                  <a:tcPr>
                    <a:solidFill>
                      <a:srgbClr val="FFFFFF"/>
                    </a:solidFill>
                  </a:tcPr>
                </a:tc>
                <a:tc>
                  <a:txBody>
                    <a:bodyPr/>
                    <a:lstStyle/>
                    <a:p>
                      <a:pPr algn="ctr">
                        <a:defRPr sz="1000">
                          <a:latin typeface="Montserrat"/>
                        </a:defRPr>
                      </a:pPr>
                      <a:r>
                        <a:t>2,354</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40.2%</a:t>
                      </a:r>
                    </a:p>
                  </a:txBody>
                  <a:tcPr>
                    <a:solidFill>
                      <a:srgbClr val="ECD3D9"/>
                    </a:solidFill>
                  </a:tcPr>
                </a:tc>
              </a:tr>
              <a:tr h="2844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7,558</a:t>
                      </a:r>
                    </a:p>
                  </a:txBody>
                  <a:tcPr>
                    <a:solidFill>
                      <a:srgbClr val="EFEFEF"/>
                    </a:solidFill>
                  </a:tcPr>
                </a:tc>
                <a:tc>
                  <a:txBody>
                    <a:bodyPr/>
                    <a:lstStyle/>
                    <a:p>
                      <a:pPr algn="ctr">
                        <a:defRPr sz="1000">
                          <a:latin typeface="Montserrat"/>
                        </a:defRPr>
                      </a:pPr>
                      <a:r>
                        <a:t>3,337</a:t>
                      </a:r>
                    </a:p>
                  </a:txBody>
                  <a:tcPr>
                    <a:solidFill>
                      <a:srgbClr val="EFEFEF"/>
                    </a:solidFill>
                  </a:tcPr>
                </a:tc>
                <a:tc>
                  <a:txBody>
                    <a:bodyPr/>
                    <a:lstStyle/>
                    <a:p>
                      <a:pPr algn="ctr">
                        <a:defRPr sz="1000">
                          <a:latin typeface="Montserrat"/>
                        </a:defRPr>
                      </a:pPr>
                      <a:r>
                        <a:t>3,425</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5,327</a:t>
                      </a:r>
                    </a:p>
                  </a:txBody>
                  <a:tcPr>
                    <a:solidFill>
                      <a:srgbClr val="FFFFFF"/>
                    </a:solidFill>
                  </a:tcPr>
                </a:tc>
                <a:tc>
                  <a:txBody>
                    <a:bodyPr/>
                    <a:lstStyle/>
                    <a:p>
                      <a:pPr algn="ctr">
                        <a:defRPr sz="1000">
                          <a:latin typeface="Montserrat"/>
                        </a:defRPr>
                      </a:pPr>
                      <a:r>
                        <a:t>1,055</a:t>
                      </a:r>
                    </a:p>
                  </a:txBody>
                  <a:tcPr>
                    <a:solidFill>
                      <a:srgbClr val="FFFFFF"/>
                    </a:solidFill>
                  </a:tcPr>
                </a:tc>
                <a:tc>
                  <a:txBody>
                    <a:bodyPr/>
                    <a:lstStyle/>
                    <a:p>
                      <a:pPr algn="ctr">
                        <a:defRPr sz="1000">
                          <a:latin typeface="Montserrat"/>
                        </a:defRPr>
                      </a:pPr>
                      <a:r>
                        <a:t>2,190</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32.2%</a:t>
                      </a:r>
                    </a:p>
                  </a:txBody>
                  <a:tcPr>
                    <a:solidFill>
                      <a:srgbClr val="ECD3D9"/>
                    </a:solidFill>
                  </a:tcPr>
                </a:tc>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11,691</a:t>
                      </a:r>
                    </a:p>
                  </a:txBody>
                  <a:tcPr>
                    <a:solidFill>
                      <a:srgbClr val="EFEFEF"/>
                    </a:solidFill>
                  </a:tcPr>
                </a:tc>
                <a:tc>
                  <a:txBody>
                    <a:bodyPr/>
                    <a:lstStyle/>
                    <a:p>
                      <a:pPr algn="ctr">
                        <a:defRPr sz="1000">
                          <a:latin typeface="Montserrat"/>
                        </a:defRPr>
                      </a:pPr>
                      <a:r>
                        <a:t>2,071</a:t>
                      </a:r>
                    </a:p>
                  </a:txBody>
                  <a:tcPr>
                    <a:solidFill>
                      <a:srgbClr val="EFEFEF"/>
                    </a:solidFill>
                  </a:tcPr>
                </a:tc>
                <a:tc>
                  <a:txBody>
                    <a:bodyPr/>
                    <a:lstStyle/>
                    <a:p>
                      <a:pPr algn="ctr">
                        <a:defRPr sz="1000">
                          <a:latin typeface="Montserrat"/>
                        </a:defRPr>
                      </a:pPr>
                      <a:r>
                        <a:t>4,088</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28.9%</a:t>
                      </a:r>
                    </a:p>
                  </a:txBody>
                  <a:tcPr>
                    <a:solidFill>
                      <a:srgbClr val="ECD3D9"/>
                    </a:solidFill>
                  </a:tcPr>
                </a:tc>
              </a:tr>
              <a:tr h="2844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3,942</a:t>
                      </a:r>
                    </a:p>
                  </a:txBody>
                  <a:tcPr>
                    <a:solidFill>
                      <a:srgbClr val="FFFFFF"/>
                    </a:solidFill>
                  </a:tcPr>
                </a:tc>
                <a:tc>
                  <a:txBody>
                    <a:bodyPr/>
                    <a:lstStyle/>
                    <a:p>
                      <a:pPr algn="ctr">
                        <a:defRPr sz="1000">
                          <a:latin typeface="Montserrat"/>
                        </a:defRPr>
                      </a:pPr>
                      <a:r>
                        <a:t>858</a:t>
                      </a:r>
                    </a:p>
                  </a:txBody>
                  <a:tcPr>
                    <a:solidFill>
                      <a:srgbClr val="FFFFFF"/>
                    </a:solidFill>
                  </a:tcPr>
                </a:tc>
                <a:tc>
                  <a:txBody>
                    <a:bodyPr/>
                    <a:lstStyle/>
                    <a:p>
                      <a:pPr algn="ctr">
                        <a:defRPr sz="1000">
                          <a:latin typeface="Montserrat"/>
                        </a:defRPr>
                      </a:pPr>
                      <a:r>
                        <a:t>1,478</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27.2%</a:t>
                      </a:r>
                    </a:p>
                  </a:txBody>
                  <a:tcPr>
                    <a:solidFill>
                      <a:srgbClr val="ECD3D9"/>
                    </a:solidFill>
                  </a:tcPr>
                </a:tc>
              </a:tr>
              <a:tr h="284400">
                <a:tc>
                  <a:txBody>
                    <a:bodyPr/>
                    <a:lstStyle/>
                    <a:p>
                      <a:pPr algn="l">
                        <a:defRPr sz="1000">
                          <a:latin typeface="Montserrat"/>
                        </a:defRPr>
                      </a:pPr>
                      <a:r>
                        <a:t>HGZ 11 Nuevo Laredo</a:t>
                      </a:r>
                    </a:p>
                  </a:txBody>
                  <a:tcPr>
                    <a:solidFill>
                      <a:srgbClr val="EFEFEF"/>
                    </a:solidFill>
                  </a:tcPr>
                </a:tc>
                <a:tc>
                  <a:txBody>
                    <a:bodyPr/>
                    <a:lstStyle/>
                    <a:p>
                      <a:pPr algn="ctr">
                        <a:defRPr sz="1000">
                          <a:latin typeface="Montserrat"/>
                        </a:defRPr>
                      </a:pPr>
                      <a:r>
                        <a:t>4,695</a:t>
                      </a:r>
                    </a:p>
                  </a:txBody>
                  <a:tcPr>
                    <a:solidFill>
                      <a:srgbClr val="EFEFEF"/>
                    </a:solidFill>
                  </a:tcPr>
                </a:tc>
                <a:tc>
                  <a:txBody>
                    <a:bodyPr/>
                    <a:lstStyle/>
                    <a:p>
                      <a:pPr algn="ctr">
                        <a:defRPr sz="1000">
                          <a:latin typeface="Montserrat"/>
                        </a:defRPr>
                      </a:pPr>
                      <a:r>
                        <a:t>1,011</a:t>
                      </a:r>
                    </a:p>
                  </a:txBody>
                  <a:tcPr>
                    <a:solidFill>
                      <a:srgbClr val="EFEFEF"/>
                    </a:solidFill>
                  </a:tcPr>
                </a:tc>
                <a:tc>
                  <a:txBody>
                    <a:bodyPr/>
                    <a:lstStyle/>
                    <a:p>
                      <a:pPr algn="ctr">
                        <a:defRPr sz="1000">
                          <a:latin typeface="Montserrat"/>
                        </a:defRPr>
                      </a:pPr>
                      <a:r>
                        <a:t>1,806</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26.6%</a:t>
                      </a:r>
                    </a:p>
                  </a:txBody>
                  <a:tcPr>
                    <a:solidFill>
                      <a:srgbClr val="ECD3D9"/>
                    </a:solidFill>
                  </a:tcPr>
                </a:tc>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167</a:t>
                      </a:r>
                    </a:p>
                  </a:txBody>
                  <a:tcPr>
                    <a:solidFill>
                      <a:srgbClr val="FFFFFF"/>
                    </a:solidFill>
                  </a:tcPr>
                </a:tc>
                <a:tc>
                  <a:txBody>
                    <a:bodyPr/>
                    <a:lstStyle/>
                    <a:p>
                      <a:pPr algn="ctr">
                        <a:defRPr sz="1000">
                          <a:latin typeface="Montserrat"/>
                        </a:defRPr>
                      </a:pPr>
                      <a:r>
                        <a:t>109</a:t>
                      </a:r>
                    </a:p>
                  </a:txBody>
                  <a:tcPr>
                    <a:solidFill>
                      <a:srgbClr val="FFFFFF"/>
                    </a:solidFill>
                  </a:tcPr>
                </a:tc>
                <a:tc>
                  <a:txBody>
                    <a:bodyPr/>
                    <a:lstStyle/>
                    <a:p>
                      <a:pPr algn="ctr">
                        <a:defRPr sz="1000">
                          <a:latin typeface="Montserrat"/>
                        </a:defRPr>
                      </a:pPr>
                      <a:r>
                        <a:t>93</a:t>
                      </a:r>
                    </a:p>
                  </a:txBody>
                  <a:tcPr>
                    <a:solidFill>
                      <a:srgbClr val="ECD3D9"/>
                    </a:solidFill>
                  </a:tcPr>
                </a:tc>
                <a:tc>
                  <a:txBody>
                    <a:bodyPr/>
                    <a:lstStyle/>
                    <a:p>
                      <a:pPr algn="ctr">
                        <a:defRPr sz="1000">
                          <a:latin typeface="Montserrat"/>
                        </a:defRPr>
                      </a:pPr>
                      <a:r>
                        <a:t>783</a:t>
                      </a:r>
                    </a:p>
                  </a:txBody>
                  <a:tcPr>
                    <a:solidFill>
                      <a:srgbClr val="ECD3D9"/>
                    </a:solidFill>
                  </a:tcPr>
                </a:tc>
                <a:tc>
                  <a:txBody>
                    <a:bodyPr/>
                    <a:lstStyle/>
                    <a:p>
                      <a:pPr algn="ctr">
                        <a:defRPr sz="1000">
                          <a:latin typeface="Montserrat"/>
                        </a:defRPr>
                      </a:pPr>
                      <a:r>
                        <a:t>11.9%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38,021</a:t>
                      </a:r>
                    </a:p>
                  </a:txBody>
                  <a:tcPr>
                    <a:solidFill>
                      <a:srgbClr val="D3E9E7"/>
                    </a:solidFill>
                  </a:tcPr>
                </a:tc>
                <a:tc>
                  <a:txBody>
                    <a:bodyPr/>
                    <a:lstStyle/>
                    <a:p>
                      <a:pPr algn="ctr">
                        <a:defRPr sz="1000" b="1">
                          <a:solidFill>
                            <a:srgbClr val="006556"/>
                          </a:solidFill>
                          <a:latin typeface="Montserrat"/>
                        </a:defRPr>
                      </a:pPr>
                      <a:r>
                        <a:t>10,284</a:t>
                      </a:r>
                    </a:p>
                  </a:txBody>
                  <a:tcPr>
                    <a:solidFill>
                      <a:srgbClr val="D3E9E7"/>
                    </a:solidFill>
                  </a:tcPr>
                </a:tc>
                <a:tc>
                  <a:txBody>
                    <a:bodyPr/>
                    <a:lstStyle/>
                    <a:p>
                      <a:pPr algn="ctr">
                        <a:defRPr sz="1000" b="1">
                          <a:solidFill>
                            <a:srgbClr val="FFFFFF"/>
                          </a:solidFill>
                          <a:latin typeface="Montserrat"/>
                        </a:defRPr>
                      </a:pPr>
                      <a:r>
                        <a:t>15,434</a:t>
                      </a:r>
                    </a:p>
                  </a:txBody>
                  <a:tcPr>
                    <a:solidFill>
                      <a:srgbClr val="9F2241"/>
                    </a:solidFill>
                  </a:tcPr>
                </a:tc>
                <a:tc>
                  <a:txBody>
                    <a:bodyPr/>
                    <a:lstStyle/>
                    <a:p>
                      <a:pPr algn="ctr">
                        <a:defRPr sz="1000" b="1">
                          <a:solidFill>
                            <a:srgbClr val="FFFFFF"/>
                          </a:solidFill>
                          <a:latin typeface="Montserrat"/>
                        </a:defRPr>
                      </a:pPr>
                      <a:r>
                        <a:t>50,078</a:t>
                      </a:r>
                    </a:p>
                  </a:txBody>
                  <a:tcPr>
                    <a:solidFill>
                      <a:srgbClr val="9F2241"/>
                    </a:solidFill>
                  </a:tcPr>
                </a:tc>
                <a:tc>
                  <a:txBody>
                    <a:bodyPr/>
                    <a:lstStyle/>
                    <a:p>
                      <a:pPr algn="ctr">
                        <a:defRPr sz="1000" b="1">
                          <a:solidFill>
                            <a:srgbClr val="FFFFFF"/>
                          </a:solidFill>
                          <a:latin typeface="Montserrat"/>
                        </a:defRPr>
                      </a:pPr>
                      <a:r>
                        <a:t>30.8%</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4449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5169600"/>
            <a:ext cx="1800000" cy="360000"/>
          </a:xfrm>
          <a:prstGeom prst="rect">
            <a:avLst/>
          </a:prstGeom>
          <a:noFill/>
        </p:spPr>
        <p:txBody>
          <a:bodyPr wrap="none">
            <a:spAutoFit/>
          </a:bodyPr>
          <a:lstStyle/>
          <a:p>
            <a:pPr algn="ctr"/>
            <a:r>
              <a:rPr sz="2400" b="1">
                <a:solidFill>
                  <a:srgbClr val="9F2241"/>
                </a:solidFill>
                <a:latin typeface="Montserrat"/>
              </a:rPr>
              <a:t>30.8%</a:t>
            </a:r>
          </a:p>
        </p:txBody>
      </p:sp>
      <p:sp>
        <p:nvSpPr>
          <p:cNvPr id="236" name="TextBox 235"/>
          <p:cNvSpPr txBox="1"/>
          <p:nvPr/>
        </p:nvSpPr>
        <p:spPr>
          <a:xfrm>
            <a:off x="4780800" y="606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4449600"/>
            <a:ext cx="2854800" cy="1198800"/>
          </a:xfrm>
          <a:prstGeom prst="rect">
            <a:avLst/>
          </a:prstGeom>
          <a:noFill/>
        </p:spPr>
        <p:txBody>
          <a:bodyPr wrap="square">
            <a:spAutoFit/>
          </a:bodyPr>
          <a:lstStyle/>
          <a:p>
            <a:pPr algn="ctr">
              <a:defRPr sz="3600" b="1">
                <a:solidFill>
                  <a:srgbClr val="9F2241"/>
                </a:solidFill>
                <a:latin typeface="Montserrat"/>
              </a:defRPr>
            </a:pPr>
            <a:r>
              <a:t>50,078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111 en Hospitales, 3 en sede, 26 en UMF y 159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Regional 270</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 Ginecológica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33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17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633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extLst>
      <p:ext uri="{BB962C8B-B14F-4D97-AF65-F5344CB8AC3E}">
        <p14:creationId xmlns:p14="http://schemas.microsoft.com/office/powerpoint/2010/main" val="3609473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159</a:t>
                      </a:r>
                    </a:p>
                  </a:txBody>
                  <a:tcPr anchor="ctr" marL="45720" marR="45720" marT="45720" marB="45720">
                    <a:solidFill>
                      <a:srgbClr val="FFFFFF"/>
                    </a:solidFill>
                  </a:tcPr>
                </a:tc>
                <a:tc>
                  <a:txBody>
                    <a:bodyPr/>
                    <a:lstStyle/>
                    <a:p>
                      <a:pPr algn="ctr">
                        <a:defRPr sz="1100" b="1">
                          <a:solidFill>
                            <a:srgbClr val="000000"/>
                          </a:solidFill>
                          <a:latin typeface="Montserrat"/>
                        </a:defRPr>
                      </a:pPr>
                      <a:r>
                        <a:t>53.1%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Regional 270</a:t>
                      </a:r>
                    </a:p>
                  </a:txBody>
                  <a:tcPr anchor="ctr" marL="45720" marR="45720" marT="45720" marB="45720">
                    <a:solidFill>
                      <a:srgbClr val="D9D9D9"/>
                    </a:solidFill>
                  </a:tcPr>
                </a:tc>
                <a:tc>
                  <a:txBody>
                    <a:bodyPr/>
                    <a:lstStyle/>
                    <a:p>
                      <a:pPr algn="ctr">
                        <a:defRPr sz="1100" b="0">
                          <a:solidFill>
                            <a:srgbClr val="000000"/>
                          </a:solidFill>
                          <a:latin typeface="Montserrat"/>
                        </a:defRPr>
                      </a:pPr>
                      <a:r>
                        <a:t>35</a:t>
                      </a:r>
                    </a:p>
                  </a:txBody>
                  <a:tcPr anchor="ctr" marL="45720" marR="45720" marT="45720" marB="45720">
                    <a:solidFill>
                      <a:srgbClr val="D9D9D9"/>
                    </a:solidFill>
                  </a:tcPr>
                </a:tc>
                <a:tc>
                  <a:txBody>
                    <a:bodyPr/>
                    <a:lstStyle/>
                    <a:p>
                      <a:pPr algn="ctr">
                        <a:defRPr sz="1100" b="1">
                          <a:solidFill>
                            <a:srgbClr val="000000"/>
                          </a:solidFill>
                          <a:latin typeface="Montserrat"/>
                        </a:defRPr>
                      </a:pPr>
                      <a:r>
                        <a:t>64.8%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11</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69.5%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78</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73.5%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13</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77.2%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Rural Soto la Marina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80.6%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Regional 6</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83.6%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15</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86.2%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C/MF 1</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88.2%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C/MF 3</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89.6%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Tula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90.9%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16</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91.9%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17</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92.9%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Rural San Carlos</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Sede Delegación</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94.9%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7</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Cd Hidalgo</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24</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C/UMAA 39</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C/UMAA 76</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36</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67</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40</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38</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99.6%</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Unidad de Medicina Familiar 7</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99.9%</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DF52B11-9C7D-4CFF-8584-9083070AB48D}"/>
              </a:ext>
            </a:extLst>
          </p:cNvPr>
          <p:cNvGraphicFramePr/>
          <p:nvPr>
            <p:extLst>
              <p:ext uri="{D42A27DB-BD31-4B8C-83A1-F6EECF244321}">
                <p14:modId xmlns:p14="http://schemas.microsoft.com/office/powerpoint/2010/main" val="895463715"/>
              </p:ext>
            </p:extLst>
          </p:nvPr>
        </p:nvGraphicFramePr>
        <p:xfrm>
          <a:off x="287050" y="862946"/>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1,874</a:t>
                      </a:r>
                    </a:p>
                  </a:txBody>
                  <a:tcPr anchor="ctr">
                    <a:solidFill>
                      <a:srgbClr val="FFFFFF"/>
                    </a:solidFill>
                  </a:tcPr>
                </a:tc>
                <a:tc>
                  <a:txBody>
                    <a:bodyPr/>
                    <a:lstStyle/>
                    <a:p>
                      <a:pPr algn="ctr">
                        <a:defRPr sz="1000">
                          <a:latin typeface="Montserrat"/>
                        </a:defRPr>
                      </a:pPr>
                      <a:r>
                        <a:t>34.3%</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1,442</a:t>
                      </a:r>
                    </a:p>
                  </a:txBody>
                  <a:tcPr anchor="ctr">
                    <a:solidFill>
                      <a:srgbClr val="D9D9D9"/>
                    </a:solidFill>
                  </a:tcPr>
                </a:tc>
                <a:tc>
                  <a:txBody>
                    <a:bodyPr/>
                    <a:lstStyle/>
                    <a:p>
                      <a:pPr algn="ctr">
                        <a:defRPr sz="1000">
                          <a:latin typeface="Montserrat"/>
                        </a:defRPr>
                      </a:pPr>
                      <a:r>
                        <a:t>60.7%</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512</a:t>
                      </a:r>
                    </a:p>
                  </a:txBody>
                  <a:tcPr anchor="ctr">
                    <a:solidFill>
                      <a:srgbClr val="FFFFFF"/>
                    </a:solidFill>
                  </a:tcPr>
                </a:tc>
                <a:tc>
                  <a:txBody>
                    <a:bodyPr/>
                    <a:lstStyle/>
                    <a:p>
                      <a:pPr algn="ctr">
                        <a:defRPr sz="1000">
                          <a:latin typeface="Montserrat"/>
                        </a:defRPr>
                      </a:pPr>
                      <a:r>
                        <a:t>70.1%</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377</a:t>
                      </a:r>
                    </a:p>
                  </a:txBody>
                  <a:tcPr anchor="ctr">
                    <a:solidFill>
                      <a:srgbClr val="D9D9D9"/>
                    </a:solidFill>
                  </a:tcPr>
                </a:tc>
                <a:tc>
                  <a:txBody>
                    <a:bodyPr/>
                    <a:lstStyle/>
                    <a:p>
                      <a:pPr algn="ctr">
                        <a:defRPr sz="1000">
                          <a:latin typeface="Montserrat"/>
                        </a:defRPr>
                      </a:pPr>
                      <a:r>
                        <a:t>77.0%</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356</a:t>
                      </a:r>
                    </a:p>
                  </a:txBody>
                  <a:tcPr anchor="ctr">
                    <a:solidFill>
                      <a:srgbClr val="FFFFFF"/>
                    </a:solidFill>
                  </a:tcPr>
                </a:tc>
                <a:tc>
                  <a:txBody>
                    <a:bodyPr/>
                    <a:lstStyle/>
                    <a:p>
                      <a:pPr algn="ctr">
                        <a:defRPr sz="1000">
                          <a:latin typeface="Montserrat"/>
                        </a:defRPr>
                      </a:pPr>
                      <a:r>
                        <a:t>83.5%</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318</a:t>
                      </a:r>
                    </a:p>
                  </a:txBody>
                  <a:tcPr anchor="ctr">
                    <a:solidFill>
                      <a:srgbClr val="D9D9D9"/>
                    </a:solidFill>
                  </a:tcPr>
                </a:tc>
                <a:tc>
                  <a:txBody>
                    <a:bodyPr/>
                    <a:lstStyle/>
                    <a:p>
                      <a:pPr algn="ctr">
                        <a:defRPr sz="1000">
                          <a:latin typeface="Montserrat"/>
                        </a:defRPr>
                      </a:pPr>
                      <a:r>
                        <a:t>89.3%</a:t>
                      </a:r>
                    </a:p>
                  </a:txBody>
                  <a:tcPr anchor="ctr">
                    <a:solidFill>
                      <a:srgbClr val="D9D9D9"/>
                    </a:solidFill>
                  </a:tcPr>
                </a:tc>
              </a:tr>
              <a:tr h="216000">
                <a:tc>
                  <a:txBody>
                    <a:bodyPr/>
                    <a:lstStyle/>
                    <a:p>
                      <a:pPr algn="l">
                        <a:defRPr sz="1000">
                          <a:latin typeface="Montserrat"/>
                        </a:defRPr>
                      </a:pPr>
                      <a:r>
                        <a:t>Gastroenterología</a:t>
                      </a:r>
                    </a:p>
                  </a:txBody>
                  <a:tcPr anchor="ctr">
                    <a:solidFill>
                      <a:srgbClr val="FFFFFF"/>
                    </a:solidFill>
                  </a:tcPr>
                </a:tc>
                <a:tc>
                  <a:txBody>
                    <a:bodyPr/>
                    <a:lstStyle/>
                    <a:p>
                      <a:pPr algn="ctr">
                        <a:defRPr sz="1000">
                          <a:latin typeface="Montserrat"/>
                        </a:defRPr>
                      </a:pPr>
                      <a:r>
                        <a:t>216</a:t>
                      </a:r>
                    </a:p>
                  </a:txBody>
                  <a:tcPr anchor="ctr">
                    <a:solidFill>
                      <a:srgbClr val="FFFFFF"/>
                    </a:solidFill>
                  </a:tcPr>
                </a:tc>
                <a:tc>
                  <a:txBody>
                    <a:bodyPr/>
                    <a:lstStyle/>
                    <a:p>
                      <a:pPr algn="ctr">
                        <a:defRPr sz="1000">
                          <a:latin typeface="Montserrat"/>
                        </a:defRPr>
                      </a:pPr>
                      <a:r>
                        <a:t>93.3%</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153</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131</a:t>
                      </a:r>
                    </a:p>
                  </a:txBody>
                  <a:tcPr anchor="ctr">
                    <a:solidFill>
                      <a:srgbClr val="FFFFFF"/>
                    </a:solidFill>
                  </a:tcPr>
                </a:tc>
                <a:tc>
                  <a:txBody>
                    <a:bodyPr/>
                    <a:lstStyle/>
                    <a:p>
                      <a:pPr algn="ctr">
                        <a:defRPr sz="1000">
                          <a:latin typeface="Montserrat"/>
                        </a:defRPr>
                      </a:pPr>
                      <a:r>
                        <a:t>98.5%</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5,462</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364</a:t>
                      </a:r>
                    </a:p>
                  </a:txBody>
                  <a:tcPr anchor="ctr">
                    <a:solidFill>
                      <a:srgbClr val="FFFFFF"/>
                    </a:solidFill>
                  </a:tcPr>
                </a:tc>
                <a:tc>
                  <a:txBody>
                    <a:bodyPr/>
                    <a:lstStyle/>
                    <a:p>
                      <a:pPr algn="ctr">
                        <a:defRPr sz="1000">
                          <a:latin typeface="Montserrat"/>
                        </a:defRPr>
                      </a:pPr>
                      <a:r>
                        <a:t>29.2%</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51.2%</a:t>
                      </a:r>
                    </a:p>
                  </a:txBody>
                  <a:tcPr anchor="ctr">
                    <a:solidFill>
                      <a:srgbClr val="D9D9D9"/>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197</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165</a:t>
                      </a:r>
                    </a:p>
                  </a:txBody>
                  <a:tcPr anchor="ctr">
                    <a:solidFill>
                      <a:srgbClr val="D9D9D9"/>
                    </a:solidFill>
                  </a:tcPr>
                </a:tc>
                <a:tc>
                  <a:txBody>
                    <a:bodyPr/>
                    <a:lstStyle/>
                    <a:p>
                      <a:pPr algn="ctr">
                        <a:defRPr sz="1000">
                          <a:latin typeface="Montserrat"/>
                        </a:defRPr>
                      </a:pPr>
                      <a:r>
                        <a:t>80.3%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158</a:t>
                      </a:r>
                    </a:p>
                  </a:txBody>
                  <a:tcPr anchor="ctr">
                    <a:solidFill>
                      <a:srgbClr val="FFFFFF"/>
                    </a:solidFill>
                  </a:tcPr>
                </a:tc>
                <a:tc>
                  <a:txBody>
                    <a:bodyPr/>
                    <a:lstStyle/>
                    <a:p>
                      <a:pPr algn="ctr">
                        <a:defRPr sz="1000">
                          <a:latin typeface="Montserrat"/>
                        </a:defRPr>
                      </a:pPr>
                      <a:r>
                        <a:t>93.0%</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44</a:t>
                      </a:r>
                    </a:p>
                  </a:txBody>
                  <a:tcPr anchor="ctr">
                    <a:solidFill>
                      <a:srgbClr val="D9D9D9"/>
                    </a:solidFill>
                  </a:tcPr>
                </a:tc>
                <a:tc>
                  <a:txBody>
                    <a:bodyPr/>
                    <a:lstStyle/>
                    <a:p>
                      <a:pPr algn="ctr">
                        <a:defRPr sz="1000">
                          <a:latin typeface="Montserrat"/>
                        </a:defRPr>
                      </a:pPr>
                      <a:r>
                        <a:t>96.5%</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43</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1,245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16,290	 Personal de Salud: 10,450</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+66.9%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133</a:t>
                      </a:r>
                    </a:p>
                  </a:txBody>
                  <a:tcPr marL="0" marR="0" marT="0" marB="0">
                    <a:noFill/>
                  </a:tcPr>
                </a:tc>
                <a:tc>
                  <a:txBody>
                    <a:bodyPr/>
                    <a:lstStyle/>
                    <a:p>
                      <a:pPr algn="ctr">
                        <a:defRPr b="1" sz="1500">
                          <a:solidFill>
                            <a:srgbClr val="B4975A"/>
                          </a:solidFill>
                          <a:latin typeface="Montserrat"/>
                        </a:defRPr>
                      </a:pPr>
                      <a:r>
                        <a:t>222</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+34.1%</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1,677</a:t>
                      </a:r>
                    </a:p>
                  </a:txBody>
                  <a:tcPr marL="0" marR="0" marT="0" marB="0">
                    <a:noFill/>
                  </a:tcPr>
                </a:tc>
                <a:tc>
                  <a:txBody>
                    <a:bodyPr/>
                    <a:lstStyle/>
                    <a:p>
                      <a:pPr algn="ctr">
                        <a:defRPr b="1" sz="1500">
                          <a:solidFill>
                            <a:srgbClr val="B4975A"/>
                          </a:solidFill>
                          <a:latin typeface="Montserrat"/>
                        </a:defRPr>
                      </a:pPr>
                      <a:r>
                        <a:t>2,249</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+25.7%</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3,277</a:t>
                      </a:r>
                    </a:p>
                  </a:txBody>
                  <a:tcPr marL="0" marR="0" marT="0" marB="0">
                    <a:noFill/>
                  </a:tcPr>
                </a:tc>
                <a:tc>
                  <a:txBody>
                    <a:bodyPr/>
                    <a:lstStyle/>
                    <a:p>
                      <a:pPr algn="ctr">
                        <a:defRPr b="1" sz="1500">
                          <a:solidFill>
                            <a:srgbClr val="B4975A"/>
                          </a:solidFill>
                          <a:latin typeface="Montserrat"/>
                        </a:defRPr>
                      </a:pPr>
                      <a:r>
                        <a:t>4,120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+26.0%</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2,296</a:t>
                      </a:r>
                    </a:p>
                  </a:txBody>
                  <a:tcPr marL="0" marR="0" marT="0" marB="0">
                    <a:noFill/>
                  </a:tcPr>
                </a:tc>
                <a:tc>
                  <a:txBody>
                    <a:bodyPr/>
                    <a:lstStyle/>
                    <a:p>
                      <a:pPr algn="ctr">
                        <a:defRPr b="1" sz="1500">
                          <a:solidFill>
                            <a:srgbClr val="B4975A"/>
                          </a:solidFill>
                          <a:latin typeface="Montserrat"/>
                        </a:defRPr>
                      </a:pPr>
                      <a:r>
                        <a:t>2,892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-4.3%</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278</a:t>
                      </a:r>
                    </a:p>
                  </a:txBody>
                  <a:tcPr marL="0" marR="0" marT="0" marB="0">
                    <a:noFill/>
                  </a:tcPr>
                </a:tc>
                <a:tc>
                  <a:txBody>
                    <a:bodyPr/>
                    <a:lstStyle/>
                    <a:p>
                      <a:pPr algn="ctr">
                        <a:defRPr b="1" sz="1500">
                          <a:solidFill>
                            <a:srgbClr val="B4975A"/>
                          </a:solidFill>
                          <a:latin typeface="Montserrat"/>
                        </a:defRPr>
                      </a:pPr>
                      <a:r>
                        <a:t>266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+6.9%</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656</a:t>
                      </a:r>
                    </a:p>
                  </a:txBody>
                  <a:tcPr marL="0" marR="0" marT="0" marB="0">
                    <a:noFill/>
                  </a:tcPr>
                </a:tc>
                <a:tc>
                  <a:txBody>
                    <a:bodyPr/>
                    <a:lstStyle/>
                    <a:p>
                      <a:pPr algn="ctr">
                        <a:defRPr b="1" sz="1500">
                          <a:solidFill>
                            <a:srgbClr val="B4975A"/>
                          </a:solidFill>
                          <a:latin typeface="Montserrat"/>
                        </a:defRPr>
                      </a:pPr>
                      <a:r>
                        <a:t>701</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34</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17</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11</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9</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30</a:t>
                      </a:r>
                    </a:p>
                  </a:txBody>
                  <a:tcPr marL="45720" marR="45720" marT="45720" marB="45720">
                    <a:solidFill>
                      <a:srgbClr val="FFFFFF"/>
                    </a:solidFill>
                  </a:tcPr>
                </a:tc>
              </a:tr>
              <a:tr h="18288">
                <a:tc>
                  <a:txBody>
                    <a:bodyPr/>
                    <a:lstStyle/>
                    <a:p>
                      <a:pPr algn="l">
                        <a:defRPr sz="800">
                          <a:latin typeface="Montserrat"/>
                        </a:defRPr>
                      </a:pPr>
                      <a:r>
                        <a:t>Medicina Familiar</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16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13</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10</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202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81</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125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115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523</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17,726</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768</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157</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3,558</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1,144</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23,196</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(214,767)</a:t>
                      </a:r>
                    </a:p>
                  </a:txBody>
                  <a:tcPr>
                    <a:solidFill>
                      <a:srgbClr val="FFFFFF"/>
                    </a:solidFill>
                  </a:tcPr>
                </a:tc>
                <a:tc>
                  <a:txBody>
                    <a:bodyPr/>
                    <a:lstStyle/>
                    <a:p>
                      <a:pPr algn="ctr"/>
                      <a:r>
                        <a:rPr sz="900" b="0">
                          <a:latin typeface="Montserrat"/>
                        </a:rPr>
                        <a:t>Traumatismos e intoxicaciones
(18,385)</a:t>
                      </a:r>
                    </a:p>
                  </a:txBody>
                  <a:tcPr>
                    <a:solidFill>
                      <a:srgbClr val="FFFFFF"/>
                    </a:solidFill>
                  </a:tcPr>
                </a:tc>
                <a:tc>
                  <a:txBody>
                    <a:bodyPr/>
                    <a:lstStyle/>
                    <a:p>
                      <a:pPr algn="ctr"/>
                      <a:r>
                        <a:rPr sz="900" b="0">
                          <a:latin typeface="Montserrat"/>
                        </a:rPr>
                        <a:t>Traumatismos y envenenamientos
(2,704)</a:t>
                      </a:r>
                    </a:p>
                  </a:txBody>
                  <a:tcPr>
                    <a:solidFill>
                      <a:srgbClr val="FFFFFF"/>
                    </a:solidFill>
                  </a:tcPr>
                </a:tc>
                <a:tc>
                  <a:txBody>
                    <a:bodyPr/>
                    <a:lstStyle/>
                    <a:p>
                      <a:pPr algn="ctr"/>
                      <a:r>
                        <a:rPr sz="900" b="0">
                          <a:latin typeface="Montserrat"/>
                        </a:rPr>
                        <a:t>Embarazo, parto y puerperio
(4,004)</a:t>
                      </a:r>
                    </a:p>
                  </a:txBody>
                  <a:tcPr>
                    <a:solidFill>
                      <a:srgbClr val="FFFFFF"/>
                    </a:solidFill>
                  </a:tcPr>
                </a:tc>
                <a:tc>
                  <a:txBody>
                    <a:bodyPr/>
                    <a:lstStyle/>
                    <a:p>
                      <a:pPr algn="ctr"/>
                      <a:r>
                        <a:rPr sz="900" b="0">
                          <a:latin typeface="Montserrat"/>
                        </a:rPr>
                        <a:t>Enfermedades del corazón
(359)</a:t>
                      </a:r>
                    </a:p>
                  </a:txBody>
                  <a:tcPr>
                    <a:solidFill>
                      <a:srgbClr val="FFFFFF"/>
                    </a:solidFill>
                  </a:tcPr>
                </a:tc>
              </a:tr>
              <a:tr h="489600">
                <a:tc>
                  <a:txBody>
                    <a:bodyPr/>
                    <a:lstStyle/>
                    <a:p>
                      <a:pPr algn="ctr"/>
                      <a:r>
                        <a:rPr sz="900" b="0">
                          <a:latin typeface="Montserrat"/>
                        </a:rPr>
                        <a:t>Diabetes mellitus
(201,130)</a:t>
                      </a:r>
                    </a:p>
                  </a:txBody>
                  <a:tcPr>
                    <a:solidFill>
                      <a:srgbClr val="EFEFEF"/>
                    </a:solidFill>
                  </a:tcPr>
                </a:tc>
                <a:tc>
                  <a:txBody>
                    <a:bodyPr/>
                    <a:lstStyle/>
                    <a:p>
                      <a:pPr algn="ctr"/>
                      <a:r>
                        <a:rPr sz="900" b="0">
                          <a:latin typeface="Montserrat"/>
                        </a:rPr>
                        <a:t>Insuficiencia renal
(17,639)</a:t>
                      </a:r>
                    </a:p>
                  </a:txBody>
                  <a:tcPr>
                    <a:solidFill>
                      <a:srgbClr val="EFEFEF"/>
                    </a:solidFill>
                  </a:tcPr>
                </a:tc>
                <a:tc>
                  <a:txBody>
                    <a:bodyPr/>
                    <a:lstStyle/>
                    <a:p>
                      <a:pPr algn="ctr"/>
                      <a:r>
                        <a:rPr sz="900" b="0">
                          <a:latin typeface="Montserrat"/>
                        </a:rPr>
                        <a:t>Cesárea
(2,013)</a:t>
                      </a:r>
                    </a:p>
                  </a:txBody>
                  <a:tcPr>
                    <a:solidFill>
                      <a:srgbClr val="EFEFEF"/>
                    </a:solidFill>
                  </a:tcPr>
                </a:tc>
                <a:tc>
                  <a:txBody>
                    <a:bodyPr/>
                    <a:lstStyle/>
                    <a:p>
                      <a:pPr algn="ctr"/>
                      <a:r>
                        <a:rPr sz="900" b="0">
                          <a:latin typeface="Montserrat"/>
                        </a:rPr>
                        <a:t>Traumatismos e intoxicaciones
(2,794)</a:t>
                      </a:r>
                    </a:p>
                  </a:txBody>
                  <a:tcPr>
                    <a:solidFill>
                      <a:srgbClr val="EFEFEF"/>
                    </a:solidFill>
                  </a:tcPr>
                </a:tc>
                <a:tc>
                  <a:txBody>
                    <a:bodyPr/>
                    <a:lstStyle/>
                    <a:p>
                      <a:pPr algn="ctr"/>
                      <a:r>
                        <a:rPr sz="900" b="0">
                          <a:latin typeface="Montserrat"/>
                        </a:rPr>
                        <a:t>Diabetes mellitus
(304)</a:t>
                      </a:r>
                    </a:p>
                  </a:txBody>
                  <a:tcPr>
                    <a:solidFill>
                      <a:srgbClr val="EFEFEF"/>
                    </a:solidFill>
                  </a:tcPr>
                </a:tc>
              </a:tr>
              <a:tr h="489600">
                <a:tc>
                  <a:txBody>
                    <a:bodyPr/>
                    <a:lstStyle/>
                    <a:p>
                      <a:pPr algn="ctr"/>
                      <a:r>
                        <a:rPr sz="900" b="0">
                          <a:latin typeface="Montserrat"/>
                        </a:rPr>
                        <a:t>Infecciones respiratorias agudas
(54,113)</a:t>
                      </a:r>
                    </a:p>
                  </a:txBody>
                  <a:tcPr>
                    <a:solidFill>
                      <a:srgbClr val="FFFFFF"/>
                    </a:solidFill>
                  </a:tcPr>
                </a:tc>
                <a:tc>
                  <a:txBody>
                    <a:bodyPr/>
                    <a:lstStyle/>
                    <a:p>
                      <a:pPr algn="ctr"/>
                      <a:r>
                        <a:rPr sz="900" b="0">
                          <a:latin typeface="Montserrat"/>
                        </a:rPr>
                        <a:t>Tumores malignos
(17,345)</a:t>
                      </a:r>
                    </a:p>
                  </a:txBody>
                  <a:tcPr>
                    <a:solidFill>
                      <a:srgbClr val="FFFFFF"/>
                    </a:solidFill>
                  </a:tcPr>
                </a:tc>
                <a:tc>
                  <a:txBody>
                    <a:bodyPr/>
                    <a:lstStyle/>
                    <a:p>
                      <a:pPr algn="ctr"/>
                      <a:r>
                        <a:rPr sz="900" b="0">
                          <a:latin typeface="Montserrat"/>
                        </a:rPr>
                        <a:t>Artropatias
(1,808)</a:t>
                      </a:r>
                    </a:p>
                  </a:txBody>
                  <a:tcPr>
                    <a:solidFill>
                      <a:srgbClr val="FFFFFF"/>
                    </a:solidFill>
                  </a:tcPr>
                </a:tc>
                <a:tc>
                  <a:txBody>
                    <a:bodyPr/>
                    <a:lstStyle/>
                    <a:p>
                      <a:pPr algn="ctr"/>
                      <a:r>
                        <a:rPr sz="900" b="0">
                          <a:latin typeface="Montserrat"/>
                        </a:rPr>
                        <a:t>Enfermedades y trastornos de las articulaciones
(2,001)</a:t>
                      </a:r>
                    </a:p>
                  </a:txBody>
                  <a:tcPr>
                    <a:solidFill>
                      <a:srgbClr val="FFFFFF"/>
                    </a:solidFill>
                  </a:tcPr>
                </a:tc>
                <a:tc>
                  <a:txBody>
                    <a:bodyPr/>
                    <a:lstStyle/>
                    <a:p>
                      <a:pPr algn="ctr"/>
                      <a:r>
                        <a:rPr sz="900" b="0">
                          <a:latin typeface="Montserrat"/>
                        </a:rPr>
                        <a:t>Tumores malignos
(281)</a:t>
                      </a:r>
                    </a:p>
                  </a:txBody>
                  <a:tcPr>
                    <a:solidFill>
                      <a:srgbClr val="FFFFFF"/>
                    </a:solidFill>
                  </a:tcPr>
                </a:tc>
              </a:tr>
              <a:tr h="489600">
                <a:tc>
                  <a:txBody>
                    <a:bodyPr/>
                    <a:lstStyle/>
                    <a:p>
                      <a:pPr algn="ctr"/>
                      <a:r>
                        <a:rPr sz="900" b="0">
                          <a:latin typeface="Montserrat"/>
                        </a:rPr>
                        <a:t>Trastornos de la piel y tejidos superficiales
(42,571)</a:t>
                      </a:r>
                    </a:p>
                  </a:txBody>
                  <a:tcPr>
                    <a:solidFill>
                      <a:srgbClr val="EFEFEF"/>
                    </a:solidFill>
                  </a:tcPr>
                </a:tc>
                <a:tc>
                  <a:txBody>
                    <a:bodyPr/>
                    <a:lstStyle/>
                    <a:p>
                      <a:pPr algn="ctr"/>
                      <a:r>
                        <a:rPr sz="900" b="0">
                          <a:latin typeface="Montserrat"/>
                        </a:rPr>
                        <a:t>Problemas y enfermedades de la columna vertebral
(9,209)</a:t>
                      </a:r>
                    </a:p>
                  </a:txBody>
                  <a:tcPr>
                    <a:solidFill>
                      <a:srgbClr val="EFEFEF"/>
                    </a:solidFill>
                  </a:tcPr>
                </a:tc>
                <a:tc>
                  <a:txBody>
                    <a:bodyPr/>
                    <a:lstStyle/>
                    <a:p>
                      <a:pPr algn="ctr"/>
                      <a:r>
                        <a:rPr sz="900" b="0">
                          <a:latin typeface="Montserrat"/>
                        </a:rPr>
                        <a:t>Diabetes mellitus
(925)</a:t>
                      </a:r>
                    </a:p>
                  </a:txBody>
                  <a:tcPr>
                    <a:solidFill>
                      <a:srgbClr val="EFEFEF"/>
                    </a:solidFill>
                  </a:tcPr>
                </a:tc>
                <a:tc>
                  <a:txBody>
                    <a:bodyPr/>
                    <a:lstStyle/>
                    <a:p>
                      <a:pPr algn="ctr"/>
                      <a:r>
                        <a:rPr sz="900" b="0">
                          <a:latin typeface="Montserrat"/>
                        </a:rPr>
                        <a:t>Tumores malignos
(1,035)</a:t>
                      </a:r>
                    </a:p>
                  </a:txBody>
                  <a:tcPr>
                    <a:solidFill>
                      <a:srgbClr val="EFEFEF"/>
                    </a:solidFill>
                  </a:tcPr>
                </a:tc>
                <a:tc>
                  <a:txBody>
                    <a:bodyPr/>
                    <a:lstStyle/>
                    <a:p>
                      <a:pPr algn="ctr"/>
                      <a:r>
                        <a:rPr sz="900" b="0">
                          <a:latin typeface="Montserrat"/>
                        </a:rPr>
                        <a:t>Enfermedades cerebrovasculares
(161)</a:t>
                      </a:r>
                    </a:p>
                  </a:txBody>
                  <a:tcPr>
                    <a:solidFill>
                      <a:srgbClr val="EFEFEF"/>
                    </a:solidFill>
                  </a:tcPr>
                </a:tc>
              </a:tr>
              <a:tr h="489600">
                <a:tc>
                  <a:txBody>
                    <a:bodyPr/>
                    <a:lstStyle/>
                    <a:p>
                      <a:pPr algn="ctr"/>
                      <a:r>
                        <a:rPr sz="900" b="0">
                          <a:latin typeface="Montserrat"/>
                        </a:rPr>
                        <a:t>traumatismos e intoxicaciones
(40,559)</a:t>
                      </a:r>
                    </a:p>
                  </a:txBody>
                  <a:tcPr>
                    <a:solidFill>
                      <a:srgbClr val="FFFFFF"/>
                    </a:solidFill>
                  </a:tcPr>
                </a:tc>
                <a:tc>
                  <a:txBody>
                    <a:bodyPr/>
                    <a:lstStyle/>
                    <a:p>
                      <a:pPr algn="ctr"/>
                      <a:r>
                        <a:rPr sz="900" b="0">
                          <a:latin typeface="Montserrat"/>
                        </a:rPr>
                        <a:t>Enfermedades y trastornos de las articulaciones
(8,916)</a:t>
                      </a:r>
                    </a:p>
                  </a:txBody>
                  <a:tcPr>
                    <a:solidFill>
                      <a:srgbClr val="FFFFFF"/>
                    </a:solidFill>
                  </a:tcPr>
                </a:tc>
                <a:tc>
                  <a:txBody>
                    <a:bodyPr/>
                    <a:lstStyle/>
                    <a:p>
                      <a:pPr algn="ctr"/>
                      <a:r>
                        <a:rPr sz="900" b="0">
                          <a:latin typeface="Montserrat"/>
                        </a:rPr>
                        <a:t>Cirugía de vesicula biliar (Colecistectomía)
(861)</a:t>
                      </a:r>
                    </a:p>
                  </a:txBody>
                  <a:tcPr>
                    <a:solidFill>
                      <a:srgbClr val="FFFFFF"/>
                    </a:solidFill>
                  </a:tcPr>
                </a:tc>
                <a:tc>
                  <a:txBody>
                    <a:bodyPr/>
                    <a:lstStyle/>
                    <a:p>
                      <a:pPr algn="ctr"/>
                      <a:r>
                        <a:rPr sz="900" b="0">
                          <a:latin typeface="Montserrat"/>
                        </a:rPr>
                        <a:t>Enfermedades de la vesicula biliar
(1,031)</a:t>
                      </a:r>
                    </a:p>
                  </a:txBody>
                  <a:tcPr>
                    <a:solidFill>
                      <a:srgbClr val="FFFFFF"/>
                    </a:solidFill>
                  </a:tcPr>
                </a:tc>
                <a:tc>
                  <a:txBody>
                    <a:bodyPr/>
                    <a:lstStyle/>
                    <a:p>
                      <a:pPr algn="ctr"/>
                      <a:r>
                        <a:rPr sz="900" b="0">
                          <a:latin typeface="Montserrat"/>
                        </a:rPr>
                        <a:t>Neumonía e influenza
(154)</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376,909</a:t>
                      </a:r>
                    </a:p>
                  </a:txBody>
                  <a:tcPr>
                    <a:solidFill>
                      <a:srgbClr val="FFFFFF"/>
                    </a:solidFill>
                  </a:tcPr>
                </a:tc>
                <a:tc>
                  <a:txBody>
                    <a:bodyPr/>
                    <a:lstStyle/>
                    <a:p>
                      <a:pPr algn="ctr"/>
                      <a:r>
                        <a:rPr sz="1100" b="0">
                          <a:solidFill>
                            <a:srgbClr val="434343"/>
                          </a:solidFill>
                          <a:latin typeface="Montserrat"/>
                        </a:rPr>
                        <a:t>2,039,065</a:t>
                      </a:r>
                    </a:p>
                  </a:txBody>
                  <a:tcPr>
                    <a:solidFill>
                      <a:srgbClr val="FFFFFF"/>
                    </a:solidFill>
                  </a:tcPr>
                </a:tc>
                <a:tc>
                  <a:txBody>
                    <a:bodyPr/>
                    <a:lstStyle/>
                    <a:p>
                      <a:pPr algn="ctr"/>
                      <a:r>
                        <a:rPr sz="1100" b="0">
                          <a:solidFill>
                            <a:srgbClr val="434343"/>
                          </a:solidFill>
                          <a:latin typeface="Montserrat"/>
                        </a:rPr>
                        <a:t>84.4%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210,329</a:t>
                      </a:r>
                    </a:p>
                  </a:txBody>
                  <a:tcPr>
                    <a:solidFill>
                      <a:srgbClr val="D9D9D9"/>
                    </a:solidFill>
                  </a:tcPr>
                </a:tc>
                <a:tc>
                  <a:txBody>
                    <a:bodyPr/>
                    <a:lstStyle/>
                    <a:p>
                      <a:pPr algn="ctr"/>
                      <a:r>
                        <a:rPr sz="1100" b="1">
                          <a:solidFill>
                            <a:srgbClr val="006455"/>
                          </a:solidFill>
                          <a:latin typeface="Montserrat"/>
                        </a:rPr>
                        <a:t>2,153,802</a:t>
                      </a:r>
                    </a:p>
                  </a:txBody>
                  <a:tcPr>
                    <a:solidFill>
                      <a:srgbClr val="D9D9D9"/>
                    </a:solidFill>
                  </a:tcPr>
                </a:tc>
                <a:tc>
                  <a:txBody>
                    <a:bodyPr/>
                    <a:lstStyle/>
                    <a:p>
                      <a:pPr algn="ctr"/>
                      <a:r>
                        <a:rPr sz="1100" b="1">
                          <a:solidFill>
                            <a:srgbClr val="006455"/>
                          </a:solidFill>
                          <a:latin typeface="Montserrat"/>
                        </a:rPr>
                        <a:t>91.1%</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5696-382B-76E6-3253-44E8DB985714}"/>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8.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655,890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402,138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265,500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250,022</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231,138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220,872</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220,737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FFFFF"/>
                    </a:solidFill>
                  </a:tcPr>
                </a:tc>
                <a:tc>
                  <a:txBody>
                    <a:bodyPr/>
                    <a:lstStyle/>
                    <a:p>
                      <a:pPr algn="ctr">
                        <a:defRPr sz="900" b="0">
                          <a:solidFill>
                            <a:srgbClr val="333333"/>
                          </a:solidFill>
                          <a:latin typeface="Montserrat"/>
                        </a:defRPr>
                      </a:pPr>
                      <a:r>
                        <a:t>212,447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202,095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181,312</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110968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42122"/>
            <a:ext cx="1599000" cy="745078"/>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99068" y="291124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41559" y="3254836"/>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59833" y="3381168"/>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endParaRPr lang="en-US" sz="700" b="1">
              <a:solidFill>
                <a:srgbClr val="BC955C"/>
              </a:solidFill>
              <a:latin typeface="Montserrat"/>
            </a:endParaRP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7" name="Table 16"/>
          <p:cNvGraphicFramePr>
            <a:graphicFrameLocks noGrp="1"/>
          </p:cNvGraphicFramePr>
          <p:nvPr/>
        </p:nvGraphicFramePr>
        <p:xfrm>
          <a:off x="1785600" y="1584000"/>
          <a:ext cx="5295600" cy="2340000"/>
        </p:xfrm>
        <a:graphic>
          <a:graphicData uri="http://schemas.openxmlformats.org/drawingml/2006/table">
            <a:tbl>
              <a:tblPr firstRow="1" bandRow="1">
                <a:tableStyleId>{5C22544A-7EE6-4342-B048-85BDC9FD1C3A}</a:tableStyleId>
              </a:tblPr>
              <a:tblGrid>
                <a:gridCol w="4176000"/>
                <a:gridCol w="1119600"/>
              </a:tblGrid>
              <a:tr h="39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0000">
                <a:tc>
                  <a:txBody>
                    <a:bodyPr/>
                    <a:lstStyle/>
                    <a:p>
                      <a:pPr algn="l">
                        <a:lnSpc>
                          <a:spcPct val="100000"/>
                        </a:lnSpc>
                      </a:pPr>
                      <a:r>
                        <a:rPr sz="1000">
                          <a:latin typeface="Montserrat"/>
                        </a:rPr>
                        <a:t>Ampliación y Remodelación de la UMF 17, Río Bravo</a:t>
                      </a:r>
                    </a:p>
                  </a:txBody>
                  <a:tcPr marL="3600" marR="3600" marT="3600" marB="3600">
                    <a:solidFill>
                      <a:srgbClr val="FFFFFF"/>
                    </a:solidFill>
                  </a:tcPr>
                </a:tc>
                <a:tc>
                  <a:txBody>
                    <a:bodyPr/>
                    <a:lstStyle/>
                    <a:p>
                      <a:pPr algn="ctr">
                        <a:lnSpc>
                          <a:spcPct val="100000"/>
                        </a:lnSpc>
                      </a:pPr>
                      <a:r>
                        <a:rPr sz="1000">
                          <a:latin typeface="Montserrat"/>
                        </a:rPr>
                        <a:t>$163.7</a:t>
                      </a:r>
                    </a:p>
                  </a:txBody>
                  <a:tcPr marL="3600" marR="3600" marT="3600" marB="3600">
                    <a:solidFill>
                      <a:srgbClr val="FFFFFF"/>
                    </a:solidFill>
                  </a:tcPr>
                </a:tc>
              </a:tr>
              <a:tr h="390000">
                <a:tc>
                  <a:txBody>
                    <a:bodyPr/>
                    <a:lstStyle/>
                    <a:p>
                      <a:pPr algn="l">
                        <a:lnSpc>
                          <a:spcPct val="100000"/>
                        </a:lnSpc>
                      </a:pPr>
                      <a:r>
                        <a:rPr sz="1000">
                          <a:latin typeface="Montserrat"/>
                        </a:rPr>
                        <a:t>Remodelación integral de zona de alberca y techado de 2 canchas en el Centro de Seguridad Social, Cd. Mante.</a:t>
                      </a:r>
                    </a:p>
                  </a:txBody>
                  <a:tcPr marL="3600" marR="3600" marT="3600" marB="3600">
                    <a:solidFill>
                      <a:srgbClr val="D9D9D9"/>
                    </a:solidFill>
                  </a:tcPr>
                </a:tc>
                <a:tc>
                  <a:txBody>
                    <a:bodyPr/>
                    <a:lstStyle/>
                    <a:p>
                      <a:pPr algn="ctr">
                        <a:lnSpc>
                          <a:spcPct val="100000"/>
                        </a:lnSpc>
                      </a:pPr>
                      <a:r>
                        <a:rPr sz="1000">
                          <a:latin typeface="Montserrat"/>
                        </a:rPr>
                        <a:t>$65.6</a:t>
                      </a:r>
                    </a:p>
                  </a:txBody>
                  <a:tcPr marL="3600" marR="3600" marT="3600" marB="3600">
                    <a:solidFill>
                      <a:srgbClr val="D9D9D9"/>
                    </a:solidFill>
                  </a:tcPr>
                </a:tc>
              </a:tr>
              <a:tr h="390000">
                <a:tc>
                  <a:txBody>
                    <a:bodyPr/>
                    <a:lstStyle/>
                    <a:p>
                      <a:pPr algn="l">
                        <a:lnSpc>
                          <a:spcPct val="100000"/>
                        </a:lnSpc>
                      </a:pPr>
                      <a:r>
                        <a:rPr sz="1000">
                          <a:latin typeface="Montserrat"/>
                        </a:rPr>
                        <a:t>Nueva Sala de Hemodinamia en el HGR 6 Cd. Madero</a:t>
                      </a:r>
                    </a:p>
                  </a:txBody>
                  <a:tcPr marL="3600" marR="3600" marT="3600" marB="3600">
                    <a:solidFill>
                      <a:srgbClr val="FFFFFF"/>
                    </a:solidFill>
                  </a:tcPr>
                </a:tc>
                <a:tc>
                  <a:txBody>
                    <a:bodyPr/>
                    <a:lstStyle/>
                    <a:p>
                      <a:pPr algn="ctr">
                        <a:lnSpc>
                          <a:spcPct val="100000"/>
                        </a:lnSpc>
                      </a:pPr>
                      <a:r>
                        <a:rPr sz="1000">
                          <a:latin typeface="Montserrat"/>
                        </a:rPr>
                        <a:t>$32.0</a:t>
                      </a:r>
                    </a:p>
                  </a:txBody>
                  <a:tcPr marL="3600" marR="3600" marT="3600" marB="3600">
                    <a:solidFill>
                      <a:srgbClr val="FFFFFF"/>
                    </a:solidFill>
                  </a:tcPr>
                </a:tc>
              </a:tr>
              <a:tr h="390000">
                <a:tc>
                  <a:txBody>
                    <a:bodyPr/>
                    <a:lstStyle/>
                    <a:p>
                      <a:pPr algn="l">
                        <a:lnSpc>
                          <a:spcPct val="100000"/>
                        </a:lnSpc>
                      </a:pPr>
                      <a:r>
                        <a:rPr sz="1000">
                          <a:latin typeface="Montserrat"/>
                        </a:rPr>
                        <a:t>Ampliación y remodelación de áreas deportivas y construcción de escaleras de emergencia del Centro de Seguridad Social, Nuevo Laredo.</a:t>
                      </a:r>
                    </a:p>
                  </a:txBody>
                  <a:tcPr marL="3600" marR="3600" marT="3600" marB="3600">
                    <a:solidFill>
                      <a:srgbClr val="D9D9D9"/>
                    </a:solidFill>
                  </a:tcPr>
                </a:tc>
                <a:tc>
                  <a:txBody>
                    <a:bodyPr/>
                    <a:lstStyle/>
                    <a:p>
                      <a:pPr algn="ctr">
                        <a:lnSpc>
                          <a:spcPct val="100000"/>
                        </a:lnSpc>
                      </a:pPr>
                      <a:r>
                        <a:rPr sz="1000">
                          <a:latin typeface="Montserrat"/>
                        </a:rPr>
                        <a:t>$13.0</a:t>
                      </a:r>
                    </a:p>
                  </a:txBody>
                  <a:tcPr marL="3600" marR="3600" marT="3600" marB="3600">
                    <a:solidFill>
                      <a:srgbClr val="D9D9D9"/>
                    </a:solidFill>
                  </a:tcPr>
                </a:tc>
              </a:tr>
              <a:tr h="39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$274.3</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4104000"/>
          <a:ext cx="5295600" cy="3060000"/>
        </p:xfrm>
        <a:graphic>
          <a:graphicData uri="http://schemas.openxmlformats.org/drawingml/2006/table">
            <a:tbl>
              <a:tblPr firstRow="1" bandRow="1">
                <a:tableStyleId>{5C22544A-7EE6-4342-B048-85BDC9FD1C3A}</a:tableStyleId>
              </a:tblPr>
              <a:tblGrid>
                <a:gridCol w="4176000"/>
                <a:gridCol w="1119600"/>
              </a:tblGrid>
              <a:tr h="51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1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$490.2</a:t>
                      </a:r>
                    </a:p>
                  </a:txBody>
                  <a:tcPr marL="3600" marR="3600" marT="3600" marB="3600">
                    <a:solidFill>
                      <a:srgbClr val="FFFFFF"/>
                    </a:solidFill>
                  </a:tcPr>
                </a:tc>
              </a:tr>
              <a:tr h="510000">
                <a:tc>
                  <a:txBody>
                    <a:bodyPr/>
                    <a:lstStyle/>
                    <a:p>
                      <a:pPr algn="l">
                        <a:lnSpc>
                          <a:spcPct val="100000"/>
                        </a:lnSpc>
                      </a:pPr>
                      <a:r>
                        <a:rPr sz="1000">
                          <a:latin typeface="Montserrat"/>
                        </a:rPr>
                        <a:t>Intervención en áreas de residencias médicas en 8 unidades (HGR No. 270 Reynosa, HGR No. 6 Cd. Madero, HGZ No.11 Nuevo Laredo, HGZ No. 13 Matamoros, HGZ No.15 Reynosa, HGZMF No.1 Cd. Victoria, HGZMF No.2 Reynosa, HGZMF No.3 Cd. Mante)</a:t>
                      </a:r>
                    </a:p>
                  </a:txBody>
                  <a:tcPr marL="3600" marR="3600" marT="3600" marB="3600">
                    <a:solidFill>
                      <a:srgbClr val="D9D9D9"/>
                    </a:solidFill>
                  </a:tcPr>
                </a:tc>
                <a:tc>
                  <a:txBody>
                    <a:bodyPr/>
                    <a:lstStyle/>
                    <a:p>
                      <a:pPr algn="ctr">
                        <a:lnSpc>
                          <a:spcPct val="100000"/>
                        </a:lnSpc>
                      </a:pPr>
                      <a:r>
                        <a:rPr sz="1000">
                          <a:latin typeface="Montserrat"/>
                        </a:rPr>
                        <a:t>$25.8</a:t>
                      </a:r>
                    </a:p>
                  </a:txBody>
                  <a:tcPr marL="3600" marR="3600" marT="3600" marB="3600">
                    <a:solidFill>
                      <a:srgbClr val="D9D9D9"/>
                    </a:solidFill>
                  </a:tcPr>
                </a:tc>
              </a:tr>
              <a:tr h="510000">
                <a:tc>
                  <a:txBody>
                    <a:bodyPr/>
                    <a:lstStyle/>
                    <a:p>
                      <a:pPr algn="l">
                        <a:lnSpc>
                          <a:spcPct val="100000"/>
                        </a:lnSpc>
                      </a:pPr>
                      <a:r>
                        <a:rPr sz="1000">
                          <a:latin typeface="Montserrat"/>
                        </a:rPr>
                        <a:t>Intervención en áreas de urgencias en 6 unidades (UMF No.18 Valle Hermoso, UMF No.36 Matamoros, UMF No.77 Cd. Madero, UMF No 78 Nuevo Laredo, UMF No.16 Cd. Altamira, UMF No. 17 Río Bravo)</a:t>
                      </a:r>
                    </a:p>
                  </a:txBody>
                  <a:tcPr marL="3600" marR="3600" marT="3600" marB="3600">
                    <a:solidFill>
                      <a:srgbClr val="FFFFFF"/>
                    </a:solidFill>
                  </a:tcPr>
                </a:tc>
                <a:tc>
                  <a:txBody>
                    <a:bodyPr/>
                    <a:lstStyle/>
                    <a:p>
                      <a:pPr algn="ctr">
                        <a:lnSpc>
                          <a:spcPct val="100000"/>
                        </a:lnSpc>
                      </a:pPr>
                      <a:r>
                        <a:rPr sz="1000">
                          <a:latin typeface="Montserrat"/>
                        </a:rPr>
                        <a:t>$11.8</a:t>
                      </a:r>
                    </a:p>
                  </a:txBody>
                  <a:tcPr marL="3600" marR="3600" marT="3600" marB="3600">
                    <a:solidFill>
                      <a:srgbClr val="FFFFFF"/>
                    </a:solidFill>
                  </a:tcPr>
                </a:tc>
              </a:tr>
              <a:tr h="510000">
                <a:tc>
                  <a:txBody>
                    <a:bodyPr/>
                    <a:lstStyle/>
                    <a:p>
                      <a:pPr algn="l">
                        <a:lnSpc>
                          <a:spcPct val="100000"/>
                        </a:lnSpc>
                      </a:pPr>
                      <a:r>
                        <a:rPr sz="1000">
                          <a:latin typeface="Montserrat"/>
                        </a:rPr>
                        <a:t>Intervención en áreas de accesibilidad (rampas) en 49 unidades, Tamaulipas</a:t>
                      </a:r>
                    </a:p>
                  </a:txBody>
                  <a:tcPr marL="3600" marR="3600" marT="3600" marB="3600">
                    <a:solidFill>
                      <a:srgbClr val="D9D9D9"/>
                    </a:solidFill>
                  </a:tcPr>
                </a:tc>
                <a:tc>
                  <a:txBody>
                    <a:bodyPr/>
                    <a:lstStyle/>
                    <a:p>
                      <a:pPr algn="ctr">
                        <a:lnSpc>
                          <a:spcPct val="100000"/>
                        </a:lnSpc>
                      </a:pPr>
                      <a:r>
                        <a:rPr sz="1000">
                          <a:latin typeface="Montserrat"/>
                        </a:rPr>
                        <a:t>$11.6</a:t>
                      </a:r>
                    </a:p>
                  </a:txBody>
                  <a:tcPr marL="3600" marR="3600" marT="3600" marB="3600">
                    <a:solidFill>
                      <a:srgbClr val="D9D9D9"/>
                    </a:solidFill>
                  </a:tcPr>
                </a:tc>
              </a:tr>
              <a:tr h="51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$539.4</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7344000"/>
          <a:ext cx="5295600" cy="1260000"/>
        </p:xfrm>
        <a:graphic>
          <a:graphicData uri="http://schemas.openxmlformats.org/drawingml/2006/table">
            <a:tbl>
              <a:tblPr firstRow="1" bandRow="1">
                <a:tableStyleId>{5C22544A-7EE6-4342-B048-85BDC9FD1C3A}</a:tableStyleId>
              </a:tblPr>
              <a:tblGrid>
                <a:gridCol w="4176000"/>
                <a:gridCol w="1119600"/>
              </a:tblGrid>
              <a:tr h="63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630000">
                <a:tc>
                  <a:txBody>
                    <a:bodyPr/>
                    <a:lstStyle/>
                    <a:p>
                      <a:pPr algn="l">
                        <a:lnSpc>
                          <a:spcPct val="100000"/>
                        </a:lnSpc>
                      </a:pPr>
                      <a:r>
                        <a:rPr sz="1000">
                          <a:latin typeface="Montserrat"/>
                        </a:rPr>
                        <a:t>Adquisición de 14 piezas de equipo médico:  3 congeladores horizontales de refrigerantes para vacunas, 4 refrigeradores para vacunas, 4 refrigeradores con congelador de 5.4 pies cúbicos, 1 resonador magnético de 3.0 teslas, 2 tomógrafos axiales computarizados de alta resolución</a:t>
                      </a:r>
                    </a:p>
                  </a:txBody>
                  <a:tcPr marL="3600" marR="3600" marT="3600" marB="3600">
                    <a:solidFill>
                      <a:srgbClr val="FFFFFF"/>
                    </a:solidFill>
                  </a:tcPr>
                </a:tc>
                <a:tc>
                  <a:txBody>
                    <a:bodyPr/>
                    <a:lstStyle/>
                    <a:p>
                      <a:pPr algn="ctr">
                        <a:lnSpc>
                          <a:spcPct val="100000"/>
                        </a:lnSpc>
                      </a:pPr>
                      <a:r>
                        <a:rPr sz="1000">
                          <a:latin typeface="Montserrat"/>
                        </a:rPr>
                        <a:t>$100.5</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87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$9.7</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923.9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42122"/>
            <a:ext cx="1599000" cy="746684"/>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Adquisición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46602"/>
            <a:ext cx="38862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Equipos</a:t>
            </a:r>
            <a:r>
              <a:rPr lang="en-US" sz="800" b="1" dirty="0">
                <a:solidFill>
                  <a:srgbClr val="A42145"/>
                </a:solidFill>
                <a:latin typeface="Montserrat"/>
                <a:ea typeface="Montserrat"/>
                <a:cs typeface="Montserrat"/>
              </a:rPr>
              <a:t> </a:t>
            </a:r>
          </a:p>
          <a:p>
            <a:pPr algn="ctr"/>
            <a:r>
              <a:rPr lang="en-US" sz="800" b="1" dirty="0" err="1">
                <a:solidFill>
                  <a:srgbClr val="A42145"/>
                </a:solidFill>
                <a:latin typeface="Montserrat"/>
                <a:ea typeface="Montserrat"/>
                <a:cs typeface="Montserrat"/>
              </a:rPr>
              <a:t>Electrome</a:t>
            </a:r>
            <a:r>
              <a:rPr lang="en-US" sz="800" b="1" dirty="0">
                <a:solidFill>
                  <a:srgbClr val="A42145"/>
                </a:solidFill>
                <a:latin typeface="Montserrat"/>
                <a:ea typeface="Montserrat"/>
                <a:cs typeface="Montserrat"/>
              </a:rPr>
              <a:t>-</a:t>
            </a:r>
            <a:endParaRPr lang="en-US" dirty="0"/>
          </a:p>
          <a:p>
            <a:pPr algn="ctr"/>
            <a:r>
              <a:rPr lang="en-US" sz="800" b="1" dirty="0" err="1">
                <a:solidFill>
                  <a:srgbClr val="A42145"/>
                </a:solidFill>
                <a:latin typeface="Montserrat"/>
                <a:ea typeface="Montserrat"/>
                <a:cs typeface="Montserrat"/>
              </a:rPr>
              <a:t>cánicos</a:t>
            </a:r>
            <a:endParaRPr lang="en-US" dirty="0" err="1"/>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9" name="Table 8"/>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$265.3</a:t>
                      </a:r>
                    </a:p>
                  </a:txBody>
                  <a:tcPr marL="3600" marR="3600" marT="3600" marB="3600">
                    <a:solidFill>
                      <a:srgbClr val="FFFFFF"/>
                    </a:solidFill>
                  </a:tcPr>
                </a:tc>
              </a:tr>
            </a:tbl>
          </a:graphicData>
        </a:graphic>
      </p:graphicFrame>
      <p:graphicFrame>
        <p:nvGraphicFramePr>
          <p:cNvPr id="10" name="Table 9"/>
          <p:cNvGraphicFramePr>
            <a:graphicFrameLocks noGrp="1"/>
          </p:cNvGraphicFramePr>
          <p:nvPr/>
        </p:nvGraphicFramePr>
        <p:xfrm>
          <a:off x="1785600" y="2267998"/>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6 unidades; 4 elevadores, 9 equipos para casa de máquinas. Tamauliapas</a:t>
                      </a:r>
                    </a:p>
                  </a:txBody>
                  <a:tcPr marL="3600" marR="3600" marT="3600" marB="3600">
                    <a:solidFill>
                      <a:srgbClr val="FFFFFF"/>
                    </a:solidFill>
                  </a:tcPr>
                </a:tc>
                <a:tc>
                  <a:txBody>
                    <a:bodyPr/>
                    <a:lstStyle/>
                    <a:p>
                      <a:pPr algn="ctr">
                        <a:lnSpc>
                          <a:spcPct val="100000"/>
                        </a:lnSpc>
                      </a:pPr>
                      <a:r>
                        <a:rPr sz="1000">
                          <a:latin typeface="Montserrat"/>
                        </a:rPr>
                        <a:t>$30.0</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295.3</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15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15 Donación</a:t>
                      </a:r>
                    </a:p>
                  </a:txBody>
                  <a:tcPr marL="72000" marR="72000" anchor="ctr">
                    <a:noFill/>
                  </a:tcPr>
                </a:tc>
                <a:tc>
                  <a:txBody>
                    <a:bodyPr/>
                    <a:lstStyle/>
                    <a:p>
                      <a:pPr algn="ctr">
                        <a:defRPr sz="1200" b="0">
                          <a:solidFill>
                            <a:srgbClr val="FFFFFF"/>
                          </a:solidFill>
                          <a:latin typeface="Montserrat"/>
                        </a:defRPr>
                      </a:pPr>
                      <a:r>
                        <a:t>Altamira, El Mante, González, Llera, Matamoros, Nuevo Laredo, Ocampo, Tampico, Victoria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40</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31 CECI IMSS</a:t>
            </a:r>
          </a:p>
          <a:p>
            <a:pPr algn="ctr">
              <a:defRPr sz="1500" b="1">
                <a:solidFill>
                  <a:srgbClr val="FFFFFF"/>
                </a:solidFill>
                <a:latin typeface="Montserrat"/>
              </a:defRPr>
            </a:pPr>
            <a:r>
              <a:t>9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En integración de expediente para donación: 15 en Matamoros, Nuevo Laredo, Victoria, Altamira, Nuevo Laredo, Matamoros, Reynosa y Tampico.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68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63 indirectas</a:t>
                      </a:r>
                    </a:p>
                  </a:txBody>
                  <a:tcPr anchor="ctr">
                    <a:solidFill>
                      <a:srgbClr val="FFFFFF"/>
                    </a:solidFill>
                  </a:tcPr>
                </a:tc>
                <a:tc>
                  <a:txBody>
                    <a:bodyPr/>
                    <a:lstStyle/>
                    <a:p>
                      <a:pPr algn="ctr"/>
                      <a:r>
                        <a:rPr b="1" sz="1000">
                          <a:latin typeface="Montserrat"/>
                        </a:rPr>
                        <a:t>9,301 </a:t>
                      </a:r>
                      <a:r>
                        <a:rPr b="1" sz="1000">
                          <a:latin typeface="Montserrat"/>
                        </a:rPr>
                        <a:t>inscritos</a:t>
                      </a:r>
                    </a:p>
                    <a:p>
                      <a:pPr algn="ctr">
                        <a:defRPr sz="1000">
                          <a:solidFill>
                            <a:srgbClr val="505050"/>
                          </a:solidFill>
                          <a:latin typeface="Montserrat"/>
                        </a:defRPr>
                      </a:pPr>
                      <a:r>
                        <a:t>683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1 CEBIS</a:t>
                      </a:r>
                    </a:p>
                  </a:txBody>
                  <a:tcPr anchor="ctr" marL="28800" marR="28800" marT="0" marB="0">
                    <a:solidFill>
                      <a:srgbClr val="FFFFFF"/>
                    </a:solidFill>
                  </a:tcPr>
                </a:tc>
                <a:tc>
                  <a:txBody>
                    <a:bodyPr/>
                    <a:lstStyle/>
                    <a:p>
                      <a:pPr algn="ctr">
                        <a:defRPr sz="800">
                          <a:latin typeface="Montserrat"/>
                        </a:defRPr>
                      </a:pPr>
                      <a:r>
                        <a:t>Pánuco</a:t>
                      </a:r>
                    </a:p>
                  </a:txBody>
                  <a:tcPr anchor="ctr" marL="28800" marR="28800" marT="0" marB="0">
                    <a:solidFill>
                      <a:srgbClr val="FFFFFF"/>
                    </a:solidFill>
                  </a:tcPr>
                </a:tc>
              </a:tr>
              <a:tr h="522899">
                <a:tc>
                  <a:txBody>
                    <a:bodyPr/>
                    <a:lstStyle/>
                    <a:p>
                      <a:pPr algn="ctr">
                        <a:defRPr sz="800" b="1">
                          <a:latin typeface="Montserrat"/>
                        </a:defRPr>
                      </a:pPr>
                      <a:r>
                        <a:t>4 Centros de Seguridad Social</a:t>
                      </a:r>
                    </a:p>
                  </a:txBody>
                  <a:tcPr anchor="ctr" marL="28800" marR="28800" marT="0" marB="0">
                    <a:solidFill>
                      <a:srgbClr val="EFEFEF"/>
                    </a:solidFill>
                  </a:tcPr>
                </a:tc>
                <a:tc>
                  <a:txBody>
                    <a:bodyPr/>
                    <a:lstStyle/>
                    <a:p>
                      <a:pPr algn="ctr">
                        <a:defRPr sz="800">
                          <a:latin typeface="Montserrat"/>
                        </a:defRPr>
                      </a:pPr>
                      <a:r>
                        <a:t>Ciudad Mante y Nuevo Laredo</a:t>
                      </a:r>
                    </a:p>
                  </a:txBody>
                  <a:tcPr anchor="ctr" marL="28800" marR="28800" marT="0" marB="0">
                    <a:solidFill>
                      <a:srgbClr val="EFEFEF"/>
                    </a:solidFill>
                  </a:tcPr>
                </a:tc>
              </a:tr>
              <a:tr h="522902">
                <a:tc>
                  <a:txBody>
                    <a:bodyPr/>
                    <a:lstStyle/>
                    <a:p>
                      <a:pPr algn="ctr">
                        <a:defRPr sz="800" b="1">
                          <a:latin typeface="Montserrat"/>
                        </a:defRPr>
                      </a:pPr>
                      <a:r>
                        <a:t>2 Teatro</a:t>
                      </a:r>
                    </a:p>
                  </a:txBody>
                  <a:tcPr anchor="ctr" marL="28800" marR="28800" marT="0" marB="0">
                    <a:solidFill>
                      <a:srgbClr val="FFFFFF"/>
                    </a:solidFill>
                  </a:tcPr>
                </a:tc>
                <a:tc>
                  <a:txBody>
                    <a:bodyPr/>
                    <a:lstStyle/>
                    <a:p>
                      <a:pPr algn="ctr">
                        <a:defRPr sz="800">
                          <a:latin typeface="Montserrat"/>
                        </a:defRPr>
                      </a:pPr>
                      <a:r>
                        <a:t>Cd. Mante, Nuevo Laredo</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47 Tampico</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Tampico</a:t>
                      </a:r>
                    </a:p>
                  </a:txBody>
                  <a:tcPr anchor="ctr" marL="28800" marR="28800" marT="0" marB="0">
                    <a:solidFill>
                      <a:srgbClr val="EFEFEF"/>
                    </a:solidFill>
                  </a:tcPr>
                </a:tc>
              </a:tr>
            </a:tbl>
          </a:graphicData>
        </a:graphic>
      </p:graphicFrame>
      <p:pic>
        <p:nvPicPr>
          <p:cNvPr id="470" name="Picture 469" descr="map_tipo2_28_tamps.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68</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16,350</a:t>
                      </a:r>
                    </a:p>
                  </a:txBody>
                  <a:tcPr anchor="ctr">
                    <a:solidFill>
                      <a:srgbClr val="FFFFFF"/>
                    </a:solidFill>
                  </a:tcPr>
                </a:tc>
                <a:tc>
                  <a:txBody>
                    <a:bodyPr/>
                    <a:lstStyle/>
                    <a:p>
                      <a:pPr algn="ctr">
                        <a:defRPr sz="850">
                          <a:latin typeface="Montserrat"/>
                        </a:defRPr>
                      </a:pPr>
                      <a:r>
                        <a:t>16,290</a:t>
                      </a:r>
                    </a:p>
                  </a:txBody>
                  <a:tcPr anchor="ctr">
                    <a:solidFill>
                      <a:srgbClr val="FFFFFF"/>
                    </a:solidFill>
                  </a:tcPr>
                </a:tc>
                <a:tc>
                  <a:txBody>
                    <a:bodyPr/>
                    <a:lstStyle/>
                    <a:p>
                      <a:pPr algn="ctr">
                        <a:defRPr sz="850" b="1">
                          <a:solidFill>
                            <a:srgbClr val="691C32"/>
                          </a:solidFill>
                          <a:latin typeface="Montserrat"/>
                        </a:defRPr>
                      </a:pPr>
                      <a:r>
                        <a:t>-0.4%</a:t>
                      </a:r>
                    </a:p>
                  </a:txBody>
                  <a:tcPr anchor="ctr">
                    <a:solidFill>
                      <a:srgbClr val="FFFFFF"/>
                    </a:solidFill>
                  </a:tcPr>
                </a:tc>
                <a:tc>
                  <a:txBody>
                    <a:bodyPr/>
                    <a:lstStyle/>
                    <a:p>
                      <a:pPr algn="ctr">
                        <a:defRPr sz="850">
                          <a:latin typeface="Montserrat"/>
                        </a:defRPr>
                      </a:pPr>
                      <a:r>
                        <a:t>Corning Optical Communications S. de R.L. de C.V.</a:t>
                      </a:r>
                    </a:p>
                  </a:txBody>
                  <a:tcPr anchor="ctr">
                    <a:solidFill>
                      <a:srgbClr val="FFFFFF"/>
                    </a:solidFill>
                  </a:tcPr>
                </a:tc>
                <a:tc>
                  <a:txBody>
                    <a:bodyPr/>
                    <a:lstStyle/>
                    <a:p>
                      <a:pPr algn="ctr">
                        <a:defRPr sz="850">
                          <a:latin typeface="Montserrat"/>
                        </a:defRPr>
                      </a:pPr>
                      <a:r>
                        <a:t>27,239</a:t>
                      </a:r>
                    </a:p>
                  </a:txBody>
                  <a:tcPr anchor="ctr">
                    <a:solidFill>
                      <a:srgbClr val="FFFFFF"/>
                    </a:solidFill>
                  </a:tcPr>
                </a:tc>
                <a:tc>
                  <a:txBody>
                    <a:bodyPr/>
                    <a:lstStyle/>
                    <a:p>
                      <a:pPr algn="ctr">
                        <a:defRPr sz="850">
                          <a:latin typeface="Montserrat"/>
                        </a:defRPr>
                      </a:pPr>
                      <a:r>
                        <a:t>27,478</a:t>
                      </a:r>
                    </a:p>
                  </a:txBody>
                  <a:tcPr anchor="ctr">
                    <a:solidFill>
                      <a:srgbClr val="FFFFFF"/>
                    </a:solidFill>
                  </a:tcPr>
                </a:tc>
                <a:tc>
                  <a:txBody>
                    <a:bodyPr/>
                    <a:lstStyle/>
                    <a:p>
                      <a:pPr algn="ctr">
                        <a:defRPr sz="850" b="1">
                          <a:solidFill>
                            <a:srgbClr val="006455"/>
                          </a:solidFill>
                          <a:latin typeface="Montserrat"/>
                        </a:defRPr>
                      </a:pPr>
                      <a:r>
                        <a:t>0.9%</a:t>
                      </a:r>
                    </a:p>
                  </a:txBody>
                  <a:tcPr anchor="ctr">
                    <a:solidFill>
                      <a:srgbClr val="FFFFFF"/>
                    </a:solidFill>
                  </a:tcPr>
                </a:tc>
              </a:tr>
              <a:tr h="490320">
                <a:tc>
                  <a:txBody>
                    <a:bodyPr/>
                    <a:lstStyle/>
                    <a:p>
                      <a:pPr algn="ctr">
                        <a:defRPr sz="850">
                          <a:latin typeface="Montserrat"/>
                        </a:defRPr>
                      </a:pPr>
                      <a:r>
                        <a:t>Universidad Autónoma de Tamaulipas</a:t>
                      </a:r>
                    </a:p>
                  </a:txBody>
                  <a:tcPr anchor="ctr">
                    <a:solidFill>
                      <a:srgbClr val="D9D9D9"/>
                    </a:solidFill>
                  </a:tcPr>
                </a:tc>
                <a:tc>
                  <a:txBody>
                    <a:bodyPr/>
                    <a:lstStyle/>
                    <a:p>
                      <a:pPr algn="ctr">
                        <a:defRPr sz="850">
                          <a:latin typeface="Montserrat"/>
                        </a:defRPr>
                      </a:pPr>
                      <a:r>
                        <a:t>8,152</a:t>
                      </a:r>
                    </a:p>
                  </a:txBody>
                  <a:tcPr anchor="ctr">
                    <a:solidFill>
                      <a:srgbClr val="D9D9D9"/>
                    </a:solidFill>
                  </a:tcPr>
                </a:tc>
                <a:tc>
                  <a:txBody>
                    <a:bodyPr/>
                    <a:lstStyle/>
                    <a:p>
                      <a:pPr algn="ctr">
                        <a:defRPr sz="850">
                          <a:latin typeface="Montserrat"/>
                        </a:defRPr>
                      </a:pPr>
                      <a:r>
                        <a:t>8,137</a:t>
                      </a:r>
                    </a:p>
                  </a:txBody>
                  <a:tcPr anchor="ctr">
                    <a:solidFill>
                      <a:srgbClr val="D9D9D9"/>
                    </a:solidFill>
                  </a:tcPr>
                </a:tc>
                <a:tc>
                  <a:txBody>
                    <a:bodyPr/>
                    <a:lstStyle/>
                    <a:p>
                      <a:pPr algn="ctr">
                        <a:defRPr sz="850" b="1">
                          <a:solidFill>
                            <a:srgbClr val="691C32"/>
                          </a:solidFill>
                          <a:latin typeface="Montserrat"/>
                        </a:defRPr>
                      </a:pPr>
                      <a:r>
                        <a:t>-0.2%</a:t>
                      </a:r>
                    </a:p>
                  </a:txBody>
                  <a:tcPr anchor="ctr">
                    <a:solidFill>
                      <a:srgbClr val="D9D9D9"/>
                    </a:solidFill>
                  </a:tcPr>
                </a:tc>
                <a:tc>
                  <a:txBody>
                    <a:bodyPr/>
                    <a:lstStyle/>
                    <a:p>
                      <a:pPr algn="ctr">
                        <a:defRPr sz="850">
                          <a:latin typeface="Montserrat"/>
                        </a:defRPr>
                      </a:pPr>
                      <a:r>
                        <a:t>Cadena Comercial OXXO S.A. de C.V.</a:t>
                      </a:r>
                    </a:p>
                  </a:txBody>
                  <a:tcPr anchor="ctr">
                    <a:solidFill>
                      <a:srgbClr val="D9D9D9"/>
                    </a:solidFill>
                  </a:tcPr>
                </a:tc>
                <a:tc>
                  <a:txBody>
                    <a:bodyPr/>
                    <a:lstStyle/>
                    <a:p>
                      <a:pPr algn="ctr">
                        <a:defRPr sz="850">
                          <a:latin typeface="Montserrat"/>
                        </a:defRPr>
                      </a:pPr>
                      <a:r>
                        <a:t>8,228</a:t>
                      </a:r>
                    </a:p>
                  </a:txBody>
                  <a:tcPr anchor="ctr">
                    <a:solidFill>
                      <a:srgbClr val="D9D9D9"/>
                    </a:solidFill>
                  </a:tcPr>
                </a:tc>
                <a:tc>
                  <a:txBody>
                    <a:bodyPr/>
                    <a:lstStyle/>
                    <a:p>
                      <a:pPr algn="ctr">
                        <a:defRPr sz="850">
                          <a:latin typeface="Montserrat"/>
                        </a:defRPr>
                      </a:pPr>
                      <a:r>
                        <a:t>8,189</a:t>
                      </a:r>
                    </a:p>
                  </a:txBody>
                  <a:tcPr anchor="ctr">
                    <a:solidFill>
                      <a:srgbClr val="D9D9D9"/>
                    </a:solidFill>
                  </a:tcPr>
                </a:tc>
                <a:tc>
                  <a:txBody>
                    <a:bodyPr/>
                    <a:lstStyle/>
                    <a:p>
                      <a:pPr algn="ctr">
                        <a:defRPr sz="850" b="1">
                          <a:solidFill>
                            <a:srgbClr val="691C32"/>
                          </a:solidFill>
                          <a:latin typeface="Montserrat"/>
                        </a:defRPr>
                      </a:pPr>
                      <a:r>
                        <a:t>-0.5%</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3,434</a:t>
                      </a:r>
                    </a:p>
                  </a:txBody>
                  <a:tcPr anchor="ctr">
                    <a:solidFill>
                      <a:srgbClr val="FFFFFF"/>
                    </a:solidFill>
                  </a:tcPr>
                </a:tc>
                <a:tc>
                  <a:txBody>
                    <a:bodyPr/>
                    <a:lstStyle/>
                    <a:p>
                      <a:pPr algn="ctr">
                        <a:defRPr sz="850">
                          <a:latin typeface="Montserrat"/>
                        </a:defRPr>
                      </a:pPr>
                      <a:r>
                        <a:t>3,355</a:t>
                      </a:r>
                    </a:p>
                  </a:txBody>
                  <a:tcPr anchor="ctr">
                    <a:solidFill>
                      <a:srgbClr val="FFFFFF"/>
                    </a:solidFill>
                  </a:tcPr>
                </a:tc>
                <a:tc>
                  <a:txBody>
                    <a:bodyPr/>
                    <a:lstStyle/>
                    <a:p>
                      <a:pPr algn="ctr">
                        <a:defRPr sz="850" b="1">
                          <a:solidFill>
                            <a:srgbClr val="691C32"/>
                          </a:solidFill>
                          <a:latin typeface="Montserrat"/>
                        </a:defRPr>
                      </a:pPr>
                      <a:r>
                        <a:t>-2.3%</a:t>
                      </a:r>
                    </a:p>
                  </a:txBody>
                  <a:tcPr anchor="ctr">
                    <a:solidFill>
                      <a:srgbClr val="FFFFFF"/>
                    </a:solidFill>
                  </a:tcPr>
                </a:tc>
                <a:tc>
                  <a:txBody>
                    <a:bodyPr/>
                    <a:lstStyle/>
                    <a:p>
                      <a:pPr algn="ctr">
                        <a:defRPr sz="850">
                          <a:latin typeface="Montserrat"/>
                        </a:defRPr>
                      </a:pPr>
                      <a:r>
                        <a:t>Aptiv Contract Services Nuevo Laredo S. de R.L. de C.V.</a:t>
                      </a:r>
                    </a:p>
                  </a:txBody>
                  <a:tcPr anchor="ctr">
                    <a:solidFill>
                      <a:srgbClr val="FFFFFF"/>
                    </a:solidFill>
                  </a:tcPr>
                </a:tc>
                <a:tc>
                  <a:txBody>
                    <a:bodyPr/>
                    <a:lstStyle/>
                    <a:p>
                      <a:pPr algn="ctr">
                        <a:defRPr sz="850">
                          <a:latin typeface="Montserrat"/>
                        </a:defRPr>
                      </a:pPr>
                      <a:r>
                        <a:t>7,389</a:t>
                      </a:r>
                    </a:p>
                  </a:txBody>
                  <a:tcPr anchor="ctr">
                    <a:solidFill>
                      <a:srgbClr val="FFFFFF"/>
                    </a:solidFill>
                  </a:tcPr>
                </a:tc>
                <a:tc>
                  <a:txBody>
                    <a:bodyPr/>
                    <a:lstStyle/>
                    <a:p>
                      <a:pPr algn="ctr">
                        <a:defRPr sz="850">
                          <a:latin typeface="Montserrat"/>
                        </a:defRPr>
                      </a:pPr>
                      <a:r>
                        <a:t>7,518</a:t>
                      </a:r>
                    </a:p>
                  </a:txBody>
                  <a:tcPr anchor="ctr">
                    <a:solidFill>
                      <a:srgbClr val="FFFFFF"/>
                    </a:solidFill>
                  </a:tcPr>
                </a:tc>
                <a:tc>
                  <a:txBody>
                    <a:bodyPr/>
                    <a:lstStyle/>
                    <a:p>
                      <a:pPr algn="ctr">
                        <a:defRPr sz="850" b="1">
                          <a:solidFill>
                            <a:srgbClr val="006455"/>
                          </a:solidFill>
                          <a:latin typeface="Montserrat"/>
                        </a:defRPr>
                      </a:pPr>
                      <a:r>
                        <a:t>1.8%</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-6.10%</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-5.46%</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-5.44%</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-3.71%</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-2.15%</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+0.53%</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+0.77%</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+2.26%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+4.75%</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625,246</a:t>
                      </a:r>
                    </a:p>
                  </a:txBody>
                  <a:tcPr>
                    <a:solidFill>
                      <a:srgbClr val="FFFFFF"/>
                    </a:solidFill>
                  </a:tcPr>
                </a:tc>
                <a:tc>
                  <a:txBody>
                    <a:bodyPr/>
                    <a:lstStyle/>
                    <a:p>
                      <a:pPr algn="ctr">
                        <a:defRPr sz="900">
                          <a:latin typeface="Montserrat"/>
                        </a:defRPr>
                      </a:pPr>
                      <a:r>
                        <a:t>5,626</a:t>
                      </a:r>
                    </a:p>
                  </a:txBody>
                  <a:tcPr>
                    <a:solidFill>
                      <a:srgbClr val="FFFFFF"/>
                    </a:solidFill>
                  </a:tcPr>
                </a:tc>
                <a:tc>
                  <a:txBody>
                    <a:bodyPr/>
                    <a:lstStyle/>
                    <a:p>
                      <a:pPr algn="ctr">
                        <a:defRPr sz="900">
                          <a:latin typeface="Montserrat"/>
                        </a:defRPr>
                      </a:pPr>
                      <a:r>
                        <a:t>63,516</a:t>
                      </a:r>
                    </a:p>
                  </a:txBody>
                  <a:tcPr>
                    <a:solidFill>
                      <a:srgbClr val="FFFFFF"/>
                    </a:solidFill>
                  </a:tcPr>
                </a:tc>
                <a:tc>
                  <a:txBody>
                    <a:bodyPr/>
                    <a:lstStyle/>
                    <a:p>
                      <a:pPr algn="ctr">
                        <a:defRPr sz="900">
                          <a:latin typeface="Montserrat"/>
                        </a:defRPr>
                      </a:pPr>
                      <a:r>
                        <a:t>1,596</a:t>
                      </a:r>
                    </a:p>
                  </a:txBody>
                  <a:tcPr>
                    <a:solidFill>
                      <a:srgbClr val="FFFFFF"/>
                    </a:solidFill>
                  </a:tcPr>
                </a:tc>
                <a:tc>
                  <a:txBody>
                    <a:bodyPr/>
                    <a:lstStyle/>
                    <a:p>
                      <a:pPr algn="ctr">
                        <a:defRPr sz="900">
                          <a:latin typeface="Montserrat"/>
                        </a:defRPr>
                      </a:pPr>
                      <a:r>
                        <a:t>695,984</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615,764</a:t>
                      </a:r>
                    </a:p>
                  </a:txBody>
                  <a:tcPr>
                    <a:solidFill>
                      <a:srgbClr val="D9D9D9"/>
                    </a:solidFill>
                  </a:tcPr>
                </a:tc>
                <a:tc>
                  <a:txBody>
                    <a:bodyPr/>
                    <a:lstStyle/>
                    <a:p>
                      <a:pPr algn="ctr">
                        <a:defRPr sz="900">
                          <a:latin typeface="Montserrat"/>
                        </a:defRPr>
                      </a:pPr>
                      <a:r>
                        <a:t>5,129</a:t>
                      </a:r>
                    </a:p>
                  </a:txBody>
                  <a:tcPr>
                    <a:solidFill>
                      <a:srgbClr val="D9D9D9"/>
                    </a:solidFill>
                  </a:tcPr>
                </a:tc>
                <a:tc>
                  <a:txBody>
                    <a:bodyPr/>
                    <a:lstStyle/>
                    <a:p>
                      <a:pPr algn="ctr">
                        <a:defRPr sz="900">
                          <a:latin typeface="Montserrat"/>
                        </a:defRPr>
                      </a:pPr>
                      <a:r>
                        <a:t>58,184</a:t>
                      </a:r>
                    </a:p>
                  </a:txBody>
                  <a:tcPr>
                    <a:solidFill>
                      <a:srgbClr val="D9D9D9"/>
                    </a:solidFill>
                  </a:tcPr>
                </a:tc>
                <a:tc>
                  <a:txBody>
                    <a:bodyPr/>
                    <a:lstStyle/>
                    <a:p>
                      <a:pPr algn="ctr">
                        <a:defRPr sz="900">
                          <a:latin typeface="Montserrat"/>
                        </a:defRPr>
                      </a:pPr>
                      <a:r>
                        <a:t>2,030</a:t>
                      </a:r>
                    </a:p>
                  </a:txBody>
                  <a:tcPr>
                    <a:solidFill>
                      <a:srgbClr val="D9D9D9"/>
                    </a:solidFill>
                  </a:tcPr>
                </a:tc>
                <a:tc>
                  <a:txBody>
                    <a:bodyPr/>
                    <a:lstStyle/>
                    <a:p>
                      <a:pPr algn="ctr">
                        <a:defRPr sz="900">
                          <a:latin typeface="Montserrat"/>
                        </a:defRPr>
                      </a:pPr>
                      <a:r>
                        <a:t>681,107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-1.5%</a:t>
                      </a:r>
                    </a:p>
                  </a:txBody>
                  <a:tcPr>
                    <a:solidFill>
                      <a:srgbClr val="FFFFFF"/>
                    </a:solidFill>
                  </a:tcPr>
                </a:tc>
                <a:tc>
                  <a:txBody>
                    <a:bodyPr/>
                    <a:lstStyle/>
                    <a:p>
                      <a:pPr algn="ctr">
                        <a:defRPr sz="900" b="0">
                          <a:solidFill>
                            <a:srgbClr val="691C32"/>
                          </a:solidFill>
                          <a:latin typeface="Montserrat"/>
                        </a:defRPr>
                      </a:pPr>
                      <a:r>
                        <a:t>-8.8%</a:t>
                      </a:r>
                    </a:p>
                  </a:txBody>
                  <a:tcPr>
                    <a:solidFill>
                      <a:srgbClr val="FFFFFF"/>
                    </a:solidFill>
                  </a:tcPr>
                </a:tc>
                <a:tc>
                  <a:txBody>
                    <a:bodyPr/>
                    <a:lstStyle/>
                    <a:p>
                      <a:pPr algn="ctr">
                        <a:defRPr sz="900" b="0">
                          <a:solidFill>
                            <a:srgbClr val="691C32"/>
                          </a:solidFill>
                          <a:latin typeface="Montserrat"/>
                        </a:defRPr>
                      </a:pPr>
                      <a:r>
                        <a:t>-8.4%</a:t>
                      </a:r>
                    </a:p>
                  </a:txBody>
                  <a:tcPr>
                    <a:solidFill>
                      <a:srgbClr val="FFFFFF"/>
                    </a:solidFill>
                  </a:tcPr>
                </a:tc>
                <a:tc>
                  <a:txBody>
                    <a:bodyPr/>
                    <a:lstStyle/>
                    <a:p>
                      <a:pPr algn="ctr">
                        <a:defRPr sz="900" b="1">
                          <a:solidFill>
                            <a:srgbClr val="006455"/>
                          </a:solidFill>
                          <a:latin typeface="Montserrat"/>
                        </a:defRPr>
                      </a:pPr>
                      <a:r>
                        <a:t>+27.2%</a:t>
                      </a:r>
                    </a:p>
                  </a:txBody>
                  <a:tcPr>
                    <a:solidFill>
                      <a:srgbClr val="FFFFFF"/>
                    </a:solidFill>
                  </a:tcPr>
                </a:tc>
                <a:tc>
                  <a:txBody>
                    <a:bodyPr/>
                    <a:lstStyle/>
                    <a:p>
                      <a:pPr algn="ctr">
                        <a:defRPr sz="900" b="0">
                          <a:solidFill>
                            <a:srgbClr val="691C32"/>
                          </a:solidFill>
                          <a:latin typeface="Montserrat"/>
                        </a:defRPr>
                      </a:pPr>
                      <a:r>
                        <a:t>-2.1%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2CDE77CF-0CB7-B059-0698-44B3FD6C449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$703.30</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$337.52</a:t>
                      </a:r>
                    </a:p>
                  </a:txBody>
                  <a:tcPr anchor="ctr">
                    <a:solidFill>
                      <a:srgbClr val="EEEEEE"/>
                    </a:solidFill>
                  </a:tcPr>
                </a:tc>
                <a:tc>
                  <a:txBody>
                    <a:bodyPr/>
                    <a:lstStyle/>
                    <a:p>
                      <a:pPr algn="ctr">
                        <a:defRPr sz="1100" b="1">
                          <a:latin typeface="Montserrat"/>
                        </a:defRPr>
                      </a:pPr>
                      <a:r>
                        <a:t>$703.30</a:t>
                      </a:r>
                    </a:p>
                  </a:txBody>
                  <a:tcPr anchor="ctr">
                    <a:solidFill>
                      <a:srgbClr val="EEEEEE"/>
                    </a:solidFill>
                  </a:tcPr>
                </a:tc>
                <a:tc>
                  <a:txBody>
                    <a:bodyPr/>
                    <a:lstStyle/>
                    <a:p>
                      <a:pPr algn="ctr">
                        <a:defRPr sz="1100">
                          <a:latin typeface="Montserrat"/>
                        </a:defRPr>
                      </a:pPr>
                      <a:r>
                        <a:t>47.2%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$21,099.0</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Comisión Municipal de Agua Potable y Alcantarillado de Tampico</a:t>
                      </a:r>
                    </a:p>
                  </a:txBody>
                  <a:tcPr>
                    <a:solidFill>
                      <a:srgbClr val="FFFFFF"/>
                    </a:solidFill>
                  </a:tcPr>
                </a:tc>
                <a:tc>
                  <a:txBody>
                    <a:bodyPr/>
                    <a:lstStyle/>
                    <a:p>
                      <a:pPr algn="ctr">
                        <a:defRPr sz="900">
                          <a:latin typeface="Montserrat"/>
                        </a:defRPr>
                      </a:pPr>
                      <a:r>
                        <a:t>$150.81</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Municipal de Agua Potable y Alcantarillado de Victoria</a:t>
                      </a:r>
                    </a:p>
                  </a:txBody>
                  <a:tcPr>
                    <a:solidFill>
                      <a:srgbClr val="EEEEEE"/>
                    </a:solidFill>
                  </a:tcPr>
                </a:tc>
                <a:tc>
                  <a:txBody>
                    <a:bodyPr/>
                    <a:lstStyle/>
                    <a:p>
                      <a:pPr algn="ctr">
                        <a:defRPr sz="900">
                          <a:latin typeface="Montserrat"/>
                        </a:defRPr>
                      </a:pPr>
                      <a:r>
                        <a:t>$67.61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Comisión Municipal de Agua Potable y Alcantarillado de Rio Bravo</a:t>
                      </a:r>
                    </a:p>
                  </a:txBody>
                  <a:tcPr>
                    <a:solidFill>
                      <a:srgbClr val="FFFFFF"/>
                    </a:solidFill>
                  </a:tcPr>
                </a:tc>
                <a:tc>
                  <a:txBody>
                    <a:bodyPr/>
                    <a:lstStyle/>
                    <a:p>
                      <a:pPr algn="ctr">
                        <a:defRPr sz="900">
                          <a:latin typeface="Montserrat"/>
                        </a:defRPr>
                      </a:pPr>
                      <a:r>
                        <a:t>$64.76</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Gateway Express SA de CV</a:t>
                      </a:r>
                    </a:p>
                  </a:txBody>
                  <a:tcPr>
                    <a:solidFill>
                      <a:srgbClr val="EEEEEE"/>
                    </a:solidFill>
                  </a:tcPr>
                </a:tc>
                <a:tc>
                  <a:txBody>
                    <a:bodyPr/>
                    <a:lstStyle/>
                    <a:p>
                      <a:pPr algn="ctr">
                        <a:defRPr sz="900">
                          <a:latin typeface="Montserrat"/>
                        </a:defRPr>
                      </a:pPr>
                      <a:r>
                        <a:t>$60.04</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Tnl Express SA de CV</a:t>
                      </a:r>
                    </a:p>
                  </a:txBody>
                  <a:tcPr>
                    <a:solidFill>
                      <a:srgbClr val="FFFFFF"/>
                    </a:solidFill>
                  </a:tcPr>
                </a:tc>
                <a:tc>
                  <a:txBody>
                    <a:bodyPr/>
                    <a:lstStyle/>
                    <a:p>
                      <a:pPr algn="ctr">
                        <a:defRPr sz="900">
                          <a:latin typeface="Montserrat"/>
                        </a:defRPr>
                      </a:pPr>
                      <a:r>
                        <a:t>$32.45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Freightsolmex SA de CV</a:t>
                      </a:r>
                    </a:p>
                  </a:txBody>
                  <a:tcPr>
                    <a:solidFill>
                      <a:srgbClr val="EEEEEE"/>
                    </a:solidFill>
                  </a:tcPr>
                </a:tc>
                <a:tc>
                  <a:txBody>
                    <a:bodyPr/>
                    <a:lstStyle/>
                    <a:p>
                      <a:pPr algn="ctr">
                        <a:defRPr sz="900">
                          <a:latin typeface="Montserrat"/>
                        </a:defRPr>
                      </a:pPr>
                      <a:r>
                        <a:t>$20.15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TAMAULIPAS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4</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102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116</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255,125</a:t>
                      </a:r>
                    </a:p>
                  </a:txBody>
                  <a:tcPr anchor="ctr" marL="73152" marR="73152" marT="0" marB="0">
                    <a:solidFill>
                      <a:srgbClr val="D3E9E7"/>
                    </a:solidFill>
                  </a:tcPr>
                </a:tc>
                <a:tc>
                  <a:txBody>
                    <a:bodyPr/>
                    <a:lstStyle/>
                    <a:p>
                      <a:pPr algn="ctr">
                        <a:defRPr b="1" sz="1000">
                          <a:solidFill>
                            <a:srgbClr val="006455"/>
                          </a:solidFill>
                          <a:latin typeface="Montserrat"/>
                        </a:defRPr>
                      </a:pPr>
                      <a:r>
                        <a:t>961</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220,477</a:t>
                      </a:r>
                    </a:p>
                  </a:txBody>
                  <a:tcPr anchor="ctr" marL="73152" marR="73152" marT="0" marB="0">
                    <a:solidFill>
                      <a:srgbClr val="FFFFFF"/>
                    </a:solidFill>
                  </a:tcPr>
                </a:tc>
                <a:tc>
                  <a:txBody>
                    <a:bodyPr/>
                    <a:lstStyle/>
                    <a:p>
                      <a:pPr algn="ctr">
                        <a:defRPr b="0" sz="1000">
                          <a:solidFill>
                            <a:srgbClr val="000000"/>
                          </a:solidFill>
                          <a:latin typeface="Montserrat"/>
                        </a:defRPr>
                      </a:pPr>
                      <a:r>
                        <a:t>845</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6,885</a:t>
                      </a:r>
                    </a:p>
                  </a:txBody>
                  <a:tcPr anchor="ctr" marL="73152" marR="73152" marT="0" marB="0">
                    <a:solidFill>
                      <a:srgbClr val="EFEFEF"/>
                    </a:solidFill>
                  </a:tcPr>
                </a:tc>
                <a:tc>
                  <a:txBody>
                    <a:bodyPr/>
                    <a:lstStyle/>
                    <a:p>
                      <a:pPr algn="ctr">
                        <a:defRPr b="0" sz="1000">
                          <a:solidFill>
                            <a:srgbClr val="000000"/>
                          </a:solidFill>
                          <a:latin typeface="Montserrat"/>
                        </a:defRPr>
                      </a:pPr>
                      <a:r>
                        <a:t>27</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15,674</a:t>
                      </a:r>
                    </a:p>
                  </a:txBody>
                  <a:tcPr anchor="ctr" marL="73152" marR="73152" marT="0" marB="0">
                    <a:solidFill>
                      <a:srgbClr val="FFFFFF"/>
                    </a:solidFill>
                  </a:tcPr>
                </a:tc>
                <a:tc>
                  <a:txBody>
                    <a:bodyPr/>
                    <a:lstStyle/>
                    <a:p>
                      <a:pPr algn="ctr">
                        <a:defRPr b="0" sz="1000">
                          <a:solidFill>
                            <a:srgbClr val="000000"/>
                          </a:solidFill>
                          <a:latin typeface="Montserrat"/>
                        </a:defRPr>
                      </a:pPr>
                      <a:r>
                        <a:t>43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12,089</a:t>
                      </a:r>
                    </a:p>
                  </a:txBody>
                  <a:tcPr anchor="ctr" marL="73152" marR="73152" marT="0" marB="0">
                    <a:solidFill>
                      <a:srgbClr val="EFEFEF"/>
                    </a:solidFill>
                  </a:tcPr>
                </a:tc>
                <a:tc>
                  <a:txBody>
                    <a:bodyPr/>
                    <a:lstStyle/>
                    <a:p>
                      <a:pPr algn="ctr">
                        <a:defRPr b="0" sz="1000">
                          <a:solidFill>
                            <a:srgbClr val="000000"/>
                          </a:solidFill>
                          <a:latin typeface="Montserrat"/>
                        </a:defRPr>
                      </a:pPr>
                      <a:r>
                        <a:t>47</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1,601</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848</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2,578</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65</a:t>
                      </a:r>
                    </a:p>
                  </a:txBody>
                  <a:tcPr anchor="ctr" marL="73152" marR="73152" marT="0" marB="0">
                    <a:solidFill>
                      <a:srgbClr val="FFFFFF"/>
                    </a:solidFill>
                  </a:tcPr>
                </a:tc>
                <a:tc>
                  <a:txBody>
                    <a:bodyPr/>
                    <a:lstStyle/>
                    <a:p>
                      <a:pPr algn="ctr">
                        <a:defRPr b="0" sz="1000">
                          <a:solidFill>
                            <a:srgbClr val="000000"/>
                          </a:solidFill>
                          <a:latin typeface="Montserrat"/>
                        </a:defRPr>
                      </a:pPr>
                      <a:r>
                        <a:t>16</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73</a:t>
                      </a:r>
                    </a:p>
                  </a:txBody>
                  <a:tcPr anchor="ctr" marL="73152" marR="73152" marT="0" marB="0">
                    <a:solidFill>
                      <a:srgbClr val="FFFFFF"/>
                    </a:solidFill>
                  </a:tcPr>
                </a:tc>
                <a:tc>
                  <a:txBody>
                    <a:bodyPr/>
                    <a:lstStyle/>
                    <a:p>
                      <a:pPr algn="ctr">
                        <a:defRPr b="1" sz="1000">
                          <a:solidFill>
                            <a:srgbClr val="006455"/>
                          </a:solidFill>
                          <a:latin typeface="Montserrat"/>
                        </a:defRPr>
                      </a:pPr>
                      <a:r>
                        <a:t>158</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233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c>
                  <a:txBody>
                    <a:bodyPr/>
                    <a:lstStyle/>
                    <a:p>
                      <a:pPr algn="ctr">
                        <a:defRPr b="0" sz="1000">
                          <a:solidFill>
                            <a:srgbClr val="000000"/>
                          </a:solidFill>
                          <a:latin typeface="Montserrat"/>
                        </a:defRPr>
                      </a:pPr>
                      <a:r>
                        <a:t>134</a:t>
                      </a:r>
                    </a:p>
                  </a:txBody>
                  <a:tcPr anchor="ctr" marL="73152" marR="73152" marT="0" marB="0">
                    <a:solidFill>
                      <a:srgbClr val="EFEFEF"/>
                    </a:solidFill>
                  </a:tcPr>
                </a:tc>
                <a:tc>
                  <a:txBody>
                    <a:bodyPr/>
                    <a:lstStyle/>
                    <a:p>
                      <a:pPr algn="ctr">
                        <a:defRPr b="1" sz="1000">
                          <a:solidFill>
                            <a:srgbClr val="006455"/>
                          </a:solidFill>
                          <a:latin typeface="Montserrat"/>
                        </a:defRPr>
                      </a:pPr>
                      <a:r>
                        <a:t>373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40</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1" sz="1000">
                          <a:solidFill>
                            <a:srgbClr val="006455"/>
                          </a:solidFill>
                          <a:latin typeface="Montserrat"/>
                        </a:defRPr>
                      </a:pPr>
                      <a:r>
                        <a:t>62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25</a:t>
                      </a:r>
                    </a:p>
                  </a:txBody>
                  <a:tcPr anchor="ctr" marL="73152" marR="73152" marT="0" marB="0">
                    <a:solidFill>
                      <a:srgbClr val="EFEFEF"/>
                    </a:solidFill>
                  </a:tcPr>
                </a:tc>
                <a:tc>
                  <a:txBody>
                    <a:bodyPr/>
                    <a:lstStyle/>
                    <a:p>
                      <a:pPr algn="ctr">
                        <a:defRPr b="0" sz="1000">
                          <a:solidFill>
                            <a:srgbClr val="000000"/>
                          </a:solidFill>
                          <a:latin typeface="Montserrat"/>
                        </a:defRPr>
                      </a:pPr>
                      <a:r>
                        <a:t>15</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1" sz="1000">
                          <a:solidFill>
                            <a:srgbClr val="006455"/>
                          </a:solidFill>
                          <a:latin typeface="Montserrat"/>
                        </a:defRPr>
                      </a:pPr>
                      <a:r>
                        <a:t>62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89</a:t>
                      </a:r>
                    </a:p>
                  </a:txBody>
                  <a:tcPr anchor="ctr" marL="73152" marR="73152" marT="0" marB="0">
                    <a:solidFill>
                      <a:srgbClr val="FFFFFF"/>
                    </a:solidFill>
                  </a:tcPr>
                </a:tc>
                <a:tc>
                  <a:txBody>
                    <a:bodyPr/>
                    <a:lstStyle/>
                    <a:p>
                      <a:pPr algn="ctr">
                        <a:defRPr b="0" sz="1000">
                          <a:solidFill>
                            <a:srgbClr val="000000"/>
                          </a:solidFill>
                          <a:latin typeface="Montserrat"/>
                        </a:defRPr>
                      </a:pPr>
                      <a:r>
                        <a:t>7</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58</a:t>
                      </a:r>
                    </a:p>
                  </a:txBody>
                  <a:tcPr anchor="ctr" marL="73152" marR="73152" marT="0" marB="0">
                    <a:solidFill>
                      <a:srgbClr val="FFFFFF"/>
                    </a:solidFill>
                  </a:tcPr>
                </a:tc>
                <a:tc>
                  <a:txBody>
                    <a:bodyPr/>
                    <a:lstStyle/>
                    <a:p>
                      <a:pPr algn="ctr">
                        <a:defRPr b="1" sz="1000">
                          <a:solidFill>
                            <a:srgbClr val="006455"/>
                          </a:solidFill>
                          <a:latin typeface="Montserrat"/>
                        </a:defRPr>
                      </a:pPr>
                      <a:r>
                        <a:t>159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12</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452</a:t>
                      </a:r>
                    </a:p>
                  </a:txBody>
                  <a:tcPr anchor="ctr" marL="73152" marR="73152" marT="0" marB="0">
                    <a:solidFill>
                      <a:srgbClr val="D3E9E7"/>
                    </a:solidFill>
                  </a:tcPr>
                </a:tc>
                <a:tc>
                  <a:txBody>
                    <a:bodyPr/>
                    <a:lstStyle/>
                    <a:p>
                      <a:pPr algn="ctr">
                        <a:defRPr b="1" sz="1000">
                          <a:solidFill>
                            <a:srgbClr val="006455"/>
                          </a:solidFill>
                          <a:latin typeface="Montserrat"/>
                        </a:defRPr>
                      </a:pPr>
                      <a:r>
                        <a:t>46</a:t>
                      </a:r>
                    </a:p>
                  </a:txBody>
                  <a:tcPr anchor="ctr" marL="73152" marR="73152" marT="0" marB="0">
                    <a:solidFill>
                      <a:srgbClr val="D3E9E7"/>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c>
                  <a:txBody>
                    <a:bodyPr/>
                    <a:lstStyle/>
                    <a:p>
                      <a:pPr algn="ctr">
                        <a:defRPr b="1" sz="1000">
                          <a:solidFill>
                            <a:srgbClr val="006455"/>
                          </a:solidFill>
                          <a:latin typeface="Montserrat"/>
                        </a:defRPr>
                      </a:pPr>
                      <a:r>
                        <a:t>289</a:t>
                      </a:r>
                    </a:p>
                  </a:txBody>
                  <a:tcPr anchor="ctr" marL="73152" marR="73152" marT="0" marB="0">
                    <a:solidFill>
                      <a:srgbClr val="D3E9E7"/>
                    </a:solidFill>
                  </a:tcPr>
                </a:tc>
                <a:tc>
                  <a:txBody>
                    <a:bodyPr/>
                    <a:lstStyle/>
                    <a:p>
                      <a:pPr algn="ctr">
                        <a:defRPr b="1" sz="1000">
                          <a:solidFill>
                            <a:srgbClr val="006455"/>
                          </a:solidFill>
                          <a:latin typeface="Montserrat"/>
                        </a:defRPr>
                      </a:pPr>
                      <a:r>
                        <a:t>826</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423</a:t>
                      </a:r>
                    </a:p>
                  </a:txBody>
                  <a:tcPr anchor="ctr" marL="73152" marR="73152" marT="0" marB="0">
                    <a:solidFill>
                      <a:srgbClr val="D3E9E7"/>
                    </a:solidFill>
                  </a:tcPr>
                </a:tc>
                <a:tc>
                  <a:txBody>
                    <a:bodyPr/>
                    <a:lstStyle/>
                    <a:p>
                      <a:pPr algn="ctr">
                        <a:defRPr b="1" sz="1000">
                          <a:solidFill>
                            <a:srgbClr val="006455"/>
                          </a:solidFill>
                          <a:latin typeface="Montserrat"/>
                        </a:defRPr>
                      </a:pPr>
                      <a:r>
                        <a:t>541</a:t>
                      </a:r>
                    </a:p>
                  </a:txBody>
                  <a:tcPr anchor="ctr" marL="73152" marR="73152" marT="0" marB="0">
                    <a:solidFill>
                      <a:srgbClr val="D3E9E7"/>
                    </a:solidFill>
                  </a:tcPr>
                </a:tc>
                <a:tc>
                  <a:txBody>
                    <a:bodyPr/>
                    <a:lstStyle/>
                    <a:p>
                      <a:pPr algn="ctr">
                        <a:defRPr b="1" sz="1000">
                          <a:solidFill>
                            <a:srgbClr val="006455"/>
                          </a:solidFill>
                          <a:latin typeface="Montserrat"/>
                        </a:defRPr>
                      </a:pPr>
                      <a:r>
                        <a:t>3,327</a:t>
                      </a:r>
                    </a:p>
                  </a:txBody>
                  <a:tcPr anchor="ctr" marL="73152" marR="73152" marT="0" marB="0">
                    <a:solidFill>
                      <a:srgbClr val="D3E9E7"/>
                    </a:solidFill>
                  </a:tcPr>
                </a:tc>
                <a:tc>
                  <a:txBody>
                    <a:bodyPr/>
                    <a:lstStyle/>
                    <a:p>
                      <a:pPr algn="ctr">
                        <a:defRPr b="1" sz="1000">
                          <a:solidFill>
                            <a:srgbClr val="006455"/>
                          </a:solidFill>
                          <a:latin typeface="Montserrat"/>
                        </a:defRPr>
                      </a:pPr>
                      <a:r>
                        <a:t>1,917</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244,977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102,055</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142,922</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28</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255,125</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1,601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6128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Tula</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Soto La Marina</a:t>
                      </a:r>
                    </a:p>
                  </a:txBody>
                  <a:tcPr anchor="ctr">
                    <a:solidFill>
                      <a:srgbClr val="EFEFEF"/>
                    </a:solidFill>
                  </a:tcPr>
                </a:tc>
                <a:tc>
                  <a:txBody>
                    <a:bodyPr/>
                    <a:lstStyle/>
                    <a:p>
                      <a:pPr algn="ctr">
                        <a:defRPr sz="900">
                          <a:latin typeface="Montserrat"/>
                        </a:defRPr>
                      </a:pPr>
                      <a:r>
                        <a:t>Octubre de 1982</a:t>
                      </a:r>
                    </a:p>
                  </a:txBody>
                  <a:tcPr anchor="ctr">
                    <a:solidFill>
                      <a:srgbClr val="EFEFEF"/>
                    </a:solidFill>
                  </a:tcPr>
                </a:tc>
                <a:tc>
                  <a:txBody>
                    <a:bodyPr/>
                    <a:lstStyle/>
                    <a:p>
                      <a:pPr algn="ctr">
                        <a:defRPr sz="900">
                          <a:latin typeface="Montserrat"/>
                        </a:defRPr>
                      </a:pPr>
                      <a:r>
                        <a:t>25</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5</a:t>
                      </a:r>
                    </a:p>
                  </a:txBody>
                  <a:tcPr anchor="ctr">
                    <a:solidFill>
                      <a:srgbClr val="EFEFEF"/>
                    </a:solidFill>
                  </a:tcPr>
                </a:tc>
              </a:tr>
              <a:tr h="230400">
                <a:tc>
                  <a:txBody>
                    <a:bodyPr/>
                    <a:lstStyle/>
                    <a:p>
                      <a:pPr algn="l">
                        <a:defRPr sz="900">
                          <a:latin typeface="Montserrat"/>
                        </a:defRPr>
                      </a:pPr>
                      <a:r>
                        <a:t>HR Hidalgo</a:t>
                      </a:r>
                    </a:p>
                  </a:txBody>
                  <a:tcPr anchor="ctr">
                    <a:solidFill>
                      <a:srgbClr val="FFFFFF"/>
                    </a:solidFill>
                  </a:tcPr>
                </a:tc>
                <a:tc>
                  <a:txBody>
                    <a:bodyPr/>
                    <a:lstStyle/>
                    <a:p>
                      <a:pPr algn="ctr">
                        <a:defRPr sz="900">
                          <a:latin typeface="Montserrat"/>
                        </a:defRPr>
                      </a:pPr>
                      <a:r>
                        <a:t>Agosto de 2008</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HR San Carlos</a:t>
                      </a:r>
                    </a:p>
                  </a:txBody>
                  <a:tcPr anchor="ctr">
                    <a:solidFill>
                      <a:srgbClr val="EFEFEF"/>
                    </a:solidFill>
                  </a:tcPr>
                </a:tc>
                <a:tc>
                  <a:txBody>
                    <a:bodyPr/>
                    <a:lstStyle/>
                    <a:p>
                      <a:pPr algn="ctr">
                        <a:defRPr sz="900">
                          <a:latin typeface="Montserrat"/>
                        </a:defRPr>
                      </a:pPr>
                      <a:r>
                        <a:t>Agosto de 2011</a:t>
                      </a:r>
                    </a:p>
                  </a:txBody>
                  <a:tcPr anchor="ctr">
                    <a:solidFill>
                      <a:srgbClr val="EFEFEF"/>
                    </a:solidFill>
                  </a:tcPr>
                </a:tc>
                <a:tc>
                  <a:txBody>
                    <a:bodyPr/>
                    <a:lstStyle/>
                    <a:p>
                      <a:pPr algn="ctr">
                        <a:defRPr sz="900">
                          <a:latin typeface="Montserrat"/>
                        </a:defRPr>
                      </a:pPr>
                      <a:r>
                        <a:t>11</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89</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4</a:t>
                      </a:r>
                    </a:p>
                  </a:txBody>
                  <a:tcPr anchor="ctr">
                    <a:solidFill>
                      <a:srgbClr val="D3E9E7"/>
                    </a:solidFill>
                  </a:tcPr>
                </a:tc>
                <a:tc>
                  <a:txBody>
                    <a:bodyPr/>
                    <a:lstStyle/>
                    <a:p>
                      <a:pPr algn="ctr">
                        <a:defRPr sz="900" b="1">
                          <a:solidFill>
                            <a:srgbClr val="006556"/>
                          </a:solidFill>
                          <a:latin typeface="Montserrat"/>
                        </a:defRPr>
                      </a:pPr>
                      <a:r>
                        <a:t>19</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1,292</a:t>
                      </a:r>
                    </a:p>
                  </a:txBody>
                  <a:tcPr anchor="ctr">
                    <a:solidFill>
                      <a:srgbClr val="D3E9E7"/>
                    </a:solidFill>
                  </a:tcPr>
                </a:tc>
                <a:tc>
                  <a:txBody>
                    <a:bodyPr/>
                    <a:lstStyle/>
                    <a:p>
                      <a:pPr algn="ctr">
                        <a:defRPr sz="900" b="1">
                          <a:solidFill>
                            <a:srgbClr val="006556"/>
                          </a:solidFill>
                          <a:latin typeface="Montserrat"/>
                        </a:defRPr>
                      </a:pPr>
                      <a:r>
                        <a:t>582</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40</a:t>
                      </a:r>
                    </a:p>
                  </a:txBody>
                  <a:tcPr anchor="ctr">
                    <a:solidFill>
                      <a:srgbClr val="D3E9E7"/>
                    </a:solidFill>
                  </a:tcPr>
                </a:tc>
                <a:tc>
                  <a:txBody>
                    <a:bodyPr/>
                    <a:lstStyle/>
                    <a:p>
                      <a:pPr algn="ctr">
                        <a:defRPr sz="900" b="1">
                          <a:solidFill>
                            <a:srgbClr val="006556"/>
                          </a:solidFill>
                          <a:latin typeface="Montserrat"/>
                        </a:defRPr>
                      </a:pPr>
                      <a:r>
                        <a:t>197</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13</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393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C/MF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39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Cd Hidalgo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779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San Carlos</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7797598"/>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Soto la Marina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Tula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sp>
        <p:nvSpPr>
          <p:cNvPr id="8" name="TextBox 7"/>
          <p:cNvSpPr txBox="1"/>
          <p:nvPr/>
        </p:nvSpPr>
        <p:spPr>
          <a:xfrm>
            <a:off x="360000" y="2901599"/>
            <a:ext cx="6840000" cy="360000"/>
          </a:xfrm>
          <a:prstGeom prst="rect">
            <a:avLst/>
          </a:prstGeom>
          <a:noFill/>
        </p:spPr>
        <p:txBody>
          <a:bodyPr wrap="none" anchor="ctr">
            <a:spAutoFit/>
          </a:bodyPr>
          <a:lstStyle/>
          <a:p>
            <a:pPr algn="l">
              <a:defRPr sz="2000" b="1">
                <a:solidFill>
                  <a:srgbClr val="BC955C"/>
                </a:solidFill>
                <a:latin typeface="Montserrat"/>
              </a:defRPr>
            </a:pPr>
            <a:r>
              <a:t>3 Sede delegacional</a:t>
            </a:r>
          </a:p>
        </p:txBody>
      </p:sp>
      <p:cxnSp>
        <p:nvCxnSpPr>
          <p:cNvPr id="9" name="Connector 8"/>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0000" y="3369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sp>
        <p:nvSpPr>
          <p:cNvPr id="11" name="TextBox 10"/>
          <p:cNvSpPr txBox="1"/>
          <p:nvPr/>
        </p:nvSpPr>
        <p:spPr>
          <a:xfrm>
            <a:off x="360000" y="4701598"/>
            <a:ext cx="6840000" cy="360000"/>
          </a:xfrm>
          <a:prstGeom prst="rect">
            <a:avLst/>
          </a:prstGeom>
          <a:noFill/>
        </p:spPr>
        <p:txBody>
          <a:bodyPr wrap="none" anchor="ctr">
            <a:spAutoFit/>
          </a:bodyPr>
          <a:lstStyle/>
          <a:p>
            <a:pPr algn="l">
              <a:defRPr sz="2000" b="1">
                <a:solidFill>
                  <a:srgbClr val="BC955C"/>
                </a:solidFill>
                <a:latin typeface="Montserrat"/>
              </a:defRPr>
            </a:pPr>
            <a:r>
              <a:t>26 en Unidades de Medicina Familiar</a:t>
            </a:r>
          </a:p>
        </p:txBody>
      </p:sp>
      <p:cxnSp>
        <p:nvCxnSpPr>
          <p:cNvPr id="12" name="Connector 11"/>
          <p:cNvCxnSpPr/>
          <p:nvPr/>
        </p:nvCxnSpPr>
        <p:spPr>
          <a:xfrm>
            <a:off x="360000" y="5097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51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1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3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3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2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2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67</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121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121595"/>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78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76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9" name="TextBox 8"/>
          <p:cNvSpPr txBox="1"/>
          <p:nvPr/>
        </p:nvSpPr>
        <p:spPr>
          <a:xfrm>
            <a:off x="360000" y="2901599"/>
            <a:ext cx="6840000" cy="360000"/>
          </a:xfrm>
          <a:prstGeom prst="rect">
            <a:avLst/>
          </a:prstGeom>
          <a:noFill/>
        </p:spPr>
        <p:txBody>
          <a:bodyPr wrap="none" anchor="ctr">
            <a:spAutoFit/>
          </a:bodyPr>
          <a:lstStyle/>
          <a:p>
            <a:pPr algn="l">
              <a:defRPr sz="2000" b="1">
                <a:solidFill>
                  <a:srgbClr val="BC955C"/>
                </a:solidFill>
                <a:latin typeface="Montserrat"/>
              </a:defRPr>
            </a:pPr>
            <a:r>
              <a:t>159 especialistas (sustitutos)</a:t>
            </a:r>
          </a:p>
        </p:txBody>
      </p:sp>
      <p:cxnSp>
        <p:nvCxnSpPr>
          <p:cNvPr id="10" name="Connector 9"/>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3369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3369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159</a:t>
                      </a:r>
                    </a:p>
                  </a:txBody>
                  <a:tcPr>
                    <a:solidFill>
                      <a:srgbClr val="D3E9E7"/>
                    </a:solidFill>
                  </a:tcPr>
                </a:tc>
              </a:tr>
            </a:tbl>
          </a:graphicData>
        </a:graphic>
      </p:graphicFrame>
      <p:sp>
        <p:nvSpPr>
          <p:cNvPr id="13" name="TextBox 12"/>
          <p:cNvSpPr txBox="1"/>
          <p:nvPr/>
        </p:nvSpPr>
        <p:spPr>
          <a:xfrm>
            <a:off x="270000" y="8445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576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576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299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389</TotalTime>
  <Words>407</Words>
  <Application>Microsoft Office PowerPoint</Application>
  <PresentationFormat>Personalizado</PresentationFormat>
  <Paragraphs>94</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111</cp:revision>
  <dcterms:modified xsi:type="dcterms:W3CDTF">2026-05-13T00:00:38Z</dcterms:modified>
</cp:coreProperties>
</file>