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charts/chart8.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89" r:id="rId3"/>
    <p:sldId id="258" r:id="rId4"/>
    <p:sldId id="259" r:id="rId5"/>
    <p:sldId id="313" r:id="rId6"/>
    <p:sldId id="314" r:id="rId7"/>
    <p:sldId id="315" r:id="rId8"/>
    <p:sldId id="317" r:id="rId9"/>
    <p:sldId id="287" r:id="rId10"/>
    <p:sldId id="262" r:id="rId11"/>
    <p:sldId id="303" r:id="rId12"/>
    <p:sldId id="263" r:id="rId13"/>
    <p:sldId id="280" r:id="rId14"/>
    <p:sldId id="267" r:id="rId15"/>
    <p:sldId id="318" r:id="rId16"/>
    <p:sldId id="319" r:id="rId17"/>
    <p:sldId id="320" r:id="rId18"/>
    <p:sldId id="321" r:id="rId19"/>
    <p:sldId id="322" r:id="rId20"/>
    <p:sldId id="323" r:id="rId21"/>
    <p:sldId id="281" r:id="rId22"/>
    <p:sldId id="311" r:id="rId23"/>
    <p:sldId id="288" r:id="rId24"/>
    <p:sldId id="270" r:id="rId25"/>
    <p:sldId id="271" r:id="rId26"/>
    <p:sldId id="272" r:id="rId27"/>
    <p:sldId id="300" r:id="rId28"/>
    <p:sldId id="324" r:id="rId29"/>
    <p:sldId id="325" r:id="rId30"/>
    <p:sldId id="326" r:id="rId31"/>
    <p:sldId id="278" r:id="rId32"/>
    <p:sldId id="279" r:id="rId33"/>
  </p:sldIdLst>
  <p:sldSz cx="7772400" cy="10058400"/>
  <p:notesSz cx="6858000" cy="9144000"/>
  <p:embeddedFontLst>
    <p:embeddedFont>
      <p:font typeface="Montserrat" panose="00000500000000000000" pitchFamily="2" charset="0"/>
      <p:regular r:id="rId35"/>
      <p:bold r:id="rId36"/>
      <p:italic r:id="rId37"/>
      <p:boldItalic r:id="rId38"/>
    </p:embeddedFont>
    <p:embeddedFont>
      <p:font typeface="Noto Sans" panose="020B0502040504020204" pitchFamily="34" charset="0"/>
      <p:regular r:id="rId39"/>
      <p:bold r:id="rId40"/>
      <p:italic r:id="rId41"/>
      <p:boldItalic r:id="rId42"/>
    </p:embeddedFont>
    <p:embeddedFont>
      <p:font typeface="Noto Sans Black"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759"/>
  </p:normalViewPr>
  <p:slideViewPr>
    <p:cSldViewPr snapToGrid="0">
      <p:cViewPr>
        <p:scale>
          <a:sx n="60" d="100"/>
          <a:sy n="60" d="100"/>
        </p:scale>
        <p:origin x="978" y="29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Guadalupe Becerra Quiroz" userId="3f0ab3d9-73d5-4a96-ad75-906d0f222192" providerId="ADAL" clId="{14A85CE8-0E71-4838-BA5F-B8772D1D5B6B}"/>
    <pc:docChg chg="undo custSel addSld delSld modSld sldOrd">
      <pc:chgData name="Monica Guadalupe Becerra Quiroz" userId="3f0ab3d9-73d5-4a96-ad75-906d0f222192" providerId="ADAL" clId="{14A85CE8-0E71-4838-BA5F-B8772D1D5B6B}" dt="2026-06-29T18:56:22.155" v="279" actId="20577"/>
      <pc:docMkLst>
        <pc:docMk/>
      </pc:docMkLst>
      <pc:sldChg chg="modSp mod">
        <pc:chgData name="Monica Guadalupe Becerra Quiroz" userId="3f0ab3d9-73d5-4a96-ad75-906d0f222192" providerId="ADAL" clId="{14A85CE8-0E71-4838-BA5F-B8772D1D5B6B}" dt="2026-06-27T01:18:22.743" v="215" actId="20577"/>
        <pc:sldMkLst>
          <pc:docMk/>
          <pc:sldMk cId="0" sldId="256"/>
        </pc:sldMkLst>
        <pc:spChg chg="mod">
          <ac:chgData name="Monica Guadalupe Becerra Quiroz" userId="3f0ab3d9-73d5-4a96-ad75-906d0f222192" providerId="ADAL" clId="{14A85CE8-0E71-4838-BA5F-B8772D1D5B6B}" dt="2026-06-27T01:18:22.743" v="215" actId="20577"/>
          <ac:spMkLst>
            <pc:docMk/>
            <pc:sldMk cId="0" sldId="256"/>
            <ac:spMk id="70" creationId="{00000000-0000-0000-0000-000000000000}"/>
          </ac:spMkLst>
        </pc:spChg>
      </pc:sldChg>
      <pc:sldChg chg="modSp mod">
        <pc:chgData name="Monica Guadalupe Becerra Quiroz" userId="3f0ab3d9-73d5-4a96-ad75-906d0f222192" providerId="ADAL" clId="{14A85CE8-0E71-4838-BA5F-B8772D1D5B6B}" dt="2026-06-27T00:55:56.357" v="22" actId="1076"/>
        <pc:sldMkLst>
          <pc:docMk/>
          <pc:sldMk cId="0" sldId="258"/>
        </pc:sldMkLst>
        <pc:spChg chg="mod">
          <ac:chgData name="Monica Guadalupe Becerra Quiroz" userId="3f0ab3d9-73d5-4a96-ad75-906d0f222192" providerId="ADAL" clId="{14A85CE8-0E71-4838-BA5F-B8772D1D5B6B}" dt="2026-06-27T00:55:40.130" v="16" actId="1076"/>
          <ac:spMkLst>
            <pc:docMk/>
            <pc:sldMk cId="0" sldId="258"/>
            <ac:spMk id="116" creationId="{00000000-0000-0000-0000-000000000000}"/>
          </ac:spMkLst>
        </pc:spChg>
        <pc:spChg chg="mod">
          <ac:chgData name="Monica Guadalupe Becerra Quiroz" userId="3f0ab3d9-73d5-4a96-ad75-906d0f222192" providerId="ADAL" clId="{14A85CE8-0E71-4838-BA5F-B8772D1D5B6B}" dt="2026-06-27T00:55:49.248" v="19" actId="1076"/>
          <ac:spMkLst>
            <pc:docMk/>
            <pc:sldMk cId="0" sldId="258"/>
            <ac:spMk id="118" creationId="{00000000-0000-0000-0000-000000000000}"/>
          </ac:spMkLst>
        </pc:spChg>
        <pc:spChg chg="mod">
          <ac:chgData name="Monica Guadalupe Becerra Quiroz" userId="3f0ab3d9-73d5-4a96-ad75-906d0f222192" providerId="ADAL" clId="{14A85CE8-0E71-4838-BA5F-B8772D1D5B6B}" dt="2026-06-27T00:55:44.917" v="17" actId="1076"/>
          <ac:spMkLst>
            <pc:docMk/>
            <pc:sldMk cId="0" sldId="258"/>
            <ac:spMk id="120" creationId="{00000000-0000-0000-0000-000000000000}"/>
          </ac:spMkLst>
        </pc:spChg>
        <pc:spChg chg="mod">
          <ac:chgData name="Monica Guadalupe Becerra Quiroz" userId="3f0ab3d9-73d5-4a96-ad75-906d0f222192" providerId="ADAL" clId="{14A85CE8-0E71-4838-BA5F-B8772D1D5B6B}" dt="2026-06-27T00:55:36.886" v="15" actId="1076"/>
          <ac:spMkLst>
            <pc:docMk/>
            <pc:sldMk cId="0" sldId="258"/>
            <ac:spMk id="121" creationId="{00000000-0000-0000-0000-000000000000}"/>
          </ac:spMkLst>
        </pc:spChg>
        <pc:spChg chg="mod">
          <ac:chgData name="Monica Guadalupe Becerra Quiroz" userId="3f0ab3d9-73d5-4a96-ad75-906d0f222192" providerId="ADAL" clId="{14A85CE8-0E71-4838-BA5F-B8772D1D5B6B}" dt="2026-06-27T00:55:31.155" v="13" actId="1076"/>
          <ac:spMkLst>
            <pc:docMk/>
            <pc:sldMk cId="0" sldId="258"/>
            <ac:spMk id="123" creationId="{00000000-0000-0000-0000-000000000000}"/>
          </ac:spMkLst>
        </pc:spChg>
        <pc:spChg chg="mod">
          <ac:chgData name="Monica Guadalupe Becerra Quiroz" userId="3f0ab3d9-73d5-4a96-ad75-906d0f222192" providerId="ADAL" clId="{14A85CE8-0E71-4838-BA5F-B8772D1D5B6B}" dt="2026-06-27T00:55:02.447" v="5" actId="1076"/>
          <ac:spMkLst>
            <pc:docMk/>
            <pc:sldMk cId="0" sldId="258"/>
            <ac:spMk id="124" creationId="{00000000-0000-0000-0000-000000000000}"/>
          </ac:spMkLst>
        </pc:spChg>
        <pc:spChg chg="mod">
          <ac:chgData name="Monica Guadalupe Becerra Quiroz" userId="3f0ab3d9-73d5-4a96-ad75-906d0f222192" providerId="ADAL" clId="{14A85CE8-0E71-4838-BA5F-B8772D1D5B6B}" dt="2026-06-27T00:54:59.505" v="4" actId="1076"/>
          <ac:spMkLst>
            <pc:docMk/>
            <pc:sldMk cId="0" sldId="258"/>
            <ac:spMk id="126" creationId="{00000000-0000-0000-0000-000000000000}"/>
          </ac:spMkLst>
        </pc:spChg>
        <pc:spChg chg="mod">
          <ac:chgData name="Monica Guadalupe Becerra Quiroz" userId="3f0ab3d9-73d5-4a96-ad75-906d0f222192" providerId="ADAL" clId="{14A85CE8-0E71-4838-BA5F-B8772D1D5B6B}" dt="2026-06-27T00:55:52.497" v="20" actId="1076"/>
          <ac:spMkLst>
            <pc:docMk/>
            <pc:sldMk cId="0" sldId="258"/>
            <ac:spMk id="127" creationId="{00000000-0000-0000-0000-000000000000}"/>
          </ac:spMkLst>
        </pc:spChg>
        <pc:spChg chg="mod">
          <ac:chgData name="Monica Guadalupe Becerra Quiroz" userId="3f0ab3d9-73d5-4a96-ad75-906d0f222192" providerId="ADAL" clId="{14A85CE8-0E71-4838-BA5F-B8772D1D5B6B}" dt="2026-06-27T00:55:56.357" v="22" actId="1076"/>
          <ac:spMkLst>
            <pc:docMk/>
            <pc:sldMk cId="0" sldId="258"/>
            <ac:spMk id="129" creationId="{00000000-0000-0000-0000-000000000000}"/>
          </ac:spMkLst>
        </pc:spChg>
        <pc:graphicFrameChg chg="mod">
          <ac:chgData name="Monica Guadalupe Becerra Quiroz" userId="3f0ab3d9-73d5-4a96-ad75-906d0f222192" providerId="ADAL" clId="{14A85CE8-0E71-4838-BA5F-B8772D1D5B6B}" dt="2026-06-27T00:55:25.925" v="11"/>
          <ac:graphicFrameMkLst>
            <pc:docMk/>
            <pc:sldMk cId="0" sldId="258"/>
            <ac:graphicFrameMk id="117" creationId="{00000000-0000-0000-0000-000000000000}"/>
          </ac:graphicFrameMkLst>
        </pc:graphicFrameChg>
        <pc:picChg chg="mod">
          <ac:chgData name="Monica Guadalupe Becerra Quiroz" userId="3f0ab3d9-73d5-4a96-ad75-906d0f222192" providerId="ADAL" clId="{14A85CE8-0E71-4838-BA5F-B8772D1D5B6B}" dt="2026-06-27T00:55:46.957" v="18" actId="1076"/>
          <ac:picMkLst>
            <pc:docMk/>
            <pc:sldMk cId="0" sldId="258"/>
            <ac:picMk id="119" creationId="{00000000-0000-0000-0000-000000000000}"/>
          </ac:picMkLst>
        </pc:picChg>
        <pc:picChg chg="mod">
          <ac:chgData name="Monica Guadalupe Becerra Quiroz" userId="3f0ab3d9-73d5-4a96-ad75-906d0f222192" providerId="ADAL" clId="{14A85CE8-0E71-4838-BA5F-B8772D1D5B6B}" dt="2026-06-27T00:55:33.595" v="14" actId="1076"/>
          <ac:picMkLst>
            <pc:docMk/>
            <pc:sldMk cId="0" sldId="258"/>
            <ac:picMk id="122" creationId="{00000000-0000-0000-0000-000000000000}"/>
          </ac:picMkLst>
        </pc:picChg>
        <pc:picChg chg="mod">
          <ac:chgData name="Monica Guadalupe Becerra Quiroz" userId="3f0ab3d9-73d5-4a96-ad75-906d0f222192" providerId="ADAL" clId="{14A85CE8-0E71-4838-BA5F-B8772D1D5B6B}" dt="2026-06-27T00:55:21.540" v="10" actId="1076"/>
          <ac:picMkLst>
            <pc:docMk/>
            <pc:sldMk cId="0" sldId="258"/>
            <ac:picMk id="125" creationId="{00000000-0000-0000-0000-000000000000}"/>
          </ac:picMkLst>
        </pc:picChg>
        <pc:picChg chg="mod">
          <ac:chgData name="Monica Guadalupe Becerra Quiroz" userId="3f0ab3d9-73d5-4a96-ad75-906d0f222192" providerId="ADAL" clId="{14A85CE8-0E71-4838-BA5F-B8772D1D5B6B}" dt="2026-06-27T00:55:54.663" v="21" actId="1076"/>
          <ac:picMkLst>
            <pc:docMk/>
            <pc:sldMk cId="0" sldId="258"/>
            <ac:picMk id="128" creationId="{00000000-0000-0000-0000-000000000000}"/>
          </ac:picMkLst>
        </pc:picChg>
      </pc:sldChg>
      <pc:sldChg chg="modSp mod">
        <pc:chgData name="Monica Guadalupe Becerra Quiroz" userId="3f0ab3d9-73d5-4a96-ad75-906d0f222192" providerId="ADAL" clId="{14A85CE8-0E71-4838-BA5F-B8772D1D5B6B}" dt="2026-06-29T16:56:11.548" v="233" actId="20577"/>
        <pc:sldMkLst>
          <pc:docMk/>
          <pc:sldMk cId="0" sldId="259"/>
        </pc:sldMkLst>
        <pc:spChg chg="mod">
          <ac:chgData name="Monica Guadalupe Becerra Quiroz" userId="3f0ab3d9-73d5-4a96-ad75-906d0f222192" providerId="ADAL" clId="{14A85CE8-0E71-4838-BA5F-B8772D1D5B6B}" dt="2026-06-29T16:56:03.808" v="230" actId="1076"/>
          <ac:spMkLst>
            <pc:docMk/>
            <pc:sldMk cId="0" sldId="259"/>
            <ac:spMk id="137" creationId="{00000000-0000-0000-0000-000000000000}"/>
          </ac:spMkLst>
        </pc:spChg>
        <pc:spChg chg="mod">
          <ac:chgData name="Monica Guadalupe Becerra Quiroz" userId="3f0ab3d9-73d5-4a96-ad75-906d0f222192" providerId="ADAL" clId="{14A85CE8-0E71-4838-BA5F-B8772D1D5B6B}" dt="2026-06-29T16:56:11.548" v="233" actId="20577"/>
          <ac:spMkLst>
            <pc:docMk/>
            <pc:sldMk cId="0" sldId="259"/>
            <ac:spMk id="138" creationId="{00000000-0000-0000-0000-000000000000}"/>
          </ac:spMkLst>
        </pc:spChg>
        <pc:graphicFrameChg chg="modGraphic">
          <ac:chgData name="Monica Guadalupe Becerra Quiroz" userId="3f0ab3d9-73d5-4a96-ad75-906d0f222192" providerId="ADAL" clId="{14A85CE8-0E71-4838-BA5F-B8772D1D5B6B}" dt="2026-06-29T16:55:43.920" v="229" actId="20577"/>
          <ac:graphicFrameMkLst>
            <pc:docMk/>
            <pc:sldMk cId="0" sldId="259"/>
            <ac:graphicFrameMk id="135" creationId="{00000000-0000-0000-0000-000000000000}"/>
          </ac:graphicFrameMkLst>
        </pc:graphicFrameChg>
      </pc:sldChg>
      <pc:sldChg chg="modSp mod">
        <pc:chgData name="Monica Guadalupe Becerra Quiroz" userId="3f0ab3d9-73d5-4a96-ad75-906d0f222192" providerId="ADAL" clId="{14A85CE8-0E71-4838-BA5F-B8772D1D5B6B}" dt="2026-06-27T01:01:05.900" v="49" actId="1076"/>
        <pc:sldMkLst>
          <pc:docMk/>
          <pc:sldMk cId="0" sldId="263"/>
        </pc:sldMkLst>
        <pc:spChg chg="mod">
          <ac:chgData name="Monica Guadalupe Becerra Quiroz" userId="3f0ab3d9-73d5-4a96-ad75-906d0f222192" providerId="ADAL" clId="{14A85CE8-0E71-4838-BA5F-B8772D1D5B6B}" dt="2026-06-27T01:01:03.360" v="48" actId="1076"/>
          <ac:spMkLst>
            <pc:docMk/>
            <pc:sldMk cId="0" sldId="263"/>
            <ac:spMk id="296" creationId="{E538A53A-A982-4EE0-E633-CCC69C4FB7AB}"/>
          </ac:spMkLst>
        </pc:spChg>
        <pc:spChg chg="mod">
          <ac:chgData name="Monica Guadalupe Becerra Quiroz" userId="3f0ab3d9-73d5-4a96-ad75-906d0f222192" providerId="ADAL" clId="{14A85CE8-0E71-4838-BA5F-B8772D1D5B6B}" dt="2026-06-27T01:01:05.900" v="49" actId="1076"/>
          <ac:spMkLst>
            <pc:docMk/>
            <pc:sldMk cId="0" sldId="263"/>
            <ac:spMk id="297" creationId="{D6E01CA8-B30C-49C0-BE16-BCECE1F6C67E}"/>
          </ac:spMkLst>
        </pc:spChg>
        <pc:spChg chg="mod">
          <ac:chgData name="Monica Guadalupe Becerra Quiroz" userId="3f0ab3d9-73d5-4a96-ad75-906d0f222192" providerId="ADAL" clId="{14A85CE8-0E71-4838-BA5F-B8772D1D5B6B}" dt="2026-06-27T01:01:00.374" v="47" actId="14100"/>
          <ac:spMkLst>
            <pc:docMk/>
            <pc:sldMk cId="0" sldId="263"/>
            <ac:spMk id="304" creationId="{00000000-0000-0000-0000-000000000000}"/>
          </ac:spMkLst>
        </pc:spChg>
        <pc:spChg chg="mod">
          <ac:chgData name="Monica Guadalupe Becerra Quiroz" userId="3f0ab3d9-73d5-4a96-ad75-906d0f222192" providerId="ADAL" clId="{14A85CE8-0E71-4838-BA5F-B8772D1D5B6B}" dt="2026-06-27T01:00:56.824" v="46" actId="1076"/>
          <ac:spMkLst>
            <pc:docMk/>
            <pc:sldMk cId="0" sldId="263"/>
            <ac:spMk id="307" creationId="{00000000-0000-0000-0000-000000000000}"/>
          </ac:spMkLst>
        </pc:spChg>
        <pc:graphicFrameChg chg="mod">
          <ac:chgData name="Monica Guadalupe Becerra Quiroz" userId="3f0ab3d9-73d5-4a96-ad75-906d0f222192" providerId="ADAL" clId="{14A85CE8-0E71-4838-BA5F-B8772D1D5B6B}" dt="2026-06-27T01:00:42.781" v="42" actId="1076"/>
          <ac:graphicFrameMkLst>
            <pc:docMk/>
            <pc:sldMk cId="0" sldId="263"/>
            <ac:graphicFrameMk id="305" creationId="{00000000-0000-0000-0000-000000000000}"/>
          </ac:graphicFrameMkLst>
        </pc:graphicFrameChg>
        <pc:graphicFrameChg chg="mod">
          <ac:chgData name="Monica Guadalupe Becerra Quiroz" userId="3f0ab3d9-73d5-4a96-ad75-906d0f222192" providerId="ADAL" clId="{14A85CE8-0E71-4838-BA5F-B8772D1D5B6B}" dt="2026-06-27T01:00:48.382" v="43" actId="14100"/>
          <ac:graphicFrameMkLst>
            <pc:docMk/>
            <pc:sldMk cId="0" sldId="263"/>
            <ac:graphicFrameMk id="306" creationId="{00000000-0000-0000-0000-000000000000}"/>
          </ac:graphicFrameMkLst>
        </pc:graphicFrameChg>
      </pc:sldChg>
      <pc:sldChg chg="modSp mod">
        <pc:chgData name="Monica Guadalupe Becerra Quiroz" userId="3f0ab3d9-73d5-4a96-ad75-906d0f222192" providerId="ADAL" clId="{14A85CE8-0E71-4838-BA5F-B8772D1D5B6B}" dt="2026-06-27T01:02:47.628" v="69" actId="14100"/>
        <pc:sldMkLst>
          <pc:docMk/>
          <pc:sldMk cId="0" sldId="267"/>
        </pc:sldMkLst>
        <pc:spChg chg="mod">
          <ac:chgData name="Monica Guadalupe Becerra Quiroz" userId="3f0ab3d9-73d5-4a96-ad75-906d0f222192" providerId="ADAL" clId="{14A85CE8-0E71-4838-BA5F-B8772D1D5B6B}" dt="2026-06-27T01:02:33.047" v="64" actId="1076"/>
          <ac:spMkLst>
            <pc:docMk/>
            <pc:sldMk cId="0" sldId="267"/>
            <ac:spMk id="236" creationId="{00000000-0000-0000-0000-000000000000}"/>
          </ac:spMkLst>
        </pc:spChg>
        <pc:spChg chg="mod">
          <ac:chgData name="Monica Guadalupe Becerra Quiroz" userId="3f0ab3d9-73d5-4a96-ad75-906d0f222192" providerId="ADAL" clId="{14A85CE8-0E71-4838-BA5F-B8772D1D5B6B}" dt="2026-06-27T01:02:35.572" v="65" actId="1076"/>
          <ac:spMkLst>
            <pc:docMk/>
            <pc:sldMk cId="0" sldId="267"/>
            <ac:spMk id="237" creationId="{00000000-0000-0000-0000-000000000000}"/>
          </ac:spMkLst>
        </pc:spChg>
        <pc:spChg chg="mod">
          <ac:chgData name="Monica Guadalupe Becerra Quiroz" userId="3f0ab3d9-73d5-4a96-ad75-906d0f222192" providerId="ADAL" clId="{14A85CE8-0E71-4838-BA5F-B8772D1D5B6B}" dt="2026-06-27T01:02:39.171" v="66" actId="1076"/>
          <ac:spMkLst>
            <pc:docMk/>
            <pc:sldMk cId="0" sldId="267"/>
            <ac:spMk id="238" creationId="{00000000-0000-0000-0000-000000000000}"/>
          </ac:spMkLst>
        </pc:spChg>
        <pc:graphicFrameChg chg="modGraphic">
          <ac:chgData name="Monica Guadalupe Becerra Quiroz" userId="3f0ab3d9-73d5-4a96-ad75-906d0f222192" providerId="ADAL" clId="{14A85CE8-0E71-4838-BA5F-B8772D1D5B6B}" dt="2026-06-27T01:02:43.546" v="67" actId="14100"/>
          <ac:graphicFrameMkLst>
            <pc:docMk/>
            <pc:sldMk cId="0" sldId="267"/>
            <ac:graphicFrameMk id="233" creationId="{00000000-0000-0000-0000-000000000000}"/>
          </ac:graphicFrameMkLst>
        </pc:graphicFrameChg>
        <pc:graphicFrameChg chg="mod modGraphic">
          <ac:chgData name="Monica Guadalupe Becerra Quiroz" userId="3f0ab3d9-73d5-4a96-ad75-906d0f222192" providerId="ADAL" clId="{14A85CE8-0E71-4838-BA5F-B8772D1D5B6B}" dt="2026-06-27T01:02:47.628" v="69" actId="14100"/>
          <ac:graphicFrameMkLst>
            <pc:docMk/>
            <pc:sldMk cId="0" sldId="267"/>
            <ac:graphicFrameMk id="234" creationId="{00000000-0000-0000-0000-000000000000}"/>
          </ac:graphicFrameMkLst>
        </pc:graphicFrameChg>
        <pc:graphicFrameChg chg="mod">
          <ac:chgData name="Monica Guadalupe Becerra Quiroz" userId="3f0ab3d9-73d5-4a96-ad75-906d0f222192" providerId="ADAL" clId="{14A85CE8-0E71-4838-BA5F-B8772D1D5B6B}" dt="2026-06-27T01:02:30.502" v="63" actId="1076"/>
          <ac:graphicFrameMkLst>
            <pc:docMk/>
            <pc:sldMk cId="0" sldId="267"/>
            <ac:graphicFrameMk id="235" creationId="{00000000-0000-0000-0000-000000000000}"/>
          </ac:graphicFrameMkLst>
        </pc:graphicFrameChg>
      </pc:sldChg>
      <pc:sldChg chg="modSp mod">
        <pc:chgData name="Monica Guadalupe Becerra Quiroz" userId="3f0ab3d9-73d5-4a96-ad75-906d0f222192" providerId="ADAL" clId="{14A85CE8-0E71-4838-BA5F-B8772D1D5B6B}" dt="2026-06-27T01:10:10.552" v="134" actId="1076"/>
        <pc:sldMkLst>
          <pc:docMk/>
          <pc:sldMk cId="0" sldId="270"/>
        </pc:sldMkLst>
        <pc:spChg chg="mod">
          <ac:chgData name="Monica Guadalupe Becerra Quiroz" userId="3f0ab3d9-73d5-4a96-ad75-906d0f222192" providerId="ADAL" clId="{14A85CE8-0E71-4838-BA5F-B8772D1D5B6B}" dt="2026-06-27T01:10:10.552" v="134" actId="1076"/>
          <ac:spMkLst>
            <pc:docMk/>
            <pc:sldMk cId="0" sldId="270"/>
            <ac:spMk id="323" creationId="{00000000-0000-0000-0000-000000000000}"/>
          </ac:spMkLst>
        </pc:spChg>
        <pc:graphicFrameChg chg="mod">
          <ac:chgData name="Monica Guadalupe Becerra Quiroz" userId="3f0ab3d9-73d5-4a96-ad75-906d0f222192" providerId="ADAL" clId="{14A85CE8-0E71-4838-BA5F-B8772D1D5B6B}" dt="2026-06-27T01:10:05.786" v="133" actId="1076"/>
          <ac:graphicFrameMkLst>
            <pc:docMk/>
            <pc:sldMk cId="0" sldId="270"/>
            <ac:graphicFrameMk id="319" creationId="{00000000-0000-0000-0000-000000000000}"/>
          </ac:graphicFrameMkLst>
        </pc:graphicFrameChg>
      </pc:sldChg>
      <pc:sldChg chg="modSp mod">
        <pc:chgData name="Monica Guadalupe Becerra Quiroz" userId="3f0ab3d9-73d5-4a96-ad75-906d0f222192" providerId="ADAL" clId="{14A85CE8-0E71-4838-BA5F-B8772D1D5B6B}" dt="2026-06-27T01:11:44.342" v="172" actId="1076"/>
        <pc:sldMkLst>
          <pc:docMk/>
          <pc:sldMk cId="0" sldId="271"/>
        </pc:sldMkLst>
        <pc:spChg chg="mod">
          <ac:chgData name="Monica Guadalupe Becerra Quiroz" userId="3f0ab3d9-73d5-4a96-ad75-906d0f222192" providerId="ADAL" clId="{14A85CE8-0E71-4838-BA5F-B8772D1D5B6B}" dt="2026-06-27T01:10:48.955" v="143" actId="20577"/>
          <ac:spMkLst>
            <pc:docMk/>
            <pc:sldMk cId="0" sldId="271"/>
            <ac:spMk id="336" creationId="{00000000-0000-0000-0000-000000000000}"/>
          </ac:spMkLst>
        </pc:spChg>
        <pc:spChg chg="mod">
          <ac:chgData name="Monica Guadalupe Becerra Quiroz" userId="3f0ab3d9-73d5-4a96-ad75-906d0f222192" providerId="ADAL" clId="{14A85CE8-0E71-4838-BA5F-B8772D1D5B6B}" dt="2026-06-27T01:10:54.107" v="147" actId="20577"/>
          <ac:spMkLst>
            <pc:docMk/>
            <pc:sldMk cId="0" sldId="271"/>
            <ac:spMk id="337" creationId="{00000000-0000-0000-0000-000000000000}"/>
          </ac:spMkLst>
        </pc:spChg>
        <pc:spChg chg="mod">
          <ac:chgData name="Monica Guadalupe Becerra Quiroz" userId="3f0ab3d9-73d5-4a96-ad75-906d0f222192" providerId="ADAL" clId="{14A85CE8-0E71-4838-BA5F-B8772D1D5B6B}" dt="2026-06-27T01:10:58.521" v="149" actId="20577"/>
          <ac:spMkLst>
            <pc:docMk/>
            <pc:sldMk cId="0" sldId="271"/>
            <ac:spMk id="338" creationId="{00000000-0000-0000-0000-000000000000}"/>
          </ac:spMkLst>
        </pc:spChg>
        <pc:spChg chg="mod">
          <ac:chgData name="Monica Guadalupe Becerra Quiroz" userId="3f0ab3d9-73d5-4a96-ad75-906d0f222192" providerId="ADAL" clId="{14A85CE8-0E71-4838-BA5F-B8772D1D5B6B}" dt="2026-06-27T01:11:02.798" v="151" actId="20577"/>
          <ac:spMkLst>
            <pc:docMk/>
            <pc:sldMk cId="0" sldId="271"/>
            <ac:spMk id="339" creationId="{00000000-0000-0000-0000-000000000000}"/>
          </ac:spMkLst>
        </pc:spChg>
        <pc:spChg chg="mod">
          <ac:chgData name="Monica Guadalupe Becerra Quiroz" userId="3f0ab3d9-73d5-4a96-ad75-906d0f222192" providerId="ADAL" clId="{14A85CE8-0E71-4838-BA5F-B8772D1D5B6B}" dt="2026-06-27T01:11:09.940" v="157" actId="20577"/>
          <ac:spMkLst>
            <pc:docMk/>
            <pc:sldMk cId="0" sldId="271"/>
            <ac:spMk id="340" creationId="{00000000-0000-0000-0000-000000000000}"/>
          </ac:spMkLst>
        </pc:spChg>
        <pc:spChg chg="mod">
          <ac:chgData name="Monica Guadalupe Becerra Quiroz" userId="3f0ab3d9-73d5-4a96-ad75-906d0f222192" providerId="ADAL" clId="{14A85CE8-0E71-4838-BA5F-B8772D1D5B6B}" dt="2026-06-27T01:11:17.459" v="163" actId="20577"/>
          <ac:spMkLst>
            <pc:docMk/>
            <pc:sldMk cId="0" sldId="271"/>
            <ac:spMk id="341" creationId="{00000000-0000-0000-0000-000000000000}"/>
          </ac:spMkLst>
        </pc:spChg>
        <pc:spChg chg="mod">
          <ac:chgData name="Monica Guadalupe Becerra Quiroz" userId="3f0ab3d9-73d5-4a96-ad75-906d0f222192" providerId="ADAL" clId="{14A85CE8-0E71-4838-BA5F-B8772D1D5B6B}" dt="2026-06-27T01:11:21.566" v="165" actId="20577"/>
          <ac:spMkLst>
            <pc:docMk/>
            <pc:sldMk cId="0" sldId="271"/>
            <ac:spMk id="342" creationId="{00000000-0000-0000-0000-000000000000}"/>
          </ac:spMkLst>
        </pc:spChg>
        <pc:spChg chg="mod">
          <ac:chgData name="Monica Guadalupe Becerra Quiroz" userId="3f0ab3d9-73d5-4a96-ad75-906d0f222192" providerId="ADAL" clId="{14A85CE8-0E71-4838-BA5F-B8772D1D5B6B}" dt="2026-06-27T01:11:25.959" v="169" actId="20577"/>
          <ac:spMkLst>
            <pc:docMk/>
            <pc:sldMk cId="0" sldId="271"/>
            <ac:spMk id="343" creationId="{00000000-0000-0000-0000-000000000000}"/>
          </ac:spMkLst>
        </pc:spChg>
        <pc:spChg chg="mod">
          <ac:chgData name="Monica Guadalupe Becerra Quiroz" userId="3f0ab3d9-73d5-4a96-ad75-906d0f222192" providerId="ADAL" clId="{14A85CE8-0E71-4838-BA5F-B8772D1D5B6B}" dt="2026-06-27T01:10:33.869" v="137" actId="1076"/>
          <ac:spMkLst>
            <pc:docMk/>
            <pc:sldMk cId="0" sldId="271"/>
            <ac:spMk id="345" creationId="{00000000-0000-0000-0000-000000000000}"/>
          </ac:spMkLst>
        </pc:spChg>
        <pc:spChg chg="mod">
          <ac:chgData name="Monica Guadalupe Becerra Quiroz" userId="3f0ab3d9-73d5-4a96-ad75-906d0f222192" providerId="ADAL" clId="{14A85CE8-0E71-4838-BA5F-B8772D1D5B6B}" dt="2026-06-27T01:11:34.834" v="171" actId="207"/>
          <ac:spMkLst>
            <pc:docMk/>
            <pc:sldMk cId="0" sldId="271"/>
            <ac:spMk id="346" creationId="{00000000-0000-0000-0000-000000000000}"/>
          </ac:spMkLst>
        </pc:spChg>
        <pc:graphicFrameChg chg="mod">
          <ac:chgData name="Monica Guadalupe Becerra Quiroz" userId="3f0ab3d9-73d5-4a96-ad75-906d0f222192" providerId="ADAL" clId="{14A85CE8-0E71-4838-BA5F-B8772D1D5B6B}" dt="2026-06-27T01:11:44.342" v="172" actId="1076"/>
          <ac:graphicFrameMkLst>
            <pc:docMk/>
            <pc:sldMk cId="0" sldId="271"/>
            <ac:graphicFrameMk id="311" creationId="{00000000-0000-0000-0000-000000000000}"/>
          </ac:graphicFrameMkLst>
        </pc:graphicFrameChg>
        <pc:graphicFrameChg chg="modGraphic">
          <ac:chgData name="Monica Guadalupe Becerra Quiroz" userId="3f0ab3d9-73d5-4a96-ad75-906d0f222192" providerId="ADAL" clId="{14A85CE8-0E71-4838-BA5F-B8772D1D5B6B}" dt="2026-06-27T01:10:21.793" v="136" actId="20577"/>
          <ac:graphicFrameMkLst>
            <pc:docMk/>
            <pc:sldMk cId="0" sldId="271"/>
            <ac:graphicFrameMk id="344" creationId="{00000000-0000-0000-0000-000000000000}"/>
          </ac:graphicFrameMkLst>
        </pc:graphicFrameChg>
      </pc:sldChg>
      <pc:sldChg chg="modSp mod">
        <pc:chgData name="Monica Guadalupe Becerra Quiroz" userId="3f0ab3d9-73d5-4a96-ad75-906d0f222192" providerId="ADAL" clId="{14A85CE8-0E71-4838-BA5F-B8772D1D5B6B}" dt="2026-06-27T01:12:16.324" v="177" actId="14100"/>
        <pc:sldMkLst>
          <pc:docMk/>
          <pc:sldMk cId="0" sldId="272"/>
        </pc:sldMkLst>
        <pc:spChg chg="mod">
          <ac:chgData name="Monica Guadalupe Becerra Quiroz" userId="3f0ab3d9-73d5-4a96-ad75-906d0f222192" providerId="ADAL" clId="{14A85CE8-0E71-4838-BA5F-B8772D1D5B6B}" dt="2026-06-27T01:12:13.732" v="176" actId="1076"/>
          <ac:spMkLst>
            <pc:docMk/>
            <pc:sldMk cId="0" sldId="272"/>
            <ac:spMk id="8" creationId="{00000000-0000-0000-0000-000000000000}"/>
          </ac:spMkLst>
        </pc:spChg>
        <pc:graphicFrameChg chg="mod modGraphic">
          <ac:chgData name="Monica Guadalupe Becerra Quiroz" userId="3f0ab3d9-73d5-4a96-ad75-906d0f222192" providerId="ADAL" clId="{14A85CE8-0E71-4838-BA5F-B8772D1D5B6B}" dt="2026-06-27T01:12:08.030" v="174" actId="14100"/>
          <ac:graphicFrameMkLst>
            <pc:docMk/>
            <pc:sldMk cId="0" sldId="272"/>
            <ac:graphicFrameMk id="10" creationId="{00000000-0000-0000-0000-000000000000}"/>
          </ac:graphicFrameMkLst>
        </pc:graphicFrameChg>
        <pc:picChg chg="mod">
          <ac:chgData name="Monica Guadalupe Becerra Quiroz" userId="3f0ab3d9-73d5-4a96-ad75-906d0f222192" providerId="ADAL" clId="{14A85CE8-0E71-4838-BA5F-B8772D1D5B6B}" dt="2026-06-27T01:12:16.324" v="177" actId="14100"/>
          <ac:picMkLst>
            <pc:docMk/>
            <pc:sldMk cId="0" sldId="272"/>
            <ac:picMk id="6" creationId="{00000000-0000-0000-0000-000000000000}"/>
          </ac:picMkLst>
        </pc:picChg>
        <pc:cxnChg chg="mod">
          <ac:chgData name="Monica Guadalupe Becerra Quiroz" userId="3f0ab3d9-73d5-4a96-ad75-906d0f222192" providerId="ADAL" clId="{14A85CE8-0E71-4838-BA5F-B8772D1D5B6B}" dt="2026-06-27T01:12:11.711" v="175" actId="1076"/>
          <ac:cxnSpMkLst>
            <pc:docMk/>
            <pc:sldMk cId="0" sldId="272"/>
            <ac:cxnSpMk id="9" creationId="{00000000-0000-0000-0000-000000000000}"/>
          </ac:cxnSpMkLst>
        </pc:cxnChg>
      </pc:sldChg>
      <pc:sldChg chg="modSp">
        <pc:chgData name="Monica Guadalupe Becerra Quiroz" userId="3f0ab3d9-73d5-4a96-ad75-906d0f222192" providerId="ADAL" clId="{14A85CE8-0E71-4838-BA5F-B8772D1D5B6B}" dt="2026-06-27T01:14:42.771" v="209"/>
        <pc:sldMkLst>
          <pc:docMk/>
          <pc:sldMk cId="0" sldId="278"/>
        </pc:sldMkLst>
        <pc:graphicFrameChg chg="mod">
          <ac:chgData name="Monica Guadalupe Becerra Quiroz" userId="3f0ab3d9-73d5-4a96-ad75-906d0f222192" providerId="ADAL" clId="{14A85CE8-0E71-4838-BA5F-B8772D1D5B6B}" dt="2026-06-27T01:14:36.435" v="208"/>
          <ac:graphicFrameMkLst>
            <pc:docMk/>
            <pc:sldMk cId="0" sldId="278"/>
            <ac:graphicFrameMk id="479" creationId="{00000000-0000-0000-0000-000000000000}"/>
          </ac:graphicFrameMkLst>
        </pc:graphicFrameChg>
        <pc:graphicFrameChg chg="mod">
          <ac:chgData name="Monica Guadalupe Becerra Quiroz" userId="3f0ab3d9-73d5-4a96-ad75-906d0f222192" providerId="ADAL" clId="{14A85CE8-0E71-4838-BA5F-B8772D1D5B6B}" dt="2026-06-27T01:14:42.771" v="209"/>
          <ac:graphicFrameMkLst>
            <pc:docMk/>
            <pc:sldMk cId="0" sldId="278"/>
            <ac:graphicFrameMk id="492" creationId="{00000000-0000-0000-0000-000000000000}"/>
          </ac:graphicFrameMkLst>
        </pc:graphicFrameChg>
      </pc:sldChg>
      <pc:sldChg chg="modSp mod">
        <pc:chgData name="Monica Guadalupe Becerra Quiroz" userId="3f0ab3d9-73d5-4a96-ad75-906d0f222192" providerId="ADAL" clId="{14A85CE8-0E71-4838-BA5F-B8772D1D5B6B}" dt="2026-06-27T01:15:42.553" v="213"/>
        <pc:sldMkLst>
          <pc:docMk/>
          <pc:sldMk cId="0" sldId="279"/>
        </pc:sldMkLst>
        <pc:spChg chg="mod">
          <ac:chgData name="Monica Guadalupe Becerra Quiroz" userId="3f0ab3d9-73d5-4a96-ad75-906d0f222192" providerId="ADAL" clId="{14A85CE8-0E71-4838-BA5F-B8772D1D5B6B}" dt="2026-06-27T01:15:31.520" v="212"/>
          <ac:spMkLst>
            <pc:docMk/>
            <pc:sldMk cId="0" sldId="279"/>
            <ac:spMk id="515" creationId="{00000000-0000-0000-0000-000000000000}"/>
          </ac:spMkLst>
        </pc:spChg>
        <pc:graphicFrameChg chg="mod">
          <ac:chgData name="Monica Guadalupe Becerra Quiroz" userId="3f0ab3d9-73d5-4a96-ad75-906d0f222192" providerId="ADAL" clId="{14A85CE8-0E71-4838-BA5F-B8772D1D5B6B}" dt="2026-06-27T01:14:51.879" v="210"/>
          <ac:graphicFrameMkLst>
            <pc:docMk/>
            <pc:sldMk cId="0" sldId="279"/>
            <ac:graphicFrameMk id="503" creationId="{00000000-0000-0000-0000-000000000000}"/>
          </ac:graphicFrameMkLst>
        </pc:graphicFrameChg>
        <pc:graphicFrameChg chg="mod">
          <ac:chgData name="Monica Guadalupe Becerra Quiroz" userId="3f0ab3d9-73d5-4a96-ad75-906d0f222192" providerId="ADAL" clId="{14A85CE8-0E71-4838-BA5F-B8772D1D5B6B}" dt="2026-06-27T01:15:42.553" v="213"/>
          <ac:graphicFrameMkLst>
            <pc:docMk/>
            <pc:sldMk cId="0" sldId="279"/>
            <ac:graphicFrameMk id="514" creationId="{00000000-0000-0000-0000-000000000000}"/>
          </ac:graphicFrameMkLst>
        </pc:graphicFrameChg>
      </pc:sldChg>
      <pc:sldChg chg="modSp mod">
        <pc:chgData name="Monica Guadalupe Becerra Quiroz" userId="3f0ab3d9-73d5-4a96-ad75-906d0f222192" providerId="ADAL" clId="{14A85CE8-0E71-4838-BA5F-B8772D1D5B6B}" dt="2026-06-27T01:02:16.229" v="62" actId="1076"/>
        <pc:sldMkLst>
          <pc:docMk/>
          <pc:sldMk cId="540716406" sldId="280"/>
        </pc:sldMkLst>
        <pc:spChg chg="mod">
          <ac:chgData name="Monica Guadalupe Becerra Quiroz" userId="3f0ab3d9-73d5-4a96-ad75-906d0f222192" providerId="ADAL" clId="{14A85CE8-0E71-4838-BA5F-B8772D1D5B6B}" dt="2026-06-27T01:01:59.387" v="61" actId="1076"/>
          <ac:spMkLst>
            <pc:docMk/>
            <pc:sldMk cId="540716406" sldId="280"/>
            <ac:spMk id="235" creationId="{00000000-0000-0000-0000-000000000000}"/>
          </ac:spMkLst>
        </pc:spChg>
        <pc:spChg chg="mod">
          <ac:chgData name="Monica Guadalupe Becerra Quiroz" userId="3f0ab3d9-73d5-4a96-ad75-906d0f222192" providerId="ADAL" clId="{14A85CE8-0E71-4838-BA5F-B8772D1D5B6B}" dt="2026-06-27T01:01:54.030" v="60" actId="1076"/>
          <ac:spMkLst>
            <pc:docMk/>
            <pc:sldMk cId="540716406" sldId="280"/>
            <ac:spMk id="239" creationId="{00000000-0000-0000-0000-000000000000}"/>
          </ac:spMkLst>
        </pc:spChg>
        <pc:spChg chg="mod">
          <ac:chgData name="Monica Guadalupe Becerra Quiroz" userId="3f0ab3d9-73d5-4a96-ad75-906d0f222192" providerId="ADAL" clId="{14A85CE8-0E71-4838-BA5F-B8772D1D5B6B}" dt="2026-06-27T01:02:16.229" v="62" actId="1076"/>
          <ac:spMkLst>
            <pc:docMk/>
            <pc:sldMk cId="540716406" sldId="280"/>
            <ac:spMk id="240" creationId="{00000000-0000-0000-0000-000000000000}"/>
          </ac:spMkLst>
        </pc:spChg>
        <pc:spChg chg="mod">
          <ac:chgData name="Monica Guadalupe Becerra Quiroz" userId="3f0ab3d9-73d5-4a96-ad75-906d0f222192" providerId="ADAL" clId="{14A85CE8-0E71-4838-BA5F-B8772D1D5B6B}" dt="2026-06-27T01:01:47.925" v="58" actId="1076"/>
          <ac:spMkLst>
            <pc:docMk/>
            <pc:sldMk cId="540716406" sldId="280"/>
            <ac:spMk id="241" creationId="{00000000-0000-0000-0000-000000000000}"/>
          </ac:spMkLst>
        </pc:spChg>
        <pc:graphicFrameChg chg="modGraphic">
          <ac:chgData name="Monica Guadalupe Becerra Quiroz" userId="3f0ab3d9-73d5-4a96-ad75-906d0f222192" providerId="ADAL" clId="{14A85CE8-0E71-4838-BA5F-B8772D1D5B6B}" dt="2026-06-27T01:01:37.212" v="54" actId="14100"/>
          <ac:graphicFrameMkLst>
            <pc:docMk/>
            <pc:sldMk cId="540716406" sldId="280"/>
            <ac:graphicFrameMk id="236" creationId="{00000000-0000-0000-0000-000000000000}"/>
          </ac:graphicFrameMkLst>
        </pc:graphicFrameChg>
        <pc:graphicFrameChg chg="mod modGraphic">
          <ac:chgData name="Monica Guadalupe Becerra Quiroz" userId="3f0ab3d9-73d5-4a96-ad75-906d0f222192" providerId="ADAL" clId="{14A85CE8-0E71-4838-BA5F-B8772D1D5B6B}" dt="2026-06-27T01:01:45.071" v="57" actId="14100"/>
          <ac:graphicFrameMkLst>
            <pc:docMk/>
            <pc:sldMk cId="540716406" sldId="280"/>
            <ac:graphicFrameMk id="237" creationId="{00000000-0000-0000-0000-000000000000}"/>
          </ac:graphicFrameMkLst>
        </pc:graphicFrameChg>
        <pc:graphicFrameChg chg="mod">
          <ac:chgData name="Monica Guadalupe Becerra Quiroz" userId="3f0ab3d9-73d5-4a96-ad75-906d0f222192" providerId="ADAL" clId="{14A85CE8-0E71-4838-BA5F-B8772D1D5B6B}" dt="2026-06-27T01:01:51.361" v="59" actId="1076"/>
          <ac:graphicFrameMkLst>
            <pc:docMk/>
            <pc:sldMk cId="540716406" sldId="280"/>
            <ac:graphicFrameMk id="238" creationId="{00000000-0000-0000-0000-000000000000}"/>
          </ac:graphicFrameMkLst>
        </pc:graphicFrameChg>
      </pc:sldChg>
      <pc:sldChg chg="modSp mod">
        <pc:chgData name="Monica Guadalupe Becerra Quiroz" userId="3f0ab3d9-73d5-4a96-ad75-906d0f222192" providerId="ADAL" clId="{14A85CE8-0E71-4838-BA5F-B8772D1D5B6B}" dt="2026-06-27T01:04:26.351" v="81" actId="20577"/>
        <pc:sldMkLst>
          <pc:docMk/>
          <pc:sldMk cId="3828482411" sldId="281"/>
        </pc:sldMkLst>
        <pc:spChg chg="mod">
          <ac:chgData name="Monica Guadalupe Becerra Quiroz" userId="3f0ab3d9-73d5-4a96-ad75-906d0f222192" providerId="ADAL" clId="{14A85CE8-0E71-4838-BA5F-B8772D1D5B6B}" dt="2026-06-27T01:04:26.351" v="81" actId="20577"/>
          <ac:spMkLst>
            <pc:docMk/>
            <pc:sldMk cId="3828482411" sldId="281"/>
            <ac:spMk id="3" creationId="{00000000-0000-0000-0000-000000000000}"/>
          </ac:spMkLst>
        </pc:spChg>
      </pc:sldChg>
      <pc:sldChg chg="modSp">
        <pc:chgData name="Monica Guadalupe Becerra Quiroz" userId="3f0ab3d9-73d5-4a96-ad75-906d0f222192" providerId="ADAL" clId="{14A85CE8-0E71-4838-BA5F-B8772D1D5B6B}" dt="2026-06-27T00:59:50.377" v="41"/>
        <pc:sldMkLst>
          <pc:docMk/>
          <pc:sldMk cId="748044913" sldId="287"/>
        </pc:sldMkLst>
        <pc:graphicFrameChg chg="mod">
          <ac:chgData name="Monica Guadalupe Becerra Quiroz" userId="3f0ab3d9-73d5-4a96-ad75-906d0f222192" providerId="ADAL" clId="{14A85CE8-0E71-4838-BA5F-B8772D1D5B6B}" dt="2026-06-27T00:59:50.377" v="41"/>
          <ac:graphicFrameMkLst>
            <pc:docMk/>
            <pc:sldMk cId="748044913" sldId="287"/>
            <ac:graphicFrameMk id="236" creationId="{00000000-0000-0000-0000-000000000000}"/>
          </ac:graphicFrameMkLst>
        </pc:graphicFrameChg>
      </pc:sldChg>
      <pc:sldChg chg="addSp modSp mod">
        <pc:chgData name="Monica Guadalupe Becerra Quiroz" userId="3f0ab3d9-73d5-4a96-ad75-906d0f222192" providerId="ADAL" clId="{14A85CE8-0E71-4838-BA5F-B8772D1D5B6B}" dt="2026-06-27T01:09:26.439" v="129" actId="207"/>
        <pc:sldMkLst>
          <pc:docMk/>
          <pc:sldMk cId="3805655920" sldId="288"/>
        </pc:sldMkLst>
        <pc:spChg chg="mod">
          <ac:chgData name="Monica Guadalupe Becerra Quiroz" userId="3f0ab3d9-73d5-4a96-ad75-906d0f222192" providerId="ADAL" clId="{14A85CE8-0E71-4838-BA5F-B8772D1D5B6B}" dt="2026-06-27T01:06:41.599" v="110" actId="1076"/>
          <ac:spMkLst>
            <pc:docMk/>
            <pc:sldMk cId="3805655920" sldId="288"/>
            <ac:spMk id="4" creationId="{00000000-0000-0000-0000-000000000000}"/>
          </ac:spMkLst>
        </pc:spChg>
        <pc:spChg chg="add mod">
          <ac:chgData name="Monica Guadalupe Becerra Quiroz" userId="3f0ab3d9-73d5-4a96-ad75-906d0f222192" providerId="ADAL" clId="{14A85CE8-0E71-4838-BA5F-B8772D1D5B6B}" dt="2026-06-27T01:07:26.002" v="113" actId="255"/>
          <ac:spMkLst>
            <pc:docMk/>
            <pc:sldMk cId="3805655920" sldId="288"/>
            <ac:spMk id="8" creationId="{F861A96A-55FE-60B4-551B-9683D60402B4}"/>
          </ac:spMkLst>
        </pc:spChg>
        <pc:spChg chg="add mod">
          <ac:chgData name="Monica Guadalupe Becerra Quiroz" userId="3f0ab3d9-73d5-4a96-ad75-906d0f222192" providerId="ADAL" clId="{14A85CE8-0E71-4838-BA5F-B8772D1D5B6B}" dt="2026-06-27T01:08:21.302" v="120" actId="207"/>
          <ac:spMkLst>
            <pc:docMk/>
            <pc:sldMk cId="3805655920" sldId="288"/>
            <ac:spMk id="10" creationId="{17E3FA82-35B5-09C0-1DB9-B71F0CA9A626}"/>
          </ac:spMkLst>
        </pc:spChg>
        <pc:spChg chg="add mod">
          <ac:chgData name="Monica Guadalupe Becerra Quiroz" userId="3f0ab3d9-73d5-4a96-ad75-906d0f222192" providerId="ADAL" clId="{14A85CE8-0E71-4838-BA5F-B8772D1D5B6B}" dt="2026-06-27T01:09:02.659" v="126" actId="1076"/>
          <ac:spMkLst>
            <pc:docMk/>
            <pc:sldMk cId="3805655920" sldId="288"/>
            <ac:spMk id="11" creationId="{6B77C432-574F-78AA-D515-E44747A7F281}"/>
          </ac:spMkLst>
        </pc:spChg>
        <pc:spChg chg="add mod">
          <ac:chgData name="Monica Guadalupe Becerra Quiroz" userId="3f0ab3d9-73d5-4a96-ad75-906d0f222192" providerId="ADAL" clId="{14A85CE8-0E71-4838-BA5F-B8772D1D5B6B}" dt="2026-06-27T01:08:58.992" v="125" actId="1076"/>
          <ac:spMkLst>
            <pc:docMk/>
            <pc:sldMk cId="3805655920" sldId="288"/>
            <ac:spMk id="12" creationId="{EDECB6E1-463F-ABEE-7948-C464E8A9F7ED}"/>
          </ac:spMkLst>
        </pc:spChg>
        <pc:spChg chg="add mod">
          <ac:chgData name="Monica Guadalupe Becerra Quiroz" userId="3f0ab3d9-73d5-4a96-ad75-906d0f222192" providerId="ADAL" clId="{14A85CE8-0E71-4838-BA5F-B8772D1D5B6B}" dt="2026-06-27T01:08:58.992" v="125" actId="1076"/>
          <ac:spMkLst>
            <pc:docMk/>
            <pc:sldMk cId="3805655920" sldId="288"/>
            <ac:spMk id="13" creationId="{BCA2FAA3-9B5F-999D-E294-288660ADB777}"/>
          </ac:spMkLst>
        </pc:spChg>
        <pc:spChg chg="add mod">
          <ac:chgData name="Monica Guadalupe Becerra Quiroz" userId="3f0ab3d9-73d5-4a96-ad75-906d0f222192" providerId="ADAL" clId="{14A85CE8-0E71-4838-BA5F-B8772D1D5B6B}" dt="2026-06-27T01:08:44.194" v="122" actId="1076"/>
          <ac:spMkLst>
            <pc:docMk/>
            <pc:sldMk cId="3805655920" sldId="288"/>
            <ac:spMk id="19" creationId="{42A58782-B6C8-B37C-38AF-AE6ECAB780CE}"/>
          </ac:spMkLst>
        </pc:spChg>
        <pc:spChg chg="add mod">
          <ac:chgData name="Monica Guadalupe Becerra Quiroz" userId="3f0ab3d9-73d5-4a96-ad75-906d0f222192" providerId="ADAL" clId="{14A85CE8-0E71-4838-BA5F-B8772D1D5B6B}" dt="2026-06-27T01:09:26.439" v="129" actId="207"/>
          <ac:spMkLst>
            <pc:docMk/>
            <pc:sldMk cId="3805655920" sldId="288"/>
            <ac:spMk id="20" creationId="{20FF8DE5-91C5-4E72-3E3B-DAC34548508D}"/>
          </ac:spMkLst>
        </pc:spChg>
        <pc:graphicFrameChg chg="mod">
          <ac:chgData name="Monica Guadalupe Becerra Quiroz" userId="3f0ab3d9-73d5-4a96-ad75-906d0f222192" providerId="ADAL" clId="{14A85CE8-0E71-4838-BA5F-B8772D1D5B6B}" dt="2026-06-27T01:06:16.913" v="104" actId="1076"/>
          <ac:graphicFrameMkLst>
            <pc:docMk/>
            <pc:sldMk cId="3805655920" sldId="288"/>
            <ac:graphicFrameMk id="2" creationId="{894EDEE1-9138-38CB-735A-E5A11EE0B749}"/>
          </ac:graphicFrameMkLst>
        </pc:graphicFrameChg>
        <pc:graphicFrameChg chg="mod">
          <ac:chgData name="Monica Guadalupe Becerra Quiroz" userId="3f0ab3d9-73d5-4a96-ad75-906d0f222192" providerId="ADAL" clId="{14A85CE8-0E71-4838-BA5F-B8772D1D5B6B}" dt="2026-06-27T01:06:19.766" v="105" actId="1076"/>
          <ac:graphicFrameMkLst>
            <pc:docMk/>
            <pc:sldMk cId="3805655920" sldId="288"/>
            <ac:graphicFrameMk id="5" creationId="{00000000-0000-0000-0000-000000000000}"/>
          </ac:graphicFrameMkLst>
        </pc:graphicFrameChg>
        <pc:graphicFrameChg chg="mod">
          <ac:chgData name="Monica Guadalupe Becerra Quiroz" userId="3f0ab3d9-73d5-4a96-ad75-906d0f222192" providerId="ADAL" clId="{14A85CE8-0E71-4838-BA5F-B8772D1D5B6B}" dt="2026-06-27T01:06:23.640" v="106" actId="1076"/>
          <ac:graphicFrameMkLst>
            <pc:docMk/>
            <pc:sldMk cId="3805655920" sldId="288"/>
            <ac:graphicFrameMk id="6" creationId="{00000000-0000-0000-0000-000000000000}"/>
          </ac:graphicFrameMkLst>
        </pc:graphicFrameChg>
        <pc:graphicFrameChg chg="add mod">
          <ac:chgData name="Monica Guadalupe Becerra Quiroz" userId="3f0ab3d9-73d5-4a96-ad75-906d0f222192" providerId="ADAL" clId="{14A85CE8-0E71-4838-BA5F-B8772D1D5B6B}" dt="2026-06-27T01:08:47.577" v="123" actId="1076"/>
          <ac:graphicFrameMkLst>
            <pc:docMk/>
            <pc:sldMk cId="3805655920" sldId="288"/>
            <ac:graphicFrameMk id="17" creationId="{5E3BEE83-6BDE-7442-ABAE-FB10C5607D4A}"/>
          </ac:graphicFrameMkLst>
        </pc:graphicFrameChg>
        <pc:graphicFrameChg chg="add mod modGraphic">
          <ac:chgData name="Monica Guadalupe Becerra Quiroz" userId="3f0ab3d9-73d5-4a96-ad75-906d0f222192" providerId="ADAL" clId="{14A85CE8-0E71-4838-BA5F-B8772D1D5B6B}" dt="2026-06-27T01:08:51.753" v="124" actId="14734"/>
          <ac:graphicFrameMkLst>
            <pc:docMk/>
            <pc:sldMk cId="3805655920" sldId="288"/>
            <ac:graphicFrameMk id="18" creationId="{C7833F00-22D5-3C1D-5C0F-7EEA34F47765}"/>
          </ac:graphicFrameMkLst>
        </pc:graphicFrameChg>
        <pc:picChg chg="add mod">
          <ac:chgData name="Monica Guadalupe Becerra Quiroz" userId="3f0ab3d9-73d5-4a96-ad75-906d0f222192" providerId="ADAL" clId="{14A85CE8-0E71-4838-BA5F-B8772D1D5B6B}" dt="2026-06-27T01:08:58.992" v="125" actId="1076"/>
          <ac:picMkLst>
            <pc:docMk/>
            <pc:sldMk cId="3805655920" sldId="288"/>
            <ac:picMk id="14" creationId="{62DC54AE-B17B-0F99-2DCF-2117DA62EC9F}"/>
          </ac:picMkLst>
        </pc:picChg>
        <pc:picChg chg="add mod">
          <ac:chgData name="Monica Guadalupe Becerra Quiroz" userId="3f0ab3d9-73d5-4a96-ad75-906d0f222192" providerId="ADAL" clId="{14A85CE8-0E71-4838-BA5F-B8772D1D5B6B}" dt="2026-06-27T01:08:58.992" v="125" actId="1076"/>
          <ac:picMkLst>
            <pc:docMk/>
            <pc:sldMk cId="3805655920" sldId="288"/>
            <ac:picMk id="15" creationId="{1A3E2759-53F4-B9DD-5E14-5EBE815783EF}"/>
          </ac:picMkLst>
        </pc:picChg>
        <pc:picChg chg="add mod">
          <ac:chgData name="Monica Guadalupe Becerra Quiroz" userId="3f0ab3d9-73d5-4a96-ad75-906d0f222192" providerId="ADAL" clId="{14A85CE8-0E71-4838-BA5F-B8772D1D5B6B}" dt="2026-06-27T01:08:58.992" v="125" actId="1076"/>
          <ac:picMkLst>
            <pc:docMk/>
            <pc:sldMk cId="3805655920" sldId="288"/>
            <ac:picMk id="16" creationId="{BEEDD64F-2164-CD9C-3B77-3C926F298A38}"/>
          </ac:picMkLst>
        </pc:picChg>
        <pc:cxnChg chg="add mod">
          <ac:chgData name="Monica Guadalupe Becerra Quiroz" userId="3f0ab3d9-73d5-4a96-ad75-906d0f222192" providerId="ADAL" clId="{14A85CE8-0E71-4838-BA5F-B8772D1D5B6B}" dt="2026-06-27T01:07:45.475" v="116" actId="1076"/>
          <ac:cxnSpMkLst>
            <pc:docMk/>
            <pc:sldMk cId="3805655920" sldId="288"/>
            <ac:cxnSpMk id="9" creationId="{D53CC8EC-CCDD-B0CF-06F8-6C60442CB380}"/>
          </ac:cxnSpMkLst>
        </pc:cxnChg>
      </pc:sldChg>
      <pc:sldChg chg="addSp delSp modSp mod">
        <pc:chgData name="Monica Guadalupe Becerra Quiroz" userId="3f0ab3d9-73d5-4a96-ad75-906d0f222192" providerId="ADAL" clId="{14A85CE8-0E71-4838-BA5F-B8772D1D5B6B}" dt="2026-06-27T00:54:31.067" v="3" actId="167"/>
        <pc:sldMkLst>
          <pc:docMk/>
          <pc:sldMk cId="3763779569" sldId="289"/>
        </pc:sldMkLst>
        <pc:spChg chg="add mod">
          <ac:chgData name="Monica Guadalupe Becerra Quiroz" userId="3f0ab3d9-73d5-4a96-ad75-906d0f222192" providerId="ADAL" clId="{14A85CE8-0E71-4838-BA5F-B8772D1D5B6B}" dt="2026-06-27T00:54:13.386" v="1"/>
          <ac:spMkLst>
            <pc:docMk/>
            <pc:sldMk cId="3763779569" sldId="289"/>
            <ac:spMk id="5" creationId="{89B45552-4DF0-025C-606F-DCC0B01A0F0D}"/>
          </ac:spMkLst>
        </pc:spChg>
        <pc:spChg chg="add mod ord">
          <ac:chgData name="Monica Guadalupe Becerra Quiroz" userId="3f0ab3d9-73d5-4a96-ad75-906d0f222192" providerId="ADAL" clId="{14A85CE8-0E71-4838-BA5F-B8772D1D5B6B}" dt="2026-06-27T00:54:31.067" v="3" actId="167"/>
          <ac:spMkLst>
            <pc:docMk/>
            <pc:sldMk cId="3763779569" sldId="289"/>
            <ac:spMk id="14" creationId="{71F3AF3C-F9BA-97AC-935C-73DE5744714C}"/>
          </ac:spMkLst>
        </pc:spChg>
        <pc:graphicFrameChg chg="add mod">
          <ac:chgData name="Monica Guadalupe Becerra Quiroz" userId="3f0ab3d9-73d5-4a96-ad75-906d0f222192" providerId="ADAL" clId="{14A85CE8-0E71-4838-BA5F-B8772D1D5B6B}" dt="2026-06-27T00:54:13.386" v="1"/>
          <ac:graphicFrameMkLst>
            <pc:docMk/>
            <pc:sldMk cId="3763779569" sldId="289"/>
            <ac:graphicFrameMk id="4" creationId="{4094822C-4E3C-5D91-0659-9453E5E45585}"/>
          </ac:graphicFrameMkLst>
        </pc:graphicFrameChg>
        <pc:picChg chg="add mod">
          <ac:chgData name="Monica Guadalupe Becerra Quiroz" userId="3f0ab3d9-73d5-4a96-ad75-906d0f222192" providerId="ADAL" clId="{14A85CE8-0E71-4838-BA5F-B8772D1D5B6B}" dt="2026-06-27T00:54:13.386" v="1"/>
          <ac:picMkLst>
            <pc:docMk/>
            <pc:sldMk cId="3763779569" sldId="289"/>
            <ac:picMk id="6" creationId="{D27E3022-DC2D-93EF-5C14-4B8E83124C0A}"/>
          </ac:picMkLst>
        </pc:picChg>
        <pc:picChg chg="add mod">
          <ac:chgData name="Monica Guadalupe Becerra Quiroz" userId="3f0ab3d9-73d5-4a96-ad75-906d0f222192" providerId="ADAL" clId="{14A85CE8-0E71-4838-BA5F-B8772D1D5B6B}" dt="2026-06-27T00:54:13.386" v="1"/>
          <ac:picMkLst>
            <pc:docMk/>
            <pc:sldMk cId="3763779569" sldId="289"/>
            <ac:picMk id="7" creationId="{64072485-F750-8AA2-FFDE-C274EB285958}"/>
          </ac:picMkLst>
        </pc:picChg>
        <pc:picChg chg="add mod">
          <ac:chgData name="Monica Guadalupe Becerra Quiroz" userId="3f0ab3d9-73d5-4a96-ad75-906d0f222192" providerId="ADAL" clId="{14A85CE8-0E71-4838-BA5F-B8772D1D5B6B}" dt="2026-06-27T00:54:13.386" v="1"/>
          <ac:picMkLst>
            <pc:docMk/>
            <pc:sldMk cId="3763779569" sldId="289"/>
            <ac:picMk id="8" creationId="{05DE4F93-9720-D51C-CC11-F65FF2E1268E}"/>
          </ac:picMkLst>
        </pc:picChg>
        <pc:picChg chg="add mod">
          <ac:chgData name="Monica Guadalupe Becerra Quiroz" userId="3f0ab3d9-73d5-4a96-ad75-906d0f222192" providerId="ADAL" clId="{14A85CE8-0E71-4838-BA5F-B8772D1D5B6B}" dt="2026-06-27T00:54:13.386" v="1"/>
          <ac:picMkLst>
            <pc:docMk/>
            <pc:sldMk cId="3763779569" sldId="289"/>
            <ac:picMk id="9" creationId="{B5537702-C34B-003E-A1C8-B11352BE3F5B}"/>
          </ac:picMkLst>
        </pc:picChg>
        <pc:picChg chg="add mod">
          <ac:chgData name="Monica Guadalupe Becerra Quiroz" userId="3f0ab3d9-73d5-4a96-ad75-906d0f222192" providerId="ADAL" clId="{14A85CE8-0E71-4838-BA5F-B8772D1D5B6B}" dt="2026-06-27T00:54:13.386" v="1"/>
          <ac:picMkLst>
            <pc:docMk/>
            <pc:sldMk cId="3763779569" sldId="289"/>
            <ac:picMk id="10" creationId="{96E32E1E-1F3F-116B-2EC3-7C82A33FEA29}"/>
          </ac:picMkLst>
        </pc:picChg>
        <pc:picChg chg="add mod">
          <ac:chgData name="Monica Guadalupe Becerra Quiroz" userId="3f0ab3d9-73d5-4a96-ad75-906d0f222192" providerId="ADAL" clId="{14A85CE8-0E71-4838-BA5F-B8772D1D5B6B}" dt="2026-06-27T00:54:13.386" v="1"/>
          <ac:picMkLst>
            <pc:docMk/>
            <pc:sldMk cId="3763779569" sldId="289"/>
            <ac:picMk id="11" creationId="{D94BE496-6A2D-5260-E0EE-4A89824C0BDB}"/>
          </ac:picMkLst>
        </pc:picChg>
        <pc:picChg chg="add mod">
          <ac:chgData name="Monica Guadalupe Becerra Quiroz" userId="3f0ab3d9-73d5-4a96-ad75-906d0f222192" providerId="ADAL" clId="{14A85CE8-0E71-4838-BA5F-B8772D1D5B6B}" dt="2026-06-27T00:54:13.386" v="1"/>
          <ac:picMkLst>
            <pc:docMk/>
            <pc:sldMk cId="3763779569" sldId="289"/>
            <ac:picMk id="12" creationId="{359E356C-195F-E290-FDD8-18A2361A24CD}"/>
          </ac:picMkLst>
        </pc:picChg>
        <pc:picChg chg="add mod">
          <ac:chgData name="Monica Guadalupe Becerra Quiroz" userId="3f0ab3d9-73d5-4a96-ad75-906d0f222192" providerId="ADAL" clId="{14A85CE8-0E71-4838-BA5F-B8772D1D5B6B}" dt="2026-06-27T00:54:13.386" v="1"/>
          <ac:picMkLst>
            <pc:docMk/>
            <pc:sldMk cId="3763779569" sldId="289"/>
            <ac:picMk id="13" creationId="{83233916-B809-D6DF-5887-6DB3B3F10E12}"/>
          </ac:picMkLst>
        </pc:picChg>
      </pc:sldChg>
      <pc:sldChg chg="modSp mod">
        <pc:chgData name="Monica Guadalupe Becerra Quiroz" userId="3f0ab3d9-73d5-4a96-ad75-906d0f222192" providerId="ADAL" clId="{14A85CE8-0E71-4838-BA5F-B8772D1D5B6B}" dt="2026-06-27T01:13:19.778" v="202" actId="14100"/>
        <pc:sldMkLst>
          <pc:docMk/>
          <pc:sldMk cId="3226513037" sldId="300"/>
        </pc:sldMkLst>
        <pc:spChg chg="mod">
          <ac:chgData name="Monica Guadalupe Becerra Quiroz" userId="3f0ab3d9-73d5-4a96-ad75-906d0f222192" providerId="ADAL" clId="{14A85CE8-0E71-4838-BA5F-B8772D1D5B6B}" dt="2026-06-27T01:13:16.081" v="201" actId="1076"/>
          <ac:spMkLst>
            <pc:docMk/>
            <pc:sldMk cId="3226513037" sldId="300"/>
            <ac:spMk id="7" creationId="{00000000-0000-0000-0000-000000000000}"/>
          </ac:spMkLst>
        </pc:spChg>
        <pc:spChg chg="mod">
          <ac:chgData name="Monica Guadalupe Becerra Quiroz" userId="3f0ab3d9-73d5-4a96-ad75-906d0f222192" providerId="ADAL" clId="{14A85CE8-0E71-4838-BA5F-B8772D1D5B6B}" dt="2026-06-27T01:12:43.800" v="191" actId="20577"/>
          <ac:spMkLst>
            <pc:docMk/>
            <pc:sldMk cId="3226513037" sldId="300"/>
            <ac:spMk id="10" creationId="{00000000-0000-0000-0000-000000000000}"/>
          </ac:spMkLst>
        </pc:spChg>
        <pc:graphicFrameChg chg="mod modGraphic">
          <ac:chgData name="Monica Guadalupe Becerra Quiroz" userId="3f0ab3d9-73d5-4a96-ad75-906d0f222192" providerId="ADAL" clId="{14A85CE8-0E71-4838-BA5F-B8772D1D5B6B}" dt="2026-06-27T01:13:07.950" v="199" actId="14100"/>
          <ac:graphicFrameMkLst>
            <pc:docMk/>
            <pc:sldMk cId="3226513037" sldId="300"/>
            <ac:graphicFrameMk id="9" creationId="{00000000-0000-0000-0000-000000000000}"/>
          </ac:graphicFrameMkLst>
        </pc:graphicFrameChg>
        <pc:picChg chg="mod">
          <ac:chgData name="Monica Guadalupe Becerra Quiroz" userId="3f0ab3d9-73d5-4a96-ad75-906d0f222192" providerId="ADAL" clId="{14A85CE8-0E71-4838-BA5F-B8772D1D5B6B}" dt="2026-06-27T01:13:19.778" v="202" actId="14100"/>
          <ac:picMkLst>
            <pc:docMk/>
            <pc:sldMk cId="3226513037" sldId="300"/>
            <ac:picMk id="6" creationId="{00000000-0000-0000-0000-000000000000}"/>
          </ac:picMkLst>
        </pc:picChg>
        <pc:cxnChg chg="mod">
          <ac:chgData name="Monica Guadalupe Becerra Quiroz" userId="3f0ab3d9-73d5-4a96-ad75-906d0f222192" providerId="ADAL" clId="{14A85CE8-0E71-4838-BA5F-B8772D1D5B6B}" dt="2026-06-27T01:13:12.563" v="200" actId="1076"/>
          <ac:cxnSpMkLst>
            <pc:docMk/>
            <pc:sldMk cId="3226513037" sldId="300"/>
            <ac:cxnSpMk id="8" creationId="{00000000-0000-0000-0000-000000000000}"/>
          </ac:cxnSpMkLst>
        </pc:cxnChg>
      </pc:sldChg>
      <pc:sldChg chg="modSp mod">
        <pc:chgData name="Monica Guadalupe Becerra Quiroz" userId="3f0ab3d9-73d5-4a96-ad75-906d0f222192" providerId="ADAL" clId="{14A85CE8-0E71-4838-BA5F-B8772D1D5B6B}" dt="2026-06-27T01:01:20.591" v="52" actId="1076"/>
        <pc:sldMkLst>
          <pc:docMk/>
          <pc:sldMk cId="0" sldId="303"/>
        </pc:sldMkLst>
        <pc:spChg chg="mod">
          <ac:chgData name="Monica Guadalupe Becerra Quiroz" userId="3f0ab3d9-73d5-4a96-ad75-906d0f222192" providerId="ADAL" clId="{14A85CE8-0E71-4838-BA5F-B8772D1D5B6B}" dt="2026-06-27T01:01:20.591" v="52" actId="1076"/>
          <ac:spMkLst>
            <pc:docMk/>
            <pc:sldMk cId="0" sldId="303"/>
            <ac:spMk id="10" creationId="{00000000-0000-0000-0000-000000000000}"/>
          </ac:spMkLst>
        </pc:spChg>
        <pc:spChg chg="mod">
          <ac:chgData name="Monica Guadalupe Becerra Quiroz" userId="3f0ab3d9-73d5-4a96-ad75-906d0f222192" providerId="ADAL" clId="{14A85CE8-0E71-4838-BA5F-B8772D1D5B6B}" dt="2026-06-27T01:01:17.379" v="51" actId="1076"/>
          <ac:spMkLst>
            <pc:docMk/>
            <pc:sldMk cId="0" sldId="303"/>
            <ac:spMk id="11" creationId="{00000000-0000-0000-0000-000000000000}"/>
          </ac:spMkLst>
        </pc:spChg>
        <pc:graphicFrameChg chg="mod">
          <ac:chgData name="Monica Guadalupe Becerra Quiroz" userId="3f0ab3d9-73d5-4a96-ad75-906d0f222192" providerId="ADAL" clId="{14A85CE8-0E71-4838-BA5F-B8772D1D5B6B}" dt="2026-06-27T01:01:14.575" v="50" actId="1076"/>
          <ac:graphicFrameMkLst>
            <pc:docMk/>
            <pc:sldMk cId="0" sldId="303"/>
            <ac:graphicFrameMk id="7" creationId="{00000000-0000-0000-0000-000000000000}"/>
          </ac:graphicFrameMkLst>
        </pc:graphicFrameChg>
      </pc:sldChg>
      <pc:sldChg chg="addSp modSp mod">
        <pc:chgData name="Monica Guadalupe Becerra Quiroz" userId="3f0ab3d9-73d5-4a96-ad75-906d0f222192" providerId="ADAL" clId="{14A85CE8-0E71-4838-BA5F-B8772D1D5B6B}" dt="2026-06-27T01:06:06.178" v="102" actId="14100"/>
        <pc:sldMkLst>
          <pc:docMk/>
          <pc:sldMk cId="0" sldId="311"/>
        </pc:sldMkLst>
        <pc:spChg chg="mod">
          <ac:chgData name="Monica Guadalupe Becerra Quiroz" userId="3f0ab3d9-73d5-4a96-ad75-906d0f222192" providerId="ADAL" clId="{14A85CE8-0E71-4838-BA5F-B8772D1D5B6B}" dt="2026-06-27T01:04:49.813" v="90" actId="20577"/>
          <ac:spMkLst>
            <pc:docMk/>
            <pc:sldMk cId="0" sldId="311"/>
            <ac:spMk id="3" creationId="{00000000-0000-0000-0000-000000000000}"/>
          </ac:spMkLst>
        </pc:spChg>
        <pc:graphicFrameChg chg="mod modGraphic">
          <ac:chgData name="Monica Guadalupe Becerra Quiroz" userId="3f0ab3d9-73d5-4a96-ad75-906d0f222192" providerId="ADAL" clId="{14A85CE8-0E71-4838-BA5F-B8772D1D5B6B}" dt="2026-06-27T01:05:34.272" v="96" actId="1036"/>
          <ac:graphicFrameMkLst>
            <pc:docMk/>
            <pc:sldMk cId="0" sldId="311"/>
            <ac:graphicFrameMk id="5" creationId="{00000000-0000-0000-0000-000000000000}"/>
          </ac:graphicFrameMkLst>
        </pc:graphicFrameChg>
        <pc:graphicFrameChg chg="add mod modGraphic">
          <ac:chgData name="Monica Guadalupe Becerra Quiroz" userId="3f0ab3d9-73d5-4a96-ad75-906d0f222192" providerId="ADAL" clId="{14A85CE8-0E71-4838-BA5F-B8772D1D5B6B}" dt="2026-06-27T01:06:06.178" v="102" actId="14100"/>
          <ac:graphicFrameMkLst>
            <pc:docMk/>
            <pc:sldMk cId="0" sldId="311"/>
            <ac:graphicFrameMk id="6" creationId="{00000000-0000-0000-0000-000000000000}"/>
          </ac:graphicFrameMkLst>
        </pc:graphicFrameChg>
        <pc:cxnChg chg="mod">
          <ac:chgData name="Monica Guadalupe Becerra Quiroz" userId="3f0ab3d9-73d5-4a96-ad75-906d0f222192" providerId="ADAL" clId="{14A85CE8-0E71-4838-BA5F-B8772D1D5B6B}" dt="2026-06-27T01:05:28.641" v="93" actId="1076"/>
          <ac:cxnSpMkLst>
            <pc:docMk/>
            <pc:sldMk cId="0" sldId="311"/>
            <ac:cxnSpMk id="4" creationId="{00000000-0000-0000-0000-000000000000}"/>
          </ac:cxnSpMkLst>
        </pc:cxnChg>
      </pc:sldChg>
      <pc:sldChg chg="modSp add mod">
        <pc:chgData name="Monica Guadalupe Becerra Quiroz" userId="3f0ab3d9-73d5-4a96-ad75-906d0f222192" providerId="ADAL" clId="{14A85CE8-0E71-4838-BA5F-B8772D1D5B6B}" dt="2026-06-29T18:56:08.139" v="274" actId="20577"/>
        <pc:sldMkLst>
          <pc:docMk/>
          <pc:sldMk cId="0" sldId="313"/>
        </pc:sldMkLst>
        <pc:spChg chg="mod">
          <ac:chgData name="Monica Guadalupe Becerra Quiroz" userId="3f0ab3d9-73d5-4a96-ad75-906d0f222192" providerId="ADAL" clId="{14A85CE8-0E71-4838-BA5F-B8772D1D5B6B}" dt="2026-06-29T18:56:08.139" v="274" actId="20577"/>
          <ac:spMkLst>
            <pc:docMk/>
            <pc:sldMk cId="0" sldId="313"/>
            <ac:spMk id="13" creationId="{00000000-0000-0000-0000-000000000000}"/>
          </ac:spMkLst>
        </pc:spChg>
      </pc:sldChg>
      <pc:sldChg chg="modSp add mod">
        <pc:chgData name="Monica Guadalupe Becerra Quiroz" userId="3f0ab3d9-73d5-4a96-ad75-906d0f222192" providerId="ADAL" clId="{14A85CE8-0E71-4838-BA5F-B8772D1D5B6B}" dt="2026-06-29T17:05:11.579" v="260" actId="20577"/>
        <pc:sldMkLst>
          <pc:docMk/>
          <pc:sldMk cId="0" sldId="314"/>
        </pc:sldMkLst>
        <pc:spChg chg="mod">
          <ac:chgData name="Monica Guadalupe Becerra Quiroz" userId="3f0ab3d9-73d5-4a96-ad75-906d0f222192" providerId="ADAL" clId="{14A85CE8-0E71-4838-BA5F-B8772D1D5B6B}" dt="2026-06-29T17:05:11.579" v="260" actId="20577"/>
          <ac:spMkLst>
            <pc:docMk/>
            <pc:sldMk cId="0" sldId="314"/>
            <ac:spMk id="7" creationId="{00000000-0000-0000-0000-000000000000}"/>
          </ac:spMkLst>
        </pc:spChg>
        <pc:graphicFrameChg chg="modGraphic">
          <ac:chgData name="Monica Guadalupe Becerra Quiroz" userId="3f0ab3d9-73d5-4a96-ad75-906d0f222192" providerId="ADAL" clId="{14A85CE8-0E71-4838-BA5F-B8772D1D5B6B}" dt="2026-06-29T17:02:51.672" v="250" actId="20577"/>
          <ac:graphicFrameMkLst>
            <pc:docMk/>
            <pc:sldMk cId="0" sldId="314"/>
            <ac:graphicFrameMk id="5" creationId="{00000000-0000-0000-0000-000000000000}"/>
          </ac:graphicFrameMkLst>
        </pc:graphicFrameChg>
        <pc:graphicFrameChg chg="modGraphic">
          <ac:chgData name="Monica Guadalupe Becerra Quiroz" userId="3f0ab3d9-73d5-4a96-ad75-906d0f222192" providerId="ADAL" clId="{14A85CE8-0E71-4838-BA5F-B8772D1D5B6B}" dt="2026-06-29T17:04:23.900" v="257" actId="20577"/>
          <ac:graphicFrameMkLst>
            <pc:docMk/>
            <pc:sldMk cId="0" sldId="314"/>
            <ac:graphicFrameMk id="6" creationId="{00000000-0000-0000-0000-000000000000}"/>
          </ac:graphicFrameMkLst>
        </pc:graphicFrameChg>
      </pc:sldChg>
      <pc:sldChg chg="modSp add mod">
        <pc:chgData name="Monica Guadalupe Becerra Quiroz" userId="3f0ab3d9-73d5-4a96-ad75-906d0f222192" providerId="ADAL" clId="{14A85CE8-0E71-4838-BA5F-B8772D1D5B6B}" dt="2026-06-29T17:08:41.306" v="271" actId="20577"/>
        <pc:sldMkLst>
          <pc:docMk/>
          <pc:sldMk cId="0" sldId="315"/>
        </pc:sldMkLst>
        <pc:spChg chg="mod">
          <ac:chgData name="Monica Guadalupe Becerra Quiroz" userId="3f0ab3d9-73d5-4a96-ad75-906d0f222192" providerId="ADAL" clId="{14A85CE8-0E71-4838-BA5F-B8772D1D5B6B}" dt="2026-06-27T00:58:56.091" v="35" actId="1076"/>
          <ac:spMkLst>
            <pc:docMk/>
            <pc:sldMk cId="0" sldId="315"/>
            <ac:spMk id="155" creationId="{00000000-0000-0000-0000-000000000000}"/>
          </ac:spMkLst>
        </pc:spChg>
        <pc:spChg chg="mod">
          <ac:chgData name="Monica Guadalupe Becerra Quiroz" userId="3f0ab3d9-73d5-4a96-ad75-906d0f222192" providerId="ADAL" clId="{14A85CE8-0E71-4838-BA5F-B8772D1D5B6B}" dt="2026-06-29T17:08:41.306" v="271" actId="20577"/>
          <ac:spMkLst>
            <pc:docMk/>
            <pc:sldMk cId="0" sldId="315"/>
            <ac:spMk id="156" creationId="{00000000-0000-0000-0000-000000000000}"/>
          </ac:spMkLst>
        </pc:spChg>
        <pc:graphicFrameChg chg="mod">
          <ac:chgData name="Monica Guadalupe Becerra Quiroz" userId="3f0ab3d9-73d5-4a96-ad75-906d0f222192" providerId="ADAL" clId="{14A85CE8-0E71-4838-BA5F-B8772D1D5B6B}" dt="2026-06-29T17:08:06.518" v="264" actId="1076"/>
          <ac:graphicFrameMkLst>
            <pc:docMk/>
            <pc:sldMk cId="0" sldId="315"/>
            <ac:graphicFrameMk id="5" creationId="{00000000-0000-0000-0000-000000000000}"/>
          </ac:graphicFrameMkLst>
        </pc:graphicFrameChg>
        <pc:graphicFrameChg chg="modGraphic">
          <ac:chgData name="Monica Guadalupe Becerra Quiroz" userId="3f0ab3d9-73d5-4a96-ad75-906d0f222192" providerId="ADAL" clId="{14A85CE8-0E71-4838-BA5F-B8772D1D5B6B}" dt="2026-06-29T17:08:11.240" v="266" actId="20577"/>
          <ac:graphicFrameMkLst>
            <pc:docMk/>
            <pc:sldMk cId="0" sldId="315"/>
            <ac:graphicFrameMk id="154" creationId="{00000000-0000-0000-0000-000000000000}"/>
          </ac:graphicFrameMkLst>
        </pc:graphicFrameChg>
      </pc:sldChg>
      <pc:sldChg chg="modSp add mod">
        <pc:chgData name="Monica Guadalupe Becerra Quiroz" userId="3f0ab3d9-73d5-4a96-ad75-906d0f222192" providerId="ADAL" clId="{14A85CE8-0E71-4838-BA5F-B8772D1D5B6B}" dt="2026-06-29T18:56:22.155" v="279" actId="20577"/>
        <pc:sldMkLst>
          <pc:docMk/>
          <pc:sldMk cId="421383312" sldId="317"/>
        </pc:sldMkLst>
        <pc:spChg chg="mod">
          <ac:chgData name="Monica Guadalupe Becerra Quiroz" userId="3f0ab3d9-73d5-4a96-ad75-906d0f222192" providerId="ADAL" clId="{14A85CE8-0E71-4838-BA5F-B8772D1D5B6B}" dt="2026-06-27T00:59:18.653" v="39" actId="1076"/>
          <ac:spMkLst>
            <pc:docMk/>
            <pc:sldMk cId="421383312" sldId="317"/>
            <ac:spMk id="155" creationId="{276ADA3E-71AB-8383-B99E-16F810E43C76}"/>
          </ac:spMkLst>
        </pc:spChg>
        <pc:spChg chg="mod">
          <ac:chgData name="Monica Guadalupe Becerra Quiroz" userId="3f0ab3d9-73d5-4a96-ad75-906d0f222192" providerId="ADAL" clId="{14A85CE8-0E71-4838-BA5F-B8772D1D5B6B}" dt="2026-06-29T18:56:22.155" v="279" actId="20577"/>
          <ac:spMkLst>
            <pc:docMk/>
            <pc:sldMk cId="421383312" sldId="317"/>
            <ac:spMk id="156" creationId="{64CC6D0D-C61B-E7DD-F816-23EF9B1D4E73}"/>
          </ac:spMkLst>
        </pc:spChg>
      </pc:sldChg>
      <pc:sldChg chg="add">
        <pc:chgData name="Monica Guadalupe Becerra Quiroz" userId="3f0ab3d9-73d5-4a96-ad75-906d0f222192" providerId="ADAL" clId="{14A85CE8-0E71-4838-BA5F-B8772D1D5B6B}" dt="2026-06-27T01:03:25.359" v="70"/>
        <pc:sldMkLst>
          <pc:docMk/>
          <pc:sldMk cId="0" sldId="318"/>
        </pc:sldMkLst>
      </pc:sldChg>
      <pc:sldChg chg="add">
        <pc:chgData name="Monica Guadalupe Becerra Quiroz" userId="3f0ab3d9-73d5-4a96-ad75-906d0f222192" providerId="ADAL" clId="{14A85CE8-0E71-4838-BA5F-B8772D1D5B6B}" dt="2026-06-27T01:03:25.359" v="70"/>
        <pc:sldMkLst>
          <pc:docMk/>
          <pc:sldMk cId="0" sldId="319"/>
        </pc:sldMkLst>
      </pc:sldChg>
      <pc:sldChg chg="add">
        <pc:chgData name="Monica Guadalupe Becerra Quiroz" userId="3f0ab3d9-73d5-4a96-ad75-906d0f222192" providerId="ADAL" clId="{14A85CE8-0E71-4838-BA5F-B8772D1D5B6B}" dt="2026-06-27T01:03:25.359" v="70"/>
        <pc:sldMkLst>
          <pc:docMk/>
          <pc:sldMk cId="0" sldId="320"/>
        </pc:sldMkLst>
      </pc:sldChg>
      <pc:sldChg chg="add">
        <pc:chgData name="Monica Guadalupe Becerra Quiroz" userId="3f0ab3d9-73d5-4a96-ad75-906d0f222192" providerId="ADAL" clId="{14A85CE8-0E71-4838-BA5F-B8772D1D5B6B}" dt="2026-06-27T01:03:25.359" v="70"/>
        <pc:sldMkLst>
          <pc:docMk/>
          <pc:sldMk cId="0" sldId="321"/>
        </pc:sldMkLst>
      </pc:sldChg>
      <pc:sldChg chg="add">
        <pc:chgData name="Monica Guadalupe Becerra Quiroz" userId="3f0ab3d9-73d5-4a96-ad75-906d0f222192" providerId="ADAL" clId="{14A85CE8-0E71-4838-BA5F-B8772D1D5B6B}" dt="2026-06-27T01:03:25.359" v="70"/>
        <pc:sldMkLst>
          <pc:docMk/>
          <pc:sldMk cId="0" sldId="322"/>
        </pc:sldMkLst>
      </pc:sldChg>
      <pc:sldChg chg="add">
        <pc:chgData name="Monica Guadalupe Becerra Quiroz" userId="3f0ab3d9-73d5-4a96-ad75-906d0f222192" providerId="ADAL" clId="{14A85CE8-0E71-4838-BA5F-B8772D1D5B6B}" dt="2026-06-27T01:03:25.359" v="70"/>
        <pc:sldMkLst>
          <pc:docMk/>
          <pc:sldMk cId="0" sldId="323"/>
        </pc:sldMkLst>
      </pc:sldChg>
      <pc:sldChg chg="add">
        <pc:chgData name="Monica Guadalupe Becerra Quiroz" userId="3f0ab3d9-73d5-4a96-ad75-906d0f222192" providerId="ADAL" clId="{14A85CE8-0E71-4838-BA5F-B8772D1D5B6B}" dt="2026-06-27T01:14:12.045" v="205"/>
        <pc:sldMkLst>
          <pc:docMk/>
          <pc:sldMk cId="1620064088" sldId="324"/>
        </pc:sldMkLst>
      </pc:sldChg>
      <pc:sldChg chg="add">
        <pc:chgData name="Monica Guadalupe Becerra Quiroz" userId="3f0ab3d9-73d5-4a96-ad75-906d0f222192" providerId="ADAL" clId="{14A85CE8-0E71-4838-BA5F-B8772D1D5B6B}" dt="2026-06-27T01:14:12.045" v="205"/>
        <pc:sldMkLst>
          <pc:docMk/>
          <pc:sldMk cId="225107526" sldId="325"/>
        </pc:sldMkLst>
      </pc:sldChg>
      <pc:sldChg chg="add del setBg">
        <pc:chgData name="Monica Guadalupe Becerra Quiroz" userId="3f0ab3d9-73d5-4a96-ad75-906d0f222192" providerId="ADAL" clId="{14A85CE8-0E71-4838-BA5F-B8772D1D5B6B}" dt="2026-06-27T01:14:12.045" v="205"/>
        <pc:sldMkLst>
          <pc:docMk/>
          <pc:sldMk cId="0" sldId="326"/>
        </pc:sldMkLst>
      </pc:sldChg>
    </pc:docChg>
  </pc:docChgLst>
  <pc:docChgLst>
    <pc:chgData name="Laura Patricia Galvan Chavez" userId="S::laura.galvan@imss.gob.mx::6b13af50-ce8b-483e-8fc4-f994efaf3289" providerId="AD" clId="Web-{4D26420A-9EAC-7332-7556-2BD628DDA89F}"/>
    <pc:docChg chg="modSld">
      <pc:chgData name="Laura Patricia Galvan Chavez" userId="S::laura.galvan@imss.gob.mx::6b13af50-ce8b-483e-8fc4-f994efaf3289" providerId="AD" clId="Web-{4D26420A-9EAC-7332-7556-2BD628DDA89F}" dt="2026-06-23T20:34:41.870" v="22" actId="14100"/>
      <pc:docMkLst>
        <pc:docMk/>
      </pc:docMkLst>
    </pc:docChg>
  </pc:docChgLst>
  <pc:docChgLst>
    <pc:chgData name="Laura Patricia Galvan Chavez" userId="6b13af50-ce8b-483e-8fc4-f994efaf3289" providerId="ADAL" clId="{655D084B-7DF1-4C24-9447-417D7DC498B8}"/>
    <pc:docChg chg="modSld">
      <pc:chgData name="Laura Patricia Galvan Chavez" userId="6b13af50-ce8b-483e-8fc4-f994efaf3289" providerId="ADAL" clId="{655D084B-7DF1-4C24-9447-417D7DC498B8}" dt="2026-07-03T19:22:49.953" v="59" actId="113"/>
      <pc:docMkLst>
        <pc:docMk/>
      </pc:docMkLst>
      <pc:sldChg chg="modSp mod">
        <pc:chgData name="Laura Patricia Galvan Chavez" userId="6b13af50-ce8b-483e-8fc4-f994efaf3289" providerId="ADAL" clId="{655D084B-7DF1-4C24-9447-417D7DC498B8}" dt="2026-06-29T19:24:37.352" v="24" actId="20577"/>
        <pc:sldMkLst>
          <pc:docMk/>
          <pc:sldMk cId="0" sldId="262"/>
        </pc:sldMkLst>
        <pc:spChg chg="mod">
          <ac:chgData name="Laura Patricia Galvan Chavez" userId="6b13af50-ce8b-483e-8fc4-f994efaf3289" providerId="ADAL" clId="{655D084B-7DF1-4C24-9447-417D7DC498B8}" dt="2026-06-29T19:24:37.352" v="24" actId="20577"/>
          <ac:spMkLst>
            <pc:docMk/>
            <pc:sldMk cId="0" sldId="262"/>
            <ac:spMk id="4" creationId="{00000000-0000-0000-0000-000000000000}"/>
          </ac:spMkLst>
        </pc:spChg>
      </pc:sldChg>
      <pc:sldChg chg="modSp mod">
        <pc:chgData name="Laura Patricia Galvan Chavez" userId="6b13af50-ce8b-483e-8fc4-f994efaf3289" providerId="ADAL" clId="{655D084B-7DF1-4C24-9447-417D7DC498B8}" dt="2026-06-29T19:25:18.611" v="37" actId="14100"/>
        <pc:sldMkLst>
          <pc:docMk/>
          <pc:sldMk cId="0" sldId="263"/>
        </pc:sldMkLst>
        <pc:spChg chg="mod">
          <ac:chgData name="Laura Patricia Galvan Chavez" userId="6b13af50-ce8b-483e-8fc4-f994efaf3289" providerId="ADAL" clId="{655D084B-7DF1-4C24-9447-417D7DC498B8}" dt="2026-06-29T19:25:16.105" v="36" actId="1076"/>
          <ac:spMkLst>
            <pc:docMk/>
            <pc:sldMk cId="0" sldId="263"/>
            <ac:spMk id="296" creationId="{E538A53A-A982-4EE0-E633-CCC69C4FB7AB}"/>
          </ac:spMkLst>
        </pc:spChg>
        <pc:spChg chg="mod">
          <ac:chgData name="Laura Patricia Galvan Chavez" userId="6b13af50-ce8b-483e-8fc4-f994efaf3289" providerId="ADAL" clId="{655D084B-7DF1-4C24-9447-417D7DC498B8}" dt="2026-06-29T19:25:16.105" v="36" actId="1076"/>
          <ac:spMkLst>
            <pc:docMk/>
            <pc:sldMk cId="0" sldId="263"/>
            <ac:spMk id="297" creationId="{D6E01CA8-B30C-49C0-BE16-BCECE1F6C67E}"/>
          </ac:spMkLst>
        </pc:spChg>
        <pc:spChg chg="mod">
          <ac:chgData name="Laura Patricia Galvan Chavez" userId="6b13af50-ce8b-483e-8fc4-f994efaf3289" providerId="ADAL" clId="{655D084B-7DF1-4C24-9447-417D7DC498B8}" dt="2026-06-29T19:25:16.105" v="36" actId="1076"/>
          <ac:spMkLst>
            <pc:docMk/>
            <pc:sldMk cId="0" sldId="263"/>
            <ac:spMk id="304" creationId="{00000000-0000-0000-0000-000000000000}"/>
          </ac:spMkLst>
        </pc:spChg>
        <pc:spChg chg="mod">
          <ac:chgData name="Laura Patricia Galvan Chavez" userId="6b13af50-ce8b-483e-8fc4-f994efaf3289" providerId="ADAL" clId="{655D084B-7DF1-4C24-9447-417D7DC498B8}" dt="2026-06-29T19:25:16.105" v="36" actId="1076"/>
          <ac:spMkLst>
            <pc:docMk/>
            <pc:sldMk cId="0" sldId="263"/>
            <ac:spMk id="307" creationId="{00000000-0000-0000-0000-000000000000}"/>
          </ac:spMkLst>
        </pc:spChg>
        <pc:graphicFrameChg chg="modGraphic">
          <ac:chgData name="Laura Patricia Galvan Chavez" userId="6b13af50-ce8b-483e-8fc4-f994efaf3289" providerId="ADAL" clId="{655D084B-7DF1-4C24-9447-417D7DC498B8}" dt="2026-06-29T19:25:18.611" v="37" actId="14100"/>
          <ac:graphicFrameMkLst>
            <pc:docMk/>
            <pc:sldMk cId="0" sldId="263"/>
            <ac:graphicFrameMk id="305" creationId="{00000000-0000-0000-0000-000000000000}"/>
          </ac:graphicFrameMkLst>
        </pc:graphicFrameChg>
        <pc:graphicFrameChg chg="mod">
          <ac:chgData name="Laura Patricia Galvan Chavez" userId="6b13af50-ce8b-483e-8fc4-f994efaf3289" providerId="ADAL" clId="{655D084B-7DF1-4C24-9447-417D7DC498B8}" dt="2026-06-29T19:25:16.105" v="36" actId="1076"/>
          <ac:graphicFrameMkLst>
            <pc:docMk/>
            <pc:sldMk cId="0" sldId="263"/>
            <ac:graphicFrameMk id="306" creationId="{00000000-0000-0000-0000-000000000000}"/>
          </ac:graphicFrameMkLst>
        </pc:graphicFrameChg>
      </pc:sldChg>
      <pc:sldChg chg="modSp mod">
        <pc:chgData name="Laura Patricia Galvan Chavez" userId="6b13af50-ce8b-483e-8fc4-f994efaf3289" providerId="ADAL" clId="{655D084B-7DF1-4C24-9447-417D7DC498B8}" dt="2026-06-29T19:25:32.352" v="38" actId="1076"/>
        <pc:sldMkLst>
          <pc:docMk/>
          <pc:sldMk cId="0" sldId="267"/>
        </pc:sldMkLst>
        <pc:spChg chg="mod">
          <ac:chgData name="Laura Patricia Galvan Chavez" userId="6b13af50-ce8b-483e-8fc4-f994efaf3289" providerId="ADAL" clId="{655D084B-7DF1-4C24-9447-417D7DC498B8}" dt="2026-06-29T19:25:32.352" v="38" actId="1076"/>
          <ac:spMkLst>
            <pc:docMk/>
            <pc:sldMk cId="0" sldId="267"/>
            <ac:spMk id="236" creationId="{00000000-0000-0000-0000-000000000000}"/>
          </ac:spMkLst>
        </pc:spChg>
      </pc:sldChg>
      <pc:sldChg chg="modSp mod">
        <pc:chgData name="Laura Patricia Galvan Chavez" userId="6b13af50-ce8b-483e-8fc4-f994efaf3289" providerId="ADAL" clId="{655D084B-7DF1-4C24-9447-417D7DC498B8}" dt="2026-06-29T19:26:51.270" v="51" actId="20577"/>
        <pc:sldMkLst>
          <pc:docMk/>
          <pc:sldMk cId="0" sldId="279"/>
        </pc:sldMkLst>
        <pc:graphicFrameChg chg="modGraphic">
          <ac:chgData name="Laura Patricia Galvan Chavez" userId="6b13af50-ce8b-483e-8fc4-f994efaf3289" providerId="ADAL" clId="{655D084B-7DF1-4C24-9447-417D7DC498B8}" dt="2026-06-29T19:26:51.270" v="51" actId="20577"/>
          <ac:graphicFrameMkLst>
            <pc:docMk/>
            <pc:sldMk cId="0" sldId="279"/>
            <ac:graphicFrameMk id="514" creationId="{00000000-0000-0000-0000-000000000000}"/>
          </ac:graphicFrameMkLst>
        </pc:graphicFrameChg>
      </pc:sldChg>
      <pc:sldChg chg="modSp mod">
        <pc:chgData name="Laura Patricia Galvan Chavez" userId="6b13af50-ce8b-483e-8fc4-f994efaf3289" providerId="ADAL" clId="{655D084B-7DF1-4C24-9447-417D7DC498B8}" dt="2026-06-29T19:23:46.970" v="15" actId="20577"/>
        <pc:sldMkLst>
          <pc:docMk/>
          <pc:sldMk cId="3763779569" sldId="289"/>
        </pc:sldMkLst>
        <pc:graphicFrameChg chg="modGraphic">
          <ac:chgData name="Laura Patricia Galvan Chavez" userId="6b13af50-ce8b-483e-8fc4-f994efaf3289" providerId="ADAL" clId="{655D084B-7DF1-4C24-9447-417D7DC498B8}" dt="2026-06-29T19:23:46.970" v="15" actId="20577"/>
          <ac:graphicFrameMkLst>
            <pc:docMk/>
            <pc:sldMk cId="3763779569" sldId="289"/>
            <ac:graphicFrameMk id="4" creationId="{4094822C-4E3C-5D91-0659-9453E5E45585}"/>
          </ac:graphicFrameMkLst>
        </pc:graphicFrameChg>
      </pc:sldChg>
      <pc:sldChg chg="modSp mod">
        <pc:chgData name="Laura Patricia Galvan Chavez" userId="6b13af50-ce8b-483e-8fc4-f994efaf3289" providerId="ADAL" clId="{655D084B-7DF1-4C24-9447-417D7DC498B8}" dt="2026-06-29T19:25:06.710" v="35" actId="14100"/>
        <pc:sldMkLst>
          <pc:docMk/>
          <pc:sldMk cId="0" sldId="303"/>
        </pc:sldMkLst>
        <pc:spChg chg="mod">
          <ac:chgData name="Laura Patricia Galvan Chavez" userId="6b13af50-ce8b-483e-8fc4-f994efaf3289" providerId="ADAL" clId="{655D084B-7DF1-4C24-9447-417D7DC498B8}" dt="2026-06-29T19:24:46.770" v="33" actId="20577"/>
          <ac:spMkLst>
            <pc:docMk/>
            <pc:sldMk cId="0" sldId="303"/>
            <ac:spMk id="4" creationId="{00000000-0000-0000-0000-000000000000}"/>
          </ac:spMkLst>
        </pc:spChg>
        <pc:spChg chg="mod">
          <ac:chgData name="Laura Patricia Galvan Chavez" userId="6b13af50-ce8b-483e-8fc4-f994efaf3289" providerId="ADAL" clId="{655D084B-7DF1-4C24-9447-417D7DC498B8}" dt="2026-06-29T19:25:02.265" v="34" actId="1076"/>
          <ac:spMkLst>
            <pc:docMk/>
            <pc:sldMk cId="0" sldId="303"/>
            <ac:spMk id="9" creationId="{00000000-0000-0000-0000-000000000000}"/>
          </ac:spMkLst>
        </pc:spChg>
        <pc:spChg chg="mod">
          <ac:chgData name="Laura Patricia Galvan Chavez" userId="6b13af50-ce8b-483e-8fc4-f994efaf3289" providerId="ADAL" clId="{655D084B-7DF1-4C24-9447-417D7DC498B8}" dt="2026-06-29T19:25:02.265" v="34" actId="1076"/>
          <ac:spMkLst>
            <pc:docMk/>
            <pc:sldMk cId="0" sldId="303"/>
            <ac:spMk id="10" creationId="{00000000-0000-0000-0000-000000000000}"/>
          </ac:spMkLst>
        </pc:spChg>
        <pc:spChg chg="mod">
          <ac:chgData name="Laura Patricia Galvan Chavez" userId="6b13af50-ce8b-483e-8fc4-f994efaf3289" providerId="ADAL" clId="{655D084B-7DF1-4C24-9447-417D7DC498B8}" dt="2026-06-29T19:25:02.265" v="34" actId="1076"/>
          <ac:spMkLst>
            <pc:docMk/>
            <pc:sldMk cId="0" sldId="303"/>
            <ac:spMk id="11" creationId="{00000000-0000-0000-0000-000000000000}"/>
          </ac:spMkLst>
        </pc:spChg>
        <pc:graphicFrameChg chg="modGraphic">
          <ac:chgData name="Laura Patricia Galvan Chavez" userId="6b13af50-ce8b-483e-8fc4-f994efaf3289" providerId="ADAL" clId="{655D084B-7DF1-4C24-9447-417D7DC498B8}" dt="2026-06-29T19:25:06.710" v="35" actId="14100"/>
          <ac:graphicFrameMkLst>
            <pc:docMk/>
            <pc:sldMk cId="0" sldId="303"/>
            <ac:graphicFrameMk id="7" creationId="{00000000-0000-0000-0000-000000000000}"/>
          </ac:graphicFrameMkLst>
        </pc:graphicFrameChg>
        <pc:graphicFrameChg chg="mod">
          <ac:chgData name="Laura Patricia Galvan Chavez" userId="6b13af50-ce8b-483e-8fc4-f994efaf3289" providerId="ADAL" clId="{655D084B-7DF1-4C24-9447-417D7DC498B8}" dt="2026-06-29T19:25:02.265" v="34" actId="1076"/>
          <ac:graphicFrameMkLst>
            <pc:docMk/>
            <pc:sldMk cId="0" sldId="303"/>
            <ac:graphicFrameMk id="8" creationId="{00000000-0000-0000-0000-000000000000}"/>
          </ac:graphicFrameMkLst>
        </pc:graphicFrameChg>
      </pc:sldChg>
      <pc:sldChg chg="modSp mod">
        <pc:chgData name="Laura Patricia Galvan Chavez" userId="6b13af50-ce8b-483e-8fc4-f994efaf3289" providerId="ADAL" clId="{655D084B-7DF1-4C24-9447-417D7DC498B8}" dt="2026-07-03T19:14:35.946" v="52" actId="14734"/>
        <pc:sldMkLst>
          <pc:docMk/>
          <pc:sldMk cId="0" sldId="314"/>
        </pc:sldMkLst>
        <pc:graphicFrameChg chg="modGraphic">
          <ac:chgData name="Laura Patricia Galvan Chavez" userId="6b13af50-ce8b-483e-8fc4-f994efaf3289" providerId="ADAL" clId="{655D084B-7DF1-4C24-9447-417D7DC498B8}" dt="2026-07-03T19:14:35.946" v="52" actId="14734"/>
          <ac:graphicFrameMkLst>
            <pc:docMk/>
            <pc:sldMk cId="0" sldId="314"/>
            <ac:graphicFrameMk id="5" creationId="{00000000-0000-0000-0000-000000000000}"/>
          </ac:graphicFrameMkLst>
        </pc:graphicFrameChg>
      </pc:sldChg>
      <pc:sldChg chg="modSp mod">
        <pc:chgData name="Laura Patricia Galvan Chavez" userId="6b13af50-ce8b-483e-8fc4-f994efaf3289" providerId="ADAL" clId="{655D084B-7DF1-4C24-9447-417D7DC498B8}" dt="2026-07-03T19:17:04.471" v="54" actId="20577"/>
        <pc:sldMkLst>
          <pc:docMk/>
          <pc:sldMk cId="0" sldId="315"/>
        </pc:sldMkLst>
        <pc:graphicFrameChg chg="modGraphic">
          <ac:chgData name="Laura Patricia Galvan Chavez" userId="6b13af50-ce8b-483e-8fc4-f994efaf3289" providerId="ADAL" clId="{655D084B-7DF1-4C24-9447-417D7DC498B8}" dt="2026-07-03T19:17:04.471" v="54" actId="20577"/>
          <ac:graphicFrameMkLst>
            <pc:docMk/>
            <pc:sldMk cId="0" sldId="315"/>
            <ac:graphicFrameMk id="5" creationId="{00000000-0000-0000-0000-000000000000}"/>
          </ac:graphicFrameMkLst>
        </pc:graphicFrameChg>
      </pc:sldChg>
      <pc:sldChg chg="modSp mod">
        <pc:chgData name="Laura Patricia Galvan Chavez" userId="6b13af50-ce8b-483e-8fc4-f994efaf3289" providerId="ADAL" clId="{655D084B-7DF1-4C24-9447-417D7DC498B8}" dt="2026-06-29T19:26:01.159" v="41"/>
        <pc:sldMkLst>
          <pc:docMk/>
          <pc:sldMk cId="0" sldId="321"/>
        </pc:sldMkLst>
        <pc:spChg chg="mod">
          <ac:chgData name="Laura Patricia Galvan Chavez" userId="6b13af50-ce8b-483e-8fc4-f994efaf3289" providerId="ADAL" clId="{655D084B-7DF1-4C24-9447-417D7DC498B8}" dt="2026-06-29T19:26:01.159" v="41"/>
          <ac:spMkLst>
            <pc:docMk/>
            <pc:sldMk cId="0" sldId="321"/>
            <ac:spMk id="4" creationId="{00000000-0000-0000-0000-000000000000}"/>
          </ac:spMkLst>
        </pc:spChg>
        <pc:spChg chg="mod">
          <ac:chgData name="Laura Patricia Galvan Chavez" userId="6b13af50-ce8b-483e-8fc4-f994efaf3289" providerId="ADAL" clId="{655D084B-7DF1-4C24-9447-417D7DC498B8}" dt="2026-06-29T19:25:56.510" v="39" actId="21"/>
          <ac:spMkLst>
            <pc:docMk/>
            <pc:sldMk cId="0" sldId="321"/>
            <ac:spMk id="7" creationId="{00000000-0000-0000-0000-000000000000}"/>
          </ac:spMkLst>
        </pc:spChg>
      </pc:sldChg>
      <pc:sldChg chg="modSp mod">
        <pc:chgData name="Laura Patricia Galvan Chavez" userId="6b13af50-ce8b-483e-8fc4-f994efaf3289" providerId="ADAL" clId="{655D084B-7DF1-4C24-9447-417D7DC498B8}" dt="2026-07-03T19:18:15.231" v="56" actId="20577"/>
        <pc:sldMkLst>
          <pc:docMk/>
          <pc:sldMk cId="0" sldId="323"/>
        </pc:sldMkLst>
        <pc:spChg chg="mod">
          <ac:chgData name="Laura Patricia Galvan Chavez" userId="6b13af50-ce8b-483e-8fc4-f994efaf3289" providerId="ADAL" clId="{655D084B-7DF1-4C24-9447-417D7DC498B8}" dt="2026-07-03T19:18:15.231" v="56" actId="20577"/>
          <ac:spMkLst>
            <pc:docMk/>
            <pc:sldMk cId="0" sldId="323"/>
            <ac:spMk id="4" creationId="{00000000-0000-0000-0000-000000000000}"/>
          </ac:spMkLst>
        </pc:spChg>
      </pc:sldChg>
      <pc:sldChg chg="modSp mod">
        <pc:chgData name="Laura Patricia Galvan Chavez" userId="6b13af50-ce8b-483e-8fc4-f994efaf3289" providerId="ADAL" clId="{655D084B-7DF1-4C24-9447-417D7DC498B8}" dt="2026-07-03T19:21:35.346" v="58" actId="113"/>
        <pc:sldMkLst>
          <pc:docMk/>
          <pc:sldMk cId="1620064088" sldId="324"/>
        </pc:sldMkLst>
        <pc:graphicFrameChg chg="modGraphic">
          <ac:chgData name="Laura Patricia Galvan Chavez" userId="6b13af50-ce8b-483e-8fc4-f994efaf3289" providerId="ADAL" clId="{655D084B-7DF1-4C24-9447-417D7DC498B8}" dt="2026-07-03T19:21:31.781" v="57" actId="113"/>
          <ac:graphicFrameMkLst>
            <pc:docMk/>
            <pc:sldMk cId="1620064088" sldId="324"/>
            <ac:graphicFrameMk id="19" creationId="{00000000-0000-0000-0000-000000000000}"/>
          </ac:graphicFrameMkLst>
        </pc:graphicFrameChg>
        <pc:graphicFrameChg chg="modGraphic">
          <ac:chgData name="Laura Patricia Galvan Chavez" userId="6b13af50-ce8b-483e-8fc4-f994efaf3289" providerId="ADAL" clId="{655D084B-7DF1-4C24-9447-417D7DC498B8}" dt="2026-07-03T19:21:35.346" v="58" actId="113"/>
          <ac:graphicFrameMkLst>
            <pc:docMk/>
            <pc:sldMk cId="1620064088" sldId="324"/>
            <ac:graphicFrameMk id="20" creationId="{00000000-0000-0000-0000-000000000000}"/>
          </ac:graphicFrameMkLst>
        </pc:graphicFrameChg>
      </pc:sldChg>
      <pc:sldChg chg="modSp mod">
        <pc:chgData name="Laura Patricia Galvan Chavez" userId="6b13af50-ce8b-483e-8fc4-f994efaf3289" providerId="ADAL" clId="{655D084B-7DF1-4C24-9447-417D7DC498B8}" dt="2026-07-03T19:22:49.953" v="59" actId="113"/>
        <pc:sldMkLst>
          <pc:docMk/>
          <pc:sldMk cId="225107526" sldId="325"/>
        </pc:sldMkLst>
        <pc:graphicFrameChg chg="modGraphic">
          <ac:chgData name="Laura Patricia Galvan Chavez" userId="6b13af50-ce8b-483e-8fc4-f994efaf3289" providerId="ADAL" clId="{655D084B-7DF1-4C24-9447-417D7DC498B8}" dt="2026-07-03T19:22:49.953" v="59" actId="113"/>
          <ac:graphicFrameMkLst>
            <pc:docMk/>
            <pc:sldMk cId="225107526" sldId="325"/>
            <ac:graphicFrameMk id="13" creationId="{00000000-0000-0000-0000-000000000000}"/>
          </ac:graphicFrameMkLst>
        </pc:graphicFrame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7:09.827" v="2" actId="22"/>
      <pc:docMkLst>
        <pc:docMk/>
      </pc:docMkLst>
      <pc:sldChg chg="addSp delSp mod">
        <pc:chgData name="Rohan Myron Oprisko" userId="a7c52ab4-f8b1-4d15-aaf6-6388cc510347" providerId="ADAL" clId="{97C26823-81C0-4343-94EC-E87AB1317939}" dt="2026-06-24T15:57:09.827" v="2" actId="22"/>
        <pc:sldMkLst>
          <pc:docMk/>
          <pc:sldMk cId="748044913" sldId="287"/>
        </pc:sldMkLst>
        <pc:spChg chg="add">
          <ac:chgData name="Rohan Myron Oprisko" userId="a7c52ab4-f8b1-4d15-aaf6-6388cc510347" providerId="ADAL" clId="{97C26823-81C0-4343-94EC-E87AB1317939}" dt="2026-06-24T15:57:09.827" v="2" actId="22"/>
          <ac:spMkLst>
            <pc:docMk/>
            <pc:sldMk cId="748044913" sldId="287"/>
            <ac:spMk id="10" creationId="{81F6C6CF-1251-54A2-14E5-0F65C2C861CF}"/>
          </ac:spMkLst>
        </pc:spChg>
        <pc:spChg chg="add">
          <ac:chgData name="Rohan Myron Oprisko" userId="a7c52ab4-f8b1-4d15-aaf6-6388cc510347" providerId="ADAL" clId="{97C26823-81C0-4343-94EC-E87AB1317939}" dt="2026-06-24T15:57:09.827" v="2" actId="22"/>
          <ac:spMkLst>
            <pc:docMk/>
            <pc:sldMk cId="748044913" sldId="287"/>
            <ac:spMk id="12" creationId="{E4353610-6054-EA45-7653-DBA32A8BCDC4}"/>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98CB-45CC-92C7-F3A3EC911B4C}"/>
              </c:ext>
            </c:extLst>
          </c:dPt>
          <c:dPt>
            <c:idx val="1"/>
            <c:bubble3D val="0"/>
            <c:spPr>
              <a:solidFill>
                <a:srgbClr val="691C32"/>
              </a:solidFill>
            </c:spPr>
            <c:extLst>
              <c:ext xmlns:c16="http://schemas.microsoft.com/office/drawing/2014/chart" uri="{C3380CC4-5D6E-409C-BE32-E72D297353CC}">
                <c16:uniqueId val="{00000003-98CB-45CC-92C7-F3A3EC911B4C}"/>
              </c:ext>
            </c:extLst>
          </c:dPt>
          <c:dPt>
            <c:idx val="2"/>
            <c:bubble3D val="0"/>
            <c:spPr>
              <a:solidFill>
                <a:srgbClr val="BC955C"/>
              </a:solidFill>
            </c:spPr>
            <c:extLst>
              <c:ext xmlns:c16="http://schemas.microsoft.com/office/drawing/2014/chart" uri="{C3380CC4-5D6E-409C-BE32-E72D297353CC}">
                <c16:uniqueId val="{00000005-98CB-45CC-92C7-F3A3EC911B4C}"/>
              </c:ext>
            </c:extLst>
          </c:dPt>
          <c:dPt>
            <c:idx val="3"/>
            <c:bubble3D val="0"/>
            <c:spPr>
              <a:solidFill>
                <a:srgbClr val="9E9E9E"/>
              </a:solidFill>
            </c:spPr>
            <c:extLst>
              <c:ext xmlns:c16="http://schemas.microsoft.com/office/drawing/2014/chart" uri="{C3380CC4-5D6E-409C-BE32-E72D297353CC}">
                <c16:uniqueId val="{00000007-98CB-45CC-92C7-F3A3EC911B4C}"/>
              </c:ext>
            </c:extLst>
          </c:dPt>
          <c:cat>
            <c:strRef>
              <c:f>Sheet1!$A$2:$A$5</c:f>
              <c:strCache>
                <c:ptCount val="4"/>
                <c:pt idx="0">
                  <c:v>IMSS</c:v>
                </c:pt>
                <c:pt idx="1">
                  <c:v>ISSSTE</c:v>
                </c:pt>
                <c:pt idx="2">
                  <c:v>IMSS-BIENESTAR</c:v>
                </c:pt>
                <c:pt idx="3">
                  <c:v>Otros</c:v>
                </c:pt>
              </c:strCache>
            </c:strRef>
          </c:cat>
          <c:val>
            <c:numRef>
              <c:f>Sheet1!$B$2:$B$5</c:f>
              <c:numCache>
                <c:formatCode>General</c:formatCode>
                <c:ptCount val="4"/>
                <c:pt idx="0">
                  <c:v>2026753</c:v>
                </c:pt>
                <c:pt idx="1">
                  <c:v>295070</c:v>
                </c:pt>
                <c:pt idx="2">
                  <c:v>837440</c:v>
                </c:pt>
                <c:pt idx="3">
                  <c:v>9361</c:v>
                </c:pt>
              </c:numCache>
            </c:numRef>
          </c:val>
          <c:extLst>
            <c:ext xmlns:c16="http://schemas.microsoft.com/office/drawing/2014/chart" uri="{C3380CC4-5D6E-409C-BE32-E72D297353CC}">
              <c16:uniqueId val="{00000008-98CB-45CC-92C7-F3A3EC911B4C}"/>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9864-4959-9244-74CD20201E9F}"/>
              </c:ext>
            </c:extLst>
          </c:dPt>
          <c:dPt>
            <c:idx val="1"/>
            <c:bubble3D val="0"/>
            <c:spPr>
              <a:solidFill>
                <a:srgbClr val="EBE0D2"/>
              </a:solidFill>
              <a:ln>
                <a:noFill/>
              </a:ln>
            </c:spPr>
            <c:extLst>
              <c:ext xmlns:c16="http://schemas.microsoft.com/office/drawing/2014/chart" uri="{C3380CC4-5D6E-409C-BE32-E72D297353CC}">
                <c16:uniqueId val="{00000003-9864-4959-9244-74CD20201E9F}"/>
              </c:ext>
            </c:extLst>
          </c:dPt>
          <c:cat>
            <c:strRef>
              <c:f>Sheet1!$A$2:$A$3</c:f>
              <c:strCache>
                <c:ptCount val="2"/>
                <c:pt idx="0">
                  <c:v>Avance</c:v>
                </c:pt>
                <c:pt idx="1">
                  <c:v>Restante</c:v>
                </c:pt>
              </c:strCache>
            </c:strRef>
          </c:cat>
          <c:val>
            <c:numRef>
              <c:f>Sheet1!$B$2:$B$3</c:f>
              <c:numCache>
                <c:formatCode>General</c:formatCode>
                <c:ptCount val="2"/>
                <c:pt idx="0">
                  <c:v>43.78997884436567</c:v>
                </c:pt>
                <c:pt idx="1">
                  <c:v>56.21002115563433</c:v>
                </c:pt>
              </c:numCache>
            </c:numRef>
          </c:val>
          <c:extLst>
            <c:ext xmlns:c16="http://schemas.microsoft.com/office/drawing/2014/chart" uri="{C3380CC4-5D6E-409C-BE32-E72D297353CC}">
              <c16:uniqueId val="{00000004-9864-4959-9244-74CD20201E9F}"/>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8D82-45BF-92DD-6C6F603162C9}"/>
              </c:ext>
            </c:extLst>
          </c:dPt>
          <c:dPt>
            <c:idx val="1"/>
            <c:bubble3D val="0"/>
            <c:spPr>
              <a:solidFill>
                <a:srgbClr val="EBE0D2"/>
              </a:solidFill>
              <a:ln>
                <a:noFill/>
              </a:ln>
            </c:spPr>
            <c:extLst>
              <c:ext xmlns:c16="http://schemas.microsoft.com/office/drawing/2014/chart" uri="{C3380CC4-5D6E-409C-BE32-E72D297353CC}">
                <c16:uniqueId val="{00000003-8D82-45BF-92DD-6C6F603162C9}"/>
              </c:ext>
            </c:extLst>
          </c:dPt>
          <c:cat>
            <c:strRef>
              <c:f>Sheet1!$A$2:$A$3</c:f>
              <c:strCache>
                <c:ptCount val="2"/>
                <c:pt idx="0">
                  <c:v>Avance</c:v>
                </c:pt>
                <c:pt idx="1">
                  <c:v>Restante</c:v>
                </c:pt>
              </c:strCache>
            </c:strRef>
          </c:cat>
          <c:val>
            <c:numRef>
              <c:f>Sheet1!$B$2:$B$3</c:f>
              <c:numCache>
                <c:formatCode>General</c:formatCode>
                <c:ptCount val="2"/>
                <c:pt idx="0">
                  <c:v>14.289958045699999</c:v>
                </c:pt>
                <c:pt idx="1">
                  <c:v>85.710041954299996</c:v>
                </c:pt>
              </c:numCache>
            </c:numRef>
          </c:val>
          <c:extLst>
            <c:ext xmlns:c16="http://schemas.microsoft.com/office/drawing/2014/chart" uri="{C3380CC4-5D6E-409C-BE32-E72D297353CC}">
              <c16:uniqueId val="{00000004-8D82-45BF-92DD-6C6F603162C9}"/>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5D45-4E4B-89C3-3899C6AED612}"/>
              </c:ext>
            </c:extLst>
          </c:dPt>
          <c:dPt>
            <c:idx val="1"/>
            <c:bubble3D val="0"/>
            <c:spPr>
              <a:solidFill>
                <a:srgbClr val="EBE0D2"/>
              </a:solidFill>
              <a:ln>
                <a:noFill/>
              </a:ln>
            </c:spPr>
            <c:extLst>
              <c:ext xmlns:c16="http://schemas.microsoft.com/office/drawing/2014/chart" uri="{C3380CC4-5D6E-409C-BE32-E72D297353CC}">
                <c16:uniqueId val="{00000003-5D45-4E4B-89C3-3899C6AED612}"/>
              </c:ext>
            </c:extLst>
          </c:dPt>
          <c:cat>
            <c:strRef>
              <c:f>Sheet1!$A$2:$A$3</c:f>
              <c:strCache>
                <c:ptCount val="2"/>
                <c:pt idx="0">
                  <c:v>Avance</c:v>
                </c:pt>
                <c:pt idx="1">
                  <c:v>Restante</c:v>
                </c:pt>
              </c:strCache>
            </c:strRef>
          </c:cat>
          <c:val>
            <c:numRef>
              <c:f>Sheet1!$B$2:$B$3</c:f>
              <c:numCache>
                <c:formatCode>General</c:formatCode>
                <c:ptCount val="2"/>
                <c:pt idx="0">
                  <c:v>38.68</c:v>
                </c:pt>
                <c:pt idx="1">
                  <c:v>61.32</c:v>
                </c:pt>
              </c:numCache>
            </c:numRef>
          </c:val>
          <c:extLst>
            <c:ext xmlns:c16="http://schemas.microsoft.com/office/drawing/2014/chart" uri="{C3380CC4-5D6E-409C-BE32-E72D297353CC}">
              <c16:uniqueId val="{00000004-5D45-4E4B-89C3-3899C6AED612}"/>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83BF-4CD4-A9B8-777DEB89DAE1}"/>
              </c:ext>
            </c:extLst>
          </c:dPt>
          <c:dPt>
            <c:idx val="1"/>
            <c:bubble3D val="0"/>
            <c:spPr>
              <a:solidFill>
                <a:srgbClr val="EBE0D2"/>
              </a:solidFill>
              <a:ln>
                <a:noFill/>
              </a:ln>
            </c:spPr>
            <c:extLst>
              <c:ext xmlns:c16="http://schemas.microsoft.com/office/drawing/2014/chart" uri="{C3380CC4-5D6E-409C-BE32-E72D297353CC}">
                <c16:uniqueId val="{00000003-83BF-4CD4-A9B8-777DEB89DAE1}"/>
              </c:ext>
            </c:extLst>
          </c:dPt>
          <c:cat>
            <c:strRef>
              <c:f>Sheet1!$A$2:$A$3</c:f>
              <c:strCache>
                <c:ptCount val="2"/>
                <c:pt idx="0">
                  <c:v>Avance</c:v>
                </c:pt>
                <c:pt idx="1">
                  <c:v>Restante</c:v>
                </c:pt>
              </c:strCache>
            </c:strRef>
          </c:cat>
          <c:val>
            <c:numRef>
              <c:f>Sheet1!$B$2:$B$3</c:f>
              <c:numCache>
                <c:formatCode>General</c:formatCode>
                <c:ptCount val="2"/>
                <c:pt idx="0">
                  <c:v>35.6</c:v>
                </c:pt>
                <c:pt idx="1">
                  <c:v>64.400000000000006</c:v>
                </c:pt>
              </c:numCache>
            </c:numRef>
          </c:val>
          <c:extLst>
            <c:ext xmlns:c16="http://schemas.microsoft.com/office/drawing/2014/chart" uri="{C3380CC4-5D6E-409C-BE32-E72D297353CC}">
              <c16:uniqueId val="{00000004-83BF-4CD4-A9B8-777DEB89DAE1}"/>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017A-4095-B8D8-713D7D58FAFB}"/>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167</c:v>
                </c:pt>
                <c:pt idx="1">
                  <c:v>304</c:v>
                </c:pt>
                <c:pt idx="2">
                  <c:v>316</c:v>
                </c:pt>
                <c:pt idx="3">
                  <c:v>277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17A-4095-B8D8-713D7D58FAFB}"/>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Industria de la Construcción</c:v>
                </c:pt>
                <c:pt idx="2">
                  <c:v>Industrias de la Transformación</c:v>
                </c:pt>
                <c:pt idx="3">
                  <c:v>Servicios para Empresas, Personas y el Hogar</c:v>
                </c:pt>
                <c:pt idx="4">
                  <c:v>Comercio</c:v>
                </c:pt>
                <c:pt idx="5">
                  <c:v>Transportes y Comunicaciones</c:v>
                </c:pt>
                <c:pt idx="6">
                  <c:v>Ind Eléctrica y Captación y Suministro de Agua Potable</c:v>
                </c:pt>
                <c:pt idx="7">
                  <c:v>Servicios Sociales y Comunales</c:v>
                </c:pt>
                <c:pt idx="8">
                  <c:v>Industrias Extractivas</c:v>
                </c:pt>
              </c:strCache>
            </c:strRef>
          </c:cat>
          <c:val>
            <c:numRef>
              <c:f>Sheet1!$B$2:$B$10</c:f>
              <c:numCache>
                <c:formatCode>General</c:formatCode>
                <c:ptCount val="9"/>
                <c:pt idx="0">
                  <c:v>63139</c:v>
                </c:pt>
                <c:pt idx="1">
                  <c:v>54565</c:v>
                </c:pt>
                <c:pt idx="2">
                  <c:v>188479</c:v>
                </c:pt>
                <c:pt idx="3">
                  <c:v>106483</c:v>
                </c:pt>
                <c:pt idx="4">
                  <c:v>142401</c:v>
                </c:pt>
                <c:pt idx="5">
                  <c:v>31403</c:v>
                </c:pt>
                <c:pt idx="6">
                  <c:v>6625</c:v>
                </c:pt>
                <c:pt idx="7">
                  <c:v>49160</c:v>
                </c:pt>
                <c:pt idx="8">
                  <c:v>13841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06D-4FA9-98A0-F5E260A44F7F}"/>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Industria de la Construcción</c:v>
                </c:pt>
                <c:pt idx="2">
                  <c:v>Industrias de la Transformación</c:v>
                </c:pt>
                <c:pt idx="3">
                  <c:v>Servicios para Empresas, Personas y el Hogar</c:v>
                </c:pt>
                <c:pt idx="4">
                  <c:v>Comercio</c:v>
                </c:pt>
                <c:pt idx="5">
                  <c:v>Transportes y Comunicaciones</c:v>
                </c:pt>
                <c:pt idx="6">
                  <c:v>Ind Eléctrica y Captación y Suministro de Agua Potable</c:v>
                </c:pt>
                <c:pt idx="7">
                  <c:v>Servicios Sociales y Comunales</c:v>
                </c:pt>
                <c:pt idx="8">
                  <c:v>Industrias Extractivas</c:v>
                </c:pt>
              </c:strCache>
            </c:strRef>
          </c:cat>
          <c:val>
            <c:numRef>
              <c:f>Sheet1!$C$2:$C$10</c:f>
              <c:numCache>
                <c:formatCode>General</c:formatCode>
                <c:ptCount val="9"/>
                <c:pt idx="0">
                  <c:v>60723</c:v>
                </c:pt>
                <c:pt idx="1">
                  <c:v>52543</c:v>
                </c:pt>
                <c:pt idx="2">
                  <c:v>185921</c:v>
                </c:pt>
                <c:pt idx="3">
                  <c:v>105346</c:v>
                </c:pt>
                <c:pt idx="4">
                  <c:v>142417</c:v>
                </c:pt>
                <c:pt idx="5">
                  <c:v>31834</c:v>
                </c:pt>
                <c:pt idx="6">
                  <c:v>6778</c:v>
                </c:pt>
                <c:pt idx="7">
                  <c:v>50628</c:v>
                </c:pt>
                <c:pt idx="8">
                  <c:v>15233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06D-4FA9-98A0-F5E260A44F7F}"/>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615130</c:v>
                </c:pt>
                <c:pt idx="1">
                  <c:v>625991</c:v>
                </c:pt>
                <c:pt idx="2">
                  <c:v>608386</c:v>
                </c:pt>
                <c:pt idx="3">
                  <c:v>623069</c:v>
                </c:pt>
                <c:pt idx="4">
                  <c:v>648773</c:v>
                </c:pt>
                <c:pt idx="5">
                  <c:v>664510</c:v>
                </c:pt>
                <c:pt idx="6">
                  <c:v>666447</c:v>
                </c:pt>
                <c:pt idx="7">
                  <c:v>656096</c:v>
                </c:pt>
                <c:pt idx="8">
                  <c:v>651423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F6D-4293-80FE-9A6BCEAAB544}"/>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94355560-279F-32E5-6701-230409249648}"/>
            </a:ext>
          </a:extLst>
        </p:cNvPr>
        <p:cNvGrpSpPr/>
        <p:nvPr/>
      </p:nvGrpSpPr>
      <p:grpSpPr>
        <a:xfrm>
          <a:off x="0" y="0"/>
          <a:ext cx="0" cy="0"/>
          <a:chOff x="0" y="0"/>
          <a:chExt cx="0" cy="0"/>
        </a:xfrm>
      </p:grpSpPr>
      <p:sp>
        <p:nvSpPr>
          <p:cNvPr id="147" name="Google Shape;147;g370e475fb19_0_8:notes">
            <a:extLst>
              <a:ext uri="{FF2B5EF4-FFF2-40B4-BE49-F238E27FC236}">
                <a16:creationId xmlns:a16="http://schemas.microsoft.com/office/drawing/2014/main" id="{322C65F1-2BC7-D463-C6B1-9276360FAB69}"/>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148" name="Google Shape;148;g370e475fb19_0_8:notes">
            <a:extLst>
              <a:ext uri="{FF2B5EF4-FFF2-40B4-BE49-F238E27FC236}">
                <a16:creationId xmlns:a16="http://schemas.microsoft.com/office/drawing/2014/main" id="{7FB6D786-8780-357F-339C-773B6BFA3AF8}"/>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a:extLst>
              <a:ext uri="{FF2B5EF4-FFF2-40B4-BE49-F238E27FC236}">
                <a16:creationId xmlns:a16="http://schemas.microsoft.com/office/drawing/2014/main" id="{7797BC27-E3F3-9416-58E0-87C44878932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77009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chart" Target="../charts/chart1.xml"/><Relationship Id="rId4" Type="http://schemas.openxmlformats.org/officeDocument/2006/relationships/image" Target="../media/image12.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1.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chart" Target="../charts/chart6.xml"/><Relationship Id="rId4" Type="http://schemas.openxmlformats.org/officeDocument/2006/relationships/image" Target="../media/image27.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Sonora</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dirty="0" err="1"/>
              <a:t>Ficha</a:t>
            </a:r>
            <a:r>
              <a:rPr dirty="0"/>
              <a:t> Estatal</a:t>
            </a:r>
          </a:p>
          <a:p>
            <a:pPr algn="ctr">
              <a:defRPr sz="1500" b="1">
                <a:solidFill>
                  <a:srgbClr val="7F7F7F"/>
                </a:solidFill>
                <a:latin typeface="Montserrat"/>
              </a:defRPr>
            </a:pPr>
            <a:r>
              <a:rPr dirty="0"/>
              <a:t>Ju</a:t>
            </a:r>
            <a:r>
              <a:rPr lang="es-MX" dirty="0"/>
              <a:t>l</a:t>
            </a:r>
            <a:r>
              <a:rPr dirty="0"/>
              <a:t>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1F3AF3C-F9BA-97AC-935C-73DE5744714C}"/>
              </a:ext>
            </a:extLst>
          </p:cNvPr>
          <p:cNvSpPr/>
          <p:nvPr/>
        </p:nvSpPr>
        <p:spPr>
          <a:xfrm>
            <a:off x="109182" y="698125"/>
            <a:ext cx="7560860" cy="1689633"/>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4" name="Google Shape;66;p15">
            <a:extLst>
              <a:ext uri="{FF2B5EF4-FFF2-40B4-BE49-F238E27FC236}">
                <a16:creationId xmlns:a16="http://schemas.microsoft.com/office/drawing/2014/main" id="{4094822C-4E3C-5D91-0659-9453E5E45585}"/>
              </a:ext>
            </a:extLst>
          </p:cNvPr>
          <p:cNvGraphicFramePr/>
          <p:nvPr>
            <p:extLst>
              <p:ext uri="{D42A27DB-BD31-4B8C-83A1-F6EECF244321}">
                <p14:modId xmlns:p14="http://schemas.microsoft.com/office/powerpoint/2010/main" val="1440337474"/>
              </p:ext>
            </p:extLst>
          </p:nvPr>
        </p:nvGraphicFramePr>
        <p:xfrm>
          <a:off x="676738" y="2498918"/>
          <a:ext cx="6116812" cy="6714661"/>
        </p:xfrm>
        <a:graphic>
          <a:graphicData uri="http://schemas.openxmlformats.org/drawingml/2006/table">
            <a:tbl>
              <a:tblPr>
                <a:noFill/>
              </a:tblPr>
              <a:tblGrid>
                <a:gridCol w="2063508">
                  <a:extLst>
                    <a:ext uri="{9D8B030D-6E8A-4147-A177-3AD203B41FA5}">
                      <a16:colId xmlns:a16="http://schemas.microsoft.com/office/drawing/2014/main" val="20000"/>
                    </a:ext>
                  </a:extLst>
                </a:gridCol>
                <a:gridCol w="3182678">
                  <a:extLst>
                    <a:ext uri="{9D8B030D-6E8A-4147-A177-3AD203B41FA5}">
                      <a16:colId xmlns:a16="http://schemas.microsoft.com/office/drawing/2014/main" val="20001"/>
                    </a:ext>
                  </a:extLst>
                </a:gridCol>
                <a:gridCol w="870626">
                  <a:extLst>
                    <a:ext uri="{9D8B030D-6E8A-4147-A177-3AD203B41FA5}">
                      <a16:colId xmlns:a16="http://schemas.microsoft.com/office/drawing/2014/main" val="20002"/>
                    </a:ext>
                  </a:extLst>
                </a:gridCol>
              </a:tblGrid>
              <a:tr h="787600">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a:t>
                      </a:r>
                      <a:br>
                        <a:rPr lang="es" sz="1100" b="1" u="none" strike="noStrike" cap="none">
                          <a:solidFill>
                            <a:schemeClr val="lt1"/>
                          </a:solidFill>
                          <a:latin typeface="Montserrat"/>
                          <a:ea typeface="Montserrat"/>
                          <a:cs typeface="Montserrat"/>
                          <a:sym typeface="Montserrat"/>
                        </a:rPr>
                      </a:br>
                      <a:r>
                        <a:rPr lang="es" sz="1100" b="1" u="none" strike="noStrike" cap="none">
                          <a:solidFill>
                            <a:schemeClr val="lt1"/>
                          </a:solidFill>
                          <a:latin typeface="Montserrat"/>
                          <a:ea typeface="Montserrat"/>
                          <a:cs typeface="Montserrat"/>
                          <a:sym typeface="Montserrat"/>
                        </a:rPr>
                        <a:t>de Prestaciones Médicas</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100" b="1" u="none" strike="noStrike" cap="none" dirty="0">
                          <a:solidFill>
                            <a:schemeClr val="dk1"/>
                          </a:solidFill>
                          <a:latin typeface="Montserrat"/>
                          <a:ea typeface="Montserrat"/>
                          <a:cs typeface="Montserrat"/>
                          <a:sym typeface="Montserrat"/>
                        </a:rPr>
                        <a:t>Dr. Juan Carlos Villano Castillejo</a:t>
                      </a:r>
                      <a:endParaRPr sz="1100" b="1"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dirty="0">
                          <a:solidFill>
                            <a:schemeClr val="dk1"/>
                          </a:solidFill>
                          <a:latin typeface="Montserrat"/>
                          <a:ea typeface="Montserrat"/>
                          <a:cs typeface="Montserrat"/>
                          <a:sym typeface="Montserrat"/>
                        </a:rPr>
                        <a:t>Licenciatura en Medicina, subespecialista en Oncología Pediátrica Maestría en Gestión</a:t>
                      </a:r>
                      <a:endParaRPr sz="1100"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dirty="0">
                          <a:solidFill>
                            <a:schemeClr val="dk1"/>
                          </a:solidFill>
                          <a:latin typeface="Montserrat"/>
                          <a:ea typeface="Montserrat"/>
                          <a:cs typeface="Montserrat"/>
                          <a:sym typeface="Montserrat"/>
                        </a:rPr>
                        <a:t>Inicio en el cargo: mayo de 2025</a:t>
                      </a:r>
                      <a:endParaRPr sz="11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22425">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a:t>
                      </a:r>
                      <a:br>
                        <a:rPr lang="es" sz="1100" b="1" u="none" strike="noStrike" cap="none">
                          <a:solidFill>
                            <a:schemeClr val="lt1"/>
                          </a:solidFill>
                          <a:latin typeface="Montserrat"/>
                          <a:ea typeface="Montserrat"/>
                          <a:cs typeface="Montserrat"/>
                          <a:sym typeface="Montserrat"/>
                        </a:rPr>
                      </a:br>
                      <a:r>
                        <a:rPr lang="es" sz="1100" b="1" u="none" strike="noStrike" cap="none">
                          <a:solidFill>
                            <a:schemeClr val="lt1"/>
                          </a:solidFill>
                          <a:latin typeface="Montserrat"/>
                          <a:ea typeface="Montserrat"/>
                          <a:cs typeface="Montserrat"/>
                          <a:sym typeface="Montserrat"/>
                        </a:rPr>
                        <a:t>de Salud en el Trabajo, Prestaciones Económicas y Sociales</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100" b="1" u="none" strike="noStrike" cap="none" dirty="0">
                          <a:solidFill>
                            <a:schemeClr val="dk1"/>
                          </a:solidFill>
                          <a:latin typeface="Montserrat"/>
                          <a:ea typeface="Montserrat"/>
                          <a:cs typeface="Montserrat"/>
                          <a:sym typeface="Montserrat"/>
                        </a:rPr>
                        <a:t>Lic. Jesús René Martínez Carmona</a:t>
                      </a:r>
                      <a:endParaRPr sz="1100" b="1"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dirty="0">
                          <a:solidFill>
                            <a:schemeClr val="dk1"/>
                          </a:solidFill>
                          <a:latin typeface="Montserrat"/>
                          <a:ea typeface="Montserrat"/>
                          <a:cs typeface="Montserrat"/>
                          <a:sym typeface="Montserrat"/>
                        </a:rPr>
                        <a:t>Licenciatura en Derecho</a:t>
                      </a:r>
                      <a:endParaRPr sz="1100"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dirty="0">
                          <a:solidFill>
                            <a:schemeClr val="dk1"/>
                          </a:solidFill>
                          <a:latin typeface="Montserrat"/>
                          <a:ea typeface="Montserrat"/>
                          <a:cs typeface="Montserrat"/>
                          <a:sym typeface="Montserrat"/>
                        </a:rPr>
                        <a:t>Inicio en el cargo: junio de 2018</a:t>
                      </a:r>
                      <a:endParaRPr sz="1100"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563350">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a:t>
                      </a:r>
                      <a:br>
                        <a:rPr lang="es" sz="1100" b="1" u="none" strike="noStrike" cap="none">
                          <a:solidFill>
                            <a:schemeClr val="lt1"/>
                          </a:solidFill>
                          <a:latin typeface="Montserrat"/>
                          <a:ea typeface="Montserrat"/>
                          <a:cs typeface="Montserrat"/>
                          <a:sym typeface="Montserrat"/>
                        </a:rPr>
                      </a:br>
                      <a:r>
                        <a:rPr lang="es" sz="1100" b="1" u="none" strike="noStrike" cap="none">
                          <a:solidFill>
                            <a:schemeClr val="lt1"/>
                          </a:solidFill>
                          <a:latin typeface="Montserrat"/>
                          <a:ea typeface="Montserrat"/>
                          <a:cs typeface="Montserrat"/>
                          <a:sym typeface="Montserrat"/>
                        </a:rPr>
                        <a:t>de Afiliación y Cobranza</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MX" sz="1100" b="1">
                          <a:solidFill>
                            <a:schemeClr val="dk1"/>
                          </a:solidFill>
                          <a:latin typeface="Montserrat"/>
                          <a:ea typeface="Montserrat"/>
                          <a:cs typeface="Montserrat"/>
                          <a:sym typeface="Montserrat"/>
                        </a:rPr>
                        <a:t>Vacante</a:t>
                      </a:r>
                      <a:endParaRPr sz="1100" b="1" u="none" strike="noStrike" cap="none">
                        <a:solidFill>
                          <a:schemeClr val="dk1"/>
                        </a:solidFill>
                        <a:latin typeface="Montserrat"/>
                        <a:ea typeface="Montserrat"/>
                        <a:cs typeface="Montserrat"/>
                        <a:sym typeface="Montserrat"/>
                      </a:endParaRPr>
                    </a:p>
                    <a:p>
                      <a:pPr marL="0" marR="35999" lvl="0" indent="0" algn="l" rtl="0">
                        <a:lnSpc>
                          <a:spcPct val="107916"/>
                        </a:lnSpc>
                        <a:spcBef>
                          <a:spcPts val="0"/>
                        </a:spcBef>
                        <a:spcAft>
                          <a:spcPts val="0"/>
                        </a:spcAft>
                        <a:buClr>
                          <a:schemeClr val="dk1"/>
                        </a:buClr>
                        <a:buSzPts val="1100"/>
                        <a:buFont typeface="Arial"/>
                        <a:buNone/>
                      </a:pPr>
                      <a:endParaRPr sz="11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860375">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a:t>
                      </a:r>
                      <a:br>
                        <a:rPr lang="es" sz="1100" b="1" u="none" strike="noStrike" cap="none">
                          <a:solidFill>
                            <a:schemeClr val="lt1"/>
                          </a:solidFill>
                          <a:latin typeface="Montserrat"/>
                          <a:ea typeface="Montserrat"/>
                          <a:cs typeface="Montserrat"/>
                          <a:sym typeface="Montserrat"/>
                        </a:rPr>
                      </a:br>
                      <a:r>
                        <a:rPr lang="es" sz="1100" b="1" u="none" strike="noStrike" cap="none">
                          <a:solidFill>
                            <a:schemeClr val="lt1"/>
                          </a:solidFill>
                          <a:latin typeface="Montserrat"/>
                          <a:ea typeface="Montserrat"/>
                          <a:cs typeface="Montserrat"/>
                          <a:sym typeface="Montserrat"/>
                        </a:rPr>
                        <a:t>de Desarrollo de Personal</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100" b="1" u="none" strike="noStrike" cap="none">
                          <a:solidFill>
                            <a:schemeClr val="dk1"/>
                          </a:solidFill>
                          <a:latin typeface="Montserrat"/>
                          <a:ea typeface="Montserrat"/>
                          <a:cs typeface="Montserrat"/>
                          <a:sym typeface="Montserrat"/>
                        </a:rPr>
                        <a:t>Lic. Nitza Nubia Flores Lastra</a:t>
                      </a:r>
                      <a:endParaRPr sz="11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a:solidFill>
                            <a:schemeClr val="dk1"/>
                          </a:solidFill>
                          <a:latin typeface="Montserrat"/>
                          <a:ea typeface="Montserrat"/>
                          <a:cs typeface="Montserrat"/>
                          <a:sym typeface="Montserrat"/>
                        </a:rPr>
                        <a:t>Licenciatura en Derecho</a:t>
                      </a:r>
                      <a:endParaRPr sz="11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a:solidFill>
                            <a:schemeClr val="dk1"/>
                          </a:solidFill>
                          <a:latin typeface="Montserrat"/>
                          <a:ea typeface="Montserrat"/>
                          <a:cs typeface="Montserrat"/>
                          <a:sym typeface="Montserrat"/>
                        </a:rPr>
                        <a:t>Inicio en el cargo: 01 de Marzo de 2024</a:t>
                      </a:r>
                      <a:endParaRPr sz="11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751100">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a:t>
                      </a:r>
                      <a:br>
                        <a:rPr lang="es" sz="1100" b="1" u="none" strike="noStrike" cap="none">
                          <a:solidFill>
                            <a:schemeClr val="lt1"/>
                          </a:solidFill>
                          <a:latin typeface="Montserrat"/>
                          <a:ea typeface="Montserrat"/>
                          <a:cs typeface="Montserrat"/>
                          <a:sym typeface="Montserrat"/>
                        </a:rPr>
                      </a:br>
                      <a:r>
                        <a:rPr lang="es" sz="1100" b="1" u="none" strike="noStrike" cap="none">
                          <a:solidFill>
                            <a:schemeClr val="lt1"/>
                          </a:solidFill>
                          <a:latin typeface="Montserrat"/>
                          <a:ea typeface="Montserrat"/>
                          <a:cs typeface="Montserrat"/>
                          <a:sym typeface="Montserrat"/>
                        </a:rPr>
                        <a:t>de Finanzas</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100" b="1" dirty="0">
                          <a:solidFill>
                            <a:schemeClr val="dk1"/>
                          </a:solidFill>
                          <a:latin typeface="Montserrat"/>
                          <a:ea typeface="Montserrat"/>
                          <a:cs typeface="Montserrat"/>
                          <a:sym typeface="Montserrat"/>
                        </a:rPr>
                        <a:t>Lic. Martha Patricia Quintero Reyes</a:t>
                      </a:r>
                      <a:endParaRPr sz="1100" b="1"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dirty="0">
                          <a:solidFill>
                            <a:schemeClr val="dk1"/>
                          </a:solidFill>
                          <a:latin typeface="Montserrat"/>
                          <a:ea typeface="Montserrat"/>
                          <a:cs typeface="Montserrat"/>
                          <a:sym typeface="Montserrat"/>
                        </a:rPr>
                        <a:t>Licenciatura en Contaduría Pública</a:t>
                      </a:r>
                      <a:endParaRPr sz="1100"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dirty="0">
                          <a:solidFill>
                            <a:schemeClr val="dk1"/>
                          </a:solidFill>
                          <a:latin typeface="Montserrat"/>
                          <a:ea typeface="Montserrat"/>
                          <a:cs typeface="Montserrat"/>
                          <a:sym typeface="Montserrat"/>
                        </a:rPr>
                        <a:t>Inicio en el cargo: 16 de Octubre de 2024</a:t>
                      </a:r>
                      <a:endParaRPr sz="11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899900">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Administrativos</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100" b="1" u="none" strike="noStrike" cap="none">
                          <a:solidFill>
                            <a:schemeClr val="dk1"/>
                          </a:solidFill>
                          <a:latin typeface="Montserrat"/>
                          <a:ea typeface="Montserrat"/>
                          <a:cs typeface="Montserrat"/>
                          <a:sym typeface="Montserrat"/>
                        </a:rPr>
                        <a:t>Mtra. Zulma Janet Esparza Gaspar</a:t>
                      </a:r>
                      <a:endParaRPr sz="11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a:solidFill>
                            <a:schemeClr val="dk1"/>
                          </a:solidFill>
                          <a:latin typeface="Montserrat"/>
                          <a:ea typeface="Montserrat"/>
                          <a:cs typeface="Montserrat"/>
                          <a:sym typeface="Montserrat"/>
                        </a:rPr>
                        <a:t>Maestría Economía y Finanzas</a:t>
                      </a:r>
                      <a:endParaRPr sz="11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a:solidFill>
                            <a:schemeClr val="dk1"/>
                          </a:solidFill>
                          <a:latin typeface="Montserrat"/>
                          <a:ea typeface="Montserrat"/>
                          <a:cs typeface="Montserrat"/>
                          <a:sym typeface="Montserrat"/>
                        </a:rPr>
                        <a:t>Inicio en el cargo: 10 de Febrero de 2025</a:t>
                      </a:r>
                      <a:endParaRPr sz="11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r h="974075">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Jefatura de Servicios Jurídicos</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100" b="1" u="none" strike="noStrike" cap="none">
                          <a:solidFill>
                            <a:schemeClr val="dk1"/>
                          </a:solidFill>
                          <a:latin typeface="Montserrat"/>
                          <a:ea typeface="Montserrat"/>
                          <a:cs typeface="Montserrat"/>
                          <a:sym typeface="Montserrat"/>
                        </a:rPr>
                        <a:t>Lic. Aurora Yerenisell Félix Lara</a:t>
                      </a:r>
                      <a:endParaRPr sz="11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a:solidFill>
                            <a:schemeClr val="dk1"/>
                          </a:solidFill>
                          <a:latin typeface="Montserrat"/>
                          <a:ea typeface="Montserrat"/>
                          <a:cs typeface="Montserrat"/>
                          <a:sym typeface="Montserrat"/>
                        </a:rPr>
                        <a:t>Licenciatura en Derecho y Contaduría</a:t>
                      </a:r>
                      <a:endParaRPr sz="11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100" u="none" strike="noStrike" cap="none">
                          <a:solidFill>
                            <a:schemeClr val="dk1"/>
                          </a:solidFill>
                          <a:latin typeface="Montserrat"/>
                          <a:ea typeface="Montserrat"/>
                          <a:cs typeface="Montserrat"/>
                          <a:sym typeface="Montserrat"/>
                        </a:rPr>
                        <a:t>Inicio en el cargo: 01 de Enero de 2021</a:t>
                      </a:r>
                      <a:endParaRPr sz="11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848975">
                <a:tc>
                  <a:txBody>
                    <a:bodyPr/>
                    <a:lstStyle/>
                    <a:p>
                      <a:pPr marL="35999" marR="35999" lvl="0" indent="0" algn="r" rtl="0">
                        <a:lnSpc>
                          <a:spcPct val="100000"/>
                        </a:lnSpc>
                        <a:spcBef>
                          <a:spcPts val="0"/>
                        </a:spcBef>
                        <a:spcAft>
                          <a:spcPts val="0"/>
                        </a:spcAft>
                        <a:buClr>
                          <a:srgbClr val="000000"/>
                        </a:buClr>
                        <a:buSzPts val="1000"/>
                        <a:buFont typeface="Arial"/>
                        <a:buNone/>
                      </a:pPr>
                      <a:r>
                        <a:rPr lang="es" sz="1100" b="1" u="none" strike="noStrike" cap="none">
                          <a:solidFill>
                            <a:schemeClr val="lt1"/>
                          </a:solidFill>
                          <a:latin typeface="Montserrat"/>
                          <a:ea typeface="Montserrat"/>
                          <a:cs typeface="Montserrat"/>
                          <a:sym typeface="Montserrat"/>
                        </a:rPr>
                        <a:t>Secretario General </a:t>
                      </a:r>
                      <a:br>
                        <a:rPr lang="es" sz="1100" b="1" u="none" strike="noStrike" cap="none">
                          <a:solidFill>
                            <a:schemeClr val="lt1"/>
                          </a:solidFill>
                          <a:latin typeface="Montserrat"/>
                          <a:ea typeface="Montserrat"/>
                          <a:cs typeface="Montserrat"/>
                          <a:sym typeface="Montserrat"/>
                        </a:rPr>
                      </a:br>
                      <a:r>
                        <a:rPr lang="es" sz="1100" b="1" u="none" strike="noStrike" cap="none">
                          <a:solidFill>
                            <a:schemeClr val="lt1"/>
                          </a:solidFill>
                          <a:latin typeface="Montserrat"/>
                          <a:ea typeface="Montserrat"/>
                          <a:cs typeface="Montserrat"/>
                          <a:sym typeface="Montserrat"/>
                        </a:rPr>
                        <a:t>de la Sección XIII Sonora</a:t>
                      </a:r>
                      <a:endParaRPr sz="11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r>
                        <a:rPr lang="es" sz="1100" b="1" u="none" strike="noStrike" cap="none" dirty="0">
                          <a:solidFill>
                            <a:schemeClr val="dk1"/>
                          </a:solidFill>
                          <a:latin typeface="Montserrat"/>
                          <a:ea typeface="Montserrat"/>
                          <a:cs typeface="Montserrat"/>
                          <a:sym typeface="Montserrat"/>
                        </a:rPr>
                        <a:t>T.R. Joel Cárdenas Sepúlveda</a:t>
                      </a:r>
                      <a:endParaRPr sz="1100" b="1" u="none" strike="noStrike" cap="none" dirty="0">
                        <a:solidFill>
                          <a:schemeClr val="dk1"/>
                        </a:solidFill>
                        <a:latin typeface="Montserrat"/>
                        <a:ea typeface="Montserrat"/>
                        <a:cs typeface="Montserrat"/>
                        <a:sym typeface="Montserrat"/>
                      </a:endParaRPr>
                    </a:p>
                    <a:p>
                      <a:pPr marL="180000" marR="0" lvl="0" indent="-90000" algn="l" rtl="0">
                        <a:lnSpc>
                          <a:spcPct val="107916"/>
                        </a:lnSpc>
                        <a:spcBef>
                          <a:spcPts val="0"/>
                        </a:spcBef>
                        <a:spcAft>
                          <a:spcPts val="0"/>
                        </a:spcAft>
                        <a:buClr>
                          <a:schemeClr val="dk1"/>
                        </a:buClr>
                        <a:buSzPts val="1100"/>
                        <a:buFont typeface="Arial"/>
                        <a:buNone/>
                      </a:pPr>
                      <a:r>
                        <a:rPr lang="es" sz="1200" u="none" strike="noStrike" cap="none" dirty="0">
                          <a:solidFill>
                            <a:schemeClr val="dk1"/>
                          </a:solidFill>
                          <a:latin typeface="Montserrat"/>
                          <a:ea typeface="Montserrat"/>
                          <a:cs typeface="Montserrat"/>
                          <a:sym typeface="Montserrat"/>
                        </a:rPr>
                        <a:t>Técnico Radiólogo</a:t>
                      </a:r>
                      <a:endParaRPr sz="1200" u="none" strike="noStrike" cap="none" dirty="0">
                        <a:solidFill>
                          <a:schemeClr val="dk1"/>
                        </a:solidFill>
                        <a:latin typeface="Montserrat"/>
                        <a:ea typeface="Montserrat"/>
                        <a:cs typeface="Montserrat"/>
                        <a:sym typeface="Montserrat"/>
                      </a:endParaRPr>
                    </a:p>
                    <a:p>
                      <a:pPr marL="180000" marR="0" lvl="0" indent="-90000" algn="l" rtl="0">
                        <a:lnSpc>
                          <a:spcPct val="107916"/>
                        </a:lnSpc>
                        <a:spcBef>
                          <a:spcPts val="0"/>
                        </a:spcBef>
                        <a:spcAft>
                          <a:spcPts val="0"/>
                        </a:spcAft>
                        <a:buClr>
                          <a:schemeClr val="dk1"/>
                        </a:buClr>
                        <a:buSzPts val="1100"/>
                        <a:buFont typeface="Arial"/>
                        <a:buNone/>
                      </a:pPr>
                      <a:r>
                        <a:rPr lang="es" sz="1200" u="none" strike="noStrike" cap="none" dirty="0">
                          <a:solidFill>
                            <a:schemeClr val="dk1"/>
                          </a:solidFill>
                          <a:latin typeface="Montserrat"/>
                          <a:ea typeface="Montserrat"/>
                          <a:cs typeface="Montserrat"/>
                          <a:sym typeface="Montserrat"/>
                        </a:rPr>
                        <a:t>Inicio en el cargo: 16 marzo de 2025</a:t>
                      </a:r>
                      <a:endParaRPr sz="11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5" name="Google Shape;67;p15">
            <a:extLst>
              <a:ext uri="{FF2B5EF4-FFF2-40B4-BE49-F238E27FC236}">
                <a16:creationId xmlns:a16="http://schemas.microsoft.com/office/drawing/2014/main" id="{89B45552-4DF0-025C-606F-DCC0B01A0F0D}"/>
              </a:ext>
            </a:extLst>
          </p:cNvPr>
          <p:cNvSpPr txBox="1"/>
          <p:nvPr/>
        </p:nvSpPr>
        <p:spPr>
          <a:xfrm>
            <a:off x="2798775" y="698125"/>
            <a:ext cx="4198800" cy="1763401"/>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r>
              <a:rPr lang="es" sz="1300" b="1" i="0" u="none" strike="noStrike" cap="none">
                <a:solidFill>
                  <a:srgbClr val="006455"/>
                </a:solidFill>
                <a:latin typeface="Montserrat"/>
                <a:ea typeface="Montserrat"/>
                <a:cs typeface="Montserrat"/>
                <a:sym typeface="Montserrat"/>
              </a:rPr>
              <a:t>Dra. Angélica Mariel Martínez López</a:t>
            </a:r>
          </a:p>
          <a:p>
            <a:pPr marL="0" marR="0" lvl="0" indent="0" algn="l" rtl="0">
              <a:lnSpc>
                <a:spcPct val="107916"/>
              </a:lnSpc>
              <a:spcBef>
                <a:spcPts val="0"/>
              </a:spcBef>
              <a:spcAft>
                <a:spcPts val="0"/>
              </a:spcAft>
              <a:buClr>
                <a:schemeClr val="dk1"/>
              </a:buClr>
              <a:buSzPts val="1100"/>
              <a:buFont typeface="Arial"/>
              <a:buNone/>
            </a:pPr>
            <a:endParaRPr sz="1000" b="0" i="0" u="none" strike="noStrike" cap="none">
              <a:solidFill>
                <a:schemeClr val="dk1"/>
              </a:solidFill>
              <a:latin typeface="Montserrat"/>
              <a:ea typeface="Montserrat"/>
              <a:cs typeface="Montserrat"/>
              <a:sym typeface="Montserrat"/>
            </a:endParaRPr>
          </a:p>
          <a:p>
            <a:pPr marL="269999" marR="0" lvl="0" indent="-140800" algn="l" rtl="0">
              <a:lnSpc>
                <a:spcPct val="107916"/>
              </a:lnSpc>
              <a:spcBef>
                <a:spcPts val="0"/>
              </a:spcBef>
              <a:spcAft>
                <a:spcPts val="0"/>
              </a:spcAft>
              <a:buClr>
                <a:schemeClr val="dk1"/>
              </a:buClr>
              <a:buSzPts val="800"/>
              <a:buFont typeface="Montserrat"/>
              <a:buChar char="●"/>
            </a:pPr>
            <a:r>
              <a:rPr lang="es" sz="1200" b="0" i="0" u="none" strike="noStrike" cap="none">
                <a:solidFill>
                  <a:schemeClr val="dk1"/>
                </a:solidFill>
                <a:latin typeface="Montserrat"/>
                <a:ea typeface="Montserrat"/>
                <a:cs typeface="Montserrat"/>
                <a:sym typeface="Montserrat"/>
              </a:rPr>
              <a:t>Médico con especialidad en Medicina Familiar </a:t>
            </a:r>
            <a:endParaRPr sz="1200" b="0" i="0" u="none" strike="noStrike" cap="none">
              <a:solidFill>
                <a:schemeClr val="dk1"/>
              </a:solidFill>
              <a:latin typeface="Montserrat"/>
              <a:ea typeface="Montserrat"/>
              <a:cs typeface="Montserrat"/>
              <a:sym typeface="Montserrat"/>
            </a:endParaRPr>
          </a:p>
          <a:p>
            <a:pPr marL="269999" marR="0" lvl="0" indent="-140800" algn="l" rtl="0">
              <a:lnSpc>
                <a:spcPct val="107916"/>
              </a:lnSpc>
              <a:spcBef>
                <a:spcPts val="0"/>
              </a:spcBef>
              <a:spcAft>
                <a:spcPts val="0"/>
              </a:spcAft>
              <a:buClr>
                <a:schemeClr val="dk1"/>
              </a:buClr>
              <a:buSzPts val="800"/>
              <a:buFont typeface="Montserrat"/>
              <a:buChar char="●"/>
            </a:pPr>
            <a:r>
              <a:rPr lang="es" sz="1200" b="0" i="0" u="none" strike="noStrike" cap="none">
                <a:solidFill>
                  <a:schemeClr val="dk1"/>
                </a:solidFill>
                <a:latin typeface="Montserrat"/>
                <a:ea typeface="Montserrat"/>
                <a:cs typeface="Montserrat"/>
                <a:sym typeface="Montserrat"/>
              </a:rPr>
              <a:t>Maestría en Gestión Directiva en Salud</a:t>
            </a:r>
            <a:endParaRPr sz="1200">
              <a:solidFill>
                <a:schemeClr val="dk1"/>
              </a:solidFill>
              <a:latin typeface="Montserrat"/>
              <a:ea typeface="Montserrat"/>
              <a:cs typeface="Montserrat"/>
              <a:sym typeface="Montserrat"/>
            </a:endParaRPr>
          </a:p>
          <a:p>
            <a:pPr marL="269999" marR="0" lvl="0" indent="-140800" algn="l" rtl="0">
              <a:lnSpc>
                <a:spcPct val="107916"/>
              </a:lnSpc>
              <a:spcBef>
                <a:spcPts val="0"/>
              </a:spcBef>
              <a:spcAft>
                <a:spcPts val="0"/>
              </a:spcAft>
              <a:buClr>
                <a:schemeClr val="dk1"/>
              </a:buClr>
              <a:buSzPts val="800"/>
              <a:buFont typeface="Montserrat"/>
              <a:buChar char="●"/>
            </a:pPr>
            <a:r>
              <a:rPr lang="es" sz="1200">
                <a:solidFill>
                  <a:schemeClr val="dk1"/>
                </a:solidFill>
                <a:latin typeface="Montserrat"/>
                <a:ea typeface="Montserrat"/>
                <a:cs typeface="Montserrat"/>
                <a:sym typeface="Montserrat"/>
              </a:rPr>
              <a:t>Doctorado en Administración y Políticas Públicas</a:t>
            </a:r>
            <a:endParaRPr sz="120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1" i="0" u="none" strike="noStrike" cap="none">
                <a:solidFill>
                  <a:srgbClr val="006858"/>
                </a:solidFill>
                <a:latin typeface="Montserrat"/>
                <a:ea typeface="Montserrat"/>
                <a:cs typeface="Montserrat"/>
                <a:sym typeface="Montserrat"/>
              </a:rPr>
              <a:t>Inicio en el cargo: 01 de Diciembre de 2024</a:t>
            </a:r>
            <a:endParaRPr sz="1200" b="1" i="0" u="none" strike="noStrike" cap="none">
              <a:solidFill>
                <a:srgbClr val="006858"/>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0" i="0" u="none" strike="noStrike" cap="none">
                <a:solidFill>
                  <a:srgbClr val="000000"/>
                </a:solidFill>
                <a:latin typeface="Montserrat"/>
                <a:ea typeface="Montserrat"/>
                <a:cs typeface="Montserrat"/>
                <a:sym typeface="Montserrat"/>
              </a:rPr>
              <a:t>Fue titular del OOAD en Morelos. </a:t>
            </a:r>
            <a:endParaRPr sz="1200" b="0" i="0" u="none" strike="noStrike" cap="none">
              <a:solidFill>
                <a:srgbClr val="000000"/>
              </a:solidFill>
              <a:latin typeface="Montserrat"/>
              <a:ea typeface="Montserrat"/>
              <a:cs typeface="Montserrat"/>
              <a:sym typeface="Montserrat"/>
            </a:endParaRPr>
          </a:p>
        </p:txBody>
      </p:sp>
      <p:pic>
        <p:nvPicPr>
          <p:cNvPr id="6" name="Google Shape;68;p15">
            <a:extLst>
              <a:ext uri="{FF2B5EF4-FFF2-40B4-BE49-F238E27FC236}">
                <a16:creationId xmlns:a16="http://schemas.microsoft.com/office/drawing/2014/main" id="{D27E3022-DC2D-93EF-5C14-4B8E83124C0A}"/>
              </a:ext>
            </a:extLst>
          </p:cNvPr>
          <p:cNvPicPr preferRelativeResize="0"/>
          <p:nvPr/>
        </p:nvPicPr>
        <p:blipFill rotWithShape="1">
          <a:blip r:embed="rId2">
            <a:alphaModFix/>
          </a:blip>
          <a:srcRect l="67576" t="2005" r="12706" b="67754"/>
          <a:stretch/>
        </p:blipFill>
        <p:spPr>
          <a:xfrm>
            <a:off x="1051925" y="708113"/>
            <a:ext cx="1667000" cy="1679645"/>
          </a:xfrm>
          <a:prstGeom prst="rect">
            <a:avLst/>
          </a:prstGeom>
          <a:noFill/>
          <a:ln>
            <a:noFill/>
          </a:ln>
        </p:spPr>
      </p:pic>
      <p:pic>
        <p:nvPicPr>
          <p:cNvPr id="7" name="Google Shape;69;p15">
            <a:extLst>
              <a:ext uri="{FF2B5EF4-FFF2-40B4-BE49-F238E27FC236}">
                <a16:creationId xmlns:a16="http://schemas.microsoft.com/office/drawing/2014/main" id="{64072485-F750-8AA2-FFDE-C274EB285958}"/>
              </a:ext>
            </a:extLst>
          </p:cNvPr>
          <p:cNvPicPr preferRelativeResize="0"/>
          <p:nvPr/>
        </p:nvPicPr>
        <p:blipFill rotWithShape="1">
          <a:blip r:embed="rId3">
            <a:alphaModFix/>
          </a:blip>
          <a:srcRect l="17048" t="10994" r="14374" b="39260"/>
          <a:stretch/>
        </p:blipFill>
        <p:spPr>
          <a:xfrm>
            <a:off x="5805475" y="3390259"/>
            <a:ext cx="988075" cy="904125"/>
          </a:xfrm>
          <a:prstGeom prst="rect">
            <a:avLst/>
          </a:prstGeom>
          <a:noFill/>
          <a:ln>
            <a:noFill/>
          </a:ln>
        </p:spPr>
      </p:pic>
      <p:pic>
        <p:nvPicPr>
          <p:cNvPr id="8" name="Google Shape;70;p15">
            <a:extLst>
              <a:ext uri="{FF2B5EF4-FFF2-40B4-BE49-F238E27FC236}">
                <a16:creationId xmlns:a16="http://schemas.microsoft.com/office/drawing/2014/main" id="{05DE4F93-9720-D51C-CC11-F65FF2E1268E}"/>
              </a:ext>
            </a:extLst>
          </p:cNvPr>
          <p:cNvPicPr preferRelativeResize="0"/>
          <p:nvPr/>
        </p:nvPicPr>
        <p:blipFill rotWithShape="1">
          <a:blip r:embed="rId4">
            <a:alphaModFix/>
          </a:blip>
          <a:srcRect l="3533" t="15789" r="5879"/>
          <a:stretch/>
        </p:blipFill>
        <p:spPr>
          <a:xfrm>
            <a:off x="5846425" y="7405329"/>
            <a:ext cx="988075" cy="904125"/>
          </a:xfrm>
          <a:prstGeom prst="rect">
            <a:avLst/>
          </a:prstGeom>
          <a:noFill/>
          <a:ln>
            <a:noFill/>
          </a:ln>
        </p:spPr>
      </p:pic>
      <p:pic>
        <p:nvPicPr>
          <p:cNvPr id="9" name="Google Shape;71;p15" title="WhatsApp Image 2025-07-10 at 8.12.40 PM.jpeg">
            <a:extLst>
              <a:ext uri="{FF2B5EF4-FFF2-40B4-BE49-F238E27FC236}">
                <a16:creationId xmlns:a16="http://schemas.microsoft.com/office/drawing/2014/main" id="{B5537702-C34B-003E-A1C8-B11352BE3F5B}"/>
              </a:ext>
            </a:extLst>
          </p:cNvPr>
          <p:cNvPicPr preferRelativeResize="0"/>
          <p:nvPr/>
        </p:nvPicPr>
        <p:blipFill rotWithShape="1">
          <a:blip r:embed="rId5">
            <a:alphaModFix/>
          </a:blip>
          <a:srcRect l="10679" t="3916" r="10679" b="17443"/>
          <a:stretch/>
        </p:blipFill>
        <p:spPr>
          <a:xfrm>
            <a:off x="5802612" y="2387758"/>
            <a:ext cx="997400" cy="1007737"/>
          </a:xfrm>
          <a:prstGeom prst="rect">
            <a:avLst/>
          </a:prstGeom>
          <a:noFill/>
          <a:ln>
            <a:noFill/>
          </a:ln>
        </p:spPr>
      </p:pic>
      <p:pic>
        <p:nvPicPr>
          <p:cNvPr id="10" name="Google Shape;72;p15">
            <a:extLst>
              <a:ext uri="{FF2B5EF4-FFF2-40B4-BE49-F238E27FC236}">
                <a16:creationId xmlns:a16="http://schemas.microsoft.com/office/drawing/2014/main" id="{96E32E1E-1F3F-116B-2EC3-7C82A33FEA29}"/>
              </a:ext>
            </a:extLst>
          </p:cNvPr>
          <p:cNvPicPr preferRelativeResize="0"/>
          <p:nvPr/>
        </p:nvPicPr>
        <p:blipFill rotWithShape="1">
          <a:blip r:embed="rId6">
            <a:alphaModFix/>
          </a:blip>
          <a:srcRect l="9690" t="11843" r="9698" b="-26"/>
          <a:stretch/>
        </p:blipFill>
        <p:spPr>
          <a:xfrm>
            <a:off x="5861352" y="8309454"/>
            <a:ext cx="988075" cy="904125"/>
          </a:xfrm>
          <a:prstGeom prst="rect">
            <a:avLst/>
          </a:prstGeom>
          <a:noFill/>
          <a:ln>
            <a:noFill/>
          </a:ln>
        </p:spPr>
      </p:pic>
      <p:pic>
        <p:nvPicPr>
          <p:cNvPr id="11" name="Google Shape;74;p15">
            <a:extLst>
              <a:ext uri="{FF2B5EF4-FFF2-40B4-BE49-F238E27FC236}">
                <a16:creationId xmlns:a16="http://schemas.microsoft.com/office/drawing/2014/main" id="{D94BE496-6A2D-5260-E0EE-4A89824C0BDB}"/>
              </a:ext>
            </a:extLst>
          </p:cNvPr>
          <p:cNvPicPr preferRelativeResize="0"/>
          <p:nvPr/>
        </p:nvPicPr>
        <p:blipFill>
          <a:blip r:embed="rId7">
            <a:alphaModFix/>
          </a:blip>
          <a:stretch>
            <a:fillRect/>
          </a:stretch>
        </p:blipFill>
        <p:spPr>
          <a:xfrm>
            <a:off x="5861352" y="5740914"/>
            <a:ext cx="973148" cy="753064"/>
          </a:xfrm>
          <a:prstGeom prst="rect">
            <a:avLst/>
          </a:prstGeom>
          <a:noFill/>
          <a:ln>
            <a:noFill/>
          </a:ln>
        </p:spPr>
      </p:pic>
      <p:pic>
        <p:nvPicPr>
          <p:cNvPr id="12" name="Google Shape;75;p15">
            <a:extLst>
              <a:ext uri="{FF2B5EF4-FFF2-40B4-BE49-F238E27FC236}">
                <a16:creationId xmlns:a16="http://schemas.microsoft.com/office/drawing/2014/main" id="{359E356C-195F-E290-FDD8-18A2361A24CD}"/>
              </a:ext>
            </a:extLst>
          </p:cNvPr>
          <p:cNvPicPr preferRelativeResize="0"/>
          <p:nvPr/>
        </p:nvPicPr>
        <p:blipFill>
          <a:blip r:embed="rId8">
            <a:alphaModFix/>
          </a:blip>
          <a:stretch>
            <a:fillRect/>
          </a:stretch>
        </p:blipFill>
        <p:spPr>
          <a:xfrm>
            <a:off x="5837950" y="6493975"/>
            <a:ext cx="988075" cy="904125"/>
          </a:xfrm>
          <a:prstGeom prst="rect">
            <a:avLst/>
          </a:prstGeom>
          <a:noFill/>
          <a:ln>
            <a:noFill/>
          </a:ln>
        </p:spPr>
      </p:pic>
      <p:pic>
        <p:nvPicPr>
          <p:cNvPr id="13" name="Google Shape;76;p15">
            <a:extLst>
              <a:ext uri="{FF2B5EF4-FFF2-40B4-BE49-F238E27FC236}">
                <a16:creationId xmlns:a16="http://schemas.microsoft.com/office/drawing/2014/main" id="{83233916-B809-D6DF-5887-6DB3B3F10E12}"/>
              </a:ext>
            </a:extLst>
          </p:cNvPr>
          <p:cNvPicPr preferRelativeResize="0"/>
          <p:nvPr/>
        </p:nvPicPr>
        <p:blipFill rotWithShape="1">
          <a:blip r:embed="rId9">
            <a:alphaModFix/>
          </a:blip>
          <a:srcRect l="8670" t="10439" r="18412" b="21686"/>
          <a:stretch/>
        </p:blipFill>
        <p:spPr>
          <a:xfrm>
            <a:off x="5837100" y="4872551"/>
            <a:ext cx="997400" cy="861134"/>
          </a:xfrm>
          <a:prstGeom prst="rect">
            <a:avLst/>
          </a:prstGeom>
          <a:noFill/>
          <a:ln>
            <a:noFill/>
          </a:ln>
        </p:spPr>
      </p:pic>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119600" y="4662103"/>
            <a:ext cx="5864400" cy="360000"/>
          </a:xfrm>
          <a:prstGeom prst="rect">
            <a:avLst/>
          </a:prstGeom>
          <a:noFill/>
        </p:spPr>
        <p:txBody>
          <a:bodyPr wrap="square">
            <a:spAutoFit/>
          </a:bodyPr>
          <a:lstStyle/>
          <a:p>
            <a:pPr algn="l">
              <a:defRPr sz="800">
                <a:solidFill>
                  <a:srgbClr val="000000"/>
                </a:solidFill>
                <a:latin typeface="Montserrat"/>
              </a:defRPr>
            </a:pPr>
            <a:r>
              <a:rPr dirty="0"/>
              <a:t>Fuente: CONAPO, </a:t>
            </a:r>
            <a:r>
              <a:rPr dirty="0" err="1"/>
              <a:t>proyección</a:t>
            </a:r>
            <a:r>
              <a:rPr dirty="0"/>
              <a:t>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338825" y="2961352"/>
            <a:ext cx="1188000" cy="503999"/>
          </a:xfrm>
          <a:prstGeom prst="rect">
            <a:avLst/>
          </a:prstGeom>
          <a:noFill/>
        </p:spPr>
        <p:txBody>
          <a:bodyPr wrap="none"/>
          <a:lstStyle/>
          <a:p>
            <a:pPr algn="l">
              <a:defRPr sz="1400" b="1">
                <a:solidFill>
                  <a:srgbClr val="595959"/>
                </a:solidFill>
                <a:latin typeface="Montserrat"/>
              </a:defRPr>
            </a:pPr>
            <a:r>
              <a:rPr dirty="0"/>
              <a:t>2,026,753</a:t>
            </a:r>
            <a:br>
              <a:rPr dirty="0"/>
            </a:br>
            <a:r>
              <a:rPr dirty="0"/>
              <a:t>64%</a:t>
            </a:r>
          </a:p>
        </p:txBody>
      </p:sp>
      <p:pic>
        <p:nvPicPr>
          <p:cNvPr id="119" name="Picture 118" descr="imss.png"/>
          <p:cNvPicPr>
            <a:picLocks noChangeAspect="1"/>
          </p:cNvPicPr>
          <p:nvPr/>
        </p:nvPicPr>
        <p:blipFill>
          <a:blip r:embed="rId6"/>
          <a:stretch>
            <a:fillRect/>
          </a:stretch>
        </p:blipFill>
        <p:spPr>
          <a:xfrm>
            <a:off x="5815171" y="3275718"/>
            <a:ext cx="377265" cy="468000"/>
          </a:xfrm>
          <a:prstGeom prst="rect">
            <a:avLst/>
          </a:prstGeom>
        </p:spPr>
      </p:pic>
      <p:sp>
        <p:nvSpPr>
          <p:cNvPr id="120" name="Rectangle 119"/>
          <p:cNvSpPr/>
          <p:nvPr/>
        </p:nvSpPr>
        <p:spPr>
          <a:xfrm>
            <a:off x="5400677" y="342365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900000" y="2937601"/>
            <a:ext cx="1188000" cy="503999"/>
          </a:xfrm>
          <a:prstGeom prst="rect">
            <a:avLst/>
          </a:prstGeom>
          <a:noFill/>
        </p:spPr>
        <p:txBody>
          <a:bodyPr wrap="none"/>
          <a:lstStyle/>
          <a:p>
            <a:pPr algn="l">
              <a:defRPr sz="1400" b="1">
                <a:solidFill>
                  <a:srgbClr val="595959"/>
                </a:solidFill>
                <a:latin typeface="Montserrat"/>
              </a:defRPr>
            </a:pPr>
            <a:r>
              <a:t>295,070</a:t>
            </a:r>
            <a:br/>
            <a:r>
              <a:t>9%</a:t>
            </a:r>
          </a:p>
        </p:txBody>
      </p:sp>
      <p:pic>
        <p:nvPicPr>
          <p:cNvPr id="122" name="Picture 121" descr="issste.png"/>
          <p:cNvPicPr>
            <a:picLocks noChangeAspect="1"/>
          </p:cNvPicPr>
          <p:nvPr/>
        </p:nvPicPr>
        <p:blipFill>
          <a:blip r:embed="rId7"/>
          <a:stretch>
            <a:fillRect/>
          </a:stretch>
        </p:blipFill>
        <p:spPr>
          <a:xfrm>
            <a:off x="626400" y="3514433"/>
            <a:ext cx="1437091" cy="468000"/>
          </a:xfrm>
          <a:prstGeom prst="rect">
            <a:avLst/>
          </a:prstGeom>
        </p:spPr>
      </p:pic>
      <p:sp>
        <p:nvSpPr>
          <p:cNvPr id="123" name="Rectangle 122"/>
          <p:cNvSpPr/>
          <p:nvPr/>
        </p:nvSpPr>
        <p:spPr>
          <a:xfrm>
            <a:off x="2206800" y="3246636"/>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26400" y="1140234"/>
            <a:ext cx="1188000" cy="503999"/>
          </a:xfrm>
          <a:prstGeom prst="rect">
            <a:avLst/>
          </a:prstGeom>
          <a:noFill/>
        </p:spPr>
        <p:txBody>
          <a:bodyPr wrap="none"/>
          <a:lstStyle/>
          <a:p>
            <a:pPr algn="r">
              <a:defRPr sz="1400" b="1">
                <a:solidFill>
                  <a:srgbClr val="595959"/>
                </a:solidFill>
                <a:latin typeface="Montserrat"/>
              </a:defRPr>
            </a:pPr>
            <a:r>
              <a:rPr dirty="0"/>
              <a:t>837,440</a:t>
            </a:r>
            <a:br>
              <a:rPr dirty="0"/>
            </a:br>
            <a:r>
              <a:rPr dirty="0"/>
              <a:t>26%</a:t>
            </a:r>
          </a:p>
        </p:txBody>
      </p:sp>
      <p:pic>
        <p:nvPicPr>
          <p:cNvPr id="125" name="Picture 124" descr="26.png"/>
          <p:cNvPicPr>
            <a:picLocks noChangeAspect="1"/>
          </p:cNvPicPr>
          <p:nvPr/>
        </p:nvPicPr>
        <p:blipFill>
          <a:blip r:embed="rId8"/>
          <a:stretch>
            <a:fillRect/>
          </a:stretch>
        </p:blipFill>
        <p:spPr>
          <a:xfrm>
            <a:off x="596884" y="1485833"/>
            <a:ext cx="1247031" cy="468000"/>
          </a:xfrm>
          <a:prstGeom prst="rect">
            <a:avLst/>
          </a:prstGeom>
        </p:spPr>
      </p:pic>
      <p:sp>
        <p:nvSpPr>
          <p:cNvPr id="126" name="Rectangle 125"/>
          <p:cNvSpPr/>
          <p:nvPr/>
        </p:nvSpPr>
        <p:spPr>
          <a:xfrm>
            <a:off x="2467431" y="1592395"/>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5446653" y="1140234"/>
            <a:ext cx="1348998" cy="503999"/>
          </a:xfrm>
          <a:prstGeom prst="rect">
            <a:avLst/>
          </a:prstGeom>
          <a:noFill/>
        </p:spPr>
        <p:txBody>
          <a:bodyPr wrap="none"/>
          <a:lstStyle/>
          <a:p>
            <a:pPr algn="r">
              <a:defRPr sz="1400" b="1">
                <a:solidFill>
                  <a:srgbClr val="595959"/>
                </a:solidFill>
                <a:latin typeface="Montserrat"/>
              </a:defRPr>
            </a:pPr>
            <a:r>
              <a:rPr dirty="0" err="1"/>
              <a:t>Otros</a:t>
            </a:r>
            <a:br>
              <a:rPr dirty="0"/>
            </a:br>
            <a:r>
              <a:rPr dirty="0"/>
              <a:t>9,361</a:t>
            </a:r>
            <a:br>
              <a:rPr dirty="0"/>
            </a:br>
            <a:r>
              <a:rPr dirty="0"/>
              <a:t>0.30%</a:t>
            </a:r>
          </a:p>
        </p:txBody>
      </p:sp>
      <p:pic>
        <p:nvPicPr>
          <p:cNvPr id="128" name="Picture 127" descr="otros.png"/>
          <p:cNvPicPr>
            <a:picLocks noChangeAspect="1"/>
          </p:cNvPicPr>
          <p:nvPr/>
        </p:nvPicPr>
        <p:blipFill>
          <a:blip r:embed="rId9"/>
          <a:stretch>
            <a:fillRect/>
          </a:stretch>
        </p:blipFill>
        <p:spPr>
          <a:xfrm>
            <a:off x="5599074" y="1266099"/>
            <a:ext cx="468000" cy="468000"/>
          </a:xfrm>
          <a:prstGeom prst="rect">
            <a:avLst/>
          </a:prstGeom>
        </p:spPr>
      </p:pic>
      <p:sp>
        <p:nvSpPr>
          <p:cNvPr id="129" name="Rectangle 128"/>
          <p:cNvSpPr/>
          <p:nvPr/>
        </p:nvSpPr>
        <p:spPr>
          <a:xfrm>
            <a:off x="5171656" y="1364562"/>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3,168,624</a:t>
            </a:r>
          </a:p>
        </p:txBody>
      </p:sp>
      <p:sp>
        <p:nvSpPr>
          <p:cNvPr id="131" name="TextBox 130"/>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2" name="TextBox 131"/>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3" name="TextBox 132"/>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solidFill>
                      <a:srgbClr val="006455"/>
                    </a:solidFill>
                  </a:tcPr>
                </a:tc>
                <a:tc>
                  <a:txBody>
                    <a:bodyPr/>
                    <a:lstStyle/>
                    <a:p>
                      <a:pPr algn="ctr">
                        <a:defRPr sz="900" b="1">
                          <a:solidFill>
                            <a:srgbClr val="FFFFFF"/>
                          </a:solidFill>
                          <a:latin typeface="Montserrat"/>
                        </a:defRPr>
                      </a:pPr>
                      <a:r>
                        <a:t>2018</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a:txBody>
                    <a:bodyPr/>
                    <a:lstStyle/>
                    <a:p>
                      <a:pPr algn="ctr">
                        <a:defRPr sz="900" b="1">
                          <a:solidFill>
                            <a:srgbClr val="FFFFFF"/>
                          </a:solidFill>
                          <a:latin typeface="Montserrat"/>
                        </a:defRPr>
                      </a:pPr>
                      <a:r>
                        <a:t>Variación</a:t>
                      </a:r>
                    </a:p>
                  </a:txBody>
                  <a:tcP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1,839,183</a:t>
                      </a:r>
                    </a:p>
                  </a:txBody>
                  <a:tcPr>
                    <a:solidFill>
                      <a:srgbClr val="EBD2D9"/>
                    </a:solidFill>
                  </a:tcPr>
                </a:tc>
                <a:tc>
                  <a:txBody>
                    <a:bodyPr/>
                    <a:lstStyle/>
                    <a:p>
                      <a:pPr algn="ctr">
                        <a:defRPr sz="900" b="1">
                          <a:solidFill>
                            <a:srgbClr val="000000"/>
                          </a:solidFill>
                          <a:latin typeface="Montserrat"/>
                        </a:defRPr>
                      </a:pPr>
                      <a:r>
                        <a:t>2,026,753</a:t>
                      </a:r>
                    </a:p>
                  </a:txBody>
                  <a:tcPr>
                    <a:solidFill>
                      <a:srgbClr val="EBD2D9"/>
                    </a:solidFill>
                  </a:tcPr>
                </a:tc>
                <a:tc>
                  <a:txBody>
                    <a:bodyPr/>
                    <a:lstStyle/>
                    <a:p>
                      <a:pPr algn="ctr">
                        <a:defRPr sz="900" b="1">
                          <a:solidFill>
                            <a:srgbClr val="000000"/>
                          </a:solidFill>
                          <a:latin typeface="Montserrat"/>
                        </a:defRPr>
                      </a:pPr>
                      <a:r>
                        <a:t>10%</a:t>
                      </a:r>
                    </a:p>
                  </a:txBody>
                  <a:tcP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989,213</a:t>
                      </a:r>
                    </a:p>
                  </a:txBody>
                  <a:tcPr>
                    <a:solidFill>
                      <a:srgbClr val="EBD2D9"/>
                    </a:solidFill>
                  </a:tcPr>
                </a:tc>
                <a:tc>
                  <a:txBody>
                    <a:bodyPr/>
                    <a:lstStyle/>
                    <a:p>
                      <a:pPr algn="ctr">
                        <a:defRPr sz="900" b="1">
                          <a:solidFill>
                            <a:srgbClr val="000000"/>
                          </a:solidFill>
                          <a:latin typeface="Montserrat"/>
                        </a:defRPr>
                      </a:pPr>
                      <a:r>
                        <a:t>1,164,103</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607,140</a:t>
                      </a:r>
                    </a:p>
                  </a:txBody>
                  <a:tcPr>
                    <a:solidFill>
                      <a:srgbClr val="F8F4EC"/>
                    </a:solidFill>
                  </a:tcPr>
                </a:tc>
                <a:tc>
                  <a:txBody>
                    <a:bodyPr/>
                    <a:lstStyle/>
                    <a:p>
                      <a:pPr algn="ctr">
                        <a:defRPr sz="900" b="1">
                          <a:solidFill>
                            <a:srgbClr val="000000"/>
                          </a:solidFill>
                          <a:latin typeface="Montserrat"/>
                        </a:defRPr>
                      </a:pPr>
                      <a:r>
                        <a:t>651,423</a:t>
                      </a:r>
                    </a:p>
                  </a:txBody>
                  <a:tcPr>
                    <a:solidFill>
                      <a:srgbClr val="F8F4EC"/>
                    </a:solidFill>
                  </a:tcPr>
                </a:tc>
                <a:tc>
                  <a:txBody>
                    <a:bodyPr/>
                    <a:lstStyle/>
                    <a:p>
                      <a:pPr algn="ctr">
                        <a:defRPr sz="900" b="1">
                          <a:solidFill>
                            <a:srgbClr val="000000"/>
                          </a:solidFill>
                          <a:latin typeface="Montserrat"/>
                        </a:defRPr>
                      </a:pPr>
                      <a:r>
                        <a:t>7%</a:t>
                      </a:r>
                    </a:p>
                  </a:txBody>
                  <a:tcP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155,322</a:t>
                      </a:r>
                    </a:p>
                  </a:txBody>
                  <a:tcPr>
                    <a:solidFill>
                      <a:srgbClr val="FFFFFF"/>
                    </a:solidFill>
                  </a:tcPr>
                </a:tc>
                <a:tc>
                  <a:txBody>
                    <a:bodyPr/>
                    <a:lstStyle/>
                    <a:p>
                      <a:pPr algn="ctr">
                        <a:defRPr sz="900">
                          <a:solidFill>
                            <a:srgbClr val="000000"/>
                          </a:solidFill>
                          <a:latin typeface="Montserrat"/>
                        </a:defRPr>
                      </a:pPr>
                      <a:r>
                        <a:t>229,243</a:t>
                      </a:r>
                    </a:p>
                  </a:txBody>
                  <a:tcPr>
                    <a:solidFill>
                      <a:srgbClr val="FFFFFF"/>
                    </a:solidFill>
                  </a:tcPr>
                </a:tc>
                <a:tc>
                  <a:txBody>
                    <a:bodyPr/>
                    <a:lstStyle/>
                    <a:p>
                      <a:pPr algn="ctr">
                        <a:defRPr sz="900">
                          <a:solidFill>
                            <a:srgbClr val="000000"/>
                          </a:solidFill>
                          <a:latin typeface="Montserrat"/>
                        </a:defRPr>
                      </a:pPr>
                      <a:r>
                        <a:t>48%</a:t>
                      </a:r>
                    </a:p>
                  </a:txBody>
                  <a:tcP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24,914</a:t>
                      </a:r>
                    </a:p>
                  </a:txBody>
                  <a:tcPr>
                    <a:solidFill>
                      <a:srgbClr val="FFFFFF"/>
                    </a:solidFill>
                  </a:tcPr>
                </a:tc>
                <a:tc>
                  <a:txBody>
                    <a:bodyPr/>
                    <a:lstStyle/>
                    <a:p>
                      <a:pPr algn="ctr">
                        <a:defRPr sz="900">
                          <a:solidFill>
                            <a:srgbClr val="000000"/>
                          </a:solidFill>
                          <a:latin typeface="Montserrat"/>
                        </a:defRPr>
                      </a:pPr>
                      <a:r>
                        <a:t>20,871</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201,837</a:t>
                      </a:r>
                    </a:p>
                  </a:txBody>
                  <a:tcPr>
                    <a:solidFill>
                      <a:srgbClr val="CCE0DD"/>
                    </a:solidFill>
                  </a:tcPr>
                </a:tc>
                <a:tc>
                  <a:txBody>
                    <a:bodyPr/>
                    <a:lstStyle/>
                    <a:p>
                      <a:pPr algn="ctr">
                        <a:defRPr sz="900" b="1">
                          <a:solidFill>
                            <a:srgbClr val="000000"/>
                          </a:solidFill>
                          <a:latin typeface="Montserrat"/>
                        </a:defRPr>
                      </a:pPr>
                      <a:r>
                        <a:t>226,773</a:t>
                      </a:r>
                    </a:p>
                  </a:txBody>
                  <a:tcPr>
                    <a:solidFill>
                      <a:srgbClr val="CCE0DD"/>
                    </a:solidFill>
                  </a:tcPr>
                </a:tc>
                <a:tc>
                  <a:txBody>
                    <a:bodyPr/>
                    <a:lstStyle/>
                    <a:p>
                      <a:pPr algn="ctr">
                        <a:defRPr sz="900" b="1">
                          <a:solidFill>
                            <a:srgbClr val="000000"/>
                          </a:solidFill>
                          <a:latin typeface="Montserrat"/>
                        </a:defRPr>
                      </a:pPr>
                      <a:r>
                        <a:t>12%</a:t>
                      </a:r>
                    </a:p>
                  </a:txBody>
                  <a:tcP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rPr dirty="0"/>
                        <a:t>192,124</a:t>
                      </a:r>
                    </a:p>
                  </a:txBody>
                  <a:tcPr>
                    <a:solidFill>
                      <a:srgbClr val="FFFFFF"/>
                    </a:solidFill>
                  </a:tcPr>
                </a:tc>
                <a:tc>
                  <a:txBody>
                    <a:bodyPr/>
                    <a:lstStyle/>
                    <a:p>
                      <a:pPr algn="ctr">
                        <a:defRPr sz="900">
                          <a:solidFill>
                            <a:srgbClr val="000000"/>
                          </a:solidFill>
                          <a:latin typeface="Montserrat"/>
                        </a:defRPr>
                      </a:pPr>
                      <a:r>
                        <a:t>216,028</a:t>
                      </a:r>
                    </a:p>
                  </a:txBody>
                  <a:tcPr>
                    <a:solidFill>
                      <a:srgbClr val="FFFFFF"/>
                    </a:solidFill>
                  </a:tcPr>
                </a:tc>
                <a:tc>
                  <a:txBody>
                    <a:bodyPr/>
                    <a:lstStyle/>
                    <a:p>
                      <a:pPr algn="ctr">
                        <a:defRPr sz="900">
                          <a:solidFill>
                            <a:srgbClr val="000000"/>
                          </a:solidFill>
                          <a:latin typeface="Montserrat"/>
                        </a:defRPr>
                      </a:pPr>
                      <a:r>
                        <a:t>12%</a:t>
                      </a:r>
                    </a:p>
                  </a:txBody>
                  <a:tcP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4,522</a:t>
                      </a:r>
                    </a:p>
                  </a:txBody>
                  <a:tcPr>
                    <a:solidFill>
                      <a:srgbClr val="FFFFFF"/>
                    </a:solidFill>
                  </a:tcPr>
                </a:tc>
                <a:tc>
                  <a:txBody>
                    <a:bodyPr/>
                    <a:lstStyle/>
                    <a:p>
                      <a:pPr algn="ctr">
                        <a:defRPr sz="900">
                          <a:solidFill>
                            <a:srgbClr val="000000"/>
                          </a:solidFill>
                          <a:latin typeface="Montserrat"/>
                        </a:defRPr>
                      </a:pPr>
                      <a:r>
                        <a:t>1,186</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5,191</a:t>
                      </a:r>
                    </a:p>
                  </a:txBody>
                  <a:tcPr>
                    <a:solidFill>
                      <a:srgbClr val="FFFFFF"/>
                    </a:solidFill>
                  </a:tcPr>
                </a:tc>
                <a:tc>
                  <a:txBody>
                    <a:bodyPr/>
                    <a:lstStyle/>
                    <a:p>
                      <a:pPr algn="ctr">
                        <a:defRPr sz="900">
                          <a:solidFill>
                            <a:srgbClr val="000000"/>
                          </a:solidFill>
                          <a:latin typeface="Montserrat"/>
                        </a:defRPr>
                      </a:pPr>
                      <a:r>
                        <a:t>9,559</a:t>
                      </a:r>
                    </a:p>
                  </a:txBody>
                  <a:tcPr>
                    <a:solidFill>
                      <a:srgbClr val="FFFFFF"/>
                    </a:solidFill>
                  </a:tcPr>
                </a:tc>
                <a:tc>
                  <a:txBody>
                    <a:bodyPr/>
                    <a:lstStyle/>
                    <a:p>
                      <a:pPr algn="ctr">
                        <a:defRPr sz="900">
                          <a:solidFill>
                            <a:srgbClr val="000000"/>
                          </a:solidFill>
                          <a:latin typeface="Montserrat"/>
                        </a:defRPr>
                      </a:pPr>
                      <a:r>
                        <a:t>84%</a:t>
                      </a:r>
                    </a:p>
                  </a:txBody>
                  <a:tcP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849,970</a:t>
                      </a:r>
                    </a:p>
                  </a:txBody>
                  <a:tcPr>
                    <a:solidFill>
                      <a:srgbClr val="EBD2D9"/>
                    </a:solidFill>
                  </a:tcPr>
                </a:tc>
                <a:tc>
                  <a:txBody>
                    <a:bodyPr/>
                    <a:lstStyle/>
                    <a:p>
                      <a:pPr algn="ctr">
                        <a:defRPr sz="900" b="1">
                          <a:solidFill>
                            <a:srgbClr val="000000"/>
                          </a:solidFill>
                          <a:latin typeface="Montserrat"/>
                        </a:defRPr>
                      </a:pPr>
                      <a:r>
                        <a:t>862,650</a:t>
                      </a:r>
                    </a:p>
                  </a:txBody>
                  <a:tcPr>
                    <a:solidFill>
                      <a:srgbClr val="EBD2D9"/>
                    </a:solidFill>
                  </a:tcPr>
                </a:tc>
                <a:tc>
                  <a:txBody>
                    <a:bodyPr/>
                    <a:lstStyle/>
                    <a:p>
                      <a:pPr algn="ctr">
                        <a:defRPr sz="900" b="1">
                          <a:solidFill>
                            <a:srgbClr val="000000"/>
                          </a:solidFill>
                          <a:latin typeface="Montserrat"/>
                        </a:defRPr>
                      </a:pPr>
                      <a:r>
                        <a:t>1%</a:t>
                      </a:r>
                    </a:p>
                  </a:txBody>
                  <a:tcP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283,081</a:t>
                      </a:r>
                    </a:p>
                  </a:txBody>
                  <a:tcPr>
                    <a:solidFill>
                      <a:srgbClr val="FFFFFF"/>
                    </a:solidFill>
                  </a:tcPr>
                </a:tc>
                <a:tc>
                  <a:txBody>
                    <a:bodyPr/>
                    <a:lstStyle/>
                    <a:p>
                      <a:pPr algn="ctr">
                        <a:defRPr sz="900">
                          <a:solidFill>
                            <a:srgbClr val="000000"/>
                          </a:solidFill>
                          <a:latin typeface="Montserrat"/>
                        </a:defRPr>
                      </a:pPr>
                      <a:r>
                        <a:t>312,835</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426,839</a:t>
                      </a:r>
                    </a:p>
                  </a:txBody>
                  <a:tcPr>
                    <a:solidFill>
                      <a:srgbClr val="FFFFFF"/>
                    </a:solidFill>
                  </a:tcPr>
                </a:tc>
                <a:tc>
                  <a:txBody>
                    <a:bodyPr/>
                    <a:lstStyle/>
                    <a:p>
                      <a:pPr algn="ctr">
                        <a:defRPr sz="900">
                          <a:solidFill>
                            <a:srgbClr val="000000"/>
                          </a:solidFill>
                          <a:latin typeface="Montserrat"/>
                        </a:defRPr>
                      </a:pPr>
                      <a:r>
                        <a:t>361,466</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140,050</a:t>
                      </a:r>
                    </a:p>
                  </a:txBody>
                  <a:tcPr>
                    <a:solidFill>
                      <a:srgbClr val="FFFFFF"/>
                    </a:solidFill>
                  </a:tcPr>
                </a:tc>
                <a:tc>
                  <a:txBody>
                    <a:bodyPr/>
                    <a:lstStyle/>
                    <a:p>
                      <a:pPr algn="ctr">
                        <a:defRPr sz="900">
                          <a:solidFill>
                            <a:srgbClr val="000000"/>
                          </a:solidFill>
                          <a:latin typeface="Montserrat"/>
                        </a:defRPr>
                      </a:pPr>
                      <a:r>
                        <a:t>188,349</a:t>
                      </a:r>
                    </a:p>
                  </a:txBody>
                  <a:tcPr>
                    <a:solidFill>
                      <a:srgbClr val="FFFFFF"/>
                    </a:solidFill>
                  </a:tcPr>
                </a:tc>
                <a:tc>
                  <a:txBody>
                    <a:bodyPr/>
                    <a:lstStyle/>
                    <a:p>
                      <a:pPr algn="ctr">
                        <a:defRPr sz="900">
                          <a:solidFill>
                            <a:srgbClr val="000000"/>
                          </a:solidFill>
                          <a:latin typeface="Montserrat"/>
                        </a:defRPr>
                      </a:pPr>
                      <a:r>
                        <a:rPr dirty="0"/>
                        <a:t>34%</a:t>
                      </a:r>
                    </a:p>
                  </a:txBody>
                  <a:tcPr>
                    <a:solidFill>
                      <a:srgbClr val="FFFFFF"/>
                    </a:solidFill>
                  </a:tcPr>
                </a:tc>
                <a:extLst>
                  <a:ext uri="{0D108BD9-81ED-4DB2-BD59-A6C34878D82A}">
                    <a16:rowId xmlns:a16="http://schemas.microsoft.com/office/drawing/2014/main" val="10013"/>
                  </a:ext>
                </a:extLst>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2,086</a:t>
                      </a:r>
                    </a:p>
                  </a:txBody>
                  <a:tcPr>
                    <a:solidFill>
                      <a:srgbClr val="F8F4EC"/>
                    </a:solidFill>
                  </a:tcPr>
                </a:tc>
                <a:tc>
                  <a:txBody>
                    <a:bodyPr/>
                    <a:lstStyle/>
                    <a:p>
                      <a:pPr algn="ctr">
                        <a:defRPr sz="900" b="1">
                          <a:latin typeface="Montserrat"/>
                        </a:defRPr>
                      </a:pPr>
                      <a:r>
                        <a:t>2,150</a:t>
                      </a:r>
                    </a:p>
                  </a:txBody>
                  <a:tcPr>
                    <a:solidFill>
                      <a:srgbClr val="F8F4EC"/>
                    </a:solidFill>
                  </a:tcPr>
                </a:tc>
                <a:tc>
                  <a:txBody>
                    <a:bodyPr/>
                    <a:lstStyle/>
                    <a:p>
                      <a:pPr algn="ctr">
                        <a:defRPr sz="900" b="1">
                          <a:latin typeface="Montserrat"/>
                        </a:defRPr>
                      </a:pPr>
                      <a:r>
                        <a:t>3%</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12,784</a:t>
                      </a:r>
                    </a:p>
                  </a:txBody>
                  <a:tcPr>
                    <a:solidFill>
                      <a:srgbClr val="F8F4EC"/>
                    </a:solidFill>
                  </a:tcPr>
                </a:tc>
                <a:tc>
                  <a:txBody>
                    <a:bodyPr/>
                    <a:lstStyle/>
                    <a:p>
                      <a:pPr algn="ctr">
                        <a:defRPr sz="900" b="1">
                          <a:latin typeface="Montserrat"/>
                        </a:defRPr>
                      </a:pPr>
                      <a:r>
                        <a:t>17,596</a:t>
                      </a:r>
                    </a:p>
                  </a:txBody>
                  <a:tcPr>
                    <a:solidFill>
                      <a:srgbClr val="F8F4EC"/>
                    </a:solidFill>
                  </a:tcPr>
                </a:tc>
                <a:tc>
                  <a:txBody>
                    <a:bodyPr/>
                    <a:lstStyle/>
                    <a:p>
                      <a:pPr algn="ctr">
                        <a:defRPr sz="900" b="1">
                          <a:latin typeface="Montserrat"/>
                        </a:defRPr>
                      </a:pPr>
                      <a:r>
                        <a:t>38%</a:t>
                      </a:r>
                    </a:p>
                  </a:txBody>
                  <a:tcPr>
                    <a:solidFill>
                      <a:srgbClr val="F8F4EC"/>
                    </a:solidFill>
                  </a:tcPr>
                </a:tc>
                <a:extLst>
                  <a:ext uri="{0D108BD9-81ED-4DB2-BD59-A6C34878D82A}">
                    <a16:rowId xmlns:a16="http://schemas.microsoft.com/office/drawing/2014/main" val="10002"/>
                  </a:ext>
                </a:extLst>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142086423"/>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6_son.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816096753"/>
              </p:ext>
            </p:extLst>
          </p:nvPr>
        </p:nvGraphicFramePr>
        <p:xfrm>
          <a:off x="1706400" y="6854400"/>
          <a:ext cx="4359600" cy="1496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dirty="0">
                          <a:latin typeface="Montserrat"/>
                        </a:rPr>
                        <a:t>63</a:t>
                      </a:r>
                      <a:r>
                        <a:rPr sz="700" baseline="30000" dirty="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FFFFFF"/>
                    </a:solidFill>
                  </a:tcPr>
                </a:tc>
                <a:tc>
                  <a:txBody>
                    <a:bodyPr/>
                    <a:lstStyle/>
                    <a:p>
                      <a:pPr algn="ctr">
                        <a:defRPr sz="1000">
                          <a:solidFill>
                            <a:srgbClr val="000000"/>
                          </a:solidFill>
                          <a:latin typeface="Montserrat"/>
                        </a:defRPr>
                      </a:pPr>
                      <a:r>
                        <a:rPr lang="es-MX" sz="1000" dirty="0">
                          <a:latin typeface="Montserrat"/>
                        </a:rPr>
                        <a:t>87</a:t>
                      </a:r>
                      <a:endParaRPr sz="1000" dirty="0">
                        <a:latin typeface="Montserrat"/>
                      </a:endParaRP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dirty="0">
                          <a:latin typeface="Montserrat"/>
                        </a:rPr>
                        <a:t>78</a:t>
                      </a:r>
                      <a:r>
                        <a:rPr lang="es-MX" sz="1000" dirty="0">
                          <a:latin typeface="Montserrat"/>
                        </a:rPr>
                        <a:t>3</a:t>
                      </a:r>
                      <a:endParaRPr sz="1000" dirty="0">
                        <a:latin typeface="Montserrat"/>
                      </a:endParaRP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188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dirty="0">
                          <a:latin typeface="Montserrat"/>
                        </a:rPr>
                        <a:t>128</a:t>
                      </a:r>
                    </a:p>
                  </a:txBody>
                  <a:tcPr marL="10800" marR="10800" marT="10800" marB="10800" anchor="ctr">
                    <a:solidFill>
                      <a:srgbClr val="FFFFFF"/>
                    </a:solidFill>
                  </a:tcPr>
                </a:tc>
                <a:extLst>
                  <a:ext uri="{0D108BD9-81ED-4DB2-BD59-A6C34878D82A}">
                    <a16:rowId xmlns:a16="http://schemas.microsoft.com/office/drawing/2014/main" val="10004"/>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82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dirty="0">
                          <a:latin typeface="Montserrat"/>
                        </a:rPr>
                        <a:t>9</a:t>
                      </a:r>
                      <a:r>
                        <a:rPr lang="es-MX" sz="1000" dirty="0">
                          <a:latin typeface="Montserrat"/>
                        </a:rPr>
                        <a:t>98</a:t>
                      </a:r>
                      <a:endParaRPr sz="1000" dirty="0">
                        <a:latin typeface="Montserrat"/>
                      </a:endParaRPr>
                    </a:p>
                  </a:txBody>
                  <a:tcPr marL="10800" marR="10800" marT="10800" marB="10800" anchor="ctr">
                    <a:solidFill>
                      <a:srgbClr val="D3E9E7"/>
                    </a:solidFill>
                  </a:tcPr>
                </a:tc>
                <a:extLst>
                  <a:ext uri="{0D108BD9-81ED-4DB2-BD59-A6C34878D82A}">
                    <a16:rowId xmlns:a16="http://schemas.microsoft.com/office/drawing/2014/main" val="10005"/>
                  </a:ext>
                </a:extLst>
              </a:tr>
            </a:tbl>
          </a:graphicData>
        </a:graphic>
      </p:graphicFrame>
      <p:graphicFrame>
        <p:nvGraphicFramePr>
          <p:cNvPr id="136" name="Table 135"/>
          <p:cNvGraphicFramePr>
            <a:graphicFrameLocks noGrp="1"/>
          </p:cNvGraphicFramePr>
          <p:nvPr/>
        </p:nvGraphicFramePr>
        <p:xfrm>
          <a:off x="5659200" y="1155600"/>
          <a:ext cx="2026800" cy="146304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19560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extLst>
                  <a:ext uri="{0D108BD9-81ED-4DB2-BD59-A6C34878D82A}">
                    <a16:rowId xmlns:a16="http://schemas.microsoft.com/office/drawing/2014/main" val="10001"/>
                  </a:ext>
                </a:extLst>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7</a:t>
                      </a:r>
                    </a:p>
                  </a:txBody>
                  <a:tcPr>
                    <a:solidFill>
                      <a:srgbClr val="FFFFFF"/>
                    </a:solidFill>
                  </a:tcPr>
                </a:tc>
                <a:extLst>
                  <a:ext uri="{0D108BD9-81ED-4DB2-BD59-A6C34878D82A}">
                    <a16:rowId xmlns:a16="http://schemas.microsoft.com/office/drawing/2014/main" val="10002"/>
                  </a:ext>
                </a:extLst>
              </a:tr>
              <a:tr h="19560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extLst>
                  <a:ext uri="{0D108BD9-81ED-4DB2-BD59-A6C34878D82A}">
                    <a16:rowId xmlns:a16="http://schemas.microsoft.com/office/drawing/2014/main" val="10003"/>
                  </a:ext>
                </a:extLst>
              </a:tr>
              <a:tr h="195600">
                <a:tc>
                  <a:txBody>
                    <a:bodyPr/>
                    <a:lstStyle/>
                    <a:p>
                      <a:pPr algn="ctr">
                        <a:defRPr sz="1000">
                          <a:solidFill>
                            <a:srgbClr val="000000"/>
                          </a:solidFill>
                          <a:latin typeface="Montserrat"/>
                        </a:defRPr>
                      </a:pPr>
                      <a:r>
                        <a:t>HGP</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4"/>
                  </a:ext>
                </a:extLst>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extLst>
                  <a:ext uri="{0D108BD9-81ED-4DB2-BD59-A6C34878D82A}">
                    <a16:rowId xmlns:a16="http://schemas.microsoft.com/office/drawing/2014/main" val="10005"/>
                  </a:ext>
                </a:extLst>
              </a:tr>
            </a:tbl>
          </a:graphicData>
        </a:graphic>
      </p:graphicFrame>
      <p:sp>
        <p:nvSpPr>
          <p:cNvPr id="137" name="TextBox 136"/>
          <p:cNvSpPr txBox="1"/>
          <p:nvPr/>
        </p:nvSpPr>
        <p:spPr>
          <a:xfrm>
            <a:off x="286200" y="9594000"/>
            <a:ext cx="7200000" cy="360000"/>
          </a:xfrm>
          <a:prstGeom prst="rect">
            <a:avLst/>
          </a:prstGeom>
          <a:noFill/>
        </p:spPr>
        <p:txBody>
          <a:bodyPr wrap="square" lIns="0" tIns="0" rIns="0" bIns="0">
            <a:spAutoFit/>
          </a:bodyPr>
          <a:lstStyle/>
          <a:p>
            <a:pPr algn="l">
              <a:defRPr sz="700">
                <a:solidFill>
                  <a:srgbClr val="FFFFFF"/>
                </a:solidFill>
                <a:latin typeface="Montserrat"/>
              </a:defRPr>
            </a:pPr>
            <a:r>
              <a:rPr dirty="0"/>
              <a:t>¹ </a:t>
            </a:r>
            <a:r>
              <a:rPr dirty="0" err="1"/>
              <a:t>Incluye</a:t>
            </a:r>
            <a:r>
              <a:rPr dirty="0"/>
              <a:t> 58 UMF, 4 UMFH, 1 UMF-UMAA y no </a:t>
            </a:r>
            <a:r>
              <a:rPr dirty="0" err="1"/>
              <a:t>incluye</a:t>
            </a:r>
            <a:r>
              <a:rPr dirty="0"/>
              <a:t> 6 Unidades </a:t>
            </a:r>
            <a:r>
              <a:rPr dirty="0" err="1"/>
              <a:t>Auxiliares</a:t>
            </a:r>
            <a:r>
              <a:rPr dirty="0"/>
              <a:t> de Medicina Familiar.</a:t>
            </a:r>
          </a:p>
        </p:txBody>
      </p:sp>
      <p:sp>
        <p:nvSpPr>
          <p:cNvPr id="138" name="TextBox 137"/>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rPr dirty="0"/>
              <a:t>Corte de información: ma</a:t>
            </a:r>
            <a:r>
              <a:rPr lang="es-MX" dirty="0"/>
              <a:t>y</a:t>
            </a:r>
            <a:r>
              <a:rPr dirty="0"/>
              <a:t>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39;g3d0b4d3c5c9_0_62">
            <a:extLst>
              <a:ext uri="{FF2B5EF4-FFF2-40B4-BE49-F238E27FC236}">
                <a16:creationId xmlns:a16="http://schemas.microsoft.com/office/drawing/2014/main" id="{74DD9426-A309-3225-DCDA-6F3B89E8C015}"/>
              </a:ext>
            </a:extLst>
          </p:cNvPr>
          <p:cNvGraphicFramePr/>
          <p:nvPr/>
        </p:nvGraphicFramePr>
        <p:xfrm>
          <a:off x="288000" y="1191600"/>
          <a:ext cx="7198700" cy="48768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600" b="1">
                          <a:solidFill>
                            <a:srgbClr val="A42145"/>
                          </a:solidFill>
                          <a:latin typeface="Montserrat"/>
                          <a:ea typeface="Montserrat"/>
                          <a:cs typeface="Montserrat"/>
                          <a:sym typeface="Montserrat"/>
                        </a:rPr>
                        <a:t>Primer hospital en la entidad:</a:t>
                      </a:r>
                      <a:endParaRPr sz="1600" b="1">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600" b="1">
                          <a:solidFill>
                            <a:srgbClr val="BC955C"/>
                          </a:solidFill>
                          <a:latin typeface="Montserrat"/>
                          <a:ea typeface="Montserrat"/>
                          <a:cs typeface="Montserrat"/>
                          <a:sym typeface="Montserrat"/>
                        </a:rPr>
                        <a:t>Clínica de Ciudad Obregón, Ciudad Obregón</a:t>
                      </a:r>
                      <a:endParaRPr sz="1600" b="1">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43;g3d0b4d3c5c9_0_62">
            <a:extLst>
              <a:ext uri="{FF2B5EF4-FFF2-40B4-BE49-F238E27FC236}">
                <a16:creationId xmlns:a16="http://schemas.microsoft.com/office/drawing/2014/main" id="{12C3749D-A4C4-C3C8-77CD-9B84C096F5C8}"/>
              </a:ext>
            </a:extLst>
          </p:cNvPr>
          <p:cNvPicPr preferRelativeResize="0"/>
          <p:nvPr/>
        </p:nvPicPr>
        <p:blipFill>
          <a:blip r:embed="rId4">
            <a:alphaModFix/>
          </a:blip>
          <a:stretch>
            <a:fillRect/>
          </a:stretch>
        </p:blipFill>
        <p:spPr>
          <a:xfrm>
            <a:off x="1528011" y="2117558"/>
            <a:ext cx="4981073" cy="2229244"/>
          </a:xfrm>
          <a:prstGeom prst="rect">
            <a:avLst/>
          </a:prstGeom>
          <a:noFill/>
          <a:ln>
            <a:noFill/>
          </a:ln>
        </p:spPr>
      </p:pic>
      <p:sp>
        <p:nvSpPr>
          <p:cNvPr id="7" name="CuadroTexto 6">
            <a:extLst>
              <a:ext uri="{FF2B5EF4-FFF2-40B4-BE49-F238E27FC236}">
                <a16:creationId xmlns:a16="http://schemas.microsoft.com/office/drawing/2014/main" id="{37AD33CC-3346-DBC9-41BC-99541EAB00C3}"/>
              </a:ext>
            </a:extLst>
          </p:cNvPr>
          <p:cNvSpPr txBox="1"/>
          <p:nvPr/>
        </p:nvSpPr>
        <p:spPr>
          <a:xfrm>
            <a:off x="793616" y="4545227"/>
            <a:ext cx="6280484" cy="1897955"/>
          </a:xfrm>
          <a:prstGeom prst="rect">
            <a:avLst/>
          </a:prstGeom>
          <a:noFill/>
        </p:spPr>
        <p:txBody>
          <a:bodyPr wrap="square">
            <a:spAutoFit/>
          </a:bodyPr>
          <a:lstStyle/>
          <a:p>
            <a:pPr marL="0" marR="0" lvl="0" indent="0" algn="just" defTabSz="914400" rtl="0" eaLnBrk="1" fontAlgn="base" latinLnBrk="0" hangingPunct="1">
              <a:lnSpc>
                <a:spcPct val="100000"/>
              </a:lnSpc>
              <a:spcBef>
                <a:spcPts val="1000"/>
              </a:spcBef>
              <a:spcAft>
                <a:spcPts val="100"/>
              </a:spcAft>
              <a:buClr>
                <a:srgbClr val="000000"/>
              </a:buClr>
              <a:buSzTx/>
              <a:buFont typeface="Arial" panose="020B0604020202020204" pitchFamily="34" charset="0"/>
              <a:buChar char="•"/>
              <a:tabLst/>
              <a:defRPr/>
            </a:pPr>
            <a:r>
              <a:rPr kumimoji="0" lang="es-ES" sz="1100" b="0" i="0" u="none" strike="noStrike" kern="0" cap="none" spc="0" normalizeH="0" baseline="0" noProof="0">
                <a:ln>
                  <a:noFill/>
                </a:ln>
                <a:solidFill>
                  <a:srgbClr val="000000"/>
                </a:solidFill>
                <a:effectLst/>
                <a:uLnTx/>
                <a:uFillTx/>
                <a:latin typeface="Montserrat" panose="00000500000000000000" pitchFamily="2" charset="0"/>
                <a:cs typeface="Arial"/>
                <a:sym typeface="Arial"/>
              </a:rPr>
              <a:t>El IMSS  comenzó a operar el 12 de octubre de 1954, iniciándose la prestación de servicios médicos en una clínica ubicada en Ciudad Obregón otorgando consultas principalmente de medicina general y atención básica, ese mismo año se extendió a otros municipios al sur del estado. </a:t>
            </a:r>
          </a:p>
          <a:p>
            <a:pPr marL="0" marR="0" lvl="0" indent="0" algn="just" defTabSz="914400" rtl="0" eaLnBrk="1" fontAlgn="base" latinLnBrk="0" hangingPunct="1">
              <a:lnSpc>
                <a:spcPct val="100000"/>
              </a:lnSpc>
              <a:spcBef>
                <a:spcPts val="1000"/>
              </a:spcBef>
              <a:spcAft>
                <a:spcPts val="100"/>
              </a:spcAft>
              <a:buClr>
                <a:srgbClr val="000000"/>
              </a:buClr>
              <a:buSzTx/>
              <a:buFont typeface="Arial" panose="020B0604020202020204" pitchFamily="34" charset="0"/>
              <a:buChar char="•"/>
              <a:tabLst/>
              <a:defRPr/>
            </a:pPr>
            <a:r>
              <a:rPr kumimoji="0" lang="es-ES" sz="1100" b="0" i="0" u="none" strike="noStrike" kern="0" cap="none" spc="0" normalizeH="0" baseline="0" noProof="0">
                <a:ln>
                  <a:noFill/>
                </a:ln>
                <a:solidFill>
                  <a:srgbClr val="000000"/>
                </a:solidFill>
                <a:effectLst/>
                <a:uLnTx/>
                <a:uFillTx/>
                <a:latin typeface="Montserrat" panose="00000500000000000000" pitchFamily="2" charset="0"/>
                <a:cs typeface="Arial"/>
                <a:sym typeface="Arial"/>
              </a:rPr>
              <a:t>El Hospital General de Zona No. 1 (HGZ No. 1) Ubicado en Ciudad Obregón, Sonora, es la primera unidad hospitalaria del IMSS en Cajeme, inaugurada hacia 1957, en el contexto de la expansión del seguro social en zonas agrícolas del país.</a:t>
            </a:r>
          </a:p>
          <a:p>
            <a:pPr marL="0" marR="0" lvl="0" indent="0" algn="just" defTabSz="914400" rtl="0" eaLnBrk="1" fontAlgn="base" latinLnBrk="0" hangingPunct="1">
              <a:lnSpc>
                <a:spcPct val="100000"/>
              </a:lnSpc>
              <a:spcBef>
                <a:spcPts val="1000"/>
              </a:spcBef>
              <a:spcAft>
                <a:spcPts val="100"/>
              </a:spcAft>
              <a:buClr>
                <a:srgbClr val="000000"/>
              </a:buClr>
              <a:buSzTx/>
              <a:buFont typeface="Arial" panose="020B0604020202020204" pitchFamily="34" charset="0"/>
              <a:buChar char="•"/>
              <a:tabLst/>
              <a:defRPr/>
            </a:pPr>
            <a:r>
              <a:rPr kumimoji="0" lang="es-ES" sz="1100" b="0" i="0" u="none" strike="noStrike" kern="0" cap="none" spc="0" normalizeH="0" baseline="0" noProof="0">
                <a:ln>
                  <a:noFill/>
                </a:ln>
                <a:solidFill>
                  <a:srgbClr val="000000"/>
                </a:solidFill>
                <a:effectLst/>
                <a:uLnTx/>
                <a:uFillTx/>
                <a:latin typeface="Montserrat" panose="00000500000000000000" pitchFamily="2" charset="0"/>
                <a:cs typeface="Arial"/>
                <a:sym typeface="Arial"/>
              </a:rPr>
              <a:t>Inició operaciones con servicios básicos de hospitalización, urgencias, cirugía general,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9" name="TextBox 8"/>
          <p:cNvSpPr txBox="1"/>
          <p:nvPr/>
        </p:nvSpPr>
        <p:spPr>
          <a:xfrm>
            <a:off x="146304" y="640080"/>
            <a:ext cx="7470648" cy="38404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100" b="1">
                <a:solidFill>
                  <a:srgbClr val="BC955C"/>
                </a:solidFill>
                <a:latin typeface="Montserrat"/>
              </a:defRPr>
            </a:pPr>
            <a:r>
              <a:rPr kumimoji="0" sz="2100" b="1" i="0" u="none" strike="noStrike" kern="0" cap="none" spc="0" normalizeH="0" baseline="0" noProof="0">
                <a:ln>
                  <a:noFill/>
                </a:ln>
                <a:solidFill>
                  <a:srgbClr val="BC955C"/>
                </a:solidFill>
                <a:effectLst/>
                <a:uLnTx/>
                <a:uFillTx/>
                <a:latin typeface="Montserrat"/>
                <a:cs typeface="Arial"/>
                <a:sym typeface="Arial"/>
              </a:rP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6_SONORA.png"/>
          <p:cNvPicPr>
            <a:picLocks noChangeAspect="1"/>
          </p:cNvPicPr>
          <p:nvPr/>
        </p:nvPicPr>
        <p:blipFill>
          <a:blip r:embed="rId5"/>
          <a:stretch>
            <a:fillRect/>
          </a:stretch>
        </p:blipFill>
        <p:spPr>
          <a:xfrm>
            <a:off x="189858" y="7355680"/>
            <a:ext cx="7488000" cy="727200"/>
          </a:xfrm>
          <a:prstGeom prst="rect">
            <a:avLst/>
          </a:prstGeom>
        </p:spPr>
      </p:pic>
      <p:sp>
        <p:nvSpPr>
          <p:cNvPr id="13" name="TextBox 12"/>
          <p:cNvSpPr txBox="1"/>
          <p:nvPr/>
        </p:nvSpPr>
        <p:spPr>
          <a:xfrm>
            <a:off x="100800" y="9507600"/>
            <a:ext cx="7387200" cy="2462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FFFFFF"/>
                </a:solidFill>
                <a:latin typeface="Montserrat"/>
              </a:defRPr>
            </a:pPr>
            <a:br>
              <a:rPr kumimoji="0" sz="800" b="0" i="0" u="none" strike="noStrike" kern="0" cap="none" spc="0" normalizeH="0" baseline="0" noProof="0" dirty="0">
                <a:ln>
                  <a:noFill/>
                </a:ln>
                <a:solidFill>
                  <a:srgbClr val="FFFFFF"/>
                </a:solidFill>
                <a:effectLst/>
                <a:uLnTx/>
                <a:uFillTx/>
                <a:latin typeface="Montserrat"/>
                <a:cs typeface="Arial"/>
                <a:sym typeface="Arial"/>
              </a:rPr>
            </a:br>
            <a:r>
              <a:rPr kumimoji="0" sz="800" b="0" i="0" u="none" strike="noStrike" kern="0" cap="none" spc="0" normalizeH="0" baseline="0" noProof="0" dirty="0">
                <a:ln>
                  <a:noFill/>
                </a:ln>
                <a:solidFill>
                  <a:srgbClr val="FFFFFF"/>
                </a:solidFill>
                <a:effectLst/>
                <a:uLnTx/>
                <a:uFillTx/>
                <a:latin typeface="Montserrat"/>
                <a:cs typeface="Arial"/>
                <a:sym typeface="Arial"/>
              </a:rPr>
              <a:t>Corte de Información: ma</a:t>
            </a:r>
            <a:r>
              <a:rPr kumimoji="0" lang="es-MX" sz="800" b="0" i="0" u="none" strike="noStrike" kern="0" cap="none" spc="0" normalizeH="0" baseline="0" noProof="0" dirty="0">
                <a:ln>
                  <a:noFill/>
                </a:ln>
                <a:solidFill>
                  <a:srgbClr val="FFFFFF"/>
                </a:solidFill>
                <a:effectLst/>
                <a:uLnTx/>
                <a:uFillTx/>
                <a:latin typeface="Montserrat"/>
                <a:cs typeface="Arial"/>
                <a:sym typeface="Arial"/>
              </a:rPr>
              <a:t>y</a:t>
            </a:r>
            <a:r>
              <a:rPr kumimoji="0" sz="800" b="0" i="0" u="none" strike="noStrike" kern="0" cap="none" spc="0" normalizeH="0" baseline="0" noProof="0" dirty="0">
                <a:ln>
                  <a:noFill/>
                </a:ln>
                <a:solidFill>
                  <a:srgbClr val="FFFFFF"/>
                </a:solidFill>
                <a:effectLst/>
                <a:uLnTx/>
                <a:uFillTx/>
                <a:latin typeface="Montserrat"/>
                <a:cs typeface="Arial"/>
                <a:sym typeface="Arial"/>
              </a:rPr>
              <a:t>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146304" y="640080"/>
            <a:ext cx="7470648" cy="38404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100" b="1">
                <a:solidFill>
                  <a:srgbClr val="BC955C"/>
                </a:solidFill>
                <a:latin typeface="Montserrat"/>
              </a:defRPr>
            </a:pPr>
            <a:r>
              <a:rPr kumimoji="0" sz="2100" b="1" i="0" u="none" strike="noStrike" kern="0" cap="none" spc="0" normalizeH="0" baseline="0" noProof="0">
                <a:ln>
                  <a:noFill/>
                </a:ln>
                <a:solidFill>
                  <a:srgbClr val="BC955C"/>
                </a:solidFill>
                <a:effectLst/>
                <a:uLnTx/>
                <a:uFillTx/>
                <a:latin typeface="Montserrat"/>
                <a:cs typeface="Arial"/>
                <a:sym typeface="Arial"/>
              </a:rP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2045317075"/>
              </p:ext>
            </p:extLst>
          </p:nvPr>
        </p:nvGraphicFramePr>
        <p:xfrm>
          <a:off x="100800" y="4448544"/>
          <a:ext cx="7650000" cy="21139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37650">
                  <a:extLst>
                    <a:ext uri="{9D8B030D-6E8A-4147-A177-3AD203B41FA5}">
                      <a16:colId xmlns:a16="http://schemas.microsoft.com/office/drawing/2014/main" val="20002"/>
                    </a:ext>
                  </a:extLst>
                </a:gridCol>
                <a:gridCol w="82755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l">
                        <a:defRPr sz="900">
                          <a:latin typeface="Montserrat"/>
                        </a:defRPr>
                      </a:pPr>
                      <a:r>
                        <a:rPr b="0">
                          <a:solidFill>
                            <a:schemeClr val="tx1"/>
                          </a:solidFill>
                        </a:rPr>
                        <a:t>HGSMF 23 Nacozari</a:t>
                      </a:r>
                    </a:p>
                  </a:txBody>
                  <a:tcPr anchor="ctr">
                    <a:solidFill>
                      <a:srgbClr val="FFFFFF"/>
                    </a:solidFill>
                  </a:tcPr>
                </a:tc>
                <a:tc>
                  <a:txBody>
                    <a:bodyPr/>
                    <a:lstStyle/>
                    <a:p>
                      <a:pPr algn="ctr">
                        <a:defRPr sz="900">
                          <a:latin typeface="Montserrat"/>
                        </a:defRPr>
                      </a:pPr>
                      <a:r>
                        <a:rPr b="0">
                          <a:solidFill>
                            <a:schemeClr val="tx1"/>
                          </a:solidFill>
                        </a:rPr>
                        <a:t>Noviembre de 1978</a:t>
                      </a:r>
                    </a:p>
                  </a:txBody>
                  <a:tcPr anchor="ctr">
                    <a:solidFill>
                      <a:srgbClr val="FFFFFF"/>
                    </a:solidFill>
                  </a:tcPr>
                </a:tc>
                <a:tc>
                  <a:txBody>
                    <a:bodyPr/>
                    <a:lstStyle/>
                    <a:p>
                      <a:pPr algn="ctr">
                        <a:defRPr sz="900">
                          <a:latin typeface="Montserrat"/>
                        </a:defRPr>
                      </a:pPr>
                      <a:r>
                        <a:rPr b="0" dirty="0">
                          <a:solidFill>
                            <a:schemeClr val="tx1"/>
                          </a:solidFill>
                        </a:rPr>
                        <a:t>18</a:t>
                      </a:r>
                    </a:p>
                  </a:txBody>
                  <a:tcPr anchor="ctr">
                    <a:solidFill>
                      <a:srgbClr val="FFFFFF"/>
                    </a:solidFill>
                  </a:tcPr>
                </a:tc>
                <a:tc>
                  <a:txBody>
                    <a:bodyPr/>
                    <a:lstStyle/>
                    <a:p>
                      <a:pPr algn="ctr">
                        <a:defRPr sz="900">
                          <a:latin typeface="Montserrat"/>
                        </a:defRPr>
                      </a:pPr>
                      <a:r>
                        <a:rPr b="0">
                          <a:solidFill>
                            <a:schemeClr val="tx1"/>
                          </a:solidFill>
                        </a:rPr>
                        <a:t>19</a:t>
                      </a:r>
                    </a:p>
                  </a:txBody>
                  <a:tcPr anchor="ctr">
                    <a:solidFill>
                      <a:srgbClr val="FFFFFF"/>
                    </a:solidFill>
                  </a:tcPr>
                </a:tc>
                <a:tc>
                  <a:txBody>
                    <a:bodyPr/>
                    <a:lstStyle/>
                    <a:p>
                      <a:pPr algn="ctr">
                        <a:defRPr sz="900">
                          <a:latin typeface="Montserrat"/>
                        </a:defRPr>
                      </a:pPr>
                      <a:r>
                        <a:rPr b="0">
                          <a:solidFill>
                            <a:schemeClr val="tx1"/>
                          </a:solidFill>
                        </a:rPr>
                        <a:t>0</a:t>
                      </a:r>
                    </a:p>
                  </a:txBody>
                  <a:tcPr anchor="ctr">
                    <a:solidFill>
                      <a:srgbClr val="FFFFFF"/>
                    </a:solidFill>
                  </a:tcPr>
                </a:tc>
                <a:tc>
                  <a:txBody>
                    <a:bodyPr/>
                    <a:lstStyle/>
                    <a:p>
                      <a:pPr algn="ctr">
                        <a:defRPr sz="900">
                          <a:latin typeface="Montserrat"/>
                        </a:defRPr>
                      </a:pPr>
                      <a:r>
                        <a:rPr b="0">
                          <a:solidFill>
                            <a:schemeClr val="tx1"/>
                          </a:solidFill>
                        </a:rPr>
                        <a:t>1</a:t>
                      </a:r>
                    </a:p>
                  </a:txBody>
                  <a:tcPr anchor="ctr">
                    <a:solidFill>
                      <a:srgbClr val="FFFFFF"/>
                    </a:solidFill>
                  </a:tcPr>
                </a:tc>
                <a:tc>
                  <a:txBody>
                    <a:bodyPr/>
                    <a:lstStyle/>
                    <a:p>
                      <a:pPr algn="ctr">
                        <a:defRPr sz="900">
                          <a:latin typeface="Montserrat"/>
                        </a:defRPr>
                      </a:pPr>
                      <a:r>
                        <a:rPr b="0">
                          <a:solidFill>
                            <a:schemeClr val="tx1"/>
                          </a:solidFill>
                        </a:rPr>
                        <a:t>4</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HGSMF 54 Empalme</a:t>
                      </a:r>
                    </a:p>
                  </a:txBody>
                  <a:tcPr anchor="ctr">
                    <a:solidFill>
                      <a:srgbClr val="EFEFEF"/>
                    </a:solidFill>
                  </a:tcPr>
                </a:tc>
                <a:tc>
                  <a:txBody>
                    <a:bodyPr/>
                    <a:lstStyle/>
                    <a:p>
                      <a:pPr algn="ctr">
                        <a:defRPr sz="900">
                          <a:latin typeface="Montserrat"/>
                        </a:defRPr>
                      </a:pPr>
                      <a:r>
                        <a:t>Octubre de 1984</a:t>
                      </a:r>
                    </a:p>
                  </a:txBody>
                  <a:tcPr anchor="ctr">
                    <a:solidFill>
                      <a:srgbClr val="EFEFEF"/>
                    </a:solidFill>
                  </a:tcPr>
                </a:tc>
                <a:tc>
                  <a:txBody>
                    <a:bodyPr/>
                    <a:lstStyle/>
                    <a:p>
                      <a:pPr algn="ctr">
                        <a:defRPr sz="900">
                          <a:latin typeface="Montserrat"/>
                        </a:defRPr>
                      </a:pPr>
                      <a:r>
                        <a:rPr dirty="0"/>
                        <a:t>19</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4</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HGSMF 12 Aguaprieta</a:t>
                      </a:r>
                    </a:p>
                  </a:txBody>
                  <a:tcPr anchor="ctr">
                    <a:solidFill>
                      <a:srgbClr val="FFFFFF"/>
                    </a:solidFill>
                  </a:tcPr>
                </a:tc>
                <a:tc>
                  <a:txBody>
                    <a:bodyPr/>
                    <a:lstStyle/>
                    <a:p>
                      <a:pPr algn="ctr">
                        <a:defRPr sz="900">
                          <a:latin typeface="Montserrat"/>
                        </a:defRPr>
                      </a:pPr>
                      <a:r>
                        <a:t>Diciembre de 1985</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rPr dirty="0"/>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HGZ 14 Hermosillo C/U quemados</a:t>
                      </a:r>
                    </a:p>
                  </a:txBody>
                  <a:tcPr anchor="ctr">
                    <a:solidFill>
                      <a:srgbClr val="EFEFEF"/>
                    </a:solidFill>
                  </a:tcPr>
                </a:tc>
                <a:tc>
                  <a:txBody>
                    <a:bodyPr/>
                    <a:lstStyle/>
                    <a:p>
                      <a:pPr algn="ctr">
                        <a:defRPr sz="900">
                          <a:latin typeface="Montserrat"/>
                        </a:defRPr>
                      </a:pPr>
                      <a:r>
                        <a:t>Marzo de 2013</a:t>
                      </a:r>
                    </a:p>
                  </a:txBody>
                  <a:tcPr anchor="ctr">
                    <a:solidFill>
                      <a:srgbClr val="EFEFEF"/>
                    </a:solidFill>
                  </a:tcPr>
                </a:tc>
                <a:tc>
                  <a:txBody>
                    <a:bodyPr/>
                    <a:lstStyle/>
                    <a:p>
                      <a:pPr algn="ctr">
                        <a:defRPr sz="900">
                          <a:latin typeface="Montserrat"/>
                        </a:defRPr>
                      </a:pPr>
                      <a:r>
                        <a:t>208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rPr dirty="0"/>
                        <a:t>1</a:t>
                      </a:r>
                      <a:r>
                        <a:rPr lang="es-MX" dirty="0"/>
                        <a:t>6</a:t>
                      </a:r>
                      <a:endParaRPr dirty="0"/>
                    </a:p>
                  </a:txBody>
                  <a:tcPr anchor="ctr">
                    <a:solidFill>
                      <a:srgbClr val="EFEFEF"/>
                    </a:solidFill>
                  </a:tcPr>
                </a:tc>
                <a:tc>
                  <a:txBody>
                    <a:bodyPr/>
                    <a:lstStyle/>
                    <a:p>
                      <a:pPr algn="ctr">
                        <a:defRPr sz="900">
                          <a:latin typeface="Montserrat"/>
                        </a:defRPr>
                      </a:pPr>
                      <a:r>
                        <a:rPr lang="es-MX" dirty="0"/>
                        <a:t>8</a:t>
                      </a:r>
                      <a:endParaRPr dirty="0"/>
                    </a:p>
                  </a:txBody>
                  <a:tcPr anchor="ctr">
                    <a:solidFill>
                      <a:srgbClr val="EFEFEF"/>
                    </a:solidFill>
                  </a:tcPr>
                </a:tc>
                <a:tc>
                  <a:txBody>
                    <a:bodyPr/>
                    <a:lstStyle/>
                    <a:p>
                      <a:pPr algn="ctr">
                        <a:defRPr sz="900">
                          <a:latin typeface="Montserrat"/>
                        </a:defRPr>
                      </a:pPr>
                      <a:r>
                        <a:t>35</a:t>
                      </a:r>
                    </a:p>
                  </a:txBody>
                  <a:tcPr anchor="ctr">
                    <a:solidFill>
                      <a:srgbClr val="EFEFEF"/>
                    </a:solidFill>
                  </a:tcPr>
                </a:tc>
                <a:extLst>
                  <a:ext uri="{0D108BD9-81ED-4DB2-BD59-A6C34878D82A}">
                    <a16:rowId xmlns:a16="http://schemas.microsoft.com/office/drawing/2014/main" val="10004"/>
                  </a:ext>
                </a:extLst>
              </a:tr>
              <a:tr h="230400">
                <a:tc>
                  <a:txBody>
                    <a:bodyPr/>
                    <a:lstStyle/>
                    <a:p>
                      <a:pPr algn="l">
                        <a:defRPr sz="900">
                          <a:latin typeface="Montserrat"/>
                        </a:defRPr>
                      </a:pPr>
                      <a:r>
                        <a:t>HGZ 5 Nogales</a:t>
                      </a:r>
                    </a:p>
                  </a:txBody>
                  <a:tcPr anchor="ctr">
                    <a:solidFill>
                      <a:srgbClr val="FFFFFF"/>
                    </a:solidFill>
                  </a:tcPr>
                </a:tc>
                <a:tc>
                  <a:txBody>
                    <a:bodyPr/>
                    <a:lstStyle/>
                    <a:p>
                      <a:pPr algn="ctr">
                        <a:defRPr sz="900">
                          <a:latin typeface="Montserrat"/>
                        </a:defRPr>
                      </a:pPr>
                      <a:r>
                        <a:t>Marzo de 2018</a:t>
                      </a:r>
                    </a:p>
                  </a:txBody>
                  <a:tcPr anchor="ctr">
                    <a:solidFill>
                      <a:srgbClr val="FFFFFF"/>
                    </a:solidFill>
                  </a:tcPr>
                </a:tc>
                <a:tc>
                  <a:txBody>
                    <a:bodyPr/>
                    <a:lstStyle/>
                    <a:p>
                      <a:pPr algn="ctr">
                        <a:defRPr sz="900">
                          <a:latin typeface="Montserrat"/>
                        </a:defRPr>
                      </a:pPr>
                      <a:r>
                        <a:t>158</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rPr dirty="0"/>
                        <a:t>10</a:t>
                      </a:r>
                    </a:p>
                  </a:txBody>
                  <a:tcPr anchor="ctr">
                    <a:solidFill>
                      <a:srgbClr val="FFFFFF"/>
                    </a:solidFill>
                  </a:tcPr>
                </a:tc>
                <a:tc>
                  <a:txBody>
                    <a:bodyPr/>
                    <a:lstStyle/>
                    <a:p>
                      <a:pPr algn="ctr">
                        <a:defRPr sz="900">
                          <a:latin typeface="Montserrat"/>
                        </a:defRPr>
                      </a:pPr>
                      <a:r>
                        <a:rPr dirty="0"/>
                        <a:t>6</a:t>
                      </a:r>
                    </a:p>
                  </a:txBody>
                  <a:tcPr anchor="ctr">
                    <a:solidFill>
                      <a:srgbClr val="FFFFFF"/>
                    </a:solidFill>
                  </a:tcPr>
                </a:tc>
                <a:tc>
                  <a:txBody>
                    <a:bodyPr/>
                    <a:lstStyle/>
                    <a:p>
                      <a:pPr algn="ctr">
                        <a:defRPr sz="900">
                          <a:latin typeface="Montserrat"/>
                        </a:defRPr>
                      </a:pPr>
                      <a:r>
                        <a:t>38</a:t>
                      </a:r>
                    </a:p>
                  </a:txBody>
                  <a:tcPr anchor="ctr">
                    <a:solidFill>
                      <a:srgbClr val="FFFFFF"/>
                    </a:solidFill>
                  </a:tcPr>
                </a:tc>
                <a:extLst>
                  <a:ext uri="{0D108BD9-81ED-4DB2-BD59-A6C34878D82A}">
                    <a16:rowId xmlns:a16="http://schemas.microsoft.com/office/drawing/2014/main" val="10005"/>
                  </a:ext>
                </a:extLst>
              </a:tr>
              <a:tr h="230400">
                <a:tc>
                  <a:txBody>
                    <a:bodyPr/>
                    <a:lstStyle/>
                    <a:p>
                      <a:pPr algn="l">
                        <a:defRPr sz="900">
                          <a:latin typeface="Montserrat"/>
                        </a:defRPr>
                      </a:pPr>
                      <a:r>
                        <a:t>HGZ 15 Dr. Ernesto Ramos Johnson Bours</a:t>
                      </a:r>
                    </a:p>
                  </a:txBody>
                  <a:tcPr anchor="ctr">
                    <a:solidFill>
                      <a:srgbClr val="EFEFEF"/>
                    </a:solidFill>
                  </a:tcPr>
                </a:tc>
                <a:tc>
                  <a:txBody>
                    <a:bodyPr/>
                    <a:lstStyle/>
                    <a:p>
                      <a:pPr algn="ctr">
                        <a:defRPr sz="900">
                          <a:latin typeface="Montserrat"/>
                        </a:defRPr>
                      </a:pPr>
                      <a:r>
                        <a:t>Enero de 2026</a:t>
                      </a:r>
                    </a:p>
                  </a:txBody>
                  <a:tcPr anchor="ctr">
                    <a:solidFill>
                      <a:srgbClr val="EFEFEF"/>
                    </a:solidFill>
                  </a:tcPr>
                </a:tc>
                <a:tc>
                  <a:txBody>
                    <a:bodyPr/>
                    <a:lstStyle/>
                    <a:p>
                      <a:pPr algn="ctr">
                        <a:defRPr sz="900">
                          <a:latin typeface="Montserrat"/>
                        </a:defRPr>
                      </a:pPr>
                      <a:r>
                        <a:t>92</a:t>
                      </a:r>
                    </a:p>
                  </a:txBody>
                  <a:tcPr anchor="ctr">
                    <a:solidFill>
                      <a:srgbClr val="EFEFEF"/>
                    </a:solidFill>
                  </a:tcPr>
                </a:tc>
                <a:tc>
                  <a:txBody>
                    <a:bodyPr/>
                    <a:lstStyle/>
                    <a:p>
                      <a:pPr algn="ctr">
                        <a:defRPr sz="900">
                          <a:latin typeface="Montserrat"/>
                        </a:defRPr>
                      </a:pPr>
                      <a:r>
                        <a:t>38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rPr dirty="0"/>
                        <a:t>6</a:t>
                      </a:r>
                    </a:p>
                  </a:txBody>
                  <a:tcPr anchor="ctr">
                    <a:solidFill>
                      <a:srgbClr val="EFEFEF"/>
                    </a:solidFill>
                  </a:tcPr>
                </a:tc>
                <a:tc>
                  <a:txBody>
                    <a:bodyPr/>
                    <a:lstStyle/>
                    <a:p>
                      <a:pPr algn="ctr">
                        <a:defRPr sz="900">
                          <a:latin typeface="Montserrat"/>
                        </a:defRPr>
                      </a:pPr>
                      <a:r>
                        <a:rPr dirty="0"/>
                        <a:t>11</a:t>
                      </a:r>
                    </a:p>
                  </a:txBody>
                  <a:tcPr anchor="ctr">
                    <a:solidFill>
                      <a:srgbClr val="EFEFEF"/>
                    </a:solidFill>
                  </a:tcPr>
                </a:tc>
                <a:extLst>
                  <a:ext uri="{0D108BD9-81ED-4DB2-BD59-A6C34878D82A}">
                    <a16:rowId xmlns:a16="http://schemas.microsoft.com/office/drawing/2014/main" val="10006"/>
                  </a:ext>
                </a:extLst>
              </a:tr>
              <a:tr h="230400">
                <a:tc>
                  <a:txBody>
                    <a:bodyPr/>
                    <a:lstStyle/>
                    <a:p>
                      <a:pPr algn="l">
                        <a:defRPr sz="900">
                          <a:latin typeface="Montserrat"/>
                        </a:defRPr>
                      </a:pPr>
                      <a:r>
                        <a:t>HGZ 16</a:t>
                      </a:r>
                    </a:p>
                  </a:txBody>
                  <a:tcPr anchor="ctr">
                    <a:solidFill>
                      <a:srgbClr val="FFFFFF"/>
                    </a:solidFill>
                  </a:tcPr>
                </a:tc>
                <a:tc>
                  <a:txBody>
                    <a:bodyPr/>
                    <a:lstStyle/>
                    <a:p>
                      <a:pPr algn="ctr">
                        <a:defRPr sz="900">
                          <a:latin typeface="Montserrat"/>
                        </a:defRPr>
                      </a:pPr>
                      <a:r>
                        <a:t>Febrero de 2026</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rPr dirty="0"/>
                        <a:t>6</a:t>
                      </a:r>
                      <a:r>
                        <a:rPr lang="es-MX" dirty="0"/>
                        <a:t>7</a:t>
                      </a:r>
                      <a:endParaRPr dirty="0"/>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rPr dirty="0"/>
                        <a:t>32</a:t>
                      </a:r>
                    </a:p>
                  </a:txBody>
                  <a:tcPr anchor="ctr">
                    <a:solidFill>
                      <a:srgbClr val="FFFFFF"/>
                    </a:solidFill>
                  </a:tcPr>
                </a:tc>
                <a:extLst>
                  <a:ext uri="{0D108BD9-81ED-4DB2-BD59-A6C34878D82A}">
                    <a16:rowId xmlns:a16="http://schemas.microsoft.com/office/drawing/2014/main" val="10007"/>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1,468</a:t>
                      </a:r>
                    </a:p>
                  </a:txBody>
                  <a:tcPr anchor="ctr">
                    <a:solidFill>
                      <a:srgbClr val="D3E9E7"/>
                    </a:solidFill>
                  </a:tcPr>
                </a:tc>
                <a:tc>
                  <a:txBody>
                    <a:bodyPr/>
                    <a:lstStyle/>
                    <a:p>
                      <a:pPr algn="ctr">
                        <a:defRPr sz="900" b="1">
                          <a:solidFill>
                            <a:srgbClr val="006556"/>
                          </a:solidFill>
                          <a:latin typeface="Montserrat"/>
                        </a:defRPr>
                      </a:pPr>
                      <a:r>
                        <a:rPr dirty="0"/>
                        <a:t>78</a:t>
                      </a:r>
                      <a:r>
                        <a:rPr lang="es-MX" dirty="0"/>
                        <a:t>3</a:t>
                      </a:r>
                      <a:endParaRPr dirty="0"/>
                    </a:p>
                  </a:txBody>
                  <a:tcPr anchor="ctr">
                    <a:solidFill>
                      <a:srgbClr val="D3E9E7"/>
                    </a:solidFill>
                  </a:tcPr>
                </a:tc>
                <a:tc>
                  <a:txBody>
                    <a:bodyPr/>
                    <a:lstStyle/>
                    <a:p>
                      <a:pPr algn="ctr">
                        <a:defRPr sz="900" b="1">
                          <a:solidFill>
                            <a:srgbClr val="006556"/>
                          </a:solidFill>
                          <a:latin typeface="Montserrat"/>
                        </a:defRPr>
                      </a:pPr>
                      <a:r>
                        <a:rPr lang="es-MX" dirty="0"/>
                        <a:t>74</a:t>
                      </a:r>
                      <a:endParaRPr dirty="0"/>
                    </a:p>
                  </a:txBody>
                  <a:tcPr anchor="ctr">
                    <a:solidFill>
                      <a:srgbClr val="D3E9E7"/>
                    </a:solidFill>
                  </a:tcPr>
                </a:tc>
                <a:tc>
                  <a:txBody>
                    <a:bodyPr/>
                    <a:lstStyle/>
                    <a:p>
                      <a:pPr algn="ctr">
                        <a:defRPr sz="900" b="1">
                          <a:solidFill>
                            <a:srgbClr val="006556"/>
                          </a:solidFill>
                          <a:latin typeface="Montserrat"/>
                        </a:defRPr>
                      </a:pPr>
                      <a:r>
                        <a:t>59</a:t>
                      </a:r>
                    </a:p>
                  </a:txBody>
                  <a:tcPr anchor="ctr">
                    <a:solidFill>
                      <a:srgbClr val="D3E9E7"/>
                    </a:solidFill>
                  </a:tcPr>
                </a:tc>
                <a:tc>
                  <a:txBody>
                    <a:bodyPr/>
                    <a:lstStyle/>
                    <a:p>
                      <a:pPr algn="ctr">
                        <a:defRPr sz="900" b="1">
                          <a:solidFill>
                            <a:srgbClr val="006556"/>
                          </a:solidFill>
                          <a:latin typeface="Montserrat"/>
                        </a:defRPr>
                      </a:pPr>
                      <a:r>
                        <a:rPr dirty="0"/>
                        <a:t>273</a:t>
                      </a:r>
                    </a:p>
                  </a:txBody>
                  <a:tcPr anchor="ctr">
                    <a:solidFill>
                      <a:srgbClr val="D3E9E7"/>
                    </a:solidFill>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821205304"/>
              </p:ext>
            </p:extLst>
          </p:nvPr>
        </p:nvGraphicFramePr>
        <p:xfrm>
          <a:off x="100800" y="6658404"/>
          <a:ext cx="7650000" cy="11941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UMAE</a:t>
                      </a:r>
                    </a:p>
                  </a:txBody>
                  <a:tcPr anchor="ctr">
                    <a:solidFill>
                      <a:srgbClr val="006455"/>
                    </a:solidFill>
                  </a:tcPr>
                </a:tc>
                <a:tc>
                  <a:txBody>
                    <a:bodyPr/>
                    <a:lstStyle/>
                    <a:p>
                      <a:pPr algn="ctr">
                        <a:defRPr sz="900" b="1">
                          <a:solidFill>
                            <a:srgbClr val="FFFFFF"/>
                          </a:solidFill>
                          <a:latin typeface="Montserrat"/>
                        </a:defRPr>
                      </a:pPr>
                      <a:r>
                        <a:rPr err="1"/>
                        <a:t>Inicio</a:t>
                      </a:r>
                      <a:r>
                        <a:t> de </a:t>
                      </a:r>
                      <a:r>
                        <a:rPr err="1"/>
                        <a:t>operaciones</a:t>
                      </a:r>
                      <a:endParaRP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HES 2 CMN Noroeste Obregón</a:t>
                      </a:r>
                    </a:p>
                  </a:txBody>
                  <a:tcPr anchor="ctr">
                    <a:solidFill>
                      <a:srgbClr val="FFFFFF"/>
                    </a:solidFill>
                  </a:tcPr>
                </a:tc>
                <a:tc>
                  <a:txBody>
                    <a:bodyPr/>
                    <a:lstStyle/>
                    <a:p>
                      <a:pPr algn="ctr">
                        <a:defRPr sz="900">
                          <a:latin typeface="Montserrat"/>
                        </a:defRPr>
                      </a:pPr>
                      <a:r>
                        <a:t>Septiembre de 1988</a:t>
                      </a:r>
                    </a:p>
                  </a:txBody>
                  <a:tcPr anchor="ctr">
                    <a:solidFill>
                      <a:srgbClr val="FFFFFF"/>
                    </a:solidFill>
                  </a:tcPr>
                </a:tc>
                <a:tc>
                  <a:txBody>
                    <a:bodyPr/>
                    <a:lstStyle/>
                    <a:p>
                      <a:pPr algn="ctr">
                        <a:defRPr sz="900">
                          <a:latin typeface="Montserrat"/>
                        </a:defRPr>
                      </a:pPr>
                      <a:r>
                        <a:rPr dirty="0"/>
                        <a:t>188</a:t>
                      </a:r>
                    </a:p>
                  </a:txBody>
                  <a:tcPr anchor="ctr">
                    <a:solidFill>
                      <a:srgbClr val="FFFFFF"/>
                    </a:solidFill>
                  </a:tcPr>
                </a:tc>
                <a:tc>
                  <a:txBody>
                    <a:bodyPr/>
                    <a:lstStyle/>
                    <a:p>
                      <a:pPr algn="ctr">
                        <a:defRPr sz="900">
                          <a:latin typeface="Montserrat"/>
                        </a:defRPr>
                      </a:pPr>
                      <a:r>
                        <a:rPr dirty="0"/>
                        <a:t>128</a:t>
                      </a:r>
                    </a:p>
                  </a:txBody>
                  <a:tcPr anchor="ctr">
                    <a:solidFill>
                      <a:srgbClr val="FFFFFF"/>
                    </a:solidFill>
                  </a:tcPr>
                </a:tc>
                <a:tc>
                  <a:txBody>
                    <a:bodyPr/>
                    <a:lstStyle/>
                    <a:p>
                      <a:pPr algn="ctr">
                        <a:defRPr sz="900">
                          <a:latin typeface="Montserrat"/>
                        </a:defRPr>
                      </a:pPr>
                      <a:r>
                        <a:rPr dirty="0"/>
                        <a:t>29</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rPr dirty="0"/>
                        <a:t>38</a:t>
                      </a:r>
                    </a:p>
                  </a:txBody>
                  <a:tcPr anchor="ctr">
                    <a:solidFill>
                      <a:srgbClr val="FFFFFF"/>
                    </a:solidFill>
                  </a:tcPr>
                </a:tc>
                <a:extLst>
                  <a:ext uri="{0D108BD9-81ED-4DB2-BD59-A6C34878D82A}">
                    <a16:rowId xmlns:a16="http://schemas.microsoft.com/office/drawing/2014/main" val="10001"/>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188</a:t>
                      </a:r>
                    </a:p>
                  </a:txBody>
                  <a:tcPr anchor="ctr">
                    <a:solidFill>
                      <a:srgbClr val="D3E9E7"/>
                    </a:solidFill>
                  </a:tcPr>
                </a:tc>
                <a:tc>
                  <a:txBody>
                    <a:bodyPr/>
                    <a:lstStyle/>
                    <a:p>
                      <a:pPr algn="ctr">
                        <a:defRPr sz="900" b="1">
                          <a:solidFill>
                            <a:srgbClr val="006556"/>
                          </a:solidFill>
                          <a:latin typeface="Montserrat"/>
                        </a:defRPr>
                      </a:pPr>
                      <a:r>
                        <a:rPr dirty="0"/>
                        <a:t>128</a:t>
                      </a:r>
                    </a:p>
                  </a:txBody>
                  <a:tcPr anchor="ctr">
                    <a:solidFill>
                      <a:srgbClr val="D3E9E7"/>
                    </a:solidFill>
                  </a:tcPr>
                </a:tc>
                <a:tc>
                  <a:txBody>
                    <a:bodyPr/>
                    <a:lstStyle/>
                    <a:p>
                      <a:pPr algn="ctr">
                        <a:defRPr sz="900" b="1">
                          <a:solidFill>
                            <a:srgbClr val="006556"/>
                          </a:solidFill>
                          <a:latin typeface="Montserrat"/>
                        </a:defRPr>
                      </a:pPr>
                      <a:r>
                        <a:rPr dirty="0"/>
                        <a:t>29</a:t>
                      </a:r>
                    </a:p>
                  </a:txBody>
                  <a:tcPr anchor="ctr">
                    <a:solidFill>
                      <a:srgbClr val="D3E9E7"/>
                    </a:solidFill>
                  </a:tcPr>
                </a:tc>
                <a:tc>
                  <a:txBody>
                    <a:bodyPr/>
                    <a:lstStyle/>
                    <a:p>
                      <a:pPr algn="ctr">
                        <a:defRPr sz="900" b="1">
                          <a:solidFill>
                            <a:srgbClr val="006556"/>
                          </a:solidFill>
                          <a:latin typeface="Montserrat"/>
                        </a:defRPr>
                      </a:pPr>
                      <a:r>
                        <a:rPr dirty="0"/>
                        <a:t>10</a:t>
                      </a:r>
                    </a:p>
                  </a:txBody>
                  <a:tcPr anchor="ctr">
                    <a:solidFill>
                      <a:srgbClr val="D3E9E7"/>
                    </a:solidFill>
                  </a:tcPr>
                </a:tc>
                <a:tc>
                  <a:txBody>
                    <a:bodyPr/>
                    <a:lstStyle/>
                    <a:p>
                      <a:pPr algn="ctr">
                        <a:defRPr sz="900" b="1">
                          <a:solidFill>
                            <a:srgbClr val="006556"/>
                          </a:solidFill>
                          <a:latin typeface="Montserrat"/>
                        </a:defRPr>
                      </a:pPr>
                      <a:r>
                        <a:rPr dirty="0"/>
                        <a:t>38</a:t>
                      </a:r>
                    </a:p>
                  </a:txBody>
                  <a:tcPr anchor="ctr">
                    <a:solidFill>
                      <a:srgbClr val="D3E9E7"/>
                    </a:solidFill>
                  </a:tcPr>
                </a:tc>
                <a:extLst>
                  <a:ext uri="{0D108BD9-81ED-4DB2-BD59-A6C34878D82A}">
                    <a16:rowId xmlns:a16="http://schemas.microsoft.com/office/drawing/2014/main" val="10002"/>
                  </a:ext>
                </a:extLst>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1,656</a:t>
                      </a:r>
                    </a:p>
                  </a:txBody>
                  <a:tcPr anchor="ctr">
                    <a:solidFill>
                      <a:srgbClr val="D3E9E7"/>
                    </a:solidFill>
                  </a:tcPr>
                </a:tc>
                <a:tc>
                  <a:txBody>
                    <a:bodyPr/>
                    <a:lstStyle/>
                    <a:p>
                      <a:pPr algn="ctr">
                        <a:defRPr sz="900" b="1">
                          <a:solidFill>
                            <a:srgbClr val="006556"/>
                          </a:solidFill>
                          <a:latin typeface="Montserrat"/>
                        </a:defRPr>
                      </a:pPr>
                      <a:r>
                        <a:rPr dirty="0"/>
                        <a:t>91</a:t>
                      </a:r>
                      <a:r>
                        <a:rPr lang="es-MX" dirty="0"/>
                        <a:t>1</a:t>
                      </a:r>
                      <a:endParaRPr dirty="0"/>
                    </a:p>
                  </a:txBody>
                  <a:tcPr anchor="ctr">
                    <a:solidFill>
                      <a:srgbClr val="D3E9E7"/>
                    </a:solidFill>
                  </a:tcPr>
                </a:tc>
                <a:tc>
                  <a:txBody>
                    <a:bodyPr/>
                    <a:lstStyle/>
                    <a:p>
                      <a:pPr algn="ctr">
                        <a:defRPr sz="900" b="1">
                          <a:solidFill>
                            <a:srgbClr val="006556"/>
                          </a:solidFill>
                          <a:latin typeface="Montserrat"/>
                        </a:defRPr>
                      </a:pPr>
                      <a:r>
                        <a:rPr lang="es-MX" dirty="0"/>
                        <a:t>103</a:t>
                      </a:r>
                      <a:endParaRPr dirty="0"/>
                    </a:p>
                  </a:txBody>
                  <a:tcPr anchor="ctr">
                    <a:solidFill>
                      <a:srgbClr val="D3E9E7"/>
                    </a:solidFill>
                  </a:tcPr>
                </a:tc>
                <a:tc>
                  <a:txBody>
                    <a:bodyPr/>
                    <a:lstStyle/>
                    <a:p>
                      <a:pPr algn="ctr">
                        <a:defRPr sz="900" b="1">
                          <a:solidFill>
                            <a:srgbClr val="006556"/>
                          </a:solidFill>
                          <a:latin typeface="Montserrat"/>
                        </a:defRPr>
                      </a:pPr>
                      <a:r>
                        <a:t>69</a:t>
                      </a:r>
                    </a:p>
                  </a:txBody>
                  <a:tcPr anchor="ctr">
                    <a:solidFill>
                      <a:srgbClr val="D3E9E7"/>
                    </a:solidFill>
                  </a:tcPr>
                </a:tc>
                <a:tc>
                  <a:txBody>
                    <a:bodyPr/>
                    <a:lstStyle/>
                    <a:p>
                      <a:pPr algn="ctr">
                        <a:defRPr sz="900" b="1">
                          <a:solidFill>
                            <a:srgbClr val="006556"/>
                          </a:solidFill>
                          <a:latin typeface="Montserrat"/>
                        </a:defRPr>
                      </a:pPr>
                      <a:r>
                        <a:rPr dirty="0"/>
                        <a:t>311</a:t>
                      </a:r>
                    </a:p>
                  </a:txBody>
                  <a:tcPr anchor="ctr">
                    <a:solidFill>
                      <a:srgbClr val="D3E9E7"/>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100800" y="9507600"/>
            <a:ext cx="7387200"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FFFFFF"/>
                </a:solidFill>
                <a:latin typeface="Montserrat"/>
              </a:defRPr>
            </a:pPr>
            <a:r>
              <a:rPr kumimoji="0" sz="800" b="0" i="0" u="none" strike="noStrike" kern="0" cap="none" spc="0" normalizeH="0" baseline="0" noProof="0" dirty="0">
                <a:ln>
                  <a:noFill/>
                </a:ln>
                <a:solidFill>
                  <a:srgbClr val="FFFFFF"/>
                </a:solidFill>
                <a:effectLst/>
                <a:uLnTx/>
                <a:uFillTx/>
                <a:latin typeface="Montserrat"/>
                <a:cs typeface="Arial"/>
                <a:sym typeface="Arial"/>
              </a:rPr>
              <a:t>¹Incluye salas de </a:t>
            </a:r>
            <a:r>
              <a:rPr kumimoji="0" sz="800" b="0" i="0" u="none" strike="noStrike" kern="0" cap="none" spc="0" normalizeH="0" baseline="0" noProof="0" dirty="0" err="1">
                <a:ln>
                  <a:noFill/>
                </a:ln>
                <a:solidFill>
                  <a:srgbClr val="FFFFFF"/>
                </a:solidFill>
                <a:effectLst/>
                <a:uLnTx/>
                <a:uFillTx/>
                <a:latin typeface="Montserrat"/>
                <a:cs typeface="Arial"/>
                <a:sym typeface="Arial"/>
              </a:rPr>
              <a:t>quirófano</a:t>
            </a:r>
            <a:r>
              <a:rPr kumimoji="0" sz="800" b="0" i="0" u="none" strike="noStrike" kern="0" cap="none" spc="0" normalizeH="0" baseline="0" noProof="0" dirty="0">
                <a:ln>
                  <a:noFill/>
                </a:ln>
                <a:solidFill>
                  <a:srgbClr val="FFFFFF"/>
                </a:solidFill>
                <a:effectLst/>
                <a:uLnTx/>
                <a:uFillTx/>
                <a:latin typeface="Montserrat"/>
                <a:cs typeface="Arial"/>
                <a:sym typeface="Arial"/>
              </a:rPr>
              <a:t>, salas </a:t>
            </a:r>
            <a:r>
              <a:rPr kumimoji="0" sz="800" b="0" i="0" u="none" strike="noStrike" kern="0" cap="none" spc="0" normalizeH="0" baseline="0" noProof="0" dirty="0" err="1">
                <a:ln>
                  <a:noFill/>
                </a:ln>
                <a:solidFill>
                  <a:srgbClr val="FFFFFF"/>
                </a:solidFill>
                <a:effectLst/>
                <a:uLnTx/>
                <a:uFillTx/>
                <a:latin typeface="Montserrat"/>
                <a:cs typeface="Arial"/>
                <a:sym typeface="Arial"/>
              </a:rPr>
              <a:t>híbridas</a:t>
            </a:r>
            <a:r>
              <a:rPr kumimoji="0" lang="es-MX" sz="800" b="0" i="0" u="none" strike="noStrike" kern="0" cap="none" spc="0" normalizeH="0" baseline="0" noProof="0" dirty="0">
                <a:ln>
                  <a:noFill/>
                </a:ln>
                <a:solidFill>
                  <a:srgbClr val="FFFFFF"/>
                </a:solidFill>
                <a:effectLst/>
                <a:uLnTx/>
                <a:uFillTx/>
                <a:latin typeface="Montserrat"/>
                <a:cs typeface="Arial"/>
                <a:sym typeface="Arial"/>
              </a:rPr>
              <a:t>,en urgencias</a:t>
            </a:r>
            <a:r>
              <a:rPr kumimoji="0" sz="800" b="0" i="0" u="none" strike="noStrike" kern="0" cap="none" spc="0" normalizeH="0" baseline="0" noProof="0" dirty="0">
                <a:ln>
                  <a:noFill/>
                </a:ln>
                <a:solidFill>
                  <a:srgbClr val="FFFFFF"/>
                </a:solidFill>
                <a:effectLst/>
                <a:uLnTx/>
                <a:uFillTx/>
                <a:latin typeface="Montserrat"/>
                <a:cs typeface="Arial"/>
                <a:sym typeface="Arial"/>
              </a:rPr>
              <a:t> y salas </a:t>
            </a:r>
            <a:r>
              <a:rPr kumimoji="0" sz="800" b="0" i="0" u="none" strike="noStrike" kern="0" cap="none" spc="0" normalizeH="0" baseline="0" noProof="0" dirty="0" err="1">
                <a:ln>
                  <a:noFill/>
                </a:ln>
                <a:solidFill>
                  <a:srgbClr val="FFFFFF"/>
                </a:solidFill>
                <a:effectLst/>
                <a:uLnTx/>
                <a:uFillTx/>
                <a:latin typeface="Montserrat"/>
                <a:cs typeface="Arial"/>
                <a:sym typeface="Arial"/>
              </a:rPr>
              <a:t>mixtas</a:t>
            </a:r>
            <a:r>
              <a:rPr kumimoji="0" sz="800" b="0" i="0" u="none" strike="noStrike" kern="0" cap="none" spc="0" normalizeH="0" baseline="0" noProof="0" dirty="0">
                <a:ln>
                  <a:noFill/>
                </a:ln>
                <a:solidFill>
                  <a:srgbClr val="FFFFFF"/>
                </a:solidFill>
                <a:effectLst/>
                <a:uLnTx/>
                <a:uFillTx/>
                <a:latin typeface="Montserrat"/>
                <a:cs typeface="Arial"/>
                <a:sym typeface="Arial"/>
              </a:rPr>
              <a:t>, no </a:t>
            </a:r>
            <a:r>
              <a:rPr kumimoji="0" sz="800" b="0" i="0" u="none" strike="noStrike" kern="0" cap="none" spc="0" normalizeH="0" baseline="0" noProof="0" dirty="0" err="1">
                <a:ln>
                  <a:noFill/>
                </a:ln>
                <a:solidFill>
                  <a:srgbClr val="FFFFFF"/>
                </a:solidFill>
                <a:effectLst/>
                <a:uLnTx/>
                <a:uFillTx/>
                <a:latin typeface="Montserrat"/>
                <a:cs typeface="Arial"/>
                <a:sym typeface="Arial"/>
              </a:rPr>
              <a:t>considera</a:t>
            </a:r>
            <a:r>
              <a:rPr kumimoji="0" sz="800" b="0" i="0" u="none" strike="noStrike" kern="0" cap="none" spc="0" normalizeH="0" baseline="0" noProof="0" dirty="0">
                <a:ln>
                  <a:noFill/>
                </a:ln>
                <a:solidFill>
                  <a:srgbClr val="FFFFFF"/>
                </a:solidFill>
                <a:effectLst/>
                <a:uLnTx/>
                <a:uFillTx/>
                <a:latin typeface="Montserrat"/>
                <a:cs typeface="Arial"/>
                <a:sym typeface="Arial"/>
              </a:rPr>
              <a:t> salas de </a:t>
            </a:r>
            <a:r>
              <a:rPr kumimoji="0" sz="800" b="0" i="0" u="none" strike="noStrike" kern="0" cap="none" spc="0" normalizeH="0" baseline="0" noProof="0" dirty="0" err="1">
                <a:ln>
                  <a:noFill/>
                </a:ln>
                <a:solidFill>
                  <a:srgbClr val="FFFFFF"/>
                </a:solidFill>
                <a:effectLst/>
                <a:uLnTx/>
                <a:uFillTx/>
                <a:latin typeface="Montserrat"/>
                <a:cs typeface="Arial"/>
                <a:sym typeface="Arial"/>
              </a:rPr>
              <a:t>tococirugía</a:t>
            </a:r>
            <a:r>
              <a:rPr kumimoji="0" sz="800" b="0" i="0" u="none" strike="noStrike" kern="0" cap="none" spc="0" normalizeH="0" baseline="0" noProof="0" dirty="0">
                <a:ln>
                  <a:noFill/>
                </a:ln>
                <a:solidFill>
                  <a:srgbClr val="FFFFFF"/>
                </a:solidFill>
                <a:effectLst/>
                <a:uLnTx/>
                <a:uFillTx/>
                <a:latin typeface="Montserrat"/>
                <a:cs typeface="Arial"/>
                <a:sym typeface="Arial"/>
              </a:rPr>
              <a:t> y </a:t>
            </a:r>
            <a:r>
              <a:rPr kumimoji="0" sz="800" b="0" i="0" u="none" strike="noStrike" kern="0" cap="none" spc="0" normalizeH="0" baseline="0" noProof="0" dirty="0" err="1">
                <a:ln>
                  <a:noFill/>
                </a:ln>
                <a:solidFill>
                  <a:srgbClr val="FFFFFF"/>
                </a:solidFill>
                <a:effectLst/>
                <a:uLnTx/>
                <a:uFillTx/>
                <a:latin typeface="Montserrat"/>
                <a:cs typeface="Arial"/>
                <a:sym typeface="Arial"/>
              </a:rPr>
              <a:t>expulsión</a:t>
            </a:r>
            <a:r>
              <a:rPr kumimoji="0" sz="800" b="0" i="0" u="none" strike="noStrike" kern="0" cap="none" spc="0" normalizeH="0" baseline="0" noProof="0" dirty="0">
                <a:ln>
                  <a:noFill/>
                </a:ln>
                <a:solidFill>
                  <a:srgbClr val="FFFFFF"/>
                </a:solidFill>
                <a:effectLst/>
                <a:uLnTx/>
                <a:uFillTx/>
                <a:latin typeface="Montserrat"/>
                <a:cs typeface="Arial"/>
                <a:sym typeface="Arial"/>
              </a:rPr>
              <a:t>.</a:t>
            </a:r>
            <a:br>
              <a:rPr kumimoji="0" sz="800" b="0" i="0" u="none" strike="noStrike" kern="0" cap="none" spc="0" normalizeH="0" baseline="0" noProof="0" dirty="0">
                <a:ln>
                  <a:noFill/>
                </a:ln>
                <a:solidFill>
                  <a:srgbClr val="FFFFFF"/>
                </a:solidFill>
                <a:effectLst/>
                <a:uLnTx/>
                <a:uFillTx/>
                <a:latin typeface="Montserrat"/>
                <a:cs typeface="Arial"/>
                <a:sym typeface="Arial"/>
              </a:rPr>
            </a:br>
            <a:r>
              <a:rPr kumimoji="0" sz="800" b="0" i="0" u="none" strike="noStrike" kern="0" cap="none" spc="0" normalizeH="0" baseline="0" noProof="0" dirty="0">
                <a:ln>
                  <a:noFill/>
                </a:ln>
                <a:solidFill>
                  <a:srgbClr val="FFFFFF"/>
                </a:solidFill>
                <a:effectLst/>
                <a:uLnTx/>
                <a:uFillTx/>
                <a:latin typeface="Montserrat"/>
                <a:cs typeface="Arial"/>
                <a:sym typeface="Arial"/>
              </a:rPr>
              <a:t>Fuente: Cédula de </a:t>
            </a:r>
            <a:r>
              <a:rPr kumimoji="0" sz="800" b="0" i="0" u="none" strike="noStrike" kern="0" cap="none" spc="0" normalizeH="0" baseline="0" noProof="0" dirty="0" err="1">
                <a:ln>
                  <a:noFill/>
                </a:ln>
                <a:solidFill>
                  <a:srgbClr val="FFFFFF"/>
                </a:solidFill>
                <a:effectLst/>
                <a:uLnTx/>
                <a:uFillTx/>
                <a:latin typeface="Montserrat"/>
                <a:cs typeface="Arial"/>
                <a:sym typeface="Arial"/>
              </a:rPr>
              <a:t>actualización</a:t>
            </a:r>
            <a:r>
              <a:rPr kumimoji="0" sz="800" b="0" i="0" u="none" strike="noStrike" kern="0" cap="none" spc="0" normalizeH="0" baseline="0" noProof="0" dirty="0">
                <a:ln>
                  <a:noFill/>
                </a:ln>
                <a:solidFill>
                  <a:srgbClr val="FFFFFF"/>
                </a:solidFill>
                <a:effectLst/>
                <a:uLnTx/>
                <a:uFillTx/>
                <a:latin typeface="Montserrat"/>
                <a:cs typeface="Arial"/>
                <a:sym typeface="Arial"/>
              </a:rPr>
              <a:t> de variables </a:t>
            </a:r>
            <a:r>
              <a:rPr kumimoji="0" sz="800" b="0" i="0" u="none" strike="noStrike" kern="0" cap="none" spc="0" normalizeH="0" baseline="0" noProof="0" dirty="0" err="1">
                <a:ln>
                  <a:noFill/>
                </a:ln>
                <a:solidFill>
                  <a:srgbClr val="FFFFFF"/>
                </a:solidFill>
                <a:effectLst/>
                <a:uLnTx/>
                <a:uFillTx/>
                <a:latin typeface="Montserrat"/>
                <a:cs typeface="Arial"/>
                <a:sym typeface="Arial"/>
              </a:rPr>
              <a:t>seleccionados</a:t>
            </a:r>
            <a:r>
              <a:rPr kumimoji="0" sz="800" b="0" i="0" u="none" strike="noStrike" kern="0" cap="none" spc="0" normalizeH="0" baseline="0" noProof="0" dirty="0">
                <a:ln>
                  <a:noFill/>
                </a:ln>
                <a:solidFill>
                  <a:srgbClr val="FFFFFF"/>
                </a:solidFill>
                <a:effectLst/>
                <a:uLnTx/>
                <a:uFillTx/>
                <a:latin typeface="Montserrat"/>
                <a:cs typeface="Arial"/>
                <a:sym typeface="Arial"/>
              </a:rPr>
              <a:t> del IFU </a:t>
            </a:r>
            <a:r>
              <a:rPr kumimoji="0" sz="800" b="0" i="0" u="none" strike="noStrike" kern="0" cap="none" spc="0" normalizeH="0" baseline="0" noProof="0" dirty="0" err="1">
                <a:ln>
                  <a:noFill/>
                </a:ln>
                <a:solidFill>
                  <a:srgbClr val="FFFFFF"/>
                </a:solidFill>
                <a:effectLst/>
                <a:uLnTx/>
                <a:uFillTx/>
                <a:latin typeface="Montserrat"/>
                <a:cs typeface="Arial"/>
                <a:sym typeface="Arial"/>
              </a:rPr>
              <a:t>enviados</a:t>
            </a:r>
            <a:r>
              <a:rPr kumimoji="0" sz="800" b="0" i="0" u="none" strike="noStrike" kern="0" cap="none" spc="0" normalizeH="0" baseline="0" noProof="0" dirty="0">
                <a:ln>
                  <a:noFill/>
                </a:ln>
                <a:solidFill>
                  <a:srgbClr val="FFFFFF"/>
                </a:solidFill>
                <a:effectLst/>
                <a:uLnTx/>
                <a:uFillTx/>
                <a:latin typeface="Montserrat"/>
                <a:cs typeface="Arial"/>
                <a:sym typeface="Arial"/>
              </a:rPr>
              <a:t> por el OOAD.</a:t>
            </a:r>
            <a:br>
              <a:rPr kumimoji="0" sz="800" b="0" i="0" u="none" strike="noStrike" kern="0" cap="none" spc="0" normalizeH="0" baseline="0" noProof="0" dirty="0">
                <a:ln>
                  <a:noFill/>
                </a:ln>
                <a:solidFill>
                  <a:srgbClr val="FFFFFF"/>
                </a:solidFill>
                <a:effectLst/>
                <a:uLnTx/>
                <a:uFillTx/>
                <a:latin typeface="Montserrat"/>
                <a:cs typeface="Arial"/>
                <a:sym typeface="Arial"/>
              </a:rPr>
            </a:br>
            <a:r>
              <a:rPr kumimoji="0" sz="800" b="0" i="0" u="none" strike="noStrike" kern="0" cap="none" spc="0" normalizeH="0" baseline="0" noProof="0" dirty="0">
                <a:ln>
                  <a:noFill/>
                </a:ln>
                <a:solidFill>
                  <a:srgbClr val="FFFFFF"/>
                </a:solidFill>
                <a:effectLst/>
                <a:uLnTx/>
                <a:uFillTx/>
                <a:latin typeface="Montserrat"/>
                <a:cs typeface="Arial"/>
                <a:sym typeface="Arial"/>
              </a:rPr>
              <a:t>Corte de Información: ma</a:t>
            </a:r>
            <a:r>
              <a:rPr kumimoji="0" lang="es-MX" sz="800" b="0" i="0" u="none" strike="noStrike" kern="0" cap="none" spc="0" normalizeH="0" baseline="0" noProof="0" dirty="0">
                <a:ln>
                  <a:noFill/>
                </a:ln>
                <a:solidFill>
                  <a:srgbClr val="FFFFFF"/>
                </a:solidFill>
                <a:effectLst/>
                <a:uLnTx/>
                <a:uFillTx/>
                <a:latin typeface="Montserrat"/>
                <a:cs typeface="Arial"/>
                <a:sym typeface="Arial"/>
              </a:rPr>
              <a:t>y</a:t>
            </a:r>
            <a:r>
              <a:rPr kumimoji="0" sz="800" b="0" i="0" u="none" strike="noStrike" kern="0" cap="none" spc="0" normalizeH="0" baseline="0" noProof="0" dirty="0">
                <a:ln>
                  <a:noFill/>
                </a:ln>
                <a:solidFill>
                  <a:srgbClr val="FFFFFF"/>
                </a:solidFill>
                <a:effectLst/>
                <a:uLnTx/>
                <a:uFillTx/>
                <a:latin typeface="Montserrat"/>
                <a:cs typeface="Arial"/>
                <a:sym typeface="Arial"/>
              </a:rPr>
              <a:t>o de 2026</a:t>
            </a:r>
          </a:p>
        </p:txBody>
      </p:sp>
      <p:graphicFrame>
        <p:nvGraphicFramePr>
          <p:cNvPr id="12" name="Table 11"/>
          <p:cNvGraphicFramePr>
            <a:graphicFrameLocks noGrp="1"/>
          </p:cNvGraphicFramePr>
          <p:nvPr/>
        </p:nvGraphicFramePr>
        <p:xfrm>
          <a:off x="100800" y="1641624"/>
          <a:ext cx="7650000" cy="28069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HGZ 2 Hermosillo</a:t>
                      </a:r>
                    </a:p>
                  </a:txBody>
                  <a:tcPr anchor="ctr">
                    <a:solidFill>
                      <a:srgbClr val="FFFFFF"/>
                    </a:solidFill>
                  </a:tcPr>
                </a:tc>
                <a:tc>
                  <a:txBody>
                    <a:bodyPr/>
                    <a:lstStyle/>
                    <a:p>
                      <a:pPr algn="ctr">
                        <a:defRPr sz="900">
                          <a:latin typeface="Montserrat"/>
                        </a:defRPr>
                      </a:pPr>
                      <a:r>
                        <a:t>Agosto de 1958</a:t>
                      </a:r>
                    </a:p>
                  </a:txBody>
                  <a:tcPr anchor="ctr">
                    <a:solidFill>
                      <a:srgbClr val="FFFFFF"/>
                    </a:solidFill>
                  </a:tcPr>
                </a:tc>
                <a:tc>
                  <a:txBody>
                    <a:bodyPr/>
                    <a:lstStyle/>
                    <a:p>
                      <a:pPr algn="ctr">
                        <a:defRPr sz="900">
                          <a:latin typeface="Montserrat"/>
                        </a:defRPr>
                      </a:pPr>
                      <a:r>
                        <a:rPr dirty="0"/>
                        <a:t>149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 3 Navojoa</a:t>
                      </a:r>
                    </a:p>
                  </a:txBody>
                  <a:tcPr anchor="ctr">
                    <a:solidFill>
                      <a:srgbClr val="EFEFEF"/>
                    </a:solidFill>
                  </a:tcPr>
                </a:tc>
                <a:tc>
                  <a:txBody>
                    <a:bodyPr/>
                    <a:lstStyle/>
                    <a:p>
                      <a:pPr algn="ctr">
                        <a:defRPr sz="900">
                          <a:latin typeface="Montserrat"/>
                        </a:defRPr>
                      </a:pPr>
                      <a:r>
                        <a:t>Agosto de 1958</a:t>
                      </a:r>
                    </a:p>
                  </a:txBody>
                  <a:tcPr anchor="ctr">
                    <a:solidFill>
                      <a:srgbClr val="EFEFEF"/>
                    </a:solidFill>
                  </a:tcPr>
                </a:tc>
                <a:tc>
                  <a:txBody>
                    <a:bodyPr/>
                    <a:lstStyle/>
                    <a:p>
                      <a:pPr algn="ctr">
                        <a:defRPr sz="900">
                          <a:latin typeface="Montserrat"/>
                        </a:defRPr>
                      </a:pPr>
                      <a:r>
                        <a:rPr dirty="0"/>
                        <a:t>75</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HGZ 4 Guaymas</a:t>
                      </a:r>
                    </a:p>
                  </a:txBody>
                  <a:tcPr anchor="ctr">
                    <a:solidFill>
                      <a:srgbClr val="FFFFFF"/>
                    </a:solidFill>
                  </a:tcPr>
                </a:tc>
                <a:tc>
                  <a:txBody>
                    <a:bodyPr/>
                    <a:lstStyle/>
                    <a:p>
                      <a:pPr algn="ctr">
                        <a:defRPr sz="900">
                          <a:latin typeface="Montserrat"/>
                        </a:defRPr>
                      </a:pPr>
                      <a:r>
                        <a:t>Noviembre de 1958</a:t>
                      </a:r>
                    </a:p>
                  </a:txBody>
                  <a:tcPr anchor="ctr">
                    <a:solidFill>
                      <a:srgbClr val="FFFFFF"/>
                    </a:solidFill>
                  </a:tcPr>
                </a:tc>
                <a:tc>
                  <a:txBody>
                    <a:bodyPr/>
                    <a:lstStyle/>
                    <a:p>
                      <a:pPr algn="ctr">
                        <a:defRPr sz="900">
                          <a:latin typeface="Montserrat"/>
                        </a:defRPr>
                      </a:pPr>
                      <a:r>
                        <a:t>91</a:t>
                      </a:r>
                    </a:p>
                  </a:txBody>
                  <a:tcPr anchor="ctr">
                    <a:solidFill>
                      <a:srgbClr val="FFFFFF"/>
                    </a:solidFill>
                  </a:tcPr>
                </a:tc>
                <a:tc>
                  <a:txBody>
                    <a:bodyPr/>
                    <a:lstStyle/>
                    <a:p>
                      <a:pPr algn="ctr">
                        <a:defRPr sz="900">
                          <a:latin typeface="Montserrat"/>
                        </a:defRPr>
                      </a:pPr>
                      <a:r>
                        <a:rPr dirty="0"/>
                        <a:t>34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rPr dirty="0"/>
                        <a:t>5</a:t>
                      </a:r>
                    </a:p>
                  </a:txBody>
                  <a:tcPr anchor="ctr">
                    <a:solidFill>
                      <a:srgbClr val="FFFFFF"/>
                    </a:solidFill>
                  </a:tcPr>
                </a:tc>
                <a:tc>
                  <a:txBody>
                    <a:bodyPr/>
                    <a:lstStyle/>
                    <a:p>
                      <a:pPr algn="ctr">
                        <a:defRPr sz="900">
                          <a:latin typeface="Montserrat"/>
                        </a:defRPr>
                      </a:pPr>
                      <a:r>
                        <a:t>15</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HGS 12 S. Luis Rio Colorado</a:t>
                      </a:r>
                    </a:p>
                  </a:txBody>
                  <a:tcPr anchor="ctr">
                    <a:solidFill>
                      <a:srgbClr val="EFEFEF"/>
                    </a:solidFill>
                  </a:tcPr>
                </a:tc>
                <a:tc>
                  <a:txBody>
                    <a:bodyPr/>
                    <a:lstStyle/>
                    <a:p>
                      <a:pPr algn="ctr">
                        <a:defRPr sz="900">
                          <a:latin typeface="Montserrat"/>
                        </a:defRPr>
                      </a:pPr>
                      <a:r>
                        <a:t>Febrero de 1964</a:t>
                      </a:r>
                    </a:p>
                  </a:txBody>
                  <a:tcPr anchor="ctr">
                    <a:solidFill>
                      <a:srgbClr val="EFEFEF"/>
                    </a:solidFill>
                  </a:tcPr>
                </a:tc>
                <a:tc>
                  <a:txBody>
                    <a:bodyPr/>
                    <a:lstStyle/>
                    <a:p>
                      <a:pPr algn="ctr">
                        <a:defRPr sz="900">
                          <a:latin typeface="Montserrat"/>
                        </a:defRPr>
                      </a:pPr>
                      <a:r>
                        <a:t>34</a:t>
                      </a:r>
                    </a:p>
                  </a:txBody>
                  <a:tcPr anchor="ctr">
                    <a:solidFill>
                      <a:srgbClr val="EFEFEF"/>
                    </a:solidFill>
                  </a:tcPr>
                </a:tc>
                <a:tc>
                  <a:txBody>
                    <a:bodyPr/>
                    <a:lstStyle/>
                    <a:p>
                      <a:pPr algn="ctr">
                        <a:defRPr sz="900">
                          <a:latin typeface="Montserrat"/>
                        </a:defRPr>
                      </a:pPr>
                      <a:r>
                        <a:rPr dirty="0"/>
                        <a:t>25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extLst>
                  <a:ext uri="{0D108BD9-81ED-4DB2-BD59-A6C34878D82A}">
                    <a16:rowId xmlns:a16="http://schemas.microsoft.com/office/drawing/2014/main" val="10004"/>
                  </a:ext>
                </a:extLst>
              </a:tr>
              <a:tr h="230400">
                <a:tc>
                  <a:txBody>
                    <a:bodyPr/>
                    <a:lstStyle/>
                    <a:p>
                      <a:pPr algn="l">
                        <a:defRPr sz="900">
                          <a:latin typeface="Montserrat"/>
                        </a:defRPr>
                      </a:pPr>
                      <a:r>
                        <a:t>HGSMF 6 Valle Hermosillo</a:t>
                      </a:r>
                    </a:p>
                  </a:txBody>
                  <a:tcPr anchor="ctr">
                    <a:solidFill>
                      <a:srgbClr val="FFFFFF"/>
                    </a:solidFill>
                  </a:tcPr>
                </a:tc>
                <a:tc>
                  <a:txBody>
                    <a:bodyPr/>
                    <a:lstStyle/>
                    <a:p>
                      <a:pPr algn="ctr">
                        <a:defRPr sz="900">
                          <a:latin typeface="Montserrat"/>
                        </a:defRPr>
                      </a:pPr>
                      <a:r>
                        <a:t>Febrero de 1964</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rPr dirty="0"/>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a:t>
                      </a:r>
                    </a:p>
                  </a:txBody>
                  <a:tcPr anchor="ctr">
                    <a:solidFill>
                      <a:srgbClr val="FFFFFF"/>
                    </a:solidFill>
                  </a:tcPr>
                </a:tc>
                <a:extLst>
                  <a:ext uri="{0D108BD9-81ED-4DB2-BD59-A6C34878D82A}">
                    <a16:rowId xmlns:a16="http://schemas.microsoft.com/office/drawing/2014/main" val="10005"/>
                  </a:ext>
                </a:extLst>
              </a:tr>
              <a:tr h="230400">
                <a:tc>
                  <a:txBody>
                    <a:bodyPr/>
                    <a:lstStyle/>
                    <a:p>
                      <a:pPr algn="l">
                        <a:defRPr sz="900">
                          <a:latin typeface="Montserrat"/>
                        </a:defRPr>
                      </a:pPr>
                      <a:r>
                        <a:t>HGSMF 7 Huatabampo</a:t>
                      </a:r>
                    </a:p>
                  </a:txBody>
                  <a:tcPr anchor="ctr">
                    <a:solidFill>
                      <a:srgbClr val="EFEFEF"/>
                    </a:solidFill>
                  </a:tcPr>
                </a:tc>
                <a:tc>
                  <a:txBody>
                    <a:bodyPr/>
                    <a:lstStyle/>
                    <a:p>
                      <a:pPr algn="ctr">
                        <a:defRPr sz="900">
                          <a:latin typeface="Montserrat"/>
                        </a:defRPr>
                      </a:pPr>
                      <a:r>
                        <a:t>Febrero de 1967</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rPr dirty="0"/>
                        <a:t>0</a:t>
                      </a:r>
                    </a:p>
                  </a:txBody>
                  <a:tcPr anchor="ctr">
                    <a:solidFill>
                      <a:srgbClr val="EFEFEF"/>
                    </a:solidFill>
                  </a:tcPr>
                </a:tc>
                <a:tc>
                  <a:txBody>
                    <a:bodyPr/>
                    <a:lstStyle/>
                    <a:p>
                      <a:pPr algn="ctr">
                        <a:defRPr sz="900">
                          <a:latin typeface="Montserrat"/>
                        </a:defRPr>
                      </a:pPr>
                      <a:r>
                        <a:rPr dirty="0"/>
                        <a:t>1</a:t>
                      </a:r>
                    </a:p>
                  </a:txBody>
                  <a:tcPr anchor="ctr">
                    <a:solidFill>
                      <a:srgbClr val="EFEFEF"/>
                    </a:solidFill>
                  </a:tcPr>
                </a:tc>
                <a:tc>
                  <a:txBody>
                    <a:bodyPr/>
                    <a:lstStyle/>
                    <a:p>
                      <a:pPr algn="ctr">
                        <a:defRPr sz="900">
                          <a:latin typeface="Montserrat"/>
                        </a:defRPr>
                      </a:pPr>
                      <a:r>
                        <a:t>3</a:t>
                      </a:r>
                    </a:p>
                  </a:txBody>
                  <a:tcPr anchor="ctr">
                    <a:solidFill>
                      <a:srgbClr val="EFEFEF"/>
                    </a:solidFill>
                  </a:tcPr>
                </a:tc>
                <a:extLst>
                  <a:ext uri="{0D108BD9-81ED-4DB2-BD59-A6C34878D82A}">
                    <a16:rowId xmlns:a16="http://schemas.microsoft.com/office/drawing/2014/main" val="10006"/>
                  </a:ext>
                </a:extLst>
              </a:tr>
              <a:tr h="230400">
                <a:tc>
                  <a:txBody>
                    <a:bodyPr/>
                    <a:lstStyle/>
                    <a:p>
                      <a:pPr algn="l">
                        <a:defRPr sz="900">
                          <a:latin typeface="Montserrat"/>
                        </a:defRPr>
                      </a:pPr>
                      <a:r>
                        <a:t>HGR 1 Cd. Obregón</a:t>
                      </a:r>
                    </a:p>
                  </a:txBody>
                  <a:tcPr anchor="ctr">
                    <a:solidFill>
                      <a:srgbClr val="FFFFFF"/>
                    </a:solidFill>
                  </a:tcPr>
                </a:tc>
                <a:tc>
                  <a:txBody>
                    <a:bodyPr/>
                    <a:lstStyle/>
                    <a:p>
                      <a:pPr algn="ctr">
                        <a:defRPr sz="900">
                          <a:latin typeface="Montserrat"/>
                        </a:defRPr>
                      </a:pPr>
                      <a:r>
                        <a:t>Mayo de 1969</a:t>
                      </a:r>
                    </a:p>
                  </a:txBody>
                  <a:tcPr anchor="ctr">
                    <a:solidFill>
                      <a:srgbClr val="FFFFFF"/>
                    </a:solidFill>
                  </a:tcPr>
                </a:tc>
                <a:tc>
                  <a:txBody>
                    <a:bodyPr/>
                    <a:lstStyle/>
                    <a:p>
                      <a:pPr algn="ctr">
                        <a:defRPr sz="900">
                          <a:latin typeface="Montserrat"/>
                        </a:defRPr>
                      </a:pPr>
                      <a:r>
                        <a:t>272</a:t>
                      </a:r>
                    </a:p>
                  </a:txBody>
                  <a:tcPr anchor="ctr">
                    <a:solidFill>
                      <a:srgbClr val="FFFFFF"/>
                    </a:solidFill>
                  </a:tcPr>
                </a:tc>
                <a:tc>
                  <a:txBody>
                    <a:bodyPr/>
                    <a:lstStyle/>
                    <a:p>
                      <a:pPr algn="ctr">
                        <a:defRPr sz="900">
                          <a:latin typeface="Montserrat"/>
                        </a:defRPr>
                      </a:pPr>
                      <a:r>
                        <a:t>108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rPr dirty="0"/>
                        <a:t>9</a:t>
                      </a:r>
                    </a:p>
                  </a:txBody>
                  <a:tcPr anchor="ctr">
                    <a:solidFill>
                      <a:srgbClr val="FFFFFF"/>
                    </a:solidFill>
                  </a:tcPr>
                </a:tc>
                <a:tc>
                  <a:txBody>
                    <a:bodyPr/>
                    <a:lstStyle/>
                    <a:p>
                      <a:pPr algn="ctr">
                        <a:defRPr sz="900">
                          <a:latin typeface="Montserrat"/>
                        </a:defRPr>
                      </a:pPr>
                      <a:r>
                        <a:rPr dirty="0"/>
                        <a:t>42</a:t>
                      </a:r>
                    </a:p>
                  </a:txBody>
                  <a:tcPr anchor="ctr">
                    <a:solidFill>
                      <a:srgbClr val="FFFFFF"/>
                    </a:solidFill>
                  </a:tcPr>
                </a:tc>
                <a:extLst>
                  <a:ext uri="{0D108BD9-81ED-4DB2-BD59-A6C34878D82A}">
                    <a16:rowId xmlns:a16="http://schemas.microsoft.com/office/drawing/2014/main" val="10007"/>
                  </a:ext>
                </a:extLst>
              </a:tr>
              <a:tr h="230400">
                <a:tc>
                  <a:txBody>
                    <a:bodyPr/>
                    <a:lstStyle/>
                    <a:p>
                      <a:pPr algn="l">
                        <a:defRPr sz="900">
                          <a:latin typeface="Montserrat"/>
                        </a:defRPr>
                      </a:pPr>
                      <a:r>
                        <a:t>HGP Hermosillo</a:t>
                      </a:r>
                    </a:p>
                  </a:txBody>
                  <a:tcPr anchor="ctr">
                    <a:solidFill>
                      <a:srgbClr val="EFEFEF"/>
                    </a:solidFill>
                  </a:tcPr>
                </a:tc>
                <a:tc>
                  <a:txBody>
                    <a:bodyPr/>
                    <a:lstStyle/>
                    <a:p>
                      <a:pPr algn="ctr">
                        <a:defRPr sz="900">
                          <a:latin typeface="Montserrat"/>
                        </a:defRPr>
                      </a:pPr>
                      <a:r>
                        <a:t>Agosto de 1970</a:t>
                      </a:r>
                    </a:p>
                  </a:txBody>
                  <a:tcPr anchor="ctr">
                    <a:solidFill>
                      <a:srgbClr val="EFEFEF"/>
                    </a:solidFill>
                  </a:tcPr>
                </a:tc>
                <a:tc>
                  <a:txBody>
                    <a:bodyPr/>
                    <a:lstStyle/>
                    <a:p>
                      <a:pPr algn="ctr">
                        <a:defRPr sz="900">
                          <a:latin typeface="Montserrat"/>
                        </a:defRPr>
                      </a:pPr>
                      <a:r>
                        <a:t>125</a:t>
                      </a:r>
                    </a:p>
                  </a:txBody>
                  <a:tcPr anchor="ctr">
                    <a:solidFill>
                      <a:srgbClr val="EFEFEF"/>
                    </a:solidFill>
                  </a:tcPr>
                </a:tc>
                <a:tc>
                  <a:txBody>
                    <a:bodyPr/>
                    <a:lstStyle/>
                    <a:p>
                      <a:pPr algn="ctr">
                        <a:defRPr sz="900">
                          <a:latin typeface="Montserrat"/>
                        </a:defRPr>
                      </a:pPr>
                      <a:r>
                        <a:t>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rPr dirty="0"/>
                        <a:t>12</a:t>
                      </a:r>
                    </a:p>
                  </a:txBody>
                  <a:tcPr anchor="ctr">
                    <a:solidFill>
                      <a:srgbClr val="EFEFEF"/>
                    </a:solidFill>
                  </a:tcPr>
                </a:tc>
                <a:extLst>
                  <a:ext uri="{0D108BD9-81ED-4DB2-BD59-A6C34878D82A}">
                    <a16:rowId xmlns:a16="http://schemas.microsoft.com/office/drawing/2014/main" val="10008"/>
                  </a:ext>
                </a:extLst>
              </a:tr>
              <a:tr h="230400">
                <a:tc>
                  <a:txBody>
                    <a:bodyPr/>
                    <a:lstStyle/>
                    <a:p>
                      <a:pPr algn="l">
                        <a:defRPr sz="900">
                          <a:latin typeface="Montserrat"/>
                        </a:defRPr>
                      </a:pPr>
                      <a:r>
                        <a:t>HGZ 8 Caborca</a:t>
                      </a:r>
                    </a:p>
                  </a:txBody>
                  <a:tcPr anchor="ctr">
                    <a:solidFill>
                      <a:srgbClr val="FFFFFF"/>
                    </a:solidFill>
                  </a:tcPr>
                </a:tc>
                <a:tc>
                  <a:txBody>
                    <a:bodyPr/>
                    <a:lstStyle/>
                    <a:p>
                      <a:pPr algn="ctr">
                        <a:defRPr sz="900">
                          <a:latin typeface="Montserrat"/>
                        </a:defRPr>
                      </a:pPr>
                      <a:r>
                        <a:t>Octubre de 1972</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rPr dirty="0"/>
                        <a:t>1</a:t>
                      </a:r>
                    </a:p>
                  </a:txBody>
                  <a:tcPr anchor="ctr">
                    <a:solidFill>
                      <a:srgbClr val="FFFFFF"/>
                    </a:solidFill>
                  </a:tcPr>
                </a:tc>
                <a:tc>
                  <a:txBody>
                    <a:bodyPr/>
                    <a:lstStyle/>
                    <a:p>
                      <a:pPr algn="ctr">
                        <a:defRPr sz="900">
                          <a:latin typeface="Montserrat"/>
                        </a:defRPr>
                      </a:pPr>
                      <a:r>
                        <a:rPr dirty="0"/>
                        <a:t>7</a:t>
                      </a:r>
                    </a:p>
                  </a:txBody>
                  <a:tcPr anchor="ctr">
                    <a:solidFill>
                      <a:srgbClr val="FFFFFF"/>
                    </a:solidFill>
                  </a:tcPr>
                </a:tc>
                <a:extLst>
                  <a:ext uri="{0D108BD9-81ED-4DB2-BD59-A6C34878D82A}">
                    <a16:rowId xmlns:a16="http://schemas.microsoft.com/office/drawing/2014/main" val="10009"/>
                  </a:ext>
                </a:extLst>
              </a:tr>
              <a:tr h="230400">
                <a:tc>
                  <a:txBody>
                    <a:bodyPr/>
                    <a:lstStyle/>
                    <a:p>
                      <a:pPr algn="l">
                        <a:defRPr sz="900">
                          <a:latin typeface="Montserrat"/>
                        </a:defRPr>
                      </a:pPr>
                      <a:r>
                        <a:t>HGS 9 Puerto </a:t>
                      </a:r>
                      <a:r>
                        <a:rPr err="1"/>
                        <a:t>Peñasco</a:t>
                      </a:r>
                      <a:endParaRPr/>
                    </a:p>
                  </a:txBody>
                  <a:tcPr anchor="ctr">
                    <a:solidFill>
                      <a:srgbClr val="EFEFEF"/>
                    </a:solidFill>
                  </a:tcPr>
                </a:tc>
                <a:tc>
                  <a:txBody>
                    <a:bodyPr/>
                    <a:lstStyle/>
                    <a:p>
                      <a:pPr algn="ctr">
                        <a:defRPr sz="900">
                          <a:latin typeface="Montserrat"/>
                        </a:defRPr>
                      </a:pPr>
                      <a:r>
                        <a:t>Noviembre de 1972</a:t>
                      </a:r>
                    </a:p>
                  </a:txBody>
                  <a:tcPr anchor="ctr">
                    <a:solidFill>
                      <a:srgbClr val="EFEFEF"/>
                    </a:solidFill>
                  </a:tcPr>
                </a:tc>
                <a:tc>
                  <a:txBody>
                    <a:bodyPr/>
                    <a:lstStyle/>
                    <a:p>
                      <a:pPr algn="ctr">
                        <a:defRPr sz="900">
                          <a:latin typeface="Montserrat"/>
                        </a:defRPr>
                      </a:pPr>
                      <a:r>
                        <a:rPr dirty="0"/>
                        <a:t>15</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rPr dirty="0"/>
                        <a:t>1</a:t>
                      </a:r>
                    </a:p>
                  </a:txBody>
                  <a:tcPr anchor="ctr">
                    <a:solidFill>
                      <a:srgbClr val="EFEFEF"/>
                    </a:solidFill>
                  </a:tcPr>
                </a:tc>
                <a:tc>
                  <a:txBody>
                    <a:bodyPr/>
                    <a:lstStyle/>
                    <a:p>
                      <a:pPr algn="ctr">
                        <a:defRPr sz="900">
                          <a:latin typeface="Montserrat"/>
                        </a:defRPr>
                      </a:pPr>
                      <a:r>
                        <a:rPr dirty="0"/>
                        <a:t>4</a:t>
                      </a:r>
                    </a:p>
                  </a:txBody>
                  <a:tcPr anchor="ctr">
                    <a:solidFill>
                      <a:srgbClr val="EFEFE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graphicFrame>
        <p:nvGraphicFramePr>
          <p:cNvPr id="154" name="Table 153"/>
          <p:cNvGraphicFramePr>
            <a:graphicFrameLocks noGrp="1"/>
          </p:cNvGraphicFramePr>
          <p:nvPr>
            <p:extLst>
              <p:ext uri="{D42A27DB-BD31-4B8C-83A1-F6EECF244321}">
                <p14:modId xmlns:p14="http://schemas.microsoft.com/office/powerpoint/2010/main" val="2063402502"/>
              </p:ext>
            </p:extLst>
          </p:nvPr>
        </p:nvGraphicFramePr>
        <p:xfrm>
          <a:off x="93600" y="1180800"/>
          <a:ext cx="7534799" cy="5244558"/>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a:t>
                      </a:r>
                      <a:r>
                        <a:rPr err="1"/>
                        <a:t>Hemodinamia</a:t>
                      </a:r>
                      <a:endParaRP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HGZ 14 Hermosillo C/U quemados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rPr lang="es-MX"/>
                        <a:t>2</a:t>
                      </a:r>
                      <a:endParaRPr/>
                    </a:p>
                  </a:txBody>
                  <a:tcPr>
                    <a:solidFill>
                      <a:srgbClr val="FFFFFF"/>
                    </a:solidFill>
                  </a:tcPr>
                </a:tc>
                <a:tc>
                  <a:txBody>
                    <a:bodyPr/>
                    <a:lstStyle/>
                    <a:p>
                      <a:pPr algn="ctr">
                        <a:defRPr sz="1000">
                          <a:latin typeface="Montserrat"/>
                        </a:defRPr>
                      </a:pPr>
                      <a:r>
                        <a:rPr dirty="0"/>
                        <a:t>1</a:t>
                      </a:r>
                      <a:r>
                        <a:rPr lang="es-MX" dirty="0"/>
                        <a:t>9</a:t>
                      </a:r>
                      <a:endParaRPr dirty="0"/>
                    </a:p>
                  </a:txBody>
                  <a:tcPr>
                    <a:solidFill>
                      <a:srgbClr val="FFFFFF"/>
                    </a:solidFill>
                  </a:tcPr>
                </a:tc>
                <a:tc>
                  <a:txBody>
                    <a:bodyPr/>
                    <a:lstStyle/>
                    <a:p>
                      <a:pPr algn="ctr">
                        <a:defRPr sz="1000">
                          <a:latin typeface="Montserrat"/>
                        </a:defRPr>
                      </a:pPr>
                      <a:r>
                        <a:t>1</a:t>
                      </a:r>
                    </a:p>
                  </a:txBody>
                  <a:tcPr>
                    <a:solidFill>
                      <a:srgbClr val="DCC190"/>
                    </a:solidFill>
                  </a:tcPr>
                </a:tc>
                <a:extLst>
                  <a:ext uri="{0D108BD9-81ED-4DB2-BD59-A6C34878D82A}">
                    <a16:rowId xmlns:a16="http://schemas.microsoft.com/office/drawing/2014/main" val="10001"/>
                  </a:ext>
                </a:extLst>
              </a:tr>
              <a:tr h="216000">
                <a:tc>
                  <a:txBody>
                    <a:bodyPr/>
                    <a:lstStyle/>
                    <a:p>
                      <a:pPr algn="l">
                        <a:defRPr sz="1000">
                          <a:latin typeface="Montserrat"/>
                        </a:defRPr>
                      </a:pPr>
                      <a:r>
                        <a:t>HGZ 8 Caborca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rPr dirty="0"/>
                        <a:t>7</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16000">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lang="es-MX"/>
                        <a:t>0</a:t>
                      </a:r>
                      <a:endParaRP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rPr dirty="0"/>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291558">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rPr dirty="0"/>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4"/>
                  </a:ext>
                </a:extLst>
              </a:tr>
              <a:tr h="216000">
                <a:tc>
                  <a:txBody>
                    <a:bodyPr/>
                    <a:lstStyle/>
                    <a:p>
                      <a:pPr algn="l">
                        <a:defRPr sz="1000">
                          <a:latin typeface="Montserrat"/>
                        </a:defRPr>
                      </a:pPr>
                      <a:r>
                        <a:t>HGR 1 Cd. Obregón</a:t>
                      </a:r>
                    </a:p>
                  </a:txBody>
                  <a:tcPr>
                    <a:solidFill>
                      <a:srgbClr val="FFFFFF"/>
                    </a:solidFill>
                  </a:tcPr>
                </a:tc>
                <a:tc>
                  <a:txBody>
                    <a:bodyPr/>
                    <a:lstStyle/>
                    <a:p>
                      <a:pPr algn="ctr">
                        <a:defRPr sz="1000">
                          <a:latin typeface="Montserrat"/>
                        </a:defRPr>
                      </a:pPr>
                      <a:r>
                        <a:rPr>
                          <a:solidFill>
                            <a:schemeClr val="tx1"/>
                          </a:solidFill>
                        </a:rPr>
                        <a:t>1</a:t>
                      </a:r>
                    </a:p>
                  </a:txBody>
                  <a:tcPr>
                    <a:solidFill>
                      <a:schemeClr val="bg1"/>
                    </a:solidFill>
                  </a:tcPr>
                </a:tc>
                <a:tc>
                  <a:txBody>
                    <a:bodyPr/>
                    <a:lstStyle/>
                    <a:p>
                      <a:pPr algn="ctr">
                        <a:defRPr sz="1000">
                          <a:latin typeface="Montserrat"/>
                        </a:defRPr>
                      </a:pPr>
                      <a:r>
                        <a:t>0</a:t>
                      </a:r>
                    </a:p>
                  </a:txBody>
                  <a:tcPr>
                    <a:solidFill>
                      <a:srgbClr val="FFFFFF"/>
                    </a:solidFill>
                  </a:tcPr>
                </a:tc>
                <a:tc>
                  <a:txBody>
                    <a:bodyPr/>
                    <a:lstStyle/>
                    <a:p>
                      <a:pPr marR="0" algn="ctr" rtl="0">
                        <a:lnSpc>
                          <a:spcPct val="100000"/>
                        </a:lnSpc>
                        <a:spcBef>
                          <a:spcPts val="0"/>
                        </a:spcBef>
                        <a:spcAft>
                          <a:spcPts val="0"/>
                        </a:spcAft>
                        <a:buClr>
                          <a:srgbClr val="000000"/>
                        </a:buClr>
                        <a:buFont typeface="Arial"/>
                        <a:defRPr sz="1000">
                          <a:latin typeface="Montserrat"/>
                        </a:defRPr>
                      </a:pPr>
                      <a:r>
                        <a:rPr sz="1000" b="0" i="0" u="none" strike="noStrike" cap="none">
                          <a:solidFill>
                            <a:schemeClr val="dk1"/>
                          </a:solidFill>
                          <a:latin typeface="Montserrat"/>
                          <a:ea typeface="+mn-ea"/>
                          <a:cs typeface="+mn-cs"/>
                          <a:sym typeface="Arial"/>
                        </a:rPr>
                        <a:t>1</a:t>
                      </a:r>
                    </a:p>
                  </a:txBody>
                  <a:tcPr>
                    <a:solidFill>
                      <a:srgbClr val="DCC190"/>
                    </a:solidFill>
                  </a:tcPr>
                </a:tc>
                <a:tc>
                  <a:txBody>
                    <a:bodyPr/>
                    <a:lstStyle/>
                    <a:p>
                      <a:pPr algn="ctr">
                        <a:defRPr sz="1000">
                          <a:latin typeface="Montserrat"/>
                        </a:defRPr>
                      </a:pPr>
                      <a:r>
                        <a:rPr lang="es-MX"/>
                        <a:t>3</a:t>
                      </a:r>
                      <a:endParaRP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a:t>
                      </a:r>
                    </a:p>
                  </a:txBody>
                  <a:tcPr>
                    <a:solidFill>
                      <a:srgbClr val="DCC190"/>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DCC190"/>
                    </a:solidFill>
                  </a:tcPr>
                </a:tc>
                <a:tc>
                  <a:txBody>
                    <a:bodyPr/>
                    <a:lstStyle/>
                    <a:p>
                      <a:pPr algn="ctr">
                        <a:defRPr sz="1000">
                          <a:latin typeface="Montserrat"/>
                        </a:defRPr>
                      </a:pPr>
                      <a:r>
                        <a:rPr lang="es-MX"/>
                        <a:t>2</a:t>
                      </a:r>
                      <a:endParaRPr/>
                    </a:p>
                  </a:txBody>
                  <a:tcPr>
                    <a:solidFill>
                      <a:srgbClr val="EFEFEF"/>
                    </a:solidFill>
                  </a:tcPr>
                </a:tc>
                <a:tc>
                  <a:txBody>
                    <a:bodyPr/>
                    <a:lstStyle/>
                    <a:p>
                      <a:pPr algn="ctr">
                        <a:defRPr sz="1000">
                          <a:latin typeface="Montserrat"/>
                        </a:defRPr>
                      </a:pPr>
                      <a:r>
                        <a:rPr dirty="0"/>
                        <a:t>27</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6"/>
                  </a:ext>
                </a:extLst>
              </a:tr>
              <a:tr h="216000">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rPr dirty="0"/>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rPr dirty="0"/>
                        <a:t>16</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8"/>
                  </a:ext>
                </a:extLst>
              </a:tr>
              <a:tr h="216000">
                <a:tc>
                  <a:txBody>
                    <a:bodyPr/>
                    <a:lstStyle/>
                    <a:p>
                      <a:pPr algn="l">
                        <a:defRPr sz="1000">
                          <a:latin typeface="Montserrat"/>
                        </a:defRPr>
                      </a:pPr>
                      <a:r>
                        <a:t>HGZ 16</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rPr lang="es-MX"/>
                        <a:t>1</a:t>
                      </a:r>
                      <a:endParaRP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0"/>
                  </a:ext>
                </a:extLst>
              </a:tr>
              <a:tr h="2160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5</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1"/>
                  </a:ext>
                </a:extLst>
              </a:tr>
              <a:tr h="2160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2"/>
                  </a:ext>
                </a:extLst>
              </a:tr>
              <a:tr h="2160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7</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3"/>
                  </a:ext>
                </a:extLst>
              </a:tr>
              <a:tr h="216000">
                <a:tc>
                  <a:txBody>
                    <a:bodyPr/>
                    <a:lstStyle/>
                    <a:p>
                      <a:pPr algn="l">
                        <a:defRPr sz="1000">
                          <a:latin typeface="Montserrat"/>
                        </a:defRPr>
                      </a:pPr>
                      <a:r>
                        <a:t>HGZ 15 Dr. Ernesto Ramos Johnson Bours</a:t>
                      </a:r>
                    </a:p>
                  </a:txBody>
                  <a:tcPr>
                    <a:solidFill>
                      <a:srgbClr val="EFEFEF"/>
                    </a:solidFill>
                  </a:tcPr>
                </a:tc>
                <a:tc>
                  <a:txBody>
                    <a:bodyPr/>
                    <a:lstStyle/>
                    <a:p>
                      <a:pPr algn="ctr">
                        <a:defRPr sz="1000">
                          <a:latin typeface="Montserrat"/>
                        </a:defRPr>
                      </a:pPr>
                      <a:r>
                        <a:rPr lang="es-MX"/>
                        <a:t>1</a:t>
                      </a:r>
                      <a:endParaRPr/>
                    </a:p>
                  </a:txBody>
                  <a:tcPr>
                    <a:solidFill>
                      <a:srgbClr val="EFEFEF"/>
                    </a:solidFill>
                  </a:tcPr>
                </a:tc>
                <a:tc>
                  <a:txBody>
                    <a:bodyPr/>
                    <a:lstStyle/>
                    <a:p>
                      <a:pPr algn="ctr">
                        <a:defRPr sz="1000">
                          <a:latin typeface="Montserrat"/>
                        </a:defRPr>
                      </a:pPr>
                      <a:r>
                        <a:rPr lang="es-MX"/>
                        <a:t>1</a:t>
                      </a:r>
                      <a:endParaRPr/>
                    </a:p>
                  </a:txBody>
                  <a:tcPr>
                    <a:solidFill>
                      <a:srgbClr val="EFEFEF"/>
                    </a:solidFill>
                  </a:tcPr>
                </a:tc>
                <a:tc>
                  <a:txBody>
                    <a:bodyPr/>
                    <a:lstStyle/>
                    <a:p>
                      <a:pPr algn="ctr">
                        <a:defRPr sz="1000">
                          <a:latin typeface="Montserrat"/>
                        </a:defRPr>
                      </a:pPr>
                      <a:r>
                        <a:rPr lang="es-MX"/>
                        <a:t>1</a:t>
                      </a:r>
                      <a:endParaRPr/>
                    </a:p>
                  </a:txBody>
                  <a:tcPr>
                    <a:solidFill>
                      <a:srgbClr val="EFEFEF"/>
                    </a:solidFill>
                  </a:tcPr>
                </a:tc>
                <a:tc>
                  <a:txBody>
                    <a:bodyPr/>
                    <a:lstStyle/>
                    <a:p>
                      <a:pPr algn="ctr">
                        <a:defRPr sz="1000">
                          <a:latin typeface="Montserrat"/>
                        </a:defRPr>
                      </a:pPr>
                      <a:r>
                        <a:rPr lang="es-MX"/>
                        <a:t>1</a:t>
                      </a:r>
                      <a:endParaRPr/>
                    </a:p>
                  </a:txBody>
                  <a:tcPr>
                    <a:solidFill>
                      <a:srgbClr val="EFEFEF"/>
                    </a:solidFill>
                  </a:tcPr>
                </a:tc>
                <a:tc>
                  <a:txBody>
                    <a:bodyPr/>
                    <a:lstStyle/>
                    <a:p>
                      <a:pPr algn="ctr">
                        <a:defRPr sz="1000">
                          <a:latin typeface="Montserrat"/>
                        </a:defRPr>
                      </a:pPr>
                      <a:r>
                        <a:rPr dirty="0"/>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4"/>
                  </a:ext>
                </a:extLst>
              </a:tr>
              <a:tr h="2160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lang="es-MX"/>
                        <a:t>1</a:t>
                      </a:r>
                      <a:endParaRPr/>
                    </a:p>
                  </a:txBody>
                  <a:tcPr>
                    <a:solidFill>
                      <a:srgbClr val="FFFFFF"/>
                    </a:solidFill>
                  </a:tcPr>
                </a:tc>
                <a:tc>
                  <a:txBody>
                    <a:bodyPr/>
                    <a:lstStyle/>
                    <a:p>
                      <a:pPr algn="ctr">
                        <a:defRPr sz="1000">
                          <a:latin typeface="Montserrat"/>
                        </a:defRPr>
                      </a:pPr>
                      <a:r>
                        <a:rPr dirty="0"/>
                        <a:t>11</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5"/>
                  </a:ext>
                </a:extLst>
              </a:tr>
              <a:tr h="216000">
                <a:tc>
                  <a:txBody>
                    <a:bodyPr/>
                    <a:lstStyle/>
                    <a:p>
                      <a:pPr algn="l">
                        <a:defRPr sz="1000">
                          <a:latin typeface="Montserrat"/>
                        </a:defRPr>
                      </a:pPr>
                      <a:r>
                        <a:t>HGZ 5 Nogales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rPr dirty="0"/>
                        <a:t>14</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6"/>
                  </a:ext>
                </a:extLst>
              </a:tr>
              <a:tr h="2160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7"/>
                  </a:ext>
                </a:extLst>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rPr lang="es-MX"/>
                        <a:t>6</a:t>
                      </a:r>
                      <a:endParaRPr/>
                    </a:p>
                  </a:txBody>
                  <a:tcPr>
                    <a:solidFill>
                      <a:srgbClr val="D3E9E7"/>
                    </a:solidFill>
                  </a:tcPr>
                </a:tc>
                <a:tc>
                  <a:txBody>
                    <a:bodyPr/>
                    <a:lstStyle/>
                    <a:p>
                      <a:pPr algn="ctr">
                        <a:defRPr sz="1000" b="1">
                          <a:solidFill>
                            <a:srgbClr val="006556"/>
                          </a:solidFill>
                          <a:latin typeface="Montserrat"/>
                        </a:defRPr>
                      </a:pPr>
                      <a:r>
                        <a:rPr lang="es-MX"/>
                        <a:t>1</a:t>
                      </a:r>
                      <a:endParaRP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rPr lang="es-MX"/>
                        <a:t>1</a:t>
                      </a:r>
                      <a:r>
                        <a:t>6</a:t>
                      </a:r>
                    </a:p>
                  </a:txBody>
                  <a:tcPr>
                    <a:solidFill>
                      <a:srgbClr val="D3E9E7"/>
                    </a:solidFill>
                  </a:tcPr>
                </a:tc>
                <a:tc>
                  <a:txBody>
                    <a:bodyPr/>
                    <a:lstStyle/>
                    <a:p>
                      <a:pPr algn="ctr">
                        <a:defRPr sz="1000" b="1">
                          <a:solidFill>
                            <a:srgbClr val="006556"/>
                          </a:solidFill>
                          <a:latin typeface="Montserrat"/>
                        </a:defRPr>
                      </a:pPr>
                      <a:r>
                        <a:rPr dirty="0"/>
                        <a:t>12</a:t>
                      </a:r>
                      <a:r>
                        <a:rPr lang="es-MX" dirty="0"/>
                        <a:t>2</a:t>
                      </a:r>
                      <a:endParaRPr dirty="0"/>
                    </a:p>
                  </a:txBody>
                  <a:tcPr>
                    <a:solidFill>
                      <a:srgbClr val="D3E9E7"/>
                    </a:solidFill>
                  </a:tcPr>
                </a:tc>
                <a:tc>
                  <a:txBody>
                    <a:bodyPr/>
                    <a:lstStyle/>
                    <a:p>
                      <a:pPr algn="ctr">
                        <a:defRPr sz="1000" b="1">
                          <a:solidFill>
                            <a:srgbClr val="006556"/>
                          </a:solidFill>
                          <a:latin typeface="Montserrat"/>
                        </a:defRPr>
                      </a:pPr>
                      <a:r>
                        <a:rPr dirty="0"/>
                        <a:t>1</a:t>
                      </a:r>
                    </a:p>
                  </a:txBody>
                  <a:tcPr>
                    <a:solidFill>
                      <a:srgbClr val="D3E9E7"/>
                    </a:solidFill>
                  </a:tcPr>
                </a:tc>
                <a:extLst>
                  <a:ext uri="{0D108BD9-81ED-4DB2-BD59-A6C34878D82A}">
                    <a16:rowId xmlns:a16="http://schemas.microsoft.com/office/drawing/2014/main" val="10018"/>
                  </a:ext>
                </a:extLst>
              </a:tr>
            </a:tbl>
          </a:graphicData>
        </a:graphic>
      </p:graphicFrame>
      <p:sp>
        <p:nvSpPr>
          <p:cNvPr id="155" name="Rectangle 154"/>
          <p:cNvSpPr/>
          <p:nvPr/>
        </p:nvSpPr>
        <p:spPr>
          <a:xfrm>
            <a:off x="297788" y="9617040"/>
            <a:ext cx="183600" cy="183600"/>
          </a:xfrm>
          <a:prstGeom prst="rect">
            <a:avLst/>
          </a:prstGeom>
          <a:solidFill>
            <a:srgbClr val="DCC1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6" name="TextBox 155"/>
          <p:cNvSpPr txBox="1"/>
          <p:nvPr/>
        </p:nvSpPr>
        <p:spPr>
          <a:xfrm>
            <a:off x="627267" y="9473625"/>
            <a:ext cx="645731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sz="800" b="0" i="0" u="none" strike="noStrike" kern="0" cap="none" spc="0" normalizeH="0" baseline="0" noProof="0" dirty="0" err="1">
                <a:ln>
                  <a:noFill/>
                </a:ln>
                <a:solidFill>
                  <a:schemeClr val="bg1"/>
                </a:solidFill>
                <a:effectLst/>
                <a:uLnTx/>
                <a:uFillTx/>
                <a:latin typeface="Montserrat"/>
                <a:cs typeface="Arial"/>
                <a:sym typeface="Arial"/>
              </a:rPr>
              <a:t>Proyectos</a:t>
            </a:r>
            <a:r>
              <a:rPr kumimoji="0" sz="800" b="0" i="0" u="none" strike="noStrike" kern="0" cap="none" spc="0" normalizeH="0" baseline="0" noProof="0" dirty="0">
                <a:ln>
                  <a:noFill/>
                </a:ln>
                <a:solidFill>
                  <a:schemeClr val="bg1"/>
                </a:solidFill>
                <a:effectLst/>
                <a:uLnTx/>
                <a:uFillTx/>
                <a:latin typeface="Montserrat"/>
                <a:cs typeface="Arial"/>
                <a:sym typeface="Arial"/>
              </a:rPr>
              <a:t> de </a:t>
            </a:r>
            <a:r>
              <a:rPr kumimoji="0" sz="800" b="0" i="0" u="none" strike="noStrike" kern="0" cap="none" spc="0" normalizeH="0" baseline="0" noProof="0" dirty="0" err="1">
                <a:ln>
                  <a:noFill/>
                </a:ln>
                <a:solidFill>
                  <a:schemeClr val="bg1"/>
                </a:solidFill>
                <a:effectLst/>
                <a:uLnTx/>
                <a:uFillTx/>
                <a:latin typeface="Montserrat"/>
                <a:cs typeface="Arial"/>
                <a:sym typeface="Arial"/>
              </a:rPr>
              <a:t>implementación</a:t>
            </a:r>
            <a:r>
              <a:rPr kumimoji="0" sz="800" b="0" i="0" u="none" strike="noStrike" kern="0" cap="none" spc="0" normalizeH="0" baseline="0" noProof="0" dirty="0">
                <a:ln>
                  <a:noFill/>
                </a:ln>
                <a:solidFill>
                  <a:schemeClr val="bg1"/>
                </a:solidFill>
                <a:effectLst/>
                <a:uLnTx/>
                <a:uFillTx/>
                <a:latin typeface="Montserrat"/>
                <a:cs typeface="Arial"/>
                <a:sym typeface="Arial"/>
              </a:rPr>
              <a:t>/</a:t>
            </a:r>
            <a:r>
              <a:rPr kumimoji="0" sz="800" b="0" i="0" u="none" strike="noStrike" kern="0" cap="none" spc="0" normalizeH="0" baseline="0" noProof="0" dirty="0" err="1">
                <a:ln>
                  <a:noFill/>
                </a:ln>
                <a:solidFill>
                  <a:schemeClr val="bg1"/>
                </a:solidFill>
                <a:effectLst/>
                <a:uLnTx/>
                <a:uFillTx/>
                <a:latin typeface="Montserrat"/>
                <a:cs typeface="Arial"/>
                <a:sym typeface="Arial"/>
              </a:rPr>
              <a:t>sustitución</a:t>
            </a:r>
            <a:r>
              <a:rPr kumimoji="0" sz="800" b="0" i="0" u="none" strike="noStrike" kern="0" cap="none" spc="0" normalizeH="0" baseline="0" noProof="0" dirty="0">
                <a:ln>
                  <a:noFill/>
                </a:ln>
                <a:solidFill>
                  <a:schemeClr val="bg1"/>
                </a:solidFill>
                <a:effectLst/>
                <a:uLnTx/>
                <a:uFillTx/>
                <a:latin typeface="Montserrat"/>
                <a:cs typeface="Arial"/>
                <a:sym typeface="Arial"/>
              </a:rPr>
              <a:t> 2019-2025. </a:t>
            </a:r>
            <a:r>
              <a:rPr kumimoji="0" sz="800" b="0" i="0" u="none" strike="noStrike" kern="0" cap="none" spc="0" normalizeH="0" baseline="0" noProof="0" dirty="0" err="1">
                <a:ln>
                  <a:noFill/>
                </a:ln>
                <a:solidFill>
                  <a:schemeClr val="bg1"/>
                </a:solidFill>
                <a:effectLst/>
                <a:uLnTx/>
                <a:uFillTx/>
                <a:latin typeface="Montserrat"/>
                <a:cs typeface="Arial"/>
                <a:sym typeface="Arial"/>
              </a:rPr>
              <a:t>Compra</a:t>
            </a:r>
            <a:r>
              <a:rPr kumimoji="0" sz="800" b="0" i="0" u="none" strike="noStrike" kern="0" cap="none" spc="0" normalizeH="0" baseline="0" noProof="0" dirty="0">
                <a:ln>
                  <a:noFill/>
                </a:ln>
                <a:solidFill>
                  <a:schemeClr val="bg1"/>
                </a:solidFill>
                <a:effectLst/>
                <a:uLnTx/>
                <a:uFillTx/>
                <a:latin typeface="Montserrat"/>
                <a:cs typeface="Arial"/>
                <a:sym typeface="Arial"/>
              </a:rPr>
              <a:t> 2025-2026.</a:t>
            </a:r>
            <a:br>
              <a:rPr kumimoji="0" sz="800" b="0" i="0" u="none" strike="noStrike" kern="0" cap="none" spc="0" normalizeH="0" baseline="0" noProof="0" dirty="0">
                <a:ln>
                  <a:noFill/>
                </a:ln>
                <a:solidFill>
                  <a:schemeClr val="bg1"/>
                </a:solidFill>
                <a:effectLst/>
                <a:uLnTx/>
                <a:uFillTx/>
                <a:latin typeface="Montserrat"/>
                <a:cs typeface="Arial"/>
                <a:sym typeface="Arial"/>
              </a:rPr>
            </a:br>
            <a:r>
              <a:rPr kumimoji="0" sz="800" b="0" i="0" u="none" strike="noStrike" kern="0" cap="none" spc="0" normalizeH="0" baseline="0" noProof="0" dirty="0">
                <a:ln>
                  <a:noFill/>
                </a:ln>
                <a:solidFill>
                  <a:schemeClr val="bg1"/>
                </a:solidFill>
                <a:effectLst/>
                <a:uLnTx/>
                <a:uFillTx/>
                <a:latin typeface="Montserrat"/>
                <a:cs typeface="Arial"/>
                <a:sym typeface="Arial"/>
              </a:rPr>
              <a:t>Fuente: Cédula de </a:t>
            </a:r>
            <a:r>
              <a:rPr kumimoji="0" sz="800" b="0" i="0" u="none" strike="noStrike" kern="0" cap="none" spc="0" normalizeH="0" baseline="0" noProof="0" dirty="0" err="1">
                <a:ln>
                  <a:noFill/>
                </a:ln>
                <a:solidFill>
                  <a:schemeClr val="bg1"/>
                </a:solidFill>
                <a:effectLst/>
                <a:uLnTx/>
                <a:uFillTx/>
                <a:latin typeface="Montserrat"/>
                <a:cs typeface="Arial"/>
                <a:sym typeface="Arial"/>
              </a:rPr>
              <a:t>actualización</a:t>
            </a:r>
            <a:r>
              <a:rPr kumimoji="0" sz="800" b="0" i="0" u="none" strike="noStrike" kern="0" cap="none" spc="0" normalizeH="0" baseline="0" noProof="0" dirty="0">
                <a:ln>
                  <a:noFill/>
                </a:ln>
                <a:solidFill>
                  <a:schemeClr val="bg1"/>
                </a:solidFill>
                <a:effectLst/>
                <a:uLnTx/>
                <a:uFillTx/>
                <a:latin typeface="Montserrat"/>
                <a:cs typeface="Arial"/>
                <a:sym typeface="Arial"/>
              </a:rPr>
              <a:t> de variables </a:t>
            </a:r>
            <a:r>
              <a:rPr kumimoji="0" sz="800" b="0" i="0" u="none" strike="noStrike" kern="0" cap="none" spc="0" normalizeH="0" baseline="0" noProof="0" dirty="0" err="1">
                <a:ln>
                  <a:noFill/>
                </a:ln>
                <a:solidFill>
                  <a:schemeClr val="bg1"/>
                </a:solidFill>
                <a:effectLst/>
                <a:uLnTx/>
                <a:uFillTx/>
                <a:latin typeface="Montserrat"/>
                <a:cs typeface="Arial"/>
                <a:sym typeface="Arial"/>
              </a:rPr>
              <a:t>seleccionadas</a:t>
            </a:r>
            <a:r>
              <a:rPr kumimoji="0" sz="800" b="0" i="0" u="none" strike="noStrike" kern="0" cap="none" spc="0" normalizeH="0" baseline="0" noProof="0" dirty="0">
                <a:ln>
                  <a:noFill/>
                </a:ln>
                <a:solidFill>
                  <a:schemeClr val="bg1"/>
                </a:solidFill>
                <a:effectLst/>
                <a:uLnTx/>
                <a:uFillTx/>
                <a:latin typeface="Montserrat"/>
                <a:cs typeface="Arial"/>
                <a:sym typeface="Arial"/>
              </a:rPr>
              <a:t> del IFU, </a:t>
            </a:r>
            <a:r>
              <a:rPr kumimoji="0" sz="800" b="0" i="0" u="none" strike="noStrike" kern="0" cap="none" spc="0" normalizeH="0" baseline="0" noProof="0" dirty="0" err="1">
                <a:ln>
                  <a:noFill/>
                </a:ln>
                <a:solidFill>
                  <a:schemeClr val="bg1"/>
                </a:solidFill>
                <a:effectLst/>
                <a:uLnTx/>
                <a:uFillTx/>
                <a:latin typeface="Montserrat"/>
                <a:cs typeface="Arial"/>
                <a:sym typeface="Arial"/>
              </a:rPr>
              <a:t>enviadas</a:t>
            </a:r>
            <a:r>
              <a:rPr kumimoji="0" sz="800" b="0" i="0" u="none" strike="noStrike" kern="0" cap="none" spc="0" normalizeH="0" baseline="0" noProof="0" dirty="0">
                <a:ln>
                  <a:noFill/>
                </a:ln>
                <a:solidFill>
                  <a:schemeClr val="bg1"/>
                </a:solidFill>
                <a:effectLst/>
                <a:uLnTx/>
                <a:uFillTx/>
                <a:latin typeface="Montserrat"/>
                <a:cs typeface="Arial"/>
                <a:sym typeface="Arial"/>
              </a:rPr>
              <a:t> por el OOAD.</a:t>
            </a:r>
            <a:endParaRPr kumimoji="0" lang="es-MX" sz="800" b="0" i="0" u="none" strike="noStrike" kern="0" cap="none" spc="0" normalizeH="0" baseline="0" noProof="0" dirty="0">
              <a:ln>
                <a:noFill/>
              </a:ln>
              <a:solidFill>
                <a:schemeClr val="bg1"/>
              </a:solidFill>
              <a:effectLst/>
              <a:uLnTx/>
              <a:uFillTx/>
              <a:latin typeface="Montserra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lang="es-MX" sz="800" b="0" i="0" u="none" strike="noStrike" kern="0" cap="none" spc="0" normalizeH="0" baseline="0" noProof="0" dirty="0">
                <a:ln>
                  <a:noFill/>
                </a:ln>
                <a:solidFill>
                  <a:schemeClr val="bg1"/>
                </a:solidFill>
                <a:effectLst/>
                <a:uLnTx/>
                <a:uFillTx/>
                <a:latin typeface="Montserrat"/>
                <a:cs typeface="Arial"/>
                <a:sym typeface="Arial"/>
              </a:rPr>
              <a:t>Incluye equipo de la compra 2025-2026</a:t>
            </a:r>
            <a:br>
              <a:rPr kumimoji="0" sz="800" b="0" i="0" u="none" strike="noStrike" kern="0" cap="none" spc="0" normalizeH="0" baseline="0" noProof="0" dirty="0">
                <a:ln>
                  <a:noFill/>
                </a:ln>
                <a:solidFill>
                  <a:schemeClr val="bg1"/>
                </a:solidFill>
                <a:effectLst/>
                <a:uLnTx/>
                <a:uFillTx/>
                <a:latin typeface="Montserrat"/>
                <a:cs typeface="Arial"/>
                <a:sym typeface="Arial"/>
              </a:rPr>
            </a:br>
            <a:r>
              <a:rPr kumimoji="0" sz="800" b="0" i="0" u="none" strike="noStrike" kern="0" cap="none" spc="0" normalizeH="0" baseline="0" noProof="0" dirty="0">
                <a:ln>
                  <a:noFill/>
                </a:ln>
                <a:solidFill>
                  <a:schemeClr val="bg1"/>
                </a:solidFill>
                <a:effectLst/>
                <a:uLnTx/>
                <a:uFillTx/>
                <a:latin typeface="Montserrat"/>
                <a:cs typeface="Arial"/>
                <a:sym typeface="Arial"/>
              </a:rPr>
              <a:t>Corte de información: ma</a:t>
            </a:r>
            <a:r>
              <a:rPr kumimoji="0" lang="es-MX" sz="800" b="0" i="0" u="none" strike="noStrike" kern="0" cap="none" spc="0" normalizeH="0" baseline="0" noProof="0" dirty="0">
                <a:ln>
                  <a:noFill/>
                </a:ln>
                <a:solidFill>
                  <a:schemeClr val="bg1"/>
                </a:solidFill>
                <a:effectLst/>
                <a:uLnTx/>
                <a:uFillTx/>
                <a:latin typeface="Montserrat"/>
                <a:cs typeface="Arial"/>
                <a:sym typeface="Arial"/>
              </a:rPr>
              <a:t>y</a:t>
            </a:r>
            <a:r>
              <a:rPr kumimoji="0" sz="800" b="0" i="0" u="none" strike="noStrike" kern="0" cap="none" spc="0" normalizeH="0" baseline="0" noProof="0" dirty="0">
                <a:ln>
                  <a:noFill/>
                </a:ln>
                <a:solidFill>
                  <a:schemeClr val="bg1"/>
                </a:solidFill>
                <a:effectLst/>
                <a:uLnTx/>
                <a:uFillTx/>
                <a:latin typeface="Montserrat"/>
                <a:cs typeface="Arial"/>
                <a:sym typeface="Arial"/>
              </a:rPr>
              <a:t>o de 2026</a:t>
            </a:r>
          </a:p>
        </p:txBody>
      </p:sp>
      <p:graphicFrame>
        <p:nvGraphicFramePr>
          <p:cNvPr id="5" name="Table 4"/>
          <p:cNvGraphicFramePr>
            <a:graphicFrameLocks noGrp="1"/>
          </p:cNvGraphicFramePr>
          <p:nvPr>
            <p:extLst>
              <p:ext uri="{D42A27DB-BD31-4B8C-83A1-F6EECF244321}">
                <p14:modId xmlns:p14="http://schemas.microsoft.com/office/powerpoint/2010/main" val="3302813901"/>
              </p:ext>
            </p:extLst>
          </p:nvPr>
        </p:nvGraphicFramePr>
        <p:xfrm>
          <a:off x="93600" y="6425358"/>
          <a:ext cx="7534799" cy="123444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t>UMAE</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a:t>
                      </a:r>
                    </a:p>
                  </a:txBody>
                  <a:tcPr>
                    <a:solidFill>
                      <a:srgbClr val="DCC190"/>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2</a:t>
                      </a:r>
                    </a:p>
                  </a:txBody>
                  <a:tcPr>
                    <a:solidFill>
                      <a:srgbClr val="FFFFFF"/>
                    </a:solidFill>
                  </a:tcPr>
                </a:tc>
                <a:extLst>
                  <a:ext uri="{0D108BD9-81ED-4DB2-BD59-A6C34878D82A}">
                    <a16:rowId xmlns:a16="http://schemas.microsoft.com/office/drawing/2014/main" val="10001"/>
                  </a:ext>
                </a:extLst>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extLst>
                  <a:ext uri="{0D108BD9-81ED-4DB2-BD59-A6C34878D82A}">
                    <a16:rowId xmlns:a16="http://schemas.microsoft.com/office/drawing/2014/main" val="10002"/>
                  </a:ext>
                </a:extLst>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rPr lang="es-MX"/>
                        <a:t>7</a:t>
                      </a:r>
                      <a:endParaRPr/>
                    </a:p>
                  </a:txBody>
                  <a:tcPr>
                    <a:solidFill>
                      <a:srgbClr val="D3E9E7"/>
                    </a:solidFill>
                  </a:tcPr>
                </a:tc>
                <a:tc>
                  <a:txBody>
                    <a:bodyPr/>
                    <a:lstStyle/>
                    <a:p>
                      <a:pPr algn="ctr">
                        <a:defRPr sz="1000" b="1">
                          <a:solidFill>
                            <a:srgbClr val="006556"/>
                          </a:solidFill>
                          <a:latin typeface="Montserrat"/>
                        </a:defRPr>
                      </a:pPr>
                      <a:r>
                        <a:rPr lang="es-MX"/>
                        <a:t>2</a:t>
                      </a:r>
                      <a:endParaRP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rPr lang="es-MX"/>
                        <a:t>21</a:t>
                      </a:r>
                      <a:endParaRPr/>
                    </a:p>
                  </a:txBody>
                  <a:tcPr>
                    <a:solidFill>
                      <a:srgbClr val="D3E9E7"/>
                    </a:solidFill>
                  </a:tcPr>
                </a:tc>
                <a:tc>
                  <a:txBody>
                    <a:bodyPr/>
                    <a:lstStyle/>
                    <a:p>
                      <a:pPr algn="ctr">
                        <a:defRPr sz="1000" b="1">
                          <a:solidFill>
                            <a:srgbClr val="006556"/>
                          </a:solidFill>
                          <a:latin typeface="Montserrat"/>
                        </a:defRPr>
                      </a:pPr>
                      <a:r>
                        <a:rPr dirty="0"/>
                        <a:t>15</a:t>
                      </a:r>
                      <a:r>
                        <a:rPr lang="es-MX" dirty="0"/>
                        <a:t>9</a:t>
                      </a:r>
                      <a:endParaRPr dirty="0"/>
                    </a:p>
                  </a:txBody>
                  <a:tcPr>
                    <a:solidFill>
                      <a:srgbClr val="D3E9E7"/>
                    </a:solidFill>
                  </a:tcPr>
                </a:tc>
                <a:tc>
                  <a:txBody>
                    <a:bodyPr/>
                    <a:lstStyle/>
                    <a:p>
                      <a:pPr algn="ctr">
                        <a:defRPr sz="1000" b="1">
                          <a:solidFill>
                            <a:srgbClr val="006556"/>
                          </a:solidFill>
                          <a:latin typeface="Montserrat"/>
                        </a:defRPr>
                      </a:pPr>
                      <a:r>
                        <a:rPr dirty="0"/>
                        <a:t>3</a:t>
                      </a:r>
                    </a:p>
                  </a:txBody>
                  <a:tcPr>
                    <a:solidFill>
                      <a:srgbClr val="D3E9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a:extLst>
            <a:ext uri="{FF2B5EF4-FFF2-40B4-BE49-F238E27FC236}">
              <a16:creationId xmlns:a16="http://schemas.microsoft.com/office/drawing/2014/main" id="{D1E83D72-7264-6F96-8A3F-1510C2C7F3F6}"/>
            </a:ext>
          </a:extLst>
        </p:cNvPr>
        <p:cNvGrpSpPr/>
        <p:nvPr/>
      </p:nvGrpSpPr>
      <p:grpSpPr>
        <a:xfrm>
          <a:off x="0" y="0"/>
          <a:ext cx="0" cy="0"/>
          <a:chOff x="0" y="0"/>
          <a:chExt cx="0" cy="0"/>
        </a:xfrm>
      </p:grpSpPr>
      <p:graphicFrame>
        <p:nvGraphicFramePr>
          <p:cNvPr id="152" name="Google Shape;152;g370e475fb19_0_8">
            <a:extLst>
              <a:ext uri="{FF2B5EF4-FFF2-40B4-BE49-F238E27FC236}">
                <a16:creationId xmlns:a16="http://schemas.microsoft.com/office/drawing/2014/main" id="{4171B61E-4FF2-E533-5F0D-9F66EBCD8DA2}"/>
              </a:ext>
            </a:extLst>
          </p:cNvPr>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D4D6F950-A824-E409-B514-71F3D8EE58E1}"/>
              </a:ext>
            </a:extLst>
          </p:cNvPr>
          <p:cNvGrpSpPr/>
          <p:nvPr/>
        </p:nvGrpSpPr>
        <p:grpSpPr>
          <a:xfrm>
            <a:off x="-270000" y="1805384"/>
            <a:ext cx="7772400" cy="7041245"/>
            <a:chOff x="-112301" y="3266953"/>
            <a:chExt cx="7772400" cy="7041245"/>
          </a:xfrm>
        </p:grpSpPr>
        <p:pic>
          <p:nvPicPr>
            <p:cNvPr id="15" name="Google Shape;315;g3d635d120e2_2_152" title="HGZ 86 URUAPAN.jpg">
              <a:extLst>
                <a:ext uri="{FF2B5EF4-FFF2-40B4-BE49-F238E27FC236}">
                  <a16:creationId xmlns:a16="http://schemas.microsoft.com/office/drawing/2014/main" id="{DC0460DB-57AA-D880-2B60-5DF3DFA8C98A}"/>
                </a:ext>
              </a:extLst>
            </p:cNvPr>
            <p:cNvPicPr preferRelativeResize="0"/>
            <p:nvPr/>
          </p:nvPicPr>
          <p:blipFill rotWithShape="1">
            <a:blip r:embed="rId4">
              <a:alphaModFix/>
            </a:blip>
            <a:srcRect l="1417" t="15479" r="44279" b="26090"/>
            <a:stretch/>
          </p:blipFill>
          <p:spPr>
            <a:xfrm>
              <a:off x="610328" y="4530900"/>
              <a:ext cx="2745739" cy="1829125"/>
            </a:xfrm>
            <a:prstGeom prst="rect">
              <a:avLst/>
            </a:prstGeom>
            <a:noFill/>
            <a:ln>
              <a:noFill/>
            </a:ln>
            <a:effectLst>
              <a:outerShdw blurRad="114300" dist="57150" dir="10800000" algn="bl" rotWithShape="0">
                <a:srgbClr val="000000">
                  <a:alpha val="50000"/>
                </a:srgbClr>
              </a:outerShdw>
            </a:effectLst>
          </p:spPr>
        </p:pic>
        <p:sp>
          <p:nvSpPr>
            <p:cNvPr id="16" name="Google Shape;317;g3d635d120e2_2_152">
              <a:extLst>
                <a:ext uri="{FF2B5EF4-FFF2-40B4-BE49-F238E27FC236}">
                  <a16:creationId xmlns:a16="http://schemas.microsoft.com/office/drawing/2014/main" id="{1DD4E0AC-E5AE-BB72-C762-D6104A0C2F84}"/>
                </a:ext>
              </a:extLst>
            </p:cNvPr>
            <p:cNvSpPr/>
            <p:nvPr/>
          </p:nvSpPr>
          <p:spPr>
            <a:xfrm>
              <a:off x="1032868" y="6360018"/>
              <a:ext cx="2323199" cy="425032"/>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 sz="1300" b="1" i="0" u="none" strike="noStrike" kern="0" cap="none" spc="0" normalizeH="0" baseline="0" noProof="0">
                  <a:ln>
                    <a:noFill/>
                  </a:ln>
                  <a:solidFill>
                    <a:srgbClr val="FFFFFF"/>
                  </a:solidFill>
                  <a:effectLst/>
                  <a:uLnTx/>
                  <a:uFillTx/>
                  <a:latin typeface="Montserrat"/>
                  <a:ea typeface="Montserrat"/>
                  <a:cs typeface="Montserrat"/>
                  <a:sym typeface="Montserrat"/>
                </a:rPr>
                <a:t>Mastógrafos</a:t>
              </a:r>
              <a:endParaRPr kumimoji="0" sz="1100" b="0" i="0" u="none" strike="noStrike" kern="0" cap="none" spc="0" normalizeH="0" baseline="0" noProof="0">
                <a:ln>
                  <a:noFill/>
                </a:ln>
                <a:solidFill>
                  <a:srgbClr val="FFFFFF"/>
                </a:solidFill>
                <a:effectLst/>
                <a:uLnTx/>
                <a:uFillTx/>
                <a:latin typeface="Arial"/>
                <a:cs typeface="Arial"/>
                <a:sym typeface="Arial"/>
              </a:endParaRPr>
            </a:p>
          </p:txBody>
        </p:sp>
        <p:sp>
          <p:nvSpPr>
            <p:cNvPr id="17" name="Google Shape;318;g3d635d120e2_2_152">
              <a:extLst>
                <a:ext uri="{FF2B5EF4-FFF2-40B4-BE49-F238E27FC236}">
                  <a16:creationId xmlns:a16="http://schemas.microsoft.com/office/drawing/2014/main" id="{B769955E-DB31-3E79-E2C8-8275D7D21A56}"/>
                </a:ext>
              </a:extLst>
            </p:cNvPr>
            <p:cNvSpPr/>
            <p:nvPr/>
          </p:nvSpPr>
          <p:spPr>
            <a:xfrm>
              <a:off x="533769" y="6349822"/>
              <a:ext cx="537068" cy="425032"/>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 sz="1400" b="0" i="0" u="none" strike="noStrike" kern="0" cap="none" spc="0" normalizeH="0" baseline="0" noProof="0">
                  <a:ln>
                    <a:noFill/>
                  </a:ln>
                  <a:solidFill>
                    <a:srgbClr val="FFFFFF"/>
                  </a:solidFill>
                  <a:effectLst/>
                  <a:uLnTx/>
                  <a:uFillTx/>
                  <a:latin typeface="Noto Sans Black"/>
                  <a:ea typeface="Noto Sans Black"/>
                  <a:cs typeface="Noto Sans Black"/>
                  <a:sym typeface="Noto Sans Black"/>
                </a:rPr>
                <a:t>3</a:t>
              </a:r>
              <a:endParaRPr kumimoji="0" sz="1400" b="0" i="0" u="none" strike="noStrike" kern="0" cap="none" spc="0" normalizeH="0" baseline="0" noProof="0">
                <a:ln>
                  <a:noFill/>
                </a:ln>
                <a:solidFill>
                  <a:srgbClr val="FFFFFF"/>
                </a:solidFill>
                <a:effectLst/>
                <a:uLnTx/>
                <a:uFillTx/>
                <a:latin typeface="Noto Sans Black"/>
                <a:ea typeface="Noto Sans Black"/>
                <a:cs typeface="Noto Sans Black"/>
                <a:sym typeface="Noto Sans Black"/>
              </a:endParaRPr>
            </a:p>
          </p:txBody>
        </p:sp>
        <p:sp>
          <p:nvSpPr>
            <p:cNvPr id="18" name="Google Shape;321;g3d635d120e2_2_152">
              <a:extLst>
                <a:ext uri="{FF2B5EF4-FFF2-40B4-BE49-F238E27FC236}">
                  <a16:creationId xmlns:a16="http://schemas.microsoft.com/office/drawing/2014/main" id="{5929B6C9-4E52-A9E8-5FD4-C71F5C66A26E}"/>
                </a:ext>
              </a:extLst>
            </p:cNvPr>
            <p:cNvSpPr txBox="1"/>
            <p:nvPr/>
          </p:nvSpPr>
          <p:spPr>
            <a:xfrm>
              <a:off x="-112301" y="3266953"/>
              <a:ext cx="7772400" cy="3438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s" sz="1600" b="1" i="0" u="none" strike="noStrike" kern="0" cap="none" spc="0" normalizeH="0" baseline="0" noProof="0">
                  <a:ln>
                    <a:noFill/>
                  </a:ln>
                  <a:solidFill>
                    <a:srgbClr val="006858"/>
                  </a:solidFill>
                  <a:effectLst/>
                  <a:uLnTx/>
                  <a:uFillTx/>
                  <a:latin typeface="Montserrat"/>
                  <a:ea typeface="Montserrat"/>
                  <a:cs typeface="Montserrat"/>
                  <a:sym typeface="Montserrat"/>
                </a:rPr>
                <a:t>Fortalecimiento de equipo médico</a:t>
              </a:r>
              <a:endParaRPr kumimoji="0" sz="1600" b="1" i="0" u="none" strike="noStrike" kern="0" cap="none" spc="0" normalizeH="0" baseline="0" noProof="0">
                <a:ln>
                  <a:noFill/>
                </a:ln>
                <a:solidFill>
                  <a:srgbClr val="006858"/>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s" sz="1600" b="1" i="0" u="none" strike="noStrike" kern="0" cap="none" spc="0" normalizeH="0" baseline="0" noProof="0">
                  <a:ln>
                    <a:noFill/>
                  </a:ln>
                  <a:solidFill>
                    <a:srgbClr val="006858"/>
                  </a:solidFill>
                  <a:effectLst/>
                  <a:uLnTx/>
                  <a:uFillTx/>
                  <a:latin typeface="Montserrat"/>
                  <a:ea typeface="Montserrat"/>
                  <a:cs typeface="Montserrat"/>
                  <a:sym typeface="Montserrat"/>
                </a:rPr>
                <a:t>Compra 2025-2026 equipo mayor</a:t>
              </a:r>
              <a:endParaRPr kumimoji="0" sz="2300" b="1" i="0" u="none" strike="noStrike" kern="0" cap="none" spc="0" normalizeH="0" baseline="0" noProof="0">
                <a:ln>
                  <a:noFill/>
                </a:ln>
                <a:solidFill>
                  <a:srgbClr val="006858"/>
                </a:solidFill>
                <a:effectLst/>
                <a:uLnTx/>
                <a:uFillTx/>
                <a:latin typeface="Montserrat"/>
                <a:ea typeface="Montserrat"/>
                <a:cs typeface="Montserrat"/>
                <a:sym typeface="Montserrat"/>
              </a:endParaRPr>
            </a:p>
          </p:txBody>
        </p:sp>
        <p:sp>
          <p:nvSpPr>
            <p:cNvPr id="19" name="Google Shape;322;g3d635d120e2_2_152">
              <a:extLst>
                <a:ext uri="{FF2B5EF4-FFF2-40B4-BE49-F238E27FC236}">
                  <a16:creationId xmlns:a16="http://schemas.microsoft.com/office/drawing/2014/main" id="{2CDB20C2-A62E-902E-14C5-004A296BB871}"/>
                </a:ext>
              </a:extLst>
            </p:cNvPr>
            <p:cNvSpPr/>
            <p:nvPr/>
          </p:nvSpPr>
          <p:spPr>
            <a:xfrm>
              <a:off x="3212138" y="9325783"/>
              <a:ext cx="1880514"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s" sz="1300" b="1" i="0" u="none" strike="noStrike" kern="0" cap="none" spc="0" normalizeH="0" baseline="0" noProof="0">
                  <a:ln>
                    <a:noFill/>
                  </a:ln>
                  <a:solidFill>
                    <a:srgbClr val="FFFFFF"/>
                  </a:solidFill>
                  <a:effectLst/>
                  <a:uLnTx/>
                  <a:uFillTx/>
                  <a:latin typeface="Montserrat"/>
                  <a:ea typeface="Montserrat"/>
                  <a:cs typeface="Montserrat"/>
                  <a:sym typeface="Montserrat"/>
                </a:rPr>
                <a:t>Tomógrafo</a:t>
              </a: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0" name="Google Shape;323;g3d635d120e2_2_152">
              <a:extLst>
                <a:ext uri="{FF2B5EF4-FFF2-40B4-BE49-F238E27FC236}">
                  <a16:creationId xmlns:a16="http://schemas.microsoft.com/office/drawing/2014/main" id="{48D894B8-3B04-0657-F496-8B9B3BBAD429}"/>
                </a:ext>
              </a:extLst>
            </p:cNvPr>
            <p:cNvSpPr/>
            <p:nvPr/>
          </p:nvSpPr>
          <p:spPr>
            <a:xfrm>
              <a:off x="2503857" y="9325783"/>
              <a:ext cx="713242" cy="388802"/>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s" sz="1400" b="0" i="0" u="none" strike="noStrike" kern="0" cap="none" spc="0" normalizeH="0" baseline="0" noProof="0">
                  <a:ln>
                    <a:noFill/>
                  </a:ln>
                  <a:solidFill>
                    <a:srgbClr val="FFFFFF"/>
                  </a:solidFill>
                  <a:effectLst/>
                  <a:uLnTx/>
                  <a:uFillTx/>
                  <a:latin typeface="Noto Sans Black"/>
                  <a:ea typeface="Noto Sans Black"/>
                  <a:cs typeface="Noto Sans Black"/>
                  <a:sym typeface="Noto Sans Black"/>
                </a:rPr>
                <a:t>1</a:t>
              </a:r>
              <a:endParaRPr kumimoji="0" sz="1400" b="0" i="0" u="none" strike="noStrike" kern="0" cap="none" spc="0" normalizeH="0" baseline="0" noProof="0">
                <a:ln>
                  <a:noFill/>
                </a:ln>
                <a:solidFill>
                  <a:srgbClr val="FFFFFF"/>
                </a:solidFill>
                <a:effectLst/>
                <a:uLnTx/>
                <a:uFillTx/>
                <a:latin typeface="Noto Sans Black"/>
                <a:ea typeface="Noto Sans Black"/>
                <a:cs typeface="Noto Sans Black"/>
                <a:sym typeface="Noto Sans Black"/>
              </a:endParaRPr>
            </a:p>
          </p:txBody>
        </p:sp>
        <p:sp>
          <p:nvSpPr>
            <p:cNvPr id="21" name="Google Shape;324;g3d635d120e2_2_152">
              <a:extLst>
                <a:ext uri="{FF2B5EF4-FFF2-40B4-BE49-F238E27FC236}">
                  <a16:creationId xmlns:a16="http://schemas.microsoft.com/office/drawing/2014/main" id="{8636AA5F-4FC5-080F-9CAF-2009825EB120}"/>
                </a:ext>
              </a:extLst>
            </p:cNvPr>
            <p:cNvSpPr txBox="1"/>
            <p:nvPr/>
          </p:nvSpPr>
          <p:spPr>
            <a:xfrm>
              <a:off x="3024072" y="9679466"/>
              <a:ext cx="2577600" cy="628732"/>
            </a:xfrm>
            <a:prstGeom prst="rect">
              <a:avLst/>
            </a:prstGeom>
            <a:noFill/>
            <a:ln>
              <a:noFill/>
            </a:ln>
          </p:spPr>
          <p:txBody>
            <a:bodyPr spcFirstLastPara="1" wrap="square" lIns="91425" tIns="91425" rIns="91425" bIns="91425" anchor="t" anchorCtr="0">
              <a:spAutoFit/>
            </a:bodyPr>
            <a:lstStyle/>
            <a:p>
              <a:pPr marL="0" marR="50800" lvl="0" indent="0" algn="l" defTabSz="914400" rtl="0" eaLnBrk="1" fontAlgn="auto" latinLnBrk="0" hangingPunct="1">
                <a:lnSpc>
                  <a:spcPct val="111000"/>
                </a:lnSpc>
                <a:spcBef>
                  <a:spcPts val="0"/>
                </a:spcBef>
                <a:spcAft>
                  <a:spcPts val="0"/>
                </a:spcAft>
                <a:buClr>
                  <a:srgbClr val="000000"/>
                </a:buClr>
                <a:buSzTx/>
                <a:buFont typeface="Arial"/>
                <a:buNone/>
                <a:tabLst/>
                <a:defRPr/>
              </a:pP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HGZ 2 Hermosillo</a:t>
              </a:r>
            </a:p>
            <a:p>
              <a:pPr marL="0" marR="50800" lvl="0" indent="0" algn="l" defTabSz="914400" rtl="0" eaLnBrk="1" fontAlgn="auto" latinLnBrk="0" hangingPunct="1">
                <a:lnSpc>
                  <a:spcPct val="111000"/>
                </a:lnSpc>
                <a:spcBef>
                  <a:spcPts val="0"/>
                </a:spcBef>
                <a:spcAft>
                  <a:spcPts val="0"/>
                </a:spcAft>
                <a:buClr>
                  <a:srgbClr val="000000"/>
                </a:buClr>
                <a:buSzTx/>
                <a:buFont typeface="Arial"/>
                <a:buNone/>
                <a:tabLst/>
                <a:defRPr/>
              </a:pPr>
              <a:r>
                <a:rPr kumimoji="0" lang="es" sz="1300" b="1" i="0" u="none" strike="noStrike" kern="0" cap="none" spc="0" normalizeH="0" baseline="0" noProof="0">
                  <a:ln>
                    <a:noFill/>
                  </a:ln>
                  <a:solidFill>
                    <a:srgbClr val="595959"/>
                  </a:solidFill>
                  <a:effectLst/>
                  <a:uLnTx/>
                  <a:uFillTx/>
                  <a:latin typeface="Montserrat"/>
                  <a:ea typeface="Montserrat"/>
                  <a:cs typeface="Montserrat"/>
                  <a:sym typeface="Montserrat"/>
                </a:rPr>
                <a:t>$29.6</a:t>
              </a: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 </a:t>
              </a:r>
              <a:r>
                <a:rPr kumimoji="0" lang="es" sz="1300" b="1" i="0" u="none" strike="noStrike" kern="0" cap="none" spc="0" normalizeH="0" baseline="0" noProof="0">
                  <a:ln>
                    <a:noFill/>
                  </a:ln>
                  <a:solidFill>
                    <a:srgbClr val="595959"/>
                  </a:solidFill>
                  <a:effectLst/>
                  <a:uLnTx/>
                  <a:uFillTx/>
                  <a:latin typeface="Montserrat"/>
                  <a:ea typeface="Montserrat"/>
                  <a:cs typeface="Montserrat"/>
                  <a:sym typeface="Montserrat"/>
                </a:rPr>
                <a:t>mdp</a:t>
              </a: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  </a:t>
              </a:r>
              <a:endParaRPr kumimoji="0" sz="1400" b="0" i="0" u="none" strike="noStrike" kern="0" cap="none" spc="0" normalizeH="0" baseline="0" noProof="0">
                <a:ln>
                  <a:noFill/>
                </a:ln>
                <a:solidFill>
                  <a:srgbClr val="434343"/>
                </a:solidFill>
                <a:effectLst/>
                <a:uLnTx/>
                <a:uFillTx/>
                <a:latin typeface="Noto Sans"/>
                <a:ea typeface="Noto Sans"/>
                <a:cs typeface="Noto Sans"/>
                <a:sym typeface="Noto Sans"/>
              </a:endParaRPr>
            </a:p>
          </p:txBody>
        </p:sp>
        <p:pic>
          <p:nvPicPr>
            <p:cNvPr id="22" name="Google Shape;325;g3d635d120e2_2_152">
              <a:extLst>
                <a:ext uri="{FF2B5EF4-FFF2-40B4-BE49-F238E27FC236}">
                  <a16:creationId xmlns:a16="http://schemas.microsoft.com/office/drawing/2014/main" id="{C6945FFD-E083-D699-5ECF-5065FA088F77}"/>
                </a:ext>
              </a:extLst>
            </p:cNvPr>
            <p:cNvPicPr preferRelativeResize="0"/>
            <p:nvPr/>
          </p:nvPicPr>
          <p:blipFill>
            <a:blip r:embed="rId5">
              <a:alphaModFix/>
            </a:blip>
            <a:stretch>
              <a:fillRect/>
            </a:stretch>
          </p:blipFill>
          <p:spPr>
            <a:xfrm>
              <a:off x="2503857" y="7686345"/>
              <a:ext cx="2588795" cy="1639437"/>
            </a:xfrm>
            <a:prstGeom prst="rect">
              <a:avLst/>
            </a:prstGeom>
            <a:noFill/>
            <a:ln>
              <a:noFill/>
            </a:ln>
          </p:spPr>
        </p:pic>
        <p:sp>
          <p:nvSpPr>
            <p:cNvPr id="23" name="Google Shape;326;g3d635d120e2_2_152">
              <a:extLst>
                <a:ext uri="{FF2B5EF4-FFF2-40B4-BE49-F238E27FC236}">
                  <a16:creationId xmlns:a16="http://schemas.microsoft.com/office/drawing/2014/main" id="{53D2B42B-48A6-50D5-26EF-D9014D7EFE91}"/>
                </a:ext>
              </a:extLst>
            </p:cNvPr>
            <p:cNvSpPr/>
            <p:nvPr/>
          </p:nvSpPr>
          <p:spPr>
            <a:xfrm>
              <a:off x="4155785" y="6349288"/>
              <a:ext cx="674727" cy="454454"/>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s" sz="1400" b="0" i="0" u="none" strike="noStrike" kern="0" cap="none" spc="0" normalizeH="0" baseline="0" noProof="0">
                  <a:ln>
                    <a:noFill/>
                  </a:ln>
                  <a:solidFill>
                    <a:srgbClr val="FFFFFF"/>
                  </a:solidFill>
                  <a:effectLst/>
                  <a:uLnTx/>
                  <a:uFillTx/>
                  <a:latin typeface="Noto Sans Black"/>
                  <a:ea typeface="Noto Sans Black"/>
                  <a:cs typeface="Noto Sans Black"/>
                  <a:sym typeface="Noto Sans Black"/>
                </a:rPr>
                <a:t>1</a:t>
              </a:r>
              <a:endParaRPr kumimoji="0" sz="1400" b="0" i="0" u="none" strike="noStrike" kern="0" cap="none" spc="0" normalizeH="0" baseline="0" noProof="0">
                <a:ln>
                  <a:noFill/>
                </a:ln>
                <a:solidFill>
                  <a:srgbClr val="FFFFFF"/>
                </a:solidFill>
                <a:effectLst/>
                <a:uLnTx/>
                <a:uFillTx/>
                <a:latin typeface="Noto Sans Black"/>
                <a:ea typeface="Noto Sans Black"/>
                <a:cs typeface="Noto Sans Black"/>
                <a:sym typeface="Noto Sans Black"/>
              </a:endParaRPr>
            </a:p>
          </p:txBody>
        </p:sp>
        <p:sp>
          <p:nvSpPr>
            <p:cNvPr id="24" name="Google Shape;327;g3d635d120e2_2_152">
              <a:extLst>
                <a:ext uri="{FF2B5EF4-FFF2-40B4-BE49-F238E27FC236}">
                  <a16:creationId xmlns:a16="http://schemas.microsoft.com/office/drawing/2014/main" id="{974B2A39-4679-3F46-66AE-6E5BBD70EFEC}"/>
                </a:ext>
              </a:extLst>
            </p:cNvPr>
            <p:cNvSpPr/>
            <p:nvPr/>
          </p:nvSpPr>
          <p:spPr>
            <a:xfrm>
              <a:off x="4842738" y="6360018"/>
              <a:ext cx="2194943" cy="443723"/>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s" sz="1300" b="1" i="0" u="none" strike="noStrike" kern="0" cap="none" spc="0" normalizeH="0" baseline="0" noProof="0">
                  <a:ln>
                    <a:noFill/>
                  </a:ln>
                  <a:solidFill>
                    <a:srgbClr val="FFFFFF"/>
                  </a:solidFill>
                  <a:effectLst/>
                  <a:uLnTx/>
                  <a:uFillTx/>
                  <a:latin typeface="Montserrat"/>
                  <a:ea typeface="Montserrat"/>
                  <a:cs typeface="Montserrat"/>
                  <a:sym typeface="Montserrat"/>
                </a:rPr>
                <a:t>Resonador magnético </a:t>
              </a:r>
              <a:endParaRPr kumimoji="0" sz="13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25" name="Google Shape;328;g3d635d120e2_2_152">
              <a:extLst>
                <a:ext uri="{FF2B5EF4-FFF2-40B4-BE49-F238E27FC236}">
                  <a16:creationId xmlns:a16="http://schemas.microsoft.com/office/drawing/2014/main" id="{65CB008A-5650-4AE1-0372-E32894B1C482}"/>
                </a:ext>
              </a:extLst>
            </p:cNvPr>
            <p:cNvSpPr txBox="1"/>
            <p:nvPr/>
          </p:nvSpPr>
          <p:spPr>
            <a:xfrm>
              <a:off x="4808134" y="6793823"/>
              <a:ext cx="2323200" cy="892522"/>
            </a:xfrm>
            <a:prstGeom prst="rect">
              <a:avLst/>
            </a:prstGeom>
            <a:noFill/>
            <a:ln>
              <a:noFill/>
            </a:ln>
          </p:spPr>
          <p:txBody>
            <a:bodyPr spcFirstLastPara="1" wrap="square" lIns="91425" tIns="91425" rIns="91425" bIns="91425" anchor="t" anchorCtr="0">
              <a:spAutoFit/>
            </a:bodyPr>
            <a:lstStyle/>
            <a:p>
              <a:pPr marL="0" marR="6350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HES 2 CMN Noreste Obregón  </a:t>
              </a:r>
            </a:p>
            <a:p>
              <a:pPr marL="0" marR="6350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1" i="0" u="none" strike="noStrike" kern="0" cap="none" spc="0" normalizeH="0" baseline="0" noProof="0">
                  <a:ln>
                    <a:noFill/>
                  </a:ln>
                  <a:solidFill>
                    <a:srgbClr val="595959"/>
                  </a:solidFill>
                  <a:effectLst/>
                  <a:uLnTx/>
                  <a:uFillTx/>
                  <a:latin typeface="Montserrat"/>
                  <a:cs typeface="Arial"/>
                  <a:sym typeface="Montserrat"/>
                </a:rPr>
                <a:t>$40.6 mdp</a:t>
              </a:r>
              <a:endParaRPr kumimoji="0" sz="1400" b="1" i="0" u="none" strike="noStrike" kern="0" cap="none" spc="0" normalizeH="0" baseline="0" noProof="0">
                <a:ln>
                  <a:noFill/>
                </a:ln>
                <a:solidFill>
                  <a:srgbClr val="000000"/>
                </a:solidFill>
                <a:effectLst/>
                <a:uLnTx/>
                <a:uFillTx/>
                <a:latin typeface="Arial"/>
                <a:cs typeface="Arial"/>
                <a:sym typeface="Arial"/>
              </a:endParaRPr>
            </a:p>
          </p:txBody>
        </p:sp>
        <p:pic>
          <p:nvPicPr>
            <p:cNvPr id="26" name="Google Shape;329;g3d635d120e2_2_152">
              <a:extLst>
                <a:ext uri="{FF2B5EF4-FFF2-40B4-BE49-F238E27FC236}">
                  <a16:creationId xmlns:a16="http://schemas.microsoft.com/office/drawing/2014/main" id="{ABF593CB-603E-60D7-E89B-620CF2CC31E7}"/>
                </a:ext>
              </a:extLst>
            </p:cNvPr>
            <p:cNvPicPr preferRelativeResize="0"/>
            <p:nvPr/>
          </p:nvPicPr>
          <p:blipFill>
            <a:blip r:embed="rId6">
              <a:alphaModFix/>
            </a:blip>
            <a:stretch>
              <a:fillRect/>
            </a:stretch>
          </p:blipFill>
          <p:spPr>
            <a:xfrm>
              <a:off x="4143559" y="4530901"/>
              <a:ext cx="2916227" cy="1829124"/>
            </a:xfrm>
            <a:prstGeom prst="rect">
              <a:avLst/>
            </a:prstGeom>
            <a:noFill/>
            <a:ln>
              <a:noFill/>
            </a:ln>
          </p:spPr>
        </p:pic>
        <p:sp>
          <p:nvSpPr>
            <p:cNvPr id="27" name="Google Shape;319;g3d635d120e2_2_152">
              <a:extLst>
                <a:ext uri="{FF2B5EF4-FFF2-40B4-BE49-F238E27FC236}">
                  <a16:creationId xmlns:a16="http://schemas.microsoft.com/office/drawing/2014/main" id="{C236D352-0874-DCFC-E19A-45CEC7DEA8DC}"/>
                </a:ext>
              </a:extLst>
            </p:cNvPr>
            <p:cNvSpPr txBox="1"/>
            <p:nvPr/>
          </p:nvSpPr>
          <p:spPr>
            <a:xfrm>
              <a:off x="921861" y="6745628"/>
              <a:ext cx="2323200" cy="1104888"/>
            </a:xfrm>
            <a:prstGeom prst="rect">
              <a:avLst/>
            </a:prstGeom>
            <a:noFill/>
            <a:ln>
              <a:noFill/>
            </a:ln>
          </p:spPr>
          <p:txBody>
            <a:bodyPr spcFirstLastPara="1" wrap="square" lIns="91425" tIns="91425" rIns="91425" bIns="91425" anchor="t" anchorCtr="0">
              <a:spAutoFit/>
            </a:bodyPr>
            <a:lstStyle/>
            <a:p>
              <a:pPr marL="0" marR="5080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UMF 5 Nogales</a:t>
              </a:r>
              <a:endParaRPr kumimoji="0" sz="1300" b="0" i="0" u="none" strike="noStrike" kern="0" cap="none" spc="0" normalizeH="0" baseline="0" noProof="0">
                <a:ln>
                  <a:noFill/>
                </a:ln>
                <a:solidFill>
                  <a:srgbClr val="595959"/>
                </a:solidFill>
                <a:effectLst/>
                <a:uLnTx/>
                <a:uFillTx/>
                <a:latin typeface="Montserrat"/>
                <a:ea typeface="Montserrat"/>
                <a:cs typeface="Montserrat"/>
                <a:sym typeface="Montserrat"/>
              </a:endParaRPr>
            </a:p>
            <a:p>
              <a:pPr marL="0" marR="5080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HGZ 2 Hermosillo </a:t>
              </a:r>
              <a:endParaRPr kumimoji="0" sz="1300" b="0" i="0" u="none" strike="noStrike" kern="0" cap="none" spc="0" normalizeH="0" baseline="0" noProof="0">
                <a:ln>
                  <a:noFill/>
                </a:ln>
                <a:solidFill>
                  <a:srgbClr val="595959"/>
                </a:solidFill>
                <a:effectLst/>
                <a:uLnTx/>
                <a:uFillTx/>
                <a:latin typeface="Montserrat"/>
                <a:ea typeface="Montserrat"/>
                <a:cs typeface="Montserrat"/>
                <a:sym typeface="Montserrat"/>
              </a:endParaRPr>
            </a:p>
            <a:p>
              <a:pPr marL="0" marR="5080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0" i="0" u="none" strike="noStrike" kern="0" cap="none" spc="0" normalizeH="0" baseline="0" noProof="0">
                  <a:ln>
                    <a:noFill/>
                  </a:ln>
                  <a:solidFill>
                    <a:srgbClr val="595959"/>
                  </a:solidFill>
                  <a:effectLst/>
                  <a:uLnTx/>
                  <a:uFillTx/>
                  <a:latin typeface="Montserrat"/>
                  <a:ea typeface="Montserrat"/>
                  <a:cs typeface="Montserrat"/>
                  <a:sym typeface="Montserrat"/>
                </a:rPr>
                <a:t>HGR 1 Cd. Obregón</a:t>
              </a:r>
            </a:p>
            <a:p>
              <a:pPr marL="0" marR="5080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1" i="0" u="none" strike="noStrike" kern="0" cap="none" spc="0" normalizeH="0" baseline="0" noProof="0">
                  <a:ln>
                    <a:noFill/>
                  </a:ln>
                  <a:solidFill>
                    <a:srgbClr val="595959"/>
                  </a:solidFill>
                  <a:effectLst/>
                  <a:uLnTx/>
                  <a:uFillTx/>
                  <a:latin typeface="Montserrat"/>
                  <a:ea typeface="Montserrat"/>
                  <a:cs typeface="Montserrat"/>
                  <a:sym typeface="Montserrat"/>
                </a:rPr>
                <a:t>$8.6 mdp</a:t>
              </a:r>
              <a:endParaRPr kumimoji="0" sz="1300" b="1" i="0" u="none" strike="noStrike" kern="0" cap="none" spc="0" normalizeH="0" baseline="0" noProof="0">
                <a:ln>
                  <a:noFill/>
                </a:ln>
                <a:solidFill>
                  <a:srgbClr val="595959"/>
                </a:solidFill>
                <a:effectLst/>
                <a:uLnTx/>
                <a:uFillTx/>
                <a:latin typeface="Montserrat"/>
                <a:ea typeface="Montserrat"/>
                <a:cs typeface="Montserrat"/>
                <a:sym typeface="Montserrat"/>
              </a:endParaRPr>
            </a:p>
          </p:txBody>
        </p:sp>
      </p:grpSp>
      <p:sp>
        <p:nvSpPr>
          <p:cNvPr id="153" name="TextBox 152">
            <a:extLst>
              <a:ext uri="{FF2B5EF4-FFF2-40B4-BE49-F238E27FC236}">
                <a16:creationId xmlns:a16="http://schemas.microsoft.com/office/drawing/2014/main" id="{E21AA369-7F95-76D3-805D-4F6FE818E940}"/>
              </a:ext>
            </a:extLst>
          </p:cNvPr>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155" name="Rectangle 154">
            <a:extLst>
              <a:ext uri="{FF2B5EF4-FFF2-40B4-BE49-F238E27FC236}">
                <a16:creationId xmlns:a16="http://schemas.microsoft.com/office/drawing/2014/main" id="{276ADA3E-71AB-8383-B99E-16F810E43C76}"/>
              </a:ext>
            </a:extLst>
          </p:cNvPr>
          <p:cNvSpPr/>
          <p:nvPr/>
        </p:nvSpPr>
        <p:spPr>
          <a:xfrm>
            <a:off x="192470" y="9589967"/>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6" name="TextBox 155">
            <a:extLst>
              <a:ext uri="{FF2B5EF4-FFF2-40B4-BE49-F238E27FC236}">
                <a16:creationId xmlns:a16="http://schemas.microsoft.com/office/drawing/2014/main" id="{64CC6D0D-C61B-E7DD-F816-23EF9B1D4E73}"/>
              </a:ext>
            </a:extLst>
          </p:cNvPr>
          <p:cNvSpPr txBox="1"/>
          <p:nvPr/>
        </p:nvSpPr>
        <p:spPr>
          <a:xfrm>
            <a:off x="580373" y="9542735"/>
            <a:ext cx="71496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sz="800" b="0" i="0" u="none" strike="noStrike" kern="0" cap="none" spc="0" normalizeH="0" baseline="0" noProof="0" dirty="0" err="1">
                <a:ln>
                  <a:noFill/>
                </a:ln>
                <a:solidFill>
                  <a:schemeClr val="bg1"/>
                </a:solidFill>
                <a:effectLst/>
                <a:uLnTx/>
                <a:uFillTx/>
                <a:latin typeface="Montserrat"/>
                <a:cs typeface="Arial"/>
                <a:sym typeface="Arial"/>
              </a:rPr>
              <a:t>Proyectos</a:t>
            </a:r>
            <a:r>
              <a:rPr kumimoji="0" sz="800" b="0" i="0" u="none" strike="noStrike" kern="0" cap="none" spc="0" normalizeH="0" baseline="0" noProof="0" dirty="0">
                <a:ln>
                  <a:noFill/>
                </a:ln>
                <a:solidFill>
                  <a:schemeClr val="bg1"/>
                </a:solidFill>
                <a:effectLst/>
                <a:uLnTx/>
                <a:uFillTx/>
                <a:latin typeface="Montserrat"/>
                <a:cs typeface="Arial"/>
                <a:sym typeface="Arial"/>
              </a:rPr>
              <a:t> de </a:t>
            </a:r>
            <a:r>
              <a:rPr kumimoji="0" sz="800" b="0" i="0" u="none" strike="noStrike" kern="0" cap="none" spc="0" normalizeH="0" baseline="0" noProof="0" dirty="0" err="1">
                <a:ln>
                  <a:noFill/>
                </a:ln>
                <a:solidFill>
                  <a:schemeClr val="bg1"/>
                </a:solidFill>
                <a:effectLst/>
                <a:uLnTx/>
                <a:uFillTx/>
                <a:latin typeface="Montserrat"/>
                <a:cs typeface="Arial"/>
                <a:sym typeface="Arial"/>
              </a:rPr>
              <a:t>implementación</a:t>
            </a:r>
            <a:r>
              <a:rPr kumimoji="0" sz="800" b="0" i="0" u="none" strike="noStrike" kern="0" cap="none" spc="0" normalizeH="0" baseline="0" noProof="0" dirty="0">
                <a:ln>
                  <a:noFill/>
                </a:ln>
                <a:solidFill>
                  <a:schemeClr val="bg1"/>
                </a:solidFill>
                <a:effectLst/>
                <a:uLnTx/>
                <a:uFillTx/>
                <a:latin typeface="Montserrat"/>
                <a:cs typeface="Arial"/>
                <a:sym typeface="Arial"/>
              </a:rPr>
              <a:t>/</a:t>
            </a:r>
            <a:r>
              <a:rPr kumimoji="0" sz="800" b="0" i="0" u="none" strike="noStrike" kern="0" cap="none" spc="0" normalizeH="0" baseline="0" noProof="0" dirty="0" err="1">
                <a:ln>
                  <a:noFill/>
                </a:ln>
                <a:solidFill>
                  <a:schemeClr val="bg1"/>
                </a:solidFill>
                <a:effectLst/>
                <a:uLnTx/>
                <a:uFillTx/>
                <a:latin typeface="Montserrat"/>
                <a:cs typeface="Arial"/>
                <a:sym typeface="Arial"/>
              </a:rPr>
              <a:t>sustitución</a:t>
            </a:r>
            <a:r>
              <a:rPr kumimoji="0" sz="800" b="0" i="0" u="none" strike="noStrike" kern="0" cap="none" spc="0" normalizeH="0" baseline="0" noProof="0" dirty="0">
                <a:ln>
                  <a:noFill/>
                </a:ln>
                <a:solidFill>
                  <a:schemeClr val="bg1"/>
                </a:solidFill>
                <a:effectLst/>
                <a:uLnTx/>
                <a:uFillTx/>
                <a:latin typeface="Montserrat"/>
                <a:cs typeface="Arial"/>
                <a:sym typeface="Arial"/>
              </a:rPr>
              <a:t> 2019-2025. </a:t>
            </a:r>
            <a:r>
              <a:rPr kumimoji="0" sz="800" b="0" i="0" u="none" strike="noStrike" kern="0" cap="none" spc="0" normalizeH="0" baseline="0" noProof="0" dirty="0" err="1">
                <a:ln>
                  <a:noFill/>
                </a:ln>
                <a:solidFill>
                  <a:schemeClr val="bg1"/>
                </a:solidFill>
                <a:effectLst/>
                <a:uLnTx/>
                <a:uFillTx/>
                <a:latin typeface="Montserrat"/>
                <a:cs typeface="Arial"/>
                <a:sym typeface="Arial"/>
              </a:rPr>
              <a:t>Compra</a:t>
            </a:r>
            <a:r>
              <a:rPr kumimoji="0" sz="800" b="0" i="0" u="none" strike="noStrike" kern="0" cap="none" spc="0" normalizeH="0" baseline="0" noProof="0" dirty="0">
                <a:ln>
                  <a:noFill/>
                </a:ln>
                <a:solidFill>
                  <a:schemeClr val="bg1"/>
                </a:solidFill>
                <a:effectLst/>
                <a:uLnTx/>
                <a:uFillTx/>
                <a:latin typeface="Montserrat"/>
                <a:cs typeface="Arial"/>
                <a:sym typeface="Arial"/>
              </a:rPr>
              <a:t> 2025-2026. </a:t>
            </a:r>
            <a:endParaRPr kumimoji="0" lang="es-MX" sz="800" b="0" i="0" u="none" strike="noStrike" kern="0" cap="none" spc="0" normalizeH="0" baseline="0" noProof="0" dirty="0">
              <a:ln>
                <a:noFill/>
              </a:ln>
              <a:solidFill>
                <a:schemeClr val="bg1"/>
              </a:solidFill>
              <a:effectLst/>
              <a:uLnTx/>
              <a:uFillTx/>
              <a:latin typeface="Montserra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sz="800" b="0" i="0" u="none" strike="noStrike" kern="0" cap="none" spc="0" normalizeH="0" baseline="0" noProof="0" dirty="0">
                <a:ln>
                  <a:noFill/>
                </a:ln>
                <a:solidFill>
                  <a:schemeClr val="bg1"/>
                </a:solidFill>
                <a:effectLst/>
                <a:uLnTx/>
                <a:uFillTx/>
                <a:latin typeface="Montserrat"/>
                <a:cs typeface="Arial"/>
                <a:sym typeface="Arial"/>
              </a:rPr>
              <a:t>Fuente: Cédula de </a:t>
            </a:r>
            <a:r>
              <a:rPr kumimoji="0" sz="800" b="0" i="0" u="none" strike="noStrike" kern="0" cap="none" spc="0" normalizeH="0" baseline="0" noProof="0" dirty="0" err="1">
                <a:ln>
                  <a:noFill/>
                </a:ln>
                <a:solidFill>
                  <a:schemeClr val="bg1"/>
                </a:solidFill>
                <a:effectLst/>
                <a:uLnTx/>
                <a:uFillTx/>
                <a:latin typeface="Montserrat"/>
                <a:cs typeface="Arial"/>
                <a:sym typeface="Arial"/>
              </a:rPr>
              <a:t>actualización</a:t>
            </a:r>
            <a:r>
              <a:rPr kumimoji="0" sz="800" b="0" i="0" u="none" strike="noStrike" kern="0" cap="none" spc="0" normalizeH="0" baseline="0" noProof="0" dirty="0">
                <a:ln>
                  <a:noFill/>
                </a:ln>
                <a:solidFill>
                  <a:schemeClr val="bg1"/>
                </a:solidFill>
                <a:effectLst/>
                <a:uLnTx/>
                <a:uFillTx/>
                <a:latin typeface="Montserrat"/>
                <a:cs typeface="Arial"/>
                <a:sym typeface="Arial"/>
              </a:rPr>
              <a:t> de variables </a:t>
            </a:r>
            <a:r>
              <a:rPr kumimoji="0" sz="800" b="0" i="0" u="none" strike="noStrike" kern="0" cap="none" spc="0" normalizeH="0" baseline="0" noProof="0" dirty="0" err="1">
                <a:ln>
                  <a:noFill/>
                </a:ln>
                <a:solidFill>
                  <a:schemeClr val="bg1"/>
                </a:solidFill>
                <a:effectLst/>
                <a:uLnTx/>
                <a:uFillTx/>
                <a:latin typeface="Montserrat"/>
                <a:cs typeface="Arial"/>
                <a:sym typeface="Arial"/>
              </a:rPr>
              <a:t>seleccionadas</a:t>
            </a:r>
            <a:r>
              <a:rPr kumimoji="0" sz="800" b="0" i="0" u="none" strike="noStrike" kern="0" cap="none" spc="0" normalizeH="0" baseline="0" noProof="0" dirty="0">
                <a:ln>
                  <a:noFill/>
                </a:ln>
                <a:solidFill>
                  <a:schemeClr val="bg1"/>
                </a:solidFill>
                <a:effectLst/>
                <a:uLnTx/>
                <a:uFillTx/>
                <a:latin typeface="Montserrat"/>
                <a:cs typeface="Arial"/>
                <a:sym typeface="Arial"/>
              </a:rPr>
              <a:t> del IFU, </a:t>
            </a:r>
            <a:r>
              <a:rPr kumimoji="0" sz="800" b="0" i="0" u="none" strike="noStrike" kern="0" cap="none" spc="0" normalizeH="0" baseline="0" noProof="0" dirty="0" err="1">
                <a:ln>
                  <a:noFill/>
                </a:ln>
                <a:solidFill>
                  <a:schemeClr val="bg1"/>
                </a:solidFill>
                <a:effectLst/>
                <a:uLnTx/>
                <a:uFillTx/>
                <a:latin typeface="Montserrat"/>
                <a:cs typeface="Arial"/>
                <a:sym typeface="Arial"/>
              </a:rPr>
              <a:t>enviadas</a:t>
            </a:r>
            <a:r>
              <a:rPr kumimoji="0" sz="800" b="0" i="0" u="none" strike="noStrike" kern="0" cap="none" spc="0" normalizeH="0" baseline="0" noProof="0" dirty="0">
                <a:ln>
                  <a:noFill/>
                </a:ln>
                <a:solidFill>
                  <a:schemeClr val="bg1"/>
                </a:solidFill>
                <a:effectLst/>
                <a:uLnTx/>
                <a:uFillTx/>
                <a:latin typeface="Montserrat"/>
                <a:cs typeface="Arial"/>
                <a:sym typeface="Arial"/>
              </a:rPr>
              <a:t> por el OOAD.</a:t>
            </a:r>
            <a:br>
              <a:rPr kumimoji="0" sz="800" b="0" i="0" u="none" strike="noStrike" kern="0" cap="none" spc="0" normalizeH="0" baseline="0" noProof="0" dirty="0">
                <a:ln>
                  <a:noFill/>
                </a:ln>
                <a:solidFill>
                  <a:schemeClr val="bg1"/>
                </a:solidFill>
                <a:effectLst/>
                <a:uLnTx/>
                <a:uFillTx/>
                <a:latin typeface="Montserrat"/>
                <a:cs typeface="Arial"/>
                <a:sym typeface="Arial"/>
              </a:rPr>
            </a:br>
            <a:r>
              <a:rPr kumimoji="0" sz="800" b="0" i="0" u="none" strike="noStrike" kern="0" cap="none" spc="0" normalizeH="0" baseline="0" noProof="0" dirty="0">
                <a:ln>
                  <a:noFill/>
                </a:ln>
                <a:solidFill>
                  <a:schemeClr val="bg1"/>
                </a:solidFill>
                <a:effectLst/>
                <a:uLnTx/>
                <a:uFillTx/>
                <a:latin typeface="Montserrat"/>
                <a:cs typeface="Arial"/>
                <a:sym typeface="Arial"/>
              </a:rPr>
              <a:t>Corte de información: ma</a:t>
            </a:r>
            <a:r>
              <a:rPr lang="es-MX" sz="800" dirty="0">
                <a:solidFill>
                  <a:schemeClr val="bg1"/>
                </a:solidFill>
                <a:latin typeface="Montserrat"/>
              </a:rPr>
              <a:t>y</a:t>
            </a:r>
            <a:r>
              <a:rPr kumimoji="0" sz="800" b="0" i="0" u="none" strike="noStrike" kern="0" cap="none" spc="0" normalizeH="0" baseline="0" noProof="0" dirty="0">
                <a:ln>
                  <a:noFill/>
                </a:ln>
                <a:solidFill>
                  <a:schemeClr val="bg1"/>
                </a:solidFill>
                <a:effectLst/>
                <a:uLnTx/>
                <a:uFillTx/>
                <a:latin typeface="Montserrat"/>
                <a:cs typeface="Arial"/>
                <a:sym typeface="Arial"/>
              </a:rPr>
              <a:t>o de 2026</a:t>
            </a:r>
          </a:p>
        </p:txBody>
      </p:sp>
    </p:spTree>
    <p:extLst>
      <p:ext uri="{BB962C8B-B14F-4D97-AF65-F5344CB8AC3E}">
        <p14:creationId xmlns:p14="http://schemas.microsoft.com/office/powerpoint/2010/main" val="421383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0171069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D639DDB7-A38F-0D13-DA66-0BC5F528460F}"/>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3E6EBD21-AB7B-9C38-23E9-201660A43F1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1ECD57CC-AFF3-B01A-20A8-662C858766DE}"/>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39C27293-5D8D-FA11-B3E6-74A95BE5ADDD}"/>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31F0E926-36F4-98FD-5FA6-3F83A79F383E}"/>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10" name="CuadroTexto 6">
            <a:extLst>
              <a:ext uri="{FF2B5EF4-FFF2-40B4-BE49-F238E27FC236}">
                <a16:creationId xmlns:a16="http://schemas.microsoft.com/office/drawing/2014/main" id="{81F6C6CF-1251-54A2-14E5-0F65C2C861CF}"/>
              </a:ext>
            </a:extLst>
          </p:cNvPr>
          <p:cNvSpPr txBox="1"/>
          <p:nvPr/>
        </p:nvSpPr>
        <p:spPr>
          <a:xfrm>
            <a:off x="5064096" y="8117456"/>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12" name="CuadroTexto 8">
            <a:extLst>
              <a:ext uri="{FF2B5EF4-FFF2-40B4-BE49-F238E27FC236}">
                <a16:creationId xmlns:a16="http://schemas.microsoft.com/office/drawing/2014/main" id="{E4353610-6054-EA45-7653-DBA32A8BCDC4}"/>
              </a:ext>
            </a:extLst>
          </p:cNvPr>
          <p:cNvSpPr txBox="1"/>
          <p:nvPr/>
        </p:nvSpPr>
        <p:spPr>
          <a:xfrm>
            <a:off x="4701239" y="4744510"/>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semana 24, 7 junio 2026</a:t>
            </a:r>
            <a:br/>
            <a:r>
              <a:t>¹Las consultas de medicina familiar incluyen los hospitales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+15,662</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+197,445</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+223,304</a:t>
            </a:r>
          </a:p>
        </p:txBody>
      </p:sp>
      <p:graphicFrame>
        <p:nvGraphicFramePr>
          <p:cNvPr id="236" name="Table 235"/>
          <p:cNvGraphicFramePr>
            <a:graphicFrameLocks noGrp="1"/>
          </p:cNvGraphicFramePr>
          <p:nvPr>
            <p:extLst>
              <p:ext uri="{D42A27DB-BD31-4B8C-83A1-F6EECF244321}">
                <p14:modId xmlns:p14="http://schemas.microsoft.com/office/powerpoint/2010/main" val="76692626"/>
              </p:ext>
            </p:extLst>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2025</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Incremento 2024 vs 2025</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Avance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1200" b="1">
                          <a:solidFill>
                            <a:srgbClr val="FFFFFF"/>
                          </a:solidFill>
                          <a:latin typeface="Montserrat"/>
                        </a:defRPr>
                      </a:pPr>
                      <a:r>
                        <a:t>Meta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1200" b="1">
                          <a:solidFill>
                            <a:srgbClr val="FFFFFF"/>
                          </a:solidFill>
                          <a:latin typeface="Montserrat"/>
                        </a:defRPr>
                      </a:pPr>
                      <a:r>
                        <a:t>% avance anual</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lnL w="12700" cap="flat" cmpd="sng" algn="ctr">
                      <a:solidFill>
                        <a:schemeClr val="bg1">
                          <a:lumMod val="85000"/>
                        </a:schemeClr>
                      </a:solidFill>
                      <a:prstDash val="solid"/>
                      <a:round/>
                      <a:headEnd type="none" w="med" len="med"/>
                      <a:tailEnd type="none" w="med" len="med"/>
                    </a:lnL>
                    <a:solidFill>
                      <a:srgbClr val="006455"/>
                    </a:solidFill>
                  </a:tcPr>
                </a:tc>
                <a:tc>
                  <a:txBody>
                    <a:bodyPr/>
                    <a:lstStyle/>
                    <a:p>
                      <a:pPr algn="ctr">
                        <a:defRPr sz="1000">
                          <a:solidFill>
                            <a:srgbClr val="404040"/>
                          </a:solidFill>
                          <a:latin typeface="Montserrat"/>
                        </a:defRPr>
                      </a:pPr>
                      <a:r>
                        <a:t>3,288,009</a:t>
                      </a:r>
                    </a:p>
                  </a:txBody>
                  <a:tcPr marL="0" marR="0" marT="0" marB="0" anchor="ctr">
                    <a:solidFill>
                      <a:srgbClr val="FFFFFF"/>
                    </a:solidFill>
                  </a:tcPr>
                </a:tc>
                <a:tc>
                  <a:txBody>
                    <a:bodyPr/>
                    <a:lstStyle/>
                    <a:p>
                      <a:pPr algn="ctr">
                        <a:defRPr sz="1000">
                          <a:solidFill>
                            <a:srgbClr val="404040"/>
                          </a:solidFill>
                          <a:latin typeface="Montserrat"/>
                        </a:defRPr>
                      </a:pPr>
                      <a:r>
                        <a:t>197,445</a:t>
                      </a:r>
                    </a:p>
                  </a:txBody>
                  <a:tcPr marL="0" marR="0" marT="0" marB="0" anchor="ctr">
                    <a:solidFill>
                      <a:srgbClr val="FFFFFF"/>
                    </a:solidFill>
                  </a:tcPr>
                </a:tc>
                <a:tc>
                  <a:txBody>
                    <a:bodyPr/>
                    <a:lstStyle/>
                    <a:p>
                      <a:pPr algn="ctr">
                        <a:defRPr sz="1000" b="1">
                          <a:solidFill>
                            <a:srgbClr val="980000"/>
                          </a:solidFill>
                          <a:latin typeface="Montserrat"/>
                        </a:defRPr>
                      </a:pPr>
                      <a:r>
                        <a:t>1,510,613</a:t>
                      </a:r>
                    </a:p>
                  </a:txBody>
                  <a:tcPr marL="0" marR="0" marT="0" marB="0" anchor="ctr">
                    <a:solidFill>
                      <a:srgbClr val="ECD3D9"/>
                    </a:solidFill>
                  </a:tcPr>
                </a:tc>
                <a:tc>
                  <a:txBody>
                    <a:bodyPr/>
                    <a:lstStyle/>
                    <a:p>
                      <a:pPr algn="ctr">
                        <a:defRPr sz="1000" b="1">
                          <a:solidFill>
                            <a:srgbClr val="980000"/>
                          </a:solidFill>
                          <a:latin typeface="Montserrat"/>
                        </a:defRPr>
                      </a:pPr>
                      <a:r>
                        <a:t>3,333,200</a:t>
                      </a:r>
                    </a:p>
                  </a:txBody>
                  <a:tcPr marL="0" marR="0" marT="0" marB="0" anchor="ctr">
                    <a:solidFill>
                      <a:srgbClr val="ECD3D9"/>
                    </a:solidFill>
                  </a:tcPr>
                </a:tc>
                <a:tc>
                  <a:txBody>
                    <a:bodyPr/>
                    <a:lstStyle/>
                    <a:p>
                      <a:pPr algn="ctr">
                        <a:defRPr sz="1000" b="1">
                          <a:solidFill>
                            <a:srgbClr val="980000"/>
                          </a:solidFill>
                          <a:latin typeface="Montserrat"/>
                        </a:defRPr>
                      </a:pPr>
                      <a:r>
                        <a:t>45.3%</a:t>
                      </a:r>
                    </a:p>
                  </a:txBody>
                  <a:tcPr marL="0" marR="0" marT="0" marB="0" anchor="ct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lnL w="12700" cap="flat" cmpd="sng" algn="ctr">
                      <a:solidFill>
                        <a:schemeClr val="bg1">
                          <a:lumMod val="85000"/>
                        </a:schemeClr>
                      </a:solidFill>
                      <a:prstDash val="solid"/>
                      <a:round/>
                      <a:headEnd type="none" w="med" len="med"/>
                      <a:tailEnd type="none" w="med" len="med"/>
                    </a:lnL>
                    <a:solidFill>
                      <a:srgbClr val="006455"/>
                    </a:solidFill>
                  </a:tcPr>
                </a:tc>
                <a:tc>
                  <a:txBody>
                    <a:bodyPr/>
                    <a:lstStyle/>
                    <a:p>
                      <a:pPr algn="ctr">
                        <a:defRPr sz="1000">
                          <a:solidFill>
                            <a:srgbClr val="404040"/>
                          </a:solidFill>
                          <a:latin typeface="Montserrat"/>
                        </a:defRPr>
                      </a:pPr>
                      <a:r>
                        <a:t>1,118,729</a:t>
                      </a:r>
                    </a:p>
                  </a:txBody>
                  <a:tcPr marL="0" marR="0" marT="0" marB="0" anchor="ctr">
                    <a:solidFill>
                      <a:srgbClr val="EFEFEF"/>
                    </a:solidFill>
                  </a:tcPr>
                </a:tc>
                <a:tc>
                  <a:txBody>
                    <a:bodyPr/>
                    <a:lstStyle/>
                    <a:p>
                      <a:pPr algn="ctr">
                        <a:defRPr sz="1000">
                          <a:solidFill>
                            <a:srgbClr val="404040"/>
                          </a:solidFill>
                          <a:latin typeface="Montserrat"/>
                        </a:defRPr>
                      </a:pPr>
                      <a:r>
                        <a:t>223,304</a:t>
                      </a:r>
                    </a:p>
                  </a:txBody>
                  <a:tcPr marL="0" marR="0" marT="0" marB="0" anchor="ctr">
                    <a:solidFill>
                      <a:srgbClr val="EFEFEF"/>
                    </a:solidFill>
                  </a:tcPr>
                </a:tc>
                <a:tc>
                  <a:txBody>
                    <a:bodyPr/>
                    <a:lstStyle/>
                    <a:p>
                      <a:pPr algn="ctr">
                        <a:defRPr sz="1000" b="1">
                          <a:solidFill>
                            <a:srgbClr val="980000"/>
                          </a:solidFill>
                          <a:latin typeface="Montserrat"/>
                        </a:defRPr>
                      </a:pPr>
                      <a:r>
                        <a:t>518,700</a:t>
                      </a:r>
                    </a:p>
                  </a:txBody>
                  <a:tcPr marL="0" marR="0" marT="0" marB="0" anchor="ctr">
                    <a:solidFill>
                      <a:srgbClr val="F4E3E7"/>
                    </a:solidFill>
                  </a:tcPr>
                </a:tc>
                <a:tc>
                  <a:txBody>
                    <a:bodyPr/>
                    <a:lstStyle/>
                    <a:p>
                      <a:pPr algn="ctr">
                        <a:defRPr sz="1000" b="1">
                          <a:solidFill>
                            <a:srgbClr val="980000"/>
                          </a:solidFill>
                          <a:latin typeface="Montserrat"/>
                        </a:defRPr>
                      </a:pPr>
                      <a:r>
                        <a:t>1,341,010</a:t>
                      </a:r>
                    </a:p>
                  </a:txBody>
                  <a:tcPr marL="0" marR="0" marT="0" marB="0" anchor="ctr">
                    <a:solidFill>
                      <a:srgbClr val="F4E3E7"/>
                    </a:solidFill>
                  </a:tcPr>
                </a:tc>
                <a:tc>
                  <a:txBody>
                    <a:bodyPr/>
                    <a:lstStyle/>
                    <a:p>
                      <a:pPr algn="ctr">
                        <a:defRPr sz="1000" b="1">
                          <a:solidFill>
                            <a:srgbClr val="980000"/>
                          </a:solidFill>
                          <a:latin typeface="Montserrat"/>
                        </a:defRPr>
                      </a:pPr>
                      <a:r>
                        <a:t>38.7%</a:t>
                      </a:r>
                    </a:p>
                  </a:txBody>
                  <a:tcPr marL="0" marR="0" marT="0" marB="0" anchor="ctr">
                    <a:lnR w="12700" cap="flat" cmpd="sng" algn="ctr">
                      <a:solidFill>
                        <a:schemeClr val="bg1">
                          <a:lumMod val="85000"/>
                        </a:schemeClr>
                      </a:solidFill>
                      <a:prstDash val="solid"/>
                      <a:round/>
                      <a:headEnd type="none" w="med" len="med"/>
                      <a:tailEnd type="none" w="med" len="med"/>
                    </a:ln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t>Cirugías</a:t>
                      </a:r>
                    </a:p>
                  </a:txBody>
                  <a:tcPr marL="0" marR="0" marT="0" marB="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006455"/>
                    </a:solidFill>
                  </a:tcPr>
                </a:tc>
                <a:tc>
                  <a:txBody>
                    <a:bodyPr/>
                    <a:lstStyle/>
                    <a:p>
                      <a:pPr algn="ctr">
                        <a:defRPr sz="1000">
                          <a:solidFill>
                            <a:srgbClr val="404040"/>
                          </a:solidFill>
                          <a:latin typeface="Montserrat"/>
                        </a:defRPr>
                      </a:pPr>
                      <a:r>
                        <a:rPr dirty="0"/>
                        <a:t>69,680</a:t>
                      </a:r>
                    </a:p>
                  </a:txBody>
                  <a:tcPr marL="0" marR="0" marT="0" marB="0"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1000">
                          <a:solidFill>
                            <a:srgbClr val="404040"/>
                          </a:solidFill>
                          <a:latin typeface="Montserrat"/>
                        </a:defRPr>
                      </a:pPr>
                      <a:r>
                        <a:t>15,662</a:t>
                      </a:r>
                    </a:p>
                  </a:txBody>
                  <a:tcPr marL="0" marR="0" marT="0" marB="0"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1000" b="1">
                          <a:solidFill>
                            <a:srgbClr val="980000"/>
                          </a:solidFill>
                          <a:latin typeface="Montserrat"/>
                        </a:defRPr>
                      </a:pPr>
                      <a:r>
                        <a:t>32,392</a:t>
                      </a:r>
                    </a:p>
                  </a:txBody>
                  <a:tcPr marL="0" marR="0" marT="0" marB="0" anchor="ctr">
                    <a:lnB w="12700" cap="flat" cmpd="sng" algn="ctr">
                      <a:solidFill>
                        <a:schemeClr val="bg1">
                          <a:lumMod val="85000"/>
                        </a:schemeClr>
                      </a:solidFill>
                      <a:prstDash val="solid"/>
                      <a:round/>
                      <a:headEnd type="none" w="med" len="med"/>
                      <a:tailEnd type="none" w="med" len="med"/>
                    </a:lnB>
                    <a:solidFill>
                      <a:srgbClr val="ECD3D9"/>
                    </a:solidFill>
                  </a:tcPr>
                </a:tc>
                <a:tc>
                  <a:txBody>
                    <a:bodyPr/>
                    <a:lstStyle/>
                    <a:p>
                      <a:pPr algn="ctr">
                        <a:defRPr sz="1000" b="1">
                          <a:solidFill>
                            <a:srgbClr val="980000"/>
                          </a:solidFill>
                          <a:latin typeface="Montserrat"/>
                        </a:defRPr>
                      </a:pPr>
                      <a:r>
                        <a:t>91,001</a:t>
                      </a:r>
                    </a:p>
                  </a:txBody>
                  <a:tcPr marL="0" marR="0" marT="0" marB="0" anchor="ctr">
                    <a:lnB w="12700" cap="flat" cmpd="sng" algn="ctr">
                      <a:solidFill>
                        <a:schemeClr val="bg1">
                          <a:lumMod val="85000"/>
                        </a:schemeClr>
                      </a:solidFill>
                      <a:prstDash val="solid"/>
                      <a:round/>
                      <a:headEnd type="none" w="med" len="med"/>
                      <a:tailEnd type="none" w="med" len="med"/>
                    </a:lnB>
                    <a:solidFill>
                      <a:srgbClr val="ECD3D9"/>
                    </a:solidFill>
                  </a:tcPr>
                </a:tc>
                <a:tc>
                  <a:txBody>
                    <a:bodyPr/>
                    <a:lstStyle/>
                    <a:p>
                      <a:pPr algn="ctr">
                        <a:defRPr sz="1000" b="1">
                          <a:solidFill>
                            <a:srgbClr val="980000"/>
                          </a:solidFill>
                          <a:latin typeface="Montserrat"/>
                        </a:defRPr>
                      </a:pPr>
                      <a:r>
                        <a:rPr dirty="0"/>
                        <a:t>35.6%</a:t>
                      </a:r>
                    </a:p>
                  </a:txBody>
                  <a:tcPr marL="0" marR="0" marT="0" marB="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4682692" cy="400110"/>
          </a:xfrm>
          <a:prstGeom prst="rect">
            <a:avLst/>
          </a:prstGeom>
          <a:noFill/>
        </p:spPr>
        <p:txBody>
          <a:bodyPr wrap="none">
            <a:spAutoFit/>
          </a:bodyPr>
          <a:lstStyle/>
          <a:p>
            <a:pPr algn="l">
              <a:defRPr sz="2000" b="1">
                <a:solidFill>
                  <a:srgbClr val="5B0F00"/>
                </a:solidFill>
                <a:latin typeface="Montserrat"/>
              </a:defRPr>
            </a:pPr>
            <a:r>
              <a:rPr dirty="0"/>
              <a:t>54 UMF de lunes a </a:t>
            </a:r>
            <a:r>
              <a:rPr dirty="0" err="1"/>
              <a:t>viernes</a:t>
            </a:r>
            <a:r>
              <a:rPr lang="es-MX" dirty="0"/>
              <a:t> (1 de 2)</a:t>
            </a:r>
            <a:endParaRPr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6187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 28 Bacum</a:t>
                      </a:r>
                    </a:p>
                  </a:txBody>
                  <a:tcPr marL="0" marR="0" marT="0" marB="0">
                    <a:solidFill>
                      <a:srgbClr val="FFFFFF"/>
                    </a:solidFill>
                  </a:tcPr>
                </a:tc>
                <a:tc>
                  <a:txBody>
                    <a:bodyPr/>
                    <a:lstStyle/>
                    <a:p>
                      <a:pPr algn="ctr">
                        <a:defRPr sz="1000">
                          <a:latin typeface="Montserrat"/>
                        </a:defRPr>
                      </a:pPr>
                      <a:r>
                        <a:t>10,852</a:t>
                      </a:r>
                    </a:p>
                  </a:txBody>
                  <a:tcPr marL="0" marR="0" marT="0" marB="0">
                    <a:solidFill>
                      <a:srgbClr val="FFFFFF"/>
                    </a:solidFill>
                  </a:tcPr>
                </a:tc>
                <a:tc>
                  <a:txBody>
                    <a:bodyPr/>
                    <a:lstStyle/>
                    <a:p>
                      <a:pPr algn="ctr">
                        <a:defRPr sz="1000">
                          <a:latin typeface="Montserrat"/>
                        </a:defRPr>
                      </a:pPr>
                      <a:r>
                        <a:t>2,602</a:t>
                      </a:r>
                    </a:p>
                  </a:txBody>
                  <a:tcPr marL="0" marR="0" marT="0" marB="0">
                    <a:solidFill>
                      <a:srgbClr val="FFFFFF"/>
                    </a:solidFill>
                  </a:tcPr>
                </a:tc>
                <a:tc>
                  <a:txBody>
                    <a:bodyPr/>
                    <a:lstStyle/>
                    <a:p>
                      <a:pPr algn="ctr">
                        <a:defRPr sz="1000">
                          <a:latin typeface="Montserrat"/>
                        </a:defRPr>
                      </a:pPr>
                      <a:r>
                        <a:t>5,251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43.8%</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15 Etchojoa</a:t>
                      </a:r>
                    </a:p>
                  </a:txBody>
                  <a:tcPr marL="0" marR="0" marT="0" marB="0">
                    <a:solidFill>
                      <a:srgbClr val="EFEFEF"/>
                    </a:solidFill>
                  </a:tcPr>
                </a:tc>
                <a:tc>
                  <a:txBody>
                    <a:bodyPr/>
                    <a:lstStyle/>
                    <a:p>
                      <a:pPr algn="ctr">
                        <a:defRPr sz="1000">
                          <a:latin typeface="Montserrat"/>
                        </a:defRPr>
                      </a:pPr>
                      <a:r>
                        <a:t>13,818</a:t>
                      </a:r>
                    </a:p>
                  </a:txBody>
                  <a:tcPr marL="0" marR="0" marT="0" marB="0">
                    <a:solidFill>
                      <a:srgbClr val="EFEFEF"/>
                    </a:solidFill>
                  </a:tcPr>
                </a:tc>
                <a:tc>
                  <a:txBody>
                    <a:bodyPr/>
                    <a:lstStyle/>
                    <a:p>
                      <a:pPr algn="ctr">
                        <a:defRPr sz="1000">
                          <a:latin typeface="Montserrat"/>
                        </a:defRPr>
                      </a:pPr>
                      <a:r>
                        <a:t>382</a:t>
                      </a:r>
                    </a:p>
                  </a:txBody>
                  <a:tcPr marL="0" marR="0" marT="0" marB="0">
                    <a:solidFill>
                      <a:srgbClr val="EFEFEF"/>
                    </a:solidFill>
                  </a:tcPr>
                </a:tc>
                <a:tc>
                  <a:txBody>
                    <a:bodyPr/>
                    <a:lstStyle/>
                    <a:p>
                      <a:pPr algn="ctr">
                        <a:defRPr sz="1000">
                          <a:latin typeface="Montserrat"/>
                        </a:defRPr>
                      </a:pPr>
                      <a:r>
                        <a:t>6,561</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46.9%</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36 Quetchehueca</a:t>
                      </a:r>
                    </a:p>
                  </a:txBody>
                  <a:tcPr marL="0" marR="0" marT="0" marB="0">
                    <a:solidFill>
                      <a:srgbClr val="FFFFFF"/>
                    </a:solidFill>
                  </a:tcPr>
                </a:tc>
                <a:tc>
                  <a:txBody>
                    <a:bodyPr/>
                    <a:lstStyle/>
                    <a:p>
                      <a:pPr algn="ctr">
                        <a:defRPr sz="1000">
                          <a:latin typeface="Montserrat"/>
                        </a:defRPr>
                      </a:pPr>
                      <a:r>
                        <a:t>7,586</a:t>
                      </a:r>
                    </a:p>
                  </a:txBody>
                  <a:tcPr marL="0" marR="0" marT="0" marB="0">
                    <a:solidFill>
                      <a:srgbClr val="FFFFFF"/>
                    </a:solidFill>
                  </a:tcPr>
                </a:tc>
                <a:tc>
                  <a:txBody>
                    <a:bodyPr/>
                    <a:lstStyle/>
                    <a:p>
                      <a:pPr algn="ctr">
                        <a:defRPr sz="1000">
                          <a:latin typeface="Montserrat"/>
                        </a:defRPr>
                      </a:pPr>
                      <a:r>
                        <a:t>899</a:t>
                      </a:r>
                    </a:p>
                  </a:txBody>
                  <a:tcPr marL="0" marR="0" marT="0" marB="0">
                    <a:solidFill>
                      <a:srgbClr val="FFFFFF"/>
                    </a:solidFill>
                  </a:tcPr>
                </a:tc>
                <a:tc>
                  <a:txBody>
                    <a:bodyPr/>
                    <a:lstStyle/>
                    <a:p>
                      <a:pPr algn="ctr">
                        <a:defRPr sz="1000">
                          <a:latin typeface="Montserrat"/>
                        </a:defRPr>
                      </a:pPr>
                      <a:r>
                        <a:t>3,945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43.8%</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33 Cocorit</a:t>
                      </a:r>
                    </a:p>
                  </a:txBody>
                  <a:tcPr marL="0" marR="0" marT="0" marB="0">
                    <a:solidFill>
                      <a:srgbClr val="EFEFEF"/>
                    </a:solidFill>
                  </a:tcPr>
                </a:tc>
                <a:tc>
                  <a:txBody>
                    <a:bodyPr/>
                    <a:lstStyle/>
                    <a:p>
                      <a:pPr algn="ctr">
                        <a:defRPr sz="1000">
                          <a:latin typeface="Montserrat"/>
                        </a:defRPr>
                      </a:pPr>
                      <a:r>
                        <a:t>62,453</a:t>
                      </a:r>
                    </a:p>
                  </a:txBody>
                  <a:tcPr marL="0" marR="0" marT="0" marB="0">
                    <a:solidFill>
                      <a:srgbClr val="EFEFEF"/>
                    </a:solidFill>
                  </a:tcPr>
                </a:tc>
                <a:tc>
                  <a:txBody>
                    <a:bodyPr/>
                    <a:lstStyle/>
                    <a:p>
                      <a:pPr algn="ctr">
                        <a:defRPr sz="1000">
                          <a:latin typeface="Montserrat"/>
                        </a:defRPr>
                      </a:pPr>
                      <a:r>
                        <a:t>7,096</a:t>
                      </a:r>
                    </a:p>
                  </a:txBody>
                  <a:tcPr marL="0" marR="0" marT="0" marB="0">
                    <a:solidFill>
                      <a:srgbClr val="EFEFEF"/>
                    </a:solidFill>
                  </a:tcPr>
                </a:tc>
                <a:tc>
                  <a:txBody>
                    <a:bodyPr/>
                    <a:lstStyle/>
                    <a:p>
                      <a:pPr algn="ctr">
                        <a:defRPr sz="1000">
                          <a:latin typeface="Montserrat"/>
                        </a:defRPr>
                      </a:pPr>
                      <a:r>
                        <a:t>29,769</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47.5%</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34 Cuauhtémoc</a:t>
                      </a:r>
                    </a:p>
                  </a:txBody>
                  <a:tcPr marL="0" marR="0" marT="0" marB="0">
                    <a:solidFill>
                      <a:srgbClr val="FFFFFF"/>
                    </a:solidFill>
                  </a:tcPr>
                </a:tc>
                <a:tc>
                  <a:txBody>
                    <a:bodyPr/>
                    <a:lstStyle/>
                    <a:p>
                      <a:pPr algn="ctr">
                        <a:defRPr sz="1000">
                          <a:latin typeface="Montserrat"/>
                        </a:defRPr>
                      </a:pPr>
                      <a:r>
                        <a:t>8,248</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4,072</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29 E. Fco. J. Mina</a:t>
                      </a:r>
                    </a:p>
                  </a:txBody>
                  <a:tcPr marL="0" marR="0" marT="0" marB="0">
                    <a:solidFill>
                      <a:srgbClr val="EFEFEF"/>
                    </a:solidFill>
                  </a:tcPr>
                </a:tc>
                <a:tc>
                  <a:txBody>
                    <a:bodyPr/>
                    <a:lstStyle/>
                    <a:p>
                      <a:pPr algn="ctr">
                        <a:defRPr sz="1000">
                          <a:latin typeface="Montserrat"/>
                        </a:defRPr>
                      </a:pPr>
                      <a:r>
                        <a:t>14,220</a:t>
                      </a:r>
                    </a:p>
                  </a:txBody>
                  <a:tcPr marL="0" marR="0" marT="0" marB="0">
                    <a:solidFill>
                      <a:srgbClr val="EFEFEF"/>
                    </a:solidFill>
                  </a:tcPr>
                </a:tc>
                <a:tc>
                  <a:txBody>
                    <a:bodyPr/>
                    <a:lstStyle/>
                    <a:p>
                      <a:pPr algn="ctr">
                        <a:defRPr sz="1000">
                          <a:latin typeface="Montserrat"/>
                        </a:defRPr>
                      </a:pPr>
                      <a:r>
                        <a:t>4,002</a:t>
                      </a:r>
                    </a:p>
                  </a:txBody>
                  <a:tcPr marL="0" marR="0" marT="0" marB="0">
                    <a:solidFill>
                      <a:srgbClr val="EFEFEF"/>
                    </a:solidFill>
                  </a:tcPr>
                </a:tc>
                <a:tc>
                  <a:txBody>
                    <a:bodyPr/>
                    <a:lstStyle/>
                    <a:p>
                      <a:pPr algn="ctr">
                        <a:defRPr sz="1000">
                          <a:latin typeface="Montserrat"/>
                        </a:defRPr>
                      </a:pPr>
                      <a:r>
                        <a:t>6,362</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45.4%</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31 1o. de Mayo</a:t>
                      </a:r>
                    </a:p>
                  </a:txBody>
                  <a:tcPr marL="0" marR="0" marT="0" marB="0">
                    <a:solidFill>
                      <a:srgbClr val="FFFFFF"/>
                    </a:solidFill>
                  </a:tcPr>
                </a:tc>
                <a:tc>
                  <a:txBody>
                    <a:bodyPr/>
                    <a:lstStyle/>
                    <a:p>
                      <a:pPr algn="ctr">
                        <a:defRPr sz="1000">
                          <a:latin typeface="Montserrat"/>
                        </a:defRPr>
                      </a:pPr>
                      <a:r>
                        <a:t>4,875</a:t>
                      </a:r>
                    </a:p>
                  </a:txBody>
                  <a:tcPr marL="0" marR="0" marT="0" marB="0">
                    <a:solidFill>
                      <a:srgbClr val="FFFFFF"/>
                    </a:solidFill>
                  </a:tcPr>
                </a:tc>
                <a:tc>
                  <a:txBody>
                    <a:bodyPr/>
                    <a:lstStyle/>
                    <a:p>
                      <a:pPr algn="ctr">
                        <a:defRPr sz="1000">
                          <a:latin typeface="Montserrat"/>
                        </a:defRPr>
                      </a:pPr>
                      <a:r>
                        <a:t>537</a:t>
                      </a:r>
                    </a:p>
                  </a:txBody>
                  <a:tcPr marL="0" marR="0" marT="0" marB="0">
                    <a:solidFill>
                      <a:srgbClr val="FFFFFF"/>
                    </a:solidFill>
                  </a:tcPr>
                </a:tc>
                <a:tc>
                  <a:txBody>
                    <a:bodyPr/>
                    <a:lstStyle/>
                    <a:p>
                      <a:pPr algn="ctr">
                        <a:defRPr sz="1000">
                          <a:latin typeface="Montserrat"/>
                        </a:defRPr>
                      </a:pPr>
                      <a:r>
                        <a:t>2,178</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35 Pueblo Yaqui</a:t>
                      </a:r>
                    </a:p>
                  </a:txBody>
                  <a:tcPr marL="0" marR="0" marT="0" marB="0">
                    <a:solidFill>
                      <a:srgbClr val="EFEFEF"/>
                    </a:solidFill>
                  </a:tcPr>
                </a:tc>
                <a:tc>
                  <a:txBody>
                    <a:bodyPr/>
                    <a:lstStyle/>
                    <a:p>
                      <a:pPr algn="ctr">
                        <a:defRPr sz="1000">
                          <a:latin typeface="Montserrat"/>
                        </a:defRPr>
                      </a:pPr>
                      <a:r>
                        <a:t>22,872</a:t>
                      </a:r>
                    </a:p>
                  </a:txBody>
                  <a:tcPr marL="0" marR="0" marT="0" marB="0">
                    <a:solidFill>
                      <a:srgbClr val="EFEFEF"/>
                    </a:solidFill>
                  </a:tcPr>
                </a:tc>
                <a:tc>
                  <a:txBody>
                    <a:bodyPr/>
                    <a:lstStyle/>
                    <a:p>
                      <a:pPr algn="ctr">
                        <a:defRPr sz="1000">
                          <a:latin typeface="Montserrat"/>
                        </a:defRPr>
                      </a:pPr>
                      <a:r>
                        <a:t>1,171</a:t>
                      </a:r>
                    </a:p>
                  </a:txBody>
                  <a:tcPr marL="0" marR="0" marT="0" marB="0">
                    <a:solidFill>
                      <a:srgbClr val="EFEFEF"/>
                    </a:solidFill>
                  </a:tcPr>
                </a:tc>
                <a:tc>
                  <a:txBody>
                    <a:bodyPr/>
                    <a:lstStyle/>
                    <a:p>
                      <a:pPr algn="ctr">
                        <a:defRPr sz="1000">
                          <a:latin typeface="Montserrat"/>
                        </a:defRPr>
                      </a:pPr>
                      <a:r>
                        <a:t>9,832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17 Villa Juárez</a:t>
                      </a:r>
                    </a:p>
                  </a:txBody>
                  <a:tcPr marL="0" marR="0" marT="0" marB="0">
                    <a:solidFill>
                      <a:srgbClr val="FFFFFF"/>
                    </a:solidFill>
                  </a:tcPr>
                </a:tc>
                <a:tc>
                  <a:txBody>
                    <a:bodyPr/>
                    <a:lstStyle/>
                    <a:p>
                      <a:pPr algn="ctr">
                        <a:defRPr sz="1000">
                          <a:latin typeface="Montserrat"/>
                        </a:defRPr>
                      </a:pPr>
                      <a:r>
                        <a:t>26,728</a:t>
                      </a:r>
                    </a:p>
                  </a:txBody>
                  <a:tcPr marL="0" marR="0" marT="0" marB="0">
                    <a:solidFill>
                      <a:srgbClr val="FFFFFF"/>
                    </a:solidFill>
                  </a:tcPr>
                </a:tc>
                <a:tc>
                  <a:txBody>
                    <a:bodyPr/>
                    <a:lstStyle/>
                    <a:p>
                      <a:pPr algn="ctr">
                        <a:defRPr sz="1000">
                          <a:latin typeface="Montserrat"/>
                        </a:defRPr>
                      </a:pPr>
                      <a:r>
                        <a:t>2,467</a:t>
                      </a:r>
                    </a:p>
                  </a:txBody>
                  <a:tcPr marL="0" marR="0" marT="0" marB="0">
                    <a:solidFill>
                      <a:srgbClr val="FFFFFF"/>
                    </a:solidFill>
                  </a:tcPr>
                </a:tc>
                <a:tc>
                  <a:txBody>
                    <a:bodyPr/>
                    <a:lstStyle/>
                    <a:p>
                      <a:pPr algn="ctr">
                        <a:defRPr sz="1000">
                          <a:latin typeface="Montserrat"/>
                        </a:defRPr>
                      </a:pPr>
                      <a:r>
                        <a:t>11,376</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43.8%</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14 Bacobampo</a:t>
                      </a:r>
                    </a:p>
                  </a:txBody>
                  <a:tcPr marL="0" marR="0" marT="0" marB="0">
                    <a:solidFill>
                      <a:srgbClr val="EFEFEF"/>
                    </a:solidFill>
                  </a:tcPr>
                </a:tc>
                <a:tc>
                  <a:txBody>
                    <a:bodyPr/>
                    <a:lstStyle/>
                    <a:p>
                      <a:pPr algn="ctr">
                        <a:defRPr sz="1000">
                          <a:latin typeface="Montserrat"/>
                        </a:defRPr>
                      </a:pPr>
                      <a:r>
                        <a:t>12,242</a:t>
                      </a:r>
                    </a:p>
                  </a:txBody>
                  <a:tcPr marL="0" marR="0" marT="0" marB="0">
                    <a:solidFill>
                      <a:srgbClr val="EFEFEF"/>
                    </a:solidFill>
                  </a:tcPr>
                </a:tc>
                <a:tc>
                  <a:txBody>
                    <a:bodyPr/>
                    <a:lstStyle/>
                    <a:p>
                      <a:pPr algn="ctr">
                        <a:defRPr sz="1000">
                          <a:latin typeface="Montserrat"/>
                        </a:defRPr>
                      </a:pPr>
                      <a:r>
                        <a:t>1,076</a:t>
                      </a:r>
                    </a:p>
                  </a:txBody>
                  <a:tcPr marL="0" marR="0" marT="0" marB="0">
                    <a:solidFill>
                      <a:srgbClr val="EFEFEF"/>
                    </a:solidFill>
                  </a:tcPr>
                </a:tc>
                <a:tc>
                  <a:txBody>
                    <a:bodyPr/>
                    <a:lstStyle/>
                    <a:p>
                      <a:pPr algn="ctr">
                        <a:defRPr sz="1000">
                          <a:latin typeface="Montserrat"/>
                        </a:defRPr>
                      </a:pPr>
                      <a:r>
                        <a:t>6,156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47.4%</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l">
                        <a:defRPr sz="1000">
                          <a:latin typeface="Montserrat"/>
                        </a:defRPr>
                      </a:pPr>
                      <a:r>
                        <a:t>UMF 16 San Pedro</a:t>
                      </a:r>
                    </a:p>
                  </a:txBody>
                  <a:tcPr marL="0" marR="0" marT="0" marB="0">
                    <a:solidFill>
                      <a:srgbClr val="FFFFFF"/>
                    </a:solidFill>
                  </a:tcPr>
                </a:tc>
                <a:tc>
                  <a:txBody>
                    <a:bodyPr/>
                    <a:lstStyle/>
                    <a:p>
                      <a:pPr algn="ctr">
                        <a:defRPr sz="1000">
                          <a:latin typeface="Montserrat"/>
                        </a:defRPr>
                      </a:pPr>
                      <a:r>
                        <a:t>7,570</a:t>
                      </a:r>
                    </a:p>
                  </a:txBody>
                  <a:tcPr marL="0" marR="0" marT="0" marB="0">
                    <a:solidFill>
                      <a:srgbClr val="FFFFFF"/>
                    </a:solidFill>
                  </a:tcPr>
                </a:tc>
                <a:tc>
                  <a:txBody>
                    <a:bodyPr/>
                    <a:lstStyle/>
                    <a:p>
                      <a:pPr algn="ctr">
                        <a:defRPr sz="1000">
                          <a:latin typeface="Montserrat"/>
                        </a:defRPr>
                      </a:pPr>
                      <a:r>
                        <a:t>84</a:t>
                      </a:r>
                    </a:p>
                  </a:txBody>
                  <a:tcPr marL="0" marR="0" marT="0" marB="0">
                    <a:solidFill>
                      <a:srgbClr val="FFFFFF"/>
                    </a:solidFill>
                  </a:tcPr>
                </a:tc>
                <a:tc>
                  <a:txBody>
                    <a:bodyPr/>
                    <a:lstStyle/>
                    <a:p>
                      <a:pPr algn="ctr">
                        <a:defRPr sz="1000">
                          <a:latin typeface="Montserrat"/>
                        </a:defRPr>
                      </a:pPr>
                      <a:r>
                        <a:t>3,516</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extLst>
                  <a:ext uri="{0D108BD9-81ED-4DB2-BD59-A6C34878D82A}">
                    <a16:rowId xmlns:a16="http://schemas.microsoft.com/office/drawing/2014/main" val="10011"/>
                  </a:ext>
                </a:extLst>
              </a:tr>
              <a:tr h="151200">
                <a:tc>
                  <a:txBody>
                    <a:bodyPr/>
                    <a:lstStyle/>
                    <a:p>
                      <a:pPr algn="l">
                        <a:defRPr sz="1000">
                          <a:latin typeface="Montserrat"/>
                        </a:defRPr>
                      </a:pPr>
                      <a:r>
                        <a:t>UMF 18 C. Militar</a:t>
                      </a:r>
                    </a:p>
                  </a:txBody>
                  <a:tcPr marL="0" marR="0" marT="0" marB="0">
                    <a:solidFill>
                      <a:srgbClr val="EFEFEF"/>
                    </a:solidFill>
                  </a:tcPr>
                </a:tc>
                <a:tc>
                  <a:txBody>
                    <a:bodyPr/>
                    <a:lstStyle/>
                    <a:p>
                      <a:pPr algn="ctr">
                        <a:defRPr sz="1000">
                          <a:latin typeface="Montserrat"/>
                        </a:defRPr>
                      </a:pPr>
                      <a:r>
                        <a:t>13,956</a:t>
                      </a:r>
                    </a:p>
                  </a:txBody>
                  <a:tcPr marL="0" marR="0" marT="0" marB="0">
                    <a:solidFill>
                      <a:srgbClr val="EFEFEF"/>
                    </a:solidFill>
                  </a:tcPr>
                </a:tc>
                <a:tc>
                  <a:txBody>
                    <a:bodyPr/>
                    <a:lstStyle/>
                    <a:p>
                      <a:pPr algn="ctr">
                        <a:defRPr sz="1000">
                          <a:latin typeface="Montserrat"/>
                        </a:defRPr>
                      </a:pPr>
                      <a:r>
                        <a:t>1,724</a:t>
                      </a:r>
                    </a:p>
                  </a:txBody>
                  <a:tcPr marL="0" marR="0" marT="0" marB="0">
                    <a:solidFill>
                      <a:srgbClr val="EFEFEF"/>
                    </a:solidFill>
                  </a:tcPr>
                </a:tc>
                <a:tc>
                  <a:txBody>
                    <a:bodyPr/>
                    <a:lstStyle/>
                    <a:p>
                      <a:pPr algn="ctr">
                        <a:defRPr sz="1000">
                          <a:latin typeface="Montserrat"/>
                        </a:defRPr>
                      </a:pPr>
                      <a:r>
                        <a:t>5,937</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extLst>
                  <a:ext uri="{0D108BD9-81ED-4DB2-BD59-A6C34878D82A}">
                    <a16:rowId xmlns:a16="http://schemas.microsoft.com/office/drawing/2014/main" val="10012"/>
                  </a:ext>
                </a:extLst>
              </a:tr>
              <a:tr h="151200">
                <a:tc>
                  <a:txBody>
                    <a:bodyPr/>
                    <a:lstStyle/>
                    <a:p>
                      <a:pPr algn="l">
                        <a:defRPr sz="1000">
                          <a:latin typeface="Montserrat"/>
                        </a:defRPr>
                      </a:pPr>
                      <a:r>
                        <a:t>UMF 20 Jupare</a:t>
                      </a:r>
                    </a:p>
                  </a:txBody>
                  <a:tcPr marL="0" marR="0" marT="0" marB="0">
                    <a:solidFill>
                      <a:srgbClr val="FFFFFF"/>
                    </a:solidFill>
                  </a:tcPr>
                </a:tc>
                <a:tc>
                  <a:txBody>
                    <a:bodyPr/>
                    <a:lstStyle/>
                    <a:p>
                      <a:pPr algn="ctr">
                        <a:defRPr sz="1000">
                          <a:latin typeface="Montserrat"/>
                        </a:defRPr>
                      </a:pPr>
                      <a:r>
                        <a:t>6,526</a:t>
                      </a:r>
                    </a:p>
                  </a:txBody>
                  <a:tcPr marL="0" marR="0" marT="0" marB="0">
                    <a:solidFill>
                      <a:srgbClr val="FFFFFF"/>
                    </a:solidFill>
                  </a:tcPr>
                </a:tc>
                <a:tc>
                  <a:txBody>
                    <a:bodyPr/>
                    <a:lstStyle/>
                    <a:p>
                      <a:pPr algn="ctr">
                        <a:defRPr sz="1000">
                          <a:latin typeface="Montserrat"/>
                        </a:defRPr>
                      </a:pPr>
                      <a:r>
                        <a:t>314</a:t>
                      </a:r>
                    </a:p>
                  </a:txBody>
                  <a:tcPr marL="0" marR="0" marT="0" marB="0">
                    <a:solidFill>
                      <a:srgbClr val="FFFFFF"/>
                    </a:solidFill>
                  </a:tcPr>
                </a:tc>
                <a:tc>
                  <a:txBody>
                    <a:bodyPr/>
                    <a:lstStyle/>
                    <a:p>
                      <a:pPr algn="ctr">
                        <a:defRPr sz="1000">
                          <a:latin typeface="Montserrat"/>
                        </a:defRPr>
                      </a:pPr>
                      <a:r>
                        <a:t>2,904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extLst>
                  <a:ext uri="{0D108BD9-81ED-4DB2-BD59-A6C34878D82A}">
                    <a16:rowId xmlns:a16="http://schemas.microsoft.com/office/drawing/2014/main" val="10013"/>
                  </a:ext>
                </a:extLst>
              </a:tr>
              <a:tr h="151200">
                <a:tc>
                  <a:txBody>
                    <a:bodyPr/>
                    <a:lstStyle/>
                    <a:p>
                      <a:pPr algn="l">
                        <a:defRPr sz="1000">
                          <a:latin typeface="Montserrat"/>
                        </a:defRPr>
                      </a:pPr>
                      <a:r>
                        <a:t>UMF 24 Santa Ana</a:t>
                      </a:r>
                    </a:p>
                  </a:txBody>
                  <a:tcPr marL="0" marR="0" marT="0" marB="0">
                    <a:solidFill>
                      <a:srgbClr val="EFEFEF"/>
                    </a:solidFill>
                  </a:tcPr>
                </a:tc>
                <a:tc>
                  <a:txBody>
                    <a:bodyPr/>
                    <a:lstStyle/>
                    <a:p>
                      <a:pPr algn="ctr">
                        <a:defRPr sz="1000">
                          <a:latin typeface="Montserrat"/>
                        </a:defRPr>
                      </a:pPr>
                      <a:r>
                        <a:t>10,160</a:t>
                      </a:r>
                    </a:p>
                  </a:txBody>
                  <a:tcPr marL="0" marR="0" marT="0" marB="0">
                    <a:solidFill>
                      <a:srgbClr val="EFEFEF"/>
                    </a:solidFill>
                  </a:tcPr>
                </a:tc>
                <a:tc>
                  <a:txBody>
                    <a:bodyPr/>
                    <a:lstStyle/>
                    <a:p>
                      <a:pPr algn="ctr">
                        <a:defRPr sz="1000">
                          <a:latin typeface="Montserrat"/>
                        </a:defRPr>
                      </a:pPr>
                      <a:r>
                        <a:t>758</a:t>
                      </a:r>
                    </a:p>
                  </a:txBody>
                  <a:tcPr marL="0" marR="0" marT="0" marB="0">
                    <a:solidFill>
                      <a:srgbClr val="EFEFEF"/>
                    </a:solidFill>
                  </a:tcPr>
                </a:tc>
                <a:tc>
                  <a:txBody>
                    <a:bodyPr/>
                    <a:lstStyle/>
                    <a:p>
                      <a:pPr algn="ctr">
                        <a:defRPr sz="1000">
                          <a:latin typeface="Montserrat"/>
                        </a:defRPr>
                      </a:pPr>
                      <a:r>
                        <a:t>5,276</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44.0%</a:t>
                      </a:r>
                    </a:p>
                  </a:txBody>
                  <a:tcPr marL="0" marR="0" marT="0" marB="0">
                    <a:solidFill>
                      <a:srgbClr val="ECD3D9"/>
                    </a:solidFill>
                  </a:tcPr>
                </a:tc>
                <a:extLst>
                  <a:ext uri="{0D108BD9-81ED-4DB2-BD59-A6C34878D82A}">
                    <a16:rowId xmlns:a16="http://schemas.microsoft.com/office/drawing/2014/main" val="10014"/>
                  </a:ext>
                </a:extLst>
              </a:tr>
              <a:tr h="151200">
                <a:tc>
                  <a:txBody>
                    <a:bodyPr/>
                    <a:lstStyle/>
                    <a:p>
                      <a:pPr algn="l">
                        <a:defRPr sz="1000">
                          <a:latin typeface="Montserrat"/>
                        </a:defRPr>
                      </a:pPr>
                      <a:r>
                        <a:t>UMF 21 Magdalena</a:t>
                      </a:r>
                    </a:p>
                  </a:txBody>
                  <a:tcPr marL="0" marR="0" marT="0" marB="0">
                    <a:solidFill>
                      <a:srgbClr val="FFFFFF"/>
                    </a:solidFill>
                  </a:tcPr>
                </a:tc>
                <a:tc>
                  <a:txBody>
                    <a:bodyPr/>
                    <a:lstStyle/>
                    <a:p>
                      <a:pPr algn="ctr">
                        <a:defRPr sz="1000">
                          <a:latin typeface="Montserrat"/>
                        </a:defRPr>
                      </a:pPr>
                      <a:r>
                        <a:t>27,519</a:t>
                      </a:r>
                    </a:p>
                  </a:txBody>
                  <a:tcPr marL="0" marR="0" marT="0" marB="0">
                    <a:solidFill>
                      <a:srgbClr val="FFFFFF"/>
                    </a:solidFill>
                  </a:tcPr>
                </a:tc>
                <a:tc>
                  <a:txBody>
                    <a:bodyPr/>
                    <a:lstStyle/>
                    <a:p>
                      <a:pPr algn="ctr">
                        <a:defRPr sz="1000">
                          <a:latin typeface="Montserrat"/>
                        </a:defRPr>
                      </a:pPr>
                      <a:r>
                        <a:t>914</a:t>
                      </a:r>
                    </a:p>
                  </a:txBody>
                  <a:tcPr marL="0" marR="0" marT="0" marB="0">
                    <a:solidFill>
                      <a:srgbClr val="FFFFFF"/>
                    </a:solidFill>
                  </a:tcPr>
                </a:tc>
                <a:tc>
                  <a:txBody>
                    <a:bodyPr/>
                    <a:lstStyle/>
                    <a:p>
                      <a:pPr algn="ctr">
                        <a:defRPr sz="1000">
                          <a:latin typeface="Montserrat"/>
                        </a:defRPr>
                      </a:pPr>
                      <a:r>
                        <a:t>13,179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35.1%</a:t>
                      </a:r>
                    </a:p>
                  </a:txBody>
                  <a:tcPr marL="0" marR="0" marT="0" marB="0">
                    <a:solidFill>
                      <a:srgbClr val="ECD3D9"/>
                    </a:solidFill>
                  </a:tcPr>
                </a:tc>
                <a:extLst>
                  <a:ext uri="{0D108BD9-81ED-4DB2-BD59-A6C34878D82A}">
                    <a16:rowId xmlns:a16="http://schemas.microsoft.com/office/drawing/2014/main" val="10015"/>
                  </a:ext>
                </a:extLst>
              </a:tr>
              <a:tr h="151200">
                <a:tc>
                  <a:txBody>
                    <a:bodyPr/>
                    <a:lstStyle/>
                    <a:p>
                      <a:pPr algn="l">
                        <a:defRPr sz="1000">
                          <a:latin typeface="Montserrat"/>
                        </a:defRPr>
                      </a:pPr>
                      <a:r>
                        <a:t>UMF 22 Pitiquito</a:t>
                      </a:r>
                    </a:p>
                  </a:txBody>
                  <a:tcPr marL="0" marR="0" marT="0" marB="0">
                    <a:solidFill>
                      <a:srgbClr val="EFEFEF"/>
                    </a:solidFill>
                  </a:tcPr>
                </a:tc>
                <a:tc>
                  <a:txBody>
                    <a:bodyPr/>
                    <a:lstStyle/>
                    <a:p>
                      <a:pPr algn="ctr">
                        <a:defRPr sz="1000">
                          <a:latin typeface="Montserrat"/>
                        </a:defRPr>
                      </a:pPr>
                      <a:r>
                        <a:t>7,199</a:t>
                      </a:r>
                    </a:p>
                  </a:txBody>
                  <a:tcPr marL="0" marR="0" marT="0" marB="0">
                    <a:solidFill>
                      <a:srgbClr val="EFEFEF"/>
                    </a:solidFill>
                  </a:tcPr>
                </a:tc>
                <a:tc>
                  <a:txBody>
                    <a:bodyPr/>
                    <a:lstStyle/>
                    <a:p>
                      <a:pPr algn="ctr">
                        <a:defRPr sz="1000">
                          <a:latin typeface="Montserrat"/>
                        </a:defRPr>
                      </a:pPr>
                      <a:r>
                        <a:t>16</a:t>
                      </a:r>
                    </a:p>
                  </a:txBody>
                  <a:tcPr marL="0" marR="0" marT="0" marB="0">
                    <a:solidFill>
                      <a:srgbClr val="EFEFEF"/>
                    </a:solidFill>
                  </a:tcPr>
                </a:tc>
                <a:tc>
                  <a:txBody>
                    <a:bodyPr/>
                    <a:lstStyle/>
                    <a:p>
                      <a:pPr algn="ctr">
                        <a:defRPr sz="1000">
                          <a:latin typeface="Montserrat"/>
                        </a:defRPr>
                      </a:pPr>
                      <a:r>
                        <a:t>3,138</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extLst>
                  <a:ext uri="{0D108BD9-81ED-4DB2-BD59-A6C34878D82A}">
                    <a16:rowId xmlns:a16="http://schemas.microsoft.com/office/drawing/2014/main" val="10016"/>
                  </a:ext>
                </a:extLst>
              </a:tr>
              <a:tr h="151200">
                <a:tc>
                  <a:txBody>
                    <a:bodyPr/>
                    <a:lstStyle/>
                    <a:p>
                      <a:pPr algn="l">
                        <a:defRPr sz="1000">
                          <a:latin typeface="Montserrat"/>
                        </a:defRPr>
                      </a:pPr>
                      <a:r>
                        <a:t>UMFH 9 Luis B. Sánchez</a:t>
                      </a:r>
                    </a:p>
                  </a:txBody>
                  <a:tcPr marL="0" marR="0" marT="0" marB="0">
                    <a:solidFill>
                      <a:srgbClr val="FFFFFF"/>
                    </a:solidFill>
                  </a:tcPr>
                </a:tc>
                <a:tc>
                  <a:txBody>
                    <a:bodyPr/>
                    <a:lstStyle/>
                    <a:p>
                      <a:pPr algn="ctr">
                        <a:defRPr sz="1000">
                          <a:latin typeface="Montserrat"/>
                        </a:defRPr>
                      </a:pPr>
                      <a:r>
                        <a:t>18,064</a:t>
                      </a:r>
                    </a:p>
                  </a:txBody>
                  <a:tcPr marL="0" marR="0" marT="0" marB="0">
                    <a:solidFill>
                      <a:srgbClr val="FFFFFF"/>
                    </a:solidFill>
                  </a:tcPr>
                </a:tc>
                <a:tc>
                  <a:txBody>
                    <a:bodyPr/>
                    <a:lstStyle/>
                    <a:p>
                      <a:pPr algn="ctr">
                        <a:defRPr sz="1000">
                          <a:latin typeface="Montserrat"/>
                        </a:defRPr>
                      </a:pPr>
                      <a:r>
                        <a:t>138</a:t>
                      </a:r>
                    </a:p>
                  </a:txBody>
                  <a:tcPr marL="0" marR="0" marT="0" marB="0">
                    <a:solidFill>
                      <a:srgbClr val="FFFFFF"/>
                    </a:solidFill>
                  </a:tcPr>
                </a:tc>
                <a:tc>
                  <a:txBody>
                    <a:bodyPr/>
                    <a:lstStyle/>
                    <a:p>
                      <a:pPr algn="ctr">
                        <a:defRPr sz="1000">
                          <a:latin typeface="Montserrat"/>
                        </a:defRPr>
                      </a:pPr>
                      <a:r>
                        <a:t>7,793</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extLst>
                  <a:ext uri="{0D108BD9-81ED-4DB2-BD59-A6C34878D82A}">
                    <a16:rowId xmlns:a16="http://schemas.microsoft.com/office/drawing/2014/main" val="10017"/>
                  </a:ext>
                </a:extLst>
              </a:tr>
              <a:tr h="151200">
                <a:tc>
                  <a:txBody>
                    <a:bodyPr/>
                    <a:lstStyle/>
                    <a:p>
                      <a:pPr algn="l">
                        <a:defRPr sz="1000">
                          <a:latin typeface="Montserrat"/>
                        </a:defRPr>
                      </a:pPr>
                      <a:r>
                        <a:t>UMF 32 El Coyote</a:t>
                      </a:r>
                    </a:p>
                  </a:txBody>
                  <a:tcPr marL="0" marR="0" marT="0" marB="0">
                    <a:solidFill>
                      <a:srgbClr val="EFEFEF"/>
                    </a:solidFill>
                  </a:tcPr>
                </a:tc>
                <a:tc>
                  <a:txBody>
                    <a:bodyPr/>
                    <a:lstStyle/>
                    <a:p>
                      <a:pPr algn="ctr">
                        <a:defRPr sz="1000">
                          <a:latin typeface="Montserrat"/>
                        </a:defRPr>
                      </a:pPr>
                      <a:r>
                        <a:t>9,503</a:t>
                      </a:r>
                    </a:p>
                  </a:txBody>
                  <a:tcPr marL="0" marR="0" marT="0" marB="0">
                    <a:solidFill>
                      <a:srgbClr val="EFEFEF"/>
                    </a:solidFill>
                  </a:tcPr>
                </a:tc>
                <a:tc>
                  <a:txBody>
                    <a:bodyPr/>
                    <a:lstStyle/>
                    <a:p>
                      <a:pPr algn="ctr">
                        <a:defRPr sz="1000">
                          <a:latin typeface="Montserrat"/>
                        </a:defRPr>
                      </a:pPr>
                      <a:r>
                        <a:t>607</a:t>
                      </a:r>
                    </a:p>
                  </a:txBody>
                  <a:tcPr marL="0" marR="0" marT="0" marB="0">
                    <a:solidFill>
                      <a:srgbClr val="EFEFEF"/>
                    </a:solidFill>
                  </a:tcPr>
                </a:tc>
                <a:tc>
                  <a:txBody>
                    <a:bodyPr/>
                    <a:lstStyle/>
                    <a:p>
                      <a:pPr algn="ctr">
                        <a:defRPr sz="1000">
                          <a:latin typeface="Montserrat"/>
                        </a:defRPr>
                      </a:pPr>
                      <a:r>
                        <a:t>4,125</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extLst>
                  <a:ext uri="{0D108BD9-81ED-4DB2-BD59-A6C34878D82A}">
                    <a16:rowId xmlns:a16="http://schemas.microsoft.com/office/drawing/2014/main" val="10018"/>
                  </a:ext>
                </a:extLst>
              </a:tr>
              <a:tr h="151200">
                <a:tc>
                  <a:txBody>
                    <a:bodyPr/>
                    <a:lstStyle/>
                    <a:p>
                      <a:pPr algn="l">
                        <a:defRPr sz="1000">
                          <a:latin typeface="Montserrat"/>
                        </a:defRPr>
                      </a:pPr>
                      <a:r>
                        <a:t>UMF 26 Yavaros</a:t>
                      </a:r>
                    </a:p>
                  </a:txBody>
                  <a:tcPr marL="0" marR="0" marT="0" marB="0">
                    <a:solidFill>
                      <a:srgbClr val="FFFFFF"/>
                    </a:solidFill>
                  </a:tcPr>
                </a:tc>
                <a:tc>
                  <a:txBody>
                    <a:bodyPr/>
                    <a:lstStyle/>
                    <a:p>
                      <a:pPr algn="ctr">
                        <a:defRPr sz="1000">
                          <a:latin typeface="Montserrat"/>
                        </a:defRPr>
                      </a:pPr>
                      <a:r>
                        <a:t>6,457</a:t>
                      </a:r>
                    </a:p>
                  </a:txBody>
                  <a:tcPr marL="0" marR="0" marT="0" marB="0">
                    <a:solidFill>
                      <a:srgbClr val="FFFFFF"/>
                    </a:solidFill>
                  </a:tcPr>
                </a:tc>
                <a:tc>
                  <a:txBody>
                    <a:bodyPr/>
                    <a:lstStyle/>
                    <a:p>
                      <a:pPr algn="ctr">
                        <a:defRPr sz="1000">
                          <a:latin typeface="Montserrat"/>
                        </a:defRPr>
                      </a:pPr>
                      <a:r>
                        <a:t>211</a:t>
                      </a:r>
                    </a:p>
                  </a:txBody>
                  <a:tcPr marL="0" marR="0" marT="0" marB="0">
                    <a:solidFill>
                      <a:srgbClr val="FFFFFF"/>
                    </a:solidFill>
                  </a:tcPr>
                </a:tc>
                <a:tc>
                  <a:txBody>
                    <a:bodyPr/>
                    <a:lstStyle/>
                    <a:p>
                      <a:pPr algn="ctr">
                        <a:defRPr sz="1000">
                          <a:latin typeface="Montserrat"/>
                        </a:defRPr>
                      </a:pPr>
                      <a:r>
                        <a:t>3,387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42.3%</a:t>
                      </a:r>
                    </a:p>
                  </a:txBody>
                  <a:tcPr marL="0" marR="0" marT="0" marB="0">
                    <a:solidFill>
                      <a:srgbClr val="ECD3D9"/>
                    </a:solidFill>
                  </a:tcPr>
                </a:tc>
                <a:extLst>
                  <a:ext uri="{0D108BD9-81ED-4DB2-BD59-A6C34878D82A}">
                    <a16:rowId xmlns:a16="http://schemas.microsoft.com/office/drawing/2014/main" val="10019"/>
                  </a:ext>
                </a:extLst>
              </a:tr>
              <a:tr h="151200">
                <a:tc>
                  <a:txBody>
                    <a:bodyPr/>
                    <a:lstStyle/>
                    <a:p>
                      <a:pPr algn="l">
                        <a:defRPr sz="1000">
                          <a:latin typeface="Montserrat"/>
                        </a:defRPr>
                      </a:pPr>
                      <a:r>
                        <a:t>UMF 13 Palma</a:t>
                      </a:r>
                    </a:p>
                  </a:txBody>
                  <a:tcPr marL="0" marR="0" marT="0" marB="0">
                    <a:solidFill>
                      <a:srgbClr val="EFEFEF"/>
                    </a:solidFill>
                  </a:tcPr>
                </a:tc>
                <a:tc>
                  <a:txBody>
                    <a:bodyPr/>
                    <a:lstStyle/>
                    <a:p>
                      <a:pPr algn="ctr">
                        <a:defRPr sz="1000">
                          <a:latin typeface="Montserrat"/>
                        </a:defRPr>
                      </a:pPr>
                      <a:r>
                        <a:t>15,580</a:t>
                      </a:r>
                    </a:p>
                  </a:txBody>
                  <a:tcPr marL="0" marR="0" marT="0" marB="0">
                    <a:solidFill>
                      <a:srgbClr val="EFEFEF"/>
                    </a:solidFill>
                  </a:tcPr>
                </a:tc>
                <a:tc>
                  <a:txBody>
                    <a:bodyPr/>
                    <a:lstStyle/>
                    <a:p>
                      <a:pPr algn="ctr">
                        <a:defRPr sz="1000">
                          <a:latin typeface="Montserrat"/>
                        </a:defRPr>
                      </a:pPr>
                      <a:r>
                        <a:t>5,928</a:t>
                      </a:r>
                    </a:p>
                  </a:txBody>
                  <a:tcPr marL="0" marR="0" marT="0" marB="0">
                    <a:solidFill>
                      <a:srgbClr val="EFEFEF"/>
                    </a:solidFill>
                  </a:tcPr>
                </a:tc>
                <a:tc>
                  <a:txBody>
                    <a:bodyPr/>
                    <a:lstStyle/>
                    <a:p>
                      <a:pPr algn="ctr">
                        <a:defRPr sz="1000">
                          <a:latin typeface="Montserrat"/>
                        </a:defRPr>
                      </a:pPr>
                      <a:r>
                        <a:t>8,952</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56.0%</a:t>
                      </a:r>
                    </a:p>
                  </a:txBody>
                  <a:tcPr marL="0" marR="0" marT="0" marB="0">
                    <a:solidFill>
                      <a:srgbClr val="ECD3D9"/>
                    </a:solidFill>
                  </a:tcPr>
                </a:tc>
                <a:extLst>
                  <a:ext uri="{0D108BD9-81ED-4DB2-BD59-A6C34878D82A}">
                    <a16:rowId xmlns:a16="http://schemas.microsoft.com/office/drawing/2014/main" val="10020"/>
                  </a:ext>
                </a:extLst>
              </a:tr>
              <a:tr h="151200">
                <a:tc>
                  <a:txBody>
                    <a:bodyPr/>
                    <a:lstStyle/>
                    <a:p>
                      <a:pPr algn="l">
                        <a:defRPr sz="1000">
                          <a:latin typeface="Montserrat"/>
                        </a:defRPr>
                      </a:pPr>
                      <a:r>
                        <a:t>UMF 38 Altar</a:t>
                      </a:r>
                    </a:p>
                  </a:txBody>
                  <a:tcPr marL="0" marR="0" marT="0" marB="0">
                    <a:solidFill>
                      <a:srgbClr val="FFFFFF"/>
                    </a:solidFill>
                  </a:tcPr>
                </a:tc>
                <a:tc>
                  <a:txBody>
                    <a:bodyPr/>
                    <a:lstStyle/>
                    <a:p>
                      <a:pPr algn="ctr">
                        <a:defRPr sz="1000">
                          <a:latin typeface="Montserrat"/>
                        </a:defRPr>
                      </a:pPr>
                      <a:r>
                        <a:t>3,542</a:t>
                      </a:r>
                    </a:p>
                  </a:txBody>
                  <a:tcPr marL="0" marR="0" marT="0" marB="0">
                    <a:solidFill>
                      <a:srgbClr val="FFFFFF"/>
                    </a:solidFill>
                  </a:tcPr>
                </a:tc>
                <a:tc>
                  <a:txBody>
                    <a:bodyPr/>
                    <a:lstStyle/>
                    <a:p>
                      <a:pPr algn="ctr">
                        <a:defRPr sz="1000">
                          <a:latin typeface="Montserrat"/>
                        </a:defRPr>
                      </a:pPr>
                      <a:r>
                        <a:t>461</a:t>
                      </a:r>
                    </a:p>
                  </a:txBody>
                  <a:tcPr marL="0" marR="0" marT="0" marB="0">
                    <a:solidFill>
                      <a:srgbClr val="FFFFFF"/>
                    </a:solidFill>
                  </a:tcPr>
                </a:tc>
                <a:tc>
                  <a:txBody>
                    <a:bodyPr/>
                    <a:lstStyle/>
                    <a:p>
                      <a:pPr algn="ctr">
                        <a:defRPr sz="1000">
                          <a:latin typeface="Montserrat"/>
                        </a:defRPr>
                      </a:pPr>
                      <a:r>
                        <a:t>1,644</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extLst>
                  <a:ext uri="{0D108BD9-81ED-4DB2-BD59-A6C34878D82A}">
                    <a16:rowId xmlns:a16="http://schemas.microsoft.com/office/drawing/2014/main" val="10021"/>
                  </a:ext>
                </a:extLst>
              </a:tr>
              <a:tr h="151200">
                <a:tc>
                  <a:txBody>
                    <a:bodyPr/>
                    <a:lstStyle/>
                    <a:p>
                      <a:pPr algn="l">
                        <a:defRPr sz="1000">
                          <a:latin typeface="Montserrat"/>
                        </a:defRPr>
                      </a:pPr>
                      <a:r>
                        <a:t>UMF 30 José Bacum</a:t>
                      </a:r>
                    </a:p>
                  </a:txBody>
                  <a:tcPr marL="0" marR="0" marT="0" marB="0">
                    <a:solidFill>
                      <a:srgbClr val="EFEFEF"/>
                    </a:solidFill>
                  </a:tcPr>
                </a:tc>
                <a:tc>
                  <a:txBody>
                    <a:bodyPr/>
                    <a:lstStyle/>
                    <a:p>
                      <a:pPr algn="ctr">
                        <a:defRPr sz="1000">
                          <a:latin typeface="Montserrat"/>
                        </a:defRPr>
                      </a:pPr>
                      <a:r>
                        <a:t>10,458</a:t>
                      </a:r>
                    </a:p>
                  </a:txBody>
                  <a:tcPr marL="0" marR="0" marT="0" marB="0">
                    <a:solidFill>
                      <a:srgbClr val="EFEFEF"/>
                    </a:solidFill>
                  </a:tcPr>
                </a:tc>
                <a:tc>
                  <a:txBody>
                    <a:bodyPr/>
                    <a:lstStyle/>
                    <a:p>
                      <a:pPr algn="ctr">
                        <a:defRPr sz="1000">
                          <a:latin typeface="Montserrat"/>
                        </a:defRPr>
                      </a:pPr>
                      <a:r>
                        <a:t>2,495</a:t>
                      </a:r>
                    </a:p>
                  </a:txBody>
                  <a:tcPr marL="0" marR="0" marT="0" marB="0">
                    <a:solidFill>
                      <a:srgbClr val="EFEFEF"/>
                    </a:solidFill>
                  </a:tcPr>
                </a:tc>
                <a:tc>
                  <a:txBody>
                    <a:bodyPr/>
                    <a:lstStyle/>
                    <a:p>
                      <a:pPr algn="ctr">
                        <a:defRPr sz="1000">
                          <a:latin typeface="Montserrat"/>
                        </a:defRPr>
                      </a:pPr>
                      <a:r>
                        <a:t>4,922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extLst>
                  <a:ext uri="{0D108BD9-81ED-4DB2-BD59-A6C34878D82A}">
                    <a16:rowId xmlns:a16="http://schemas.microsoft.com/office/drawing/2014/main" val="10022"/>
                  </a:ext>
                </a:extLst>
              </a:tr>
              <a:tr h="151200">
                <a:tc>
                  <a:txBody>
                    <a:bodyPr/>
                    <a:lstStyle/>
                    <a:p>
                      <a:pPr algn="l">
                        <a:defRPr sz="1000">
                          <a:latin typeface="Montserrat"/>
                        </a:defRPr>
                      </a:pPr>
                      <a:r>
                        <a:t>UMF 27 Potam</a:t>
                      </a:r>
                    </a:p>
                  </a:txBody>
                  <a:tcPr marL="0" marR="0" marT="0" marB="0">
                    <a:solidFill>
                      <a:srgbClr val="FFFFFF"/>
                    </a:solidFill>
                  </a:tcPr>
                </a:tc>
                <a:tc>
                  <a:txBody>
                    <a:bodyPr/>
                    <a:lstStyle/>
                    <a:p>
                      <a:pPr algn="ctr">
                        <a:defRPr sz="1000">
                          <a:latin typeface="Montserrat"/>
                        </a:defRPr>
                      </a:pPr>
                      <a:r>
                        <a:t>8,999</a:t>
                      </a:r>
                    </a:p>
                  </a:txBody>
                  <a:tcPr marL="0" marR="0" marT="0" marB="0">
                    <a:solidFill>
                      <a:srgbClr val="FFFFFF"/>
                    </a:solidFill>
                  </a:tcPr>
                </a:tc>
                <a:tc>
                  <a:txBody>
                    <a:bodyPr/>
                    <a:lstStyle/>
                    <a:p>
                      <a:pPr algn="ctr">
                        <a:defRPr sz="1000">
                          <a:latin typeface="Montserrat"/>
                        </a:defRPr>
                      </a:pPr>
                      <a:r>
                        <a:t>2,407</a:t>
                      </a:r>
                    </a:p>
                  </a:txBody>
                  <a:tcPr marL="0" marR="0" marT="0" marB="0">
                    <a:solidFill>
                      <a:srgbClr val="FFFFFF"/>
                    </a:solidFill>
                  </a:tcPr>
                </a:tc>
                <a:tc>
                  <a:txBody>
                    <a:bodyPr/>
                    <a:lstStyle/>
                    <a:p>
                      <a:pPr algn="ctr">
                        <a:defRPr sz="1000">
                          <a:latin typeface="Montserrat"/>
                        </a:defRPr>
                      </a:pPr>
                      <a:r>
                        <a:t>4,205</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extLst>
                  <a:ext uri="{0D108BD9-81ED-4DB2-BD59-A6C34878D82A}">
                    <a16:rowId xmlns:a16="http://schemas.microsoft.com/office/drawing/2014/main" val="10023"/>
                  </a:ext>
                </a:extLst>
              </a:tr>
              <a:tr h="151200">
                <a:tc>
                  <a:txBody>
                    <a:bodyPr/>
                    <a:lstStyle/>
                    <a:p>
                      <a:pPr algn="l">
                        <a:defRPr sz="1000">
                          <a:latin typeface="Montserrat"/>
                        </a:defRPr>
                      </a:pPr>
                      <a:r>
                        <a:t>UMFH 11 Vicam</a:t>
                      </a:r>
                    </a:p>
                  </a:txBody>
                  <a:tcPr marL="0" marR="0" marT="0" marB="0">
                    <a:solidFill>
                      <a:srgbClr val="EFEFEF"/>
                    </a:solidFill>
                  </a:tcPr>
                </a:tc>
                <a:tc>
                  <a:txBody>
                    <a:bodyPr/>
                    <a:lstStyle/>
                    <a:p>
                      <a:pPr algn="ctr">
                        <a:defRPr sz="1000">
                          <a:latin typeface="Montserrat"/>
                        </a:defRPr>
                      </a:pPr>
                      <a:r>
                        <a:t>16,676</a:t>
                      </a:r>
                    </a:p>
                  </a:txBody>
                  <a:tcPr marL="0" marR="0" marT="0" marB="0">
                    <a:solidFill>
                      <a:srgbClr val="EFEFEF"/>
                    </a:solidFill>
                  </a:tcPr>
                </a:tc>
                <a:tc>
                  <a:txBody>
                    <a:bodyPr/>
                    <a:lstStyle/>
                    <a:p>
                      <a:pPr algn="ctr">
                        <a:defRPr sz="1000">
                          <a:latin typeface="Montserrat"/>
                        </a:defRPr>
                      </a:pPr>
                      <a:r>
                        <a:t>3,105</a:t>
                      </a:r>
                    </a:p>
                  </a:txBody>
                  <a:tcPr marL="0" marR="0" marT="0" marB="0">
                    <a:solidFill>
                      <a:srgbClr val="EFEFEF"/>
                    </a:solidFill>
                  </a:tcPr>
                </a:tc>
                <a:tc>
                  <a:txBody>
                    <a:bodyPr/>
                    <a:lstStyle/>
                    <a:p>
                      <a:pPr algn="ctr">
                        <a:defRPr sz="1000">
                          <a:latin typeface="Montserrat"/>
                        </a:defRPr>
                      </a:pPr>
                      <a:r>
                        <a:t>7,909</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43.9%</a:t>
                      </a:r>
                    </a:p>
                  </a:txBody>
                  <a:tcPr marL="0" marR="0" marT="0" marB="0">
                    <a:solidFill>
                      <a:srgbClr val="ECD3D9"/>
                    </a:solidFill>
                  </a:tcPr>
                </a:tc>
                <a:extLst>
                  <a:ext uri="{0D108BD9-81ED-4DB2-BD59-A6C34878D82A}">
                    <a16:rowId xmlns:a16="http://schemas.microsoft.com/office/drawing/2014/main" val="10024"/>
                  </a:ext>
                </a:extLst>
              </a:tr>
              <a:tr h="151200">
                <a:tc>
                  <a:txBody>
                    <a:bodyPr/>
                    <a:lstStyle/>
                    <a:p>
                      <a:pPr algn="l">
                        <a:defRPr sz="1000">
                          <a:latin typeface="Montserrat"/>
                        </a:defRPr>
                      </a:pPr>
                      <a:r>
                        <a:t>UMFH 10 Benjamín Hill</a:t>
                      </a:r>
                    </a:p>
                  </a:txBody>
                  <a:tcPr marL="0" marR="0" marT="0" marB="0">
                    <a:solidFill>
                      <a:srgbClr val="FFFFFF"/>
                    </a:solidFill>
                  </a:tcPr>
                </a:tc>
                <a:tc>
                  <a:txBody>
                    <a:bodyPr/>
                    <a:lstStyle/>
                    <a:p>
                      <a:pPr algn="ctr">
                        <a:defRPr sz="1000">
                          <a:latin typeface="Montserrat"/>
                        </a:defRPr>
                      </a:pPr>
                      <a:r>
                        <a:t>6,669</a:t>
                      </a:r>
                    </a:p>
                  </a:txBody>
                  <a:tcPr marL="0" marR="0" marT="0" marB="0">
                    <a:solidFill>
                      <a:srgbClr val="FFFFFF"/>
                    </a:solidFill>
                  </a:tcPr>
                </a:tc>
                <a:tc>
                  <a:txBody>
                    <a:bodyPr/>
                    <a:lstStyle/>
                    <a:p>
                      <a:pPr algn="ctr">
                        <a:defRPr sz="1000">
                          <a:latin typeface="Montserrat"/>
                        </a:defRPr>
                      </a:pPr>
                      <a:r>
                        <a:t>549</a:t>
                      </a:r>
                    </a:p>
                  </a:txBody>
                  <a:tcPr marL="0" marR="0" marT="0" marB="0">
                    <a:solidFill>
                      <a:srgbClr val="FFFFFF"/>
                    </a:solidFill>
                  </a:tcPr>
                </a:tc>
                <a:tc>
                  <a:txBody>
                    <a:bodyPr/>
                    <a:lstStyle/>
                    <a:p>
                      <a:pPr algn="ctr">
                        <a:defRPr sz="1000">
                          <a:latin typeface="Montserrat"/>
                        </a:defRPr>
                      </a:pPr>
                      <a:r>
                        <a:t>3,140</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extLst>
                  <a:ext uri="{0D108BD9-81ED-4DB2-BD59-A6C34878D82A}">
                    <a16:rowId xmlns:a16="http://schemas.microsoft.com/office/drawing/2014/main" val="10025"/>
                  </a:ext>
                </a:extLst>
              </a:tr>
              <a:tr h="151200">
                <a:tc>
                  <a:txBody>
                    <a:bodyPr/>
                    <a:lstStyle/>
                    <a:p>
                      <a:pPr algn="l">
                        <a:defRPr sz="1000">
                          <a:latin typeface="Montserrat"/>
                        </a:defRPr>
                      </a:pPr>
                      <a:r>
                        <a:t>UMF 47 Aconchi</a:t>
                      </a:r>
                    </a:p>
                  </a:txBody>
                  <a:tcPr marL="0" marR="0" marT="0" marB="0">
                    <a:solidFill>
                      <a:srgbClr val="EFEFEF"/>
                    </a:solidFill>
                  </a:tcPr>
                </a:tc>
                <a:tc>
                  <a:txBody>
                    <a:bodyPr/>
                    <a:lstStyle/>
                    <a:p>
                      <a:pPr algn="ctr">
                        <a:defRPr sz="1000">
                          <a:latin typeface="Montserrat"/>
                        </a:defRPr>
                      </a:pPr>
                      <a:r>
                        <a:t>12,785</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6,137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43.8%</a:t>
                      </a:r>
                    </a:p>
                  </a:txBody>
                  <a:tcPr marL="0" marR="0" marT="0" marB="0">
                    <a:solidFill>
                      <a:srgbClr val="ECD3D9"/>
                    </a:solidFill>
                  </a:tcPr>
                </a:tc>
                <a:extLst>
                  <a:ext uri="{0D108BD9-81ED-4DB2-BD59-A6C34878D82A}">
                    <a16:rowId xmlns:a16="http://schemas.microsoft.com/office/drawing/2014/main" val="10026"/>
                  </a:ext>
                </a:extLst>
              </a:tr>
              <a:tr h="151200">
                <a:tc>
                  <a:txBody>
                    <a:bodyPr/>
                    <a:lstStyle/>
                    <a:p>
                      <a:pPr algn="l">
                        <a:defRPr sz="1000">
                          <a:latin typeface="Montserrat"/>
                        </a:defRPr>
                      </a:pPr>
                      <a:r>
                        <a:t>UMF 46 Sahuaripa</a:t>
                      </a:r>
                    </a:p>
                  </a:txBody>
                  <a:tcPr marL="0" marR="0" marT="0" marB="0">
                    <a:solidFill>
                      <a:srgbClr val="FFFFFF"/>
                    </a:solidFill>
                  </a:tcPr>
                </a:tc>
                <a:tc>
                  <a:txBody>
                    <a:bodyPr/>
                    <a:lstStyle/>
                    <a:p>
                      <a:pPr algn="ctr">
                        <a:defRPr sz="1000">
                          <a:latin typeface="Montserrat"/>
                        </a:defRPr>
                      </a:pPr>
                      <a:r>
                        <a:t>5,297</a:t>
                      </a:r>
                    </a:p>
                  </a:txBody>
                  <a:tcPr marL="0" marR="0" marT="0" marB="0">
                    <a:solidFill>
                      <a:srgbClr val="FFFFFF"/>
                    </a:solidFill>
                  </a:tcPr>
                </a:tc>
                <a:tc>
                  <a:txBody>
                    <a:bodyPr/>
                    <a:lstStyle/>
                    <a:p>
                      <a:pPr algn="ctr">
                        <a:defRPr sz="1000">
                          <a:latin typeface="Montserrat"/>
                        </a:defRPr>
                      </a:pPr>
                      <a:r>
                        <a:t>706</a:t>
                      </a:r>
                    </a:p>
                  </a:txBody>
                  <a:tcPr marL="0" marR="0" marT="0" marB="0">
                    <a:solidFill>
                      <a:srgbClr val="FFFFFF"/>
                    </a:solidFill>
                  </a:tcPr>
                </a:tc>
                <a:tc>
                  <a:txBody>
                    <a:bodyPr/>
                    <a:lstStyle/>
                    <a:p>
                      <a:pPr algn="ctr">
                        <a:defRPr sz="1000">
                          <a:latin typeface="Montserrat"/>
                        </a:defRPr>
                      </a:pPr>
                      <a:r>
                        <a:t>2,831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extLst>
                  <a:ext uri="{0D108BD9-81ED-4DB2-BD59-A6C34878D82A}">
                    <a16:rowId xmlns:a16="http://schemas.microsoft.com/office/drawing/2014/main" val="10027"/>
                  </a:ext>
                </a:extLst>
              </a:tr>
              <a:tr h="151200">
                <a:tc>
                  <a:txBody>
                    <a:bodyPr/>
                    <a:lstStyle/>
                    <a:p>
                      <a:pPr algn="l">
                        <a:defRPr sz="1000">
                          <a:latin typeface="Montserrat"/>
                        </a:defRPr>
                      </a:pPr>
                      <a:r>
                        <a:t>UMF 49 Cumpas</a:t>
                      </a:r>
                    </a:p>
                  </a:txBody>
                  <a:tcPr marL="0" marR="0" marT="0" marB="0">
                    <a:solidFill>
                      <a:srgbClr val="EFEFEF"/>
                    </a:solidFill>
                  </a:tcPr>
                </a:tc>
                <a:tc>
                  <a:txBody>
                    <a:bodyPr/>
                    <a:lstStyle/>
                    <a:p>
                      <a:pPr algn="ctr">
                        <a:defRPr sz="1000">
                          <a:latin typeface="Montserrat"/>
                        </a:defRPr>
                      </a:pPr>
                      <a:r>
                        <a:t>10,446</a:t>
                      </a:r>
                    </a:p>
                  </a:txBody>
                  <a:tcPr marL="0" marR="0" marT="0" marB="0">
                    <a:solidFill>
                      <a:srgbClr val="EFEFEF"/>
                    </a:solidFill>
                  </a:tcPr>
                </a:tc>
                <a:tc>
                  <a:txBody>
                    <a:bodyPr/>
                    <a:lstStyle/>
                    <a:p>
                      <a:pPr algn="ctr">
                        <a:defRPr sz="1000">
                          <a:latin typeface="Montserrat"/>
                        </a:defRPr>
                      </a:pPr>
                      <a:r>
                        <a:t>-132</a:t>
                      </a:r>
                    </a:p>
                  </a:txBody>
                  <a:tcPr marL="0" marR="0" marT="0" marB="0">
                    <a:solidFill>
                      <a:srgbClr val="EFEFEF"/>
                    </a:solidFill>
                  </a:tcPr>
                </a:tc>
                <a:tc>
                  <a:txBody>
                    <a:bodyPr/>
                    <a:lstStyle/>
                    <a:p>
                      <a:pPr algn="ctr">
                        <a:defRPr sz="1000">
                          <a:latin typeface="Montserrat"/>
                        </a:defRPr>
                      </a:pPr>
                      <a:r>
                        <a:t>4,682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extLst>
                  <a:ext uri="{0D108BD9-81ED-4DB2-BD59-A6C34878D82A}">
                    <a16:rowId xmlns:a16="http://schemas.microsoft.com/office/drawing/2014/main" val="10028"/>
                  </a:ext>
                </a:extLst>
              </a:tr>
              <a:tr h="151200">
                <a:tc>
                  <a:txBody>
                    <a:bodyPr/>
                    <a:lstStyle/>
                    <a:p>
                      <a:pPr algn="l">
                        <a:defRPr sz="1000">
                          <a:latin typeface="Montserrat"/>
                        </a:defRPr>
                      </a:pPr>
                      <a:r>
                        <a:t>UMF 50 Esqueda</a:t>
                      </a:r>
                    </a:p>
                  </a:txBody>
                  <a:tcPr marL="0" marR="0" marT="0" marB="0">
                    <a:solidFill>
                      <a:srgbClr val="FFFFFF"/>
                    </a:solidFill>
                  </a:tcPr>
                </a:tc>
                <a:tc>
                  <a:txBody>
                    <a:bodyPr/>
                    <a:lstStyle/>
                    <a:p>
                      <a:pPr algn="ctr">
                        <a:defRPr sz="1000">
                          <a:latin typeface="Montserrat"/>
                        </a:defRPr>
                      </a:pPr>
                      <a:r>
                        <a:t>10,493</a:t>
                      </a:r>
                    </a:p>
                  </a:txBody>
                  <a:tcPr marL="0" marR="0" marT="0" marB="0">
                    <a:solidFill>
                      <a:srgbClr val="FFFFFF"/>
                    </a:solidFill>
                  </a:tcPr>
                </a:tc>
                <a:tc>
                  <a:txBody>
                    <a:bodyPr/>
                    <a:lstStyle/>
                    <a:p>
                      <a:pPr algn="ctr">
                        <a:defRPr sz="1000">
                          <a:latin typeface="Montserrat"/>
                        </a:defRPr>
                      </a:pPr>
                      <a:r>
                        <a:t>464</a:t>
                      </a:r>
                    </a:p>
                  </a:txBody>
                  <a:tcPr marL="0" marR="0" marT="0" marB="0">
                    <a:solidFill>
                      <a:srgbClr val="FFFFFF"/>
                    </a:solidFill>
                  </a:tcPr>
                </a:tc>
                <a:tc>
                  <a:txBody>
                    <a:bodyPr/>
                    <a:lstStyle/>
                    <a:p>
                      <a:pPr algn="ctr">
                        <a:defRPr sz="1000">
                          <a:latin typeface="Montserrat"/>
                        </a:defRPr>
                      </a:pPr>
                      <a:r>
                        <a:t>4,945</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extLst>
                  <a:ext uri="{0D108BD9-81ED-4DB2-BD59-A6C34878D82A}">
                    <a16:rowId xmlns:a16="http://schemas.microsoft.com/office/drawing/2014/main" val="10029"/>
                  </a:ext>
                </a:extLst>
              </a:tr>
              <a:tr h="151200">
                <a:tc>
                  <a:txBody>
                    <a:bodyPr/>
                    <a:lstStyle/>
                    <a:p>
                      <a:pPr algn="l">
                        <a:defRPr sz="1000">
                          <a:latin typeface="Montserrat"/>
                        </a:defRPr>
                      </a:pPr>
                      <a:r>
                        <a:t>UMF 43 Rosario</a:t>
                      </a:r>
                    </a:p>
                  </a:txBody>
                  <a:tcPr marL="0" marR="0" marT="0" marB="0">
                    <a:solidFill>
                      <a:srgbClr val="EFEFEF"/>
                    </a:solidFill>
                  </a:tcPr>
                </a:tc>
                <a:tc>
                  <a:txBody>
                    <a:bodyPr/>
                    <a:lstStyle/>
                    <a:p>
                      <a:pPr algn="ctr">
                        <a:defRPr sz="1000">
                          <a:latin typeface="Montserrat"/>
                        </a:defRPr>
                      </a:pPr>
                      <a:r>
                        <a:t>8,309</a:t>
                      </a:r>
                    </a:p>
                  </a:txBody>
                  <a:tcPr marL="0" marR="0" marT="0" marB="0">
                    <a:solidFill>
                      <a:srgbClr val="EFEFEF"/>
                    </a:solidFill>
                  </a:tcPr>
                </a:tc>
                <a:tc>
                  <a:txBody>
                    <a:bodyPr/>
                    <a:lstStyle/>
                    <a:p>
                      <a:pPr algn="ctr">
                        <a:defRPr sz="1000">
                          <a:latin typeface="Montserrat"/>
                        </a:defRPr>
                      </a:pPr>
                      <a:r>
                        <a:t>496</a:t>
                      </a:r>
                    </a:p>
                  </a:txBody>
                  <a:tcPr marL="0" marR="0" marT="0" marB="0">
                    <a:solidFill>
                      <a:srgbClr val="EFEFEF"/>
                    </a:solidFill>
                  </a:tcPr>
                </a:tc>
                <a:tc>
                  <a:txBody>
                    <a:bodyPr/>
                    <a:lstStyle/>
                    <a:p>
                      <a:pPr algn="ctr">
                        <a:defRPr sz="1000">
                          <a:latin typeface="Montserrat"/>
                        </a:defRPr>
                      </a:pPr>
                      <a:r>
                        <a:t>3,821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extLst>
                  <a:ext uri="{0D108BD9-81ED-4DB2-BD59-A6C34878D82A}">
                    <a16:rowId xmlns:a16="http://schemas.microsoft.com/office/drawing/2014/main" val="10030"/>
                  </a:ext>
                </a:extLst>
              </a:tr>
              <a:tr h="151200">
                <a:tc>
                  <a:txBody>
                    <a:bodyPr/>
                    <a:lstStyle/>
                    <a:p>
                      <a:pPr algn="l">
                        <a:defRPr sz="1000">
                          <a:latin typeface="Montserrat"/>
                        </a:defRPr>
                      </a:pPr>
                      <a:r>
                        <a:t>UMF 48 Moctezuma</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167</a:t>
                      </a:r>
                    </a:p>
                  </a:txBody>
                  <a:tcPr marL="0" marR="0" marT="0" marB="0">
                    <a:solidFill>
                      <a:srgbClr val="FFFFFF"/>
                    </a:solidFill>
                  </a:tcPr>
                </a:tc>
                <a:tc>
                  <a:txBody>
                    <a:bodyPr/>
                    <a:lstStyle/>
                    <a:p>
                      <a:pPr algn="ctr">
                        <a:defRPr sz="1000">
                          <a:latin typeface="Montserrat"/>
                        </a:defRPr>
                      </a:pPr>
                      <a:r>
                        <a:t>3,660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extLst>
                  <a:ext uri="{0D108BD9-81ED-4DB2-BD59-A6C34878D82A}">
                    <a16:rowId xmlns:a16="http://schemas.microsoft.com/office/drawing/2014/main" val="10031"/>
                  </a:ext>
                </a:extLst>
              </a:tr>
              <a:tr h="151200">
                <a:tc>
                  <a:txBody>
                    <a:bodyPr/>
                    <a:lstStyle/>
                    <a:p>
                      <a:pPr algn="l">
                        <a:defRPr sz="1000">
                          <a:latin typeface="Montserrat"/>
                        </a:defRPr>
                      </a:pPr>
                      <a:r>
                        <a:t>UMF 44 Naco</a:t>
                      </a:r>
                    </a:p>
                  </a:txBody>
                  <a:tcPr marL="0" marR="0" marT="0" marB="0">
                    <a:solidFill>
                      <a:srgbClr val="EFEFEF"/>
                    </a:solidFill>
                  </a:tcPr>
                </a:tc>
                <a:tc>
                  <a:txBody>
                    <a:bodyPr/>
                    <a:lstStyle/>
                    <a:p>
                      <a:pPr algn="ctr">
                        <a:defRPr sz="1000">
                          <a:latin typeface="Montserrat"/>
                        </a:defRPr>
                      </a:pPr>
                      <a:r>
                        <a:t>5,688</a:t>
                      </a:r>
                    </a:p>
                  </a:txBody>
                  <a:tcPr marL="0" marR="0" marT="0" marB="0">
                    <a:solidFill>
                      <a:srgbClr val="EFEFEF"/>
                    </a:solidFill>
                  </a:tcPr>
                </a:tc>
                <a:tc>
                  <a:txBody>
                    <a:bodyPr/>
                    <a:lstStyle/>
                    <a:p>
                      <a:pPr algn="ctr">
                        <a:defRPr sz="1000">
                          <a:latin typeface="Montserrat"/>
                        </a:defRPr>
                      </a:pPr>
                      <a:r>
                        <a:t>-213</a:t>
                      </a:r>
                    </a:p>
                  </a:txBody>
                  <a:tcPr marL="0" marR="0" marT="0" marB="0">
                    <a:solidFill>
                      <a:srgbClr val="EFEFEF"/>
                    </a:solidFill>
                  </a:tcPr>
                </a:tc>
                <a:tc>
                  <a:txBody>
                    <a:bodyPr/>
                    <a:lstStyle/>
                    <a:p>
                      <a:pPr algn="ctr">
                        <a:defRPr sz="1000">
                          <a:latin typeface="Montserrat"/>
                        </a:defRPr>
                      </a:pPr>
                      <a:r>
                        <a:t>2,754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extLst>
                  <a:ext uri="{0D108BD9-81ED-4DB2-BD59-A6C34878D82A}">
                    <a16:rowId xmlns:a16="http://schemas.microsoft.com/office/drawing/2014/main" val="10032"/>
                  </a:ext>
                </a:extLst>
              </a:tr>
              <a:tr h="151200">
                <a:tc>
                  <a:txBody>
                    <a:bodyPr/>
                    <a:lstStyle/>
                    <a:p>
                      <a:pPr algn="l">
                        <a:defRPr sz="1000">
                          <a:latin typeface="Montserrat"/>
                        </a:defRPr>
                      </a:pPr>
                      <a:r>
                        <a:t>UMFH 51 C. Libertad</a:t>
                      </a:r>
                    </a:p>
                  </a:txBody>
                  <a:tcPr marL="0" marR="0" marT="0" marB="0">
                    <a:solidFill>
                      <a:srgbClr val="FFFFFF"/>
                    </a:solidFill>
                  </a:tcPr>
                </a:tc>
                <a:tc>
                  <a:txBody>
                    <a:bodyPr/>
                    <a:lstStyle/>
                    <a:p>
                      <a:pPr algn="ctr">
                        <a:defRPr sz="1000">
                          <a:latin typeface="Montserrat"/>
                        </a:defRPr>
                      </a:pPr>
                      <a:r>
                        <a:t>7,005</a:t>
                      </a:r>
                    </a:p>
                  </a:txBody>
                  <a:tcPr marL="0" marR="0" marT="0" marB="0">
                    <a:solidFill>
                      <a:srgbClr val="FFFFFF"/>
                    </a:solidFill>
                  </a:tcPr>
                </a:tc>
                <a:tc>
                  <a:txBody>
                    <a:bodyPr/>
                    <a:lstStyle/>
                    <a:p>
                      <a:pPr algn="ctr">
                        <a:defRPr sz="1000">
                          <a:latin typeface="Montserrat"/>
                        </a:defRPr>
                      </a:pPr>
                      <a:r>
                        <a:t>598</a:t>
                      </a:r>
                    </a:p>
                  </a:txBody>
                  <a:tcPr marL="0" marR="0" marT="0" marB="0">
                    <a:solidFill>
                      <a:srgbClr val="FFFFFF"/>
                    </a:solidFill>
                  </a:tcPr>
                </a:tc>
                <a:tc>
                  <a:txBody>
                    <a:bodyPr/>
                    <a:lstStyle/>
                    <a:p>
                      <a:pPr algn="ctr">
                        <a:defRPr sz="1000">
                          <a:latin typeface="Montserrat"/>
                        </a:defRPr>
                      </a:pPr>
                      <a:r>
                        <a:t>3,621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45.3%</a:t>
                      </a:r>
                    </a:p>
                  </a:txBody>
                  <a:tcPr marL="0" marR="0" marT="0" marB="0">
                    <a:solidFill>
                      <a:srgbClr val="ECD3D9"/>
                    </a:solidFill>
                  </a:tcPr>
                </a:tc>
                <a:extLst>
                  <a:ext uri="{0D108BD9-81ED-4DB2-BD59-A6C34878D82A}">
                    <a16:rowId xmlns:a16="http://schemas.microsoft.com/office/drawing/2014/main" val="10033"/>
                  </a:ext>
                </a:extLst>
              </a:tr>
              <a:tr h="151200">
                <a:tc>
                  <a:txBody>
                    <a:bodyPr/>
                    <a:lstStyle/>
                    <a:p>
                      <a:pPr algn="l">
                        <a:defRPr sz="1000">
                          <a:latin typeface="Montserrat"/>
                        </a:defRPr>
                      </a:pPr>
                      <a:r>
                        <a:t>UMF 53 Marte R. Gómez</a:t>
                      </a:r>
                    </a:p>
                  </a:txBody>
                  <a:tcPr marL="0" marR="0" marT="0" marB="0">
                    <a:solidFill>
                      <a:srgbClr val="EFEFEF"/>
                    </a:solidFill>
                  </a:tcPr>
                </a:tc>
                <a:tc>
                  <a:txBody>
                    <a:bodyPr/>
                    <a:lstStyle/>
                    <a:p>
                      <a:pPr algn="ctr">
                        <a:defRPr sz="1000">
                          <a:latin typeface="Montserrat"/>
                        </a:defRPr>
                      </a:pPr>
                      <a:r>
                        <a:t>22,119</a:t>
                      </a:r>
                    </a:p>
                  </a:txBody>
                  <a:tcPr marL="0" marR="0" marT="0" marB="0">
                    <a:solidFill>
                      <a:srgbClr val="EFEFEF"/>
                    </a:solidFill>
                  </a:tcPr>
                </a:tc>
                <a:tc>
                  <a:txBody>
                    <a:bodyPr/>
                    <a:lstStyle/>
                    <a:p>
                      <a:pPr algn="ctr">
                        <a:defRPr sz="1000">
                          <a:latin typeface="Montserrat"/>
                        </a:defRPr>
                      </a:pPr>
                      <a:r>
                        <a:t>-752</a:t>
                      </a:r>
                    </a:p>
                  </a:txBody>
                  <a:tcPr marL="0" marR="0" marT="0" marB="0">
                    <a:solidFill>
                      <a:srgbClr val="EFEFEF"/>
                    </a:solidFill>
                  </a:tcPr>
                </a:tc>
                <a:tc>
                  <a:txBody>
                    <a:bodyPr/>
                    <a:lstStyle/>
                    <a:p>
                      <a:pPr algn="ctr">
                        <a:defRPr sz="1000">
                          <a:latin typeface="Montserrat"/>
                        </a:defRPr>
                      </a:pPr>
                      <a:r>
                        <a:t>11,760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46.9%</a:t>
                      </a:r>
                    </a:p>
                  </a:txBody>
                  <a:tcPr marL="0" marR="0" marT="0" marB="0">
                    <a:solidFill>
                      <a:srgbClr val="ECD3D9"/>
                    </a:solidFill>
                  </a:tcPr>
                </a:tc>
                <a:extLst>
                  <a:ext uri="{0D108BD9-81ED-4DB2-BD59-A6C34878D82A}">
                    <a16:rowId xmlns:a16="http://schemas.microsoft.com/office/drawing/2014/main" val="10034"/>
                  </a:ext>
                </a:extLst>
              </a:tr>
              <a:tr h="151200">
                <a:tc>
                  <a:txBody>
                    <a:bodyPr/>
                    <a:lstStyle/>
                    <a:p>
                      <a:pPr algn="l">
                        <a:defRPr sz="1000">
                          <a:latin typeface="Montserrat"/>
                        </a:defRPr>
                      </a:pPr>
                      <a:r>
                        <a:t>UMF 52 Sonoita</a:t>
                      </a:r>
                    </a:p>
                  </a:txBody>
                  <a:tcPr marL="0" marR="0" marT="0" marB="0">
                    <a:solidFill>
                      <a:srgbClr val="FFFFFF"/>
                    </a:solidFill>
                  </a:tcPr>
                </a:tc>
                <a:tc>
                  <a:txBody>
                    <a:bodyPr/>
                    <a:lstStyle/>
                    <a:p>
                      <a:pPr algn="ctr">
                        <a:defRPr sz="1000">
                          <a:latin typeface="Montserrat"/>
                        </a:defRPr>
                      </a:pPr>
                      <a:r>
                        <a:t>5,138</a:t>
                      </a:r>
                    </a:p>
                  </a:txBody>
                  <a:tcPr marL="0" marR="0" marT="0" marB="0">
                    <a:solidFill>
                      <a:srgbClr val="FFFFFF"/>
                    </a:solidFill>
                  </a:tcPr>
                </a:tc>
                <a:tc>
                  <a:txBody>
                    <a:bodyPr/>
                    <a:lstStyle/>
                    <a:p>
                      <a:pPr algn="ctr">
                        <a:defRPr sz="1000">
                          <a:latin typeface="Montserrat"/>
                        </a:defRPr>
                      </a:pPr>
                      <a:r>
                        <a:t>956</a:t>
                      </a:r>
                    </a:p>
                  </a:txBody>
                  <a:tcPr marL="0" marR="0" marT="0" marB="0">
                    <a:solidFill>
                      <a:srgbClr val="FFFFFF"/>
                    </a:solidFill>
                  </a:tcPr>
                </a:tc>
                <a:tc>
                  <a:txBody>
                    <a:bodyPr/>
                    <a:lstStyle/>
                    <a:p>
                      <a:pPr algn="ctr">
                        <a:defRPr sz="1000">
                          <a:latin typeface="Montserrat"/>
                        </a:defRPr>
                      </a:pPr>
                      <a:r>
                        <a:t>2,554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extLst>
                  <a:ext uri="{0D108BD9-81ED-4DB2-BD59-A6C34878D82A}">
                    <a16:rowId xmlns:a16="http://schemas.microsoft.com/office/drawing/2014/main" val="10035"/>
                  </a:ext>
                </a:extLst>
              </a:tr>
              <a:tr h="151200">
                <a:tc>
                  <a:txBody>
                    <a:bodyPr/>
                    <a:lstStyle/>
                    <a:p>
                      <a:pPr algn="l">
                        <a:defRPr sz="1000">
                          <a:latin typeface="Montserrat"/>
                        </a:defRPr>
                      </a:pPr>
                      <a:r>
                        <a:t>UMF 8 Caborca</a:t>
                      </a:r>
                    </a:p>
                  </a:txBody>
                  <a:tcPr marL="0" marR="0" marT="0" marB="0">
                    <a:solidFill>
                      <a:srgbClr val="EFEFEF"/>
                    </a:solidFill>
                  </a:tcPr>
                </a:tc>
                <a:tc>
                  <a:txBody>
                    <a:bodyPr/>
                    <a:lstStyle/>
                    <a:p>
                      <a:pPr algn="ctr">
                        <a:defRPr sz="1000">
                          <a:latin typeface="Montserrat"/>
                        </a:defRPr>
                      </a:pPr>
                      <a:r>
                        <a:t>63,569</a:t>
                      </a:r>
                    </a:p>
                  </a:txBody>
                  <a:tcPr marL="0" marR="0" marT="0" marB="0">
                    <a:solidFill>
                      <a:srgbClr val="EFEFEF"/>
                    </a:solidFill>
                  </a:tcPr>
                </a:tc>
                <a:tc>
                  <a:txBody>
                    <a:bodyPr/>
                    <a:lstStyle/>
                    <a:p>
                      <a:pPr algn="ctr">
                        <a:defRPr sz="1000">
                          <a:latin typeface="Montserrat"/>
                        </a:defRPr>
                      </a:pPr>
                      <a:r>
                        <a:t>76</a:t>
                      </a:r>
                    </a:p>
                  </a:txBody>
                  <a:tcPr marL="0" marR="0" marT="0" marB="0">
                    <a:solidFill>
                      <a:srgbClr val="EFEFEF"/>
                    </a:solidFill>
                  </a:tcPr>
                </a:tc>
                <a:tc>
                  <a:txBody>
                    <a:bodyPr/>
                    <a:lstStyle/>
                    <a:p>
                      <a:pPr algn="ctr">
                        <a:defRPr sz="1000">
                          <a:latin typeface="Montserrat"/>
                        </a:defRPr>
                      </a:pPr>
                      <a:r>
                        <a:t>28,211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45.0%</a:t>
                      </a:r>
                    </a:p>
                  </a:txBody>
                  <a:tcPr marL="0" marR="0" marT="0" marB="0">
                    <a:solidFill>
                      <a:srgbClr val="ECD3D9"/>
                    </a:solidFill>
                  </a:tcPr>
                </a:tc>
                <a:extLst>
                  <a:ext uri="{0D108BD9-81ED-4DB2-BD59-A6C34878D82A}">
                    <a16:rowId xmlns:a16="http://schemas.microsoft.com/office/drawing/2014/main" val="10036"/>
                  </a:ext>
                </a:extLst>
              </a:tr>
              <a:tr h="151200">
                <a:tc>
                  <a:txBody>
                    <a:bodyPr/>
                    <a:lstStyle/>
                    <a:p>
                      <a:pPr algn="l">
                        <a:defRPr sz="1000">
                          <a:latin typeface="Montserrat"/>
                        </a:defRPr>
                      </a:pPr>
                      <a:r>
                        <a:t>UMF 55 Cananea</a:t>
                      </a:r>
                    </a:p>
                  </a:txBody>
                  <a:tcPr marL="0" marR="0" marT="0" marB="0">
                    <a:solidFill>
                      <a:srgbClr val="FFFFFF"/>
                    </a:solidFill>
                  </a:tcPr>
                </a:tc>
                <a:tc>
                  <a:txBody>
                    <a:bodyPr/>
                    <a:lstStyle/>
                    <a:p>
                      <a:pPr algn="ctr">
                        <a:defRPr sz="1000">
                          <a:latin typeface="Montserrat"/>
                        </a:defRPr>
                      </a:pPr>
                      <a:r>
                        <a:t>38,064</a:t>
                      </a:r>
                    </a:p>
                  </a:txBody>
                  <a:tcPr marL="0" marR="0" marT="0" marB="0">
                    <a:solidFill>
                      <a:srgbClr val="FFFFFF"/>
                    </a:solidFill>
                  </a:tcPr>
                </a:tc>
                <a:tc>
                  <a:txBody>
                    <a:bodyPr/>
                    <a:lstStyle/>
                    <a:p>
                      <a:pPr algn="ctr">
                        <a:defRPr sz="1000">
                          <a:latin typeface="Montserrat"/>
                        </a:defRPr>
                      </a:pPr>
                      <a:r>
                        <a:t>163</a:t>
                      </a:r>
                    </a:p>
                  </a:txBody>
                  <a:tcPr marL="0" marR="0" marT="0" marB="0">
                    <a:solidFill>
                      <a:srgbClr val="FFFFFF"/>
                    </a:solidFill>
                  </a:tcPr>
                </a:tc>
                <a:tc>
                  <a:txBody>
                    <a:bodyPr/>
                    <a:lstStyle/>
                    <a:p>
                      <a:pPr algn="ctr">
                        <a:defRPr sz="1000">
                          <a:latin typeface="Montserrat"/>
                        </a:defRPr>
                      </a:pPr>
                      <a:r>
                        <a:t>20,620</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extLst>
                  <a:ext uri="{0D108BD9-81ED-4DB2-BD59-A6C34878D82A}">
                    <a16:rowId xmlns:a16="http://schemas.microsoft.com/office/drawing/2014/main" val="10037"/>
                  </a:ext>
                </a:extLst>
              </a:tr>
              <a:tr h="151200">
                <a:tc>
                  <a:txBody>
                    <a:bodyPr/>
                    <a:lstStyle/>
                    <a:p>
                      <a:pPr algn="l">
                        <a:defRPr sz="1000">
                          <a:latin typeface="Montserrat"/>
                        </a:defRPr>
                      </a:pPr>
                      <a:r>
                        <a:t>UMF 56 E. Ortíz</a:t>
                      </a:r>
                    </a:p>
                  </a:txBody>
                  <a:tcPr marL="0" marR="0" marT="0" marB="0">
                    <a:solidFill>
                      <a:srgbClr val="EFEFEF"/>
                    </a:solidFill>
                  </a:tcPr>
                </a:tc>
                <a:tc>
                  <a:txBody>
                    <a:bodyPr/>
                    <a:lstStyle/>
                    <a:p>
                      <a:pPr algn="ctr">
                        <a:defRPr sz="1000">
                          <a:latin typeface="Montserrat"/>
                        </a:defRPr>
                      </a:pPr>
                      <a:r>
                        <a:t>4,064</a:t>
                      </a:r>
                    </a:p>
                  </a:txBody>
                  <a:tcPr marL="0" marR="0" marT="0" marB="0">
                    <a:solidFill>
                      <a:srgbClr val="EFEFEF"/>
                    </a:solidFill>
                  </a:tcPr>
                </a:tc>
                <a:tc>
                  <a:txBody>
                    <a:bodyPr/>
                    <a:lstStyle/>
                    <a:p>
                      <a:pPr algn="ctr">
                        <a:defRPr sz="1000">
                          <a:latin typeface="Montserrat"/>
                        </a:defRPr>
                      </a:pPr>
                      <a:r>
                        <a:t>1,041</a:t>
                      </a:r>
                    </a:p>
                  </a:txBody>
                  <a:tcPr marL="0" marR="0" marT="0" marB="0">
                    <a:solidFill>
                      <a:srgbClr val="EFEFEF"/>
                    </a:solidFill>
                  </a:tcPr>
                </a:tc>
                <a:tc>
                  <a:txBody>
                    <a:bodyPr/>
                    <a:lstStyle/>
                    <a:p>
                      <a:pPr algn="ctr">
                        <a:defRPr sz="1000">
                          <a:latin typeface="Montserrat"/>
                        </a:defRPr>
                      </a:pPr>
                      <a:r>
                        <a:t>2,530</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50.6%</a:t>
                      </a:r>
                    </a:p>
                  </a:txBody>
                  <a:tcPr marL="0" marR="0" marT="0" marB="0">
                    <a:solidFill>
                      <a:srgbClr val="ECD3D9"/>
                    </a:solidFill>
                  </a:tcPr>
                </a:tc>
                <a:extLst>
                  <a:ext uri="{0D108BD9-81ED-4DB2-BD59-A6C34878D82A}">
                    <a16:rowId xmlns:a16="http://schemas.microsoft.com/office/drawing/2014/main" val="1003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4732386" cy="400110"/>
          </a:xfrm>
          <a:prstGeom prst="rect">
            <a:avLst/>
          </a:prstGeom>
          <a:noFill/>
        </p:spPr>
        <p:txBody>
          <a:bodyPr wrap="none">
            <a:spAutoFit/>
          </a:bodyPr>
          <a:lstStyle/>
          <a:p>
            <a:pPr algn="l">
              <a:defRPr sz="2000" b="1">
                <a:solidFill>
                  <a:srgbClr val="5B0F00"/>
                </a:solidFill>
                <a:latin typeface="Montserrat"/>
              </a:defRPr>
            </a:pPr>
            <a:r>
              <a:rPr dirty="0"/>
              <a:t>54 UMF de lunes a </a:t>
            </a:r>
            <a:r>
              <a:rPr dirty="0" err="1"/>
              <a:t>viernes</a:t>
            </a:r>
            <a:r>
              <a:rPr lang="es-MX" dirty="0"/>
              <a:t> (2 de 2)</a:t>
            </a:r>
            <a:endParaRPr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1991121704"/>
              </p:ext>
            </p:extLst>
          </p:nvPr>
        </p:nvGraphicFramePr>
        <p:xfrm>
          <a:off x="147601" y="2042160"/>
          <a:ext cx="7473599" cy="3344406"/>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443645">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70633">
                <a:tc>
                  <a:txBody>
                    <a:bodyPr/>
                    <a:lstStyle/>
                    <a:p>
                      <a:pPr algn="l">
                        <a:defRPr sz="1000">
                          <a:latin typeface="Montserrat"/>
                        </a:defRPr>
                      </a:pPr>
                      <a:r>
                        <a:t>UMF 40 F. Sarabia</a:t>
                      </a:r>
                    </a:p>
                  </a:txBody>
                  <a:tcPr marL="0" marR="0" marT="0" marB="0">
                    <a:solidFill>
                      <a:srgbClr val="FFFFFF"/>
                    </a:solidFill>
                  </a:tcPr>
                </a:tc>
                <a:tc>
                  <a:txBody>
                    <a:bodyPr/>
                    <a:lstStyle/>
                    <a:p>
                      <a:pPr algn="ctr">
                        <a:defRPr sz="1000">
                          <a:latin typeface="Montserrat"/>
                        </a:defRPr>
                      </a:pPr>
                      <a:r>
                        <a:t>6,640</a:t>
                      </a:r>
                    </a:p>
                  </a:txBody>
                  <a:tcPr marL="0" marR="0" marT="0" marB="0">
                    <a:solidFill>
                      <a:srgbClr val="FFFFFF"/>
                    </a:solidFill>
                  </a:tcPr>
                </a:tc>
                <a:tc>
                  <a:txBody>
                    <a:bodyPr/>
                    <a:lstStyle/>
                    <a:p>
                      <a:pPr algn="ctr">
                        <a:defRPr sz="1000">
                          <a:latin typeface="Montserrat"/>
                        </a:defRPr>
                      </a:pPr>
                      <a:r>
                        <a:t>313</a:t>
                      </a:r>
                    </a:p>
                  </a:txBody>
                  <a:tcPr marL="0" marR="0" marT="0" marB="0">
                    <a:solidFill>
                      <a:srgbClr val="FFFFFF"/>
                    </a:solidFill>
                  </a:tcPr>
                </a:tc>
                <a:tc>
                  <a:txBody>
                    <a:bodyPr/>
                    <a:lstStyle/>
                    <a:p>
                      <a:pPr algn="ctr">
                        <a:defRPr sz="1000">
                          <a:latin typeface="Montserrat"/>
                        </a:defRPr>
                      </a:pPr>
                      <a:r>
                        <a:t>2,800</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35.0%</a:t>
                      </a:r>
                    </a:p>
                  </a:txBody>
                  <a:tcPr marL="0" marR="0" marT="0" marB="0">
                    <a:solidFill>
                      <a:srgbClr val="ECD3D9"/>
                    </a:solidFill>
                  </a:tcPr>
                </a:tc>
                <a:extLst>
                  <a:ext uri="{0D108BD9-81ED-4DB2-BD59-A6C34878D82A}">
                    <a16:rowId xmlns:a16="http://schemas.microsoft.com/office/drawing/2014/main" val="10001"/>
                  </a:ext>
                </a:extLst>
              </a:tr>
              <a:tr h="170633">
                <a:tc>
                  <a:txBody>
                    <a:bodyPr/>
                    <a:lstStyle/>
                    <a:p>
                      <a:pPr algn="l">
                        <a:defRPr sz="1000">
                          <a:latin typeface="Montserrat"/>
                        </a:defRPr>
                      </a:pPr>
                      <a:r>
                        <a:t>UMF 41 P. Colorado</a:t>
                      </a:r>
                    </a:p>
                  </a:txBody>
                  <a:tcPr marL="0" marR="0" marT="0" marB="0">
                    <a:solidFill>
                      <a:srgbClr val="EFEFEF"/>
                    </a:solidFill>
                  </a:tcPr>
                </a:tc>
                <a:tc>
                  <a:txBody>
                    <a:bodyPr/>
                    <a:lstStyle/>
                    <a:p>
                      <a:pPr algn="ctr">
                        <a:defRPr sz="1000">
                          <a:latin typeface="Montserrat"/>
                        </a:defRPr>
                      </a:pPr>
                      <a:r>
                        <a:t>5,008</a:t>
                      </a:r>
                    </a:p>
                  </a:txBody>
                  <a:tcPr marL="0" marR="0" marT="0" marB="0">
                    <a:solidFill>
                      <a:srgbClr val="EFEFEF"/>
                    </a:solidFill>
                  </a:tcPr>
                </a:tc>
                <a:tc>
                  <a:txBody>
                    <a:bodyPr/>
                    <a:lstStyle/>
                    <a:p>
                      <a:pPr algn="ctr">
                        <a:defRPr sz="1000">
                          <a:latin typeface="Montserrat"/>
                        </a:defRPr>
                      </a:pPr>
                      <a:r>
                        <a:t>441</a:t>
                      </a:r>
                    </a:p>
                  </a:txBody>
                  <a:tcPr marL="0" marR="0" marT="0" marB="0">
                    <a:solidFill>
                      <a:srgbClr val="EFEFEF"/>
                    </a:solidFill>
                  </a:tcPr>
                </a:tc>
                <a:tc>
                  <a:txBody>
                    <a:bodyPr/>
                    <a:lstStyle/>
                    <a:p>
                      <a:pPr algn="ctr">
                        <a:defRPr sz="1000">
                          <a:latin typeface="Montserrat"/>
                        </a:defRPr>
                      </a:pPr>
                      <a:r>
                        <a:t>2,381</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extLst>
                  <a:ext uri="{0D108BD9-81ED-4DB2-BD59-A6C34878D82A}">
                    <a16:rowId xmlns:a16="http://schemas.microsoft.com/office/drawing/2014/main" val="10002"/>
                  </a:ext>
                </a:extLst>
              </a:tr>
              <a:tr h="170633">
                <a:tc>
                  <a:txBody>
                    <a:bodyPr/>
                    <a:lstStyle/>
                    <a:p>
                      <a:pPr algn="l">
                        <a:defRPr sz="1000">
                          <a:latin typeface="Montserrat"/>
                        </a:defRPr>
                      </a:pPr>
                      <a:r>
                        <a:t>UMF 45 Bahía Lobos</a:t>
                      </a:r>
                    </a:p>
                  </a:txBody>
                  <a:tcPr marL="0" marR="0" marT="0" marB="0">
                    <a:solidFill>
                      <a:srgbClr val="FFFFFF"/>
                    </a:solidFill>
                  </a:tcPr>
                </a:tc>
                <a:tc>
                  <a:txBody>
                    <a:bodyPr/>
                    <a:lstStyle/>
                    <a:p>
                      <a:pPr algn="ctr">
                        <a:defRPr sz="1000">
                          <a:latin typeface="Montserrat"/>
                        </a:defRPr>
                      </a:pPr>
                      <a:r>
                        <a:t>3,629</a:t>
                      </a:r>
                    </a:p>
                  </a:txBody>
                  <a:tcPr marL="0" marR="0" marT="0" marB="0">
                    <a:solidFill>
                      <a:srgbClr val="FFFFFF"/>
                    </a:solidFill>
                  </a:tcPr>
                </a:tc>
                <a:tc>
                  <a:txBody>
                    <a:bodyPr/>
                    <a:lstStyle/>
                    <a:p>
                      <a:pPr algn="ctr">
                        <a:defRPr sz="1000">
                          <a:latin typeface="Montserrat"/>
                        </a:defRPr>
                      </a:pPr>
                      <a:r>
                        <a:t>256</a:t>
                      </a:r>
                    </a:p>
                  </a:txBody>
                  <a:tcPr marL="0" marR="0" marT="0" marB="0">
                    <a:solidFill>
                      <a:srgbClr val="FFFFFF"/>
                    </a:solidFill>
                  </a:tcPr>
                </a:tc>
                <a:tc>
                  <a:txBody>
                    <a:bodyPr/>
                    <a:lstStyle/>
                    <a:p>
                      <a:pPr algn="ctr">
                        <a:defRPr sz="1000">
                          <a:latin typeface="Montserrat"/>
                        </a:defRPr>
                      </a:pPr>
                      <a:r>
                        <a:t>1,546</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30.9%</a:t>
                      </a:r>
                    </a:p>
                  </a:txBody>
                  <a:tcPr marL="0" marR="0" marT="0" marB="0">
                    <a:solidFill>
                      <a:srgbClr val="ECD3D9"/>
                    </a:solidFill>
                  </a:tcPr>
                </a:tc>
                <a:extLst>
                  <a:ext uri="{0D108BD9-81ED-4DB2-BD59-A6C34878D82A}">
                    <a16:rowId xmlns:a16="http://schemas.microsoft.com/office/drawing/2014/main" val="10003"/>
                  </a:ext>
                </a:extLst>
              </a:tr>
              <a:tr h="170633">
                <a:tc>
                  <a:txBody>
                    <a:bodyPr/>
                    <a:lstStyle/>
                    <a:p>
                      <a:pPr algn="l">
                        <a:defRPr sz="1000">
                          <a:latin typeface="Montserrat"/>
                        </a:defRPr>
                      </a:pPr>
                      <a:r>
                        <a:t>UMF 39 Atotonilco</a:t>
                      </a:r>
                    </a:p>
                  </a:txBody>
                  <a:tcPr marL="0" marR="0" marT="0" marB="0">
                    <a:solidFill>
                      <a:srgbClr val="EFEFEF"/>
                    </a:solidFill>
                  </a:tcPr>
                </a:tc>
                <a:tc>
                  <a:txBody>
                    <a:bodyPr/>
                    <a:lstStyle/>
                    <a:p>
                      <a:pPr algn="ctr">
                        <a:defRPr sz="1000">
                          <a:latin typeface="Montserrat"/>
                        </a:defRPr>
                      </a:pPr>
                      <a:r>
                        <a:t>2,947</a:t>
                      </a:r>
                    </a:p>
                  </a:txBody>
                  <a:tcPr marL="0" marR="0" marT="0" marB="0">
                    <a:solidFill>
                      <a:srgbClr val="EFEFEF"/>
                    </a:solidFill>
                  </a:tcPr>
                </a:tc>
                <a:tc>
                  <a:txBody>
                    <a:bodyPr/>
                    <a:lstStyle/>
                    <a:p>
                      <a:pPr algn="ctr">
                        <a:defRPr sz="1000">
                          <a:latin typeface="Montserrat"/>
                        </a:defRPr>
                      </a:pPr>
                      <a:r>
                        <a:t>26</a:t>
                      </a:r>
                    </a:p>
                  </a:txBody>
                  <a:tcPr marL="0" marR="0" marT="0" marB="0">
                    <a:solidFill>
                      <a:srgbClr val="EFEFEF"/>
                    </a:solidFill>
                  </a:tcPr>
                </a:tc>
                <a:tc>
                  <a:txBody>
                    <a:bodyPr/>
                    <a:lstStyle/>
                    <a:p>
                      <a:pPr algn="ctr">
                        <a:defRPr sz="1000">
                          <a:latin typeface="Montserrat"/>
                        </a:defRPr>
                      </a:pPr>
                      <a:r>
                        <a:t>1,347</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33.7%</a:t>
                      </a:r>
                    </a:p>
                  </a:txBody>
                  <a:tcPr marL="0" marR="0" marT="0" marB="0">
                    <a:solidFill>
                      <a:srgbClr val="ECD3D9"/>
                    </a:solidFill>
                  </a:tcPr>
                </a:tc>
                <a:extLst>
                  <a:ext uri="{0D108BD9-81ED-4DB2-BD59-A6C34878D82A}">
                    <a16:rowId xmlns:a16="http://schemas.microsoft.com/office/drawing/2014/main" val="10004"/>
                  </a:ext>
                </a:extLst>
              </a:tr>
              <a:tr h="170633">
                <a:tc>
                  <a:txBody>
                    <a:bodyPr/>
                    <a:lstStyle/>
                    <a:p>
                      <a:pPr algn="l">
                        <a:defRPr sz="1000">
                          <a:latin typeface="Montserrat"/>
                        </a:defRPr>
                      </a:pPr>
                      <a:r>
                        <a:t>UMF 25 Ures</a:t>
                      </a:r>
                    </a:p>
                  </a:txBody>
                  <a:tcPr marL="0" marR="0" marT="0" marB="0">
                    <a:solidFill>
                      <a:srgbClr val="FFFFFF"/>
                    </a:solidFill>
                  </a:tcPr>
                </a:tc>
                <a:tc>
                  <a:txBody>
                    <a:bodyPr/>
                    <a:lstStyle/>
                    <a:p>
                      <a:pPr algn="ctr">
                        <a:defRPr sz="1000">
                          <a:latin typeface="Montserrat"/>
                        </a:defRPr>
                      </a:pPr>
                      <a:r>
                        <a:t>11,681</a:t>
                      </a:r>
                    </a:p>
                  </a:txBody>
                  <a:tcPr marL="0" marR="0" marT="0" marB="0">
                    <a:solidFill>
                      <a:srgbClr val="FFFFFF"/>
                    </a:solidFill>
                  </a:tcPr>
                </a:tc>
                <a:tc>
                  <a:txBody>
                    <a:bodyPr/>
                    <a:lstStyle/>
                    <a:p>
                      <a:pPr algn="ctr">
                        <a:defRPr sz="1000">
                          <a:latin typeface="Montserrat"/>
                        </a:defRPr>
                      </a:pPr>
                      <a:r>
                        <a:t>1,277</a:t>
                      </a:r>
                    </a:p>
                  </a:txBody>
                  <a:tcPr marL="0" marR="0" marT="0" marB="0">
                    <a:solidFill>
                      <a:srgbClr val="FFFFFF"/>
                    </a:solidFill>
                  </a:tcPr>
                </a:tc>
                <a:tc>
                  <a:txBody>
                    <a:bodyPr/>
                    <a:lstStyle/>
                    <a:p>
                      <a:pPr algn="ctr">
                        <a:defRPr sz="1000">
                          <a:latin typeface="Montserrat"/>
                        </a:defRPr>
                      </a:pPr>
                      <a:r>
                        <a:t>5,400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extLst>
                  <a:ext uri="{0D108BD9-81ED-4DB2-BD59-A6C34878D82A}">
                    <a16:rowId xmlns:a16="http://schemas.microsoft.com/office/drawing/2014/main" val="10005"/>
                  </a:ext>
                </a:extLst>
              </a:tr>
              <a:tr h="170633">
                <a:tc>
                  <a:txBody>
                    <a:bodyPr/>
                    <a:lstStyle/>
                    <a:p>
                      <a:pPr algn="l">
                        <a:defRPr sz="1000">
                          <a:latin typeface="Montserrat"/>
                        </a:defRPr>
                      </a:pPr>
                      <a:r>
                        <a:t>UMF 42 Alamos</a:t>
                      </a:r>
                    </a:p>
                  </a:txBody>
                  <a:tcPr marL="0" marR="0" marT="0" marB="0">
                    <a:solidFill>
                      <a:srgbClr val="EFEFEF"/>
                    </a:solidFill>
                  </a:tcPr>
                </a:tc>
                <a:tc>
                  <a:txBody>
                    <a:bodyPr/>
                    <a:lstStyle/>
                    <a:p>
                      <a:pPr algn="ctr">
                        <a:defRPr sz="1000">
                          <a:latin typeface="Montserrat"/>
                        </a:defRPr>
                      </a:pPr>
                      <a:r>
                        <a:t>11,761</a:t>
                      </a:r>
                    </a:p>
                  </a:txBody>
                  <a:tcPr marL="0" marR="0" marT="0" marB="0">
                    <a:solidFill>
                      <a:srgbClr val="EFEFEF"/>
                    </a:solidFill>
                  </a:tcPr>
                </a:tc>
                <a:tc>
                  <a:txBody>
                    <a:bodyPr/>
                    <a:lstStyle/>
                    <a:p>
                      <a:pPr algn="ctr">
                        <a:defRPr sz="1000">
                          <a:latin typeface="Montserrat"/>
                        </a:defRPr>
                      </a:pPr>
                      <a:r>
                        <a:t>861</a:t>
                      </a:r>
                    </a:p>
                  </a:txBody>
                  <a:tcPr marL="0" marR="0" marT="0" marB="0">
                    <a:solidFill>
                      <a:srgbClr val="EFEFEF"/>
                    </a:solidFill>
                  </a:tcPr>
                </a:tc>
                <a:tc>
                  <a:txBody>
                    <a:bodyPr/>
                    <a:lstStyle/>
                    <a:p>
                      <a:pPr algn="ctr">
                        <a:defRPr sz="1000">
                          <a:latin typeface="Montserrat"/>
                        </a:defRPr>
                      </a:pPr>
                      <a:r>
                        <a:t>5,240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40.3%</a:t>
                      </a:r>
                    </a:p>
                  </a:txBody>
                  <a:tcPr marL="0" marR="0" marT="0" marB="0">
                    <a:solidFill>
                      <a:srgbClr val="ECD3D9"/>
                    </a:solidFill>
                  </a:tcPr>
                </a:tc>
                <a:extLst>
                  <a:ext uri="{0D108BD9-81ED-4DB2-BD59-A6C34878D82A}">
                    <a16:rowId xmlns:a16="http://schemas.microsoft.com/office/drawing/2014/main" val="10006"/>
                  </a:ext>
                </a:extLst>
              </a:tr>
              <a:tr h="170633">
                <a:tc>
                  <a:txBody>
                    <a:bodyPr/>
                    <a:lstStyle/>
                    <a:p>
                      <a:pPr algn="l">
                        <a:defRPr sz="1000">
                          <a:latin typeface="Montserrat"/>
                        </a:defRPr>
                      </a:pPr>
                      <a:r>
                        <a:t>UMF 57 Navojoa</a:t>
                      </a:r>
                    </a:p>
                  </a:txBody>
                  <a:tcPr marL="0" marR="0" marT="0" marB="0">
                    <a:solidFill>
                      <a:srgbClr val="FFFFFF"/>
                    </a:solidFill>
                  </a:tcPr>
                </a:tc>
                <a:tc>
                  <a:txBody>
                    <a:bodyPr/>
                    <a:lstStyle/>
                    <a:p>
                      <a:pPr algn="ctr">
                        <a:defRPr sz="1000">
                          <a:latin typeface="Montserrat"/>
                        </a:defRPr>
                      </a:pPr>
                      <a:r>
                        <a:t>40,249</a:t>
                      </a:r>
                    </a:p>
                  </a:txBody>
                  <a:tcPr marL="0" marR="0" marT="0" marB="0">
                    <a:solidFill>
                      <a:srgbClr val="FFFFFF"/>
                    </a:solidFill>
                  </a:tcPr>
                </a:tc>
                <a:tc>
                  <a:txBody>
                    <a:bodyPr/>
                    <a:lstStyle/>
                    <a:p>
                      <a:pPr algn="ctr">
                        <a:defRPr sz="1000">
                          <a:latin typeface="Montserrat"/>
                        </a:defRPr>
                      </a:pPr>
                      <a:r>
                        <a:t>1,047</a:t>
                      </a:r>
                    </a:p>
                  </a:txBody>
                  <a:tcPr marL="0" marR="0" marT="0" marB="0">
                    <a:solidFill>
                      <a:srgbClr val="FFFFFF"/>
                    </a:solidFill>
                  </a:tcPr>
                </a:tc>
                <a:tc>
                  <a:txBody>
                    <a:bodyPr/>
                    <a:lstStyle/>
                    <a:p>
                      <a:pPr algn="ctr">
                        <a:defRPr sz="1000">
                          <a:latin typeface="Montserrat"/>
                        </a:defRPr>
                      </a:pPr>
                      <a:r>
                        <a:t>17,821</a:t>
                      </a:r>
                    </a:p>
                  </a:txBody>
                  <a:tcPr marL="0" marR="0" marT="0" marB="0">
                    <a:solidFill>
                      <a:srgbClr val="ECD3D9"/>
                    </a:solidFill>
                  </a:tcPr>
                </a:tc>
                <a:tc>
                  <a:txBody>
                    <a:bodyPr/>
                    <a:lstStyle/>
                    <a:p>
                      <a:pPr algn="ctr">
                        <a:defRPr sz="1000">
                          <a:latin typeface="Montserrat"/>
                        </a:defRPr>
                      </a:pPr>
                      <a:r>
                        <a:t>39,000</a:t>
                      </a:r>
                    </a:p>
                  </a:txBody>
                  <a:tcPr marL="0" marR="0" marT="0" marB="0">
                    <a:solidFill>
                      <a:srgbClr val="ECD3D9"/>
                    </a:solidFill>
                  </a:tcPr>
                </a:tc>
                <a:tc>
                  <a:txBody>
                    <a:bodyPr/>
                    <a:lstStyle/>
                    <a:p>
                      <a:pPr algn="ctr">
                        <a:defRPr sz="1000">
                          <a:latin typeface="Montserrat"/>
                        </a:defRPr>
                      </a:pPr>
                      <a:r>
                        <a:t>45.7%</a:t>
                      </a:r>
                    </a:p>
                  </a:txBody>
                  <a:tcPr marL="0" marR="0" marT="0" marB="0">
                    <a:solidFill>
                      <a:srgbClr val="ECD3D9"/>
                    </a:solidFill>
                  </a:tcPr>
                </a:tc>
                <a:extLst>
                  <a:ext uri="{0D108BD9-81ED-4DB2-BD59-A6C34878D82A}">
                    <a16:rowId xmlns:a16="http://schemas.microsoft.com/office/drawing/2014/main" val="10007"/>
                  </a:ext>
                </a:extLst>
              </a:tr>
              <a:tr h="170633">
                <a:tc>
                  <a:txBody>
                    <a:bodyPr/>
                    <a:lstStyle/>
                    <a:p>
                      <a:pPr algn="l">
                        <a:defRPr sz="1000">
                          <a:latin typeface="Montserrat"/>
                        </a:defRPr>
                      </a:pPr>
                      <a:r>
                        <a:t>UMF 60 Navojoa</a:t>
                      </a:r>
                    </a:p>
                  </a:txBody>
                  <a:tcPr marL="0" marR="0" marT="0" marB="0">
                    <a:solidFill>
                      <a:srgbClr val="EFEFEF"/>
                    </a:solidFill>
                  </a:tcPr>
                </a:tc>
                <a:tc>
                  <a:txBody>
                    <a:bodyPr/>
                    <a:lstStyle/>
                    <a:p>
                      <a:pPr algn="ctr">
                        <a:defRPr sz="1000">
                          <a:latin typeface="Montserrat"/>
                        </a:defRPr>
                      </a:pPr>
                      <a:r>
                        <a:t>38,424</a:t>
                      </a:r>
                    </a:p>
                  </a:txBody>
                  <a:tcPr marL="0" marR="0" marT="0" marB="0">
                    <a:solidFill>
                      <a:srgbClr val="EFEFEF"/>
                    </a:solidFill>
                  </a:tcPr>
                </a:tc>
                <a:tc>
                  <a:txBody>
                    <a:bodyPr/>
                    <a:lstStyle/>
                    <a:p>
                      <a:pPr algn="ctr">
                        <a:defRPr sz="1000">
                          <a:latin typeface="Montserrat"/>
                        </a:defRPr>
                      </a:pPr>
                      <a:r>
                        <a:t>998</a:t>
                      </a:r>
                    </a:p>
                  </a:txBody>
                  <a:tcPr marL="0" marR="0" marT="0" marB="0">
                    <a:solidFill>
                      <a:srgbClr val="EFEFEF"/>
                    </a:solidFill>
                  </a:tcPr>
                </a:tc>
                <a:tc>
                  <a:txBody>
                    <a:bodyPr/>
                    <a:lstStyle/>
                    <a:p>
                      <a:pPr algn="ctr">
                        <a:defRPr sz="1000">
                          <a:latin typeface="Montserrat"/>
                        </a:defRPr>
                      </a:pPr>
                      <a:r>
                        <a:t>16,981</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45.2%</a:t>
                      </a:r>
                    </a:p>
                  </a:txBody>
                  <a:tcPr marL="0" marR="0" marT="0" marB="0">
                    <a:solidFill>
                      <a:srgbClr val="ECD3D9"/>
                    </a:solidFill>
                  </a:tcPr>
                </a:tc>
                <a:extLst>
                  <a:ext uri="{0D108BD9-81ED-4DB2-BD59-A6C34878D82A}">
                    <a16:rowId xmlns:a16="http://schemas.microsoft.com/office/drawing/2014/main" val="10008"/>
                  </a:ext>
                </a:extLst>
              </a:tr>
              <a:tr h="170633">
                <a:tc>
                  <a:txBody>
                    <a:bodyPr/>
                    <a:lstStyle/>
                    <a:p>
                      <a:pPr algn="l">
                        <a:defRPr sz="1000">
                          <a:latin typeface="Montserrat"/>
                        </a:defRPr>
                      </a:pPr>
                      <a:r>
                        <a:t>UMF 62 Navojoa</a:t>
                      </a:r>
                    </a:p>
                  </a:txBody>
                  <a:tcPr marL="0" marR="0" marT="0" marB="0">
                    <a:solidFill>
                      <a:srgbClr val="FFFFFF"/>
                    </a:solidFill>
                  </a:tcPr>
                </a:tc>
                <a:tc>
                  <a:txBody>
                    <a:bodyPr/>
                    <a:lstStyle/>
                    <a:p>
                      <a:pPr algn="ctr">
                        <a:defRPr sz="1000">
                          <a:latin typeface="Montserrat"/>
                        </a:defRPr>
                      </a:pPr>
                      <a:r>
                        <a:t>37,524</a:t>
                      </a:r>
                    </a:p>
                  </a:txBody>
                  <a:tcPr marL="0" marR="0" marT="0" marB="0">
                    <a:solidFill>
                      <a:srgbClr val="FFFFFF"/>
                    </a:solidFill>
                  </a:tcPr>
                </a:tc>
                <a:tc>
                  <a:txBody>
                    <a:bodyPr/>
                    <a:lstStyle/>
                    <a:p>
                      <a:pPr algn="ctr">
                        <a:defRPr sz="1000">
                          <a:latin typeface="Montserrat"/>
                        </a:defRPr>
                      </a:pPr>
                      <a:r>
                        <a:t>611</a:t>
                      </a:r>
                    </a:p>
                  </a:txBody>
                  <a:tcPr marL="0" marR="0" marT="0" marB="0">
                    <a:solidFill>
                      <a:srgbClr val="FFFFFF"/>
                    </a:solidFill>
                  </a:tcPr>
                </a:tc>
                <a:tc>
                  <a:txBody>
                    <a:bodyPr/>
                    <a:lstStyle/>
                    <a:p>
                      <a:pPr algn="ctr">
                        <a:defRPr sz="1000">
                          <a:latin typeface="Montserrat"/>
                        </a:defRPr>
                      </a:pPr>
                      <a:r>
                        <a:t>16,807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extLst>
                  <a:ext uri="{0D108BD9-81ED-4DB2-BD59-A6C34878D82A}">
                    <a16:rowId xmlns:a16="http://schemas.microsoft.com/office/drawing/2014/main" val="10009"/>
                  </a:ext>
                </a:extLst>
              </a:tr>
              <a:tr h="170633">
                <a:tc>
                  <a:txBody>
                    <a:bodyPr/>
                    <a:lstStyle/>
                    <a:p>
                      <a:pPr algn="l">
                        <a:defRPr sz="1000">
                          <a:latin typeface="Montserrat"/>
                        </a:defRPr>
                      </a:pPr>
                      <a:r>
                        <a:t>UMF 63 Hermosillo</a:t>
                      </a:r>
                    </a:p>
                  </a:txBody>
                  <a:tcPr marL="0" marR="0" marT="0" marB="0">
                    <a:solidFill>
                      <a:srgbClr val="EFEFEF"/>
                    </a:solidFill>
                  </a:tcPr>
                </a:tc>
                <a:tc>
                  <a:txBody>
                    <a:bodyPr/>
                    <a:lstStyle/>
                    <a:p>
                      <a:pPr algn="ctr">
                        <a:defRPr sz="1000">
                          <a:latin typeface="Montserrat"/>
                        </a:defRPr>
                      </a:pPr>
                      <a:r>
                        <a:t>65,851</a:t>
                      </a:r>
                    </a:p>
                  </a:txBody>
                  <a:tcPr marL="0" marR="0" marT="0" marB="0">
                    <a:solidFill>
                      <a:srgbClr val="EFEFEF"/>
                    </a:solidFill>
                  </a:tcPr>
                </a:tc>
                <a:tc>
                  <a:txBody>
                    <a:bodyPr/>
                    <a:lstStyle/>
                    <a:p>
                      <a:pPr algn="ctr">
                        <a:defRPr sz="1000">
                          <a:latin typeface="Montserrat"/>
                        </a:defRPr>
                      </a:pPr>
                      <a:r>
                        <a:t>-64</a:t>
                      </a:r>
                    </a:p>
                  </a:txBody>
                  <a:tcPr marL="0" marR="0" marT="0" marB="0">
                    <a:solidFill>
                      <a:srgbClr val="EFEFEF"/>
                    </a:solidFill>
                  </a:tcPr>
                </a:tc>
                <a:tc>
                  <a:txBody>
                    <a:bodyPr/>
                    <a:lstStyle/>
                    <a:p>
                      <a:pPr algn="ctr">
                        <a:defRPr sz="1000">
                          <a:latin typeface="Montserrat"/>
                        </a:defRPr>
                      </a:pPr>
                      <a:r>
                        <a:t>29,151</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45.5%</a:t>
                      </a:r>
                    </a:p>
                  </a:txBody>
                  <a:tcPr marL="0" marR="0" marT="0" marB="0">
                    <a:solidFill>
                      <a:srgbClr val="ECD3D9"/>
                    </a:solidFill>
                  </a:tcPr>
                </a:tc>
                <a:extLst>
                  <a:ext uri="{0D108BD9-81ED-4DB2-BD59-A6C34878D82A}">
                    <a16:rowId xmlns:a16="http://schemas.microsoft.com/office/drawing/2014/main" val="10010"/>
                  </a:ext>
                </a:extLst>
              </a:tr>
              <a:tr h="170633">
                <a:tc>
                  <a:txBody>
                    <a:bodyPr/>
                    <a:lstStyle/>
                    <a:p>
                      <a:pPr algn="l">
                        <a:defRPr sz="1000">
                          <a:latin typeface="Montserrat"/>
                        </a:defRPr>
                      </a:pPr>
                      <a:r>
                        <a:t>UMF 65 Hermosillo</a:t>
                      </a:r>
                    </a:p>
                  </a:txBody>
                  <a:tcPr marL="0" marR="0" marT="0" marB="0">
                    <a:solidFill>
                      <a:srgbClr val="FFFFFF"/>
                    </a:solidFill>
                  </a:tcPr>
                </a:tc>
                <a:tc>
                  <a:txBody>
                    <a:bodyPr/>
                    <a:lstStyle/>
                    <a:p>
                      <a:pPr algn="ctr">
                        <a:defRPr sz="1000">
                          <a:latin typeface="Montserrat"/>
                        </a:defRPr>
                      </a:pPr>
                      <a:r>
                        <a:t>65,683</a:t>
                      </a:r>
                    </a:p>
                  </a:txBody>
                  <a:tcPr marL="0" marR="0" marT="0" marB="0">
                    <a:solidFill>
                      <a:srgbClr val="FFFFFF"/>
                    </a:solidFill>
                  </a:tcPr>
                </a:tc>
                <a:tc>
                  <a:txBody>
                    <a:bodyPr/>
                    <a:lstStyle/>
                    <a:p>
                      <a:pPr algn="ctr">
                        <a:defRPr sz="1000">
                          <a:latin typeface="Montserrat"/>
                        </a:defRPr>
                      </a:pPr>
                      <a:r>
                        <a:t>1,363</a:t>
                      </a:r>
                    </a:p>
                  </a:txBody>
                  <a:tcPr marL="0" marR="0" marT="0" marB="0">
                    <a:solidFill>
                      <a:srgbClr val="FFFFFF"/>
                    </a:solidFill>
                  </a:tcPr>
                </a:tc>
                <a:tc>
                  <a:txBody>
                    <a:bodyPr/>
                    <a:lstStyle/>
                    <a:p>
                      <a:pPr algn="ctr">
                        <a:defRPr sz="1000">
                          <a:latin typeface="Montserrat"/>
                        </a:defRPr>
                      </a:pPr>
                      <a:r>
                        <a:t>29,568</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46.2%</a:t>
                      </a:r>
                    </a:p>
                  </a:txBody>
                  <a:tcPr marL="0" marR="0" marT="0" marB="0">
                    <a:solidFill>
                      <a:srgbClr val="ECD3D9"/>
                    </a:solidFill>
                  </a:tcPr>
                </a:tc>
                <a:extLst>
                  <a:ext uri="{0D108BD9-81ED-4DB2-BD59-A6C34878D82A}">
                    <a16:rowId xmlns:a16="http://schemas.microsoft.com/office/drawing/2014/main" val="10011"/>
                  </a:ext>
                </a:extLst>
              </a:tr>
              <a:tr h="170633">
                <a:tc>
                  <a:txBody>
                    <a:bodyPr/>
                    <a:lstStyle/>
                    <a:p>
                      <a:pPr algn="l">
                        <a:defRPr sz="1000">
                          <a:latin typeface="Montserrat"/>
                        </a:defRPr>
                      </a:pPr>
                      <a:r>
                        <a:t>UMF 64 Nogales</a:t>
                      </a:r>
                    </a:p>
                  </a:txBody>
                  <a:tcPr marL="0" marR="0" marT="0" marB="0">
                    <a:solidFill>
                      <a:srgbClr val="EFEFEF"/>
                    </a:solidFill>
                  </a:tcPr>
                </a:tc>
                <a:tc>
                  <a:txBody>
                    <a:bodyPr/>
                    <a:lstStyle/>
                    <a:p>
                      <a:pPr algn="ctr">
                        <a:defRPr sz="1000">
                          <a:latin typeface="Montserrat"/>
                        </a:defRPr>
                      </a:pPr>
                      <a:r>
                        <a:t>75,972</a:t>
                      </a:r>
                    </a:p>
                  </a:txBody>
                  <a:tcPr marL="0" marR="0" marT="0" marB="0">
                    <a:solidFill>
                      <a:srgbClr val="EFEFEF"/>
                    </a:solidFill>
                  </a:tcPr>
                </a:tc>
                <a:tc>
                  <a:txBody>
                    <a:bodyPr/>
                    <a:lstStyle/>
                    <a:p>
                      <a:pPr algn="ctr">
                        <a:defRPr sz="1000">
                          <a:latin typeface="Montserrat"/>
                        </a:defRPr>
                      </a:pPr>
                      <a:r>
                        <a:t>-1,667</a:t>
                      </a:r>
                    </a:p>
                  </a:txBody>
                  <a:tcPr marL="0" marR="0" marT="0" marB="0">
                    <a:solidFill>
                      <a:srgbClr val="EFEFEF"/>
                    </a:solidFill>
                  </a:tcPr>
                </a:tc>
                <a:tc>
                  <a:txBody>
                    <a:bodyPr/>
                    <a:lstStyle/>
                    <a:p>
                      <a:pPr algn="ctr">
                        <a:defRPr sz="1000">
                          <a:latin typeface="Montserrat"/>
                        </a:defRPr>
                      </a:pPr>
                      <a:r>
                        <a:t>33,737</a:t>
                      </a:r>
                    </a:p>
                  </a:txBody>
                  <a:tcPr marL="0" marR="0" marT="0" marB="0">
                    <a:solidFill>
                      <a:srgbClr val="ECD3D9"/>
                    </a:solidFill>
                  </a:tcPr>
                </a:tc>
                <a:tc>
                  <a:txBody>
                    <a:bodyPr/>
                    <a:lstStyle/>
                    <a:p>
                      <a:pPr algn="ctr">
                        <a:defRPr sz="1000">
                          <a:latin typeface="Montserrat"/>
                        </a:defRPr>
                      </a:pPr>
                      <a:r>
                        <a:t>74,000</a:t>
                      </a:r>
                    </a:p>
                  </a:txBody>
                  <a:tcPr marL="0" marR="0" marT="0" marB="0">
                    <a:solidFill>
                      <a:srgbClr val="ECD3D9"/>
                    </a:solidFill>
                  </a:tcPr>
                </a:tc>
                <a:tc>
                  <a:txBody>
                    <a:bodyPr/>
                    <a:lstStyle/>
                    <a:p>
                      <a:pPr algn="ctr">
                        <a:defRPr sz="1000">
                          <a:latin typeface="Montserrat"/>
                        </a:defRPr>
                      </a:pPr>
                      <a:r>
                        <a:t>45.6%</a:t>
                      </a:r>
                    </a:p>
                  </a:txBody>
                  <a:tcPr marL="0" marR="0" marT="0" marB="0">
                    <a:solidFill>
                      <a:srgbClr val="ECD3D9"/>
                    </a:solidFill>
                  </a:tcPr>
                </a:tc>
                <a:extLst>
                  <a:ext uri="{0D108BD9-81ED-4DB2-BD59-A6C34878D82A}">
                    <a16:rowId xmlns:a16="http://schemas.microsoft.com/office/drawing/2014/main" val="10012"/>
                  </a:ext>
                </a:extLst>
              </a:tr>
              <a:tr h="170633">
                <a:tc>
                  <a:txBody>
                    <a:bodyPr/>
                    <a:lstStyle/>
                    <a:p>
                      <a:pPr algn="l">
                        <a:defRPr sz="1000">
                          <a:latin typeface="Montserrat"/>
                        </a:defRPr>
                      </a:pPr>
                      <a:r>
                        <a:t>UMF 67 Obregón</a:t>
                      </a:r>
                    </a:p>
                  </a:txBody>
                  <a:tcPr marL="0" marR="0" marT="0" marB="0">
                    <a:solidFill>
                      <a:srgbClr val="FFFFFF"/>
                    </a:solidFill>
                  </a:tcPr>
                </a:tc>
                <a:tc>
                  <a:txBody>
                    <a:bodyPr/>
                    <a:lstStyle/>
                    <a:p>
                      <a:pPr algn="ctr">
                        <a:defRPr sz="1000">
                          <a:latin typeface="Montserrat"/>
                        </a:defRPr>
                      </a:pPr>
                      <a:r>
                        <a:t>57,885</a:t>
                      </a:r>
                    </a:p>
                  </a:txBody>
                  <a:tcPr marL="0" marR="0" marT="0" marB="0">
                    <a:solidFill>
                      <a:srgbClr val="FFFFFF"/>
                    </a:solidFill>
                  </a:tcPr>
                </a:tc>
                <a:tc>
                  <a:txBody>
                    <a:bodyPr/>
                    <a:lstStyle/>
                    <a:p>
                      <a:pPr algn="ctr">
                        <a:defRPr sz="1000">
                          <a:latin typeface="Montserrat"/>
                        </a:defRPr>
                      </a:pPr>
                      <a:r>
                        <a:t>4,635</a:t>
                      </a:r>
                    </a:p>
                  </a:txBody>
                  <a:tcPr marL="0" marR="0" marT="0" marB="0">
                    <a:solidFill>
                      <a:srgbClr val="FFFFFF"/>
                    </a:solidFill>
                  </a:tcPr>
                </a:tc>
                <a:tc>
                  <a:txBody>
                    <a:bodyPr/>
                    <a:lstStyle/>
                    <a:p>
                      <a:pPr algn="ctr">
                        <a:defRPr sz="1000">
                          <a:latin typeface="Montserrat"/>
                        </a:defRPr>
                      </a:pPr>
                      <a:r>
                        <a:t>26,037</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extLst>
                  <a:ext uri="{0D108BD9-81ED-4DB2-BD59-A6C34878D82A}">
                    <a16:rowId xmlns:a16="http://schemas.microsoft.com/office/drawing/2014/main" val="10013"/>
                  </a:ext>
                </a:extLst>
              </a:tr>
              <a:tr h="170633">
                <a:tc>
                  <a:txBody>
                    <a:bodyPr/>
                    <a:lstStyle/>
                    <a:p>
                      <a:pPr algn="l">
                        <a:defRPr sz="1000">
                          <a:latin typeface="Montserrat"/>
                        </a:defRPr>
                      </a:pPr>
                      <a:r>
                        <a:t>UMF 9 Puerto Peñasco</a:t>
                      </a:r>
                    </a:p>
                  </a:txBody>
                  <a:tcPr marL="0" marR="0" marT="0" marB="0">
                    <a:solidFill>
                      <a:srgbClr val="EFEFEF"/>
                    </a:solidFill>
                  </a:tcPr>
                </a:tc>
                <a:tc>
                  <a:txBody>
                    <a:bodyPr/>
                    <a:lstStyle/>
                    <a:p>
                      <a:pPr algn="ctr">
                        <a:defRPr sz="1000">
                          <a:latin typeface="Montserrat"/>
                        </a:defRPr>
                      </a:pPr>
                      <a:r>
                        <a:t>63,380</a:t>
                      </a:r>
                    </a:p>
                  </a:txBody>
                  <a:tcPr marL="0" marR="0" marT="0" marB="0">
                    <a:solidFill>
                      <a:srgbClr val="EFEFEF"/>
                    </a:solidFill>
                  </a:tcPr>
                </a:tc>
                <a:tc>
                  <a:txBody>
                    <a:bodyPr/>
                    <a:lstStyle/>
                    <a:p>
                      <a:pPr algn="ctr">
                        <a:defRPr sz="1000">
                          <a:latin typeface="Montserrat"/>
                        </a:defRPr>
                      </a:pPr>
                      <a:r>
                        <a:t>10,114</a:t>
                      </a:r>
                    </a:p>
                  </a:txBody>
                  <a:tcPr marL="0" marR="0" marT="0" marB="0">
                    <a:solidFill>
                      <a:srgbClr val="EFEFEF"/>
                    </a:solidFill>
                  </a:tcPr>
                </a:tc>
                <a:tc>
                  <a:txBody>
                    <a:bodyPr/>
                    <a:lstStyle/>
                    <a:p>
                      <a:pPr algn="ctr">
                        <a:defRPr sz="1000">
                          <a:latin typeface="Montserrat"/>
                        </a:defRPr>
                      </a:pPr>
                      <a:r>
                        <a:t>30,397</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48.5%</a:t>
                      </a:r>
                    </a:p>
                  </a:txBody>
                  <a:tcPr marL="0" marR="0" marT="0" marB="0">
                    <a:solidFill>
                      <a:srgbClr val="ECD3D9"/>
                    </a:solidFill>
                  </a:tcPr>
                </a:tc>
                <a:extLst>
                  <a:ext uri="{0D108BD9-81ED-4DB2-BD59-A6C34878D82A}">
                    <a16:rowId xmlns:a16="http://schemas.microsoft.com/office/drawing/2014/main" val="10014"/>
                  </a:ext>
                </a:extLst>
              </a:tr>
              <a:tr h="170633">
                <a:tc>
                  <a:txBody>
                    <a:bodyPr/>
                    <a:lstStyle/>
                    <a:p>
                      <a:pPr algn="l">
                        <a:defRPr sz="1000">
                          <a:latin typeface="Montserrat"/>
                        </a:defRPr>
                      </a:pPr>
                      <a:r>
                        <a:t>UMF 19 Agua Prieta</a:t>
                      </a:r>
                    </a:p>
                  </a:txBody>
                  <a:tcPr marL="0" marR="0" marT="0" marB="0">
                    <a:solidFill>
                      <a:srgbClr val="FFFFFF"/>
                    </a:solidFill>
                  </a:tcPr>
                </a:tc>
                <a:tc>
                  <a:txBody>
                    <a:bodyPr/>
                    <a:lstStyle/>
                    <a:p>
                      <a:pPr algn="ctr">
                        <a:defRPr sz="1000">
                          <a:latin typeface="Montserrat"/>
                        </a:defRPr>
                      </a:pPr>
                      <a:r>
                        <a:t>48,410</a:t>
                      </a:r>
                    </a:p>
                  </a:txBody>
                  <a:tcPr marL="0" marR="0" marT="0" marB="0">
                    <a:solidFill>
                      <a:srgbClr val="FFFFFF"/>
                    </a:solidFill>
                  </a:tcPr>
                </a:tc>
                <a:tc>
                  <a:txBody>
                    <a:bodyPr/>
                    <a:lstStyle/>
                    <a:p>
                      <a:pPr algn="ctr">
                        <a:defRPr sz="1000">
                          <a:latin typeface="Montserrat"/>
                        </a:defRPr>
                      </a:pPr>
                      <a:r>
                        <a:t>2,965</a:t>
                      </a:r>
                    </a:p>
                  </a:txBody>
                  <a:tcPr marL="0" marR="0" marT="0" marB="0">
                    <a:solidFill>
                      <a:srgbClr val="FFFFFF"/>
                    </a:solidFill>
                  </a:tcPr>
                </a:tc>
                <a:tc>
                  <a:txBody>
                    <a:bodyPr/>
                    <a:lstStyle/>
                    <a:p>
                      <a:pPr algn="ctr">
                        <a:defRPr sz="1000">
                          <a:latin typeface="Montserrat"/>
                        </a:defRPr>
                      </a:pPr>
                      <a:r>
                        <a:t>22,496</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44.9%</a:t>
                      </a:r>
                    </a:p>
                  </a:txBody>
                  <a:tcPr marL="0" marR="0" marT="0" marB="0">
                    <a:solidFill>
                      <a:srgbClr val="ECD3D9"/>
                    </a:solidFill>
                  </a:tcPr>
                </a:tc>
                <a:extLst>
                  <a:ext uri="{0D108BD9-81ED-4DB2-BD59-A6C34878D82A}">
                    <a16:rowId xmlns:a16="http://schemas.microsoft.com/office/drawing/2014/main" val="10015"/>
                  </a:ext>
                </a:extLst>
              </a:tr>
              <a:tr h="170633">
                <a:tc>
                  <a:txBody>
                    <a:bodyPr/>
                    <a:lstStyle/>
                    <a:p>
                      <a:pPr algn="l">
                        <a:defRPr sz="1000">
                          <a:latin typeface="Montserrat"/>
                        </a:defRPr>
                      </a:pPr>
                      <a:r>
                        <a:t>UMF 66 Cd Obregón</a:t>
                      </a:r>
                    </a:p>
                  </a:txBody>
                  <a:tcPr marL="0" marR="0" marT="0" marB="0">
                    <a:solidFill>
                      <a:srgbClr val="EFEFEF"/>
                    </a:solidFill>
                  </a:tcPr>
                </a:tc>
                <a:tc>
                  <a:txBody>
                    <a:bodyPr/>
                    <a:lstStyle/>
                    <a:p>
                      <a:pPr algn="ctr">
                        <a:defRPr sz="1000">
                          <a:latin typeface="Montserrat"/>
                        </a:defRPr>
                      </a:pPr>
                      <a:r>
                        <a:t>118,237</a:t>
                      </a:r>
                    </a:p>
                  </a:txBody>
                  <a:tcPr marL="0" marR="0" marT="0" marB="0">
                    <a:solidFill>
                      <a:srgbClr val="EFEFEF"/>
                    </a:solidFill>
                  </a:tcPr>
                </a:tc>
                <a:tc>
                  <a:txBody>
                    <a:bodyPr/>
                    <a:lstStyle/>
                    <a:p>
                      <a:pPr algn="ctr">
                        <a:defRPr sz="1000">
                          <a:latin typeface="Montserrat"/>
                        </a:defRPr>
                      </a:pPr>
                      <a:r>
                        <a:t>5,860</a:t>
                      </a:r>
                    </a:p>
                  </a:txBody>
                  <a:tcPr marL="0" marR="0" marT="0" marB="0">
                    <a:solidFill>
                      <a:srgbClr val="EFEFEF"/>
                    </a:solidFill>
                  </a:tcPr>
                </a:tc>
                <a:tc>
                  <a:txBody>
                    <a:bodyPr/>
                    <a:lstStyle/>
                    <a:p>
                      <a:pPr algn="ctr">
                        <a:defRPr sz="1000">
                          <a:latin typeface="Montserrat"/>
                        </a:defRPr>
                      </a:pPr>
                      <a:r>
                        <a:t>55,992</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extLst>
                  <a:ext uri="{0D108BD9-81ED-4DB2-BD59-A6C34878D82A}">
                    <a16:rowId xmlns:a16="http://schemas.microsoft.com/office/drawing/2014/main" val="10016"/>
                  </a:ext>
                </a:extLst>
              </a:tr>
              <a:tr h="170633">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1,206,805</a:t>
                      </a:r>
                    </a:p>
                  </a:txBody>
                  <a:tcPr marL="0" marR="0" marT="0" marB="0">
                    <a:solidFill>
                      <a:srgbClr val="D3E9E7"/>
                    </a:solidFill>
                  </a:tcPr>
                </a:tc>
                <a:tc>
                  <a:txBody>
                    <a:bodyPr/>
                    <a:lstStyle/>
                    <a:p>
                      <a:pPr algn="ctr">
                        <a:defRPr sz="1000" b="1">
                          <a:solidFill>
                            <a:srgbClr val="006556"/>
                          </a:solidFill>
                          <a:latin typeface="Montserrat"/>
                        </a:defRPr>
                      </a:pPr>
                      <a:r>
                        <a:t>72,533</a:t>
                      </a:r>
                    </a:p>
                  </a:txBody>
                  <a:tcPr marL="0" marR="0" marT="0" marB="0">
                    <a:solidFill>
                      <a:srgbClr val="D3E9E7"/>
                    </a:solidFill>
                  </a:tcPr>
                </a:tc>
                <a:tc>
                  <a:txBody>
                    <a:bodyPr/>
                    <a:lstStyle/>
                    <a:p>
                      <a:pPr algn="ctr">
                        <a:defRPr sz="1000" b="1">
                          <a:solidFill>
                            <a:srgbClr val="FFFFFF"/>
                          </a:solidFill>
                          <a:latin typeface="Montserrat"/>
                        </a:defRPr>
                      </a:pPr>
                      <a:r>
                        <a:t>561,356</a:t>
                      </a:r>
                    </a:p>
                  </a:txBody>
                  <a:tcPr marL="0" marR="0" marT="0" marB="0">
                    <a:solidFill>
                      <a:srgbClr val="9F2241"/>
                    </a:solidFill>
                  </a:tcPr>
                </a:tc>
                <a:tc>
                  <a:txBody>
                    <a:bodyPr/>
                    <a:lstStyle/>
                    <a:p>
                      <a:pPr algn="ctr">
                        <a:defRPr sz="1000" b="1">
                          <a:solidFill>
                            <a:srgbClr val="FFFFFF"/>
                          </a:solidFill>
                          <a:latin typeface="Montserrat"/>
                        </a:defRPr>
                      </a:pPr>
                      <a:r>
                        <a:t>1,281,928</a:t>
                      </a:r>
                    </a:p>
                  </a:txBody>
                  <a:tcPr marL="0" marR="0" marT="0" marB="0">
                    <a:solidFill>
                      <a:srgbClr val="9F2241"/>
                    </a:solidFill>
                  </a:tcPr>
                </a:tc>
                <a:tc>
                  <a:txBody>
                    <a:bodyPr/>
                    <a:lstStyle/>
                    <a:p>
                      <a:pPr algn="ctr">
                        <a:defRPr sz="1000" b="1">
                          <a:solidFill>
                            <a:srgbClr val="FFFFFF"/>
                          </a:solidFill>
                          <a:latin typeface="Montserrat"/>
                        </a:defRPr>
                      </a:pPr>
                      <a:r>
                        <a:rPr dirty="0"/>
                        <a:t>43.8%</a:t>
                      </a:r>
                    </a:p>
                  </a:txBody>
                  <a:tcPr marL="0" marR="0" marT="0" marB="0">
                    <a:solidFill>
                      <a:srgbClr val="9F2241"/>
                    </a:solidFill>
                  </a:tcPr>
                </a:tc>
                <a:extLst>
                  <a:ext uri="{0D108BD9-81ED-4DB2-BD59-A6C34878D82A}">
                    <a16:rowId xmlns:a16="http://schemas.microsoft.com/office/drawing/2014/main" val="10017"/>
                  </a:ext>
                </a:extLst>
              </a:tr>
            </a:tbl>
          </a:graphicData>
        </a:graphic>
      </p:graphicFrame>
      <p:graphicFrame>
        <p:nvGraphicFramePr>
          <p:cNvPr id="8" name="Chart 7"/>
          <p:cNvGraphicFramePr>
            <a:graphicFrameLocks noGrp="1"/>
          </p:cNvGraphicFramePr>
          <p:nvPr>
            <p:extLst>
              <p:ext uri="{D42A27DB-BD31-4B8C-83A1-F6EECF244321}">
                <p14:modId xmlns:p14="http://schemas.microsoft.com/office/powerpoint/2010/main" val="2527514018"/>
              </p:ext>
            </p:extLst>
          </p:nvPr>
        </p:nvGraphicFramePr>
        <p:xfrm>
          <a:off x="4651200" y="6041760"/>
          <a:ext cx="1800000" cy="18000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4651200" y="6761760"/>
            <a:ext cx="1800000" cy="360000"/>
          </a:xfrm>
          <a:prstGeom prst="rect">
            <a:avLst/>
          </a:prstGeom>
          <a:noFill/>
        </p:spPr>
        <p:txBody>
          <a:bodyPr wrap="none">
            <a:spAutoFit/>
          </a:bodyPr>
          <a:lstStyle/>
          <a:p>
            <a:pPr algn="ctr"/>
            <a:r>
              <a:rPr sz="2400" b="1">
                <a:solidFill>
                  <a:srgbClr val="9F2241"/>
                </a:solidFill>
                <a:latin typeface="Montserrat"/>
              </a:rPr>
              <a:t>43.8%</a:t>
            </a:r>
          </a:p>
        </p:txBody>
      </p:sp>
      <p:sp>
        <p:nvSpPr>
          <p:cNvPr id="10" name="TextBox 9"/>
          <p:cNvSpPr txBox="1"/>
          <p:nvPr/>
        </p:nvSpPr>
        <p:spPr>
          <a:xfrm>
            <a:off x="4651200" y="7946160"/>
            <a:ext cx="1800000" cy="360000"/>
          </a:xfrm>
          <a:prstGeom prst="rect">
            <a:avLst/>
          </a:prstGeom>
          <a:noFill/>
        </p:spPr>
        <p:txBody>
          <a:bodyPr wrap="none">
            <a:spAutoFit/>
          </a:bodyPr>
          <a:lstStyle/>
          <a:p>
            <a:pPr algn="ctr"/>
            <a:r>
              <a:rPr sz="1400" b="1" dirty="0">
                <a:solidFill>
                  <a:srgbClr val="9F2241"/>
                </a:solidFill>
                <a:latin typeface="Montserrat"/>
              </a:rPr>
              <a:t>Avance</a:t>
            </a:r>
          </a:p>
        </p:txBody>
      </p:sp>
      <p:sp>
        <p:nvSpPr>
          <p:cNvPr id="11" name="TextBox 10"/>
          <p:cNvSpPr txBox="1"/>
          <p:nvPr/>
        </p:nvSpPr>
        <p:spPr>
          <a:xfrm>
            <a:off x="628494" y="6462960"/>
            <a:ext cx="2854800" cy="1198800"/>
          </a:xfrm>
          <a:prstGeom prst="rect">
            <a:avLst/>
          </a:prstGeom>
          <a:noFill/>
        </p:spPr>
        <p:txBody>
          <a:bodyPr wrap="square">
            <a:spAutoFit/>
          </a:bodyPr>
          <a:lstStyle/>
          <a:p>
            <a:pPr algn="ctr">
              <a:defRPr sz="3600" b="1">
                <a:solidFill>
                  <a:srgbClr val="9F2241"/>
                </a:solidFill>
                <a:latin typeface="Montserrat"/>
              </a:defRPr>
            </a:pPr>
            <a:r>
              <a:rPr dirty="0"/>
              <a:t>1,281,928 </a:t>
            </a:r>
            <a:br>
              <a:rPr dirty="0"/>
            </a:br>
            <a:r>
              <a:rPr dirty="0"/>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96" name="CuadroTexto 295">
            <a:extLst>
              <a:ext uri="{FF2B5EF4-FFF2-40B4-BE49-F238E27FC236}">
                <a16:creationId xmlns:a16="http://schemas.microsoft.com/office/drawing/2014/main" id="{E538A53A-A982-4EE0-E633-CCC69C4FB7AB}"/>
              </a:ext>
            </a:extLst>
          </p:cNvPr>
          <p:cNvSpPr txBox="1"/>
          <p:nvPr/>
        </p:nvSpPr>
        <p:spPr>
          <a:xfrm>
            <a:off x="4328664" y="5553958"/>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3 Nuevas UMTC con   3 consultorios</a:t>
            </a:r>
          </a:p>
        </p:txBody>
      </p:sp>
      <p:sp>
        <p:nvSpPr>
          <p:cNvPr id="297" name="CuadroTexto 296">
            <a:extLst>
              <a:ext uri="{FF2B5EF4-FFF2-40B4-BE49-F238E27FC236}">
                <a16:creationId xmlns:a16="http://schemas.microsoft.com/office/drawing/2014/main" id="{D6E01CA8-B30C-49C0-BE16-BCECE1F6C67E}"/>
              </a:ext>
            </a:extLst>
          </p:cNvPr>
          <p:cNvSpPr txBox="1"/>
          <p:nvPr/>
        </p:nvSpPr>
        <p:spPr>
          <a:xfrm>
            <a:off x="4761684" y="6802181"/>
            <a:ext cx="2837915"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HGSMF 6 Valle Hermosillo</a:t>
            </a:r>
          </a:p>
          <a:p>
            <a:pPr marL="342900" indent="-342900">
              <a:buFont typeface="+mj-lt"/>
              <a:buAutoNum type="arabicParenR"/>
            </a:pPr>
            <a:r>
              <a:rPr lang="es-MX" dirty="0">
                <a:latin typeface="Montserrat" panose="00000500000000000000" pitchFamily="2" charset="0"/>
              </a:rPr>
              <a:t>UMF 19 Agua Prieta</a:t>
            </a:r>
          </a:p>
          <a:p>
            <a:pPr marL="342900" indent="-342900">
              <a:buFont typeface="+mj-lt"/>
              <a:buAutoNum type="arabicParenR"/>
            </a:pPr>
            <a:r>
              <a:rPr lang="es-MX" dirty="0">
                <a:latin typeface="Montserrat" panose="00000500000000000000" pitchFamily="2" charset="0"/>
              </a:rPr>
              <a:t>UMF 55 Cananea</a:t>
            </a:r>
          </a:p>
        </p:txBody>
      </p:sp>
      <p:sp>
        <p:nvSpPr>
          <p:cNvPr id="298" name="TextBox 29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99" name="TextBox 29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300" name="TextBox 29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01" name="TextBox 30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02" name="Connector 30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304" name="TextBox 303"/>
          <p:cNvSpPr txBox="1"/>
          <p:nvPr/>
        </p:nvSpPr>
        <p:spPr>
          <a:xfrm>
            <a:off x="1940400" y="5715698"/>
            <a:ext cx="2085690" cy="1323439"/>
          </a:xfrm>
          <a:prstGeom prst="rect">
            <a:avLst/>
          </a:prstGeom>
          <a:noFill/>
        </p:spPr>
        <p:txBody>
          <a:bodyPr wrap="square">
            <a:spAutoFit/>
          </a:bodyPr>
          <a:lstStyle/>
          <a:p>
            <a:pPr algn="l">
              <a:defRPr sz="1600" b="1">
                <a:solidFill>
                  <a:srgbClr val="000000"/>
                </a:solidFill>
                <a:latin typeface="Montserrat"/>
              </a:defRPr>
            </a:pPr>
            <a:r>
              <a:rPr dirty="0"/>
              <a:t>de las </a:t>
            </a:r>
            <a:r>
              <a:rPr dirty="0" err="1"/>
              <a:t>consultas</a:t>
            </a:r>
            <a:r>
              <a:rPr dirty="0"/>
              <a:t> en 2025 </a:t>
            </a:r>
            <a:r>
              <a:rPr dirty="0" err="1"/>
              <a:t>fueron</a:t>
            </a:r>
            <a:r>
              <a:rPr dirty="0"/>
              <a:t> en fin de </a:t>
            </a:r>
            <a:r>
              <a:rPr dirty="0" err="1"/>
              <a:t>semana</a:t>
            </a:r>
            <a:r>
              <a:rPr dirty="0"/>
              <a:t> (269,864 </a:t>
            </a:r>
            <a:r>
              <a:rPr dirty="0" err="1"/>
              <a:t>consultas</a:t>
            </a:r>
            <a:r>
              <a:rPr dirty="0"/>
              <a:t>)</a:t>
            </a:r>
          </a:p>
        </p:txBody>
      </p:sp>
      <p:graphicFrame>
        <p:nvGraphicFramePr>
          <p:cNvPr id="305" name="Table 304"/>
          <p:cNvGraphicFramePr>
            <a:graphicFrameLocks noGrp="1"/>
          </p:cNvGraphicFramePr>
          <p:nvPr>
            <p:extLst>
              <p:ext uri="{D42A27DB-BD31-4B8C-83A1-F6EECF244321}">
                <p14:modId xmlns:p14="http://schemas.microsoft.com/office/powerpoint/2010/main" val="207137382"/>
              </p:ext>
            </p:extLst>
          </p:nvPr>
        </p:nvGraphicFramePr>
        <p:xfrm>
          <a:off x="147601" y="2097970"/>
          <a:ext cx="7473599" cy="2313133"/>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477313">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83582">
                <a:tc>
                  <a:txBody>
                    <a:bodyPr/>
                    <a:lstStyle/>
                    <a:p>
                      <a:pPr algn="l">
                        <a:defRPr sz="1000">
                          <a:solidFill>
                            <a:srgbClr val="000000"/>
                          </a:solidFill>
                          <a:latin typeface="Montserrat"/>
                        </a:defRPr>
                      </a:pPr>
                      <a:r>
                        <a:t>UMF 4 Guaymas</a:t>
                      </a:r>
                    </a:p>
                  </a:txBody>
                  <a:tcPr marL="0" marR="0" marT="0" marB="0">
                    <a:solidFill>
                      <a:srgbClr val="FFFFFF"/>
                    </a:solidFill>
                  </a:tcPr>
                </a:tc>
                <a:tc>
                  <a:txBody>
                    <a:bodyPr/>
                    <a:lstStyle/>
                    <a:p>
                      <a:pPr algn="ctr">
                        <a:defRPr sz="1000">
                          <a:solidFill>
                            <a:srgbClr val="000000"/>
                          </a:solidFill>
                          <a:latin typeface="Montserrat"/>
                        </a:defRPr>
                      </a:pPr>
                      <a:r>
                        <a:t>176,872</a:t>
                      </a:r>
                    </a:p>
                  </a:txBody>
                  <a:tcPr marL="0" marR="0" marT="0" marB="0">
                    <a:solidFill>
                      <a:srgbClr val="FFFFFF"/>
                    </a:solidFill>
                  </a:tcPr>
                </a:tc>
                <a:tc>
                  <a:txBody>
                    <a:bodyPr/>
                    <a:lstStyle/>
                    <a:p>
                      <a:pPr algn="ctr">
                        <a:defRPr sz="1000">
                          <a:solidFill>
                            <a:srgbClr val="000000"/>
                          </a:solidFill>
                          <a:latin typeface="Montserrat"/>
                        </a:defRPr>
                      </a:pPr>
                      <a:r>
                        <a:t>8,279</a:t>
                      </a:r>
                    </a:p>
                  </a:txBody>
                  <a:tcPr marL="0" marR="0" marT="0" marB="0">
                    <a:solidFill>
                      <a:srgbClr val="FFFFFF"/>
                    </a:solidFill>
                  </a:tcPr>
                </a:tc>
                <a:tc>
                  <a:txBody>
                    <a:bodyPr/>
                    <a:lstStyle/>
                    <a:p>
                      <a:pPr algn="ctr">
                        <a:defRPr sz="1000">
                          <a:solidFill>
                            <a:srgbClr val="000000"/>
                          </a:solidFill>
                          <a:latin typeface="Montserrat"/>
                        </a:defRPr>
                      </a:pPr>
                      <a:r>
                        <a:t>81,734</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47.8%</a:t>
                      </a:r>
                    </a:p>
                  </a:txBody>
                  <a:tcPr marL="0" marR="0" marT="0" marB="0">
                    <a:solidFill>
                      <a:srgbClr val="ECD3D9"/>
                    </a:solidFill>
                  </a:tcPr>
                </a:tc>
                <a:extLst>
                  <a:ext uri="{0D108BD9-81ED-4DB2-BD59-A6C34878D82A}">
                    <a16:rowId xmlns:a16="http://schemas.microsoft.com/office/drawing/2014/main" val="10001"/>
                  </a:ext>
                </a:extLst>
              </a:tr>
              <a:tr h="183582">
                <a:tc>
                  <a:txBody>
                    <a:bodyPr/>
                    <a:lstStyle/>
                    <a:p>
                      <a:pPr algn="l">
                        <a:defRPr sz="1000">
                          <a:solidFill>
                            <a:srgbClr val="000000"/>
                          </a:solidFill>
                          <a:latin typeface="Montserrat"/>
                        </a:defRPr>
                      </a:pPr>
                      <a:r>
                        <a:t>UMF 1 Obregón</a:t>
                      </a:r>
                    </a:p>
                  </a:txBody>
                  <a:tcPr marL="0" marR="0" marT="0" marB="0">
                    <a:solidFill>
                      <a:srgbClr val="EFEFEF"/>
                    </a:solidFill>
                  </a:tcPr>
                </a:tc>
                <a:tc>
                  <a:txBody>
                    <a:bodyPr/>
                    <a:lstStyle/>
                    <a:p>
                      <a:pPr algn="ctr">
                        <a:defRPr sz="1000">
                          <a:solidFill>
                            <a:srgbClr val="000000"/>
                          </a:solidFill>
                          <a:latin typeface="Montserrat"/>
                        </a:defRPr>
                      </a:pPr>
                      <a:r>
                        <a:t>408,308</a:t>
                      </a:r>
                    </a:p>
                  </a:txBody>
                  <a:tcPr marL="0" marR="0" marT="0" marB="0">
                    <a:solidFill>
                      <a:srgbClr val="EFEFEF"/>
                    </a:solidFill>
                  </a:tcPr>
                </a:tc>
                <a:tc>
                  <a:txBody>
                    <a:bodyPr/>
                    <a:lstStyle/>
                    <a:p>
                      <a:pPr algn="ctr">
                        <a:defRPr sz="1000">
                          <a:solidFill>
                            <a:srgbClr val="000000"/>
                          </a:solidFill>
                          <a:latin typeface="Montserrat"/>
                        </a:defRPr>
                      </a:pPr>
                      <a:r>
                        <a:t>23,144</a:t>
                      </a:r>
                    </a:p>
                  </a:txBody>
                  <a:tcPr marL="0" marR="0" marT="0" marB="0">
                    <a:solidFill>
                      <a:srgbClr val="EFEFEF"/>
                    </a:solidFill>
                  </a:tcPr>
                </a:tc>
                <a:tc>
                  <a:txBody>
                    <a:bodyPr/>
                    <a:lstStyle/>
                    <a:p>
                      <a:pPr algn="ctr">
                        <a:defRPr sz="1000">
                          <a:solidFill>
                            <a:srgbClr val="000000"/>
                          </a:solidFill>
                          <a:latin typeface="Montserrat"/>
                        </a:defRPr>
                      </a:pPr>
                      <a:r>
                        <a:t>182,168</a:t>
                      </a:r>
                    </a:p>
                  </a:txBody>
                  <a:tcPr marL="0" marR="0" marT="0" marB="0">
                    <a:solidFill>
                      <a:srgbClr val="ECD3D9"/>
                    </a:solidFill>
                  </a:tcPr>
                </a:tc>
                <a:tc>
                  <a:txBody>
                    <a:bodyPr/>
                    <a:lstStyle/>
                    <a:p>
                      <a:pPr algn="ctr">
                        <a:defRPr sz="1000">
                          <a:solidFill>
                            <a:srgbClr val="000000"/>
                          </a:solidFill>
                          <a:latin typeface="Montserrat"/>
                        </a:defRPr>
                      </a:pPr>
                      <a:r>
                        <a:t>396,000</a:t>
                      </a:r>
                    </a:p>
                  </a:txBody>
                  <a:tcPr marL="0" marR="0" marT="0" marB="0">
                    <a:solidFill>
                      <a:srgbClr val="ECD3D9"/>
                    </a:solidFill>
                  </a:tcPr>
                </a:tc>
                <a:tc>
                  <a:txBody>
                    <a:bodyPr/>
                    <a:lstStyle/>
                    <a:p>
                      <a:pPr algn="ctr">
                        <a:defRPr sz="1000">
                          <a:solidFill>
                            <a:srgbClr val="000000"/>
                          </a:solidFill>
                          <a:latin typeface="Montserrat"/>
                        </a:defRPr>
                      </a:pPr>
                      <a:r>
                        <a:t>46.0%</a:t>
                      </a:r>
                    </a:p>
                  </a:txBody>
                  <a:tcPr marL="0" marR="0" marT="0" marB="0">
                    <a:solidFill>
                      <a:srgbClr val="ECD3D9"/>
                    </a:solidFill>
                  </a:tcPr>
                </a:tc>
                <a:extLst>
                  <a:ext uri="{0D108BD9-81ED-4DB2-BD59-A6C34878D82A}">
                    <a16:rowId xmlns:a16="http://schemas.microsoft.com/office/drawing/2014/main" val="10002"/>
                  </a:ext>
                </a:extLst>
              </a:tr>
              <a:tr h="183582">
                <a:tc>
                  <a:txBody>
                    <a:bodyPr/>
                    <a:lstStyle/>
                    <a:p>
                      <a:pPr algn="l">
                        <a:defRPr sz="1000">
                          <a:solidFill>
                            <a:srgbClr val="000000"/>
                          </a:solidFill>
                          <a:latin typeface="Montserrat"/>
                        </a:defRPr>
                      </a:pPr>
                      <a:r>
                        <a:t>UMF 37 Hermosillo</a:t>
                      </a:r>
                    </a:p>
                  </a:txBody>
                  <a:tcPr marL="0" marR="0" marT="0" marB="0">
                    <a:solidFill>
                      <a:srgbClr val="FFFFFF"/>
                    </a:solidFill>
                  </a:tcPr>
                </a:tc>
                <a:tc>
                  <a:txBody>
                    <a:bodyPr/>
                    <a:lstStyle/>
                    <a:p>
                      <a:pPr algn="ctr">
                        <a:defRPr sz="1000">
                          <a:solidFill>
                            <a:srgbClr val="000000"/>
                          </a:solidFill>
                          <a:latin typeface="Montserrat"/>
                        </a:defRPr>
                      </a:pPr>
                      <a:r>
                        <a:t>291,338</a:t>
                      </a:r>
                    </a:p>
                  </a:txBody>
                  <a:tcPr marL="0" marR="0" marT="0" marB="0">
                    <a:solidFill>
                      <a:srgbClr val="FFFFFF"/>
                    </a:solidFill>
                  </a:tcPr>
                </a:tc>
                <a:tc>
                  <a:txBody>
                    <a:bodyPr/>
                    <a:lstStyle/>
                    <a:p>
                      <a:pPr algn="ctr">
                        <a:defRPr sz="1000">
                          <a:solidFill>
                            <a:srgbClr val="000000"/>
                          </a:solidFill>
                          <a:latin typeface="Montserrat"/>
                        </a:defRPr>
                      </a:pPr>
                      <a:r>
                        <a:t>16,868</a:t>
                      </a:r>
                    </a:p>
                  </a:txBody>
                  <a:tcPr marL="0" marR="0" marT="0" marB="0">
                    <a:solidFill>
                      <a:srgbClr val="FFFFFF"/>
                    </a:solidFill>
                  </a:tcPr>
                </a:tc>
                <a:tc>
                  <a:txBody>
                    <a:bodyPr/>
                    <a:lstStyle/>
                    <a:p>
                      <a:pPr algn="ctr">
                        <a:defRPr sz="1000">
                          <a:solidFill>
                            <a:srgbClr val="000000"/>
                          </a:solidFill>
                          <a:latin typeface="Montserrat"/>
                        </a:defRPr>
                      </a:pPr>
                      <a:r>
                        <a:t>133,134</a:t>
                      </a:r>
                    </a:p>
                  </a:txBody>
                  <a:tcPr marL="0" marR="0" marT="0" marB="0">
                    <a:solidFill>
                      <a:srgbClr val="ECD3D9"/>
                    </a:solidFill>
                  </a:tcPr>
                </a:tc>
                <a:tc>
                  <a:txBody>
                    <a:bodyPr/>
                    <a:lstStyle/>
                    <a:p>
                      <a:pPr algn="ctr">
                        <a:defRPr sz="1000">
                          <a:solidFill>
                            <a:srgbClr val="000000"/>
                          </a:solidFill>
                          <a:latin typeface="Montserrat"/>
                        </a:defRPr>
                      </a:pPr>
                      <a:r>
                        <a:t>289,296</a:t>
                      </a:r>
                    </a:p>
                  </a:txBody>
                  <a:tcPr marL="0" marR="0" marT="0" marB="0">
                    <a:solidFill>
                      <a:srgbClr val="ECD3D9"/>
                    </a:solidFill>
                  </a:tcPr>
                </a:tc>
                <a:tc>
                  <a:txBody>
                    <a:bodyPr/>
                    <a:lstStyle/>
                    <a:p>
                      <a:pPr algn="ctr">
                        <a:defRPr sz="1000">
                          <a:solidFill>
                            <a:srgbClr val="000000"/>
                          </a:solidFill>
                          <a:latin typeface="Montserrat"/>
                        </a:defRPr>
                      </a:pPr>
                      <a:r>
                        <a:t>46.0%</a:t>
                      </a:r>
                    </a:p>
                  </a:txBody>
                  <a:tcPr marL="0" marR="0" marT="0" marB="0">
                    <a:solidFill>
                      <a:srgbClr val="ECD3D9"/>
                    </a:solidFill>
                  </a:tcPr>
                </a:tc>
                <a:extLst>
                  <a:ext uri="{0D108BD9-81ED-4DB2-BD59-A6C34878D82A}">
                    <a16:rowId xmlns:a16="http://schemas.microsoft.com/office/drawing/2014/main" val="10003"/>
                  </a:ext>
                </a:extLst>
              </a:tr>
              <a:tr h="183582">
                <a:tc>
                  <a:txBody>
                    <a:bodyPr/>
                    <a:lstStyle/>
                    <a:p>
                      <a:pPr algn="l">
                        <a:defRPr sz="1000">
                          <a:solidFill>
                            <a:srgbClr val="000000"/>
                          </a:solidFill>
                          <a:latin typeface="Montserrat"/>
                        </a:defRPr>
                      </a:pPr>
                      <a:r>
                        <a:t>UMF 2 Hermosillo</a:t>
                      </a:r>
                    </a:p>
                  </a:txBody>
                  <a:tcPr marL="0" marR="0" marT="0" marB="0">
                    <a:solidFill>
                      <a:srgbClr val="EFEFEF"/>
                    </a:solidFill>
                  </a:tcPr>
                </a:tc>
                <a:tc>
                  <a:txBody>
                    <a:bodyPr/>
                    <a:lstStyle/>
                    <a:p>
                      <a:pPr algn="ctr">
                        <a:defRPr sz="1000">
                          <a:solidFill>
                            <a:srgbClr val="000000"/>
                          </a:solidFill>
                          <a:latin typeface="Montserrat"/>
                        </a:defRPr>
                      </a:pPr>
                      <a:r>
                        <a:t>288,417</a:t>
                      </a:r>
                    </a:p>
                  </a:txBody>
                  <a:tcPr marL="0" marR="0" marT="0" marB="0">
                    <a:solidFill>
                      <a:srgbClr val="EFEFEF"/>
                    </a:solidFill>
                  </a:tcPr>
                </a:tc>
                <a:tc>
                  <a:txBody>
                    <a:bodyPr/>
                    <a:lstStyle/>
                    <a:p>
                      <a:pPr algn="ctr">
                        <a:defRPr sz="1000">
                          <a:solidFill>
                            <a:srgbClr val="000000"/>
                          </a:solidFill>
                          <a:latin typeface="Montserrat"/>
                        </a:defRPr>
                      </a:pPr>
                      <a:r>
                        <a:t>11,343</a:t>
                      </a:r>
                    </a:p>
                  </a:txBody>
                  <a:tcPr marL="0" marR="0" marT="0" marB="0">
                    <a:solidFill>
                      <a:srgbClr val="EFEFEF"/>
                    </a:solidFill>
                  </a:tcPr>
                </a:tc>
                <a:tc>
                  <a:txBody>
                    <a:bodyPr/>
                    <a:lstStyle/>
                    <a:p>
                      <a:pPr algn="ctr">
                        <a:defRPr sz="1000">
                          <a:solidFill>
                            <a:srgbClr val="000000"/>
                          </a:solidFill>
                          <a:latin typeface="Montserrat"/>
                        </a:defRPr>
                      </a:pPr>
                      <a:r>
                        <a:t>133,060</a:t>
                      </a:r>
                    </a:p>
                  </a:txBody>
                  <a:tcPr marL="0" marR="0" marT="0" marB="0">
                    <a:solidFill>
                      <a:srgbClr val="ECD3D9"/>
                    </a:solidFill>
                  </a:tcPr>
                </a:tc>
                <a:tc>
                  <a:txBody>
                    <a:bodyPr/>
                    <a:lstStyle/>
                    <a:p>
                      <a:pPr algn="ctr">
                        <a:defRPr sz="1000">
                          <a:solidFill>
                            <a:srgbClr val="000000"/>
                          </a:solidFill>
                          <a:latin typeface="Montserrat"/>
                        </a:defRPr>
                      </a:pPr>
                      <a:r>
                        <a:t>279,000</a:t>
                      </a:r>
                    </a:p>
                  </a:txBody>
                  <a:tcPr marL="0" marR="0" marT="0" marB="0">
                    <a:solidFill>
                      <a:srgbClr val="ECD3D9"/>
                    </a:solidFill>
                  </a:tcPr>
                </a:tc>
                <a:tc>
                  <a:txBody>
                    <a:bodyPr/>
                    <a:lstStyle/>
                    <a:p>
                      <a:pPr algn="ctr">
                        <a:defRPr sz="1000">
                          <a:solidFill>
                            <a:srgbClr val="000000"/>
                          </a:solidFill>
                          <a:latin typeface="Montserrat"/>
                        </a:defRPr>
                      </a:pPr>
                      <a:r>
                        <a:t>47.7%</a:t>
                      </a:r>
                    </a:p>
                  </a:txBody>
                  <a:tcPr marL="0" marR="0" marT="0" marB="0">
                    <a:solidFill>
                      <a:srgbClr val="ECD3D9"/>
                    </a:solidFill>
                  </a:tcPr>
                </a:tc>
                <a:extLst>
                  <a:ext uri="{0D108BD9-81ED-4DB2-BD59-A6C34878D82A}">
                    <a16:rowId xmlns:a16="http://schemas.microsoft.com/office/drawing/2014/main" val="10004"/>
                  </a:ext>
                </a:extLst>
              </a:tr>
              <a:tr h="183582">
                <a:tc>
                  <a:txBody>
                    <a:bodyPr/>
                    <a:lstStyle/>
                    <a:p>
                      <a:pPr algn="l">
                        <a:defRPr sz="1000">
                          <a:solidFill>
                            <a:srgbClr val="000000"/>
                          </a:solidFill>
                          <a:latin typeface="Montserrat"/>
                        </a:defRPr>
                      </a:pPr>
                      <a:r>
                        <a:t>UMF 59 Navojoa</a:t>
                      </a:r>
                    </a:p>
                  </a:txBody>
                  <a:tcPr marL="0" marR="0" marT="0" marB="0">
                    <a:solidFill>
                      <a:srgbClr val="FFFFFF"/>
                    </a:solidFill>
                  </a:tcPr>
                </a:tc>
                <a:tc>
                  <a:txBody>
                    <a:bodyPr/>
                    <a:lstStyle/>
                    <a:p>
                      <a:pPr algn="ctr">
                        <a:defRPr sz="1000">
                          <a:solidFill>
                            <a:srgbClr val="000000"/>
                          </a:solidFill>
                          <a:latin typeface="Montserrat"/>
                        </a:defRPr>
                      </a:pPr>
                      <a:r>
                        <a:t>42,118</a:t>
                      </a:r>
                    </a:p>
                  </a:txBody>
                  <a:tcPr marL="0" marR="0" marT="0" marB="0">
                    <a:solidFill>
                      <a:srgbClr val="FFFFFF"/>
                    </a:solidFill>
                  </a:tcPr>
                </a:tc>
                <a:tc>
                  <a:txBody>
                    <a:bodyPr/>
                    <a:lstStyle/>
                    <a:p>
                      <a:pPr algn="ctr">
                        <a:defRPr sz="1000">
                          <a:solidFill>
                            <a:srgbClr val="000000"/>
                          </a:solidFill>
                          <a:latin typeface="Montserrat"/>
                        </a:defRPr>
                      </a:pPr>
                      <a:r>
                        <a:rPr dirty="0"/>
                        <a:t>2,316</a:t>
                      </a:r>
                    </a:p>
                  </a:txBody>
                  <a:tcPr marL="0" marR="0" marT="0" marB="0">
                    <a:solidFill>
                      <a:srgbClr val="FFFFFF"/>
                    </a:solidFill>
                  </a:tcPr>
                </a:tc>
                <a:tc>
                  <a:txBody>
                    <a:bodyPr/>
                    <a:lstStyle/>
                    <a:p>
                      <a:pPr algn="ctr">
                        <a:defRPr sz="1000">
                          <a:solidFill>
                            <a:srgbClr val="000000"/>
                          </a:solidFill>
                          <a:latin typeface="Montserrat"/>
                        </a:defRPr>
                      </a:pPr>
                      <a:r>
                        <a:t>19,083</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46.5%</a:t>
                      </a:r>
                    </a:p>
                  </a:txBody>
                  <a:tcPr marL="0" marR="0" marT="0" marB="0">
                    <a:solidFill>
                      <a:srgbClr val="ECD3D9"/>
                    </a:solidFill>
                  </a:tcPr>
                </a:tc>
                <a:extLst>
                  <a:ext uri="{0D108BD9-81ED-4DB2-BD59-A6C34878D82A}">
                    <a16:rowId xmlns:a16="http://schemas.microsoft.com/office/drawing/2014/main" val="10005"/>
                  </a:ext>
                </a:extLst>
              </a:tr>
              <a:tr h="183582">
                <a:tc>
                  <a:txBody>
                    <a:bodyPr/>
                    <a:lstStyle/>
                    <a:p>
                      <a:pPr algn="l">
                        <a:defRPr sz="1000">
                          <a:solidFill>
                            <a:srgbClr val="000000"/>
                          </a:solidFill>
                          <a:latin typeface="Montserrat"/>
                        </a:defRPr>
                      </a:pPr>
                      <a:r>
                        <a:t>UMF 61 Navojoa</a:t>
                      </a:r>
                    </a:p>
                  </a:txBody>
                  <a:tcPr marL="0" marR="0" marT="0" marB="0">
                    <a:solidFill>
                      <a:srgbClr val="EFEFEF"/>
                    </a:solidFill>
                  </a:tcPr>
                </a:tc>
                <a:tc>
                  <a:txBody>
                    <a:bodyPr/>
                    <a:lstStyle/>
                    <a:p>
                      <a:pPr algn="ctr">
                        <a:defRPr sz="1000">
                          <a:solidFill>
                            <a:srgbClr val="000000"/>
                          </a:solidFill>
                          <a:latin typeface="Montserrat"/>
                        </a:defRPr>
                      </a:pPr>
                      <a:r>
                        <a:t>44,257</a:t>
                      </a:r>
                    </a:p>
                  </a:txBody>
                  <a:tcPr marL="0" marR="0" marT="0" marB="0">
                    <a:solidFill>
                      <a:srgbClr val="EFEFEF"/>
                    </a:solidFill>
                  </a:tcPr>
                </a:tc>
                <a:tc>
                  <a:txBody>
                    <a:bodyPr/>
                    <a:lstStyle/>
                    <a:p>
                      <a:pPr algn="ctr">
                        <a:defRPr sz="1000">
                          <a:solidFill>
                            <a:srgbClr val="000000"/>
                          </a:solidFill>
                          <a:latin typeface="Montserrat"/>
                        </a:defRPr>
                      </a:pPr>
                      <a:r>
                        <a:t>1,892</a:t>
                      </a:r>
                    </a:p>
                  </a:txBody>
                  <a:tcPr marL="0" marR="0" marT="0" marB="0">
                    <a:solidFill>
                      <a:srgbClr val="EFEFEF"/>
                    </a:solidFill>
                  </a:tcPr>
                </a:tc>
                <a:tc>
                  <a:txBody>
                    <a:bodyPr/>
                    <a:lstStyle/>
                    <a:p>
                      <a:pPr algn="ctr">
                        <a:defRPr sz="1000">
                          <a:solidFill>
                            <a:srgbClr val="000000"/>
                          </a:solidFill>
                          <a:latin typeface="Montserrat"/>
                        </a:defRPr>
                      </a:pPr>
                      <a:r>
                        <a:t>19,584</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45.5%</a:t>
                      </a:r>
                    </a:p>
                  </a:txBody>
                  <a:tcPr marL="0" marR="0" marT="0" marB="0">
                    <a:solidFill>
                      <a:srgbClr val="ECD3D9"/>
                    </a:solidFill>
                  </a:tcPr>
                </a:tc>
                <a:extLst>
                  <a:ext uri="{0D108BD9-81ED-4DB2-BD59-A6C34878D82A}">
                    <a16:rowId xmlns:a16="http://schemas.microsoft.com/office/drawing/2014/main" val="10006"/>
                  </a:ext>
                </a:extLst>
              </a:tr>
              <a:tr h="367164">
                <a:tc>
                  <a:txBody>
                    <a:bodyPr/>
                    <a:lstStyle/>
                    <a:p>
                      <a:pPr algn="l">
                        <a:defRPr sz="1000">
                          <a:solidFill>
                            <a:srgbClr val="000000"/>
                          </a:solidFill>
                          <a:latin typeface="Montserrat"/>
                        </a:defRPr>
                      </a:pPr>
                      <a:r>
                        <a:t>UMF 38 S. Luis Rio Colorado</a:t>
                      </a:r>
                    </a:p>
                  </a:txBody>
                  <a:tcPr marL="0" marR="0" marT="0" marB="0">
                    <a:solidFill>
                      <a:srgbClr val="FFFFFF"/>
                    </a:solidFill>
                  </a:tcPr>
                </a:tc>
                <a:tc>
                  <a:txBody>
                    <a:bodyPr/>
                    <a:lstStyle/>
                    <a:p>
                      <a:pPr algn="ctr">
                        <a:defRPr sz="1000">
                          <a:solidFill>
                            <a:srgbClr val="000000"/>
                          </a:solidFill>
                          <a:latin typeface="Montserrat"/>
                        </a:defRPr>
                      </a:pPr>
                      <a:r>
                        <a:t>166,719</a:t>
                      </a:r>
                    </a:p>
                  </a:txBody>
                  <a:tcPr marL="0" marR="0" marT="0" marB="0">
                    <a:solidFill>
                      <a:srgbClr val="FFFFFF"/>
                    </a:solidFill>
                  </a:tcPr>
                </a:tc>
                <a:tc>
                  <a:txBody>
                    <a:bodyPr/>
                    <a:lstStyle/>
                    <a:p>
                      <a:pPr algn="ctr">
                        <a:defRPr sz="1000">
                          <a:solidFill>
                            <a:srgbClr val="000000"/>
                          </a:solidFill>
                          <a:latin typeface="Montserrat"/>
                        </a:defRPr>
                      </a:pPr>
                      <a:r>
                        <a:t>8,723</a:t>
                      </a:r>
                    </a:p>
                  </a:txBody>
                  <a:tcPr marL="0" marR="0" marT="0" marB="0">
                    <a:solidFill>
                      <a:srgbClr val="FFFFFF"/>
                    </a:solidFill>
                  </a:tcPr>
                </a:tc>
                <a:tc>
                  <a:txBody>
                    <a:bodyPr/>
                    <a:lstStyle/>
                    <a:p>
                      <a:pPr algn="ctr">
                        <a:defRPr sz="1000">
                          <a:solidFill>
                            <a:srgbClr val="000000"/>
                          </a:solidFill>
                          <a:latin typeface="Montserrat"/>
                        </a:defRPr>
                      </a:pPr>
                      <a:r>
                        <a:t>75,908</a:t>
                      </a:r>
                    </a:p>
                  </a:txBody>
                  <a:tcPr marL="0" marR="0" marT="0" marB="0">
                    <a:solidFill>
                      <a:srgbClr val="ECD3D9"/>
                    </a:solidFill>
                  </a:tcPr>
                </a:tc>
                <a:tc>
                  <a:txBody>
                    <a:bodyPr/>
                    <a:lstStyle/>
                    <a:p>
                      <a:pPr algn="ctr">
                        <a:defRPr sz="1000">
                          <a:solidFill>
                            <a:srgbClr val="000000"/>
                          </a:solidFill>
                          <a:latin typeface="Montserrat"/>
                        </a:defRPr>
                      </a:pPr>
                      <a:r>
                        <a:t>161,000</a:t>
                      </a:r>
                    </a:p>
                  </a:txBody>
                  <a:tcPr marL="0" marR="0" marT="0" marB="0">
                    <a:solidFill>
                      <a:srgbClr val="ECD3D9"/>
                    </a:solidFill>
                  </a:tcPr>
                </a:tc>
                <a:tc>
                  <a:txBody>
                    <a:bodyPr/>
                    <a:lstStyle/>
                    <a:p>
                      <a:pPr algn="ctr">
                        <a:defRPr sz="1000">
                          <a:solidFill>
                            <a:srgbClr val="000000"/>
                          </a:solidFill>
                          <a:latin typeface="Montserrat"/>
                        </a:defRPr>
                      </a:pPr>
                      <a:r>
                        <a:t>47.1%</a:t>
                      </a:r>
                    </a:p>
                  </a:txBody>
                  <a:tcPr marL="0" marR="0" marT="0" marB="0">
                    <a:solidFill>
                      <a:srgbClr val="ECD3D9"/>
                    </a:solidFill>
                  </a:tcPr>
                </a:tc>
                <a:extLst>
                  <a:ext uri="{0D108BD9-81ED-4DB2-BD59-A6C34878D82A}">
                    <a16:rowId xmlns:a16="http://schemas.microsoft.com/office/drawing/2014/main" val="10007"/>
                  </a:ext>
                </a:extLst>
              </a:tr>
              <a:tr h="183582">
                <a:tc>
                  <a:txBody>
                    <a:bodyPr/>
                    <a:lstStyle/>
                    <a:p>
                      <a:pPr algn="l">
                        <a:defRPr sz="1000">
                          <a:solidFill>
                            <a:srgbClr val="000000"/>
                          </a:solidFill>
                          <a:latin typeface="Montserrat"/>
                        </a:defRPr>
                      </a:pPr>
                      <a:r>
                        <a:t>UMF-UMAA 68 Hermosillo</a:t>
                      </a:r>
                    </a:p>
                  </a:txBody>
                  <a:tcPr marL="0" marR="0" marT="0" marB="0">
                    <a:solidFill>
                      <a:srgbClr val="EFEFEF"/>
                    </a:solidFill>
                  </a:tcPr>
                </a:tc>
                <a:tc>
                  <a:txBody>
                    <a:bodyPr/>
                    <a:lstStyle/>
                    <a:p>
                      <a:pPr algn="ctr">
                        <a:defRPr sz="1000">
                          <a:solidFill>
                            <a:srgbClr val="000000"/>
                          </a:solidFill>
                          <a:latin typeface="Montserrat"/>
                        </a:defRPr>
                      </a:pPr>
                      <a:r>
                        <a:t>207,564</a:t>
                      </a:r>
                    </a:p>
                  </a:txBody>
                  <a:tcPr marL="0" marR="0" marT="0" marB="0">
                    <a:solidFill>
                      <a:srgbClr val="EFEFEF"/>
                    </a:solidFill>
                  </a:tcPr>
                </a:tc>
                <a:tc>
                  <a:txBody>
                    <a:bodyPr/>
                    <a:lstStyle/>
                    <a:p>
                      <a:pPr algn="ctr">
                        <a:defRPr sz="1000">
                          <a:solidFill>
                            <a:srgbClr val="000000"/>
                          </a:solidFill>
                          <a:latin typeface="Montserrat"/>
                        </a:defRPr>
                      </a:pPr>
                      <a:r>
                        <a:t>20,810</a:t>
                      </a:r>
                    </a:p>
                  </a:txBody>
                  <a:tcPr marL="0" marR="0" marT="0" marB="0">
                    <a:solidFill>
                      <a:srgbClr val="EFEFEF"/>
                    </a:solidFill>
                  </a:tcPr>
                </a:tc>
                <a:tc>
                  <a:txBody>
                    <a:bodyPr/>
                    <a:lstStyle/>
                    <a:p>
                      <a:pPr algn="ctr">
                        <a:defRPr sz="1000">
                          <a:solidFill>
                            <a:srgbClr val="000000"/>
                          </a:solidFill>
                          <a:latin typeface="Montserrat"/>
                        </a:defRPr>
                      </a:pPr>
                      <a:r>
                        <a:t>91,650</a:t>
                      </a:r>
                    </a:p>
                  </a:txBody>
                  <a:tcPr marL="0" marR="0" marT="0" marB="0">
                    <a:solidFill>
                      <a:srgbClr val="ECD3D9"/>
                    </a:solidFill>
                  </a:tcPr>
                </a:tc>
                <a:tc>
                  <a:txBody>
                    <a:bodyPr/>
                    <a:lstStyle/>
                    <a:p>
                      <a:pPr algn="ctr">
                        <a:defRPr sz="1000">
                          <a:solidFill>
                            <a:srgbClr val="000000"/>
                          </a:solidFill>
                          <a:latin typeface="Montserrat"/>
                        </a:defRPr>
                      </a:pPr>
                      <a:r>
                        <a:t>201,000</a:t>
                      </a:r>
                    </a:p>
                  </a:txBody>
                  <a:tcPr marL="0" marR="0" marT="0" marB="0">
                    <a:solidFill>
                      <a:srgbClr val="ECD3D9"/>
                    </a:solidFill>
                  </a:tcPr>
                </a:tc>
                <a:tc>
                  <a:txBody>
                    <a:bodyPr/>
                    <a:lstStyle/>
                    <a:p>
                      <a:pPr algn="ctr">
                        <a:defRPr sz="1000">
                          <a:solidFill>
                            <a:srgbClr val="000000"/>
                          </a:solidFill>
                          <a:latin typeface="Montserrat"/>
                        </a:defRPr>
                      </a:pPr>
                      <a:r>
                        <a:t>45.6%</a:t>
                      </a:r>
                    </a:p>
                  </a:txBody>
                  <a:tcPr marL="0" marR="0" marT="0" marB="0">
                    <a:solidFill>
                      <a:srgbClr val="ECD3D9"/>
                    </a:solidFill>
                  </a:tcPr>
                </a:tc>
                <a:extLst>
                  <a:ext uri="{0D108BD9-81ED-4DB2-BD59-A6C34878D82A}">
                    <a16:rowId xmlns:a16="http://schemas.microsoft.com/office/drawing/2014/main" val="10008"/>
                  </a:ext>
                </a:extLst>
              </a:tr>
              <a:tr h="183582">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1,625,593</a:t>
                      </a:r>
                    </a:p>
                  </a:txBody>
                  <a:tcPr marL="0" marR="0" marT="0" marB="0">
                    <a:solidFill>
                      <a:srgbClr val="D3E9E7"/>
                    </a:solidFill>
                  </a:tcPr>
                </a:tc>
                <a:tc>
                  <a:txBody>
                    <a:bodyPr/>
                    <a:lstStyle/>
                    <a:p>
                      <a:pPr algn="ctr">
                        <a:defRPr sz="1000" b="1">
                          <a:solidFill>
                            <a:srgbClr val="006556"/>
                          </a:solidFill>
                          <a:latin typeface="Montserrat"/>
                        </a:defRPr>
                      </a:pPr>
                      <a:r>
                        <a:t>93,375</a:t>
                      </a:r>
                    </a:p>
                  </a:txBody>
                  <a:tcPr marL="0" marR="0" marT="0" marB="0">
                    <a:solidFill>
                      <a:srgbClr val="D3E9E7"/>
                    </a:solidFill>
                  </a:tcPr>
                </a:tc>
                <a:tc>
                  <a:txBody>
                    <a:bodyPr/>
                    <a:lstStyle/>
                    <a:p>
                      <a:pPr algn="ctr">
                        <a:defRPr sz="1000" b="1">
                          <a:solidFill>
                            <a:srgbClr val="FFFFFF"/>
                          </a:solidFill>
                          <a:latin typeface="Montserrat"/>
                        </a:defRPr>
                      </a:pPr>
                      <a:r>
                        <a:t>736,321</a:t>
                      </a:r>
                    </a:p>
                  </a:txBody>
                  <a:tcPr marL="0" marR="0" marT="0" marB="0">
                    <a:solidFill>
                      <a:srgbClr val="9F2241"/>
                    </a:solidFill>
                  </a:tcPr>
                </a:tc>
                <a:tc>
                  <a:txBody>
                    <a:bodyPr/>
                    <a:lstStyle/>
                    <a:p>
                      <a:pPr algn="ctr">
                        <a:defRPr sz="1000" b="1">
                          <a:solidFill>
                            <a:srgbClr val="FFFFFF"/>
                          </a:solidFill>
                          <a:latin typeface="Montserrat"/>
                        </a:defRPr>
                      </a:pPr>
                      <a:r>
                        <a:t>1,581,296</a:t>
                      </a:r>
                    </a:p>
                  </a:txBody>
                  <a:tcPr marL="0" marR="0" marT="0" marB="0">
                    <a:solidFill>
                      <a:srgbClr val="9F2241"/>
                    </a:solidFill>
                  </a:tcPr>
                </a:tc>
                <a:tc>
                  <a:txBody>
                    <a:bodyPr/>
                    <a:lstStyle/>
                    <a:p>
                      <a:pPr algn="ctr">
                        <a:defRPr sz="1000" b="1">
                          <a:solidFill>
                            <a:srgbClr val="FFFFFF"/>
                          </a:solidFill>
                          <a:latin typeface="Montserrat"/>
                        </a:defRPr>
                      </a:pPr>
                      <a:r>
                        <a:rPr dirty="0"/>
                        <a:t>46.6%</a:t>
                      </a:r>
                    </a:p>
                  </a:txBody>
                  <a:tcPr marL="0" marR="0" marT="0" marB="0">
                    <a:solidFill>
                      <a:srgbClr val="9F2241"/>
                    </a:solidFill>
                  </a:tcPr>
                </a:tc>
                <a:extLst>
                  <a:ext uri="{0D108BD9-81ED-4DB2-BD59-A6C34878D82A}">
                    <a16:rowId xmlns:a16="http://schemas.microsoft.com/office/drawing/2014/main" val="10009"/>
                  </a:ext>
                </a:extLst>
              </a:tr>
            </a:tbl>
          </a:graphicData>
        </a:graphic>
      </p:graphicFrame>
      <p:graphicFrame>
        <p:nvGraphicFramePr>
          <p:cNvPr id="306" name="Chart 305"/>
          <p:cNvGraphicFramePr>
            <a:graphicFrameLocks noGrp="1"/>
          </p:cNvGraphicFramePr>
          <p:nvPr>
            <p:extLst>
              <p:ext uri="{D42A27DB-BD31-4B8C-83A1-F6EECF244321}">
                <p14:modId xmlns:p14="http://schemas.microsoft.com/office/powerpoint/2010/main" val="597315505"/>
              </p:ext>
            </p:extLst>
          </p:nvPr>
        </p:nvGraphicFramePr>
        <p:xfrm>
          <a:off x="230646" y="5647298"/>
          <a:ext cx="1709754" cy="1904400"/>
        </p:xfrm>
        <a:graphic>
          <a:graphicData uri="http://schemas.openxmlformats.org/drawingml/2006/chart">
            <c:chart xmlns:c="http://schemas.openxmlformats.org/drawingml/2006/chart" xmlns:r="http://schemas.openxmlformats.org/officeDocument/2006/relationships" r:id="rId4"/>
          </a:graphicData>
        </a:graphic>
      </p:graphicFrame>
      <p:sp>
        <p:nvSpPr>
          <p:cNvPr id="307" name="TextBox 306"/>
          <p:cNvSpPr txBox="1"/>
          <p:nvPr/>
        </p:nvSpPr>
        <p:spPr>
          <a:xfrm>
            <a:off x="230646" y="6472987"/>
            <a:ext cx="1810800" cy="430887"/>
          </a:xfrm>
          <a:prstGeom prst="rect">
            <a:avLst/>
          </a:prstGeom>
          <a:noFill/>
        </p:spPr>
        <p:txBody>
          <a:bodyPr wrap="square">
            <a:spAutoFit/>
          </a:bodyPr>
          <a:lstStyle/>
          <a:p>
            <a:pPr algn="ctr"/>
            <a:r>
              <a:rPr sz="2200" b="1" dirty="0">
                <a:solidFill>
                  <a:srgbClr val="9F2241"/>
                </a:solidFill>
                <a:latin typeface="Montserrat"/>
              </a:rP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34838217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25999" y="9549799"/>
            <a:ext cx="7473600" cy="399600"/>
          </a:xfrm>
          <a:prstGeom prst="rect">
            <a:avLst/>
          </a:prstGeom>
          <a:noFill/>
        </p:spPr>
        <p:txBody>
          <a:bodyPr wrap="square" lIns="0" tIns="0" rIns="0" bIns="0">
            <a:spAutoFit/>
          </a:bodyPr>
          <a:lstStyle/>
          <a:p>
            <a:pPr algn="l">
              <a:defRPr sz="800">
                <a:solidFill>
                  <a:srgbClr val="FFFFFF"/>
                </a:solidFill>
                <a:latin typeface="Montserrat"/>
              </a:defRPr>
            </a:pPr>
            <a:r>
              <a:rPr dirty="0"/>
              <a:t>No </a:t>
            </a:r>
            <a:r>
              <a:rPr dirty="0" err="1"/>
              <a:t>incluye</a:t>
            </a:r>
            <a:r>
              <a:rPr dirty="0"/>
              <a:t> la </a:t>
            </a:r>
            <a:r>
              <a:rPr dirty="0" err="1"/>
              <a:t>productividad</a:t>
            </a:r>
            <a:r>
              <a:rPr dirty="0"/>
              <a:t> de </a:t>
            </a:r>
            <a:r>
              <a:rPr dirty="0" err="1"/>
              <a:t>especialidad</a:t>
            </a:r>
            <a:r>
              <a:rPr dirty="0"/>
              <a:t> </a:t>
            </a:r>
            <a:r>
              <a:rPr dirty="0" err="1"/>
              <a:t>generada</a:t>
            </a:r>
            <a:r>
              <a:rPr dirty="0"/>
              <a:t> en UMF </a:t>
            </a:r>
            <a:r>
              <a:rPr dirty="0" err="1"/>
              <a:t>ni</a:t>
            </a:r>
            <a:r>
              <a:rPr dirty="0"/>
              <a:t> en HR. En el </a:t>
            </a:r>
            <a:r>
              <a:rPr dirty="0" err="1"/>
              <a:t>año</a:t>
            </a:r>
            <a:r>
              <a:rPr dirty="0"/>
              <a:t> 2025 no </a:t>
            </a:r>
            <a:r>
              <a:rPr dirty="0" err="1"/>
              <a:t>incluye</a:t>
            </a:r>
            <a:r>
              <a:rPr dirty="0"/>
              <a:t> información de HR y UMR.</a:t>
            </a:r>
            <a:br>
              <a:rPr dirty="0"/>
            </a:br>
            <a:r>
              <a:rPr dirty="0"/>
              <a:t>El </a:t>
            </a:r>
            <a:r>
              <a:rPr dirty="0" err="1"/>
              <a:t>año</a:t>
            </a:r>
            <a:r>
              <a:rPr dirty="0"/>
              <a:t> de </a:t>
            </a:r>
            <a:r>
              <a:rPr dirty="0" err="1"/>
              <a:t>proceso</a:t>
            </a:r>
            <a:r>
              <a:rPr dirty="0"/>
              <a:t> </a:t>
            </a:r>
            <a:r>
              <a:rPr dirty="0" err="1"/>
              <a:t>inicia</a:t>
            </a:r>
            <a:r>
              <a:rPr dirty="0"/>
              <a:t> del 26 de </a:t>
            </a:r>
            <a:r>
              <a:rPr dirty="0" err="1"/>
              <a:t>diciembre</a:t>
            </a:r>
            <a:r>
              <a:rPr dirty="0"/>
              <a:t> del </a:t>
            </a:r>
            <a:r>
              <a:rPr dirty="0" err="1"/>
              <a:t>año</a:t>
            </a:r>
            <a:r>
              <a:rPr dirty="0"/>
              <a:t> anterior al 25 de </a:t>
            </a:r>
            <a:r>
              <a:rPr dirty="0" err="1"/>
              <a:t>diciembre</a:t>
            </a:r>
            <a:r>
              <a:rPr dirty="0"/>
              <a:t> del </a:t>
            </a:r>
            <a:r>
              <a:rPr dirty="0" err="1"/>
              <a:t>año</a:t>
            </a:r>
            <a:r>
              <a:rPr dirty="0"/>
              <a:t> en curso:2025 (del 26 de </a:t>
            </a:r>
            <a:r>
              <a:rPr dirty="0" err="1"/>
              <a:t>dic</a:t>
            </a:r>
            <a:r>
              <a:rPr dirty="0"/>
              <a:t> de 2024 al 25 de </a:t>
            </a:r>
            <a:r>
              <a:rPr dirty="0" err="1"/>
              <a:t>dic</a:t>
            </a:r>
            <a:r>
              <a:rPr dirty="0"/>
              <a:t> de 2025). Corte de información: Semana: 24, 7 </a:t>
            </a:r>
            <a:r>
              <a:rPr dirty="0" err="1"/>
              <a:t>junio</a:t>
            </a:r>
            <a:r>
              <a:rPr dirty="0"/>
              <a:t> 2026</a:t>
            </a:r>
          </a:p>
        </p:txBody>
      </p:sp>
      <p:graphicFrame>
        <p:nvGraphicFramePr>
          <p:cNvPr id="236" name="Table 235"/>
          <p:cNvGraphicFramePr>
            <a:graphicFrameLocks noGrp="1"/>
          </p:cNvGraphicFramePr>
          <p:nvPr>
            <p:extLst>
              <p:ext uri="{D42A27DB-BD31-4B8C-83A1-F6EECF244321}">
                <p14:modId xmlns:p14="http://schemas.microsoft.com/office/powerpoint/2010/main" val="2754608967"/>
              </p:ext>
            </p:extLst>
          </p:nvPr>
        </p:nvGraphicFramePr>
        <p:xfrm>
          <a:off x="144000" y="1494000"/>
          <a:ext cx="7340399" cy="466344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26817">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28346">
                <a:tc>
                  <a:txBody>
                    <a:bodyPr/>
                    <a:lstStyle/>
                    <a:p>
                      <a:pPr algn="l">
                        <a:defRPr sz="1000">
                          <a:latin typeface="Montserrat"/>
                        </a:defRPr>
                      </a:pPr>
                      <a:r>
                        <a:t>HGSMF 23 Nacozari</a:t>
                      </a:r>
                    </a:p>
                  </a:txBody>
                  <a:tcPr>
                    <a:solidFill>
                      <a:srgbClr val="FFFFFF"/>
                    </a:solidFill>
                  </a:tcPr>
                </a:tc>
                <a:tc>
                  <a:txBody>
                    <a:bodyPr/>
                    <a:lstStyle/>
                    <a:p>
                      <a:pPr algn="ctr">
                        <a:defRPr sz="1000">
                          <a:latin typeface="Montserrat"/>
                        </a:defRPr>
                      </a:pPr>
                      <a:r>
                        <a:t>8,944</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5,857</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50.1%</a:t>
                      </a:r>
                    </a:p>
                  </a:txBody>
                  <a:tcPr>
                    <a:solidFill>
                      <a:srgbClr val="ECD3D9"/>
                    </a:solidFill>
                  </a:tcPr>
                </a:tc>
                <a:extLst>
                  <a:ext uri="{0D108BD9-81ED-4DB2-BD59-A6C34878D82A}">
                    <a16:rowId xmlns:a16="http://schemas.microsoft.com/office/drawing/2014/main" val="10001"/>
                  </a:ext>
                </a:extLst>
              </a:tr>
              <a:tr h="228346">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194,621</a:t>
                      </a:r>
                    </a:p>
                  </a:txBody>
                  <a:tcPr>
                    <a:solidFill>
                      <a:srgbClr val="EFEFEF"/>
                    </a:solidFill>
                  </a:tcPr>
                </a:tc>
                <a:tc>
                  <a:txBody>
                    <a:bodyPr/>
                    <a:lstStyle/>
                    <a:p>
                      <a:pPr algn="ctr">
                        <a:defRPr sz="1000">
                          <a:latin typeface="Montserrat"/>
                        </a:defRPr>
                      </a:pPr>
                      <a:r>
                        <a:t>26,034</a:t>
                      </a:r>
                    </a:p>
                  </a:txBody>
                  <a:tcPr>
                    <a:solidFill>
                      <a:srgbClr val="EFEFEF"/>
                    </a:solidFill>
                  </a:tcPr>
                </a:tc>
                <a:tc>
                  <a:txBody>
                    <a:bodyPr/>
                    <a:lstStyle/>
                    <a:p>
                      <a:pPr algn="ctr">
                        <a:defRPr sz="1000">
                          <a:latin typeface="Montserrat"/>
                        </a:defRPr>
                      </a:pPr>
                      <a:r>
                        <a:t>90,358</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44.4%</a:t>
                      </a:r>
                    </a:p>
                  </a:txBody>
                  <a:tcPr>
                    <a:solidFill>
                      <a:srgbClr val="ECD3D9"/>
                    </a:solidFill>
                  </a:tcPr>
                </a:tc>
                <a:extLst>
                  <a:ext uri="{0D108BD9-81ED-4DB2-BD59-A6C34878D82A}">
                    <a16:rowId xmlns:a16="http://schemas.microsoft.com/office/drawing/2014/main" val="10002"/>
                  </a:ext>
                </a:extLst>
              </a:tr>
              <a:tr h="228346">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10,851</a:t>
                      </a:r>
                    </a:p>
                  </a:txBody>
                  <a:tcPr>
                    <a:solidFill>
                      <a:srgbClr val="FFFFFF"/>
                    </a:solidFill>
                  </a:tcPr>
                </a:tc>
                <a:tc>
                  <a:txBody>
                    <a:bodyPr/>
                    <a:lstStyle/>
                    <a:p>
                      <a:pPr algn="ctr">
                        <a:defRPr sz="1000">
                          <a:latin typeface="Montserrat"/>
                        </a:defRPr>
                      </a:pPr>
                      <a:r>
                        <a:t>-225</a:t>
                      </a:r>
                    </a:p>
                  </a:txBody>
                  <a:tcPr>
                    <a:solidFill>
                      <a:srgbClr val="FFFFFF"/>
                    </a:solidFill>
                  </a:tcPr>
                </a:tc>
                <a:tc>
                  <a:txBody>
                    <a:bodyPr/>
                    <a:lstStyle/>
                    <a:p>
                      <a:pPr algn="ctr">
                        <a:defRPr sz="1000">
                          <a:latin typeface="Montserrat"/>
                        </a:defRPr>
                      </a:pPr>
                      <a:r>
                        <a:t>5,443</a:t>
                      </a:r>
                    </a:p>
                  </a:txBody>
                  <a:tcPr>
                    <a:solidFill>
                      <a:srgbClr val="ECD3D9"/>
                    </a:solidFill>
                  </a:tcPr>
                </a:tc>
                <a:tc>
                  <a:txBody>
                    <a:bodyPr/>
                    <a:lstStyle/>
                    <a:p>
                      <a:pPr algn="ctr">
                        <a:defRPr sz="1000">
                          <a:latin typeface="Montserrat"/>
                        </a:defRPr>
                      </a:pPr>
                      <a:r>
                        <a:t>12,410</a:t>
                      </a:r>
                    </a:p>
                  </a:txBody>
                  <a:tcPr>
                    <a:solidFill>
                      <a:srgbClr val="ECD3D9"/>
                    </a:solidFill>
                  </a:tcPr>
                </a:tc>
                <a:tc>
                  <a:txBody>
                    <a:bodyPr/>
                    <a:lstStyle/>
                    <a:p>
                      <a:pPr algn="ctr">
                        <a:defRPr sz="1000">
                          <a:latin typeface="Montserrat"/>
                        </a:defRPr>
                      </a:pPr>
                      <a:r>
                        <a:t>43.9%</a:t>
                      </a:r>
                    </a:p>
                  </a:txBody>
                  <a:tcPr>
                    <a:solidFill>
                      <a:srgbClr val="ECD3D9"/>
                    </a:solidFill>
                  </a:tcPr>
                </a:tc>
                <a:extLst>
                  <a:ext uri="{0D108BD9-81ED-4DB2-BD59-A6C34878D82A}">
                    <a16:rowId xmlns:a16="http://schemas.microsoft.com/office/drawing/2014/main" val="10003"/>
                  </a:ext>
                </a:extLst>
              </a:tr>
              <a:tr h="228346">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148,168</a:t>
                      </a:r>
                    </a:p>
                  </a:txBody>
                  <a:tcPr>
                    <a:solidFill>
                      <a:srgbClr val="EFEFEF"/>
                    </a:solidFill>
                  </a:tcPr>
                </a:tc>
                <a:tc>
                  <a:txBody>
                    <a:bodyPr/>
                    <a:lstStyle/>
                    <a:p>
                      <a:pPr algn="ctr">
                        <a:defRPr sz="1000">
                          <a:latin typeface="Montserrat"/>
                        </a:defRPr>
                      </a:pPr>
                      <a:r>
                        <a:t>28,138</a:t>
                      </a:r>
                    </a:p>
                  </a:txBody>
                  <a:tcPr>
                    <a:solidFill>
                      <a:srgbClr val="EFEFEF"/>
                    </a:solidFill>
                  </a:tcPr>
                </a:tc>
                <a:tc>
                  <a:txBody>
                    <a:bodyPr/>
                    <a:lstStyle/>
                    <a:p>
                      <a:pPr algn="ctr">
                        <a:defRPr sz="1000">
                          <a:latin typeface="Montserrat"/>
                        </a:defRPr>
                      </a:pPr>
                      <a:r>
                        <a:t>68,263</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43.3%</a:t>
                      </a:r>
                    </a:p>
                  </a:txBody>
                  <a:tcPr>
                    <a:solidFill>
                      <a:srgbClr val="ECD3D9"/>
                    </a:solidFill>
                  </a:tcPr>
                </a:tc>
                <a:extLst>
                  <a:ext uri="{0D108BD9-81ED-4DB2-BD59-A6C34878D82A}">
                    <a16:rowId xmlns:a16="http://schemas.microsoft.com/office/drawing/2014/main" val="10004"/>
                  </a:ext>
                </a:extLst>
              </a:tr>
              <a:tr h="228346">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27,069</a:t>
                      </a:r>
                    </a:p>
                  </a:txBody>
                  <a:tcPr>
                    <a:solidFill>
                      <a:srgbClr val="FFFFFF"/>
                    </a:solidFill>
                  </a:tcPr>
                </a:tc>
                <a:tc>
                  <a:txBody>
                    <a:bodyPr/>
                    <a:lstStyle/>
                    <a:p>
                      <a:pPr algn="ctr">
                        <a:defRPr sz="1000">
                          <a:latin typeface="Montserrat"/>
                        </a:defRPr>
                      </a:pPr>
                      <a:r>
                        <a:t>3,586</a:t>
                      </a:r>
                    </a:p>
                  </a:txBody>
                  <a:tcPr>
                    <a:solidFill>
                      <a:srgbClr val="FFFFFF"/>
                    </a:solidFill>
                  </a:tcPr>
                </a:tc>
                <a:tc>
                  <a:txBody>
                    <a:bodyPr/>
                    <a:lstStyle/>
                    <a:p>
                      <a:pPr algn="ctr">
                        <a:defRPr sz="1000">
                          <a:latin typeface="Montserrat"/>
                        </a:defRPr>
                      </a:pPr>
                      <a:r>
                        <a:t>12,632</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43.3%</a:t>
                      </a:r>
                    </a:p>
                  </a:txBody>
                  <a:tcPr>
                    <a:solidFill>
                      <a:srgbClr val="ECD3D9"/>
                    </a:solidFill>
                  </a:tcPr>
                </a:tc>
                <a:extLst>
                  <a:ext uri="{0D108BD9-81ED-4DB2-BD59-A6C34878D82A}">
                    <a16:rowId xmlns:a16="http://schemas.microsoft.com/office/drawing/2014/main" val="10005"/>
                  </a:ext>
                </a:extLst>
              </a:tr>
              <a:tr h="354052">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163,334</a:t>
                      </a:r>
                    </a:p>
                  </a:txBody>
                  <a:tcPr>
                    <a:solidFill>
                      <a:srgbClr val="EFEFEF"/>
                    </a:solidFill>
                  </a:tcPr>
                </a:tc>
                <a:tc>
                  <a:txBody>
                    <a:bodyPr/>
                    <a:lstStyle/>
                    <a:p>
                      <a:pPr algn="ctr">
                        <a:defRPr sz="1000">
                          <a:latin typeface="Montserrat"/>
                        </a:defRPr>
                      </a:pPr>
                      <a:r>
                        <a:t>28,809</a:t>
                      </a:r>
                    </a:p>
                  </a:txBody>
                  <a:tcPr>
                    <a:solidFill>
                      <a:srgbClr val="EFEFEF"/>
                    </a:solidFill>
                  </a:tcPr>
                </a:tc>
                <a:tc>
                  <a:txBody>
                    <a:bodyPr/>
                    <a:lstStyle/>
                    <a:p>
                      <a:pPr algn="ctr">
                        <a:defRPr sz="1000">
                          <a:latin typeface="Montserrat"/>
                        </a:defRPr>
                      </a:pPr>
                      <a:r>
                        <a:t>70,506</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41.3%</a:t>
                      </a:r>
                    </a:p>
                  </a:txBody>
                  <a:tcPr>
                    <a:solidFill>
                      <a:srgbClr val="ECD3D9"/>
                    </a:solidFill>
                  </a:tcPr>
                </a:tc>
                <a:extLst>
                  <a:ext uri="{0D108BD9-81ED-4DB2-BD59-A6C34878D82A}">
                    <a16:rowId xmlns:a16="http://schemas.microsoft.com/office/drawing/2014/main" val="10006"/>
                  </a:ext>
                </a:extLst>
              </a:tr>
              <a:tr h="228346">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146,588</a:t>
                      </a:r>
                    </a:p>
                  </a:txBody>
                  <a:tcPr>
                    <a:solidFill>
                      <a:srgbClr val="FFFFFF"/>
                    </a:solidFill>
                  </a:tcPr>
                </a:tc>
                <a:tc>
                  <a:txBody>
                    <a:bodyPr/>
                    <a:lstStyle/>
                    <a:p>
                      <a:pPr algn="ctr">
                        <a:defRPr sz="1000">
                          <a:latin typeface="Montserrat"/>
                        </a:defRPr>
                      </a:pPr>
                      <a:r>
                        <a:t>34,153</a:t>
                      </a:r>
                    </a:p>
                  </a:txBody>
                  <a:tcPr>
                    <a:solidFill>
                      <a:srgbClr val="FFFFFF"/>
                    </a:solidFill>
                  </a:tcPr>
                </a:tc>
                <a:tc>
                  <a:txBody>
                    <a:bodyPr/>
                    <a:lstStyle/>
                    <a:p>
                      <a:pPr algn="ctr">
                        <a:defRPr sz="1000">
                          <a:latin typeface="Montserrat"/>
                        </a:defRPr>
                      </a:pPr>
                      <a:r>
                        <a:t>73,600</a:t>
                      </a:r>
                    </a:p>
                  </a:txBody>
                  <a:tcPr>
                    <a:solidFill>
                      <a:srgbClr val="ECD3D9"/>
                    </a:solidFill>
                  </a:tcPr>
                </a:tc>
                <a:tc>
                  <a:txBody>
                    <a:bodyPr/>
                    <a:lstStyle/>
                    <a:p>
                      <a:pPr algn="ctr">
                        <a:defRPr sz="1000">
                          <a:latin typeface="Montserrat"/>
                        </a:defRPr>
                      </a:pPr>
                      <a:r>
                        <a:t>179,945</a:t>
                      </a:r>
                    </a:p>
                  </a:txBody>
                  <a:tcPr>
                    <a:solidFill>
                      <a:srgbClr val="ECD3D9"/>
                    </a:solidFill>
                  </a:tcPr>
                </a:tc>
                <a:tc>
                  <a:txBody>
                    <a:bodyPr/>
                    <a:lstStyle/>
                    <a:p>
                      <a:pPr algn="ctr">
                        <a:defRPr sz="1000">
                          <a:latin typeface="Montserrat"/>
                        </a:defRPr>
                      </a:pPr>
                      <a:r>
                        <a:t>40.9%</a:t>
                      </a:r>
                    </a:p>
                  </a:txBody>
                  <a:tcPr>
                    <a:solidFill>
                      <a:srgbClr val="ECD3D9"/>
                    </a:solidFill>
                  </a:tcPr>
                </a:tc>
                <a:extLst>
                  <a:ext uri="{0D108BD9-81ED-4DB2-BD59-A6C34878D82A}">
                    <a16:rowId xmlns:a16="http://schemas.microsoft.com/office/drawing/2014/main" val="10007"/>
                  </a:ext>
                </a:extLst>
              </a:tr>
              <a:tr h="228346">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12,477</a:t>
                      </a:r>
                    </a:p>
                  </a:txBody>
                  <a:tcPr>
                    <a:solidFill>
                      <a:srgbClr val="EFEFEF"/>
                    </a:solidFill>
                  </a:tcPr>
                </a:tc>
                <a:tc>
                  <a:txBody>
                    <a:bodyPr/>
                    <a:lstStyle/>
                    <a:p>
                      <a:pPr algn="ctr">
                        <a:defRPr sz="1000">
                          <a:latin typeface="Montserrat"/>
                        </a:defRPr>
                      </a:pPr>
                      <a:r>
                        <a:t>4,204</a:t>
                      </a:r>
                    </a:p>
                  </a:txBody>
                  <a:tcPr>
                    <a:solidFill>
                      <a:srgbClr val="EFEFEF"/>
                    </a:solidFill>
                  </a:tcPr>
                </a:tc>
                <a:tc>
                  <a:txBody>
                    <a:bodyPr/>
                    <a:lstStyle/>
                    <a:p>
                      <a:pPr algn="ctr">
                        <a:defRPr sz="1000">
                          <a:latin typeface="Montserrat"/>
                        </a:defRPr>
                      </a:pPr>
                      <a:r>
                        <a:t>7,060</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40.3%</a:t>
                      </a:r>
                    </a:p>
                  </a:txBody>
                  <a:tcPr>
                    <a:solidFill>
                      <a:srgbClr val="ECD3D9"/>
                    </a:solidFill>
                  </a:tcPr>
                </a:tc>
                <a:extLst>
                  <a:ext uri="{0D108BD9-81ED-4DB2-BD59-A6C34878D82A}">
                    <a16:rowId xmlns:a16="http://schemas.microsoft.com/office/drawing/2014/main" val="10008"/>
                  </a:ext>
                </a:extLst>
              </a:tr>
              <a:tr h="228346">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19,723</a:t>
                      </a:r>
                    </a:p>
                  </a:txBody>
                  <a:tcPr>
                    <a:solidFill>
                      <a:srgbClr val="FFFFFF"/>
                    </a:solidFill>
                  </a:tcPr>
                </a:tc>
                <a:tc>
                  <a:txBody>
                    <a:bodyPr/>
                    <a:lstStyle/>
                    <a:p>
                      <a:pPr algn="ctr">
                        <a:defRPr sz="1000">
                          <a:latin typeface="Montserrat"/>
                        </a:defRPr>
                      </a:pPr>
                      <a:r>
                        <a:t>1,814</a:t>
                      </a:r>
                    </a:p>
                  </a:txBody>
                  <a:tcPr>
                    <a:solidFill>
                      <a:srgbClr val="FFFFFF"/>
                    </a:solidFill>
                  </a:tcPr>
                </a:tc>
                <a:tc>
                  <a:txBody>
                    <a:bodyPr/>
                    <a:lstStyle/>
                    <a:p>
                      <a:pPr algn="ctr">
                        <a:defRPr sz="1000">
                          <a:latin typeface="Montserrat"/>
                        </a:defRPr>
                      </a:pPr>
                      <a:r>
                        <a:t>7,853</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39.8%</a:t>
                      </a:r>
                    </a:p>
                  </a:txBody>
                  <a:tcPr>
                    <a:solidFill>
                      <a:srgbClr val="ECD3D9"/>
                    </a:solidFill>
                  </a:tcPr>
                </a:tc>
                <a:extLst>
                  <a:ext uri="{0D108BD9-81ED-4DB2-BD59-A6C34878D82A}">
                    <a16:rowId xmlns:a16="http://schemas.microsoft.com/office/drawing/2014/main" val="10009"/>
                  </a:ext>
                </a:extLst>
              </a:tr>
              <a:tr h="228346">
                <a:tc>
                  <a:txBody>
                    <a:bodyPr/>
                    <a:lstStyle/>
                    <a:p>
                      <a:pPr algn="l">
                        <a:defRPr sz="1000">
                          <a:latin typeface="Montserrat"/>
                        </a:defRPr>
                      </a:pPr>
                      <a:r>
                        <a:t>HGP Hermosillo</a:t>
                      </a:r>
                    </a:p>
                  </a:txBody>
                  <a:tcPr>
                    <a:solidFill>
                      <a:srgbClr val="EFEFEF"/>
                    </a:solidFill>
                  </a:tcPr>
                </a:tc>
                <a:tc>
                  <a:txBody>
                    <a:bodyPr/>
                    <a:lstStyle/>
                    <a:p>
                      <a:pPr algn="ctr">
                        <a:defRPr sz="1000">
                          <a:latin typeface="Montserrat"/>
                        </a:defRPr>
                      </a:pPr>
                      <a:r>
                        <a:rPr dirty="0"/>
                        <a:t>46,759</a:t>
                      </a:r>
                    </a:p>
                  </a:txBody>
                  <a:tcPr>
                    <a:solidFill>
                      <a:srgbClr val="EFEFEF"/>
                    </a:solidFill>
                  </a:tcPr>
                </a:tc>
                <a:tc>
                  <a:txBody>
                    <a:bodyPr/>
                    <a:lstStyle/>
                    <a:p>
                      <a:pPr algn="ctr">
                        <a:defRPr sz="1000">
                          <a:latin typeface="Montserrat"/>
                        </a:defRPr>
                      </a:pPr>
                      <a:r>
                        <a:t>6,636</a:t>
                      </a:r>
                    </a:p>
                  </a:txBody>
                  <a:tcPr>
                    <a:solidFill>
                      <a:srgbClr val="EFEFEF"/>
                    </a:solidFill>
                  </a:tcPr>
                </a:tc>
                <a:tc>
                  <a:txBody>
                    <a:bodyPr/>
                    <a:lstStyle/>
                    <a:p>
                      <a:pPr algn="ctr">
                        <a:defRPr sz="1000">
                          <a:latin typeface="Montserrat"/>
                        </a:defRPr>
                      </a:pPr>
                      <a:r>
                        <a:t>21,709</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33.0%</a:t>
                      </a:r>
                    </a:p>
                  </a:txBody>
                  <a:tcPr>
                    <a:solidFill>
                      <a:srgbClr val="ECD3D9"/>
                    </a:solidFill>
                  </a:tcPr>
                </a:tc>
                <a:extLst>
                  <a:ext uri="{0D108BD9-81ED-4DB2-BD59-A6C34878D82A}">
                    <a16:rowId xmlns:a16="http://schemas.microsoft.com/office/drawing/2014/main" val="10010"/>
                  </a:ext>
                </a:extLst>
              </a:tr>
              <a:tr h="228346">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47,164</a:t>
                      </a:r>
                    </a:p>
                  </a:txBody>
                  <a:tcPr>
                    <a:solidFill>
                      <a:srgbClr val="FFFFFF"/>
                    </a:solidFill>
                  </a:tcPr>
                </a:tc>
                <a:tc>
                  <a:txBody>
                    <a:bodyPr/>
                    <a:lstStyle/>
                    <a:p>
                      <a:pPr algn="ctr">
                        <a:defRPr sz="1000">
                          <a:latin typeface="Montserrat"/>
                        </a:defRPr>
                      </a:pPr>
                      <a:r>
                        <a:t>7,201</a:t>
                      </a:r>
                    </a:p>
                  </a:txBody>
                  <a:tcPr>
                    <a:solidFill>
                      <a:srgbClr val="FFFFFF"/>
                    </a:solidFill>
                  </a:tcPr>
                </a:tc>
                <a:tc>
                  <a:txBody>
                    <a:bodyPr/>
                    <a:lstStyle/>
                    <a:p>
                      <a:pPr algn="ctr">
                        <a:defRPr sz="1000">
                          <a:latin typeface="Montserrat"/>
                        </a:defRPr>
                      </a:pPr>
                      <a:r>
                        <a:t>21,012</a:t>
                      </a:r>
                    </a:p>
                  </a:txBody>
                  <a:tcPr>
                    <a:solidFill>
                      <a:srgbClr val="ECD3D9"/>
                    </a:solidFill>
                  </a:tcPr>
                </a:tc>
                <a:tc>
                  <a:txBody>
                    <a:bodyPr/>
                    <a:lstStyle/>
                    <a:p>
                      <a:pPr algn="ctr">
                        <a:defRPr sz="1000">
                          <a:latin typeface="Montserrat"/>
                        </a:defRPr>
                      </a:pPr>
                      <a:r>
                        <a:t>68,255</a:t>
                      </a:r>
                    </a:p>
                  </a:txBody>
                  <a:tcPr>
                    <a:solidFill>
                      <a:srgbClr val="ECD3D9"/>
                    </a:solidFill>
                  </a:tcPr>
                </a:tc>
                <a:tc>
                  <a:txBody>
                    <a:bodyPr/>
                    <a:lstStyle/>
                    <a:p>
                      <a:pPr algn="ctr">
                        <a:defRPr sz="1000">
                          <a:latin typeface="Montserrat"/>
                        </a:defRPr>
                      </a:pPr>
                      <a:r>
                        <a:t>30.8%</a:t>
                      </a:r>
                    </a:p>
                  </a:txBody>
                  <a:tcPr>
                    <a:solidFill>
                      <a:srgbClr val="ECD3D9"/>
                    </a:solidFill>
                  </a:tcPr>
                </a:tc>
                <a:extLst>
                  <a:ext uri="{0D108BD9-81ED-4DB2-BD59-A6C34878D82A}">
                    <a16:rowId xmlns:a16="http://schemas.microsoft.com/office/drawing/2014/main" val="10011"/>
                  </a:ext>
                </a:extLst>
              </a:tr>
              <a:tr h="228346">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51,932</a:t>
                      </a:r>
                    </a:p>
                  </a:txBody>
                  <a:tcPr>
                    <a:solidFill>
                      <a:srgbClr val="EFEFEF"/>
                    </a:solidFill>
                  </a:tcPr>
                </a:tc>
                <a:tc>
                  <a:txBody>
                    <a:bodyPr/>
                    <a:lstStyle/>
                    <a:p>
                      <a:pPr algn="ctr">
                        <a:defRPr sz="1000">
                          <a:latin typeface="Montserrat"/>
                        </a:defRPr>
                      </a:pPr>
                      <a:r>
                        <a:t>6,660</a:t>
                      </a:r>
                    </a:p>
                  </a:txBody>
                  <a:tcPr>
                    <a:solidFill>
                      <a:srgbClr val="EFEFEF"/>
                    </a:solidFill>
                  </a:tcPr>
                </a:tc>
                <a:tc>
                  <a:txBody>
                    <a:bodyPr/>
                    <a:lstStyle/>
                    <a:p>
                      <a:pPr algn="ctr">
                        <a:defRPr sz="1000">
                          <a:latin typeface="Montserrat"/>
                        </a:defRPr>
                      </a:pPr>
                      <a:r>
                        <a:t>24,491</a:t>
                      </a:r>
                    </a:p>
                  </a:txBody>
                  <a:tcPr>
                    <a:solidFill>
                      <a:srgbClr val="ECD3D9"/>
                    </a:solidFill>
                  </a:tcPr>
                </a:tc>
                <a:tc>
                  <a:txBody>
                    <a:bodyPr/>
                    <a:lstStyle/>
                    <a:p>
                      <a:pPr algn="ctr">
                        <a:defRPr sz="1000">
                          <a:latin typeface="Montserrat"/>
                        </a:defRPr>
                      </a:pPr>
                      <a:r>
                        <a:t>86,870</a:t>
                      </a:r>
                    </a:p>
                  </a:txBody>
                  <a:tcPr>
                    <a:solidFill>
                      <a:srgbClr val="ECD3D9"/>
                    </a:solidFill>
                  </a:tcPr>
                </a:tc>
                <a:tc>
                  <a:txBody>
                    <a:bodyPr/>
                    <a:lstStyle/>
                    <a:p>
                      <a:pPr algn="ctr">
                        <a:defRPr sz="1000">
                          <a:latin typeface="Montserrat"/>
                        </a:defRPr>
                      </a:pPr>
                      <a:r>
                        <a:t>28.2%</a:t>
                      </a:r>
                    </a:p>
                  </a:txBody>
                  <a:tcPr>
                    <a:solidFill>
                      <a:srgbClr val="ECD3D9"/>
                    </a:solidFill>
                  </a:tcPr>
                </a:tc>
                <a:extLst>
                  <a:ext uri="{0D108BD9-81ED-4DB2-BD59-A6C34878D82A}">
                    <a16:rowId xmlns:a16="http://schemas.microsoft.com/office/drawing/2014/main" val="10012"/>
                  </a:ext>
                </a:extLst>
              </a:tr>
              <a:tr h="228346">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12,588</a:t>
                      </a:r>
                    </a:p>
                  </a:txBody>
                  <a:tcPr>
                    <a:solidFill>
                      <a:srgbClr val="FFFFFF"/>
                    </a:solidFill>
                  </a:tcPr>
                </a:tc>
                <a:tc>
                  <a:txBody>
                    <a:bodyPr/>
                    <a:lstStyle/>
                    <a:p>
                      <a:pPr algn="ctr">
                        <a:defRPr sz="1000">
                          <a:latin typeface="Montserrat"/>
                        </a:defRPr>
                      </a:pPr>
                      <a:r>
                        <a:t>7,113</a:t>
                      </a:r>
                    </a:p>
                  </a:txBody>
                  <a:tcPr>
                    <a:solidFill>
                      <a:srgbClr val="FFFFFF"/>
                    </a:solidFill>
                  </a:tcPr>
                </a:tc>
                <a:tc>
                  <a:txBody>
                    <a:bodyPr/>
                    <a:lstStyle/>
                    <a:p>
                      <a:pPr algn="ctr">
                        <a:defRPr sz="1000">
                          <a:latin typeface="Montserrat"/>
                        </a:defRPr>
                      </a:pPr>
                      <a:r>
                        <a:t>5,286</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26.8%</a:t>
                      </a:r>
                    </a:p>
                  </a:txBody>
                  <a:tcPr>
                    <a:solidFill>
                      <a:srgbClr val="ECD3D9"/>
                    </a:solidFill>
                  </a:tcPr>
                </a:tc>
                <a:extLst>
                  <a:ext uri="{0D108BD9-81ED-4DB2-BD59-A6C34878D82A}">
                    <a16:rowId xmlns:a16="http://schemas.microsoft.com/office/drawing/2014/main" val="10013"/>
                  </a:ext>
                </a:extLst>
              </a:tr>
              <a:tr h="228346">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11,655</a:t>
                      </a:r>
                    </a:p>
                  </a:txBody>
                  <a:tcPr>
                    <a:solidFill>
                      <a:srgbClr val="EFEFEF"/>
                    </a:solidFill>
                  </a:tcPr>
                </a:tc>
                <a:tc>
                  <a:txBody>
                    <a:bodyPr/>
                    <a:lstStyle/>
                    <a:p>
                      <a:pPr algn="ctr">
                        <a:defRPr sz="1000">
                          <a:latin typeface="Montserrat"/>
                        </a:defRPr>
                      </a:pPr>
                      <a:r>
                        <a:t>1,648</a:t>
                      </a:r>
                    </a:p>
                  </a:txBody>
                  <a:tcPr>
                    <a:solidFill>
                      <a:srgbClr val="EFEFEF"/>
                    </a:solidFill>
                  </a:tcPr>
                </a:tc>
                <a:tc>
                  <a:txBody>
                    <a:bodyPr/>
                    <a:lstStyle/>
                    <a:p>
                      <a:pPr algn="ctr">
                        <a:defRPr sz="1000">
                          <a:latin typeface="Montserrat"/>
                        </a:defRPr>
                      </a:pPr>
                      <a:r>
                        <a:t>4,995</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25.3%</a:t>
                      </a:r>
                    </a:p>
                  </a:txBody>
                  <a:tcPr>
                    <a:solidFill>
                      <a:srgbClr val="ECD3D9"/>
                    </a:solidFill>
                  </a:tcPr>
                </a:tc>
                <a:extLst>
                  <a:ext uri="{0D108BD9-81ED-4DB2-BD59-A6C34878D82A}">
                    <a16:rowId xmlns:a16="http://schemas.microsoft.com/office/drawing/2014/main" val="10014"/>
                  </a:ext>
                </a:extLst>
              </a:tr>
              <a:tr h="228346">
                <a:tc>
                  <a:txBody>
                    <a:bodyPr/>
                    <a:lstStyle/>
                    <a:p>
                      <a:pPr algn="l">
                        <a:defRPr sz="1000">
                          <a:latin typeface="Montserrat"/>
                        </a:defRPr>
                      </a:pPr>
                      <a:r>
                        <a:t>UMAA 68 Hermosillo</a:t>
                      </a:r>
                    </a:p>
                  </a:txBody>
                  <a:tcPr>
                    <a:solidFill>
                      <a:srgbClr val="FFFFFF"/>
                    </a:solidFill>
                  </a:tcPr>
                </a:tc>
                <a:tc>
                  <a:txBody>
                    <a:bodyPr/>
                    <a:lstStyle/>
                    <a:p>
                      <a:pPr algn="ctr">
                        <a:defRPr sz="1000">
                          <a:latin typeface="Montserrat"/>
                        </a:defRPr>
                      </a:pPr>
                      <a:r>
                        <a:t>32,970</a:t>
                      </a:r>
                    </a:p>
                  </a:txBody>
                  <a:tcPr>
                    <a:solidFill>
                      <a:srgbClr val="FFFFFF"/>
                    </a:solidFill>
                  </a:tcPr>
                </a:tc>
                <a:tc>
                  <a:txBody>
                    <a:bodyPr/>
                    <a:lstStyle/>
                    <a:p>
                      <a:pPr algn="ctr">
                        <a:defRPr sz="1000">
                          <a:latin typeface="Montserrat"/>
                        </a:defRPr>
                      </a:pPr>
                      <a:r>
                        <a:t>19,204</a:t>
                      </a:r>
                    </a:p>
                  </a:txBody>
                  <a:tcPr>
                    <a:solidFill>
                      <a:srgbClr val="FFFFFF"/>
                    </a:solidFill>
                  </a:tcPr>
                </a:tc>
                <a:tc>
                  <a:txBody>
                    <a:bodyPr/>
                    <a:lstStyle/>
                    <a:p>
                      <a:pPr algn="ctr">
                        <a:defRPr sz="1000">
                          <a:latin typeface="Montserrat"/>
                        </a:defRPr>
                      </a:pPr>
                      <a:r>
                        <a:t>8,247</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23.5%</a:t>
                      </a:r>
                    </a:p>
                  </a:txBody>
                  <a:tcPr>
                    <a:solidFill>
                      <a:srgbClr val="ECD3D9"/>
                    </a:solidFill>
                  </a:tcPr>
                </a:tc>
                <a:extLst>
                  <a:ext uri="{0D108BD9-81ED-4DB2-BD59-A6C34878D82A}">
                    <a16:rowId xmlns:a16="http://schemas.microsoft.com/office/drawing/2014/main" val="10015"/>
                  </a:ext>
                </a:extLst>
              </a:tr>
              <a:tr h="228346">
                <a:tc>
                  <a:txBody>
                    <a:bodyPr/>
                    <a:lstStyle/>
                    <a:p>
                      <a:pPr algn="l">
                        <a:defRPr sz="1000">
                          <a:latin typeface="Montserrat"/>
                        </a:defRPr>
                      </a:pPr>
                      <a:r>
                        <a:t>HGSMF 54 Empalme</a:t>
                      </a:r>
                    </a:p>
                  </a:txBody>
                  <a:tcPr>
                    <a:solidFill>
                      <a:srgbClr val="EFEFEF"/>
                    </a:solidFill>
                  </a:tcPr>
                </a:tc>
                <a:tc>
                  <a:txBody>
                    <a:bodyPr/>
                    <a:lstStyle/>
                    <a:p>
                      <a:pPr algn="ctr">
                        <a:defRPr sz="1000">
                          <a:latin typeface="Montserrat"/>
                        </a:defRPr>
                      </a:pPr>
                      <a:r>
                        <a:t>12,525</a:t>
                      </a:r>
                    </a:p>
                  </a:txBody>
                  <a:tcPr>
                    <a:solidFill>
                      <a:srgbClr val="EFEFEF"/>
                    </a:solidFill>
                  </a:tcPr>
                </a:tc>
                <a:tc>
                  <a:txBody>
                    <a:bodyPr/>
                    <a:lstStyle/>
                    <a:p>
                      <a:pPr algn="ctr">
                        <a:defRPr sz="1000">
                          <a:latin typeface="Montserrat"/>
                        </a:defRPr>
                      </a:pPr>
                      <a:r>
                        <a:t>2,439</a:t>
                      </a:r>
                    </a:p>
                  </a:txBody>
                  <a:tcPr>
                    <a:solidFill>
                      <a:srgbClr val="EFEFEF"/>
                    </a:solidFill>
                  </a:tcPr>
                </a:tc>
                <a:tc>
                  <a:txBody>
                    <a:bodyPr/>
                    <a:lstStyle/>
                    <a:p>
                      <a:pPr algn="ctr">
                        <a:defRPr sz="1000">
                          <a:latin typeface="Montserrat"/>
                        </a:defRPr>
                      </a:pPr>
                      <a:r>
                        <a:t>4,471</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22.7%</a:t>
                      </a:r>
                    </a:p>
                  </a:txBody>
                  <a:tcPr>
                    <a:solidFill>
                      <a:srgbClr val="ECD3D9"/>
                    </a:solidFill>
                  </a:tcPr>
                </a:tc>
                <a:extLst>
                  <a:ext uri="{0D108BD9-81ED-4DB2-BD59-A6C34878D82A}">
                    <a16:rowId xmlns:a16="http://schemas.microsoft.com/office/drawing/2014/main" val="10016"/>
                  </a:ext>
                </a:extLst>
              </a:tr>
              <a:tr h="228346">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947,368</a:t>
                      </a:r>
                    </a:p>
                  </a:txBody>
                  <a:tcPr>
                    <a:solidFill>
                      <a:srgbClr val="D3E9E7"/>
                    </a:solidFill>
                  </a:tcPr>
                </a:tc>
                <a:tc>
                  <a:txBody>
                    <a:bodyPr/>
                    <a:lstStyle/>
                    <a:p>
                      <a:pPr algn="ctr">
                        <a:defRPr sz="1000" b="1">
                          <a:solidFill>
                            <a:srgbClr val="006556"/>
                          </a:solidFill>
                          <a:latin typeface="Montserrat"/>
                        </a:defRPr>
                      </a:pPr>
                      <a:r>
                        <a:t>177,428</a:t>
                      </a:r>
                    </a:p>
                  </a:txBody>
                  <a:tcPr>
                    <a:solidFill>
                      <a:srgbClr val="D3E9E7"/>
                    </a:solidFill>
                  </a:tcPr>
                </a:tc>
                <a:tc>
                  <a:txBody>
                    <a:bodyPr/>
                    <a:lstStyle/>
                    <a:p>
                      <a:pPr algn="ctr">
                        <a:defRPr sz="1000" b="1">
                          <a:solidFill>
                            <a:srgbClr val="FFFFFF"/>
                          </a:solidFill>
                          <a:latin typeface="Montserrat"/>
                        </a:defRPr>
                      </a:pPr>
                      <a:r>
                        <a:t>431,783</a:t>
                      </a:r>
                    </a:p>
                  </a:txBody>
                  <a:tcPr>
                    <a:solidFill>
                      <a:srgbClr val="9F2241"/>
                    </a:solidFill>
                  </a:tcPr>
                </a:tc>
                <a:tc>
                  <a:txBody>
                    <a:bodyPr/>
                    <a:lstStyle/>
                    <a:p>
                      <a:pPr algn="ctr">
                        <a:defRPr sz="1000" b="1">
                          <a:solidFill>
                            <a:srgbClr val="FFFFFF"/>
                          </a:solidFill>
                          <a:latin typeface="Montserrat"/>
                        </a:defRPr>
                      </a:pPr>
                      <a:r>
                        <a:t>1,117,630</a:t>
                      </a:r>
                    </a:p>
                  </a:txBody>
                  <a:tcPr>
                    <a:solidFill>
                      <a:srgbClr val="9F2241"/>
                    </a:solidFill>
                  </a:tcPr>
                </a:tc>
                <a:tc>
                  <a:txBody>
                    <a:bodyPr/>
                    <a:lstStyle/>
                    <a:p>
                      <a:pPr algn="ctr">
                        <a:defRPr sz="1000" b="1">
                          <a:solidFill>
                            <a:srgbClr val="FFFFFF"/>
                          </a:solidFill>
                          <a:latin typeface="Montserrat"/>
                        </a:defRPr>
                      </a:pPr>
                      <a:r>
                        <a:rPr dirty="0"/>
                        <a:t>38.6%</a:t>
                      </a:r>
                    </a:p>
                  </a:txBody>
                  <a:tcPr>
                    <a:solidFill>
                      <a:srgbClr val="9F2241"/>
                    </a:solidFill>
                  </a:tcPr>
                </a:tc>
                <a:extLst>
                  <a:ext uri="{0D108BD9-81ED-4DB2-BD59-A6C34878D82A}">
                    <a16:rowId xmlns:a16="http://schemas.microsoft.com/office/drawing/2014/main" val="10017"/>
                  </a:ext>
                </a:extLst>
              </a:tr>
            </a:tbl>
          </a:graphicData>
        </a:graphic>
      </p:graphicFrame>
      <p:graphicFrame>
        <p:nvGraphicFramePr>
          <p:cNvPr id="237" name="Table 236"/>
          <p:cNvGraphicFramePr>
            <a:graphicFrameLocks noGrp="1"/>
          </p:cNvGraphicFramePr>
          <p:nvPr>
            <p:extLst>
              <p:ext uri="{D42A27DB-BD31-4B8C-83A1-F6EECF244321}">
                <p14:modId xmlns:p14="http://schemas.microsoft.com/office/powerpoint/2010/main" val="4246538558"/>
              </p:ext>
            </p:extLst>
          </p:nvPr>
        </p:nvGraphicFramePr>
        <p:xfrm>
          <a:off x="144000" y="6157440"/>
          <a:ext cx="7340399" cy="124968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99239">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rPr dirty="0" err="1"/>
                        <a:t>Incremento</a:t>
                      </a:r>
                      <a:r>
                        <a:rPr dirty="0"/>
                        <a:t>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324176">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171,361</a:t>
                      </a:r>
                    </a:p>
                  </a:txBody>
                  <a:tcPr>
                    <a:solidFill>
                      <a:srgbClr val="FFFFFF"/>
                    </a:solidFill>
                  </a:tcPr>
                </a:tc>
                <a:tc>
                  <a:txBody>
                    <a:bodyPr/>
                    <a:lstStyle/>
                    <a:p>
                      <a:pPr algn="ctr">
                        <a:defRPr sz="1000">
                          <a:latin typeface="Montserrat"/>
                        </a:defRPr>
                      </a:pPr>
                      <a:r>
                        <a:t>45,876</a:t>
                      </a:r>
                    </a:p>
                  </a:txBody>
                  <a:tcPr>
                    <a:solidFill>
                      <a:srgbClr val="FFFFFF"/>
                    </a:solidFill>
                  </a:tcPr>
                </a:tc>
                <a:tc>
                  <a:txBody>
                    <a:bodyPr/>
                    <a:lstStyle/>
                    <a:p>
                      <a:pPr algn="ctr">
                        <a:defRPr sz="1000">
                          <a:latin typeface="Montserrat"/>
                        </a:defRPr>
                      </a:pPr>
                      <a:r>
                        <a:t>86,917</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38.9%</a:t>
                      </a:r>
                    </a:p>
                  </a:txBody>
                  <a:tcPr>
                    <a:solidFill>
                      <a:srgbClr val="ECD3D9"/>
                    </a:solidFill>
                  </a:tcPr>
                </a:tc>
                <a:extLst>
                  <a:ext uri="{0D108BD9-81ED-4DB2-BD59-A6C34878D82A}">
                    <a16:rowId xmlns:a16="http://schemas.microsoft.com/office/drawing/2014/main" val="10001"/>
                  </a:ext>
                </a:extLst>
              </a:tr>
              <a:tr h="199493">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171,361</a:t>
                      </a:r>
                    </a:p>
                  </a:txBody>
                  <a:tcPr>
                    <a:solidFill>
                      <a:srgbClr val="D3E9E7"/>
                    </a:solidFill>
                  </a:tcPr>
                </a:tc>
                <a:tc>
                  <a:txBody>
                    <a:bodyPr/>
                    <a:lstStyle/>
                    <a:p>
                      <a:pPr algn="ctr">
                        <a:defRPr sz="1000" b="1">
                          <a:solidFill>
                            <a:srgbClr val="006556"/>
                          </a:solidFill>
                          <a:latin typeface="Montserrat"/>
                        </a:defRPr>
                      </a:pPr>
                      <a:r>
                        <a:t>45,876</a:t>
                      </a:r>
                    </a:p>
                  </a:txBody>
                  <a:tcPr>
                    <a:solidFill>
                      <a:srgbClr val="D3E9E7"/>
                    </a:solidFill>
                  </a:tcPr>
                </a:tc>
                <a:tc>
                  <a:txBody>
                    <a:bodyPr/>
                    <a:lstStyle/>
                    <a:p>
                      <a:pPr algn="ctr">
                        <a:defRPr sz="1000" b="1">
                          <a:solidFill>
                            <a:srgbClr val="FFFFFF"/>
                          </a:solidFill>
                          <a:latin typeface="Montserrat"/>
                        </a:defRPr>
                      </a:pPr>
                      <a:r>
                        <a:t>86,917</a:t>
                      </a:r>
                    </a:p>
                  </a:txBody>
                  <a:tcPr>
                    <a:solidFill>
                      <a:srgbClr val="9F2241"/>
                    </a:solidFill>
                  </a:tcPr>
                </a:tc>
                <a:tc>
                  <a:txBody>
                    <a:bodyPr/>
                    <a:lstStyle/>
                    <a:p>
                      <a:pPr algn="ctr">
                        <a:defRPr sz="1000" b="1">
                          <a:solidFill>
                            <a:srgbClr val="FFFFFF"/>
                          </a:solidFill>
                          <a:latin typeface="Montserrat"/>
                        </a:defRPr>
                      </a:pPr>
                      <a:r>
                        <a:t>223,380</a:t>
                      </a:r>
                    </a:p>
                  </a:txBody>
                  <a:tcPr>
                    <a:solidFill>
                      <a:srgbClr val="9F2241"/>
                    </a:solidFill>
                  </a:tcPr>
                </a:tc>
                <a:tc>
                  <a:txBody>
                    <a:bodyPr/>
                    <a:lstStyle/>
                    <a:p>
                      <a:pPr algn="ctr">
                        <a:defRPr sz="1000" b="1">
                          <a:solidFill>
                            <a:srgbClr val="FFFFFF"/>
                          </a:solidFill>
                          <a:latin typeface="Montserrat"/>
                        </a:defRPr>
                      </a:pPr>
                      <a:r>
                        <a:t>38.9%</a:t>
                      </a:r>
                    </a:p>
                  </a:txBody>
                  <a:tcPr>
                    <a:solidFill>
                      <a:srgbClr val="9F2241"/>
                    </a:solidFill>
                  </a:tcPr>
                </a:tc>
                <a:extLst>
                  <a:ext uri="{0D108BD9-81ED-4DB2-BD59-A6C34878D82A}">
                    <a16:rowId xmlns:a16="http://schemas.microsoft.com/office/drawing/2014/main" val="10002"/>
                  </a:ext>
                </a:extLst>
              </a:tr>
              <a:tr h="199493">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1,118,729</a:t>
                      </a:r>
                    </a:p>
                  </a:txBody>
                  <a:tcPr>
                    <a:solidFill>
                      <a:srgbClr val="D3E9E7"/>
                    </a:solidFill>
                  </a:tcPr>
                </a:tc>
                <a:tc>
                  <a:txBody>
                    <a:bodyPr/>
                    <a:lstStyle/>
                    <a:p>
                      <a:pPr algn="ctr">
                        <a:defRPr sz="1000" b="1">
                          <a:solidFill>
                            <a:srgbClr val="006556"/>
                          </a:solidFill>
                          <a:latin typeface="Montserrat"/>
                        </a:defRPr>
                      </a:pPr>
                      <a:r>
                        <a:t>223,304</a:t>
                      </a:r>
                    </a:p>
                  </a:txBody>
                  <a:tcPr>
                    <a:solidFill>
                      <a:srgbClr val="D3E9E7"/>
                    </a:solidFill>
                  </a:tcPr>
                </a:tc>
                <a:tc>
                  <a:txBody>
                    <a:bodyPr/>
                    <a:lstStyle/>
                    <a:p>
                      <a:pPr algn="ctr">
                        <a:defRPr sz="1000" b="1">
                          <a:solidFill>
                            <a:srgbClr val="FFFFFF"/>
                          </a:solidFill>
                          <a:latin typeface="Montserrat"/>
                        </a:defRPr>
                      </a:pPr>
                      <a:r>
                        <a:t>518,700</a:t>
                      </a:r>
                    </a:p>
                  </a:txBody>
                  <a:tcPr>
                    <a:solidFill>
                      <a:srgbClr val="9F2241"/>
                    </a:solidFill>
                  </a:tcPr>
                </a:tc>
                <a:tc>
                  <a:txBody>
                    <a:bodyPr/>
                    <a:lstStyle/>
                    <a:p>
                      <a:pPr algn="ctr">
                        <a:defRPr sz="1000" b="1">
                          <a:solidFill>
                            <a:srgbClr val="FFFFFF"/>
                          </a:solidFill>
                          <a:latin typeface="Montserrat"/>
                        </a:defRPr>
                      </a:pPr>
                      <a:r>
                        <a:t>1,341,010</a:t>
                      </a:r>
                    </a:p>
                  </a:txBody>
                  <a:tcPr>
                    <a:solidFill>
                      <a:srgbClr val="9F2241"/>
                    </a:solidFill>
                  </a:tcPr>
                </a:tc>
                <a:tc>
                  <a:txBody>
                    <a:bodyPr/>
                    <a:lstStyle/>
                    <a:p>
                      <a:pPr algn="ctr">
                        <a:defRPr sz="1000" b="1">
                          <a:solidFill>
                            <a:srgbClr val="FFFFFF"/>
                          </a:solidFill>
                          <a:latin typeface="Montserrat"/>
                        </a:defRPr>
                      </a:pPr>
                      <a:r>
                        <a:rPr dirty="0"/>
                        <a:t>38.7%</a:t>
                      </a:r>
                    </a:p>
                  </a:txBody>
                  <a:tcPr>
                    <a:solidFill>
                      <a:srgbClr val="9F2241"/>
                    </a:solidFill>
                  </a:tcPr>
                </a:tc>
                <a:extLst>
                  <a:ext uri="{0D108BD9-81ED-4DB2-BD59-A6C34878D82A}">
                    <a16:rowId xmlns:a16="http://schemas.microsoft.com/office/drawing/2014/main" val="10003"/>
                  </a:ext>
                </a:extLst>
              </a:tr>
            </a:tbl>
          </a:graphicData>
        </a:graphic>
      </p:graphicFrame>
      <p:graphicFrame>
        <p:nvGraphicFramePr>
          <p:cNvPr id="238" name="Chart 237"/>
          <p:cNvGraphicFramePr>
            <a:graphicFrameLocks noGrp="1"/>
          </p:cNvGraphicFramePr>
          <p:nvPr>
            <p:extLst>
              <p:ext uri="{D42A27DB-BD31-4B8C-83A1-F6EECF244321}">
                <p14:modId xmlns:p14="http://schemas.microsoft.com/office/powerpoint/2010/main" val="1100673122"/>
              </p:ext>
            </p:extLst>
          </p:nvPr>
        </p:nvGraphicFramePr>
        <p:xfrm>
          <a:off x="5203881" y="74700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9" name="TextBox 238"/>
          <p:cNvSpPr txBox="1"/>
          <p:nvPr/>
        </p:nvSpPr>
        <p:spPr>
          <a:xfrm>
            <a:off x="5203881" y="8129760"/>
            <a:ext cx="1800000" cy="360000"/>
          </a:xfrm>
          <a:prstGeom prst="rect">
            <a:avLst/>
          </a:prstGeom>
          <a:noFill/>
        </p:spPr>
        <p:txBody>
          <a:bodyPr wrap="none">
            <a:spAutoFit/>
          </a:bodyPr>
          <a:lstStyle/>
          <a:p>
            <a:pPr algn="ctr"/>
            <a:r>
              <a:rPr sz="2400" b="1" dirty="0">
                <a:solidFill>
                  <a:srgbClr val="9F2241"/>
                </a:solidFill>
                <a:latin typeface="Montserrat"/>
              </a:rPr>
              <a:t>38.7%</a:t>
            </a:r>
          </a:p>
        </p:txBody>
      </p:sp>
      <p:sp>
        <p:nvSpPr>
          <p:cNvPr id="240" name="TextBox 239"/>
          <p:cNvSpPr txBox="1"/>
          <p:nvPr/>
        </p:nvSpPr>
        <p:spPr>
          <a:xfrm>
            <a:off x="3886177" y="7673620"/>
            <a:ext cx="1800000" cy="360000"/>
          </a:xfrm>
          <a:prstGeom prst="rect">
            <a:avLst/>
          </a:prstGeom>
          <a:noFill/>
        </p:spPr>
        <p:txBody>
          <a:bodyPr wrap="none">
            <a:spAutoFit/>
          </a:bodyPr>
          <a:lstStyle/>
          <a:p>
            <a:pPr algn="ctr"/>
            <a:r>
              <a:rPr sz="1400" b="1" dirty="0">
                <a:solidFill>
                  <a:srgbClr val="9F2241"/>
                </a:solidFill>
                <a:latin typeface="Montserrat"/>
              </a:rPr>
              <a:t>Avance</a:t>
            </a:r>
          </a:p>
        </p:txBody>
      </p:sp>
      <p:sp>
        <p:nvSpPr>
          <p:cNvPr id="241" name="TextBox 240"/>
          <p:cNvSpPr txBox="1"/>
          <p:nvPr/>
        </p:nvSpPr>
        <p:spPr>
          <a:xfrm>
            <a:off x="635265" y="7623000"/>
            <a:ext cx="2854800" cy="1198800"/>
          </a:xfrm>
          <a:prstGeom prst="rect">
            <a:avLst/>
          </a:prstGeom>
          <a:noFill/>
        </p:spPr>
        <p:txBody>
          <a:bodyPr wrap="square">
            <a:spAutoFit/>
          </a:bodyPr>
          <a:lstStyle/>
          <a:p>
            <a:pPr algn="ctr">
              <a:defRPr sz="3600" b="1">
                <a:solidFill>
                  <a:srgbClr val="9F2241"/>
                </a:solidFill>
                <a:latin typeface="Montserrat"/>
              </a:defRPr>
            </a:pPr>
            <a:r>
              <a:rPr dirty="0"/>
              <a:t>1,341,010 </a:t>
            </a:r>
            <a:br>
              <a:rPr dirty="0"/>
            </a:br>
            <a:r>
              <a:rPr dirty="0"/>
              <a:t>Meta 2026</a:t>
            </a:r>
          </a:p>
        </p:txBody>
      </p:sp>
    </p:spTree>
    <p:extLst>
      <p:ext uri="{BB962C8B-B14F-4D97-AF65-F5344CB8AC3E}">
        <p14:creationId xmlns:p14="http://schemas.microsoft.com/office/powerpoint/2010/main" val="540716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39727265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las cirugías realizadas en HR.</a:t>
            </a:r>
            <a:br/>
            <a:r>
              <a:t>Sólo se consideran cirugías principales.</a:t>
            </a:r>
            <a:br/>
            <a:r>
              <a:t>Corte de información: Semana: 24, 7 junio 2026</a:t>
            </a:r>
          </a:p>
        </p:txBody>
      </p:sp>
      <p:graphicFrame>
        <p:nvGraphicFramePr>
          <p:cNvPr id="233" name="Table 232"/>
          <p:cNvGraphicFramePr>
            <a:graphicFrameLocks noGrp="1"/>
          </p:cNvGraphicFramePr>
          <p:nvPr>
            <p:extLst>
              <p:ext uri="{D42A27DB-BD31-4B8C-83A1-F6EECF244321}">
                <p14:modId xmlns:p14="http://schemas.microsoft.com/office/powerpoint/2010/main" val="588205450"/>
              </p:ext>
            </p:extLst>
          </p:nvPr>
        </p:nvGraphicFramePr>
        <p:xfrm>
          <a:off x="144000" y="1137600"/>
          <a:ext cx="7340399" cy="4759008"/>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21279">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49813">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1,127</a:t>
                      </a:r>
                    </a:p>
                  </a:txBody>
                  <a:tcPr>
                    <a:solidFill>
                      <a:srgbClr val="FFFFFF"/>
                    </a:solidFill>
                  </a:tcPr>
                </a:tc>
                <a:tc>
                  <a:txBody>
                    <a:bodyPr/>
                    <a:lstStyle/>
                    <a:p>
                      <a:pPr algn="ctr">
                        <a:defRPr sz="1000">
                          <a:latin typeface="Montserrat"/>
                        </a:defRPr>
                      </a:pPr>
                      <a:r>
                        <a:t>238</a:t>
                      </a:r>
                    </a:p>
                  </a:txBody>
                  <a:tcPr>
                    <a:solidFill>
                      <a:srgbClr val="FFFFFF"/>
                    </a:solidFill>
                  </a:tcPr>
                </a:tc>
                <a:tc>
                  <a:txBody>
                    <a:bodyPr/>
                    <a:lstStyle/>
                    <a:p>
                      <a:pPr algn="ctr">
                        <a:defRPr sz="1000">
                          <a:latin typeface="Montserrat"/>
                        </a:defRPr>
                      </a:pPr>
                      <a:r>
                        <a:t>655</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48.2%</a:t>
                      </a:r>
                    </a:p>
                  </a:txBody>
                  <a:tcPr>
                    <a:solidFill>
                      <a:srgbClr val="ECD3D9"/>
                    </a:solidFill>
                  </a:tcPr>
                </a:tc>
                <a:extLst>
                  <a:ext uri="{0D108BD9-81ED-4DB2-BD59-A6C34878D82A}">
                    <a16:rowId xmlns:a16="http://schemas.microsoft.com/office/drawing/2014/main" val="10001"/>
                  </a:ext>
                </a:extLst>
              </a:tr>
              <a:tr h="249813">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1,160</a:t>
                      </a:r>
                    </a:p>
                  </a:txBody>
                  <a:tcPr>
                    <a:solidFill>
                      <a:srgbClr val="EFEFEF"/>
                    </a:solidFill>
                  </a:tcPr>
                </a:tc>
                <a:tc>
                  <a:txBody>
                    <a:bodyPr/>
                    <a:lstStyle/>
                    <a:p>
                      <a:pPr algn="ctr">
                        <a:defRPr sz="1000">
                          <a:latin typeface="Montserrat"/>
                        </a:defRPr>
                      </a:pPr>
                      <a:r>
                        <a:t>488</a:t>
                      </a:r>
                    </a:p>
                  </a:txBody>
                  <a:tcPr>
                    <a:solidFill>
                      <a:srgbClr val="EFEFEF"/>
                    </a:solidFill>
                  </a:tcPr>
                </a:tc>
                <a:tc>
                  <a:txBody>
                    <a:bodyPr/>
                    <a:lstStyle/>
                    <a:p>
                      <a:pPr algn="ctr">
                        <a:defRPr sz="1000">
                          <a:latin typeface="Montserrat"/>
                        </a:defRPr>
                      </a:pPr>
                      <a:r>
                        <a:t>638</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47.0%</a:t>
                      </a:r>
                    </a:p>
                  </a:txBody>
                  <a:tcPr>
                    <a:solidFill>
                      <a:srgbClr val="ECD3D9"/>
                    </a:solidFill>
                  </a:tcPr>
                </a:tc>
                <a:extLst>
                  <a:ext uri="{0D108BD9-81ED-4DB2-BD59-A6C34878D82A}">
                    <a16:rowId xmlns:a16="http://schemas.microsoft.com/office/drawing/2014/main" val="10002"/>
                  </a:ext>
                </a:extLst>
              </a:tr>
              <a:tr h="249813">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8,514</a:t>
                      </a:r>
                    </a:p>
                  </a:txBody>
                  <a:tcPr>
                    <a:solidFill>
                      <a:srgbClr val="FFFFFF"/>
                    </a:solidFill>
                  </a:tcPr>
                </a:tc>
                <a:tc>
                  <a:txBody>
                    <a:bodyPr/>
                    <a:lstStyle/>
                    <a:p>
                      <a:pPr algn="ctr">
                        <a:defRPr sz="1000">
                          <a:latin typeface="Montserrat"/>
                        </a:defRPr>
                      </a:pPr>
                      <a:r>
                        <a:t>976</a:t>
                      </a:r>
                    </a:p>
                  </a:txBody>
                  <a:tcPr>
                    <a:solidFill>
                      <a:srgbClr val="FFFFFF"/>
                    </a:solidFill>
                  </a:tcPr>
                </a:tc>
                <a:tc>
                  <a:txBody>
                    <a:bodyPr/>
                    <a:lstStyle/>
                    <a:p>
                      <a:pPr algn="ctr">
                        <a:defRPr sz="1000">
                          <a:latin typeface="Montserrat"/>
                        </a:defRPr>
                      </a:pPr>
                      <a:r>
                        <a:t>4,775</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46.6%</a:t>
                      </a:r>
                    </a:p>
                  </a:txBody>
                  <a:tcPr>
                    <a:solidFill>
                      <a:srgbClr val="ECD3D9"/>
                    </a:solidFill>
                  </a:tcPr>
                </a:tc>
                <a:extLst>
                  <a:ext uri="{0D108BD9-81ED-4DB2-BD59-A6C34878D82A}">
                    <a16:rowId xmlns:a16="http://schemas.microsoft.com/office/drawing/2014/main" val="10003"/>
                  </a:ext>
                </a:extLst>
              </a:tr>
              <a:tr h="249813">
                <a:tc>
                  <a:txBody>
                    <a:bodyPr/>
                    <a:lstStyle/>
                    <a:p>
                      <a:pPr algn="l">
                        <a:defRPr sz="1000">
                          <a:latin typeface="Montserrat"/>
                        </a:defRPr>
                      </a:pPr>
                      <a:r>
                        <a:t>UMAA 68 Hermosillo</a:t>
                      </a:r>
                    </a:p>
                  </a:txBody>
                  <a:tcPr>
                    <a:solidFill>
                      <a:srgbClr val="EFEFEF"/>
                    </a:solidFill>
                  </a:tcPr>
                </a:tc>
                <a:tc>
                  <a:txBody>
                    <a:bodyPr/>
                    <a:lstStyle/>
                    <a:p>
                      <a:pPr algn="ctr">
                        <a:defRPr sz="1000">
                          <a:latin typeface="Montserrat"/>
                        </a:defRPr>
                      </a:pPr>
                      <a:r>
                        <a:t>2,135</a:t>
                      </a:r>
                    </a:p>
                  </a:txBody>
                  <a:tcPr>
                    <a:solidFill>
                      <a:srgbClr val="EFEFEF"/>
                    </a:solidFill>
                  </a:tcPr>
                </a:tc>
                <a:tc>
                  <a:txBody>
                    <a:bodyPr/>
                    <a:lstStyle/>
                    <a:p>
                      <a:pPr algn="ctr">
                        <a:defRPr sz="1000">
                          <a:latin typeface="Montserrat"/>
                        </a:defRPr>
                      </a:pPr>
                      <a:r>
                        <a:t>-84</a:t>
                      </a:r>
                    </a:p>
                  </a:txBody>
                  <a:tcPr>
                    <a:solidFill>
                      <a:srgbClr val="EFEFEF"/>
                    </a:solidFill>
                  </a:tcPr>
                </a:tc>
                <a:tc>
                  <a:txBody>
                    <a:bodyPr/>
                    <a:lstStyle/>
                    <a:p>
                      <a:pPr algn="ctr">
                        <a:defRPr sz="1000">
                          <a:latin typeface="Montserrat"/>
                        </a:defRPr>
                      </a:pPr>
                      <a:r>
                        <a:t>1,415</a:t>
                      </a:r>
                    </a:p>
                  </a:txBody>
                  <a:tcPr>
                    <a:solidFill>
                      <a:srgbClr val="ECD3D9"/>
                    </a:solidFill>
                  </a:tcPr>
                </a:tc>
                <a:tc>
                  <a:txBody>
                    <a:bodyPr/>
                    <a:lstStyle/>
                    <a:p>
                      <a:pPr algn="ctr">
                        <a:defRPr sz="1000">
                          <a:latin typeface="Montserrat"/>
                        </a:defRPr>
                      </a:pPr>
                      <a:r>
                        <a:t>3,132</a:t>
                      </a:r>
                    </a:p>
                  </a:txBody>
                  <a:tcPr>
                    <a:solidFill>
                      <a:srgbClr val="ECD3D9"/>
                    </a:solidFill>
                  </a:tcPr>
                </a:tc>
                <a:tc>
                  <a:txBody>
                    <a:bodyPr/>
                    <a:lstStyle/>
                    <a:p>
                      <a:pPr algn="ctr">
                        <a:defRPr sz="1000">
                          <a:latin typeface="Montserrat"/>
                        </a:defRPr>
                      </a:pPr>
                      <a:r>
                        <a:t>45.2%</a:t>
                      </a:r>
                    </a:p>
                  </a:txBody>
                  <a:tcPr>
                    <a:solidFill>
                      <a:srgbClr val="ECD3D9"/>
                    </a:solidFill>
                  </a:tcPr>
                </a:tc>
                <a:extLst>
                  <a:ext uri="{0D108BD9-81ED-4DB2-BD59-A6C34878D82A}">
                    <a16:rowId xmlns:a16="http://schemas.microsoft.com/office/drawing/2014/main" val="10004"/>
                  </a:ext>
                </a:extLst>
              </a:tr>
              <a:tr h="249813">
                <a:tc>
                  <a:txBody>
                    <a:bodyPr/>
                    <a:lstStyle/>
                    <a:p>
                      <a:pPr algn="l">
                        <a:defRPr sz="1000">
                          <a:latin typeface="Montserrat"/>
                        </a:defRPr>
                      </a:pPr>
                      <a:r>
                        <a:t>HGSMF 7 Huatabampo</a:t>
                      </a:r>
                    </a:p>
                  </a:txBody>
                  <a:tcPr>
                    <a:solidFill>
                      <a:srgbClr val="FFFFFF"/>
                    </a:solidFill>
                  </a:tcPr>
                </a:tc>
                <a:tc>
                  <a:txBody>
                    <a:bodyPr/>
                    <a:lstStyle/>
                    <a:p>
                      <a:pPr algn="ctr">
                        <a:defRPr sz="1000">
                          <a:latin typeface="Montserrat"/>
                        </a:defRPr>
                      </a:pPr>
                      <a:r>
                        <a:t>956</a:t>
                      </a:r>
                    </a:p>
                  </a:txBody>
                  <a:tcPr>
                    <a:solidFill>
                      <a:srgbClr val="FFFFFF"/>
                    </a:solidFill>
                  </a:tcPr>
                </a:tc>
                <a:tc>
                  <a:txBody>
                    <a:bodyPr/>
                    <a:lstStyle/>
                    <a:p>
                      <a:pPr algn="ctr">
                        <a:defRPr sz="1000">
                          <a:latin typeface="Montserrat"/>
                        </a:defRPr>
                      </a:pPr>
                      <a:r>
                        <a:t>232</a:t>
                      </a:r>
                    </a:p>
                  </a:txBody>
                  <a:tcPr>
                    <a:solidFill>
                      <a:srgbClr val="FFFFFF"/>
                    </a:solidFill>
                  </a:tcPr>
                </a:tc>
                <a:tc>
                  <a:txBody>
                    <a:bodyPr/>
                    <a:lstStyle/>
                    <a:p>
                      <a:pPr algn="ctr">
                        <a:defRPr sz="1000">
                          <a:latin typeface="Montserrat"/>
                        </a:defRPr>
                      </a:pPr>
                      <a:r>
                        <a:t>540</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43.1%</a:t>
                      </a:r>
                    </a:p>
                  </a:txBody>
                  <a:tcPr>
                    <a:solidFill>
                      <a:srgbClr val="ECD3D9"/>
                    </a:solidFill>
                  </a:tcPr>
                </a:tc>
                <a:extLst>
                  <a:ext uri="{0D108BD9-81ED-4DB2-BD59-A6C34878D82A}">
                    <a16:rowId xmlns:a16="http://schemas.microsoft.com/office/drawing/2014/main" val="10005"/>
                  </a:ext>
                </a:extLst>
              </a:tr>
              <a:tr h="348052">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10,402</a:t>
                      </a:r>
                    </a:p>
                  </a:txBody>
                  <a:tcPr>
                    <a:solidFill>
                      <a:srgbClr val="EFEFEF"/>
                    </a:solidFill>
                  </a:tcPr>
                </a:tc>
                <a:tc>
                  <a:txBody>
                    <a:bodyPr/>
                    <a:lstStyle/>
                    <a:p>
                      <a:pPr algn="ctr">
                        <a:defRPr sz="1000">
                          <a:latin typeface="Montserrat"/>
                        </a:defRPr>
                      </a:pPr>
                      <a:r>
                        <a:t>1,917</a:t>
                      </a:r>
                    </a:p>
                  </a:txBody>
                  <a:tcPr>
                    <a:solidFill>
                      <a:srgbClr val="EFEFEF"/>
                    </a:solidFill>
                  </a:tcPr>
                </a:tc>
                <a:tc>
                  <a:txBody>
                    <a:bodyPr/>
                    <a:lstStyle/>
                    <a:p>
                      <a:pPr algn="ctr">
                        <a:defRPr sz="1000">
                          <a:latin typeface="Montserrat"/>
                        </a:defRPr>
                      </a:pPr>
                      <a:r>
                        <a:t>5,153</a:t>
                      </a:r>
                    </a:p>
                  </a:txBody>
                  <a:tcPr>
                    <a:solidFill>
                      <a:srgbClr val="ECD3D9"/>
                    </a:solidFill>
                  </a:tcPr>
                </a:tc>
                <a:tc>
                  <a:txBody>
                    <a:bodyPr/>
                    <a:lstStyle/>
                    <a:p>
                      <a:pPr algn="ctr">
                        <a:defRPr sz="1000">
                          <a:latin typeface="Montserrat"/>
                        </a:defRPr>
                      </a:pPr>
                      <a:r>
                        <a:t>12,077</a:t>
                      </a:r>
                    </a:p>
                  </a:txBody>
                  <a:tcPr>
                    <a:solidFill>
                      <a:srgbClr val="ECD3D9"/>
                    </a:solidFill>
                  </a:tcPr>
                </a:tc>
                <a:tc>
                  <a:txBody>
                    <a:bodyPr/>
                    <a:lstStyle/>
                    <a:p>
                      <a:pPr algn="ctr">
                        <a:defRPr sz="1000">
                          <a:latin typeface="Montserrat"/>
                        </a:defRPr>
                      </a:pPr>
                      <a:r>
                        <a:t>42.7%</a:t>
                      </a:r>
                    </a:p>
                  </a:txBody>
                  <a:tcPr>
                    <a:solidFill>
                      <a:srgbClr val="ECD3D9"/>
                    </a:solidFill>
                  </a:tcPr>
                </a:tc>
                <a:extLst>
                  <a:ext uri="{0D108BD9-81ED-4DB2-BD59-A6C34878D82A}">
                    <a16:rowId xmlns:a16="http://schemas.microsoft.com/office/drawing/2014/main" val="10006"/>
                  </a:ext>
                </a:extLst>
              </a:tr>
              <a:tr h="249813">
                <a:tc>
                  <a:txBody>
                    <a:bodyPr/>
                    <a:lstStyle/>
                    <a:p>
                      <a:pPr algn="l">
                        <a:defRPr sz="1000">
                          <a:latin typeface="Montserrat"/>
                        </a:defRPr>
                      </a:pPr>
                      <a:r>
                        <a:t>HGR 1 Cd. Obregón</a:t>
                      </a:r>
                    </a:p>
                  </a:txBody>
                  <a:tcPr>
                    <a:solidFill>
                      <a:srgbClr val="FFFFFF"/>
                    </a:solidFill>
                  </a:tcPr>
                </a:tc>
                <a:tc>
                  <a:txBody>
                    <a:bodyPr/>
                    <a:lstStyle/>
                    <a:p>
                      <a:pPr algn="ctr">
                        <a:defRPr sz="1000">
                          <a:latin typeface="Montserrat"/>
                        </a:defRPr>
                      </a:pPr>
                      <a:r>
                        <a:t>10,215</a:t>
                      </a:r>
                    </a:p>
                  </a:txBody>
                  <a:tcPr>
                    <a:solidFill>
                      <a:srgbClr val="FFFFFF"/>
                    </a:solidFill>
                  </a:tcPr>
                </a:tc>
                <a:tc>
                  <a:txBody>
                    <a:bodyPr/>
                    <a:lstStyle/>
                    <a:p>
                      <a:pPr algn="ctr">
                        <a:defRPr sz="1000">
                          <a:latin typeface="Montserrat"/>
                        </a:defRPr>
                      </a:pPr>
                      <a:r>
                        <a:t>857</a:t>
                      </a:r>
                    </a:p>
                  </a:txBody>
                  <a:tcPr>
                    <a:solidFill>
                      <a:srgbClr val="FFFFFF"/>
                    </a:solidFill>
                  </a:tcPr>
                </a:tc>
                <a:tc>
                  <a:txBody>
                    <a:bodyPr/>
                    <a:lstStyle/>
                    <a:p>
                      <a:pPr algn="ctr">
                        <a:defRPr sz="1000">
                          <a:latin typeface="Montserrat"/>
                        </a:defRPr>
                      </a:pPr>
                      <a:r>
                        <a:t>4,810</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39.8%</a:t>
                      </a:r>
                    </a:p>
                  </a:txBody>
                  <a:tcPr>
                    <a:solidFill>
                      <a:srgbClr val="ECD3D9"/>
                    </a:solidFill>
                  </a:tcPr>
                </a:tc>
                <a:extLst>
                  <a:ext uri="{0D108BD9-81ED-4DB2-BD59-A6C34878D82A}">
                    <a16:rowId xmlns:a16="http://schemas.microsoft.com/office/drawing/2014/main" val="10007"/>
                  </a:ext>
                </a:extLst>
              </a:tr>
              <a:tr h="249813">
                <a:tc>
                  <a:txBody>
                    <a:bodyPr/>
                    <a:lstStyle/>
                    <a:p>
                      <a:pPr algn="l">
                        <a:defRPr sz="1000">
                          <a:latin typeface="Montserrat"/>
                        </a:defRPr>
                      </a:pPr>
                      <a:r>
                        <a:t>HGSMF 12 Aguaprieta</a:t>
                      </a:r>
                    </a:p>
                  </a:txBody>
                  <a:tcPr>
                    <a:solidFill>
                      <a:srgbClr val="EFEFEF"/>
                    </a:solidFill>
                  </a:tcPr>
                </a:tc>
                <a:tc>
                  <a:txBody>
                    <a:bodyPr/>
                    <a:lstStyle/>
                    <a:p>
                      <a:pPr algn="ctr">
                        <a:defRPr sz="1000">
                          <a:latin typeface="Montserrat"/>
                        </a:defRPr>
                      </a:pPr>
                      <a:r>
                        <a:t>1,295</a:t>
                      </a:r>
                    </a:p>
                  </a:txBody>
                  <a:tcPr>
                    <a:solidFill>
                      <a:srgbClr val="EFEFEF"/>
                    </a:solidFill>
                  </a:tcPr>
                </a:tc>
                <a:tc>
                  <a:txBody>
                    <a:bodyPr/>
                    <a:lstStyle/>
                    <a:p>
                      <a:pPr algn="ctr">
                        <a:defRPr sz="1000">
                          <a:latin typeface="Montserrat"/>
                        </a:defRPr>
                      </a:pPr>
                      <a:r>
                        <a:t>37</a:t>
                      </a:r>
                    </a:p>
                  </a:txBody>
                  <a:tcPr>
                    <a:solidFill>
                      <a:srgbClr val="EFEFEF"/>
                    </a:solidFill>
                  </a:tcPr>
                </a:tc>
                <a:tc>
                  <a:txBody>
                    <a:bodyPr/>
                    <a:lstStyle/>
                    <a:p>
                      <a:pPr algn="ctr">
                        <a:defRPr sz="1000">
                          <a:latin typeface="Montserrat"/>
                        </a:defRPr>
                      </a:pPr>
                      <a:r>
                        <a:t>515</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37.9%</a:t>
                      </a:r>
                    </a:p>
                  </a:txBody>
                  <a:tcPr>
                    <a:solidFill>
                      <a:srgbClr val="ECD3D9"/>
                    </a:solidFill>
                  </a:tcPr>
                </a:tc>
                <a:extLst>
                  <a:ext uri="{0D108BD9-81ED-4DB2-BD59-A6C34878D82A}">
                    <a16:rowId xmlns:a16="http://schemas.microsoft.com/office/drawing/2014/main" val="10008"/>
                  </a:ext>
                </a:extLst>
              </a:tr>
              <a:tr h="249813">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2,506</a:t>
                      </a:r>
                    </a:p>
                  </a:txBody>
                  <a:tcPr>
                    <a:solidFill>
                      <a:srgbClr val="FFFFFF"/>
                    </a:solidFill>
                  </a:tcPr>
                </a:tc>
                <a:tc>
                  <a:txBody>
                    <a:bodyPr/>
                    <a:lstStyle/>
                    <a:p>
                      <a:pPr algn="ctr">
                        <a:defRPr sz="1000">
                          <a:latin typeface="Montserrat"/>
                        </a:defRPr>
                      </a:pPr>
                      <a:r>
                        <a:t>391</a:t>
                      </a:r>
                    </a:p>
                  </a:txBody>
                  <a:tcPr>
                    <a:solidFill>
                      <a:srgbClr val="FFFFFF"/>
                    </a:solidFill>
                  </a:tcPr>
                </a:tc>
                <a:tc>
                  <a:txBody>
                    <a:bodyPr/>
                    <a:lstStyle/>
                    <a:p>
                      <a:pPr algn="ctr">
                        <a:defRPr sz="1000">
                          <a:latin typeface="Montserrat"/>
                        </a:defRPr>
                      </a:pPr>
                      <a:r>
                        <a:t>1,024</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37.7%</a:t>
                      </a:r>
                    </a:p>
                  </a:txBody>
                  <a:tcPr>
                    <a:solidFill>
                      <a:srgbClr val="ECD3D9"/>
                    </a:solidFill>
                  </a:tcPr>
                </a:tc>
                <a:extLst>
                  <a:ext uri="{0D108BD9-81ED-4DB2-BD59-A6C34878D82A}">
                    <a16:rowId xmlns:a16="http://schemas.microsoft.com/office/drawing/2014/main" val="10009"/>
                  </a:ext>
                </a:extLst>
              </a:tr>
              <a:tr h="249813">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750</a:t>
                      </a:r>
                    </a:p>
                  </a:txBody>
                  <a:tcPr>
                    <a:solidFill>
                      <a:srgbClr val="EFEFEF"/>
                    </a:solidFill>
                  </a:tcPr>
                </a:tc>
                <a:tc>
                  <a:txBody>
                    <a:bodyPr/>
                    <a:lstStyle/>
                    <a:p>
                      <a:pPr algn="ctr">
                        <a:defRPr sz="1000">
                          <a:latin typeface="Montserrat"/>
                        </a:defRPr>
                      </a:pPr>
                      <a:r>
                        <a:t>122</a:t>
                      </a:r>
                    </a:p>
                  </a:txBody>
                  <a:tcPr>
                    <a:solidFill>
                      <a:srgbClr val="EFEFEF"/>
                    </a:solidFill>
                  </a:tcPr>
                </a:tc>
                <a:tc>
                  <a:txBody>
                    <a:bodyPr/>
                    <a:lstStyle/>
                    <a:p>
                      <a:pPr algn="ctr">
                        <a:defRPr sz="1000">
                          <a:latin typeface="Montserrat"/>
                        </a:defRPr>
                      </a:pPr>
                      <a:r>
                        <a:t>405</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32.3%</a:t>
                      </a:r>
                    </a:p>
                  </a:txBody>
                  <a:tcPr>
                    <a:solidFill>
                      <a:srgbClr val="ECD3D9"/>
                    </a:solidFill>
                  </a:tcPr>
                </a:tc>
                <a:extLst>
                  <a:ext uri="{0D108BD9-81ED-4DB2-BD59-A6C34878D82A}">
                    <a16:rowId xmlns:a16="http://schemas.microsoft.com/office/drawing/2014/main" val="10010"/>
                  </a:ext>
                </a:extLst>
              </a:tr>
              <a:tr h="249813">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1,918</a:t>
                      </a:r>
                    </a:p>
                  </a:txBody>
                  <a:tcPr>
                    <a:solidFill>
                      <a:srgbClr val="FFFFFF"/>
                    </a:solidFill>
                  </a:tcPr>
                </a:tc>
                <a:tc>
                  <a:txBody>
                    <a:bodyPr/>
                    <a:lstStyle/>
                    <a:p>
                      <a:pPr algn="ctr">
                        <a:defRPr sz="1000">
                          <a:latin typeface="Montserrat"/>
                        </a:defRPr>
                      </a:pPr>
                      <a:r>
                        <a:t>1,496</a:t>
                      </a:r>
                    </a:p>
                  </a:txBody>
                  <a:tcPr>
                    <a:solidFill>
                      <a:srgbClr val="FFFFFF"/>
                    </a:solidFill>
                  </a:tcPr>
                </a:tc>
                <a:tc>
                  <a:txBody>
                    <a:bodyPr/>
                    <a:lstStyle/>
                    <a:p>
                      <a:pPr algn="ctr">
                        <a:defRPr sz="1000">
                          <a:latin typeface="Montserrat"/>
                        </a:defRPr>
                      </a:pPr>
                      <a:r>
                        <a:t>809</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32.3%</a:t>
                      </a:r>
                    </a:p>
                  </a:txBody>
                  <a:tcPr>
                    <a:solidFill>
                      <a:srgbClr val="ECD3D9"/>
                    </a:solidFill>
                  </a:tcPr>
                </a:tc>
                <a:extLst>
                  <a:ext uri="{0D108BD9-81ED-4DB2-BD59-A6C34878D82A}">
                    <a16:rowId xmlns:a16="http://schemas.microsoft.com/office/drawing/2014/main" val="10011"/>
                  </a:ext>
                </a:extLst>
              </a:tr>
              <a:tr h="249813">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4,101</a:t>
                      </a:r>
                    </a:p>
                  </a:txBody>
                  <a:tcPr>
                    <a:solidFill>
                      <a:srgbClr val="EFEFEF"/>
                    </a:solidFill>
                  </a:tcPr>
                </a:tc>
                <a:tc>
                  <a:txBody>
                    <a:bodyPr/>
                    <a:lstStyle/>
                    <a:p>
                      <a:pPr algn="ctr">
                        <a:defRPr sz="1000">
                          <a:latin typeface="Montserrat"/>
                        </a:defRPr>
                      </a:pPr>
                      <a:r>
                        <a:t>543</a:t>
                      </a:r>
                    </a:p>
                  </a:txBody>
                  <a:tcPr>
                    <a:solidFill>
                      <a:srgbClr val="EFEFEF"/>
                    </a:solidFill>
                  </a:tcPr>
                </a:tc>
                <a:tc>
                  <a:txBody>
                    <a:bodyPr/>
                    <a:lstStyle/>
                    <a:p>
                      <a:pPr algn="ctr">
                        <a:defRPr sz="1000">
                          <a:latin typeface="Montserrat"/>
                        </a:defRPr>
                      </a:pPr>
                      <a:r>
                        <a:t>1,981</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29.1%</a:t>
                      </a:r>
                    </a:p>
                  </a:txBody>
                  <a:tcPr>
                    <a:solidFill>
                      <a:srgbClr val="ECD3D9"/>
                    </a:solidFill>
                  </a:tcPr>
                </a:tc>
                <a:extLst>
                  <a:ext uri="{0D108BD9-81ED-4DB2-BD59-A6C34878D82A}">
                    <a16:rowId xmlns:a16="http://schemas.microsoft.com/office/drawing/2014/main" val="10012"/>
                  </a:ext>
                </a:extLst>
              </a:tr>
              <a:tr h="249813">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3,733</a:t>
                      </a:r>
                    </a:p>
                  </a:txBody>
                  <a:tcPr>
                    <a:solidFill>
                      <a:srgbClr val="FFFFFF"/>
                    </a:solidFill>
                  </a:tcPr>
                </a:tc>
                <a:tc>
                  <a:txBody>
                    <a:bodyPr/>
                    <a:lstStyle/>
                    <a:p>
                      <a:pPr algn="ctr">
                        <a:defRPr sz="1000">
                          <a:latin typeface="Montserrat"/>
                        </a:defRPr>
                      </a:pPr>
                      <a:r>
                        <a:t>622</a:t>
                      </a:r>
                    </a:p>
                  </a:txBody>
                  <a:tcPr>
                    <a:solidFill>
                      <a:srgbClr val="FFFFFF"/>
                    </a:solidFill>
                  </a:tcPr>
                </a:tc>
                <a:tc>
                  <a:txBody>
                    <a:bodyPr/>
                    <a:lstStyle/>
                    <a:p>
                      <a:pPr algn="ctr">
                        <a:defRPr sz="1000">
                          <a:latin typeface="Montserrat"/>
                        </a:defRPr>
                      </a:pPr>
                      <a:r>
                        <a:t>1,470</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28.4%</a:t>
                      </a:r>
                    </a:p>
                  </a:txBody>
                  <a:tcPr>
                    <a:solidFill>
                      <a:srgbClr val="ECD3D9"/>
                    </a:solidFill>
                  </a:tcPr>
                </a:tc>
                <a:extLst>
                  <a:ext uri="{0D108BD9-81ED-4DB2-BD59-A6C34878D82A}">
                    <a16:rowId xmlns:a16="http://schemas.microsoft.com/office/drawing/2014/main" val="10013"/>
                  </a:ext>
                </a:extLst>
              </a:tr>
              <a:tr h="249813">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3,495</a:t>
                      </a:r>
                    </a:p>
                  </a:txBody>
                  <a:tcPr>
                    <a:solidFill>
                      <a:srgbClr val="EFEFEF"/>
                    </a:solidFill>
                  </a:tcPr>
                </a:tc>
                <a:tc>
                  <a:txBody>
                    <a:bodyPr/>
                    <a:lstStyle/>
                    <a:p>
                      <a:pPr algn="ctr">
                        <a:defRPr sz="1000">
                          <a:latin typeface="Montserrat"/>
                        </a:defRPr>
                      </a:pPr>
                      <a:r>
                        <a:t>358</a:t>
                      </a:r>
                    </a:p>
                  </a:txBody>
                  <a:tcPr>
                    <a:solidFill>
                      <a:srgbClr val="EFEFEF"/>
                    </a:solidFill>
                  </a:tcPr>
                </a:tc>
                <a:tc>
                  <a:txBody>
                    <a:bodyPr/>
                    <a:lstStyle/>
                    <a:p>
                      <a:pPr algn="ctr">
                        <a:defRPr sz="1000">
                          <a:latin typeface="Montserrat"/>
                        </a:defRPr>
                      </a:pPr>
                      <a:r>
                        <a:t>1,411</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26.0%</a:t>
                      </a:r>
                    </a:p>
                  </a:txBody>
                  <a:tcPr>
                    <a:solidFill>
                      <a:srgbClr val="ECD3D9"/>
                    </a:solidFill>
                  </a:tcPr>
                </a:tc>
                <a:extLst>
                  <a:ext uri="{0D108BD9-81ED-4DB2-BD59-A6C34878D82A}">
                    <a16:rowId xmlns:a16="http://schemas.microsoft.com/office/drawing/2014/main" val="10014"/>
                  </a:ext>
                </a:extLst>
              </a:tr>
              <a:tr h="249813">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2,395</a:t>
                      </a:r>
                    </a:p>
                  </a:txBody>
                  <a:tcPr>
                    <a:solidFill>
                      <a:srgbClr val="FFFFFF"/>
                    </a:solidFill>
                  </a:tcPr>
                </a:tc>
                <a:tc>
                  <a:txBody>
                    <a:bodyPr/>
                    <a:lstStyle/>
                    <a:p>
                      <a:pPr algn="ctr">
                        <a:defRPr sz="1000">
                          <a:latin typeface="Montserrat"/>
                        </a:defRPr>
                      </a:pPr>
                      <a:r>
                        <a:t>372</a:t>
                      </a:r>
                    </a:p>
                  </a:txBody>
                  <a:tcPr>
                    <a:solidFill>
                      <a:srgbClr val="FFFFFF"/>
                    </a:solidFill>
                  </a:tcPr>
                </a:tc>
                <a:tc>
                  <a:txBody>
                    <a:bodyPr/>
                    <a:lstStyle/>
                    <a:p>
                      <a:pPr algn="ctr">
                        <a:defRPr sz="1000">
                          <a:latin typeface="Montserrat"/>
                        </a:defRPr>
                      </a:pPr>
                      <a:r>
                        <a:t>1,356</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24.9%</a:t>
                      </a:r>
                    </a:p>
                  </a:txBody>
                  <a:tcPr>
                    <a:solidFill>
                      <a:srgbClr val="ECD3D9"/>
                    </a:solidFill>
                  </a:tcPr>
                </a:tc>
                <a:extLst>
                  <a:ext uri="{0D108BD9-81ED-4DB2-BD59-A6C34878D82A}">
                    <a16:rowId xmlns:a16="http://schemas.microsoft.com/office/drawing/2014/main" val="10015"/>
                  </a:ext>
                </a:extLst>
              </a:tr>
              <a:tr h="249813">
                <a:tc>
                  <a:txBody>
                    <a:bodyPr/>
                    <a:lstStyle/>
                    <a:p>
                      <a:pPr algn="l">
                        <a:defRPr sz="1000">
                          <a:latin typeface="Montserrat"/>
                        </a:defRPr>
                      </a:pPr>
                      <a:r>
                        <a:t>HGSMF 54 Empalme</a:t>
                      </a:r>
                    </a:p>
                  </a:txBody>
                  <a:tcPr>
                    <a:solidFill>
                      <a:srgbClr val="EFEFEF"/>
                    </a:solidFill>
                  </a:tcPr>
                </a:tc>
                <a:tc>
                  <a:txBody>
                    <a:bodyPr/>
                    <a:lstStyle/>
                    <a:p>
                      <a:pPr algn="ctr">
                        <a:defRPr sz="1000">
                          <a:latin typeface="Montserrat"/>
                        </a:defRPr>
                      </a:pPr>
                      <a:r>
                        <a:t>745</a:t>
                      </a:r>
                    </a:p>
                  </a:txBody>
                  <a:tcPr>
                    <a:solidFill>
                      <a:srgbClr val="EFEFEF"/>
                    </a:solidFill>
                  </a:tcPr>
                </a:tc>
                <a:tc>
                  <a:txBody>
                    <a:bodyPr/>
                    <a:lstStyle/>
                    <a:p>
                      <a:pPr algn="ctr">
                        <a:defRPr sz="1000">
                          <a:latin typeface="Montserrat"/>
                        </a:defRPr>
                      </a:pPr>
                      <a:r>
                        <a:t>158</a:t>
                      </a:r>
                    </a:p>
                  </a:txBody>
                  <a:tcPr>
                    <a:solidFill>
                      <a:srgbClr val="EFEFEF"/>
                    </a:solidFill>
                  </a:tcPr>
                </a:tc>
                <a:tc>
                  <a:txBody>
                    <a:bodyPr/>
                    <a:lstStyle/>
                    <a:p>
                      <a:pPr algn="ctr">
                        <a:defRPr sz="1000">
                          <a:latin typeface="Montserrat"/>
                        </a:defRPr>
                      </a:pPr>
                      <a:r>
                        <a:t>350</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22.4%</a:t>
                      </a:r>
                    </a:p>
                  </a:txBody>
                  <a:tcPr>
                    <a:solidFill>
                      <a:srgbClr val="ECD3D9"/>
                    </a:solidFill>
                  </a:tcPr>
                </a:tc>
                <a:extLst>
                  <a:ext uri="{0D108BD9-81ED-4DB2-BD59-A6C34878D82A}">
                    <a16:rowId xmlns:a16="http://schemas.microsoft.com/office/drawing/2014/main" val="10016"/>
                  </a:ext>
                </a:extLst>
              </a:tr>
              <a:tr h="249813">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55,447</a:t>
                      </a:r>
                    </a:p>
                  </a:txBody>
                  <a:tcPr>
                    <a:solidFill>
                      <a:srgbClr val="D3E9E7"/>
                    </a:solidFill>
                  </a:tcPr>
                </a:tc>
                <a:tc>
                  <a:txBody>
                    <a:bodyPr/>
                    <a:lstStyle/>
                    <a:p>
                      <a:pPr algn="ctr">
                        <a:defRPr sz="1000" b="1">
                          <a:solidFill>
                            <a:srgbClr val="006556"/>
                          </a:solidFill>
                          <a:latin typeface="Montserrat"/>
                        </a:defRPr>
                      </a:pPr>
                      <a:r>
                        <a:t>8,723</a:t>
                      </a:r>
                    </a:p>
                  </a:txBody>
                  <a:tcPr>
                    <a:solidFill>
                      <a:srgbClr val="D3E9E7"/>
                    </a:solidFill>
                  </a:tcPr>
                </a:tc>
                <a:tc>
                  <a:txBody>
                    <a:bodyPr/>
                    <a:lstStyle/>
                    <a:p>
                      <a:pPr algn="ctr">
                        <a:defRPr sz="1000" b="1">
                          <a:solidFill>
                            <a:srgbClr val="FFFFFF"/>
                          </a:solidFill>
                          <a:latin typeface="Montserrat"/>
                        </a:defRPr>
                      </a:pPr>
                      <a:r>
                        <a:t>27,307</a:t>
                      </a:r>
                    </a:p>
                  </a:txBody>
                  <a:tcPr>
                    <a:solidFill>
                      <a:srgbClr val="9F2241"/>
                    </a:solidFill>
                  </a:tcPr>
                </a:tc>
                <a:tc>
                  <a:txBody>
                    <a:bodyPr/>
                    <a:lstStyle/>
                    <a:p>
                      <a:pPr algn="ctr">
                        <a:defRPr sz="1000" b="1">
                          <a:solidFill>
                            <a:srgbClr val="FFFFFF"/>
                          </a:solidFill>
                          <a:latin typeface="Montserrat"/>
                        </a:defRPr>
                      </a:pPr>
                      <a:r>
                        <a:t>73,751</a:t>
                      </a:r>
                    </a:p>
                  </a:txBody>
                  <a:tcPr>
                    <a:solidFill>
                      <a:srgbClr val="9F2241"/>
                    </a:solidFill>
                  </a:tcPr>
                </a:tc>
                <a:tc>
                  <a:txBody>
                    <a:bodyPr/>
                    <a:lstStyle/>
                    <a:p>
                      <a:pPr algn="ctr">
                        <a:defRPr sz="1000" b="1">
                          <a:solidFill>
                            <a:srgbClr val="FFFFFF"/>
                          </a:solidFill>
                          <a:latin typeface="Montserrat"/>
                        </a:defRPr>
                      </a:pPr>
                      <a:r>
                        <a:rPr dirty="0"/>
                        <a:t>37.0%</a:t>
                      </a:r>
                    </a:p>
                  </a:txBody>
                  <a:tcPr>
                    <a:solidFill>
                      <a:srgbClr val="9F2241"/>
                    </a:solidFill>
                  </a:tcPr>
                </a:tc>
                <a:extLst>
                  <a:ext uri="{0D108BD9-81ED-4DB2-BD59-A6C34878D82A}">
                    <a16:rowId xmlns:a16="http://schemas.microsoft.com/office/drawing/2014/main" val="10017"/>
                  </a:ext>
                </a:extLst>
              </a:tr>
            </a:tbl>
          </a:graphicData>
        </a:graphic>
      </p:graphicFrame>
      <p:graphicFrame>
        <p:nvGraphicFramePr>
          <p:cNvPr id="234" name="Table 233"/>
          <p:cNvGraphicFramePr>
            <a:graphicFrameLocks noGrp="1"/>
          </p:cNvGraphicFramePr>
          <p:nvPr>
            <p:extLst>
              <p:ext uri="{D42A27DB-BD31-4B8C-83A1-F6EECF244321}">
                <p14:modId xmlns:p14="http://schemas.microsoft.com/office/powerpoint/2010/main" val="2752193485"/>
              </p:ext>
            </p:extLst>
          </p:nvPr>
        </p:nvGraphicFramePr>
        <p:xfrm>
          <a:off x="144000" y="5951208"/>
          <a:ext cx="7340399" cy="1260676"/>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20668">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34739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14,233</a:t>
                      </a:r>
                    </a:p>
                  </a:txBody>
                  <a:tcPr>
                    <a:solidFill>
                      <a:srgbClr val="FFFFFF"/>
                    </a:solidFill>
                  </a:tcPr>
                </a:tc>
                <a:tc>
                  <a:txBody>
                    <a:bodyPr/>
                    <a:lstStyle/>
                    <a:p>
                      <a:pPr algn="ctr">
                        <a:defRPr sz="1000">
                          <a:latin typeface="Montserrat"/>
                        </a:defRPr>
                      </a:pPr>
                      <a:r>
                        <a:t>6,939</a:t>
                      </a:r>
                    </a:p>
                  </a:txBody>
                  <a:tcPr>
                    <a:solidFill>
                      <a:srgbClr val="FFFFFF"/>
                    </a:solidFill>
                  </a:tcPr>
                </a:tc>
                <a:tc>
                  <a:txBody>
                    <a:bodyPr/>
                    <a:lstStyle/>
                    <a:p>
                      <a:pPr algn="ctr">
                        <a:defRPr sz="1000">
                          <a:latin typeface="Montserrat"/>
                        </a:defRPr>
                      </a:pPr>
                      <a:r>
                        <a:t>5,085</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29.5%</a:t>
                      </a:r>
                    </a:p>
                  </a:txBody>
                  <a:tcPr>
                    <a:solidFill>
                      <a:srgbClr val="ECD3D9"/>
                    </a:solidFill>
                  </a:tcPr>
                </a:tc>
                <a:extLst>
                  <a:ext uri="{0D108BD9-81ED-4DB2-BD59-A6C34878D82A}">
                    <a16:rowId xmlns:a16="http://schemas.microsoft.com/office/drawing/2014/main" val="10001"/>
                  </a:ext>
                </a:extLst>
              </a:tr>
              <a:tr h="249338">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14,233</a:t>
                      </a:r>
                    </a:p>
                  </a:txBody>
                  <a:tcPr>
                    <a:solidFill>
                      <a:srgbClr val="D3E9E7"/>
                    </a:solidFill>
                  </a:tcPr>
                </a:tc>
                <a:tc>
                  <a:txBody>
                    <a:bodyPr/>
                    <a:lstStyle/>
                    <a:p>
                      <a:pPr algn="ctr">
                        <a:defRPr sz="1000" b="1">
                          <a:solidFill>
                            <a:srgbClr val="006556"/>
                          </a:solidFill>
                          <a:latin typeface="Montserrat"/>
                        </a:defRPr>
                      </a:pPr>
                      <a:r>
                        <a:t>6,939</a:t>
                      </a:r>
                    </a:p>
                  </a:txBody>
                  <a:tcPr>
                    <a:solidFill>
                      <a:srgbClr val="D3E9E7"/>
                    </a:solidFill>
                  </a:tcPr>
                </a:tc>
                <a:tc>
                  <a:txBody>
                    <a:bodyPr/>
                    <a:lstStyle/>
                    <a:p>
                      <a:pPr algn="ctr">
                        <a:defRPr sz="1000" b="1">
                          <a:solidFill>
                            <a:srgbClr val="FFFFFF"/>
                          </a:solidFill>
                          <a:latin typeface="Montserrat"/>
                        </a:defRPr>
                      </a:pPr>
                      <a:r>
                        <a:t>5,085</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29.5%</a:t>
                      </a:r>
                    </a:p>
                  </a:txBody>
                  <a:tcPr>
                    <a:solidFill>
                      <a:srgbClr val="9F2241"/>
                    </a:solidFill>
                  </a:tcPr>
                </a:tc>
                <a:extLst>
                  <a:ext uri="{0D108BD9-81ED-4DB2-BD59-A6C34878D82A}">
                    <a16:rowId xmlns:a16="http://schemas.microsoft.com/office/drawing/2014/main" val="10002"/>
                  </a:ext>
                </a:extLst>
              </a:tr>
              <a:tr h="249338">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69,680</a:t>
                      </a:r>
                    </a:p>
                  </a:txBody>
                  <a:tcPr>
                    <a:solidFill>
                      <a:srgbClr val="D3E9E7"/>
                    </a:solidFill>
                  </a:tcPr>
                </a:tc>
                <a:tc>
                  <a:txBody>
                    <a:bodyPr/>
                    <a:lstStyle/>
                    <a:p>
                      <a:pPr algn="ctr">
                        <a:defRPr sz="1000" b="1">
                          <a:solidFill>
                            <a:srgbClr val="006556"/>
                          </a:solidFill>
                          <a:latin typeface="Montserrat"/>
                        </a:defRPr>
                      </a:pPr>
                      <a:r>
                        <a:t>15,662</a:t>
                      </a:r>
                    </a:p>
                  </a:txBody>
                  <a:tcPr>
                    <a:solidFill>
                      <a:srgbClr val="D3E9E7"/>
                    </a:solidFill>
                  </a:tcPr>
                </a:tc>
                <a:tc>
                  <a:txBody>
                    <a:bodyPr/>
                    <a:lstStyle/>
                    <a:p>
                      <a:pPr algn="ctr">
                        <a:defRPr sz="1000" b="1">
                          <a:solidFill>
                            <a:srgbClr val="FFFFFF"/>
                          </a:solidFill>
                          <a:latin typeface="Montserrat"/>
                        </a:defRPr>
                      </a:pPr>
                      <a:r>
                        <a:t>32,392</a:t>
                      </a:r>
                    </a:p>
                  </a:txBody>
                  <a:tcPr>
                    <a:solidFill>
                      <a:srgbClr val="9F2241"/>
                    </a:solidFill>
                  </a:tcPr>
                </a:tc>
                <a:tc>
                  <a:txBody>
                    <a:bodyPr/>
                    <a:lstStyle/>
                    <a:p>
                      <a:pPr algn="ctr">
                        <a:defRPr sz="1000" b="1">
                          <a:solidFill>
                            <a:srgbClr val="FFFFFF"/>
                          </a:solidFill>
                          <a:latin typeface="Montserrat"/>
                        </a:defRPr>
                      </a:pPr>
                      <a:r>
                        <a:t>91,001</a:t>
                      </a:r>
                    </a:p>
                  </a:txBody>
                  <a:tcPr>
                    <a:solidFill>
                      <a:srgbClr val="9F2241"/>
                    </a:solidFill>
                  </a:tcPr>
                </a:tc>
                <a:tc>
                  <a:txBody>
                    <a:bodyPr/>
                    <a:lstStyle/>
                    <a:p>
                      <a:pPr algn="ctr">
                        <a:defRPr sz="1000" b="1">
                          <a:solidFill>
                            <a:srgbClr val="FFFFFF"/>
                          </a:solidFill>
                          <a:latin typeface="Montserrat"/>
                        </a:defRPr>
                      </a:pPr>
                      <a:r>
                        <a:rPr dirty="0"/>
                        <a:t>35.6%</a:t>
                      </a:r>
                    </a:p>
                  </a:txBody>
                  <a:tcPr>
                    <a:solidFill>
                      <a:srgbClr val="9F2241"/>
                    </a:solidFill>
                  </a:tcPr>
                </a:tc>
                <a:extLst>
                  <a:ext uri="{0D108BD9-81ED-4DB2-BD59-A6C34878D82A}">
                    <a16:rowId xmlns:a16="http://schemas.microsoft.com/office/drawing/2014/main" val="10003"/>
                  </a:ext>
                </a:extLst>
              </a:tr>
            </a:tbl>
          </a:graphicData>
        </a:graphic>
      </p:graphicFrame>
      <p:graphicFrame>
        <p:nvGraphicFramePr>
          <p:cNvPr id="235" name="Chart 234"/>
          <p:cNvGraphicFramePr>
            <a:graphicFrameLocks noGrp="1"/>
          </p:cNvGraphicFramePr>
          <p:nvPr>
            <p:extLst>
              <p:ext uri="{D42A27DB-BD31-4B8C-83A1-F6EECF244321}">
                <p14:modId xmlns:p14="http://schemas.microsoft.com/office/powerpoint/2010/main" val="4204367523"/>
              </p:ext>
            </p:extLst>
          </p:nvPr>
        </p:nvGraphicFramePr>
        <p:xfrm>
          <a:off x="5108346" y="76356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6" name="TextBox 235"/>
          <p:cNvSpPr txBox="1"/>
          <p:nvPr/>
        </p:nvSpPr>
        <p:spPr>
          <a:xfrm>
            <a:off x="5108346" y="8326315"/>
            <a:ext cx="1800000" cy="360000"/>
          </a:xfrm>
          <a:prstGeom prst="rect">
            <a:avLst/>
          </a:prstGeom>
          <a:noFill/>
        </p:spPr>
        <p:txBody>
          <a:bodyPr wrap="none">
            <a:spAutoFit/>
          </a:bodyPr>
          <a:lstStyle/>
          <a:p>
            <a:pPr algn="ctr"/>
            <a:r>
              <a:rPr sz="2400" b="1" dirty="0">
                <a:solidFill>
                  <a:srgbClr val="9F2241"/>
                </a:solidFill>
                <a:latin typeface="Montserrat"/>
              </a:rPr>
              <a:t>35.6%</a:t>
            </a:r>
          </a:p>
        </p:txBody>
      </p:sp>
      <p:sp>
        <p:nvSpPr>
          <p:cNvPr id="237" name="TextBox 236"/>
          <p:cNvSpPr txBox="1"/>
          <p:nvPr/>
        </p:nvSpPr>
        <p:spPr>
          <a:xfrm>
            <a:off x="3713696" y="7895400"/>
            <a:ext cx="1800000" cy="360000"/>
          </a:xfrm>
          <a:prstGeom prst="rect">
            <a:avLst/>
          </a:prstGeom>
          <a:noFill/>
        </p:spPr>
        <p:txBody>
          <a:bodyPr wrap="none">
            <a:spAutoFit/>
          </a:bodyPr>
          <a:lstStyle/>
          <a:p>
            <a:pPr algn="ctr"/>
            <a:r>
              <a:rPr sz="1400" b="1" dirty="0">
                <a:solidFill>
                  <a:srgbClr val="9F2241"/>
                </a:solidFill>
                <a:latin typeface="Montserrat"/>
              </a:rPr>
              <a:t>Avance</a:t>
            </a:r>
          </a:p>
        </p:txBody>
      </p:sp>
      <p:sp>
        <p:nvSpPr>
          <p:cNvPr id="238" name="TextBox 237"/>
          <p:cNvSpPr txBox="1"/>
          <p:nvPr/>
        </p:nvSpPr>
        <p:spPr>
          <a:xfrm>
            <a:off x="763253" y="7845143"/>
            <a:ext cx="2854800" cy="1198800"/>
          </a:xfrm>
          <a:prstGeom prst="rect">
            <a:avLst/>
          </a:prstGeom>
          <a:noFill/>
        </p:spPr>
        <p:txBody>
          <a:bodyPr wrap="square">
            <a:spAutoFit/>
          </a:bodyPr>
          <a:lstStyle/>
          <a:p>
            <a:pPr algn="ctr">
              <a:defRPr sz="3600" b="1">
                <a:solidFill>
                  <a:srgbClr val="9F2241"/>
                </a:solidFill>
                <a:latin typeface="Montserrat"/>
              </a:defRPr>
            </a:pPr>
            <a:r>
              <a:rPr dirty="0"/>
              <a:t>91,001 </a:t>
            </a:r>
            <a:br>
              <a:rPr dirty="0"/>
            </a:br>
            <a:r>
              <a:rPr dirty="0"/>
              <a:t>Meta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0" y="616268"/>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5" name="TextBox 4"/>
          <p:cNvSpPr txBox="1"/>
          <p:nvPr/>
        </p:nvSpPr>
        <p:spPr>
          <a:xfrm>
            <a:off x="360000" y="1267808"/>
            <a:ext cx="3567002"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298 en </a:t>
            </a:r>
            <a:r>
              <a:rPr kumimoji="0" sz="2000" b="1" i="0" u="none" strike="noStrike" kern="0" cap="none" spc="0" normalizeH="0" baseline="0" noProof="0" err="1">
                <a:ln>
                  <a:noFill/>
                </a:ln>
                <a:solidFill>
                  <a:srgbClr val="BC955C"/>
                </a:solidFill>
                <a:effectLst/>
                <a:uLnTx/>
                <a:uFillTx/>
                <a:latin typeface="Montserrat"/>
                <a:cs typeface="Arial"/>
                <a:sym typeface="Arial"/>
              </a:rPr>
              <a:t>Hospitales</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lang="es-MX" sz="2000" b="1" i="0" u="none" strike="noStrike" kern="0" cap="none" spc="0" normalizeH="0" baseline="0" noProof="0">
                <a:ln>
                  <a:noFill/>
                </a:ln>
                <a:solidFill>
                  <a:srgbClr val="BC955C"/>
                </a:solidFill>
                <a:effectLst/>
                <a:uLnTx/>
                <a:uFillTx/>
                <a:latin typeface="Montserrat"/>
                <a:cs typeface="Arial"/>
                <a:sym typeface="Arial"/>
              </a:rPr>
              <a:t>(1 de 6)</a:t>
            </a:r>
            <a:endParaRPr kumimoji="0" sz="20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6" name="Connector 5"/>
          <p:cNvCxnSpPr/>
          <p:nvPr/>
        </p:nvCxnSpPr>
        <p:spPr>
          <a:xfrm>
            <a:off x="360000" y="1683863"/>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211015" y="1755863"/>
          <a:ext cx="3604985" cy="3779520"/>
        </p:xfrm>
        <a:graphic>
          <a:graphicData uri="http://schemas.openxmlformats.org/drawingml/2006/table">
            <a:tbl>
              <a:tblPr firstRow="1" bandRow="1">
                <a:tableStyleId>{5C22544A-7EE6-4342-B048-85BDC9FD1C3A}</a:tableStyleId>
              </a:tblPr>
              <a:tblGrid>
                <a:gridCol w="987616">
                  <a:extLst>
                    <a:ext uri="{9D8B030D-6E8A-4147-A177-3AD203B41FA5}">
                      <a16:colId xmlns:a16="http://schemas.microsoft.com/office/drawing/2014/main" val="20000"/>
                    </a:ext>
                  </a:extLst>
                </a:gridCol>
                <a:gridCol w="1952700">
                  <a:extLst>
                    <a:ext uri="{9D8B030D-6E8A-4147-A177-3AD203B41FA5}">
                      <a16:colId xmlns:a16="http://schemas.microsoft.com/office/drawing/2014/main" val="20001"/>
                    </a:ext>
                  </a:extLst>
                </a:gridCol>
                <a:gridCol w="664669">
                  <a:extLst>
                    <a:ext uri="{9D8B030D-6E8A-4147-A177-3AD203B41FA5}">
                      <a16:colId xmlns:a16="http://schemas.microsoft.com/office/drawing/2014/main" val="20002"/>
                    </a:ext>
                  </a:extLst>
                </a:gridCol>
              </a:tblGrid>
              <a:tr h="135402">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135402">
                <a:tc rowSpan="15">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2775">
                <a:tc vMerge="1">
                  <a:txBody>
                    <a:bodyPr/>
                    <a:lstStyle/>
                    <a:p>
                      <a:endParaRPr/>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135402">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135402">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04"/>
                  </a:ext>
                </a:extLst>
              </a:tr>
              <a:tr h="135402">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Coloproctología</a:t>
                      </a:r>
                      <a:endParaRP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2775">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6"/>
                  </a:ext>
                </a:extLst>
              </a:tr>
              <a:tr h="135402">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7"/>
                  </a:ext>
                </a:extLst>
              </a:tr>
              <a:tr h="135402">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08"/>
                  </a:ext>
                </a:extLst>
              </a:tr>
              <a:tr h="212775">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a:t>
                      </a:r>
                      <a:r>
                        <a:rPr err="1"/>
                        <a:t>Crítico</a:t>
                      </a:r>
                      <a:endParaRP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9"/>
                  </a:ext>
                </a:extLst>
              </a:tr>
              <a:tr h="135402">
                <a:tc vMerge="1">
                  <a:txBody>
                    <a:bodyPr/>
                    <a:lstStyle/>
                    <a:p>
                      <a:endParaRPr/>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135402">
                <a:tc vMerge="1">
                  <a:txBody>
                    <a:bodyPr/>
                    <a:lstStyle/>
                    <a:p>
                      <a:endParaRPr/>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135402">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Pediatría</a:t>
                      </a:r>
                      <a:endParaRP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135402">
                <a:tc vMerge="1">
                  <a:txBody>
                    <a:bodyPr/>
                    <a:lstStyle/>
                    <a:p>
                      <a:endParaRPr/>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135402">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4"/>
                  </a:ext>
                </a:extLst>
              </a:tr>
              <a:tr h="135402">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36</a:t>
                      </a:r>
                    </a:p>
                  </a:txBody>
                  <a:tcPr>
                    <a:solidFill>
                      <a:srgbClr val="D3E9E7"/>
                    </a:solidFill>
                  </a:tcPr>
                </a:tc>
                <a:extLst>
                  <a:ext uri="{0D108BD9-81ED-4DB2-BD59-A6C34878D82A}">
                    <a16:rowId xmlns:a16="http://schemas.microsoft.com/office/drawing/2014/main" val="10015"/>
                  </a:ext>
                </a:extLst>
              </a:tr>
            </a:tbl>
          </a:graphicData>
        </a:graphic>
      </p:graphicFrame>
      <p:graphicFrame>
        <p:nvGraphicFramePr>
          <p:cNvPr id="8" name="Table 7"/>
          <p:cNvGraphicFramePr>
            <a:graphicFrameLocks noGrp="1"/>
          </p:cNvGraphicFramePr>
          <p:nvPr/>
        </p:nvGraphicFramePr>
        <p:xfrm>
          <a:off x="3960000" y="1755863"/>
          <a:ext cx="3456000" cy="36576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158158">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158158">
                <a:tc rowSpan="15">
                  <a:txBody>
                    <a:bodyPr/>
                    <a:lstStyle/>
                    <a:p>
                      <a:pPr algn="ctr">
                        <a:defRPr sz="800" b="1">
                          <a:solidFill>
                            <a:srgbClr val="000000"/>
                          </a:solidFill>
                          <a:latin typeface="Montserrat"/>
                        </a:defRPr>
                      </a:pPr>
                      <a:r>
                        <a:t>Hospital General de Zona 16 </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48534">
                <a:tc vMerge="1">
                  <a:txBody>
                    <a:bodyPr/>
                    <a:lstStyle/>
                    <a:p>
                      <a:endParaRPr/>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158158">
                <a:tc vMerge="1">
                  <a:txBody>
                    <a:bodyPr/>
                    <a:lstStyle/>
                    <a:p>
                      <a:endParaRPr/>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158158">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158158">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158158">
                <a:tc vMerge="1">
                  <a:txBody>
                    <a:bodyPr/>
                    <a:lstStyle/>
                    <a:p>
                      <a:endParaRPr/>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6"/>
                  </a:ext>
                </a:extLst>
              </a:tr>
              <a:tr h="158158">
                <a:tc vMerge="1">
                  <a:txBody>
                    <a:bodyPr/>
                    <a:lstStyle/>
                    <a:p>
                      <a:endParaRPr/>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158158">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158158">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158158">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48534">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11"/>
                  </a:ext>
                </a:extLst>
              </a:tr>
              <a:tr h="158158">
                <a:tc vMerge="1">
                  <a:txBody>
                    <a:bodyPr/>
                    <a:lstStyle/>
                    <a:p>
                      <a:endParaRPr/>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158158">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13"/>
                  </a:ext>
                </a:extLst>
              </a:tr>
              <a:tr h="158158">
                <a:tc vMerge="1">
                  <a:txBody>
                    <a:bodyPr/>
                    <a:lstStyle/>
                    <a:p>
                      <a:endParaRPr/>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4"/>
                  </a:ext>
                </a:extLst>
              </a:tr>
              <a:tr h="158158">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9" name="Table 8"/>
          <p:cNvGraphicFramePr>
            <a:graphicFrameLocks noGrp="1"/>
          </p:cNvGraphicFramePr>
          <p:nvPr/>
        </p:nvGraphicFramePr>
        <p:xfrm>
          <a:off x="3960000" y="5413463"/>
          <a:ext cx="3456000" cy="2182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rowSpan="9">
                  <a:txBody>
                    <a:bodyPr/>
                    <a:lstStyle/>
                    <a:p>
                      <a:pPr algn="ctr">
                        <a:defRPr sz="800" b="1">
                          <a:solidFill>
                            <a:srgbClr val="000000"/>
                          </a:solidFill>
                          <a:latin typeface="Montserrat"/>
                        </a:defRPr>
                      </a:pPr>
                      <a:r>
                        <a:t>Hospital General de Zona 16 </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chemeClr val="bg1">
                        <a:lumMod val="95000"/>
                      </a:schemeClr>
                    </a:solidFill>
                  </a:tcPr>
                </a:tc>
                <a:tc>
                  <a:txBody>
                    <a:bodyPr/>
                    <a:lstStyle/>
                    <a:p>
                      <a:pPr algn="ctr">
                        <a:defRPr sz="800" b="0">
                          <a:solidFill>
                            <a:srgbClr val="000000"/>
                          </a:solidFill>
                          <a:latin typeface="Montserrat"/>
                        </a:defRPr>
                      </a:pPr>
                      <a:r>
                        <a:t>2</a:t>
                      </a:r>
                    </a:p>
                  </a:txBody>
                  <a:tcPr>
                    <a:solidFill>
                      <a:schemeClr val="bg1">
                        <a:lumMod val="95000"/>
                      </a:schemeClr>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chemeClr val="bg1"/>
                    </a:solidFill>
                  </a:tcPr>
                </a:tc>
                <a:tc>
                  <a:txBody>
                    <a:bodyPr/>
                    <a:lstStyle/>
                    <a:p>
                      <a:pPr algn="ctr">
                        <a:defRPr sz="800" b="0">
                          <a:solidFill>
                            <a:srgbClr val="000000"/>
                          </a:solidFill>
                          <a:latin typeface="Montserrat"/>
                        </a:defRPr>
                      </a:pPr>
                      <a:r>
                        <a:t>1</a:t>
                      </a:r>
                    </a:p>
                  </a:txBody>
                  <a:tcPr>
                    <a:solidFill>
                      <a:schemeClr val="bg1"/>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Neumología</a:t>
                      </a:r>
                    </a:p>
                  </a:txBody>
                  <a:tcPr>
                    <a:solidFill>
                      <a:schemeClr val="bg1">
                        <a:lumMod val="95000"/>
                      </a:schemeClr>
                    </a:solidFill>
                  </a:tcPr>
                </a:tc>
                <a:tc>
                  <a:txBody>
                    <a:bodyPr/>
                    <a:lstStyle/>
                    <a:p>
                      <a:pPr algn="ctr">
                        <a:defRPr sz="800" b="0">
                          <a:solidFill>
                            <a:srgbClr val="000000"/>
                          </a:solidFill>
                          <a:latin typeface="Montserrat"/>
                        </a:defRPr>
                      </a:pPr>
                      <a:r>
                        <a:t>1</a:t>
                      </a:r>
                    </a:p>
                  </a:txBody>
                  <a:tcPr>
                    <a:solidFill>
                      <a:schemeClr val="bg1">
                        <a:lumMod val="95000"/>
                      </a:schemeClr>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chemeClr val="bg1"/>
                    </a:solidFill>
                  </a:tcPr>
                </a:tc>
                <a:tc>
                  <a:txBody>
                    <a:bodyPr/>
                    <a:lstStyle/>
                    <a:p>
                      <a:pPr algn="ctr">
                        <a:defRPr sz="800" b="0">
                          <a:solidFill>
                            <a:srgbClr val="000000"/>
                          </a:solidFill>
                          <a:latin typeface="Montserrat"/>
                        </a:defRPr>
                      </a:pPr>
                      <a:r>
                        <a:t>2</a:t>
                      </a:r>
                    </a:p>
                  </a:txBody>
                  <a:tcPr>
                    <a:solidFill>
                      <a:schemeClr val="bg1"/>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Otorrinolaringología</a:t>
                      </a:r>
                      <a:r>
                        <a:t> y Cirugía de Cabeza y Cuello</a:t>
                      </a:r>
                    </a:p>
                  </a:txBody>
                  <a:tcPr>
                    <a:solidFill>
                      <a:schemeClr val="bg1">
                        <a:lumMod val="95000"/>
                      </a:schemeClr>
                    </a:solidFill>
                  </a:tcPr>
                </a:tc>
                <a:tc>
                  <a:txBody>
                    <a:bodyPr/>
                    <a:lstStyle/>
                    <a:p>
                      <a:pPr algn="ctr">
                        <a:defRPr sz="800" b="0">
                          <a:solidFill>
                            <a:srgbClr val="000000"/>
                          </a:solidFill>
                          <a:latin typeface="Montserrat"/>
                        </a:defRPr>
                      </a:pPr>
                      <a:r>
                        <a:t>1</a:t>
                      </a:r>
                    </a:p>
                  </a:txBody>
                  <a:tcPr>
                    <a:solidFill>
                      <a:schemeClr val="bg1">
                        <a:lumMod val="95000"/>
                      </a:schemeClr>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Patología Clínica</a:t>
                      </a:r>
                    </a:p>
                  </a:txBody>
                  <a:tcPr>
                    <a:solidFill>
                      <a:schemeClr val="bg1"/>
                    </a:solidFill>
                  </a:tcPr>
                </a:tc>
                <a:tc>
                  <a:txBody>
                    <a:bodyPr/>
                    <a:lstStyle/>
                    <a:p>
                      <a:pPr algn="ctr">
                        <a:defRPr sz="800" b="0">
                          <a:solidFill>
                            <a:srgbClr val="000000"/>
                          </a:solidFill>
                          <a:latin typeface="Montserrat"/>
                        </a:defRPr>
                      </a:pPr>
                      <a:r>
                        <a:t>1</a:t>
                      </a:r>
                    </a:p>
                  </a:txBody>
                  <a:tcPr>
                    <a:solidFill>
                      <a:schemeClr val="bg1"/>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Pediatría</a:t>
                      </a:r>
                      <a:endParaRPr/>
                    </a:p>
                  </a:txBody>
                  <a:tcPr>
                    <a:solidFill>
                      <a:schemeClr val="bg1">
                        <a:lumMod val="95000"/>
                      </a:schemeClr>
                    </a:solidFill>
                  </a:tcPr>
                </a:tc>
                <a:tc>
                  <a:txBody>
                    <a:bodyPr/>
                    <a:lstStyle/>
                    <a:p>
                      <a:pPr algn="ctr">
                        <a:defRPr sz="800" b="0">
                          <a:solidFill>
                            <a:srgbClr val="000000"/>
                          </a:solidFill>
                          <a:latin typeface="Montserrat"/>
                        </a:defRPr>
                      </a:pPr>
                      <a:r>
                        <a:t>11</a:t>
                      </a:r>
                    </a:p>
                  </a:txBody>
                  <a:tcPr>
                    <a:solidFill>
                      <a:schemeClr val="bg1">
                        <a:lumMod val="95000"/>
                      </a:schemeClr>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chemeClr val="bg1"/>
                    </a:solidFill>
                  </a:tcPr>
                </a:tc>
                <a:tc>
                  <a:txBody>
                    <a:bodyPr/>
                    <a:lstStyle/>
                    <a:p>
                      <a:pPr algn="ctr">
                        <a:defRPr sz="800" b="0">
                          <a:solidFill>
                            <a:srgbClr val="000000"/>
                          </a:solidFill>
                          <a:latin typeface="Montserrat"/>
                        </a:defRPr>
                      </a:pPr>
                      <a:r>
                        <a:t>5</a:t>
                      </a:r>
                    </a:p>
                  </a:txBody>
                  <a:tcPr>
                    <a:solidFill>
                      <a:schemeClr val="bg1"/>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45</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10" name="Table 9"/>
          <p:cNvGraphicFramePr>
            <a:graphicFrameLocks noGrp="1"/>
          </p:cNvGraphicFramePr>
          <p:nvPr/>
        </p:nvGraphicFramePr>
        <p:xfrm>
          <a:off x="211015" y="5607382"/>
          <a:ext cx="3604985" cy="2711280"/>
        </p:xfrm>
        <a:graphic>
          <a:graphicData uri="http://schemas.openxmlformats.org/drawingml/2006/table">
            <a:tbl>
              <a:tblPr firstRow="1" bandRow="1">
                <a:tableStyleId>{5C22544A-7EE6-4342-B048-85BDC9FD1C3A}</a:tableStyleId>
              </a:tblPr>
              <a:tblGrid>
                <a:gridCol w="987616">
                  <a:extLst>
                    <a:ext uri="{9D8B030D-6E8A-4147-A177-3AD203B41FA5}">
                      <a16:colId xmlns:a16="http://schemas.microsoft.com/office/drawing/2014/main" val="20000"/>
                    </a:ext>
                  </a:extLst>
                </a:gridCol>
                <a:gridCol w="1952700">
                  <a:extLst>
                    <a:ext uri="{9D8B030D-6E8A-4147-A177-3AD203B41FA5}">
                      <a16:colId xmlns:a16="http://schemas.microsoft.com/office/drawing/2014/main" val="20001"/>
                    </a:ext>
                  </a:extLst>
                </a:gridCol>
                <a:gridCol w="664669">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11">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a:t>
                      </a:r>
                      <a:r>
                        <a:rPr err="1"/>
                        <a:t>Plástica</a:t>
                      </a:r>
                      <a:r>
                        <a:t> y </a:t>
                      </a:r>
                      <a:r>
                        <a:rPr err="1"/>
                        <a:t>Reconstructiva</a:t>
                      </a:r>
                      <a:endParaRP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1601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extLst>
                  <a:ext uri="{0D108BD9-81ED-4DB2-BD59-A6C34878D82A}">
                    <a16:rowId xmlns:a16="http://schemas.microsoft.com/office/drawing/2014/main" val="10011"/>
                  </a:ext>
                </a:extLst>
              </a:tr>
            </a:tbl>
          </a:graphicData>
        </a:graphic>
      </p:graphicFrame>
      <p:graphicFrame>
        <p:nvGraphicFramePr>
          <p:cNvPr id="12" name="Table 7">
            <a:extLst>
              <a:ext uri="{FF2B5EF4-FFF2-40B4-BE49-F238E27FC236}">
                <a16:creationId xmlns:a16="http://schemas.microsoft.com/office/drawing/2014/main" id="{0DD6D0DA-1978-6D14-D4E9-C607711EE33B}"/>
              </a:ext>
            </a:extLst>
          </p:cNvPr>
          <p:cNvGraphicFramePr>
            <a:graphicFrameLocks noGrp="1"/>
          </p:cNvGraphicFramePr>
          <p:nvPr/>
        </p:nvGraphicFramePr>
        <p:xfrm>
          <a:off x="3956402" y="7711186"/>
          <a:ext cx="3456000" cy="172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General de Zona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extLst>
                  <a:ext uri="{0D108BD9-81ED-4DB2-BD59-A6C34878D82A}">
                    <a16:rowId xmlns:a16="http://schemas.microsoft.com/office/drawing/2014/main" val="10007"/>
                  </a:ext>
                </a:extLst>
              </a:tr>
            </a:tbl>
          </a:graphicData>
        </a:graphic>
      </p:graphicFrame>
      <p:sp>
        <p:nvSpPr>
          <p:cNvPr id="13" name="CuadroTexto 12">
            <a:extLst>
              <a:ext uri="{FF2B5EF4-FFF2-40B4-BE49-F238E27FC236}">
                <a16:creationId xmlns:a16="http://schemas.microsoft.com/office/drawing/2014/main" id="{77B84B91-8BF5-CE29-4B4E-2171E5BA7C93}"/>
              </a:ext>
            </a:extLst>
          </p:cNvPr>
          <p:cNvSpPr txBox="1"/>
          <p:nvPr/>
        </p:nvSpPr>
        <p:spPr>
          <a:xfrm>
            <a:off x="774700" y="956366"/>
            <a:ext cx="66377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a:solidFill>
                  <a:srgbClr val="BC955C"/>
                </a:solidFill>
                <a:latin typeface="Montserrat"/>
              </a:defRPr>
            </a:pPr>
            <a:r>
              <a:rPr kumimoji="0" lang="es-MX" sz="1400" b="0" i="0" u="none" strike="noStrike" kern="0" cap="none" spc="0" normalizeH="0" baseline="0" noProof="0">
                <a:ln>
                  <a:noFill/>
                </a:ln>
                <a:solidFill>
                  <a:srgbClr val="BC955C"/>
                </a:solidFill>
                <a:effectLst/>
                <a:uLnTx/>
                <a:uFillTx/>
                <a:latin typeface="Montserrat"/>
                <a:cs typeface="Arial"/>
                <a:sym typeface="Arial"/>
              </a:rPr>
              <a:t>298 en Hospitales, 1 en sede, 46 en UMF y 153 sustitutos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5" name="TextBox 4"/>
          <p:cNvSpPr txBox="1"/>
          <p:nvPr/>
        </p:nvSpPr>
        <p:spPr>
          <a:xfrm>
            <a:off x="360000" y="1081545"/>
            <a:ext cx="3616696"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298 en </a:t>
            </a:r>
            <a:r>
              <a:rPr kumimoji="0" sz="2000" b="1" i="0" u="none" strike="noStrike" kern="0" cap="none" spc="0" normalizeH="0" baseline="0" noProof="0" err="1">
                <a:ln>
                  <a:noFill/>
                </a:ln>
                <a:solidFill>
                  <a:srgbClr val="BC955C"/>
                </a:solidFill>
                <a:effectLst/>
                <a:uLnTx/>
                <a:uFillTx/>
                <a:latin typeface="Montserrat"/>
                <a:cs typeface="Arial"/>
                <a:sym typeface="Arial"/>
              </a:rPr>
              <a:t>Hospitales</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lang="es-MX" sz="2000" b="1" i="0" u="none" strike="noStrike" kern="0" cap="none" spc="0" normalizeH="0" baseline="0" noProof="0">
                <a:ln>
                  <a:noFill/>
                </a:ln>
                <a:solidFill>
                  <a:srgbClr val="BC955C"/>
                </a:solidFill>
                <a:effectLst/>
                <a:uLnTx/>
                <a:uFillTx/>
                <a:latin typeface="Montserrat"/>
                <a:cs typeface="Arial"/>
                <a:sym typeface="Arial"/>
              </a:rPr>
              <a:t>(2 de 6)</a:t>
            </a:r>
            <a:endParaRPr kumimoji="0" sz="20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27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9" name="Table 8"/>
          <p:cNvGraphicFramePr>
            <a:graphicFrameLocks noGrp="1"/>
          </p:cNvGraphicFramePr>
          <p:nvPr/>
        </p:nvGraphicFramePr>
        <p:xfrm>
          <a:off x="3960000" y="1533601"/>
          <a:ext cx="3456000" cy="292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2">
                  <a:txBody>
                    <a:bodyPr/>
                    <a:lstStyle/>
                    <a:p>
                      <a:pPr algn="ctr">
                        <a:defRPr sz="800" b="1">
                          <a:solidFill>
                            <a:srgbClr val="000000"/>
                          </a:solidFill>
                          <a:latin typeface="Montserrat"/>
                        </a:defRPr>
                      </a:pPr>
                      <a:r>
                        <a:t>Hospital General de Zona 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extLst>
                  <a:ext uri="{0D108BD9-81ED-4DB2-BD59-A6C34878D82A}">
                    <a16:rowId xmlns:a16="http://schemas.microsoft.com/office/drawing/2014/main" val="10012"/>
                  </a:ext>
                </a:extLst>
              </a:tr>
            </a:tbl>
          </a:graphicData>
        </a:graphic>
      </p:graphicFrame>
      <p:graphicFrame>
        <p:nvGraphicFramePr>
          <p:cNvPr id="10" name="Table 9"/>
          <p:cNvGraphicFramePr>
            <a:graphicFrameLocks noGrp="1"/>
          </p:cNvGraphicFramePr>
          <p:nvPr/>
        </p:nvGraphicFramePr>
        <p:xfrm>
          <a:off x="324000" y="4221238"/>
          <a:ext cx="3456000" cy="184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07"/>
                  </a:ext>
                </a:extLst>
              </a:tr>
            </a:tbl>
          </a:graphicData>
        </a:graphic>
      </p:graphicFrame>
      <p:graphicFrame>
        <p:nvGraphicFramePr>
          <p:cNvPr id="11" name="Table 6">
            <a:extLst>
              <a:ext uri="{FF2B5EF4-FFF2-40B4-BE49-F238E27FC236}">
                <a16:creationId xmlns:a16="http://schemas.microsoft.com/office/drawing/2014/main" id="{0D15ADB5-7D4E-BAEE-023F-783F72951456}"/>
              </a:ext>
            </a:extLst>
          </p:cNvPr>
          <p:cNvGraphicFramePr>
            <a:graphicFrameLocks noGrp="1"/>
          </p:cNvGraphicFramePr>
          <p:nvPr/>
        </p:nvGraphicFramePr>
        <p:xfrm>
          <a:off x="3960000" y="4532882"/>
          <a:ext cx="3456000" cy="393312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Hospital de </a:t>
                      </a:r>
                      <a:r>
                        <a:rPr err="1"/>
                        <a:t>Especialidades</a:t>
                      </a:r>
                      <a:r>
                        <a:t> 2 </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Laboratorio de </a:t>
                      </a:r>
                      <a:r>
                        <a:rPr err="1"/>
                        <a:t>Análisis</a:t>
                      </a:r>
                      <a:r>
                        <a:t> </a:t>
                      </a:r>
                      <a:r>
                        <a:rPr err="1"/>
                        <a:t>Clínicos</a:t>
                      </a:r>
                      <a:endParaRP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12" name="Table 7">
            <a:extLst>
              <a:ext uri="{FF2B5EF4-FFF2-40B4-BE49-F238E27FC236}">
                <a16:creationId xmlns:a16="http://schemas.microsoft.com/office/drawing/2014/main" id="{3F7F51B8-3024-0FF0-5C90-30A84580F619}"/>
              </a:ext>
            </a:extLst>
          </p:cNvPr>
          <p:cNvGraphicFramePr>
            <a:graphicFrameLocks noGrp="1"/>
          </p:cNvGraphicFramePr>
          <p:nvPr/>
        </p:nvGraphicFramePr>
        <p:xfrm>
          <a:off x="3960000" y="8466002"/>
          <a:ext cx="3456000" cy="64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rowSpan="3">
                  <a:txBody>
                    <a:bodyPr/>
                    <a:lstStyle/>
                    <a:p>
                      <a:pPr algn="ctr">
                        <a:defRPr sz="800" b="1">
                          <a:solidFill>
                            <a:srgbClr val="000000"/>
                          </a:solidFill>
                          <a:latin typeface="Montserrat"/>
                        </a:defRPr>
                      </a:pPr>
                      <a:endParaRPr/>
                    </a:p>
                  </a:txBody>
                  <a:tcPr anchor="ctr">
                    <a:noFill/>
                  </a:tcPr>
                </a:tc>
                <a:tc>
                  <a:txBody>
                    <a:bodyPr/>
                    <a:lstStyle/>
                    <a:p>
                      <a:pPr algn="ctr">
                        <a:defRPr sz="800" b="0">
                          <a:solidFill>
                            <a:srgbClr val="000000"/>
                          </a:solidFill>
                          <a:latin typeface="Montserrat"/>
                        </a:defRPr>
                      </a:pPr>
                      <a:r>
                        <a:rPr err="1"/>
                        <a:t>Traumatología</a:t>
                      </a:r>
                      <a:r>
                        <a:t> y </a:t>
                      </a:r>
                      <a:r>
                        <a:rPr err="1"/>
                        <a:t>Ortopedia</a:t>
                      </a:r>
                      <a:endParaRPr/>
                    </a:p>
                  </a:txBody>
                  <a:tcPr>
                    <a:solidFill>
                      <a:schemeClr val="bg1"/>
                    </a:solidFill>
                  </a:tcPr>
                </a:tc>
                <a:tc>
                  <a:txBody>
                    <a:bodyPr/>
                    <a:lstStyle/>
                    <a:p>
                      <a:pPr algn="ctr">
                        <a:defRPr sz="800" b="0">
                          <a:solidFill>
                            <a:srgbClr val="000000"/>
                          </a:solidFill>
                          <a:latin typeface="Montserrat"/>
                        </a:defRPr>
                      </a:pPr>
                      <a:r>
                        <a:t>2</a:t>
                      </a:r>
                    </a:p>
                  </a:txBody>
                  <a:tcPr>
                    <a:solidFill>
                      <a:schemeClr val="bg1"/>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Urología</a:t>
                      </a:r>
                      <a:endParaRPr/>
                    </a:p>
                  </a:txBody>
                  <a:tcPr>
                    <a:noFill/>
                  </a:tcPr>
                </a:tc>
                <a:tc>
                  <a:txBody>
                    <a:bodyPr/>
                    <a:lstStyle/>
                    <a:p>
                      <a:pPr algn="ctr">
                        <a:defRPr sz="800" b="0">
                          <a:solidFill>
                            <a:srgbClr val="000000"/>
                          </a:solidFill>
                          <a:latin typeface="Montserrat"/>
                        </a:defRPr>
                      </a:pPr>
                      <a:r>
                        <a:t>2</a:t>
                      </a:r>
                    </a:p>
                  </a:txBody>
                  <a:tcPr>
                    <a:no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3" name="Table 8">
            <a:extLst>
              <a:ext uri="{FF2B5EF4-FFF2-40B4-BE49-F238E27FC236}">
                <a16:creationId xmlns:a16="http://schemas.microsoft.com/office/drawing/2014/main" id="{9F8B6B5A-2B8A-A31D-ACB3-C33A1998ED61}"/>
              </a:ext>
            </a:extLst>
          </p:cNvPr>
          <p:cNvGraphicFramePr>
            <a:graphicFrameLocks noGrp="1"/>
          </p:cNvGraphicFramePr>
          <p:nvPr/>
        </p:nvGraphicFramePr>
        <p:xfrm>
          <a:off x="324000" y="6440877"/>
          <a:ext cx="3456000" cy="1750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de Gineco-pediatría 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Otorrinolaringología</a:t>
                      </a:r>
                      <a:r>
                        <a:t>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5" name="TextBox 4"/>
          <p:cNvSpPr txBox="1"/>
          <p:nvPr/>
        </p:nvSpPr>
        <p:spPr>
          <a:xfrm>
            <a:off x="360000" y="1081545"/>
            <a:ext cx="6208751"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46 en Unidades de Medicina Familiar </a:t>
            </a:r>
            <a:r>
              <a:rPr kumimoji="0" lang="es-MX" sz="2000" b="1" i="0" u="none" strike="noStrike" kern="0" cap="none" spc="0" normalizeH="0" baseline="0" noProof="0">
                <a:ln>
                  <a:noFill/>
                </a:ln>
                <a:solidFill>
                  <a:srgbClr val="BC955C"/>
                </a:solidFill>
                <a:effectLst/>
                <a:uLnTx/>
                <a:uFillTx/>
                <a:latin typeface="Montserrat"/>
                <a:cs typeface="Arial"/>
                <a:sym typeface="Arial"/>
              </a:rPr>
              <a:t>(3 de 6)</a:t>
            </a:r>
            <a:endParaRPr kumimoji="0" sz="20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706419"/>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3956400" y="178509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nvGraphicFramePr>
        <p:xfrm>
          <a:off x="360000" y="313715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29736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360000" y="42101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err="1"/>
                        <a:t>Especialidad</a:t>
                      </a:r>
                      <a:endParaRP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3956400" y="430347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324000" y="554907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4" name="Table 13"/>
          <p:cNvGraphicFramePr>
            <a:graphicFrameLocks noGrp="1"/>
          </p:cNvGraphicFramePr>
          <p:nvPr/>
        </p:nvGraphicFramePr>
        <p:xfrm>
          <a:off x="3968954" y="5491986"/>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err="1"/>
                        <a:t>Especialidad</a:t>
                      </a:r>
                      <a:endParaRP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Unidad de Medicina Familiar C/UMAA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15" name="Table 14"/>
          <p:cNvGraphicFramePr>
            <a:graphicFrameLocks noGrp="1"/>
          </p:cNvGraphicFramePr>
          <p:nvPr/>
        </p:nvGraphicFramePr>
        <p:xfrm>
          <a:off x="324000" y="7050920"/>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10</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498 total especialistas contratados en el draft 2026</a:t>
            </a:r>
          </a:p>
        </p:txBody>
      </p:sp>
      <p:sp>
        <p:nvSpPr>
          <p:cNvPr id="4" name="TextBox 3"/>
          <p:cNvSpPr txBox="1"/>
          <p:nvPr/>
        </p:nvSpPr>
        <p:spPr>
          <a:xfrm>
            <a:off x="360000" y="1081545"/>
            <a:ext cx="3902030" cy="400110"/>
          </a:xfrm>
          <a:prstGeom prst="rect">
            <a:avLst/>
          </a:prstGeom>
          <a:noFill/>
        </p:spPr>
        <p:txBody>
          <a:bodyPr wrap="none" anchor="ctr">
            <a:spAutoFit/>
          </a:bodyPr>
          <a:lstStyle/>
          <a:p>
            <a:pPr lvl="0">
              <a:defRPr sz="2000" b="1">
                <a:solidFill>
                  <a:srgbClr val="BC955C"/>
                </a:solidFill>
                <a:latin typeface="Montserrat"/>
              </a:defRPr>
            </a:pPr>
            <a:r>
              <a:rPr kumimoji="0" sz="2000" b="1" i="0" u="none" strike="noStrike" kern="0" cap="none" spc="0" normalizeH="0" baseline="0" noProof="0" dirty="0">
                <a:ln>
                  <a:noFill/>
                </a:ln>
                <a:solidFill>
                  <a:srgbClr val="BC955C"/>
                </a:solidFill>
                <a:effectLst/>
                <a:uLnTx/>
                <a:uFillTx/>
                <a:latin typeface="Montserrat"/>
                <a:cs typeface="Arial"/>
                <a:sym typeface="Arial"/>
              </a:rPr>
              <a:t>1 </a:t>
            </a:r>
            <a:r>
              <a:rPr kumimoji="0" sz="2000" b="1" i="0" u="none" strike="noStrike" kern="0" cap="none" spc="0" normalizeH="0" baseline="0" noProof="0" dirty="0" err="1">
                <a:ln>
                  <a:noFill/>
                </a:ln>
                <a:solidFill>
                  <a:srgbClr val="BC955C"/>
                </a:solidFill>
                <a:effectLst/>
                <a:uLnTx/>
                <a:uFillTx/>
                <a:latin typeface="Montserrat"/>
                <a:cs typeface="Arial"/>
                <a:sym typeface="Arial"/>
              </a:rPr>
              <a:t>Sede</a:t>
            </a:r>
            <a:r>
              <a:rPr kumimoji="0" sz="2000" b="1" i="0" u="none" strike="noStrike" kern="0" cap="none" spc="0" normalizeH="0" baseline="0" noProof="0" dirty="0">
                <a:ln>
                  <a:noFill/>
                </a:ln>
                <a:solidFill>
                  <a:srgbClr val="BC955C"/>
                </a:solidFill>
                <a:effectLst/>
                <a:uLnTx/>
                <a:uFillTx/>
                <a:latin typeface="Montserrat"/>
                <a:cs typeface="Arial"/>
                <a:sym typeface="Arial"/>
              </a:rPr>
              <a:t> </a:t>
            </a:r>
            <a:r>
              <a:rPr kumimoji="0" sz="2000" b="1" i="0" u="none" strike="noStrike" kern="0" cap="none" spc="0" normalizeH="0" baseline="0" noProof="0" dirty="0" err="1">
                <a:ln>
                  <a:noFill/>
                </a:ln>
                <a:solidFill>
                  <a:srgbClr val="BC955C"/>
                </a:solidFill>
                <a:effectLst/>
                <a:uLnTx/>
                <a:uFillTx/>
                <a:latin typeface="Montserrat"/>
                <a:cs typeface="Arial"/>
                <a:sym typeface="Arial"/>
              </a:rPr>
              <a:t>delegacional</a:t>
            </a:r>
            <a:r>
              <a:rPr lang="es-MX" sz="2000" b="1" dirty="0">
                <a:solidFill>
                  <a:srgbClr val="BC955C"/>
                </a:solidFill>
                <a:latin typeface="Montserrat"/>
              </a:rPr>
              <a:t> (4 de 6)</a:t>
            </a:r>
            <a:endParaRPr kumimoji="0" sz="2000" b="1" i="0" u="none" strike="noStrike" kern="0" cap="none" spc="0" normalizeH="0" baseline="0" noProof="0" dirty="0">
              <a:ln>
                <a:noFill/>
              </a:ln>
              <a:solidFill>
                <a:srgbClr val="BC955C"/>
              </a:solidFill>
              <a:effectLst/>
              <a:uLnTx/>
              <a:uFillTx/>
              <a:latin typeface="Montserrat"/>
              <a:cs typeface="Arial"/>
              <a:sym typeface="Arial"/>
            </a:endParaRP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1813662" y="1593241"/>
          <a:ext cx="3456000" cy="647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rPr err="1"/>
                        <a:t>Anestesiología</a:t>
                      </a:r>
                      <a:endParaRP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360000" y="2629544"/>
            <a:ext cx="5153975"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dirty="0">
                <a:ln>
                  <a:noFill/>
                </a:ln>
                <a:solidFill>
                  <a:srgbClr val="BC955C"/>
                </a:solidFill>
                <a:effectLst/>
                <a:uLnTx/>
                <a:uFillTx/>
                <a:latin typeface="Montserrat"/>
                <a:cs typeface="Arial"/>
                <a:sym typeface="Arial"/>
              </a:rPr>
              <a:t>46 </a:t>
            </a:r>
            <a:r>
              <a:rPr kumimoji="0" sz="2000" b="1" i="0" u="none" strike="noStrike" kern="0" cap="none" spc="0" normalizeH="0" baseline="0" noProof="0" dirty="0" err="1">
                <a:ln>
                  <a:noFill/>
                </a:ln>
                <a:solidFill>
                  <a:srgbClr val="BC955C"/>
                </a:solidFill>
                <a:effectLst/>
                <a:uLnTx/>
                <a:uFillTx/>
                <a:latin typeface="Montserrat"/>
                <a:cs typeface="Arial"/>
                <a:sym typeface="Arial"/>
              </a:rPr>
              <a:t>en</a:t>
            </a:r>
            <a:r>
              <a:rPr kumimoji="0" sz="2000" b="1" i="0" u="none" strike="noStrike" kern="0" cap="none" spc="0" normalizeH="0" baseline="0" noProof="0" dirty="0">
                <a:ln>
                  <a:noFill/>
                </a:ln>
                <a:solidFill>
                  <a:srgbClr val="BC955C"/>
                </a:solidFill>
                <a:effectLst/>
                <a:uLnTx/>
                <a:uFillTx/>
                <a:latin typeface="Montserrat"/>
                <a:cs typeface="Arial"/>
                <a:sym typeface="Arial"/>
              </a:rPr>
              <a:t> </a:t>
            </a:r>
            <a:r>
              <a:rPr kumimoji="0" sz="2000" b="1" i="0" u="none" strike="noStrike" kern="0" cap="none" spc="0" normalizeH="0" baseline="0" noProof="0" dirty="0" err="1">
                <a:ln>
                  <a:noFill/>
                </a:ln>
                <a:solidFill>
                  <a:srgbClr val="BC955C"/>
                </a:solidFill>
                <a:effectLst/>
                <a:uLnTx/>
                <a:uFillTx/>
                <a:latin typeface="Montserrat"/>
                <a:cs typeface="Arial"/>
                <a:sym typeface="Arial"/>
              </a:rPr>
              <a:t>Unidades</a:t>
            </a:r>
            <a:r>
              <a:rPr kumimoji="0" sz="2000" b="1" i="0" u="none" strike="noStrike" kern="0" cap="none" spc="0" normalizeH="0" baseline="0" noProof="0" dirty="0">
                <a:ln>
                  <a:noFill/>
                </a:ln>
                <a:solidFill>
                  <a:srgbClr val="BC955C"/>
                </a:solidFill>
                <a:effectLst/>
                <a:uLnTx/>
                <a:uFillTx/>
                <a:latin typeface="Montserrat"/>
                <a:cs typeface="Arial"/>
                <a:sym typeface="Arial"/>
              </a:rPr>
              <a:t>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nvGraphicFramePr>
        <p:xfrm>
          <a:off x="3960000" y="31175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360000" y="42695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3960000" y="4269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17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3" name="Table 12"/>
          <p:cNvGraphicFramePr>
            <a:graphicFrameLocks noGrp="1"/>
          </p:cNvGraphicFramePr>
          <p:nvPr/>
        </p:nvGraphicFramePr>
        <p:xfrm>
          <a:off x="360000" y="5421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nvGraphicFramePr>
        <p:xfrm>
          <a:off x="3960000" y="5421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nvGraphicFramePr>
        <p:xfrm>
          <a:off x="360000" y="6321596"/>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3960000" y="6321596"/>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37</a:t>
                      </a:r>
                    </a:p>
                  </a:txBody>
                  <a:tcPr anchor="ctr">
                    <a:no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nvGraphicFramePr>
        <p:xfrm>
          <a:off x="360000" y="7473595"/>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8" name="Table 17"/>
          <p:cNvGraphicFramePr>
            <a:graphicFrameLocks noGrp="1"/>
          </p:cNvGraphicFramePr>
          <p:nvPr/>
        </p:nvGraphicFramePr>
        <p:xfrm>
          <a:off x="3960000" y="7473595"/>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9" name="Table 18"/>
          <p:cNvGraphicFramePr>
            <a:graphicFrameLocks noGrp="1"/>
          </p:cNvGraphicFramePr>
          <p:nvPr/>
        </p:nvGraphicFramePr>
        <p:xfrm>
          <a:off x="360000" y="862559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0" name="Table 19"/>
          <p:cNvGraphicFramePr>
            <a:graphicFrameLocks noGrp="1"/>
          </p:cNvGraphicFramePr>
          <p:nvPr/>
        </p:nvGraphicFramePr>
        <p:xfrm>
          <a:off x="3960000" y="862559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5" name="TextBox 4"/>
          <p:cNvSpPr txBox="1"/>
          <p:nvPr/>
        </p:nvSpPr>
        <p:spPr>
          <a:xfrm>
            <a:off x="360000" y="1081545"/>
            <a:ext cx="6208751"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46 en Unidades de Medicina Familiar </a:t>
            </a:r>
            <a:r>
              <a:rPr kumimoji="0" lang="es-MX" sz="2000" b="1" i="0" u="none" strike="noStrike" kern="0" cap="none" spc="0" normalizeH="0" baseline="0" noProof="0">
                <a:ln>
                  <a:noFill/>
                </a:ln>
                <a:solidFill>
                  <a:srgbClr val="BC955C"/>
                </a:solidFill>
                <a:effectLst/>
                <a:uLnTx/>
                <a:uFillTx/>
                <a:latin typeface="Montserrat"/>
                <a:cs typeface="Arial"/>
                <a:sym typeface="Arial"/>
              </a:rPr>
              <a:t>(5 de 6)</a:t>
            </a:r>
            <a:endParaRPr kumimoji="0" sz="20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706419"/>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3956400" y="178509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nvGraphicFramePr>
        <p:xfrm>
          <a:off x="360000" y="313715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29736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360000" y="42101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err="1"/>
                        <a:t>Especialidad</a:t>
                      </a:r>
                      <a:endParaRP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3956400" y="430347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324000" y="554907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4" name="Table 13"/>
          <p:cNvGraphicFramePr>
            <a:graphicFrameLocks noGrp="1"/>
          </p:cNvGraphicFramePr>
          <p:nvPr/>
        </p:nvGraphicFramePr>
        <p:xfrm>
          <a:off x="3968954" y="5491986"/>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err="1"/>
                        <a:t>Especialidad</a:t>
                      </a:r>
                      <a:endParaRP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Unidad de Medicina Familiar C/UMAA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15" name="Table 14"/>
          <p:cNvGraphicFramePr>
            <a:graphicFrameLocks noGrp="1"/>
          </p:cNvGraphicFramePr>
          <p:nvPr/>
        </p:nvGraphicFramePr>
        <p:xfrm>
          <a:off x="324000" y="7050920"/>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10</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498 total especialistas contratados en el draft 2026</a:t>
            </a:r>
          </a:p>
        </p:txBody>
      </p:sp>
      <p:sp>
        <p:nvSpPr>
          <p:cNvPr id="4" name="TextBox 3"/>
          <p:cNvSpPr txBox="1"/>
          <p:nvPr/>
        </p:nvSpPr>
        <p:spPr>
          <a:xfrm>
            <a:off x="360000" y="1081545"/>
            <a:ext cx="5036956"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dirty="0">
                <a:ln>
                  <a:noFill/>
                </a:ln>
                <a:solidFill>
                  <a:srgbClr val="BC955C"/>
                </a:solidFill>
                <a:effectLst/>
                <a:uLnTx/>
                <a:uFillTx/>
                <a:latin typeface="Montserrat"/>
                <a:cs typeface="Arial"/>
                <a:sym typeface="Arial"/>
              </a:rPr>
              <a:t>153 </a:t>
            </a:r>
            <a:r>
              <a:rPr kumimoji="0" sz="2000" b="1" i="0" u="none" strike="noStrike" kern="0" cap="none" spc="0" normalizeH="0" baseline="0" noProof="0" dirty="0" err="1">
                <a:ln>
                  <a:noFill/>
                </a:ln>
                <a:solidFill>
                  <a:srgbClr val="BC955C"/>
                </a:solidFill>
                <a:effectLst/>
                <a:uLnTx/>
                <a:uFillTx/>
                <a:latin typeface="Montserrat"/>
                <a:cs typeface="Arial"/>
                <a:sym typeface="Arial"/>
              </a:rPr>
              <a:t>especialistas</a:t>
            </a:r>
            <a:r>
              <a:rPr kumimoji="0" sz="2000" b="1" i="0" u="none" strike="noStrike" kern="0" cap="none" spc="0" normalizeH="0" baseline="0" noProof="0" dirty="0">
                <a:ln>
                  <a:noFill/>
                </a:ln>
                <a:solidFill>
                  <a:srgbClr val="BC955C"/>
                </a:solidFill>
                <a:effectLst/>
                <a:uLnTx/>
                <a:uFillTx/>
                <a:latin typeface="Montserrat"/>
                <a:cs typeface="Arial"/>
                <a:sym typeface="Arial"/>
              </a:rPr>
              <a:t> </a:t>
            </a:r>
            <a:r>
              <a:rPr kumimoji="0" sz="2000" b="1" i="0" u="none" strike="noStrike" kern="0" cap="none" spc="0" normalizeH="0" baseline="0" noProof="0" dirty="0" err="1">
                <a:ln>
                  <a:noFill/>
                </a:ln>
                <a:solidFill>
                  <a:srgbClr val="BC955C"/>
                </a:solidFill>
                <a:effectLst/>
                <a:uLnTx/>
                <a:uFillTx/>
                <a:latin typeface="Montserrat"/>
                <a:cs typeface="Arial"/>
                <a:sym typeface="Arial"/>
              </a:rPr>
              <a:t>sustitutos</a:t>
            </a:r>
            <a:r>
              <a:rPr kumimoji="0" lang="es-MX" sz="2000" b="1" i="0" u="none" strike="noStrike" kern="0" cap="none" spc="0" normalizeH="0" baseline="0" noProof="0" dirty="0">
                <a:ln>
                  <a:noFill/>
                </a:ln>
                <a:solidFill>
                  <a:srgbClr val="BC955C"/>
                </a:solidFill>
                <a:effectLst/>
                <a:uLnTx/>
                <a:uFillTx/>
                <a:latin typeface="Montserrat"/>
                <a:cs typeface="Arial"/>
                <a:sym typeface="Arial"/>
              </a:rPr>
              <a:t> (6 de 6)</a:t>
            </a:r>
            <a:endParaRPr kumimoji="0" sz="2000" b="1" i="0" u="none" strike="noStrike" kern="0" cap="none" spc="0" normalizeH="0" baseline="0" noProof="0" dirty="0">
              <a:ln>
                <a:noFill/>
              </a:ln>
              <a:solidFill>
                <a:srgbClr val="BC955C"/>
              </a:solidFill>
              <a:effectLst/>
              <a:uLnTx/>
              <a:uFillTx/>
              <a:latin typeface="Montserrat"/>
              <a:cs typeface="Arial"/>
              <a:sym typeface="Arial"/>
            </a:endParaRP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1884000" y="1875876"/>
          <a:ext cx="3456000" cy="3456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47</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15</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7" name="Table 6"/>
          <p:cNvGraphicFramePr>
            <a:graphicFrameLocks noGrp="1"/>
          </p:cNvGraphicFramePr>
          <p:nvPr/>
        </p:nvGraphicFramePr>
        <p:xfrm>
          <a:off x="1884000" y="5331876"/>
          <a:ext cx="3456000" cy="2182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rowSpan="9">
                  <a:txBody>
                    <a:bodyPr/>
                    <a:lstStyle/>
                    <a:p>
                      <a:pPr algn="ctr">
                        <a:defRPr sz="800" b="1">
                          <a:solidFill>
                            <a:srgbClr val="000000"/>
                          </a:solidFill>
                          <a:latin typeface="Montserrat"/>
                        </a:defRPr>
                      </a:pPr>
                      <a:endParaRPr/>
                    </a:p>
                  </a:txBody>
                  <a:tcPr anchor="ctr">
                    <a:noFill/>
                  </a:tcPr>
                </a:tc>
                <a:tc>
                  <a:txBody>
                    <a:bodyPr/>
                    <a:lstStyle/>
                    <a:p>
                      <a:pPr algn="ctr">
                        <a:defRPr sz="800" b="0">
                          <a:solidFill>
                            <a:srgbClr val="000000"/>
                          </a:solidFill>
                          <a:latin typeface="Montserrat"/>
                        </a:defRPr>
                      </a:pPr>
                      <a:r>
                        <a:t>Medicina del Trabajo y Ambiental</a:t>
                      </a:r>
                    </a:p>
                  </a:txBody>
                  <a:tcPr>
                    <a:solidFill>
                      <a:schemeClr val="bg1">
                        <a:lumMod val="95000"/>
                      </a:schemeClr>
                    </a:solidFill>
                  </a:tcPr>
                </a:tc>
                <a:tc>
                  <a:txBody>
                    <a:bodyPr/>
                    <a:lstStyle/>
                    <a:p>
                      <a:pPr algn="ctr">
                        <a:defRPr sz="800" b="0">
                          <a:solidFill>
                            <a:srgbClr val="000000"/>
                          </a:solidFill>
                          <a:latin typeface="Montserrat"/>
                        </a:defRPr>
                      </a:pPr>
                      <a:r>
                        <a:t>2</a:t>
                      </a:r>
                    </a:p>
                  </a:txBody>
                  <a:tcPr>
                    <a:solidFill>
                      <a:schemeClr val="bg1">
                        <a:lumMod val="95000"/>
                      </a:schemeClr>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Neonatología</a:t>
                      </a:r>
                      <a:endParaRPr/>
                    </a:p>
                  </a:txBody>
                  <a:tcPr>
                    <a:noFill/>
                  </a:tcPr>
                </a:tc>
                <a:tc>
                  <a:txBody>
                    <a:bodyPr/>
                    <a:lstStyle/>
                    <a:p>
                      <a:pPr algn="ctr">
                        <a:defRPr sz="800" b="0">
                          <a:solidFill>
                            <a:srgbClr val="000000"/>
                          </a:solidFill>
                          <a:latin typeface="Montserrat"/>
                        </a:defRPr>
                      </a:pPr>
                      <a:r>
                        <a:t>2</a:t>
                      </a:r>
                    </a:p>
                  </a:txBody>
                  <a:tcPr>
                    <a:no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Neumología</a:t>
                      </a:r>
                    </a:p>
                  </a:txBody>
                  <a:tcPr>
                    <a:solidFill>
                      <a:schemeClr val="bg1">
                        <a:lumMod val="95000"/>
                      </a:schemeClr>
                    </a:solidFill>
                  </a:tcPr>
                </a:tc>
                <a:tc>
                  <a:txBody>
                    <a:bodyPr/>
                    <a:lstStyle/>
                    <a:p>
                      <a:pPr algn="ctr">
                        <a:defRPr sz="800" b="0">
                          <a:solidFill>
                            <a:srgbClr val="000000"/>
                          </a:solidFill>
                          <a:latin typeface="Montserrat"/>
                        </a:defRPr>
                      </a:pPr>
                      <a:r>
                        <a:t>1</a:t>
                      </a:r>
                    </a:p>
                  </a:txBody>
                  <a:tcPr>
                    <a:solidFill>
                      <a:schemeClr val="bg1">
                        <a:lumMod val="95000"/>
                      </a:schemeClr>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Neurología</a:t>
                      </a:r>
                      <a:r>
                        <a:t> </a:t>
                      </a:r>
                      <a:r>
                        <a:rPr err="1"/>
                        <a:t>Pediátrica</a:t>
                      </a:r>
                      <a:endParaRPr/>
                    </a:p>
                  </a:txBody>
                  <a:tcPr>
                    <a:noFill/>
                  </a:tcPr>
                </a:tc>
                <a:tc>
                  <a:txBody>
                    <a:bodyPr/>
                    <a:lstStyle/>
                    <a:p>
                      <a:pPr algn="ctr">
                        <a:defRPr sz="800" b="0">
                          <a:solidFill>
                            <a:srgbClr val="000000"/>
                          </a:solidFill>
                          <a:latin typeface="Montserrat"/>
                        </a:defRPr>
                      </a:pPr>
                      <a:r>
                        <a:t>1</a:t>
                      </a:r>
                    </a:p>
                  </a:txBody>
                  <a:tcPr>
                    <a:no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Otorrinolaringología</a:t>
                      </a:r>
                      <a:r>
                        <a:t> y Cirugía de Cabeza y Cuello</a:t>
                      </a:r>
                    </a:p>
                  </a:txBody>
                  <a:tcPr>
                    <a:solidFill>
                      <a:schemeClr val="bg1">
                        <a:lumMod val="95000"/>
                      </a:schemeClr>
                    </a:solidFill>
                  </a:tcPr>
                </a:tc>
                <a:tc>
                  <a:txBody>
                    <a:bodyPr/>
                    <a:lstStyle/>
                    <a:p>
                      <a:pPr algn="ctr">
                        <a:defRPr sz="800" b="0">
                          <a:solidFill>
                            <a:srgbClr val="000000"/>
                          </a:solidFill>
                          <a:latin typeface="Montserrat"/>
                        </a:defRPr>
                      </a:pPr>
                      <a:r>
                        <a:t>1</a:t>
                      </a:r>
                    </a:p>
                  </a:txBody>
                  <a:tcPr>
                    <a:solidFill>
                      <a:schemeClr val="bg1">
                        <a:lumMod val="95000"/>
                      </a:schemeClr>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noFill/>
                  </a:tcPr>
                </a:tc>
                <a:tc>
                  <a:txBody>
                    <a:bodyPr/>
                    <a:lstStyle/>
                    <a:p>
                      <a:pPr algn="ctr">
                        <a:defRPr sz="800" b="0">
                          <a:solidFill>
                            <a:srgbClr val="000000"/>
                          </a:solidFill>
                          <a:latin typeface="Montserrat"/>
                        </a:defRPr>
                      </a:pPr>
                      <a:r>
                        <a:t>8</a:t>
                      </a:r>
                    </a:p>
                  </a:txBody>
                  <a:tcPr>
                    <a:no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Psiquiatría</a:t>
                      </a:r>
                      <a:endParaRPr/>
                    </a:p>
                  </a:txBody>
                  <a:tcPr>
                    <a:solidFill>
                      <a:schemeClr val="bg1">
                        <a:lumMod val="95000"/>
                      </a:schemeClr>
                    </a:solidFill>
                  </a:tcPr>
                </a:tc>
                <a:tc>
                  <a:txBody>
                    <a:bodyPr/>
                    <a:lstStyle/>
                    <a:p>
                      <a:pPr algn="ctr">
                        <a:defRPr sz="800" b="0">
                          <a:solidFill>
                            <a:srgbClr val="000000"/>
                          </a:solidFill>
                          <a:latin typeface="Montserrat"/>
                        </a:defRPr>
                      </a:pPr>
                      <a:r>
                        <a:t>1</a:t>
                      </a:r>
                    </a:p>
                  </a:txBody>
                  <a:tcPr>
                    <a:solidFill>
                      <a:schemeClr val="bg1">
                        <a:lumMod val="95000"/>
                      </a:schemeClr>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noFill/>
                  </a:tcPr>
                </a:tc>
                <a:tc>
                  <a:txBody>
                    <a:bodyPr/>
                    <a:lstStyle/>
                    <a:p>
                      <a:pPr algn="ctr">
                        <a:defRPr sz="800" b="0">
                          <a:solidFill>
                            <a:srgbClr val="000000"/>
                          </a:solidFill>
                          <a:latin typeface="Montserrat"/>
                        </a:defRPr>
                      </a:pPr>
                      <a:r>
                        <a:t>14</a:t>
                      </a:r>
                    </a:p>
                  </a:txBody>
                  <a:tcPr>
                    <a:no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153</a:t>
                      </a:r>
                    </a:p>
                  </a:txBody>
                  <a:tcPr>
                    <a:solidFill>
                      <a:srgbClr val="D3E9E7"/>
                    </a:solidFill>
                  </a:tcPr>
                </a:tc>
                <a:extLst>
                  <a:ext uri="{0D108BD9-81ED-4DB2-BD59-A6C34878D82A}">
                    <a16:rowId xmlns:a16="http://schemas.microsoft.com/office/drawing/2014/main" val="10009"/>
                  </a:ext>
                </a:extLst>
              </a:tr>
            </a:tbl>
          </a:graphicData>
        </a:graphic>
      </p:graphicFrame>
      <p:sp>
        <p:nvSpPr>
          <p:cNvPr id="8" name="TextBox 7"/>
          <p:cNvSpPr txBox="1"/>
          <p:nvPr/>
        </p:nvSpPr>
        <p:spPr>
          <a:xfrm>
            <a:off x="360000" y="7782414"/>
            <a:ext cx="7200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1000">
                <a:solidFill>
                  <a:srgbClr val="000000"/>
                </a:solidFill>
                <a:latin typeface="Montserrat"/>
              </a:defRPr>
            </a:pPr>
            <a:r>
              <a:rPr kumimoji="0" sz="1000" b="0" i="0" u="none" strike="noStrike" kern="0" cap="none" spc="0" normalizeH="0" baseline="0" noProof="0" err="1">
                <a:ln>
                  <a:noFill/>
                </a:ln>
                <a:solidFill>
                  <a:srgbClr val="000000"/>
                </a:solidFill>
                <a:effectLst/>
                <a:uLnTx/>
                <a:uFillTx/>
                <a:latin typeface="Montserrat"/>
                <a:cs typeface="Arial"/>
                <a:sym typeface="Arial"/>
              </a:rPr>
              <a:t>Sustitutos</a:t>
            </a:r>
            <a:r>
              <a:rPr kumimoji="0" sz="1000" b="0" i="0" u="none" strike="noStrike" kern="0" cap="none" spc="0" normalizeH="0" baseline="0" noProof="0">
                <a:ln>
                  <a:noFill/>
                </a:ln>
                <a:solidFill>
                  <a:srgbClr val="000000"/>
                </a:solidFill>
                <a:effectLst/>
                <a:uLnTx/>
                <a:uFillTx/>
                <a:latin typeface="Montserrat"/>
                <a:cs typeface="Arial"/>
                <a:sym typeface="Arial"/>
              </a:rPr>
              <a:t> se </a:t>
            </a:r>
            <a:r>
              <a:rPr kumimoji="0" sz="1000" b="0" i="0" u="none" strike="noStrike" kern="0" cap="none" spc="0" normalizeH="0" baseline="0" noProof="0" err="1">
                <a:ln>
                  <a:noFill/>
                </a:ln>
                <a:solidFill>
                  <a:srgbClr val="000000"/>
                </a:solidFill>
                <a:effectLst/>
                <a:uLnTx/>
                <a:uFillTx/>
                <a:latin typeface="Montserrat"/>
                <a:cs typeface="Arial"/>
                <a:sym typeface="Arial"/>
              </a:rPr>
              <a:t>integran</a:t>
            </a:r>
            <a:r>
              <a:rPr kumimoji="0" sz="1000" b="0" i="0" u="none" strike="noStrike" kern="0" cap="none" spc="0" normalizeH="0" baseline="0" noProof="0">
                <a:ln>
                  <a:noFill/>
                </a:ln>
                <a:solidFill>
                  <a:srgbClr val="000000"/>
                </a:solidFill>
                <a:effectLst/>
                <a:uLnTx/>
                <a:uFillTx/>
                <a:latin typeface="Montserrat"/>
                <a:cs typeface="Arial"/>
                <a:sym typeface="Arial"/>
              </a:rPr>
              <a:t> a los </a:t>
            </a:r>
            <a:r>
              <a:rPr kumimoji="0" sz="1000" b="0" i="0" u="none" strike="noStrike" kern="0" cap="none" spc="0" normalizeH="0" baseline="0" noProof="0" err="1">
                <a:ln>
                  <a:noFill/>
                </a:ln>
                <a:solidFill>
                  <a:srgbClr val="000000"/>
                </a:solidFill>
                <a:effectLst/>
                <a:uLnTx/>
                <a:uFillTx/>
                <a:latin typeface="Montserrat"/>
                <a:cs typeface="Arial"/>
                <a:sym typeface="Arial"/>
              </a:rPr>
              <a:t>Listados</a:t>
            </a:r>
            <a:r>
              <a:rPr kumimoji="0" sz="1000" b="0" i="0" u="none" strike="noStrike" kern="0" cap="none" spc="0" normalizeH="0" baseline="0" noProof="0">
                <a:ln>
                  <a:noFill/>
                </a:ln>
                <a:solidFill>
                  <a:srgbClr val="000000"/>
                </a:solidFill>
                <a:effectLst/>
                <a:uLnTx/>
                <a:uFillTx/>
                <a:latin typeface="Montserrat"/>
                <a:cs typeface="Arial"/>
                <a:sym typeface="Arial"/>
              </a:rPr>
              <a:t> de Bolsa de Trabajo, para </a:t>
            </a:r>
            <a:r>
              <a:rPr kumimoji="0" sz="1000" b="0" i="0" u="none" strike="noStrike" kern="0" cap="none" spc="0" normalizeH="0" baseline="0" noProof="0" err="1">
                <a:ln>
                  <a:noFill/>
                </a:ln>
                <a:solidFill>
                  <a:srgbClr val="000000"/>
                </a:solidFill>
                <a:effectLst/>
                <a:uLnTx/>
                <a:uFillTx/>
                <a:latin typeface="Montserrat"/>
                <a:cs typeface="Arial"/>
                <a:sym typeface="Arial"/>
              </a:rPr>
              <a:t>cubrir</a:t>
            </a:r>
            <a:r>
              <a:rPr kumimoji="0" sz="1000" b="0" i="0" u="none" strike="noStrike" kern="0" cap="none" spc="0" normalizeH="0" baseline="0" noProof="0">
                <a:ln>
                  <a:noFill/>
                </a:ln>
                <a:solidFill>
                  <a:srgbClr val="000000"/>
                </a:solidFill>
                <a:effectLst/>
                <a:uLnTx/>
                <a:uFillTx/>
                <a:latin typeface="Montserrat"/>
                <a:cs typeface="Arial"/>
                <a:sym typeface="Arial"/>
              </a:rPr>
              <a:t> las </a:t>
            </a:r>
            <a:r>
              <a:rPr kumimoji="0" sz="1000" b="0" i="0" u="none" strike="noStrike" kern="0" cap="none" spc="0" normalizeH="0" baseline="0" noProof="0" err="1">
                <a:ln>
                  <a:noFill/>
                </a:ln>
                <a:solidFill>
                  <a:srgbClr val="000000"/>
                </a:solidFill>
                <a:effectLst/>
                <a:uLnTx/>
                <a:uFillTx/>
                <a:latin typeface="Montserrat"/>
                <a:cs typeface="Arial"/>
                <a:sym typeface="Arial"/>
              </a:rPr>
              <a:t>futuras</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vacantes</a:t>
            </a:r>
            <a:r>
              <a:rPr kumimoji="0" sz="1000" b="0" i="0" u="none" strike="noStrike" kern="0" cap="none" spc="0" normalizeH="0" baseline="0" noProof="0">
                <a:ln>
                  <a:noFill/>
                </a:ln>
                <a:solidFill>
                  <a:srgbClr val="000000"/>
                </a:solidFill>
                <a:effectLst/>
                <a:uLnTx/>
                <a:uFillTx/>
                <a:latin typeface="Montserrat"/>
                <a:cs typeface="Arial"/>
                <a:sym typeface="Arial"/>
              </a:rPr>
              <a:t> por </a:t>
            </a:r>
            <a:r>
              <a:rPr kumimoji="0" sz="1000" b="0" i="0" u="none" strike="noStrike" kern="0" cap="none" spc="0" normalizeH="0" baseline="0" noProof="0" err="1">
                <a:ln>
                  <a:noFill/>
                </a:ln>
                <a:solidFill>
                  <a:srgbClr val="000000"/>
                </a:solidFill>
                <a:effectLst/>
                <a:uLnTx/>
                <a:uFillTx/>
                <a:latin typeface="Montserrat"/>
                <a:cs typeface="Arial"/>
                <a:sym typeface="Arial"/>
              </a:rPr>
              <a:t>jubilación</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renuncia</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fallecimiento</a:t>
            </a:r>
            <a:r>
              <a:rPr kumimoji="0" sz="1000" b="0" i="0" u="none" strike="noStrike" kern="0" cap="none" spc="0" normalizeH="0" baseline="0" noProof="0">
                <a:ln>
                  <a:noFill/>
                </a:ln>
                <a:solidFill>
                  <a:srgbClr val="000000"/>
                </a:solidFill>
                <a:effectLst/>
                <a:uLnTx/>
                <a:uFillTx/>
                <a:latin typeface="Montserrat"/>
                <a:cs typeface="Arial"/>
                <a:sym typeface="Arial"/>
              </a:rPr>
              <a:t>, etc., </a:t>
            </a:r>
            <a:r>
              <a:rPr kumimoji="0" sz="1000" b="0" i="0" u="none" strike="noStrike" kern="0" cap="none" spc="0" normalizeH="0" baseline="0" noProof="0" err="1">
                <a:ln>
                  <a:noFill/>
                </a:ln>
                <a:solidFill>
                  <a:srgbClr val="000000"/>
                </a:solidFill>
                <a:effectLst/>
                <a:uLnTx/>
                <a:uFillTx/>
                <a:latin typeface="Montserrat"/>
                <a:cs typeface="Arial"/>
                <a:sym typeface="Arial"/>
              </a:rPr>
              <a:t>así</a:t>
            </a:r>
            <a:r>
              <a:rPr kumimoji="0" sz="1000" b="0" i="0" u="none" strike="noStrike" kern="0" cap="none" spc="0" normalizeH="0" baseline="0" noProof="0">
                <a:ln>
                  <a:noFill/>
                </a:ln>
                <a:solidFill>
                  <a:srgbClr val="000000"/>
                </a:solidFill>
                <a:effectLst/>
                <a:uLnTx/>
                <a:uFillTx/>
                <a:latin typeface="Montserrat"/>
                <a:cs typeface="Arial"/>
                <a:sym typeface="Arial"/>
              </a:rPr>
              <a:t> como </a:t>
            </a:r>
            <a:r>
              <a:rPr kumimoji="0" sz="1000" b="0" i="0" u="none" strike="noStrike" kern="0" cap="none" spc="0" normalizeH="0" baseline="0" noProof="0" err="1">
                <a:ln>
                  <a:noFill/>
                </a:ln>
                <a:solidFill>
                  <a:srgbClr val="000000"/>
                </a:solidFill>
                <a:effectLst/>
                <a:uLnTx/>
                <a:uFillTx/>
                <a:latin typeface="Montserrat"/>
                <a:cs typeface="Arial"/>
                <a:sym typeface="Arial"/>
              </a:rPr>
              <a:t>ausentismo</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programado</a:t>
            </a:r>
            <a:r>
              <a:rPr kumimoji="0" sz="1000" b="0" i="0" u="none" strike="noStrike" kern="0" cap="none" spc="0" normalizeH="0" baseline="0" noProof="0">
                <a:ln>
                  <a:noFill/>
                </a:ln>
                <a:solidFill>
                  <a:srgbClr val="000000"/>
                </a:solidFill>
                <a:effectLst/>
                <a:uLnTx/>
                <a:uFillTx/>
                <a:latin typeface="Montserrat"/>
                <a:cs typeface="Arial"/>
                <a:sym typeface="Arial"/>
              </a:rPr>
              <a:t> y no </a:t>
            </a:r>
            <a:r>
              <a:rPr kumimoji="0" sz="1000" b="0" i="0" u="none" strike="noStrike" kern="0" cap="none" spc="0" normalizeH="0" baseline="0" noProof="0" err="1">
                <a:ln>
                  <a:noFill/>
                </a:ln>
                <a:solidFill>
                  <a:srgbClr val="000000"/>
                </a:solidFill>
                <a:effectLst/>
                <a:uLnTx/>
                <a:uFillTx/>
                <a:latin typeface="Montserrat"/>
                <a:cs typeface="Arial"/>
                <a:sym typeface="Arial"/>
              </a:rPr>
              <a:t>programado</a:t>
            </a:r>
            <a:r>
              <a:rPr kumimoji="0" sz="1000" b="0" i="0" u="none" strike="noStrike" kern="0" cap="none" spc="0" normalizeH="0" baseline="0" noProof="0">
                <a:ln>
                  <a:noFill/>
                </a:ln>
                <a:solidFill>
                  <a:srgbClr val="000000"/>
                </a:solidFill>
                <a:effectLst/>
                <a:uLnTx/>
                <a:uFillTx/>
                <a:latin typeface="Montserrat"/>
                <a:cs typeface="Arial"/>
                <a:sym typeface="Arial"/>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5795176" cy="415498"/>
          </a:xfrm>
          <a:prstGeom prst="rect">
            <a:avLst/>
          </a:prstGeom>
          <a:noFill/>
        </p:spPr>
        <p:txBody>
          <a:bodyPr wrap="none">
            <a:spAutoFit/>
          </a:bodyPr>
          <a:lstStyle/>
          <a:p>
            <a:pPr algn="l">
              <a:defRPr sz="2100" b="1">
                <a:solidFill>
                  <a:srgbClr val="BC955C"/>
                </a:solidFill>
                <a:latin typeface="Montserrat"/>
              </a:defRPr>
            </a:pPr>
            <a:r>
              <a:rPr dirty="0" err="1"/>
              <a:t>Contrataciones</a:t>
            </a:r>
            <a:r>
              <a:rPr dirty="0"/>
              <a:t> por </a:t>
            </a:r>
            <a:r>
              <a:rPr dirty="0" err="1"/>
              <a:t>especialidad</a:t>
            </a:r>
            <a:r>
              <a:rPr lang="es-MX" dirty="0"/>
              <a:t> (1 de 2)</a:t>
            </a:r>
            <a:endParaRPr dirty="0"/>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717636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61584">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61584">
                <a:tc>
                  <a:txBody>
                    <a:bodyPr/>
                    <a:lstStyle/>
                    <a:p>
                      <a:pPr algn="l">
                        <a:defRPr sz="1100" b="0">
                          <a:solidFill>
                            <a:srgbClr val="000000"/>
                          </a:solidFill>
                          <a:latin typeface="Montserrat"/>
                        </a:defRPr>
                      </a:pPr>
                      <a:r>
                        <a:t>Medicina de Urgencias</a:t>
                      </a:r>
                    </a:p>
                  </a:txBody>
                  <a:tcPr marL="45720" marR="45720" anchor="ctr">
                    <a:solidFill>
                      <a:srgbClr val="FFFFFF"/>
                    </a:solidFill>
                  </a:tcPr>
                </a:tc>
                <a:tc>
                  <a:txBody>
                    <a:bodyPr/>
                    <a:lstStyle/>
                    <a:p>
                      <a:pPr algn="ctr">
                        <a:defRPr sz="1100" b="0">
                          <a:solidFill>
                            <a:srgbClr val="000000"/>
                          </a:solidFill>
                          <a:latin typeface="Montserrat"/>
                        </a:defRPr>
                      </a:pPr>
                      <a:r>
                        <a:t>90</a:t>
                      </a:r>
                    </a:p>
                  </a:txBody>
                  <a:tcPr marL="45720" marR="45720" anchor="ctr">
                    <a:solidFill>
                      <a:srgbClr val="FFFFFF"/>
                    </a:solidFill>
                  </a:tcPr>
                </a:tc>
                <a:tc>
                  <a:txBody>
                    <a:bodyPr/>
                    <a:lstStyle/>
                    <a:p>
                      <a:pPr algn="ctr">
                        <a:defRPr sz="1100" b="1">
                          <a:solidFill>
                            <a:srgbClr val="000000"/>
                          </a:solidFill>
                          <a:latin typeface="Montserrat"/>
                        </a:defRPr>
                      </a:pPr>
                      <a:r>
                        <a:t>18.0%</a:t>
                      </a:r>
                    </a:p>
                  </a:txBody>
                  <a:tcPr marL="45720" marR="45720" anchor="ctr">
                    <a:solidFill>
                      <a:srgbClr val="FFFFFF"/>
                    </a:solidFill>
                  </a:tcPr>
                </a:tc>
                <a:extLst>
                  <a:ext uri="{0D108BD9-81ED-4DB2-BD59-A6C34878D82A}">
                    <a16:rowId xmlns:a16="http://schemas.microsoft.com/office/drawing/2014/main" val="10001"/>
                  </a:ext>
                </a:extLst>
              </a:tr>
              <a:tr h="161584">
                <a:tc>
                  <a:txBody>
                    <a:bodyPr/>
                    <a:lstStyle/>
                    <a:p>
                      <a:pPr algn="l">
                        <a:defRPr sz="1100" b="0">
                          <a:solidFill>
                            <a:srgbClr val="000000"/>
                          </a:solidFill>
                          <a:latin typeface="Montserrat"/>
                        </a:defRPr>
                      </a:pPr>
                      <a:r>
                        <a:t>Anestesiología</a:t>
                      </a:r>
                    </a:p>
                  </a:txBody>
                  <a:tcPr marL="45720" marR="45720" anchor="ctr">
                    <a:solidFill>
                      <a:srgbClr val="D9D9D9"/>
                    </a:solidFill>
                  </a:tcPr>
                </a:tc>
                <a:tc>
                  <a:txBody>
                    <a:bodyPr/>
                    <a:lstStyle/>
                    <a:p>
                      <a:pPr algn="ctr">
                        <a:defRPr sz="1100" b="0">
                          <a:solidFill>
                            <a:srgbClr val="000000"/>
                          </a:solidFill>
                          <a:latin typeface="Montserrat"/>
                        </a:defRPr>
                      </a:pPr>
                      <a:r>
                        <a:t>65</a:t>
                      </a:r>
                    </a:p>
                  </a:txBody>
                  <a:tcPr marL="45720" marR="45720" anchor="ctr">
                    <a:solidFill>
                      <a:srgbClr val="D9D9D9"/>
                    </a:solidFill>
                  </a:tcPr>
                </a:tc>
                <a:tc>
                  <a:txBody>
                    <a:bodyPr/>
                    <a:lstStyle/>
                    <a:p>
                      <a:pPr algn="ctr">
                        <a:defRPr sz="1100" b="1">
                          <a:solidFill>
                            <a:srgbClr val="000000"/>
                          </a:solidFill>
                          <a:latin typeface="Montserrat"/>
                        </a:defRPr>
                      </a:pPr>
                      <a:r>
                        <a:t>31.1%</a:t>
                      </a:r>
                    </a:p>
                  </a:txBody>
                  <a:tcPr marL="45720" marR="45720" anchor="ctr">
                    <a:solidFill>
                      <a:srgbClr val="D9D9D9"/>
                    </a:solidFill>
                  </a:tcPr>
                </a:tc>
                <a:extLst>
                  <a:ext uri="{0D108BD9-81ED-4DB2-BD59-A6C34878D82A}">
                    <a16:rowId xmlns:a16="http://schemas.microsoft.com/office/drawing/2014/main" val="10002"/>
                  </a:ext>
                </a:extLst>
              </a:tr>
              <a:tr h="161584">
                <a:tc>
                  <a:txBody>
                    <a:bodyPr/>
                    <a:lstStyle/>
                    <a:p>
                      <a:pPr algn="l">
                        <a:defRPr sz="1100" b="0">
                          <a:solidFill>
                            <a:srgbClr val="000000"/>
                          </a:solidFill>
                          <a:latin typeface="Montserrat"/>
                        </a:defRPr>
                      </a:pPr>
                      <a:r>
                        <a:t>Cirugía General</a:t>
                      </a:r>
                    </a:p>
                  </a:txBody>
                  <a:tcPr marL="45720" marR="45720" anchor="ctr">
                    <a:solidFill>
                      <a:srgbClr val="FFFFFF"/>
                    </a:solidFill>
                  </a:tcPr>
                </a:tc>
                <a:tc>
                  <a:txBody>
                    <a:bodyPr/>
                    <a:lstStyle/>
                    <a:p>
                      <a:pPr algn="ctr">
                        <a:defRPr sz="1100" b="0">
                          <a:solidFill>
                            <a:srgbClr val="000000"/>
                          </a:solidFill>
                          <a:latin typeface="Montserrat"/>
                        </a:defRPr>
                      </a:pPr>
                      <a:r>
                        <a:t>46</a:t>
                      </a:r>
                    </a:p>
                  </a:txBody>
                  <a:tcPr marL="45720" marR="45720" anchor="ctr">
                    <a:solidFill>
                      <a:srgbClr val="FFFFFF"/>
                    </a:solidFill>
                  </a:tcPr>
                </a:tc>
                <a:tc>
                  <a:txBody>
                    <a:bodyPr/>
                    <a:lstStyle/>
                    <a:p>
                      <a:pPr algn="ctr">
                        <a:defRPr sz="1100" b="1">
                          <a:solidFill>
                            <a:srgbClr val="000000"/>
                          </a:solidFill>
                          <a:latin typeface="Montserrat"/>
                        </a:defRPr>
                      </a:pPr>
                      <a:r>
                        <a:t>40.3%</a:t>
                      </a:r>
                    </a:p>
                  </a:txBody>
                  <a:tcPr marL="45720" marR="45720" anchor="ctr">
                    <a:solidFill>
                      <a:srgbClr val="FFFFFF"/>
                    </a:solidFill>
                  </a:tcPr>
                </a:tc>
                <a:extLst>
                  <a:ext uri="{0D108BD9-81ED-4DB2-BD59-A6C34878D82A}">
                    <a16:rowId xmlns:a16="http://schemas.microsoft.com/office/drawing/2014/main" val="10003"/>
                  </a:ext>
                </a:extLst>
              </a:tr>
              <a:tr h="161584">
                <a:tc>
                  <a:txBody>
                    <a:bodyPr/>
                    <a:lstStyle/>
                    <a:p>
                      <a:pPr algn="l">
                        <a:defRPr sz="1100" b="0">
                          <a:solidFill>
                            <a:srgbClr val="000000"/>
                          </a:solidFill>
                          <a:latin typeface="Montserrat"/>
                        </a:defRPr>
                      </a:pPr>
                      <a:r>
                        <a:t>Traumatología y Ortopedia</a:t>
                      </a:r>
                    </a:p>
                  </a:txBody>
                  <a:tcPr marL="45720" marR="45720" anchor="ctr">
                    <a:solidFill>
                      <a:srgbClr val="D9D9D9"/>
                    </a:solidFill>
                  </a:tcPr>
                </a:tc>
                <a:tc>
                  <a:txBody>
                    <a:bodyPr/>
                    <a:lstStyle/>
                    <a:p>
                      <a:pPr algn="ctr">
                        <a:defRPr sz="1100" b="0">
                          <a:solidFill>
                            <a:srgbClr val="000000"/>
                          </a:solidFill>
                          <a:latin typeface="Montserrat"/>
                        </a:defRPr>
                      </a:pPr>
                      <a:r>
                        <a:t>38</a:t>
                      </a:r>
                    </a:p>
                  </a:txBody>
                  <a:tcPr marL="45720" marR="45720" anchor="ctr">
                    <a:solidFill>
                      <a:srgbClr val="D9D9D9"/>
                    </a:solidFill>
                  </a:tcPr>
                </a:tc>
                <a:tc>
                  <a:txBody>
                    <a:bodyPr/>
                    <a:lstStyle/>
                    <a:p>
                      <a:pPr algn="ctr">
                        <a:defRPr sz="1100" b="1">
                          <a:solidFill>
                            <a:srgbClr val="000000"/>
                          </a:solidFill>
                          <a:latin typeface="Montserrat"/>
                        </a:defRPr>
                      </a:pPr>
                      <a:r>
                        <a:t>47.9%</a:t>
                      </a:r>
                    </a:p>
                  </a:txBody>
                  <a:tcPr marL="45720" marR="45720" anchor="ctr">
                    <a:solidFill>
                      <a:srgbClr val="D9D9D9"/>
                    </a:solidFill>
                  </a:tcPr>
                </a:tc>
                <a:extLst>
                  <a:ext uri="{0D108BD9-81ED-4DB2-BD59-A6C34878D82A}">
                    <a16:rowId xmlns:a16="http://schemas.microsoft.com/office/drawing/2014/main" val="10004"/>
                  </a:ext>
                </a:extLst>
              </a:tr>
              <a:tr h="161584">
                <a:tc>
                  <a:txBody>
                    <a:bodyPr/>
                    <a:lstStyle/>
                    <a:p>
                      <a:pPr algn="l">
                        <a:defRPr sz="1100" b="0">
                          <a:solidFill>
                            <a:srgbClr val="000000"/>
                          </a:solidFill>
                          <a:latin typeface="Montserrat"/>
                        </a:defRPr>
                      </a:pPr>
                      <a:r>
                        <a:t>Medicina Familiar</a:t>
                      </a:r>
                    </a:p>
                  </a:txBody>
                  <a:tcPr marL="45720" marR="45720" anchor="ctr">
                    <a:solidFill>
                      <a:srgbClr val="FFFFFF"/>
                    </a:solidFill>
                  </a:tcPr>
                </a:tc>
                <a:tc>
                  <a:txBody>
                    <a:bodyPr/>
                    <a:lstStyle/>
                    <a:p>
                      <a:pPr algn="ctr">
                        <a:defRPr sz="1100" b="0">
                          <a:solidFill>
                            <a:srgbClr val="000000"/>
                          </a:solidFill>
                          <a:latin typeface="Montserrat"/>
                        </a:defRPr>
                      </a:pPr>
                      <a:r>
                        <a:t>34</a:t>
                      </a:r>
                    </a:p>
                  </a:txBody>
                  <a:tcPr marL="45720" marR="45720" anchor="ctr">
                    <a:solidFill>
                      <a:srgbClr val="FFFFFF"/>
                    </a:solidFill>
                  </a:tcPr>
                </a:tc>
                <a:tc>
                  <a:txBody>
                    <a:bodyPr/>
                    <a:lstStyle/>
                    <a:p>
                      <a:pPr algn="ctr">
                        <a:defRPr sz="1100" b="1">
                          <a:solidFill>
                            <a:srgbClr val="000000"/>
                          </a:solidFill>
                          <a:latin typeface="Montserrat"/>
                        </a:defRPr>
                      </a:pPr>
                      <a:r>
                        <a:t>54.8%</a:t>
                      </a:r>
                    </a:p>
                  </a:txBody>
                  <a:tcPr marL="45720" marR="45720" anchor="ctr">
                    <a:solidFill>
                      <a:srgbClr val="FFFFFF"/>
                    </a:solidFill>
                  </a:tcPr>
                </a:tc>
                <a:extLst>
                  <a:ext uri="{0D108BD9-81ED-4DB2-BD59-A6C34878D82A}">
                    <a16:rowId xmlns:a16="http://schemas.microsoft.com/office/drawing/2014/main" val="10005"/>
                  </a:ext>
                </a:extLst>
              </a:tr>
              <a:tr h="161584">
                <a:tc>
                  <a:txBody>
                    <a:bodyPr/>
                    <a:lstStyle/>
                    <a:p>
                      <a:pPr algn="l">
                        <a:defRPr sz="1100" b="0">
                          <a:solidFill>
                            <a:srgbClr val="000000"/>
                          </a:solidFill>
                          <a:latin typeface="Montserrat"/>
                        </a:defRPr>
                      </a:pPr>
                      <a:r>
                        <a:t>Ginecología y Obstetricia</a:t>
                      </a:r>
                    </a:p>
                  </a:txBody>
                  <a:tcPr marL="45720" marR="45720" anchor="ctr">
                    <a:solidFill>
                      <a:srgbClr val="D9D9D9"/>
                    </a:solidFill>
                  </a:tcPr>
                </a:tc>
                <a:tc>
                  <a:txBody>
                    <a:bodyPr/>
                    <a:lstStyle/>
                    <a:p>
                      <a:pPr algn="ctr">
                        <a:defRPr sz="1100" b="0">
                          <a:solidFill>
                            <a:srgbClr val="000000"/>
                          </a:solidFill>
                          <a:latin typeface="Montserrat"/>
                        </a:defRPr>
                      </a:pPr>
                      <a:r>
                        <a:t>33</a:t>
                      </a:r>
                    </a:p>
                  </a:txBody>
                  <a:tcPr marL="45720" marR="45720" anchor="ctr">
                    <a:solidFill>
                      <a:srgbClr val="D9D9D9"/>
                    </a:solidFill>
                  </a:tcPr>
                </a:tc>
                <a:tc>
                  <a:txBody>
                    <a:bodyPr/>
                    <a:lstStyle/>
                    <a:p>
                      <a:pPr algn="ctr">
                        <a:defRPr sz="1100" b="1">
                          <a:solidFill>
                            <a:srgbClr val="000000"/>
                          </a:solidFill>
                          <a:latin typeface="Montserrat"/>
                        </a:defRPr>
                      </a:pPr>
                      <a:r>
                        <a:t>61.4%</a:t>
                      </a:r>
                    </a:p>
                  </a:txBody>
                  <a:tcPr marL="45720" marR="45720" anchor="ctr">
                    <a:solidFill>
                      <a:srgbClr val="D9D9D9"/>
                    </a:solidFill>
                  </a:tcPr>
                </a:tc>
                <a:extLst>
                  <a:ext uri="{0D108BD9-81ED-4DB2-BD59-A6C34878D82A}">
                    <a16:rowId xmlns:a16="http://schemas.microsoft.com/office/drawing/2014/main" val="10006"/>
                  </a:ext>
                </a:extLst>
              </a:tr>
              <a:tr h="161584">
                <a:tc>
                  <a:txBody>
                    <a:bodyPr/>
                    <a:lstStyle/>
                    <a:p>
                      <a:pPr algn="l">
                        <a:defRPr sz="1100" b="0">
                          <a:solidFill>
                            <a:srgbClr val="000000"/>
                          </a:solidFill>
                          <a:latin typeface="Montserrat"/>
                        </a:defRPr>
                      </a:pPr>
                      <a:r>
                        <a:t>Medicina Interna</a:t>
                      </a:r>
                    </a:p>
                  </a:txBody>
                  <a:tcPr marL="45720" marR="45720" anchor="ctr">
                    <a:solidFill>
                      <a:srgbClr val="FFFFFF"/>
                    </a:solidFill>
                  </a:tcPr>
                </a:tc>
                <a:tc>
                  <a:txBody>
                    <a:bodyPr/>
                    <a:lstStyle/>
                    <a:p>
                      <a:pPr algn="ctr">
                        <a:defRPr sz="1100" b="0">
                          <a:solidFill>
                            <a:srgbClr val="000000"/>
                          </a:solidFill>
                          <a:latin typeface="Montserrat"/>
                        </a:defRPr>
                      </a:pPr>
                      <a:r>
                        <a:t>31</a:t>
                      </a:r>
                    </a:p>
                  </a:txBody>
                  <a:tcPr marL="45720" marR="45720" anchor="ctr">
                    <a:solidFill>
                      <a:srgbClr val="FFFFFF"/>
                    </a:solidFill>
                  </a:tcPr>
                </a:tc>
                <a:tc>
                  <a:txBody>
                    <a:bodyPr/>
                    <a:lstStyle/>
                    <a:p>
                      <a:pPr algn="ctr">
                        <a:defRPr sz="1100" b="1">
                          <a:solidFill>
                            <a:srgbClr val="000000"/>
                          </a:solidFill>
                          <a:latin typeface="Montserrat"/>
                        </a:defRPr>
                      </a:pPr>
                      <a:r>
                        <a:t>67.6%</a:t>
                      </a:r>
                    </a:p>
                  </a:txBody>
                  <a:tcPr marL="45720" marR="45720" anchor="ctr">
                    <a:solidFill>
                      <a:srgbClr val="FFFFFF"/>
                    </a:solidFill>
                  </a:tcPr>
                </a:tc>
                <a:extLst>
                  <a:ext uri="{0D108BD9-81ED-4DB2-BD59-A6C34878D82A}">
                    <a16:rowId xmlns:a16="http://schemas.microsoft.com/office/drawing/2014/main" val="10007"/>
                  </a:ext>
                </a:extLst>
              </a:tr>
              <a:tr h="161584">
                <a:tc>
                  <a:txBody>
                    <a:bodyPr/>
                    <a:lstStyle/>
                    <a:p>
                      <a:pPr algn="l">
                        <a:defRPr sz="1100" b="0">
                          <a:solidFill>
                            <a:srgbClr val="000000"/>
                          </a:solidFill>
                          <a:latin typeface="Montserrat"/>
                        </a:defRPr>
                      </a:pPr>
                      <a:r>
                        <a:t>Pediatría</a:t>
                      </a:r>
                    </a:p>
                  </a:txBody>
                  <a:tcPr marL="45720" marR="45720" anchor="ctr">
                    <a:solidFill>
                      <a:srgbClr val="D9D9D9"/>
                    </a:solidFill>
                  </a:tcPr>
                </a:tc>
                <a:tc>
                  <a:txBody>
                    <a:bodyPr/>
                    <a:lstStyle/>
                    <a:p>
                      <a:pPr algn="ctr">
                        <a:defRPr sz="1100" b="0">
                          <a:solidFill>
                            <a:srgbClr val="000000"/>
                          </a:solidFill>
                          <a:latin typeface="Montserrat"/>
                        </a:defRPr>
                      </a:pPr>
                      <a:r>
                        <a:t>31</a:t>
                      </a:r>
                    </a:p>
                  </a:txBody>
                  <a:tcPr marL="45720" marR="45720" anchor="ctr">
                    <a:solidFill>
                      <a:srgbClr val="D9D9D9"/>
                    </a:solidFill>
                  </a:tcPr>
                </a:tc>
                <a:tc>
                  <a:txBody>
                    <a:bodyPr/>
                    <a:lstStyle/>
                    <a:p>
                      <a:pPr algn="ctr">
                        <a:defRPr sz="1100" b="1">
                          <a:solidFill>
                            <a:srgbClr val="000000"/>
                          </a:solidFill>
                          <a:latin typeface="Montserrat"/>
                        </a:defRPr>
                      </a:pPr>
                      <a:r>
                        <a:t>73.8%</a:t>
                      </a:r>
                    </a:p>
                  </a:txBody>
                  <a:tcPr marL="45720" marR="45720" anchor="ctr">
                    <a:solidFill>
                      <a:srgbClr val="D9D9D9"/>
                    </a:solidFill>
                  </a:tcPr>
                </a:tc>
                <a:extLst>
                  <a:ext uri="{0D108BD9-81ED-4DB2-BD59-A6C34878D82A}">
                    <a16:rowId xmlns:a16="http://schemas.microsoft.com/office/drawing/2014/main" val="10008"/>
                  </a:ext>
                </a:extLst>
              </a:tr>
              <a:tr h="161584">
                <a:tc>
                  <a:txBody>
                    <a:bodyPr/>
                    <a:lstStyle/>
                    <a:p>
                      <a:pPr algn="l">
                        <a:defRPr sz="1100" b="0">
                          <a:solidFill>
                            <a:srgbClr val="000000"/>
                          </a:solidFill>
                          <a:latin typeface="Montserrat"/>
                        </a:defRPr>
                      </a:pPr>
                      <a:r>
                        <a:t>Medicina del Enfermo en Estado Crítico</a:t>
                      </a:r>
                    </a:p>
                  </a:txBody>
                  <a:tcPr marL="45720" marR="45720" anchor="ctr">
                    <a:solidFill>
                      <a:srgbClr val="FFFFFF"/>
                    </a:solidFill>
                  </a:tcPr>
                </a:tc>
                <a:tc>
                  <a:txBody>
                    <a:bodyPr/>
                    <a:lstStyle/>
                    <a:p>
                      <a:pPr algn="ctr">
                        <a:defRPr sz="1100" b="0">
                          <a:solidFill>
                            <a:srgbClr val="000000"/>
                          </a:solidFill>
                          <a:latin typeface="Montserrat"/>
                        </a:defRPr>
                      </a:pPr>
                      <a:r>
                        <a:t>13</a:t>
                      </a:r>
                    </a:p>
                  </a:txBody>
                  <a:tcPr marL="45720" marR="45720" anchor="ctr">
                    <a:solidFill>
                      <a:srgbClr val="FFFFFF"/>
                    </a:solidFill>
                  </a:tcPr>
                </a:tc>
                <a:tc>
                  <a:txBody>
                    <a:bodyPr/>
                    <a:lstStyle/>
                    <a:p>
                      <a:pPr algn="ctr">
                        <a:defRPr sz="1100" b="1">
                          <a:solidFill>
                            <a:srgbClr val="000000"/>
                          </a:solidFill>
                          <a:latin typeface="Montserrat"/>
                        </a:defRPr>
                      </a:pPr>
                      <a:r>
                        <a:t>76.5%</a:t>
                      </a:r>
                    </a:p>
                  </a:txBody>
                  <a:tcPr marL="45720" marR="45720" anchor="ctr">
                    <a:solidFill>
                      <a:srgbClr val="FFFFFF"/>
                    </a:solidFill>
                  </a:tcPr>
                </a:tc>
                <a:extLst>
                  <a:ext uri="{0D108BD9-81ED-4DB2-BD59-A6C34878D82A}">
                    <a16:rowId xmlns:a16="http://schemas.microsoft.com/office/drawing/2014/main" val="10009"/>
                  </a:ext>
                </a:extLst>
              </a:tr>
              <a:tr h="161584">
                <a:tc>
                  <a:txBody>
                    <a:bodyPr/>
                    <a:lstStyle/>
                    <a:p>
                      <a:pPr algn="l">
                        <a:defRPr sz="1100" b="0">
                          <a:solidFill>
                            <a:srgbClr val="000000"/>
                          </a:solidFill>
                          <a:latin typeface="Montserrat"/>
                        </a:defRPr>
                      </a:pPr>
                      <a:r>
                        <a:t>Cardiología</a:t>
                      </a:r>
                    </a:p>
                  </a:txBody>
                  <a:tcPr marL="45720" marR="45720" anchor="ctr">
                    <a:solidFill>
                      <a:srgbClr val="D9D9D9"/>
                    </a:solidFill>
                  </a:tcPr>
                </a:tc>
                <a:tc>
                  <a:txBody>
                    <a:bodyPr/>
                    <a:lstStyle/>
                    <a:p>
                      <a:pPr algn="ctr">
                        <a:defRPr sz="1100" b="0">
                          <a:solidFill>
                            <a:srgbClr val="000000"/>
                          </a:solidFill>
                          <a:latin typeface="Montserrat"/>
                        </a:defRPr>
                      </a:pPr>
                      <a:r>
                        <a:t>12</a:t>
                      </a:r>
                    </a:p>
                  </a:txBody>
                  <a:tcPr marL="45720" marR="45720" anchor="ctr">
                    <a:solidFill>
                      <a:srgbClr val="D9D9D9"/>
                    </a:solidFill>
                  </a:tcPr>
                </a:tc>
                <a:tc>
                  <a:txBody>
                    <a:bodyPr/>
                    <a:lstStyle/>
                    <a:p>
                      <a:pPr algn="ctr">
                        <a:defRPr sz="1100" b="1">
                          <a:solidFill>
                            <a:srgbClr val="000000"/>
                          </a:solidFill>
                          <a:latin typeface="Montserrat"/>
                        </a:defRPr>
                      </a:pPr>
                      <a:r>
                        <a:t>78.9%</a:t>
                      </a:r>
                    </a:p>
                  </a:txBody>
                  <a:tcPr marL="45720" marR="45720" anchor="ctr">
                    <a:solidFill>
                      <a:srgbClr val="D9D9D9"/>
                    </a:solidFill>
                  </a:tcPr>
                </a:tc>
                <a:extLst>
                  <a:ext uri="{0D108BD9-81ED-4DB2-BD59-A6C34878D82A}">
                    <a16:rowId xmlns:a16="http://schemas.microsoft.com/office/drawing/2014/main" val="10010"/>
                  </a:ext>
                </a:extLst>
              </a:tr>
              <a:tr h="161584">
                <a:tc>
                  <a:txBody>
                    <a:bodyPr/>
                    <a:lstStyle/>
                    <a:p>
                      <a:pPr algn="l">
                        <a:defRPr sz="1100" b="0">
                          <a:solidFill>
                            <a:srgbClr val="000000"/>
                          </a:solidFill>
                          <a:latin typeface="Montserrat"/>
                        </a:defRPr>
                      </a:pPr>
                      <a:r>
                        <a:t>Medicina del Trabajo y Ambiental</a:t>
                      </a:r>
                    </a:p>
                  </a:txBody>
                  <a:tcPr marL="45720" marR="45720" anchor="ctr">
                    <a:solidFill>
                      <a:srgbClr val="FFFFFF"/>
                    </a:solidFill>
                  </a:tcPr>
                </a:tc>
                <a:tc>
                  <a:txBody>
                    <a:bodyPr/>
                    <a:lstStyle/>
                    <a:p>
                      <a:pPr algn="ctr">
                        <a:defRPr sz="1100" b="0">
                          <a:solidFill>
                            <a:srgbClr val="000000"/>
                          </a:solidFill>
                          <a:latin typeface="Montserrat"/>
                        </a:defRPr>
                      </a:pPr>
                      <a:r>
                        <a:t>10</a:t>
                      </a:r>
                    </a:p>
                  </a:txBody>
                  <a:tcPr marL="45720" marR="45720" anchor="ctr">
                    <a:solidFill>
                      <a:srgbClr val="FFFFFF"/>
                    </a:solidFill>
                  </a:tcPr>
                </a:tc>
                <a:tc>
                  <a:txBody>
                    <a:bodyPr/>
                    <a:lstStyle/>
                    <a:p>
                      <a:pPr algn="ctr">
                        <a:defRPr sz="1100" b="1">
                          <a:solidFill>
                            <a:srgbClr val="000000"/>
                          </a:solidFill>
                          <a:latin typeface="Montserrat"/>
                        </a:defRPr>
                      </a:pPr>
                      <a:r>
                        <a:t>80.9%</a:t>
                      </a:r>
                    </a:p>
                  </a:txBody>
                  <a:tcPr marL="45720" marR="45720" anchor="ctr">
                    <a:solidFill>
                      <a:srgbClr val="FFFFFF"/>
                    </a:solidFill>
                  </a:tcPr>
                </a:tc>
                <a:extLst>
                  <a:ext uri="{0D108BD9-81ED-4DB2-BD59-A6C34878D82A}">
                    <a16:rowId xmlns:a16="http://schemas.microsoft.com/office/drawing/2014/main" val="10011"/>
                  </a:ext>
                </a:extLst>
              </a:tr>
              <a:tr h="161584">
                <a:tc>
                  <a:txBody>
                    <a:bodyPr/>
                    <a:lstStyle/>
                    <a:p>
                      <a:pPr algn="l">
                        <a:defRPr sz="1100" b="0">
                          <a:solidFill>
                            <a:srgbClr val="000000"/>
                          </a:solidFill>
                          <a:latin typeface="Montserrat"/>
                        </a:defRPr>
                      </a:pPr>
                      <a:r>
                        <a:t>Imagenología Diagnóstico y Terapéutica</a:t>
                      </a:r>
                    </a:p>
                  </a:txBody>
                  <a:tcPr marL="45720" marR="45720" anchor="ctr">
                    <a:solidFill>
                      <a:srgbClr val="D9D9D9"/>
                    </a:solidFill>
                  </a:tcPr>
                </a:tc>
                <a:tc>
                  <a:txBody>
                    <a:bodyPr/>
                    <a:lstStyle/>
                    <a:p>
                      <a:pPr algn="ctr">
                        <a:defRPr sz="1100" b="0">
                          <a:solidFill>
                            <a:srgbClr val="000000"/>
                          </a:solidFill>
                          <a:latin typeface="Montserrat"/>
                        </a:defRPr>
                      </a:pPr>
                      <a:r>
                        <a:t>6</a:t>
                      </a:r>
                    </a:p>
                  </a:txBody>
                  <a:tcPr marL="45720" marR="45720" anchor="ctr">
                    <a:solidFill>
                      <a:srgbClr val="D9D9D9"/>
                    </a:solidFill>
                  </a:tcPr>
                </a:tc>
                <a:tc>
                  <a:txBody>
                    <a:bodyPr/>
                    <a:lstStyle/>
                    <a:p>
                      <a:pPr algn="ctr">
                        <a:defRPr sz="1100" b="1">
                          <a:solidFill>
                            <a:srgbClr val="000000"/>
                          </a:solidFill>
                          <a:latin typeface="Montserrat"/>
                        </a:defRPr>
                      </a:pPr>
                      <a:r>
                        <a:t>82.1%</a:t>
                      </a:r>
                    </a:p>
                  </a:txBody>
                  <a:tcPr marL="45720" marR="45720" anchor="ctr">
                    <a:solidFill>
                      <a:srgbClr val="D9D9D9"/>
                    </a:solidFill>
                  </a:tcPr>
                </a:tc>
                <a:extLst>
                  <a:ext uri="{0D108BD9-81ED-4DB2-BD59-A6C34878D82A}">
                    <a16:rowId xmlns:a16="http://schemas.microsoft.com/office/drawing/2014/main" val="10012"/>
                  </a:ext>
                </a:extLst>
              </a:tr>
              <a:tr h="161584">
                <a:tc>
                  <a:txBody>
                    <a:bodyPr/>
                    <a:lstStyle/>
                    <a:p>
                      <a:pPr algn="l">
                        <a:defRPr sz="1100" b="0">
                          <a:solidFill>
                            <a:srgbClr val="000000"/>
                          </a:solidFill>
                          <a:latin typeface="Montserrat"/>
                        </a:defRPr>
                      </a:pPr>
                      <a:r>
                        <a:t>Oftalmología</a:t>
                      </a:r>
                    </a:p>
                  </a:txBody>
                  <a:tcPr marL="45720" marR="45720" anchor="ctr">
                    <a:solidFill>
                      <a:srgbClr val="FFFFFF"/>
                    </a:solidFill>
                  </a:tcPr>
                </a:tc>
                <a:tc>
                  <a:txBody>
                    <a:bodyPr/>
                    <a:lstStyle/>
                    <a:p>
                      <a:pPr algn="ctr">
                        <a:defRPr sz="1100" b="0">
                          <a:solidFill>
                            <a:srgbClr val="000000"/>
                          </a:solidFill>
                          <a:latin typeface="Montserrat"/>
                        </a:defRPr>
                      </a:pPr>
                      <a:r>
                        <a:t>6</a:t>
                      </a:r>
                    </a:p>
                  </a:txBody>
                  <a:tcPr marL="45720" marR="45720" anchor="ctr">
                    <a:solidFill>
                      <a:srgbClr val="FFFFFF"/>
                    </a:solidFill>
                  </a:tcPr>
                </a:tc>
                <a:tc>
                  <a:txBody>
                    <a:bodyPr/>
                    <a:lstStyle/>
                    <a:p>
                      <a:pPr algn="ctr">
                        <a:defRPr sz="1100" b="1">
                          <a:solidFill>
                            <a:srgbClr val="000000"/>
                          </a:solidFill>
                          <a:latin typeface="Montserrat"/>
                        </a:defRPr>
                      </a:pPr>
                      <a:r>
                        <a:t>83.3%</a:t>
                      </a:r>
                    </a:p>
                  </a:txBody>
                  <a:tcPr marL="45720" marR="45720" anchor="ctr">
                    <a:solidFill>
                      <a:srgbClr val="FFFFFF"/>
                    </a:solidFill>
                  </a:tcPr>
                </a:tc>
                <a:extLst>
                  <a:ext uri="{0D108BD9-81ED-4DB2-BD59-A6C34878D82A}">
                    <a16:rowId xmlns:a16="http://schemas.microsoft.com/office/drawing/2014/main" val="10013"/>
                  </a:ext>
                </a:extLst>
              </a:tr>
              <a:tr h="161584">
                <a:tc>
                  <a:txBody>
                    <a:bodyPr/>
                    <a:lstStyle/>
                    <a:p>
                      <a:pPr algn="l">
                        <a:defRPr sz="1100" b="0">
                          <a:solidFill>
                            <a:srgbClr val="000000"/>
                          </a:solidFill>
                          <a:latin typeface="Montserrat"/>
                        </a:defRPr>
                      </a:pPr>
                      <a:r>
                        <a:t>Geriatría</a:t>
                      </a:r>
                    </a:p>
                  </a:txBody>
                  <a:tcPr marL="45720" marR="45720" anchor="ctr">
                    <a:solidFill>
                      <a:srgbClr val="D9D9D9"/>
                    </a:solidFill>
                  </a:tcPr>
                </a:tc>
                <a:tc>
                  <a:txBody>
                    <a:bodyPr/>
                    <a:lstStyle/>
                    <a:p>
                      <a:pPr algn="ctr">
                        <a:defRPr sz="1100" b="0">
                          <a:solidFill>
                            <a:srgbClr val="000000"/>
                          </a:solidFill>
                          <a:latin typeface="Montserrat"/>
                        </a:defRPr>
                      </a:pPr>
                      <a:r>
                        <a:t>6</a:t>
                      </a:r>
                    </a:p>
                  </a:txBody>
                  <a:tcPr marL="45720" marR="45720" anchor="ctr">
                    <a:solidFill>
                      <a:srgbClr val="D9D9D9"/>
                    </a:solidFill>
                  </a:tcPr>
                </a:tc>
                <a:tc>
                  <a:txBody>
                    <a:bodyPr/>
                    <a:lstStyle/>
                    <a:p>
                      <a:pPr algn="ctr">
                        <a:defRPr sz="1100" b="1">
                          <a:solidFill>
                            <a:srgbClr val="000000"/>
                          </a:solidFill>
                          <a:latin typeface="Montserrat"/>
                        </a:defRPr>
                      </a:pPr>
                      <a:r>
                        <a:t>84.5%</a:t>
                      </a:r>
                    </a:p>
                  </a:txBody>
                  <a:tcPr marL="45720" marR="45720" anchor="ctr">
                    <a:solidFill>
                      <a:srgbClr val="D9D9D9"/>
                    </a:solidFill>
                  </a:tcPr>
                </a:tc>
                <a:extLst>
                  <a:ext uri="{0D108BD9-81ED-4DB2-BD59-A6C34878D82A}">
                    <a16:rowId xmlns:a16="http://schemas.microsoft.com/office/drawing/2014/main" val="10014"/>
                  </a:ext>
                </a:extLst>
              </a:tr>
              <a:tr h="161584">
                <a:tc>
                  <a:txBody>
                    <a:bodyPr/>
                    <a:lstStyle/>
                    <a:p>
                      <a:pPr algn="l">
                        <a:defRPr sz="1100" b="0">
                          <a:solidFill>
                            <a:srgbClr val="000000"/>
                          </a:solidFill>
                          <a:latin typeface="Montserrat"/>
                        </a:defRPr>
                      </a:pPr>
                      <a:r>
                        <a:t>Epidemiología</a:t>
                      </a:r>
                    </a:p>
                  </a:txBody>
                  <a:tcPr marL="45720" marR="45720" anchor="ctr">
                    <a:solidFill>
                      <a:srgbClr val="FFFFFF"/>
                    </a:solidFill>
                  </a:tcPr>
                </a:tc>
                <a:tc>
                  <a:txBody>
                    <a:bodyPr/>
                    <a:lstStyle/>
                    <a:p>
                      <a:pPr algn="ctr">
                        <a:defRPr sz="1100" b="0">
                          <a:solidFill>
                            <a:srgbClr val="000000"/>
                          </a:solidFill>
                          <a:latin typeface="Montserrat"/>
                        </a:defRPr>
                      </a:pPr>
                      <a:r>
                        <a:t>5</a:t>
                      </a:r>
                    </a:p>
                  </a:txBody>
                  <a:tcPr marL="45720" marR="45720" anchor="ctr">
                    <a:solidFill>
                      <a:srgbClr val="FFFFFF"/>
                    </a:solidFill>
                  </a:tcPr>
                </a:tc>
                <a:tc>
                  <a:txBody>
                    <a:bodyPr/>
                    <a:lstStyle/>
                    <a:p>
                      <a:pPr algn="ctr">
                        <a:defRPr sz="1100" b="1">
                          <a:solidFill>
                            <a:srgbClr val="000000"/>
                          </a:solidFill>
                          <a:latin typeface="Montserrat"/>
                        </a:defRPr>
                      </a:pPr>
                      <a:r>
                        <a:t>85.5%</a:t>
                      </a:r>
                    </a:p>
                  </a:txBody>
                  <a:tcPr marL="45720" marR="45720" anchor="ctr">
                    <a:solidFill>
                      <a:srgbClr val="FFFFFF"/>
                    </a:solidFill>
                  </a:tcPr>
                </a:tc>
                <a:extLst>
                  <a:ext uri="{0D108BD9-81ED-4DB2-BD59-A6C34878D82A}">
                    <a16:rowId xmlns:a16="http://schemas.microsoft.com/office/drawing/2014/main" val="10015"/>
                  </a:ext>
                </a:extLst>
              </a:tr>
              <a:tr h="161584">
                <a:tc>
                  <a:txBody>
                    <a:bodyPr/>
                    <a:lstStyle/>
                    <a:p>
                      <a:pPr algn="l">
                        <a:defRPr sz="1100" b="0">
                          <a:solidFill>
                            <a:srgbClr val="000000"/>
                          </a:solidFill>
                          <a:latin typeface="Montserrat"/>
                        </a:defRPr>
                      </a:pPr>
                      <a:r>
                        <a:t>Otorrinolaringología y Cirugía de Cabeza y Cuello</a:t>
                      </a:r>
                    </a:p>
                  </a:txBody>
                  <a:tcPr marL="45720" marR="45720" anchor="ctr">
                    <a:solidFill>
                      <a:srgbClr val="D9D9D9"/>
                    </a:solidFill>
                  </a:tcPr>
                </a:tc>
                <a:tc>
                  <a:txBody>
                    <a:bodyPr/>
                    <a:lstStyle/>
                    <a:p>
                      <a:pPr algn="ctr">
                        <a:defRPr sz="1100" b="0">
                          <a:solidFill>
                            <a:srgbClr val="000000"/>
                          </a:solidFill>
                          <a:latin typeface="Montserrat"/>
                        </a:defRPr>
                      </a:pPr>
                      <a:r>
                        <a:t>5</a:t>
                      </a:r>
                    </a:p>
                  </a:txBody>
                  <a:tcPr marL="45720" marR="45720" anchor="ctr">
                    <a:solidFill>
                      <a:srgbClr val="D9D9D9"/>
                    </a:solidFill>
                  </a:tcPr>
                </a:tc>
                <a:tc>
                  <a:txBody>
                    <a:bodyPr/>
                    <a:lstStyle/>
                    <a:p>
                      <a:pPr algn="ctr">
                        <a:defRPr sz="1100" b="1">
                          <a:solidFill>
                            <a:srgbClr val="000000"/>
                          </a:solidFill>
                          <a:latin typeface="Montserrat"/>
                        </a:defRPr>
                      </a:pPr>
                      <a:r>
                        <a:t>86.5%</a:t>
                      </a:r>
                    </a:p>
                  </a:txBody>
                  <a:tcPr marL="45720" marR="45720" anchor="ctr">
                    <a:solidFill>
                      <a:srgbClr val="D9D9D9"/>
                    </a:solidFill>
                  </a:tcPr>
                </a:tc>
                <a:extLst>
                  <a:ext uri="{0D108BD9-81ED-4DB2-BD59-A6C34878D82A}">
                    <a16:rowId xmlns:a16="http://schemas.microsoft.com/office/drawing/2014/main" val="10016"/>
                  </a:ext>
                </a:extLst>
              </a:tr>
              <a:tr h="161584">
                <a:tc>
                  <a:txBody>
                    <a:bodyPr/>
                    <a:lstStyle/>
                    <a:p>
                      <a:pPr algn="l">
                        <a:defRPr sz="1100" b="0">
                          <a:solidFill>
                            <a:srgbClr val="000000"/>
                          </a:solidFill>
                          <a:latin typeface="Montserrat"/>
                        </a:defRPr>
                      </a:pPr>
                      <a:r>
                        <a:t>Urología</a:t>
                      </a:r>
                    </a:p>
                  </a:txBody>
                  <a:tcPr marL="45720" marR="45720" anchor="ctr">
                    <a:solidFill>
                      <a:srgbClr val="FFFFFF"/>
                    </a:solidFill>
                  </a:tcPr>
                </a:tc>
                <a:tc>
                  <a:txBody>
                    <a:bodyPr/>
                    <a:lstStyle/>
                    <a:p>
                      <a:pPr algn="ctr">
                        <a:defRPr sz="1100" b="0">
                          <a:solidFill>
                            <a:srgbClr val="000000"/>
                          </a:solidFill>
                          <a:latin typeface="Montserrat"/>
                        </a:defRPr>
                      </a:pPr>
                      <a:r>
                        <a:t>5</a:t>
                      </a:r>
                    </a:p>
                  </a:txBody>
                  <a:tcPr marL="45720" marR="45720" anchor="ctr">
                    <a:solidFill>
                      <a:srgbClr val="FFFFFF"/>
                    </a:solidFill>
                  </a:tcPr>
                </a:tc>
                <a:tc>
                  <a:txBody>
                    <a:bodyPr/>
                    <a:lstStyle/>
                    <a:p>
                      <a:pPr algn="ctr">
                        <a:defRPr sz="1100" b="1">
                          <a:solidFill>
                            <a:srgbClr val="000000"/>
                          </a:solidFill>
                          <a:latin typeface="Montserrat"/>
                        </a:defRPr>
                      </a:pPr>
                      <a:r>
                        <a:t>87.5%</a:t>
                      </a:r>
                    </a:p>
                  </a:txBody>
                  <a:tcPr marL="45720" marR="45720" anchor="ctr">
                    <a:solidFill>
                      <a:srgbClr val="FFFFFF"/>
                    </a:solidFill>
                  </a:tcPr>
                </a:tc>
                <a:extLst>
                  <a:ext uri="{0D108BD9-81ED-4DB2-BD59-A6C34878D82A}">
                    <a16:rowId xmlns:a16="http://schemas.microsoft.com/office/drawing/2014/main" val="10017"/>
                  </a:ext>
                </a:extLst>
              </a:tr>
              <a:tr h="161584">
                <a:tc>
                  <a:txBody>
                    <a:bodyPr/>
                    <a:lstStyle/>
                    <a:p>
                      <a:pPr algn="l">
                        <a:defRPr sz="1100" b="0">
                          <a:solidFill>
                            <a:srgbClr val="000000"/>
                          </a:solidFill>
                          <a:latin typeface="Montserrat"/>
                        </a:defRPr>
                      </a:pPr>
                      <a:r>
                        <a:t>Medicina de Rehabilitación</a:t>
                      </a:r>
                    </a:p>
                  </a:txBody>
                  <a:tcPr marL="45720" marR="45720" anchor="ctr">
                    <a:solidFill>
                      <a:srgbClr val="D9D9D9"/>
                    </a:solidFill>
                  </a:tcPr>
                </a:tc>
                <a:tc>
                  <a:txBody>
                    <a:bodyPr/>
                    <a:lstStyle/>
                    <a:p>
                      <a:pPr algn="ctr">
                        <a:defRPr sz="1100" b="0">
                          <a:solidFill>
                            <a:srgbClr val="000000"/>
                          </a:solidFill>
                          <a:latin typeface="Montserrat"/>
                        </a:defRPr>
                      </a:pPr>
                      <a:r>
                        <a:t>5</a:t>
                      </a:r>
                    </a:p>
                  </a:txBody>
                  <a:tcPr marL="45720" marR="45720" anchor="ctr">
                    <a:solidFill>
                      <a:srgbClr val="D9D9D9"/>
                    </a:solidFill>
                  </a:tcPr>
                </a:tc>
                <a:tc>
                  <a:txBody>
                    <a:bodyPr/>
                    <a:lstStyle/>
                    <a:p>
                      <a:pPr algn="ctr">
                        <a:defRPr sz="1100" b="1">
                          <a:solidFill>
                            <a:srgbClr val="000000"/>
                          </a:solidFill>
                          <a:latin typeface="Montserrat"/>
                        </a:defRPr>
                      </a:pPr>
                      <a:r>
                        <a:t>88.5%</a:t>
                      </a:r>
                    </a:p>
                  </a:txBody>
                  <a:tcPr marL="45720" marR="45720" anchor="ctr">
                    <a:solidFill>
                      <a:srgbClr val="D9D9D9"/>
                    </a:solidFill>
                  </a:tcPr>
                </a:tc>
                <a:extLst>
                  <a:ext uri="{0D108BD9-81ED-4DB2-BD59-A6C34878D82A}">
                    <a16:rowId xmlns:a16="http://schemas.microsoft.com/office/drawing/2014/main" val="10018"/>
                  </a:ext>
                </a:extLst>
              </a:tr>
              <a:tr h="161584">
                <a:tc>
                  <a:txBody>
                    <a:bodyPr/>
                    <a:lstStyle/>
                    <a:p>
                      <a:pPr algn="l">
                        <a:defRPr sz="1100" b="0">
                          <a:solidFill>
                            <a:srgbClr val="000000"/>
                          </a:solidFill>
                          <a:latin typeface="Montserrat"/>
                        </a:defRPr>
                      </a:pPr>
                      <a:r>
                        <a:t>Servicios de Sangre</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89.3%</a:t>
                      </a:r>
                    </a:p>
                  </a:txBody>
                  <a:tcPr marL="45720" marR="45720" anchor="ctr">
                    <a:solidFill>
                      <a:srgbClr val="FFFFFF"/>
                    </a:solidFill>
                  </a:tcPr>
                </a:tc>
                <a:extLst>
                  <a:ext uri="{0D108BD9-81ED-4DB2-BD59-A6C34878D82A}">
                    <a16:rowId xmlns:a16="http://schemas.microsoft.com/office/drawing/2014/main" val="10019"/>
                  </a:ext>
                </a:extLst>
              </a:tr>
              <a:tr h="161584">
                <a:tc>
                  <a:txBody>
                    <a:bodyPr/>
                    <a:lstStyle/>
                    <a:p>
                      <a:pPr algn="l">
                        <a:defRPr sz="1100" b="0">
                          <a:solidFill>
                            <a:srgbClr val="000000"/>
                          </a:solidFill>
                          <a:latin typeface="Montserrat"/>
                        </a:defRPr>
                      </a:pPr>
                      <a:r>
                        <a:t>Alergia e Inmunología Clínica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89.9%</a:t>
                      </a:r>
                    </a:p>
                  </a:txBody>
                  <a:tcPr marL="45720" marR="45720" anchor="ctr">
                    <a:solidFill>
                      <a:srgbClr val="D9D9D9"/>
                    </a:solidFill>
                  </a:tcPr>
                </a:tc>
                <a:extLst>
                  <a:ext uri="{0D108BD9-81ED-4DB2-BD59-A6C34878D82A}">
                    <a16:rowId xmlns:a16="http://schemas.microsoft.com/office/drawing/2014/main" val="10020"/>
                  </a:ext>
                </a:extLst>
              </a:tr>
              <a:tr h="161584">
                <a:tc>
                  <a:txBody>
                    <a:bodyPr/>
                    <a:lstStyle/>
                    <a:p>
                      <a:pPr algn="l">
                        <a:defRPr sz="1100" b="0">
                          <a:solidFill>
                            <a:srgbClr val="000000"/>
                          </a:solidFill>
                          <a:latin typeface="Montserrat"/>
                        </a:defRPr>
                      </a:pPr>
                      <a:r>
                        <a:t>Neonatología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90.5%</a:t>
                      </a:r>
                    </a:p>
                  </a:txBody>
                  <a:tcPr marL="45720" marR="45720" anchor="ctr">
                    <a:solidFill>
                      <a:srgbClr val="FFFFFF"/>
                    </a:solidFill>
                  </a:tcPr>
                </a:tc>
                <a:extLst>
                  <a:ext uri="{0D108BD9-81ED-4DB2-BD59-A6C34878D82A}">
                    <a16:rowId xmlns:a16="http://schemas.microsoft.com/office/drawing/2014/main" val="10021"/>
                  </a:ext>
                </a:extLst>
              </a:tr>
              <a:tr h="161584">
                <a:tc>
                  <a:txBody>
                    <a:bodyPr/>
                    <a:lstStyle/>
                    <a:p>
                      <a:pPr algn="l">
                        <a:defRPr sz="1100" b="0">
                          <a:solidFill>
                            <a:srgbClr val="000000"/>
                          </a:solidFill>
                          <a:latin typeface="Montserrat"/>
                        </a:defRPr>
                      </a:pPr>
                      <a:r>
                        <a:t>Hematología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91.1%</a:t>
                      </a:r>
                    </a:p>
                  </a:txBody>
                  <a:tcPr marL="45720" marR="45720" anchor="ctr">
                    <a:solidFill>
                      <a:srgbClr val="D9D9D9"/>
                    </a:solidFill>
                  </a:tcPr>
                </a:tc>
                <a:extLst>
                  <a:ext uri="{0D108BD9-81ED-4DB2-BD59-A6C34878D82A}">
                    <a16:rowId xmlns:a16="http://schemas.microsoft.com/office/drawing/2014/main" val="10022"/>
                  </a:ext>
                </a:extLst>
              </a:tr>
              <a:tr h="161584">
                <a:tc>
                  <a:txBody>
                    <a:bodyPr/>
                    <a:lstStyle/>
                    <a:p>
                      <a:pPr algn="l">
                        <a:defRPr sz="1100" b="0">
                          <a:solidFill>
                            <a:srgbClr val="000000"/>
                          </a:solidFill>
                          <a:latin typeface="Montserrat"/>
                        </a:defRPr>
                      </a:pPr>
                      <a:r>
                        <a:t>Nefrología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91.7%</a:t>
                      </a:r>
                    </a:p>
                  </a:txBody>
                  <a:tcPr marL="45720" marR="45720" anchor="ctr">
                    <a:solidFill>
                      <a:srgbClr val="FFFFFF"/>
                    </a:solidFill>
                  </a:tcPr>
                </a:tc>
                <a:extLst>
                  <a:ext uri="{0D108BD9-81ED-4DB2-BD59-A6C34878D82A}">
                    <a16:rowId xmlns:a16="http://schemas.microsoft.com/office/drawing/2014/main" val="10023"/>
                  </a:ext>
                </a:extLst>
              </a:tr>
              <a:tr h="161584">
                <a:tc>
                  <a:txBody>
                    <a:bodyPr/>
                    <a:lstStyle/>
                    <a:p>
                      <a:pPr algn="l">
                        <a:defRPr sz="1100" b="0">
                          <a:solidFill>
                            <a:srgbClr val="000000"/>
                          </a:solidFill>
                          <a:latin typeface="Montserrat"/>
                        </a:defRPr>
                      </a:pPr>
                      <a:r>
                        <a:t>Neurología Pediátrica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92.1%</a:t>
                      </a:r>
                    </a:p>
                  </a:txBody>
                  <a:tcPr marL="45720" marR="45720" anchor="ctr">
                    <a:solidFill>
                      <a:srgbClr val="D9D9D9"/>
                    </a:solidFill>
                  </a:tcPr>
                </a:tc>
                <a:extLst>
                  <a:ext uri="{0D108BD9-81ED-4DB2-BD59-A6C34878D82A}">
                    <a16:rowId xmlns:a16="http://schemas.microsoft.com/office/drawing/2014/main" val="10024"/>
                  </a:ext>
                </a:extLst>
              </a:tr>
              <a:tr h="161600">
                <a:tc>
                  <a:txBody>
                    <a:bodyPr/>
                    <a:lstStyle/>
                    <a:p>
                      <a:pPr algn="l">
                        <a:defRPr sz="1100" b="0">
                          <a:solidFill>
                            <a:srgbClr val="000000"/>
                          </a:solidFill>
                          <a:latin typeface="Montserrat"/>
                        </a:defRPr>
                      </a:pPr>
                      <a:r>
                        <a:t>Patología Clínica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92.5%</a:t>
                      </a:r>
                    </a:p>
                  </a:txBody>
                  <a:tcPr marL="45720" marR="45720" anchor="ctr">
                    <a:solidFill>
                      <a:srgbClr val="FFFFFF"/>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5848076" cy="415498"/>
          </a:xfrm>
          <a:prstGeom prst="rect">
            <a:avLst/>
          </a:prstGeom>
          <a:noFill/>
        </p:spPr>
        <p:txBody>
          <a:bodyPr wrap="none">
            <a:spAutoFit/>
          </a:bodyPr>
          <a:lstStyle/>
          <a:p>
            <a:pPr algn="l">
              <a:defRPr sz="2100" b="1">
                <a:solidFill>
                  <a:srgbClr val="BC955C"/>
                </a:solidFill>
                <a:latin typeface="Montserrat"/>
              </a:defRPr>
            </a:pPr>
            <a:r>
              <a:rPr dirty="0" err="1"/>
              <a:t>Contrataciones</a:t>
            </a:r>
            <a:r>
              <a:rPr dirty="0"/>
              <a:t> por </a:t>
            </a:r>
            <a:r>
              <a:rPr dirty="0" err="1"/>
              <a:t>especialidad</a:t>
            </a:r>
            <a:r>
              <a:rPr lang="es-MX" dirty="0"/>
              <a:t> (2 de 2)</a:t>
            </a:r>
            <a:endParaRPr dirty="0"/>
          </a:p>
        </p:txBody>
      </p:sp>
      <p:cxnSp>
        <p:nvCxnSpPr>
          <p:cNvPr id="4" name="Connector 3"/>
          <p:cNvCxnSpPr/>
          <p:nvPr/>
        </p:nvCxnSpPr>
        <p:spPr>
          <a:xfrm>
            <a:off x="223200" y="1139097"/>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860944166"/>
              </p:ext>
            </p:extLst>
          </p:nvPr>
        </p:nvGraphicFramePr>
        <p:xfrm>
          <a:off x="1008000" y="1166393"/>
          <a:ext cx="5756399" cy="734400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80944">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238643">
                <a:tc>
                  <a:txBody>
                    <a:bodyPr/>
                    <a:lstStyle/>
                    <a:p>
                      <a:pPr algn="l">
                        <a:defRPr sz="1100" b="0">
                          <a:solidFill>
                            <a:srgbClr val="000000"/>
                          </a:solidFill>
                          <a:latin typeface="Montserrat"/>
                        </a:defRPr>
                      </a:pPr>
                      <a:r>
                        <a:t>Reumatología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92.9%</a:t>
                      </a:r>
                    </a:p>
                  </a:txBody>
                  <a:tcPr marL="45720" marR="45720" anchor="ctr">
                    <a:solidFill>
                      <a:srgbClr val="D9D9D9"/>
                    </a:solidFill>
                  </a:tcPr>
                </a:tc>
                <a:extLst>
                  <a:ext uri="{0D108BD9-81ED-4DB2-BD59-A6C34878D82A}">
                    <a16:rowId xmlns:a16="http://schemas.microsoft.com/office/drawing/2014/main" val="10001"/>
                  </a:ext>
                </a:extLst>
              </a:tr>
              <a:tr h="238643">
                <a:tc>
                  <a:txBody>
                    <a:bodyPr/>
                    <a:lstStyle/>
                    <a:p>
                      <a:pPr algn="l">
                        <a:defRPr sz="1100" b="0">
                          <a:solidFill>
                            <a:srgbClr val="000000"/>
                          </a:solidFill>
                          <a:latin typeface="Montserrat"/>
                        </a:defRPr>
                      </a:pPr>
                      <a:r>
                        <a:t>Oncología Médica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93.3%</a:t>
                      </a:r>
                    </a:p>
                  </a:txBody>
                  <a:tcPr marL="45720" marR="45720" anchor="ctr">
                    <a:solidFill>
                      <a:srgbClr val="FFFFFF"/>
                    </a:solidFill>
                  </a:tcPr>
                </a:tc>
                <a:extLst>
                  <a:ext uri="{0D108BD9-81ED-4DB2-BD59-A6C34878D82A}">
                    <a16:rowId xmlns:a16="http://schemas.microsoft.com/office/drawing/2014/main" val="10002"/>
                  </a:ext>
                </a:extLst>
              </a:tr>
              <a:tr h="238643">
                <a:tc>
                  <a:txBody>
                    <a:bodyPr/>
                    <a:lstStyle/>
                    <a:p>
                      <a:pPr algn="l">
                        <a:defRPr sz="1100" b="0">
                          <a:solidFill>
                            <a:srgbClr val="000000"/>
                          </a:solidFill>
                          <a:latin typeface="Montserrat"/>
                        </a:defRPr>
                      </a:pPr>
                      <a:r>
                        <a:t>Neurología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93.7%</a:t>
                      </a:r>
                    </a:p>
                  </a:txBody>
                  <a:tcPr marL="45720" marR="45720" anchor="ctr">
                    <a:solidFill>
                      <a:srgbClr val="D9D9D9"/>
                    </a:solidFill>
                  </a:tcPr>
                </a:tc>
                <a:extLst>
                  <a:ext uri="{0D108BD9-81ED-4DB2-BD59-A6C34878D82A}">
                    <a16:rowId xmlns:a16="http://schemas.microsoft.com/office/drawing/2014/main" val="10003"/>
                  </a:ext>
                </a:extLst>
              </a:tr>
              <a:tr h="238643">
                <a:tc>
                  <a:txBody>
                    <a:bodyPr/>
                    <a:lstStyle/>
                    <a:p>
                      <a:pPr algn="l">
                        <a:defRPr sz="1100" b="0">
                          <a:solidFill>
                            <a:srgbClr val="000000"/>
                          </a:solidFill>
                          <a:latin typeface="Montserrat"/>
                        </a:defRPr>
                      </a:pPr>
                      <a:r>
                        <a:t>Anatomía Patológica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94.1%</a:t>
                      </a:r>
                    </a:p>
                  </a:txBody>
                  <a:tcPr marL="45720" marR="45720" anchor="ctr">
                    <a:solidFill>
                      <a:srgbClr val="FFFFFF"/>
                    </a:solidFill>
                  </a:tcPr>
                </a:tc>
                <a:extLst>
                  <a:ext uri="{0D108BD9-81ED-4DB2-BD59-A6C34878D82A}">
                    <a16:rowId xmlns:a16="http://schemas.microsoft.com/office/drawing/2014/main" val="10004"/>
                  </a:ext>
                </a:extLst>
              </a:tr>
              <a:tr h="238643">
                <a:tc>
                  <a:txBody>
                    <a:bodyPr/>
                    <a:lstStyle/>
                    <a:p>
                      <a:pPr algn="l">
                        <a:defRPr sz="1100" b="0">
                          <a:solidFill>
                            <a:srgbClr val="000000"/>
                          </a:solidFill>
                          <a:latin typeface="Montserrat"/>
                        </a:defRPr>
                      </a:pPr>
                      <a:r>
                        <a:t>Coloproctología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94.5%</a:t>
                      </a:r>
                    </a:p>
                  </a:txBody>
                  <a:tcPr marL="45720" marR="45720" anchor="ctr">
                    <a:solidFill>
                      <a:srgbClr val="D9D9D9"/>
                    </a:solidFill>
                  </a:tcPr>
                </a:tc>
                <a:extLst>
                  <a:ext uri="{0D108BD9-81ED-4DB2-BD59-A6C34878D82A}">
                    <a16:rowId xmlns:a16="http://schemas.microsoft.com/office/drawing/2014/main" val="10005"/>
                  </a:ext>
                </a:extLst>
              </a:tr>
              <a:tr h="238643">
                <a:tc>
                  <a:txBody>
                    <a:bodyPr/>
                    <a:lstStyle/>
                    <a:p>
                      <a:pPr algn="l">
                        <a:defRPr sz="1100" b="0">
                          <a:solidFill>
                            <a:srgbClr val="000000"/>
                          </a:solidFill>
                          <a:latin typeface="Montserrat"/>
                        </a:defRPr>
                      </a:pPr>
                      <a:r>
                        <a:t>Cirugía Pediátrica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94.9%</a:t>
                      </a:r>
                    </a:p>
                  </a:txBody>
                  <a:tcPr marL="45720" marR="45720" anchor="ctr">
                    <a:solidFill>
                      <a:srgbClr val="FFFFFF"/>
                    </a:solidFill>
                  </a:tcPr>
                </a:tc>
                <a:extLst>
                  <a:ext uri="{0D108BD9-81ED-4DB2-BD59-A6C34878D82A}">
                    <a16:rowId xmlns:a16="http://schemas.microsoft.com/office/drawing/2014/main" val="10006"/>
                  </a:ext>
                </a:extLst>
              </a:tr>
              <a:tr h="238643">
                <a:tc>
                  <a:txBody>
                    <a:bodyPr/>
                    <a:lstStyle/>
                    <a:p>
                      <a:pPr algn="l">
                        <a:defRPr sz="1100" b="0">
                          <a:solidFill>
                            <a:srgbClr val="000000"/>
                          </a:solidFill>
                          <a:latin typeface="Montserrat"/>
                        </a:defRPr>
                      </a:pPr>
                      <a:r>
                        <a:t>Cirugía Oncológica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95.3%</a:t>
                      </a:r>
                    </a:p>
                  </a:txBody>
                  <a:tcPr marL="45720" marR="45720" anchor="ctr">
                    <a:solidFill>
                      <a:srgbClr val="D9D9D9"/>
                    </a:solidFill>
                  </a:tcPr>
                </a:tc>
                <a:extLst>
                  <a:ext uri="{0D108BD9-81ED-4DB2-BD59-A6C34878D82A}">
                    <a16:rowId xmlns:a16="http://schemas.microsoft.com/office/drawing/2014/main" val="10007"/>
                  </a:ext>
                </a:extLst>
              </a:tr>
              <a:tr h="238643">
                <a:tc>
                  <a:txBody>
                    <a:bodyPr/>
                    <a:lstStyle/>
                    <a:p>
                      <a:pPr algn="l">
                        <a:defRPr sz="1100" b="0">
                          <a:solidFill>
                            <a:srgbClr val="000000"/>
                          </a:solidFill>
                          <a:latin typeface="Montserrat"/>
                        </a:defRPr>
                      </a:pPr>
                      <a:r>
                        <a:t>Neurocirugía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95.7%</a:t>
                      </a:r>
                    </a:p>
                  </a:txBody>
                  <a:tcPr marL="45720" marR="45720" anchor="ctr">
                    <a:solidFill>
                      <a:srgbClr val="FFFFFF"/>
                    </a:solidFill>
                  </a:tcPr>
                </a:tc>
                <a:extLst>
                  <a:ext uri="{0D108BD9-81ED-4DB2-BD59-A6C34878D82A}">
                    <a16:rowId xmlns:a16="http://schemas.microsoft.com/office/drawing/2014/main" val="10008"/>
                  </a:ext>
                </a:extLst>
              </a:tr>
              <a:tr h="238643">
                <a:tc>
                  <a:txBody>
                    <a:bodyPr/>
                    <a:lstStyle/>
                    <a:p>
                      <a:pPr algn="l">
                        <a:defRPr sz="1100" b="0">
                          <a:solidFill>
                            <a:srgbClr val="000000"/>
                          </a:solidFill>
                          <a:latin typeface="Montserrat"/>
                        </a:defRPr>
                      </a:pPr>
                      <a:r>
                        <a:t>Cirugía Plástica y Reconstructiva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96.1%</a:t>
                      </a:r>
                    </a:p>
                  </a:txBody>
                  <a:tcPr marL="45720" marR="45720" anchor="ctr">
                    <a:solidFill>
                      <a:srgbClr val="D9D9D9"/>
                    </a:solidFill>
                  </a:tcPr>
                </a:tc>
                <a:extLst>
                  <a:ext uri="{0D108BD9-81ED-4DB2-BD59-A6C34878D82A}">
                    <a16:rowId xmlns:a16="http://schemas.microsoft.com/office/drawing/2014/main" val="10009"/>
                  </a:ext>
                </a:extLst>
              </a:tr>
              <a:tr h="238643">
                <a:tc>
                  <a:txBody>
                    <a:bodyPr/>
                    <a:lstStyle/>
                    <a:p>
                      <a:pPr algn="l">
                        <a:defRPr sz="1100" b="0">
                          <a:solidFill>
                            <a:srgbClr val="000000"/>
                          </a:solidFill>
                          <a:latin typeface="Montserrat"/>
                        </a:defRPr>
                      </a:pPr>
                      <a:r>
                        <a:t>Neumología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96.5%</a:t>
                      </a:r>
                    </a:p>
                  </a:txBody>
                  <a:tcPr marL="45720" marR="45720" anchor="ctr">
                    <a:solidFill>
                      <a:srgbClr val="FFFFFF"/>
                    </a:solidFill>
                  </a:tcPr>
                </a:tc>
                <a:extLst>
                  <a:ext uri="{0D108BD9-81ED-4DB2-BD59-A6C34878D82A}">
                    <a16:rowId xmlns:a16="http://schemas.microsoft.com/office/drawing/2014/main" val="10010"/>
                  </a:ext>
                </a:extLst>
              </a:tr>
              <a:tr h="393058">
                <a:tc>
                  <a:txBody>
                    <a:bodyPr/>
                    <a:lstStyle/>
                    <a:p>
                      <a:pPr algn="l">
                        <a:defRPr sz="1100" b="0">
                          <a:solidFill>
                            <a:srgbClr val="000000"/>
                          </a:solidFill>
                          <a:latin typeface="Montserrat"/>
                        </a:defRPr>
                      </a:pPr>
                      <a:r>
                        <a:t>Alergia e Inmunología Clínica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96.7%</a:t>
                      </a:r>
                    </a:p>
                  </a:txBody>
                  <a:tcPr marL="45720" marR="45720" anchor="ctr">
                    <a:solidFill>
                      <a:srgbClr val="D9D9D9"/>
                    </a:solidFill>
                  </a:tcPr>
                </a:tc>
                <a:extLst>
                  <a:ext uri="{0D108BD9-81ED-4DB2-BD59-A6C34878D82A}">
                    <a16:rowId xmlns:a16="http://schemas.microsoft.com/office/drawing/2014/main" val="10011"/>
                  </a:ext>
                </a:extLst>
              </a:tr>
              <a:tr h="238643">
                <a:tc>
                  <a:txBody>
                    <a:bodyPr/>
                    <a:lstStyle/>
                    <a:p>
                      <a:pPr algn="l">
                        <a:defRPr sz="1100" b="0">
                          <a:solidFill>
                            <a:srgbClr val="000000"/>
                          </a:solidFill>
                          <a:latin typeface="Montserrat"/>
                        </a:defRPr>
                      </a:pPr>
                      <a:r>
                        <a:t>Genética Médica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96.9%</a:t>
                      </a:r>
                    </a:p>
                  </a:txBody>
                  <a:tcPr marL="45720" marR="45720" anchor="ctr">
                    <a:solidFill>
                      <a:srgbClr val="FFFFFF"/>
                    </a:solidFill>
                  </a:tcPr>
                </a:tc>
                <a:extLst>
                  <a:ext uri="{0D108BD9-81ED-4DB2-BD59-A6C34878D82A}">
                    <a16:rowId xmlns:a16="http://schemas.microsoft.com/office/drawing/2014/main" val="10012"/>
                  </a:ext>
                </a:extLst>
              </a:tr>
              <a:tr h="238643">
                <a:tc>
                  <a:txBody>
                    <a:bodyPr/>
                    <a:lstStyle/>
                    <a:p>
                      <a:pPr algn="l">
                        <a:defRPr sz="1100" b="0">
                          <a:solidFill>
                            <a:srgbClr val="000000"/>
                          </a:solidFill>
                          <a:latin typeface="Montserrat"/>
                        </a:defRPr>
                      </a:pPr>
                      <a:r>
                        <a:t>Endoscopia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97.1%</a:t>
                      </a:r>
                    </a:p>
                  </a:txBody>
                  <a:tcPr marL="45720" marR="45720" anchor="ctr">
                    <a:solidFill>
                      <a:srgbClr val="D9D9D9"/>
                    </a:solidFill>
                  </a:tcPr>
                </a:tc>
                <a:extLst>
                  <a:ext uri="{0D108BD9-81ED-4DB2-BD59-A6C34878D82A}">
                    <a16:rowId xmlns:a16="http://schemas.microsoft.com/office/drawing/2014/main" val="10013"/>
                  </a:ext>
                </a:extLst>
              </a:tr>
              <a:tr h="238643">
                <a:tc>
                  <a:txBody>
                    <a:bodyPr/>
                    <a:lstStyle/>
                    <a:p>
                      <a:pPr algn="l">
                        <a:defRPr sz="1100" b="0">
                          <a:solidFill>
                            <a:srgbClr val="000000"/>
                          </a:solidFill>
                          <a:latin typeface="Montserrat"/>
                        </a:defRPr>
                      </a:pPr>
                      <a:r>
                        <a:t>Endocrinología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97.3%</a:t>
                      </a:r>
                    </a:p>
                  </a:txBody>
                  <a:tcPr marL="45720" marR="45720" anchor="ctr">
                    <a:solidFill>
                      <a:srgbClr val="FFFFFF"/>
                    </a:solidFill>
                  </a:tcPr>
                </a:tc>
                <a:extLst>
                  <a:ext uri="{0D108BD9-81ED-4DB2-BD59-A6C34878D82A}">
                    <a16:rowId xmlns:a16="http://schemas.microsoft.com/office/drawing/2014/main" val="10014"/>
                  </a:ext>
                </a:extLst>
              </a:tr>
              <a:tr h="238643">
                <a:tc>
                  <a:txBody>
                    <a:bodyPr/>
                    <a:lstStyle/>
                    <a:p>
                      <a:pPr algn="l">
                        <a:defRPr sz="1100" b="0">
                          <a:solidFill>
                            <a:srgbClr val="000000"/>
                          </a:solidFill>
                          <a:latin typeface="Montserrat"/>
                        </a:defRPr>
                      </a:pPr>
                      <a:r>
                        <a:t>Anestesiología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97.5%</a:t>
                      </a:r>
                    </a:p>
                  </a:txBody>
                  <a:tcPr marL="45720" marR="45720" anchor="ctr">
                    <a:solidFill>
                      <a:srgbClr val="D9D9D9"/>
                    </a:solidFill>
                  </a:tcPr>
                </a:tc>
                <a:extLst>
                  <a:ext uri="{0D108BD9-81ED-4DB2-BD59-A6C34878D82A}">
                    <a16:rowId xmlns:a16="http://schemas.microsoft.com/office/drawing/2014/main" val="10015"/>
                  </a:ext>
                </a:extLst>
              </a:tr>
              <a:tr h="393058">
                <a:tc>
                  <a:txBody>
                    <a:bodyPr/>
                    <a:lstStyle/>
                    <a:p>
                      <a:pPr algn="l">
                        <a:defRPr sz="1100" b="0">
                          <a:solidFill>
                            <a:srgbClr val="000000"/>
                          </a:solidFill>
                          <a:latin typeface="Montserrat"/>
                        </a:defRPr>
                      </a:pPr>
                      <a:r>
                        <a:t>Audiología Otoneurología y Foniatría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97.7%</a:t>
                      </a:r>
                    </a:p>
                  </a:txBody>
                  <a:tcPr marL="45720" marR="45720" anchor="ctr">
                    <a:solidFill>
                      <a:srgbClr val="FFFFFF"/>
                    </a:solidFill>
                  </a:tcPr>
                </a:tc>
                <a:extLst>
                  <a:ext uri="{0D108BD9-81ED-4DB2-BD59-A6C34878D82A}">
                    <a16:rowId xmlns:a16="http://schemas.microsoft.com/office/drawing/2014/main" val="10016"/>
                  </a:ext>
                </a:extLst>
              </a:tr>
              <a:tr h="238643">
                <a:tc>
                  <a:txBody>
                    <a:bodyPr/>
                    <a:lstStyle/>
                    <a:p>
                      <a:pPr algn="l">
                        <a:defRPr sz="1100" b="0">
                          <a:solidFill>
                            <a:srgbClr val="000000"/>
                          </a:solidFill>
                          <a:latin typeface="Montserrat"/>
                        </a:defRPr>
                      </a:pPr>
                      <a:r>
                        <a:t>Angiología y Cirugía Vascular</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97.9%</a:t>
                      </a:r>
                    </a:p>
                  </a:txBody>
                  <a:tcPr marL="45720" marR="45720" anchor="ctr">
                    <a:solidFill>
                      <a:srgbClr val="D9D9D9"/>
                    </a:solidFill>
                  </a:tcPr>
                </a:tc>
                <a:extLst>
                  <a:ext uri="{0D108BD9-81ED-4DB2-BD59-A6C34878D82A}">
                    <a16:rowId xmlns:a16="http://schemas.microsoft.com/office/drawing/2014/main" val="10017"/>
                  </a:ext>
                </a:extLst>
              </a:tr>
              <a:tr h="238643">
                <a:tc>
                  <a:txBody>
                    <a:bodyPr/>
                    <a:lstStyle/>
                    <a:p>
                      <a:pPr algn="l">
                        <a:defRPr sz="1100" b="0">
                          <a:solidFill>
                            <a:srgbClr val="000000"/>
                          </a:solidFill>
                          <a:latin typeface="Montserrat"/>
                        </a:defRPr>
                      </a:pPr>
                      <a:r>
                        <a:t>Cirugía Cardiotorácica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98.1%</a:t>
                      </a:r>
                    </a:p>
                  </a:txBody>
                  <a:tcPr marL="45720" marR="45720" anchor="ctr">
                    <a:solidFill>
                      <a:srgbClr val="FFFFFF"/>
                    </a:solidFill>
                  </a:tcPr>
                </a:tc>
                <a:extLst>
                  <a:ext uri="{0D108BD9-81ED-4DB2-BD59-A6C34878D82A}">
                    <a16:rowId xmlns:a16="http://schemas.microsoft.com/office/drawing/2014/main" val="10018"/>
                  </a:ext>
                </a:extLst>
              </a:tr>
              <a:tr h="238643">
                <a:tc>
                  <a:txBody>
                    <a:bodyPr/>
                    <a:lstStyle/>
                    <a:p>
                      <a:pPr algn="l">
                        <a:defRPr sz="1100" b="0">
                          <a:solidFill>
                            <a:srgbClr val="000000"/>
                          </a:solidFill>
                          <a:latin typeface="Montserrat"/>
                        </a:defRPr>
                      </a:pPr>
                      <a:r>
                        <a:t>Cardiología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98.3%</a:t>
                      </a:r>
                    </a:p>
                  </a:txBody>
                  <a:tcPr marL="45720" marR="45720" anchor="ctr">
                    <a:solidFill>
                      <a:srgbClr val="D9D9D9"/>
                    </a:solidFill>
                  </a:tcPr>
                </a:tc>
                <a:extLst>
                  <a:ext uri="{0D108BD9-81ED-4DB2-BD59-A6C34878D82A}">
                    <a16:rowId xmlns:a16="http://schemas.microsoft.com/office/drawing/2014/main" val="10019"/>
                  </a:ext>
                </a:extLst>
              </a:tr>
              <a:tr h="393058">
                <a:tc>
                  <a:txBody>
                    <a:bodyPr/>
                    <a:lstStyle/>
                    <a:p>
                      <a:pPr algn="l">
                        <a:defRPr sz="1100" b="0">
                          <a:solidFill>
                            <a:srgbClr val="000000"/>
                          </a:solidFill>
                          <a:latin typeface="Montserrat"/>
                        </a:defRPr>
                      </a:pPr>
                      <a:r>
                        <a:t>Medicina del Enfermo Pediátrico en Estado Crítico</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98.5%</a:t>
                      </a:r>
                    </a:p>
                  </a:txBody>
                  <a:tcPr marL="45720" marR="45720" anchor="ctr">
                    <a:solidFill>
                      <a:srgbClr val="FFFFFF"/>
                    </a:solidFill>
                  </a:tcPr>
                </a:tc>
                <a:extLst>
                  <a:ext uri="{0D108BD9-81ED-4DB2-BD59-A6C34878D82A}">
                    <a16:rowId xmlns:a16="http://schemas.microsoft.com/office/drawing/2014/main" val="10020"/>
                  </a:ext>
                </a:extLst>
              </a:tr>
              <a:tr h="393058">
                <a:tc>
                  <a:txBody>
                    <a:bodyPr/>
                    <a:lstStyle/>
                    <a:p>
                      <a:pPr algn="l">
                        <a:defRPr sz="1100" b="0">
                          <a:solidFill>
                            <a:srgbClr val="000000"/>
                          </a:solidFill>
                          <a:latin typeface="Montserrat"/>
                        </a:defRPr>
                      </a:pPr>
                      <a:r>
                        <a:t>Medicina Nuclear e Imagenología Molecular</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98.7%</a:t>
                      </a:r>
                    </a:p>
                  </a:txBody>
                  <a:tcPr marL="45720" marR="45720" anchor="ctr">
                    <a:solidFill>
                      <a:srgbClr val="D9D9D9"/>
                    </a:solidFill>
                  </a:tcPr>
                </a:tc>
                <a:extLst>
                  <a:ext uri="{0D108BD9-81ED-4DB2-BD59-A6C34878D82A}">
                    <a16:rowId xmlns:a16="http://schemas.microsoft.com/office/drawing/2014/main" val="10021"/>
                  </a:ext>
                </a:extLst>
              </a:tr>
              <a:tr h="238643">
                <a:tc>
                  <a:txBody>
                    <a:bodyPr/>
                    <a:lstStyle/>
                    <a:p>
                      <a:pPr algn="l">
                        <a:defRPr sz="1100" b="0">
                          <a:solidFill>
                            <a:srgbClr val="000000"/>
                          </a:solidFill>
                          <a:latin typeface="Montserrat"/>
                        </a:defRPr>
                      </a:pPr>
                      <a:r>
                        <a:t>Medicina Paliativa y del Dolor</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98.9%</a:t>
                      </a:r>
                    </a:p>
                  </a:txBody>
                  <a:tcPr marL="45720" marR="45720" anchor="ctr">
                    <a:solidFill>
                      <a:srgbClr val="FFFFFF"/>
                    </a:solidFill>
                  </a:tcPr>
                </a:tc>
                <a:extLst>
                  <a:ext uri="{0D108BD9-81ED-4DB2-BD59-A6C34878D82A}">
                    <a16:rowId xmlns:a16="http://schemas.microsoft.com/office/drawing/2014/main" val="10022"/>
                  </a:ext>
                </a:extLst>
              </a:tr>
              <a:tr h="238643">
                <a:tc>
                  <a:txBody>
                    <a:bodyPr/>
                    <a:lstStyle/>
                    <a:p>
                      <a:pPr algn="l">
                        <a:defRPr sz="1100" b="0">
                          <a:solidFill>
                            <a:srgbClr val="000000"/>
                          </a:solidFill>
                          <a:latin typeface="Montserrat"/>
                        </a:defRPr>
                      </a:pPr>
                      <a:r>
                        <a:t>Infectología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99.1%</a:t>
                      </a:r>
                    </a:p>
                  </a:txBody>
                  <a:tcPr marL="45720" marR="45720" anchor="ctr">
                    <a:solidFill>
                      <a:srgbClr val="D9D9D9"/>
                    </a:solidFill>
                  </a:tcPr>
                </a:tc>
                <a:extLst>
                  <a:ext uri="{0D108BD9-81ED-4DB2-BD59-A6C34878D82A}">
                    <a16:rowId xmlns:a16="http://schemas.microsoft.com/office/drawing/2014/main" val="10023"/>
                  </a:ext>
                </a:extLst>
              </a:tr>
              <a:tr h="238643">
                <a:tc>
                  <a:txBody>
                    <a:bodyPr/>
                    <a:lstStyle/>
                    <a:p>
                      <a:pPr algn="l">
                        <a:defRPr sz="1100" b="0">
                          <a:solidFill>
                            <a:srgbClr val="000000"/>
                          </a:solidFill>
                          <a:latin typeface="Montserrat"/>
                        </a:defRPr>
                      </a:pPr>
                      <a:r>
                        <a:t>Laboratorio de Análisis Clínicos</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99.3%</a:t>
                      </a:r>
                    </a:p>
                  </a:txBody>
                  <a:tcPr marL="45720" marR="45720" anchor="ctr">
                    <a:solidFill>
                      <a:srgbClr val="FFFFFF"/>
                    </a:solidFill>
                  </a:tcPr>
                </a:tc>
                <a:extLst>
                  <a:ext uri="{0D108BD9-81ED-4DB2-BD59-A6C34878D82A}">
                    <a16:rowId xmlns:a16="http://schemas.microsoft.com/office/drawing/2014/main" val="10024"/>
                  </a:ext>
                </a:extLst>
              </a:tr>
              <a:tr h="238643">
                <a:tc>
                  <a:txBody>
                    <a:bodyPr/>
                    <a:lstStyle/>
                    <a:p>
                      <a:pPr algn="l">
                        <a:defRPr sz="1100" b="0">
                          <a:solidFill>
                            <a:srgbClr val="000000"/>
                          </a:solidFill>
                          <a:latin typeface="Montserrat"/>
                        </a:defRPr>
                      </a:pPr>
                      <a:r>
                        <a:t>Hematología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rPr dirty="0"/>
                        <a:t>99.5%</a:t>
                      </a:r>
                    </a:p>
                  </a:txBody>
                  <a:tcPr marL="45720" marR="45720" anchor="ctr">
                    <a:solidFill>
                      <a:srgbClr val="D9D9D9"/>
                    </a:solidFill>
                  </a:tcPr>
                </a:tc>
                <a:extLst>
                  <a:ext uri="{0D108BD9-81ED-4DB2-BD59-A6C34878D82A}">
                    <a16:rowId xmlns:a16="http://schemas.microsoft.com/office/drawing/2014/main" val="10025"/>
                  </a:ext>
                </a:extLst>
              </a:tr>
            </a:tbl>
          </a:graphicData>
        </a:graphic>
      </p:graphicFrame>
      <p:graphicFrame>
        <p:nvGraphicFramePr>
          <p:cNvPr id="6" name="Table 4"/>
          <p:cNvGraphicFramePr>
            <a:graphicFrameLocks noGrp="1"/>
          </p:cNvGraphicFramePr>
          <p:nvPr>
            <p:extLst>
              <p:ext uri="{D42A27DB-BD31-4B8C-83A1-F6EECF244321}">
                <p14:modId xmlns:p14="http://schemas.microsoft.com/office/powerpoint/2010/main" val="3356524994"/>
              </p:ext>
            </p:extLst>
          </p:nvPr>
        </p:nvGraphicFramePr>
        <p:xfrm>
          <a:off x="1007999" y="8460007"/>
          <a:ext cx="5756399" cy="77724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209801">
                <a:tc>
                  <a:txBody>
                    <a:bodyPr/>
                    <a:lstStyle/>
                    <a:p>
                      <a:pPr algn="l">
                        <a:defRPr sz="1100" b="0">
                          <a:solidFill>
                            <a:srgbClr val="000000"/>
                          </a:solidFill>
                          <a:latin typeface="Montserrat"/>
                        </a:defRPr>
                      </a:pPr>
                      <a:r>
                        <a:rPr dirty="0" err="1"/>
                        <a:t>Radioncología</a:t>
                      </a:r>
                      <a:r>
                        <a:rPr dirty="0"/>
                        <a:t> Directa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rPr dirty="0"/>
                        <a:t>99.7%</a:t>
                      </a:r>
                    </a:p>
                  </a:txBody>
                  <a:tcPr marL="45720" marR="45720" anchor="ctr">
                    <a:solidFill>
                      <a:srgbClr val="FFFFFF"/>
                    </a:solidFill>
                  </a:tcPr>
                </a:tc>
                <a:extLst>
                  <a:ext uri="{0D108BD9-81ED-4DB2-BD59-A6C34878D82A}">
                    <a16:rowId xmlns:a16="http://schemas.microsoft.com/office/drawing/2014/main" val="10001"/>
                  </a:ext>
                </a:extLst>
              </a:tr>
              <a:tr h="209801">
                <a:tc>
                  <a:txBody>
                    <a:bodyPr/>
                    <a:lstStyle/>
                    <a:p>
                      <a:pPr algn="l">
                        <a:defRPr sz="1100" b="0">
                          <a:solidFill>
                            <a:srgbClr val="000000"/>
                          </a:solidFill>
                          <a:latin typeface="Montserrat"/>
                        </a:defRPr>
                      </a:pPr>
                      <a:r>
                        <a:t>Psiquiatría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100.0%</a:t>
                      </a:r>
                    </a:p>
                  </a:txBody>
                  <a:tcPr marL="45720" marR="45720" anchor="ctr">
                    <a:solidFill>
                      <a:srgbClr val="D9D9D9"/>
                    </a:solidFill>
                  </a:tcPr>
                </a:tc>
                <a:extLst>
                  <a:ext uri="{0D108BD9-81ED-4DB2-BD59-A6C34878D82A}">
                    <a16:rowId xmlns:a16="http://schemas.microsoft.com/office/drawing/2014/main" val="10002"/>
                  </a:ext>
                </a:extLst>
              </a:tr>
              <a:tr h="209801">
                <a:tc>
                  <a:txBody>
                    <a:bodyPr/>
                    <a:lstStyle/>
                    <a:p>
                      <a:pPr algn="l">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498</a:t>
                      </a:r>
                    </a:p>
                  </a:txBody>
                  <a:tcPr marL="45720" marR="45720" anchor="ctr">
                    <a:solidFill>
                      <a:srgbClr val="CBE6E1"/>
                    </a:solidFill>
                  </a:tcPr>
                </a:tc>
                <a:tc>
                  <a:txBody>
                    <a:bodyPr/>
                    <a:lstStyle/>
                    <a:p>
                      <a:pPr algn="ctr">
                        <a:defRPr sz="1100" b="1">
                          <a:solidFill>
                            <a:srgbClr val="006455"/>
                          </a:solidFill>
                          <a:latin typeface="Montserrat"/>
                        </a:defRPr>
                      </a:pPr>
                      <a:r>
                        <a:rPr dirty="0"/>
                        <a:t>100.0%</a:t>
                      </a:r>
                    </a:p>
                  </a:txBody>
                  <a:tcPr marL="45720" marR="45720" anchor="ctr">
                    <a:solidFill>
                      <a:srgbClr val="CBE6E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94EDEE1-9138-38CB-735A-E5A11EE0B749}"/>
              </a:ext>
            </a:extLst>
          </p:cNvPr>
          <p:cNvGraphicFramePr/>
          <p:nvPr>
            <p:extLst>
              <p:ext uri="{D42A27DB-BD31-4B8C-83A1-F6EECF244321}">
                <p14:modId xmlns:p14="http://schemas.microsoft.com/office/powerpoint/2010/main" val="4110112156"/>
              </p:ext>
            </p:extLst>
          </p:nvPr>
        </p:nvGraphicFramePr>
        <p:xfrm>
          <a:off x="143525" y="6519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4" name="TextBox 3"/>
          <p:cNvSpPr txBox="1"/>
          <p:nvPr/>
        </p:nvSpPr>
        <p:spPr>
          <a:xfrm>
            <a:off x="4257175" y="4072105"/>
            <a:ext cx="3103800" cy="123111"/>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Corte de información: </a:t>
            </a:r>
            <a:r>
              <a:rPr dirty="0" err="1">
                <a:solidFill>
                  <a:schemeClr val="tx1"/>
                </a:solidFill>
              </a:rPr>
              <a:t>semana</a:t>
            </a:r>
            <a:r>
              <a:rPr dirty="0">
                <a:solidFill>
                  <a:schemeClr val="tx1"/>
                </a:solidFill>
              </a:rPr>
              <a:t> 24, 7 </a:t>
            </a:r>
            <a:r>
              <a:rPr dirty="0" err="1">
                <a:solidFill>
                  <a:schemeClr val="tx1"/>
                </a:solidFill>
              </a:rPr>
              <a:t>junio</a:t>
            </a:r>
            <a:r>
              <a:rPr dirty="0">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310176544"/>
              </p:ext>
            </p:extLst>
          </p:nvPr>
        </p:nvGraphicFramePr>
        <p:xfrm>
          <a:off x="246601" y="1396850"/>
          <a:ext cx="3639599" cy="34290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rPr dirty="0"/>
                        <a:t>2,573</a:t>
                      </a:r>
                    </a:p>
                  </a:txBody>
                  <a:tcPr anchor="ctr">
                    <a:solidFill>
                      <a:srgbClr val="FFFFFF"/>
                    </a:solidFill>
                  </a:tcPr>
                </a:tc>
                <a:tc>
                  <a:txBody>
                    <a:bodyPr/>
                    <a:lstStyle/>
                    <a:p>
                      <a:pPr algn="ctr">
                        <a:defRPr sz="1000">
                          <a:latin typeface="Montserrat"/>
                        </a:defRPr>
                      </a:pPr>
                      <a:r>
                        <a:t>27.8%</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2,260</a:t>
                      </a:r>
                    </a:p>
                  </a:txBody>
                  <a:tcPr anchor="ctr">
                    <a:solidFill>
                      <a:srgbClr val="D9D9D9"/>
                    </a:solidFill>
                  </a:tcPr>
                </a:tc>
                <a:tc>
                  <a:txBody>
                    <a:bodyPr/>
                    <a:lstStyle/>
                    <a:p>
                      <a:pPr algn="ctr">
                        <a:defRPr sz="1000">
                          <a:latin typeface="Montserrat"/>
                        </a:defRPr>
                      </a:pPr>
                      <a:r>
                        <a:t>52.3%</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1,144</a:t>
                      </a:r>
                    </a:p>
                  </a:txBody>
                  <a:tcPr anchor="ctr">
                    <a:solidFill>
                      <a:srgbClr val="FFFFFF"/>
                    </a:solidFill>
                  </a:tcPr>
                </a:tc>
                <a:tc>
                  <a:txBody>
                    <a:bodyPr/>
                    <a:lstStyle/>
                    <a:p>
                      <a:pPr algn="ctr">
                        <a:defRPr sz="1000">
                          <a:latin typeface="Montserrat"/>
                        </a:defRPr>
                      </a:pPr>
                      <a:r>
                        <a:t>64.6%</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798</a:t>
                      </a:r>
                    </a:p>
                  </a:txBody>
                  <a:tcPr anchor="ctr">
                    <a:solidFill>
                      <a:srgbClr val="D9D9D9"/>
                    </a:solidFill>
                  </a:tcPr>
                </a:tc>
                <a:tc>
                  <a:txBody>
                    <a:bodyPr/>
                    <a:lstStyle/>
                    <a:p>
                      <a:pPr algn="ctr">
                        <a:defRPr sz="1000">
                          <a:latin typeface="Montserrat"/>
                        </a:defRPr>
                      </a:pPr>
                      <a:r>
                        <a:t>73.3%</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798</a:t>
                      </a:r>
                    </a:p>
                  </a:txBody>
                  <a:tcPr anchor="ctr">
                    <a:solidFill>
                      <a:srgbClr val="FFFFFF"/>
                    </a:solidFill>
                  </a:tcPr>
                </a:tc>
                <a:tc>
                  <a:txBody>
                    <a:bodyPr/>
                    <a:lstStyle/>
                    <a:p>
                      <a:pPr algn="ctr">
                        <a:defRPr sz="1000">
                          <a:latin typeface="Montserrat"/>
                        </a:defRPr>
                      </a:pPr>
                      <a:r>
                        <a:t>81.9%</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506</a:t>
                      </a:r>
                    </a:p>
                  </a:txBody>
                  <a:tcPr anchor="ctr">
                    <a:solidFill>
                      <a:srgbClr val="D9D9D9"/>
                    </a:solidFill>
                  </a:tcPr>
                </a:tc>
                <a:tc>
                  <a:txBody>
                    <a:bodyPr/>
                    <a:lstStyle/>
                    <a:p>
                      <a:pPr algn="ctr">
                        <a:defRPr sz="1000">
                          <a:latin typeface="Montserrat"/>
                        </a:defRPr>
                      </a:pPr>
                      <a:r>
                        <a:t>87.3%</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407</a:t>
                      </a:r>
                    </a:p>
                  </a:txBody>
                  <a:tcPr anchor="ctr">
                    <a:solidFill>
                      <a:srgbClr val="FFFFFF"/>
                    </a:solidFill>
                  </a:tcPr>
                </a:tc>
                <a:tc>
                  <a:txBody>
                    <a:bodyPr/>
                    <a:lstStyle/>
                    <a:p>
                      <a:pPr algn="ctr">
                        <a:defRPr sz="1000">
                          <a:latin typeface="Montserrat"/>
                        </a:defRPr>
                      </a:pPr>
                      <a:r>
                        <a:t>91.8%</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303</a:t>
                      </a:r>
                    </a:p>
                  </a:txBody>
                  <a:tcPr anchor="ctr">
                    <a:solidFill>
                      <a:srgbClr val="D9D9D9"/>
                    </a:solidFill>
                  </a:tcPr>
                </a:tc>
                <a:tc>
                  <a:txBody>
                    <a:bodyPr/>
                    <a:lstStyle/>
                    <a:p>
                      <a:pPr algn="ctr">
                        <a:defRPr sz="1000">
                          <a:latin typeface="Montserrat"/>
                        </a:defRPr>
                      </a:pPr>
                      <a:r>
                        <a:t>95.0%</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256</a:t>
                      </a:r>
                    </a:p>
                  </a:txBody>
                  <a:tcPr anchor="ctr">
                    <a:solidFill>
                      <a:srgbClr val="FFFFFF"/>
                    </a:solidFill>
                  </a:tcPr>
                </a:tc>
                <a:tc>
                  <a:txBody>
                    <a:bodyPr/>
                    <a:lstStyle/>
                    <a:p>
                      <a:pPr algn="ctr">
                        <a:defRPr sz="1000">
                          <a:latin typeface="Montserrat"/>
                        </a:defRPr>
                      </a:pPr>
                      <a:r>
                        <a:t>97.8%</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extLst>
                  <a:ext uri="{0D108BD9-81ED-4DB2-BD59-A6C34878D82A}">
                    <a16:rowId xmlns:a16="http://schemas.microsoft.com/office/drawing/2014/main" val="10010"/>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9,249</a:t>
                      </a:r>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46972589"/>
              </p:ext>
            </p:extLst>
          </p:nvPr>
        </p:nvGraphicFramePr>
        <p:xfrm>
          <a:off x="3989276" y="1500985"/>
          <a:ext cx="3639599" cy="236220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645</a:t>
                      </a:r>
                    </a:p>
                  </a:txBody>
                  <a:tcPr anchor="ctr">
                    <a:solidFill>
                      <a:srgbClr val="FFFFFF"/>
                    </a:solidFill>
                  </a:tcPr>
                </a:tc>
                <a:tc>
                  <a:txBody>
                    <a:bodyPr/>
                    <a:lstStyle/>
                    <a:p>
                      <a:pPr algn="ctr">
                        <a:defRPr sz="1000">
                          <a:latin typeface="Montserrat"/>
                        </a:defRPr>
                      </a:pPr>
                      <a:r>
                        <a:t>27.7%</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526</a:t>
                      </a:r>
                    </a:p>
                  </a:txBody>
                  <a:tcPr anchor="ctr">
                    <a:solidFill>
                      <a:srgbClr val="D9D9D9"/>
                    </a:solidFill>
                  </a:tcPr>
                </a:tc>
                <a:tc>
                  <a:txBody>
                    <a:bodyPr/>
                    <a:lstStyle/>
                    <a:p>
                      <a:pPr algn="ctr">
                        <a:defRPr sz="1000">
                          <a:latin typeface="Montserrat"/>
                        </a:defRPr>
                      </a:pPr>
                      <a:r>
                        <a:t>50.2%</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rPr dirty="0" err="1"/>
                        <a:t>Colecistectomías</a:t>
                      </a:r>
                      <a:endParaRPr dirty="0"/>
                    </a:p>
                  </a:txBody>
                  <a:tcPr anchor="ctr">
                    <a:solidFill>
                      <a:srgbClr val="FFFFFF"/>
                    </a:solidFill>
                  </a:tcPr>
                </a:tc>
                <a:tc>
                  <a:txBody>
                    <a:bodyPr/>
                    <a:lstStyle/>
                    <a:p>
                      <a:pPr algn="ctr">
                        <a:defRPr sz="1000">
                          <a:latin typeface="Montserrat"/>
                        </a:defRPr>
                      </a:pPr>
                      <a:r>
                        <a:t>432</a:t>
                      </a:r>
                    </a:p>
                  </a:txBody>
                  <a:tcPr anchor="ctr">
                    <a:solidFill>
                      <a:srgbClr val="FFFFFF"/>
                    </a:solidFill>
                  </a:tcPr>
                </a:tc>
                <a:tc>
                  <a:txBody>
                    <a:bodyPr/>
                    <a:lstStyle/>
                    <a:p>
                      <a:pPr algn="ctr">
                        <a:defRPr sz="1000">
                          <a:latin typeface="Montserrat"/>
                        </a:defRPr>
                      </a:pPr>
                      <a:r>
                        <a:t>68.8%</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246</a:t>
                      </a:r>
                    </a:p>
                  </a:txBody>
                  <a:tcPr anchor="ctr">
                    <a:solidFill>
                      <a:srgbClr val="D9D9D9"/>
                    </a:solidFill>
                  </a:tcPr>
                </a:tc>
                <a:tc>
                  <a:txBody>
                    <a:bodyPr/>
                    <a:lstStyle/>
                    <a:p>
                      <a:pPr algn="ctr">
                        <a:defRPr sz="1000">
                          <a:latin typeface="Montserrat"/>
                        </a:defRPr>
                      </a:pPr>
                      <a:r>
                        <a:t>79.3%</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214</a:t>
                      </a:r>
                    </a:p>
                  </a:txBody>
                  <a:tcPr anchor="ctr">
                    <a:solidFill>
                      <a:srgbClr val="FFFFFF"/>
                    </a:solidFill>
                  </a:tcPr>
                </a:tc>
                <a:tc>
                  <a:txBody>
                    <a:bodyPr/>
                    <a:lstStyle/>
                    <a:p>
                      <a:pPr algn="ctr">
                        <a:defRPr sz="1000">
                          <a:latin typeface="Montserrat"/>
                        </a:defRPr>
                      </a:pPr>
                      <a:r>
                        <a:t>88.5%</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208</a:t>
                      </a:r>
                    </a:p>
                  </a:txBody>
                  <a:tcPr anchor="ctr">
                    <a:solidFill>
                      <a:srgbClr val="D9D9D9"/>
                    </a:solidFill>
                  </a:tcPr>
                </a:tc>
                <a:tc>
                  <a:txBody>
                    <a:bodyPr/>
                    <a:lstStyle/>
                    <a:p>
                      <a:pPr algn="ctr">
                        <a:defRPr sz="1000">
                          <a:latin typeface="Montserrat"/>
                        </a:defRPr>
                      </a:pPr>
                      <a:r>
                        <a:t>97.4%</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60</a:t>
                      </a:r>
                    </a:p>
                  </a:txBody>
                  <a:tcPr anchor="ctr">
                    <a:solidFill>
                      <a:srgbClr val="FFFFFF"/>
                    </a:solidFill>
                  </a:tcPr>
                </a:tc>
                <a:tc>
                  <a:txBody>
                    <a:bodyPr/>
                    <a:lstStyle/>
                    <a:p>
                      <a:pPr algn="ctr">
                        <a:defRPr sz="1000">
                          <a:latin typeface="Montserrat"/>
                        </a:defRPr>
                      </a:pPr>
                      <a:r>
                        <a:t>100.0%</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2,331</a:t>
                      </a:r>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8" name="CuadroTexto 7">
            <a:extLst>
              <a:ext uri="{FF2B5EF4-FFF2-40B4-BE49-F238E27FC236}">
                <a16:creationId xmlns:a16="http://schemas.microsoft.com/office/drawing/2014/main" id="{F861A96A-55FE-60B4-551B-9683D60402B4}"/>
              </a:ext>
            </a:extLst>
          </p:cNvPr>
          <p:cNvSpPr txBox="1"/>
          <p:nvPr/>
        </p:nvSpPr>
        <p:spPr>
          <a:xfrm>
            <a:off x="246601" y="4924774"/>
            <a:ext cx="3889612" cy="415498"/>
          </a:xfrm>
          <a:prstGeom prst="rect">
            <a:avLst/>
          </a:prstGeom>
          <a:noFill/>
        </p:spPr>
        <p:txBody>
          <a:bodyPr wrap="square">
            <a:spAutoFit/>
          </a:bodyPr>
          <a:lstStyle/>
          <a:p>
            <a:r>
              <a:rPr lang="es-ES" sz="2100" b="1" i="0" u="none" strike="noStrike" dirty="0">
                <a:solidFill>
                  <a:srgbClr val="BC955C"/>
                </a:solidFill>
                <a:effectLst/>
                <a:latin typeface="Montserrat" panose="00000500000000000000" pitchFamily="2" charset="0"/>
              </a:rPr>
              <a:t>Vive saludable, Vive feliz</a:t>
            </a:r>
            <a:endParaRPr lang="es-MX" sz="2100" dirty="0"/>
          </a:p>
        </p:txBody>
      </p:sp>
      <p:cxnSp>
        <p:nvCxnSpPr>
          <p:cNvPr id="9" name="Connector 3">
            <a:extLst>
              <a:ext uri="{FF2B5EF4-FFF2-40B4-BE49-F238E27FC236}">
                <a16:creationId xmlns:a16="http://schemas.microsoft.com/office/drawing/2014/main" id="{D53CC8EC-CCDD-B0CF-06F8-6C60442CB380}"/>
              </a:ext>
            </a:extLst>
          </p:cNvPr>
          <p:cNvCxnSpPr/>
          <p:nvPr/>
        </p:nvCxnSpPr>
        <p:spPr>
          <a:xfrm>
            <a:off x="143525" y="5340272"/>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0" name="TextBox 231">
            <a:extLst>
              <a:ext uri="{FF2B5EF4-FFF2-40B4-BE49-F238E27FC236}">
                <a16:creationId xmlns:a16="http://schemas.microsoft.com/office/drawing/2014/main" id="{17E3FA82-35B5-09C0-1DB9-B71F0CA9A626}"/>
              </a:ext>
            </a:extLst>
          </p:cNvPr>
          <p:cNvSpPr txBox="1"/>
          <p:nvPr/>
        </p:nvSpPr>
        <p:spPr>
          <a:xfrm>
            <a:off x="344106" y="9608222"/>
            <a:ext cx="5324400" cy="123111"/>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defRPr sz="800">
                <a:solidFill>
                  <a:srgbClr val="000000"/>
                </a:solidFill>
                <a:latin typeface="Montserrat"/>
              </a:defRPr>
            </a:pPr>
            <a:r>
              <a:rPr lang="es-MX" dirty="0">
                <a:solidFill>
                  <a:schemeClr val="bg1"/>
                </a:solidFill>
              </a:rPr>
              <a:t>En cada brigada participan 5 personas del IMSS.</a:t>
            </a:r>
            <a:endParaRPr dirty="0">
              <a:solidFill>
                <a:schemeClr val="bg1"/>
              </a:solidFill>
            </a:endParaRPr>
          </a:p>
        </p:txBody>
      </p:sp>
      <p:sp>
        <p:nvSpPr>
          <p:cNvPr id="11" name="CuadroTexto 11">
            <a:extLst>
              <a:ext uri="{FF2B5EF4-FFF2-40B4-BE49-F238E27FC236}">
                <a16:creationId xmlns:a16="http://schemas.microsoft.com/office/drawing/2014/main" id="{6B77C432-574F-78AA-D515-E44747A7F281}"/>
              </a:ext>
            </a:extLst>
          </p:cNvPr>
          <p:cNvSpPr txBox="1"/>
          <p:nvPr/>
        </p:nvSpPr>
        <p:spPr>
          <a:xfrm>
            <a:off x="493158" y="8358545"/>
            <a:ext cx="1841269"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solidFill>
                  <a:srgbClr val="006556"/>
                </a:solidFill>
                <a:latin typeface="Montserrat"/>
                <a:ea typeface="Montserrat"/>
                <a:cs typeface="Montserrat"/>
              </a:rPr>
              <a:t>15,329</a:t>
            </a:r>
            <a:endParaRPr lang="en-US" sz="2800" b="1" i="0" u="none" strike="noStrike" dirty="0">
              <a:solidFill>
                <a:srgbClr val="006556"/>
              </a:solidFill>
              <a:latin typeface="Montserrat"/>
              <a:ea typeface="Montserrat"/>
              <a:cs typeface="Montserrat"/>
            </a:endParaRPr>
          </a:p>
          <a:p>
            <a:pPr algn="ctr"/>
            <a:r>
              <a:rPr lang="en-US" sz="1200" b="1" i="0" u="none" strike="noStrike" dirty="0" err="1">
                <a:solidFill>
                  <a:srgbClr val="434343"/>
                </a:solidFill>
                <a:latin typeface="Montserrat"/>
                <a:ea typeface="Montserrat"/>
                <a:cs typeface="Montserrat"/>
              </a:rPr>
              <a:t>Valoraciones</a:t>
            </a:r>
            <a:r>
              <a:rPr lang="en-US" sz="1200" b="1" i="0" u="none" strike="noStrike" dirty="0">
                <a:solidFill>
                  <a:srgbClr val="434343"/>
                </a:solidFill>
                <a:latin typeface="Montserrat"/>
                <a:ea typeface="Montserrat"/>
                <a:cs typeface="Montserrat"/>
              </a:rPr>
              <a:t> </a:t>
            </a:r>
            <a:br>
              <a:rPr lang="en-US" sz="1200" b="1" dirty="0">
                <a:latin typeface="Montserrat"/>
                <a:ea typeface="Montserrat"/>
                <a:cs typeface="Montserrat"/>
              </a:rPr>
            </a:br>
            <a:r>
              <a:rPr lang="en-US" sz="1200" b="1" i="0" u="none" strike="noStrike" dirty="0" err="1">
                <a:solidFill>
                  <a:srgbClr val="434343"/>
                </a:solidFill>
                <a:latin typeface="Montserrat"/>
                <a:ea typeface="Montserrat"/>
                <a:cs typeface="Montserrat"/>
              </a:rPr>
              <a:t>nutricionales</a:t>
            </a:r>
            <a:endParaRPr lang="en-US" sz="1200" b="1" i="0" u="none" strike="noStrike" dirty="0">
              <a:solidFill>
                <a:srgbClr val="434343"/>
              </a:solidFill>
              <a:latin typeface="Montserrat"/>
              <a:ea typeface="Montserrat"/>
              <a:cs typeface="Montserrat"/>
            </a:endParaRPr>
          </a:p>
        </p:txBody>
      </p:sp>
      <p:sp>
        <p:nvSpPr>
          <p:cNvPr id="12" name="CuadroTexto 12">
            <a:extLst>
              <a:ext uri="{FF2B5EF4-FFF2-40B4-BE49-F238E27FC236}">
                <a16:creationId xmlns:a16="http://schemas.microsoft.com/office/drawing/2014/main" id="{EDECB6E1-463F-ABEE-7948-C464E8A9F7ED}"/>
              </a:ext>
            </a:extLst>
          </p:cNvPr>
          <p:cNvSpPr txBox="1"/>
          <p:nvPr/>
        </p:nvSpPr>
        <p:spPr>
          <a:xfrm>
            <a:off x="3219734" y="8321006"/>
            <a:ext cx="1832957"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13,899</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sp>
        <p:nvSpPr>
          <p:cNvPr id="13" name="CuadroTexto 13">
            <a:extLst>
              <a:ext uri="{FF2B5EF4-FFF2-40B4-BE49-F238E27FC236}">
                <a16:creationId xmlns:a16="http://schemas.microsoft.com/office/drawing/2014/main" id="{BCA2FAA3-9B5F-999D-E294-288660ADB777}"/>
              </a:ext>
            </a:extLst>
          </p:cNvPr>
          <p:cNvSpPr txBox="1"/>
          <p:nvPr/>
        </p:nvSpPr>
        <p:spPr>
          <a:xfrm>
            <a:off x="5514046" y="8321006"/>
            <a:ext cx="184126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9,742</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14" name="Imagen 13" descr="Icono&#10;&#10;El contenido generado por IA puede ser incorrecto.">
            <a:extLst>
              <a:ext uri="{FF2B5EF4-FFF2-40B4-BE49-F238E27FC236}">
                <a16:creationId xmlns:a16="http://schemas.microsoft.com/office/drawing/2014/main" id="{62DC54AE-B17B-0F99-2DCF-2117DA62EC9F}"/>
              </a:ext>
            </a:extLst>
          </p:cNvPr>
          <p:cNvPicPr>
            <a:picLocks noChangeAspect="1"/>
          </p:cNvPicPr>
          <p:nvPr/>
        </p:nvPicPr>
        <p:blipFill>
          <a:blip r:embed="rId4"/>
          <a:stretch>
            <a:fillRect/>
          </a:stretch>
        </p:blipFill>
        <p:spPr>
          <a:xfrm>
            <a:off x="3758675" y="7707943"/>
            <a:ext cx="730135" cy="669175"/>
          </a:xfrm>
          <a:prstGeom prst="rect">
            <a:avLst/>
          </a:prstGeom>
        </p:spPr>
      </p:pic>
      <p:pic>
        <p:nvPicPr>
          <p:cNvPr id="15" name="Imagen 14" descr="Icono&#10;&#10;El contenido generado por IA puede ser incorrecto.">
            <a:extLst>
              <a:ext uri="{FF2B5EF4-FFF2-40B4-BE49-F238E27FC236}">
                <a16:creationId xmlns:a16="http://schemas.microsoft.com/office/drawing/2014/main" id="{1A3E2759-53F4-B9DD-5E14-5EBE815783EF}"/>
              </a:ext>
            </a:extLst>
          </p:cNvPr>
          <p:cNvPicPr>
            <a:picLocks noChangeAspect="1"/>
          </p:cNvPicPr>
          <p:nvPr/>
        </p:nvPicPr>
        <p:blipFill>
          <a:blip r:embed="rId5"/>
          <a:stretch>
            <a:fillRect/>
          </a:stretch>
        </p:blipFill>
        <p:spPr>
          <a:xfrm>
            <a:off x="5951676" y="7854974"/>
            <a:ext cx="924445" cy="491944"/>
          </a:xfrm>
          <a:prstGeom prst="rect">
            <a:avLst/>
          </a:prstGeom>
        </p:spPr>
      </p:pic>
      <p:pic>
        <p:nvPicPr>
          <p:cNvPr id="16" name="Imagen 15" descr="Icono&#10;&#10;El contenido generado por IA puede ser incorrecto.">
            <a:extLst>
              <a:ext uri="{FF2B5EF4-FFF2-40B4-BE49-F238E27FC236}">
                <a16:creationId xmlns:a16="http://schemas.microsoft.com/office/drawing/2014/main" id="{BEEDD64F-2164-CD9C-3B77-3C926F298A38}"/>
              </a:ext>
            </a:extLst>
          </p:cNvPr>
          <p:cNvPicPr>
            <a:picLocks noChangeAspect="1"/>
          </p:cNvPicPr>
          <p:nvPr/>
        </p:nvPicPr>
        <p:blipFill>
          <a:blip r:embed="rId6"/>
          <a:stretch>
            <a:fillRect/>
          </a:stretch>
        </p:blipFill>
        <p:spPr>
          <a:xfrm>
            <a:off x="1112110" y="7689932"/>
            <a:ext cx="603366" cy="713510"/>
          </a:xfrm>
          <a:prstGeom prst="rect">
            <a:avLst/>
          </a:prstGeom>
        </p:spPr>
      </p:pic>
      <p:graphicFrame>
        <p:nvGraphicFramePr>
          <p:cNvPr id="17" name="Tabla 16">
            <a:extLst>
              <a:ext uri="{FF2B5EF4-FFF2-40B4-BE49-F238E27FC236}">
                <a16:creationId xmlns:a16="http://schemas.microsoft.com/office/drawing/2014/main" id="{5E3BEE83-6BDE-7442-ABAE-FB10C5607D4A}"/>
              </a:ext>
            </a:extLst>
          </p:cNvPr>
          <p:cNvGraphicFramePr>
            <a:graphicFrameLocks noGrp="1"/>
          </p:cNvGraphicFramePr>
          <p:nvPr>
            <p:extLst>
              <p:ext uri="{D42A27DB-BD31-4B8C-83A1-F6EECF244321}">
                <p14:modId xmlns:p14="http://schemas.microsoft.com/office/powerpoint/2010/main" val="577471249"/>
              </p:ext>
            </p:extLst>
          </p:nvPr>
        </p:nvGraphicFramePr>
        <p:xfrm>
          <a:off x="718025" y="5506540"/>
          <a:ext cx="6324600" cy="803530"/>
        </p:xfrm>
        <a:graphic>
          <a:graphicData uri="http://schemas.openxmlformats.org/drawingml/2006/table">
            <a:tbl>
              <a:tblPr/>
              <a:tblGrid>
                <a:gridCol w="2390775">
                  <a:extLst>
                    <a:ext uri="{9D8B030D-6E8A-4147-A177-3AD203B41FA5}">
                      <a16:colId xmlns:a16="http://schemas.microsoft.com/office/drawing/2014/main" val="1084148673"/>
                    </a:ext>
                  </a:extLst>
                </a:gridCol>
                <a:gridCol w="1304925">
                  <a:extLst>
                    <a:ext uri="{9D8B030D-6E8A-4147-A177-3AD203B41FA5}">
                      <a16:colId xmlns:a16="http://schemas.microsoft.com/office/drawing/2014/main" val="3562683039"/>
                    </a:ext>
                  </a:extLst>
                </a:gridCol>
                <a:gridCol w="1314450">
                  <a:extLst>
                    <a:ext uri="{9D8B030D-6E8A-4147-A177-3AD203B41FA5}">
                      <a16:colId xmlns:a16="http://schemas.microsoft.com/office/drawing/2014/main" val="1076270342"/>
                    </a:ext>
                  </a:extLst>
                </a:gridCol>
                <a:gridCol w="1314450">
                  <a:extLst>
                    <a:ext uri="{9D8B030D-6E8A-4147-A177-3AD203B41FA5}">
                      <a16:colId xmlns:a16="http://schemas.microsoft.com/office/drawing/2014/main" val="4199837458"/>
                    </a:ext>
                  </a:extLst>
                </a:gridCol>
              </a:tblGrid>
              <a:tr h="209550">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Total de Escuelas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9802"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Escuelas visitadas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9802"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Población </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9802"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Menores tamizados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9802" cap="flat" cmpd="sng" algn="ctr">
                      <a:solidFill>
                        <a:srgbClr val="FFFFFF"/>
                      </a:solidFill>
                      <a:prstDash val="solid"/>
                      <a:round/>
                      <a:headEnd type="none" w="med" len="med"/>
                      <a:tailEnd type="none" w="med" len="med"/>
                    </a:lnB>
                    <a:solidFill>
                      <a:srgbClr val="006455"/>
                    </a:solidFill>
                  </a:tcPr>
                </a:tc>
                <a:extLst>
                  <a:ext uri="{0D108BD9-81ED-4DB2-BD59-A6C34878D82A}">
                    <a16:rowId xmlns:a16="http://schemas.microsoft.com/office/drawing/2014/main" val="3624065188"/>
                  </a:ext>
                </a:extLst>
              </a:tr>
              <a:tr h="209550">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1,597</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80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1,512</a:t>
                      </a:r>
                      <a:r>
                        <a:rPr lang="es-ES" sz="1400" b="0" i="0">
                          <a:solidFill>
                            <a:srgbClr val="000000"/>
                          </a:solidFill>
                          <a:effectLst/>
                          <a:latin typeface="Arial" panose="020B0604020202020204" pitchFamily="34" charset="0"/>
                        </a:rPr>
                        <a:t>​</a:t>
                      </a:r>
                      <a:endParaRPr lang="es-E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80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dirty="0">
                          <a:solidFill>
                            <a:srgbClr val="000000"/>
                          </a:solidFill>
                          <a:effectLst/>
                          <a:latin typeface="Arial" panose="020B0604020202020204" pitchFamily="34" charset="0"/>
                        </a:rPr>
                        <a:t>357,987</a:t>
                      </a:r>
                      <a:r>
                        <a:rPr lang="es-ES" sz="1400" b="0" i="0" dirty="0">
                          <a:solidFill>
                            <a:srgbClr val="000000"/>
                          </a:solidFill>
                          <a:effectLst/>
                          <a:latin typeface="Arial" panose="020B0604020202020204" pitchFamily="34" charset="0"/>
                        </a:rPr>
                        <a:t>​</a:t>
                      </a:r>
                      <a:endParaRPr lang="es-ES" b="0" i="0" dirty="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80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dirty="0">
                          <a:solidFill>
                            <a:srgbClr val="000000"/>
                          </a:solidFill>
                          <a:effectLst/>
                          <a:latin typeface="Arial" panose="020B0604020202020204" pitchFamily="34" charset="0"/>
                        </a:rPr>
                        <a:t>177,754</a:t>
                      </a:r>
                      <a:r>
                        <a:rPr lang="es-ES" sz="1400" b="0" i="0" dirty="0">
                          <a:solidFill>
                            <a:srgbClr val="000000"/>
                          </a:solidFill>
                          <a:effectLst/>
                          <a:latin typeface="Arial" panose="020B0604020202020204" pitchFamily="34" charset="0"/>
                        </a:rPr>
                        <a:t>​</a:t>
                      </a:r>
                      <a:endParaRPr lang="es-ES" b="0" i="0" dirty="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80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extLst>
                  <a:ext uri="{0D108BD9-81ED-4DB2-BD59-A6C34878D82A}">
                    <a16:rowId xmlns:a16="http://schemas.microsoft.com/office/drawing/2014/main" val="2475602596"/>
                  </a:ext>
                </a:extLst>
              </a:tr>
            </a:tbl>
          </a:graphicData>
        </a:graphic>
      </p:graphicFrame>
      <p:graphicFrame>
        <p:nvGraphicFramePr>
          <p:cNvPr id="18" name="Tabla 17">
            <a:extLst>
              <a:ext uri="{FF2B5EF4-FFF2-40B4-BE49-F238E27FC236}">
                <a16:creationId xmlns:a16="http://schemas.microsoft.com/office/drawing/2014/main" id="{C7833F00-22D5-3C1D-5C0F-7EEA34F47765}"/>
              </a:ext>
            </a:extLst>
          </p:cNvPr>
          <p:cNvGraphicFramePr>
            <a:graphicFrameLocks noGrp="1"/>
          </p:cNvGraphicFramePr>
          <p:nvPr>
            <p:extLst>
              <p:ext uri="{D42A27DB-BD31-4B8C-83A1-F6EECF244321}">
                <p14:modId xmlns:p14="http://schemas.microsoft.com/office/powerpoint/2010/main" val="889361943"/>
              </p:ext>
            </p:extLst>
          </p:nvPr>
        </p:nvGraphicFramePr>
        <p:xfrm>
          <a:off x="1972806" y="6476464"/>
          <a:ext cx="3695700" cy="803530"/>
        </p:xfrm>
        <a:graphic>
          <a:graphicData uri="http://schemas.openxmlformats.org/drawingml/2006/table">
            <a:tbl>
              <a:tblPr/>
              <a:tblGrid>
                <a:gridCol w="1998693">
                  <a:extLst>
                    <a:ext uri="{9D8B030D-6E8A-4147-A177-3AD203B41FA5}">
                      <a16:colId xmlns:a16="http://schemas.microsoft.com/office/drawing/2014/main" val="2985926576"/>
                    </a:ext>
                  </a:extLst>
                </a:gridCol>
                <a:gridCol w="1697007">
                  <a:extLst>
                    <a:ext uri="{9D8B030D-6E8A-4147-A177-3AD203B41FA5}">
                      <a16:colId xmlns:a16="http://schemas.microsoft.com/office/drawing/2014/main" val="953120647"/>
                    </a:ext>
                  </a:extLst>
                </a:gridCol>
              </a:tblGrid>
              <a:tr h="209550">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Brigadas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9802"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Personal de enfermería IMSS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9802" cap="flat" cmpd="sng" algn="ctr">
                      <a:solidFill>
                        <a:srgbClr val="FFFFFF"/>
                      </a:solidFill>
                      <a:prstDash val="solid"/>
                      <a:round/>
                      <a:headEnd type="none" w="med" len="med"/>
                      <a:tailEnd type="none" w="med" len="med"/>
                    </a:lnB>
                    <a:solidFill>
                      <a:srgbClr val="006455"/>
                    </a:solidFill>
                  </a:tcPr>
                </a:tc>
                <a:extLst>
                  <a:ext uri="{0D108BD9-81ED-4DB2-BD59-A6C34878D82A}">
                    <a16:rowId xmlns:a16="http://schemas.microsoft.com/office/drawing/2014/main" val="1650221582"/>
                  </a:ext>
                </a:extLst>
              </a:tr>
              <a:tr h="209550">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16</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80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dirty="0">
                          <a:solidFill>
                            <a:srgbClr val="000000"/>
                          </a:solidFill>
                          <a:effectLst/>
                          <a:latin typeface="Arial" panose="020B0604020202020204" pitchFamily="34" charset="0"/>
                        </a:rPr>
                        <a:t>80</a:t>
                      </a:r>
                      <a:r>
                        <a:rPr lang="en-US" sz="1400" b="0" i="0" dirty="0">
                          <a:solidFill>
                            <a:srgbClr val="000000"/>
                          </a:solidFill>
                          <a:effectLst/>
                          <a:latin typeface="Arial" panose="020B0604020202020204" pitchFamily="34" charset="0"/>
                        </a:rPr>
                        <a:t>​</a:t>
                      </a:r>
                      <a:endParaRPr lang="en-US" b="0" i="0" dirty="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80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extLst>
                  <a:ext uri="{0D108BD9-81ED-4DB2-BD59-A6C34878D82A}">
                    <a16:rowId xmlns:a16="http://schemas.microsoft.com/office/drawing/2014/main" val="734383874"/>
                  </a:ext>
                </a:extLst>
              </a:tr>
            </a:tbl>
          </a:graphicData>
        </a:graphic>
      </p:graphicFrame>
      <p:sp>
        <p:nvSpPr>
          <p:cNvPr id="19" name="Rectangle 1">
            <a:extLst>
              <a:ext uri="{FF2B5EF4-FFF2-40B4-BE49-F238E27FC236}">
                <a16:creationId xmlns:a16="http://schemas.microsoft.com/office/drawing/2014/main" id="{42A58782-B6C8-B37C-38AF-AE6ECAB780CE}"/>
              </a:ext>
            </a:extLst>
          </p:cNvPr>
          <p:cNvSpPr>
            <a:spLocks noChangeArrowheads="1"/>
          </p:cNvSpPr>
          <p:nvPr/>
        </p:nvSpPr>
        <p:spPr bwMode="auto">
          <a:xfrm>
            <a:off x="1972806" y="6476592"/>
            <a:ext cx="7772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20" name="TextBox 231">
            <a:extLst>
              <a:ext uri="{FF2B5EF4-FFF2-40B4-BE49-F238E27FC236}">
                <a16:creationId xmlns:a16="http://schemas.microsoft.com/office/drawing/2014/main" id="{20FF8DE5-91C5-4E72-3E3B-DAC34548508D}"/>
              </a:ext>
            </a:extLst>
          </p:cNvPr>
          <p:cNvSpPr txBox="1"/>
          <p:nvPr/>
        </p:nvSpPr>
        <p:spPr>
          <a:xfrm>
            <a:off x="344106" y="9759060"/>
            <a:ext cx="5324400" cy="123111"/>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defRPr sz="800">
                <a:solidFill>
                  <a:srgbClr val="000000"/>
                </a:solidFill>
                <a:latin typeface="Montserrat"/>
              </a:defRPr>
            </a:pPr>
            <a:r>
              <a:rPr>
                <a:solidFill>
                  <a:schemeClr val="bg1"/>
                </a:solidFill>
              </a:rPr>
              <a:t>Corte de </a:t>
            </a:r>
            <a:r>
              <a:rPr err="1">
                <a:solidFill>
                  <a:schemeClr val="bg1"/>
                </a:solidFill>
              </a:rPr>
              <a:t>información</a:t>
            </a:r>
            <a:r>
              <a:rPr>
                <a:solidFill>
                  <a:schemeClr val="bg1"/>
                </a:solidFill>
              </a:rPr>
              <a:t>: </a:t>
            </a:r>
            <a:r>
              <a:rPr lang="es-MX">
                <a:solidFill>
                  <a:schemeClr val="bg1"/>
                </a:solidFill>
              </a:rPr>
              <a:t>18</a:t>
            </a:r>
            <a:r>
              <a:rPr>
                <a:solidFill>
                  <a:schemeClr val="bg1"/>
                </a:solidFill>
              </a:rPr>
              <a:t> </a:t>
            </a:r>
            <a:r>
              <a:rPr lang="es-MX">
                <a:solidFill>
                  <a:schemeClr val="bg1"/>
                </a:solidFill>
              </a:rPr>
              <a:t>junio</a:t>
            </a:r>
            <a:r>
              <a:rPr>
                <a:solidFill>
                  <a:schemeClr val="bg1"/>
                </a:solidFill>
              </a:rPr>
              <a:t> 2026</a:t>
            </a:r>
          </a:p>
        </p:txBody>
      </p:sp>
    </p:spTree>
    <p:extLst>
      <p:ext uri="{BB962C8B-B14F-4D97-AF65-F5344CB8AC3E}">
        <p14:creationId xmlns:p14="http://schemas.microsoft.com/office/powerpoint/2010/main" val="3805655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SONORA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20,231	 Personal de Salud: 13,564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+75.3%</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150</a:t>
                      </a:r>
                    </a:p>
                  </a:txBody>
                  <a:tcPr marL="0" marR="0" marT="0" marB="0">
                    <a:noFill/>
                  </a:tcPr>
                </a:tc>
                <a:tc>
                  <a:txBody>
                    <a:bodyPr/>
                    <a:lstStyle/>
                    <a:p>
                      <a:pPr algn="ctr">
                        <a:defRPr sz="1500" b="1">
                          <a:solidFill>
                            <a:srgbClr val="B4975A"/>
                          </a:solidFill>
                          <a:latin typeface="Montserrat"/>
                        </a:defRPr>
                      </a:pPr>
                      <a:r>
                        <a:t>263</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+61.0%</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1,920</a:t>
                      </a:r>
                    </a:p>
                  </a:txBody>
                  <a:tcPr marL="0" marR="0" marT="0" marB="0">
                    <a:noFill/>
                  </a:tcPr>
                </a:tc>
                <a:tc>
                  <a:txBody>
                    <a:bodyPr/>
                    <a:lstStyle/>
                    <a:p>
                      <a:pPr algn="ctr">
                        <a:defRPr sz="1500" b="1">
                          <a:solidFill>
                            <a:srgbClr val="B4975A"/>
                          </a:solidFill>
                          <a:latin typeface="Montserrat"/>
                        </a:defRPr>
                      </a:pPr>
                      <a:r>
                        <a:t>3,092</a:t>
                      </a:r>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+21.4%</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4,151</a:t>
                      </a:r>
                    </a:p>
                  </a:txBody>
                  <a:tcPr marL="0" marR="0" marT="0" marB="0">
                    <a:noFill/>
                  </a:tcPr>
                </a:tc>
                <a:tc>
                  <a:txBody>
                    <a:bodyPr/>
                    <a:lstStyle/>
                    <a:p>
                      <a:pPr algn="ctr">
                        <a:defRPr sz="1500" b="1">
                          <a:solidFill>
                            <a:srgbClr val="B4975A"/>
                          </a:solidFill>
                          <a:latin typeface="Montserrat"/>
                        </a:defRPr>
                      </a:pPr>
                      <a:r>
                        <a:t>5,041</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+28.8%</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2,605</a:t>
                      </a:r>
                    </a:p>
                  </a:txBody>
                  <a:tcPr marL="0" marR="0" marT="0" marB="0">
                    <a:noFill/>
                  </a:tcPr>
                </a:tc>
                <a:tc>
                  <a:txBody>
                    <a:bodyPr/>
                    <a:lstStyle/>
                    <a:p>
                      <a:pPr algn="ctr">
                        <a:defRPr sz="1500" b="1">
                          <a:solidFill>
                            <a:srgbClr val="B4975A"/>
                          </a:solidFill>
                          <a:latin typeface="Montserrat"/>
                        </a:defRPr>
                      </a:pPr>
                      <a:r>
                        <a:t>3,356</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+60.7%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629</a:t>
                      </a:r>
                    </a:p>
                  </a:txBody>
                  <a:tcPr marL="0" marR="0" marT="0" marB="0">
                    <a:noFill/>
                  </a:tcPr>
                </a:tc>
                <a:tc>
                  <a:txBody>
                    <a:bodyPr/>
                    <a:lstStyle/>
                    <a:p>
                      <a:pPr algn="ctr">
                        <a:defRPr sz="1500" b="1">
                          <a:solidFill>
                            <a:srgbClr val="B4975A"/>
                          </a:solidFill>
                          <a:latin typeface="Montserrat"/>
                        </a:defRPr>
                      </a:pPr>
                      <a:r>
                        <a:t>1,011</a:t>
                      </a:r>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-2.0%</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817</a:t>
                      </a:r>
                    </a:p>
                  </a:txBody>
                  <a:tcPr marL="0" marR="0" marT="0" marB="0">
                    <a:noFill/>
                  </a:tcPr>
                </a:tc>
                <a:tc>
                  <a:txBody>
                    <a:bodyPr/>
                    <a:lstStyle/>
                    <a:p>
                      <a:pPr algn="ctr">
                        <a:defRPr sz="1500" b="1">
                          <a:solidFill>
                            <a:srgbClr val="B4975A"/>
                          </a:solidFill>
                          <a:latin typeface="Montserrat"/>
                        </a:defRPr>
                      </a:pPr>
                      <a:r>
                        <a:t>801</a:t>
                      </a:r>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nvGraphicFramePr>
        <p:xfrm>
          <a:off x="4507200" y="55152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66</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Anestesiología</a:t>
                      </a:r>
                    </a:p>
                  </a:txBody>
                  <a:tcPr marL="45720" marR="45720">
                    <a:solidFill>
                      <a:srgbClr val="EFEFEF"/>
                    </a:solidFill>
                  </a:tcPr>
                </a:tc>
                <a:tc>
                  <a:txBody>
                    <a:bodyPr/>
                    <a:lstStyle/>
                    <a:p>
                      <a:pPr algn="ctr">
                        <a:defRPr sz="800">
                          <a:latin typeface="Montserrat"/>
                        </a:defRPr>
                      </a:pPr>
                      <a:r>
                        <a:t>41</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Medicina de Urgencias</a:t>
                      </a:r>
                    </a:p>
                  </a:txBody>
                  <a:tcPr marL="45720" marR="45720">
                    <a:solidFill>
                      <a:srgbClr val="FFFFFF"/>
                    </a:solidFill>
                  </a:tcPr>
                </a:tc>
                <a:tc>
                  <a:txBody>
                    <a:bodyPr/>
                    <a:lstStyle/>
                    <a:p>
                      <a:pPr algn="ctr">
                        <a:defRPr sz="800">
                          <a:latin typeface="Montserrat"/>
                        </a:defRPr>
                      </a:pPr>
                      <a:r>
                        <a:t>39</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Medicina Interna</a:t>
                      </a:r>
                    </a:p>
                  </a:txBody>
                  <a:tcPr marL="45720" marR="45720">
                    <a:solidFill>
                      <a:srgbClr val="EFEFEF"/>
                    </a:solidFill>
                  </a:tcPr>
                </a:tc>
                <a:tc>
                  <a:txBody>
                    <a:bodyPr/>
                    <a:lstStyle/>
                    <a:p>
                      <a:pPr algn="ctr">
                        <a:defRPr sz="800">
                          <a:latin typeface="Montserrat"/>
                        </a:defRPr>
                      </a:pPr>
                      <a:r>
                        <a:t>27</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Ginecología y Obstetricia</a:t>
                      </a:r>
                    </a:p>
                  </a:txBody>
                  <a:tcPr marL="45720" marR="45720">
                    <a:solidFill>
                      <a:srgbClr val="FFFFFF"/>
                    </a:solidFill>
                  </a:tcPr>
                </a:tc>
                <a:tc>
                  <a:txBody>
                    <a:bodyPr/>
                    <a:lstStyle/>
                    <a:p>
                      <a:pPr algn="ctr">
                        <a:defRPr sz="800">
                          <a:latin typeface="Montserrat"/>
                        </a:defRPr>
                      </a:pPr>
                      <a:r>
                        <a:t>23</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nvGraphicFramePr>
        <p:xfrm>
          <a:off x="4507200" y="68508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44</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Anestesiología</a:t>
                      </a:r>
                    </a:p>
                  </a:txBody>
                  <a:tcPr marL="45720" marR="45720">
                    <a:solidFill>
                      <a:srgbClr val="EFEFEF"/>
                    </a:solidFill>
                  </a:tcPr>
                </a:tc>
                <a:tc>
                  <a:txBody>
                    <a:bodyPr/>
                    <a:lstStyle/>
                    <a:p>
                      <a:pPr algn="ctr">
                        <a:defRPr sz="800">
                          <a:latin typeface="Montserrat"/>
                        </a:defRPr>
                      </a:pPr>
                      <a:r>
                        <a:t>42</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Ginecología y Obstetricia</a:t>
                      </a:r>
                    </a:p>
                  </a:txBody>
                  <a:tcPr marL="45720" marR="45720">
                    <a:solidFill>
                      <a:srgbClr val="FFFFFF"/>
                    </a:solidFill>
                  </a:tcPr>
                </a:tc>
                <a:tc>
                  <a:txBody>
                    <a:bodyPr/>
                    <a:lstStyle/>
                    <a:p>
                      <a:pPr algn="ctr">
                        <a:defRPr sz="800">
                          <a:latin typeface="Montserrat"/>
                        </a:defRPr>
                      </a:pPr>
                      <a:r>
                        <a:t>25</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Pediatría</a:t>
                      </a:r>
                    </a:p>
                  </a:txBody>
                  <a:tcPr marL="45720" marR="45720">
                    <a:solidFill>
                      <a:srgbClr val="EFEFEF"/>
                    </a:solidFill>
                  </a:tcPr>
                </a:tc>
                <a:tc>
                  <a:txBody>
                    <a:bodyPr/>
                    <a:lstStyle/>
                    <a:p>
                      <a:pPr algn="ctr">
                        <a:defRPr sz="800">
                          <a:latin typeface="Montserrat"/>
                        </a:defRPr>
                      </a:pPr>
                      <a:r>
                        <a:t>23</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Cirugía General</a:t>
                      </a:r>
                    </a:p>
                  </a:txBody>
                  <a:tcPr marL="45720" marR="45720">
                    <a:solidFill>
                      <a:srgbClr val="FFFFFF"/>
                    </a:solidFill>
                  </a:tcPr>
                </a:tc>
                <a:tc>
                  <a:txBody>
                    <a:bodyPr/>
                    <a:lstStyle/>
                    <a:p>
                      <a:pPr algn="ctr">
                        <a:defRPr sz="800">
                          <a:latin typeface="Montserrat"/>
                        </a:defRPr>
                      </a:pPr>
                      <a:r>
                        <a:t>22</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extLst>
              <p:ext uri="{D42A27DB-BD31-4B8C-83A1-F6EECF244321}">
                <p14:modId xmlns:p14="http://schemas.microsoft.com/office/powerpoint/2010/main" val="485635444"/>
              </p:ext>
            </p:extLst>
          </p:nvPr>
        </p:nvGraphicFramePr>
        <p:xfrm>
          <a:off x="1252728" y="8316358"/>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277</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rPr dirty="0"/>
                        <a:t>Personal de </a:t>
                      </a:r>
                      <a:r>
                        <a:rPr dirty="0" err="1"/>
                        <a:t>Enfermería</a:t>
                      </a:r>
                      <a:endParaRPr dirty="0"/>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734</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581</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586</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rPr dirty="0"/>
                        <a:t>2,178</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491875" y="9659568"/>
            <a:ext cx="3010277" cy="246221"/>
          </a:xfrm>
          <a:prstGeom prst="rect">
            <a:avLst/>
          </a:prstGeom>
          <a:noFill/>
        </p:spPr>
        <p:txBody>
          <a:bodyPr wrap="square" lIns="0" tIns="0" rIns="0" bIns="0">
            <a:spAutoFit/>
          </a:bodyPr>
          <a:lstStyle/>
          <a:p>
            <a:pPr algn="l">
              <a:defRPr sz="800">
                <a:solidFill>
                  <a:srgbClr val="000000"/>
                </a:solidFill>
                <a:latin typeface="Montserrat"/>
              </a:defRPr>
            </a:pPr>
            <a:r>
              <a:rPr dirty="0">
                <a:solidFill>
                  <a:schemeClr val="bg1"/>
                </a:solidFill>
              </a:rPr>
              <a:t>Fuente: Sistema de Información Operativa. Personal de base. Corte de información: mayo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1883406603"/>
              </p:ext>
            </p:extLst>
          </p:nvPr>
        </p:nvGraphicFramePr>
        <p:xfrm>
          <a:off x="219600" y="5900456"/>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36" name="TextBox 335"/>
          <p:cNvSpPr txBox="1"/>
          <p:nvPr/>
        </p:nvSpPr>
        <p:spPr>
          <a:xfrm>
            <a:off x="334343" y="6825600"/>
            <a:ext cx="742512" cy="292388"/>
          </a:xfrm>
          <a:prstGeom prst="rect">
            <a:avLst/>
          </a:prstGeom>
          <a:noFill/>
        </p:spPr>
        <p:txBody>
          <a:bodyPr wrap="none">
            <a:spAutoFit/>
          </a:bodyPr>
          <a:lstStyle/>
          <a:p>
            <a:pPr algn="ctr">
              <a:defRPr sz="1300">
                <a:solidFill>
                  <a:srgbClr val="006455"/>
                </a:solidFill>
                <a:latin typeface="Montserrat ExtraBold"/>
              </a:defRPr>
            </a:pPr>
            <a:r>
              <a:rPr dirty="0"/>
              <a:t>13,</a:t>
            </a:r>
            <a:r>
              <a:rPr lang="es-MX" dirty="0"/>
              <a:t>084</a:t>
            </a:r>
            <a:endParaRPr dirty="0"/>
          </a:p>
        </p:txBody>
      </p:sp>
      <p:sp>
        <p:nvSpPr>
          <p:cNvPr id="337" name="TextBox 336"/>
          <p:cNvSpPr txBox="1"/>
          <p:nvPr/>
        </p:nvSpPr>
        <p:spPr>
          <a:xfrm>
            <a:off x="2306558" y="6825600"/>
            <a:ext cx="513282" cy="292388"/>
          </a:xfrm>
          <a:prstGeom prst="rect">
            <a:avLst/>
          </a:prstGeom>
          <a:noFill/>
        </p:spPr>
        <p:txBody>
          <a:bodyPr wrap="none">
            <a:spAutoFit/>
          </a:bodyPr>
          <a:lstStyle/>
          <a:p>
            <a:pPr algn="ctr">
              <a:defRPr sz="1300">
                <a:solidFill>
                  <a:srgbClr val="006455"/>
                </a:solidFill>
                <a:latin typeface="Montserrat ExtraBold"/>
              </a:defRPr>
            </a:pPr>
            <a:r>
              <a:rPr dirty="0"/>
              <a:t>8</a:t>
            </a:r>
            <a:r>
              <a:rPr lang="es-MX" dirty="0"/>
              <a:t>24</a:t>
            </a:r>
            <a:endParaRPr dirty="0"/>
          </a:p>
        </p:txBody>
      </p:sp>
      <p:sp>
        <p:nvSpPr>
          <p:cNvPr id="338" name="TextBox 337"/>
          <p:cNvSpPr txBox="1"/>
          <p:nvPr/>
        </p:nvSpPr>
        <p:spPr>
          <a:xfrm>
            <a:off x="4187035" y="6825600"/>
            <a:ext cx="431528" cy="292388"/>
          </a:xfrm>
          <a:prstGeom prst="rect">
            <a:avLst/>
          </a:prstGeom>
          <a:noFill/>
        </p:spPr>
        <p:txBody>
          <a:bodyPr wrap="none">
            <a:spAutoFit/>
          </a:bodyPr>
          <a:lstStyle/>
          <a:p>
            <a:pPr algn="ctr">
              <a:defRPr sz="1300">
                <a:solidFill>
                  <a:srgbClr val="006455"/>
                </a:solidFill>
                <a:latin typeface="Montserrat ExtraBold"/>
              </a:defRPr>
            </a:pPr>
            <a:r>
              <a:rPr dirty="0"/>
              <a:t>18</a:t>
            </a:r>
            <a:r>
              <a:rPr lang="es-MX" dirty="0"/>
              <a:t>1</a:t>
            </a:r>
            <a:endParaRPr dirty="0"/>
          </a:p>
        </p:txBody>
      </p:sp>
      <p:sp>
        <p:nvSpPr>
          <p:cNvPr id="339" name="TextBox 338"/>
          <p:cNvSpPr txBox="1"/>
          <p:nvPr/>
        </p:nvSpPr>
        <p:spPr>
          <a:xfrm>
            <a:off x="6022180" y="6825600"/>
            <a:ext cx="490840" cy="292388"/>
          </a:xfrm>
          <a:prstGeom prst="rect">
            <a:avLst/>
          </a:prstGeom>
          <a:noFill/>
        </p:spPr>
        <p:txBody>
          <a:bodyPr wrap="none">
            <a:spAutoFit/>
          </a:bodyPr>
          <a:lstStyle/>
          <a:p>
            <a:pPr algn="ctr">
              <a:defRPr sz="1300">
                <a:solidFill>
                  <a:srgbClr val="006455"/>
                </a:solidFill>
                <a:latin typeface="Montserrat ExtraBold"/>
              </a:defRPr>
            </a:pPr>
            <a:r>
              <a:rPr dirty="0"/>
              <a:t>2</a:t>
            </a:r>
            <a:r>
              <a:rPr lang="es-MX" dirty="0"/>
              <a:t>2</a:t>
            </a:r>
            <a:r>
              <a:rPr dirty="0"/>
              <a:t>9</a:t>
            </a:r>
          </a:p>
        </p:txBody>
      </p:sp>
      <p:sp>
        <p:nvSpPr>
          <p:cNvPr id="340" name="TextBox 339"/>
          <p:cNvSpPr txBox="1"/>
          <p:nvPr/>
        </p:nvSpPr>
        <p:spPr>
          <a:xfrm>
            <a:off x="1309250" y="7880400"/>
            <a:ext cx="628698" cy="292388"/>
          </a:xfrm>
          <a:prstGeom prst="rect">
            <a:avLst/>
          </a:prstGeom>
          <a:noFill/>
        </p:spPr>
        <p:txBody>
          <a:bodyPr wrap="none">
            <a:spAutoFit/>
          </a:bodyPr>
          <a:lstStyle/>
          <a:p>
            <a:pPr algn="ctr">
              <a:defRPr sz="1300">
                <a:solidFill>
                  <a:srgbClr val="006455"/>
                </a:solidFill>
                <a:latin typeface="Montserrat ExtraBold"/>
              </a:defRPr>
            </a:pPr>
            <a:r>
              <a:rPr dirty="0"/>
              <a:t>4,</a:t>
            </a:r>
            <a:r>
              <a:rPr lang="es-MX" dirty="0"/>
              <a:t>581</a:t>
            </a:r>
            <a:endParaRPr dirty="0"/>
          </a:p>
        </p:txBody>
      </p:sp>
      <p:sp>
        <p:nvSpPr>
          <p:cNvPr id="341" name="TextBox 340"/>
          <p:cNvSpPr txBox="1"/>
          <p:nvPr/>
        </p:nvSpPr>
        <p:spPr>
          <a:xfrm>
            <a:off x="3195087" y="7880400"/>
            <a:ext cx="590226" cy="292388"/>
          </a:xfrm>
          <a:prstGeom prst="rect">
            <a:avLst/>
          </a:prstGeom>
          <a:noFill/>
        </p:spPr>
        <p:txBody>
          <a:bodyPr wrap="none">
            <a:spAutoFit/>
          </a:bodyPr>
          <a:lstStyle/>
          <a:p>
            <a:pPr algn="ctr">
              <a:defRPr sz="1300">
                <a:solidFill>
                  <a:srgbClr val="006455"/>
                </a:solidFill>
                <a:latin typeface="Montserrat ExtraBold"/>
              </a:defRPr>
            </a:pPr>
            <a:r>
              <a:rPr dirty="0"/>
              <a:t>1,</a:t>
            </a:r>
            <a:r>
              <a:rPr lang="es-MX" dirty="0"/>
              <a:t>641</a:t>
            </a:r>
            <a:endParaRPr dirty="0"/>
          </a:p>
        </p:txBody>
      </p:sp>
      <p:sp>
        <p:nvSpPr>
          <p:cNvPr id="342" name="TextBox 341"/>
          <p:cNvSpPr txBox="1"/>
          <p:nvPr/>
        </p:nvSpPr>
        <p:spPr>
          <a:xfrm>
            <a:off x="5157473" y="7880400"/>
            <a:ext cx="391454" cy="292388"/>
          </a:xfrm>
          <a:prstGeom prst="rect">
            <a:avLst/>
          </a:prstGeom>
          <a:noFill/>
        </p:spPr>
        <p:txBody>
          <a:bodyPr wrap="none">
            <a:spAutoFit/>
          </a:bodyPr>
          <a:lstStyle/>
          <a:p>
            <a:pPr algn="ctr">
              <a:defRPr sz="1300">
                <a:solidFill>
                  <a:srgbClr val="006455"/>
                </a:solidFill>
                <a:latin typeface="Montserrat ExtraBold"/>
              </a:defRPr>
            </a:pPr>
            <a:r>
              <a:rPr dirty="0"/>
              <a:t>2</a:t>
            </a:r>
            <a:r>
              <a:rPr lang="es-MX" dirty="0"/>
              <a:t>6</a:t>
            </a:r>
            <a:endParaRPr dirty="0"/>
          </a:p>
        </p:txBody>
      </p:sp>
      <p:sp>
        <p:nvSpPr>
          <p:cNvPr id="343" name="TextBox 342"/>
          <p:cNvSpPr txBox="1"/>
          <p:nvPr/>
        </p:nvSpPr>
        <p:spPr>
          <a:xfrm>
            <a:off x="3177750" y="8690400"/>
            <a:ext cx="1377300" cy="584775"/>
          </a:xfrm>
          <a:prstGeom prst="rect">
            <a:avLst/>
          </a:prstGeom>
          <a:noFill/>
        </p:spPr>
        <p:txBody>
          <a:bodyPr wrap="none">
            <a:spAutoFit/>
          </a:bodyPr>
          <a:lstStyle/>
          <a:p>
            <a:pPr algn="ctr">
              <a:defRPr sz="3200" b="1">
                <a:solidFill>
                  <a:srgbClr val="980000"/>
                </a:solidFill>
                <a:latin typeface="Montserrat"/>
              </a:defRPr>
            </a:pPr>
            <a:r>
              <a:rPr dirty="0"/>
              <a:t>21,1</a:t>
            </a:r>
            <a:r>
              <a:rPr lang="es-MX" dirty="0"/>
              <a:t>30</a:t>
            </a:r>
            <a:endParaRPr dirty="0"/>
          </a:p>
        </p:txBody>
      </p:sp>
      <p:graphicFrame>
        <p:nvGraphicFramePr>
          <p:cNvPr id="344" name="Table 343"/>
          <p:cNvGraphicFramePr>
            <a:graphicFrameLocks noGrp="1"/>
          </p:cNvGraphicFramePr>
          <p:nvPr>
            <p:extLst>
              <p:ext uri="{D42A27DB-BD31-4B8C-83A1-F6EECF244321}">
                <p14:modId xmlns:p14="http://schemas.microsoft.com/office/powerpoint/2010/main" val="377438123"/>
              </p:ext>
            </p:extLst>
          </p:nvPr>
        </p:nvGraphicFramePr>
        <p:xfrm>
          <a:off x="219600" y="1548000"/>
          <a:ext cx="7567200" cy="341568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solidFill>
                      <a:srgbClr val="006455"/>
                    </a:solidFill>
                  </a:tcPr>
                </a:tc>
                <a:tc>
                  <a:txBody>
                    <a:bodyPr/>
                    <a:lstStyle/>
                    <a:p>
                      <a:pPr algn="ctr">
                        <a:defRPr sz="1000" b="1">
                          <a:solidFill>
                            <a:srgbClr val="FFFFFF"/>
                          </a:solidFill>
                          <a:latin typeface="Montserrat"/>
                        </a:defRPr>
                      </a:pPr>
                      <a:r>
                        <a:t>Especialidades</a:t>
                      </a:r>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Enfermedades del corazón
(256,688)</a:t>
                      </a:r>
                    </a:p>
                  </a:txBody>
                  <a:tcPr>
                    <a:solidFill>
                      <a:srgbClr val="FFFFFF"/>
                    </a:solidFill>
                  </a:tcPr>
                </a:tc>
                <a:tc>
                  <a:txBody>
                    <a:bodyPr/>
                    <a:lstStyle/>
                    <a:p>
                      <a:pPr algn="ctr"/>
                      <a:r>
                        <a:rPr sz="900" b="0">
                          <a:latin typeface="Montserrat"/>
                        </a:rPr>
                        <a:t>Traumatismos e intoxicaciones
(21,960)</a:t>
                      </a:r>
                    </a:p>
                  </a:txBody>
                  <a:tcPr>
                    <a:solidFill>
                      <a:srgbClr val="FFFFFF"/>
                    </a:solidFill>
                  </a:tcPr>
                </a:tc>
                <a:tc>
                  <a:txBody>
                    <a:bodyPr/>
                    <a:lstStyle/>
                    <a:p>
                      <a:pPr algn="ctr"/>
                      <a:r>
                        <a:rPr sz="900" b="0">
                          <a:latin typeface="Montserrat"/>
                        </a:rPr>
                        <a:t>Traumatismos y envenenamientos
(2,096)</a:t>
                      </a:r>
                    </a:p>
                  </a:txBody>
                  <a:tcPr>
                    <a:solidFill>
                      <a:srgbClr val="FFFFFF"/>
                    </a:solidFill>
                  </a:tcPr>
                </a:tc>
                <a:tc>
                  <a:txBody>
                    <a:bodyPr/>
                    <a:lstStyle/>
                    <a:p>
                      <a:pPr algn="ctr"/>
                      <a:r>
                        <a:rPr sz="900" b="0">
                          <a:latin typeface="Montserrat"/>
                        </a:rPr>
                        <a:t>Embarazo, parto y puerperio
(5,318)</a:t>
                      </a:r>
                    </a:p>
                  </a:txBody>
                  <a:tcPr>
                    <a:solidFill>
                      <a:srgbClr val="FFFFFF"/>
                    </a:solidFill>
                  </a:tcPr>
                </a:tc>
                <a:tc>
                  <a:txBody>
                    <a:bodyPr/>
                    <a:lstStyle/>
                    <a:p>
                      <a:pPr algn="ctr"/>
                      <a:r>
                        <a:rPr sz="900" b="0">
                          <a:latin typeface="Montserrat"/>
                        </a:rPr>
                        <a:t>Enfermedades del corazón
(347)</a:t>
                      </a:r>
                    </a:p>
                  </a:txBody>
                  <a:tcP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Diabetes mellitus
(162,507)</a:t>
                      </a:r>
                    </a:p>
                  </a:txBody>
                  <a:tcPr>
                    <a:solidFill>
                      <a:srgbClr val="EFEFEF"/>
                    </a:solidFill>
                  </a:tcPr>
                </a:tc>
                <a:tc>
                  <a:txBody>
                    <a:bodyPr/>
                    <a:lstStyle/>
                    <a:p>
                      <a:pPr algn="ctr"/>
                      <a:r>
                        <a:rPr sz="900" b="0">
                          <a:latin typeface="Montserrat"/>
                        </a:rPr>
                        <a:t>Tumores malignos
(20,362)</a:t>
                      </a:r>
                    </a:p>
                  </a:txBody>
                  <a:tcPr>
                    <a:solidFill>
                      <a:srgbClr val="EFEFEF"/>
                    </a:solidFill>
                  </a:tcPr>
                </a:tc>
                <a:tc>
                  <a:txBody>
                    <a:bodyPr/>
                    <a:lstStyle/>
                    <a:p>
                      <a:pPr algn="ctr"/>
                      <a:r>
                        <a:rPr sz="900" b="0">
                          <a:latin typeface="Montserrat"/>
                        </a:rPr>
                        <a:t>Cirugía de vesicula biliar (Colecistectomía)
(1,180)</a:t>
                      </a:r>
                    </a:p>
                  </a:txBody>
                  <a:tcPr>
                    <a:solidFill>
                      <a:srgbClr val="EFEFEF"/>
                    </a:solidFill>
                  </a:tcPr>
                </a:tc>
                <a:tc>
                  <a:txBody>
                    <a:bodyPr/>
                    <a:lstStyle/>
                    <a:p>
                      <a:pPr algn="ctr"/>
                      <a:r>
                        <a:rPr sz="900" b="0">
                          <a:latin typeface="Montserrat"/>
                        </a:rPr>
                        <a:t>Traumatismos e intoxicaciones
(2,994)</a:t>
                      </a:r>
                    </a:p>
                  </a:txBody>
                  <a:tcPr>
                    <a:solidFill>
                      <a:srgbClr val="EFEFEF"/>
                    </a:solidFill>
                  </a:tcPr>
                </a:tc>
                <a:tc>
                  <a:txBody>
                    <a:bodyPr/>
                    <a:lstStyle/>
                    <a:p>
                      <a:pPr algn="ctr"/>
                      <a:r>
                        <a:rPr sz="900" b="0">
                          <a:latin typeface="Montserrat"/>
                        </a:rPr>
                        <a:t>Neumonía e influenza
(235)</a:t>
                      </a:r>
                    </a:p>
                  </a:txBody>
                  <a:tcP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Infecciones respiratorias agudas
(39,428)</a:t>
                      </a:r>
                    </a:p>
                  </a:txBody>
                  <a:tcPr>
                    <a:solidFill>
                      <a:srgbClr val="FFFFFF"/>
                    </a:solidFill>
                  </a:tcPr>
                </a:tc>
                <a:tc>
                  <a:txBody>
                    <a:bodyPr/>
                    <a:lstStyle/>
                    <a:p>
                      <a:pPr algn="ctr"/>
                      <a:r>
                        <a:rPr sz="900" b="0">
                          <a:latin typeface="Montserrat"/>
                        </a:rPr>
                        <a:t>Enfermedades del corazón
(17,600)</a:t>
                      </a:r>
                    </a:p>
                  </a:txBody>
                  <a:tcPr>
                    <a:solidFill>
                      <a:srgbClr val="FFFFFF"/>
                    </a:solidFill>
                  </a:tcPr>
                </a:tc>
                <a:tc>
                  <a:txBody>
                    <a:bodyPr/>
                    <a:lstStyle/>
                    <a:p>
                      <a:pPr algn="ctr"/>
                      <a:r>
                        <a:rPr sz="900" b="0">
                          <a:latin typeface="Montserrat"/>
                        </a:rPr>
                        <a:t>Cesárea
(1,177)</a:t>
                      </a:r>
                    </a:p>
                  </a:txBody>
                  <a:tcPr>
                    <a:solidFill>
                      <a:srgbClr val="FFFFFF"/>
                    </a:solidFill>
                  </a:tcPr>
                </a:tc>
                <a:tc>
                  <a:txBody>
                    <a:bodyPr/>
                    <a:lstStyle/>
                    <a:p>
                      <a:pPr algn="ctr"/>
                      <a:r>
                        <a:rPr sz="900" b="0">
                          <a:latin typeface="Montserrat"/>
                        </a:rPr>
                        <a:t>Tumores malignos
(1,591)</a:t>
                      </a:r>
                    </a:p>
                  </a:txBody>
                  <a:tcPr>
                    <a:solidFill>
                      <a:srgbClr val="FFFFFF"/>
                    </a:solidFill>
                  </a:tcPr>
                </a:tc>
                <a:tc>
                  <a:txBody>
                    <a:bodyPr/>
                    <a:lstStyle/>
                    <a:p>
                      <a:pPr algn="ctr"/>
                      <a:r>
                        <a:rPr sz="900" b="0">
                          <a:latin typeface="Montserrat"/>
                        </a:rPr>
                        <a:t>Tumores malignos
(226)</a:t>
                      </a:r>
                    </a:p>
                  </a:txBody>
                  <a:tcPr>
                    <a:solidFill>
                      <a:srgbClr val="FFFFFF"/>
                    </a:solidFill>
                  </a:tcPr>
                </a:tc>
                <a:extLst>
                  <a:ext uri="{0D108BD9-81ED-4DB2-BD59-A6C34878D82A}">
                    <a16:rowId xmlns:a16="http://schemas.microsoft.com/office/drawing/2014/main" val="10003"/>
                  </a:ext>
                </a:extLst>
              </a:tr>
              <a:tr h="489600">
                <a:tc>
                  <a:txBody>
                    <a:bodyPr/>
                    <a:lstStyle/>
                    <a:p>
                      <a:pPr algn="ctr"/>
                      <a:r>
                        <a:rPr lang="es-MX" sz="900" b="0" dirty="0">
                          <a:latin typeface="Montserrat"/>
                        </a:rPr>
                        <a:t>T</a:t>
                      </a:r>
                      <a:r>
                        <a:rPr sz="900" b="0" dirty="0" err="1">
                          <a:latin typeface="Montserrat"/>
                        </a:rPr>
                        <a:t>raumatismos</a:t>
                      </a:r>
                      <a:r>
                        <a:rPr sz="900" b="0" dirty="0">
                          <a:latin typeface="Montserrat"/>
                        </a:rPr>
                        <a:t> e </a:t>
                      </a:r>
                      <a:r>
                        <a:rPr sz="900" b="0" dirty="0" err="1">
                          <a:latin typeface="Montserrat"/>
                        </a:rPr>
                        <a:t>intoxicaciones</a:t>
                      </a:r>
                      <a:r>
                        <a:rPr sz="900" b="0" dirty="0">
                          <a:latin typeface="Montserrat"/>
                        </a:rPr>
                        <a:t>
(31,903)</a:t>
                      </a:r>
                    </a:p>
                  </a:txBody>
                  <a:tcPr>
                    <a:solidFill>
                      <a:srgbClr val="EFEFEF"/>
                    </a:solidFill>
                  </a:tcPr>
                </a:tc>
                <a:tc>
                  <a:txBody>
                    <a:bodyPr/>
                    <a:lstStyle/>
                    <a:p>
                      <a:pPr algn="ctr"/>
                      <a:r>
                        <a:rPr sz="900" b="0">
                          <a:latin typeface="Montserrat"/>
                        </a:rPr>
                        <a:t>Enfermedades y trastornos de las articulaciones
(15,742)</a:t>
                      </a:r>
                    </a:p>
                  </a:txBody>
                  <a:tcPr>
                    <a:solidFill>
                      <a:srgbClr val="EFEFEF"/>
                    </a:solidFill>
                  </a:tcPr>
                </a:tc>
                <a:tc>
                  <a:txBody>
                    <a:bodyPr/>
                    <a:lstStyle/>
                    <a:p>
                      <a:pPr algn="ctr"/>
                      <a:r>
                        <a:rPr sz="900" b="0">
                          <a:latin typeface="Montserrat"/>
                        </a:rPr>
                        <a:t>Cirugía de Hernias (Hernioplastía)
(1,173)</a:t>
                      </a:r>
                    </a:p>
                  </a:txBody>
                  <a:tcPr>
                    <a:solidFill>
                      <a:srgbClr val="EFEFEF"/>
                    </a:solidFill>
                  </a:tcPr>
                </a:tc>
                <a:tc>
                  <a:txBody>
                    <a:bodyPr/>
                    <a:lstStyle/>
                    <a:p>
                      <a:pPr algn="ctr"/>
                      <a:r>
                        <a:rPr sz="900" b="0">
                          <a:latin typeface="Montserrat"/>
                        </a:rPr>
                        <a:t>Enfermedades de la vesicula biliar
(1,567)</a:t>
                      </a:r>
                    </a:p>
                  </a:txBody>
                  <a:tcPr>
                    <a:solidFill>
                      <a:srgbClr val="EFEFEF"/>
                    </a:solidFill>
                  </a:tcPr>
                </a:tc>
                <a:tc>
                  <a:txBody>
                    <a:bodyPr/>
                    <a:lstStyle/>
                    <a:p>
                      <a:pPr algn="ctr"/>
                      <a:r>
                        <a:rPr sz="900" b="0">
                          <a:latin typeface="Montserrat"/>
                        </a:rPr>
                        <a:t>Insuficiencia renal
(125)</a:t>
                      </a:r>
                    </a:p>
                  </a:txBody>
                  <a:tcP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Enfermedades mentales
(27,911)</a:t>
                      </a:r>
                    </a:p>
                  </a:txBody>
                  <a:tcPr>
                    <a:solidFill>
                      <a:srgbClr val="FFFFFF"/>
                    </a:solidFill>
                  </a:tcPr>
                </a:tc>
                <a:tc>
                  <a:txBody>
                    <a:bodyPr/>
                    <a:lstStyle/>
                    <a:p>
                      <a:pPr algn="ctr"/>
                      <a:r>
                        <a:rPr sz="900" b="0">
                          <a:latin typeface="Montserrat"/>
                        </a:rPr>
                        <a:t>Problemas y enfermedades de la columna vertebral
(15,134)</a:t>
                      </a:r>
                    </a:p>
                  </a:txBody>
                  <a:tcPr>
                    <a:solidFill>
                      <a:srgbClr val="FFFFFF"/>
                    </a:solidFill>
                  </a:tcPr>
                </a:tc>
                <a:tc>
                  <a:txBody>
                    <a:bodyPr/>
                    <a:lstStyle/>
                    <a:p>
                      <a:pPr algn="ctr"/>
                      <a:r>
                        <a:rPr sz="900" b="0">
                          <a:latin typeface="Montserrat"/>
                        </a:rPr>
                        <a:t>Tumores malignos
(864)</a:t>
                      </a:r>
                    </a:p>
                  </a:txBody>
                  <a:tcPr>
                    <a:solidFill>
                      <a:srgbClr val="FFFFFF"/>
                    </a:solidFill>
                  </a:tcPr>
                </a:tc>
                <a:tc>
                  <a:txBody>
                    <a:bodyPr/>
                    <a:lstStyle/>
                    <a:p>
                      <a:pPr algn="ctr"/>
                      <a:r>
                        <a:rPr sz="900" b="0">
                          <a:latin typeface="Montserrat"/>
                        </a:rPr>
                        <a:t>Enfermedades del corazón
(1,545)</a:t>
                      </a:r>
                    </a:p>
                  </a:txBody>
                  <a:tcPr>
                    <a:solidFill>
                      <a:srgbClr val="FFFFFF"/>
                    </a:solidFill>
                  </a:tcPr>
                </a:tc>
                <a:tc>
                  <a:txBody>
                    <a:bodyPr/>
                    <a:lstStyle/>
                    <a:p>
                      <a:pPr algn="ctr"/>
                      <a:r>
                        <a:rPr sz="900" b="0" dirty="0">
                          <a:latin typeface="Montserrat"/>
                        </a:rPr>
                        <a:t>Enfermedades </a:t>
                      </a:r>
                      <a:r>
                        <a:rPr sz="900" b="0" dirty="0" err="1">
                          <a:latin typeface="Montserrat"/>
                        </a:rPr>
                        <a:t>cerebrovasculares</a:t>
                      </a:r>
                      <a:r>
                        <a:rPr sz="900" b="0" dirty="0">
                          <a:latin typeface="Montserrat"/>
                        </a:rPr>
                        <a:t>
(114)</a:t>
                      </a:r>
                    </a:p>
                  </a:txBody>
                  <a:tcP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94884" y="5209666"/>
            <a:ext cx="5331600" cy="432000"/>
          </a:xfrm>
          <a:prstGeom prst="rect">
            <a:avLst/>
          </a:prstGeom>
          <a:noFill/>
        </p:spPr>
        <p:txBody>
          <a:bodyPr wrap="square" lIns="0" tIns="0" rIns="0" bIns="0">
            <a:spAutoFit/>
          </a:bodyPr>
          <a:lstStyle/>
          <a:p>
            <a:pPr algn="l">
              <a:defRPr sz="700">
                <a:solidFill>
                  <a:srgbClr val="000000"/>
                </a:solidFill>
                <a:latin typeface="Montserrat"/>
              </a:defRPr>
            </a:pPr>
            <a:r>
              <a:rPr dirty="0"/>
              <a:t>El </a:t>
            </a:r>
            <a:r>
              <a:rPr dirty="0" err="1"/>
              <a:t>número</a:t>
            </a:r>
            <a:r>
              <a:rPr dirty="0"/>
              <a:t> de </a:t>
            </a:r>
            <a:r>
              <a:rPr dirty="0" err="1"/>
              <a:t>casos</a:t>
            </a:r>
            <a:r>
              <a:rPr dirty="0"/>
              <a:t> se </a:t>
            </a:r>
            <a:r>
              <a:rPr dirty="0" err="1"/>
              <a:t>presentan</a:t>
            </a:r>
            <a:r>
              <a:rPr dirty="0"/>
              <a:t> entre </a:t>
            </a:r>
            <a:r>
              <a:rPr dirty="0" err="1"/>
              <a:t>paréntesis</a:t>
            </a:r>
            <a:r>
              <a:rPr dirty="0"/>
              <a:t>.</a:t>
            </a:r>
            <a:br>
              <a:rPr dirty="0"/>
            </a:br>
            <a:r>
              <a:rPr dirty="0"/>
              <a:t>Fuente: IMSS/DPM/División de Información en Salud/</a:t>
            </a:r>
            <a:r>
              <a:rPr dirty="0" err="1"/>
              <a:t>Motivos</a:t>
            </a:r>
            <a:r>
              <a:rPr dirty="0"/>
              <a:t> de Consulta Externa (SUI27).</a:t>
            </a:r>
            <a:br>
              <a:rPr dirty="0"/>
            </a:br>
            <a:r>
              <a:rPr dirty="0"/>
              <a:t>Sistema de información Médico </a:t>
            </a:r>
            <a:r>
              <a:rPr dirty="0" err="1"/>
              <a:t>Operativo</a:t>
            </a:r>
            <a:r>
              <a:rPr dirty="0"/>
              <a:t> Central (SIMOC).</a:t>
            </a:r>
            <a:br>
              <a:rPr dirty="0"/>
            </a:br>
            <a:r>
              <a:rPr dirty="0" err="1"/>
              <a:t>Periodo</a:t>
            </a:r>
            <a:r>
              <a:rPr dirty="0"/>
              <a:t>: enero-</a:t>
            </a:r>
            <a:r>
              <a:rPr dirty="0" err="1"/>
              <a:t>diciembre</a:t>
            </a:r>
            <a:r>
              <a:rPr dirty="0"/>
              <a:t> 2025</a:t>
            </a:r>
          </a:p>
        </p:txBody>
      </p:sp>
      <p:sp>
        <p:nvSpPr>
          <p:cNvPr id="346" name="TextBox 345"/>
          <p:cNvSpPr txBox="1"/>
          <p:nvPr/>
        </p:nvSpPr>
        <p:spPr>
          <a:xfrm>
            <a:off x="233696" y="9694729"/>
            <a:ext cx="4244400" cy="107722"/>
          </a:xfrm>
          <a:prstGeom prst="rect">
            <a:avLst/>
          </a:prstGeom>
          <a:noFill/>
        </p:spPr>
        <p:txBody>
          <a:bodyPr wrap="square" lIns="0" tIns="0" rIns="0" bIns="0">
            <a:spAutoFit/>
          </a:bodyPr>
          <a:lstStyle/>
          <a:p>
            <a:pPr algn="l">
              <a:defRPr sz="700">
                <a:solidFill>
                  <a:srgbClr val="000000"/>
                </a:solidFill>
                <a:latin typeface="Montserrat"/>
              </a:defRPr>
            </a:pPr>
            <a:r>
              <a:rPr dirty="0">
                <a:solidFill>
                  <a:schemeClr val="bg1"/>
                </a:solidFill>
              </a:rPr>
              <a:t>Corte de información: </a:t>
            </a:r>
            <a:r>
              <a:rPr dirty="0" err="1">
                <a:solidFill>
                  <a:schemeClr val="bg1"/>
                </a:solidFill>
              </a:rPr>
              <a:t>marzo</a:t>
            </a:r>
            <a:r>
              <a:rPr dirty="0">
                <a:solidFill>
                  <a:schemeClr val="bg1"/>
                </a:solidFill>
              </a:rPr>
              <a:t>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400" y="1717198"/>
            <a:ext cx="7573614" cy="4048787"/>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
        <p:nvSpPr>
          <p:cNvPr id="8" name="TextBox 7"/>
          <p:cNvSpPr txBox="1"/>
          <p:nvPr/>
        </p:nvSpPr>
        <p:spPr>
          <a:xfrm>
            <a:off x="274320" y="6126479"/>
            <a:ext cx="4572000" cy="365760"/>
          </a:xfrm>
          <a:prstGeom prst="rect">
            <a:avLst/>
          </a:prstGeom>
          <a:noFill/>
        </p:spPr>
        <p:txBody>
          <a:bodyPr wrap="none">
            <a:spAutoFit/>
          </a:bodyPr>
          <a:lstStyle/>
          <a:p>
            <a:pPr algn="l">
              <a:defRPr sz="2000" b="0">
                <a:solidFill>
                  <a:srgbClr val="BC955C"/>
                </a:solidFill>
                <a:latin typeface="Montserrat"/>
              </a:defRPr>
            </a:pPr>
            <a:r>
              <a:rPr dirty="0" err="1"/>
              <a:t>Recetas</a:t>
            </a:r>
            <a:r>
              <a:rPr dirty="0"/>
              <a:t> </a:t>
            </a:r>
            <a:r>
              <a:rPr dirty="0" err="1"/>
              <a:t>manuales</a:t>
            </a:r>
            <a:r>
              <a:rPr dirty="0"/>
              <a:t> y </a:t>
            </a:r>
            <a:r>
              <a:rPr dirty="0" err="1"/>
              <a:t>electrónicas</a:t>
            </a:r>
            <a:endParaRPr dirty="0"/>
          </a:p>
        </p:txBody>
      </p:sp>
      <p:cxnSp>
        <p:nvCxnSpPr>
          <p:cNvPr id="9" name="Connector 8"/>
          <p:cNvCxnSpPr/>
          <p:nvPr/>
        </p:nvCxnSpPr>
        <p:spPr>
          <a:xfrm>
            <a:off x="274320" y="6609611"/>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1977808251"/>
              </p:ext>
            </p:extLst>
          </p:nvPr>
        </p:nvGraphicFramePr>
        <p:xfrm>
          <a:off x="457200" y="7050838"/>
          <a:ext cx="6858000" cy="1315916"/>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541848">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dirty="0" err="1">
                          <a:solidFill>
                            <a:srgbClr val="FFFFFF"/>
                          </a:solidFill>
                          <a:latin typeface="Montserrat"/>
                        </a:rPr>
                        <a:t>Manuales</a:t>
                      </a:r>
                      <a:endParaRPr sz="1100" b="1" dirty="0">
                        <a:solidFill>
                          <a:srgbClr val="FFFFFF"/>
                        </a:solidFill>
                        <a:latin typeface="Montserrat"/>
                      </a:endParaRP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87034">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406,801</a:t>
                      </a:r>
                    </a:p>
                  </a:txBody>
                  <a:tcPr>
                    <a:solidFill>
                      <a:srgbClr val="FFFFFF"/>
                    </a:solidFill>
                  </a:tcPr>
                </a:tc>
                <a:tc>
                  <a:txBody>
                    <a:bodyPr/>
                    <a:lstStyle/>
                    <a:p>
                      <a:pPr algn="ctr"/>
                      <a:r>
                        <a:rPr sz="1100" b="0">
                          <a:solidFill>
                            <a:srgbClr val="434343"/>
                          </a:solidFill>
                          <a:latin typeface="Montserrat"/>
                        </a:rPr>
                        <a:t>3,018,144</a:t>
                      </a:r>
                    </a:p>
                  </a:txBody>
                  <a:tcPr>
                    <a:solidFill>
                      <a:srgbClr val="FFFFFF"/>
                    </a:solidFill>
                  </a:tcPr>
                </a:tc>
                <a:tc>
                  <a:txBody>
                    <a:bodyPr/>
                    <a:lstStyle/>
                    <a:p>
                      <a:pPr algn="ctr"/>
                      <a:r>
                        <a:rPr sz="1100" b="0">
                          <a:solidFill>
                            <a:srgbClr val="434343"/>
                          </a:solidFill>
                          <a:latin typeface="Montserrat"/>
                        </a:rPr>
                        <a:t>88.1%</a:t>
                      </a:r>
                    </a:p>
                  </a:txBody>
                  <a:tcPr>
                    <a:solidFill>
                      <a:srgbClr val="FFFFFF"/>
                    </a:solidFill>
                  </a:tcPr>
                </a:tc>
                <a:extLst>
                  <a:ext uri="{0D108BD9-81ED-4DB2-BD59-A6C34878D82A}">
                    <a16:rowId xmlns:a16="http://schemas.microsoft.com/office/drawing/2014/main" val="10001"/>
                  </a:ext>
                </a:extLst>
              </a:tr>
              <a:tr h="387034">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266,854</a:t>
                      </a:r>
                    </a:p>
                  </a:txBody>
                  <a:tcPr>
                    <a:solidFill>
                      <a:srgbClr val="D9D9D9"/>
                    </a:solidFill>
                  </a:tcPr>
                </a:tc>
                <a:tc>
                  <a:txBody>
                    <a:bodyPr/>
                    <a:lstStyle/>
                    <a:p>
                      <a:pPr algn="ctr"/>
                      <a:r>
                        <a:rPr sz="1100" b="1">
                          <a:solidFill>
                            <a:srgbClr val="006455"/>
                          </a:solidFill>
                          <a:latin typeface="Montserrat"/>
                        </a:rPr>
                        <a:t>3,112,763</a:t>
                      </a:r>
                    </a:p>
                  </a:txBody>
                  <a:tcPr>
                    <a:solidFill>
                      <a:srgbClr val="D9D9D9"/>
                    </a:solidFill>
                  </a:tcPr>
                </a:tc>
                <a:tc>
                  <a:txBody>
                    <a:bodyPr/>
                    <a:lstStyle/>
                    <a:p>
                      <a:pPr algn="ctr"/>
                      <a:r>
                        <a:rPr sz="1100" b="1" dirty="0">
                          <a:solidFill>
                            <a:srgbClr val="006455"/>
                          </a:solidFill>
                          <a:latin typeface="Montserrat"/>
                        </a:rPr>
                        <a:t>92.1%</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1CF01-BF96-98B2-A6A9-B91705CBB331}"/>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3" name="TextBox 2"/>
          <p:cNvSpPr txBox="1"/>
          <p:nvPr/>
        </p:nvSpPr>
        <p:spPr>
          <a:xfrm>
            <a:off x="180000" y="612000"/>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tIns="0" r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6.png"/>
          <p:cNvPicPr>
            <a:picLocks noChangeAspect="1"/>
          </p:cNvPicPr>
          <p:nvPr/>
        </p:nvPicPr>
        <p:blipFill>
          <a:blip r:embed="rId2"/>
          <a:stretch>
            <a:fillRect/>
          </a:stretch>
        </p:blipFill>
        <p:spPr>
          <a:xfrm>
            <a:off x="129600" y="1360799"/>
            <a:ext cx="7441200" cy="3039043"/>
          </a:xfrm>
          <a:prstGeom prst="rect">
            <a:avLst/>
          </a:prstGeom>
        </p:spPr>
      </p:pic>
      <p:sp>
        <p:nvSpPr>
          <p:cNvPr id="7" name="TextBox 6"/>
          <p:cNvSpPr txBox="1"/>
          <p:nvPr/>
        </p:nvSpPr>
        <p:spPr>
          <a:xfrm>
            <a:off x="198000" y="4693977"/>
            <a:ext cx="6840000" cy="288000"/>
          </a:xfrm>
          <a:prstGeom prst="rect">
            <a:avLst/>
          </a:prstGeom>
          <a:noFill/>
        </p:spPr>
        <p:txBody>
          <a:bodyPr wrap="none" lIns="0" tIns="0" rIns="0" bIns="0">
            <a:spAutoFit/>
          </a:bodyPr>
          <a:lstStyle/>
          <a:p>
            <a:pPr algn="l">
              <a:defRPr sz="1800" b="0">
                <a:solidFill>
                  <a:srgbClr val="BC955C"/>
                </a:solidFill>
                <a:latin typeface="Montserrat"/>
              </a:defRPr>
            </a:pPr>
            <a:r>
              <a:rPr dirty="0" err="1"/>
              <a:t>Medicamentos</a:t>
            </a:r>
            <a:r>
              <a:rPr dirty="0"/>
              <a:t> con mayor </a:t>
            </a:r>
            <a:r>
              <a:rPr dirty="0" err="1"/>
              <a:t>demanda</a:t>
            </a:r>
            <a:endParaRPr dirty="0"/>
          </a:p>
        </p:txBody>
      </p:sp>
      <p:cxnSp>
        <p:nvCxnSpPr>
          <p:cNvPr id="8" name="Connector 7"/>
          <p:cNvCxnSpPr/>
          <p:nvPr/>
        </p:nvCxnSpPr>
        <p:spPr>
          <a:xfrm>
            <a:off x="221696" y="5040644"/>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2761697191"/>
              </p:ext>
            </p:extLst>
          </p:nvPr>
        </p:nvGraphicFramePr>
        <p:xfrm>
          <a:off x="129600" y="5545504"/>
          <a:ext cx="7200000" cy="2779624"/>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237849">
                <a:tc gridSpan="2">
                  <a:txBody>
                    <a:bodyPr/>
                    <a:lstStyle/>
                    <a:p>
                      <a:pPr algn="ctr">
                        <a:defRPr sz="1000" b="1">
                          <a:solidFill>
                            <a:srgbClr val="FFFFFF"/>
                          </a:solidFill>
                          <a:latin typeface="Montserrat"/>
                        </a:defRPr>
                      </a:pPr>
                      <a:r>
                        <a:rPr sz="1100" dirty="0"/>
                        <a:t>Con mayor </a:t>
                      </a:r>
                      <a:r>
                        <a:rPr sz="1100" dirty="0" err="1"/>
                        <a:t>demanda</a:t>
                      </a:r>
                      <a:r>
                        <a:rPr sz="1100" dirty="0"/>
                        <a:t> de enero a </a:t>
                      </a:r>
                      <a:r>
                        <a:rPr lang="es-MX" sz="1100" dirty="0"/>
                        <a:t>mayo</a:t>
                      </a:r>
                      <a:r>
                        <a:rPr sz="1100" dirty="0"/>
                        <a:t>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52285">
                <a:tc>
                  <a:txBody>
                    <a:bodyPr/>
                    <a:lstStyle/>
                    <a:p>
                      <a:pPr algn="ctr">
                        <a:defRPr sz="900" b="1">
                          <a:solidFill>
                            <a:srgbClr val="FFFFFF"/>
                          </a:solidFill>
                          <a:latin typeface="Montserrat"/>
                        </a:defRPr>
                      </a:pPr>
                      <a:r>
                        <a:rPr sz="1050"/>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rPr sz="1050"/>
                        <a:t>Consumo</a:t>
                      </a:r>
                    </a:p>
                  </a:txBody>
                  <a:tcPr marL="18000" marR="18000" marT="18000" marB="18000" anchor="ctr">
                    <a:solidFill>
                      <a:srgbClr val="006455"/>
                    </a:solidFill>
                  </a:tcPr>
                </a:tc>
                <a:extLst>
                  <a:ext uri="{0D108BD9-81ED-4DB2-BD59-A6C34878D82A}">
                    <a16:rowId xmlns:a16="http://schemas.microsoft.com/office/drawing/2014/main" val="10001"/>
                  </a:ext>
                </a:extLst>
              </a:tr>
              <a:tr h="228949">
                <a:tc>
                  <a:txBody>
                    <a:bodyPr/>
                    <a:lstStyle/>
                    <a:p>
                      <a:pPr algn="l">
                        <a:defRPr sz="900" b="0">
                          <a:solidFill>
                            <a:srgbClr val="333333"/>
                          </a:solidFill>
                          <a:latin typeface="Montserrat"/>
                        </a:defRPr>
                      </a:pPr>
                      <a:r>
                        <a:rPr sz="1050"/>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925,354</a:t>
                      </a:r>
                    </a:p>
                  </a:txBody>
                  <a:tcPr marL="18000" marR="18000" marT="18000" marB="18000" anchor="ctr">
                    <a:solidFill>
                      <a:srgbClr val="F2F2F2"/>
                    </a:solidFill>
                  </a:tcPr>
                </a:tc>
                <a:extLst>
                  <a:ext uri="{0D108BD9-81ED-4DB2-BD59-A6C34878D82A}">
                    <a16:rowId xmlns:a16="http://schemas.microsoft.com/office/drawing/2014/main" val="10002"/>
                  </a:ext>
                </a:extLst>
              </a:tr>
              <a:tr h="228949">
                <a:tc>
                  <a:txBody>
                    <a:bodyPr/>
                    <a:lstStyle/>
                    <a:p>
                      <a:pPr algn="l">
                        <a:defRPr sz="900" b="0">
                          <a:solidFill>
                            <a:srgbClr val="333333"/>
                          </a:solidFill>
                          <a:latin typeface="Montserrat"/>
                        </a:defRPr>
                      </a:pPr>
                      <a:r>
                        <a:rPr sz="1050"/>
                        <a:t>Telmisartán, tableta (antihipertensivo)</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527,049</a:t>
                      </a:r>
                    </a:p>
                  </a:txBody>
                  <a:tcPr marL="18000" marR="18000" marT="18000" marB="18000" anchor="ctr">
                    <a:solidFill>
                      <a:srgbClr val="FFFFFF"/>
                    </a:solidFill>
                  </a:tcPr>
                </a:tc>
                <a:extLst>
                  <a:ext uri="{0D108BD9-81ED-4DB2-BD59-A6C34878D82A}">
                    <a16:rowId xmlns:a16="http://schemas.microsoft.com/office/drawing/2014/main" val="10003"/>
                  </a:ext>
                </a:extLst>
              </a:tr>
              <a:tr h="228949">
                <a:tc>
                  <a:txBody>
                    <a:bodyPr/>
                    <a:lstStyle/>
                    <a:p>
                      <a:pPr algn="l">
                        <a:defRPr sz="900" b="0">
                          <a:solidFill>
                            <a:srgbClr val="333333"/>
                          </a:solidFill>
                          <a:latin typeface="Montserrat"/>
                        </a:defRPr>
                      </a:pPr>
                      <a:r>
                        <a:rPr sz="1050"/>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401,606</a:t>
                      </a:r>
                    </a:p>
                  </a:txBody>
                  <a:tcPr marL="18000" marR="18000" marT="18000" marB="18000" anchor="ctr">
                    <a:solidFill>
                      <a:srgbClr val="F2F2F2"/>
                    </a:solidFill>
                  </a:tcPr>
                </a:tc>
                <a:extLst>
                  <a:ext uri="{0D108BD9-81ED-4DB2-BD59-A6C34878D82A}">
                    <a16:rowId xmlns:a16="http://schemas.microsoft.com/office/drawing/2014/main" val="10004"/>
                  </a:ext>
                </a:extLst>
              </a:tr>
              <a:tr h="228949">
                <a:tc>
                  <a:txBody>
                    <a:bodyPr/>
                    <a:lstStyle/>
                    <a:p>
                      <a:pPr algn="l">
                        <a:defRPr sz="900" b="0">
                          <a:solidFill>
                            <a:srgbClr val="333333"/>
                          </a:solidFill>
                          <a:latin typeface="Montserrat"/>
                        </a:defRPr>
                      </a:pPr>
                      <a:r>
                        <a:rPr sz="1050"/>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337,730</a:t>
                      </a:r>
                    </a:p>
                  </a:txBody>
                  <a:tcPr marL="18000" marR="18000" marT="18000" marB="18000" anchor="ctr">
                    <a:solidFill>
                      <a:srgbClr val="FFFFFF"/>
                    </a:solidFill>
                  </a:tcPr>
                </a:tc>
                <a:extLst>
                  <a:ext uri="{0D108BD9-81ED-4DB2-BD59-A6C34878D82A}">
                    <a16:rowId xmlns:a16="http://schemas.microsoft.com/office/drawing/2014/main" val="10005"/>
                  </a:ext>
                </a:extLst>
              </a:tr>
              <a:tr h="228949">
                <a:tc>
                  <a:txBody>
                    <a:bodyPr/>
                    <a:lstStyle/>
                    <a:p>
                      <a:pPr algn="l">
                        <a:defRPr sz="900" b="0">
                          <a:solidFill>
                            <a:srgbClr val="333333"/>
                          </a:solidFill>
                          <a:latin typeface="Montserrat"/>
                        </a:defRPr>
                      </a:pPr>
                      <a:r>
                        <a:rPr sz="1050"/>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333,736</a:t>
                      </a:r>
                    </a:p>
                  </a:txBody>
                  <a:tcPr marL="18000" marR="18000" marT="18000" marB="18000" anchor="ctr">
                    <a:solidFill>
                      <a:srgbClr val="F2F2F2"/>
                    </a:solidFill>
                  </a:tcPr>
                </a:tc>
                <a:extLst>
                  <a:ext uri="{0D108BD9-81ED-4DB2-BD59-A6C34878D82A}">
                    <a16:rowId xmlns:a16="http://schemas.microsoft.com/office/drawing/2014/main" val="10006"/>
                  </a:ext>
                </a:extLst>
              </a:tr>
              <a:tr h="228949">
                <a:tc>
                  <a:txBody>
                    <a:bodyPr/>
                    <a:lstStyle/>
                    <a:p>
                      <a:pPr algn="l">
                        <a:defRPr sz="900" b="0">
                          <a:solidFill>
                            <a:srgbClr val="333333"/>
                          </a:solidFill>
                          <a:latin typeface="Montserrat"/>
                        </a:defRPr>
                      </a:pPr>
                      <a:r>
                        <a:rPr sz="1050"/>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297,810</a:t>
                      </a:r>
                    </a:p>
                  </a:txBody>
                  <a:tcPr marL="18000" marR="18000" marT="18000" marB="18000" anchor="ctr">
                    <a:solidFill>
                      <a:srgbClr val="FFFFFF"/>
                    </a:solidFill>
                  </a:tcPr>
                </a:tc>
                <a:extLst>
                  <a:ext uri="{0D108BD9-81ED-4DB2-BD59-A6C34878D82A}">
                    <a16:rowId xmlns:a16="http://schemas.microsoft.com/office/drawing/2014/main" val="10007"/>
                  </a:ext>
                </a:extLst>
              </a:tr>
              <a:tr h="228949">
                <a:tc>
                  <a:txBody>
                    <a:bodyPr/>
                    <a:lstStyle/>
                    <a:p>
                      <a:pPr algn="l">
                        <a:defRPr sz="900" b="0">
                          <a:solidFill>
                            <a:srgbClr val="333333"/>
                          </a:solidFill>
                          <a:latin typeface="Montserrat"/>
                        </a:defRPr>
                      </a:pPr>
                      <a:r>
                        <a:rPr sz="1050"/>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291,163</a:t>
                      </a:r>
                    </a:p>
                  </a:txBody>
                  <a:tcPr marL="18000" marR="18000" marT="18000" marB="18000" anchor="ctr">
                    <a:solidFill>
                      <a:srgbClr val="F2F2F2"/>
                    </a:solidFill>
                  </a:tcPr>
                </a:tc>
                <a:extLst>
                  <a:ext uri="{0D108BD9-81ED-4DB2-BD59-A6C34878D82A}">
                    <a16:rowId xmlns:a16="http://schemas.microsoft.com/office/drawing/2014/main" val="10008"/>
                  </a:ext>
                </a:extLst>
              </a:tr>
              <a:tr h="228949">
                <a:tc>
                  <a:txBody>
                    <a:bodyPr/>
                    <a:lstStyle/>
                    <a:p>
                      <a:pPr algn="l">
                        <a:defRPr sz="900" b="0">
                          <a:solidFill>
                            <a:srgbClr val="333333"/>
                          </a:solidFill>
                          <a:latin typeface="Montserrat"/>
                        </a:defRPr>
                      </a:pPr>
                      <a:r>
                        <a:rPr sz="1050"/>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290,987</a:t>
                      </a:r>
                    </a:p>
                  </a:txBody>
                  <a:tcPr marL="18000" marR="18000" marT="18000" marB="18000" anchor="ctr">
                    <a:solidFill>
                      <a:srgbClr val="FFFFFF"/>
                    </a:solidFill>
                  </a:tcPr>
                </a:tc>
                <a:extLst>
                  <a:ext uri="{0D108BD9-81ED-4DB2-BD59-A6C34878D82A}">
                    <a16:rowId xmlns:a16="http://schemas.microsoft.com/office/drawing/2014/main" val="10009"/>
                  </a:ext>
                </a:extLst>
              </a:tr>
              <a:tr h="228949">
                <a:tc>
                  <a:txBody>
                    <a:bodyPr/>
                    <a:lstStyle/>
                    <a:p>
                      <a:pPr algn="l">
                        <a:defRPr sz="900" b="0">
                          <a:solidFill>
                            <a:srgbClr val="333333"/>
                          </a:solidFill>
                          <a:latin typeface="Montserrat"/>
                        </a:defRPr>
                      </a:pPr>
                      <a:r>
                        <a:rPr sz="1050"/>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259,869</a:t>
                      </a:r>
                    </a:p>
                  </a:txBody>
                  <a:tcPr marL="18000" marR="18000" marT="18000" marB="18000" anchor="ctr">
                    <a:solidFill>
                      <a:srgbClr val="F2F2F2"/>
                    </a:solidFill>
                  </a:tcPr>
                </a:tc>
                <a:extLst>
                  <a:ext uri="{0D108BD9-81ED-4DB2-BD59-A6C34878D82A}">
                    <a16:rowId xmlns:a16="http://schemas.microsoft.com/office/drawing/2014/main" val="10010"/>
                  </a:ext>
                </a:extLst>
              </a:tr>
              <a:tr h="228949">
                <a:tc>
                  <a:txBody>
                    <a:bodyPr/>
                    <a:lstStyle/>
                    <a:p>
                      <a:pPr algn="l">
                        <a:defRPr sz="900" b="0">
                          <a:solidFill>
                            <a:srgbClr val="333333"/>
                          </a:solidFill>
                          <a:latin typeface="Montserrat"/>
                        </a:defRPr>
                      </a:pPr>
                      <a:r>
                        <a:rPr sz="1050"/>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dirty="0"/>
                        <a:t>251,873</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180000" y="9624305"/>
            <a:ext cx="6858000" cy="123111"/>
          </a:xfrm>
          <a:prstGeom prst="rect">
            <a:avLst/>
          </a:prstGeom>
          <a:noFill/>
        </p:spPr>
        <p:txBody>
          <a:bodyPr wrap="square" lIns="0" tIns="0" rIns="0" bIns="0">
            <a:spAutoFit/>
          </a:bodyPr>
          <a:lstStyle/>
          <a:p>
            <a:pPr algn="l">
              <a:defRPr sz="800">
                <a:solidFill>
                  <a:srgbClr val="FFFFFF"/>
                </a:solidFill>
                <a:latin typeface="Montserrat"/>
              </a:defRPr>
            </a:pPr>
            <a:r>
              <a:rPr dirty="0"/>
              <a:t>Fuente: Portal de Control de Abasto. En 2026, se </a:t>
            </a:r>
            <a:r>
              <a:rPr dirty="0" err="1"/>
              <a:t>muestra</a:t>
            </a:r>
            <a:r>
              <a:rPr dirty="0"/>
              <a:t> lo </a:t>
            </a:r>
            <a:r>
              <a:rPr dirty="0" err="1"/>
              <a:t>correspondiente</a:t>
            </a:r>
            <a:r>
              <a:rPr dirty="0"/>
              <a:t> al </a:t>
            </a:r>
            <a:r>
              <a:rPr dirty="0" err="1"/>
              <a:t>periodo</a:t>
            </a:r>
            <a:r>
              <a:rPr dirty="0"/>
              <a:t> del 1 de enero al </a:t>
            </a:r>
            <a:r>
              <a:rPr lang="es-MX" dirty="0"/>
              <a:t>31 de mayo </a:t>
            </a:r>
            <a:r>
              <a:rPr dirty="0"/>
              <a:t>de 2026.</a:t>
            </a:r>
          </a:p>
        </p:txBody>
      </p:sp>
    </p:spTree>
    <p:extLst>
      <p:ext uri="{BB962C8B-B14F-4D97-AF65-F5344CB8AC3E}">
        <p14:creationId xmlns:p14="http://schemas.microsoft.com/office/powerpoint/2010/main" val="3226513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68626"/>
            <a:ext cx="1599000" cy="71857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078574" y="1562366"/>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BC955C"/>
                </a:solidFill>
                <a:effectLst/>
                <a:uLnTx/>
                <a:uFillTx/>
                <a:latin typeface="Montserrat"/>
                <a:ea typeface="Montserrat"/>
                <a:cs typeface="Montserrat"/>
                <a:sym typeface="Arial"/>
              </a:rPr>
              <a:t>Remodelación</a:t>
            </a:r>
            <a:r>
              <a:rPr kumimoji="0" lang="en-US" sz="1200" b="1" i="0" u="none" strike="noStrike" kern="0" cap="none" spc="0" normalizeH="0" baseline="0" noProof="0" dirty="0">
                <a:ln>
                  <a:noFill/>
                </a:ln>
                <a:solidFill>
                  <a:srgbClr val="BC955C"/>
                </a:solidFill>
                <a:effectLst/>
                <a:uLnTx/>
                <a:uFillTx/>
                <a:latin typeface="Montserrat"/>
                <a:ea typeface="Montserrat"/>
                <a:cs typeface="Montserrat"/>
                <a:sym typeface="Arial"/>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439472" y="2816686"/>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065874" y="2842052"/>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BC955C"/>
                </a:solidFill>
                <a:effectLst/>
                <a:uLnTx/>
                <a:uFillTx/>
                <a:latin typeface="Montserrat"/>
                <a:ea typeface="Montserrat"/>
                <a:cs typeface="Montserrat"/>
                <a:sym typeface="Arial"/>
              </a:rPr>
              <a:t>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Áreas</a:t>
            </a:r>
            <a:r>
              <a:rPr kumimoji="0" lang="en-US" sz="700" b="1" i="0" u="none" strike="noStrike" kern="0" cap="none" spc="0" normalizeH="0" baseline="0" noProof="0" dirty="0">
                <a:ln>
                  <a:noFill/>
                </a:ln>
                <a:solidFill>
                  <a:srgbClr val="BC955C"/>
                </a:solidFill>
                <a:effectLst/>
                <a:uLnTx/>
                <a:uFillTx/>
                <a:latin typeface="Montserrat"/>
                <a:cs typeface="Arial"/>
                <a:sym typeface="Arial"/>
              </a:rPr>
              <a:t> de </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Terapia</a:t>
            </a:r>
            <a:r>
              <a:rPr kumimoji="0" lang="en-US" sz="700" b="1" i="0" u="none" strike="noStrike" kern="0" cap="none" spc="0" normalizeH="0" baseline="0" noProof="0" dirty="0">
                <a:ln>
                  <a:noFill/>
                </a:ln>
                <a:solidFill>
                  <a:srgbClr val="BC955C"/>
                </a:solidFill>
                <a:effectLst/>
                <a:uLnTx/>
                <a:uFillTx/>
                <a:latin typeface="Montserrat"/>
                <a:cs typeface="Arial"/>
                <a:sym typeface="Arial"/>
              </a:rPr>
              <a:t> </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Intensiva</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439472" y="3743301"/>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065874" y="375558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BC955C"/>
                </a:solidFill>
                <a:effectLst/>
                <a:uLnTx/>
                <a:uFillTx/>
                <a:latin typeface="Montserrat"/>
                <a:ea typeface="Montserrat"/>
                <a:cs typeface="Montserrat"/>
                <a:sym typeface="Arial"/>
              </a:rPr>
              <a:t>2</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err="1">
                <a:ln>
                  <a:noFill/>
                </a:ln>
                <a:solidFill>
                  <a:srgbClr val="BC955C"/>
                </a:solidFill>
                <a:effectLst/>
                <a:uLnTx/>
                <a:uFillTx/>
                <a:latin typeface="Montserrat"/>
                <a:cs typeface="Arial"/>
                <a:sym typeface="Arial"/>
              </a:rPr>
              <a:t>Áreas</a:t>
            </a:r>
            <a:r>
              <a:rPr kumimoji="0" lang="en-US" sz="700" b="1" i="0" u="none" strike="noStrike" kern="0" cap="none" spc="0" normalizeH="0" baseline="0" noProof="0">
                <a:ln>
                  <a:noFill/>
                </a:ln>
                <a:solidFill>
                  <a:srgbClr val="BC955C"/>
                </a:solidFill>
                <a:effectLst/>
                <a:uLnTx/>
                <a:uFillTx/>
                <a:latin typeface="Montserrat"/>
                <a:cs typeface="Arial"/>
                <a:sym typeface="Arial"/>
              </a:rPr>
              <a:t> de </a:t>
            </a:r>
            <a:endParaRPr kumimoji="0" lang="en-US"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err="1">
                <a:ln>
                  <a:noFill/>
                </a:ln>
                <a:solidFill>
                  <a:srgbClr val="BC955C"/>
                </a:solidFill>
                <a:effectLst/>
                <a:uLnTx/>
                <a:uFillTx/>
                <a:latin typeface="Montserrat"/>
                <a:cs typeface="Arial"/>
                <a:sym typeface="Arial"/>
              </a:rPr>
              <a:t>Hemodiálisis</a:t>
            </a:r>
            <a:endParaRPr kumimoji="0" lang="en-US" sz="1400" b="0" i="0" u="none" strike="noStrike" kern="0" cap="none" spc="0" normalizeH="0" baseline="0" noProof="0" err="1">
              <a:ln>
                <a:noFill/>
              </a:ln>
              <a:solidFill>
                <a:srgbClr val="000000"/>
              </a:solidFill>
              <a:effectLst/>
              <a:uLnTx/>
              <a:uFillTx/>
              <a:latin typeface="Arial"/>
              <a:cs typeface="Arial"/>
              <a:sym typeface="Arial"/>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043529" y="469055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BC955C"/>
                </a:solidFill>
                <a:effectLst/>
                <a:uLnTx/>
                <a:uFillTx/>
                <a:latin typeface="Montserrat"/>
                <a:ea typeface="Montserrat"/>
                <a:cs typeface="Montserrat"/>
                <a:sym typeface="Arial"/>
              </a:rPr>
              <a:t>Adquisición</a:t>
            </a:r>
            <a:r>
              <a:rPr kumimoji="0" lang="en-US" sz="1200" b="1" i="0" u="none" strike="noStrike" kern="0" cap="none" spc="0" normalizeH="0" baseline="0" noProof="0" dirty="0">
                <a:ln>
                  <a:noFill/>
                </a:ln>
                <a:solidFill>
                  <a:srgbClr val="BC955C"/>
                </a:solidFill>
                <a:effectLst/>
                <a:uLnTx/>
                <a:uFillTx/>
                <a:latin typeface="Montserrat"/>
                <a:ea typeface="Montserrat"/>
                <a:cs typeface="Montserrat"/>
                <a:sym typeface="Arial"/>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426772" y="5024003"/>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078574" y="5083303"/>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BC955C"/>
                </a:solidFill>
                <a:effectLst/>
                <a:uLnTx/>
                <a:uFillTx/>
                <a:latin typeface="Montserrat"/>
                <a:ea typeface="Montserrat"/>
                <a:cs typeface="Montserrat"/>
                <a:sym typeface="Arial"/>
              </a:rPr>
              <a:t>1</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Resonancia</a:t>
            </a:r>
            <a:endParaRPr kumimoji="0" lang="en-US" sz="700" b="1" i="0" u="none" strike="noStrike" kern="0" cap="none" spc="0" normalizeH="0" baseline="0" noProof="0" dirty="0">
              <a:ln>
                <a:noFill/>
              </a:ln>
              <a:solidFill>
                <a:srgbClr val="BC955C"/>
              </a:solidFill>
              <a:effectLst/>
              <a:uLnTx/>
              <a:uFillTx/>
              <a:latin typeface="Montserrat"/>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Magnética</a:t>
            </a:r>
            <a:endParaRPr kumimoji="0" lang="en-US" sz="700" b="1" i="0" u="none" strike="noStrike" kern="0" cap="none" spc="0" normalizeH="0" baseline="0" noProof="0" dirty="0">
              <a:ln>
                <a:noFill/>
              </a:ln>
              <a:solidFill>
                <a:srgbClr val="BC955C"/>
              </a:solidFill>
              <a:effectLst/>
              <a:uLnTx/>
              <a:uFillTx/>
              <a:latin typeface="Montserrat"/>
              <a:cs typeface="Arial"/>
              <a:sym typeface="Arial"/>
            </a:endParaRPr>
          </a:p>
        </p:txBody>
      </p:sp>
      <p:sp>
        <p:nvSpPr>
          <p:cNvPr id="16" name="TextBox 15"/>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graphicFrame>
        <p:nvGraphicFramePr>
          <p:cNvPr id="17" name="Table 16"/>
          <p:cNvGraphicFramePr>
            <a:graphicFrameLocks noGrp="1"/>
          </p:cNvGraphicFramePr>
          <p:nvPr/>
        </p:nvGraphicFramePr>
        <p:xfrm>
          <a:off x="1785600" y="1512976"/>
          <a:ext cx="5295600" cy="2511925"/>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10654">
                <a:tc>
                  <a:txBody>
                    <a:bodyPr/>
                    <a:lstStyle/>
                    <a:p>
                      <a:pPr algn="ctr">
                        <a:defRPr sz="1000" b="1">
                          <a:solidFill>
                            <a:srgbClr val="FFFFFF"/>
                          </a:solidFill>
                          <a:latin typeface="Montserrat"/>
                        </a:defRPr>
                      </a:pPr>
                      <a:r>
                        <a:rPr sz="1000" dirty="0"/>
                        <a:t>Obras de </a:t>
                      </a:r>
                      <a:r>
                        <a:rPr sz="1000" dirty="0" err="1"/>
                        <a:t>Infraestructura</a:t>
                      </a:r>
                      <a:r>
                        <a:rPr sz="1000" dirty="0"/>
                        <a:t> 2025</a:t>
                      </a:r>
                    </a:p>
                  </a:txBody>
                  <a:tcPr marL="3600" marR="3600" marT="3600" marB="3600" anchor="ctr">
                    <a:solidFill>
                      <a:srgbClr val="BC955C"/>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BC955C"/>
                    </a:solidFill>
                  </a:tcPr>
                </a:tc>
                <a:extLst>
                  <a:ext uri="{0D108BD9-81ED-4DB2-BD59-A6C34878D82A}">
                    <a16:rowId xmlns:a16="http://schemas.microsoft.com/office/drawing/2014/main" val="10000"/>
                  </a:ext>
                </a:extLst>
              </a:tr>
              <a:tr h="210654">
                <a:tc>
                  <a:txBody>
                    <a:bodyPr/>
                    <a:lstStyle/>
                    <a:p>
                      <a:pPr algn="l">
                        <a:lnSpc>
                          <a:spcPct val="100000"/>
                        </a:lnSpc>
                      </a:pPr>
                      <a:r>
                        <a:rPr sz="1000" err="1">
                          <a:latin typeface="Montserrat"/>
                        </a:rPr>
                        <a:t>Sustitución</a:t>
                      </a:r>
                      <a:r>
                        <a:rPr sz="1000">
                          <a:latin typeface="Montserrat"/>
                        </a:rPr>
                        <a:t> de UMF No. 67, Ciudad Obregón</a:t>
                      </a:r>
                    </a:p>
                  </a:txBody>
                  <a:tcPr marL="3600" marR="3600" marT="3600" marB="3600" anchor="ctr">
                    <a:solidFill>
                      <a:srgbClr val="FFFFFF"/>
                    </a:solidFill>
                  </a:tcPr>
                </a:tc>
                <a:tc>
                  <a:txBody>
                    <a:bodyPr/>
                    <a:lstStyle/>
                    <a:p>
                      <a:pPr algn="ctr">
                        <a:lnSpc>
                          <a:spcPct val="100000"/>
                        </a:lnSpc>
                      </a:pPr>
                      <a:r>
                        <a:rPr sz="1000" dirty="0">
                          <a:latin typeface="Montserrat"/>
                        </a:rPr>
                        <a:t>$234.2</a:t>
                      </a:r>
                    </a:p>
                  </a:txBody>
                  <a:tcPr marL="3600" marR="3600" marT="3600" marB="3600" anchor="ctr">
                    <a:solidFill>
                      <a:srgbClr val="FFFFFF"/>
                    </a:solidFill>
                  </a:tcPr>
                </a:tc>
                <a:extLst>
                  <a:ext uri="{0D108BD9-81ED-4DB2-BD59-A6C34878D82A}">
                    <a16:rowId xmlns:a16="http://schemas.microsoft.com/office/drawing/2014/main" val="10001"/>
                  </a:ext>
                </a:extLst>
              </a:tr>
              <a:tr h="210654">
                <a:tc>
                  <a:txBody>
                    <a:bodyPr/>
                    <a:lstStyle/>
                    <a:p>
                      <a:pPr algn="l">
                        <a:lnSpc>
                          <a:spcPct val="100000"/>
                        </a:lnSpc>
                      </a:pPr>
                      <a:r>
                        <a:rPr sz="1000">
                          <a:latin typeface="Montserrat"/>
                        </a:rPr>
                        <a:t>Centro de </a:t>
                      </a:r>
                      <a:r>
                        <a:rPr sz="1000" err="1">
                          <a:latin typeface="Montserrat"/>
                        </a:rPr>
                        <a:t>Simulación</a:t>
                      </a:r>
                      <a:r>
                        <a:rPr sz="1000">
                          <a:latin typeface="Montserrat"/>
                        </a:rPr>
                        <a:t> para </a:t>
                      </a:r>
                      <a:r>
                        <a:rPr sz="1000" err="1">
                          <a:latin typeface="Montserrat"/>
                        </a:rPr>
                        <a:t>Formación</a:t>
                      </a:r>
                      <a:r>
                        <a:rPr sz="1000">
                          <a:latin typeface="Montserrat"/>
                        </a:rPr>
                        <a:t> de Especialistas, Hermosillo</a:t>
                      </a:r>
                    </a:p>
                  </a:txBody>
                  <a:tcPr marL="3600" marR="3600" marT="3600" marB="3600" anchor="ctr">
                    <a:solidFill>
                      <a:srgbClr val="D9D9D9"/>
                    </a:solidFill>
                  </a:tcPr>
                </a:tc>
                <a:tc>
                  <a:txBody>
                    <a:bodyPr/>
                    <a:lstStyle/>
                    <a:p>
                      <a:pPr algn="ctr">
                        <a:lnSpc>
                          <a:spcPct val="100000"/>
                        </a:lnSpc>
                      </a:pPr>
                      <a:r>
                        <a:rPr sz="1000" dirty="0">
                          <a:latin typeface="Montserrat"/>
                        </a:rPr>
                        <a:t>$139.0</a:t>
                      </a:r>
                    </a:p>
                  </a:txBody>
                  <a:tcPr marL="3600" marR="3600" marT="3600" marB="3600" anchor="ctr">
                    <a:solidFill>
                      <a:srgbClr val="D9D9D9"/>
                    </a:solidFill>
                  </a:tcPr>
                </a:tc>
                <a:extLst>
                  <a:ext uri="{0D108BD9-81ED-4DB2-BD59-A6C34878D82A}">
                    <a16:rowId xmlns:a16="http://schemas.microsoft.com/office/drawing/2014/main" val="10002"/>
                  </a:ext>
                </a:extLst>
              </a:tr>
              <a:tr h="210654">
                <a:tc>
                  <a:txBody>
                    <a:bodyPr/>
                    <a:lstStyle/>
                    <a:p>
                      <a:pPr algn="l">
                        <a:lnSpc>
                          <a:spcPct val="100000"/>
                        </a:lnSpc>
                      </a:pPr>
                      <a:r>
                        <a:rPr sz="1000" err="1">
                          <a:latin typeface="Montserrat"/>
                        </a:rPr>
                        <a:t>Estudios</a:t>
                      </a:r>
                      <a:r>
                        <a:rPr sz="1000">
                          <a:latin typeface="Montserrat"/>
                        </a:rPr>
                        <a:t> de </a:t>
                      </a:r>
                      <a:r>
                        <a:rPr sz="1000" err="1">
                          <a:latin typeface="Montserrat"/>
                        </a:rPr>
                        <a:t>Preinversión</a:t>
                      </a:r>
                      <a:r>
                        <a:rPr sz="1000">
                          <a:latin typeface="Montserrat"/>
                        </a:rPr>
                        <a:t> y </a:t>
                      </a:r>
                      <a:r>
                        <a:rPr sz="1000" err="1">
                          <a:latin typeface="Montserrat"/>
                        </a:rPr>
                        <a:t>proyecto</a:t>
                      </a:r>
                      <a:r>
                        <a:rPr sz="1000">
                          <a:latin typeface="Montserrat"/>
                        </a:rPr>
                        <a:t> </a:t>
                      </a:r>
                      <a:r>
                        <a:rPr sz="1000" err="1">
                          <a:latin typeface="Montserrat"/>
                        </a:rPr>
                        <a:t>ejecutivo</a:t>
                      </a:r>
                      <a:r>
                        <a:rPr sz="1000">
                          <a:latin typeface="Montserrat"/>
                        </a:rPr>
                        <a:t> para el HGZ de 120 camas, San Luis Río Colorado</a:t>
                      </a:r>
                    </a:p>
                  </a:txBody>
                  <a:tcPr marL="3600" marR="3600" marT="3600" marB="3600" anchor="ctr">
                    <a:solidFill>
                      <a:srgbClr val="FFFFFF"/>
                    </a:solidFill>
                  </a:tcPr>
                </a:tc>
                <a:tc>
                  <a:txBody>
                    <a:bodyPr/>
                    <a:lstStyle/>
                    <a:p>
                      <a:pPr algn="ctr">
                        <a:lnSpc>
                          <a:spcPct val="100000"/>
                        </a:lnSpc>
                      </a:pPr>
                      <a:r>
                        <a:rPr sz="1000" dirty="0">
                          <a:latin typeface="Montserrat"/>
                        </a:rPr>
                        <a:t>$85.5</a:t>
                      </a:r>
                    </a:p>
                  </a:txBody>
                  <a:tcPr marL="3600" marR="3600" marT="3600" marB="3600" anchor="ctr">
                    <a:solidFill>
                      <a:srgbClr val="FFFFFF"/>
                    </a:solidFill>
                  </a:tcPr>
                </a:tc>
                <a:extLst>
                  <a:ext uri="{0D108BD9-81ED-4DB2-BD59-A6C34878D82A}">
                    <a16:rowId xmlns:a16="http://schemas.microsoft.com/office/drawing/2014/main" val="10003"/>
                  </a:ext>
                </a:extLst>
              </a:tr>
              <a:tr h="210654">
                <a:tc>
                  <a:txBody>
                    <a:bodyPr/>
                    <a:lstStyle/>
                    <a:p>
                      <a:pPr algn="l">
                        <a:lnSpc>
                          <a:spcPct val="100000"/>
                        </a:lnSpc>
                      </a:pPr>
                      <a:r>
                        <a:rPr sz="1000">
                          <a:latin typeface="Montserrat"/>
                        </a:rPr>
                        <a:t>UMF No. 51, 2 Consultorio con AMC, Puerto Libertad</a:t>
                      </a:r>
                    </a:p>
                  </a:txBody>
                  <a:tcPr marL="3600" marR="3600" marT="3600" marB="3600" anchor="ctr">
                    <a:solidFill>
                      <a:srgbClr val="D9D9D9"/>
                    </a:solidFill>
                  </a:tcPr>
                </a:tc>
                <a:tc>
                  <a:txBody>
                    <a:bodyPr/>
                    <a:lstStyle/>
                    <a:p>
                      <a:pPr algn="ctr">
                        <a:lnSpc>
                          <a:spcPct val="100000"/>
                        </a:lnSpc>
                      </a:pPr>
                      <a:r>
                        <a:rPr sz="1000" dirty="0">
                          <a:latin typeface="Montserrat"/>
                        </a:rPr>
                        <a:t>$36.6</a:t>
                      </a:r>
                    </a:p>
                  </a:txBody>
                  <a:tcPr marL="3600" marR="3600" marT="3600" marB="3600" anchor="ctr">
                    <a:solidFill>
                      <a:srgbClr val="D9D9D9"/>
                    </a:solidFill>
                  </a:tcPr>
                </a:tc>
                <a:extLst>
                  <a:ext uri="{0D108BD9-81ED-4DB2-BD59-A6C34878D82A}">
                    <a16:rowId xmlns:a16="http://schemas.microsoft.com/office/drawing/2014/main" val="10004"/>
                  </a:ext>
                </a:extLst>
              </a:tr>
              <a:tr h="210654">
                <a:tc>
                  <a:txBody>
                    <a:bodyPr/>
                    <a:lstStyle/>
                    <a:p>
                      <a:pPr algn="l">
                        <a:lnSpc>
                          <a:spcPct val="100000"/>
                        </a:lnSpc>
                      </a:pPr>
                      <a:r>
                        <a:rPr sz="1000" err="1">
                          <a:latin typeface="Montserrat"/>
                        </a:rPr>
                        <a:t>Remodelación</a:t>
                      </a:r>
                      <a:r>
                        <a:rPr sz="1000">
                          <a:latin typeface="Montserrat"/>
                        </a:rPr>
                        <a:t> y </a:t>
                      </a:r>
                      <a:r>
                        <a:rPr sz="1000" err="1">
                          <a:latin typeface="Montserrat"/>
                        </a:rPr>
                        <a:t>ampliación</a:t>
                      </a:r>
                      <a:r>
                        <a:rPr sz="1000">
                          <a:latin typeface="Montserrat"/>
                        </a:rPr>
                        <a:t> de la UMF No. 55, </a:t>
                      </a:r>
                      <a:r>
                        <a:rPr sz="1000" err="1">
                          <a:latin typeface="Montserrat"/>
                        </a:rPr>
                        <a:t>Cananea</a:t>
                      </a:r>
                      <a:endParaRPr sz="1000">
                        <a:latin typeface="Montserrat"/>
                      </a:endParaRPr>
                    </a:p>
                  </a:txBody>
                  <a:tcPr marL="3600" marR="3600" marT="3600" marB="3600" anchor="ctr">
                    <a:solidFill>
                      <a:schemeClr val="bg1"/>
                    </a:solidFill>
                  </a:tcPr>
                </a:tc>
                <a:tc>
                  <a:txBody>
                    <a:bodyPr/>
                    <a:lstStyle/>
                    <a:p>
                      <a:pPr algn="ctr">
                        <a:lnSpc>
                          <a:spcPct val="100000"/>
                        </a:lnSpc>
                      </a:pPr>
                      <a:r>
                        <a:rPr sz="1000" dirty="0">
                          <a:latin typeface="Montserrat"/>
                        </a:rPr>
                        <a:t>$34.9</a:t>
                      </a:r>
                    </a:p>
                  </a:txBody>
                  <a:tcPr marL="3600" marR="3600" marT="3600" marB="3600" anchor="ctr">
                    <a:solidFill>
                      <a:schemeClr val="bg1"/>
                    </a:solidFill>
                  </a:tcPr>
                </a:tc>
                <a:extLst>
                  <a:ext uri="{0D108BD9-81ED-4DB2-BD59-A6C34878D82A}">
                    <a16:rowId xmlns:a16="http://schemas.microsoft.com/office/drawing/2014/main" val="10006"/>
                  </a:ext>
                </a:extLst>
              </a:tr>
              <a:tr h="210654">
                <a:tc>
                  <a:txBody>
                    <a:bodyPr/>
                    <a:lstStyle/>
                    <a:p>
                      <a:pPr algn="l">
                        <a:lnSpc>
                          <a:spcPct val="100000"/>
                        </a:lnSpc>
                      </a:pPr>
                      <a:r>
                        <a:rPr sz="1000" err="1">
                          <a:latin typeface="Montserrat"/>
                        </a:rPr>
                        <a:t>Ampliación</a:t>
                      </a:r>
                      <a:r>
                        <a:rPr sz="1000">
                          <a:latin typeface="Montserrat"/>
                        </a:rPr>
                        <a:t> y </a:t>
                      </a:r>
                      <a:r>
                        <a:rPr sz="1000" err="1">
                          <a:latin typeface="Montserrat"/>
                        </a:rPr>
                        <a:t>remodelación</a:t>
                      </a:r>
                      <a:r>
                        <a:rPr sz="1000">
                          <a:latin typeface="Montserrat"/>
                        </a:rPr>
                        <a:t> del </a:t>
                      </a:r>
                      <a:r>
                        <a:rPr sz="1000" err="1">
                          <a:latin typeface="Montserrat"/>
                        </a:rPr>
                        <a:t>área</a:t>
                      </a:r>
                      <a:r>
                        <a:rPr sz="1000">
                          <a:latin typeface="Montserrat"/>
                        </a:rPr>
                        <a:t> de </a:t>
                      </a:r>
                      <a:r>
                        <a:rPr sz="1000" err="1">
                          <a:latin typeface="Montserrat"/>
                        </a:rPr>
                        <a:t>Quirófanos</a:t>
                      </a:r>
                      <a:r>
                        <a:rPr sz="1000">
                          <a:latin typeface="Montserrat"/>
                        </a:rPr>
                        <a:t> del HGSZ/MF No. 12, Agua Prieta</a:t>
                      </a:r>
                    </a:p>
                  </a:txBody>
                  <a:tcPr marL="3600" marR="3600" marT="3600" marB="3600" anchor="ctr">
                    <a:solidFill>
                      <a:schemeClr val="tx2">
                        <a:lumMod val="90000"/>
                      </a:schemeClr>
                    </a:solidFill>
                  </a:tcPr>
                </a:tc>
                <a:tc>
                  <a:txBody>
                    <a:bodyPr/>
                    <a:lstStyle/>
                    <a:p>
                      <a:pPr algn="ctr">
                        <a:lnSpc>
                          <a:spcPct val="100000"/>
                        </a:lnSpc>
                      </a:pPr>
                      <a:r>
                        <a:rPr sz="1000" dirty="0">
                          <a:latin typeface="Montserrat"/>
                        </a:rPr>
                        <a:t>$34.8</a:t>
                      </a:r>
                    </a:p>
                  </a:txBody>
                  <a:tcPr marL="3600" marR="3600" marT="3600" marB="3600" anchor="ctr">
                    <a:solidFill>
                      <a:schemeClr val="tx2">
                        <a:lumMod val="90000"/>
                      </a:schemeClr>
                    </a:solidFill>
                  </a:tcPr>
                </a:tc>
                <a:extLst>
                  <a:ext uri="{0D108BD9-81ED-4DB2-BD59-A6C34878D82A}">
                    <a16:rowId xmlns:a16="http://schemas.microsoft.com/office/drawing/2014/main" val="10007"/>
                  </a:ext>
                </a:extLst>
              </a:tr>
              <a:tr h="210654">
                <a:tc>
                  <a:txBody>
                    <a:bodyPr/>
                    <a:lstStyle/>
                    <a:p>
                      <a:pPr algn="l">
                        <a:lnSpc>
                          <a:spcPct val="100000"/>
                        </a:lnSpc>
                      </a:pPr>
                      <a:r>
                        <a:rPr sz="1000" err="1">
                          <a:latin typeface="Montserrat"/>
                        </a:rPr>
                        <a:t>Ampliación</a:t>
                      </a:r>
                      <a:r>
                        <a:rPr sz="1000">
                          <a:latin typeface="Montserrat"/>
                        </a:rPr>
                        <a:t> de la UMF No. 38, 4 </a:t>
                      </a:r>
                      <a:r>
                        <a:rPr sz="1000" err="1">
                          <a:latin typeface="Montserrat"/>
                        </a:rPr>
                        <a:t>consultorios</a:t>
                      </a:r>
                      <a:r>
                        <a:rPr sz="1000">
                          <a:latin typeface="Montserrat"/>
                        </a:rPr>
                        <a:t>, San Luis Río Colorado</a:t>
                      </a:r>
                    </a:p>
                  </a:txBody>
                  <a:tcPr marL="3600" marR="3600" marT="3600" marB="3600" anchor="ctr">
                    <a:solidFill>
                      <a:schemeClr val="bg1"/>
                    </a:solidFill>
                  </a:tcPr>
                </a:tc>
                <a:tc>
                  <a:txBody>
                    <a:bodyPr/>
                    <a:lstStyle/>
                    <a:p>
                      <a:pPr algn="ctr">
                        <a:lnSpc>
                          <a:spcPct val="100000"/>
                        </a:lnSpc>
                      </a:pPr>
                      <a:r>
                        <a:rPr sz="1000" dirty="0">
                          <a:latin typeface="Montserrat"/>
                        </a:rPr>
                        <a:t>$30.3</a:t>
                      </a:r>
                    </a:p>
                  </a:txBody>
                  <a:tcPr marL="3600" marR="3600" marT="3600" marB="3600" anchor="ctr">
                    <a:solidFill>
                      <a:schemeClr val="bg1"/>
                    </a:solidFill>
                  </a:tcPr>
                </a:tc>
                <a:extLst>
                  <a:ext uri="{0D108BD9-81ED-4DB2-BD59-A6C34878D82A}">
                    <a16:rowId xmlns:a16="http://schemas.microsoft.com/office/drawing/2014/main" val="10008"/>
                  </a:ext>
                </a:extLst>
              </a:tr>
              <a:tr h="210654">
                <a:tc>
                  <a:txBody>
                    <a:bodyPr/>
                    <a:lstStyle/>
                    <a:p>
                      <a:pPr algn="l">
                        <a:lnSpc>
                          <a:spcPct val="100000"/>
                        </a:lnSpc>
                      </a:pPr>
                      <a:r>
                        <a:rPr sz="1000" err="1">
                          <a:latin typeface="Montserrat"/>
                        </a:rPr>
                        <a:t>Estudios</a:t>
                      </a:r>
                      <a:r>
                        <a:rPr sz="1000">
                          <a:latin typeface="Montserrat"/>
                        </a:rPr>
                        <a:t> de </a:t>
                      </a:r>
                      <a:r>
                        <a:rPr sz="1000" err="1">
                          <a:latin typeface="Montserrat"/>
                        </a:rPr>
                        <a:t>Preinversión</a:t>
                      </a:r>
                      <a:r>
                        <a:rPr sz="1000">
                          <a:latin typeface="Montserrat"/>
                        </a:rPr>
                        <a:t> para el HGZ de 120 camas, Guaymas</a:t>
                      </a:r>
                    </a:p>
                  </a:txBody>
                  <a:tcPr marL="3600" marR="3600" marT="3600" marB="3600" anchor="ctr">
                    <a:solidFill>
                      <a:schemeClr val="tx2">
                        <a:lumMod val="90000"/>
                      </a:schemeClr>
                    </a:solidFill>
                  </a:tcPr>
                </a:tc>
                <a:tc>
                  <a:txBody>
                    <a:bodyPr/>
                    <a:lstStyle/>
                    <a:p>
                      <a:pPr algn="ctr">
                        <a:lnSpc>
                          <a:spcPct val="100000"/>
                        </a:lnSpc>
                      </a:pPr>
                      <a:r>
                        <a:rPr sz="1000" dirty="0">
                          <a:latin typeface="Montserrat"/>
                        </a:rPr>
                        <a:t>$20.9</a:t>
                      </a:r>
                    </a:p>
                  </a:txBody>
                  <a:tcPr marL="3600" marR="3600" marT="3600" marB="3600" anchor="ctr">
                    <a:solidFill>
                      <a:schemeClr val="tx2">
                        <a:lumMod val="90000"/>
                      </a:schemeClr>
                    </a:solidFill>
                  </a:tcPr>
                </a:tc>
                <a:extLst>
                  <a:ext uri="{0D108BD9-81ED-4DB2-BD59-A6C34878D82A}">
                    <a16:rowId xmlns:a16="http://schemas.microsoft.com/office/drawing/2014/main" val="10009"/>
                  </a:ext>
                </a:extLst>
              </a:tr>
              <a:tr h="210655">
                <a:tc>
                  <a:txBody>
                    <a:bodyPr/>
                    <a:lstStyle/>
                    <a:p>
                      <a:pPr algn="l">
                        <a:lnSpc>
                          <a:spcPct val="100000"/>
                        </a:lnSpc>
                        <a:defRPr sz="900" b="1">
                          <a:solidFill>
                            <a:srgbClr val="BC955C"/>
                          </a:solidFill>
                          <a:latin typeface="Montserrat"/>
                        </a:defRPr>
                      </a:pPr>
                      <a:r>
                        <a:rPr sz="1000"/>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sz="1000" dirty="0"/>
                        <a:t>$6</a:t>
                      </a:r>
                      <a:r>
                        <a:rPr lang="es-MX" sz="1000" dirty="0"/>
                        <a:t>16.2</a:t>
                      </a:r>
                      <a:endParaRPr sz="1000" dirty="0"/>
                    </a:p>
                  </a:txBody>
                  <a:tcPr marL="3600" marR="3600" marT="3600" marB="3600" anchor="ctr">
                    <a:solidFill>
                      <a:srgbClr val="ECE1D2"/>
                    </a:solidFill>
                  </a:tcPr>
                </a:tc>
                <a:extLst>
                  <a:ext uri="{0D108BD9-81ED-4DB2-BD59-A6C34878D82A}">
                    <a16:rowId xmlns:a16="http://schemas.microsoft.com/office/drawing/2014/main" val="10010"/>
                  </a:ext>
                </a:extLst>
              </a:tr>
            </a:tbl>
          </a:graphicData>
        </a:graphic>
      </p:graphicFrame>
      <p:graphicFrame>
        <p:nvGraphicFramePr>
          <p:cNvPr id="18" name="Table 17"/>
          <p:cNvGraphicFramePr>
            <a:graphicFrameLocks noGrp="1"/>
          </p:cNvGraphicFramePr>
          <p:nvPr/>
        </p:nvGraphicFramePr>
        <p:xfrm>
          <a:off x="1785600" y="4080975"/>
          <a:ext cx="5295600" cy="2992545"/>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25549">
                <a:tc>
                  <a:txBody>
                    <a:bodyPr/>
                    <a:lstStyle/>
                    <a:p>
                      <a:pPr algn="ctr">
                        <a:defRPr sz="1000" b="1">
                          <a:solidFill>
                            <a:srgbClr val="FFFFFF"/>
                          </a:solidFill>
                          <a:latin typeface="Montserrat"/>
                        </a:defRPr>
                      </a:pPr>
                      <a:r>
                        <a:rPr sz="1000" dirty="0"/>
                        <a:t>Obras de </a:t>
                      </a:r>
                      <a:r>
                        <a:rPr sz="1000" dirty="0" err="1"/>
                        <a:t>Conservación</a:t>
                      </a:r>
                      <a:r>
                        <a:rPr sz="1000" dirty="0"/>
                        <a:t> 2025</a:t>
                      </a:r>
                    </a:p>
                  </a:txBody>
                  <a:tcPr marL="3600" marR="3600" marT="3600" marB="3600" anchor="ctr">
                    <a:solidFill>
                      <a:srgbClr val="BC955C"/>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BC955C"/>
                    </a:solidFill>
                  </a:tcPr>
                </a:tc>
                <a:extLst>
                  <a:ext uri="{0D108BD9-81ED-4DB2-BD59-A6C34878D82A}">
                    <a16:rowId xmlns:a16="http://schemas.microsoft.com/office/drawing/2014/main" val="10000"/>
                  </a:ext>
                </a:extLst>
              </a:tr>
              <a:tr h="225549">
                <a:tc>
                  <a:txBody>
                    <a:bodyPr/>
                    <a:lstStyle/>
                    <a:p>
                      <a:pPr algn="l">
                        <a:lnSpc>
                          <a:spcPct val="100000"/>
                        </a:lnSpc>
                      </a:pPr>
                      <a:r>
                        <a:rPr sz="1000" dirty="0" err="1">
                          <a:latin typeface="Montserrat"/>
                        </a:rPr>
                        <a:t>Mantenimiento</a:t>
                      </a:r>
                      <a:r>
                        <a:rPr sz="1000" dirty="0">
                          <a:latin typeface="Montserrat"/>
                        </a:rPr>
                        <a:t> de </a:t>
                      </a:r>
                      <a:r>
                        <a:rPr sz="1000" dirty="0" err="1">
                          <a:latin typeface="Montserrat"/>
                        </a:rPr>
                        <a:t>Infraestructura</a:t>
                      </a:r>
                      <a:r>
                        <a:rPr sz="1000" dirty="0">
                          <a:latin typeface="Montserrat"/>
                        </a:rPr>
                        <a:t> (PAO 2025)</a:t>
                      </a:r>
                    </a:p>
                  </a:txBody>
                  <a:tcPr marL="3600" marR="3600" marT="3600" marB="3600" anchor="ctr">
                    <a:solidFill>
                      <a:srgbClr val="FFFFFF"/>
                    </a:solidFill>
                  </a:tcPr>
                </a:tc>
                <a:tc>
                  <a:txBody>
                    <a:bodyPr/>
                    <a:lstStyle/>
                    <a:p>
                      <a:pPr algn="ctr">
                        <a:lnSpc>
                          <a:spcPct val="100000"/>
                        </a:lnSpc>
                      </a:pPr>
                      <a:r>
                        <a:rPr sz="1000" dirty="0">
                          <a:latin typeface="Montserrat"/>
                        </a:rPr>
                        <a:t>$780.5</a:t>
                      </a:r>
                    </a:p>
                  </a:txBody>
                  <a:tcPr marL="3600" marR="3600" marT="3600" marB="3600" anchor="ctr">
                    <a:solidFill>
                      <a:srgbClr val="FFFFFF"/>
                    </a:solidFill>
                  </a:tcPr>
                </a:tc>
                <a:extLst>
                  <a:ext uri="{0D108BD9-81ED-4DB2-BD59-A6C34878D82A}">
                    <a16:rowId xmlns:a16="http://schemas.microsoft.com/office/drawing/2014/main" val="10001"/>
                  </a:ext>
                </a:extLst>
              </a:tr>
              <a:tr h="225549">
                <a:tc>
                  <a:txBody>
                    <a:bodyPr/>
                    <a:lstStyle/>
                    <a:p>
                      <a:pPr algn="l">
                        <a:lnSpc>
                          <a:spcPct val="100000"/>
                        </a:lnSpc>
                      </a:pPr>
                      <a:r>
                        <a:rPr sz="1000">
                          <a:latin typeface="Montserrat"/>
                        </a:rPr>
                        <a:t>Remodelación y mejora de imagen en el HGZ No. 3 Navojoa</a:t>
                      </a:r>
                    </a:p>
                  </a:txBody>
                  <a:tcPr marL="3600" marR="3600" marT="3600" marB="3600" anchor="ctr">
                    <a:solidFill>
                      <a:srgbClr val="D9D9D9"/>
                    </a:solidFill>
                  </a:tcPr>
                </a:tc>
                <a:tc>
                  <a:txBody>
                    <a:bodyPr/>
                    <a:lstStyle/>
                    <a:p>
                      <a:pPr algn="ctr">
                        <a:lnSpc>
                          <a:spcPct val="100000"/>
                        </a:lnSpc>
                      </a:pPr>
                      <a:r>
                        <a:rPr sz="1000" dirty="0">
                          <a:latin typeface="Montserrat"/>
                        </a:rPr>
                        <a:t>$103.1</a:t>
                      </a:r>
                    </a:p>
                  </a:txBody>
                  <a:tcPr marL="3600" marR="3600" marT="3600" marB="3600" anchor="ctr">
                    <a:solidFill>
                      <a:srgbClr val="D9D9D9"/>
                    </a:solidFill>
                  </a:tcPr>
                </a:tc>
                <a:extLst>
                  <a:ext uri="{0D108BD9-81ED-4DB2-BD59-A6C34878D82A}">
                    <a16:rowId xmlns:a16="http://schemas.microsoft.com/office/drawing/2014/main" val="10002"/>
                  </a:ext>
                </a:extLst>
              </a:tr>
              <a:tr h="457830">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residencias </a:t>
                      </a:r>
                      <a:r>
                        <a:rPr sz="1000" err="1">
                          <a:latin typeface="Montserrat"/>
                        </a:rPr>
                        <a:t>médicas</a:t>
                      </a:r>
                      <a:r>
                        <a:rPr sz="1000">
                          <a:latin typeface="Montserrat"/>
                        </a:rPr>
                        <a:t> en 8 </a:t>
                      </a:r>
                      <a:r>
                        <a:rPr sz="1000" err="1">
                          <a:latin typeface="Montserrat"/>
                        </a:rPr>
                        <a:t>unidades</a:t>
                      </a:r>
                      <a:r>
                        <a:rPr sz="1000">
                          <a:latin typeface="Montserrat"/>
                        </a:rPr>
                        <a:t> (H. de </a:t>
                      </a:r>
                      <a:r>
                        <a:rPr sz="1000" err="1">
                          <a:latin typeface="Montserrat"/>
                        </a:rPr>
                        <a:t>Especialidades</a:t>
                      </a:r>
                      <a:r>
                        <a:rPr sz="1000">
                          <a:latin typeface="Montserrat"/>
                        </a:rPr>
                        <a:t> No.2 Obregón, HGSZ No.54, HGSZ No.6, HGZ No.4, Guaymas; HGZ No.5 Nogales, HGR No.1 </a:t>
                      </a:r>
                      <a:r>
                        <a:rPr sz="1000" err="1">
                          <a:latin typeface="Montserrat"/>
                        </a:rPr>
                        <a:t>Cajeme</a:t>
                      </a:r>
                      <a:r>
                        <a:rPr sz="1000">
                          <a:latin typeface="Montserrat"/>
                        </a:rPr>
                        <a:t>, HGP Hermosillo, UMF No.5 Nogales)</a:t>
                      </a:r>
                    </a:p>
                  </a:txBody>
                  <a:tcPr marL="3600" marR="3600" marT="3600" marB="3600" anchor="ctr">
                    <a:solidFill>
                      <a:srgbClr val="FFFFFF"/>
                    </a:solidFill>
                  </a:tcPr>
                </a:tc>
                <a:tc>
                  <a:txBody>
                    <a:bodyPr/>
                    <a:lstStyle/>
                    <a:p>
                      <a:pPr algn="ctr">
                        <a:lnSpc>
                          <a:spcPct val="100000"/>
                        </a:lnSpc>
                      </a:pPr>
                      <a:r>
                        <a:rPr sz="1000" dirty="0">
                          <a:latin typeface="Montserrat"/>
                        </a:rPr>
                        <a:t>$58.3</a:t>
                      </a:r>
                    </a:p>
                  </a:txBody>
                  <a:tcPr marL="3600" marR="3600" marT="3600" marB="3600" anchor="ctr">
                    <a:solidFill>
                      <a:srgbClr val="FFFFFF"/>
                    </a:solidFill>
                  </a:tcPr>
                </a:tc>
                <a:extLst>
                  <a:ext uri="{0D108BD9-81ED-4DB2-BD59-A6C34878D82A}">
                    <a16:rowId xmlns:a16="http://schemas.microsoft.com/office/drawing/2014/main" val="10003"/>
                  </a:ext>
                </a:extLst>
              </a:tr>
              <a:tr h="231587">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terapia</a:t>
                      </a:r>
                      <a:r>
                        <a:rPr sz="1000">
                          <a:latin typeface="Montserrat"/>
                        </a:rPr>
                        <a:t> </a:t>
                      </a:r>
                      <a:r>
                        <a:rPr sz="1000" err="1">
                          <a:latin typeface="Montserrat"/>
                        </a:rPr>
                        <a:t>intensiva</a:t>
                      </a:r>
                      <a:r>
                        <a:rPr sz="1000">
                          <a:latin typeface="Montserrat"/>
                        </a:rPr>
                        <a:t> en 3 </a:t>
                      </a:r>
                      <a:r>
                        <a:rPr sz="1000" err="1">
                          <a:latin typeface="Montserrat"/>
                        </a:rPr>
                        <a:t>unidades</a:t>
                      </a:r>
                      <a:r>
                        <a:rPr sz="1000">
                          <a:latin typeface="Montserrat"/>
                        </a:rPr>
                        <a:t> (UMAE HE No.2, HGR No.1 </a:t>
                      </a:r>
                      <a:r>
                        <a:rPr sz="1000" err="1">
                          <a:latin typeface="Montserrat"/>
                        </a:rPr>
                        <a:t>Cajeme</a:t>
                      </a:r>
                      <a:r>
                        <a:rPr sz="1000">
                          <a:latin typeface="Montserrat"/>
                        </a:rPr>
                        <a:t>; HGZ No.14 Hermosillo)</a:t>
                      </a:r>
                    </a:p>
                  </a:txBody>
                  <a:tcPr marL="3600" marR="3600" marT="3600" marB="3600" anchor="ctr">
                    <a:solidFill>
                      <a:srgbClr val="D9D9D9"/>
                    </a:solidFill>
                  </a:tcPr>
                </a:tc>
                <a:tc>
                  <a:txBody>
                    <a:bodyPr/>
                    <a:lstStyle/>
                    <a:p>
                      <a:pPr algn="ctr">
                        <a:lnSpc>
                          <a:spcPct val="100000"/>
                        </a:lnSpc>
                      </a:pPr>
                      <a:r>
                        <a:rPr sz="1000" dirty="0">
                          <a:latin typeface="Montserrat"/>
                        </a:rPr>
                        <a:t>$27.9</a:t>
                      </a:r>
                    </a:p>
                  </a:txBody>
                  <a:tcPr marL="3600" marR="3600" marT="3600" marB="3600" anchor="ctr">
                    <a:solidFill>
                      <a:srgbClr val="D9D9D9"/>
                    </a:solidFill>
                  </a:tcPr>
                </a:tc>
                <a:extLst>
                  <a:ext uri="{0D108BD9-81ED-4DB2-BD59-A6C34878D82A}">
                    <a16:rowId xmlns:a16="http://schemas.microsoft.com/office/drawing/2014/main" val="10004"/>
                  </a:ext>
                </a:extLst>
              </a:tr>
              <a:tr h="231587">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mejora</a:t>
                      </a:r>
                      <a:r>
                        <a:rPr sz="1000">
                          <a:latin typeface="Montserrat"/>
                        </a:rPr>
                        <a:t> en </a:t>
                      </a:r>
                      <a:r>
                        <a:rPr sz="1000" err="1">
                          <a:latin typeface="Montserrat"/>
                        </a:rPr>
                        <a:t>subdelegaciones</a:t>
                      </a:r>
                      <a:r>
                        <a:rPr sz="1000">
                          <a:latin typeface="Montserrat"/>
                        </a:rPr>
                        <a:t> en </a:t>
                      </a:r>
                      <a:r>
                        <a:rPr sz="1000" err="1">
                          <a:latin typeface="Montserrat"/>
                        </a:rPr>
                        <a:t>Caborca</a:t>
                      </a:r>
                      <a:r>
                        <a:rPr sz="1000">
                          <a:latin typeface="Montserrat"/>
                        </a:rPr>
                        <a:t> y Hermosillo</a:t>
                      </a:r>
                    </a:p>
                  </a:txBody>
                  <a:tcPr marL="3600" marR="3600" marT="3600" marB="3600" anchor="ctr">
                    <a:solidFill>
                      <a:srgbClr val="FFFFFF"/>
                    </a:solidFill>
                  </a:tcPr>
                </a:tc>
                <a:tc>
                  <a:txBody>
                    <a:bodyPr/>
                    <a:lstStyle/>
                    <a:p>
                      <a:pPr algn="ctr">
                        <a:lnSpc>
                          <a:spcPct val="100000"/>
                        </a:lnSpc>
                      </a:pPr>
                      <a:r>
                        <a:rPr sz="1000" dirty="0">
                          <a:latin typeface="Montserrat"/>
                        </a:rPr>
                        <a:t>$11.2</a:t>
                      </a:r>
                    </a:p>
                  </a:txBody>
                  <a:tcPr marL="3600" marR="3600" marT="3600" marB="3600" anchor="ctr">
                    <a:solidFill>
                      <a:srgbClr val="FFFFFF"/>
                    </a:solidFill>
                  </a:tcPr>
                </a:tc>
                <a:extLst>
                  <a:ext uri="{0D108BD9-81ED-4DB2-BD59-A6C34878D82A}">
                    <a16:rowId xmlns:a16="http://schemas.microsoft.com/office/drawing/2014/main" val="10005"/>
                  </a:ext>
                </a:extLst>
              </a:tr>
              <a:tr h="231587">
                <a:tc>
                  <a:txBody>
                    <a:bodyPr/>
                    <a:lstStyle/>
                    <a:p>
                      <a:pPr algn="l">
                        <a:lnSpc>
                          <a:spcPct val="100000"/>
                        </a:lnSpc>
                      </a:pPr>
                      <a:r>
                        <a:rPr sz="1000">
                          <a:latin typeface="Montserrat"/>
                        </a:rPr>
                        <a:t>Intervención en áreas de accesibilidad (rampas) en 21 unidades, Sonora</a:t>
                      </a:r>
                    </a:p>
                  </a:txBody>
                  <a:tcPr marL="3600" marR="3600" marT="3600" marB="3600" anchor="ctr">
                    <a:solidFill>
                      <a:srgbClr val="D9D9D9"/>
                    </a:solidFill>
                  </a:tcPr>
                </a:tc>
                <a:tc>
                  <a:txBody>
                    <a:bodyPr/>
                    <a:lstStyle/>
                    <a:p>
                      <a:pPr algn="ctr">
                        <a:lnSpc>
                          <a:spcPct val="100000"/>
                        </a:lnSpc>
                      </a:pPr>
                      <a:r>
                        <a:rPr sz="1000" dirty="0">
                          <a:latin typeface="Montserrat"/>
                        </a:rPr>
                        <a:t>$9.3</a:t>
                      </a:r>
                    </a:p>
                  </a:txBody>
                  <a:tcPr marL="3600" marR="3600" marT="3600" marB="3600" anchor="ctr">
                    <a:solidFill>
                      <a:srgbClr val="D9D9D9"/>
                    </a:solidFill>
                  </a:tcPr>
                </a:tc>
                <a:extLst>
                  <a:ext uri="{0D108BD9-81ED-4DB2-BD59-A6C34878D82A}">
                    <a16:rowId xmlns:a16="http://schemas.microsoft.com/office/drawing/2014/main" val="10006"/>
                  </a:ext>
                </a:extLst>
              </a:tr>
              <a:tr h="231587">
                <a:tc>
                  <a:txBody>
                    <a:bodyPr/>
                    <a:lstStyle/>
                    <a:p>
                      <a:pPr algn="l">
                        <a:lnSpc>
                          <a:spcPct val="100000"/>
                        </a:lnSpc>
                      </a:pPr>
                      <a:r>
                        <a:rPr sz="1000">
                          <a:latin typeface="Montserrat"/>
                        </a:rPr>
                        <a:t>Intervención en áreas de hemodiálisis interna en HGSZ No.54 Empalme y HGZ No. 8 Caborca</a:t>
                      </a:r>
                    </a:p>
                  </a:txBody>
                  <a:tcPr marL="3600" marR="3600" marT="3600" marB="3600" anchor="ctr">
                    <a:solidFill>
                      <a:srgbClr val="FFFFFF"/>
                    </a:solidFill>
                  </a:tcPr>
                </a:tc>
                <a:tc>
                  <a:txBody>
                    <a:bodyPr/>
                    <a:lstStyle/>
                    <a:p>
                      <a:pPr algn="ctr">
                        <a:lnSpc>
                          <a:spcPct val="100000"/>
                        </a:lnSpc>
                      </a:pPr>
                      <a:r>
                        <a:rPr sz="1000" dirty="0">
                          <a:latin typeface="Montserrat"/>
                        </a:rPr>
                        <a:t>$3.3</a:t>
                      </a:r>
                    </a:p>
                  </a:txBody>
                  <a:tcPr marL="3600" marR="3600" marT="3600" marB="3600" anchor="ctr">
                    <a:solidFill>
                      <a:srgbClr val="FFFFFF"/>
                    </a:solidFill>
                  </a:tcPr>
                </a:tc>
                <a:extLst>
                  <a:ext uri="{0D108BD9-81ED-4DB2-BD59-A6C34878D82A}">
                    <a16:rowId xmlns:a16="http://schemas.microsoft.com/office/drawing/2014/main" val="10007"/>
                  </a:ext>
                </a:extLst>
              </a:tr>
              <a:tr h="225549">
                <a:tc>
                  <a:txBody>
                    <a:bodyPr/>
                    <a:lstStyle/>
                    <a:p>
                      <a:pPr algn="l">
                        <a:lnSpc>
                          <a:spcPct val="100000"/>
                        </a:lnSpc>
                      </a:pPr>
                      <a:r>
                        <a:rPr sz="1000" err="1">
                          <a:latin typeface="Montserrat"/>
                        </a:rPr>
                        <a:t>Intervención</a:t>
                      </a:r>
                      <a:r>
                        <a:rPr sz="1000">
                          <a:latin typeface="Montserrat"/>
                        </a:rPr>
                        <a:t> </a:t>
                      </a:r>
                      <a:r>
                        <a:rPr sz="1000" err="1">
                          <a:latin typeface="Montserrat"/>
                        </a:rPr>
                        <a:t>en</a:t>
                      </a:r>
                      <a:r>
                        <a:rPr sz="1000">
                          <a:latin typeface="Montserrat"/>
                        </a:rPr>
                        <a:t> </a:t>
                      </a:r>
                      <a:r>
                        <a:rPr sz="1000" err="1">
                          <a:latin typeface="Montserrat"/>
                        </a:rPr>
                        <a:t>áreas</a:t>
                      </a:r>
                      <a:r>
                        <a:rPr sz="1000">
                          <a:latin typeface="Montserrat"/>
                        </a:rPr>
                        <a:t> de </a:t>
                      </a:r>
                      <a:r>
                        <a:rPr sz="1000" err="1">
                          <a:latin typeface="Montserrat"/>
                        </a:rPr>
                        <a:t>salud</a:t>
                      </a:r>
                      <a:r>
                        <a:rPr sz="1000">
                          <a:latin typeface="Montserrat"/>
                        </a:rPr>
                        <a:t> mental </a:t>
                      </a:r>
                      <a:r>
                        <a:rPr sz="1000" err="1">
                          <a:latin typeface="Montserrat"/>
                        </a:rPr>
                        <a:t>en</a:t>
                      </a:r>
                      <a:r>
                        <a:rPr sz="1000">
                          <a:latin typeface="Montserrat"/>
                        </a:rPr>
                        <a:t> HGR No. 1 </a:t>
                      </a:r>
                      <a:r>
                        <a:rPr sz="1000" err="1">
                          <a:latin typeface="Montserrat"/>
                        </a:rPr>
                        <a:t>Cajeme</a:t>
                      </a:r>
                      <a:endParaRPr sz="1000">
                        <a:latin typeface="Montserrat"/>
                      </a:endParaRPr>
                    </a:p>
                  </a:txBody>
                  <a:tcPr marL="3600" marR="3600" marT="3600" marB="3600" anchor="ctr">
                    <a:solidFill>
                      <a:srgbClr val="D9D9D9"/>
                    </a:solidFill>
                  </a:tcPr>
                </a:tc>
                <a:tc>
                  <a:txBody>
                    <a:bodyPr/>
                    <a:lstStyle/>
                    <a:p>
                      <a:pPr algn="ctr">
                        <a:lnSpc>
                          <a:spcPct val="100000"/>
                        </a:lnSpc>
                      </a:pPr>
                      <a:r>
                        <a:rPr sz="1000" dirty="0">
                          <a:latin typeface="Montserrat"/>
                        </a:rPr>
                        <a:t>$2.6</a:t>
                      </a:r>
                    </a:p>
                  </a:txBody>
                  <a:tcPr marL="3600" marR="3600" marT="3600" marB="3600" anchor="ctr">
                    <a:solidFill>
                      <a:srgbClr val="D9D9D9"/>
                    </a:solidFill>
                  </a:tcPr>
                </a:tc>
                <a:extLst>
                  <a:ext uri="{0D108BD9-81ED-4DB2-BD59-A6C34878D82A}">
                    <a16:rowId xmlns:a16="http://schemas.microsoft.com/office/drawing/2014/main" val="10008"/>
                  </a:ext>
                </a:extLst>
              </a:tr>
              <a:tr h="225549">
                <a:tc>
                  <a:txBody>
                    <a:bodyPr/>
                    <a:lstStyle/>
                    <a:p>
                      <a:pPr algn="l">
                        <a:lnSpc>
                          <a:spcPct val="100000"/>
                        </a:lnSpc>
                        <a:defRPr sz="900" b="1">
                          <a:solidFill>
                            <a:srgbClr val="BC955C"/>
                          </a:solidFill>
                          <a:latin typeface="Montserrat"/>
                        </a:defRPr>
                      </a:pPr>
                      <a:r>
                        <a:rPr sz="1000"/>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sz="1000" dirty="0"/>
                        <a:t>$996.2</a:t>
                      </a:r>
                    </a:p>
                  </a:txBody>
                  <a:tcPr marL="3600" marR="3600" marT="3600" marB="3600" anchor="ctr">
                    <a:solidFill>
                      <a:srgbClr val="ECE1D2"/>
                    </a:solidFill>
                  </a:tcPr>
                </a:tc>
                <a:extLst>
                  <a:ext uri="{0D108BD9-81ED-4DB2-BD59-A6C34878D82A}">
                    <a16:rowId xmlns:a16="http://schemas.microsoft.com/office/drawing/2014/main" val="10009"/>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454098094"/>
              </p:ext>
            </p:extLst>
          </p:nvPr>
        </p:nvGraphicFramePr>
        <p:xfrm>
          <a:off x="1785600" y="7108329"/>
          <a:ext cx="5295600" cy="1636471"/>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57671">
                <a:tc>
                  <a:txBody>
                    <a:bodyPr/>
                    <a:lstStyle/>
                    <a:p>
                      <a:pPr algn="ctr">
                        <a:defRPr sz="1000" b="1">
                          <a:solidFill>
                            <a:srgbClr val="FFFFFF"/>
                          </a:solidFill>
                          <a:latin typeface="Montserrat"/>
                        </a:defRPr>
                      </a:pPr>
                      <a:r>
                        <a:t>Equipo Médico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a:t>
                      </a:r>
                      <a:r>
                        <a:rPr err="1"/>
                        <a:t>mdp</a:t>
                      </a:r>
                      <a:r>
                        <a:t>)</a:t>
                      </a:r>
                    </a:p>
                  </a:txBody>
                  <a:tcPr marL="3600" marR="3600" marT="3600" marB="3600" anchor="ctr">
                    <a:solidFill>
                      <a:srgbClr val="BC955C"/>
                    </a:solidFill>
                  </a:tcPr>
                </a:tc>
                <a:extLst>
                  <a:ext uri="{0D108BD9-81ED-4DB2-BD59-A6C34878D82A}">
                    <a16:rowId xmlns:a16="http://schemas.microsoft.com/office/drawing/2014/main" val="10000"/>
                  </a:ext>
                </a:extLst>
              </a:tr>
              <a:tr h="1289589">
                <a:tc>
                  <a:txBody>
                    <a:bodyPr/>
                    <a:lstStyle/>
                    <a:p>
                      <a:pPr algn="l">
                        <a:lnSpc>
                          <a:spcPct val="100000"/>
                        </a:lnSpc>
                      </a:pPr>
                      <a:r>
                        <a:rPr sz="1000" dirty="0" err="1">
                          <a:latin typeface="Montserrat"/>
                        </a:rPr>
                        <a:t>Adquisición</a:t>
                      </a:r>
                      <a:r>
                        <a:rPr sz="1000" dirty="0">
                          <a:latin typeface="Montserrat"/>
                        </a:rPr>
                        <a:t> de 4</a:t>
                      </a:r>
                      <a:r>
                        <a:rPr lang="es-MX" sz="1000" dirty="0">
                          <a:latin typeface="Montserrat"/>
                        </a:rPr>
                        <a:t>4</a:t>
                      </a:r>
                      <a:r>
                        <a:rPr sz="1000" dirty="0">
                          <a:latin typeface="Montserrat"/>
                        </a:rPr>
                        <a:t> </a:t>
                      </a:r>
                      <a:r>
                        <a:rPr sz="1000" dirty="0" err="1">
                          <a:latin typeface="Montserrat"/>
                        </a:rPr>
                        <a:t>piezas</a:t>
                      </a:r>
                      <a:r>
                        <a:rPr sz="1000" dirty="0">
                          <a:latin typeface="Montserrat"/>
                        </a:rPr>
                        <a:t> de </a:t>
                      </a:r>
                      <a:r>
                        <a:rPr sz="1000" dirty="0" err="1">
                          <a:latin typeface="Montserrat"/>
                        </a:rPr>
                        <a:t>equipo</a:t>
                      </a:r>
                      <a:r>
                        <a:rPr sz="1000" dirty="0">
                          <a:latin typeface="Montserrat"/>
                        </a:rPr>
                        <a:t> </a:t>
                      </a:r>
                      <a:r>
                        <a:rPr sz="1000" dirty="0" err="1">
                          <a:latin typeface="Montserrat"/>
                        </a:rPr>
                        <a:t>médico</a:t>
                      </a:r>
                      <a:r>
                        <a:rPr sz="1000" dirty="0">
                          <a:latin typeface="Montserrat"/>
                        </a:rPr>
                        <a:t>: 2 </a:t>
                      </a:r>
                      <a:r>
                        <a:rPr sz="1000" dirty="0" err="1">
                          <a:latin typeface="Montserrat"/>
                        </a:rPr>
                        <a:t>congeladores</a:t>
                      </a:r>
                      <a:r>
                        <a:rPr sz="1000" dirty="0">
                          <a:latin typeface="Montserrat"/>
                        </a:rPr>
                        <a:t> </a:t>
                      </a:r>
                      <a:r>
                        <a:rPr sz="1000" dirty="0" err="1">
                          <a:latin typeface="Montserrat"/>
                        </a:rPr>
                        <a:t>horizontales</a:t>
                      </a:r>
                      <a:r>
                        <a:rPr sz="1000" dirty="0">
                          <a:latin typeface="Montserrat"/>
                        </a:rPr>
                        <a:t> de </a:t>
                      </a:r>
                      <a:r>
                        <a:rPr sz="1000" dirty="0" err="1">
                          <a:latin typeface="Montserrat"/>
                        </a:rPr>
                        <a:t>refrigerantes</a:t>
                      </a:r>
                      <a:r>
                        <a:rPr sz="1000" dirty="0">
                          <a:latin typeface="Montserrat"/>
                        </a:rPr>
                        <a:t> para </a:t>
                      </a:r>
                      <a:r>
                        <a:rPr sz="1000" dirty="0" err="1">
                          <a:latin typeface="Montserrat"/>
                        </a:rPr>
                        <a:t>vacunas</a:t>
                      </a:r>
                      <a:r>
                        <a:rPr sz="1000" dirty="0">
                          <a:latin typeface="Montserrat"/>
                        </a:rPr>
                        <a:t>, 6 </a:t>
                      </a:r>
                      <a:r>
                        <a:rPr sz="1000" dirty="0" err="1">
                          <a:latin typeface="Montserrat"/>
                        </a:rPr>
                        <a:t>refrigeradores</a:t>
                      </a:r>
                      <a:r>
                        <a:rPr sz="1000" dirty="0">
                          <a:latin typeface="Montserrat"/>
                        </a:rPr>
                        <a:t> para </a:t>
                      </a:r>
                      <a:r>
                        <a:rPr sz="1000" dirty="0" err="1">
                          <a:latin typeface="Montserrat"/>
                        </a:rPr>
                        <a:t>vacunas</a:t>
                      </a:r>
                      <a:r>
                        <a:rPr sz="1000" dirty="0">
                          <a:latin typeface="Montserrat"/>
                        </a:rPr>
                        <a:t>, 7 </a:t>
                      </a:r>
                      <a:r>
                        <a:rPr sz="1000" dirty="0" err="1">
                          <a:latin typeface="Montserrat"/>
                        </a:rPr>
                        <a:t>refrigeradores</a:t>
                      </a:r>
                      <a:r>
                        <a:rPr sz="1000" dirty="0">
                          <a:latin typeface="Montserrat"/>
                        </a:rPr>
                        <a:t> </a:t>
                      </a:r>
                      <a:r>
                        <a:rPr sz="1000" dirty="0" err="1">
                          <a:latin typeface="Montserrat"/>
                        </a:rPr>
                        <a:t>congeladores</a:t>
                      </a:r>
                      <a:r>
                        <a:rPr sz="1000" dirty="0">
                          <a:latin typeface="Montserrat"/>
                        </a:rPr>
                        <a:t> de 5.4 pies </a:t>
                      </a:r>
                      <a:r>
                        <a:rPr sz="1000" dirty="0" err="1">
                          <a:latin typeface="Montserrat"/>
                        </a:rPr>
                        <a:t>cúbicos</a:t>
                      </a:r>
                      <a:r>
                        <a:rPr sz="1000" dirty="0">
                          <a:latin typeface="Montserrat"/>
                        </a:rPr>
                        <a:t>, 1 barrera de </a:t>
                      </a:r>
                      <a:r>
                        <a:rPr sz="1000" dirty="0" err="1">
                          <a:latin typeface="Montserrat"/>
                        </a:rPr>
                        <a:t>cristal</a:t>
                      </a:r>
                      <a:r>
                        <a:rPr sz="1000" dirty="0">
                          <a:latin typeface="Montserrat"/>
                        </a:rPr>
                        <a:t> de </a:t>
                      </a:r>
                      <a:r>
                        <a:rPr sz="1000" dirty="0" err="1">
                          <a:latin typeface="Montserrat"/>
                        </a:rPr>
                        <a:t>plomo</a:t>
                      </a:r>
                      <a:r>
                        <a:rPr sz="1000" dirty="0">
                          <a:latin typeface="Montserrat"/>
                        </a:rPr>
                        <a:t>, 12 </a:t>
                      </a:r>
                      <a:r>
                        <a:rPr sz="1000" dirty="0" err="1">
                          <a:latin typeface="Montserrat"/>
                        </a:rPr>
                        <a:t>blindajes</a:t>
                      </a:r>
                      <a:r>
                        <a:rPr sz="1000" dirty="0">
                          <a:latin typeface="Montserrat"/>
                        </a:rPr>
                        <a:t> para </a:t>
                      </a:r>
                      <a:r>
                        <a:rPr sz="1000" dirty="0" err="1">
                          <a:latin typeface="Montserrat"/>
                        </a:rPr>
                        <a:t>protección</a:t>
                      </a:r>
                      <a:r>
                        <a:rPr sz="1000" dirty="0">
                          <a:latin typeface="Montserrat"/>
                        </a:rPr>
                        <a:t> de </a:t>
                      </a:r>
                      <a:r>
                        <a:rPr sz="1000" dirty="0" err="1">
                          <a:latin typeface="Montserrat"/>
                        </a:rPr>
                        <a:t>rayos</a:t>
                      </a:r>
                      <a:r>
                        <a:rPr sz="1000" dirty="0">
                          <a:latin typeface="Montserrat"/>
                        </a:rPr>
                        <a:t> gamma </a:t>
                      </a:r>
                      <a:r>
                        <a:rPr sz="1000" dirty="0" err="1">
                          <a:latin typeface="Montserrat"/>
                        </a:rPr>
                        <a:t>en</a:t>
                      </a:r>
                      <a:r>
                        <a:rPr sz="1000" dirty="0">
                          <a:latin typeface="Montserrat"/>
                        </a:rPr>
                        <a:t> </a:t>
                      </a:r>
                      <a:r>
                        <a:rPr sz="1000" dirty="0" err="1">
                          <a:latin typeface="Montserrat"/>
                        </a:rPr>
                        <a:t>fuente</a:t>
                      </a:r>
                      <a:r>
                        <a:rPr sz="1000" dirty="0">
                          <a:latin typeface="Montserrat"/>
                        </a:rPr>
                        <a:t> </a:t>
                      </a:r>
                      <a:r>
                        <a:rPr sz="1000" dirty="0" err="1">
                          <a:latin typeface="Montserrat"/>
                        </a:rPr>
                        <a:t>abierta</a:t>
                      </a:r>
                      <a:r>
                        <a:rPr sz="1000" dirty="0">
                          <a:latin typeface="Montserrat"/>
                        </a:rPr>
                        <a:t>, 1 </a:t>
                      </a:r>
                      <a:r>
                        <a:rPr sz="1000" dirty="0" err="1">
                          <a:latin typeface="Montserrat"/>
                        </a:rPr>
                        <a:t>calibrador</a:t>
                      </a:r>
                      <a:r>
                        <a:rPr sz="1000" dirty="0">
                          <a:latin typeface="Montserrat"/>
                        </a:rPr>
                        <a:t> de </a:t>
                      </a:r>
                      <a:r>
                        <a:rPr sz="1000" dirty="0" err="1">
                          <a:latin typeface="Montserrat"/>
                        </a:rPr>
                        <a:t>dosis</a:t>
                      </a:r>
                      <a:r>
                        <a:rPr sz="1000" dirty="0">
                          <a:latin typeface="Montserrat"/>
                        </a:rPr>
                        <a:t> de </a:t>
                      </a:r>
                      <a:r>
                        <a:rPr sz="1000" dirty="0" err="1">
                          <a:latin typeface="Montserrat"/>
                        </a:rPr>
                        <a:t>radioisótopos</a:t>
                      </a:r>
                      <a:r>
                        <a:rPr sz="1000" dirty="0">
                          <a:latin typeface="Montserrat"/>
                        </a:rPr>
                        <a:t>, 1 </a:t>
                      </a:r>
                      <a:r>
                        <a:rPr sz="1000" dirty="0" err="1">
                          <a:latin typeface="Montserrat"/>
                        </a:rPr>
                        <a:t>cofre</a:t>
                      </a:r>
                      <a:r>
                        <a:rPr sz="1000" dirty="0">
                          <a:latin typeface="Montserrat"/>
                        </a:rPr>
                        <a:t> de </a:t>
                      </a:r>
                      <a:r>
                        <a:rPr sz="1000" dirty="0" err="1">
                          <a:latin typeface="Montserrat"/>
                        </a:rPr>
                        <a:t>plomo</a:t>
                      </a:r>
                      <a:r>
                        <a:rPr sz="1000" dirty="0">
                          <a:latin typeface="Montserrat"/>
                        </a:rPr>
                        <a:t>, 7 </a:t>
                      </a:r>
                      <a:r>
                        <a:rPr sz="1000" dirty="0" err="1">
                          <a:latin typeface="Montserrat"/>
                        </a:rPr>
                        <a:t>monitores</a:t>
                      </a:r>
                      <a:r>
                        <a:rPr sz="1000" dirty="0">
                          <a:latin typeface="Montserrat"/>
                        </a:rPr>
                        <a:t> de </a:t>
                      </a:r>
                      <a:r>
                        <a:rPr sz="1000" dirty="0" err="1">
                          <a:latin typeface="Montserrat"/>
                        </a:rPr>
                        <a:t>radiación</a:t>
                      </a:r>
                      <a:r>
                        <a:rPr sz="1000" dirty="0">
                          <a:latin typeface="Montserrat"/>
                        </a:rPr>
                        <a:t> de pared, 1 monitor de </a:t>
                      </a:r>
                      <a:r>
                        <a:rPr sz="1000" dirty="0" err="1">
                          <a:latin typeface="Montserrat"/>
                        </a:rPr>
                        <a:t>signos</a:t>
                      </a:r>
                      <a:r>
                        <a:rPr sz="1000" dirty="0">
                          <a:latin typeface="Montserrat"/>
                        </a:rPr>
                        <a:t> </a:t>
                      </a:r>
                      <a:r>
                        <a:rPr sz="1000" dirty="0" err="1">
                          <a:latin typeface="Montserrat"/>
                        </a:rPr>
                        <a:t>vitales</a:t>
                      </a:r>
                      <a:r>
                        <a:rPr sz="1000" dirty="0">
                          <a:latin typeface="Montserrat"/>
                        </a:rPr>
                        <a:t> para </a:t>
                      </a:r>
                      <a:r>
                        <a:rPr sz="1000" dirty="0" err="1">
                          <a:latin typeface="Montserrat"/>
                        </a:rPr>
                        <a:t>el</a:t>
                      </a:r>
                      <a:r>
                        <a:rPr sz="1000" dirty="0">
                          <a:latin typeface="Montserrat"/>
                        </a:rPr>
                        <a:t> </a:t>
                      </a:r>
                      <a:r>
                        <a:rPr sz="1000" dirty="0" err="1">
                          <a:latin typeface="Montserrat"/>
                        </a:rPr>
                        <a:t>traslado</a:t>
                      </a:r>
                      <a:r>
                        <a:rPr sz="1000" dirty="0">
                          <a:latin typeface="Montserrat"/>
                        </a:rPr>
                        <a:t> del </a:t>
                      </a:r>
                      <a:r>
                        <a:rPr sz="1000" dirty="0" err="1">
                          <a:latin typeface="Montserrat"/>
                        </a:rPr>
                        <a:t>paciente</a:t>
                      </a:r>
                      <a:r>
                        <a:rPr sz="1000" dirty="0">
                          <a:latin typeface="Montserrat"/>
                        </a:rPr>
                        <a:t> (con </a:t>
                      </a:r>
                      <a:r>
                        <a:rPr sz="1000" dirty="0" err="1">
                          <a:latin typeface="Montserrat"/>
                        </a:rPr>
                        <a:t>protección</a:t>
                      </a:r>
                      <a:r>
                        <a:rPr sz="1000" dirty="0">
                          <a:latin typeface="Montserrat"/>
                        </a:rPr>
                        <a:t> </a:t>
                      </a:r>
                      <a:r>
                        <a:rPr sz="1000" dirty="0" err="1">
                          <a:latin typeface="Montserrat"/>
                        </a:rPr>
                        <a:t>antimagnética</a:t>
                      </a:r>
                      <a:r>
                        <a:rPr sz="1000" dirty="0">
                          <a:latin typeface="Montserrat"/>
                        </a:rPr>
                        <a:t>), 1 </a:t>
                      </a:r>
                      <a:r>
                        <a:rPr sz="1000" dirty="0" err="1">
                          <a:latin typeface="Montserrat"/>
                        </a:rPr>
                        <a:t>unidad</a:t>
                      </a:r>
                      <a:r>
                        <a:rPr sz="1000" dirty="0">
                          <a:latin typeface="Montserrat"/>
                        </a:rPr>
                        <a:t> de </a:t>
                      </a:r>
                      <a:r>
                        <a:rPr sz="1000" dirty="0" err="1">
                          <a:latin typeface="Montserrat"/>
                        </a:rPr>
                        <a:t>anestesia</a:t>
                      </a:r>
                      <a:r>
                        <a:rPr sz="1000" dirty="0">
                          <a:latin typeface="Montserrat"/>
                        </a:rPr>
                        <a:t> </a:t>
                      </a:r>
                      <a:r>
                        <a:rPr sz="1000" dirty="0" err="1">
                          <a:latin typeface="Montserrat"/>
                        </a:rPr>
                        <a:t>básica</a:t>
                      </a:r>
                      <a:r>
                        <a:rPr lang="es-MX" sz="1000" dirty="0">
                          <a:latin typeface="Montserrat"/>
                        </a:rPr>
                        <a:t>, 3 </a:t>
                      </a:r>
                      <a:r>
                        <a:rPr lang="es-MX" sz="1000" dirty="0" err="1">
                          <a:latin typeface="Montserrat"/>
                        </a:rPr>
                        <a:t>mastógrafos</a:t>
                      </a:r>
                      <a:r>
                        <a:rPr lang="es-MX" sz="1000" dirty="0">
                          <a:latin typeface="Montserrat"/>
                        </a:rPr>
                        <a:t>, 1 resonador, 1 tomógrafo.</a:t>
                      </a:r>
                      <a:endParaRPr sz="1000" dirty="0">
                        <a:latin typeface="Montserrat"/>
                      </a:endParaRPr>
                    </a:p>
                  </a:txBody>
                  <a:tcPr marL="3600" marR="3600" marT="3600" marB="3600" anchor="ctr">
                    <a:solidFill>
                      <a:srgbClr val="FFFFFF"/>
                    </a:solidFill>
                  </a:tcPr>
                </a:tc>
                <a:tc>
                  <a:txBody>
                    <a:bodyPr/>
                    <a:lstStyle/>
                    <a:p>
                      <a:pPr algn="ctr">
                        <a:lnSpc>
                          <a:spcPct val="100000"/>
                        </a:lnSpc>
                      </a:pPr>
                      <a:r>
                        <a:rPr sz="1000" b="0" dirty="0">
                          <a:latin typeface="Montserrat"/>
                        </a:rPr>
                        <a:t>$</a:t>
                      </a:r>
                      <a:r>
                        <a:rPr lang="es-MX" sz="1000" b="0" dirty="0">
                          <a:latin typeface="Montserrat"/>
                        </a:rPr>
                        <a:t>167.2</a:t>
                      </a:r>
                      <a:endParaRPr sz="1000" b="0" dirty="0">
                        <a:latin typeface="Montserrat"/>
                      </a:endParaRP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166005325"/>
              </p:ext>
            </p:extLst>
          </p:nvPr>
        </p:nvGraphicFramePr>
        <p:xfrm>
          <a:off x="1785600" y="8809200"/>
          <a:ext cx="5295600" cy="540000"/>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70000">
                <a:tc>
                  <a:txBody>
                    <a:bodyPr/>
                    <a:lstStyle/>
                    <a:p>
                      <a:pPr algn="ctr">
                        <a:defRPr sz="1000" b="1">
                          <a:solidFill>
                            <a:srgbClr val="FFFFFF"/>
                          </a:solidFill>
                          <a:latin typeface="Montserrat"/>
                        </a:defRPr>
                      </a:pPr>
                      <a:r>
                        <a:t>Equipamiento Electromecánico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70000">
                <a:tc>
                  <a:txBody>
                    <a:bodyPr/>
                    <a:lstStyle/>
                    <a:p>
                      <a:pPr algn="l">
                        <a:lnSpc>
                          <a:spcPct val="100000"/>
                        </a:lnSpc>
                      </a:pPr>
                      <a:r>
                        <a:rPr sz="1000" dirty="0" err="1">
                          <a:latin typeface="Montserrat"/>
                        </a:rPr>
                        <a:t>Adquisición</a:t>
                      </a:r>
                      <a:r>
                        <a:rPr sz="1000" dirty="0">
                          <a:latin typeface="Montserrat"/>
                        </a:rPr>
                        <a:t> de </a:t>
                      </a:r>
                      <a:r>
                        <a:rPr sz="1000" dirty="0" err="1">
                          <a:latin typeface="Montserrat"/>
                        </a:rPr>
                        <a:t>elevadores</a:t>
                      </a:r>
                      <a:endParaRPr sz="1000" dirty="0">
                        <a:latin typeface="Montserrat"/>
                      </a:endParaRPr>
                    </a:p>
                  </a:txBody>
                  <a:tcPr marL="3600" marR="3600" marT="3600" marB="3600" anchor="ctr">
                    <a:solidFill>
                      <a:srgbClr val="FFFFFF"/>
                    </a:solidFill>
                  </a:tcPr>
                </a:tc>
                <a:tc>
                  <a:txBody>
                    <a:bodyPr/>
                    <a:lstStyle/>
                    <a:p>
                      <a:pPr algn="ctr">
                        <a:lnSpc>
                          <a:spcPct val="100000"/>
                        </a:lnSpc>
                      </a:pPr>
                      <a:r>
                        <a:rPr sz="1000" b="0" dirty="0">
                          <a:latin typeface="Montserrat"/>
                        </a:rPr>
                        <a:t>$15.0</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21" name="TextBox 20"/>
          <p:cNvSpPr txBox="1"/>
          <p:nvPr/>
        </p:nvSpPr>
        <p:spPr>
          <a:xfrm>
            <a:off x="6022881" y="878400"/>
            <a:ext cx="809838"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1">
                <a:solidFill>
                  <a:srgbClr val="FFFFFF"/>
                </a:solidFill>
                <a:latin typeface="Montserrat"/>
              </a:defRPr>
            </a:pPr>
            <a:r>
              <a:rPr kumimoji="0" sz="1400" b="1" i="0" u="none" strike="noStrike" kern="0" cap="none" spc="0" normalizeH="0" baseline="0" noProof="0">
                <a:ln>
                  <a:noFill/>
                </a:ln>
                <a:solidFill>
                  <a:srgbClr val="FFFFFF"/>
                </a:solidFill>
                <a:effectLst/>
                <a:uLnTx/>
                <a:uFillTx/>
                <a:latin typeface="Montserrat"/>
                <a:cs typeface="Arial"/>
                <a:sym typeface="Arial"/>
              </a:rPr>
              <a:t>1,7</a:t>
            </a:r>
            <a:r>
              <a:rPr kumimoji="0" lang="es-MX" sz="1400" b="1" i="0" u="none" strike="noStrike" kern="0" cap="none" spc="0" normalizeH="0" baseline="0" noProof="0">
                <a:ln>
                  <a:noFill/>
                </a:ln>
                <a:solidFill>
                  <a:srgbClr val="FFFFFF"/>
                </a:solidFill>
                <a:effectLst/>
                <a:uLnTx/>
                <a:uFillTx/>
                <a:latin typeface="Montserrat"/>
                <a:cs typeface="Arial"/>
                <a:sym typeface="Arial"/>
              </a:rPr>
              <a:t>94.6</a:t>
            </a:r>
            <a:endParaRPr kumimoji="0" sz="1400" b="1" i="0" u="none" strike="noStrike" kern="0" cap="none" spc="0" normalizeH="0" baseline="0" noProof="0">
              <a:ln>
                <a:noFill/>
              </a:ln>
              <a:solidFill>
                <a:srgbClr val="FFFFFF"/>
              </a:solidFill>
              <a:effectLst/>
              <a:uLnTx/>
              <a:uFillTx/>
              <a:latin typeface="Montserrat"/>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1">
                <a:solidFill>
                  <a:srgbClr val="FFFFFF"/>
                </a:solidFill>
                <a:latin typeface="Montserrat"/>
              </a:defRPr>
            </a:pPr>
            <a:r>
              <a:rPr kumimoji="0" sz="1400" b="1" i="0" u="none" strike="noStrike" kern="0" cap="none" spc="0" normalizeH="0" baseline="0" noProof="0" err="1">
                <a:ln>
                  <a:noFill/>
                </a:ln>
                <a:solidFill>
                  <a:srgbClr val="FFFFFF"/>
                </a:solidFill>
                <a:effectLst/>
                <a:uLnTx/>
                <a:uFillTx/>
                <a:latin typeface="Montserrat"/>
                <a:cs typeface="Arial"/>
                <a:sym typeface="Arial"/>
              </a:rPr>
              <a:t>mdp</a:t>
            </a:r>
            <a:endParaRPr kumimoji="0" sz="1400" b="1" i="0" u="none" strike="noStrike" kern="0" cap="none" spc="0" normalizeH="0" baseline="0" noProof="0">
              <a:ln>
                <a:noFill/>
              </a:ln>
              <a:solidFill>
                <a:srgbClr val="FFFFFF"/>
              </a:solidFill>
              <a:effectLst/>
              <a:uLnTx/>
              <a:uFillTx/>
              <a:latin typeface="Montserrat"/>
              <a:cs typeface="Arial"/>
              <a:sym typeface="Arial"/>
            </a:endParaRPr>
          </a:p>
        </p:txBody>
      </p:sp>
      <p:sp>
        <p:nvSpPr>
          <p:cNvPr id="13" name="CuadroTexto 12">
            <a:extLst>
              <a:ext uri="{FF2B5EF4-FFF2-40B4-BE49-F238E27FC236}">
                <a16:creationId xmlns:a16="http://schemas.microsoft.com/office/drawing/2014/main" id="{0DD7FA06-14BB-76B3-35FD-68D55BFEC80D}"/>
              </a:ext>
            </a:extLst>
          </p:cNvPr>
          <p:cNvSpPr txBox="1"/>
          <p:nvPr/>
        </p:nvSpPr>
        <p:spPr>
          <a:xfrm>
            <a:off x="-1078574" y="196659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BC955C"/>
                </a:solidFill>
                <a:effectLst/>
                <a:uLnTx/>
                <a:uFillTx/>
                <a:latin typeface="Montserrat"/>
                <a:ea typeface="Montserrat"/>
                <a:cs typeface="Montserrat"/>
                <a:sym typeface="Arial"/>
              </a:rPr>
              <a:t>1</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Área</a:t>
            </a:r>
            <a:r>
              <a:rPr kumimoji="0" lang="en-US" sz="700" b="1" i="0" u="none" strike="noStrike" kern="0" cap="none" spc="0" normalizeH="0" baseline="0" noProof="0" dirty="0">
                <a:ln>
                  <a:noFill/>
                </a:ln>
                <a:solidFill>
                  <a:srgbClr val="BC955C"/>
                </a:solidFill>
                <a:effectLst/>
                <a:uLnTx/>
                <a:uFillTx/>
                <a:latin typeface="Montserrat"/>
                <a:cs typeface="Arial"/>
                <a:sym typeface="Arial"/>
              </a:rPr>
              <a:t> de </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BC955C"/>
                </a:solidFill>
                <a:effectLst/>
                <a:uLnTx/>
                <a:uFillTx/>
                <a:latin typeface="Montserrat"/>
                <a:cs typeface="Arial"/>
                <a:sym typeface="Arial"/>
              </a:rPr>
              <a:t>Quirófano</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5" name="Imagen 14" descr="Forma, Círculo&#10;&#10;El contenido generado por IA puede ser incorrecto.">
            <a:extLst>
              <a:ext uri="{FF2B5EF4-FFF2-40B4-BE49-F238E27FC236}">
                <a16:creationId xmlns:a16="http://schemas.microsoft.com/office/drawing/2014/main" id="{7F71F29F-41A8-8EA9-51AA-F90427910488}"/>
              </a:ext>
            </a:extLst>
          </p:cNvPr>
          <p:cNvPicPr>
            <a:picLocks noChangeAspect="1"/>
          </p:cNvPicPr>
          <p:nvPr/>
        </p:nvPicPr>
        <p:blipFill>
          <a:blip r:embed="rId5"/>
          <a:srcRect b="-847"/>
          <a:stretch>
            <a:fillRect/>
          </a:stretch>
        </p:blipFill>
        <p:spPr>
          <a:xfrm>
            <a:off x="426772" y="1901127"/>
            <a:ext cx="875508" cy="854908"/>
          </a:xfrm>
          <a:prstGeom prst="rect">
            <a:avLst/>
          </a:prstGeom>
        </p:spPr>
      </p:pic>
    </p:spTree>
    <p:extLst>
      <p:ext uri="{BB962C8B-B14F-4D97-AF65-F5344CB8AC3E}">
        <p14:creationId xmlns:p14="http://schemas.microsoft.com/office/powerpoint/2010/main" val="1620064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098369" y="162977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err="1">
                <a:ln>
                  <a:noFill/>
                </a:ln>
                <a:solidFill>
                  <a:srgbClr val="A42145"/>
                </a:solidFill>
                <a:effectLst/>
                <a:uLnTx/>
                <a:uFillTx/>
                <a:latin typeface="Montserrat"/>
                <a:ea typeface="Montserrat"/>
                <a:cs typeface="Montserrat"/>
                <a:sym typeface="Arial"/>
              </a:rPr>
              <a:t>Construcción</a:t>
            </a:r>
            <a:r>
              <a:rPr kumimoji="0" lang="en-US" sz="1200" b="1" i="0" u="none" strike="noStrike" kern="0" cap="none" spc="0" normalizeH="0" baseline="0" noProof="0">
                <a:ln>
                  <a:noFill/>
                </a:ln>
                <a:solidFill>
                  <a:srgbClr val="A42145"/>
                </a:solidFill>
                <a:effectLst/>
                <a:uLnTx/>
                <a:uFillTx/>
                <a:latin typeface="Montserrat"/>
                <a:ea typeface="Montserrat"/>
                <a:cs typeface="Montserrat"/>
                <a:sym typeface="Arial"/>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346595" y="1941693"/>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155864" y="2068827"/>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A42145"/>
                </a:solidFill>
                <a:effectLst/>
                <a:uLnTx/>
                <a:uFillTx/>
                <a:latin typeface="Montserrat"/>
                <a:ea typeface="Montserrat"/>
                <a:cs typeface="Montserrat"/>
                <a:sym typeface="Arial"/>
              </a:rPr>
              <a:t>2</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err="1">
                <a:ln>
                  <a:noFill/>
                </a:ln>
                <a:solidFill>
                  <a:srgbClr val="A42145"/>
                </a:solidFill>
                <a:effectLst/>
                <a:uLnTx/>
                <a:uFillTx/>
                <a:latin typeface="Montserrat"/>
                <a:ea typeface="Montserrat"/>
                <a:cs typeface="Montserrat"/>
                <a:sym typeface="Arial"/>
              </a:rPr>
              <a:t>Hospitales</a:t>
            </a:r>
            <a:endParaRPr kumimoji="0" lang="en-US" sz="800" b="1" i="0" u="none" strike="noStrike" kern="0" cap="none" spc="0" normalizeH="0" baseline="0" noProof="0">
              <a:ln>
                <a:noFill/>
              </a:ln>
              <a:solidFill>
                <a:srgbClr val="A42145"/>
              </a:solidFill>
              <a:effectLst/>
              <a:uLnTx/>
              <a:uFillTx/>
              <a:latin typeface="Montserrat"/>
              <a:ea typeface="Montserrat"/>
              <a:cs typeface="Montserrat"/>
              <a:sym typeface="Arial"/>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355188" y="2852714"/>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147931" y="2928185"/>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A42145"/>
                </a:solidFill>
                <a:effectLst/>
                <a:uLnTx/>
                <a:uFillTx/>
                <a:latin typeface="Montserrat"/>
                <a:ea typeface="Montserrat"/>
                <a:cs typeface="Montserrat"/>
                <a:sym typeface="Arial"/>
              </a:rPr>
              <a:t>1</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a:ln>
                  <a:noFill/>
                </a:ln>
                <a:solidFill>
                  <a:srgbClr val="A42145"/>
                </a:solidFill>
                <a:effectLst/>
                <a:uLnTx/>
                <a:uFillTx/>
                <a:latin typeface="Montserrat"/>
                <a:cs typeface="Arial"/>
                <a:sym typeface="Arial"/>
              </a:rPr>
              <a:t>Hospital de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err="1">
                <a:ln>
                  <a:noFill/>
                </a:ln>
                <a:solidFill>
                  <a:srgbClr val="A42145"/>
                </a:solidFill>
                <a:effectLst/>
                <a:uLnTx/>
                <a:uFillTx/>
                <a:latin typeface="Montserrat"/>
                <a:cs typeface="Arial"/>
                <a:sym typeface="Arial"/>
              </a:rPr>
              <a:t>Rescate</a:t>
            </a:r>
          </a:p>
        </p:txBody>
      </p:sp>
      <p:sp>
        <p:nvSpPr>
          <p:cNvPr id="10" name="TextBox 9"/>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graphicFrame>
        <p:nvGraphicFramePr>
          <p:cNvPr id="11" name="Table 10"/>
          <p:cNvGraphicFramePr>
            <a:graphicFrameLocks noGrp="1"/>
          </p:cNvGraphicFramePr>
          <p:nvPr/>
        </p:nvGraphicFramePr>
        <p:xfrm>
          <a:off x="1651249" y="1558235"/>
          <a:ext cx="5538551" cy="1505327"/>
        </p:xfrm>
        <a:graphic>
          <a:graphicData uri="http://schemas.openxmlformats.org/drawingml/2006/table">
            <a:tbl>
              <a:tblPr firstRow="1" bandRow="1">
                <a:tableStyleId>{5C22544A-7EE6-4342-B048-85BDC9FD1C3A}</a:tableStyleId>
              </a:tblPr>
              <a:tblGrid>
                <a:gridCol w="4367290">
                  <a:extLst>
                    <a:ext uri="{9D8B030D-6E8A-4147-A177-3AD203B41FA5}">
                      <a16:colId xmlns:a16="http://schemas.microsoft.com/office/drawing/2014/main" val="20000"/>
                    </a:ext>
                  </a:extLst>
                </a:gridCol>
                <a:gridCol w="1171261">
                  <a:extLst>
                    <a:ext uri="{9D8B030D-6E8A-4147-A177-3AD203B41FA5}">
                      <a16:colId xmlns:a16="http://schemas.microsoft.com/office/drawing/2014/main" val="20001"/>
                    </a:ext>
                  </a:extLst>
                </a:gridCol>
              </a:tblGrid>
              <a:tr h="232465">
                <a:tc>
                  <a:txBody>
                    <a:bodyPr/>
                    <a:lstStyle/>
                    <a:p>
                      <a:pPr algn="ctr">
                        <a:defRPr sz="1000" b="1">
                          <a:solidFill>
                            <a:srgbClr val="FFFFFF"/>
                          </a:solidFill>
                          <a:latin typeface="Montserrat"/>
                        </a:defRPr>
                      </a:pPr>
                      <a:r>
                        <a:rPr dirty="0"/>
                        <a:t>Obras de </a:t>
                      </a:r>
                      <a:r>
                        <a:rPr dirty="0" err="1"/>
                        <a:t>Infraestructura</a:t>
                      </a:r>
                      <a:r>
                        <a:rPr dirty="0"/>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122880">
                <a:tc>
                  <a:txBody>
                    <a:bodyPr/>
                    <a:lstStyle/>
                    <a:p>
                      <a:pPr algn="l">
                        <a:lnSpc>
                          <a:spcPct val="100000"/>
                        </a:lnSpc>
                      </a:pPr>
                      <a:r>
                        <a:rPr sz="1000" dirty="0">
                          <a:latin typeface="Montserrat"/>
                        </a:rPr>
                        <a:t>Hospital General de Zona Guaymas</a:t>
                      </a:r>
                      <a:r>
                        <a:rPr lang="es-MX" sz="1000" dirty="0">
                          <a:latin typeface="Montserrat"/>
                        </a:rPr>
                        <a:t>*</a:t>
                      </a:r>
                      <a:endParaRPr sz="1000" dirty="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$2,710.0</a:t>
                      </a:r>
                    </a:p>
                  </a:txBody>
                  <a:tcPr marL="3600" marR="3600" marT="3600" marB="3600" anchor="ctr">
                    <a:solidFill>
                      <a:srgbClr val="FFFFFF"/>
                    </a:solidFill>
                  </a:tcPr>
                </a:tc>
                <a:extLst>
                  <a:ext uri="{0D108BD9-81ED-4DB2-BD59-A6C34878D82A}">
                    <a16:rowId xmlns:a16="http://schemas.microsoft.com/office/drawing/2014/main" val="10001"/>
                  </a:ext>
                </a:extLst>
              </a:tr>
              <a:tr h="122880">
                <a:tc>
                  <a:txBody>
                    <a:bodyPr/>
                    <a:lstStyle/>
                    <a:p>
                      <a:pPr algn="l">
                        <a:lnSpc>
                          <a:spcPct val="100000"/>
                        </a:lnSpc>
                      </a:pPr>
                      <a:r>
                        <a:rPr sz="1000" dirty="0">
                          <a:latin typeface="Montserrat"/>
                        </a:rPr>
                        <a:t>Hospital General de Zona San Luis Rio Colorado</a:t>
                      </a:r>
                    </a:p>
                  </a:txBody>
                  <a:tcPr marL="3600" marR="3600" marT="3600" marB="3600" anchor="ctr">
                    <a:solidFill>
                      <a:srgbClr val="D9D9D9"/>
                    </a:solidFill>
                  </a:tcPr>
                </a:tc>
                <a:tc>
                  <a:txBody>
                    <a:bodyPr/>
                    <a:lstStyle/>
                    <a:p>
                      <a:pPr algn="ctr">
                        <a:lnSpc>
                          <a:spcPct val="100000"/>
                        </a:lnSpc>
                      </a:pPr>
                      <a:r>
                        <a:rPr sz="1000">
                          <a:latin typeface="Montserrat"/>
                        </a:rPr>
                        <a:t>$2,171.9</a:t>
                      </a:r>
                    </a:p>
                  </a:txBody>
                  <a:tcPr marL="3600" marR="3600" marT="3600" marB="3600" anchor="ctr">
                    <a:solidFill>
                      <a:srgbClr val="D9D9D9"/>
                    </a:solidFill>
                  </a:tcPr>
                </a:tc>
                <a:extLst>
                  <a:ext uri="{0D108BD9-81ED-4DB2-BD59-A6C34878D82A}">
                    <a16:rowId xmlns:a16="http://schemas.microsoft.com/office/drawing/2014/main" val="10002"/>
                  </a:ext>
                </a:extLst>
              </a:tr>
              <a:tr h="122880">
                <a:tc>
                  <a:txBody>
                    <a:bodyPr/>
                    <a:lstStyle/>
                    <a:p>
                      <a:pPr algn="l">
                        <a:lnSpc>
                          <a:spcPct val="100000"/>
                        </a:lnSpc>
                      </a:pPr>
                      <a:r>
                        <a:rPr sz="1000" dirty="0">
                          <a:latin typeface="Montserrat"/>
                        </a:rPr>
                        <a:t>Hospital General de Zona </a:t>
                      </a:r>
                      <a:r>
                        <a:rPr sz="1000" dirty="0" err="1">
                          <a:latin typeface="Montserrat"/>
                        </a:rPr>
                        <a:t>Navojoa</a:t>
                      </a:r>
                      <a:endParaRPr sz="1000" dirty="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$1,548.2</a:t>
                      </a:r>
                    </a:p>
                  </a:txBody>
                  <a:tcPr marL="3600" marR="3600" marT="3600" marB="3600" anchor="ctr">
                    <a:solidFill>
                      <a:srgbClr val="FFFFFF"/>
                    </a:solidFill>
                  </a:tcPr>
                </a:tc>
                <a:extLst>
                  <a:ext uri="{0D108BD9-81ED-4DB2-BD59-A6C34878D82A}">
                    <a16:rowId xmlns:a16="http://schemas.microsoft.com/office/drawing/2014/main" val="10003"/>
                  </a:ext>
                </a:extLst>
              </a:tr>
              <a:tr h="240216">
                <a:tc>
                  <a:txBody>
                    <a:bodyPr/>
                    <a:lstStyle/>
                    <a:p>
                      <a:pPr algn="l">
                        <a:lnSpc>
                          <a:spcPct val="100000"/>
                        </a:lnSpc>
                      </a:pPr>
                      <a:r>
                        <a:rPr sz="1000" dirty="0">
                          <a:latin typeface="Montserrat"/>
                        </a:rPr>
                        <a:t>Centro de </a:t>
                      </a:r>
                      <a:r>
                        <a:rPr sz="1000" dirty="0" err="1">
                          <a:latin typeface="Montserrat"/>
                        </a:rPr>
                        <a:t>Simulación</a:t>
                      </a:r>
                      <a:r>
                        <a:rPr sz="1000" dirty="0">
                          <a:latin typeface="Montserrat"/>
                        </a:rPr>
                        <a:t> para la Excelencia Clínica y </a:t>
                      </a:r>
                      <a:r>
                        <a:rPr sz="1000" dirty="0" err="1">
                          <a:latin typeface="Montserrat"/>
                        </a:rPr>
                        <a:t>Quirúrgica</a:t>
                      </a:r>
                      <a:r>
                        <a:rPr sz="1000" dirty="0">
                          <a:latin typeface="Montserrat"/>
                        </a:rPr>
                        <a:t> Norte, </a:t>
                      </a:r>
                      <a:r>
                        <a:rPr sz="1000" dirty="0" err="1">
                          <a:latin typeface="Montserrat"/>
                        </a:rPr>
                        <a:t>en</a:t>
                      </a:r>
                      <a:r>
                        <a:rPr sz="1000" dirty="0">
                          <a:latin typeface="Montserrat"/>
                        </a:rPr>
                        <a:t> Sonora</a:t>
                      </a:r>
                    </a:p>
                  </a:txBody>
                  <a:tcPr marL="3600" marR="3600" marT="3600" marB="3600" anchor="ctr">
                    <a:solidFill>
                      <a:srgbClr val="D9D9D9"/>
                    </a:solidFill>
                  </a:tcPr>
                </a:tc>
                <a:tc>
                  <a:txBody>
                    <a:bodyPr/>
                    <a:lstStyle/>
                    <a:p>
                      <a:pPr algn="ctr">
                        <a:lnSpc>
                          <a:spcPct val="100000"/>
                        </a:lnSpc>
                      </a:pPr>
                      <a:r>
                        <a:rPr sz="1000">
                          <a:latin typeface="Montserrat"/>
                        </a:rPr>
                        <a:t>$152.1</a:t>
                      </a:r>
                    </a:p>
                  </a:txBody>
                  <a:tcPr marL="3600" marR="3600" marT="3600" marB="3600" anchor="ctr">
                    <a:solidFill>
                      <a:srgbClr val="D9D9D9"/>
                    </a:solidFill>
                  </a:tcPr>
                </a:tc>
                <a:extLst>
                  <a:ext uri="{0D108BD9-81ED-4DB2-BD59-A6C34878D82A}">
                    <a16:rowId xmlns:a16="http://schemas.microsoft.com/office/drawing/2014/main" val="10004"/>
                  </a:ext>
                </a:extLst>
              </a:tr>
              <a:tr h="240216">
                <a:tc>
                  <a:txBody>
                    <a:bodyPr/>
                    <a:lstStyle/>
                    <a:p>
                      <a:pPr algn="l">
                        <a:lnSpc>
                          <a:spcPct val="100000"/>
                        </a:lnSpc>
                      </a:pPr>
                      <a:r>
                        <a:rPr sz="1000">
                          <a:latin typeface="Montserrat"/>
                        </a:rPr>
                        <a:t>Construcción de área para residencias médicas de la UMAE, HE No. 2 en Ciudad Obregón Sonora, Sonora.</a:t>
                      </a:r>
                    </a:p>
                  </a:txBody>
                  <a:tcPr marL="3600" marR="3600" marT="3600" marB="3600" anchor="ctr">
                    <a:solidFill>
                      <a:srgbClr val="FFFFFF"/>
                    </a:solidFill>
                  </a:tcPr>
                </a:tc>
                <a:tc>
                  <a:txBody>
                    <a:bodyPr/>
                    <a:lstStyle/>
                    <a:p>
                      <a:pPr algn="ctr">
                        <a:lnSpc>
                          <a:spcPct val="100000"/>
                        </a:lnSpc>
                      </a:pPr>
                      <a:r>
                        <a:rPr sz="1000">
                          <a:latin typeface="Montserrat"/>
                        </a:rPr>
                        <a:t>$57.7</a:t>
                      </a:r>
                    </a:p>
                  </a:txBody>
                  <a:tcPr marL="3600" marR="3600" marT="3600" marB="3600" anchor="ctr">
                    <a:solidFill>
                      <a:srgbClr val="FFFFFF"/>
                    </a:solidFill>
                  </a:tcPr>
                </a:tc>
                <a:extLst>
                  <a:ext uri="{0D108BD9-81ED-4DB2-BD59-A6C34878D82A}">
                    <a16:rowId xmlns:a16="http://schemas.microsoft.com/office/drawing/2014/main" val="10005"/>
                  </a:ext>
                </a:extLst>
              </a:tr>
              <a:tr h="170062">
                <a:tc>
                  <a:txBody>
                    <a:bodyPr/>
                    <a:lstStyle/>
                    <a:p>
                      <a:pPr algn="l">
                        <a:lnSpc>
                          <a:spcPct val="100000"/>
                        </a:lnSpc>
                        <a:defRPr sz="900" b="1">
                          <a:solidFill>
                            <a:srgbClr val="FFFFFF"/>
                          </a:solidFill>
                          <a:latin typeface="Montserrat"/>
                        </a:defRPr>
                      </a:pPr>
                      <a:r>
                        <a:t>Subtotal</a:t>
                      </a:r>
                    </a:p>
                  </a:txBody>
                  <a:tcPr marL="3600" marR="3600" marT="3600" marB="3600" anchor="ctr">
                    <a:solidFill>
                      <a:srgbClr val="9F2241"/>
                    </a:solidFill>
                  </a:tcPr>
                </a:tc>
                <a:tc>
                  <a:txBody>
                    <a:bodyPr/>
                    <a:lstStyle/>
                    <a:p>
                      <a:pPr algn="ctr">
                        <a:lnSpc>
                          <a:spcPct val="100000"/>
                        </a:lnSpc>
                        <a:defRPr sz="900" b="1">
                          <a:solidFill>
                            <a:srgbClr val="FFFFFF"/>
                          </a:solidFill>
                          <a:latin typeface="Montserrat"/>
                        </a:defRPr>
                      </a:pPr>
                      <a:r>
                        <a:rPr dirty="0"/>
                        <a:t>$6,639.9</a:t>
                      </a:r>
                    </a:p>
                  </a:txBody>
                  <a:tcPr marL="3600" marR="3600" marT="3600" marB="3600" anchor="ctr">
                    <a:solidFill>
                      <a:srgbClr val="9F2241"/>
                    </a:solid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nvGraphicFramePr>
        <p:xfrm>
          <a:off x="1640702" y="3116834"/>
          <a:ext cx="5538551" cy="853465"/>
        </p:xfrm>
        <a:graphic>
          <a:graphicData uri="http://schemas.openxmlformats.org/drawingml/2006/table">
            <a:tbl>
              <a:tblPr firstRow="1" bandRow="1">
                <a:tableStyleId>{5C22544A-7EE6-4342-B048-85BDC9FD1C3A}</a:tableStyleId>
              </a:tblPr>
              <a:tblGrid>
                <a:gridCol w="4367290">
                  <a:extLst>
                    <a:ext uri="{9D8B030D-6E8A-4147-A177-3AD203B41FA5}">
                      <a16:colId xmlns:a16="http://schemas.microsoft.com/office/drawing/2014/main" val="20000"/>
                    </a:ext>
                  </a:extLst>
                </a:gridCol>
                <a:gridCol w="1171261">
                  <a:extLst>
                    <a:ext uri="{9D8B030D-6E8A-4147-A177-3AD203B41FA5}">
                      <a16:colId xmlns:a16="http://schemas.microsoft.com/office/drawing/2014/main" val="20001"/>
                    </a:ext>
                  </a:extLst>
                </a:gridCol>
              </a:tblGrid>
              <a:tr h="215065">
                <a:tc>
                  <a:txBody>
                    <a:bodyPr/>
                    <a:lstStyle/>
                    <a:p>
                      <a:pPr algn="ctr">
                        <a:defRPr sz="1000" b="1">
                          <a:solidFill>
                            <a:srgbClr val="FFFFFF"/>
                          </a:solidFill>
                          <a:latin typeface="Montserrat"/>
                        </a:defRPr>
                      </a:pPr>
                      <a:r>
                        <a:rPr sz="1000" dirty="0"/>
                        <a:t>Obras de </a:t>
                      </a:r>
                      <a:r>
                        <a:rPr sz="1000" dirty="0" err="1"/>
                        <a:t>Conservación</a:t>
                      </a:r>
                      <a:r>
                        <a:rPr sz="1000" dirty="0"/>
                        <a:t> 2026</a:t>
                      </a:r>
                    </a:p>
                  </a:txBody>
                  <a:tcPr marL="3600" marR="3600" marT="3600" marB="3600" anchor="ctr">
                    <a:solidFill>
                      <a:srgbClr val="9F2241"/>
                    </a:solidFill>
                  </a:tcPr>
                </a:tc>
                <a:tc>
                  <a:txBody>
                    <a:bodyPr/>
                    <a:lstStyle/>
                    <a:p>
                      <a:pPr algn="ctr">
                        <a:defRPr sz="1000" b="1">
                          <a:solidFill>
                            <a:srgbClr val="FFFFFF"/>
                          </a:solidFill>
                          <a:latin typeface="Montserrat"/>
                        </a:defRPr>
                      </a:pPr>
                      <a:r>
                        <a:rPr sz="1000" dirty="0"/>
                        <a:t>Monto (</a:t>
                      </a:r>
                      <a:r>
                        <a:rPr sz="1000" dirty="0" err="1"/>
                        <a:t>mdp</a:t>
                      </a:r>
                      <a:r>
                        <a:rPr sz="1000" dirty="0"/>
                        <a:t>)</a:t>
                      </a:r>
                    </a:p>
                  </a:txBody>
                  <a:tcPr marL="3600" marR="3600" marT="3600" marB="3600" anchor="ctr">
                    <a:solidFill>
                      <a:srgbClr val="9F2241"/>
                    </a:solidFill>
                  </a:tcPr>
                </a:tc>
                <a:extLst>
                  <a:ext uri="{0D108BD9-81ED-4DB2-BD59-A6C34878D82A}">
                    <a16:rowId xmlns:a16="http://schemas.microsoft.com/office/drawing/2014/main" val="10000"/>
                  </a:ext>
                </a:extLst>
              </a:tr>
              <a:tr h="111439">
                <a:tc>
                  <a:txBody>
                    <a:bodyPr/>
                    <a:lstStyle/>
                    <a:p>
                      <a:pPr algn="l">
                        <a:lnSpc>
                          <a:spcPct val="100000"/>
                        </a:lnSpc>
                      </a:pPr>
                      <a:r>
                        <a:rPr sz="1000">
                          <a:latin typeface="Montserrat"/>
                        </a:rPr>
                        <a:t>HGZ No. 15 “Dr. Ernesto Ramos Bours” Hermosillo, Sonora</a:t>
                      </a:r>
                    </a:p>
                  </a:txBody>
                  <a:tcPr marL="3600" marR="3600" marT="3600" marB="3600" anchor="ctr">
                    <a:solidFill>
                      <a:srgbClr val="FFFFFF"/>
                    </a:solidFill>
                  </a:tcPr>
                </a:tc>
                <a:tc>
                  <a:txBody>
                    <a:bodyPr/>
                    <a:lstStyle/>
                    <a:p>
                      <a:pPr algn="ctr">
                        <a:lnSpc>
                          <a:spcPct val="100000"/>
                        </a:lnSpc>
                      </a:pPr>
                      <a:r>
                        <a:rPr sz="1000" dirty="0">
                          <a:latin typeface="Montserrat"/>
                        </a:rPr>
                        <a:t>$1,029.4</a:t>
                      </a:r>
                    </a:p>
                  </a:txBody>
                  <a:tcPr marL="3600" marR="3600" marT="3600" marB="3600" anchor="ctr">
                    <a:solidFill>
                      <a:srgbClr val="FFFFFF"/>
                    </a:solidFill>
                  </a:tcPr>
                </a:tc>
                <a:extLst>
                  <a:ext uri="{0D108BD9-81ED-4DB2-BD59-A6C34878D82A}">
                    <a16:rowId xmlns:a16="http://schemas.microsoft.com/office/drawing/2014/main" val="10001"/>
                  </a:ext>
                </a:extLst>
              </a:tr>
              <a:tr h="111439">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2026)</a:t>
                      </a:r>
                    </a:p>
                  </a:txBody>
                  <a:tcPr marL="3600" marR="3600" marT="3600" marB="3600" anchor="ctr">
                    <a:solidFill>
                      <a:srgbClr val="D9D9D9"/>
                    </a:solidFill>
                  </a:tcPr>
                </a:tc>
                <a:tc>
                  <a:txBody>
                    <a:bodyPr/>
                    <a:lstStyle/>
                    <a:p>
                      <a:pPr algn="ctr">
                        <a:lnSpc>
                          <a:spcPct val="100000"/>
                        </a:lnSpc>
                      </a:pPr>
                      <a:r>
                        <a:rPr sz="1000" dirty="0">
                          <a:latin typeface="Montserrat"/>
                        </a:rPr>
                        <a:t>$192.1</a:t>
                      </a:r>
                    </a:p>
                  </a:txBody>
                  <a:tcPr marL="3600" marR="3600" marT="3600" marB="3600" anchor="ctr">
                    <a:solidFill>
                      <a:srgbClr val="D9D9D9"/>
                    </a:solidFill>
                  </a:tcPr>
                </a:tc>
                <a:extLst>
                  <a:ext uri="{0D108BD9-81ED-4DB2-BD59-A6C34878D82A}">
                    <a16:rowId xmlns:a16="http://schemas.microsoft.com/office/drawing/2014/main" val="10002"/>
                  </a:ext>
                </a:extLst>
              </a:tr>
              <a:tr h="111439">
                <a:tc>
                  <a:txBody>
                    <a:bodyPr/>
                    <a:lstStyle/>
                    <a:p>
                      <a:pPr algn="l">
                        <a:lnSpc>
                          <a:spcPct val="100000"/>
                        </a:lnSpc>
                      </a:pPr>
                      <a:r>
                        <a:rPr sz="1000">
                          <a:latin typeface="Montserrat"/>
                        </a:rPr>
                        <a:t>Centro de </a:t>
                      </a:r>
                      <a:r>
                        <a:rPr sz="1000" err="1">
                          <a:latin typeface="Montserrat"/>
                        </a:rPr>
                        <a:t>mezclas</a:t>
                      </a:r>
                      <a:r>
                        <a:rPr sz="1000">
                          <a:latin typeface="Montserrat"/>
                        </a:rPr>
                        <a:t> UMAE HES 2</a:t>
                      </a:r>
                    </a:p>
                  </a:txBody>
                  <a:tcPr marL="3600" marR="3600" marT="3600" marB="3600" anchor="ctr">
                    <a:solidFill>
                      <a:srgbClr val="FFFFFF"/>
                    </a:solidFill>
                  </a:tcPr>
                </a:tc>
                <a:tc>
                  <a:txBody>
                    <a:bodyPr/>
                    <a:lstStyle/>
                    <a:p>
                      <a:pPr algn="ctr">
                        <a:lnSpc>
                          <a:spcPct val="100000"/>
                        </a:lnSpc>
                      </a:pPr>
                      <a:r>
                        <a:rPr sz="1000" dirty="0">
                          <a:latin typeface="Montserrat"/>
                        </a:rPr>
                        <a:t>$22.7</a:t>
                      </a:r>
                    </a:p>
                  </a:txBody>
                  <a:tcPr marL="3600" marR="3600" marT="3600" marB="3600" anchor="ctr">
                    <a:solidFill>
                      <a:srgbClr val="FFFFFF"/>
                    </a:solidFill>
                  </a:tcPr>
                </a:tc>
                <a:extLst>
                  <a:ext uri="{0D108BD9-81ED-4DB2-BD59-A6C34878D82A}">
                    <a16:rowId xmlns:a16="http://schemas.microsoft.com/office/drawing/2014/main" val="10003"/>
                  </a:ext>
                </a:extLst>
              </a:tr>
              <a:tr h="111439">
                <a:tc>
                  <a:txBody>
                    <a:bodyPr/>
                    <a:lstStyle/>
                    <a:p>
                      <a:pPr algn="l">
                        <a:lnSpc>
                          <a:spcPct val="100000"/>
                        </a:lnSpc>
                        <a:defRPr sz="900" b="1">
                          <a:solidFill>
                            <a:srgbClr val="FFFFFF"/>
                          </a:solidFill>
                          <a:latin typeface="Montserrat"/>
                        </a:defRPr>
                      </a:pPr>
                      <a:r>
                        <a:rPr sz="1000"/>
                        <a:t>Subtotal</a:t>
                      </a:r>
                    </a:p>
                  </a:txBody>
                  <a:tcPr marL="3600" marR="3600" marT="3600" marB="3600" anchor="ctr">
                    <a:solidFill>
                      <a:srgbClr val="9F2241"/>
                    </a:solidFill>
                  </a:tcPr>
                </a:tc>
                <a:tc>
                  <a:txBody>
                    <a:bodyPr/>
                    <a:lstStyle/>
                    <a:p>
                      <a:pPr algn="ctr">
                        <a:lnSpc>
                          <a:spcPct val="100000"/>
                        </a:lnSpc>
                        <a:defRPr sz="900" b="1">
                          <a:solidFill>
                            <a:srgbClr val="FFFFFF"/>
                          </a:solidFill>
                          <a:latin typeface="Montserrat"/>
                        </a:defRPr>
                      </a:pPr>
                      <a:r>
                        <a:rPr sz="1000" dirty="0"/>
                        <a:t>$1,244.2</a:t>
                      </a:r>
                    </a:p>
                  </a:txBody>
                  <a:tcPr marL="3600" marR="3600" marT="3600" marB="3600" anchor="ctr">
                    <a:solidFill>
                      <a:srgbClr val="9F2241"/>
                    </a:solidFill>
                  </a:tcPr>
                </a:tc>
                <a:extLst>
                  <a:ext uri="{0D108BD9-81ED-4DB2-BD59-A6C34878D82A}">
                    <a16:rowId xmlns:a16="http://schemas.microsoft.com/office/drawing/2014/main" val="10004"/>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316127279"/>
              </p:ext>
            </p:extLst>
          </p:nvPr>
        </p:nvGraphicFramePr>
        <p:xfrm>
          <a:off x="1643449" y="4027649"/>
          <a:ext cx="5538551" cy="710301"/>
        </p:xfrm>
        <a:graphic>
          <a:graphicData uri="http://schemas.openxmlformats.org/drawingml/2006/table">
            <a:tbl>
              <a:tblPr firstRow="1" bandRow="1">
                <a:tableStyleId>{5C22544A-7EE6-4342-B048-85BDC9FD1C3A}</a:tableStyleId>
              </a:tblPr>
              <a:tblGrid>
                <a:gridCol w="4367290">
                  <a:extLst>
                    <a:ext uri="{9D8B030D-6E8A-4147-A177-3AD203B41FA5}">
                      <a16:colId xmlns:a16="http://schemas.microsoft.com/office/drawing/2014/main" val="20000"/>
                    </a:ext>
                  </a:extLst>
                </a:gridCol>
                <a:gridCol w="1171261">
                  <a:extLst>
                    <a:ext uri="{9D8B030D-6E8A-4147-A177-3AD203B41FA5}">
                      <a16:colId xmlns:a16="http://schemas.microsoft.com/office/drawing/2014/main" val="20001"/>
                    </a:ext>
                  </a:extLst>
                </a:gridCol>
              </a:tblGrid>
              <a:tr h="245901">
                <a:tc>
                  <a:txBody>
                    <a:bodyPr/>
                    <a:lstStyle/>
                    <a:p>
                      <a:pPr algn="ctr">
                        <a:defRPr sz="1000" b="1">
                          <a:solidFill>
                            <a:srgbClr val="FFFFFF"/>
                          </a:solidFill>
                          <a:latin typeface="Montserrat"/>
                        </a:defRPr>
                      </a:pPr>
                      <a:r>
                        <a:rPr dirty="0"/>
                        <a:t>Equip</a:t>
                      </a:r>
                      <a:r>
                        <a:rPr lang="es-MX" dirty="0"/>
                        <a:t>o</a:t>
                      </a:r>
                      <a:r>
                        <a:rPr dirty="0"/>
                        <a:t> </a:t>
                      </a:r>
                      <a:r>
                        <a:rPr dirty="0" err="1"/>
                        <a:t>Electromecánico</a:t>
                      </a:r>
                      <a:r>
                        <a:rPr dirty="0"/>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312352">
                <a:tc>
                  <a:txBody>
                    <a:bodyPr/>
                    <a:lstStyle/>
                    <a:p>
                      <a:pPr algn="l">
                        <a:lnSpc>
                          <a:spcPct val="100000"/>
                        </a:lnSpc>
                      </a:pPr>
                      <a:r>
                        <a:rPr sz="1000" dirty="0">
                          <a:latin typeface="Montserrat"/>
                        </a:rPr>
                        <a:t>81 </a:t>
                      </a:r>
                      <a:r>
                        <a:rPr sz="1000" dirty="0" err="1">
                          <a:latin typeface="Montserrat"/>
                        </a:rPr>
                        <a:t>Equipos</a:t>
                      </a:r>
                      <a:r>
                        <a:rPr sz="1000" dirty="0">
                          <a:latin typeface="Montserrat"/>
                        </a:rPr>
                        <a:t> </a:t>
                      </a:r>
                      <a:r>
                        <a:rPr sz="1000" dirty="0" err="1">
                          <a:latin typeface="Montserrat"/>
                        </a:rPr>
                        <a:t>electromecánicos</a:t>
                      </a:r>
                      <a:r>
                        <a:rPr sz="1000" dirty="0">
                          <a:latin typeface="Montserrat"/>
                        </a:rPr>
                        <a:t> para 20 </a:t>
                      </a:r>
                      <a:r>
                        <a:rPr sz="1000" dirty="0" err="1">
                          <a:latin typeface="Montserrat"/>
                        </a:rPr>
                        <a:t>unidades</a:t>
                      </a:r>
                      <a:r>
                        <a:rPr sz="1000" dirty="0">
                          <a:latin typeface="Montserrat"/>
                        </a:rPr>
                        <a:t>; 62 </a:t>
                      </a:r>
                      <a:r>
                        <a:rPr sz="1000" dirty="0" err="1">
                          <a:latin typeface="Montserrat"/>
                        </a:rPr>
                        <a:t>equipos</a:t>
                      </a:r>
                      <a:r>
                        <a:rPr sz="1000" dirty="0">
                          <a:latin typeface="Montserrat"/>
                        </a:rPr>
                        <a:t> de </a:t>
                      </a:r>
                      <a:r>
                        <a:rPr sz="1000" dirty="0" err="1">
                          <a:latin typeface="Montserrat"/>
                        </a:rPr>
                        <a:t>aire</a:t>
                      </a:r>
                      <a:r>
                        <a:rPr sz="1000" dirty="0">
                          <a:latin typeface="Montserrat"/>
                        </a:rPr>
                        <a:t> </a:t>
                      </a:r>
                      <a:r>
                        <a:rPr sz="1000" dirty="0" err="1">
                          <a:latin typeface="Montserrat"/>
                        </a:rPr>
                        <a:t>acondicionado</a:t>
                      </a:r>
                      <a:r>
                        <a:rPr sz="1000" dirty="0">
                          <a:latin typeface="Montserrat"/>
                        </a:rPr>
                        <a:t>, 3 </a:t>
                      </a:r>
                      <a:r>
                        <a:rPr sz="1000" dirty="0" err="1">
                          <a:latin typeface="Montserrat"/>
                        </a:rPr>
                        <a:t>equipos</a:t>
                      </a:r>
                      <a:r>
                        <a:rPr sz="1000" dirty="0">
                          <a:latin typeface="Montserrat"/>
                        </a:rPr>
                        <a:t> para casa de </a:t>
                      </a:r>
                      <a:r>
                        <a:rPr sz="1000" dirty="0" err="1">
                          <a:latin typeface="Montserrat"/>
                        </a:rPr>
                        <a:t>máquinas</a:t>
                      </a:r>
                      <a:r>
                        <a:rPr sz="1000" dirty="0">
                          <a:latin typeface="Montserrat"/>
                        </a:rPr>
                        <a:t>, 2 </a:t>
                      </a:r>
                      <a:r>
                        <a:rPr sz="1000" dirty="0" err="1">
                          <a:latin typeface="Montserrat"/>
                        </a:rPr>
                        <a:t>elevadores</a:t>
                      </a:r>
                      <a:r>
                        <a:rPr sz="1000" dirty="0">
                          <a:latin typeface="Montserrat"/>
                        </a:rPr>
                        <a:t>, 8 </a:t>
                      </a:r>
                      <a:r>
                        <a:rPr sz="1000" dirty="0" err="1">
                          <a:latin typeface="Montserrat"/>
                        </a:rPr>
                        <a:t>lavadoras</a:t>
                      </a:r>
                      <a:r>
                        <a:rPr sz="1000" dirty="0">
                          <a:latin typeface="Montserrat"/>
                        </a:rPr>
                        <a:t> y 6 </a:t>
                      </a:r>
                      <a:r>
                        <a:rPr sz="1000" dirty="0" err="1">
                          <a:latin typeface="Montserrat"/>
                        </a:rPr>
                        <a:t>secadoras</a:t>
                      </a:r>
                      <a:endParaRPr sz="1000" dirty="0">
                        <a:latin typeface="Montserrat"/>
                      </a:endParaRPr>
                    </a:p>
                  </a:txBody>
                  <a:tcPr marL="3600" marR="3600" marT="3600" marB="3600" anchor="ctr">
                    <a:solidFill>
                      <a:srgbClr val="FFFFFF"/>
                    </a:solidFill>
                  </a:tcPr>
                </a:tc>
                <a:tc>
                  <a:txBody>
                    <a:bodyPr/>
                    <a:lstStyle/>
                    <a:p>
                      <a:pPr algn="ctr">
                        <a:lnSpc>
                          <a:spcPct val="100000"/>
                        </a:lnSpc>
                      </a:pPr>
                      <a:r>
                        <a:rPr sz="1000" b="0" dirty="0">
                          <a:latin typeface="Montserrat"/>
                        </a:rPr>
                        <a:t>$750.6</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14" name="TextBox 13"/>
          <p:cNvSpPr txBox="1"/>
          <p:nvPr/>
        </p:nvSpPr>
        <p:spPr>
          <a:xfrm>
            <a:off x="5781600" y="878400"/>
            <a:ext cx="1306800" cy="3384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1">
                <a:solidFill>
                  <a:srgbClr val="FFFFFF"/>
                </a:solidFill>
                <a:latin typeface="Montserrat"/>
              </a:defRPr>
            </a:pPr>
            <a:r>
              <a:rPr kumimoji="0" sz="1400" b="1" i="0" u="none" strike="noStrike" kern="0" cap="none" spc="0" normalizeH="0" baseline="0" noProof="0">
                <a:ln>
                  <a:noFill/>
                </a:ln>
                <a:solidFill>
                  <a:srgbClr val="FFFFFF"/>
                </a:solidFill>
                <a:effectLst/>
                <a:uLnTx/>
                <a:uFillTx/>
                <a:latin typeface="Montserrat"/>
                <a:cs typeface="Arial"/>
                <a:sym typeface="Arial"/>
              </a:rPr>
              <a:t>8,634.7</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1">
                <a:solidFill>
                  <a:srgbClr val="FFFFFF"/>
                </a:solidFill>
                <a:latin typeface="Montserrat"/>
              </a:defRPr>
            </a:pPr>
            <a:r>
              <a:rPr kumimoji="0" sz="1400" b="1" i="0" u="none" strike="noStrike" kern="0" cap="none" spc="0" normalizeH="0" baseline="0" noProof="0">
                <a:ln>
                  <a:noFill/>
                </a:ln>
                <a:solidFill>
                  <a:srgbClr val="FFFFFF"/>
                </a:solidFill>
                <a:effectLst/>
                <a:uLnTx/>
                <a:uFillTx/>
                <a:latin typeface="Montserrat"/>
                <a:cs typeface="Arial"/>
                <a:sym typeface="Arial"/>
              </a:rPr>
              <a:t>mdp</a:t>
            </a:r>
          </a:p>
        </p:txBody>
      </p:sp>
      <p:graphicFrame>
        <p:nvGraphicFramePr>
          <p:cNvPr id="15" name="Google Shape;559;g3d0ffe769cd_0_0">
            <a:extLst>
              <a:ext uri="{FF2B5EF4-FFF2-40B4-BE49-F238E27FC236}">
                <a16:creationId xmlns:a16="http://schemas.microsoft.com/office/drawing/2014/main" id="{74EA239F-AD11-6BB6-2B07-15FDA93930A1}"/>
              </a:ext>
            </a:extLst>
          </p:cNvPr>
          <p:cNvGraphicFramePr/>
          <p:nvPr/>
        </p:nvGraphicFramePr>
        <p:xfrm>
          <a:off x="149075" y="497205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A42145"/>
                          </a:solidFill>
                          <a:latin typeface="Montserrat"/>
                          <a:ea typeface="Montserrat"/>
                          <a:cs typeface="Montserrat"/>
                          <a:sym typeface="Montserrat"/>
                        </a:rPr>
                        <a:t>Propuestas </a:t>
                      </a:r>
                      <a:r>
                        <a:rPr lang="es" sz="2100" b="1">
                          <a:solidFill>
                            <a:srgbClr val="A42145"/>
                          </a:solidFill>
                          <a:latin typeface="Montserrat"/>
                          <a:ea typeface="Montserrat"/>
                          <a:cs typeface="Montserrat"/>
                          <a:sym typeface="Montserrat"/>
                        </a:rPr>
                        <a:t>en</a:t>
                      </a:r>
                      <a:r>
                        <a:rPr lang="es" sz="2100" b="1" u="none" strike="noStrike" cap="none">
                          <a:solidFill>
                            <a:srgbClr val="A42145"/>
                          </a:solidFill>
                          <a:latin typeface="Montserrat"/>
                          <a:ea typeface="Montserrat"/>
                          <a:cs typeface="Montserrat"/>
                          <a:sym typeface="Montserrat"/>
                        </a:rPr>
                        <a:t> valoración</a:t>
                      </a:r>
                      <a:endParaRPr sz="2100" b="1" u="none" strike="noStrike" cap="none">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6"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6">
            <a:alphaModFix/>
          </a:blip>
          <a:srcRect l="382" t="14684" r="1598" b="17771"/>
          <a:stretch/>
        </p:blipFill>
        <p:spPr>
          <a:xfrm>
            <a:off x="187527" y="5529810"/>
            <a:ext cx="7368300" cy="2862900"/>
          </a:xfrm>
          <a:prstGeom prst="rect">
            <a:avLst/>
          </a:prstGeom>
          <a:noFill/>
          <a:ln>
            <a:noFill/>
          </a:ln>
        </p:spPr>
      </p:pic>
      <p:sp>
        <p:nvSpPr>
          <p:cNvPr id="17" name="Google Shape;552;g3d0ffe769cd_0_0">
            <a:extLst>
              <a:ext uri="{FF2B5EF4-FFF2-40B4-BE49-F238E27FC236}">
                <a16:creationId xmlns:a16="http://schemas.microsoft.com/office/drawing/2014/main" id="{1CFCE444-12DD-D109-A796-7924C33A5D14}"/>
              </a:ext>
            </a:extLst>
          </p:cNvPr>
          <p:cNvSpPr/>
          <p:nvPr/>
        </p:nvSpPr>
        <p:spPr>
          <a:xfrm>
            <a:off x="188051" y="5529810"/>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8" name="Google Shape;553;g3d0ffe769cd_0_0">
            <a:extLst>
              <a:ext uri="{FF2B5EF4-FFF2-40B4-BE49-F238E27FC236}">
                <a16:creationId xmlns:a16="http://schemas.microsoft.com/office/drawing/2014/main" id="{C2E1F9A0-4911-B1FF-D485-66518A66B9A6}"/>
              </a:ext>
            </a:extLst>
          </p:cNvPr>
          <p:cNvSpPr/>
          <p:nvPr/>
        </p:nvSpPr>
        <p:spPr>
          <a:xfrm>
            <a:off x="247423" y="645886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9" name="Google Shape;554;g3d0ffe769cd_0_0">
            <a:extLst>
              <a:ext uri="{FF2B5EF4-FFF2-40B4-BE49-F238E27FC236}">
                <a16:creationId xmlns:a16="http://schemas.microsoft.com/office/drawing/2014/main" id="{6C0AF4EA-FBE1-4238-8146-A4C96C7D760B}"/>
              </a:ext>
            </a:extLst>
          </p:cNvPr>
          <p:cNvSpPr txBox="1"/>
          <p:nvPr/>
        </p:nvSpPr>
        <p:spPr>
          <a:xfrm>
            <a:off x="233326" y="704985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graphicFrame>
        <p:nvGraphicFramePr>
          <p:cNvPr id="24" name="Table 23"/>
          <p:cNvGraphicFramePr>
            <a:graphicFrameLocks noGrp="1"/>
          </p:cNvGraphicFramePr>
          <p:nvPr/>
        </p:nvGraphicFramePr>
        <p:xfrm>
          <a:off x="2509025" y="5693490"/>
          <a:ext cx="4928400" cy="186120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rPr err="1"/>
                        <a:t>Estatus</a:t>
                      </a:r>
                      <a:r>
                        <a:t> </a:t>
                      </a:r>
                      <a:r>
                        <a:rPr err="1"/>
                        <a:t>terrenos</a:t>
                      </a:r>
                      <a:r>
                        <a:t> </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Cajeme, Hermosillo</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6 Donación</a:t>
                      </a:r>
                    </a:p>
                  </a:txBody>
                  <a:tcPr marL="72000" marR="72000" anchor="ctr">
                    <a:noFill/>
                  </a:tcPr>
                </a:tc>
                <a:tc>
                  <a:txBody>
                    <a:bodyPr/>
                    <a:lstStyle/>
                    <a:p>
                      <a:pPr algn="ctr">
                        <a:defRPr sz="1200" b="0">
                          <a:solidFill>
                            <a:srgbClr val="FFFFFF"/>
                          </a:solidFill>
                          <a:latin typeface="Montserrat"/>
                        </a:defRPr>
                      </a:pPr>
                      <a:r>
                        <a:rPr err="1"/>
                        <a:t>Cajeme</a:t>
                      </a:r>
                      <a:r>
                        <a:t>, Hermosillo (3), Nogales, Puerto </a:t>
                      </a:r>
                      <a:r>
                        <a:rPr err="1"/>
                        <a:t>Peñasco</a:t>
                      </a:r>
                      <a:endParaRPr/>
                    </a:p>
                  </a:txBody>
                  <a:tcPr marL="72000" marR="72000" anchor="ctr">
                    <a:noFill/>
                  </a:tcPr>
                </a:tc>
                <a:extLst>
                  <a:ext uri="{0D108BD9-81ED-4DB2-BD59-A6C34878D82A}">
                    <a16:rowId xmlns:a16="http://schemas.microsoft.com/office/drawing/2014/main" val="10003"/>
                  </a:ext>
                </a:extLst>
              </a:tr>
            </a:tbl>
          </a:graphicData>
        </a:graphic>
      </p:graphicFrame>
      <p:sp>
        <p:nvSpPr>
          <p:cNvPr id="20" name="Google Shape;556;g3d0ffe769cd_0_0">
            <a:extLst>
              <a:ext uri="{FF2B5EF4-FFF2-40B4-BE49-F238E27FC236}">
                <a16:creationId xmlns:a16="http://schemas.microsoft.com/office/drawing/2014/main" id="{7A6658D4-29D8-8663-D2C5-74863CD96596}"/>
              </a:ext>
            </a:extLst>
          </p:cNvPr>
          <p:cNvSpPr/>
          <p:nvPr/>
        </p:nvSpPr>
        <p:spPr>
          <a:xfrm>
            <a:off x="842225" y="5679712"/>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5" name="Oval 24"/>
          <p:cNvSpPr/>
          <p:nvPr/>
        </p:nvSpPr>
        <p:spPr>
          <a:xfrm>
            <a:off x="884088" y="569349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705085"/>
                </a:solidFill>
                <a:latin typeface="Montserrat"/>
              </a:defRPr>
            </a:pPr>
            <a:r>
              <a:rPr kumimoji="0" sz="2000" b="1" i="0" u="none" strike="noStrike" kern="0" cap="none" spc="0" normalizeH="0" baseline="0" noProof="0">
                <a:ln>
                  <a:noFill/>
                </a:ln>
                <a:solidFill>
                  <a:srgbClr val="705085"/>
                </a:solidFill>
                <a:effectLst/>
                <a:uLnTx/>
                <a:uFillTx/>
                <a:latin typeface="Montserrat"/>
                <a:ea typeface="+mn-ea"/>
                <a:cs typeface="+mn-cs"/>
                <a:sym typeface="Arial"/>
              </a:rPr>
              <a:t>48</a:t>
            </a:r>
          </a:p>
        </p:txBody>
      </p:sp>
      <p:sp>
        <p:nvSpPr>
          <p:cNvPr id="26" name="Rectangle 25"/>
          <p:cNvSpPr/>
          <p:nvPr/>
        </p:nvSpPr>
        <p:spPr>
          <a:xfrm>
            <a:off x="244325" y="6509452"/>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500" b="1">
                <a:solidFill>
                  <a:srgbClr val="FFFFFF"/>
                </a:solidFill>
                <a:latin typeface="Montserrat"/>
              </a:defRPr>
            </a:pPr>
            <a:r>
              <a:rPr kumimoji="0" sz="1500" b="1" i="0" u="none" strike="noStrike" kern="0" cap="none" spc="0" normalizeH="0" baseline="0" noProof="0">
                <a:ln>
                  <a:noFill/>
                </a:ln>
                <a:solidFill>
                  <a:srgbClr val="FFFFFF"/>
                </a:solidFill>
                <a:effectLst/>
                <a:uLnTx/>
                <a:uFillTx/>
                <a:latin typeface="Montserrat"/>
                <a:ea typeface="+mn-ea"/>
                <a:cs typeface="+mn-cs"/>
                <a:sym typeface="Arial"/>
              </a:rPr>
              <a:t>42 CECI IMSS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500" b="1">
                <a:solidFill>
                  <a:srgbClr val="FFFFFF"/>
                </a:solidFill>
                <a:latin typeface="Montserrat"/>
              </a:defRPr>
            </a:pPr>
            <a:r>
              <a:rPr kumimoji="0" sz="1500" b="1" i="0" u="none" strike="noStrike" kern="0" cap="none" spc="0" normalizeH="0" baseline="0" noProof="0">
                <a:ln>
                  <a:noFill/>
                </a:ln>
                <a:solidFill>
                  <a:srgbClr val="FFFFFF"/>
                </a:solidFill>
                <a:effectLst/>
                <a:uLnTx/>
                <a:uFillTx/>
                <a:latin typeface="Montserrat"/>
                <a:ea typeface="+mn-ea"/>
                <a:cs typeface="+mn-cs"/>
                <a:sym typeface="Arial"/>
              </a:rPr>
              <a:t>6 CECI CAMPO</a:t>
            </a:r>
          </a:p>
        </p:txBody>
      </p:sp>
      <p:sp>
        <p:nvSpPr>
          <p:cNvPr id="22" name="TextBox 26">
            <a:extLst>
              <a:ext uri="{FF2B5EF4-FFF2-40B4-BE49-F238E27FC236}">
                <a16:creationId xmlns:a16="http://schemas.microsoft.com/office/drawing/2014/main" id="{0FC10408-4E85-782F-C302-C1175A697D35}"/>
              </a:ext>
            </a:extLst>
          </p:cNvPr>
          <p:cNvSpPr txBox="1"/>
          <p:nvPr/>
        </p:nvSpPr>
        <p:spPr>
          <a:xfrm>
            <a:off x="233326" y="8426013"/>
            <a:ext cx="7574400"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00">
                <a:solidFill>
                  <a:srgbClr val="000000"/>
                </a:solidFill>
                <a:latin typeface="Montserrat"/>
              </a:defRPr>
            </a:pPr>
            <a:r>
              <a:rPr kumimoji="0" sz="900" b="0" i="0" u="none" strike="noStrike" kern="0" cap="none" spc="0" normalizeH="0" baseline="0" noProof="0" dirty="0">
                <a:ln>
                  <a:noFill/>
                </a:ln>
                <a:solidFill>
                  <a:srgbClr val="000000"/>
                </a:solidFill>
                <a:effectLst/>
                <a:uLnTx/>
                <a:uFillTx/>
                <a:latin typeface="Montserrat"/>
                <a:cs typeface="Arial"/>
                <a:sym typeface="Arial"/>
              </a:rPr>
              <a:t>¹ </a:t>
            </a:r>
            <a:r>
              <a:rPr kumimoji="0" sz="900" b="0" i="0" u="none" strike="noStrike" kern="0" cap="none" spc="0" normalizeH="0" baseline="0" noProof="0" dirty="0" err="1">
                <a:ln>
                  <a:noFill/>
                </a:ln>
                <a:solidFill>
                  <a:srgbClr val="000000"/>
                </a:solidFill>
                <a:effectLst/>
                <a:uLnTx/>
                <a:uFillTx/>
                <a:latin typeface="Montserrat"/>
                <a:cs typeface="Arial"/>
                <a:sym typeface="Arial"/>
              </a:rPr>
              <a:t>Terrenos</a:t>
            </a:r>
            <a:r>
              <a:rPr kumimoji="0" sz="900" b="0" i="0" u="none" strike="noStrike" kern="0" cap="none" spc="0" normalizeH="0" baseline="0" noProof="0" dirty="0">
                <a:ln>
                  <a:noFill/>
                </a:ln>
                <a:solidFill>
                  <a:srgbClr val="000000"/>
                </a:solidFill>
                <a:effectLst/>
                <a:uLnTx/>
                <a:uFillTx/>
                <a:latin typeface="Montserrat"/>
                <a:cs typeface="Arial"/>
                <a:sym typeface="Arial"/>
              </a:rPr>
              <a:t> </a:t>
            </a:r>
            <a:r>
              <a:rPr kumimoji="0" sz="900" b="0" i="0" u="none" strike="noStrike" kern="0" cap="none" spc="0" normalizeH="0" baseline="0" noProof="0" dirty="0" err="1">
                <a:ln>
                  <a:noFill/>
                </a:ln>
                <a:solidFill>
                  <a:srgbClr val="000000"/>
                </a:solidFill>
                <a:effectLst/>
                <a:uLnTx/>
                <a:uFillTx/>
                <a:latin typeface="Montserrat"/>
                <a:cs typeface="Arial"/>
                <a:sym typeface="Arial"/>
              </a:rPr>
              <a:t>validados</a:t>
            </a:r>
            <a:r>
              <a:rPr kumimoji="0" sz="900" b="0" i="0" u="none" strike="noStrike" kern="0" cap="none" spc="0" normalizeH="0" baseline="0" noProof="0" dirty="0">
                <a:ln>
                  <a:noFill/>
                </a:ln>
                <a:solidFill>
                  <a:srgbClr val="000000"/>
                </a:solidFill>
                <a:effectLst/>
                <a:uLnTx/>
                <a:uFillTx/>
                <a:latin typeface="Montserrat"/>
                <a:cs typeface="Arial"/>
                <a:sym typeface="Arial"/>
              </a:rPr>
              <a:t>. </a:t>
            </a:r>
            <a:r>
              <a:rPr kumimoji="0" lang="es-MX" sz="900" b="1" i="0" u="none" strike="noStrike" kern="0" cap="none" spc="0" normalizeH="0" baseline="0" noProof="0" dirty="0">
                <a:ln>
                  <a:noFill/>
                </a:ln>
                <a:solidFill>
                  <a:srgbClr val="000000"/>
                </a:solidFill>
                <a:effectLst/>
                <a:uLnTx/>
                <a:uFillTx/>
                <a:latin typeface="Montserrat"/>
                <a:cs typeface="Arial"/>
                <a:sym typeface="Arial"/>
              </a:rPr>
              <a:t>2 CECI p</a:t>
            </a:r>
            <a:r>
              <a:rPr kumimoji="0" sz="900" b="1" i="0" u="none" strike="noStrike" kern="0" cap="none" spc="0" normalizeH="0" baseline="0" noProof="0" dirty="0" err="1">
                <a:ln>
                  <a:noFill/>
                </a:ln>
                <a:solidFill>
                  <a:srgbClr val="000000"/>
                </a:solidFill>
                <a:effectLst/>
                <a:uLnTx/>
                <a:uFillTx/>
                <a:latin typeface="Montserrat"/>
                <a:cs typeface="Arial"/>
                <a:sym typeface="Arial"/>
              </a:rPr>
              <a:t>ara</a:t>
            </a:r>
            <a:r>
              <a:rPr kumimoji="0" sz="900" b="1" i="0" u="none" strike="noStrike" kern="0" cap="none" spc="0" normalizeH="0" baseline="0" noProof="0" dirty="0">
                <a:ln>
                  <a:noFill/>
                </a:ln>
                <a:solidFill>
                  <a:srgbClr val="000000"/>
                </a:solidFill>
                <a:effectLst/>
                <a:uLnTx/>
                <a:uFillTx/>
                <a:latin typeface="Montserrat"/>
                <a:cs typeface="Arial"/>
                <a:sym typeface="Arial"/>
              </a:rPr>
              <a:t> </a:t>
            </a:r>
            <a:r>
              <a:rPr kumimoji="0" sz="900" b="1" i="0" u="none" strike="noStrike" kern="0" cap="none" spc="0" normalizeH="0" baseline="0" noProof="0" dirty="0" err="1">
                <a:ln>
                  <a:noFill/>
                </a:ln>
                <a:solidFill>
                  <a:srgbClr val="000000"/>
                </a:solidFill>
                <a:effectLst/>
                <a:uLnTx/>
                <a:uFillTx/>
                <a:latin typeface="Montserrat"/>
                <a:cs typeface="Arial"/>
                <a:sym typeface="Arial"/>
              </a:rPr>
              <a:t>entregar</a:t>
            </a:r>
            <a:r>
              <a:rPr kumimoji="0" sz="900" b="1" i="0" u="none" strike="noStrike" kern="0" cap="none" spc="0" normalizeH="0" baseline="0" noProof="0" dirty="0">
                <a:ln>
                  <a:noFill/>
                </a:ln>
                <a:solidFill>
                  <a:srgbClr val="000000"/>
                </a:solidFill>
                <a:effectLst/>
                <a:uLnTx/>
                <a:uFillTx/>
                <a:latin typeface="Montserrat"/>
                <a:cs typeface="Arial"/>
                <a:sym typeface="Arial"/>
              </a:rPr>
              <a:t> a SICT</a:t>
            </a:r>
            <a:r>
              <a:rPr kumimoji="0" lang="es-MX" sz="900" b="1" i="0" u="none" strike="noStrike" kern="0" cap="none" spc="0" normalizeH="0" baseline="0" noProof="0" dirty="0">
                <a:ln>
                  <a:noFill/>
                </a:ln>
                <a:solidFill>
                  <a:srgbClr val="000000"/>
                </a:solidFill>
                <a:effectLst/>
                <a:uLnTx/>
                <a:uFillTx/>
                <a:latin typeface="Montserrat"/>
                <a:cs typeface="Arial"/>
                <a:sym typeface="Arial"/>
              </a:rPr>
              <a:t> </a:t>
            </a:r>
            <a:r>
              <a:rPr kumimoji="0" sz="900" b="0" i="0" u="none" strike="noStrike" kern="0" cap="none" spc="0" normalizeH="0" baseline="0" noProof="0" dirty="0" err="1">
                <a:ln>
                  <a:noFill/>
                </a:ln>
                <a:solidFill>
                  <a:srgbClr val="000000"/>
                </a:solidFill>
                <a:effectLst/>
                <a:uLnTx/>
                <a:uFillTx/>
                <a:latin typeface="Montserrat"/>
                <a:cs typeface="Arial"/>
                <a:sym typeface="Arial"/>
              </a:rPr>
              <a:t>en</a:t>
            </a:r>
            <a:r>
              <a:rPr kumimoji="0" sz="900" b="0" i="0" u="none" strike="noStrike" kern="0" cap="none" spc="0" normalizeH="0" baseline="0" noProof="0" dirty="0">
                <a:ln>
                  <a:noFill/>
                </a:ln>
                <a:solidFill>
                  <a:srgbClr val="000000"/>
                </a:solidFill>
                <a:effectLst/>
                <a:uLnTx/>
                <a:uFillTx/>
                <a:latin typeface="Montserrat"/>
                <a:cs typeface="Arial"/>
                <a:sym typeface="Arial"/>
              </a:rPr>
              <a:t> </a:t>
            </a:r>
            <a:r>
              <a:rPr kumimoji="0" sz="900" b="0" i="0" u="none" strike="noStrike" kern="0" cap="none" spc="0" normalizeH="0" baseline="0" noProof="0" dirty="0" err="1">
                <a:ln>
                  <a:noFill/>
                </a:ln>
                <a:solidFill>
                  <a:srgbClr val="000000"/>
                </a:solidFill>
                <a:effectLst/>
                <a:uLnTx/>
                <a:uFillTx/>
                <a:latin typeface="Montserrat"/>
                <a:cs typeface="Arial"/>
                <a:sym typeface="Arial"/>
              </a:rPr>
              <a:t>Cajeme</a:t>
            </a:r>
            <a:r>
              <a:rPr kumimoji="0" sz="900" b="0" i="0" u="none" strike="noStrike" kern="0" cap="none" spc="0" normalizeH="0" baseline="0" noProof="0" dirty="0">
                <a:ln>
                  <a:noFill/>
                </a:ln>
                <a:solidFill>
                  <a:srgbClr val="000000"/>
                </a:solidFill>
                <a:effectLst/>
                <a:uLnTx/>
                <a:uFillTx/>
                <a:latin typeface="Montserrat"/>
                <a:cs typeface="Arial"/>
                <a:sym typeface="Arial"/>
              </a:rPr>
              <a:t> y Hermosillo. </a:t>
            </a:r>
            <a:endParaRPr kumimoji="0" lang="es-MX" sz="900" b="0" i="0" u="none" strike="noStrike" kern="0" cap="none" spc="0" normalizeH="0" baseline="0" noProof="0" dirty="0">
              <a:ln>
                <a:noFill/>
              </a:ln>
              <a:solidFill>
                <a:srgbClr val="000000"/>
              </a:solidFill>
              <a:effectLst/>
              <a:uLnTx/>
              <a:uFillTx/>
              <a:latin typeface="Montserra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00">
                <a:solidFill>
                  <a:srgbClr val="000000"/>
                </a:solidFill>
                <a:latin typeface="Montserrat"/>
              </a:defRPr>
            </a:pPr>
            <a:r>
              <a:rPr kumimoji="0" lang="es-MX" sz="900" b="1" i="0" u="none" strike="noStrike" kern="0" cap="none" spc="0" normalizeH="0" baseline="0" noProof="0" dirty="0">
                <a:ln>
                  <a:noFill/>
                </a:ln>
                <a:solidFill>
                  <a:srgbClr val="000000"/>
                </a:solidFill>
                <a:effectLst/>
                <a:uLnTx/>
                <a:uFillTx/>
                <a:latin typeface="Montserrat"/>
                <a:cs typeface="Arial"/>
                <a:sym typeface="Arial"/>
              </a:rPr>
              <a:t>6 CECI e</a:t>
            </a:r>
            <a:r>
              <a:rPr kumimoji="0" sz="900" b="1" i="0" u="none" strike="noStrike" kern="0" cap="none" spc="0" normalizeH="0" baseline="0" noProof="0" dirty="0">
                <a:ln>
                  <a:noFill/>
                </a:ln>
                <a:solidFill>
                  <a:srgbClr val="000000"/>
                </a:solidFill>
                <a:effectLst/>
                <a:uLnTx/>
                <a:uFillTx/>
                <a:latin typeface="Montserrat"/>
                <a:cs typeface="Arial"/>
                <a:sym typeface="Arial"/>
              </a:rPr>
              <a:t>n </a:t>
            </a:r>
            <a:r>
              <a:rPr kumimoji="0" sz="900" b="1" i="0" u="none" strike="noStrike" kern="0" cap="none" spc="0" normalizeH="0" baseline="0" noProof="0" dirty="0" err="1">
                <a:ln>
                  <a:noFill/>
                </a:ln>
                <a:solidFill>
                  <a:srgbClr val="000000"/>
                </a:solidFill>
                <a:effectLst/>
                <a:uLnTx/>
                <a:uFillTx/>
                <a:latin typeface="Montserrat"/>
                <a:cs typeface="Arial"/>
                <a:sym typeface="Arial"/>
              </a:rPr>
              <a:t>integración</a:t>
            </a:r>
            <a:r>
              <a:rPr kumimoji="0" sz="900" b="1" i="0" u="none" strike="noStrike" kern="0" cap="none" spc="0" normalizeH="0" baseline="0" noProof="0" dirty="0">
                <a:ln>
                  <a:noFill/>
                </a:ln>
                <a:solidFill>
                  <a:srgbClr val="000000"/>
                </a:solidFill>
                <a:effectLst/>
                <a:uLnTx/>
                <a:uFillTx/>
                <a:latin typeface="Montserrat"/>
                <a:cs typeface="Arial"/>
                <a:sym typeface="Arial"/>
              </a:rPr>
              <a:t> de </a:t>
            </a:r>
            <a:r>
              <a:rPr kumimoji="0" sz="900" b="1" i="0" u="none" strike="noStrike" kern="0" cap="none" spc="0" normalizeH="0" baseline="0" noProof="0" dirty="0" err="1">
                <a:ln>
                  <a:noFill/>
                </a:ln>
                <a:solidFill>
                  <a:srgbClr val="000000"/>
                </a:solidFill>
                <a:effectLst/>
                <a:uLnTx/>
                <a:uFillTx/>
                <a:latin typeface="Montserrat"/>
                <a:cs typeface="Arial"/>
                <a:sym typeface="Arial"/>
              </a:rPr>
              <a:t>expediente</a:t>
            </a:r>
            <a:r>
              <a:rPr kumimoji="0" sz="900" b="1" i="0" u="none" strike="noStrike" kern="0" cap="none" spc="0" normalizeH="0" baseline="0" noProof="0" dirty="0">
                <a:ln>
                  <a:noFill/>
                </a:ln>
                <a:solidFill>
                  <a:srgbClr val="000000"/>
                </a:solidFill>
                <a:effectLst/>
                <a:uLnTx/>
                <a:uFillTx/>
                <a:latin typeface="Montserrat"/>
                <a:cs typeface="Arial"/>
                <a:sym typeface="Arial"/>
              </a:rPr>
              <a:t> para </a:t>
            </a:r>
            <a:r>
              <a:rPr kumimoji="0" sz="900" b="1" i="0" u="none" strike="noStrike" kern="0" cap="none" spc="0" normalizeH="0" baseline="0" noProof="0" dirty="0" err="1">
                <a:ln>
                  <a:noFill/>
                </a:ln>
                <a:solidFill>
                  <a:srgbClr val="000000"/>
                </a:solidFill>
                <a:effectLst/>
                <a:uLnTx/>
                <a:uFillTx/>
                <a:latin typeface="Montserrat"/>
                <a:cs typeface="Arial"/>
                <a:sym typeface="Arial"/>
              </a:rPr>
              <a:t>donación</a:t>
            </a:r>
            <a:r>
              <a:rPr kumimoji="0" lang="es-MX" sz="900" b="1" i="0" u="none" strike="noStrike" kern="0" cap="none" spc="0" normalizeH="0" baseline="0" noProof="0" dirty="0">
                <a:ln>
                  <a:noFill/>
                </a:ln>
                <a:solidFill>
                  <a:srgbClr val="000000"/>
                </a:solidFill>
                <a:effectLst/>
                <a:uLnTx/>
                <a:uFillTx/>
                <a:latin typeface="Montserrat"/>
                <a:cs typeface="Arial"/>
                <a:sym typeface="Arial"/>
              </a:rPr>
              <a:t> </a:t>
            </a:r>
            <a:r>
              <a:rPr kumimoji="0" sz="900" b="0" i="0" u="none" strike="noStrike" kern="0" cap="none" spc="0" normalizeH="0" baseline="0" noProof="0" dirty="0" err="1">
                <a:ln>
                  <a:noFill/>
                </a:ln>
                <a:solidFill>
                  <a:srgbClr val="000000"/>
                </a:solidFill>
                <a:effectLst/>
                <a:uLnTx/>
                <a:uFillTx/>
                <a:latin typeface="Montserrat"/>
                <a:cs typeface="Arial"/>
                <a:sym typeface="Arial"/>
              </a:rPr>
              <a:t>en</a:t>
            </a:r>
            <a:r>
              <a:rPr kumimoji="0" sz="900" b="0" i="0" u="none" strike="noStrike" kern="0" cap="none" spc="0" normalizeH="0" baseline="0" noProof="0" dirty="0">
                <a:ln>
                  <a:noFill/>
                </a:ln>
                <a:solidFill>
                  <a:srgbClr val="000000"/>
                </a:solidFill>
                <a:effectLst/>
                <a:uLnTx/>
                <a:uFillTx/>
                <a:latin typeface="Montserrat"/>
                <a:cs typeface="Arial"/>
                <a:sym typeface="Arial"/>
              </a:rPr>
              <a:t> Hermosillo, Puerto </a:t>
            </a:r>
            <a:r>
              <a:rPr kumimoji="0" sz="900" b="0" i="0" u="none" strike="noStrike" kern="0" cap="none" spc="0" normalizeH="0" baseline="0" noProof="0" dirty="0" err="1">
                <a:ln>
                  <a:noFill/>
                </a:ln>
                <a:solidFill>
                  <a:srgbClr val="000000"/>
                </a:solidFill>
                <a:effectLst/>
                <a:uLnTx/>
                <a:uFillTx/>
                <a:latin typeface="Montserrat"/>
                <a:cs typeface="Arial"/>
                <a:sym typeface="Arial"/>
              </a:rPr>
              <a:t>Peñasco</a:t>
            </a:r>
            <a:r>
              <a:rPr kumimoji="0" sz="900" b="0" i="0" u="none" strike="noStrike" kern="0" cap="none" spc="0" normalizeH="0" baseline="0" noProof="0" dirty="0">
                <a:ln>
                  <a:noFill/>
                </a:ln>
                <a:solidFill>
                  <a:srgbClr val="000000"/>
                </a:solidFill>
                <a:effectLst/>
                <a:uLnTx/>
                <a:uFillTx/>
                <a:latin typeface="Montserrat"/>
                <a:cs typeface="Arial"/>
                <a:sym typeface="Arial"/>
              </a:rPr>
              <a:t>, </a:t>
            </a:r>
            <a:r>
              <a:rPr kumimoji="0" sz="900" b="0" i="0" u="none" strike="noStrike" kern="0" cap="none" spc="0" normalizeH="0" baseline="0" noProof="0" dirty="0" err="1">
                <a:ln>
                  <a:noFill/>
                </a:ln>
                <a:solidFill>
                  <a:srgbClr val="000000"/>
                </a:solidFill>
                <a:effectLst/>
                <a:uLnTx/>
                <a:uFillTx/>
                <a:latin typeface="Montserrat"/>
                <a:cs typeface="Arial"/>
                <a:sym typeface="Arial"/>
              </a:rPr>
              <a:t>Cajeme</a:t>
            </a:r>
            <a:r>
              <a:rPr kumimoji="0" sz="900" b="0" i="0" u="none" strike="noStrike" kern="0" cap="none" spc="0" normalizeH="0" baseline="0" noProof="0" dirty="0">
                <a:ln>
                  <a:noFill/>
                </a:ln>
                <a:solidFill>
                  <a:srgbClr val="000000"/>
                </a:solidFill>
                <a:effectLst/>
                <a:uLnTx/>
                <a:uFillTx/>
                <a:latin typeface="Montserrat"/>
                <a:cs typeface="Arial"/>
                <a:sym typeface="Arial"/>
              </a:rPr>
              <a:t> y Nogales.</a:t>
            </a:r>
          </a:p>
        </p:txBody>
      </p:sp>
      <p:sp>
        <p:nvSpPr>
          <p:cNvPr id="27" name="Google Shape;562;g3d0ffe769cd_0_0">
            <a:extLst>
              <a:ext uri="{FF2B5EF4-FFF2-40B4-BE49-F238E27FC236}">
                <a16:creationId xmlns:a16="http://schemas.microsoft.com/office/drawing/2014/main" id="{47F721B5-29FA-E4C6-A759-9A5BA01801E6}"/>
              </a:ext>
            </a:extLst>
          </p:cNvPr>
          <p:cNvSpPr txBox="1"/>
          <p:nvPr/>
        </p:nvSpPr>
        <p:spPr>
          <a:xfrm rot="16200000">
            <a:off x="1920750" y="6876825"/>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23" name="CuadroTexto 22">
            <a:extLst>
              <a:ext uri="{FF2B5EF4-FFF2-40B4-BE49-F238E27FC236}">
                <a16:creationId xmlns:a16="http://schemas.microsoft.com/office/drawing/2014/main" id="{385FF7EA-75F9-D787-CDFC-D6851F7EBF1D}"/>
              </a:ext>
            </a:extLst>
          </p:cNvPr>
          <p:cNvSpPr txBox="1"/>
          <p:nvPr/>
        </p:nvSpPr>
        <p:spPr>
          <a:xfrm>
            <a:off x="1624123" y="4747718"/>
            <a:ext cx="4481622"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800" b="0" i="0" u="none" strike="noStrike" kern="0" cap="none" spc="0" normalizeH="0" baseline="0" noProof="0" dirty="0">
                <a:ln>
                  <a:noFill/>
                </a:ln>
                <a:solidFill>
                  <a:srgbClr val="000000"/>
                </a:solidFill>
                <a:effectLst/>
                <a:uLnTx/>
                <a:uFillTx/>
                <a:latin typeface="Montserrat"/>
                <a:cs typeface="Arial"/>
                <a:sym typeface="Arial"/>
              </a:rPr>
              <a:t>*En valoración.</a:t>
            </a:r>
            <a:endParaRPr kumimoji="0" lang="es-MX" sz="8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25107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448741" y="2621107"/>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3920689"/>
            <a:ext cx="926657" cy="813175"/>
          </a:xfrm>
          <a:prstGeom prst="rect">
            <a:avLst/>
          </a:prstGeom>
          <a:noFill/>
          <a:ln>
            <a:noFill/>
          </a:ln>
        </p:spPr>
      </p:pic>
      <p:sp>
        <p:nvSpPr>
          <p:cNvPr id="460" name="Google Shape;460;p16"/>
          <p:cNvSpPr/>
          <p:nvPr/>
        </p:nvSpPr>
        <p:spPr>
          <a:xfrm>
            <a:off x="815540" y="1863040"/>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65" name="Google Shape;465;p16"/>
          <p:cNvSpPr/>
          <p:nvPr/>
        </p:nvSpPr>
        <p:spPr>
          <a:xfrm>
            <a:off x="928913" y="6059140"/>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SONORA</a:t>
            </a:r>
          </a:p>
        </p:txBody>
      </p:sp>
      <p:graphicFrame>
        <p:nvGraphicFramePr>
          <p:cNvPr id="467" name="Table 466"/>
          <p:cNvGraphicFramePr>
            <a:graphicFrameLocks noGrp="1"/>
          </p:cNvGraphicFramePr>
          <p:nvPr/>
        </p:nvGraphicFramePr>
        <p:xfrm>
          <a:off x="2311200" y="1670400"/>
          <a:ext cx="5032800" cy="881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sz="1000" b="1">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54 unidades</a:t>
                      </a:r>
                    </a:p>
                    <a:p>
                      <a:pPr algn="ctr">
                        <a:defRPr sz="1000">
                          <a:solidFill>
                            <a:srgbClr val="505050"/>
                          </a:solidFill>
                          <a:latin typeface="Montserrat"/>
                        </a:defRPr>
                      </a:pPr>
                      <a:r>
                        <a:t>5 directas</a:t>
                      </a:r>
                    </a:p>
                    <a:p>
                      <a:pPr algn="ctr">
                        <a:defRPr sz="1000">
                          <a:solidFill>
                            <a:srgbClr val="505050"/>
                          </a:solidFill>
                          <a:latin typeface="Montserrat"/>
                        </a:defRPr>
                      </a:pPr>
                      <a:r>
                        <a:t>49 indirectas</a:t>
                      </a:r>
                    </a:p>
                  </a:txBody>
                  <a:tcPr anchor="ctr">
                    <a:solidFill>
                      <a:srgbClr val="FFFFFF"/>
                    </a:solidFill>
                  </a:tcPr>
                </a:tc>
                <a:tc>
                  <a:txBody>
                    <a:bodyPr/>
                    <a:lstStyle/>
                    <a:p>
                      <a:pPr algn="ctr"/>
                      <a:r>
                        <a:rPr sz="1000" b="1">
                          <a:latin typeface="Montserrat"/>
                        </a:rPr>
                        <a:t>10,044 inscritos</a:t>
                      </a:r>
                    </a:p>
                    <a:p>
                      <a:pPr algn="ctr">
                        <a:defRPr sz="1000">
                          <a:solidFill>
                            <a:srgbClr val="505050"/>
                          </a:solidFill>
                          <a:latin typeface="Montserrat"/>
                        </a:defRPr>
                      </a:pPr>
                      <a:r>
                        <a:t>3,287 en espera</a:t>
                      </a:r>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nvGraphicFramePr>
        <p:xfrm>
          <a:off x="2311200" y="2552041"/>
          <a:ext cx="5032800" cy="99425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94821">
                <a:tc gridSpan="2">
                  <a:txBody>
                    <a:bodyPr/>
                    <a:lstStyle/>
                    <a:p>
                      <a:pPr algn="ctr">
                        <a:defRPr sz="1000" b="1">
                          <a:solidFill>
                            <a:srgbClr val="FFFFFF"/>
                          </a:solidFill>
                          <a:latin typeface="Montserrat"/>
                        </a:defRPr>
                      </a:pPr>
                      <a:r>
                        <a:rPr sz="1050"/>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599429">
                <a:tc>
                  <a:txBody>
                    <a:bodyPr/>
                    <a:lstStyle/>
                    <a:p>
                      <a:pPr algn="just">
                        <a:defRPr sz="800" b="1">
                          <a:latin typeface="Montserrat"/>
                        </a:defRPr>
                      </a:pPr>
                      <a:r>
                        <a:rPr sz="900"/>
                        <a:t>6 Centros de </a:t>
                      </a:r>
                      <a:r>
                        <a:rPr sz="900" err="1"/>
                        <a:t>Seguridad</a:t>
                      </a:r>
                      <a:r>
                        <a:rPr sz="900"/>
                        <a:t> Social</a:t>
                      </a:r>
                    </a:p>
                  </a:txBody>
                  <a:tcPr marL="28800" marR="28800" marT="0" marB="0" anchor="ctr">
                    <a:solidFill>
                      <a:srgbClr val="FFFFFF"/>
                    </a:solidFill>
                  </a:tcPr>
                </a:tc>
                <a:tc>
                  <a:txBody>
                    <a:bodyPr/>
                    <a:lstStyle/>
                    <a:p>
                      <a:pPr algn="ctr">
                        <a:defRPr sz="800">
                          <a:latin typeface="Montserrat"/>
                        </a:defRPr>
                      </a:pPr>
                      <a:r>
                        <a:rPr sz="900"/>
                        <a:t>Ciudad Obregón, Hermosillo, </a:t>
                      </a:r>
                      <a:r>
                        <a:rPr sz="900" err="1"/>
                        <a:t>Huatabampo</a:t>
                      </a:r>
                      <a:r>
                        <a:rPr sz="900"/>
                        <a:t>, </a:t>
                      </a:r>
                      <a:r>
                        <a:rPr sz="900" err="1"/>
                        <a:t>Navojoa</a:t>
                      </a:r>
                      <a:r>
                        <a:rPr sz="900"/>
                        <a:t>, Nogales y </a:t>
                      </a:r>
                      <a:r>
                        <a:rPr sz="900" err="1"/>
                        <a:t>Empalme</a:t>
                      </a:r>
                      <a:endParaRPr sz="900"/>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9" name="Table 468"/>
          <p:cNvGraphicFramePr>
            <a:graphicFrameLocks noGrp="1"/>
          </p:cNvGraphicFramePr>
          <p:nvPr/>
        </p:nvGraphicFramePr>
        <p:xfrm>
          <a:off x="2294562" y="3742279"/>
          <a:ext cx="5032800" cy="119267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784070">
                <a:tc gridSpan="2">
                  <a:txBody>
                    <a:bodyPr/>
                    <a:lstStyle/>
                    <a:p>
                      <a:pPr algn="ctr">
                        <a:defRPr sz="1000" b="1">
                          <a:solidFill>
                            <a:srgbClr val="FFFFFF"/>
                          </a:solidFill>
                          <a:latin typeface="Montserrat"/>
                        </a:defRPr>
                      </a:pPr>
                      <a:r>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408600">
                <a:tc>
                  <a:txBody>
                    <a:bodyPr/>
                    <a:lstStyle/>
                    <a:p>
                      <a:pPr algn="just">
                        <a:defRPr sz="800" b="1">
                          <a:latin typeface="Montserrat"/>
                        </a:defRPr>
                      </a:pPr>
                      <a:r>
                        <a:t>2 Tiendas IMSS-SNTSS</a:t>
                      </a:r>
                    </a:p>
                  </a:txBody>
                  <a:tcPr marL="28800" marR="28800" marT="0" marB="0" anchor="ctr">
                    <a:solidFill>
                      <a:srgbClr val="FFFFFF"/>
                    </a:solidFill>
                  </a:tcPr>
                </a:tc>
                <a:tc>
                  <a:txBody>
                    <a:bodyPr/>
                    <a:lstStyle/>
                    <a:p>
                      <a:pPr algn="ctr">
                        <a:defRPr sz="800">
                          <a:latin typeface="Montserrat"/>
                        </a:defRPr>
                      </a:pPr>
                      <a:r>
                        <a:t>No. 43 Ciudad Obregón y No. 44 Hermosillo</a:t>
                      </a:r>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pic>
        <p:nvPicPr>
          <p:cNvPr id="470" name="Picture 469" descr="map_tipo2_26_son.png"/>
          <p:cNvPicPr>
            <a:picLocks noChangeAspect="1"/>
          </p:cNvPicPr>
          <p:nvPr/>
        </p:nvPicPr>
        <p:blipFill>
          <a:blip r:embed="rId6"/>
          <a:stretch>
            <a:fillRect/>
          </a:stretch>
        </p:blipFill>
        <p:spPr>
          <a:xfrm>
            <a:off x="2711189" y="5339827"/>
            <a:ext cx="4014000" cy="3101727"/>
          </a:xfrm>
          <a:prstGeom prst="rect">
            <a:avLst/>
          </a:prstGeom>
        </p:spPr>
      </p:pic>
      <p:sp>
        <p:nvSpPr>
          <p:cNvPr id="471" name="TextBox 470"/>
          <p:cNvSpPr txBox="1"/>
          <p:nvPr/>
        </p:nvSpPr>
        <p:spPr>
          <a:xfrm>
            <a:off x="1113033" y="6024040"/>
            <a:ext cx="1364400" cy="2448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000" b="0">
                <a:solidFill>
                  <a:srgbClr val="000000"/>
                </a:solidFill>
                <a:latin typeface="Montserrat"/>
              </a:defRPr>
            </a:pPr>
            <a:r>
              <a:rPr kumimoji="0" sz="1000" b="0" i="0" u="none" strike="noStrike" kern="0" cap="none" spc="0" normalizeH="0" baseline="0" noProof="0" err="1">
                <a:ln>
                  <a:noFill/>
                </a:ln>
                <a:solidFill>
                  <a:srgbClr val="000000"/>
                </a:solidFill>
                <a:effectLst/>
                <a:uLnTx/>
                <a:uFillTx/>
                <a:latin typeface="Montserrat"/>
                <a:cs typeface="Arial"/>
                <a:sym typeface="Arial"/>
              </a:rPr>
              <a:t>Guarderías</a:t>
            </a:r>
            <a:r>
              <a:rPr kumimoji="0" sz="1000" b="0" i="0" u="none" strike="noStrike" kern="0" cap="none" spc="0" normalizeH="0" baseline="0" noProof="0">
                <a:ln>
                  <a:noFill/>
                </a:ln>
                <a:solidFill>
                  <a:srgbClr val="000000"/>
                </a:solidFill>
                <a:effectLst/>
                <a:uLnTx/>
                <a:uFillTx/>
                <a:latin typeface="Montserrat"/>
                <a:cs typeface="Arial"/>
                <a:sym typeface="Arial"/>
              </a:rPr>
              <a:t>    54</a:t>
            </a:r>
          </a:p>
        </p:txBody>
      </p:sp>
      <p:sp>
        <p:nvSpPr>
          <p:cNvPr id="472" name="TextBox 471"/>
          <p:cNvSpPr txBox="1"/>
          <p:nvPr/>
        </p:nvSpPr>
        <p:spPr>
          <a:xfrm>
            <a:off x="0" y="9273600"/>
            <a:ext cx="4258800" cy="23040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00">
                <a:solidFill>
                  <a:srgbClr val="000000"/>
                </a:solidFill>
                <a:latin typeface="Montserrat"/>
              </a:defRPr>
            </a:pPr>
            <a:r>
              <a:rPr kumimoji="0" sz="900" b="0" i="0" u="none" strike="noStrike" kern="0" cap="none" spc="0" normalizeH="0" baseline="0" noProof="0">
                <a:ln>
                  <a:noFill/>
                </a:ln>
                <a:solidFill>
                  <a:srgbClr val="000000"/>
                </a:solidFill>
                <a:effectLst/>
                <a:uLnTx/>
                <a:uFillTx/>
                <a:latin typeface="Montserrat"/>
                <a:cs typeface="Arial"/>
                <a:sym typeface="Arial"/>
              </a:rPr>
              <a:t>Fuente: Dirección de Prestaciones Económicas y Sociales, abril de 2026.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479" name="Table 478"/>
          <p:cNvGraphicFramePr>
            <a:graphicFrameLocks noGrp="1"/>
          </p:cNvGraphicFramePr>
          <p:nvPr>
            <p:extLst>
              <p:ext uri="{D42A27DB-BD31-4B8C-83A1-F6EECF244321}">
                <p14:modId xmlns:p14="http://schemas.microsoft.com/office/powerpoint/2010/main" val="1341931297"/>
              </p:ext>
            </p:extLst>
          </p:nvPr>
        </p:nvGraphicFramePr>
        <p:xfrm>
          <a:off x="284400" y="1087200"/>
          <a:ext cx="6984000" cy="194315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rPr lang="es-MX" dirty="0"/>
                        <a:t>Principales Empleadores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lnL w="12700" cap="flat" cmpd="sng" algn="ctr">
                      <a:solidFill>
                        <a:schemeClr val="bg1">
                          <a:lumMod val="85000"/>
                        </a:schemeClr>
                      </a:solidFill>
                      <a:prstDash val="solid"/>
                      <a:round/>
                      <a:headEnd type="none" w="med" len="med"/>
                      <a:tailEnd type="none" w="med" len="med"/>
                    </a:lnL>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lnR w="12700" cap="flat" cmpd="sng" algn="ctr">
                      <a:solidFill>
                        <a:schemeClr val="bg1">
                          <a:lumMod val="85000"/>
                        </a:schemeClr>
                      </a:solidFill>
                      <a:prstDash val="solid"/>
                      <a:round/>
                      <a:headEnd type="none" w="med" len="med"/>
                      <a:tailEnd type="none" w="med" len="med"/>
                    </a:ln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Instituto Mexicano del Seguro Social</a:t>
                      </a:r>
                    </a:p>
                  </a:txBody>
                  <a:tcPr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850">
                          <a:latin typeface="Montserrat"/>
                        </a:defRPr>
                      </a:pPr>
                      <a:r>
                        <a:t>19,863</a:t>
                      </a:r>
                    </a:p>
                  </a:txBody>
                  <a:tcPr anchor="ctr">
                    <a:solidFill>
                      <a:srgbClr val="FFFFFF"/>
                    </a:solidFill>
                  </a:tcPr>
                </a:tc>
                <a:tc>
                  <a:txBody>
                    <a:bodyPr/>
                    <a:lstStyle/>
                    <a:p>
                      <a:pPr algn="ctr">
                        <a:defRPr sz="850">
                          <a:latin typeface="Montserrat"/>
                        </a:defRPr>
                      </a:pPr>
                      <a:r>
                        <a:t>20,231</a:t>
                      </a:r>
                    </a:p>
                  </a:txBody>
                  <a:tcPr anchor="ctr">
                    <a:solidFill>
                      <a:srgbClr val="FFFFFF"/>
                    </a:solidFill>
                  </a:tcPr>
                </a:tc>
                <a:tc>
                  <a:txBody>
                    <a:bodyPr/>
                    <a:lstStyle/>
                    <a:p>
                      <a:pPr algn="ctr">
                        <a:defRPr sz="850" b="1">
                          <a:solidFill>
                            <a:srgbClr val="006455"/>
                          </a:solidFill>
                          <a:latin typeface="Montserrat"/>
                        </a:defRPr>
                      </a:pPr>
                      <a:r>
                        <a:t>1.9%</a:t>
                      </a:r>
                    </a:p>
                  </a:txBody>
                  <a:tcPr anchor="ctr">
                    <a:solidFill>
                      <a:srgbClr val="FFFFFF"/>
                    </a:solidFill>
                  </a:tcPr>
                </a:tc>
                <a:tc>
                  <a:txBody>
                    <a:bodyPr/>
                    <a:lstStyle/>
                    <a:p>
                      <a:pPr algn="ctr">
                        <a:defRPr sz="850">
                          <a:latin typeface="Montserrat"/>
                        </a:defRPr>
                      </a:pPr>
                      <a:r>
                        <a:t>Maquilas Teta Kawi S.A. de C.V.</a:t>
                      </a:r>
                    </a:p>
                  </a:txBody>
                  <a:tcPr anchor="ctr">
                    <a:solidFill>
                      <a:srgbClr val="FFFFFF"/>
                    </a:solidFill>
                  </a:tcPr>
                </a:tc>
                <a:tc>
                  <a:txBody>
                    <a:bodyPr/>
                    <a:lstStyle/>
                    <a:p>
                      <a:pPr algn="ctr">
                        <a:defRPr sz="850">
                          <a:latin typeface="Montserrat"/>
                        </a:defRPr>
                      </a:pPr>
                      <a:r>
                        <a:t>15,088</a:t>
                      </a:r>
                    </a:p>
                  </a:txBody>
                  <a:tcPr anchor="ctr">
                    <a:solidFill>
                      <a:srgbClr val="FFFFFF"/>
                    </a:solidFill>
                  </a:tcPr>
                </a:tc>
                <a:tc>
                  <a:txBody>
                    <a:bodyPr/>
                    <a:lstStyle/>
                    <a:p>
                      <a:pPr algn="ctr">
                        <a:defRPr sz="850">
                          <a:latin typeface="Montserrat"/>
                        </a:defRPr>
                      </a:pPr>
                      <a:r>
                        <a:t>15,195</a:t>
                      </a:r>
                    </a:p>
                  </a:txBody>
                  <a:tcPr anchor="ctr">
                    <a:solidFill>
                      <a:srgbClr val="FFFFFF"/>
                    </a:solidFill>
                  </a:tcPr>
                </a:tc>
                <a:tc>
                  <a:txBody>
                    <a:bodyPr/>
                    <a:lstStyle/>
                    <a:p>
                      <a:pPr algn="ctr">
                        <a:defRPr sz="850" b="1">
                          <a:solidFill>
                            <a:srgbClr val="006455"/>
                          </a:solidFill>
                          <a:latin typeface="Montserrat"/>
                        </a:defRPr>
                      </a:pPr>
                      <a:r>
                        <a:t>0.7%</a:t>
                      </a:r>
                    </a:p>
                  </a:txBody>
                  <a:tcPr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490320">
                <a:tc rowSpan="2">
                  <a:txBody>
                    <a:bodyPr/>
                    <a:lstStyle/>
                    <a:p>
                      <a:pPr algn="ctr">
                        <a:defRPr sz="850">
                          <a:latin typeface="Montserrat"/>
                        </a:defRPr>
                      </a:pPr>
                      <a:r>
                        <a:t>Comisión Federal de Electricidad Epe</a:t>
                      </a: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D9D9D9"/>
                    </a:solidFill>
                  </a:tcPr>
                </a:tc>
                <a:tc rowSpan="2">
                  <a:txBody>
                    <a:bodyPr/>
                    <a:lstStyle/>
                    <a:p>
                      <a:pPr algn="ctr">
                        <a:defRPr sz="850">
                          <a:latin typeface="Montserrat"/>
                        </a:defRPr>
                      </a:pPr>
                      <a:r>
                        <a:t>4,178</a:t>
                      </a:r>
                    </a:p>
                  </a:txBody>
                  <a:tcPr anchor="ctr">
                    <a:lnB w="12700" cap="flat" cmpd="sng" algn="ctr">
                      <a:solidFill>
                        <a:schemeClr val="bg1">
                          <a:lumMod val="85000"/>
                        </a:schemeClr>
                      </a:solidFill>
                      <a:prstDash val="solid"/>
                      <a:round/>
                      <a:headEnd type="none" w="med" len="med"/>
                      <a:tailEnd type="none" w="med" len="med"/>
                    </a:lnB>
                    <a:solidFill>
                      <a:srgbClr val="D9D9D9"/>
                    </a:solidFill>
                  </a:tcPr>
                </a:tc>
                <a:tc rowSpan="2">
                  <a:txBody>
                    <a:bodyPr/>
                    <a:lstStyle/>
                    <a:p>
                      <a:pPr algn="ctr">
                        <a:defRPr sz="850">
                          <a:latin typeface="Montserrat"/>
                        </a:defRPr>
                      </a:pPr>
                      <a:r>
                        <a:t>4,205</a:t>
                      </a:r>
                    </a:p>
                  </a:txBody>
                  <a:tcPr anchor="ctr">
                    <a:lnB w="12700" cap="flat" cmpd="sng" algn="ctr">
                      <a:solidFill>
                        <a:schemeClr val="bg1">
                          <a:lumMod val="85000"/>
                        </a:schemeClr>
                      </a:solidFill>
                      <a:prstDash val="solid"/>
                      <a:round/>
                      <a:headEnd type="none" w="med" len="med"/>
                      <a:tailEnd type="none" w="med" len="med"/>
                    </a:lnB>
                    <a:solidFill>
                      <a:srgbClr val="D9D9D9"/>
                    </a:solidFill>
                  </a:tcPr>
                </a:tc>
                <a:tc rowSpan="2">
                  <a:txBody>
                    <a:bodyPr/>
                    <a:lstStyle/>
                    <a:p>
                      <a:pPr algn="ctr">
                        <a:defRPr sz="850" b="1">
                          <a:solidFill>
                            <a:srgbClr val="006455"/>
                          </a:solidFill>
                          <a:latin typeface="Montserrat"/>
                        </a:defRPr>
                      </a:pPr>
                      <a:r>
                        <a:t>0.7%</a:t>
                      </a:r>
                    </a:p>
                  </a:txBody>
                  <a:tcPr anchor="ctr">
                    <a:lnB w="12700" cap="flat" cmpd="sng" algn="ctr">
                      <a:solidFill>
                        <a:schemeClr val="bg1">
                          <a:lumMod val="85000"/>
                        </a:schemeClr>
                      </a:solidFill>
                      <a:prstDash val="solid"/>
                      <a:round/>
                      <a:headEnd type="none" w="med" len="med"/>
                      <a:tailEnd type="none" w="med" len="med"/>
                    </a:lnB>
                    <a:solidFill>
                      <a:srgbClr val="D9D9D9"/>
                    </a:solidFill>
                  </a:tcPr>
                </a:tc>
                <a:tc>
                  <a:txBody>
                    <a:bodyPr/>
                    <a:lstStyle/>
                    <a:p>
                      <a:pPr algn="ctr">
                        <a:defRPr sz="850">
                          <a:latin typeface="Montserrat"/>
                        </a:defRPr>
                      </a:pPr>
                      <a:r>
                        <a:t>Grupo Yazaki S.A. de C.V.</a:t>
                      </a:r>
                    </a:p>
                  </a:txBody>
                  <a:tcPr anchor="ctr">
                    <a:solidFill>
                      <a:srgbClr val="D9D9D9"/>
                    </a:solidFill>
                  </a:tcPr>
                </a:tc>
                <a:tc>
                  <a:txBody>
                    <a:bodyPr/>
                    <a:lstStyle/>
                    <a:p>
                      <a:pPr algn="ctr">
                        <a:defRPr sz="850">
                          <a:latin typeface="Montserrat"/>
                        </a:defRPr>
                      </a:pPr>
                      <a:r>
                        <a:t>11,983</a:t>
                      </a:r>
                    </a:p>
                  </a:txBody>
                  <a:tcPr anchor="ctr">
                    <a:solidFill>
                      <a:srgbClr val="D9D9D9"/>
                    </a:solidFill>
                  </a:tcPr>
                </a:tc>
                <a:tc>
                  <a:txBody>
                    <a:bodyPr/>
                    <a:lstStyle/>
                    <a:p>
                      <a:pPr algn="ctr">
                        <a:defRPr sz="850">
                          <a:latin typeface="Montserrat"/>
                        </a:defRPr>
                      </a:pPr>
                      <a:r>
                        <a:t>11,974</a:t>
                      </a:r>
                    </a:p>
                  </a:txBody>
                  <a:tcPr anchor="ctr">
                    <a:solidFill>
                      <a:srgbClr val="D9D9D9"/>
                    </a:solidFill>
                  </a:tcPr>
                </a:tc>
                <a:tc>
                  <a:txBody>
                    <a:bodyPr/>
                    <a:lstStyle/>
                    <a:p>
                      <a:pPr algn="ctr">
                        <a:defRPr sz="850" b="1">
                          <a:solidFill>
                            <a:srgbClr val="691C32"/>
                          </a:solidFill>
                          <a:latin typeface="Montserrat"/>
                        </a:defRPr>
                      </a:pPr>
                      <a:r>
                        <a:t>-0.1%</a:t>
                      </a:r>
                    </a:p>
                  </a:txBody>
                  <a:tcPr anchor="ct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3"/>
                  </a:ext>
                </a:extLst>
              </a:tr>
              <a:tr h="490320">
                <a:tc vMerge="1">
                  <a:txBody>
                    <a:bodyPr/>
                    <a:lstStyle/>
                    <a:p>
                      <a:pPr algn="ctr">
                        <a:defRPr sz="850">
                          <a:latin typeface="Montserrat"/>
                        </a:defRPr>
                      </a:pPr>
                      <a:endParaRPr/>
                    </a:p>
                  </a:txBody>
                  <a:tcPr anchor="ctr">
                    <a:solidFill>
                      <a:srgbClr val="FFFFFF"/>
                    </a:solidFill>
                  </a:tcPr>
                </a:tc>
                <a:tc vMerge="1">
                  <a:txBody>
                    <a:bodyPr/>
                    <a:lstStyle/>
                    <a:p>
                      <a:pPr algn="ctr">
                        <a:defRPr sz="850">
                          <a:latin typeface="Montserrat"/>
                        </a:defRPr>
                      </a:pPr>
                      <a:endParaRPr/>
                    </a:p>
                  </a:txBody>
                  <a:tcPr anchor="ctr">
                    <a:solidFill>
                      <a:srgbClr val="FFFFFF"/>
                    </a:solidFill>
                  </a:tcPr>
                </a:tc>
                <a:tc vMerge="1">
                  <a:txBody>
                    <a:bodyPr/>
                    <a:lstStyle/>
                    <a:p>
                      <a:pPr algn="ctr">
                        <a:defRPr sz="850">
                          <a:latin typeface="Montserrat"/>
                        </a:defRPr>
                      </a:pPr>
                      <a:endParaRPr/>
                    </a:p>
                  </a:txBody>
                  <a:tcPr anchor="ctr">
                    <a:solidFill>
                      <a:srgbClr val="FFFFFF"/>
                    </a:solidFill>
                  </a:tcPr>
                </a:tc>
                <a:tc vMerge="1">
                  <a:txBody>
                    <a:bodyPr/>
                    <a:lstStyle/>
                    <a:p>
                      <a:pPr algn="ctr">
                        <a:defRPr sz="850">
                          <a:latin typeface="Montserrat"/>
                        </a:defRPr>
                      </a:pPr>
                      <a:endParaRPr/>
                    </a:p>
                  </a:txBody>
                  <a:tcPr anchor="ctr">
                    <a:solidFill>
                      <a:srgbClr val="FFFFFF"/>
                    </a:solidFill>
                  </a:tcPr>
                </a:tc>
                <a:tc>
                  <a:txBody>
                    <a:bodyPr/>
                    <a:lstStyle/>
                    <a:p>
                      <a:pPr algn="ctr">
                        <a:defRPr sz="850">
                          <a:latin typeface="Montserrat"/>
                        </a:defRPr>
                      </a:pPr>
                      <a:r>
                        <a:t>Amp Amermex S.A. de C.V.</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6,601</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6,767</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b="1">
                          <a:solidFill>
                            <a:srgbClr val="006455"/>
                          </a:solidFill>
                          <a:latin typeface="Montserrat"/>
                        </a:defRPr>
                      </a:pPr>
                      <a:r>
                        <a:rPr dirty="0"/>
                        <a:t>2.5%</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-3.83%</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-1.36%</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-1.07%</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+1.37%</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+2.31%</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+2.99%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+10.06%</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extLst>
              <p:ext uri="{D42A27DB-BD31-4B8C-83A1-F6EECF244321}">
                <p14:modId xmlns:p14="http://schemas.microsoft.com/office/powerpoint/2010/main" val="2407376126"/>
              </p:ext>
            </p:extLst>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C955C"/>
                    </a:solidFill>
                  </a:tcPr>
                </a:tc>
                <a:tc gridSpan="2">
                  <a:txBody>
                    <a:bodyPr/>
                    <a:lstStyle/>
                    <a:p>
                      <a:pPr algn="ctr">
                        <a:defRPr sz="1000" b="1">
                          <a:solidFill>
                            <a:srgbClr val="FFFFFF"/>
                          </a:solidFill>
                          <a:latin typeface="Montserrat"/>
                        </a:defRPr>
                      </a:pPr>
                      <a:r>
                        <a:t>Permanente</a:t>
                      </a:r>
                    </a:p>
                  </a:txBody>
                  <a:tcPr anchor="ctr">
                    <a:lnT w="12700" cap="flat" cmpd="sng" algn="ctr">
                      <a:solidFill>
                        <a:schemeClr val="bg1">
                          <a:lumMod val="85000"/>
                        </a:schemeClr>
                      </a:solidFill>
                      <a:prstDash val="solid"/>
                      <a:round/>
                      <a:headEnd type="none" w="med" len="med"/>
                      <a:tailEnd type="none" w="med" len="med"/>
                    </a:lnT>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lnT w="12700" cap="flat" cmpd="sng" algn="ctr">
                      <a:solidFill>
                        <a:schemeClr val="bg1">
                          <a:lumMod val="85000"/>
                        </a:schemeClr>
                      </a:solidFill>
                      <a:prstDash val="solid"/>
                      <a:round/>
                      <a:headEnd type="none" w="med" len="med"/>
                      <a:tailEnd type="none" w="med" len="med"/>
                    </a:lnT>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rPr dirty="0"/>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latin typeface="Montserrat"/>
                        </a:defRPr>
                      </a:pPr>
                      <a:r>
                        <a:t>547,251</a:t>
                      </a:r>
                    </a:p>
                  </a:txBody>
                  <a:tcPr>
                    <a:solidFill>
                      <a:srgbClr val="FFFFFF"/>
                    </a:solidFill>
                  </a:tcPr>
                </a:tc>
                <a:tc>
                  <a:txBody>
                    <a:bodyPr/>
                    <a:lstStyle/>
                    <a:p>
                      <a:pPr algn="ctr">
                        <a:defRPr sz="900">
                          <a:latin typeface="Montserrat"/>
                        </a:defRPr>
                      </a:pPr>
                      <a:r>
                        <a:t>18,858</a:t>
                      </a:r>
                    </a:p>
                  </a:txBody>
                  <a:tcPr>
                    <a:solidFill>
                      <a:srgbClr val="FFFFFF"/>
                    </a:solidFill>
                  </a:tcPr>
                </a:tc>
                <a:tc>
                  <a:txBody>
                    <a:bodyPr/>
                    <a:lstStyle/>
                    <a:p>
                      <a:pPr algn="ctr">
                        <a:defRPr sz="900">
                          <a:latin typeface="Montserrat"/>
                        </a:defRPr>
                      </a:pPr>
                      <a:r>
                        <a:t>59,024</a:t>
                      </a:r>
                    </a:p>
                  </a:txBody>
                  <a:tcPr>
                    <a:solidFill>
                      <a:srgbClr val="FFFFFF"/>
                    </a:solidFill>
                  </a:tcPr>
                </a:tc>
                <a:tc>
                  <a:txBody>
                    <a:bodyPr/>
                    <a:lstStyle/>
                    <a:p>
                      <a:pPr algn="ctr">
                        <a:defRPr sz="900">
                          <a:latin typeface="Montserrat"/>
                        </a:defRPr>
                      </a:pPr>
                      <a:r>
                        <a:t>30,963</a:t>
                      </a:r>
                    </a:p>
                  </a:txBody>
                  <a:tcPr>
                    <a:solidFill>
                      <a:srgbClr val="FFFFFF"/>
                    </a:solidFill>
                  </a:tcPr>
                </a:tc>
                <a:tc>
                  <a:txBody>
                    <a:bodyPr/>
                    <a:lstStyle/>
                    <a:p>
                      <a:pPr algn="ctr">
                        <a:defRPr sz="900">
                          <a:latin typeface="Montserrat"/>
                        </a:defRPr>
                      </a:pPr>
                      <a:r>
                        <a:t>656,096</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defRPr sz="900">
                          <a:latin typeface="Montserrat"/>
                        </a:defRPr>
                      </a:pPr>
                      <a:r>
                        <a:t>547,232</a:t>
                      </a:r>
                    </a:p>
                  </a:txBody>
                  <a:tcPr>
                    <a:solidFill>
                      <a:srgbClr val="D9D9D9"/>
                    </a:solidFill>
                  </a:tcPr>
                </a:tc>
                <a:tc>
                  <a:txBody>
                    <a:bodyPr/>
                    <a:lstStyle/>
                    <a:p>
                      <a:pPr algn="ctr">
                        <a:defRPr sz="900">
                          <a:latin typeface="Montserrat"/>
                        </a:defRPr>
                      </a:pPr>
                      <a:r>
                        <a:t>19,181</a:t>
                      </a:r>
                    </a:p>
                  </a:txBody>
                  <a:tcPr>
                    <a:solidFill>
                      <a:srgbClr val="D9D9D9"/>
                    </a:solidFill>
                  </a:tcPr>
                </a:tc>
                <a:tc>
                  <a:txBody>
                    <a:bodyPr/>
                    <a:lstStyle/>
                    <a:p>
                      <a:pPr algn="ctr">
                        <a:defRPr sz="900">
                          <a:latin typeface="Montserrat"/>
                        </a:defRPr>
                      </a:pPr>
                      <a:r>
                        <a:t>57,607</a:t>
                      </a:r>
                    </a:p>
                  </a:txBody>
                  <a:tcPr>
                    <a:solidFill>
                      <a:srgbClr val="D9D9D9"/>
                    </a:solidFill>
                  </a:tcPr>
                </a:tc>
                <a:tc>
                  <a:txBody>
                    <a:bodyPr/>
                    <a:lstStyle/>
                    <a:p>
                      <a:pPr algn="ctr">
                        <a:defRPr sz="900">
                          <a:latin typeface="Montserrat"/>
                        </a:defRPr>
                      </a:pPr>
                      <a:r>
                        <a:t>27,403</a:t>
                      </a:r>
                    </a:p>
                  </a:txBody>
                  <a:tcPr>
                    <a:solidFill>
                      <a:srgbClr val="D9D9D9"/>
                    </a:solidFill>
                  </a:tcPr>
                </a:tc>
                <a:tc>
                  <a:txBody>
                    <a:bodyPr/>
                    <a:lstStyle/>
                    <a:p>
                      <a:pPr algn="ctr">
                        <a:defRPr sz="900">
                          <a:latin typeface="Montserrat"/>
                        </a:defRPr>
                      </a:pPr>
                      <a:r>
                        <a:t>651,423</a:t>
                      </a:r>
                    </a:p>
                  </a:txBody>
                  <a:tcP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a:latin typeface="Montserrat"/>
                        </a:defRPr>
                      </a:pPr>
                      <a:r>
                        <a:t>-0.0%</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1">
                          <a:solidFill>
                            <a:srgbClr val="006455"/>
                          </a:solidFill>
                          <a:latin typeface="Montserrat"/>
                        </a:defRPr>
                      </a:pPr>
                      <a:r>
                        <a:t>+1.7%</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0">
                          <a:solidFill>
                            <a:srgbClr val="691C32"/>
                          </a:solidFill>
                          <a:latin typeface="Montserrat"/>
                        </a:defRPr>
                      </a:pPr>
                      <a:r>
                        <a:t>-2.4%</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0">
                          <a:solidFill>
                            <a:srgbClr val="691C32"/>
                          </a:solidFill>
                          <a:latin typeface="Montserrat"/>
                        </a:defRPr>
                      </a:pPr>
                      <a:r>
                        <a:t>-11.5%</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0">
                          <a:solidFill>
                            <a:srgbClr val="691C32"/>
                          </a:solidFill>
                          <a:latin typeface="Montserrat"/>
                        </a:defRPr>
                      </a:pPr>
                      <a:r>
                        <a:rPr dirty="0"/>
                        <a:t>-0.7%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98CEF7E4-EB13-8DC7-CE0B-EE65878BFD6E}"/>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$631.44</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extLst>
              <p:ext uri="{D42A27DB-BD31-4B8C-83A1-F6EECF244321}">
                <p14:modId xmlns:p14="http://schemas.microsoft.com/office/powerpoint/2010/main" val="164886526"/>
              </p:ext>
            </p:extLst>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noFill/>
                  </a:tcPr>
                </a:tc>
                <a:tc>
                  <a:txBody>
                    <a:bodyPr/>
                    <a:lstStyle/>
                    <a:p>
                      <a:pPr algn="ctr">
                        <a:defRPr sz="1100" b="1">
                          <a:solidFill>
                            <a:srgbClr val="FFFFFF"/>
                          </a:solidFill>
                          <a:latin typeface="Montserrat"/>
                        </a:defRPr>
                      </a:pPr>
                      <a:r>
                        <a:t>2018 diciembre</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2026 Mayo</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rPr dirty="0" err="1"/>
                        <a:t>Variación</a:t>
                      </a:r>
                      <a:r>
                        <a:rPr dirty="0"/>
                        <a:t> %</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Nacional 2026</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Salario Mensual</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A42145"/>
                    </a:solidFill>
                  </a:tcPr>
                </a:tc>
                <a:tc>
                  <a:txBody>
                    <a:bodyPr/>
                    <a:lstStyle/>
                    <a:p>
                      <a:pPr algn="ctr">
                        <a:defRPr sz="1100">
                          <a:latin typeface="Montserrat"/>
                        </a:defRPr>
                      </a:pPr>
                      <a:r>
                        <a:t>$309.68</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b="1">
                          <a:latin typeface="Montserrat"/>
                        </a:defRPr>
                      </a:pPr>
                      <a:r>
                        <a:t>$631.44</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a:latin typeface="Montserrat"/>
                        </a:defRPr>
                      </a:pPr>
                      <a:r>
                        <a:t>44.2%</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b="1">
                          <a:latin typeface="Montserrat"/>
                        </a:defRPr>
                      </a:pPr>
                      <a:r>
                        <a:t>$671.25</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b="1">
                          <a:solidFill>
                            <a:srgbClr val="9F2241"/>
                          </a:solidFill>
                          <a:latin typeface="Montserrat"/>
                        </a:defRPr>
                      </a:pPr>
                      <a:r>
                        <a:rPr dirty="0"/>
                        <a:t>$18,943.2</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3932146995"/>
              </p:ext>
            </p:extLst>
          </p:nvPr>
        </p:nvGraphicFramePr>
        <p:xfrm>
          <a:off x="320400" y="6649200"/>
          <a:ext cx="7038000" cy="272484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rPr lang="es-MX" dirty="0"/>
                        <a:t>Principales Deudores</a:t>
                      </a:r>
                    </a:p>
                  </a:txBody>
                  <a:tcP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solidFill>
                      <a:srgbClr val="006455"/>
                    </a:solidFill>
                  </a:tcPr>
                </a:tc>
                <a:tc>
                  <a:txBody>
                    <a:bodyPr/>
                    <a:lstStyle/>
                    <a:p>
                      <a:pPr algn="ctr">
                        <a:defRPr sz="1100" b="1">
                          <a:solidFill>
                            <a:srgbClr val="FFFFFF"/>
                          </a:solidFill>
                          <a:latin typeface="Montserrat"/>
                        </a:defRPr>
                      </a:pPr>
                      <a:r>
                        <a:t>Deudores</a:t>
                      </a:r>
                    </a:p>
                  </a:txBody>
                  <a:tcPr>
                    <a:solidFill>
                      <a:srgbClr val="006455"/>
                    </a:solidFill>
                  </a:tcPr>
                </a:tc>
                <a:tc>
                  <a:txBody>
                    <a:bodyPr/>
                    <a:lstStyle/>
                    <a:p>
                      <a:pPr algn="ctr">
                        <a:defRPr sz="1100" b="1">
                          <a:solidFill>
                            <a:srgbClr val="FFFFFF"/>
                          </a:solidFill>
                          <a:latin typeface="Montserrat"/>
                        </a:defRPr>
                      </a:pPr>
                      <a:r>
                        <a:t>Monto de deuda (mdp)</a:t>
                      </a:r>
                    </a:p>
                  </a:txBody>
                  <a:tcP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a:t>
                      </a:r>
                      <a:r>
                        <a:rPr dirty="0" err="1"/>
                        <a:t>público</a:t>
                      </a:r>
                      <a:r>
                        <a:rPr lang="es-MX" dirty="0"/>
                        <a:t>s</a:t>
                      </a:r>
                      <a:endParaRPr dirty="0"/>
                    </a:p>
                  </a:txBody>
                  <a:tcPr anchor="ctr">
                    <a:solidFill>
                      <a:srgbClr val="006455"/>
                    </a:solidFill>
                  </a:tcPr>
                </a:tc>
                <a:tc>
                  <a:txBody>
                    <a:bodyPr/>
                    <a:lstStyle/>
                    <a:p>
                      <a:pPr algn="ctr">
                        <a:defRPr sz="900">
                          <a:latin typeface="Montserrat"/>
                        </a:defRPr>
                      </a:pPr>
                      <a:r>
                        <a:t>Organismo Operador Municipal de Agua Potable, Alcantarillado y Saneamiento de Huatabampo</a:t>
                      </a:r>
                    </a:p>
                  </a:txBody>
                  <a:tcPr>
                    <a:solidFill>
                      <a:srgbClr val="FFFFFF"/>
                    </a:solidFill>
                  </a:tcPr>
                </a:tc>
                <a:tc>
                  <a:txBody>
                    <a:bodyPr/>
                    <a:lstStyle/>
                    <a:p>
                      <a:pPr algn="ctr">
                        <a:defRPr sz="900">
                          <a:latin typeface="Montserrat"/>
                        </a:defRPr>
                      </a:pPr>
                      <a:r>
                        <a:t>$3.87</a:t>
                      </a:r>
                    </a:p>
                  </a:txBody>
                  <a:tcP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Organismo Operador Municipal de Agua Potable, Alcantarillado y Saneamiento de Nogales</a:t>
                      </a:r>
                    </a:p>
                  </a:txBody>
                  <a:tcPr>
                    <a:solidFill>
                      <a:srgbClr val="EEEEEE"/>
                    </a:solidFill>
                  </a:tcPr>
                </a:tc>
                <a:tc>
                  <a:txBody>
                    <a:bodyPr/>
                    <a:lstStyle/>
                    <a:p>
                      <a:pPr algn="ctr">
                        <a:defRPr sz="900">
                          <a:latin typeface="Montserrat"/>
                        </a:defRPr>
                      </a:pPr>
                      <a:r>
                        <a:t>$3.20</a:t>
                      </a:r>
                    </a:p>
                  </a:txBody>
                  <a:tcP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t>Organismo Operador Municipal de Agua Potable, Alcantarillado y Saneamiento de Ciudad Obregón</a:t>
                      </a:r>
                    </a:p>
                  </a:txBody>
                  <a:tcPr>
                    <a:solidFill>
                      <a:srgbClr val="FFFFFF"/>
                    </a:solidFill>
                  </a:tcPr>
                </a:tc>
                <a:tc>
                  <a:txBody>
                    <a:bodyPr/>
                    <a:lstStyle/>
                    <a:p>
                      <a:pPr algn="ctr">
                        <a:defRPr sz="900">
                          <a:latin typeface="Montserrat"/>
                        </a:defRPr>
                      </a:pPr>
                      <a:r>
                        <a:t>$2.91</a:t>
                      </a:r>
                    </a:p>
                  </a:txBody>
                  <a:tcP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privado</a:t>
                      </a:r>
                      <a:r>
                        <a:rPr lang="es-MX" dirty="0"/>
                        <a:t>s</a:t>
                      </a:r>
                      <a:endParaRPr dirty="0"/>
                    </a:p>
                  </a:txBody>
                  <a:tcPr anchor="ctr">
                    <a:solidFill>
                      <a:srgbClr val="006455"/>
                    </a:solidFill>
                  </a:tcPr>
                </a:tc>
                <a:tc>
                  <a:txBody>
                    <a:bodyPr/>
                    <a:lstStyle/>
                    <a:p>
                      <a:pPr algn="ctr">
                        <a:defRPr sz="900">
                          <a:latin typeface="Montserrat"/>
                        </a:defRPr>
                      </a:pPr>
                      <a:r>
                        <a:t>Videxport SA DE CV</a:t>
                      </a:r>
                    </a:p>
                  </a:txBody>
                  <a:tcPr>
                    <a:solidFill>
                      <a:srgbClr val="EEEEEE"/>
                    </a:solidFill>
                  </a:tcPr>
                </a:tc>
                <a:tc>
                  <a:txBody>
                    <a:bodyPr/>
                    <a:lstStyle/>
                    <a:p>
                      <a:pPr algn="ctr">
                        <a:defRPr sz="900">
                          <a:latin typeface="Montserrat"/>
                        </a:defRPr>
                      </a:pPr>
                      <a:r>
                        <a:t>$77.32</a:t>
                      </a:r>
                    </a:p>
                  </a:txBody>
                  <a:tcP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t>Servicios Especializados de Personal Administrativo del Pitic SA de CV</a:t>
                      </a:r>
                    </a:p>
                  </a:txBody>
                  <a:tcPr>
                    <a:solidFill>
                      <a:srgbClr val="FFFFFF"/>
                    </a:solidFill>
                  </a:tcPr>
                </a:tc>
                <a:tc>
                  <a:txBody>
                    <a:bodyPr/>
                    <a:lstStyle/>
                    <a:p>
                      <a:pPr algn="ctr">
                        <a:defRPr sz="900">
                          <a:latin typeface="Montserrat"/>
                        </a:defRPr>
                      </a:pPr>
                      <a:r>
                        <a:t>$18.43</a:t>
                      </a:r>
                    </a:p>
                  </a:txBody>
                  <a:tcP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t>Viñedos Alta SAPI de CV</a:t>
                      </a:r>
                    </a:p>
                  </a:txBody>
                  <a:tcPr>
                    <a:solidFill>
                      <a:srgbClr val="EEEEEE"/>
                    </a:solidFill>
                  </a:tcPr>
                </a:tc>
                <a:tc>
                  <a:txBody>
                    <a:bodyPr/>
                    <a:lstStyle/>
                    <a:p>
                      <a:pPr algn="ctr">
                        <a:defRPr sz="900">
                          <a:latin typeface="Montserrat"/>
                        </a:defRPr>
                      </a:pPr>
                      <a:r>
                        <a:rPr dirty="0"/>
                        <a:t>$18.37</a:t>
                      </a:r>
                    </a:p>
                  </a:txBody>
                  <a:tcPr>
                    <a:solidFill>
                      <a:srgbClr val="EEEEEE"/>
                    </a:solidFill>
                  </a:tcPr>
                </a:tc>
                <a:extLst>
                  <a:ext uri="{0D108BD9-81ED-4DB2-BD59-A6C34878D82A}">
                    <a16:rowId xmlns:a16="http://schemas.microsoft.com/office/drawing/2014/main" val="10007"/>
                  </a:ext>
                </a:extLst>
              </a:tr>
            </a:tbl>
          </a:graphicData>
        </a:graphic>
      </p:graphicFrame>
      <p:sp>
        <p:nvSpPr>
          <p:cNvPr id="515" name="TextBox 514"/>
          <p:cNvSpPr txBox="1"/>
          <p:nvPr/>
        </p:nvSpPr>
        <p:spPr>
          <a:xfrm>
            <a:off x="251999" y="2350800"/>
            <a:ext cx="4316400" cy="244800"/>
          </a:xfrm>
          <a:prstGeom prst="rect">
            <a:avLst/>
          </a:prstGeom>
          <a:noFill/>
        </p:spPr>
        <p:txBody>
          <a:bodyPr wrap="square" lIns="0" tIns="0" rIns="0" bIns="0">
            <a:spAutoFit/>
          </a:bodyPr>
          <a:lstStyle/>
          <a:p>
            <a:pPr>
              <a:defRPr sz="800">
                <a:solidFill>
                  <a:srgbClr val="FFFFFF"/>
                </a:solidFill>
                <a:latin typeface="Montserrat"/>
              </a:defRPr>
            </a:pPr>
            <a:r>
              <a:rPr lang="es-MX" dirty="0">
                <a:solidFill>
                  <a:schemeClr val="tx1"/>
                </a:solidFill>
              </a:rPr>
              <a:t> Nota: se utilizó como deflactor del salario el cociente del INPC entre diciembre 2018 (103.02) y  preliminar de mayo  2026 (145.714) de 0.7069998.</a:t>
            </a:r>
            <a:endParaRPr dirty="0">
              <a:solidFill>
                <a:schemeClr val="tx1"/>
              </a:solidFill>
            </a:endParaRP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443</TotalTime>
  <Words>6563</Words>
  <Application>Microsoft Office PowerPoint</Application>
  <PresentationFormat>Personalizado</PresentationFormat>
  <Paragraphs>2584</Paragraphs>
  <Slides>32</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Montserrat</vt:lpstr>
      <vt:lpstr>Arial</vt:lpstr>
      <vt:lpstr>Noto Sans Black</vt:lpstr>
      <vt:lpstr>Calibri</vt:lpstr>
      <vt:lpstr>Noto Sans</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Laura Patricia Galvan Chavez</cp:lastModifiedBy>
  <cp:revision>117</cp:revision>
  <dcterms:modified xsi:type="dcterms:W3CDTF">2026-07-03T19:23:00Z</dcterms:modified>
</cp:coreProperties>
</file>