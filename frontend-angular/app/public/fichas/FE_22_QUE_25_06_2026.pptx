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6.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7.xml" ContentType="application/vnd.openxmlformats-officedocument.drawingml.chart+xml"/>
  <Override PartName="/ppt/charts/style1.xml" ContentType="application/vnd.ms-office.chartstyle+xml"/>
  <Override PartName="/ppt/charts/colors1.xml" ContentType="application/vnd.ms-office.chartcolorstyle+xml"/>
  <Override PartName="/ppt/charts/chart8.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9.xml" ContentType="application/vnd.openxmlformats-officedocument.drawingml.chart+xml"/>
  <Override PartName="/ppt/notesSlides/notesSlide21.xml" ContentType="application/vnd.openxmlformats-officedocument.presentationml.notesSlide+xml"/>
  <Override PartName="/ppt/charts/chart10.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303" r:id="rId3"/>
    <p:sldId id="258" r:id="rId4"/>
    <p:sldId id="259" r:id="rId5"/>
    <p:sldId id="260" r:id="rId6"/>
    <p:sldId id="261" r:id="rId7"/>
    <p:sldId id="287" r:id="rId8"/>
    <p:sldId id="262" r:id="rId9"/>
    <p:sldId id="263" r:id="rId10"/>
    <p:sldId id="280" r:id="rId11"/>
    <p:sldId id="267" r:id="rId12"/>
    <p:sldId id="298" r:id="rId13"/>
    <p:sldId id="301" r:id="rId14"/>
    <p:sldId id="281" r:id="rId15"/>
    <p:sldId id="302" r:id="rId16"/>
    <p:sldId id="288" r:id="rId17"/>
    <p:sldId id="270" r:id="rId18"/>
    <p:sldId id="271" r:id="rId19"/>
    <p:sldId id="272" r:id="rId20"/>
    <p:sldId id="300" r:id="rId21"/>
    <p:sldId id="297" r:id="rId22"/>
    <p:sldId id="284" r:id="rId23"/>
    <p:sldId id="277" r:id="rId24"/>
    <p:sldId id="278" r:id="rId25"/>
    <p:sldId id="279"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60402020202020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ección predeterminada" id="{387EAA75-3293-46ED-BD4E-698FF24301C3}">
          <p14:sldIdLst>
            <p14:sldId id="256"/>
            <p14:sldId id="303"/>
            <p14:sldId id="258"/>
            <p14:sldId id="259"/>
            <p14:sldId id="260"/>
            <p14:sldId id="261"/>
            <p14:sldId id="287"/>
            <p14:sldId id="262"/>
            <p14:sldId id="263"/>
            <p14:sldId id="280"/>
            <p14:sldId id="267"/>
            <p14:sldId id="298"/>
            <p14:sldId id="301"/>
            <p14:sldId id="281"/>
            <p14:sldId id="302"/>
            <p14:sldId id="288"/>
            <p14:sldId id="270"/>
            <p14:sldId id="271"/>
            <p14:sldId id="272"/>
            <p14:sldId id="300"/>
            <p14:sldId id="297"/>
            <p14:sldId id="284"/>
            <p14:sldId id="277"/>
            <p14:sldId id="278"/>
            <p14:sldId id="279"/>
          </p14:sldIdLst>
        </p14:section>
      </p14:sectionLst>
    </p:ex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D1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2EB95D-DD86-4347-891D-9B2C5BF20116}" v="2" dt="2026-07-03T00:08:58.020"/>
    <p1510:client id="{953B017E-07A9-4165-95A6-C6EF239A6B7D}" v="1" dt="2026-07-03T00:43:58.565"/>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0" d="100"/>
          <a:sy n="70" d="100"/>
        </p:scale>
        <p:origin x="726" y="-120"/>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7.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57"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5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ma Edith Jimenez Hernandez" userId="71858b7e-10a9-4afa-b58c-7b4a6c30cd53" providerId="ADAL" clId="{91141CC3-E5EA-4DD9-AA7B-0F0F2578B8AD}"/>
    <pc:docChg chg="modSld">
      <pc:chgData name="Norma Edith Jimenez Hernandez" userId="71858b7e-10a9-4afa-b58c-7b4a6c30cd53" providerId="ADAL" clId="{91141CC3-E5EA-4DD9-AA7B-0F0F2578B8AD}" dt="2026-06-29T18:50:43.650" v="14" actId="20577"/>
      <pc:docMkLst>
        <pc:docMk/>
      </pc:docMkLst>
      <pc:sldChg chg="modSp mod">
        <pc:chgData name="Norma Edith Jimenez Hernandez" userId="71858b7e-10a9-4afa-b58c-7b4a6c30cd53" providerId="ADAL" clId="{91141CC3-E5EA-4DD9-AA7B-0F0F2578B8AD}" dt="2026-06-29T18:50:27.717" v="4" actId="20577"/>
        <pc:sldMkLst>
          <pc:docMk/>
          <pc:sldMk cId="0" sldId="259"/>
        </pc:sldMkLst>
        <pc:spChg chg="mod">
          <ac:chgData name="Norma Edith Jimenez Hernandez" userId="71858b7e-10a9-4afa-b58c-7b4a6c30cd53" providerId="ADAL" clId="{91141CC3-E5EA-4DD9-AA7B-0F0F2578B8AD}" dt="2026-06-29T18:50:27.717" v="4" actId="20577"/>
          <ac:spMkLst>
            <pc:docMk/>
            <pc:sldMk cId="0" sldId="259"/>
            <ac:spMk id="138" creationId="{00000000-0000-0000-0000-000000000000}"/>
          </ac:spMkLst>
        </pc:spChg>
      </pc:sldChg>
      <pc:sldChg chg="modSp mod">
        <pc:chgData name="Norma Edith Jimenez Hernandez" userId="71858b7e-10a9-4afa-b58c-7b4a6c30cd53" providerId="ADAL" clId="{91141CC3-E5EA-4DD9-AA7B-0F0F2578B8AD}" dt="2026-06-29T18:50:35.916" v="9" actId="20577"/>
        <pc:sldMkLst>
          <pc:docMk/>
          <pc:sldMk cId="0" sldId="260"/>
        </pc:sldMkLst>
        <pc:spChg chg="mod">
          <ac:chgData name="Norma Edith Jimenez Hernandez" userId="71858b7e-10a9-4afa-b58c-7b4a6c30cd53" providerId="ADAL" clId="{91141CC3-E5EA-4DD9-AA7B-0F0F2578B8AD}" dt="2026-06-29T18:50:35.916" v="9" actId="20577"/>
          <ac:spMkLst>
            <pc:docMk/>
            <pc:sldMk cId="0" sldId="260"/>
            <ac:spMk id="13" creationId="{00000000-0000-0000-0000-000000000000}"/>
          </ac:spMkLst>
        </pc:spChg>
      </pc:sldChg>
      <pc:sldChg chg="modSp mod">
        <pc:chgData name="Norma Edith Jimenez Hernandez" userId="71858b7e-10a9-4afa-b58c-7b4a6c30cd53" providerId="ADAL" clId="{91141CC3-E5EA-4DD9-AA7B-0F0F2578B8AD}" dt="2026-06-29T18:50:43.650" v="14" actId="20577"/>
        <pc:sldMkLst>
          <pc:docMk/>
          <pc:sldMk cId="0" sldId="261"/>
        </pc:sldMkLst>
        <pc:spChg chg="mod">
          <ac:chgData name="Norma Edith Jimenez Hernandez" userId="71858b7e-10a9-4afa-b58c-7b4a6c30cd53" providerId="ADAL" clId="{91141CC3-E5EA-4DD9-AA7B-0F0F2578B8AD}" dt="2026-06-29T18:50:43.650" v="14" actId="20577"/>
          <ac:spMkLst>
            <pc:docMk/>
            <pc:sldMk cId="0" sldId="261"/>
            <ac:spMk id="156" creationId="{00000000-0000-0000-0000-000000000000}"/>
          </ac:spMkLst>
        </pc:spChg>
      </pc:sldChg>
    </pc:docChg>
  </pc:docChgLst>
  <pc:docChgLst>
    <pc:chgData name="Rohan Myron Oprisko" userId="a7c52ab4-f8b1-4d15-aaf6-6388cc510347" providerId="ADAL" clId="{97C26823-81C0-4343-94EC-E87AB1317939}"/>
    <pc:docChg chg="custSel modSld">
      <pc:chgData name="Rohan Myron Oprisko" userId="a7c52ab4-f8b1-4d15-aaf6-6388cc510347" providerId="ADAL" clId="{97C26823-81C0-4343-94EC-E87AB1317939}" dt="2026-06-24T15:57:51.356" v="2" actId="22"/>
      <pc:docMkLst>
        <pc:docMk/>
      </pc:docMkLst>
      <pc:sldChg chg="addSp delSp mod">
        <pc:chgData name="Rohan Myron Oprisko" userId="a7c52ab4-f8b1-4d15-aaf6-6388cc510347" providerId="ADAL" clId="{97C26823-81C0-4343-94EC-E87AB1317939}" dt="2026-06-24T15:57:51.356" v="2" actId="22"/>
        <pc:sldMkLst>
          <pc:docMk/>
          <pc:sldMk cId="748044913" sldId="287"/>
        </pc:sldMkLst>
        <pc:spChg chg="add">
          <ac:chgData name="Rohan Myron Oprisko" userId="a7c52ab4-f8b1-4d15-aaf6-6388cc510347" providerId="ADAL" clId="{97C26823-81C0-4343-94EC-E87AB1317939}" dt="2026-06-24T15:57:51.356" v="2" actId="22"/>
          <ac:spMkLst>
            <pc:docMk/>
            <pc:sldMk cId="748044913" sldId="287"/>
            <ac:spMk id="10" creationId="{4D1471DF-3C99-3D8D-BCEB-504F0C6A73F8}"/>
          </ac:spMkLst>
        </pc:spChg>
        <pc:spChg chg="add">
          <ac:chgData name="Rohan Myron Oprisko" userId="a7c52ab4-f8b1-4d15-aaf6-6388cc510347" providerId="ADAL" clId="{97C26823-81C0-4343-94EC-E87AB1317939}" dt="2026-06-24T15:57:51.356" v="2" actId="22"/>
          <ac:spMkLst>
            <pc:docMk/>
            <pc:sldMk cId="748044913" sldId="287"/>
            <ac:spMk id="12" creationId="{E5090D90-A249-6F81-BEC0-306A16650C94}"/>
          </ac:spMkLst>
        </pc:spChg>
      </pc:sldChg>
    </pc:docChg>
  </pc:docChgLst>
  <pc:docChgLst>
    <pc:chgData name="Laura Patricia Galvan Chavez" userId="S::laura.galvan@imss.gob.mx::6b13af50-ce8b-483e-8fc4-f994efaf3289" providerId="AD" clId="Web-{09326441-DE1C-1AD4-1E69-5C45A3F76191}"/>
    <pc:docChg chg="modSld">
      <pc:chgData name="Laura Patricia Galvan Chavez" userId="S::laura.galvan@imss.gob.mx::6b13af50-ce8b-483e-8fc4-f994efaf3289" providerId="AD" clId="Web-{09326441-DE1C-1AD4-1E69-5C45A3F76191}" dt="2026-06-23T20:25:13.618" v="7" actId="1076"/>
      <pc:docMkLst>
        <pc:docMk/>
      </pc:docMkLst>
      <pc:sldChg chg="modSp">
        <pc:chgData name="Laura Patricia Galvan Chavez" userId="S::laura.galvan@imss.gob.mx::6b13af50-ce8b-483e-8fc4-f994efaf3289" providerId="AD" clId="Web-{09326441-DE1C-1AD4-1E69-5C45A3F76191}" dt="2026-06-23T20:25:13.618" v="7" actId="1076"/>
        <pc:sldMkLst>
          <pc:docMk/>
          <pc:sldMk cId="0" sldId="260"/>
        </pc:sldMkLst>
        <pc:spChg chg="mod">
          <ac:chgData name="Laura Patricia Galvan Chavez" userId="S::laura.galvan@imss.gob.mx::6b13af50-ce8b-483e-8fc4-f994efaf3289" providerId="AD" clId="Web-{09326441-DE1C-1AD4-1E69-5C45A3F76191}" dt="2026-06-23T20:24:39.930" v="5" actId="20577"/>
          <ac:spMkLst>
            <pc:docMk/>
            <pc:sldMk cId="0" sldId="260"/>
            <ac:spMk id="7" creationId="{AB5EBA3F-0462-2907-42E4-8A5B10221247}"/>
          </ac:spMkLst>
        </pc:spChg>
        <pc:picChg chg="mod">
          <ac:chgData name="Laura Patricia Galvan Chavez" userId="S::laura.galvan@imss.gob.mx::6b13af50-ce8b-483e-8fc4-f994efaf3289" providerId="AD" clId="Web-{09326441-DE1C-1AD4-1E69-5C45A3F76191}" dt="2026-06-23T20:25:13.618" v="7" actId="1076"/>
          <ac:picMkLst>
            <pc:docMk/>
            <pc:sldMk cId="0" sldId="260"/>
            <ac:picMk id="6" creationId="{38EBD931-852E-790E-68B4-DD570977E59F}"/>
          </ac:picMkLst>
        </pc:picChg>
      </pc:sldChg>
    </pc:docChg>
  </pc:docChgLst>
  <pc:docChgLst>
    <pc:chgData name="Laura Patricia Galvan Chavez" userId="S::laura.galvan@imss.gob.mx::6b13af50-ce8b-483e-8fc4-f994efaf3289" providerId="AD" clId="Web-{C13AFD04-1953-A7E0-EA30-783794DCCDB7}"/>
    <pc:docChg chg="modSld">
      <pc:chgData name="Laura Patricia Galvan Chavez" userId="S::laura.galvan@imss.gob.mx::6b13af50-ce8b-483e-8fc4-f994efaf3289" providerId="AD" clId="Web-{C13AFD04-1953-A7E0-EA30-783794DCCDB7}" dt="2026-06-23T23:13:16.830" v="4" actId="1076"/>
      <pc:docMkLst>
        <pc:docMk/>
      </pc:docMkLst>
      <pc:sldChg chg="addSp delSp modSp">
        <pc:chgData name="Laura Patricia Galvan Chavez" userId="S::laura.galvan@imss.gob.mx::6b13af50-ce8b-483e-8fc4-f994efaf3289" providerId="AD" clId="Web-{C13AFD04-1953-A7E0-EA30-783794DCCDB7}" dt="2026-06-23T23:13:16.830" v="4" actId="1076"/>
        <pc:sldMkLst>
          <pc:docMk/>
          <pc:sldMk cId="364733940" sldId="284"/>
        </pc:sldMkLst>
        <pc:picChg chg="add mod">
          <ac:chgData name="Laura Patricia Galvan Chavez" userId="S::laura.galvan@imss.gob.mx::6b13af50-ce8b-483e-8fc4-f994efaf3289" providerId="AD" clId="Web-{C13AFD04-1953-A7E0-EA30-783794DCCDB7}" dt="2026-06-23T23:13:16.830" v="4" actId="1076"/>
          <ac:picMkLst>
            <pc:docMk/>
            <pc:sldMk cId="364733940" sldId="284"/>
            <ac:picMk id="4" creationId="{73F7DEE2-3725-CD39-2C69-BA5D4F2A65D5}"/>
          </ac:picMkLst>
        </pc:picChg>
      </pc:sldChg>
    </pc:docChg>
  </pc:docChgLst>
  <pc:docChgLst>
    <pc:chgData name="Laura Patricia Galvan Chavez" userId="6b13af50-ce8b-483e-8fc4-f994efaf3289" providerId="ADAL" clId="{655D084B-7DF1-4C24-9447-417D7DC498B8}"/>
    <pc:docChg chg="custSel delSld modSld modSection">
      <pc:chgData name="Laura Patricia Galvan Chavez" userId="6b13af50-ce8b-483e-8fc4-f994efaf3289" providerId="ADAL" clId="{655D084B-7DF1-4C24-9447-417D7DC498B8}" dt="2026-07-03T00:47:36.894" v="83" actId="20577"/>
      <pc:docMkLst>
        <pc:docMk/>
      </pc:docMkLst>
      <pc:sldChg chg="modSp mod">
        <pc:chgData name="Laura Patricia Galvan Chavez" userId="6b13af50-ce8b-483e-8fc4-f994efaf3289" providerId="ADAL" clId="{655D084B-7DF1-4C24-9447-417D7DC498B8}" dt="2026-07-03T00:39:37.019" v="55" actId="20577"/>
        <pc:sldMkLst>
          <pc:docMk/>
          <pc:sldMk cId="0" sldId="260"/>
        </pc:sldMkLst>
        <pc:spChg chg="mod">
          <ac:chgData name="Laura Patricia Galvan Chavez" userId="6b13af50-ce8b-483e-8fc4-f994efaf3289" providerId="ADAL" clId="{655D084B-7DF1-4C24-9447-417D7DC498B8}" dt="2026-06-26T18:34:40.813" v="0" actId="33524"/>
          <ac:spMkLst>
            <pc:docMk/>
            <pc:sldMk cId="0" sldId="260"/>
            <ac:spMk id="7" creationId="{AB5EBA3F-0462-2907-42E4-8A5B10221247}"/>
          </ac:spMkLst>
        </pc:spChg>
        <pc:graphicFrameChg chg="mod modGraphic">
          <ac:chgData name="Laura Patricia Galvan Chavez" userId="6b13af50-ce8b-483e-8fc4-f994efaf3289" providerId="ADAL" clId="{655D084B-7DF1-4C24-9447-417D7DC498B8}" dt="2026-07-03T00:39:37.019" v="55" actId="20577"/>
          <ac:graphicFrameMkLst>
            <pc:docMk/>
            <pc:sldMk cId="0" sldId="260"/>
            <ac:graphicFrameMk id="12" creationId="{00000000-0000-0000-0000-000000000000}"/>
          </ac:graphicFrameMkLst>
        </pc:graphicFrameChg>
      </pc:sldChg>
      <pc:sldChg chg="modSp mod">
        <pc:chgData name="Laura Patricia Galvan Chavez" userId="6b13af50-ce8b-483e-8fc4-f994efaf3289" providerId="ADAL" clId="{655D084B-7DF1-4C24-9447-417D7DC498B8}" dt="2026-07-03T00:40:41.406" v="57" actId="207"/>
        <pc:sldMkLst>
          <pc:docMk/>
          <pc:sldMk cId="0" sldId="261"/>
        </pc:sldMkLst>
        <pc:graphicFrameChg chg="modGraphic">
          <ac:chgData name="Laura Patricia Galvan Chavez" userId="6b13af50-ce8b-483e-8fc4-f994efaf3289" providerId="ADAL" clId="{655D084B-7DF1-4C24-9447-417D7DC498B8}" dt="2026-07-03T00:40:41.406" v="57" actId="207"/>
          <ac:graphicFrameMkLst>
            <pc:docMk/>
            <pc:sldMk cId="0" sldId="261"/>
            <ac:graphicFrameMk id="154" creationId="{00000000-0000-0000-0000-000000000000}"/>
          </ac:graphicFrameMkLst>
        </pc:graphicFrameChg>
      </pc:sldChg>
      <pc:sldChg chg="modSp mod">
        <pc:chgData name="Laura Patricia Galvan Chavez" userId="6b13af50-ce8b-483e-8fc4-f994efaf3289" providerId="ADAL" clId="{655D084B-7DF1-4C24-9447-417D7DC498B8}" dt="2026-06-29T19:05:42.811" v="8" actId="1076"/>
        <pc:sldMkLst>
          <pc:docMk/>
          <pc:sldMk cId="0" sldId="262"/>
        </pc:sldMkLst>
        <pc:spChg chg="mod">
          <ac:chgData name="Laura Patricia Galvan Chavez" userId="6b13af50-ce8b-483e-8fc4-f994efaf3289" providerId="ADAL" clId="{655D084B-7DF1-4C24-9447-417D7DC498B8}" dt="2026-06-29T19:05:42.811" v="8" actId="1076"/>
          <ac:spMkLst>
            <pc:docMk/>
            <pc:sldMk cId="0" sldId="262"/>
            <ac:spMk id="10" creationId="{00000000-0000-0000-0000-000000000000}"/>
          </ac:spMkLst>
        </pc:spChg>
        <pc:spChg chg="mod">
          <ac:chgData name="Laura Patricia Galvan Chavez" userId="6b13af50-ce8b-483e-8fc4-f994efaf3289" providerId="ADAL" clId="{655D084B-7DF1-4C24-9447-417D7DC498B8}" dt="2026-06-29T19:05:42.811" v="8" actId="1076"/>
          <ac:spMkLst>
            <pc:docMk/>
            <pc:sldMk cId="0" sldId="262"/>
            <ac:spMk id="11" creationId="{00000000-0000-0000-0000-000000000000}"/>
          </ac:spMkLst>
        </pc:spChg>
        <pc:spChg chg="mod">
          <ac:chgData name="Laura Patricia Galvan Chavez" userId="6b13af50-ce8b-483e-8fc4-f994efaf3289" providerId="ADAL" clId="{655D084B-7DF1-4C24-9447-417D7DC498B8}" dt="2026-06-29T19:05:42.811" v="8" actId="1076"/>
          <ac:spMkLst>
            <pc:docMk/>
            <pc:sldMk cId="0" sldId="262"/>
            <ac:spMk id="12" creationId="{00000000-0000-0000-0000-000000000000}"/>
          </ac:spMkLst>
        </pc:spChg>
        <pc:graphicFrameChg chg="mod">
          <ac:chgData name="Laura Patricia Galvan Chavez" userId="6b13af50-ce8b-483e-8fc4-f994efaf3289" providerId="ADAL" clId="{655D084B-7DF1-4C24-9447-417D7DC498B8}" dt="2026-06-29T19:05:42.811" v="8" actId="1076"/>
          <ac:graphicFrameMkLst>
            <pc:docMk/>
            <pc:sldMk cId="0" sldId="262"/>
            <ac:graphicFrameMk id="9" creationId="{00000000-0000-0000-0000-000000000000}"/>
          </ac:graphicFrameMkLst>
        </pc:graphicFrameChg>
      </pc:sldChg>
      <pc:sldChg chg="modSp mod">
        <pc:chgData name="Laura Patricia Galvan Chavez" userId="6b13af50-ce8b-483e-8fc4-f994efaf3289" providerId="ADAL" clId="{655D084B-7DF1-4C24-9447-417D7DC498B8}" dt="2026-06-29T19:05:56.216" v="10" actId="1076"/>
        <pc:sldMkLst>
          <pc:docMk/>
          <pc:sldMk cId="0" sldId="263"/>
        </pc:sldMkLst>
        <pc:spChg chg="mod">
          <ac:chgData name="Laura Patricia Galvan Chavez" userId="6b13af50-ce8b-483e-8fc4-f994efaf3289" providerId="ADAL" clId="{655D084B-7DF1-4C24-9447-417D7DC498B8}" dt="2026-06-29T19:05:52.215" v="9" actId="1076"/>
          <ac:spMkLst>
            <pc:docMk/>
            <pc:sldMk cId="0" sldId="263"/>
            <ac:spMk id="261" creationId="{E595643D-899B-65A9-60BB-1D7D7F88CF0F}"/>
          </ac:spMkLst>
        </pc:spChg>
        <pc:spChg chg="mod">
          <ac:chgData name="Laura Patricia Galvan Chavez" userId="6b13af50-ce8b-483e-8fc4-f994efaf3289" providerId="ADAL" clId="{655D084B-7DF1-4C24-9447-417D7DC498B8}" dt="2026-06-29T19:05:52.215" v="9" actId="1076"/>
          <ac:spMkLst>
            <pc:docMk/>
            <pc:sldMk cId="0" sldId="263"/>
            <ac:spMk id="262" creationId="{4F6E33E2-A6CF-23E3-A6CF-EC229DA0E531}"/>
          </ac:spMkLst>
        </pc:spChg>
        <pc:spChg chg="mod">
          <ac:chgData name="Laura Patricia Galvan Chavez" userId="6b13af50-ce8b-483e-8fc4-f994efaf3289" providerId="ADAL" clId="{655D084B-7DF1-4C24-9447-417D7DC498B8}" dt="2026-06-29T19:05:52.215" v="9" actId="1076"/>
          <ac:spMkLst>
            <pc:docMk/>
            <pc:sldMk cId="0" sldId="263"/>
            <ac:spMk id="269" creationId="{00000000-0000-0000-0000-000000000000}"/>
          </ac:spMkLst>
        </pc:spChg>
        <pc:spChg chg="mod">
          <ac:chgData name="Laura Patricia Galvan Chavez" userId="6b13af50-ce8b-483e-8fc4-f994efaf3289" providerId="ADAL" clId="{655D084B-7DF1-4C24-9447-417D7DC498B8}" dt="2026-06-29T19:05:56.216" v="10" actId="1076"/>
          <ac:spMkLst>
            <pc:docMk/>
            <pc:sldMk cId="0" sldId="263"/>
            <ac:spMk id="272" creationId="{00000000-0000-0000-0000-000000000000}"/>
          </ac:spMkLst>
        </pc:spChg>
        <pc:graphicFrameChg chg="mod">
          <ac:chgData name="Laura Patricia Galvan Chavez" userId="6b13af50-ce8b-483e-8fc4-f994efaf3289" providerId="ADAL" clId="{655D084B-7DF1-4C24-9447-417D7DC498B8}" dt="2026-06-29T19:05:52.215" v="9" actId="1076"/>
          <ac:graphicFrameMkLst>
            <pc:docMk/>
            <pc:sldMk cId="0" sldId="263"/>
            <ac:graphicFrameMk id="271" creationId="{00000000-0000-0000-0000-000000000000}"/>
          </ac:graphicFrameMkLst>
        </pc:graphicFrameChg>
      </pc:sldChg>
      <pc:sldChg chg="modSp mod">
        <pc:chgData name="Laura Patricia Galvan Chavez" userId="6b13af50-ce8b-483e-8fc4-f994efaf3289" providerId="ADAL" clId="{655D084B-7DF1-4C24-9447-417D7DC498B8}" dt="2026-06-29T19:06:26.617" v="13" actId="1076"/>
        <pc:sldMkLst>
          <pc:docMk/>
          <pc:sldMk cId="0" sldId="267"/>
        </pc:sldMkLst>
        <pc:spChg chg="mod">
          <ac:chgData name="Laura Patricia Galvan Chavez" userId="6b13af50-ce8b-483e-8fc4-f994efaf3289" providerId="ADAL" clId="{655D084B-7DF1-4C24-9447-417D7DC498B8}" dt="2026-06-29T19:06:26.617" v="13" actId="1076"/>
          <ac:spMkLst>
            <pc:docMk/>
            <pc:sldMk cId="0" sldId="267"/>
            <ac:spMk id="235" creationId="{00000000-0000-0000-0000-000000000000}"/>
          </ac:spMkLst>
        </pc:spChg>
        <pc:spChg chg="mod">
          <ac:chgData name="Laura Patricia Galvan Chavez" userId="6b13af50-ce8b-483e-8fc4-f994efaf3289" providerId="ADAL" clId="{655D084B-7DF1-4C24-9447-417D7DC498B8}" dt="2026-06-29T19:06:26.617" v="13" actId="1076"/>
          <ac:spMkLst>
            <pc:docMk/>
            <pc:sldMk cId="0" sldId="267"/>
            <ac:spMk id="236" creationId="{00000000-0000-0000-0000-000000000000}"/>
          </ac:spMkLst>
        </pc:spChg>
        <pc:spChg chg="mod">
          <ac:chgData name="Laura Patricia Galvan Chavez" userId="6b13af50-ce8b-483e-8fc4-f994efaf3289" providerId="ADAL" clId="{655D084B-7DF1-4C24-9447-417D7DC498B8}" dt="2026-06-29T19:06:26.617" v="13" actId="1076"/>
          <ac:spMkLst>
            <pc:docMk/>
            <pc:sldMk cId="0" sldId="267"/>
            <ac:spMk id="237" creationId="{00000000-0000-0000-0000-000000000000}"/>
          </ac:spMkLst>
        </pc:spChg>
        <pc:graphicFrameChg chg="mod">
          <ac:chgData name="Laura Patricia Galvan Chavez" userId="6b13af50-ce8b-483e-8fc4-f994efaf3289" providerId="ADAL" clId="{655D084B-7DF1-4C24-9447-417D7DC498B8}" dt="2026-06-29T19:06:26.617" v="13" actId="1076"/>
          <ac:graphicFrameMkLst>
            <pc:docMk/>
            <pc:sldMk cId="0" sldId="267"/>
            <ac:graphicFrameMk id="234" creationId="{00000000-0000-0000-0000-000000000000}"/>
          </ac:graphicFrameMkLst>
        </pc:graphicFrameChg>
      </pc:sldChg>
      <pc:sldChg chg="modSp mod">
        <pc:chgData name="Laura Patricia Galvan Chavez" userId="6b13af50-ce8b-483e-8fc4-f994efaf3289" providerId="ADAL" clId="{655D084B-7DF1-4C24-9447-417D7DC498B8}" dt="2026-07-03T00:44:38.930" v="67" actId="20577"/>
        <pc:sldMkLst>
          <pc:docMk/>
          <pc:sldMk cId="0" sldId="270"/>
        </pc:sldMkLst>
        <pc:spChg chg="mod">
          <ac:chgData name="Laura Patricia Galvan Chavez" userId="6b13af50-ce8b-483e-8fc4-f994efaf3289" providerId="ADAL" clId="{655D084B-7DF1-4C24-9447-417D7DC498B8}" dt="2026-07-03T00:44:38.930" v="67" actId="20577"/>
          <ac:spMkLst>
            <pc:docMk/>
            <pc:sldMk cId="0" sldId="270"/>
            <ac:spMk id="297" creationId="{00000000-0000-0000-0000-000000000000}"/>
          </ac:spMkLst>
        </pc:spChg>
      </pc:sldChg>
      <pc:sldChg chg="modSp">
        <pc:chgData name="Laura Patricia Galvan Chavez" userId="6b13af50-ce8b-483e-8fc4-f994efaf3289" providerId="ADAL" clId="{655D084B-7DF1-4C24-9447-417D7DC498B8}" dt="2026-07-03T00:43:58.565" v="58"/>
        <pc:sldMkLst>
          <pc:docMk/>
          <pc:sldMk cId="0" sldId="272"/>
        </pc:sldMkLst>
        <pc:graphicFrameChg chg="mod">
          <ac:chgData name="Laura Patricia Galvan Chavez" userId="6b13af50-ce8b-483e-8fc4-f994efaf3289" providerId="ADAL" clId="{655D084B-7DF1-4C24-9447-417D7DC498B8}" dt="2026-07-03T00:43:58.565" v="58"/>
          <ac:graphicFrameMkLst>
            <pc:docMk/>
            <pc:sldMk cId="0" sldId="272"/>
            <ac:graphicFrameMk id="12" creationId="{BD2080F9-6146-ED11-8622-4B600EF13244}"/>
          </ac:graphicFrameMkLst>
        </pc:graphicFrameChg>
      </pc:sldChg>
      <pc:sldChg chg="modSp mod">
        <pc:chgData name="Laura Patricia Galvan Chavez" userId="6b13af50-ce8b-483e-8fc4-f994efaf3289" providerId="ADAL" clId="{655D084B-7DF1-4C24-9447-417D7DC498B8}" dt="2026-06-29T19:08:01.331" v="47" actId="20577"/>
        <pc:sldMkLst>
          <pc:docMk/>
          <pc:sldMk cId="0" sldId="279"/>
        </pc:sldMkLst>
        <pc:graphicFrameChg chg="modGraphic">
          <ac:chgData name="Laura Patricia Galvan Chavez" userId="6b13af50-ce8b-483e-8fc4-f994efaf3289" providerId="ADAL" clId="{655D084B-7DF1-4C24-9447-417D7DC498B8}" dt="2026-06-29T19:08:01.331" v="47" actId="20577"/>
          <ac:graphicFrameMkLst>
            <pc:docMk/>
            <pc:sldMk cId="0" sldId="279"/>
            <ac:graphicFrameMk id="514" creationId="{00000000-0000-0000-0000-000000000000}"/>
          </ac:graphicFrameMkLst>
        </pc:graphicFrameChg>
      </pc:sldChg>
      <pc:sldChg chg="delSp modSp mod">
        <pc:chgData name="Laura Patricia Galvan Chavez" userId="6b13af50-ce8b-483e-8fc4-f994efaf3289" providerId="ADAL" clId="{655D084B-7DF1-4C24-9447-417D7DC498B8}" dt="2026-06-29T19:06:16.912" v="12" actId="1076"/>
        <pc:sldMkLst>
          <pc:docMk/>
          <pc:sldMk cId="540716406" sldId="280"/>
        </pc:sldMkLst>
        <pc:spChg chg="mod">
          <ac:chgData name="Laura Patricia Galvan Chavez" userId="6b13af50-ce8b-483e-8fc4-f994efaf3289" providerId="ADAL" clId="{655D084B-7DF1-4C24-9447-417D7DC498B8}" dt="2026-06-29T19:06:16.912" v="12" actId="1076"/>
          <ac:spMkLst>
            <pc:docMk/>
            <pc:sldMk cId="540716406" sldId="280"/>
            <ac:spMk id="238" creationId="{00000000-0000-0000-0000-000000000000}"/>
          </ac:spMkLst>
        </pc:spChg>
        <pc:spChg chg="mod">
          <ac:chgData name="Laura Patricia Galvan Chavez" userId="6b13af50-ce8b-483e-8fc4-f994efaf3289" providerId="ADAL" clId="{655D084B-7DF1-4C24-9447-417D7DC498B8}" dt="2026-06-29T19:06:16.912" v="12" actId="1076"/>
          <ac:spMkLst>
            <pc:docMk/>
            <pc:sldMk cId="540716406" sldId="280"/>
            <ac:spMk id="239" creationId="{00000000-0000-0000-0000-000000000000}"/>
          </ac:spMkLst>
        </pc:spChg>
        <pc:spChg chg="mod">
          <ac:chgData name="Laura Patricia Galvan Chavez" userId="6b13af50-ce8b-483e-8fc4-f994efaf3289" providerId="ADAL" clId="{655D084B-7DF1-4C24-9447-417D7DC498B8}" dt="2026-06-29T19:06:16.912" v="12" actId="1076"/>
          <ac:spMkLst>
            <pc:docMk/>
            <pc:sldMk cId="540716406" sldId="280"/>
            <ac:spMk id="240" creationId="{00000000-0000-0000-0000-000000000000}"/>
          </ac:spMkLst>
        </pc:spChg>
        <pc:graphicFrameChg chg="mod">
          <ac:chgData name="Laura Patricia Galvan Chavez" userId="6b13af50-ce8b-483e-8fc4-f994efaf3289" providerId="ADAL" clId="{655D084B-7DF1-4C24-9447-417D7DC498B8}" dt="2026-06-29T19:06:16.912" v="12" actId="1076"/>
          <ac:graphicFrameMkLst>
            <pc:docMk/>
            <pc:sldMk cId="540716406" sldId="280"/>
            <ac:graphicFrameMk id="237" creationId="{00000000-0000-0000-0000-000000000000}"/>
          </ac:graphicFrameMkLst>
        </pc:graphicFrameChg>
      </pc:sldChg>
      <pc:sldChg chg="modSp mod">
        <pc:chgData name="Laura Patricia Galvan Chavez" userId="6b13af50-ce8b-483e-8fc4-f994efaf3289" providerId="ADAL" clId="{655D084B-7DF1-4C24-9447-417D7DC498B8}" dt="2026-06-29T19:06:43.012" v="22" actId="20577"/>
        <pc:sldMkLst>
          <pc:docMk/>
          <pc:sldMk cId="3828482411" sldId="281"/>
        </pc:sldMkLst>
        <pc:spChg chg="mod">
          <ac:chgData name="Laura Patricia Galvan Chavez" userId="6b13af50-ce8b-483e-8fc4-f994efaf3289" providerId="ADAL" clId="{655D084B-7DF1-4C24-9447-417D7DC498B8}" dt="2026-06-29T19:06:43.012" v="22" actId="20577"/>
          <ac:spMkLst>
            <pc:docMk/>
            <pc:sldMk cId="3828482411" sldId="281"/>
            <ac:spMk id="3" creationId="{00000000-0000-0000-0000-000000000000}"/>
          </ac:spMkLst>
        </pc:spChg>
      </pc:sldChg>
      <pc:sldChg chg="addSp modSp mod">
        <pc:chgData name="Laura Patricia Galvan Chavez" userId="6b13af50-ce8b-483e-8fc4-f994efaf3289" providerId="ADAL" clId="{655D084B-7DF1-4C24-9447-417D7DC498B8}" dt="2026-07-03T00:47:36.894" v="83" actId="20577"/>
        <pc:sldMkLst>
          <pc:docMk/>
          <pc:sldMk cId="364733940" sldId="284"/>
        </pc:sldMkLst>
        <pc:spChg chg="mod">
          <ac:chgData name="Laura Patricia Galvan Chavez" userId="6b13af50-ce8b-483e-8fc4-f994efaf3289" providerId="ADAL" clId="{655D084B-7DF1-4C24-9447-417D7DC498B8}" dt="2026-07-03T00:47:36.894" v="83" actId="20577"/>
          <ac:spMkLst>
            <pc:docMk/>
            <pc:sldMk cId="364733940" sldId="284"/>
            <ac:spMk id="12" creationId="{00000000-0000-0000-0000-000000000000}"/>
          </ac:spMkLst>
        </pc:spChg>
        <pc:spChg chg="add mod">
          <ac:chgData name="Laura Patricia Galvan Chavez" userId="6b13af50-ce8b-483e-8fc4-f994efaf3289" providerId="ADAL" clId="{655D084B-7DF1-4C24-9447-417D7DC498B8}" dt="2026-06-26T18:37:09.716" v="4" actId="1076"/>
          <ac:spMkLst>
            <pc:docMk/>
            <pc:sldMk cId="364733940" sldId="284"/>
            <ac:spMk id="13" creationId="{1F02FAD3-EEB8-D853-75B6-A382B5D85213}"/>
          </ac:spMkLst>
        </pc:spChg>
        <pc:spChg chg="add mod">
          <ac:chgData name="Laura Patricia Galvan Chavez" userId="6b13af50-ce8b-483e-8fc4-f994efaf3289" providerId="ADAL" clId="{655D084B-7DF1-4C24-9447-417D7DC498B8}" dt="2026-06-26T18:37:09.716" v="4" actId="1076"/>
          <ac:spMkLst>
            <pc:docMk/>
            <pc:sldMk cId="364733940" sldId="284"/>
            <ac:spMk id="14" creationId="{7E9DFDEE-1889-72CF-AED6-63336A981610}"/>
          </ac:spMkLst>
        </pc:spChg>
        <pc:spChg chg="add mod">
          <ac:chgData name="Laura Patricia Galvan Chavez" userId="6b13af50-ce8b-483e-8fc4-f994efaf3289" providerId="ADAL" clId="{655D084B-7DF1-4C24-9447-417D7DC498B8}" dt="2026-06-26T18:37:09.716" v="4" actId="1076"/>
          <ac:spMkLst>
            <pc:docMk/>
            <pc:sldMk cId="364733940" sldId="284"/>
            <ac:spMk id="15" creationId="{89D3263B-DB3F-CC07-7A95-2C85D0AB0828}"/>
          </ac:spMkLst>
        </pc:spChg>
        <pc:spChg chg="add mod">
          <ac:chgData name="Laura Patricia Galvan Chavez" userId="6b13af50-ce8b-483e-8fc4-f994efaf3289" providerId="ADAL" clId="{655D084B-7DF1-4C24-9447-417D7DC498B8}" dt="2026-06-26T18:37:09.716" v="4" actId="1076"/>
          <ac:spMkLst>
            <pc:docMk/>
            <pc:sldMk cId="364733940" sldId="284"/>
            <ac:spMk id="16" creationId="{E266BF10-E31B-B360-20C2-35BDCED01AA1}"/>
          </ac:spMkLst>
        </pc:spChg>
        <pc:spChg chg="add mod">
          <ac:chgData name="Laura Patricia Galvan Chavez" userId="6b13af50-ce8b-483e-8fc4-f994efaf3289" providerId="ADAL" clId="{655D084B-7DF1-4C24-9447-417D7DC498B8}" dt="2026-06-26T18:37:09.716" v="4" actId="1076"/>
          <ac:spMkLst>
            <pc:docMk/>
            <pc:sldMk cId="364733940" sldId="284"/>
            <ac:spMk id="17" creationId="{B9D7D377-C730-D2BD-CA1D-4D41290C708F}"/>
          </ac:spMkLst>
        </pc:spChg>
        <pc:spChg chg="add mod">
          <ac:chgData name="Laura Patricia Galvan Chavez" userId="6b13af50-ce8b-483e-8fc4-f994efaf3289" providerId="ADAL" clId="{655D084B-7DF1-4C24-9447-417D7DC498B8}" dt="2026-06-26T18:37:09.716" v="4" actId="1076"/>
          <ac:spMkLst>
            <pc:docMk/>
            <pc:sldMk cId="364733940" sldId="284"/>
            <ac:spMk id="19" creationId="{07F0B217-C760-57B9-ADF5-347FA07EB6E0}"/>
          </ac:spMkLst>
        </pc:spChg>
        <pc:spChg chg="add mod">
          <ac:chgData name="Laura Patricia Galvan Chavez" userId="6b13af50-ce8b-483e-8fc4-f994efaf3289" providerId="ADAL" clId="{655D084B-7DF1-4C24-9447-417D7DC498B8}" dt="2026-06-26T18:37:09.716" v="4" actId="1076"/>
          <ac:spMkLst>
            <pc:docMk/>
            <pc:sldMk cId="364733940" sldId="284"/>
            <ac:spMk id="20" creationId="{A7328DD2-9F9D-DA34-66A9-D11122093CA8}"/>
          </ac:spMkLst>
        </pc:spChg>
        <pc:spChg chg="add mod">
          <ac:chgData name="Laura Patricia Galvan Chavez" userId="6b13af50-ce8b-483e-8fc4-f994efaf3289" providerId="ADAL" clId="{655D084B-7DF1-4C24-9447-417D7DC498B8}" dt="2026-06-26T18:37:27.306" v="5"/>
          <ac:spMkLst>
            <pc:docMk/>
            <pc:sldMk cId="364733940" sldId="284"/>
            <ac:spMk id="21" creationId="{8D6CD32D-5218-3CE4-2C58-1B8BCD3C6BED}"/>
          </ac:spMkLst>
        </pc:spChg>
        <pc:graphicFrameChg chg="add mod">
          <ac:chgData name="Laura Patricia Galvan Chavez" userId="6b13af50-ce8b-483e-8fc4-f994efaf3289" providerId="ADAL" clId="{655D084B-7DF1-4C24-9447-417D7DC498B8}" dt="2026-06-26T18:37:09.716" v="4" actId="1076"/>
          <ac:graphicFrameMkLst>
            <pc:docMk/>
            <pc:sldMk cId="364733940" sldId="284"/>
            <ac:graphicFrameMk id="6" creationId="{46CFD36A-F3BC-D1C8-61F0-E522B9483E59}"/>
          </ac:graphicFrameMkLst>
        </pc:graphicFrameChg>
        <pc:graphicFrameChg chg="mod">
          <ac:chgData name="Laura Patricia Galvan Chavez" userId="6b13af50-ce8b-483e-8fc4-f994efaf3289" providerId="ADAL" clId="{655D084B-7DF1-4C24-9447-417D7DC498B8}" dt="2026-06-26T18:36:50.309" v="2" actId="1076"/>
          <ac:graphicFrameMkLst>
            <pc:docMk/>
            <pc:sldMk cId="364733940" sldId="284"/>
            <ac:graphicFrameMk id="11" creationId="{00000000-0000-0000-0000-000000000000}"/>
          </ac:graphicFrameMkLst>
        </pc:graphicFrameChg>
        <pc:graphicFrameChg chg="add mod">
          <ac:chgData name="Laura Patricia Galvan Chavez" userId="6b13af50-ce8b-483e-8fc4-f994efaf3289" providerId="ADAL" clId="{655D084B-7DF1-4C24-9447-417D7DC498B8}" dt="2026-06-26T18:37:09.716" v="4" actId="1076"/>
          <ac:graphicFrameMkLst>
            <pc:docMk/>
            <pc:sldMk cId="364733940" sldId="284"/>
            <ac:graphicFrameMk id="18" creationId="{B413955C-5A2F-9E20-BC9E-3714CADB48C2}"/>
          </ac:graphicFrameMkLst>
        </pc:graphicFrameChg>
        <pc:picChg chg="add mod">
          <ac:chgData name="Laura Patricia Galvan Chavez" userId="6b13af50-ce8b-483e-8fc4-f994efaf3289" providerId="ADAL" clId="{655D084B-7DF1-4C24-9447-417D7DC498B8}" dt="2026-06-26T18:37:09.716" v="4" actId="1076"/>
          <ac:picMkLst>
            <pc:docMk/>
            <pc:sldMk cId="364733940" sldId="284"/>
            <ac:picMk id="3" creationId="{87F29DEE-D8B9-5569-E7D5-E226B96D9A54}"/>
          </ac:picMkLst>
        </pc:picChg>
      </pc:sldChg>
      <pc:sldChg chg="modSp mod">
        <pc:chgData name="Laura Patricia Galvan Chavez" userId="6b13af50-ce8b-483e-8fc4-f994efaf3289" providerId="ADAL" clId="{655D084B-7DF1-4C24-9447-417D7DC498B8}" dt="2026-06-29T19:07:18.160" v="37" actId="1076"/>
        <pc:sldMkLst>
          <pc:docMk/>
          <pc:sldMk cId="3805655920" sldId="288"/>
        </pc:sldMkLst>
        <pc:spChg chg="mod">
          <ac:chgData name="Laura Patricia Galvan Chavez" userId="6b13af50-ce8b-483e-8fc4-f994efaf3289" providerId="ADAL" clId="{655D084B-7DF1-4C24-9447-417D7DC498B8}" dt="2026-06-29T19:07:18.160" v="37" actId="1076"/>
          <ac:spMkLst>
            <pc:docMk/>
            <pc:sldMk cId="3805655920" sldId="288"/>
            <ac:spMk id="4" creationId="{00000000-0000-0000-0000-000000000000}"/>
          </ac:spMkLst>
        </pc:spChg>
      </pc:sldChg>
      <pc:sldChg chg="modSp mod">
        <pc:chgData name="Laura Patricia Galvan Chavez" userId="6b13af50-ce8b-483e-8fc4-f994efaf3289" providerId="ADAL" clId="{655D084B-7DF1-4C24-9447-417D7DC498B8}" dt="2026-07-03T00:45:48.749" v="73" actId="1076"/>
        <pc:sldMkLst>
          <pc:docMk/>
          <pc:sldMk cId="4056737297" sldId="300"/>
        </pc:sldMkLst>
        <pc:spChg chg="mod">
          <ac:chgData name="Laura Patricia Galvan Chavez" userId="6b13af50-ce8b-483e-8fc4-f994efaf3289" providerId="ADAL" clId="{655D084B-7DF1-4C24-9447-417D7DC498B8}" dt="2026-07-03T00:45:48.749" v="73" actId="1076"/>
          <ac:spMkLst>
            <pc:docMk/>
            <pc:sldMk cId="4056737297" sldId="300"/>
            <ac:spMk id="3" creationId="{00000000-0000-0000-0000-000000000000}"/>
          </ac:spMkLst>
        </pc:spChg>
        <pc:spChg chg="mod">
          <ac:chgData name="Laura Patricia Galvan Chavez" userId="6b13af50-ce8b-483e-8fc4-f994efaf3289" providerId="ADAL" clId="{655D084B-7DF1-4C24-9447-417D7DC498B8}" dt="2026-07-03T00:45:42.577" v="72" actId="1076"/>
          <ac:spMkLst>
            <pc:docMk/>
            <pc:sldMk cId="4056737297" sldId="300"/>
            <ac:spMk id="4" creationId="{00000000-0000-0000-0000-000000000000}"/>
          </ac:spMkLst>
        </pc:spChg>
        <pc:spChg chg="mod">
          <ac:chgData name="Laura Patricia Galvan Chavez" userId="6b13af50-ce8b-483e-8fc4-f994efaf3289" providerId="ADAL" clId="{655D084B-7DF1-4C24-9447-417D7DC498B8}" dt="2026-07-03T00:45:20.900" v="68" actId="1076"/>
          <ac:spMkLst>
            <pc:docMk/>
            <pc:sldMk cId="4056737297" sldId="300"/>
            <ac:spMk id="7" creationId="{00000000-0000-0000-0000-000000000000}"/>
          </ac:spMkLst>
        </pc:spChg>
        <pc:graphicFrameChg chg="mod">
          <ac:chgData name="Laura Patricia Galvan Chavez" userId="6b13af50-ce8b-483e-8fc4-f994efaf3289" providerId="ADAL" clId="{655D084B-7DF1-4C24-9447-417D7DC498B8}" dt="2026-07-03T00:45:20.900" v="68" actId="1076"/>
          <ac:graphicFrameMkLst>
            <pc:docMk/>
            <pc:sldMk cId="4056737297" sldId="300"/>
            <ac:graphicFrameMk id="9" creationId="{00000000-0000-0000-0000-000000000000}"/>
          </ac:graphicFrameMkLst>
        </pc:graphicFrameChg>
        <pc:graphicFrameChg chg="mod">
          <ac:chgData name="Laura Patricia Galvan Chavez" userId="6b13af50-ce8b-483e-8fc4-f994efaf3289" providerId="ADAL" clId="{655D084B-7DF1-4C24-9447-417D7DC498B8}" dt="2026-07-03T00:45:31.686" v="69" actId="1076"/>
          <ac:graphicFrameMkLst>
            <pc:docMk/>
            <pc:sldMk cId="4056737297" sldId="300"/>
            <ac:graphicFrameMk id="11" creationId="{850B1015-DF5F-141B-5B50-4745E5EADA55}"/>
          </ac:graphicFrameMkLst>
        </pc:graphicFrameChg>
        <pc:cxnChg chg="mod">
          <ac:chgData name="Laura Patricia Galvan Chavez" userId="6b13af50-ce8b-483e-8fc4-f994efaf3289" providerId="ADAL" clId="{655D084B-7DF1-4C24-9447-417D7DC498B8}" dt="2026-07-03T00:45:37.686" v="70" actId="1076"/>
          <ac:cxnSpMkLst>
            <pc:docMk/>
            <pc:sldMk cId="4056737297" sldId="300"/>
            <ac:cxnSpMk id="5" creationId="{00000000-0000-0000-0000-000000000000}"/>
          </ac:cxnSpMkLst>
        </pc:cxnChg>
        <pc:cxnChg chg="mod">
          <ac:chgData name="Laura Patricia Galvan Chavez" userId="6b13af50-ce8b-483e-8fc4-f994efaf3289" providerId="ADAL" clId="{655D084B-7DF1-4C24-9447-417D7DC498B8}" dt="2026-07-03T00:45:20.900" v="68" actId="1076"/>
          <ac:cxnSpMkLst>
            <pc:docMk/>
            <pc:sldMk cId="4056737297" sldId="300"/>
            <ac:cxnSpMk id="8" creationId="{00000000-0000-0000-0000-000000000000}"/>
          </ac:cxnSpMkLst>
        </pc:cxnChg>
      </pc:sldChg>
      <pc:sldChg chg="modSp mod">
        <pc:chgData name="Laura Patricia Galvan Chavez" userId="6b13af50-ce8b-483e-8fc4-f994efaf3289" providerId="ADAL" clId="{655D084B-7DF1-4C24-9447-417D7DC498B8}" dt="2026-06-29T19:06:55.372" v="34" actId="20577"/>
        <pc:sldMkLst>
          <pc:docMk/>
          <pc:sldMk cId="0" sldId="302"/>
        </pc:sldMkLst>
        <pc:spChg chg="mod">
          <ac:chgData name="Laura Patricia Galvan Chavez" userId="6b13af50-ce8b-483e-8fc4-f994efaf3289" providerId="ADAL" clId="{655D084B-7DF1-4C24-9447-417D7DC498B8}" dt="2026-06-29T19:06:55.372" v="34" actId="20577"/>
          <ac:spMkLst>
            <pc:docMk/>
            <pc:sldMk cId="0" sldId="302"/>
            <ac:spMk id="3" creationId="{00000000-0000-0000-0000-000000000000}"/>
          </ac:spMkLst>
        </pc:spChg>
      </pc:sldChg>
    </pc:docChg>
  </pc:docChgLst>
  <pc:docChgLst>
    <pc:chgData name="Diana Lizbeth Tetzicatl Navarro" userId="107c7f69-3e79-4791-b4e3-6f668d949ed0" providerId="ADAL" clId="{110A36E0-6EE1-4B4C-B27B-C66899872E81}"/>
    <pc:docChg chg="undo custSel addSld delSld modSld modSection">
      <pc:chgData name="Diana Lizbeth Tetzicatl Navarro" userId="107c7f69-3e79-4791-b4e3-6f668d949ed0" providerId="ADAL" clId="{110A36E0-6EE1-4B4C-B27B-C66899872E81}" dt="2026-07-03T00:09:24.002" v="1669" actId="1035"/>
      <pc:docMkLst>
        <pc:docMk/>
      </pc:docMkLst>
      <pc:sldChg chg="modSp mod">
        <pc:chgData name="Diana Lizbeth Tetzicatl Navarro" userId="107c7f69-3e79-4791-b4e3-6f668d949ed0" providerId="ADAL" clId="{110A36E0-6EE1-4B4C-B27B-C66899872E81}" dt="2026-06-25T22:33:52.858" v="5" actId="20577"/>
        <pc:sldMkLst>
          <pc:docMk/>
          <pc:sldMk cId="0" sldId="256"/>
        </pc:sldMkLst>
        <pc:spChg chg="mod">
          <ac:chgData name="Diana Lizbeth Tetzicatl Navarro" userId="107c7f69-3e79-4791-b4e3-6f668d949ed0" providerId="ADAL" clId="{110A36E0-6EE1-4B4C-B27B-C66899872E81}" dt="2026-06-25T22:33:52.858" v="5" actId="20577"/>
          <ac:spMkLst>
            <pc:docMk/>
            <pc:sldMk cId="0" sldId="256"/>
            <ac:spMk id="70" creationId="{00000000-0000-0000-0000-000000000000}"/>
          </ac:spMkLst>
        </pc:spChg>
      </pc:sldChg>
      <pc:sldChg chg="modSp mod">
        <pc:chgData name="Diana Lizbeth Tetzicatl Navarro" userId="107c7f69-3e79-4791-b4e3-6f668d949ed0" providerId="ADAL" clId="{110A36E0-6EE1-4B4C-B27B-C66899872E81}" dt="2026-06-25T22:36:24.454" v="201" actId="1076"/>
        <pc:sldMkLst>
          <pc:docMk/>
          <pc:sldMk cId="0" sldId="258"/>
        </pc:sldMkLst>
        <pc:spChg chg="mod">
          <ac:chgData name="Diana Lizbeth Tetzicatl Navarro" userId="107c7f69-3e79-4791-b4e3-6f668d949ed0" providerId="ADAL" clId="{110A36E0-6EE1-4B4C-B27B-C66899872E81}" dt="2026-06-25T22:36:24.454" v="201" actId="1076"/>
          <ac:spMkLst>
            <pc:docMk/>
            <pc:sldMk cId="0" sldId="258"/>
            <ac:spMk id="116" creationId="{00000000-0000-0000-0000-000000000000}"/>
          </ac:spMkLst>
        </pc:spChg>
        <pc:spChg chg="mod">
          <ac:chgData name="Diana Lizbeth Tetzicatl Navarro" userId="107c7f69-3e79-4791-b4e3-6f668d949ed0" providerId="ADAL" clId="{110A36E0-6EE1-4B4C-B27B-C66899872E81}" dt="2026-06-25T22:35:32.081" v="142" actId="1036"/>
          <ac:spMkLst>
            <pc:docMk/>
            <pc:sldMk cId="0" sldId="258"/>
            <ac:spMk id="118" creationId="{00000000-0000-0000-0000-000000000000}"/>
          </ac:spMkLst>
        </pc:spChg>
        <pc:spChg chg="mod">
          <ac:chgData name="Diana Lizbeth Tetzicatl Navarro" userId="107c7f69-3e79-4791-b4e3-6f668d949ed0" providerId="ADAL" clId="{110A36E0-6EE1-4B4C-B27B-C66899872E81}" dt="2026-06-25T22:35:32.081" v="142" actId="1036"/>
          <ac:spMkLst>
            <pc:docMk/>
            <pc:sldMk cId="0" sldId="258"/>
            <ac:spMk id="120" creationId="{00000000-0000-0000-0000-000000000000}"/>
          </ac:spMkLst>
        </pc:spChg>
        <pc:spChg chg="mod">
          <ac:chgData name="Diana Lizbeth Tetzicatl Navarro" userId="107c7f69-3e79-4791-b4e3-6f668d949ed0" providerId="ADAL" clId="{110A36E0-6EE1-4B4C-B27B-C66899872E81}" dt="2026-06-25T22:36:21.707" v="200" actId="1038"/>
          <ac:spMkLst>
            <pc:docMk/>
            <pc:sldMk cId="0" sldId="258"/>
            <ac:spMk id="121" creationId="{00000000-0000-0000-0000-000000000000}"/>
          </ac:spMkLst>
        </pc:spChg>
        <pc:spChg chg="mod">
          <ac:chgData name="Diana Lizbeth Tetzicatl Navarro" userId="107c7f69-3e79-4791-b4e3-6f668d949ed0" providerId="ADAL" clId="{110A36E0-6EE1-4B4C-B27B-C66899872E81}" dt="2026-06-25T22:36:10.084" v="167" actId="1076"/>
          <ac:spMkLst>
            <pc:docMk/>
            <pc:sldMk cId="0" sldId="258"/>
            <ac:spMk id="123" creationId="{00000000-0000-0000-0000-000000000000}"/>
          </ac:spMkLst>
        </pc:spChg>
        <pc:spChg chg="mod">
          <ac:chgData name="Diana Lizbeth Tetzicatl Navarro" userId="107c7f69-3e79-4791-b4e3-6f668d949ed0" providerId="ADAL" clId="{110A36E0-6EE1-4B4C-B27B-C66899872E81}" dt="2026-06-25T22:36:07.764" v="166" actId="1076"/>
          <ac:spMkLst>
            <pc:docMk/>
            <pc:sldMk cId="0" sldId="258"/>
            <ac:spMk id="124" creationId="{00000000-0000-0000-0000-000000000000}"/>
          </ac:spMkLst>
        </pc:spChg>
        <pc:spChg chg="mod">
          <ac:chgData name="Diana Lizbeth Tetzicatl Navarro" userId="107c7f69-3e79-4791-b4e3-6f668d949ed0" providerId="ADAL" clId="{110A36E0-6EE1-4B4C-B27B-C66899872E81}" dt="2026-06-25T22:36:00.998" v="164" actId="1076"/>
          <ac:spMkLst>
            <pc:docMk/>
            <pc:sldMk cId="0" sldId="258"/>
            <ac:spMk id="126" creationId="{00000000-0000-0000-0000-000000000000}"/>
          </ac:spMkLst>
        </pc:spChg>
        <pc:spChg chg="mod">
          <ac:chgData name="Diana Lizbeth Tetzicatl Navarro" userId="107c7f69-3e79-4791-b4e3-6f668d949ed0" providerId="ADAL" clId="{110A36E0-6EE1-4B4C-B27B-C66899872E81}" dt="2026-06-25T22:35:51.136" v="162" actId="1076"/>
          <ac:spMkLst>
            <pc:docMk/>
            <pc:sldMk cId="0" sldId="258"/>
            <ac:spMk id="127" creationId="{00000000-0000-0000-0000-000000000000}"/>
          </ac:spMkLst>
        </pc:spChg>
        <pc:spChg chg="mod">
          <ac:chgData name="Diana Lizbeth Tetzicatl Navarro" userId="107c7f69-3e79-4791-b4e3-6f668d949ed0" providerId="ADAL" clId="{110A36E0-6EE1-4B4C-B27B-C66899872E81}" dt="2026-06-25T22:35:40.428" v="144" actId="1076"/>
          <ac:spMkLst>
            <pc:docMk/>
            <pc:sldMk cId="0" sldId="258"/>
            <ac:spMk id="129" creationId="{00000000-0000-0000-0000-000000000000}"/>
          </ac:spMkLst>
        </pc:spChg>
        <pc:spChg chg="mod">
          <ac:chgData name="Diana Lizbeth Tetzicatl Navarro" userId="107c7f69-3e79-4791-b4e3-6f668d949ed0" providerId="ADAL" clId="{110A36E0-6EE1-4B4C-B27B-C66899872E81}" dt="2026-06-25T22:35:32.081" v="142" actId="1036"/>
          <ac:spMkLst>
            <pc:docMk/>
            <pc:sldMk cId="0" sldId="258"/>
            <ac:spMk id="130" creationId="{00000000-0000-0000-0000-000000000000}"/>
          </ac:spMkLst>
        </pc:spChg>
        <pc:graphicFrameChg chg="mod">
          <ac:chgData name="Diana Lizbeth Tetzicatl Navarro" userId="107c7f69-3e79-4791-b4e3-6f668d949ed0" providerId="ADAL" clId="{110A36E0-6EE1-4B4C-B27B-C66899872E81}" dt="2026-06-25T22:35:32.081" v="142" actId="1036"/>
          <ac:graphicFrameMkLst>
            <pc:docMk/>
            <pc:sldMk cId="0" sldId="258"/>
            <ac:graphicFrameMk id="117" creationId="{00000000-0000-0000-0000-000000000000}"/>
          </ac:graphicFrameMkLst>
        </pc:graphicFrameChg>
        <pc:picChg chg="mod">
          <ac:chgData name="Diana Lizbeth Tetzicatl Navarro" userId="107c7f69-3e79-4791-b4e3-6f668d949ed0" providerId="ADAL" clId="{110A36E0-6EE1-4B4C-B27B-C66899872E81}" dt="2026-06-25T22:35:32.081" v="142" actId="1036"/>
          <ac:picMkLst>
            <pc:docMk/>
            <pc:sldMk cId="0" sldId="258"/>
            <ac:picMk id="119" creationId="{00000000-0000-0000-0000-000000000000}"/>
          </ac:picMkLst>
        </pc:picChg>
        <pc:picChg chg="mod">
          <ac:chgData name="Diana Lizbeth Tetzicatl Navarro" userId="107c7f69-3e79-4791-b4e3-6f668d949ed0" providerId="ADAL" clId="{110A36E0-6EE1-4B4C-B27B-C66899872E81}" dt="2026-06-25T22:36:11.758" v="168" actId="1076"/>
          <ac:picMkLst>
            <pc:docMk/>
            <pc:sldMk cId="0" sldId="258"/>
            <ac:picMk id="122" creationId="{00000000-0000-0000-0000-000000000000}"/>
          </ac:picMkLst>
        </pc:picChg>
        <pc:picChg chg="mod">
          <ac:chgData name="Diana Lizbeth Tetzicatl Navarro" userId="107c7f69-3e79-4791-b4e3-6f668d949ed0" providerId="ADAL" clId="{110A36E0-6EE1-4B4C-B27B-C66899872E81}" dt="2026-06-25T22:36:04.855" v="165" actId="1076"/>
          <ac:picMkLst>
            <pc:docMk/>
            <pc:sldMk cId="0" sldId="258"/>
            <ac:picMk id="125" creationId="{00000000-0000-0000-0000-000000000000}"/>
          </ac:picMkLst>
        </pc:picChg>
        <pc:picChg chg="mod">
          <ac:chgData name="Diana Lizbeth Tetzicatl Navarro" userId="107c7f69-3e79-4791-b4e3-6f668d949ed0" providerId="ADAL" clId="{110A36E0-6EE1-4B4C-B27B-C66899872E81}" dt="2026-06-25T22:35:55.598" v="163" actId="1076"/>
          <ac:picMkLst>
            <pc:docMk/>
            <pc:sldMk cId="0" sldId="258"/>
            <ac:picMk id="128" creationId="{00000000-0000-0000-0000-000000000000}"/>
          </ac:picMkLst>
        </pc:picChg>
      </pc:sldChg>
      <pc:sldChg chg="modSp mod">
        <pc:chgData name="Diana Lizbeth Tetzicatl Navarro" userId="107c7f69-3e79-4791-b4e3-6f668d949ed0" providerId="ADAL" clId="{110A36E0-6EE1-4B4C-B27B-C66899872E81}" dt="2026-06-29T18:09:27.930" v="1085" actId="20577"/>
        <pc:sldMkLst>
          <pc:docMk/>
          <pc:sldMk cId="0" sldId="259"/>
        </pc:sldMkLst>
        <pc:graphicFrameChg chg="modGraphic">
          <ac:chgData name="Diana Lizbeth Tetzicatl Navarro" userId="107c7f69-3e79-4791-b4e3-6f668d949ed0" providerId="ADAL" clId="{110A36E0-6EE1-4B4C-B27B-C66899872E81}" dt="2026-06-29T18:09:27.930" v="1085" actId="20577"/>
          <ac:graphicFrameMkLst>
            <pc:docMk/>
            <pc:sldMk cId="0" sldId="259"/>
            <ac:graphicFrameMk id="135" creationId="{00000000-0000-0000-0000-000000000000}"/>
          </ac:graphicFrameMkLst>
        </pc:graphicFrameChg>
      </pc:sldChg>
      <pc:sldChg chg="modSp mod">
        <pc:chgData name="Diana Lizbeth Tetzicatl Navarro" userId="107c7f69-3e79-4791-b4e3-6f668d949ed0" providerId="ADAL" clId="{110A36E0-6EE1-4B4C-B27B-C66899872E81}" dt="2026-07-02T18:10:59.939" v="1125" actId="20577"/>
        <pc:sldMkLst>
          <pc:docMk/>
          <pc:sldMk cId="0" sldId="260"/>
        </pc:sldMkLst>
        <pc:graphicFrameChg chg="modGraphic">
          <ac:chgData name="Diana Lizbeth Tetzicatl Navarro" userId="107c7f69-3e79-4791-b4e3-6f668d949ed0" providerId="ADAL" clId="{110A36E0-6EE1-4B4C-B27B-C66899872E81}" dt="2026-07-02T18:10:59.939" v="1125" actId="20577"/>
          <ac:graphicFrameMkLst>
            <pc:docMk/>
            <pc:sldMk cId="0" sldId="260"/>
            <ac:graphicFrameMk id="12" creationId="{00000000-0000-0000-0000-000000000000}"/>
          </ac:graphicFrameMkLst>
        </pc:graphicFrameChg>
      </pc:sldChg>
      <pc:sldChg chg="modSp mod">
        <pc:chgData name="Diana Lizbeth Tetzicatl Navarro" userId="107c7f69-3e79-4791-b4e3-6f668d949ed0" providerId="ADAL" clId="{110A36E0-6EE1-4B4C-B27B-C66899872E81}" dt="2026-06-25T22:37:18.084" v="262" actId="1035"/>
        <pc:sldMkLst>
          <pc:docMk/>
          <pc:sldMk cId="0" sldId="261"/>
        </pc:sldMkLst>
        <pc:spChg chg="mod">
          <ac:chgData name="Diana Lizbeth Tetzicatl Navarro" userId="107c7f69-3e79-4791-b4e3-6f668d949ed0" providerId="ADAL" clId="{110A36E0-6EE1-4B4C-B27B-C66899872E81}" dt="2026-06-25T22:37:09.823" v="225" actId="20577"/>
          <ac:spMkLst>
            <pc:docMk/>
            <pc:sldMk cId="0" sldId="261"/>
            <ac:spMk id="6" creationId="{0D5675C5-ADCF-57B9-7A0D-77F34DDB0A00}"/>
          </ac:spMkLst>
        </pc:spChg>
        <pc:grpChg chg="mod">
          <ac:chgData name="Diana Lizbeth Tetzicatl Navarro" userId="107c7f69-3e79-4791-b4e3-6f668d949ed0" providerId="ADAL" clId="{110A36E0-6EE1-4B4C-B27B-C66899872E81}" dt="2026-06-25T22:37:18.084" v="262" actId="1035"/>
          <ac:grpSpMkLst>
            <pc:docMk/>
            <pc:sldMk cId="0" sldId="261"/>
            <ac:grpSpMk id="5" creationId="{5EEAEDEB-8662-B2ED-CDAF-23FE54DB37D0}"/>
          </ac:grpSpMkLst>
        </pc:grpChg>
      </pc:sldChg>
      <pc:sldChg chg="modSp mod">
        <pc:chgData name="Diana Lizbeth Tetzicatl Navarro" userId="107c7f69-3e79-4791-b4e3-6f668d949ed0" providerId="ADAL" clId="{110A36E0-6EE1-4B4C-B27B-C66899872E81}" dt="2026-06-25T22:37:43.656" v="305" actId="1036"/>
        <pc:sldMkLst>
          <pc:docMk/>
          <pc:sldMk cId="0" sldId="262"/>
        </pc:sldMkLst>
        <pc:spChg chg="mod">
          <ac:chgData name="Diana Lizbeth Tetzicatl Navarro" userId="107c7f69-3e79-4791-b4e3-6f668d949ed0" providerId="ADAL" clId="{110A36E0-6EE1-4B4C-B27B-C66899872E81}" dt="2026-06-25T22:37:43.656" v="305" actId="1036"/>
          <ac:spMkLst>
            <pc:docMk/>
            <pc:sldMk cId="0" sldId="262"/>
            <ac:spMk id="5" creationId="{00000000-0000-0000-0000-000000000000}"/>
          </ac:spMkLst>
        </pc:spChg>
        <pc:spChg chg="mod">
          <ac:chgData name="Diana Lizbeth Tetzicatl Navarro" userId="107c7f69-3e79-4791-b4e3-6f668d949ed0" providerId="ADAL" clId="{110A36E0-6EE1-4B4C-B27B-C66899872E81}" dt="2026-06-25T22:37:40.809" v="296" actId="1036"/>
          <ac:spMkLst>
            <pc:docMk/>
            <pc:sldMk cId="0" sldId="262"/>
            <ac:spMk id="10" creationId="{00000000-0000-0000-0000-000000000000}"/>
          </ac:spMkLst>
        </pc:spChg>
        <pc:spChg chg="mod">
          <ac:chgData name="Diana Lizbeth Tetzicatl Navarro" userId="107c7f69-3e79-4791-b4e3-6f668d949ed0" providerId="ADAL" clId="{110A36E0-6EE1-4B4C-B27B-C66899872E81}" dt="2026-06-25T22:37:40.809" v="296" actId="1036"/>
          <ac:spMkLst>
            <pc:docMk/>
            <pc:sldMk cId="0" sldId="262"/>
            <ac:spMk id="11" creationId="{00000000-0000-0000-0000-000000000000}"/>
          </ac:spMkLst>
        </pc:spChg>
        <pc:spChg chg="mod">
          <ac:chgData name="Diana Lizbeth Tetzicatl Navarro" userId="107c7f69-3e79-4791-b4e3-6f668d949ed0" providerId="ADAL" clId="{110A36E0-6EE1-4B4C-B27B-C66899872E81}" dt="2026-06-25T22:37:40.809" v="296" actId="1036"/>
          <ac:spMkLst>
            <pc:docMk/>
            <pc:sldMk cId="0" sldId="262"/>
            <ac:spMk id="12" creationId="{00000000-0000-0000-0000-000000000000}"/>
          </ac:spMkLst>
        </pc:spChg>
        <pc:graphicFrameChg chg="mod">
          <ac:chgData name="Diana Lizbeth Tetzicatl Navarro" userId="107c7f69-3e79-4791-b4e3-6f668d949ed0" providerId="ADAL" clId="{110A36E0-6EE1-4B4C-B27B-C66899872E81}" dt="2026-06-25T22:37:36.586" v="284" actId="1036"/>
          <ac:graphicFrameMkLst>
            <pc:docMk/>
            <pc:sldMk cId="0" sldId="262"/>
            <ac:graphicFrameMk id="8" creationId="{00000000-0000-0000-0000-000000000000}"/>
          </ac:graphicFrameMkLst>
        </pc:graphicFrameChg>
        <pc:graphicFrameChg chg="mod">
          <ac:chgData name="Diana Lizbeth Tetzicatl Navarro" userId="107c7f69-3e79-4791-b4e3-6f668d949ed0" providerId="ADAL" clId="{110A36E0-6EE1-4B4C-B27B-C66899872E81}" dt="2026-06-25T22:37:40.809" v="296" actId="1036"/>
          <ac:graphicFrameMkLst>
            <pc:docMk/>
            <pc:sldMk cId="0" sldId="262"/>
            <ac:graphicFrameMk id="9" creationId="{00000000-0000-0000-0000-000000000000}"/>
          </ac:graphicFrameMkLst>
        </pc:graphicFrameChg>
      </pc:sldChg>
      <pc:sldChg chg="modSp mod">
        <pc:chgData name="Diana Lizbeth Tetzicatl Navarro" userId="107c7f69-3e79-4791-b4e3-6f668d949ed0" providerId="ADAL" clId="{110A36E0-6EE1-4B4C-B27B-C66899872E81}" dt="2026-06-25T22:37:59.214" v="320" actId="1036"/>
        <pc:sldMkLst>
          <pc:docMk/>
          <pc:sldMk cId="0" sldId="263"/>
        </pc:sldMkLst>
        <pc:spChg chg="mod">
          <ac:chgData name="Diana Lizbeth Tetzicatl Navarro" userId="107c7f69-3e79-4791-b4e3-6f668d949ed0" providerId="ADAL" clId="{110A36E0-6EE1-4B4C-B27B-C66899872E81}" dt="2026-06-25T22:37:59.214" v="320" actId="1036"/>
          <ac:spMkLst>
            <pc:docMk/>
            <pc:sldMk cId="0" sldId="263"/>
            <ac:spMk id="266" creationId="{00000000-0000-0000-0000-000000000000}"/>
          </ac:spMkLst>
        </pc:spChg>
        <pc:graphicFrameChg chg="mod">
          <ac:chgData name="Diana Lizbeth Tetzicatl Navarro" userId="107c7f69-3e79-4791-b4e3-6f668d949ed0" providerId="ADAL" clId="{110A36E0-6EE1-4B4C-B27B-C66899872E81}" dt="2026-06-25T22:37:59.214" v="320" actId="1036"/>
          <ac:graphicFrameMkLst>
            <pc:docMk/>
            <pc:sldMk cId="0" sldId="263"/>
            <ac:graphicFrameMk id="270" creationId="{00000000-0000-0000-0000-000000000000}"/>
          </ac:graphicFrameMkLst>
        </pc:graphicFrameChg>
      </pc:sldChg>
      <pc:sldChg chg="modSp mod">
        <pc:chgData name="Diana Lizbeth Tetzicatl Navarro" userId="107c7f69-3e79-4791-b4e3-6f668d949ed0" providerId="ADAL" clId="{110A36E0-6EE1-4B4C-B27B-C66899872E81}" dt="2026-06-25T22:38:18.438" v="333" actId="1036"/>
        <pc:sldMkLst>
          <pc:docMk/>
          <pc:sldMk cId="0" sldId="267"/>
        </pc:sldMkLst>
        <pc:spChg chg="mod">
          <ac:chgData name="Diana Lizbeth Tetzicatl Navarro" userId="107c7f69-3e79-4791-b4e3-6f668d949ed0" providerId="ADAL" clId="{110A36E0-6EE1-4B4C-B27B-C66899872E81}" dt="2026-06-25T22:38:18.438" v="333" actId="1036"/>
          <ac:spMkLst>
            <pc:docMk/>
            <pc:sldMk cId="0" sldId="267"/>
            <ac:spMk id="235" creationId="{00000000-0000-0000-0000-000000000000}"/>
          </ac:spMkLst>
        </pc:spChg>
        <pc:spChg chg="mod">
          <ac:chgData name="Diana Lizbeth Tetzicatl Navarro" userId="107c7f69-3e79-4791-b4e3-6f668d949ed0" providerId="ADAL" clId="{110A36E0-6EE1-4B4C-B27B-C66899872E81}" dt="2026-06-25T22:38:18.438" v="333" actId="1036"/>
          <ac:spMkLst>
            <pc:docMk/>
            <pc:sldMk cId="0" sldId="267"/>
            <ac:spMk id="236" creationId="{00000000-0000-0000-0000-000000000000}"/>
          </ac:spMkLst>
        </pc:spChg>
        <pc:spChg chg="mod">
          <ac:chgData name="Diana Lizbeth Tetzicatl Navarro" userId="107c7f69-3e79-4791-b4e3-6f668d949ed0" providerId="ADAL" clId="{110A36E0-6EE1-4B4C-B27B-C66899872E81}" dt="2026-06-25T22:38:18.438" v="333" actId="1036"/>
          <ac:spMkLst>
            <pc:docMk/>
            <pc:sldMk cId="0" sldId="267"/>
            <ac:spMk id="237" creationId="{00000000-0000-0000-0000-000000000000}"/>
          </ac:spMkLst>
        </pc:spChg>
        <pc:graphicFrameChg chg="mod">
          <ac:chgData name="Diana Lizbeth Tetzicatl Navarro" userId="107c7f69-3e79-4791-b4e3-6f668d949ed0" providerId="ADAL" clId="{110A36E0-6EE1-4B4C-B27B-C66899872E81}" dt="2026-06-25T22:38:18.438" v="333" actId="1036"/>
          <ac:graphicFrameMkLst>
            <pc:docMk/>
            <pc:sldMk cId="0" sldId="267"/>
            <ac:graphicFrameMk id="233" creationId="{00000000-0000-0000-0000-000000000000}"/>
          </ac:graphicFrameMkLst>
        </pc:graphicFrameChg>
        <pc:graphicFrameChg chg="mod">
          <ac:chgData name="Diana Lizbeth Tetzicatl Navarro" userId="107c7f69-3e79-4791-b4e3-6f668d949ed0" providerId="ADAL" clId="{110A36E0-6EE1-4B4C-B27B-C66899872E81}" dt="2026-06-25T22:38:18.438" v="333" actId="1036"/>
          <ac:graphicFrameMkLst>
            <pc:docMk/>
            <pc:sldMk cId="0" sldId="267"/>
            <ac:graphicFrameMk id="234" creationId="{00000000-0000-0000-0000-000000000000}"/>
          </ac:graphicFrameMkLst>
        </pc:graphicFrameChg>
      </pc:sldChg>
      <pc:sldChg chg="modSp mod">
        <pc:chgData name="Diana Lizbeth Tetzicatl Navarro" userId="107c7f69-3e79-4791-b4e3-6f668d949ed0" providerId="ADAL" clId="{110A36E0-6EE1-4B4C-B27B-C66899872E81}" dt="2026-07-02T18:36:04.900" v="1385" actId="20577"/>
        <pc:sldMkLst>
          <pc:docMk/>
          <pc:sldMk cId="0" sldId="270"/>
        </pc:sldMkLst>
        <pc:spChg chg="mod">
          <ac:chgData name="Diana Lizbeth Tetzicatl Navarro" userId="107c7f69-3e79-4791-b4e3-6f668d949ed0" providerId="ADAL" clId="{110A36E0-6EE1-4B4C-B27B-C66899872E81}" dt="2026-07-02T18:32:25.813" v="1336" actId="20577"/>
          <ac:spMkLst>
            <pc:docMk/>
            <pc:sldMk cId="0" sldId="270"/>
            <ac:spMk id="297" creationId="{00000000-0000-0000-0000-000000000000}"/>
          </ac:spMkLst>
        </pc:spChg>
        <pc:spChg chg="mod">
          <ac:chgData name="Diana Lizbeth Tetzicatl Navarro" userId="107c7f69-3e79-4791-b4e3-6f668d949ed0" providerId="ADAL" clId="{110A36E0-6EE1-4B4C-B27B-C66899872E81}" dt="2026-07-02T18:33:46.789" v="1356" actId="20577"/>
          <ac:spMkLst>
            <pc:docMk/>
            <pc:sldMk cId="0" sldId="270"/>
            <ac:spMk id="303" creationId="{00000000-0000-0000-0000-000000000000}"/>
          </ac:spMkLst>
        </pc:spChg>
        <pc:spChg chg="mod">
          <ac:chgData name="Diana Lizbeth Tetzicatl Navarro" userId="107c7f69-3e79-4791-b4e3-6f668d949ed0" providerId="ADAL" clId="{110A36E0-6EE1-4B4C-B27B-C66899872E81}" dt="2026-07-02T18:32:37.363" v="1340" actId="20577"/>
          <ac:spMkLst>
            <pc:docMk/>
            <pc:sldMk cId="0" sldId="270"/>
            <ac:spMk id="306" creationId="{00000000-0000-0000-0000-000000000000}"/>
          </ac:spMkLst>
        </pc:spChg>
        <pc:spChg chg="mod">
          <ac:chgData name="Diana Lizbeth Tetzicatl Navarro" userId="107c7f69-3e79-4791-b4e3-6f668d949ed0" providerId="ADAL" clId="{110A36E0-6EE1-4B4C-B27B-C66899872E81}" dt="2026-07-02T18:33:08.708" v="1348" actId="20577"/>
          <ac:spMkLst>
            <pc:docMk/>
            <pc:sldMk cId="0" sldId="270"/>
            <ac:spMk id="312" creationId="{00000000-0000-0000-0000-000000000000}"/>
          </ac:spMkLst>
        </pc:spChg>
        <pc:spChg chg="mod">
          <ac:chgData name="Diana Lizbeth Tetzicatl Navarro" userId="107c7f69-3e79-4791-b4e3-6f668d949ed0" providerId="ADAL" clId="{110A36E0-6EE1-4B4C-B27B-C66899872E81}" dt="2026-07-02T18:34:11.732" v="1363" actId="20577"/>
          <ac:spMkLst>
            <pc:docMk/>
            <pc:sldMk cId="0" sldId="270"/>
            <ac:spMk id="315" creationId="{00000000-0000-0000-0000-000000000000}"/>
          </ac:spMkLst>
        </pc:spChg>
        <pc:spChg chg="mod">
          <ac:chgData name="Diana Lizbeth Tetzicatl Navarro" userId="107c7f69-3e79-4791-b4e3-6f668d949ed0" providerId="ADAL" clId="{110A36E0-6EE1-4B4C-B27B-C66899872E81}" dt="2026-06-25T22:40:04.499" v="367" actId="1036"/>
          <ac:spMkLst>
            <pc:docMk/>
            <pc:sldMk cId="0" sldId="270"/>
            <ac:spMk id="323" creationId="{00000000-0000-0000-0000-000000000000}"/>
          </ac:spMkLst>
        </pc:spChg>
        <pc:graphicFrameChg chg="modGraphic">
          <ac:chgData name="Diana Lizbeth Tetzicatl Navarro" userId="107c7f69-3e79-4791-b4e3-6f668d949ed0" providerId="ADAL" clId="{110A36E0-6EE1-4B4C-B27B-C66899872E81}" dt="2026-07-02T18:33:54.489" v="1358" actId="20577"/>
          <ac:graphicFrameMkLst>
            <pc:docMk/>
            <pc:sldMk cId="0" sldId="270"/>
            <ac:graphicFrameMk id="304" creationId="{00000000-0000-0000-0000-000000000000}"/>
          </ac:graphicFrameMkLst>
        </pc:graphicFrameChg>
        <pc:graphicFrameChg chg="modGraphic">
          <ac:chgData name="Diana Lizbeth Tetzicatl Navarro" userId="107c7f69-3e79-4791-b4e3-6f668d949ed0" providerId="ADAL" clId="{110A36E0-6EE1-4B4C-B27B-C66899872E81}" dt="2026-07-02T18:32:53.419" v="1344" actId="20577"/>
          <ac:graphicFrameMkLst>
            <pc:docMk/>
            <pc:sldMk cId="0" sldId="270"/>
            <ac:graphicFrameMk id="307" creationId="{00000000-0000-0000-0000-000000000000}"/>
          </ac:graphicFrameMkLst>
        </pc:graphicFrameChg>
        <pc:graphicFrameChg chg="modGraphic">
          <ac:chgData name="Diana Lizbeth Tetzicatl Navarro" userId="107c7f69-3e79-4791-b4e3-6f668d949ed0" providerId="ADAL" clId="{110A36E0-6EE1-4B4C-B27B-C66899872E81}" dt="2026-07-02T18:33:27.956" v="1352" actId="20577"/>
          <ac:graphicFrameMkLst>
            <pc:docMk/>
            <pc:sldMk cId="0" sldId="270"/>
            <ac:graphicFrameMk id="313" creationId="{00000000-0000-0000-0000-000000000000}"/>
          </ac:graphicFrameMkLst>
        </pc:graphicFrameChg>
        <pc:graphicFrameChg chg="modGraphic">
          <ac:chgData name="Diana Lizbeth Tetzicatl Navarro" userId="107c7f69-3e79-4791-b4e3-6f668d949ed0" providerId="ADAL" clId="{110A36E0-6EE1-4B4C-B27B-C66899872E81}" dt="2026-07-02T18:34:33.461" v="1369" actId="20577"/>
          <ac:graphicFrameMkLst>
            <pc:docMk/>
            <pc:sldMk cId="0" sldId="270"/>
            <ac:graphicFrameMk id="316" creationId="{00000000-0000-0000-0000-000000000000}"/>
          </ac:graphicFrameMkLst>
        </pc:graphicFrameChg>
        <pc:graphicFrameChg chg="modGraphic">
          <ac:chgData name="Diana Lizbeth Tetzicatl Navarro" userId="107c7f69-3e79-4791-b4e3-6f668d949ed0" providerId="ADAL" clId="{110A36E0-6EE1-4B4C-B27B-C66899872E81}" dt="2026-07-02T18:36:04.900" v="1385" actId="20577"/>
          <ac:graphicFrameMkLst>
            <pc:docMk/>
            <pc:sldMk cId="0" sldId="270"/>
            <ac:graphicFrameMk id="319" creationId="{00000000-0000-0000-0000-000000000000}"/>
          </ac:graphicFrameMkLst>
        </pc:graphicFrameChg>
      </pc:sldChg>
      <pc:sldChg chg="modSp mod">
        <pc:chgData name="Diana Lizbeth Tetzicatl Navarro" userId="107c7f69-3e79-4791-b4e3-6f668d949ed0" providerId="ADAL" clId="{110A36E0-6EE1-4B4C-B27B-C66899872E81}" dt="2026-07-02T18:43:05.684" v="1390" actId="20577"/>
        <pc:sldMkLst>
          <pc:docMk/>
          <pc:sldMk cId="0" sldId="271"/>
        </pc:sldMkLst>
        <pc:spChg chg="mod">
          <ac:chgData name="Diana Lizbeth Tetzicatl Navarro" userId="107c7f69-3e79-4791-b4e3-6f668d949ed0" providerId="ADAL" clId="{110A36E0-6EE1-4B4C-B27B-C66899872E81}" dt="2026-06-25T22:40:21.807" v="369" actId="14100"/>
          <ac:spMkLst>
            <pc:docMk/>
            <pc:sldMk cId="0" sldId="271"/>
            <ac:spMk id="345" creationId="{00000000-0000-0000-0000-000000000000}"/>
          </ac:spMkLst>
        </pc:spChg>
        <pc:spChg chg="mod">
          <ac:chgData name="Diana Lizbeth Tetzicatl Navarro" userId="107c7f69-3e79-4791-b4e3-6f668d949ed0" providerId="ADAL" clId="{110A36E0-6EE1-4B4C-B27B-C66899872E81}" dt="2026-07-02T18:43:05.684" v="1390" actId="20577"/>
          <ac:spMkLst>
            <pc:docMk/>
            <pc:sldMk cId="0" sldId="271"/>
            <ac:spMk id="346" creationId="{00000000-0000-0000-0000-000000000000}"/>
          </ac:spMkLst>
        </pc:spChg>
      </pc:sldChg>
      <pc:sldChg chg="addSp delSp modSp mod">
        <pc:chgData name="Diana Lizbeth Tetzicatl Navarro" userId="107c7f69-3e79-4791-b4e3-6f668d949ed0" providerId="ADAL" clId="{110A36E0-6EE1-4B4C-B27B-C66899872E81}" dt="2026-07-03T00:09:24.002" v="1669" actId="1035"/>
        <pc:sldMkLst>
          <pc:docMk/>
          <pc:sldMk cId="0" sldId="272"/>
        </pc:sldMkLst>
        <pc:graphicFrameChg chg="add mod">
          <ac:chgData name="Diana Lizbeth Tetzicatl Navarro" userId="107c7f69-3e79-4791-b4e3-6f668d949ed0" providerId="ADAL" clId="{110A36E0-6EE1-4B4C-B27B-C66899872E81}" dt="2026-07-03T00:09:24.002" v="1669" actId="1035"/>
          <ac:graphicFrameMkLst>
            <pc:docMk/>
            <pc:sldMk cId="0" sldId="272"/>
            <ac:graphicFrameMk id="12" creationId="{BD2080F9-6146-ED11-8622-4B600EF13244}"/>
          </ac:graphicFrameMkLst>
        </pc:graphicFrameChg>
        <pc:picChg chg="del">
          <ac:chgData name="Diana Lizbeth Tetzicatl Navarro" userId="107c7f69-3e79-4791-b4e3-6f668d949ed0" providerId="ADAL" clId="{110A36E0-6EE1-4B4C-B27B-C66899872E81}" dt="2026-07-03T00:08:54.915" v="1600" actId="478"/>
          <ac:picMkLst>
            <pc:docMk/>
            <pc:sldMk cId="0" sldId="272"/>
            <ac:picMk id="6" creationId="{00000000-0000-0000-0000-000000000000}"/>
          </ac:picMkLst>
        </pc:picChg>
      </pc:sldChg>
      <pc:sldChg chg="modSp mod">
        <pc:chgData name="Diana Lizbeth Tetzicatl Navarro" userId="107c7f69-3e79-4791-b4e3-6f668d949ed0" providerId="ADAL" clId="{110A36E0-6EE1-4B4C-B27B-C66899872E81}" dt="2026-06-25T22:43:02.613" v="538" actId="1036"/>
        <pc:sldMkLst>
          <pc:docMk/>
          <pc:sldMk cId="0" sldId="277"/>
        </pc:sldMkLst>
        <pc:graphicFrameChg chg="mod modGraphic">
          <ac:chgData name="Diana Lizbeth Tetzicatl Navarro" userId="107c7f69-3e79-4791-b4e3-6f668d949ed0" providerId="ADAL" clId="{110A36E0-6EE1-4B4C-B27B-C66899872E81}" dt="2026-06-25T22:43:02.613" v="538" actId="1036"/>
          <ac:graphicFrameMkLst>
            <pc:docMk/>
            <pc:sldMk cId="0" sldId="277"/>
            <ac:graphicFrameMk id="468" creationId="{00000000-0000-0000-0000-000000000000}"/>
          </ac:graphicFrameMkLst>
        </pc:graphicFrameChg>
        <pc:graphicFrameChg chg="mod">
          <ac:chgData name="Diana Lizbeth Tetzicatl Navarro" userId="107c7f69-3e79-4791-b4e3-6f668d949ed0" providerId="ADAL" clId="{110A36E0-6EE1-4B4C-B27B-C66899872E81}" dt="2026-06-25T22:42:40.178" v="513" actId="1036"/>
          <ac:graphicFrameMkLst>
            <pc:docMk/>
            <pc:sldMk cId="0" sldId="277"/>
            <ac:graphicFrameMk id="469" creationId="{00000000-0000-0000-0000-000000000000}"/>
          </ac:graphicFrameMkLst>
        </pc:graphicFrameChg>
      </pc:sldChg>
      <pc:sldChg chg="modSp mod">
        <pc:chgData name="Diana Lizbeth Tetzicatl Navarro" userId="107c7f69-3e79-4791-b4e3-6f668d949ed0" providerId="ADAL" clId="{110A36E0-6EE1-4B4C-B27B-C66899872E81}" dt="2026-06-25T22:47:00.651" v="724" actId="1035"/>
        <pc:sldMkLst>
          <pc:docMk/>
          <pc:sldMk cId="0" sldId="278"/>
        </pc:sldMkLst>
        <pc:spChg chg="mod">
          <ac:chgData name="Diana Lizbeth Tetzicatl Navarro" userId="107c7f69-3e79-4791-b4e3-6f668d949ed0" providerId="ADAL" clId="{110A36E0-6EE1-4B4C-B27B-C66899872E81}" dt="2026-06-25T22:46:46.216" v="701" actId="1037"/>
          <ac:spMkLst>
            <pc:docMk/>
            <pc:sldMk cId="0" sldId="278"/>
            <ac:spMk id="481" creationId="{00000000-0000-0000-0000-000000000000}"/>
          </ac:spMkLst>
        </pc:spChg>
        <pc:spChg chg="mod">
          <ac:chgData name="Diana Lizbeth Tetzicatl Navarro" userId="107c7f69-3e79-4791-b4e3-6f668d949ed0" providerId="ADAL" clId="{110A36E0-6EE1-4B4C-B27B-C66899872E81}" dt="2026-06-25T22:46:46.216" v="701" actId="1037"/>
          <ac:spMkLst>
            <pc:docMk/>
            <pc:sldMk cId="0" sldId="278"/>
            <ac:spMk id="482" creationId="{00000000-0000-0000-0000-000000000000}"/>
          </ac:spMkLst>
        </pc:spChg>
        <pc:spChg chg="mod">
          <ac:chgData name="Diana Lizbeth Tetzicatl Navarro" userId="107c7f69-3e79-4791-b4e3-6f668d949ed0" providerId="ADAL" clId="{110A36E0-6EE1-4B4C-B27B-C66899872E81}" dt="2026-06-25T22:46:46.216" v="701" actId="1037"/>
          <ac:spMkLst>
            <pc:docMk/>
            <pc:sldMk cId="0" sldId="278"/>
            <ac:spMk id="483" creationId="{00000000-0000-0000-0000-000000000000}"/>
          </ac:spMkLst>
        </pc:spChg>
        <pc:spChg chg="mod">
          <ac:chgData name="Diana Lizbeth Tetzicatl Navarro" userId="107c7f69-3e79-4791-b4e3-6f668d949ed0" providerId="ADAL" clId="{110A36E0-6EE1-4B4C-B27B-C66899872E81}" dt="2026-06-25T22:46:46.216" v="701" actId="1037"/>
          <ac:spMkLst>
            <pc:docMk/>
            <pc:sldMk cId="0" sldId="278"/>
            <ac:spMk id="484" creationId="{00000000-0000-0000-0000-000000000000}"/>
          </ac:spMkLst>
        </pc:spChg>
        <pc:spChg chg="mod">
          <ac:chgData name="Diana Lizbeth Tetzicatl Navarro" userId="107c7f69-3e79-4791-b4e3-6f668d949ed0" providerId="ADAL" clId="{110A36E0-6EE1-4B4C-B27B-C66899872E81}" dt="2026-06-25T22:46:46.216" v="701" actId="1037"/>
          <ac:spMkLst>
            <pc:docMk/>
            <pc:sldMk cId="0" sldId="278"/>
            <ac:spMk id="485" creationId="{00000000-0000-0000-0000-000000000000}"/>
          </ac:spMkLst>
        </pc:spChg>
        <pc:spChg chg="mod">
          <ac:chgData name="Diana Lizbeth Tetzicatl Navarro" userId="107c7f69-3e79-4791-b4e3-6f668d949ed0" providerId="ADAL" clId="{110A36E0-6EE1-4B4C-B27B-C66899872E81}" dt="2026-06-25T22:46:46.216" v="701" actId="1037"/>
          <ac:spMkLst>
            <pc:docMk/>
            <pc:sldMk cId="0" sldId="278"/>
            <ac:spMk id="486" creationId="{00000000-0000-0000-0000-000000000000}"/>
          </ac:spMkLst>
        </pc:spChg>
        <pc:spChg chg="mod">
          <ac:chgData name="Diana Lizbeth Tetzicatl Navarro" userId="107c7f69-3e79-4791-b4e3-6f668d949ed0" providerId="ADAL" clId="{110A36E0-6EE1-4B4C-B27B-C66899872E81}" dt="2026-06-25T22:46:46.216" v="701" actId="1037"/>
          <ac:spMkLst>
            <pc:docMk/>
            <pc:sldMk cId="0" sldId="278"/>
            <ac:spMk id="487" creationId="{00000000-0000-0000-0000-000000000000}"/>
          </ac:spMkLst>
        </pc:spChg>
        <pc:spChg chg="mod">
          <ac:chgData name="Diana Lizbeth Tetzicatl Navarro" userId="107c7f69-3e79-4791-b4e3-6f668d949ed0" providerId="ADAL" clId="{110A36E0-6EE1-4B4C-B27B-C66899872E81}" dt="2026-06-25T22:46:46.216" v="701" actId="1037"/>
          <ac:spMkLst>
            <pc:docMk/>
            <pc:sldMk cId="0" sldId="278"/>
            <ac:spMk id="488" creationId="{00000000-0000-0000-0000-000000000000}"/>
          </ac:spMkLst>
        </pc:spChg>
        <pc:spChg chg="mod">
          <ac:chgData name="Diana Lizbeth Tetzicatl Navarro" userId="107c7f69-3e79-4791-b4e3-6f668d949ed0" providerId="ADAL" clId="{110A36E0-6EE1-4B4C-B27B-C66899872E81}" dt="2026-06-25T22:46:46.216" v="701" actId="1037"/>
          <ac:spMkLst>
            <pc:docMk/>
            <pc:sldMk cId="0" sldId="278"/>
            <ac:spMk id="489" creationId="{00000000-0000-0000-0000-000000000000}"/>
          </ac:spMkLst>
        </pc:spChg>
        <pc:spChg chg="mod">
          <ac:chgData name="Diana Lizbeth Tetzicatl Navarro" userId="107c7f69-3e79-4791-b4e3-6f668d949ed0" providerId="ADAL" clId="{110A36E0-6EE1-4B4C-B27B-C66899872E81}" dt="2026-06-25T22:46:20.540" v="643" actId="1035"/>
          <ac:spMkLst>
            <pc:docMk/>
            <pc:sldMk cId="0" sldId="278"/>
            <ac:spMk id="490" creationId="{00000000-0000-0000-0000-000000000000}"/>
          </ac:spMkLst>
        </pc:spChg>
        <pc:spChg chg="mod">
          <ac:chgData name="Diana Lizbeth Tetzicatl Navarro" userId="107c7f69-3e79-4791-b4e3-6f668d949ed0" providerId="ADAL" clId="{110A36E0-6EE1-4B4C-B27B-C66899872E81}" dt="2026-06-25T22:46:20.540" v="643" actId="1035"/>
          <ac:spMkLst>
            <pc:docMk/>
            <pc:sldMk cId="0" sldId="278"/>
            <ac:spMk id="491" creationId="{00000000-0000-0000-0000-000000000000}"/>
          </ac:spMkLst>
        </pc:spChg>
        <pc:graphicFrameChg chg="mod">
          <ac:chgData name="Diana Lizbeth Tetzicatl Navarro" userId="107c7f69-3e79-4791-b4e3-6f668d949ed0" providerId="ADAL" clId="{110A36E0-6EE1-4B4C-B27B-C66899872E81}" dt="2026-06-25T22:45:48.171" v="590" actId="1035"/>
          <ac:graphicFrameMkLst>
            <pc:docMk/>
            <pc:sldMk cId="0" sldId="278"/>
            <ac:graphicFrameMk id="475" creationId="{00000000-0000-0000-0000-000000000000}"/>
          </ac:graphicFrameMkLst>
        </pc:graphicFrameChg>
        <pc:graphicFrameChg chg="mod">
          <ac:chgData name="Diana Lizbeth Tetzicatl Navarro" userId="107c7f69-3e79-4791-b4e3-6f668d949ed0" providerId="ADAL" clId="{110A36E0-6EE1-4B4C-B27B-C66899872E81}" dt="2026-06-25T22:47:00.651" v="724" actId="1035"/>
          <ac:graphicFrameMkLst>
            <pc:docMk/>
            <pc:sldMk cId="0" sldId="278"/>
            <ac:graphicFrameMk id="477" creationId="{00000000-0000-0000-0000-000000000000}"/>
          </ac:graphicFrameMkLst>
        </pc:graphicFrameChg>
        <pc:graphicFrameChg chg="mod">
          <ac:chgData name="Diana Lizbeth Tetzicatl Navarro" userId="107c7f69-3e79-4791-b4e3-6f668d949ed0" providerId="ADAL" clId="{110A36E0-6EE1-4B4C-B27B-C66899872E81}" dt="2026-06-25T22:43:18.141" v="552" actId="1036"/>
          <ac:graphicFrameMkLst>
            <pc:docMk/>
            <pc:sldMk cId="0" sldId="278"/>
            <ac:graphicFrameMk id="479" creationId="{00000000-0000-0000-0000-000000000000}"/>
          </ac:graphicFrameMkLst>
        </pc:graphicFrameChg>
        <pc:graphicFrameChg chg="mod">
          <ac:chgData name="Diana Lizbeth Tetzicatl Navarro" userId="107c7f69-3e79-4791-b4e3-6f668d949ed0" providerId="ADAL" clId="{110A36E0-6EE1-4B4C-B27B-C66899872E81}" dt="2026-06-25T22:46:39.161" v="684" actId="1035"/>
          <ac:graphicFrameMkLst>
            <pc:docMk/>
            <pc:sldMk cId="0" sldId="278"/>
            <ac:graphicFrameMk id="480" creationId="{00000000-0000-0000-0000-000000000000}"/>
          </ac:graphicFrameMkLst>
        </pc:graphicFrameChg>
        <pc:graphicFrameChg chg="mod">
          <ac:chgData name="Diana Lizbeth Tetzicatl Navarro" userId="107c7f69-3e79-4791-b4e3-6f668d949ed0" providerId="ADAL" clId="{110A36E0-6EE1-4B4C-B27B-C66899872E81}" dt="2026-06-25T22:46:53.785" v="707" actId="1036"/>
          <ac:graphicFrameMkLst>
            <pc:docMk/>
            <pc:sldMk cId="0" sldId="278"/>
            <ac:graphicFrameMk id="492" creationId="{00000000-0000-0000-0000-000000000000}"/>
          </ac:graphicFrameMkLst>
        </pc:graphicFrameChg>
      </pc:sldChg>
      <pc:sldChg chg="modSp mod">
        <pc:chgData name="Diana Lizbeth Tetzicatl Navarro" userId="107c7f69-3e79-4791-b4e3-6f668d949ed0" providerId="ADAL" clId="{110A36E0-6EE1-4B4C-B27B-C66899872E81}" dt="2026-06-26T18:06:07.914" v="880"/>
        <pc:sldMkLst>
          <pc:docMk/>
          <pc:sldMk cId="0" sldId="279"/>
        </pc:sldMkLst>
        <pc:spChg chg="mod">
          <ac:chgData name="Diana Lizbeth Tetzicatl Navarro" userId="107c7f69-3e79-4791-b4e3-6f668d949ed0" providerId="ADAL" clId="{110A36E0-6EE1-4B4C-B27B-C66899872E81}" dt="2026-06-25T22:48:05.824" v="787" actId="1076"/>
          <ac:spMkLst>
            <pc:docMk/>
            <pc:sldMk cId="0" sldId="279"/>
            <ac:spMk id="2" creationId="{C40E98EE-4DF2-1751-AF7E-15529E7A6F40}"/>
          </ac:spMkLst>
        </pc:spChg>
        <pc:spChg chg="mod">
          <ac:chgData name="Diana Lizbeth Tetzicatl Navarro" userId="107c7f69-3e79-4791-b4e3-6f668d949ed0" providerId="ADAL" clId="{110A36E0-6EE1-4B4C-B27B-C66899872E81}" dt="2026-06-26T18:06:07.914" v="880"/>
          <ac:spMkLst>
            <pc:docMk/>
            <pc:sldMk cId="0" sldId="279"/>
            <ac:spMk id="515" creationId="{00000000-0000-0000-0000-000000000000}"/>
          </ac:spMkLst>
        </pc:spChg>
        <pc:graphicFrameChg chg="mod modGraphic">
          <ac:chgData name="Diana Lizbeth Tetzicatl Navarro" userId="107c7f69-3e79-4791-b4e3-6f668d949ed0" providerId="ADAL" clId="{110A36E0-6EE1-4B4C-B27B-C66899872E81}" dt="2026-06-25T22:48:11.476" v="806" actId="1035"/>
          <ac:graphicFrameMkLst>
            <pc:docMk/>
            <pc:sldMk cId="0" sldId="279"/>
            <ac:graphicFrameMk id="503" creationId="{00000000-0000-0000-0000-000000000000}"/>
          </ac:graphicFrameMkLst>
        </pc:graphicFrameChg>
        <pc:graphicFrameChg chg="mod">
          <ac:chgData name="Diana Lizbeth Tetzicatl Navarro" userId="107c7f69-3e79-4791-b4e3-6f668d949ed0" providerId="ADAL" clId="{110A36E0-6EE1-4B4C-B27B-C66899872E81}" dt="2026-06-25T22:48:30.654" v="814" actId="1036"/>
          <ac:graphicFrameMkLst>
            <pc:docMk/>
            <pc:sldMk cId="0" sldId="279"/>
            <ac:graphicFrameMk id="514" creationId="{00000000-0000-0000-0000-000000000000}"/>
          </ac:graphicFrameMkLst>
        </pc:graphicFrameChg>
      </pc:sldChg>
      <pc:sldChg chg="modSp mod">
        <pc:chgData name="Diana Lizbeth Tetzicatl Navarro" userId="107c7f69-3e79-4791-b4e3-6f668d949ed0" providerId="ADAL" clId="{110A36E0-6EE1-4B4C-B27B-C66899872E81}" dt="2026-06-25T23:46:23.322" v="849" actId="1036"/>
        <pc:sldMkLst>
          <pc:docMk/>
          <pc:sldMk cId="540716406" sldId="280"/>
        </pc:sldMkLst>
        <pc:spChg chg="mod">
          <ac:chgData name="Diana Lizbeth Tetzicatl Navarro" userId="107c7f69-3e79-4791-b4e3-6f668d949ed0" providerId="ADAL" clId="{110A36E0-6EE1-4B4C-B27B-C66899872E81}" dt="2026-06-25T23:46:23.322" v="849" actId="1036"/>
          <ac:spMkLst>
            <pc:docMk/>
            <pc:sldMk cId="540716406" sldId="280"/>
            <ac:spMk id="234" creationId="{00000000-0000-0000-0000-000000000000}"/>
          </ac:spMkLst>
        </pc:spChg>
        <pc:spChg chg="mod">
          <ac:chgData name="Diana Lizbeth Tetzicatl Navarro" userId="107c7f69-3e79-4791-b4e3-6f668d949ed0" providerId="ADAL" clId="{110A36E0-6EE1-4B4C-B27B-C66899872E81}" dt="2026-06-25T23:46:23.322" v="849" actId="1036"/>
          <ac:spMkLst>
            <pc:docMk/>
            <pc:sldMk cId="540716406" sldId="280"/>
            <ac:spMk id="238" creationId="{00000000-0000-0000-0000-000000000000}"/>
          </ac:spMkLst>
        </pc:spChg>
        <pc:spChg chg="mod">
          <ac:chgData name="Diana Lizbeth Tetzicatl Navarro" userId="107c7f69-3e79-4791-b4e3-6f668d949ed0" providerId="ADAL" clId="{110A36E0-6EE1-4B4C-B27B-C66899872E81}" dt="2026-06-25T23:46:23.322" v="849" actId="1036"/>
          <ac:spMkLst>
            <pc:docMk/>
            <pc:sldMk cId="540716406" sldId="280"/>
            <ac:spMk id="239" creationId="{00000000-0000-0000-0000-000000000000}"/>
          </ac:spMkLst>
        </pc:spChg>
        <pc:spChg chg="mod">
          <ac:chgData name="Diana Lizbeth Tetzicatl Navarro" userId="107c7f69-3e79-4791-b4e3-6f668d949ed0" providerId="ADAL" clId="{110A36E0-6EE1-4B4C-B27B-C66899872E81}" dt="2026-06-25T23:46:23.322" v="849" actId="1036"/>
          <ac:spMkLst>
            <pc:docMk/>
            <pc:sldMk cId="540716406" sldId="280"/>
            <ac:spMk id="240" creationId="{00000000-0000-0000-0000-000000000000}"/>
          </ac:spMkLst>
        </pc:spChg>
        <pc:graphicFrameChg chg="mod">
          <ac:chgData name="Diana Lizbeth Tetzicatl Navarro" userId="107c7f69-3e79-4791-b4e3-6f668d949ed0" providerId="ADAL" clId="{110A36E0-6EE1-4B4C-B27B-C66899872E81}" dt="2026-06-25T23:46:23.322" v="849" actId="1036"/>
          <ac:graphicFrameMkLst>
            <pc:docMk/>
            <pc:sldMk cId="540716406" sldId="280"/>
            <ac:graphicFrameMk id="236" creationId="{00000000-0000-0000-0000-000000000000}"/>
          </ac:graphicFrameMkLst>
        </pc:graphicFrameChg>
        <pc:graphicFrameChg chg="mod">
          <ac:chgData name="Diana Lizbeth Tetzicatl Navarro" userId="107c7f69-3e79-4791-b4e3-6f668d949ed0" providerId="ADAL" clId="{110A36E0-6EE1-4B4C-B27B-C66899872E81}" dt="2026-06-25T23:46:23.322" v="849" actId="1036"/>
          <ac:graphicFrameMkLst>
            <pc:docMk/>
            <pc:sldMk cId="540716406" sldId="280"/>
            <ac:graphicFrameMk id="237" creationId="{00000000-0000-0000-0000-000000000000}"/>
          </ac:graphicFrameMkLst>
        </pc:graphicFrameChg>
      </pc:sldChg>
      <pc:sldChg chg="modSp mod">
        <pc:chgData name="Diana Lizbeth Tetzicatl Navarro" userId="107c7f69-3e79-4791-b4e3-6f668d949ed0" providerId="ADAL" clId="{110A36E0-6EE1-4B4C-B27B-C66899872E81}" dt="2026-07-02T23:56:40.161" v="1599" actId="20577"/>
        <pc:sldMkLst>
          <pc:docMk/>
          <pc:sldMk cId="364733940" sldId="284"/>
        </pc:sldMkLst>
        <pc:spChg chg="mod">
          <ac:chgData name="Diana Lizbeth Tetzicatl Navarro" userId="107c7f69-3e79-4791-b4e3-6f668d949ed0" providerId="ADAL" clId="{110A36E0-6EE1-4B4C-B27B-C66899872E81}" dt="2026-07-02T23:56:40.161" v="1599" actId="20577"/>
          <ac:spMkLst>
            <pc:docMk/>
            <pc:sldMk cId="364733940" sldId="284"/>
            <ac:spMk id="12" creationId="{00000000-0000-0000-0000-000000000000}"/>
          </ac:spMkLst>
        </pc:spChg>
        <pc:graphicFrameChg chg="mod modGraphic">
          <ac:chgData name="Diana Lizbeth Tetzicatl Navarro" userId="107c7f69-3e79-4791-b4e3-6f668d949ed0" providerId="ADAL" clId="{110A36E0-6EE1-4B4C-B27B-C66899872E81}" dt="2026-06-25T22:41:53.446" v="419" actId="1036"/>
          <ac:graphicFrameMkLst>
            <pc:docMk/>
            <pc:sldMk cId="364733940" sldId="284"/>
            <ac:graphicFrameMk id="9" creationId="{00000000-0000-0000-0000-000000000000}"/>
          </ac:graphicFrameMkLst>
        </pc:graphicFrameChg>
        <pc:graphicFrameChg chg="mod modGraphic">
          <ac:chgData name="Diana Lizbeth Tetzicatl Navarro" userId="107c7f69-3e79-4791-b4e3-6f668d949ed0" providerId="ADAL" clId="{110A36E0-6EE1-4B4C-B27B-C66899872E81}" dt="2026-06-25T22:41:56.796" v="425" actId="1036"/>
          <ac:graphicFrameMkLst>
            <pc:docMk/>
            <pc:sldMk cId="364733940" sldId="284"/>
            <ac:graphicFrameMk id="10" creationId="{00000000-0000-0000-0000-000000000000}"/>
          </ac:graphicFrameMkLst>
        </pc:graphicFrameChg>
        <pc:graphicFrameChg chg="mod modGraphic">
          <ac:chgData name="Diana Lizbeth Tetzicatl Navarro" userId="107c7f69-3e79-4791-b4e3-6f668d949ed0" providerId="ADAL" clId="{110A36E0-6EE1-4B4C-B27B-C66899872E81}" dt="2026-06-25T22:41:35.902" v="407" actId="242"/>
          <ac:graphicFrameMkLst>
            <pc:docMk/>
            <pc:sldMk cId="364733940" sldId="284"/>
            <ac:graphicFrameMk id="11" creationId="{00000000-0000-0000-0000-000000000000}"/>
          </ac:graphicFrameMkLst>
        </pc:graphicFrameChg>
      </pc:sldChg>
      <pc:sldChg chg="addSp modSp mod">
        <pc:chgData name="Diana Lizbeth Tetzicatl Navarro" userId="107c7f69-3e79-4791-b4e3-6f668d949ed0" providerId="ADAL" clId="{110A36E0-6EE1-4B4C-B27B-C66899872E81}" dt="2026-07-02T18:31:36.267" v="1323" actId="20577"/>
        <pc:sldMkLst>
          <pc:docMk/>
          <pc:sldMk cId="3805655920" sldId="288"/>
        </pc:sldMkLst>
        <pc:spChg chg="add mod">
          <ac:chgData name="Diana Lizbeth Tetzicatl Navarro" userId="107c7f69-3e79-4791-b4e3-6f668d949ed0" providerId="ADAL" clId="{110A36E0-6EE1-4B4C-B27B-C66899872E81}" dt="2026-06-26T19:16:53.533" v="1053" actId="1036"/>
          <ac:spMkLst>
            <pc:docMk/>
            <pc:sldMk cId="3805655920" sldId="288"/>
            <ac:spMk id="7" creationId="{B73B03EC-C7C4-A495-BAA1-CE66ABBFB185}"/>
          </ac:spMkLst>
        </pc:spChg>
        <pc:spChg chg="add mod">
          <ac:chgData name="Diana Lizbeth Tetzicatl Navarro" userId="107c7f69-3e79-4791-b4e3-6f668d949ed0" providerId="ADAL" clId="{110A36E0-6EE1-4B4C-B27B-C66899872E81}" dt="2026-06-26T19:17:04.797" v="1073" actId="1035"/>
          <ac:spMkLst>
            <pc:docMk/>
            <pc:sldMk cId="3805655920" sldId="288"/>
            <ac:spMk id="11" creationId="{AC4F29A9-C720-CC83-0D44-EE6A1EE7F9A1}"/>
          </ac:spMkLst>
        </pc:spChg>
        <pc:spChg chg="add mod">
          <ac:chgData name="Diana Lizbeth Tetzicatl Navarro" userId="107c7f69-3e79-4791-b4e3-6f668d949ed0" providerId="ADAL" clId="{110A36E0-6EE1-4B4C-B27B-C66899872E81}" dt="2026-06-26T19:16:09.275" v="1004" actId="1035"/>
          <ac:spMkLst>
            <pc:docMk/>
            <pc:sldMk cId="3805655920" sldId="288"/>
            <ac:spMk id="12" creationId="{E925B8BB-1514-52FC-78BD-7330CEF016EC}"/>
          </ac:spMkLst>
        </pc:spChg>
        <pc:spChg chg="add mod">
          <ac:chgData name="Diana Lizbeth Tetzicatl Navarro" userId="107c7f69-3e79-4791-b4e3-6f668d949ed0" providerId="ADAL" clId="{110A36E0-6EE1-4B4C-B27B-C66899872E81}" dt="2026-06-26T19:16:09.275" v="1004" actId="1035"/>
          <ac:spMkLst>
            <pc:docMk/>
            <pc:sldMk cId="3805655920" sldId="288"/>
            <ac:spMk id="13" creationId="{A8C8510D-1F40-2BF7-BD50-50D42112EDBE}"/>
          </ac:spMkLst>
        </pc:spChg>
        <pc:spChg chg="add mod">
          <ac:chgData name="Diana Lizbeth Tetzicatl Navarro" userId="107c7f69-3e79-4791-b4e3-6f668d949ed0" providerId="ADAL" clId="{110A36E0-6EE1-4B4C-B27B-C66899872E81}" dt="2026-06-26T19:16:09.275" v="1004" actId="1035"/>
          <ac:spMkLst>
            <pc:docMk/>
            <pc:sldMk cId="3805655920" sldId="288"/>
            <ac:spMk id="14" creationId="{58EB6069-C851-BAD0-6477-F97AC77E987C}"/>
          </ac:spMkLst>
        </pc:spChg>
        <pc:graphicFrameChg chg="mod modGraphic">
          <ac:chgData name="Diana Lizbeth Tetzicatl Navarro" userId="107c7f69-3e79-4791-b4e3-6f668d949ed0" providerId="ADAL" clId="{110A36E0-6EE1-4B4C-B27B-C66899872E81}" dt="2026-07-02T18:28:52.394" v="1251" actId="20577"/>
          <ac:graphicFrameMkLst>
            <pc:docMk/>
            <pc:sldMk cId="3805655920" sldId="288"/>
            <ac:graphicFrameMk id="5" creationId="{00000000-0000-0000-0000-000000000000}"/>
          </ac:graphicFrameMkLst>
        </pc:graphicFrameChg>
        <pc:graphicFrameChg chg="mod modGraphic">
          <ac:chgData name="Diana Lizbeth Tetzicatl Navarro" userId="107c7f69-3e79-4791-b4e3-6f668d949ed0" providerId="ADAL" clId="{110A36E0-6EE1-4B4C-B27B-C66899872E81}" dt="2026-07-02T18:31:36.267" v="1323" actId="20577"/>
          <ac:graphicFrameMkLst>
            <pc:docMk/>
            <pc:sldMk cId="3805655920" sldId="288"/>
            <ac:graphicFrameMk id="6" creationId="{00000000-0000-0000-0000-000000000000}"/>
          </ac:graphicFrameMkLst>
        </pc:graphicFrameChg>
        <pc:graphicFrameChg chg="add mod modGraphic">
          <ac:chgData name="Diana Lizbeth Tetzicatl Navarro" userId="107c7f69-3e79-4791-b4e3-6f668d949ed0" providerId="ADAL" clId="{110A36E0-6EE1-4B4C-B27B-C66899872E81}" dt="2026-06-26T19:16:45.661" v="1048" actId="1036"/>
          <ac:graphicFrameMkLst>
            <pc:docMk/>
            <pc:sldMk cId="3805655920" sldId="288"/>
            <ac:graphicFrameMk id="8" creationId="{286AE021-C0E1-C77F-7252-613E022373C1}"/>
          </ac:graphicFrameMkLst>
        </pc:graphicFrameChg>
        <pc:graphicFrameChg chg="mod">
          <ac:chgData name="Diana Lizbeth Tetzicatl Navarro" userId="107c7f69-3e79-4791-b4e3-6f668d949ed0" providerId="ADAL" clId="{110A36E0-6EE1-4B4C-B27B-C66899872E81}" dt="2026-06-26T19:16:53.533" v="1053" actId="1036"/>
          <ac:graphicFrameMkLst>
            <pc:docMk/>
            <pc:sldMk cId="3805655920" sldId="288"/>
            <ac:graphicFrameMk id="9" creationId="{05F1183F-B1E3-FA9A-B809-CB20B859C95C}"/>
          </ac:graphicFrameMkLst>
        </pc:graphicFrameChg>
        <pc:graphicFrameChg chg="add mod">
          <ac:chgData name="Diana Lizbeth Tetzicatl Navarro" userId="107c7f69-3e79-4791-b4e3-6f668d949ed0" providerId="ADAL" clId="{110A36E0-6EE1-4B4C-B27B-C66899872E81}" dt="2026-06-26T19:16:53.533" v="1053" actId="1036"/>
          <ac:graphicFrameMkLst>
            <pc:docMk/>
            <pc:sldMk cId="3805655920" sldId="288"/>
            <ac:graphicFrameMk id="10" creationId="{49726BF0-B9FB-0D47-870A-DDF17259043A}"/>
          </ac:graphicFrameMkLst>
        </pc:graphicFrameChg>
        <pc:picChg chg="add mod">
          <ac:chgData name="Diana Lizbeth Tetzicatl Navarro" userId="107c7f69-3e79-4791-b4e3-6f668d949ed0" providerId="ADAL" clId="{110A36E0-6EE1-4B4C-B27B-C66899872E81}" dt="2026-06-26T19:16:09.275" v="1004" actId="1035"/>
          <ac:picMkLst>
            <pc:docMk/>
            <pc:sldMk cId="3805655920" sldId="288"/>
            <ac:picMk id="15" creationId="{06EA5D30-E612-BD6F-F62C-78213BBD3292}"/>
          </ac:picMkLst>
        </pc:picChg>
        <pc:picChg chg="add mod">
          <ac:chgData name="Diana Lizbeth Tetzicatl Navarro" userId="107c7f69-3e79-4791-b4e3-6f668d949ed0" providerId="ADAL" clId="{110A36E0-6EE1-4B4C-B27B-C66899872E81}" dt="2026-06-26T19:16:09.275" v="1004" actId="1035"/>
          <ac:picMkLst>
            <pc:docMk/>
            <pc:sldMk cId="3805655920" sldId="288"/>
            <ac:picMk id="16" creationId="{DAA06BEA-72F7-F6D1-1744-36D81CD8CB68}"/>
          </ac:picMkLst>
        </pc:picChg>
        <pc:picChg chg="add mod">
          <ac:chgData name="Diana Lizbeth Tetzicatl Navarro" userId="107c7f69-3e79-4791-b4e3-6f668d949ed0" providerId="ADAL" clId="{110A36E0-6EE1-4B4C-B27B-C66899872E81}" dt="2026-06-26T19:16:09.275" v="1004" actId="1035"/>
          <ac:picMkLst>
            <pc:docMk/>
            <pc:sldMk cId="3805655920" sldId="288"/>
            <ac:picMk id="17" creationId="{3CAF46C9-D603-A9F1-DFB4-EAE7A130B183}"/>
          </ac:picMkLst>
        </pc:picChg>
      </pc:sldChg>
      <pc:sldChg chg="modSp mod">
        <pc:chgData name="Diana Lizbeth Tetzicatl Navarro" userId="107c7f69-3e79-4791-b4e3-6f668d949ed0" providerId="ADAL" clId="{110A36E0-6EE1-4B4C-B27B-C66899872E81}" dt="2026-06-25T23:47:30.212" v="877" actId="242"/>
        <pc:sldMkLst>
          <pc:docMk/>
          <pc:sldMk cId="3240565764" sldId="297"/>
        </pc:sldMkLst>
        <pc:graphicFrameChg chg="mod modGraphic">
          <ac:chgData name="Diana Lizbeth Tetzicatl Navarro" userId="107c7f69-3e79-4791-b4e3-6f668d949ed0" providerId="ADAL" clId="{110A36E0-6EE1-4B4C-B27B-C66899872E81}" dt="2026-06-25T23:47:30.212" v="877" actId="242"/>
          <ac:graphicFrameMkLst>
            <pc:docMk/>
            <pc:sldMk cId="3240565764" sldId="297"/>
            <ac:graphicFrameMk id="8" creationId="{00000000-0000-0000-0000-000000000000}"/>
          </ac:graphicFrameMkLst>
        </pc:graphicFrameChg>
        <pc:graphicFrameChg chg="modGraphic">
          <ac:chgData name="Diana Lizbeth Tetzicatl Navarro" userId="107c7f69-3e79-4791-b4e3-6f668d949ed0" providerId="ADAL" clId="{110A36E0-6EE1-4B4C-B27B-C66899872E81}" dt="2026-06-25T22:41:17.085" v="388" actId="242"/>
          <ac:graphicFrameMkLst>
            <pc:docMk/>
            <pc:sldMk cId="3240565764" sldId="297"/>
            <ac:graphicFrameMk id="9" creationId="{00000000-0000-0000-0000-000000000000}"/>
          </ac:graphicFrameMkLst>
        </pc:graphicFrameChg>
      </pc:sldChg>
      <pc:sldChg chg="modSp mod">
        <pc:chgData name="Diana Lizbeth Tetzicatl Navarro" userId="107c7f69-3e79-4791-b4e3-6f668d949ed0" providerId="ADAL" clId="{110A36E0-6EE1-4B4C-B27B-C66899872E81}" dt="2026-06-25T23:46:51.939" v="863" actId="20577"/>
        <pc:sldMkLst>
          <pc:docMk/>
          <pc:sldMk cId="1524095599" sldId="298"/>
        </pc:sldMkLst>
        <pc:spChg chg="mod">
          <ac:chgData name="Diana Lizbeth Tetzicatl Navarro" userId="107c7f69-3e79-4791-b4e3-6f668d949ed0" providerId="ADAL" clId="{110A36E0-6EE1-4B4C-B27B-C66899872E81}" dt="2026-06-25T23:46:51.939" v="863" actId="20577"/>
          <ac:spMkLst>
            <pc:docMk/>
            <pc:sldMk cId="1524095599" sldId="298"/>
            <ac:spMk id="5" creationId="{00000000-0000-0000-0000-000000000000}"/>
          </ac:spMkLst>
        </pc:spChg>
      </pc:sldChg>
      <pc:sldChg chg="addSp delSp modSp mod">
        <pc:chgData name="Diana Lizbeth Tetzicatl Navarro" userId="107c7f69-3e79-4791-b4e3-6f668d949ed0" providerId="ADAL" clId="{110A36E0-6EE1-4B4C-B27B-C66899872E81}" dt="2026-07-02T23:55:18.182" v="1591" actId="20577"/>
        <pc:sldMkLst>
          <pc:docMk/>
          <pc:sldMk cId="4056737297" sldId="300"/>
        </pc:sldMkLst>
        <pc:spChg chg="mod">
          <ac:chgData name="Diana Lizbeth Tetzicatl Navarro" userId="107c7f69-3e79-4791-b4e3-6f668d949ed0" providerId="ADAL" clId="{110A36E0-6EE1-4B4C-B27B-C66899872E81}" dt="2026-06-26T18:41:58.968" v="902" actId="20577"/>
          <ac:spMkLst>
            <pc:docMk/>
            <pc:sldMk cId="4056737297" sldId="300"/>
            <ac:spMk id="10" creationId="{00000000-0000-0000-0000-000000000000}"/>
          </ac:spMkLst>
        </pc:spChg>
        <pc:graphicFrameChg chg="modGraphic">
          <ac:chgData name="Diana Lizbeth Tetzicatl Navarro" userId="107c7f69-3e79-4791-b4e3-6f668d949ed0" providerId="ADAL" clId="{110A36E0-6EE1-4B4C-B27B-C66899872E81}" dt="2026-07-02T23:55:18.182" v="1591" actId="20577"/>
          <ac:graphicFrameMkLst>
            <pc:docMk/>
            <pc:sldMk cId="4056737297" sldId="300"/>
            <ac:graphicFrameMk id="9" creationId="{00000000-0000-0000-0000-000000000000}"/>
          </ac:graphicFrameMkLst>
        </pc:graphicFrameChg>
        <pc:graphicFrameChg chg="add mod">
          <ac:chgData name="Diana Lizbeth Tetzicatl Navarro" userId="107c7f69-3e79-4791-b4e3-6f668d949ed0" providerId="ADAL" clId="{110A36E0-6EE1-4B4C-B27B-C66899872E81}" dt="2026-07-02T22:49:56.885" v="1449" actId="1036"/>
          <ac:graphicFrameMkLst>
            <pc:docMk/>
            <pc:sldMk cId="4056737297" sldId="300"/>
            <ac:graphicFrameMk id="11" creationId="{850B1015-DF5F-141B-5B50-4745E5EADA55}"/>
          </ac:graphicFrameMkLst>
        </pc:graphicFrameChg>
        <pc:picChg chg="del">
          <ac:chgData name="Diana Lizbeth Tetzicatl Navarro" userId="107c7f69-3e79-4791-b4e3-6f668d949ed0" providerId="ADAL" clId="{110A36E0-6EE1-4B4C-B27B-C66899872E81}" dt="2026-07-02T22:49:05.427" v="1391" actId="478"/>
          <ac:picMkLst>
            <pc:docMk/>
            <pc:sldMk cId="4056737297" sldId="300"/>
            <ac:picMk id="6" creationId="{00000000-0000-0000-0000-000000000000}"/>
          </ac:picMkLst>
        </pc:picChg>
      </pc:sldChg>
      <pc:sldChg chg="modSp mod">
        <pc:chgData name="Diana Lizbeth Tetzicatl Navarro" userId="107c7f69-3e79-4791-b4e3-6f668d949ed0" providerId="ADAL" clId="{110A36E0-6EE1-4B4C-B27B-C66899872E81}" dt="2026-06-25T23:47:03.275" v="876" actId="20577"/>
        <pc:sldMkLst>
          <pc:docMk/>
          <pc:sldMk cId="0" sldId="301"/>
        </pc:sldMkLst>
        <pc:spChg chg="mod">
          <ac:chgData name="Diana Lizbeth Tetzicatl Navarro" userId="107c7f69-3e79-4791-b4e3-6f668d949ed0" providerId="ADAL" clId="{110A36E0-6EE1-4B4C-B27B-C66899872E81}" dt="2026-06-25T23:47:03.275" v="876" actId="20577"/>
          <ac:spMkLst>
            <pc:docMk/>
            <pc:sldMk cId="0" sldId="301"/>
            <ac:spMk id="4" creationId="{00000000-0000-0000-0000-000000000000}"/>
          </ac:spMkLst>
        </pc:spChg>
        <pc:spChg chg="mod">
          <ac:chgData name="Diana Lizbeth Tetzicatl Navarro" userId="107c7f69-3e79-4791-b4e3-6f668d949ed0" providerId="ADAL" clId="{110A36E0-6EE1-4B4C-B27B-C66899872E81}" dt="2026-06-25T22:38:40.809" v="343" actId="1035"/>
          <ac:spMkLst>
            <pc:docMk/>
            <pc:sldMk cId="0" sldId="301"/>
            <ac:spMk id="13" creationId="{00000000-0000-0000-0000-000000000000}"/>
          </ac:spMkLst>
        </pc:spChg>
        <pc:graphicFrameChg chg="mod">
          <ac:chgData name="Diana Lizbeth Tetzicatl Navarro" userId="107c7f69-3e79-4791-b4e3-6f668d949ed0" providerId="ADAL" clId="{110A36E0-6EE1-4B4C-B27B-C66899872E81}" dt="2026-06-25T22:38:40.809" v="343" actId="1035"/>
          <ac:graphicFrameMkLst>
            <pc:docMk/>
            <pc:sldMk cId="0" sldId="301"/>
            <ac:graphicFrameMk id="15" creationId="{00000000-0000-0000-0000-000000000000}"/>
          </ac:graphicFrameMkLst>
        </pc:graphicFrameChg>
        <pc:graphicFrameChg chg="mod">
          <ac:chgData name="Diana Lizbeth Tetzicatl Navarro" userId="107c7f69-3e79-4791-b4e3-6f668d949ed0" providerId="ADAL" clId="{110A36E0-6EE1-4B4C-B27B-C66899872E81}" dt="2026-06-25T22:38:40.809" v="343" actId="1035"/>
          <ac:graphicFrameMkLst>
            <pc:docMk/>
            <pc:sldMk cId="0" sldId="301"/>
            <ac:graphicFrameMk id="16" creationId="{00000000-0000-0000-0000-000000000000}"/>
          </ac:graphicFrameMkLst>
        </pc:graphicFrameChg>
        <pc:cxnChg chg="mod">
          <ac:chgData name="Diana Lizbeth Tetzicatl Navarro" userId="107c7f69-3e79-4791-b4e3-6f668d949ed0" providerId="ADAL" clId="{110A36E0-6EE1-4B4C-B27B-C66899872E81}" dt="2026-06-25T22:38:40.809" v="343" actId="1035"/>
          <ac:cxnSpMkLst>
            <pc:docMk/>
            <pc:sldMk cId="0" sldId="301"/>
            <ac:cxnSpMk id="14" creationId="{00000000-0000-0000-0000-000000000000}"/>
          </ac:cxnSpMkLst>
        </pc:cxnChg>
      </pc:sldChg>
      <pc:sldChg chg="modSp mod">
        <pc:chgData name="Diana Lizbeth Tetzicatl Navarro" userId="107c7f69-3e79-4791-b4e3-6f668d949ed0" providerId="ADAL" clId="{110A36E0-6EE1-4B4C-B27B-C66899872E81}" dt="2026-06-25T22:39:30.650" v="357" actId="14100"/>
        <pc:sldMkLst>
          <pc:docMk/>
          <pc:sldMk cId="0" sldId="302"/>
        </pc:sldMkLst>
        <pc:graphicFrameChg chg="mod modGraphic">
          <ac:chgData name="Diana Lizbeth Tetzicatl Navarro" userId="107c7f69-3e79-4791-b4e3-6f668d949ed0" providerId="ADAL" clId="{110A36E0-6EE1-4B4C-B27B-C66899872E81}" dt="2026-06-25T22:39:30.650" v="357" actId="14100"/>
          <ac:graphicFrameMkLst>
            <pc:docMk/>
            <pc:sldMk cId="0" sldId="302"/>
            <ac:graphicFrameMk id="5" creationId="{00000000-0000-0000-0000-000000000000}"/>
          </ac:graphicFrameMkLst>
        </pc:graphicFrameChg>
      </pc:sldChg>
      <pc:sldChg chg="modSp add mod setBg">
        <pc:chgData name="Diana Lizbeth Tetzicatl Navarro" userId="107c7f69-3e79-4791-b4e3-6f668d949ed0" providerId="ADAL" clId="{110A36E0-6EE1-4B4C-B27B-C66899872E81}" dt="2026-07-02T18:05:19.232" v="1113" actId="20577"/>
        <pc:sldMkLst>
          <pc:docMk/>
          <pc:sldMk cId="0" sldId="303"/>
        </pc:sldMkLst>
        <pc:spChg chg="mod">
          <ac:chgData name="Diana Lizbeth Tetzicatl Navarro" userId="107c7f69-3e79-4791-b4e3-6f668d949ed0" providerId="ADAL" clId="{110A36E0-6EE1-4B4C-B27B-C66899872E81}" dt="2026-06-25T23:36:10.107" v="827" actId="1038"/>
          <ac:spMkLst>
            <pc:docMk/>
            <pc:sldMk cId="0" sldId="303"/>
            <ac:spMk id="70" creationId="{00000000-0000-0000-0000-000000000000}"/>
          </ac:spMkLst>
        </pc:spChg>
        <pc:spChg chg="mod">
          <ac:chgData name="Diana Lizbeth Tetzicatl Navarro" userId="107c7f69-3e79-4791-b4e3-6f668d949ed0" providerId="ADAL" clId="{110A36E0-6EE1-4B4C-B27B-C66899872E81}" dt="2026-06-25T23:36:10.107" v="827" actId="1038"/>
          <ac:spMkLst>
            <pc:docMk/>
            <pc:sldMk cId="0" sldId="303"/>
            <ac:spMk id="71" creationId="{00000000-0000-0000-0000-000000000000}"/>
          </ac:spMkLst>
        </pc:spChg>
        <pc:spChg chg="mod">
          <ac:chgData name="Diana Lizbeth Tetzicatl Navarro" userId="107c7f69-3e79-4791-b4e3-6f668d949ed0" providerId="ADAL" clId="{110A36E0-6EE1-4B4C-B27B-C66899872E81}" dt="2026-06-25T23:36:10.107" v="827" actId="1038"/>
          <ac:spMkLst>
            <pc:docMk/>
            <pc:sldMk cId="0" sldId="303"/>
            <ac:spMk id="72" creationId="{00000000-0000-0000-0000-000000000000}"/>
          </ac:spMkLst>
        </pc:spChg>
        <pc:spChg chg="mod">
          <ac:chgData name="Diana Lizbeth Tetzicatl Navarro" userId="107c7f69-3e79-4791-b4e3-6f668d949ed0" providerId="ADAL" clId="{110A36E0-6EE1-4B4C-B27B-C66899872E81}" dt="2026-06-25T23:36:10.107" v="827" actId="1038"/>
          <ac:spMkLst>
            <pc:docMk/>
            <pc:sldMk cId="0" sldId="303"/>
            <ac:spMk id="73" creationId="{00000000-0000-0000-0000-000000000000}"/>
          </ac:spMkLst>
        </pc:spChg>
        <pc:spChg chg="mod">
          <ac:chgData name="Diana Lizbeth Tetzicatl Navarro" userId="107c7f69-3e79-4791-b4e3-6f668d949ed0" providerId="ADAL" clId="{110A36E0-6EE1-4B4C-B27B-C66899872E81}" dt="2026-06-25T23:36:10.107" v="827" actId="1038"/>
          <ac:spMkLst>
            <pc:docMk/>
            <pc:sldMk cId="0" sldId="303"/>
            <ac:spMk id="74" creationId="{00000000-0000-0000-0000-000000000000}"/>
          </ac:spMkLst>
        </pc:spChg>
        <pc:spChg chg="mod">
          <ac:chgData name="Diana Lizbeth Tetzicatl Navarro" userId="107c7f69-3e79-4791-b4e3-6f668d949ed0" providerId="ADAL" clId="{110A36E0-6EE1-4B4C-B27B-C66899872E81}" dt="2026-06-25T23:36:10.107" v="827" actId="1038"/>
          <ac:spMkLst>
            <pc:docMk/>
            <pc:sldMk cId="0" sldId="303"/>
            <ac:spMk id="75" creationId="{00000000-0000-0000-0000-000000000000}"/>
          </ac:spMkLst>
        </pc:spChg>
        <pc:spChg chg="mod">
          <ac:chgData name="Diana Lizbeth Tetzicatl Navarro" userId="107c7f69-3e79-4791-b4e3-6f668d949ed0" providerId="ADAL" clId="{110A36E0-6EE1-4B4C-B27B-C66899872E81}" dt="2026-06-25T23:36:10.107" v="827" actId="1038"/>
          <ac:spMkLst>
            <pc:docMk/>
            <pc:sldMk cId="0" sldId="303"/>
            <ac:spMk id="76" creationId="{00000000-0000-0000-0000-000000000000}"/>
          </ac:spMkLst>
        </pc:spChg>
        <pc:spChg chg="mod">
          <ac:chgData name="Diana Lizbeth Tetzicatl Navarro" userId="107c7f69-3e79-4791-b4e3-6f668d949ed0" providerId="ADAL" clId="{110A36E0-6EE1-4B4C-B27B-C66899872E81}" dt="2026-06-25T23:36:10.107" v="827" actId="1038"/>
          <ac:spMkLst>
            <pc:docMk/>
            <pc:sldMk cId="0" sldId="303"/>
            <ac:spMk id="77" creationId="{00000000-0000-0000-0000-000000000000}"/>
          </ac:spMkLst>
        </pc:spChg>
        <pc:graphicFrameChg chg="modGraphic">
          <ac:chgData name="Diana Lizbeth Tetzicatl Navarro" userId="107c7f69-3e79-4791-b4e3-6f668d949ed0" providerId="ADAL" clId="{110A36E0-6EE1-4B4C-B27B-C66899872E81}" dt="2026-07-02T18:05:19.232" v="1113" actId="20577"/>
          <ac:graphicFrameMkLst>
            <pc:docMk/>
            <pc:sldMk cId="0" sldId="303"/>
            <ac:graphicFrameMk id="69" creationId="{00000000-0000-0000-0000-000000000000}"/>
          </ac:graphicFrameMkLst>
        </pc:graphicFrameChg>
        <pc:picChg chg="mod">
          <ac:chgData name="Diana Lizbeth Tetzicatl Navarro" userId="107c7f69-3e79-4791-b4e3-6f668d949ed0" providerId="ADAL" clId="{110A36E0-6EE1-4B4C-B27B-C66899872E81}" dt="2026-06-25T23:36:10.107" v="827" actId="1038"/>
          <ac:picMkLst>
            <pc:docMk/>
            <pc:sldMk cId="0" sldId="303"/>
            <ac:picMk id="84" creationId="{00000000-0000-0000-0000-000000000000}"/>
          </ac:picMkLst>
        </pc:picChg>
        <pc:picChg chg="mod">
          <ac:chgData name="Diana Lizbeth Tetzicatl Navarro" userId="107c7f69-3e79-4791-b4e3-6f668d949ed0" providerId="ADAL" clId="{110A36E0-6EE1-4B4C-B27B-C66899872E81}" dt="2026-06-25T23:36:10.107" v="827" actId="1038"/>
          <ac:picMkLst>
            <pc:docMk/>
            <pc:sldMk cId="0" sldId="303"/>
            <ac:picMk id="87" creationId="{00000000-0000-0000-0000-000000000000}"/>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3" Type="http://schemas.openxmlformats.org/officeDocument/2006/relationships/oleObject" Target="file:///C:\Users\diana.tetzicatl\Downloads\machote%20grafica%20recetas%20surtidas%20y%20negadas.xlsx" TargetMode="External"/><Relationship Id="rId2" Type="http://schemas.microsoft.com/office/2011/relationships/chartColorStyle" Target="colors1.xml"/><Relationship Id="rId1" Type="http://schemas.microsoft.com/office/2011/relationships/chartStyle" Target="style1.xml"/></Relationships>
</file>

<file path=ppt/charts/_rels/chart8.xml.rels><?xml version="1.0" encoding="UTF-8" standalone="yes"?>
<Relationships xmlns="http://schemas.openxmlformats.org/package/2006/relationships"><Relationship Id="rId3" Type="http://schemas.openxmlformats.org/officeDocument/2006/relationships/oleObject" Target="file:///C:\Users\diana.tetzicatl\Downloads\machote%20grafica%20piezas%20consumidas_abasto.xlsx" TargetMode="External"/><Relationship Id="rId2" Type="http://schemas.microsoft.com/office/2011/relationships/chartColorStyle" Target="colors2.xml"/><Relationship Id="rId1" Type="http://schemas.microsoft.com/office/2011/relationships/chartStyle" Target="style2.xml"/></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006455"/>
              </a:solidFill>
            </c:spPr>
            <c:extLst>
              <c:ext xmlns:c16="http://schemas.microsoft.com/office/drawing/2014/chart" uri="{C3380CC4-5D6E-409C-BE32-E72D297353CC}">
                <c16:uniqueId val="{00000001-B6BF-4173-A3DF-3E187CDE50B7}"/>
              </c:ext>
            </c:extLst>
          </c:dPt>
          <c:dPt>
            <c:idx val="1"/>
            <c:bubble3D val="0"/>
            <c:spPr>
              <a:solidFill>
                <a:srgbClr val="691C32"/>
              </a:solidFill>
            </c:spPr>
            <c:extLst>
              <c:ext xmlns:c16="http://schemas.microsoft.com/office/drawing/2014/chart" uri="{C3380CC4-5D6E-409C-BE32-E72D297353CC}">
                <c16:uniqueId val="{00000003-B6BF-4173-A3DF-3E187CDE50B7}"/>
              </c:ext>
            </c:extLst>
          </c:dPt>
          <c:dPt>
            <c:idx val="2"/>
            <c:bubble3D val="0"/>
            <c:spPr>
              <a:solidFill>
                <a:srgbClr val="BC955C"/>
              </a:solidFill>
            </c:spPr>
            <c:extLst>
              <c:ext xmlns:c16="http://schemas.microsoft.com/office/drawing/2014/chart" uri="{C3380CC4-5D6E-409C-BE32-E72D297353CC}">
                <c16:uniqueId val="{00000005-B6BF-4173-A3DF-3E187CDE50B7}"/>
              </c:ext>
            </c:extLst>
          </c:dPt>
          <c:dPt>
            <c:idx val="3"/>
            <c:bubble3D val="0"/>
            <c:spPr>
              <a:solidFill>
                <a:srgbClr val="9E9E9E"/>
              </a:solidFill>
            </c:spPr>
            <c:extLst>
              <c:ext xmlns:c16="http://schemas.microsoft.com/office/drawing/2014/chart" uri="{C3380CC4-5D6E-409C-BE32-E72D297353CC}">
                <c16:uniqueId val="{00000007-B6BF-4173-A3DF-3E187CDE50B7}"/>
              </c:ext>
            </c:extLst>
          </c:dPt>
          <c:cat>
            <c:strRef>
              <c:f>Sheet1!$A$2:$A$5</c:f>
              <c:strCache>
                <c:ptCount val="4"/>
                <c:pt idx="0">
                  <c:v>IMSS</c:v>
                </c:pt>
                <c:pt idx="1">
                  <c:v>ISSSTE</c:v>
                </c:pt>
                <c:pt idx="2">
                  <c:v>IMSS-BIENESTAR</c:v>
                </c:pt>
                <c:pt idx="3">
                  <c:v>Otros</c:v>
                </c:pt>
              </c:strCache>
            </c:strRef>
          </c:cat>
          <c:val>
            <c:numRef>
              <c:f>Sheet1!$B$2:$B$5</c:f>
              <c:numCache>
                <c:formatCode>General</c:formatCode>
                <c:ptCount val="4"/>
                <c:pt idx="0">
                  <c:v>1640082</c:v>
                </c:pt>
                <c:pt idx="1">
                  <c:v>191529</c:v>
                </c:pt>
                <c:pt idx="2">
                  <c:v>857271</c:v>
                </c:pt>
                <c:pt idx="3">
                  <c:v>12096</c:v>
                </c:pt>
              </c:numCache>
            </c:numRef>
          </c:val>
          <c:extLst>
            <c:ext xmlns:c16="http://schemas.microsoft.com/office/drawing/2014/chart" uri="{C3380CC4-5D6E-409C-BE32-E72D297353CC}">
              <c16:uniqueId val="{00000008-B6BF-4173-A3DF-3E187CDE50B7}"/>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s-MX"/>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8714-495A-BB75-3C04F9F1E52C}"/>
              </c:ext>
            </c:extLst>
          </c:dPt>
          <c:dPt>
            <c:idx val="1"/>
            <c:bubble3D val="0"/>
            <c:spPr>
              <a:solidFill>
                <a:srgbClr val="EBE0D2"/>
              </a:solidFill>
              <a:ln>
                <a:noFill/>
              </a:ln>
            </c:spPr>
            <c:extLst>
              <c:ext xmlns:c16="http://schemas.microsoft.com/office/drawing/2014/chart" uri="{C3380CC4-5D6E-409C-BE32-E72D297353CC}">
                <c16:uniqueId val="{00000003-8714-495A-BB75-3C04F9F1E52C}"/>
              </c:ext>
            </c:extLst>
          </c:dPt>
          <c:cat>
            <c:strRef>
              <c:f>Sheet1!$A$2:$A$3</c:f>
              <c:strCache>
                <c:ptCount val="2"/>
                <c:pt idx="0">
                  <c:v>Avance</c:v>
                </c:pt>
                <c:pt idx="1">
                  <c:v>Restante</c:v>
                </c:pt>
              </c:strCache>
            </c:strRef>
          </c:cat>
          <c:val>
            <c:numRef>
              <c:f>Sheet1!$B$2:$B$3</c:f>
              <c:numCache>
                <c:formatCode>General</c:formatCode>
                <c:ptCount val="2"/>
                <c:pt idx="0">
                  <c:v>39.443060498220639</c:v>
                </c:pt>
                <c:pt idx="1">
                  <c:v>60.556939501779361</c:v>
                </c:pt>
              </c:numCache>
            </c:numRef>
          </c:val>
          <c:extLst>
            <c:ext xmlns:c16="http://schemas.microsoft.com/office/drawing/2014/chart" uri="{C3380CC4-5D6E-409C-BE32-E72D297353CC}">
              <c16:uniqueId val="{00000004-8714-495A-BB75-3C04F9F1E52C}"/>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title>
      <c:overlay val="0"/>
    </c:title>
    <c:autoTitleDeleted val="0"/>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632B-47CD-813B-D0B670AEF7EB}"/>
              </c:ext>
            </c:extLst>
          </c:dPt>
          <c:dPt>
            <c:idx val="1"/>
            <c:bubble3D val="0"/>
            <c:spPr>
              <a:solidFill>
                <a:srgbClr val="EBE0D2"/>
              </a:solidFill>
              <a:ln>
                <a:noFill/>
              </a:ln>
            </c:spPr>
            <c:extLst>
              <c:ext xmlns:c16="http://schemas.microsoft.com/office/drawing/2014/chart" uri="{C3380CC4-5D6E-409C-BE32-E72D297353CC}">
                <c16:uniqueId val="{00000003-632B-47CD-813B-D0B670AEF7EB}"/>
              </c:ext>
            </c:extLst>
          </c:dPt>
          <c:cat>
            <c:strRef>
              <c:f>Sheet1!$A$2:$A$3</c:f>
              <c:strCache>
                <c:ptCount val="2"/>
                <c:pt idx="0">
                  <c:v>Avance</c:v>
                </c:pt>
                <c:pt idx="1">
                  <c:v>Restante</c:v>
                </c:pt>
              </c:strCache>
            </c:strRef>
          </c:cat>
          <c:val>
            <c:numRef>
              <c:f>Sheet1!$B$2:$B$3</c:f>
              <c:numCache>
                <c:formatCode>General</c:formatCode>
                <c:ptCount val="2"/>
                <c:pt idx="0">
                  <c:v>15.986793968200001</c:v>
                </c:pt>
                <c:pt idx="1">
                  <c:v>84.013206031799996</c:v>
                </c:pt>
              </c:numCache>
            </c:numRef>
          </c:val>
          <c:extLst>
            <c:ext xmlns:c16="http://schemas.microsoft.com/office/drawing/2014/chart" uri="{C3380CC4-5D6E-409C-BE32-E72D297353CC}">
              <c16:uniqueId val="{00000004-632B-47CD-813B-D0B670AEF7EB}"/>
            </c:ext>
          </c:extLst>
        </c:ser>
        <c:dLbls>
          <c:showLegendKey val="0"/>
          <c:showVal val="0"/>
          <c:showCatName val="0"/>
          <c:showSerName val="0"/>
          <c:showPercent val="0"/>
          <c:showBubbleSize val="0"/>
          <c:showLeaderLines val="1"/>
        </c:dLbls>
        <c:firstSliceAng val="0"/>
        <c:holeSize val="70"/>
      </c:doughnutChart>
    </c:plotArea>
    <c:plotVisOnly val="1"/>
    <c:dispBlanksAs val="zero"/>
    <c:showDLblsOverMax val="1"/>
  </c:char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9334-4DD3-BDD5-F623E1447FE2}"/>
              </c:ext>
            </c:extLst>
          </c:dPt>
          <c:dPt>
            <c:idx val="1"/>
            <c:bubble3D val="0"/>
            <c:spPr>
              <a:solidFill>
                <a:srgbClr val="EBE0D2"/>
              </a:solidFill>
              <a:ln>
                <a:noFill/>
              </a:ln>
            </c:spPr>
            <c:extLst>
              <c:ext xmlns:c16="http://schemas.microsoft.com/office/drawing/2014/chart" uri="{C3380CC4-5D6E-409C-BE32-E72D297353CC}">
                <c16:uniqueId val="{00000003-9334-4DD3-BDD5-F623E1447FE2}"/>
              </c:ext>
            </c:extLst>
          </c:dPt>
          <c:cat>
            <c:strRef>
              <c:f>Sheet1!$A$2:$A$3</c:f>
              <c:strCache>
                <c:ptCount val="2"/>
                <c:pt idx="0">
                  <c:v>Avance</c:v>
                </c:pt>
                <c:pt idx="1">
                  <c:v>Restante</c:v>
                </c:pt>
              </c:strCache>
            </c:strRef>
          </c:cat>
          <c:val>
            <c:numRef>
              <c:f>Sheet1!$B$2:$B$3</c:f>
              <c:numCache>
                <c:formatCode>General</c:formatCode>
                <c:ptCount val="2"/>
                <c:pt idx="0">
                  <c:v>50.300674661484258</c:v>
                </c:pt>
                <c:pt idx="1">
                  <c:v>49.699325338515742</c:v>
                </c:pt>
              </c:numCache>
            </c:numRef>
          </c:val>
          <c:extLst>
            <c:ext xmlns:c16="http://schemas.microsoft.com/office/drawing/2014/chart" uri="{C3380CC4-5D6E-409C-BE32-E72D297353CC}">
              <c16:uniqueId val="{00000004-9334-4DD3-BDD5-F623E1447FE2}"/>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2A96-4685-BBE1-CF08714E873A}"/>
              </c:ext>
            </c:extLst>
          </c:dPt>
          <c:dPt>
            <c:idx val="1"/>
            <c:bubble3D val="0"/>
            <c:spPr>
              <a:solidFill>
                <a:srgbClr val="EBE0D2"/>
              </a:solidFill>
              <a:ln>
                <a:noFill/>
              </a:ln>
            </c:spPr>
            <c:extLst>
              <c:ext xmlns:c16="http://schemas.microsoft.com/office/drawing/2014/chart" uri="{C3380CC4-5D6E-409C-BE32-E72D297353CC}">
                <c16:uniqueId val="{00000003-2A96-4685-BBE1-CF08714E873A}"/>
              </c:ext>
            </c:extLst>
          </c:dPt>
          <c:cat>
            <c:strRef>
              <c:f>Sheet1!$A$2:$A$3</c:f>
              <c:strCache>
                <c:ptCount val="2"/>
                <c:pt idx="0">
                  <c:v>Avance</c:v>
                </c:pt>
                <c:pt idx="1">
                  <c:v>Restante</c:v>
                </c:pt>
              </c:strCache>
            </c:strRef>
          </c:cat>
          <c:val>
            <c:numRef>
              <c:f>Sheet1!$B$2:$B$3</c:f>
              <c:numCache>
                <c:formatCode>General</c:formatCode>
                <c:ptCount val="2"/>
                <c:pt idx="0">
                  <c:v>45.861422271782651</c:v>
                </c:pt>
                <c:pt idx="1">
                  <c:v>54.138577728217349</c:v>
                </c:pt>
              </c:numCache>
            </c:numRef>
          </c:val>
          <c:extLst>
            <c:ext xmlns:c16="http://schemas.microsoft.com/office/drawing/2014/chart" uri="{C3380CC4-5D6E-409C-BE32-E72D297353CC}">
              <c16:uniqueId val="{00000004-2A96-4685-BBE1-CF08714E873A}"/>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strCache>
            </c:strRef>
          </c:tx>
          <c:spPr>
            <a:solidFill>
              <a:srgbClr val="006455"/>
            </a:solidFill>
          </c:spPr>
          <c:invertIfNegative val="1"/>
          <c:dPt>
            <c:idx val="3"/>
            <c:invertIfNegative val="1"/>
            <c:bubble3D val="0"/>
            <c:spPr>
              <a:solidFill>
                <a:srgbClr val="691C32"/>
              </a:solidFill>
            </c:spPr>
            <c:extLst>
              <c:ext xmlns:c16="http://schemas.microsoft.com/office/drawing/2014/chart" uri="{C3380CC4-5D6E-409C-BE32-E72D297353CC}">
                <c16:uniqueId val="{00000001-07A6-4850-804C-0F8952623B7D}"/>
              </c:ext>
            </c:extLst>
          </c:dPt>
          <c:dLbls>
            <c:numFmt formatCode="#,##0" sourceLinked="0"/>
            <c:spPr>
              <a:noFill/>
              <a:ln>
                <a:noFill/>
              </a:ln>
              <a:effectLst/>
            </c:spPr>
            <c:txPr>
              <a:bodyPr/>
              <a:lstStyle/>
              <a:p>
                <a:pPr>
                  <a:defRPr sz="1000" b="1">
                    <a:solidFill>
                      <a:srgbClr val="FFFFFF"/>
                    </a:solidFill>
                    <a:latin typeface="Montserrat"/>
                  </a:defRPr>
                </a:pPr>
                <a:endParaRPr lang="es-MX"/>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2018</c:v>
                </c:pt>
                <c:pt idx="1">
                  <c:v>2024</c:v>
                </c:pt>
                <c:pt idx="2">
                  <c:v>2025</c:v>
                </c:pt>
                <c:pt idx="3">
                  <c:v>2026</c:v>
                </c:pt>
              </c:strCache>
            </c:strRef>
          </c:cat>
          <c:val>
            <c:numRef>
              <c:f>Sheet1!$B$2:$B$5</c:f>
              <c:numCache>
                <c:formatCode>General</c:formatCode>
                <c:ptCount val="4"/>
                <c:pt idx="0">
                  <c:v>38</c:v>
                </c:pt>
                <c:pt idx="1">
                  <c:v>189</c:v>
                </c:pt>
                <c:pt idx="2">
                  <c:v>200</c:v>
                </c:pt>
                <c:pt idx="3">
                  <c:v>188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07A6-4850-804C-0F8952623B7D}"/>
            </c:ext>
          </c:extLst>
        </c:ser>
        <c:dLbls>
          <c:dLblPos val="inEnd"/>
          <c:showLegendKey val="0"/>
          <c:showVal val="1"/>
          <c:showCatName val="0"/>
          <c:showSerName val="0"/>
          <c:showPercent val="0"/>
          <c:showBubbleSize val="0"/>
        </c:dLbls>
        <c:gapWidth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8C8C8"/>
            </a:solidFill>
          </a:ln>
        </c:spPr>
        <c:txPr>
          <a:bodyPr/>
          <a:lstStyle/>
          <a:p>
            <a:pPr>
              <a:defRPr sz="1000" b="0">
                <a:latin typeface="Montserrat"/>
              </a:defRPr>
            </a:pPr>
            <a:endParaRPr lang="es-MX"/>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354842574138816"/>
          <c:y val="0.13698684187655352"/>
          <c:w val="0.80449559468966791"/>
          <c:h val="0.7327918861135736"/>
        </c:manualLayout>
      </c:layout>
      <c:barChart>
        <c:barDir val="col"/>
        <c:grouping val="stacked"/>
        <c:varyColors val="0"/>
        <c:ser>
          <c:idx val="0"/>
          <c:order val="0"/>
          <c:tx>
            <c:strRef>
              <c:f>'Recetas Guerrero'!$B$1</c:f>
              <c:strCache>
                <c:ptCount val="1"/>
                <c:pt idx="0">
                  <c:v>Recetas Surtidas</c:v>
                </c:pt>
              </c:strCache>
            </c:strRef>
          </c:tx>
          <c:spPr>
            <a:solidFill>
              <a:srgbClr val="005C4C"/>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'Recetas Guerrero'!$A$2:$A$9</c:f>
              <c:numCache>
                <c:formatCode>General</c:formatCode>
                <c:ptCount val="8"/>
                <c:pt idx="0">
                  <c:v>2019</c:v>
                </c:pt>
                <c:pt idx="1">
                  <c:v>2020</c:v>
                </c:pt>
                <c:pt idx="2">
                  <c:v>2021</c:v>
                </c:pt>
                <c:pt idx="3">
                  <c:v>2022</c:v>
                </c:pt>
                <c:pt idx="4">
                  <c:v>2023</c:v>
                </c:pt>
                <c:pt idx="5">
                  <c:v>2024</c:v>
                </c:pt>
                <c:pt idx="6">
                  <c:v>2025</c:v>
                </c:pt>
                <c:pt idx="7">
                  <c:v>2026</c:v>
                </c:pt>
              </c:numCache>
            </c:numRef>
          </c:cat>
          <c:val>
            <c:numRef>
              <c:f>'Recetas Guerrero'!$B$2:$B$9</c:f>
              <c:numCache>
                <c:formatCode>#,##0</c:formatCode>
                <c:ptCount val="8"/>
                <c:pt idx="0">
                  <c:v>1878423</c:v>
                </c:pt>
                <c:pt idx="1">
                  <c:v>1612977</c:v>
                </c:pt>
                <c:pt idx="2">
                  <c:v>1511485</c:v>
                </c:pt>
                <c:pt idx="3">
                  <c:v>1946688</c:v>
                </c:pt>
                <c:pt idx="4">
                  <c:v>2328311</c:v>
                </c:pt>
                <c:pt idx="5">
                  <c:v>2328311</c:v>
                </c:pt>
                <c:pt idx="6">
                  <c:v>2003139</c:v>
                </c:pt>
                <c:pt idx="7">
                  <c:v>2148603</c:v>
                </c:pt>
              </c:numCache>
            </c:numRef>
          </c:val>
          <c:extLst>
            <c:ext xmlns:c16="http://schemas.microsoft.com/office/drawing/2014/chart" uri="{C3380CC4-5D6E-409C-BE32-E72D297353CC}">
              <c16:uniqueId val="{00000000-C885-4815-9A0B-489530703997}"/>
            </c:ext>
          </c:extLst>
        </c:ser>
        <c:ser>
          <c:idx val="1"/>
          <c:order val="1"/>
          <c:tx>
            <c:strRef>
              <c:f>'Recetas Guerrero'!$C$1</c:f>
              <c:strCache>
                <c:ptCount val="1"/>
                <c:pt idx="0">
                  <c:v>Recetas Negadas</c:v>
                </c:pt>
              </c:strCache>
            </c:strRef>
          </c:tx>
          <c:spPr>
            <a:solidFill>
              <a:srgbClr val="9F2241"/>
            </a:solidFill>
            <a:ln>
              <a:noFill/>
            </a:ln>
            <a:effectLst/>
          </c:spPr>
          <c:invertIfNegative val="0"/>
          <c:dLbls>
            <c:dLbl>
              <c:idx val="0"/>
              <c:layout>
                <c:manualLayout>
                  <c:x val="-1.3831258644536654E-3"/>
                  <c:y val="-2.7374184038745E-2"/>
                </c:manualLayout>
              </c:layout>
              <c:spPr>
                <a:solidFill>
                  <a:schemeClr val="bg1"/>
                </a:solid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rgbClr val="9F224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885-4815-9A0B-489530703997}"/>
                </c:ext>
              </c:extLst>
            </c:dLbl>
            <c:dLbl>
              <c:idx val="1"/>
              <c:layout>
                <c:manualLayout>
                  <c:x val="-2.766287916542078E-3"/>
                  <c:y val="-9.6061233616442671E-2"/>
                </c:manualLayout>
              </c:layout>
              <c:spPr>
                <a:solidFill>
                  <a:schemeClr val="bg1"/>
                </a:solid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rgbClr val="9F224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885-4815-9A0B-489530703997}"/>
                </c:ext>
              </c:extLst>
            </c:dLbl>
            <c:dLbl>
              <c:idx val="2"/>
              <c:layout>
                <c:manualLayout>
                  <c:x val="0"/>
                  <c:y val="-4.6325542219414616E-2"/>
                </c:manualLayout>
              </c:layout>
              <c:tx>
                <c:rich>
                  <a:bodyPr/>
                  <a:lstStyle/>
                  <a:p>
                    <a:fld id="{381ADFEA-D28B-4CEA-B021-BF6AAA3C3B6A}" type="VALUE">
                      <a:rPr lang="en-US">
                        <a:solidFill>
                          <a:srgbClr val="C00000"/>
                        </a:solidFill>
                      </a:rPr>
                      <a:pPr/>
                      <a:t>[VALOR]</a:t>
                    </a:fld>
                    <a:endParaRPr lang="es-MX"/>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885-4815-9A0B-489530703997}"/>
                </c:ext>
              </c:extLst>
            </c:dLbl>
            <c:dLbl>
              <c:idx val="3"/>
              <c:layout>
                <c:manualLayout>
                  <c:x val="0"/>
                  <c:y val="-4.0008422825858113E-2"/>
                </c:manualLayout>
              </c:layout>
              <c:spPr>
                <a:solidFill>
                  <a:schemeClr val="bg1"/>
                </a:solid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rgbClr val="9F224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885-4815-9A0B-489530703997}"/>
                </c:ext>
              </c:extLst>
            </c:dLbl>
            <c:dLbl>
              <c:idx val="4"/>
              <c:layout>
                <c:manualLayout>
                  <c:x val="0"/>
                  <c:y val="-2.7374184038745E-2"/>
                </c:manualLayout>
              </c:layout>
              <c:spPr>
                <a:solidFill>
                  <a:schemeClr val="bg1"/>
                </a:solid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rgbClr val="9F224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885-4815-9A0B-489530703997}"/>
                </c:ext>
              </c:extLst>
            </c:dLbl>
            <c:dLbl>
              <c:idx val="5"/>
              <c:layout>
                <c:manualLayout>
                  <c:x val="-1.0142805835435015E-16"/>
                  <c:y val="-2.1057064645188462E-2"/>
                </c:manualLayout>
              </c:layout>
              <c:spPr>
                <a:solidFill>
                  <a:schemeClr val="bg1"/>
                </a:solid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rgbClr val="9F224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885-4815-9A0B-489530703997}"/>
                </c:ext>
              </c:extLst>
            </c:dLbl>
            <c:dLbl>
              <c:idx val="6"/>
              <c:layout>
                <c:manualLayout>
                  <c:x val="-1.0142805835435015E-16"/>
                  <c:y val="-2.5268477574226154E-2"/>
                </c:manualLayout>
              </c:layout>
              <c:spPr>
                <a:solidFill>
                  <a:schemeClr val="bg1"/>
                </a:solid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rgbClr val="9F224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885-4815-9A0B-489530703997}"/>
                </c:ext>
              </c:extLst>
            </c:dLbl>
            <c:dLbl>
              <c:idx val="7"/>
              <c:layout>
                <c:manualLayout>
                  <c:x val="-1.3831258644536654E-3"/>
                  <c:y val="-2.3162771109707308E-2"/>
                </c:manualLayout>
              </c:layout>
              <c:spPr>
                <a:solidFill>
                  <a:schemeClr val="bg1"/>
                </a:solidFill>
                <a:ln>
                  <a:noFill/>
                </a:ln>
                <a:effectLst/>
              </c:spPr>
              <c:txPr>
                <a:bodyPr rot="0" spcFirstLastPara="1" vertOverflow="ellipsis" vert="horz" wrap="square" lIns="38100" tIns="19050" rIns="38100" bIns="19050" anchor="ctr" anchorCtr="0">
                  <a:spAutoFit/>
                </a:bodyPr>
                <a:lstStyle/>
                <a:p>
                  <a:pPr algn="ctr" rtl="0">
                    <a:defRPr lang="en-US" sz="900" b="1" i="0" u="none" strike="noStrike" kern="1200" baseline="0">
                      <a:solidFill>
                        <a:srgbClr val="9F224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885-4815-9A0B-489530703997}"/>
                </c:ext>
              </c:extLst>
            </c:dLbl>
            <c:spPr>
              <a:solidFill>
                <a:schemeClr val="bg1"/>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9F224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'Recetas Guerrero'!$A$2:$A$9</c:f>
              <c:numCache>
                <c:formatCode>General</c:formatCode>
                <c:ptCount val="8"/>
                <c:pt idx="0">
                  <c:v>2019</c:v>
                </c:pt>
                <c:pt idx="1">
                  <c:v>2020</c:v>
                </c:pt>
                <c:pt idx="2">
                  <c:v>2021</c:v>
                </c:pt>
                <c:pt idx="3">
                  <c:v>2022</c:v>
                </c:pt>
                <c:pt idx="4">
                  <c:v>2023</c:v>
                </c:pt>
                <c:pt idx="5">
                  <c:v>2024</c:v>
                </c:pt>
                <c:pt idx="6">
                  <c:v>2025</c:v>
                </c:pt>
                <c:pt idx="7">
                  <c:v>2026</c:v>
                </c:pt>
              </c:numCache>
            </c:numRef>
          </c:cat>
          <c:val>
            <c:numRef>
              <c:f>'Recetas Guerrero'!$C$2:$C$9</c:f>
              <c:numCache>
                <c:formatCode>#,##0</c:formatCode>
                <c:ptCount val="8"/>
                <c:pt idx="0">
                  <c:v>16637</c:v>
                </c:pt>
                <c:pt idx="1">
                  <c:v>243205</c:v>
                </c:pt>
                <c:pt idx="2">
                  <c:v>30315</c:v>
                </c:pt>
                <c:pt idx="3">
                  <c:v>121042</c:v>
                </c:pt>
                <c:pt idx="4">
                  <c:v>33395</c:v>
                </c:pt>
                <c:pt idx="5">
                  <c:v>33395</c:v>
                </c:pt>
                <c:pt idx="6">
                  <c:v>84090</c:v>
                </c:pt>
                <c:pt idx="7">
                  <c:v>27902</c:v>
                </c:pt>
              </c:numCache>
            </c:numRef>
          </c:val>
          <c:extLst>
            <c:ext xmlns:c16="http://schemas.microsoft.com/office/drawing/2014/chart" uri="{C3380CC4-5D6E-409C-BE32-E72D297353CC}">
              <c16:uniqueId val="{00000009-C885-4815-9A0B-489530703997}"/>
            </c:ext>
          </c:extLst>
        </c:ser>
        <c:dLbls>
          <c:showLegendKey val="0"/>
          <c:showVal val="0"/>
          <c:showCatName val="0"/>
          <c:showSerName val="0"/>
          <c:showPercent val="0"/>
          <c:showBubbleSize val="0"/>
        </c:dLbls>
        <c:gapWidth val="50"/>
        <c:overlap val="100"/>
        <c:axId val="1373565088"/>
        <c:axId val="1217327376"/>
      </c:barChart>
      <c:lineChart>
        <c:grouping val="standard"/>
        <c:varyColors val="0"/>
        <c:ser>
          <c:idx val="2"/>
          <c:order val="2"/>
          <c:tx>
            <c:v>% Recetas Surtidas</c:v>
          </c:tx>
          <c:spPr>
            <a:ln w="22225" cap="rnd">
              <a:solidFill>
                <a:srgbClr val="BC955C"/>
              </a:solidFill>
              <a:round/>
            </a:ln>
            <a:effectLst/>
          </c:spPr>
          <c:marker>
            <c:symbol val="square"/>
            <c:size val="5"/>
            <c:spPr>
              <a:solidFill>
                <a:srgbClr val="BC955C"/>
              </a:solidFill>
              <a:ln w="9525">
                <a:noFill/>
                <a:round/>
              </a:ln>
              <a:effectLst/>
            </c:spPr>
          </c:marker>
          <c:dLbls>
            <c:spPr>
              <a:solidFill>
                <a:srgbClr val="BC955C"/>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val>
            <c:numRef>
              <c:f>'Recetas Guerrero'!$D$2:$D$9</c:f>
              <c:numCache>
                <c:formatCode>0%</c:formatCode>
                <c:ptCount val="8"/>
                <c:pt idx="0">
                  <c:v>0.99119999999999997</c:v>
                </c:pt>
                <c:pt idx="1">
                  <c:v>0.87</c:v>
                </c:pt>
                <c:pt idx="2">
                  <c:v>0.83</c:v>
                </c:pt>
                <c:pt idx="3">
                  <c:v>0.94</c:v>
                </c:pt>
                <c:pt idx="4">
                  <c:v>0.98</c:v>
                </c:pt>
                <c:pt idx="5">
                  <c:v>0.98</c:v>
                </c:pt>
                <c:pt idx="6">
                  <c:v>0.99</c:v>
                </c:pt>
                <c:pt idx="7">
                  <c:v>0.98</c:v>
                </c:pt>
              </c:numCache>
            </c:numRef>
          </c:val>
          <c:smooth val="0"/>
          <c:extLst>
            <c:ext xmlns:c16="http://schemas.microsoft.com/office/drawing/2014/chart" uri="{C3380CC4-5D6E-409C-BE32-E72D297353CC}">
              <c16:uniqueId val="{0000000A-C885-4815-9A0B-489530703997}"/>
            </c:ext>
          </c:extLst>
        </c:ser>
        <c:dLbls>
          <c:dLblPos val="ctr"/>
          <c:showLegendKey val="0"/>
          <c:showVal val="1"/>
          <c:showCatName val="0"/>
          <c:showSerName val="0"/>
          <c:showPercent val="0"/>
          <c:showBubbleSize val="0"/>
        </c:dLbls>
        <c:marker val="1"/>
        <c:smooth val="0"/>
        <c:axId val="1422724288"/>
        <c:axId val="1217255376"/>
      </c:lineChart>
      <c:catAx>
        <c:axId val="1373565088"/>
        <c:scaling>
          <c:orientation val="minMax"/>
        </c:scaling>
        <c:delete val="0"/>
        <c:axPos val="b"/>
        <c:numFmt formatCode="General" sourceLinked="1"/>
        <c:majorTickMark val="out"/>
        <c:minorTickMark val="none"/>
        <c:tickLblPos val="nextTo"/>
        <c:spPr>
          <a:solidFill>
            <a:sysClr val="window" lastClr="FFFFFF"/>
          </a:solidFill>
          <a:ln w="9525" cap="flat" cmpd="sng" algn="ctr">
            <a:solidFill>
              <a:schemeClr val="bg1"/>
            </a:solidFill>
            <a:round/>
          </a:ln>
          <a:effectLst/>
        </c:spPr>
        <c:txPr>
          <a:bodyPr rot="-60000000" spcFirstLastPara="1" vertOverflow="ellipsis" vert="horz" wrap="square" anchor="ctr" anchorCtr="1"/>
          <a:lstStyle/>
          <a:p>
            <a:pPr>
              <a:defRPr sz="1000" b="1" i="0" u="none" strike="noStrike" kern="1200" cap="all" spc="120" normalizeH="0" baseline="0">
                <a:solidFill>
                  <a:sysClr val="windowText" lastClr="000000"/>
                </a:solidFill>
                <a:latin typeface="Noto Sans" panose="020B0502040504020204" pitchFamily="34" charset="0"/>
                <a:ea typeface="Noto Sans" panose="020B0502040504020204" pitchFamily="34" charset="0"/>
                <a:cs typeface="Noto Sans" panose="020B0502040504020204" pitchFamily="34" charset="0"/>
              </a:defRPr>
            </a:pPr>
            <a:endParaRPr lang="es-MX"/>
          </a:p>
        </c:txPr>
        <c:crossAx val="1217327376"/>
        <c:crosses val="autoZero"/>
        <c:auto val="1"/>
        <c:lblAlgn val="ctr"/>
        <c:lblOffset val="100"/>
        <c:noMultiLvlLbl val="0"/>
      </c:catAx>
      <c:valAx>
        <c:axId val="1217327376"/>
        <c:scaling>
          <c:orientation val="minMax"/>
          <c:max val="1800000"/>
        </c:scaling>
        <c:delete val="0"/>
        <c:axPos val="l"/>
        <c:numFmt formatCode="#,##0" sourceLinked="1"/>
        <c:majorTickMark val="out"/>
        <c:minorTickMark val="none"/>
        <c:tickLblPos val="none"/>
        <c:spPr>
          <a:noFill/>
          <a:ln w="9525" cap="flat" cmpd="sng" algn="ctr">
            <a:solidFill>
              <a:schemeClr val="bg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MX"/>
          </a:p>
        </c:txPr>
        <c:crossAx val="1373565088"/>
        <c:crosses val="autoZero"/>
        <c:crossBetween val="between"/>
        <c:majorUnit val="200000"/>
      </c:valAx>
      <c:valAx>
        <c:axId val="1217255376"/>
        <c:scaling>
          <c:orientation val="minMax"/>
          <c:max val="1"/>
          <c:min val="0.4"/>
        </c:scaling>
        <c:delete val="0"/>
        <c:axPos val="r"/>
        <c:numFmt formatCode="0%" sourceLinked="1"/>
        <c:majorTickMark val="out"/>
        <c:minorTickMark val="none"/>
        <c:tickLblPos val="none"/>
        <c:spPr>
          <a:noFill/>
          <a:ln w="9525" cap="flat" cmpd="sng" algn="ctr">
            <a:solidFill>
              <a:schemeClr val="bg1"/>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s-MX"/>
          </a:p>
        </c:txPr>
        <c:crossAx val="1422724288"/>
        <c:crosses val="max"/>
        <c:crossBetween val="between"/>
      </c:valAx>
      <c:catAx>
        <c:axId val="1422724288"/>
        <c:scaling>
          <c:orientation val="minMax"/>
        </c:scaling>
        <c:delete val="1"/>
        <c:axPos val="t"/>
        <c:numFmt formatCode="General" sourceLinked="1"/>
        <c:majorTickMark val="out"/>
        <c:minorTickMark val="none"/>
        <c:tickLblPos val="nextTo"/>
        <c:crossAx val="1217255376"/>
        <c:crosses val="max"/>
        <c:auto val="1"/>
        <c:lblAlgn val="ctr"/>
        <c:lblOffset val="100"/>
        <c:tickMarkSkip val="1"/>
        <c:noMultiLvlLbl val="0"/>
      </c:catAx>
      <c:spPr>
        <a:noFill/>
        <a:ln w="25400">
          <a:noFill/>
        </a:ln>
        <a:effectLst/>
      </c:spPr>
    </c:plotArea>
    <c:legend>
      <c:legendPos val="r"/>
      <c:legendEntry>
        <c:idx val="0"/>
        <c:txPr>
          <a:bodyPr rot="0" spcFirstLastPara="1" vertOverflow="ellipsis" vert="horz" wrap="square" anchor="ctr" anchorCtr="1"/>
          <a:lstStyle/>
          <a:p>
            <a:pPr>
              <a:defRPr sz="900" b="1"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defRPr>
            </a:pPr>
            <a:endParaRPr lang="es-MX"/>
          </a:p>
        </c:txPr>
      </c:legendEntry>
      <c:legendEntry>
        <c:idx val="1"/>
        <c:txPr>
          <a:bodyPr rot="0" spcFirstLastPara="1" vertOverflow="ellipsis" vert="horz" wrap="square" anchor="ctr" anchorCtr="1"/>
          <a:lstStyle/>
          <a:p>
            <a:pPr>
              <a:defRPr sz="900" b="1"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defRPr>
            </a:pPr>
            <a:endParaRPr lang="es-MX"/>
          </a:p>
        </c:txPr>
      </c:legendEntry>
      <c:legendEntry>
        <c:idx val="2"/>
        <c:txPr>
          <a:bodyPr rot="0" spcFirstLastPara="1" vertOverflow="ellipsis" vert="horz" wrap="square" anchor="ctr" anchorCtr="1"/>
          <a:lstStyle/>
          <a:p>
            <a:pPr>
              <a:defRPr sz="900" b="1"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defRPr>
            </a:pPr>
            <a:endParaRPr lang="es-MX"/>
          </a:p>
        </c:txPr>
      </c:legendEntry>
      <c:layout>
        <c:manualLayout>
          <c:xMode val="edge"/>
          <c:yMode val="edge"/>
          <c:x val="0.2005317955587502"/>
          <c:y val="0.88141648903003145"/>
          <c:w val="0.66530499558924439"/>
          <c:h val="0.1165408709270457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Noto Sans" panose="020B0502040504020204" pitchFamily="34" charset="0"/>
            </a:defRPr>
          </a:pPr>
          <a:endParaRPr lang="es-MX"/>
        </a:p>
      </c:txPr>
    </c:legend>
    <c:plotVisOnly val="1"/>
    <c:dispBlanksAs val="gap"/>
    <c:showDLblsOverMax val="0"/>
  </c:chart>
  <c:spPr>
    <a:noFill/>
    <a:ln>
      <a:noFill/>
    </a:ln>
    <a:effectLst/>
  </c:spPr>
  <c:txPr>
    <a:bodyPr/>
    <a:lstStyle/>
    <a:p>
      <a:pPr>
        <a:defRPr/>
      </a:pPr>
      <a:endParaRPr lang="es-MX"/>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1018438903219642E-2"/>
          <c:y val="0"/>
          <c:w val="0.97898156109678036"/>
          <c:h val="0.91148445154033164"/>
        </c:manualLayout>
      </c:layout>
      <c:lineChart>
        <c:grouping val="stacked"/>
        <c:varyColors val="0"/>
        <c:ser>
          <c:idx val="0"/>
          <c:order val="0"/>
          <c:tx>
            <c:strRef>
              <c:f>Guerrero!$A$1</c:f>
              <c:strCache>
                <c:ptCount val="1"/>
                <c:pt idx="0">
                  <c:v>año</c:v>
                </c:pt>
              </c:strCache>
            </c:strRef>
          </c:tx>
          <c:spPr>
            <a:ln w="28575" cap="rnd">
              <a:solidFill>
                <a:srgbClr val="10312B"/>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MX"/>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Guerrero!$A$2:$A$9</c:f>
              <c:numCache>
                <c:formatCode>General</c:formatCode>
                <c:ptCount val="8"/>
                <c:pt idx="0">
                  <c:v>2019</c:v>
                </c:pt>
                <c:pt idx="1">
                  <c:v>2020</c:v>
                </c:pt>
                <c:pt idx="2">
                  <c:v>2021</c:v>
                </c:pt>
                <c:pt idx="3">
                  <c:v>2022</c:v>
                </c:pt>
                <c:pt idx="4">
                  <c:v>2023</c:v>
                </c:pt>
                <c:pt idx="5">
                  <c:v>2024</c:v>
                </c:pt>
                <c:pt idx="6">
                  <c:v>2025</c:v>
                </c:pt>
                <c:pt idx="7">
                  <c:v>2026</c:v>
                </c:pt>
              </c:numCache>
            </c:numRef>
          </c:cat>
          <c:val>
            <c:numRef>
              <c:f>Guerrero!$A$2:$A$9</c:f>
              <c:numCache>
                <c:formatCode>General</c:formatCode>
                <c:ptCount val="8"/>
                <c:pt idx="0">
                  <c:v>2019</c:v>
                </c:pt>
                <c:pt idx="1">
                  <c:v>2020</c:v>
                </c:pt>
                <c:pt idx="2">
                  <c:v>2021</c:v>
                </c:pt>
                <c:pt idx="3">
                  <c:v>2022</c:v>
                </c:pt>
                <c:pt idx="4">
                  <c:v>2023</c:v>
                </c:pt>
                <c:pt idx="5">
                  <c:v>2024</c:v>
                </c:pt>
                <c:pt idx="6">
                  <c:v>2025</c:v>
                </c:pt>
                <c:pt idx="7">
                  <c:v>2026</c:v>
                </c:pt>
              </c:numCache>
            </c:numRef>
          </c:val>
          <c:smooth val="0"/>
          <c:extLst>
            <c:ext xmlns:c16="http://schemas.microsoft.com/office/drawing/2014/chart" uri="{C3380CC4-5D6E-409C-BE32-E72D297353CC}">
              <c16:uniqueId val="{00000000-923B-4467-9853-C34386226695}"/>
            </c:ext>
          </c:extLst>
        </c:ser>
        <c:ser>
          <c:idx val="1"/>
          <c:order val="1"/>
          <c:tx>
            <c:strRef>
              <c:f>Guerrero!$B$1</c:f>
              <c:strCache>
                <c:ptCount val="1"/>
                <c:pt idx="0">
                  <c:v>piezas consumidas</c:v>
                </c:pt>
              </c:strCache>
            </c:strRef>
          </c:tx>
          <c:spPr>
            <a:ln w="22225" cap="rnd">
              <a:solidFill>
                <a:srgbClr val="005C4C"/>
              </a:solidFill>
              <a:round/>
            </a:ln>
            <a:effectLst/>
          </c:spPr>
          <c:marker>
            <c:symbol val="circle"/>
            <c:size val="5"/>
            <c:spPr>
              <a:solidFill>
                <a:srgbClr val="005C4C"/>
              </a:solidFill>
              <a:ln w="9525">
                <a:solidFill>
                  <a:srgbClr val="005C4C"/>
                </a:solidFill>
              </a:ln>
              <a:effectLst/>
            </c:spPr>
          </c:marker>
          <c:dLbls>
            <c:spPr>
              <a:solidFill>
                <a:srgbClr val="005C4C"/>
              </a:solidFill>
              <a:ln>
                <a:solidFill>
                  <a:srgbClr val="10312B">
                    <a:alpha val="96000"/>
                  </a:srgbClr>
                </a:solidFill>
                <a:round/>
              </a:ln>
              <a:effectLst>
                <a:softEdge rad="0"/>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Noto Sans" panose="020B0502040504020204" pitchFamily="34" charset="0"/>
                    <a:ea typeface="Noto Sans" panose="020B0502040504020204" pitchFamily="34" charset="0"/>
                    <a:cs typeface="Noto Sans" panose="020B0502040504020204" pitchFamily="34" charset="0"/>
                  </a:defRPr>
                </a:pPr>
                <a:endParaRPr lang="es-MX"/>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Guerrero!$A$2:$A$9</c:f>
              <c:numCache>
                <c:formatCode>General</c:formatCode>
                <c:ptCount val="8"/>
                <c:pt idx="0">
                  <c:v>2019</c:v>
                </c:pt>
                <c:pt idx="1">
                  <c:v>2020</c:v>
                </c:pt>
                <c:pt idx="2">
                  <c:v>2021</c:v>
                </c:pt>
                <c:pt idx="3">
                  <c:v>2022</c:v>
                </c:pt>
                <c:pt idx="4">
                  <c:v>2023</c:v>
                </c:pt>
                <c:pt idx="5">
                  <c:v>2024</c:v>
                </c:pt>
                <c:pt idx="6">
                  <c:v>2025</c:v>
                </c:pt>
                <c:pt idx="7">
                  <c:v>2026</c:v>
                </c:pt>
              </c:numCache>
            </c:numRef>
          </c:cat>
          <c:val>
            <c:numRef>
              <c:f>Guerrero!$B$2:$B$9</c:f>
              <c:numCache>
                <c:formatCode>#,##0</c:formatCode>
                <c:ptCount val="8"/>
                <c:pt idx="0">
                  <c:v>5051037</c:v>
                </c:pt>
                <c:pt idx="1">
                  <c:v>5468014</c:v>
                </c:pt>
                <c:pt idx="2">
                  <c:v>4680075</c:v>
                </c:pt>
                <c:pt idx="3">
                  <c:v>5401191</c:v>
                </c:pt>
                <c:pt idx="4">
                  <c:v>5938400</c:v>
                </c:pt>
                <c:pt idx="5">
                  <c:v>6577442</c:v>
                </c:pt>
                <c:pt idx="6">
                  <c:v>8438151</c:v>
                </c:pt>
                <c:pt idx="7">
                  <c:v>12900710</c:v>
                </c:pt>
              </c:numCache>
            </c:numRef>
          </c:val>
          <c:smooth val="0"/>
          <c:extLst>
            <c:ext xmlns:c16="http://schemas.microsoft.com/office/drawing/2014/chart" uri="{C3380CC4-5D6E-409C-BE32-E72D297353CC}">
              <c16:uniqueId val="{00000001-923B-4467-9853-C34386226695}"/>
            </c:ext>
          </c:extLst>
        </c:ser>
        <c:dLbls>
          <c:dLblPos val="b"/>
          <c:showLegendKey val="0"/>
          <c:showVal val="1"/>
          <c:showCatName val="0"/>
          <c:showSerName val="0"/>
          <c:showPercent val="0"/>
          <c:showBubbleSize val="0"/>
        </c:dLbls>
        <c:marker val="1"/>
        <c:smooth val="0"/>
        <c:axId val="1696358959"/>
        <c:axId val="1698566751"/>
      </c:lineChart>
      <c:catAx>
        <c:axId val="1696358959"/>
        <c:scaling>
          <c:orientation val="minMax"/>
        </c:scaling>
        <c:delete val="0"/>
        <c:axPos val="b"/>
        <c:numFmt formatCode="General"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defRPr>
            </a:pPr>
            <a:endParaRPr lang="es-MX"/>
          </a:p>
        </c:txPr>
        <c:crossAx val="1698566751"/>
        <c:crosses val="autoZero"/>
        <c:auto val="1"/>
        <c:lblAlgn val="ctr"/>
        <c:lblOffset val="100"/>
        <c:noMultiLvlLbl val="0"/>
      </c:catAx>
      <c:valAx>
        <c:axId val="1698566751"/>
        <c:scaling>
          <c:orientation val="minMax"/>
          <c:max val="13000000"/>
          <c:min val="4.5"/>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MX"/>
          </a:p>
        </c:txPr>
        <c:crossAx val="1696358959"/>
        <c:crosses val="autoZero"/>
        <c:crossBetween val="between"/>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MX"/>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barChart>
        <c:barDir val="bar"/>
        <c:grouping val="clustered"/>
        <c:varyColors val="1"/>
        <c:ser>
          <c:idx val="0"/>
          <c:order val="0"/>
          <c:tx>
            <c:strRef>
              <c:f>Sheet1!$B$1</c:f>
              <c:strCache>
                <c:ptCount val="1"/>
                <c:pt idx="0">
                  <c:v>Mes Anterior</c:v>
                </c:pt>
              </c:strCache>
            </c:strRef>
          </c:tx>
          <c:spPr>
            <a:solidFill>
              <a:srgbClr val="006455"/>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Agricultura, Ganaderia, Silvicultura, Pesca y Caza</c:v>
                </c:pt>
                <c:pt idx="1">
                  <c:v>Industrias de la Transformación</c:v>
                </c:pt>
                <c:pt idx="2">
                  <c:v>Servicios para Empresas, Personas y el Hogar</c:v>
                </c:pt>
                <c:pt idx="3">
                  <c:v>Industria de la Construcción</c:v>
                </c:pt>
                <c:pt idx="4">
                  <c:v>Comercio</c:v>
                </c:pt>
                <c:pt idx="5">
                  <c:v>Servicios Sociales y Comunales</c:v>
                </c:pt>
                <c:pt idx="6">
                  <c:v>Transportes y Comunicaciones</c:v>
                </c:pt>
                <c:pt idx="7">
                  <c:v>Ind Eléctrica y Captación y Suministro de Agua Potable</c:v>
                </c:pt>
                <c:pt idx="8">
                  <c:v>Industrias Extractivas</c:v>
                </c:pt>
              </c:strCache>
            </c:strRef>
          </c:cat>
          <c:val>
            <c:numRef>
              <c:f>Sheet1!$B$2:$B$10</c:f>
              <c:numCache>
                <c:formatCode>General</c:formatCode>
                <c:ptCount val="9"/>
                <c:pt idx="0">
                  <c:v>22397</c:v>
                </c:pt>
                <c:pt idx="1">
                  <c:v>249409</c:v>
                </c:pt>
                <c:pt idx="2">
                  <c:v>136731</c:v>
                </c:pt>
                <c:pt idx="3">
                  <c:v>60981</c:v>
                </c:pt>
                <c:pt idx="4">
                  <c:v>126277</c:v>
                </c:pt>
                <c:pt idx="5">
                  <c:v>65917</c:v>
                </c:pt>
                <c:pt idx="6">
                  <c:v>46806</c:v>
                </c:pt>
                <c:pt idx="7">
                  <c:v>4369</c:v>
                </c:pt>
                <c:pt idx="8">
                  <c:v>2090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BD0-4920-BDE0-47B2FE6983A8}"/>
            </c:ext>
          </c:extLst>
        </c:ser>
        <c:ser>
          <c:idx val="1"/>
          <c:order val="1"/>
          <c:tx>
            <c:strRef>
              <c:f>Sheet1!$C$1</c:f>
              <c:strCache>
                <c:ptCount val="1"/>
                <c:pt idx="0">
                  <c:v>Mes Actual</c:v>
                </c:pt>
              </c:strCache>
            </c:strRef>
          </c:tx>
          <c:spPr>
            <a:solidFill>
              <a:srgbClr val="9F2241"/>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Agricultura, Ganaderia, Silvicultura, Pesca y Caza</c:v>
                </c:pt>
                <c:pt idx="1">
                  <c:v>Industrias de la Transformación</c:v>
                </c:pt>
                <c:pt idx="2">
                  <c:v>Servicios para Empresas, Personas y el Hogar</c:v>
                </c:pt>
                <c:pt idx="3">
                  <c:v>Industria de la Construcción</c:v>
                </c:pt>
                <c:pt idx="4">
                  <c:v>Comercio</c:v>
                </c:pt>
                <c:pt idx="5">
                  <c:v>Servicios Sociales y Comunales</c:v>
                </c:pt>
                <c:pt idx="6">
                  <c:v>Transportes y Comunicaciones</c:v>
                </c:pt>
                <c:pt idx="7">
                  <c:v>Ind Eléctrica y Captación y Suministro de Agua Potable</c:v>
                </c:pt>
                <c:pt idx="8">
                  <c:v>Industrias Extractivas</c:v>
                </c:pt>
              </c:strCache>
            </c:strRef>
          </c:cat>
          <c:val>
            <c:numRef>
              <c:f>Sheet1!$C$2:$C$10</c:f>
              <c:numCache>
                <c:formatCode>General</c:formatCode>
                <c:ptCount val="9"/>
                <c:pt idx="0">
                  <c:v>21067</c:v>
                </c:pt>
                <c:pt idx="1">
                  <c:v>247648</c:v>
                </c:pt>
                <c:pt idx="2">
                  <c:v>138669</c:v>
                </c:pt>
                <c:pt idx="3">
                  <c:v>62009</c:v>
                </c:pt>
                <c:pt idx="4">
                  <c:v>128963</c:v>
                </c:pt>
                <c:pt idx="5">
                  <c:v>67632</c:v>
                </c:pt>
                <c:pt idx="6">
                  <c:v>50295</c:v>
                </c:pt>
                <c:pt idx="7">
                  <c:v>4777</c:v>
                </c:pt>
                <c:pt idx="8">
                  <c:v>2294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BD0-4920-BDE0-47B2FE6983A8}"/>
            </c:ext>
          </c:extLst>
        </c:ser>
        <c:dLbls>
          <c:showLegendKey val="0"/>
          <c:showVal val="0"/>
          <c:showCatName val="0"/>
          <c:showSerName val="0"/>
          <c:showPercent val="0"/>
          <c:showBubbleSize val="0"/>
        </c:dLbls>
        <c:gapWidth val="50"/>
        <c:axId val="-2068027336"/>
        <c:axId val="-2113994440"/>
      </c:barChart>
      <c:catAx>
        <c:axId val="-2068027336"/>
        <c:scaling>
          <c:orientation val="maxMin"/>
        </c:scaling>
        <c:delete val="0"/>
        <c:axPos val="l"/>
        <c:numFmt formatCode="General" sourceLinked="0"/>
        <c:majorTickMark val="out"/>
        <c:minorTickMark val="none"/>
        <c:tickLblPos val="nextTo"/>
        <c:txPr>
          <a:bodyPr/>
          <a:lstStyle/>
          <a:p>
            <a:pPr>
              <a:defRPr sz="700" b="1">
                <a:solidFill>
                  <a:srgbClr val="000000"/>
                </a:solidFill>
                <a:latin typeface="Montserrat"/>
              </a:defRPr>
            </a:pPr>
            <a:endParaRPr lang="es-MX"/>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Total</c:v>
                </c:pt>
              </c:strCache>
            </c:strRef>
          </c:tx>
          <c:spPr>
            <a:solidFill>
              <a:srgbClr val="006455"/>
            </a:solidFill>
          </c:spPr>
          <c:invertIfNegative val="1"/>
          <c:dLbls>
            <c:numFmt formatCode="#,##0" sourceLinked="0"/>
            <c:spPr>
              <a:noFill/>
              <a:ln>
                <a:noFill/>
              </a:ln>
              <a:effectLst/>
            </c:spPr>
            <c:txPr>
              <a:bodyPr/>
              <a:lstStyle/>
              <a:p>
                <a:pPr>
                  <a:defRPr sz="1000" b="1">
                    <a:solidFill>
                      <a:srgbClr val="006455"/>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569699</c:v>
                </c:pt>
                <c:pt idx="1">
                  <c:v>604499</c:v>
                </c:pt>
                <c:pt idx="2">
                  <c:v>581478</c:v>
                </c:pt>
                <c:pt idx="3">
                  <c:v>615626</c:v>
                </c:pt>
                <c:pt idx="4">
                  <c:v>651828</c:v>
                </c:pt>
                <c:pt idx="5">
                  <c:v>687827</c:v>
                </c:pt>
                <c:pt idx="6">
                  <c:v>710108</c:v>
                </c:pt>
                <c:pt idx="7">
                  <c:v>714977</c:v>
                </c:pt>
                <c:pt idx="8">
                  <c:v>723354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1CE-4E8F-BA6D-68A4C96FC8CD}"/>
            </c:ext>
          </c:extLst>
        </c:ser>
        <c:dLbls>
          <c:showLegendKey val="0"/>
          <c:showVal val="0"/>
          <c:showCatName val="0"/>
          <c:showSerName val="0"/>
          <c:showPercent val="0"/>
          <c:showBubbleSize val="0"/>
        </c:dLbls>
        <c:gapWidth val="50"/>
        <c:axId val="-2068027336"/>
        <c:axId val="-2113994440"/>
      </c:barChart>
      <c:catAx>
        <c:axId val="-2068027336"/>
        <c:scaling>
          <c:orientation val="minMax"/>
        </c:scaling>
        <c:delete val="1"/>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7670341832_11_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g37670341832_1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22</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eg"/><Relationship Id="rId11" Type="http://schemas.openxmlformats.org/officeDocument/2006/relationships/image" Target="../media/image11.png"/><Relationship Id="rId5" Type="http://schemas.openxmlformats.org/officeDocument/2006/relationships/image" Target="../media/image5.jpeg"/><Relationship Id="rId10" Type="http://schemas.openxmlformats.org/officeDocument/2006/relationships/image" Target="../media/image10.jpeg"/><Relationship Id="rId4" Type="http://schemas.openxmlformats.org/officeDocument/2006/relationships/image" Target="../media/image4.jpeg"/><Relationship Id="rId9" Type="http://schemas.openxmlformats.org/officeDocument/2006/relationships/image" Target="../media/image9.jpe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chart" Target="../charts/chart1.xml"/><Relationship Id="rId4" Type="http://schemas.openxmlformats.org/officeDocument/2006/relationships/image" Target="../media/image13.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1.jpe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2.png"/><Relationship Id="rId7"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chart" Target="../charts/chart6.xml"/><Relationship Id="rId4" Type="http://schemas.openxmlformats.org/officeDocument/2006/relationships/image" Target="../media/image26.png"/><Relationship Id="rId9"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chart" Target="../charts/chart7.xml"/></Relationships>
</file>

<file path=ppt/slides/_rels/slide20.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chart" Target="../charts/chart9.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chart" Target="../charts/chart10.xml"/><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Querétaro</a:t>
            </a:r>
          </a:p>
        </p:txBody>
      </p:sp>
      <p:sp>
        <p:nvSpPr>
          <p:cNvPr id="70" name="TextBox 69"/>
          <p:cNvSpPr txBox="1"/>
          <p:nvPr/>
        </p:nvSpPr>
        <p:spPr>
          <a:xfrm>
            <a:off x="3176711" y="5472000"/>
            <a:ext cx="1418978" cy="553998"/>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Ju</a:t>
            </a:r>
            <a:r>
              <a:rPr lang="es-MX"/>
              <a:t>l</a:t>
            </a:r>
            <a:r>
              <a:t>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g37670341832_11_0"/>
          <p:cNvSpPr/>
          <p:nvPr/>
        </p:nvSpPr>
        <p:spPr>
          <a:xfrm>
            <a:off x="0" y="566113"/>
            <a:ext cx="7772400" cy="17718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g37670341832_11_0"/>
          <p:cNvSpPr txBox="1"/>
          <p:nvPr/>
        </p:nvSpPr>
        <p:spPr>
          <a:xfrm>
            <a:off x="2798775" y="621925"/>
            <a:ext cx="4198800" cy="1532100"/>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0"/>
              </a:spcAft>
              <a:buClr>
                <a:schemeClr val="dk1"/>
              </a:buClr>
              <a:buSzPts val="1100"/>
              <a:buFont typeface="Arial"/>
              <a:buNone/>
            </a:pPr>
            <a:endParaRPr sz="1000" b="0" i="0" u="none" strike="noStrike" cap="none">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200" b="1">
                <a:solidFill>
                  <a:srgbClr val="006858"/>
                </a:solidFill>
                <a:latin typeface="Montserrat"/>
                <a:ea typeface="Montserrat"/>
                <a:cs typeface="Montserrat"/>
                <a:sym typeface="Montserrat"/>
              </a:rPr>
              <a:t>Mtra</a:t>
            </a:r>
            <a:r>
              <a:rPr lang="es" sz="1200" b="1" i="0" u="none" strike="noStrike" cap="none">
                <a:solidFill>
                  <a:srgbClr val="006858"/>
                </a:solidFill>
                <a:latin typeface="Montserrat"/>
                <a:ea typeface="Montserrat"/>
                <a:cs typeface="Montserrat"/>
                <a:sym typeface="Montserrat"/>
              </a:rPr>
              <a:t>. Martha Eloísa Sánchez Vázquez </a:t>
            </a:r>
            <a:endParaRPr sz="1000" b="0" i="0" u="none" strike="noStrike" cap="none">
              <a:solidFill>
                <a:schemeClr val="dk1"/>
              </a:solidFill>
              <a:latin typeface="Montserrat"/>
              <a:ea typeface="Montserrat"/>
              <a:cs typeface="Montserrat"/>
              <a:sym typeface="Montserrat"/>
            </a:endParaRPr>
          </a:p>
          <a:p>
            <a:pPr marL="457200" marR="0" lvl="0" indent="-279400" algn="l" rtl="0">
              <a:lnSpc>
                <a:spcPct val="107916"/>
              </a:lnSpc>
              <a:spcBef>
                <a:spcPts val="0"/>
              </a:spcBef>
              <a:spcAft>
                <a:spcPts val="0"/>
              </a:spcAft>
              <a:buClr>
                <a:schemeClr val="dk1"/>
              </a:buClr>
              <a:buSzPts val="800"/>
              <a:buFont typeface="Montserrat"/>
              <a:buChar char="●"/>
            </a:pPr>
            <a:r>
              <a:rPr lang="es" sz="1200">
                <a:latin typeface="Montserrat"/>
                <a:ea typeface="Montserrat"/>
                <a:cs typeface="Montserrat"/>
                <a:sym typeface="Montserrat"/>
              </a:rPr>
              <a:t>Maestría en Administración de Hospitales y Salud Pública</a:t>
            </a:r>
            <a:endParaRPr/>
          </a:p>
          <a:p>
            <a:pPr marL="457200" marR="0" lvl="0" indent="-304800" algn="l" rtl="0">
              <a:lnSpc>
                <a:spcPct val="107916"/>
              </a:lnSpc>
              <a:spcBef>
                <a:spcPts val="0"/>
              </a:spcBef>
              <a:spcAft>
                <a:spcPts val="0"/>
              </a:spcAft>
              <a:buClr>
                <a:srgbClr val="000000"/>
              </a:buClr>
              <a:buSzPts val="1200"/>
              <a:buFont typeface="Montserrat"/>
              <a:buChar char="●"/>
            </a:pPr>
            <a:r>
              <a:rPr lang="es" sz="1200">
                <a:latin typeface="Montserrat"/>
                <a:ea typeface="Montserrat"/>
                <a:cs typeface="Montserrat"/>
                <a:sym typeface="Montserrat"/>
              </a:rPr>
              <a:t>Lic. en Enfermería</a:t>
            </a:r>
            <a:endParaRPr sz="1200" b="0" i="0" u="none" strike="noStrike" cap="none">
              <a:solidFill>
                <a:srgbClr val="000000"/>
              </a:solidFill>
              <a:latin typeface="Montserrat"/>
              <a:ea typeface="Montserrat"/>
              <a:cs typeface="Montserrat"/>
              <a:sym typeface="Montserrat"/>
            </a:endParaRPr>
          </a:p>
          <a:p>
            <a:pPr marL="0" marR="0" lvl="0" indent="0" algn="l" rtl="0">
              <a:lnSpc>
                <a:spcPct val="107916"/>
              </a:lnSpc>
              <a:spcBef>
                <a:spcPts val="0"/>
              </a:spcBef>
              <a:spcAft>
                <a:spcPts val="0"/>
              </a:spcAft>
              <a:buClr>
                <a:srgbClr val="000000"/>
              </a:buClr>
              <a:buSzPts val="1200"/>
              <a:buFont typeface="Arial"/>
              <a:buNone/>
            </a:pPr>
            <a:endParaRPr sz="1200" b="0" i="0" u="none" strike="noStrike" cap="none">
              <a:solidFill>
                <a:srgbClr val="000000"/>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200" b="1" i="0" u="none" strike="noStrike" cap="none">
                <a:solidFill>
                  <a:srgbClr val="006858"/>
                </a:solidFill>
                <a:latin typeface="Montserrat"/>
                <a:ea typeface="Montserrat"/>
                <a:cs typeface="Montserrat"/>
                <a:sym typeface="Montserrat"/>
              </a:rPr>
              <a:t>Inicio en el cargo: 16 de febrero de 2020.</a:t>
            </a:r>
            <a:endParaRPr sz="1200" b="0" i="0" u="none" strike="noStrike" cap="none">
              <a:solidFill>
                <a:srgbClr val="000000"/>
              </a:solidFill>
              <a:latin typeface="Montserrat"/>
              <a:ea typeface="Montserrat"/>
              <a:cs typeface="Montserrat"/>
              <a:sym typeface="Montserrat"/>
            </a:endParaRPr>
          </a:p>
        </p:txBody>
      </p:sp>
      <p:sp>
        <p:nvSpPr>
          <p:cNvPr id="68" name="Google Shape;68;g37670341832_11_0"/>
          <p:cNvSpPr txBox="1"/>
          <p:nvPr/>
        </p:nvSpPr>
        <p:spPr>
          <a:xfrm>
            <a:off x="0" y="0"/>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QUER</a:t>
            </a:r>
            <a:r>
              <a:rPr lang="es" sz="2000">
                <a:solidFill>
                  <a:srgbClr val="FFFFFF"/>
                </a:solidFill>
                <a:latin typeface="Montserrat"/>
                <a:ea typeface="Montserrat"/>
                <a:cs typeface="Montserrat"/>
                <a:sym typeface="Montserrat"/>
              </a:rPr>
              <a:t>É</a:t>
            </a:r>
            <a:r>
              <a:rPr lang="es" sz="2000" b="0" i="0" u="none" strike="noStrike" cap="none">
                <a:solidFill>
                  <a:srgbClr val="FFFFFF"/>
                </a:solidFill>
                <a:latin typeface="Montserrat"/>
                <a:ea typeface="Montserrat"/>
                <a:cs typeface="Montserrat"/>
                <a:sym typeface="Montserrat"/>
              </a:rPr>
              <a:t>TARO</a:t>
            </a:r>
            <a:endParaRPr sz="2000" b="0" i="0" u="none" strike="noStrike" cap="none">
              <a:solidFill>
                <a:srgbClr val="FFFFFF"/>
              </a:solidFill>
              <a:latin typeface="Montserrat"/>
              <a:ea typeface="Montserrat"/>
              <a:cs typeface="Montserrat"/>
              <a:sym typeface="Montserrat"/>
            </a:endParaRPr>
          </a:p>
        </p:txBody>
      </p:sp>
      <p:graphicFrame>
        <p:nvGraphicFramePr>
          <p:cNvPr id="69" name="Google Shape;69;g37670341832_11_0"/>
          <p:cNvGraphicFramePr/>
          <p:nvPr>
            <p:extLst>
              <p:ext uri="{D42A27DB-BD31-4B8C-83A1-F6EECF244321}">
                <p14:modId xmlns:p14="http://schemas.microsoft.com/office/powerpoint/2010/main" val="3125980840"/>
              </p:ext>
            </p:extLst>
          </p:nvPr>
        </p:nvGraphicFramePr>
        <p:xfrm>
          <a:off x="411281" y="2507288"/>
          <a:ext cx="6155250" cy="6375325"/>
        </p:xfrm>
        <a:graphic>
          <a:graphicData uri="http://schemas.openxmlformats.org/drawingml/2006/table">
            <a:tbl>
              <a:tblPr bandRow="1">
                <a:noFill/>
              </a:tblPr>
              <a:tblGrid>
                <a:gridCol w="2425700">
                  <a:extLst>
                    <a:ext uri="{9D8B030D-6E8A-4147-A177-3AD203B41FA5}">
                      <a16:colId xmlns:a16="http://schemas.microsoft.com/office/drawing/2014/main" val="20000"/>
                    </a:ext>
                  </a:extLst>
                </a:gridCol>
                <a:gridCol w="3729550">
                  <a:extLst>
                    <a:ext uri="{9D8B030D-6E8A-4147-A177-3AD203B41FA5}">
                      <a16:colId xmlns:a16="http://schemas.microsoft.com/office/drawing/2014/main" val="20001"/>
                    </a:ext>
                  </a:extLst>
                </a:gridCol>
              </a:tblGrid>
              <a:tr h="739800">
                <a:tc>
                  <a:txBody>
                    <a:bodyPr/>
                    <a:lstStyle/>
                    <a:p>
                      <a:pPr marL="0" marR="0" lvl="0" indent="0" algn="l" rtl="0">
                        <a:lnSpc>
                          <a:spcPct val="107916"/>
                        </a:lnSpc>
                        <a:spcBef>
                          <a:spcPts val="0"/>
                        </a:spcBef>
                        <a:spcAft>
                          <a:spcPts val="0"/>
                        </a:spcAft>
                        <a:buClr>
                          <a:srgbClr val="000000"/>
                        </a:buClr>
                        <a:buSzPts val="1000"/>
                        <a:buFont typeface="Arial"/>
                        <a:buNone/>
                      </a:pPr>
                      <a:r>
                        <a:rPr lang="es" sz="1000" u="none" strike="noStrike" cap="none">
                          <a:solidFill>
                            <a:srgbClr val="FFFFFF"/>
                          </a:solidFill>
                          <a:latin typeface="Montserrat"/>
                          <a:ea typeface="Montserrat"/>
                          <a:cs typeface="Montserrat"/>
                          <a:sym typeface="Montserrat"/>
                        </a:rPr>
                        <a:t>Jefatura de Servicios de Prestaciones Médicas</a:t>
                      </a:r>
                      <a:endParaRPr sz="1000" u="none" strike="noStrike" cap="none">
                        <a:solidFill>
                          <a:srgbClr val="FFFFFF"/>
                        </a:solidFill>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rgbClr val="000000"/>
                        </a:buClr>
                        <a:buSzPts val="1000"/>
                        <a:buFont typeface="Arial"/>
                        <a:buNone/>
                      </a:pPr>
                      <a:r>
                        <a:rPr lang="es" sz="1000" b="1">
                          <a:latin typeface="Montserrat"/>
                          <a:ea typeface="Montserrat"/>
                          <a:cs typeface="Montserrat"/>
                          <a:sym typeface="Montserrat"/>
                        </a:rPr>
                        <a:t>Dra. Laura Isabel Ramírez del Carmen</a:t>
                      </a:r>
                      <a:endParaRPr/>
                    </a:p>
                    <a:p>
                      <a:pPr marL="0" marR="0" lvl="0" indent="0" algn="l" rtl="0">
                        <a:lnSpc>
                          <a:spcPct val="107916"/>
                        </a:lnSpc>
                        <a:spcBef>
                          <a:spcPts val="0"/>
                        </a:spcBef>
                        <a:spcAft>
                          <a:spcPts val="0"/>
                        </a:spcAft>
                        <a:buClr>
                          <a:srgbClr val="000000"/>
                        </a:buClr>
                        <a:buSzPts val="1000"/>
                        <a:buFont typeface="Arial"/>
                        <a:buNone/>
                      </a:pPr>
                      <a:r>
                        <a:rPr lang="es" sz="1000">
                          <a:latin typeface="Montserrat"/>
                          <a:ea typeface="Montserrat"/>
                          <a:cs typeface="Montserrat"/>
                          <a:sym typeface="Montserrat"/>
                        </a:rPr>
                        <a:t>Maestría en Administración de Instituciones de Salud</a:t>
                      </a:r>
                      <a:endParaRPr sz="1000" u="none" strike="noStrike" cap="none">
                        <a:latin typeface="Montserrat"/>
                        <a:ea typeface="Montserrat"/>
                        <a:cs typeface="Montserrat"/>
                        <a:sym typeface="Montserrat"/>
                      </a:endParaRPr>
                    </a:p>
                    <a:p>
                      <a:pPr marL="0" marR="0" lvl="0" indent="0" algn="l" rtl="0">
                        <a:lnSpc>
                          <a:spcPct val="107916"/>
                        </a:lnSpc>
                        <a:spcBef>
                          <a:spcPts val="0"/>
                        </a:spcBef>
                        <a:spcAft>
                          <a:spcPts val="0"/>
                        </a:spcAft>
                        <a:buClr>
                          <a:srgbClr val="000000"/>
                        </a:buClr>
                        <a:buSzPts val="1000"/>
                        <a:buFont typeface="Arial"/>
                        <a:buNone/>
                      </a:pPr>
                      <a:r>
                        <a:rPr lang="es" sz="1000" u="none" strike="noStrike" cap="none">
                          <a:latin typeface="Montserrat"/>
                          <a:ea typeface="Montserrat"/>
                          <a:cs typeface="Montserrat"/>
                          <a:sym typeface="Montserrat"/>
                        </a:rPr>
                        <a:t>Inicio en el cargo: Enero</a:t>
                      </a:r>
                      <a:r>
                        <a:rPr lang="es" sz="1000">
                          <a:latin typeface="Montserrat"/>
                          <a:ea typeface="Montserrat"/>
                          <a:cs typeface="Montserrat"/>
                          <a:sym typeface="Montserrat"/>
                        </a:rPr>
                        <a:t>, 2024.</a:t>
                      </a:r>
                      <a:endParaRPr sz="1000" u="none" strike="noStrike" cap="none">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739800">
                <a:tc>
                  <a:txBody>
                    <a:bodyPr/>
                    <a:lstStyle/>
                    <a:p>
                      <a:pPr marL="0" marR="0" lvl="0" indent="0" algn="l" rtl="0">
                        <a:lnSpc>
                          <a:spcPct val="107916"/>
                        </a:lnSpc>
                        <a:spcBef>
                          <a:spcPts val="0"/>
                        </a:spcBef>
                        <a:spcAft>
                          <a:spcPts val="0"/>
                        </a:spcAft>
                        <a:buClr>
                          <a:srgbClr val="000000"/>
                        </a:buClr>
                        <a:buSzPts val="1000"/>
                        <a:buFont typeface="Arial"/>
                        <a:buNone/>
                      </a:pPr>
                      <a:r>
                        <a:rPr lang="es" sz="1000" u="none" strike="noStrike" cap="none">
                          <a:solidFill>
                            <a:srgbClr val="FFFFFF"/>
                          </a:solidFill>
                          <a:latin typeface="Montserrat"/>
                          <a:ea typeface="Montserrat"/>
                          <a:cs typeface="Montserrat"/>
                          <a:sym typeface="Montserrat"/>
                        </a:rPr>
                        <a:t>Jefatura de Servicios de Salud en el Trabajo, Prestaciones Económicas y Sociales</a:t>
                      </a:r>
                      <a:endParaRPr sz="1000" u="none" strike="noStrike" cap="none">
                        <a:solidFill>
                          <a:srgbClr val="FFFFFF"/>
                        </a:solidFill>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rgbClr val="000000"/>
                        </a:buClr>
                        <a:buSzPts val="1000"/>
                        <a:buFont typeface="Arial"/>
                        <a:buNone/>
                      </a:pPr>
                      <a:r>
                        <a:rPr lang="es" sz="1000" b="1">
                          <a:latin typeface="Montserrat"/>
                          <a:ea typeface="Montserrat"/>
                          <a:cs typeface="Montserrat"/>
                          <a:sym typeface="Montserrat"/>
                        </a:rPr>
                        <a:t>Mtro. Aarón Alejandro Ramírez López</a:t>
                      </a:r>
                      <a:endParaRPr/>
                    </a:p>
                    <a:p>
                      <a:pPr marL="0" marR="0" lvl="0" indent="0" algn="l" rtl="0">
                        <a:lnSpc>
                          <a:spcPct val="107916"/>
                        </a:lnSpc>
                        <a:spcBef>
                          <a:spcPts val="0"/>
                        </a:spcBef>
                        <a:spcAft>
                          <a:spcPts val="0"/>
                        </a:spcAft>
                        <a:buClr>
                          <a:srgbClr val="000000"/>
                        </a:buClr>
                        <a:buSzPts val="1000"/>
                        <a:buFont typeface="Arial"/>
                        <a:buNone/>
                      </a:pPr>
                      <a:r>
                        <a:rPr lang="es" sz="1000">
                          <a:latin typeface="Montserrat"/>
                          <a:ea typeface="Montserrat"/>
                          <a:cs typeface="Montserrat"/>
                          <a:sym typeface="Montserrat"/>
                        </a:rPr>
                        <a:t>Maestría en Terapia Familiar</a:t>
                      </a:r>
                      <a:endParaRPr/>
                    </a:p>
                    <a:p>
                      <a:pPr marL="0" marR="0" lvl="0" indent="0" algn="l" rtl="0">
                        <a:lnSpc>
                          <a:spcPct val="107916"/>
                        </a:lnSpc>
                        <a:spcBef>
                          <a:spcPts val="0"/>
                        </a:spcBef>
                        <a:spcAft>
                          <a:spcPts val="0"/>
                        </a:spcAft>
                        <a:buClr>
                          <a:srgbClr val="000000"/>
                        </a:buClr>
                        <a:buSzPts val="1000"/>
                        <a:buFont typeface="Arial"/>
                        <a:buNone/>
                      </a:pPr>
                      <a:r>
                        <a:rPr lang="es" sz="1000" u="none" strike="noStrike" cap="none">
                          <a:latin typeface="Montserrat"/>
                          <a:ea typeface="Montserrat"/>
                          <a:cs typeface="Montserrat"/>
                          <a:sym typeface="Montserrat"/>
                        </a:rPr>
                        <a:t>Inicio en el cargo: Septiembre, 2021.</a:t>
                      </a:r>
                      <a:endParaRPr/>
                    </a:p>
                    <a:p>
                      <a:pPr marL="0" marR="0" lvl="0" indent="0" algn="l" rtl="0">
                        <a:lnSpc>
                          <a:spcPct val="107916"/>
                        </a:lnSpc>
                        <a:spcBef>
                          <a:spcPts val="0"/>
                        </a:spcBef>
                        <a:spcAft>
                          <a:spcPts val="0"/>
                        </a:spcAft>
                        <a:buClr>
                          <a:srgbClr val="000000"/>
                        </a:buClr>
                        <a:buSzPts val="1000"/>
                        <a:buFont typeface="Arial"/>
                        <a:buNone/>
                      </a:pPr>
                      <a:endParaRPr sz="1000" u="none" strike="noStrike" cap="none">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EEEE"/>
                    </a:solidFill>
                  </a:tcPr>
                </a:tc>
                <a:extLst>
                  <a:ext uri="{0D108BD9-81ED-4DB2-BD59-A6C34878D82A}">
                    <a16:rowId xmlns:a16="http://schemas.microsoft.com/office/drawing/2014/main" val="10001"/>
                  </a:ext>
                </a:extLst>
              </a:tr>
              <a:tr h="739800">
                <a:tc>
                  <a:txBody>
                    <a:bodyPr/>
                    <a:lstStyle/>
                    <a:p>
                      <a:pPr marL="0" marR="0" lvl="0" indent="0" algn="l" rtl="0">
                        <a:lnSpc>
                          <a:spcPct val="107916"/>
                        </a:lnSpc>
                        <a:spcBef>
                          <a:spcPts val="0"/>
                        </a:spcBef>
                        <a:spcAft>
                          <a:spcPts val="0"/>
                        </a:spcAft>
                        <a:buClr>
                          <a:srgbClr val="000000"/>
                        </a:buClr>
                        <a:buSzPts val="1000"/>
                        <a:buFont typeface="Arial"/>
                        <a:buNone/>
                      </a:pPr>
                      <a:r>
                        <a:rPr lang="es" sz="1000" u="none" strike="noStrike" cap="none">
                          <a:solidFill>
                            <a:srgbClr val="FFFFFF"/>
                          </a:solidFill>
                          <a:latin typeface="Montserrat"/>
                          <a:ea typeface="Montserrat"/>
                          <a:cs typeface="Montserrat"/>
                          <a:sym typeface="Montserrat"/>
                        </a:rPr>
                        <a:t>Jefatura de Servicios de Afiliación y Cobranza</a:t>
                      </a:r>
                      <a:endParaRPr sz="1000" u="none" strike="noStrike" cap="none">
                        <a:solidFill>
                          <a:srgbClr val="FFFFFF"/>
                        </a:solidFill>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rgbClr val="000000"/>
                        </a:buClr>
                        <a:buSzPts val="1000"/>
                        <a:buFont typeface="Arial"/>
                        <a:buNone/>
                      </a:pPr>
                      <a:r>
                        <a:rPr lang="es" sz="1000" b="1">
                          <a:latin typeface="Montserrat"/>
                          <a:ea typeface="Montserrat"/>
                          <a:cs typeface="Montserrat"/>
                          <a:sym typeface="Montserrat"/>
                        </a:rPr>
                        <a:t>Mtro. Rodolfo Cholico Juárez</a:t>
                      </a:r>
                      <a:endParaRPr/>
                    </a:p>
                    <a:p>
                      <a:pPr marL="0" marR="0" lvl="0" indent="0" algn="l" rtl="0">
                        <a:lnSpc>
                          <a:spcPct val="107916"/>
                        </a:lnSpc>
                        <a:spcBef>
                          <a:spcPts val="0"/>
                        </a:spcBef>
                        <a:spcAft>
                          <a:spcPts val="0"/>
                        </a:spcAft>
                        <a:buClr>
                          <a:srgbClr val="000000"/>
                        </a:buClr>
                        <a:buSzPts val="1000"/>
                        <a:buFont typeface="Arial"/>
                        <a:buNone/>
                      </a:pPr>
                      <a:r>
                        <a:rPr lang="es" sz="1000">
                          <a:latin typeface="Montserrat"/>
                          <a:ea typeface="Montserrat"/>
                          <a:cs typeface="Montserrat"/>
                          <a:sym typeface="Montserrat"/>
                        </a:rPr>
                        <a:t>Maestría en Desarrollo Organizacional</a:t>
                      </a:r>
                      <a:endParaRPr/>
                    </a:p>
                    <a:p>
                      <a:pPr marL="0" marR="0" lvl="0" indent="0" algn="l" rtl="0">
                        <a:lnSpc>
                          <a:spcPct val="107916"/>
                        </a:lnSpc>
                        <a:spcBef>
                          <a:spcPts val="0"/>
                        </a:spcBef>
                        <a:spcAft>
                          <a:spcPts val="0"/>
                        </a:spcAft>
                        <a:buClr>
                          <a:srgbClr val="000000"/>
                        </a:buClr>
                        <a:buSzPts val="1000"/>
                        <a:buFont typeface="Arial"/>
                        <a:buNone/>
                      </a:pPr>
                      <a:r>
                        <a:rPr lang="es" sz="1000" u="none" strike="noStrike" cap="none">
                          <a:latin typeface="Montserrat"/>
                          <a:ea typeface="Montserrat"/>
                          <a:cs typeface="Montserrat"/>
                          <a:sym typeface="Montserrat"/>
                        </a:rPr>
                        <a:t>Inicio en el cargo: Noviembre, 2015.</a:t>
                      </a:r>
                      <a:endParaRPr/>
                    </a:p>
                    <a:p>
                      <a:pPr marL="0" marR="0" lvl="0" indent="0" algn="l" rtl="0">
                        <a:lnSpc>
                          <a:spcPct val="107916"/>
                        </a:lnSpc>
                        <a:spcBef>
                          <a:spcPts val="0"/>
                        </a:spcBef>
                        <a:spcAft>
                          <a:spcPts val="0"/>
                        </a:spcAft>
                        <a:buClr>
                          <a:srgbClr val="000000"/>
                        </a:buClr>
                        <a:buSzPts val="1000"/>
                        <a:buFont typeface="Arial"/>
                        <a:buNone/>
                      </a:pPr>
                      <a:endParaRPr sz="1000" u="none" strike="noStrike" cap="none">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739800">
                <a:tc>
                  <a:txBody>
                    <a:bodyPr/>
                    <a:lstStyle/>
                    <a:p>
                      <a:pPr marL="0" marR="0" lvl="0" indent="0" algn="l" rtl="0">
                        <a:lnSpc>
                          <a:spcPct val="107916"/>
                        </a:lnSpc>
                        <a:spcBef>
                          <a:spcPts val="0"/>
                        </a:spcBef>
                        <a:spcAft>
                          <a:spcPts val="0"/>
                        </a:spcAft>
                        <a:buClr>
                          <a:srgbClr val="000000"/>
                        </a:buClr>
                        <a:buSzPts val="1000"/>
                        <a:buFont typeface="Arial"/>
                        <a:buNone/>
                      </a:pPr>
                      <a:r>
                        <a:rPr lang="es" sz="1000" u="none" strike="noStrike" cap="none">
                          <a:solidFill>
                            <a:srgbClr val="FFFFFF"/>
                          </a:solidFill>
                          <a:latin typeface="Montserrat"/>
                          <a:ea typeface="Montserrat"/>
                          <a:cs typeface="Montserrat"/>
                          <a:sym typeface="Montserrat"/>
                        </a:rPr>
                        <a:t>Jefatura de Servicios de Desarrollo de Personal</a:t>
                      </a:r>
                      <a:endParaRPr sz="1000" u="none" strike="noStrike" cap="none">
                        <a:solidFill>
                          <a:srgbClr val="FFFFFF"/>
                        </a:solidFill>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rgbClr val="000000"/>
                        </a:buClr>
                        <a:buSzPts val="1000"/>
                        <a:buFont typeface="Arial"/>
                        <a:buNone/>
                      </a:pPr>
                      <a:r>
                        <a:rPr lang="es" sz="1000" b="1" dirty="0">
                          <a:latin typeface="Montserrat"/>
                          <a:ea typeface="Montserrat"/>
                          <a:cs typeface="Montserrat"/>
                          <a:sym typeface="Montserrat"/>
                        </a:rPr>
                        <a:t>Lic. Valeria Guadalupe González Páramo</a:t>
                      </a:r>
                      <a:endParaRPr dirty="0"/>
                    </a:p>
                    <a:p>
                      <a:pPr marL="0" marR="0" lvl="0" indent="0" algn="l" rtl="0">
                        <a:lnSpc>
                          <a:spcPct val="107916"/>
                        </a:lnSpc>
                        <a:spcBef>
                          <a:spcPts val="0"/>
                        </a:spcBef>
                        <a:spcAft>
                          <a:spcPts val="0"/>
                        </a:spcAft>
                        <a:buClr>
                          <a:srgbClr val="000000"/>
                        </a:buClr>
                        <a:buSzPts val="1000"/>
                        <a:buFont typeface="Arial"/>
                        <a:buNone/>
                      </a:pPr>
                      <a:r>
                        <a:rPr lang="es" sz="1000" dirty="0">
                          <a:latin typeface="Montserrat"/>
                          <a:ea typeface="Montserrat"/>
                          <a:cs typeface="Montserrat"/>
                          <a:sym typeface="Montserrat"/>
                        </a:rPr>
                        <a:t>Licenciatura en Administración E.T.</a:t>
                      </a:r>
                      <a:endParaRPr dirty="0"/>
                    </a:p>
                    <a:p>
                      <a:pPr marL="0" marR="0" lvl="0" indent="0" algn="l" rtl="0">
                        <a:lnSpc>
                          <a:spcPct val="107916"/>
                        </a:lnSpc>
                        <a:spcBef>
                          <a:spcPts val="0"/>
                        </a:spcBef>
                        <a:spcAft>
                          <a:spcPts val="0"/>
                        </a:spcAft>
                        <a:buClr>
                          <a:srgbClr val="000000"/>
                        </a:buClr>
                        <a:buSzPts val="1000"/>
                        <a:buFont typeface="Arial"/>
                        <a:buNone/>
                      </a:pPr>
                      <a:r>
                        <a:rPr lang="es" sz="1000" u="none" strike="noStrike" cap="none" dirty="0">
                          <a:latin typeface="Montserrat"/>
                          <a:ea typeface="Montserrat"/>
                          <a:cs typeface="Montserrat"/>
                          <a:sym typeface="Montserrat"/>
                        </a:rPr>
                        <a:t>Inicio en el cargo: Marzo, 2023.</a:t>
                      </a:r>
                      <a:endParaRPr dirty="0"/>
                    </a:p>
                  </a:txBody>
                  <a:tcPr marL="95250" marR="952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EEEE"/>
                    </a:solidFill>
                  </a:tcPr>
                </a:tc>
                <a:extLst>
                  <a:ext uri="{0D108BD9-81ED-4DB2-BD59-A6C34878D82A}">
                    <a16:rowId xmlns:a16="http://schemas.microsoft.com/office/drawing/2014/main" val="10003"/>
                  </a:ext>
                </a:extLst>
              </a:tr>
              <a:tr h="1109675">
                <a:tc>
                  <a:txBody>
                    <a:bodyPr/>
                    <a:lstStyle/>
                    <a:p>
                      <a:pPr marL="0" marR="0" lvl="0" indent="0" algn="l" rtl="0">
                        <a:lnSpc>
                          <a:spcPct val="107916"/>
                        </a:lnSpc>
                        <a:spcBef>
                          <a:spcPts val="0"/>
                        </a:spcBef>
                        <a:spcAft>
                          <a:spcPts val="0"/>
                        </a:spcAft>
                        <a:buClr>
                          <a:srgbClr val="000000"/>
                        </a:buClr>
                        <a:buSzPts val="1000"/>
                        <a:buFont typeface="Arial"/>
                        <a:buNone/>
                      </a:pPr>
                      <a:r>
                        <a:rPr lang="es" sz="1000" u="none" strike="noStrike" cap="none">
                          <a:solidFill>
                            <a:srgbClr val="FFFFFF"/>
                          </a:solidFill>
                          <a:latin typeface="Montserrat"/>
                          <a:ea typeface="Montserrat"/>
                          <a:cs typeface="Montserrat"/>
                          <a:sym typeface="Montserrat"/>
                        </a:rPr>
                        <a:t>Jefatura de Servicios de Finanzas</a:t>
                      </a:r>
                      <a:endParaRPr sz="1000" u="none" strike="noStrike" cap="none">
                        <a:solidFill>
                          <a:srgbClr val="FFFFFF"/>
                        </a:solidFill>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rgbClr val="000000"/>
                        </a:buClr>
                        <a:buSzPts val="1000"/>
                        <a:buFont typeface="Arial"/>
                        <a:buNone/>
                      </a:pPr>
                      <a:r>
                        <a:rPr lang="es" sz="1000" b="1">
                          <a:latin typeface="Montserrat"/>
                          <a:ea typeface="Montserrat"/>
                          <a:cs typeface="Montserrat"/>
                          <a:sym typeface="Montserrat"/>
                        </a:rPr>
                        <a:t>Mtro. José Luis Páez Zamora</a:t>
                      </a:r>
                      <a:endParaRPr/>
                    </a:p>
                    <a:p>
                      <a:pPr marL="0" marR="0" lvl="0" indent="0" algn="l" rtl="0">
                        <a:lnSpc>
                          <a:spcPct val="107916"/>
                        </a:lnSpc>
                        <a:spcBef>
                          <a:spcPts val="0"/>
                        </a:spcBef>
                        <a:spcAft>
                          <a:spcPts val="0"/>
                        </a:spcAft>
                        <a:buClr>
                          <a:srgbClr val="000000"/>
                        </a:buClr>
                        <a:buSzPts val="1000"/>
                        <a:buFont typeface="Arial"/>
                        <a:buNone/>
                      </a:pPr>
                      <a:r>
                        <a:rPr lang="es" sz="1000">
                          <a:latin typeface="Montserrat"/>
                          <a:ea typeface="Montserrat"/>
                          <a:cs typeface="Montserrat"/>
                          <a:sym typeface="Montserrat"/>
                        </a:rPr>
                        <a:t>Maestría en Administración y Finanzas</a:t>
                      </a:r>
                      <a:endParaRPr/>
                    </a:p>
                    <a:p>
                      <a:pPr marL="0" marR="0" lvl="0" indent="0" algn="l" rtl="0">
                        <a:lnSpc>
                          <a:spcPct val="107916"/>
                        </a:lnSpc>
                        <a:spcBef>
                          <a:spcPts val="0"/>
                        </a:spcBef>
                        <a:spcAft>
                          <a:spcPts val="0"/>
                        </a:spcAft>
                        <a:buClr>
                          <a:srgbClr val="000000"/>
                        </a:buClr>
                        <a:buSzPts val="1000"/>
                        <a:buFont typeface="Arial"/>
                        <a:buNone/>
                      </a:pPr>
                      <a:r>
                        <a:rPr lang="es" sz="1000" u="none" strike="noStrike" cap="none">
                          <a:latin typeface="Montserrat"/>
                          <a:ea typeface="Montserrat"/>
                          <a:cs typeface="Montserrat"/>
                          <a:sym typeface="Montserrat"/>
                        </a:rPr>
                        <a:t>Inicio en el cargo: Marzo, 2017.</a:t>
                      </a:r>
                      <a:endParaRPr sz="1000" u="none" strike="noStrike" cap="none">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826850">
                <a:tc>
                  <a:txBody>
                    <a:bodyPr/>
                    <a:lstStyle/>
                    <a:p>
                      <a:pPr marL="0" marR="0" lvl="0" indent="0" algn="l" rtl="0">
                        <a:lnSpc>
                          <a:spcPct val="107916"/>
                        </a:lnSpc>
                        <a:spcBef>
                          <a:spcPts val="0"/>
                        </a:spcBef>
                        <a:spcAft>
                          <a:spcPts val="0"/>
                        </a:spcAft>
                        <a:buClr>
                          <a:srgbClr val="000000"/>
                        </a:buClr>
                        <a:buSzPts val="1000"/>
                        <a:buFont typeface="Arial"/>
                        <a:buNone/>
                      </a:pPr>
                      <a:r>
                        <a:rPr lang="es" sz="1000" u="none" strike="noStrike" cap="none">
                          <a:solidFill>
                            <a:srgbClr val="FFFFFF"/>
                          </a:solidFill>
                          <a:latin typeface="Montserrat"/>
                          <a:ea typeface="Montserrat"/>
                          <a:cs typeface="Montserrat"/>
                          <a:sym typeface="Montserrat"/>
                        </a:rPr>
                        <a:t>Jefatura de Servicios Administrativos</a:t>
                      </a:r>
                      <a:endParaRPr sz="1000" u="none" strike="noStrike" cap="none">
                        <a:solidFill>
                          <a:srgbClr val="FFFFFF"/>
                        </a:solidFill>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rgbClr val="000000"/>
                        </a:buClr>
                        <a:buSzPts val="1000"/>
                        <a:buFont typeface="Arial"/>
                        <a:buNone/>
                      </a:pPr>
                      <a:r>
                        <a:rPr lang="es" sz="1000" b="1">
                          <a:latin typeface="Montserrat"/>
                          <a:ea typeface="Montserrat"/>
                          <a:cs typeface="Montserrat"/>
                          <a:sym typeface="Montserrat"/>
                        </a:rPr>
                        <a:t>Lic. José Alejandro Urbina Domínguez</a:t>
                      </a:r>
                      <a:endParaRPr/>
                    </a:p>
                    <a:p>
                      <a:pPr marL="0" marR="0" lvl="0" indent="0" algn="l" rtl="0">
                        <a:lnSpc>
                          <a:spcPct val="107916"/>
                        </a:lnSpc>
                        <a:spcBef>
                          <a:spcPts val="0"/>
                        </a:spcBef>
                        <a:spcAft>
                          <a:spcPts val="0"/>
                        </a:spcAft>
                        <a:buClr>
                          <a:srgbClr val="000000"/>
                        </a:buClr>
                        <a:buSzPts val="1000"/>
                        <a:buFont typeface="Arial"/>
                        <a:buNone/>
                      </a:pPr>
                      <a:r>
                        <a:rPr lang="es" sz="1000">
                          <a:latin typeface="Montserrat"/>
                          <a:ea typeface="Montserrat"/>
                          <a:cs typeface="Montserrat"/>
                          <a:sym typeface="Montserrat"/>
                        </a:rPr>
                        <a:t>Licenciatura en Derecho</a:t>
                      </a:r>
                      <a:endParaRPr/>
                    </a:p>
                    <a:p>
                      <a:pPr marL="0" marR="0" lvl="0" indent="0" algn="l" rtl="0">
                        <a:lnSpc>
                          <a:spcPct val="107916"/>
                        </a:lnSpc>
                        <a:spcBef>
                          <a:spcPts val="0"/>
                        </a:spcBef>
                        <a:spcAft>
                          <a:spcPts val="0"/>
                        </a:spcAft>
                        <a:buClr>
                          <a:srgbClr val="000000"/>
                        </a:buClr>
                        <a:buSzPts val="1000"/>
                        <a:buFont typeface="Arial"/>
                        <a:buNone/>
                      </a:pPr>
                      <a:r>
                        <a:rPr lang="es" sz="1000" u="none" strike="noStrike" cap="none">
                          <a:latin typeface="Montserrat"/>
                          <a:ea typeface="Montserrat"/>
                          <a:cs typeface="Montserrat"/>
                          <a:sym typeface="Montserrat"/>
                        </a:rPr>
                        <a:t>Inicio en el cargo: Mayo, 2023.</a:t>
                      </a:r>
                      <a:endParaRPr/>
                    </a:p>
                    <a:p>
                      <a:pPr marL="0" marR="0" lvl="0" indent="0" algn="l" rtl="0">
                        <a:lnSpc>
                          <a:spcPct val="107916"/>
                        </a:lnSpc>
                        <a:spcBef>
                          <a:spcPts val="0"/>
                        </a:spcBef>
                        <a:spcAft>
                          <a:spcPts val="0"/>
                        </a:spcAft>
                        <a:buClr>
                          <a:srgbClr val="000000"/>
                        </a:buClr>
                        <a:buSzPts val="1000"/>
                        <a:buFont typeface="Arial"/>
                        <a:buNone/>
                      </a:pPr>
                      <a:endParaRPr sz="1000" u="none" strike="noStrike" cap="none">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EEEE"/>
                    </a:solidFill>
                  </a:tcPr>
                </a:tc>
                <a:extLst>
                  <a:ext uri="{0D108BD9-81ED-4DB2-BD59-A6C34878D82A}">
                    <a16:rowId xmlns:a16="http://schemas.microsoft.com/office/drawing/2014/main" val="10005"/>
                  </a:ext>
                </a:extLst>
              </a:tr>
              <a:tr h="739800">
                <a:tc>
                  <a:txBody>
                    <a:bodyPr/>
                    <a:lstStyle/>
                    <a:p>
                      <a:pPr marL="0" marR="0" lvl="0" indent="0" algn="l" rtl="0">
                        <a:lnSpc>
                          <a:spcPct val="107916"/>
                        </a:lnSpc>
                        <a:spcBef>
                          <a:spcPts val="0"/>
                        </a:spcBef>
                        <a:spcAft>
                          <a:spcPts val="0"/>
                        </a:spcAft>
                        <a:buClr>
                          <a:srgbClr val="000000"/>
                        </a:buClr>
                        <a:buSzPts val="1000"/>
                        <a:buFont typeface="Arial"/>
                        <a:buNone/>
                      </a:pPr>
                      <a:r>
                        <a:rPr lang="es" sz="1000" u="none" strike="noStrike" cap="none">
                          <a:solidFill>
                            <a:srgbClr val="FFFFFF"/>
                          </a:solidFill>
                          <a:latin typeface="Montserrat"/>
                          <a:ea typeface="Montserrat"/>
                          <a:cs typeface="Montserrat"/>
                          <a:sym typeface="Montserrat"/>
                        </a:rPr>
                        <a:t>Jefatura de Servicios Jurídicos</a:t>
                      </a:r>
                      <a:endParaRPr sz="1000" u="none" strike="noStrike" cap="none">
                        <a:solidFill>
                          <a:srgbClr val="FFFFFF"/>
                        </a:solidFill>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rgbClr val="000000"/>
                        </a:buClr>
                        <a:buSzPts val="1000"/>
                        <a:buFont typeface="Arial"/>
                        <a:buNone/>
                      </a:pPr>
                      <a:r>
                        <a:rPr lang="es" sz="1000" b="1">
                          <a:latin typeface="Montserrat"/>
                          <a:ea typeface="Montserrat"/>
                          <a:cs typeface="Montserrat"/>
                          <a:sym typeface="Montserrat"/>
                        </a:rPr>
                        <a:t>Lic. Carlos Alberto Domínguez Espinosa</a:t>
                      </a:r>
                      <a:endParaRPr/>
                    </a:p>
                    <a:p>
                      <a:pPr marL="0" marR="0" lvl="0" indent="0" algn="l" rtl="0">
                        <a:lnSpc>
                          <a:spcPct val="107916"/>
                        </a:lnSpc>
                        <a:spcBef>
                          <a:spcPts val="0"/>
                        </a:spcBef>
                        <a:spcAft>
                          <a:spcPts val="0"/>
                        </a:spcAft>
                        <a:buClr>
                          <a:srgbClr val="000000"/>
                        </a:buClr>
                        <a:buSzPts val="1000"/>
                        <a:buFont typeface="Arial"/>
                        <a:buNone/>
                      </a:pPr>
                      <a:r>
                        <a:rPr lang="es" sz="1000">
                          <a:latin typeface="Montserrat"/>
                          <a:ea typeface="Montserrat"/>
                          <a:cs typeface="Montserrat"/>
                          <a:sym typeface="Montserrat"/>
                        </a:rPr>
                        <a:t>Licenciatura en Derecho</a:t>
                      </a:r>
                      <a:endParaRPr/>
                    </a:p>
                    <a:p>
                      <a:pPr marL="0" marR="0" lvl="0" indent="0" algn="l" rtl="0">
                        <a:lnSpc>
                          <a:spcPct val="107916"/>
                        </a:lnSpc>
                        <a:spcBef>
                          <a:spcPts val="0"/>
                        </a:spcBef>
                        <a:spcAft>
                          <a:spcPts val="0"/>
                        </a:spcAft>
                        <a:buClr>
                          <a:srgbClr val="000000"/>
                        </a:buClr>
                        <a:buSzPts val="1000"/>
                        <a:buFont typeface="Arial"/>
                        <a:buNone/>
                      </a:pPr>
                      <a:r>
                        <a:rPr lang="es" sz="1000" u="none" strike="noStrike" cap="none">
                          <a:latin typeface="Montserrat"/>
                          <a:ea typeface="Montserrat"/>
                          <a:cs typeface="Montserrat"/>
                          <a:sym typeface="Montserrat"/>
                        </a:rPr>
                        <a:t>Inicio en el cargo: Septiembre, 2012.</a:t>
                      </a:r>
                      <a:endParaRPr/>
                    </a:p>
                    <a:p>
                      <a:pPr marL="0" marR="0" lvl="0" indent="0" algn="l" rtl="0">
                        <a:lnSpc>
                          <a:spcPct val="107916"/>
                        </a:lnSpc>
                        <a:spcBef>
                          <a:spcPts val="0"/>
                        </a:spcBef>
                        <a:spcAft>
                          <a:spcPts val="0"/>
                        </a:spcAft>
                        <a:buClr>
                          <a:srgbClr val="000000"/>
                        </a:buClr>
                        <a:buSzPts val="1000"/>
                        <a:buFont typeface="Arial"/>
                        <a:buNone/>
                      </a:pPr>
                      <a:endParaRPr sz="1000" u="none" strike="noStrike" cap="none">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r h="739800">
                <a:tc>
                  <a:txBody>
                    <a:bodyPr/>
                    <a:lstStyle/>
                    <a:p>
                      <a:pPr marL="0" marR="0" lvl="0" indent="0" algn="l" rtl="0">
                        <a:lnSpc>
                          <a:spcPct val="107916"/>
                        </a:lnSpc>
                        <a:spcBef>
                          <a:spcPts val="0"/>
                        </a:spcBef>
                        <a:spcAft>
                          <a:spcPts val="0"/>
                        </a:spcAft>
                        <a:buClr>
                          <a:schemeClr val="dk1"/>
                        </a:buClr>
                        <a:buSzPts val="1100"/>
                        <a:buFont typeface="Arial"/>
                        <a:buNone/>
                      </a:pPr>
                      <a:r>
                        <a:rPr lang="es" sz="1000" u="none" strike="noStrike" cap="none">
                          <a:solidFill>
                            <a:schemeClr val="lt1"/>
                          </a:solidFill>
                          <a:latin typeface="Montserrat"/>
                          <a:ea typeface="Montserrat"/>
                          <a:cs typeface="Montserrat"/>
                          <a:sym typeface="Montserrat"/>
                        </a:rPr>
                        <a:t>Secretario General de la Sección XXi </a:t>
                      </a:r>
                      <a:r>
                        <a:rPr lang="es" sz="1000">
                          <a:solidFill>
                            <a:schemeClr val="lt1"/>
                          </a:solidFill>
                          <a:latin typeface="Montserrat"/>
                          <a:ea typeface="Montserrat"/>
                          <a:cs typeface="Montserrat"/>
                          <a:sym typeface="Montserrat"/>
                        </a:rPr>
                        <a:t>Querétaro</a:t>
                      </a:r>
                      <a:endParaRPr sz="1000" u="none" strike="noStrike" cap="none">
                        <a:solidFill>
                          <a:srgbClr val="FFFFFF"/>
                        </a:solidFill>
                        <a:latin typeface="Montserrat"/>
                        <a:ea typeface="Montserrat"/>
                        <a:cs typeface="Montserrat"/>
                        <a:sym typeface="Montserrat"/>
                      </a:endParaRPr>
                    </a:p>
                  </a:txBody>
                  <a:tcPr marL="95250" marR="952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rgbClr val="000000"/>
                        </a:buClr>
                        <a:buSzPts val="1000"/>
                        <a:buFont typeface="Arial"/>
                        <a:buNone/>
                      </a:pPr>
                      <a:r>
                        <a:rPr lang="es" sz="1000" b="1" dirty="0">
                          <a:latin typeface="Montserrat"/>
                          <a:ea typeface="Montserrat"/>
                          <a:cs typeface="Montserrat"/>
                          <a:sym typeface="Montserrat"/>
                        </a:rPr>
                        <a:t>Dr. Teodoro Vargas Ponce</a:t>
                      </a:r>
                      <a:endParaRPr dirty="0"/>
                    </a:p>
                    <a:p>
                      <a:pPr marL="0" marR="0" lvl="0" indent="0" algn="l" rtl="0">
                        <a:lnSpc>
                          <a:spcPct val="107916"/>
                        </a:lnSpc>
                        <a:spcBef>
                          <a:spcPts val="0"/>
                        </a:spcBef>
                        <a:spcAft>
                          <a:spcPts val="0"/>
                        </a:spcAft>
                        <a:buClr>
                          <a:srgbClr val="000000"/>
                        </a:buClr>
                        <a:buSzPts val="1000"/>
                        <a:buFont typeface="Arial"/>
                        <a:buNone/>
                      </a:pPr>
                      <a:r>
                        <a:rPr lang="es" sz="1000" dirty="0">
                          <a:latin typeface="Montserrat"/>
                          <a:ea typeface="Montserrat"/>
                          <a:cs typeface="Montserrat"/>
                          <a:sym typeface="Montserrat"/>
                        </a:rPr>
                        <a:t>Médico Traumatólogo</a:t>
                      </a:r>
                      <a:endParaRPr dirty="0"/>
                    </a:p>
                    <a:p>
                      <a:pPr marL="0" marR="0" lvl="0" indent="0" algn="l" rtl="0">
                        <a:lnSpc>
                          <a:spcPct val="107916"/>
                        </a:lnSpc>
                        <a:spcBef>
                          <a:spcPts val="0"/>
                        </a:spcBef>
                        <a:spcAft>
                          <a:spcPts val="0"/>
                        </a:spcAft>
                        <a:buClr>
                          <a:srgbClr val="000000"/>
                        </a:buClr>
                        <a:buSzPts val="1000"/>
                        <a:buFont typeface="Arial"/>
                        <a:buNone/>
                      </a:pPr>
                      <a:r>
                        <a:rPr lang="es" sz="1000" u="none" strike="noStrike" cap="none" dirty="0">
                          <a:latin typeface="Montserrat"/>
                          <a:ea typeface="Montserrat"/>
                          <a:cs typeface="Montserrat"/>
                          <a:sym typeface="Montserrat"/>
                        </a:rPr>
                        <a:t>Inicio en el cargo: Noviembre, 2022.</a:t>
                      </a:r>
                      <a:endParaRPr dirty="0"/>
                    </a:p>
                  </a:txBody>
                  <a:tcPr marL="95250" marR="9525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7"/>
                  </a:ext>
                </a:extLst>
              </a:tr>
            </a:tbl>
          </a:graphicData>
        </a:graphic>
      </p:graphicFrame>
      <p:sp>
        <p:nvSpPr>
          <p:cNvPr id="70" name="Google Shape;70;g37670341832_11_0"/>
          <p:cNvSpPr txBox="1"/>
          <p:nvPr/>
        </p:nvSpPr>
        <p:spPr>
          <a:xfrm>
            <a:off x="6663022" y="2599509"/>
            <a:ext cx="93515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 sz="1400" b="0" i="0" u="none" strike="noStrike" cap="none">
                <a:solidFill>
                  <a:srgbClr val="000000"/>
                </a:solidFill>
                <a:latin typeface="Arial"/>
                <a:ea typeface="Arial"/>
                <a:cs typeface="Arial"/>
                <a:sym typeface="Arial"/>
              </a:rPr>
              <a:t>FOTO</a:t>
            </a:r>
            <a:endParaRPr/>
          </a:p>
        </p:txBody>
      </p:sp>
      <p:sp>
        <p:nvSpPr>
          <p:cNvPr id="71" name="Google Shape;71;g37670341832_11_0"/>
          <p:cNvSpPr txBox="1"/>
          <p:nvPr/>
        </p:nvSpPr>
        <p:spPr>
          <a:xfrm>
            <a:off x="6688134" y="4267018"/>
            <a:ext cx="93515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 sz="1400" b="0" i="0" u="none" strike="noStrike" cap="none">
                <a:solidFill>
                  <a:srgbClr val="000000"/>
                </a:solidFill>
                <a:latin typeface="Arial"/>
                <a:ea typeface="Arial"/>
                <a:cs typeface="Arial"/>
                <a:sym typeface="Arial"/>
              </a:rPr>
              <a:t>FOTO</a:t>
            </a:r>
            <a:endParaRPr/>
          </a:p>
        </p:txBody>
      </p:sp>
      <p:sp>
        <p:nvSpPr>
          <p:cNvPr id="72" name="Google Shape;72;g37670341832_11_0"/>
          <p:cNvSpPr txBox="1"/>
          <p:nvPr/>
        </p:nvSpPr>
        <p:spPr>
          <a:xfrm>
            <a:off x="6688134" y="5194279"/>
            <a:ext cx="93515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 sz="1400" b="0" i="0" u="none" strike="noStrike" cap="none">
                <a:solidFill>
                  <a:srgbClr val="000000"/>
                </a:solidFill>
                <a:latin typeface="Arial"/>
                <a:ea typeface="Arial"/>
                <a:cs typeface="Arial"/>
                <a:sym typeface="Arial"/>
              </a:rPr>
              <a:t>FOTO</a:t>
            </a:r>
            <a:endParaRPr/>
          </a:p>
        </p:txBody>
      </p:sp>
      <p:sp>
        <p:nvSpPr>
          <p:cNvPr id="73" name="Google Shape;73;g37670341832_11_0"/>
          <p:cNvSpPr txBox="1"/>
          <p:nvPr/>
        </p:nvSpPr>
        <p:spPr>
          <a:xfrm>
            <a:off x="6688134" y="5977849"/>
            <a:ext cx="93515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 sz="1400" b="0" i="0" u="none" strike="noStrike" cap="none">
                <a:solidFill>
                  <a:srgbClr val="000000"/>
                </a:solidFill>
                <a:latin typeface="Arial"/>
                <a:ea typeface="Arial"/>
                <a:cs typeface="Arial"/>
                <a:sym typeface="Arial"/>
              </a:rPr>
              <a:t>FOTO</a:t>
            </a:r>
            <a:endParaRPr/>
          </a:p>
        </p:txBody>
      </p:sp>
      <p:sp>
        <p:nvSpPr>
          <p:cNvPr id="74" name="Google Shape;74;g37670341832_11_0"/>
          <p:cNvSpPr txBox="1"/>
          <p:nvPr/>
        </p:nvSpPr>
        <p:spPr>
          <a:xfrm>
            <a:off x="6688134" y="6915307"/>
            <a:ext cx="93515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 sz="1400" b="0" i="0" u="none" strike="noStrike" cap="none">
                <a:solidFill>
                  <a:srgbClr val="000000"/>
                </a:solidFill>
                <a:latin typeface="Arial"/>
                <a:ea typeface="Arial"/>
                <a:cs typeface="Arial"/>
                <a:sym typeface="Arial"/>
              </a:rPr>
              <a:t>FOTO</a:t>
            </a:r>
            <a:endParaRPr/>
          </a:p>
        </p:txBody>
      </p:sp>
      <p:sp>
        <p:nvSpPr>
          <p:cNvPr id="75" name="Google Shape;75;g37670341832_11_0"/>
          <p:cNvSpPr txBox="1"/>
          <p:nvPr/>
        </p:nvSpPr>
        <p:spPr>
          <a:xfrm>
            <a:off x="6688135" y="7637080"/>
            <a:ext cx="93515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 sz="1400" b="0" i="0" u="none" strike="noStrike" cap="none">
                <a:solidFill>
                  <a:srgbClr val="000000"/>
                </a:solidFill>
                <a:latin typeface="Arial"/>
                <a:ea typeface="Arial"/>
                <a:cs typeface="Arial"/>
                <a:sym typeface="Arial"/>
              </a:rPr>
              <a:t>FOTO</a:t>
            </a:r>
            <a:endParaRPr/>
          </a:p>
        </p:txBody>
      </p:sp>
      <p:sp>
        <p:nvSpPr>
          <p:cNvPr id="76" name="Google Shape;76;g37670341832_11_0"/>
          <p:cNvSpPr txBox="1"/>
          <p:nvPr/>
        </p:nvSpPr>
        <p:spPr>
          <a:xfrm>
            <a:off x="6688135" y="8307978"/>
            <a:ext cx="93515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 sz="1400" b="0" i="0" u="none" strike="noStrike" cap="none">
                <a:solidFill>
                  <a:srgbClr val="000000"/>
                </a:solidFill>
                <a:latin typeface="Arial"/>
                <a:ea typeface="Arial"/>
                <a:cs typeface="Arial"/>
                <a:sym typeface="Arial"/>
              </a:rPr>
              <a:t>FOTO</a:t>
            </a:r>
            <a:endParaRPr/>
          </a:p>
        </p:txBody>
      </p:sp>
      <p:sp>
        <p:nvSpPr>
          <p:cNvPr id="77" name="Google Shape;77;g37670341832_11_0"/>
          <p:cNvSpPr txBox="1"/>
          <p:nvPr/>
        </p:nvSpPr>
        <p:spPr>
          <a:xfrm>
            <a:off x="6688134" y="3381590"/>
            <a:ext cx="93515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 sz="1400" b="0" i="0" u="none" strike="noStrike" cap="none">
                <a:solidFill>
                  <a:srgbClr val="000000"/>
                </a:solidFill>
                <a:latin typeface="Arial"/>
                <a:ea typeface="Arial"/>
                <a:cs typeface="Arial"/>
                <a:sym typeface="Arial"/>
              </a:rPr>
              <a:t>FOTO</a:t>
            </a:r>
            <a:endParaRPr/>
          </a:p>
        </p:txBody>
      </p:sp>
      <p:sp>
        <p:nvSpPr>
          <p:cNvPr id="78" name="Google Shape;78;g37670341832_11_0"/>
          <p:cNvSpPr txBox="1"/>
          <p:nvPr/>
        </p:nvSpPr>
        <p:spPr>
          <a:xfrm>
            <a:off x="834772" y="1175787"/>
            <a:ext cx="93515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 sz="1400" b="0" i="0" u="none" strike="noStrike" cap="none">
                <a:solidFill>
                  <a:srgbClr val="000000"/>
                </a:solidFill>
                <a:latin typeface="Arial"/>
                <a:ea typeface="Arial"/>
                <a:cs typeface="Arial"/>
                <a:sym typeface="Arial"/>
              </a:rPr>
              <a:t>FOTO</a:t>
            </a:r>
            <a:endParaRPr/>
          </a:p>
        </p:txBody>
      </p:sp>
      <p:pic>
        <p:nvPicPr>
          <p:cNvPr id="79" name="Google Shape;79;g37670341832_11_0" title="IMG_7065.JPG"/>
          <p:cNvPicPr preferRelativeResize="0"/>
          <p:nvPr/>
        </p:nvPicPr>
        <p:blipFill rotWithShape="1">
          <a:blip r:embed="rId3">
            <a:alphaModFix/>
          </a:blip>
          <a:srcRect l="30017" t="13340" r="28925" b="11675"/>
          <a:stretch/>
        </p:blipFill>
        <p:spPr>
          <a:xfrm>
            <a:off x="642962" y="649375"/>
            <a:ext cx="1318774" cy="1605301"/>
          </a:xfrm>
          <a:prstGeom prst="rect">
            <a:avLst/>
          </a:prstGeom>
          <a:noFill/>
          <a:ln>
            <a:noFill/>
          </a:ln>
        </p:spPr>
      </p:pic>
      <p:pic>
        <p:nvPicPr>
          <p:cNvPr id="80" name="Google Shape;80;g37670341832_11_0" title="IMG_7076.JPG"/>
          <p:cNvPicPr preferRelativeResize="0"/>
          <p:nvPr/>
        </p:nvPicPr>
        <p:blipFill rotWithShape="1">
          <a:blip r:embed="rId4">
            <a:alphaModFix/>
          </a:blip>
          <a:srcRect l="27139" t="13507" r="29564" b="9046"/>
          <a:stretch/>
        </p:blipFill>
        <p:spPr>
          <a:xfrm>
            <a:off x="6701561" y="2452404"/>
            <a:ext cx="607800" cy="724675"/>
          </a:xfrm>
          <a:prstGeom prst="rect">
            <a:avLst/>
          </a:prstGeom>
          <a:noFill/>
          <a:ln>
            <a:noFill/>
          </a:ln>
        </p:spPr>
      </p:pic>
      <p:pic>
        <p:nvPicPr>
          <p:cNvPr id="81" name="Google Shape;81;g37670341832_11_0" title="IMG_7099.JPG"/>
          <p:cNvPicPr preferRelativeResize="0"/>
          <p:nvPr/>
        </p:nvPicPr>
        <p:blipFill rotWithShape="1">
          <a:blip r:embed="rId5">
            <a:alphaModFix/>
          </a:blip>
          <a:srcRect l="27765" t="13535" r="29360" b="11565"/>
          <a:stretch/>
        </p:blipFill>
        <p:spPr>
          <a:xfrm>
            <a:off x="6701556" y="3230700"/>
            <a:ext cx="607800" cy="712910"/>
          </a:xfrm>
          <a:prstGeom prst="rect">
            <a:avLst/>
          </a:prstGeom>
          <a:noFill/>
          <a:ln>
            <a:noFill/>
          </a:ln>
        </p:spPr>
      </p:pic>
      <p:pic>
        <p:nvPicPr>
          <p:cNvPr id="82" name="Google Shape;82;g37670341832_11_0" title="IMG_7092.JPG"/>
          <p:cNvPicPr preferRelativeResize="0"/>
          <p:nvPr/>
        </p:nvPicPr>
        <p:blipFill rotWithShape="1">
          <a:blip r:embed="rId6">
            <a:alphaModFix/>
          </a:blip>
          <a:srcRect l="29183" t="18190" r="31972" b="13453"/>
          <a:stretch/>
        </p:blipFill>
        <p:spPr>
          <a:xfrm>
            <a:off x="6701556" y="3997219"/>
            <a:ext cx="607800" cy="712899"/>
          </a:xfrm>
          <a:prstGeom prst="rect">
            <a:avLst/>
          </a:prstGeom>
          <a:noFill/>
          <a:ln>
            <a:noFill/>
          </a:ln>
        </p:spPr>
      </p:pic>
      <p:pic>
        <p:nvPicPr>
          <p:cNvPr id="83" name="Google Shape;83;g37670341832_11_0" title="IMG_7074.JPG"/>
          <p:cNvPicPr preferRelativeResize="0"/>
          <p:nvPr/>
        </p:nvPicPr>
        <p:blipFill rotWithShape="1">
          <a:blip r:embed="rId7">
            <a:alphaModFix/>
          </a:blip>
          <a:srcRect l="27740" t="16587" r="29576" b="8630"/>
          <a:stretch/>
        </p:blipFill>
        <p:spPr>
          <a:xfrm>
            <a:off x="6701555" y="4751051"/>
            <a:ext cx="607800" cy="709745"/>
          </a:xfrm>
          <a:prstGeom prst="rect">
            <a:avLst/>
          </a:prstGeom>
          <a:noFill/>
          <a:ln>
            <a:noFill/>
          </a:ln>
        </p:spPr>
      </p:pic>
      <p:pic>
        <p:nvPicPr>
          <p:cNvPr id="84" name="Google Shape;84;g37670341832_11_0" title="IMG_7096.JPG"/>
          <p:cNvPicPr preferRelativeResize="0"/>
          <p:nvPr/>
        </p:nvPicPr>
        <p:blipFill rotWithShape="1">
          <a:blip r:embed="rId8">
            <a:alphaModFix/>
          </a:blip>
          <a:srcRect l="27860" t="11230" r="33219" b="12995"/>
          <a:stretch/>
        </p:blipFill>
        <p:spPr>
          <a:xfrm>
            <a:off x="6701557" y="5622058"/>
            <a:ext cx="607800" cy="788659"/>
          </a:xfrm>
          <a:prstGeom prst="rect">
            <a:avLst/>
          </a:prstGeom>
          <a:noFill/>
          <a:ln>
            <a:noFill/>
          </a:ln>
        </p:spPr>
      </p:pic>
      <p:pic>
        <p:nvPicPr>
          <p:cNvPr id="85" name="Google Shape;85;g37670341832_11_0" title="IMG_7085.JPG"/>
          <p:cNvPicPr preferRelativeResize="0"/>
          <p:nvPr/>
        </p:nvPicPr>
        <p:blipFill rotWithShape="1">
          <a:blip r:embed="rId9">
            <a:alphaModFix/>
          </a:blip>
          <a:srcRect l="29621" t="14712" r="34021" b="20247"/>
          <a:stretch/>
        </p:blipFill>
        <p:spPr>
          <a:xfrm>
            <a:off x="6701556" y="6599536"/>
            <a:ext cx="607800" cy="724675"/>
          </a:xfrm>
          <a:prstGeom prst="rect">
            <a:avLst/>
          </a:prstGeom>
          <a:noFill/>
          <a:ln>
            <a:noFill/>
          </a:ln>
        </p:spPr>
      </p:pic>
      <p:pic>
        <p:nvPicPr>
          <p:cNvPr id="86" name="Google Shape;86;g37670341832_11_0" title="IMG_7091.JPG"/>
          <p:cNvPicPr preferRelativeResize="0"/>
          <p:nvPr/>
        </p:nvPicPr>
        <p:blipFill rotWithShape="1">
          <a:blip r:embed="rId10">
            <a:alphaModFix/>
          </a:blip>
          <a:srcRect l="32774" t="18440" r="32559" b="24629"/>
          <a:stretch/>
        </p:blipFill>
        <p:spPr>
          <a:xfrm>
            <a:off x="6701556" y="7470446"/>
            <a:ext cx="607800" cy="665274"/>
          </a:xfrm>
          <a:prstGeom prst="rect">
            <a:avLst/>
          </a:prstGeom>
          <a:noFill/>
          <a:ln>
            <a:noFill/>
          </a:ln>
        </p:spPr>
      </p:pic>
      <p:pic>
        <p:nvPicPr>
          <p:cNvPr id="87" name="Google Shape;87;g37670341832_11_0"/>
          <p:cNvPicPr preferRelativeResize="0"/>
          <p:nvPr/>
        </p:nvPicPr>
        <p:blipFill rotWithShape="1">
          <a:blip r:embed="rId11">
            <a:alphaModFix/>
          </a:blip>
          <a:srcRect b="17912"/>
          <a:stretch/>
        </p:blipFill>
        <p:spPr>
          <a:xfrm>
            <a:off x="6701556" y="8186065"/>
            <a:ext cx="607800" cy="665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a:solidFill>
                  <a:srgbClr val="006455"/>
                </a:solidFill>
                <a:latin typeface="Noto Sans"/>
                <a:ea typeface="Noto Sans"/>
                <a:cs typeface="Noto Sans"/>
                <a:sym typeface="Noto Sans"/>
              </a:rPr>
              <a:t>Personas Trabajadoras Independientes</a:t>
            </a:r>
            <a:endParaRPr sz="700" b="1" i="0" u="none" strike="noStrike" cap="none">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61% de la población</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608244" y="4676002"/>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extLst>
              <p:ext uri="{D42A27DB-BD31-4B8C-83A1-F6EECF244321}">
                <p14:modId xmlns:p14="http://schemas.microsoft.com/office/powerpoint/2010/main" val="3190460661"/>
              </p:ext>
            </p:extLst>
          </p:nvPr>
        </p:nvGraphicFramePr>
        <p:xfrm>
          <a:off x="2488947" y="1451974"/>
          <a:ext cx="3240000" cy="3240000"/>
        </p:xfrm>
        <a:graphic>
          <a:graphicData uri="http://schemas.openxmlformats.org/drawingml/2006/chart">
            <c:chart xmlns:c="http://schemas.openxmlformats.org/drawingml/2006/chart" xmlns:r="http://schemas.openxmlformats.org/officeDocument/2006/relationships" r:id="rId5"/>
          </a:graphicData>
        </a:graphic>
      </p:graphicFrame>
      <p:sp>
        <p:nvSpPr>
          <p:cNvPr id="118" name="TextBox 117"/>
          <p:cNvSpPr txBox="1"/>
          <p:nvPr/>
        </p:nvSpPr>
        <p:spPr>
          <a:xfrm>
            <a:off x="6477576" y="3049459"/>
            <a:ext cx="1188000" cy="503999"/>
          </a:xfrm>
          <a:prstGeom prst="rect">
            <a:avLst/>
          </a:prstGeom>
          <a:noFill/>
        </p:spPr>
        <p:txBody>
          <a:bodyPr wrap="none"/>
          <a:lstStyle/>
          <a:p>
            <a:pPr algn="l">
              <a:defRPr sz="1400" b="1">
                <a:solidFill>
                  <a:srgbClr val="595959"/>
                </a:solidFill>
                <a:latin typeface="Montserrat"/>
              </a:defRPr>
            </a:pPr>
            <a:r>
              <a:t>1,640,082</a:t>
            </a:r>
            <a:br/>
            <a:r>
              <a:t>61%</a:t>
            </a:r>
          </a:p>
        </p:txBody>
      </p:sp>
      <p:pic>
        <p:nvPicPr>
          <p:cNvPr id="119" name="Picture 118" descr="imss.png"/>
          <p:cNvPicPr>
            <a:picLocks noChangeAspect="1"/>
          </p:cNvPicPr>
          <p:nvPr/>
        </p:nvPicPr>
        <p:blipFill>
          <a:blip r:embed="rId6"/>
          <a:stretch>
            <a:fillRect/>
          </a:stretch>
        </p:blipFill>
        <p:spPr>
          <a:xfrm>
            <a:off x="6139176" y="3045858"/>
            <a:ext cx="377265" cy="468000"/>
          </a:xfrm>
          <a:prstGeom prst="rect">
            <a:avLst/>
          </a:prstGeom>
        </p:spPr>
      </p:pic>
      <p:sp>
        <p:nvSpPr>
          <p:cNvPr id="120" name="Rectangle 119"/>
          <p:cNvSpPr/>
          <p:nvPr/>
        </p:nvSpPr>
        <p:spPr>
          <a:xfrm>
            <a:off x="5793576" y="3218659"/>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213157" y="3637424"/>
            <a:ext cx="1188000" cy="316799"/>
          </a:xfrm>
          <a:prstGeom prst="rect">
            <a:avLst/>
          </a:prstGeom>
          <a:noFill/>
        </p:spPr>
        <p:txBody>
          <a:bodyPr wrap="none"/>
          <a:lstStyle/>
          <a:p>
            <a:pPr algn="l">
              <a:defRPr sz="1400" b="1">
                <a:solidFill>
                  <a:srgbClr val="595959"/>
                </a:solidFill>
                <a:latin typeface="Montserrat"/>
              </a:defRPr>
            </a:pPr>
            <a:r>
              <a:t>191,529</a:t>
            </a:r>
            <a:br>
              <a:rPr/>
            </a:br>
            <a:r>
              <a:t>7%</a:t>
            </a:r>
          </a:p>
        </p:txBody>
      </p:sp>
      <p:pic>
        <p:nvPicPr>
          <p:cNvPr id="122" name="Picture 121" descr="issste.png"/>
          <p:cNvPicPr>
            <a:picLocks noChangeAspect="1"/>
          </p:cNvPicPr>
          <p:nvPr/>
        </p:nvPicPr>
        <p:blipFill>
          <a:blip r:embed="rId7"/>
          <a:stretch>
            <a:fillRect/>
          </a:stretch>
        </p:blipFill>
        <p:spPr>
          <a:xfrm>
            <a:off x="1021546" y="3654000"/>
            <a:ext cx="1437091" cy="468000"/>
          </a:xfrm>
          <a:prstGeom prst="rect">
            <a:avLst/>
          </a:prstGeom>
        </p:spPr>
      </p:pic>
      <p:sp>
        <p:nvSpPr>
          <p:cNvPr id="123" name="Rectangle 122"/>
          <p:cNvSpPr/>
          <p:nvPr/>
        </p:nvSpPr>
        <p:spPr>
          <a:xfrm>
            <a:off x="2524355" y="392053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195776" y="1533978"/>
            <a:ext cx="1188000" cy="503999"/>
          </a:xfrm>
          <a:prstGeom prst="rect">
            <a:avLst/>
          </a:prstGeom>
          <a:noFill/>
        </p:spPr>
        <p:txBody>
          <a:bodyPr wrap="none"/>
          <a:lstStyle/>
          <a:p>
            <a:pPr algn="r">
              <a:defRPr sz="1400" b="1">
                <a:solidFill>
                  <a:srgbClr val="595959"/>
                </a:solidFill>
                <a:latin typeface="Montserrat"/>
              </a:defRPr>
            </a:pPr>
            <a:r>
              <a:t>857,271</a:t>
            </a:r>
            <a:br>
              <a:rPr/>
            </a:br>
            <a:r>
              <a:t>32%</a:t>
            </a:r>
          </a:p>
        </p:txBody>
      </p:sp>
      <p:pic>
        <p:nvPicPr>
          <p:cNvPr id="125" name="Picture 124" descr="22.png"/>
          <p:cNvPicPr>
            <a:picLocks noChangeAspect="1"/>
          </p:cNvPicPr>
          <p:nvPr/>
        </p:nvPicPr>
        <p:blipFill>
          <a:blip r:embed="rId8"/>
          <a:stretch>
            <a:fillRect/>
          </a:stretch>
        </p:blipFill>
        <p:spPr>
          <a:xfrm>
            <a:off x="1093565" y="1726700"/>
            <a:ext cx="1393116" cy="468000"/>
          </a:xfrm>
          <a:prstGeom prst="rect">
            <a:avLst/>
          </a:prstGeom>
        </p:spPr>
      </p:pic>
      <p:sp>
        <p:nvSpPr>
          <p:cNvPr id="126" name="Rectangle 125"/>
          <p:cNvSpPr/>
          <p:nvPr/>
        </p:nvSpPr>
        <p:spPr>
          <a:xfrm>
            <a:off x="2585555" y="1881671"/>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4666776" y="1029979"/>
            <a:ext cx="1188000" cy="503999"/>
          </a:xfrm>
          <a:prstGeom prst="rect">
            <a:avLst/>
          </a:prstGeom>
          <a:noFill/>
        </p:spPr>
        <p:txBody>
          <a:bodyPr wrap="none"/>
          <a:lstStyle/>
          <a:p>
            <a:pPr algn="r">
              <a:defRPr sz="1400" b="1">
                <a:solidFill>
                  <a:srgbClr val="595959"/>
                </a:solidFill>
                <a:latin typeface="Montserrat"/>
              </a:defRPr>
            </a:pPr>
            <a:r>
              <a:rPr err="1"/>
              <a:t>Otros</a:t>
            </a:r>
            <a:br>
              <a:rPr/>
            </a:br>
            <a:r>
              <a:t>12,096</a:t>
            </a:r>
            <a:br>
              <a:rPr/>
            </a:br>
            <a:r>
              <a:t>0.45%</a:t>
            </a:r>
          </a:p>
        </p:txBody>
      </p:sp>
      <p:pic>
        <p:nvPicPr>
          <p:cNvPr id="128" name="Picture 127" descr="otros.png"/>
          <p:cNvPicPr>
            <a:picLocks noChangeAspect="1"/>
          </p:cNvPicPr>
          <p:nvPr/>
        </p:nvPicPr>
        <p:blipFill>
          <a:blip r:embed="rId9"/>
          <a:stretch>
            <a:fillRect/>
          </a:stretch>
        </p:blipFill>
        <p:spPr>
          <a:xfrm>
            <a:off x="4548227" y="1151500"/>
            <a:ext cx="468000" cy="468000"/>
          </a:xfrm>
          <a:prstGeom prst="rect">
            <a:avLst/>
          </a:prstGeom>
        </p:spPr>
      </p:pic>
      <p:sp>
        <p:nvSpPr>
          <p:cNvPr id="129" name="Rectangle 128"/>
          <p:cNvSpPr/>
          <p:nvPr/>
        </p:nvSpPr>
        <p:spPr>
          <a:xfrm>
            <a:off x="4275461" y="1146474"/>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3211287" y="2679574"/>
            <a:ext cx="1800000" cy="900000"/>
          </a:xfrm>
          <a:prstGeom prst="rect">
            <a:avLst/>
          </a:prstGeom>
          <a:noFill/>
        </p:spPr>
        <p:txBody>
          <a:bodyPr wrap="none">
            <a:spAutoFit/>
          </a:bodyPr>
          <a:lstStyle/>
          <a:p>
            <a:pPr algn="ctr">
              <a:defRPr sz="1400" b="1">
                <a:solidFill>
                  <a:srgbClr val="9F2241"/>
                </a:solidFill>
                <a:latin typeface="Montserrat"/>
              </a:defRPr>
            </a:pPr>
            <a:r>
              <a:t>Población </a:t>
            </a:r>
            <a:br>
              <a:rPr/>
            </a:br>
            <a:r>
              <a:rPr err="1"/>
              <a:t>estatal</a:t>
            </a:r>
            <a:br>
              <a:rPr/>
            </a:br>
            <a:r>
              <a:t>2,700,978</a:t>
            </a:r>
          </a:p>
        </p:txBody>
      </p:sp>
      <p:sp>
        <p:nvSpPr>
          <p:cNvPr id="131" name="TextBox 130"/>
          <p:cNvSpPr txBox="1"/>
          <p:nvPr/>
        </p:nvSpPr>
        <p:spPr>
          <a:xfrm>
            <a:off x="82800" y="9507600"/>
            <a:ext cx="5864400" cy="360000"/>
          </a:xfrm>
          <a:prstGeom prst="rect">
            <a:avLst/>
          </a:prstGeom>
          <a:noFill/>
        </p:spPr>
        <p:txBody>
          <a:bodyPr wrap="square">
            <a:spAutoFit/>
          </a:bodyPr>
          <a:lstStyle/>
          <a:p>
            <a:pPr algn="l">
              <a:defRPr sz="800">
                <a:solidFill>
                  <a:srgbClr val="FFFFFF"/>
                </a:solidFill>
                <a:latin typeface="Montserrat"/>
              </a:defRPr>
            </a:pPr>
            <a:r>
              <a:t>Fuente: Dirección de Incorporación y Recaudación. Corte mayo de 2026.</a:t>
            </a:r>
          </a:p>
        </p:txBody>
      </p:sp>
      <p:sp>
        <p:nvSpPr>
          <p:cNvPr id="132" name="TextBox 131"/>
          <p:cNvSpPr txBox="1"/>
          <p:nvPr/>
        </p:nvSpPr>
        <p:spPr>
          <a:xfrm>
            <a:off x="82800" y="9658800"/>
            <a:ext cx="5864400" cy="360000"/>
          </a:xfrm>
          <a:prstGeom prst="rect">
            <a:avLst/>
          </a:prstGeom>
          <a:noFill/>
        </p:spPr>
        <p:txBody>
          <a:bodyPr wrap="square">
            <a:spAutoFit/>
          </a:bodyPr>
          <a:lstStyle/>
          <a:p>
            <a:pPr algn="l">
              <a:defRPr sz="800">
                <a:solidFill>
                  <a:srgbClr val="FFFFFF"/>
                </a:solidFill>
                <a:latin typeface="Montserrat"/>
              </a:defRPr>
            </a:pPr>
            <a:r>
              <a:t>¹ Se refiere a personas derechohabientes (titulares y familiares) adscritas a UMF.</a:t>
            </a:r>
          </a:p>
        </p:txBody>
      </p:sp>
      <p:sp>
        <p:nvSpPr>
          <p:cNvPr id="133" name="TextBox 132"/>
          <p:cNvSpPr txBox="1"/>
          <p:nvPr/>
        </p:nvSpPr>
        <p:spPr>
          <a:xfrm>
            <a:off x="82800" y="9813600"/>
            <a:ext cx="7653600" cy="360000"/>
          </a:xfrm>
          <a:prstGeom prst="rect">
            <a:avLst/>
          </a:prstGeom>
          <a:noFill/>
        </p:spPr>
        <p:txBody>
          <a:bodyPr wrap="square">
            <a:spAutoFit/>
          </a:bodyPr>
          <a:lstStyle/>
          <a:p>
            <a:pPr algn="l">
              <a:defRPr sz="800">
                <a:solidFill>
                  <a:srgbClr val="FFFFFF"/>
                </a:solidFill>
                <a:latin typeface="Montserrat"/>
              </a:defRPr>
            </a:pPr>
            <a:r>
              <a:t>² La afiliación al Seguro de Salud de Familia disminuye en virtud del incremento en los nuevos esquemas de aseguramiento.</a:t>
            </a:r>
          </a:p>
        </p:txBody>
      </p:sp>
      <p:graphicFrame>
        <p:nvGraphicFramePr>
          <p:cNvPr id="134" name="Table 133"/>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06000">
                  <a:extLst>
                    <a:ext uri="{9D8B030D-6E8A-4147-A177-3AD203B41FA5}">
                      <a16:colId xmlns:a16="http://schemas.microsoft.com/office/drawing/2014/main" val="20002"/>
                    </a:ext>
                  </a:extLst>
                </a:gridCol>
                <a:gridCol w="1159200">
                  <a:extLst>
                    <a:ext uri="{9D8B030D-6E8A-4147-A177-3AD203B41FA5}">
                      <a16:colId xmlns:a16="http://schemas.microsoft.com/office/drawing/2014/main" val="20003"/>
                    </a:ext>
                  </a:extLst>
                </a:gridCol>
              </a:tblGrid>
              <a:tr h="251999">
                <a:tc>
                  <a:txBody>
                    <a:bodyPr/>
                    <a:lstStyle/>
                    <a:p>
                      <a:pPr algn="ctr">
                        <a:defRPr sz="900" b="1">
                          <a:solidFill>
                            <a:srgbClr val="FFFFFF"/>
                          </a:solidFill>
                          <a:latin typeface="Montserrat"/>
                        </a:defRPr>
                      </a:pPr>
                      <a:r>
                        <a:t>Categoría</a:t>
                      </a:r>
                    </a:p>
                  </a:txBody>
                  <a:tcPr>
                    <a:solidFill>
                      <a:srgbClr val="006455"/>
                    </a:solidFill>
                  </a:tcPr>
                </a:tc>
                <a:tc>
                  <a:txBody>
                    <a:bodyPr/>
                    <a:lstStyle/>
                    <a:p>
                      <a:pPr algn="ctr">
                        <a:defRPr sz="900" b="1">
                          <a:solidFill>
                            <a:srgbClr val="FFFFFF"/>
                          </a:solidFill>
                          <a:latin typeface="Montserrat"/>
                        </a:defRPr>
                      </a:pPr>
                      <a:r>
                        <a:t>2018</a:t>
                      </a:r>
                    </a:p>
                  </a:txBody>
                  <a:tcPr>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a:txBody>
                    <a:bodyPr/>
                    <a:lstStyle/>
                    <a:p>
                      <a:pPr algn="ctr">
                        <a:defRPr sz="900" b="1">
                          <a:solidFill>
                            <a:srgbClr val="FFFFFF"/>
                          </a:solidFill>
                          <a:latin typeface="Montserrat"/>
                        </a:defRPr>
                      </a:pPr>
                      <a:r>
                        <a:t>Variación</a:t>
                      </a:r>
                    </a:p>
                  </a:txBody>
                  <a:tcPr>
                    <a:solidFill>
                      <a:srgbClr val="006455"/>
                    </a:solidFill>
                  </a:tcPr>
                </a:tc>
                <a:extLst>
                  <a:ext uri="{0D108BD9-81ED-4DB2-BD59-A6C34878D82A}">
                    <a16:rowId xmlns:a16="http://schemas.microsoft.com/office/drawing/2014/main" val="10000"/>
                  </a:ext>
                </a:extLst>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1,371,919</a:t>
                      </a:r>
                    </a:p>
                  </a:txBody>
                  <a:tcPr>
                    <a:solidFill>
                      <a:srgbClr val="EBD2D9"/>
                    </a:solidFill>
                  </a:tcPr>
                </a:tc>
                <a:tc>
                  <a:txBody>
                    <a:bodyPr/>
                    <a:lstStyle/>
                    <a:p>
                      <a:pPr algn="ctr">
                        <a:defRPr sz="900" b="1">
                          <a:solidFill>
                            <a:srgbClr val="000000"/>
                          </a:solidFill>
                          <a:latin typeface="Montserrat"/>
                        </a:defRPr>
                      </a:pPr>
                      <a:r>
                        <a:t>1,640,082</a:t>
                      </a:r>
                    </a:p>
                  </a:txBody>
                  <a:tcPr>
                    <a:solidFill>
                      <a:srgbClr val="EBD2D9"/>
                    </a:solidFill>
                  </a:tcPr>
                </a:tc>
                <a:tc>
                  <a:txBody>
                    <a:bodyPr/>
                    <a:lstStyle/>
                    <a:p>
                      <a:pPr algn="ctr">
                        <a:defRPr sz="900" b="1">
                          <a:solidFill>
                            <a:srgbClr val="000000"/>
                          </a:solidFill>
                          <a:latin typeface="Montserrat"/>
                        </a:defRPr>
                      </a:pPr>
                      <a:r>
                        <a:t>20%</a:t>
                      </a:r>
                    </a:p>
                  </a:txBody>
                  <a:tcPr>
                    <a:solidFill>
                      <a:srgbClr val="EBD2D9"/>
                    </a:solidFill>
                  </a:tcPr>
                </a:tc>
                <a:extLst>
                  <a:ext uri="{0D108BD9-81ED-4DB2-BD59-A6C34878D82A}">
                    <a16:rowId xmlns:a16="http://schemas.microsoft.com/office/drawing/2014/main" val="10001"/>
                  </a:ext>
                </a:extLst>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797,662</a:t>
                      </a:r>
                    </a:p>
                  </a:txBody>
                  <a:tcPr>
                    <a:solidFill>
                      <a:srgbClr val="EBD2D9"/>
                    </a:solidFill>
                  </a:tcPr>
                </a:tc>
                <a:tc>
                  <a:txBody>
                    <a:bodyPr/>
                    <a:lstStyle/>
                    <a:p>
                      <a:pPr algn="ctr">
                        <a:defRPr sz="900" b="1">
                          <a:solidFill>
                            <a:srgbClr val="000000"/>
                          </a:solidFill>
                          <a:latin typeface="Montserrat"/>
                        </a:defRPr>
                      </a:pPr>
                      <a:r>
                        <a:t>1,003,160</a:t>
                      </a:r>
                    </a:p>
                  </a:txBody>
                  <a:tcPr>
                    <a:solidFill>
                      <a:srgbClr val="EBD2D9"/>
                    </a:solidFill>
                  </a:tcPr>
                </a:tc>
                <a:tc>
                  <a:txBody>
                    <a:bodyPr/>
                    <a:lstStyle/>
                    <a:p>
                      <a:pPr algn="ctr">
                        <a:defRPr sz="900" b="1">
                          <a:solidFill>
                            <a:srgbClr val="000000"/>
                          </a:solidFill>
                          <a:latin typeface="Montserrat"/>
                        </a:defRPr>
                      </a:pPr>
                      <a:r>
                        <a:t>26%</a:t>
                      </a:r>
                    </a:p>
                  </a:txBody>
                  <a:tcPr>
                    <a:solidFill>
                      <a:srgbClr val="EBD2D9"/>
                    </a:solidFill>
                  </a:tcPr>
                </a:tc>
                <a:extLst>
                  <a:ext uri="{0D108BD9-81ED-4DB2-BD59-A6C34878D82A}">
                    <a16:rowId xmlns:a16="http://schemas.microsoft.com/office/drawing/2014/main" val="10002"/>
                  </a:ext>
                </a:extLst>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576,858</a:t>
                      </a:r>
                    </a:p>
                  </a:txBody>
                  <a:tcPr>
                    <a:solidFill>
                      <a:srgbClr val="F8F4EC"/>
                    </a:solidFill>
                  </a:tcPr>
                </a:tc>
                <a:tc>
                  <a:txBody>
                    <a:bodyPr/>
                    <a:lstStyle/>
                    <a:p>
                      <a:pPr algn="ctr">
                        <a:defRPr sz="900" b="1">
                          <a:solidFill>
                            <a:srgbClr val="000000"/>
                          </a:solidFill>
                          <a:latin typeface="Montserrat"/>
                        </a:defRPr>
                      </a:pPr>
                      <a:r>
                        <a:t>723,354</a:t>
                      </a:r>
                    </a:p>
                  </a:txBody>
                  <a:tcPr>
                    <a:solidFill>
                      <a:srgbClr val="F8F4EC"/>
                    </a:solidFill>
                  </a:tcPr>
                </a:tc>
                <a:tc>
                  <a:txBody>
                    <a:bodyPr/>
                    <a:lstStyle/>
                    <a:p>
                      <a:pPr algn="ctr">
                        <a:defRPr sz="900" b="1">
                          <a:solidFill>
                            <a:srgbClr val="000000"/>
                          </a:solidFill>
                          <a:latin typeface="Montserrat"/>
                        </a:defRPr>
                      </a:pPr>
                      <a:r>
                        <a:t>25%</a:t>
                      </a:r>
                    </a:p>
                  </a:txBody>
                  <a:tcPr>
                    <a:solidFill>
                      <a:srgbClr val="F8F4EC"/>
                    </a:solidFill>
                  </a:tcPr>
                </a:tc>
                <a:extLst>
                  <a:ext uri="{0D108BD9-81ED-4DB2-BD59-A6C34878D82A}">
                    <a16:rowId xmlns:a16="http://schemas.microsoft.com/office/drawing/2014/main" val="10003"/>
                  </a:ext>
                </a:extLst>
              </a:tr>
              <a:tr h="251999">
                <a:tc>
                  <a:txBody>
                    <a:bodyPr/>
                    <a:lstStyle/>
                    <a:p>
                      <a:pPr lvl="1" algn="l">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74,840</a:t>
                      </a:r>
                    </a:p>
                  </a:txBody>
                  <a:tcPr>
                    <a:solidFill>
                      <a:srgbClr val="FFFFFF"/>
                    </a:solidFill>
                  </a:tcPr>
                </a:tc>
                <a:tc>
                  <a:txBody>
                    <a:bodyPr/>
                    <a:lstStyle/>
                    <a:p>
                      <a:pPr algn="ctr">
                        <a:defRPr sz="900">
                          <a:solidFill>
                            <a:srgbClr val="000000"/>
                          </a:solidFill>
                          <a:latin typeface="Montserrat"/>
                        </a:defRPr>
                      </a:pPr>
                      <a:r>
                        <a:rPr dirty="0"/>
                        <a:t>135,211</a:t>
                      </a:r>
                    </a:p>
                  </a:txBody>
                  <a:tcPr>
                    <a:solidFill>
                      <a:srgbClr val="FFFFFF"/>
                    </a:solidFill>
                  </a:tcPr>
                </a:tc>
                <a:tc>
                  <a:txBody>
                    <a:bodyPr/>
                    <a:lstStyle/>
                    <a:p>
                      <a:pPr algn="ctr">
                        <a:defRPr sz="900">
                          <a:solidFill>
                            <a:srgbClr val="000000"/>
                          </a:solidFill>
                          <a:latin typeface="Montserrat"/>
                        </a:defRPr>
                      </a:pPr>
                      <a:r>
                        <a:t>81%</a:t>
                      </a:r>
                    </a:p>
                  </a:txBody>
                  <a:tcPr>
                    <a:solidFill>
                      <a:srgbClr val="FFFFFF"/>
                    </a:solidFill>
                  </a:tcPr>
                </a:tc>
                <a:extLst>
                  <a:ext uri="{0D108BD9-81ED-4DB2-BD59-A6C34878D82A}">
                    <a16:rowId xmlns:a16="http://schemas.microsoft.com/office/drawing/2014/main" val="10004"/>
                  </a:ext>
                </a:extLst>
              </a:tr>
              <a:tr h="251999">
                <a:tc>
                  <a:txBody>
                    <a:bodyPr/>
                    <a:lstStyle/>
                    <a:p>
                      <a:pPr lvl="1" algn="l">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17,399</a:t>
                      </a:r>
                    </a:p>
                  </a:txBody>
                  <a:tcPr>
                    <a:solidFill>
                      <a:srgbClr val="FFFFFF"/>
                    </a:solidFill>
                  </a:tcPr>
                </a:tc>
                <a:tc>
                  <a:txBody>
                    <a:bodyPr/>
                    <a:lstStyle/>
                    <a:p>
                      <a:pPr algn="ctr">
                        <a:defRPr sz="900">
                          <a:solidFill>
                            <a:srgbClr val="000000"/>
                          </a:solidFill>
                          <a:latin typeface="Montserrat"/>
                        </a:defRPr>
                      </a:pPr>
                      <a:r>
                        <a:t>18,284</a:t>
                      </a:r>
                    </a:p>
                  </a:txBody>
                  <a:tcPr>
                    <a:solidFill>
                      <a:srgbClr val="FFFFFF"/>
                    </a:solidFill>
                  </a:tcPr>
                </a:tc>
                <a:tc>
                  <a:txBody>
                    <a:bodyPr/>
                    <a:lstStyle/>
                    <a:p>
                      <a:pPr algn="ctr">
                        <a:defRPr sz="900">
                          <a:solidFill>
                            <a:srgbClr val="000000"/>
                          </a:solidFill>
                          <a:latin typeface="Montserrat"/>
                        </a:defRPr>
                      </a:pPr>
                      <a:r>
                        <a:t>5%</a:t>
                      </a:r>
                    </a:p>
                  </a:txBody>
                  <a:tcPr>
                    <a:solidFill>
                      <a:srgbClr val="FFFFFF"/>
                    </a:solidFill>
                  </a:tcPr>
                </a:tc>
                <a:extLst>
                  <a:ext uri="{0D108BD9-81ED-4DB2-BD59-A6C34878D82A}">
                    <a16:rowId xmlns:a16="http://schemas.microsoft.com/office/drawing/2014/main" val="10005"/>
                  </a:ext>
                </a:extLst>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128,565</a:t>
                      </a:r>
                    </a:p>
                  </a:txBody>
                  <a:tcPr>
                    <a:solidFill>
                      <a:srgbClr val="CCE0DD"/>
                    </a:solidFill>
                  </a:tcPr>
                </a:tc>
                <a:tc>
                  <a:txBody>
                    <a:bodyPr/>
                    <a:lstStyle/>
                    <a:p>
                      <a:pPr algn="ctr">
                        <a:defRPr sz="900" b="1">
                          <a:solidFill>
                            <a:srgbClr val="000000"/>
                          </a:solidFill>
                          <a:latin typeface="Montserrat"/>
                        </a:defRPr>
                      </a:pPr>
                      <a:r>
                        <a:t>183,106</a:t>
                      </a:r>
                    </a:p>
                  </a:txBody>
                  <a:tcPr>
                    <a:solidFill>
                      <a:srgbClr val="CCE0DD"/>
                    </a:solidFill>
                  </a:tcPr>
                </a:tc>
                <a:tc>
                  <a:txBody>
                    <a:bodyPr/>
                    <a:lstStyle/>
                    <a:p>
                      <a:pPr algn="ctr">
                        <a:defRPr sz="900" b="1">
                          <a:solidFill>
                            <a:srgbClr val="000000"/>
                          </a:solidFill>
                          <a:latin typeface="Montserrat"/>
                        </a:defRPr>
                      </a:pPr>
                      <a:r>
                        <a:t>42%</a:t>
                      </a:r>
                    </a:p>
                  </a:txBody>
                  <a:tcPr>
                    <a:solidFill>
                      <a:srgbClr val="CCE0DD"/>
                    </a:solidFill>
                  </a:tcPr>
                </a:tc>
                <a:extLst>
                  <a:ext uri="{0D108BD9-81ED-4DB2-BD59-A6C34878D82A}">
                    <a16:rowId xmlns:a16="http://schemas.microsoft.com/office/drawing/2014/main" val="10006"/>
                  </a:ext>
                </a:extLst>
              </a:tr>
              <a:tr h="251999">
                <a:tc>
                  <a:txBody>
                    <a:bodyPr/>
                    <a:lstStyle/>
                    <a:p>
                      <a:pPr lvl="1" algn="l">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119,676</a:t>
                      </a:r>
                    </a:p>
                  </a:txBody>
                  <a:tcPr>
                    <a:solidFill>
                      <a:srgbClr val="FFFFFF"/>
                    </a:solidFill>
                  </a:tcPr>
                </a:tc>
                <a:tc>
                  <a:txBody>
                    <a:bodyPr/>
                    <a:lstStyle/>
                    <a:p>
                      <a:pPr algn="ctr">
                        <a:defRPr sz="900">
                          <a:solidFill>
                            <a:srgbClr val="000000"/>
                          </a:solidFill>
                          <a:latin typeface="Montserrat"/>
                        </a:defRPr>
                      </a:pPr>
                      <a:r>
                        <a:t>172,006</a:t>
                      </a:r>
                    </a:p>
                  </a:txBody>
                  <a:tcPr>
                    <a:solidFill>
                      <a:srgbClr val="FFFFFF"/>
                    </a:solidFill>
                  </a:tcPr>
                </a:tc>
                <a:tc>
                  <a:txBody>
                    <a:bodyPr/>
                    <a:lstStyle/>
                    <a:p>
                      <a:pPr algn="ctr">
                        <a:defRPr sz="900">
                          <a:solidFill>
                            <a:srgbClr val="000000"/>
                          </a:solidFill>
                          <a:latin typeface="Montserrat"/>
                        </a:defRPr>
                      </a:pPr>
                      <a:r>
                        <a:t>44%</a:t>
                      </a:r>
                    </a:p>
                  </a:txBody>
                  <a:tcPr>
                    <a:solidFill>
                      <a:srgbClr val="FFFFFF"/>
                    </a:solidFill>
                  </a:tcPr>
                </a:tc>
                <a:extLst>
                  <a:ext uri="{0D108BD9-81ED-4DB2-BD59-A6C34878D82A}">
                    <a16:rowId xmlns:a16="http://schemas.microsoft.com/office/drawing/2014/main" val="10007"/>
                  </a:ext>
                </a:extLst>
              </a:tr>
              <a:tr h="251999">
                <a:tc>
                  <a:txBody>
                    <a:bodyPr/>
                    <a:lstStyle/>
                    <a:p>
                      <a:pPr lvl="1" algn="l">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5,103</a:t>
                      </a:r>
                    </a:p>
                  </a:txBody>
                  <a:tcPr>
                    <a:solidFill>
                      <a:srgbClr val="FFFFFF"/>
                    </a:solidFill>
                  </a:tcPr>
                </a:tc>
                <a:tc>
                  <a:txBody>
                    <a:bodyPr/>
                    <a:lstStyle/>
                    <a:p>
                      <a:pPr algn="ctr">
                        <a:defRPr sz="900">
                          <a:solidFill>
                            <a:srgbClr val="000000"/>
                          </a:solidFill>
                          <a:latin typeface="Montserrat"/>
                        </a:defRPr>
                      </a:pPr>
                      <a:r>
                        <a:t>3,887</a:t>
                      </a:r>
                    </a:p>
                  </a:txBody>
                  <a:tcPr>
                    <a:solidFill>
                      <a:srgbClr val="FFFFFF"/>
                    </a:solidFill>
                  </a:tcPr>
                </a:tc>
                <a:tc>
                  <a:txBody>
                    <a:bodyPr/>
                    <a:lstStyle/>
                    <a:p>
                      <a:pPr algn="ctr">
                        <a:defRPr sz="900">
                          <a:solidFill>
                            <a:srgbClr val="000000"/>
                          </a:solidFill>
                          <a:latin typeface="Montserrat"/>
                        </a:defRPr>
                      </a:pPr>
                      <a:r>
                        <a:t>-24%</a:t>
                      </a:r>
                    </a:p>
                  </a:txBody>
                  <a:tcPr>
                    <a:solidFill>
                      <a:srgbClr val="FFFFFF"/>
                    </a:solidFill>
                  </a:tcPr>
                </a:tc>
                <a:extLst>
                  <a:ext uri="{0D108BD9-81ED-4DB2-BD59-A6C34878D82A}">
                    <a16:rowId xmlns:a16="http://schemas.microsoft.com/office/drawing/2014/main" val="10008"/>
                  </a:ext>
                </a:extLst>
              </a:tr>
              <a:tr h="251999">
                <a:tc>
                  <a:txBody>
                    <a:bodyPr/>
                    <a:lstStyle/>
                    <a:p>
                      <a:pPr lvl="1" algn="l">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3,786</a:t>
                      </a:r>
                    </a:p>
                  </a:txBody>
                  <a:tcPr>
                    <a:solidFill>
                      <a:srgbClr val="FFFFFF"/>
                    </a:solidFill>
                  </a:tcPr>
                </a:tc>
                <a:tc>
                  <a:txBody>
                    <a:bodyPr/>
                    <a:lstStyle/>
                    <a:p>
                      <a:pPr algn="ctr">
                        <a:defRPr sz="900">
                          <a:solidFill>
                            <a:srgbClr val="000000"/>
                          </a:solidFill>
                          <a:latin typeface="Montserrat"/>
                        </a:defRPr>
                      </a:pPr>
                      <a:r>
                        <a:t>7,213</a:t>
                      </a:r>
                    </a:p>
                  </a:txBody>
                  <a:tcPr>
                    <a:solidFill>
                      <a:srgbClr val="FFFFFF"/>
                    </a:solidFill>
                  </a:tcPr>
                </a:tc>
                <a:tc>
                  <a:txBody>
                    <a:bodyPr/>
                    <a:lstStyle/>
                    <a:p>
                      <a:pPr algn="ctr">
                        <a:defRPr sz="900">
                          <a:solidFill>
                            <a:srgbClr val="000000"/>
                          </a:solidFill>
                          <a:latin typeface="Montserrat"/>
                        </a:defRPr>
                      </a:pPr>
                      <a:r>
                        <a:t>91%</a:t>
                      </a:r>
                    </a:p>
                  </a:txBody>
                  <a:tcPr>
                    <a:solidFill>
                      <a:srgbClr val="FFFFFF"/>
                    </a:solidFill>
                  </a:tcPr>
                </a:tc>
                <a:extLst>
                  <a:ext uri="{0D108BD9-81ED-4DB2-BD59-A6C34878D82A}">
                    <a16:rowId xmlns:a16="http://schemas.microsoft.com/office/drawing/2014/main" val="10009"/>
                  </a:ext>
                </a:extLst>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574,257</a:t>
                      </a:r>
                    </a:p>
                  </a:txBody>
                  <a:tcPr>
                    <a:solidFill>
                      <a:srgbClr val="EBD2D9"/>
                    </a:solidFill>
                  </a:tcPr>
                </a:tc>
                <a:tc>
                  <a:txBody>
                    <a:bodyPr/>
                    <a:lstStyle/>
                    <a:p>
                      <a:pPr algn="ctr">
                        <a:defRPr sz="900" b="1">
                          <a:solidFill>
                            <a:srgbClr val="000000"/>
                          </a:solidFill>
                          <a:latin typeface="Montserrat"/>
                        </a:defRPr>
                      </a:pPr>
                      <a:r>
                        <a:t>636,922</a:t>
                      </a:r>
                    </a:p>
                  </a:txBody>
                  <a:tcPr>
                    <a:solidFill>
                      <a:srgbClr val="EBD2D9"/>
                    </a:solidFill>
                  </a:tcPr>
                </a:tc>
                <a:tc>
                  <a:txBody>
                    <a:bodyPr/>
                    <a:lstStyle/>
                    <a:p>
                      <a:pPr algn="ctr">
                        <a:defRPr sz="900" b="1">
                          <a:solidFill>
                            <a:srgbClr val="000000"/>
                          </a:solidFill>
                          <a:latin typeface="Montserrat"/>
                        </a:defRPr>
                      </a:pPr>
                      <a:r>
                        <a:t>11%</a:t>
                      </a:r>
                    </a:p>
                  </a:txBody>
                  <a:tcPr>
                    <a:solidFill>
                      <a:srgbClr val="EBD2D9"/>
                    </a:solidFill>
                  </a:tcPr>
                </a:tc>
                <a:extLst>
                  <a:ext uri="{0D108BD9-81ED-4DB2-BD59-A6C34878D82A}">
                    <a16:rowId xmlns:a16="http://schemas.microsoft.com/office/drawing/2014/main" val="10010"/>
                  </a:ext>
                </a:extLst>
              </a:tr>
              <a:tr h="251999">
                <a:tc>
                  <a:txBody>
                    <a:bodyPr/>
                    <a:lstStyle/>
                    <a:p>
                      <a:pPr lvl="1" algn="l">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187,077</a:t>
                      </a:r>
                    </a:p>
                  </a:txBody>
                  <a:tcPr>
                    <a:solidFill>
                      <a:srgbClr val="FFFFFF"/>
                    </a:solidFill>
                  </a:tcPr>
                </a:tc>
                <a:tc>
                  <a:txBody>
                    <a:bodyPr/>
                    <a:lstStyle/>
                    <a:p>
                      <a:pPr algn="ctr">
                        <a:defRPr sz="900">
                          <a:solidFill>
                            <a:srgbClr val="000000"/>
                          </a:solidFill>
                          <a:latin typeface="Montserrat"/>
                        </a:defRPr>
                      </a:pPr>
                      <a:r>
                        <a:t>226,256</a:t>
                      </a:r>
                    </a:p>
                  </a:txBody>
                  <a:tcPr>
                    <a:solidFill>
                      <a:srgbClr val="FFFFFF"/>
                    </a:solidFill>
                  </a:tcPr>
                </a:tc>
                <a:tc>
                  <a:txBody>
                    <a:bodyPr/>
                    <a:lstStyle/>
                    <a:p>
                      <a:pPr algn="ctr">
                        <a:defRPr sz="900">
                          <a:solidFill>
                            <a:srgbClr val="000000"/>
                          </a:solidFill>
                          <a:latin typeface="Montserrat"/>
                        </a:defRPr>
                      </a:pPr>
                      <a:r>
                        <a:t>21%</a:t>
                      </a:r>
                    </a:p>
                  </a:txBody>
                  <a:tcPr>
                    <a:solidFill>
                      <a:srgbClr val="FFFFFF"/>
                    </a:solidFill>
                  </a:tcPr>
                </a:tc>
                <a:extLst>
                  <a:ext uri="{0D108BD9-81ED-4DB2-BD59-A6C34878D82A}">
                    <a16:rowId xmlns:a16="http://schemas.microsoft.com/office/drawing/2014/main" val="10011"/>
                  </a:ext>
                </a:extLst>
              </a:tr>
              <a:tr h="251999">
                <a:tc>
                  <a:txBody>
                    <a:bodyPr/>
                    <a:lstStyle/>
                    <a:p>
                      <a:pPr lvl="1" algn="l">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294,089</a:t>
                      </a:r>
                    </a:p>
                  </a:txBody>
                  <a:tcPr>
                    <a:solidFill>
                      <a:srgbClr val="FFFFFF"/>
                    </a:solidFill>
                  </a:tcPr>
                </a:tc>
                <a:tc>
                  <a:txBody>
                    <a:bodyPr/>
                    <a:lstStyle/>
                    <a:p>
                      <a:pPr algn="ctr">
                        <a:defRPr sz="900">
                          <a:solidFill>
                            <a:srgbClr val="000000"/>
                          </a:solidFill>
                          <a:latin typeface="Montserrat"/>
                        </a:defRPr>
                      </a:pPr>
                      <a:r>
                        <a:t>273,993</a:t>
                      </a:r>
                    </a:p>
                  </a:txBody>
                  <a:tcPr>
                    <a:solidFill>
                      <a:srgbClr val="FFFFFF"/>
                    </a:solidFill>
                  </a:tcPr>
                </a:tc>
                <a:tc>
                  <a:txBody>
                    <a:bodyPr/>
                    <a:lstStyle/>
                    <a:p>
                      <a:pPr algn="ctr">
                        <a:defRPr sz="900">
                          <a:solidFill>
                            <a:srgbClr val="000000"/>
                          </a:solidFill>
                          <a:latin typeface="Montserrat"/>
                        </a:defRPr>
                      </a:pPr>
                      <a:r>
                        <a:t>-7%</a:t>
                      </a:r>
                    </a:p>
                  </a:txBody>
                  <a:tcPr>
                    <a:solidFill>
                      <a:srgbClr val="FFFFFF"/>
                    </a:solidFill>
                  </a:tcPr>
                </a:tc>
                <a:extLst>
                  <a:ext uri="{0D108BD9-81ED-4DB2-BD59-A6C34878D82A}">
                    <a16:rowId xmlns:a16="http://schemas.microsoft.com/office/drawing/2014/main" val="10012"/>
                  </a:ext>
                </a:extLst>
              </a:tr>
              <a:tr h="251999">
                <a:tc>
                  <a:txBody>
                    <a:bodyPr/>
                    <a:lstStyle/>
                    <a:p>
                      <a:pPr lvl="1" algn="l">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93,091</a:t>
                      </a:r>
                    </a:p>
                  </a:txBody>
                  <a:tcPr>
                    <a:solidFill>
                      <a:srgbClr val="FFFFFF"/>
                    </a:solidFill>
                  </a:tcPr>
                </a:tc>
                <a:tc>
                  <a:txBody>
                    <a:bodyPr/>
                    <a:lstStyle/>
                    <a:p>
                      <a:pPr algn="ctr">
                        <a:defRPr sz="900">
                          <a:solidFill>
                            <a:srgbClr val="000000"/>
                          </a:solidFill>
                          <a:latin typeface="Montserrat"/>
                        </a:defRPr>
                      </a:pPr>
                      <a:r>
                        <a:t>136,673</a:t>
                      </a:r>
                    </a:p>
                  </a:txBody>
                  <a:tcPr>
                    <a:solidFill>
                      <a:srgbClr val="FFFFFF"/>
                    </a:solidFill>
                  </a:tcPr>
                </a:tc>
                <a:tc>
                  <a:txBody>
                    <a:bodyPr/>
                    <a:lstStyle/>
                    <a:p>
                      <a:pPr algn="ctr">
                        <a:defRPr sz="900">
                          <a:solidFill>
                            <a:srgbClr val="000000"/>
                          </a:solidFill>
                          <a:latin typeface="Montserrat"/>
                        </a:defRPr>
                      </a:pPr>
                      <a:r>
                        <a:rPr dirty="0"/>
                        <a:t>47%</a:t>
                      </a:r>
                    </a:p>
                  </a:txBody>
                  <a:tcPr>
                    <a:solidFill>
                      <a:srgbClr val="FFFFFF"/>
                    </a:solidFill>
                  </a:tcPr>
                </a:tc>
                <a:extLst>
                  <a:ext uri="{0D108BD9-81ED-4DB2-BD59-A6C34878D82A}">
                    <a16:rowId xmlns:a16="http://schemas.microsoft.com/office/drawing/2014/main" val="10013"/>
                  </a:ext>
                </a:extLst>
              </a:tr>
            </a:tbl>
          </a:graphicData>
        </a:graphic>
      </p:graphicFrame>
      <p:graphicFrame>
        <p:nvGraphicFramePr>
          <p:cNvPr id="135" name="Table 134"/>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t>mayo</a:t>
                      </a:r>
                    </a:p>
                  </a:txBody>
                  <a:tcPr>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t>Variación</a:t>
                      </a:r>
                    </a:p>
                  </a:txBody>
                  <a:tcPr marL="0" marR="0" marT="216000" marB="0" anchor="ctr">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t>2025</a:t>
                      </a:r>
                    </a:p>
                  </a:txBody>
                  <a:tcPr>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t>921</a:t>
                      </a:r>
                    </a:p>
                  </a:txBody>
                  <a:tcPr>
                    <a:solidFill>
                      <a:srgbClr val="F8F4EC"/>
                    </a:solidFill>
                  </a:tcPr>
                </a:tc>
                <a:tc>
                  <a:txBody>
                    <a:bodyPr/>
                    <a:lstStyle/>
                    <a:p>
                      <a:pPr algn="ctr">
                        <a:defRPr sz="900" b="1">
                          <a:latin typeface="Montserrat"/>
                        </a:defRPr>
                      </a:pPr>
                      <a:r>
                        <a:t>915</a:t>
                      </a:r>
                    </a:p>
                  </a:txBody>
                  <a:tcPr>
                    <a:solidFill>
                      <a:srgbClr val="F8F4EC"/>
                    </a:solidFill>
                  </a:tcPr>
                </a:tc>
                <a:tc>
                  <a:txBody>
                    <a:bodyPr/>
                    <a:lstStyle/>
                    <a:p>
                      <a:pPr algn="ctr">
                        <a:defRPr sz="900" b="1">
                          <a:solidFill>
                            <a:srgbClr val="A61C00"/>
                          </a:solidFill>
                          <a:latin typeface="Montserrat"/>
                        </a:defRPr>
                      </a:pPr>
                      <a:r>
                        <a:t>0%</a:t>
                      </a:r>
                    </a:p>
                  </a:txBody>
                  <a:tcPr>
                    <a:solidFill>
                      <a:srgbClr val="F8F4EC"/>
                    </a:solidFill>
                  </a:tcPr>
                </a:tc>
                <a:extLst>
                  <a:ext uri="{0D108BD9-81ED-4DB2-BD59-A6C34878D82A}">
                    <a16:rowId xmlns:a16="http://schemas.microsoft.com/office/drawing/2014/main" val="10002"/>
                  </a:ext>
                </a:extLst>
              </a:tr>
            </a:tbl>
          </a:graphicData>
        </a:graphic>
      </p:graphicFrame>
      <p:graphicFrame>
        <p:nvGraphicFramePr>
          <p:cNvPr id="136" name="Table 135"/>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t>mayo</a:t>
                      </a:r>
                    </a:p>
                  </a:txBody>
                  <a:tcPr>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t>Variación</a:t>
                      </a:r>
                    </a:p>
                  </a:txBody>
                  <a:tcPr marL="0" marR="0" marT="216000" marB="0" anchor="ctr">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t>2025</a:t>
                      </a:r>
                    </a:p>
                  </a:txBody>
                  <a:tcPr>
                    <a:solidFill>
                      <a:srgbClr val="006455"/>
                    </a:solidFill>
                  </a:tcPr>
                </a:tc>
                <a:tc>
                  <a:txBody>
                    <a:bodyPr/>
                    <a:lstStyle/>
                    <a:p>
                      <a:pPr algn="ctr">
                        <a:defRPr sz="900" b="1">
                          <a:solidFill>
                            <a:srgbClr val="FFFFFF"/>
                          </a:solidFill>
                          <a:latin typeface="Montserrat"/>
                        </a:defRPr>
                      </a:pPr>
                      <a:r>
                        <a:t>2026</a:t>
                      </a:r>
                    </a:p>
                  </a:txBody>
                  <a:tcP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t>8,016</a:t>
                      </a:r>
                    </a:p>
                  </a:txBody>
                  <a:tcPr>
                    <a:solidFill>
                      <a:srgbClr val="F8F4EC"/>
                    </a:solidFill>
                  </a:tcPr>
                </a:tc>
                <a:tc>
                  <a:txBody>
                    <a:bodyPr/>
                    <a:lstStyle/>
                    <a:p>
                      <a:pPr algn="ctr">
                        <a:defRPr sz="900" b="1">
                          <a:latin typeface="Montserrat"/>
                        </a:defRPr>
                      </a:pPr>
                      <a:r>
                        <a:t>10,904</a:t>
                      </a:r>
                    </a:p>
                  </a:txBody>
                  <a:tcPr>
                    <a:solidFill>
                      <a:srgbClr val="F8F4EC"/>
                    </a:solidFill>
                  </a:tcPr>
                </a:tc>
                <a:tc>
                  <a:txBody>
                    <a:bodyPr/>
                    <a:lstStyle/>
                    <a:p>
                      <a:pPr algn="ctr">
                        <a:defRPr sz="900" b="1">
                          <a:latin typeface="Montserrat"/>
                        </a:defRPr>
                      </a:pPr>
                      <a:r>
                        <a:t>36%</a:t>
                      </a:r>
                    </a:p>
                  </a:txBody>
                  <a:tcPr>
                    <a:solidFill>
                      <a:srgbClr val="F8F4EC"/>
                    </a:solidFill>
                  </a:tcPr>
                </a:tc>
                <a:extLst>
                  <a:ext uri="{0D108BD9-81ED-4DB2-BD59-A6C34878D82A}">
                    <a16:rowId xmlns:a16="http://schemas.microsoft.com/office/drawing/2014/main" val="10002"/>
                  </a:ext>
                </a:extLst>
              </a:tr>
            </a:tbl>
          </a:graphicData>
        </a:graphic>
      </p:graphicFrame>
      <p:sp>
        <p:nvSpPr>
          <p:cNvPr id="137" name="TextBox 136"/>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extLst>
              <p:ext uri="{D42A27DB-BD31-4B8C-83A1-F6EECF244321}">
                <p14:modId xmlns:p14="http://schemas.microsoft.com/office/powerpoint/2010/main" val="2711009704"/>
              </p:ext>
            </p:extLst>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22_qro.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extLst>
              <p:ext uri="{D42A27DB-BD31-4B8C-83A1-F6EECF244321}">
                <p14:modId xmlns:p14="http://schemas.microsoft.com/office/powerpoint/2010/main" val="3533318458"/>
              </p:ext>
            </p:extLst>
          </p:nvPr>
        </p:nvGraphicFramePr>
        <p:xfrm>
          <a:off x="1706400" y="6854400"/>
          <a:ext cx="4359600" cy="1262400"/>
        </p:xfrm>
        <a:graphic>
          <a:graphicData uri="http://schemas.openxmlformats.org/drawingml/2006/table">
            <a:tbl>
              <a:tblPr firstRow="1" bandRow="1">
                <a:tableStyleId>{5C22544A-7EE6-4342-B048-85BDC9FD1C3A}</a:tableStyleId>
              </a:tblPr>
              <a:tblGrid>
                <a:gridCol w="871920">
                  <a:extLst>
                    <a:ext uri="{9D8B030D-6E8A-4147-A177-3AD203B41FA5}">
                      <a16:colId xmlns:a16="http://schemas.microsoft.com/office/drawing/2014/main" val="20000"/>
                    </a:ext>
                  </a:extLst>
                </a:gridCol>
                <a:gridCol w="871920">
                  <a:extLst>
                    <a:ext uri="{9D8B030D-6E8A-4147-A177-3AD203B41FA5}">
                      <a16:colId xmlns:a16="http://schemas.microsoft.com/office/drawing/2014/main" val="20001"/>
                    </a:ext>
                  </a:extLst>
                </a:gridCol>
                <a:gridCol w="871920">
                  <a:extLst>
                    <a:ext uri="{9D8B030D-6E8A-4147-A177-3AD203B41FA5}">
                      <a16:colId xmlns:a16="http://schemas.microsoft.com/office/drawing/2014/main" val="20002"/>
                    </a:ext>
                  </a:extLst>
                </a:gridCol>
                <a:gridCol w="871920">
                  <a:extLst>
                    <a:ext uri="{9D8B030D-6E8A-4147-A177-3AD203B41FA5}">
                      <a16:colId xmlns:a16="http://schemas.microsoft.com/office/drawing/2014/main" val="20003"/>
                    </a:ext>
                  </a:extLst>
                </a:gridCol>
                <a:gridCol w="871920">
                  <a:extLst>
                    <a:ext uri="{9D8B030D-6E8A-4147-A177-3AD203B41FA5}">
                      <a16:colId xmlns:a16="http://schemas.microsoft.com/office/drawing/2014/main" val="20004"/>
                    </a:ext>
                  </a:extLst>
                </a:gridCol>
              </a:tblGrid>
              <a:tr h="234000">
                <a:tc rowSpan="2">
                  <a:txBody>
                    <a:bodyPr/>
                    <a:lstStyle/>
                    <a:p>
                      <a:pPr algn="ctr">
                        <a:defRPr sz="1000" b="1">
                          <a:solidFill>
                            <a:srgbClr val="FFFFFF"/>
                          </a:solidFill>
                          <a:latin typeface="Montserrat"/>
                        </a:defRPr>
                      </a:pPr>
                      <a:r>
                        <a:t>Nivel</a:t>
                      </a:r>
                    </a:p>
                  </a:txBody>
                  <a:tcPr marL="10800" marR="10800" marT="10800" marB="10800" anchor="ctr">
                    <a:solidFill>
                      <a:srgbClr val="660000"/>
                    </a:solidFill>
                  </a:tcPr>
                </a:tc>
                <a:tc gridSpan="4">
                  <a:txBody>
                    <a:bodyPr/>
                    <a:lstStyle/>
                    <a:p>
                      <a:pPr algn="ctr">
                        <a:defRPr sz="1000" b="1">
                          <a:solidFill>
                            <a:srgbClr val="FFFFFF"/>
                          </a:solidFill>
                          <a:latin typeface="Montserrat"/>
                        </a:defRPr>
                      </a:pPr>
                      <a:r>
                        <a:t>IMSS Ordinario</a:t>
                      </a:r>
                    </a:p>
                  </a:txBody>
                  <a:tcPr marL="10800" marR="10800" marT="10800" marB="10800">
                    <a:solidFill>
                      <a:srgbClr val="006455"/>
                    </a:solidFill>
                  </a:tcPr>
                </a:tc>
                <a:tc hMerge="1">
                  <a:txBody>
                    <a:bodyPr/>
                    <a:lstStyle/>
                    <a:p>
                      <a:endParaRPr/>
                    </a:p>
                  </a:txBody>
                  <a:tcPr marL="10800" marR="10800" marT="10800" marB="10800"/>
                </a:tc>
                <a:tc hMerge="1">
                  <a:txBody>
                    <a:bodyPr/>
                    <a:lstStyle/>
                    <a:p>
                      <a:endParaRPr/>
                    </a:p>
                  </a:txBody>
                  <a:tcPr marL="10800" marR="10800" marT="10800" marB="10800"/>
                </a:tc>
                <a:tc hMerge="1">
                  <a:txBody>
                    <a:bodyPr/>
                    <a:lstStyle/>
                    <a:p>
                      <a:endParaRPr/>
                    </a:p>
                  </a:txBody>
                  <a:tcPr marL="10800" marR="10800" marT="10800" marB="10800"/>
                </a:tc>
                <a:extLst>
                  <a:ext uri="{0D108BD9-81ED-4DB2-BD59-A6C34878D82A}">
                    <a16:rowId xmlns:a16="http://schemas.microsoft.com/office/drawing/2014/main" val="10000"/>
                  </a:ext>
                </a:extLst>
              </a:tr>
              <a:tr h="234000">
                <a:tc vMerge="1">
                  <a:txBody>
                    <a:bodyPr/>
                    <a:lstStyle/>
                    <a:p>
                      <a:endParaRPr/>
                    </a:p>
                  </a:txBody>
                  <a:tcPr marL="10800" marR="10800" marT="10800" marB="10800" anchor="ctr">
                    <a:solidFill>
                      <a:srgbClr val="006455"/>
                    </a:solidFill>
                  </a:tcPr>
                </a:tc>
                <a:tc>
                  <a:txBody>
                    <a:bodyPr/>
                    <a:lstStyle/>
                    <a:p>
                      <a:pPr algn="ctr">
                        <a:defRPr sz="1000" b="1">
                          <a:solidFill>
                            <a:srgbClr val="FFFFFF"/>
                          </a:solidFill>
                          <a:latin typeface="Montserrat"/>
                        </a:defRPr>
                      </a:pPr>
                      <a:r>
                        <a:t>Unidades</a:t>
                      </a:r>
                    </a:p>
                  </a:txBody>
                  <a:tcPr marL="10800" marR="10800" marT="10800" marB="10800" anchor="ctr">
                    <a:solidFill>
                      <a:srgbClr val="006455"/>
                    </a:solidFill>
                  </a:tcPr>
                </a:tc>
                <a:tc>
                  <a:txBody>
                    <a:bodyPr/>
                    <a:lstStyle/>
                    <a:p>
                      <a:pPr algn="ctr">
                        <a:defRPr sz="1000" b="1">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sz="1000" b="1">
                          <a:solidFill>
                            <a:srgbClr val="FFFFFF"/>
                          </a:solidFill>
                          <a:latin typeface="Montserrat"/>
                        </a:defRPr>
                      </a:pPr>
                      <a:r>
                        <a:t>Camas</a:t>
                      </a:r>
                    </a:p>
                  </a:txBody>
                  <a:tcPr marL="10800" marR="10800" marT="10800" marB="10800" anchor="ctr">
                    <a:solidFill>
                      <a:srgbClr val="006455"/>
                    </a:solidFill>
                  </a:tcPr>
                </a:tc>
                <a:tc>
                  <a:txBody>
                    <a:bodyPr/>
                    <a:lstStyle/>
                    <a:p>
                      <a:pPr algn="ctr">
                        <a:defRPr sz="1000" b="1">
                          <a:solidFill>
                            <a:srgbClr val="FFFFFF"/>
                          </a:solidFill>
                          <a:latin typeface="Montserrat"/>
                        </a:defRPr>
                      </a:pPr>
                      <a:r>
                        <a:t>Camas no censables</a:t>
                      </a:r>
                    </a:p>
                  </a:txBody>
                  <a:tcPr marL="10800" marR="10800" marT="10800" marB="10800" anchor="ctr">
                    <a:solidFill>
                      <a:srgbClr val="006455"/>
                    </a:solidFill>
                  </a:tcPr>
                </a:tc>
                <a:extLst>
                  <a:ext uri="{0D108BD9-81ED-4DB2-BD59-A6C34878D82A}">
                    <a16:rowId xmlns:a16="http://schemas.microsoft.com/office/drawing/2014/main" val="10001"/>
                  </a:ext>
                </a:extLst>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22</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168</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54</a:t>
                      </a:r>
                    </a:p>
                  </a:txBody>
                  <a:tcPr marL="10800" marR="10800" marT="10800" marB="10800" anchor="ctr">
                    <a:solidFill>
                      <a:srgbClr val="FFFFFF"/>
                    </a:solidFill>
                  </a:tcPr>
                </a:tc>
                <a:extLst>
                  <a:ext uri="{0D108BD9-81ED-4DB2-BD59-A6C34878D82A}">
                    <a16:rowId xmlns:a16="http://schemas.microsoft.com/office/drawing/2014/main" val="10002"/>
                  </a:ext>
                </a:extLst>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EFEFEF"/>
                    </a:solidFill>
                  </a:tcPr>
                </a:tc>
                <a:tc>
                  <a:txBody>
                    <a:bodyPr/>
                    <a:lstStyle/>
                    <a:p>
                      <a:pPr algn="ctr">
                        <a:defRPr sz="1000">
                          <a:solidFill>
                            <a:srgbClr val="000000"/>
                          </a:solidFill>
                          <a:latin typeface="Montserrat"/>
                        </a:defRPr>
                      </a:pPr>
                      <a:r>
                        <a:rPr lang="es-MX" sz="1000" dirty="0">
                          <a:latin typeface="Montserrat"/>
                        </a:rPr>
                        <a:t>698</a:t>
                      </a:r>
                      <a:endParaRPr sz="1000" dirty="0">
                        <a:latin typeface="Montserrat"/>
                      </a:endParaRP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361</a:t>
                      </a:r>
                    </a:p>
                  </a:txBody>
                  <a:tcPr marL="10800" marR="10800" marT="10800" marB="10800" anchor="ctr">
                    <a:solidFill>
                      <a:srgbClr val="EFEFEF"/>
                    </a:solidFill>
                  </a:tcPr>
                </a:tc>
                <a:extLst>
                  <a:ext uri="{0D108BD9-81ED-4DB2-BD59-A6C34878D82A}">
                    <a16:rowId xmlns:a16="http://schemas.microsoft.com/office/drawing/2014/main" val="10003"/>
                  </a:ext>
                </a:extLst>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26</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168</a:t>
                      </a:r>
                    </a:p>
                  </a:txBody>
                  <a:tcPr marL="10800" marR="10800" marT="10800" marB="10800" anchor="ctr">
                    <a:solidFill>
                      <a:srgbClr val="D3E9E7"/>
                    </a:solidFill>
                  </a:tcPr>
                </a:tc>
                <a:tc>
                  <a:txBody>
                    <a:bodyPr/>
                    <a:lstStyle/>
                    <a:p>
                      <a:pPr algn="ctr">
                        <a:defRPr sz="1000" b="1">
                          <a:solidFill>
                            <a:srgbClr val="006556"/>
                          </a:solidFill>
                          <a:latin typeface="Montserrat"/>
                        </a:defRPr>
                      </a:pPr>
                      <a:r>
                        <a:rPr lang="es-MX" sz="1000">
                          <a:latin typeface="Montserrat"/>
                        </a:rPr>
                        <a:t>698</a:t>
                      </a:r>
                      <a:endParaRPr sz="1000">
                        <a:latin typeface="Montserrat"/>
                      </a:endParaRPr>
                    </a:p>
                  </a:txBody>
                  <a:tcPr marL="10800" marR="10800" marT="10800" marB="10800" anchor="ctr">
                    <a:solidFill>
                      <a:srgbClr val="D3E9E7"/>
                    </a:solidFill>
                  </a:tcPr>
                </a:tc>
                <a:tc>
                  <a:txBody>
                    <a:bodyPr/>
                    <a:lstStyle/>
                    <a:p>
                      <a:pPr algn="ctr">
                        <a:defRPr sz="1000" b="1">
                          <a:solidFill>
                            <a:srgbClr val="006556"/>
                          </a:solidFill>
                          <a:latin typeface="Montserrat"/>
                        </a:defRPr>
                      </a:pPr>
                      <a:r>
                        <a:rPr sz="1000" dirty="0">
                          <a:latin typeface="Montserrat"/>
                        </a:rPr>
                        <a:t>415</a:t>
                      </a:r>
                    </a:p>
                  </a:txBody>
                  <a:tcPr marL="10800" marR="10800" marT="10800" marB="10800"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136" name="Table 135"/>
          <p:cNvGraphicFramePr>
            <a:graphicFrameLocks noGrp="1"/>
          </p:cNvGraphicFramePr>
          <p:nvPr/>
        </p:nvGraphicFramePr>
        <p:xfrm>
          <a:off x="5659200" y="1155600"/>
          <a:ext cx="2026800" cy="1219200"/>
        </p:xfrm>
        <a:graphic>
          <a:graphicData uri="http://schemas.openxmlformats.org/drawingml/2006/table">
            <a:tbl>
              <a:tblPr firstRow="1" bandRow="1">
                <a:tableStyleId>{5C22544A-7EE6-4342-B048-85BDC9FD1C3A}</a:tableStyleId>
              </a:tblPr>
              <a:tblGrid>
                <a:gridCol w="1013400">
                  <a:extLst>
                    <a:ext uri="{9D8B030D-6E8A-4147-A177-3AD203B41FA5}">
                      <a16:colId xmlns:a16="http://schemas.microsoft.com/office/drawing/2014/main" val="20000"/>
                    </a:ext>
                  </a:extLst>
                </a:gridCol>
                <a:gridCol w="1013400">
                  <a:extLst>
                    <a:ext uri="{9D8B030D-6E8A-4147-A177-3AD203B41FA5}">
                      <a16:colId xmlns:a16="http://schemas.microsoft.com/office/drawing/2014/main" val="20001"/>
                    </a:ext>
                  </a:extLst>
                </a:gridCol>
              </a:tblGrid>
              <a:tr h="234720">
                <a:tc>
                  <a:txBody>
                    <a:bodyPr/>
                    <a:lstStyle/>
                    <a:p>
                      <a:pPr algn="ctr">
                        <a:defRPr sz="1000" b="1">
                          <a:solidFill>
                            <a:srgbClr val="FFFFFF"/>
                          </a:solidFill>
                          <a:latin typeface="Montserrat"/>
                        </a:defRPr>
                      </a:pPr>
                      <a:r>
                        <a:t>2o Nivel</a:t>
                      </a:r>
                    </a:p>
                  </a:txBody>
                  <a:tcPr>
                    <a:solidFill>
                      <a:srgbClr val="006455"/>
                    </a:solidFill>
                  </a:tcPr>
                </a:tc>
                <a:tc>
                  <a:txBody>
                    <a:bodyPr/>
                    <a:lstStyle/>
                    <a:p>
                      <a:pPr algn="ctr">
                        <a:defRPr sz="1000" b="1">
                          <a:solidFill>
                            <a:srgbClr val="FFFFFF"/>
                          </a:solidFill>
                          <a:latin typeface="Montserrat"/>
                        </a:defRPr>
                      </a:pPr>
                      <a:r>
                        <a:t>Unidades</a:t>
                      </a:r>
                    </a:p>
                  </a:txBody>
                  <a:tcPr>
                    <a:solidFill>
                      <a:srgbClr val="006455"/>
                    </a:solidFill>
                  </a:tcPr>
                </a:tc>
                <a:extLst>
                  <a:ext uri="{0D108BD9-81ED-4DB2-BD59-A6C34878D82A}">
                    <a16:rowId xmlns:a16="http://schemas.microsoft.com/office/drawing/2014/main" val="10000"/>
                  </a:ext>
                </a:extLst>
              </a:tr>
              <a:tr h="234720">
                <a:tc>
                  <a:txBody>
                    <a:bodyPr/>
                    <a:lstStyle/>
                    <a:p>
                      <a:pPr algn="ctr">
                        <a:defRPr sz="1000">
                          <a:solidFill>
                            <a:srgbClr val="000000"/>
                          </a:solidFill>
                          <a:latin typeface="Montserrat"/>
                        </a:defRPr>
                      </a:pPr>
                      <a:r>
                        <a:t>UMAA (aut)</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extLst>
                  <a:ext uri="{0D108BD9-81ED-4DB2-BD59-A6C34878D82A}">
                    <a16:rowId xmlns:a16="http://schemas.microsoft.com/office/drawing/2014/main" val="10001"/>
                  </a:ext>
                </a:extLst>
              </a:tr>
              <a:tr h="23472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2"/>
                  </a:ext>
                </a:extLst>
              </a:tr>
              <a:tr h="234720">
                <a:tc>
                  <a:txBody>
                    <a:bodyPr/>
                    <a:lstStyle/>
                    <a:p>
                      <a:pPr algn="ctr">
                        <a:defRPr sz="1000">
                          <a:solidFill>
                            <a:srgbClr val="000000"/>
                          </a:solidFill>
                          <a:latin typeface="Montserrat"/>
                        </a:defRPr>
                      </a:pPr>
                      <a:r>
                        <a:t>HGR</a:t>
                      </a:r>
                    </a:p>
                  </a:txBody>
                  <a:tcPr>
                    <a:solidFill>
                      <a:srgbClr val="EFEFEF"/>
                    </a:solidFill>
                  </a:tcPr>
                </a:tc>
                <a:tc>
                  <a:txBody>
                    <a:bodyPr/>
                    <a:lstStyle/>
                    <a:p>
                      <a:pPr algn="ctr">
                        <a:defRPr sz="1000">
                          <a:solidFill>
                            <a:srgbClr val="000000"/>
                          </a:solidFill>
                          <a:latin typeface="Montserrat"/>
                        </a:defRPr>
                      </a:pPr>
                      <a:r>
                        <a:t>2</a:t>
                      </a:r>
                    </a:p>
                  </a:txBody>
                  <a:tcPr>
                    <a:solidFill>
                      <a:srgbClr val="EFEFEF"/>
                    </a:solidFill>
                  </a:tcPr>
                </a:tc>
                <a:extLst>
                  <a:ext uri="{0D108BD9-81ED-4DB2-BD59-A6C34878D82A}">
                    <a16:rowId xmlns:a16="http://schemas.microsoft.com/office/drawing/2014/main" val="10003"/>
                  </a:ext>
                </a:extLst>
              </a:tr>
              <a:tr h="23472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4</a:t>
                      </a:r>
                    </a:p>
                  </a:txBody>
                  <a:tcPr>
                    <a:solidFill>
                      <a:srgbClr val="D3E9E7"/>
                    </a:solidFill>
                  </a:tcPr>
                </a:tc>
                <a:extLst>
                  <a:ext uri="{0D108BD9-81ED-4DB2-BD59-A6C34878D82A}">
                    <a16:rowId xmlns:a16="http://schemas.microsoft.com/office/drawing/2014/main" val="10004"/>
                  </a:ext>
                </a:extLst>
              </a:tr>
            </a:tbl>
          </a:graphicData>
        </a:graphic>
      </p:graphicFrame>
      <p:sp>
        <p:nvSpPr>
          <p:cNvPr id="137" name="TextBox 136"/>
          <p:cNvSpPr txBox="1"/>
          <p:nvPr/>
        </p:nvSpPr>
        <p:spPr>
          <a:xfrm>
            <a:off x="212400" y="9540000"/>
            <a:ext cx="7200000" cy="360000"/>
          </a:xfrm>
          <a:prstGeom prst="rect">
            <a:avLst/>
          </a:prstGeom>
          <a:noFill/>
        </p:spPr>
        <p:txBody>
          <a:bodyPr wrap="square" lIns="0" tIns="0" rIns="0" bIns="0">
            <a:spAutoFit/>
          </a:bodyPr>
          <a:lstStyle/>
          <a:p>
            <a:pPr algn="l">
              <a:defRPr sz="700">
                <a:solidFill>
                  <a:srgbClr val="FFFFFF"/>
                </a:solidFill>
                <a:latin typeface="Montserrat"/>
              </a:defRPr>
            </a:pPr>
            <a:r>
              <a:t>¹ Incluye 21 UMF, 1 UMFH y no incluye 4 Unidades Auxiliares de Medicina Familiar.</a:t>
            </a:r>
          </a:p>
        </p:txBody>
      </p:sp>
      <p:sp>
        <p:nvSpPr>
          <p:cNvPr id="138" name="TextBox 137"/>
          <p:cNvSpPr txBox="1"/>
          <p:nvPr/>
        </p:nvSpPr>
        <p:spPr>
          <a:xfrm>
            <a:off x="212400" y="9774000"/>
            <a:ext cx="1713600" cy="107722"/>
          </a:xfrm>
          <a:prstGeom prst="rect">
            <a:avLst/>
          </a:prstGeom>
          <a:noFill/>
        </p:spPr>
        <p:txBody>
          <a:bodyPr wrap="square" lIns="0" tIns="0" rIns="0" bIns="0">
            <a:spAutoFit/>
          </a:bodyPr>
          <a:lstStyle/>
          <a:p>
            <a:pPr algn="l">
              <a:defRPr sz="700">
                <a:solidFill>
                  <a:srgbClr val="FFFFFF"/>
                </a:solidFill>
                <a:latin typeface="Montserrat"/>
              </a:defRPr>
            </a:pPr>
            <a:r>
              <a:rPr dirty="0"/>
              <a:t>Corte de </a:t>
            </a:r>
            <a:r>
              <a:rPr dirty="0" err="1"/>
              <a:t>información</a:t>
            </a:r>
            <a:r>
              <a:rPr dirty="0"/>
              <a:t>: ma</a:t>
            </a:r>
            <a:r>
              <a:rPr lang="es-MX" dirty="0"/>
              <a:t>yo</a:t>
            </a:r>
            <a:r>
              <a:rPr dirty="0"/>
              <a:t> de 2026</a:t>
            </a:r>
          </a:p>
        </p:txBody>
      </p:sp>
      <p:sp>
        <p:nvSpPr>
          <p:cNvPr id="139" name="TextBox 13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15;g3d0b4d3c5c9_0_70">
            <a:extLst>
              <a:ext uri="{FF2B5EF4-FFF2-40B4-BE49-F238E27FC236}">
                <a16:creationId xmlns:a16="http://schemas.microsoft.com/office/drawing/2014/main" id="{B6422C63-C584-DA7D-D548-6D46E70946B8}"/>
              </a:ext>
            </a:extLst>
          </p:cNvPr>
          <p:cNvGraphicFramePr/>
          <p:nvPr>
            <p:extLst>
              <p:ext uri="{D42A27DB-BD31-4B8C-83A1-F6EECF244321}">
                <p14:modId xmlns:p14="http://schemas.microsoft.com/office/powerpoint/2010/main" val="1916795592"/>
              </p:ext>
            </p:extLst>
          </p:nvPr>
        </p:nvGraphicFramePr>
        <p:xfrm>
          <a:off x="28685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a:solidFill>
                            <a:srgbClr val="A42145"/>
                          </a:solidFill>
                          <a:latin typeface="Montserrat"/>
                          <a:ea typeface="Montserrat"/>
                          <a:cs typeface="Montserrat"/>
                          <a:sym typeface="Montserrat"/>
                        </a:rPr>
                        <a:t>Primer hospital en la entidad:</a:t>
                      </a:r>
                      <a:endParaRPr sz="1800" b="1">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a:solidFill>
                            <a:srgbClr val="BC955C"/>
                          </a:solidFill>
                          <a:latin typeface="Montserrat"/>
                          <a:ea typeface="Montserrat"/>
                          <a:cs typeface="Montserrat"/>
                          <a:sym typeface="Montserrat"/>
                        </a:rPr>
                        <a:t>Hospital General Regional No. 1, Querétaro</a:t>
                      </a:r>
                      <a:endParaRPr sz="18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16;g3d0b4d3c5c9_0_70">
            <a:extLst>
              <a:ext uri="{FF2B5EF4-FFF2-40B4-BE49-F238E27FC236}">
                <a16:creationId xmlns:a16="http://schemas.microsoft.com/office/drawing/2014/main" id="{38EBD931-852E-790E-68B4-DD570977E59F}"/>
              </a:ext>
            </a:extLst>
          </p:cNvPr>
          <p:cNvPicPr preferRelativeResize="0"/>
          <p:nvPr/>
        </p:nvPicPr>
        <p:blipFill>
          <a:blip r:embed="rId4">
            <a:alphaModFix/>
          </a:blip>
          <a:stretch>
            <a:fillRect/>
          </a:stretch>
        </p:blipFill>
        <p:spPr>
          <a:xfrm>
            <a:off x="425263" y="2371505"/>
            <a:ext cx="3034506" cy="2285276"/>
          </a:xfrm>
          <a:prstGeom prst="rect">
            <a:avLst/>
          </a:prstGeom>
          <a:noFill/>
          <a:ln>
            <a:noFill/>
          </a:ln>
        </p:spPr>
      </p:pic>
      <p:sp>
        <p:nvSpPr>
          <p:cNvPr id="7" name="CuadroTexto 6">
            <a:extLst>
              <a:ext uri="{FF2B5EF4-FFF2-40B4-BE49-F238E27FC236}">
                <a16:creationId xmlns:a16="http://schemas.microsoft.com/office/drawing/2014/main" id="{AB5EBA3F-0462-2907-42E4-8A5B10221247}"/>
              </a:ext>
            </a:extLst>
          </p:cNvPr>
          <p:cNvSpPr txBox="1"/>
          <p:nvPr/>
        </p:nvSpPr>
        <p:spPr>
          <a:xfrm>
            <a:off x="3596038" y="1882561"/>
            <a:ext cx="3889512" cy="3513782"/>
          </a:xfrm>
          <a:prstGeom prst="rect">
            <a:avLst/>
          </a:prstGeom>
          <a:noFill/>
        </p:spPr>
        <p:txBody>
          <a:bodyPr wrap="square" lIns="91440" tIns="45720" rIns="91440" bIns="45720" anchor="t">
            <a:spAutoFit/>
          </a:bodyPr>
          <a:lstStyle/>
          <a:p>
            <a:pPr algn="just" rtl="0" fontAlgn="base">
              <a:spcBef>
                <a:spcPts val="1000"/>
              </a:spcBef>
              <a:spcAft>
                <a:spcPts val="100"/>
              </a:spcAft>
              <a:buFont typeface="Arial" panose="020B0604020202020204" pitchFamily="34" charset="0"/>
              <a:buChar char="•"/>
            </a:pPr>
            <a:r>
              <a:rPr lang="es-ES" sz="1200" b="0" i="0" u="none" strike="noStrike">
                <a:solidFill>
                  <a:srgbClr val="000000"/>
                </a:solidFill>
                <a:effectLst/>
                <a:latin typeface="Montserrat"/>
              </a:rPr>
              <a:t>El IMSS comenzó a operar en 1957, con la apertura de la primera Casa de la Asegurada. En esta primera etapa, las consultas se otorgaban principalmente en espacios no hospitalarios, centradas en medicina general, prevención, atención materna‑infantil y primeros servicios de consulta externa.</a:t>
            </a:r>
          </a:p>
          <a:p>
            <a:pPr algn="just" rtl="0" fontAlgn="base">
              <a:spcBef>
                <a:spcPts val="1000"/>
              </a:spcBef>
              <a:spcAft>
                <a:spcPts val="100"/>
              </a:spcAft>
              <a:buFont typeface="Arial" panose="020B0604020202020204" pitchFamily="34" charset="0"/>
              <a:buChar char="•"/>
            </a:pPr>
            <a:r>
              <a:rPr lang="es-ES" sz="1200" b="0" i="0" u="none" strike="noStrike">
                <a:solidFill>
                  <a:srgbClr val="000000"/>
                </a:solidFill>
                <a:effectLst/>
                <a:latin typeface="Montserrat"/>
              </a:rPr>
              <a:t>El primer hospital del IMSS en Querétaro fue el Hospital General Regional No. 1 (HGR No. 1), iniciando operaciones en </a:t>
            </a:r>
            <a:r>
              <a:rPr lang="es-ES" sz="1200">
                <a:latin typeface="Montserrat"/>
              </a:rPr>
              <a:t>octubre</a:t>
            </a:r>
            <a:r>
              <a:rPr lang="es-ES" sz="1200" b="0" i="0" u="none" strike="noStrike">
                <a:solidFill>
                  <a:srgbClr val="000000"/>
                </a:solidFill>
                <a:effectLst/>
                <a:latin typeface="Montserrat"/>
              </a:rPr>
              <a:t> de 1964.</a:t>
            </a:r>
          </a:p>
          <a:p>
            <a:pPr algn="just" rtl="0" fontAlgn="base">
              <a:spcBef>
                <a:spcPts val="1000"/>
              </a:spcBef>
              <a:spcAft>
                <a:spcPts val="100"/>
              </a:spcAft>
              <a:buFont typeface="Arial" panose="020B0604020202020204" pitchFamily="34" charset="0"/>
              <a:buChar char="•"/>
            </a:pPr>
            <a:r>
              <a:rPr lang="es-ES" sz="1200" b="0" i="0" u="none" strike="noStrike">
                <a:solidFill>
                  <a:srgbClr val="000000"/>
                </a:solidFill>
                <a:effectLst/>
                <a:latin typeface="Montserrat"/>
              </a:rPr>
              <a:t>El HGR No. 1 contaba con una capacidad instalada propia de un hospital regional de segundo nivel de la época, y comenzó brindando servicios de hospitalización general, urgencias, cirugía general, gineco‑obstetricia, medicina interna, pediatría y auxiliares de diagnóstico</a:t>
            </a:r>
            <a:r>
              <a:rPr lang="es-ES" sz="1200">
                <a:latin typeface="Montserrat"/>
              </a:rPr>
              <a:t>.</a:t>
            </a:r>
            <a:endParaRPr lang="es-ES" sz="1200" b="0" i="0" u="none" strike="noStrike">
              <a:solidFill>
                <a:srgbClr val="000000"/>
              </a:solidFill>
              <a:effectLst/>
              <a:latin typeface="Montserrat" panose="00000500000000000000" pitchFamily="2" charset="0"/>
            </a:endParaRP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22_QUERETARO.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extLst>
              <p:ext uri="{D42A27DB-BD31-4B8C-83A1-F6EECF244321}">
                <p14:modId xmlns:p14="http://schemas.microsoft.com/office/powerpoint/2010/main" val="3267047827"/>
              </p:ext>
            </p:extLst>
          </p:nvPr>
        </p:nvGraphicFramePr>
        <p:xfrm>
          <a:off x="56628" y="7073737"/>
          <a:ext cx="7650000" cy="1654920"/>
        </p:xfrm>
        <a:graphic>
          <a:graphicData uri="http://schemas.openxmlformats.org/drawingml/2006/table">
            <a:tbl>
              <a:tblPr firstRow="1" bandRow="1">
                <a:tableStyleId>{5C22544A-7EE6-4342-B048-85BDC9FD1C3A}</a:tableStyleId>
              </a:tblPr>
              <a:tblGrid>
                <a:gridCol w="1980000">
                  <a:extLst>
                    <a:ext uri="{9D8B030D-6E8A-4147-A177-3AD203B41FA5}">
                      <a16:colId xmlns:a16="http://schemas.microsoft.com/office/drawing/2014/main" val="20000"/>
                    </a:ext>
                  </a:extLst>
                </a:gridCol>
                <a:gridCol w="1339200">
                  <a:extLst>
                    <a:ext uri="{9D8B030D-6E8A-4147-A177-3AD203B41FA5}">
                      <a16:colId xmlns:a16="http://schemas.microsoft.com/office/drawing/2014/main" val="20001"/>
                    </a:ext>
                  </a:extLst>
                </a:gridCol>
                <a:gridCol w="684000">
                  <a:extLst>
                    <a:ext uri="{9D8B030D-6E8A-4147-A177-3AD203B41FA5}">
                      <a16:colId xmlns:a16="http://schemas.microsoft.com/office/drawing/2014/main" val="20002"/>
                    </a:ext>
                  </a:extLst>
                </a:gridCol>
                <a:gridCol w="781200">
                  <a:extLst>
                    <a:ext uri="{9D8B030D-6E8A-4147-A177-3AD203B41FA5}">
                      <a16:colId xmlns:a16="http://schemas.microsoft.com/office/drawing/2014/main" val="20003"/>
                    </a:ext>
                  </a:extLst>
                </a:gridCol>
                <a:gridCol w="810000">
                  <a:extLst>
                    <a:ext uri="{9D8B030D-6E8A-4147-A177-3AD203B41FA5}">
                      <a16:colId xmlns:a16="http://schemas.microsoft.com/office/drawing/2014/main" val="20004"/>
                    </a:ext>
                  </a:extLst>
                </a:gridCol>
                <a:gridCol w="957600">
                  <a:extLst>
                    <a:ext uri="{9D8B030D-6E8A-4147-A177-3AD203B41FA5}">
                      <a16:colId xmlns:a16="http://schemas.microsoft.com/office/drawing/2014/main" val="20005"/>
                    </a:ext>
                  </a:extLst>
                </a:gridCol>
                <a:gridCol w="1098000">
                  <a:extLst>
                    <a:ext uri="{9D8B030D-6E8A-4147-A177-3AD203B41FA5}">
                      <a16:colId xmlns:a16="http://schemas.microsoft.com/office/drawing/2014/main" val="20006"/>
                    </a:ext>
                  </a:extLst>
                </a:gridCol>
              </a:tblGrid>
              <a:tr h="2304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Inicio de operaciones</a:t>
                      </a:r>
                    </a:p>
                  </a:txBody>
                  <a:tcPr anchor="ctr">
                    <a:solidFill>
                      <a:srgbClr val="006455"/>
                    </a:solidFill>
                  </a:tcPr>
                </a:tc>
                <a:tc>
                  <a:txBody>
                    <a:bodyPr/>
                    <a:lstStyle/>
                    <a:p>
                      <a:pPr algn="ctr">
                        <a:defRPr sz="900" b="1">
                          <a:solidFill>
                            <a:srgbClr val="FFFFFF"/>
                          </a:solidFill>
                          <a:latin typeface="Montserrat"/>
                        </a:defRPr>
                      </a:pPr>
                      <a:r>
                        <a:t>Camas</a:t>
                      </a:r>
                    </a:p>
                  </a:txBody>
                  <a:tcPr anchor="ctr">
                    <a:solidFill>
                      <a:srgbClr val="006455"/>
                    </a:solidFill>
                  </a:tcPr>
                </a:tc>
                <a:tc>
                  <a:txBody>
                    <a:bodyPr/>
                    <a:lstStyle/>
                    <a:p>
                      <a:pPr algn="ctr">
                        <a:defRPr sz="900" b="1">
                          <a:solidFill>
                            <a:srgbClr val="FFFFFF"/>
                          </a:solidFill>
                          <a:latin typeface="Montserrat"/>
                        </a:defRPr>
                      </a:pPr>
                      <a:r>
                        <a:t>Camas no censables</a:t>
                      </a:r>
                    </a:p>
                  </a:txBody>
                  <a:tcPr anchor="ctr">
                    <a:solidFill>
                      <a:srgbClr val="006455"/>
                    </a:solidFill>
                  </a:tcPr>
                </a:tc>
                <a:tc>
                  <a:txBody>
                    <a:bodyPr/>
                    <a:lstStyle/>
                    <a:p>
                      <a:pPr algn="ctr">
                        <a:defRPr sz="900" b="1">
                          <a:solidFill>
                            <a:srgbClr val="FFFFFF"/>
                          </a:solidFill>
                          <a:latin typeface="Montserrat"/>
                        </a:defRPr>
                      </a:pPr>
                      <a:r>
                        <a:t>Camas de cuidados intensivos</a:t>
                      </a:r>
                    </a:p>
                  </a:txBody>
                  <a:tcPr anchor="ctr">
                    <a:solidFill>
                      <a:srgbClr val="006455"/>
                    </a:solidFill>
                  </a:tcPr>
                </a:tc>
                <a:tc>
                  <a:txBody>
                    <a:bodyPr/>
                    <a:lstStyle/>
                    <a:p>
                      <a:pPr algn="ctr">
                        <a:defRPr sz="900" b="1">
                          <a:solidFill>
                            <a:srgbClr val="FFFFFF"/>
                          </a:solidFill>
                          <a:latin typeface="Montserrat"/>
                        </a:defRPr>
                      </a:pPr>
                      <a:r>
                        <a:t>Salas Quirúrgicas¹</a:t>
                      </a:r>
                    </a:p>
                  </a:txBody>
                  <a:tcPr anchor="ctr">
                    <a:solidFill>
                      <a:srgbClr val="006455"/>
                    </a:solidFill>
                  </a:tcPr>
                </a:tc>
                <a:tc>
                  <a:txBody>
                    <a:bodyPr/>
                    <a:lstStyle/>
                    <a:p>
                      <a:pPr algn="ctr">
                        <a:defRPr sz="900" b="1">
                          <a:solidFill>
                            <a:srgbClr val="FFFFFF"/>
                          </a:solidFill>
                          <a:latin typeface="Montserrat"/>
                        </a:defRPr>
                      </a:pPr>
                      <a:r>
                        <a:t>Consultorios de especialidades</a:t>
                      </a:r>
                    </a:p>
                  </a:txBody>
                  <a:tcPr anchor="ctr">
                    <a:solidFill>
                      <a:srgbClr val="006455"/>
                    </a:solidFill>
                  </a:tcPr>
                </a:tc>
                <a:extLst>
                  <a:ext uri="{0D108BD9-81ED-4DB2-BD59-A6C34878D82A}">
                    <a16:rowId xmlns:a16="http://schemas.microsoft.com/office/drawing/2014/main" val="10000"/>
                  </a:ext>
                </a:extLst>
              </a:tr>
              <a:tr h="230400">
                <a:tc>
                  <a:txBody>
                    <a:bodyPr/>
                    <a:lstStyle/>
                    <a:p>
                      <a:pPr algn="l">
                        <a:defRPr sz="900">
                          <a:latin typeface="Montserrat"/>
                        </a:defRPr>
                      </a:pPr>
                      <a:r>
                        <a:t>HGR 1 Querétaro</a:t>
                      </a:r>
                    </a:p>
                  </a:txBody>
                  <a:tcPr anchor="ctr">
                    <a:solidFill>
                      <a:srgbClr val="FFFFFF"/>
                    </a:solidFill>
                  </a:tcPr>
                </a:tc>
                <a:tc>
                  <a:txBody>
                    <a:bodyPr/>
                    <a:lstStyle/>
                    <a:p>
                      <a:pPr algn="ctr">
                        <a:defRPr sz="900">
                          <a:latin typeface="Montserrat"/>
                        </a:defRPr>
                      </a:pPr>
                      <a:r>
                        <a:t>Octubre de 1964</a:t>
                      </a:r>
                    </a:p>
                  </a:txBody>
                  <a:tcPr anchor="ctr">
                    <a:solidFill>
                      <a:srgbClr val="FFFFFF"/>
                    </a:solidFill>
                  </a:tcPr>
                </a:tc>
                <a:tc>
                  <a:txBody>
                    <a:bodyPr/>
                    <a:lstStyle/>
                    <a:p>
                      <a:pPr algn="ctr">
                        <a:defRPr sz="900">
                          <a:latin typeface="Montserrat"/>
                        </a:defRPr>
                      </a:pPr>
                      <a:r>
                        <a:rPr dirty="0"/>
                        <a:t>291</a:t>
                      </a:r>
                    </a:p>
                  </a:txBody>
                  <a:tcPr anchor="ctr">
                    <a:solidFill>
                      <a:srgbClr val="FFFFFF"/>
                    </a:solidFill>
                  </a:tcPr>
                </a:tc>
                <a:tc>
                  <a:txBody>
                    <a:bodyPr/>
                    <a:lstStyle/>
                    <a:p>
                      <a:pPr algn="ctr">
                        <a:defRPr sz="900">
                          <a:latin typeface="Montserrat"/>
                        </a:defRPr>
                      </a:pPr>
                      <a:r>
                        <a:t>141</a:t>
                      </a:r>
                    </a:p>
                  </a:txBody>
                  <a:tcPr anchor="ctr">
                    <a:solidFill>
                      <a:srgbClr val="FFFFFF"/>
                    </a:solidFill>
                  </a:tcPr>
                </a:tc>
                <a:tc>
                  <a:txBody>
                    <a:bodyPr/>
                    <a:lstStyle/>
                    <a:p>
                      <a:pPr algn="ctr">
                        <a:defRPr sz="900">
                          <a:latin typeface="Montserrat"/>
                        </a:defRPr>
                      </a:pPr>
                      <a:r>
                        <a:t>28</a:t>
                      </a:r>
                    </a:p>
                  </a:txBody>
                  <a:tcPr anchor="ctr">
                    <a:solidFill>
                      <a:srgbClr val="FFFFFF"/>
                    </a:solidFill>
                  </a:tcPr>
                </a:tc>
                <a:tc>
                  <a:txBody>
                    <a:bodyPr/>
                    <a:lstStyle/>
                    <a:p>
                      <a:pPr algn="ctr">
                        <a:defRPr sz="900">
                          <a:latin typeface="Montserrat"/>
                        </a:defRPr>
                      </a:pPr>
                      <a:r>
                        <a:rPr lang="es-MX" dirty="0"/>
                        <a:t>7</a:t>
                      </a:r>
                      <a:endParaRPr dirty="0"/>
                    </a:p>
                  </a:txBody>
                  <a:tcPr anchor="ctr">
                    <a:solidFill>
                      <a:srgbClr val="FFFFFF"/>
                    </a:solidFill>
                  </a:tcPr>
                </a:tc>
                <a:tc>
                  <a:txBody>
                    <a:bodyPr/>
                    <a:lstStyle/>
                    <a:p>
                      <a:pPr algn="ctr">
                        <a:defRPr sz="900">
                          <a:latin typeface="Montserrat"/>
                        </a:defRPr>
                      </a:pPr>
                      <a:r>
                        <a:t>43</a:t>
                      </a:r>
                    </a:p>
                  </a:txBody>
                  <a:tcPr anchor="ctr">
                    <a:solidFill>
                      <a:srgbClr val="FFFFFF"/>
                    </a:solidFill>
                  </a:tcPr>
                </a:tc>
                <a:extLst>
                  <a:ext uri="{0D108BD9-81ED-4DB2-BD59-A6C34878D82A}">
                    <a16:rowId xmlns:a16="http://schemas.microsoft.com/office/drawing/2014/main" val="10001"/>
                  </a:ext>
                </a:extLst>
              </a:tr>
              <a:tr h="230400">
                <a:tc>
                  <a:txBody>
                    <a:bodyPr/>
                    <a:lstStyle/>
                    <a:p>
                      <a:pPr algn="l">
                        <a:defRPr sz="900">
                          <a:latin typeface="Montserrat"/>
                        </a:defRPr>
                      </a:pPr>
                      <a:r>
                        <a:t>HGZ 3 S. Juan del Río</a:t>
                      </a:r>
                    </a:p>
                  </a:txBody>
                  <a:tcPr anchor="ctr">
                    <a:solidFill>
                      <a:srgbClr val="EFEFEF"/>
                    </a:solidFill>
                  </a:tcPr>
                </a:tc>
                <a:tc>
                  <a:txBody>
                    <a:bodyPr/>
                    <a:lstStyle/>
                    <a:p>
                      <a:pPr algn="ctr">
                        <a:defRPr sz="900">
                          <a:latin typeface="Montserrat"/>
                        </a:defRPr>
                      </a:pPr>
                      <a:r>
                        <a:t>Julio de 1992</a:t>
                      </a:r>
                    </a:p>
                  </a:txBody>
                  <a:tcPr anchor="ctr">
                    <a:solidFill>
                      <a:srgbClr val="EFEFEF"/>
                    </a:solidFill>
                  </a:tcPr>
                </a:tc>
                <a:tc>
                  <a:txBody>
                    <a:bodyPr/>
                    <a:lstStyle/>
                    <a:p>
                      <a:pPr algn="ctr">
                        <a:defRPr sz="900">
                          <a:latin typeface="Montserrat"/>
                        </a:defRPr>
                      </a:pPr>
                      <a:r>
                        <a:t>90</a:t>
                      </a:r>
                    </a:p>
                  </a:txBody>
                  <a:tcPr anchor="ctr">
                    <a:solidFill>
                      <a:srgbClr val="EFEFEF"/>
                    </a:solidFill>
                  </a:tcPr>
                </a:tc>
                <a:tc>
                  <a:txBody>
                    <a:bodyPr/>
                    <a:lstStyle/>
                    <a:p>
                      <a:pPr algn="ctr">
                        <a:defRPr sz="900">
                          <a:latin typeface="Montserrat"/>
                        </a:defRPr>
                      </a:pPr>
                      <a:r>
                        <a:rPr dirty="0"/>
                        <a:t>54</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20</a:t>
                      </a:r>
                    </a:p>
                  </a:txBody>
                  <a:tcPr anchor="ctr">
                    <a:solidFill>
                      <a:srgbClr val="EFEFEF"/>
                    </a:solidFill>
                  </a:tcPr>
                </a:tc>
                <a:extLst>
                  <a:ext uri="{0D108BD9-81ED-4DB2-BD59-A6C34878D82A}">
                    <a16:rowId xmlns:a16="http://schemas.microsoft.com/office/drawing/2014/main" val="10002"/>
                  </a:ext>
                </a:extLst>
              </a:tr>
              <a:tr h="230400">
                <a:tc>
                  <a:txBody>
                    <a:bodyPr/>
                    <a:lstStyle/>
                    <a:p>
                      <a:pPr algn="l">
                        <a:defRPr sz="900">
                          <a:latin typeface="Montserrat"/>
                        </a:defRPr>
                      </a:pPr>
                      <a:r>
                        <a:t>UMAA 1 Querétaro (Aut)</a:t>
                      </a:r>
                    </a:p>
                  </a:txBody>
                  <a:tcPr anchor="ctr">
                    <a:solidFill>
                      <a:srgbClr val="FFFFFF"/>
                    </a:solidFill>
                  </a:tcPr>
                </a:tc>
                <a:tc>
                  <a:txBody>
                    <a:bodyPr/>
                    <a:lstStyle/>
                    <a:p>
                      <a:pPr algn="ctr">
                        <a:defRPr sz="900">
                          <a:latin typeface="Montserrat"/>
                        </a:defRPr>
                      </a:pPr>
                      <a:r>
                        <a:t>Junio de 2006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24</a:t>
                      </a:r>
                    </a:p>
                  </a:txBody>
                  <a:tcPr anchor="ctr">
                    <a:solidFill>
                      <a:srgbClr val="FFFFFF"/>
                    </a:solidFill>
                  </a:tcPr>
                </a:tc>
                <a:tc>
                  <a:txBody>
                    <a:bodyPr/>
                    <a:lstStyle/>
                    <a:p>
                      <a:pPr algn="ctr">
                        <a:defRPr sz="900">
                          <a:latin typeface="Montserrat"/>
                        </a:defRPr>
                      </a:pPr>
                      <a:r>
                        <a:rPr dirty="0"/>
                        <a:t>0</a:t>
                      </a:r>
                    </a:p>
                  </a:txBody>
                  <a:tcPr anchor="ctr">
                    <a:solidFill>
                      <a:srgbClr val="FFFFFF"/>
                    </a:solidFill>
                  </a:tcPr>
                </a:tc>
                <a:tc>
                  <a:txBody>
                    <a:bodyPr/>
                    <a:lstStyle/>
                    <a:p>
                      <a:pPr algn="ctr">
                        <a:defRPr sz="900">
                          <a:latin typeface="Montserrat"/>
                        </a:defRPr>
                      </a:pPr>
                      <a:r>
                        <a:rPr dirty="0"/>
                        <a:t>2</a:t>
                      </a:r>
                    </a:p>
                  </a:txBody>
                  <a:tcPr anchor="ctr">
                    <a:solidFill>
                      <a:srgbClr val="FFFFFF"/>
                    </a:solidFill>
                  </a:tcPr>
                </a:tc>
                <a:tc>
                  <a:txBody>
                    <a:bodyPr/>
                    <a:lstStyle/>
                    <a:p>
                      <a:pPr algn="ctr">
                        <a:defRPr sz="900">
                          <a:latin typeface="Montserrat"/>
                        </a:defRPr>
                      </a:pPr>
                      <a:r>
                        <a:t>8</a:t>
                      </a:r>
                    </a:p>
                  </a:txBody>
                  <a:tcPr anchor="ctr">
                    <a:solidFill>
                      <a:srgbClr val="FFFFFF"/>
                    </a:solidFill>
                  </a:tcPr>
                </a:tc>
                <a:extLst>
                  <a:ext uri="{0D108BD9-81ED-4DB2-BD59-A6C34878D82A}">
                    <a16:rowId xmlns:a16="http://schemas.microsoft.com/office/drawing/2014/main" val="10003"/>
                  </a:ext>
                </a:extLst>
              </a:tr>
              <a:tr h="230400">
                <a:tc>
                  <a:txBody>
                    <a:bodyPr/>
                    <a:lstStyle/>
                    <a:p>
                      <a:pPr algn="l">
                        <a:defRPr sz="900">
                          <a:latin typeface="Montserrat"/>
                        </a:defRPr>
                      </a:pPr>
                      <a:r>
                        <a:t>HGR 2 El Marqués</a:t>
                      </a:r>
                    </a:p>
                  </a:txBody>
                  <a:tcPr anchor="ctr">
                    <a:solidFill>
                      <a:srgbClr val="EFEFEF"/>
                    </a:solidFill>
                  </a:tcPr>
                </a:tc>
                <a:tc>
                  <a:txBody>
                    <a:bodyPr/>
                    <a:lstStyle/>
                    <a:p>
                      <a:pPr algn="ctr">
                        <a:defRPr sz="900">
                          <a:latin typeface="Montserrat"/>
                        </a:defRPr>
                      </a:pPr>
                      <a:r>
                        <a:t>Noviembre de 2018</a:t>
                      </a:r>
                    </a:p>
                  </a:txBody>
                  <a:tcPr anchor="ctr">
                    <a:solidFill>
                      <a:srgbClr val="EFEFEF"/>
                    </a:solidFill>
                  </a:tcPr>
                </a:tc>
                <a:tc>
                  <a:txBody>
                    <a:bodyPr/>
                    <a:lstStyle/>
                    <a:p>
                      <a:pPr algn="ctr">
                        <a:defRPr sz="900">
                          <a:latin typeface="Montserrat"/>
                        </a:defRPr>
                      </a:pPr>
                      <a:r>
                        <a:rPr dirty="0"/>
                        <a:t>3</a:t>
                      </a:r>
                      <a:r>
                        <a:rPr lang="es-MX" dirty="0"/>
                        <a:t>17</a:t>
                      </a:r>
                      <a:endParaRPr dirty="0"/>
                    </a:p>
                  </a:txBody>
                  <a:tcPr anchor="ctr">
                    <a:solidFill>
                      <a:srgbClr val="EFEFEF"/>
                    </a:solidFill>
                  </a:tcPr>
                </a:tc>
                <a:tc>
                  <a:txBody>
                    <a:bodyPr/>
                    <a:lstStyle/>
                    <a:p>
                      <a:pPr algn="ctr">
                        <a:defRPr sz="900">
                          <a:latin typeface="Montserrat"/>
                        </a:defRPr>
                      </a:pPr>
                      <a:r>
                        <a:t>142</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rPr lang="es-MX" dirty="0"/>
                        <a:t>8</a:t>
                      </a:r>
                      <a:endParaRPr dirty="0"/>
                    </a:p>
                  </a:txBody>
                  <a:tcPr anchor="ctr">
                    <a:solidFill>
                      <a:srgbClr val="EFEFEF"/>
                    </a:solidFill>
                  </a:tcPr>
                </a:tc>
                <a:tc>
                  <a:txBody>
                    <a:bodyPr/>
                    <a:lstStyle/>
                    <a:p>
                      <a:pPr algn="ctr">
                        <a:defRPr sz="900">
                          <a:latin typeface="Montserrat"/>
                        </a:defRPr>
                      </a:pPr>
                      <a:r>
                        <a:rPr dirty="0"/>
                        <a:t>45</a:t>
                      </a:r>
                    </a:p>
                  </a:txBody>
                  <a:tcPr anchor="ctr">
                    <a:solidFill>
                      <a:srgbClr val="EFEFEF"/>
                    </a:solidFill>
                  </a:tcPr>
                </a:tc>
                <a:extLst>
                  <a:ext uri="{0D108BD9-81ED-4DB2-BD59-A6C34878D82A}">
                    <a16:rowId xmlns:a16="http://schemas.microsoft.com/office/drawing/2014/main" val="10004"/>
                  </a:ext>
                </a:extLst>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rPr lang="es-MX" dirty="0"/>
                        <a:t>698</a:t>
                      </a:r>
                      <a:endParaRPr dirty="0"/>
                    </a:p>
                  </a:txBody>
                  <a:tcPr anchor="ctr">
                    <a:solidFill>
                      <a:srgbClr val="D3E9E7"/>
                    </a:solidFill>
                  </a:tcPr>
                </a:tc>
                <a:tc>
                  <a:txBody>
                    <a:bodyPr/>
                    <a:lstStyle/>
                    <a:p>
                      <a:pPr algn="ctr">
                        <a:defRPr sz="900" b="1">
                          <a:solidFill>
                            <a:srgbClr val="006556"/>
                          </a:solidFill>
                          <a:latin typeface="Montserrat"/>
                        </a:defRPr>
                      </a:pPr>
                      <a:r>
                        <a:t>361</a:t>
                      </a:r>
                    </a:p>
                  </a:txBody>
                  <a:tcPr anchor="ctr">
                    <a:solidFill>
                      <a:srgbClr val="D3E9E7"/>
                    </a:solidFill>
                  </a:tcPr>
                </a:tc>
                <a:tc>
                  <a:txBody>
                    <a:bodyPr/>
                    <a:lstStyle/>
                    <a:p>
                      <a:pPr algn="ctr">
                        <a:defRPr sz="900" b="1">
                          <a:solidFill>
                            <a:srgbClr val="006556"/>
                          </a:solidFill>
                          <a:latin typeface="Montserrat"/>
                        </a:defRPr>
                      </a:pPr>
                      <a:r>
                        <a:t>48</a:t>
                      </a:r>
                    </a:p>
                  </a:txBody>
                  <a:tcPr anchor="ctr">
                    <a:solidFill>
                      <a:srgbClr val="D3E9E7"/>
                    </a:solidFill>
                  </a:tcPr>
                </a:tc>
                <a:tc>
                  <a:txBody>
                    <a:bodyPr/>
                    <a:lstStyle/>
                    <a:p>
                      <a:pPr algn="ctr">
                        <a:defRPr sz="900" b="1">
                          <a:solidFill>
                            <a:srgbClr val="006556"/>
                          </a:solidFill>
                          <a:latin typeface="Montserrat"/>
                        </a:defRPr>
                      </a:pPr>
                      <a:r>
                        <a:rPr dirty="0"/>
                        <a:t>2</a:t>
                      </a:r>
                      <a:r>
                        <a:rPr lang="es-MX" dirty="0"/>
                        <a:t>0</a:t>
                      </a:r>
                      <a:endParaRPr dirty="0"/>
                    </a:p>
                  </a:txBody>
                  <a:tcPr anchor="ctr">
                    <a:solidFill>
                      <a:srgbClr val="D3E9E7"/>
                    </a:solidFill>
                  </a:tcPr>
                </a:tc>
                <a:tc>
                  <a:txBody>
                    <a:bodyPr/>
                    <a:lstStyle/>
                    <a:p>
                      <a:pPr algn="ctr">
                        <a:defRPr sz="900" b="1">
                          <a:solidFill>
                            <a:srgbClr val="006556"/>
                          </a:solidFill>
                          <a:latin typeface="Montserrat"/>
                        </a:defRPr>
                      </a:pPr>
                      <a:r>
                        <a:rPr dirty="0"/>
                        <a:t>116</a:t>
                      </a:r>
                    </a:p>
                  </a:txBody>
                  <a:tcPr anchor="ctr">
                    <a:solidFill>
                      <a:srgbClr val="D3E9E7"/>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100800" y="9507600"/>
            <a:ext cx="7387200" cy="369332"/>
          </a:xfrm>
          <a:prstGeom prst="rect">
            <a:avLst/>
          </a:prstGeom>
          <a:noFill/>
        </p:spPr>
        <p:txBody>
          <a:bodyPr wrap="square" lIns="0" tIns="0" rIns="0" bIns="0">
            <a:spAutoFit/>
          </a:bodyPr>
          <a:lstStyle/>
          <a:p>
            <a:pPr algn="l">
              <a:defRPr sz="800">
                <a:solidFill>
                  <a:srgbClr val="FFFFFF"/>
                </a:solidFill>
                <a:latin typeface="Montserrat"/>
              </a:defRPr>
            </a:pPr>
            <a:r>
              <a:rPr dirty="0"/>
              <a:t>¹Incluye salas de </a:t>
            </a:r>
            <a:r>
              <a:rPr dirty="0" err="1"/>
              <a:t>quirófano</a:t>
            </a:r>
            <a:r>
              <a:rPr dirty="0"/>
              <a:t>, salas </a:t>
            </a:r>
            <a:r>
              <a:rPr dirty="0" err="1"/>
              <a:t>híbridas</a:t>
            </a:r>
            <a:r>
              <a:rPr dirty="0"/>
              <a:t> y salas </a:t>
            </a:r>
            <a:r>
              <a:rPr dirty="0" err="1"/>
              <a:t>mixtas</a:t>
            </a:r>
            <a:r>
              <a:rPr dirty="0"/>
              <a:t>, no </a:t>
            </a:r>
            <a:r>
              <a:rPr dirty="0" err="1"/>
              <a:t>considera</a:t>
            </a:r>
            <a:r>
              <a:rPr dirty="0"/>
              <a:t> salas de </a:t>
            </a:r>
            <a:r>
              <a:rPr dirty="0" err="1"/>
              <a:t>tococirugía</a:t>
            </a:r>
            <a:r>
              <a:rPr dirty="0"/>
              <a:t> y </a:t>
            </a:r>
            <a:r>
              <a:rPr dirty="0" err="1"/>
              <a:t>expulsión</a:t>
            </a:r>
            <a:r>
              <a:rPr dirty="0"/>
              <a:t>.</a:t>
            </a:r>
            <a:br>
              <a:rPr dirty="0"/>
            </a:br>
            <a:r>
              <a:rPr dirty="0"/>
              <a:t>Fuente: Cédula de </a:t>
            </a:r>
            <a:r>
              <a:rPr dirty="0" err="1"/>
              <a:t>actualización</a:t>
            </a:r>
            <a:r>
              <a:rPr dirty="0"/>
              <a:t> de variables </a:t>
            </a:r>
            <a:r>
              <a:rPr dirty="0" err="1"/>
              <a:t>seleccionados</a:t>
            </a:r>
            <a:r>
              <a:rPr dirty="0"/>
              <a:t> del IFU </a:t>
            </a:r>
            <a:r>
              <a:rPr dirty="0" err="1"/>
              <a:t>enviados</a:t>
            </a:r>
            <a:r>
              <a:rPr dirty="0"/>
              <a:t> </a:t>
            </a:r>
            <a:r>
              <a:rPr dirty="0" err="1"/>
              <a:t>por</a:t>
            </a:r>
            <a:r>
              <a:rPr dirty="0"/>
              <a:t> </a:t>
            </a:r>
            <a:r>
              <a:rPr dirty="0" err="1"/>
              <a:t>el</a:t>
            </a:r>
            <a:r>
              <a:rPr dirty="0"/>
              <a:t> OOAD.</a:t>
            </a:r>
            <a:br>
              <a:rPr dirty="0"/>
            </a:br>
            <a:r>
              <a:rPr dirty="0"/>
              <a:t>Corte de </a:t>
            </a:r>
            <a:r>
              <a:rPr dirty="0" err="1"/>
              <a:t>Información</a:t>
            </a:r>
            <a:r>
              <a:rPr dirty="0"/>
              <a:t>: ma</a:t>
            </a:r>
            <a:r>
              <a:rPr lang="es-MX" dirty="0"/>
              <a:t>yo</a:t>
            </a:r>
            <a:r>
              <a:rPr dirty="0"/>
              <a:t>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5" name="Grupo 4">
            <a:extLst>
              <a:ext uri="{FF2B5EF4-FFF2-40B4-BE49-F238E27FC236}">
                <a16:creationId xmlns:a16="http://schemas.microsoft.com/office/drawing/2014/main" id="{5EEAEDEB-8662-B2ED-CDAF-23FE54DB37D0}"/>
              </a:ext>
            </a:extLst>
          </p:cNvPr>
          <p:cNvGrpSpPr/>
          <p:nvPr/>
        </p:nvGrpSpPr>
        <p:grpSpPr>
          <a:xfrm>
            <a:off x="149075" y="3974223"/>
            <a:ext cx="7772400" cy="3339378"/>
            <a:chOff x="149075" y="5452152"/>
            <a:chExt cx="7772400" cy="3339378"/>
          </a:xfrm>
        </p:grpSpPr>
        <p:pic>
          <p:nvPicPr>
            <p:cNvPr id="2" name="Google Shape;271;g3d635d120e2_2_87" title="HGZ 86 URUAPAN.jpg">
              <a:extLst>
                <a:ext uri="{FF2B5EF4-FFF2-40B4-BE49-F238E27FC236}">
                  <a16:creationId xmlns:a16="http://schemas.microsoft.com/office/drawing/2014/main" id="{2288EA93-70A9-64C8-B438-1B46BA32A3AC}"/>
                </a:ext>
              </a:extLst>
            </p:cNvPr>
            <p:cNvPicPr preferRelativeResize="0"/>
            <p:nvPr/>
          </p:nvPicPr>
          <p:blipFill rotWithShape="1">
            <a:blip r:embed="rId4">
              <a:alphaModFix/>
            </a:blip>
            <a:srcRect l="1417" t="15479" r="44279" b="26090"/>
            <a:stretch/>
          </p:blipFill>
          <p:spPr>
            <a:xfrm>
              <a:off x="2565713" y="6232559"/>
              <a:ext cx="2401009" cy="1562332"/>
            </a:xfrm>
            <a:prstGeom prst="rect">
              <a:avLst/>
            </a:prstGeom>
            <a:noFill/>
            <a:ln>
              <a:noFill/>
            </a:ln>
            <a:effectLst>
              <a:outerShdw blurRad="114300" dist="57150" dir="10800000" algn="bl" rotWithShape="0">
                <a:srgbClr val="000000">
                  <a:alpha val="50000"/>
                </a:srgbClr>
              </a:outerShdw>
            </a:effectLst>
          </p:spPr>
        </p:pic>
        <p:sp>
          <p:nvSpPr>
            <p:cNvPr id="3" name="Google Shape;273;g3d635d120e2_2_87">
              <a:extLst>
                <a:ext uri="{FF2B5EF4-FFF2-40B4-BE49-F238E27FC236}">
                  <a16:creationId xmlns:a16="http://schemas.microsoft.com/office/drawing/2014/main" id="{FCD9118F-E270-11BA-3B2C-980F56AACEA2}"/>
                </a:ext>
              </a:extLst>
            </p:cNvPr>
            <p:cNvSpPr/>
            <p:nvPr/>
          </p:nvSpPr>
          <p:spPr>
            <a:xfrm>
              <a:off x="2988254" y="7808763"/>
              <a:ext cx="1936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a:t>
              </a:r>
              <a:endParaRPr sz="1100">
                <a:solidFill>
                  <a:srgbClr val="FFFFFF"/>
                </a:solidFill>
              </a:endParaRPr>
            </a:p>
          </p:txBody>
        </p:sp>
        <p:sp>
          <p:nvSpPr>
            <p:cNvPr id="4" name="Google Shape;274;g3d635d120e2_2_87">
              <a:extLst>
                <a:ext uri="{FF2B5EF4-FFF2-40B4-BE49-F238E27FC236}">
                  <a16:creationId xmlns:a16="http://schemas.microsoft.com/office/drawing/2014/main" id="{5336E88B-A52B-9017-FCD2-22FCAD5C50CA}"/>
                </a:ext>
              </a:extLst>
            </p:cNvPr>
            <p:cNvSpPr/>
            <p:nvPr/>
          </p:nvSpPr>
          <p:spPr>
            <a:xfrm>
              <a:off x="2565722" y="7808752"/>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1</a:t>
              </a:r>
              <a:endParaRPr>
                <a:solidFill>
                  <a:srgbClr val="FFFFFF"/>
                </a:solidFill>
                <a:latin typeface="Noto Sans Black"/>
                <a:ea typeface="Noto Sans Black"/>
                <a:cs typeface="Noto Sans Black"/>
                <a:sym typeface="Noto Sans Black"/>
              </a:endParaRPr>
            </a:p>
          </p:txBody>
        </p:sp>
        <p:sp>
          <p:nvSpPr>
            <p:cNvPr id="6" name="Google Shape;282;g3d635d120e2_2_87">
              <a:extLst>
                <a:ext uri="{FF2B5EF4-FFF2-40B4-BE49-F238E27FC236}">
                  <a16:creationId xmlns:a16="http://schemas.microsoft.com/office/drawing/2014/main" id="{0D5675C5-ADCF-57B9-7A0D-77F34DDB0A00}"/>
                </a:ext>
              </a:extLst>
            </p:cNvPr>
            <p:cNvSpPr txBox="1"/>
            <p:nvPr/>
          </p:nvSpPr>
          <p:spPr>
            <a:xfrm>
              <a:off x="149075" y="5452152"/>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a:solidFill>
                    <a:srgbClr val="006858"/>
                  </a:solidFill>
                  <a:latin typeface="Montserrat"/>
                  <a:ea typeface="Montserrat"/>
                  <a:cs typeface="Montserrat"/>
                  <a:sym typeface="Montserrat"/>
                </a:rPr>
                <a:t>Fortalecimiento de equipo médico</a:t>
              </a:r>
              <a:endParaRPr sz="1600" b="1">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a:solidFill>
                    <a:srgbClr val="006858"/>
                  </a:solidFill>
                  <a:latin typeface="Montserrat"/>
                  <a:ea typeface="Montserrat"/>
                  <a:cs typeface="Montserrat"/>
                  <a:sym typeface="Montserrat"/>
                </a:rPr>
                <a:t>Compra 2025-2026 equipo mayor  </a:t>
              </a:r>
              <a:endParaRPr sz="2300" b="1" i="0" u="none" strike="noStrike" cap="none">
                <a:solidFill>
                  <a:srgbClr val="006858"/>
                </a:solidFill>
                <a:latin typeface="Montserrat"/>
                <a:ea typeface="Montserrat"/>
                <a:cs typeface="Montserrat"/>
                <a:sym typeface="Montserrat"/>
              </a:endParaRPr>
            </a:p>
          </p:txBody>
        </p:sp>
        <p:sp>
          <p:nvSpPr>
            <p:cNvPr id="7" name="Google Shape;275;g3d635d120e2_2_87">
              <a:extLst>
                <a:ext uri="{FF2B5EF4-FFF2-40B4-BE49-F238E27FC236}">
                  <a16:creationId xmlns:a16="http://schemas.microsoft.com/office/drawing/2014/main" id="{35EEDBBB-C626-54A9-134F-C8BCFE390D61}"/>
                </a:ext>
              </a:extLst>
            </p:cNvPr>
            <p:cNvSpPr txBox="1"/>
            <p:nvPr/>
          </p:nvSpPr>
          <p:spPr>
            <a:xfrm>
              <a:off x="2511699" y="8146768"/>
              <a:ext cx="2323200" cy="644762"/>
            </a:xfrm>
            <a:prstGeom prst="rect">
              <a:avLst/>
            </a:prstGeom>
            <a:noFill/>
            <a:ln>
              <a:noFill/>
            </a:ln>
          </p:spPr>
          <p:txBody>
            <a:bodyPr spcFirstLastPara="1" wrap="square" lIns="91425" tIns="91425" rIns="91425" bIns="91425" anchor="t" anchorCtr="0">
              <a:spAutoFit/>
            </a:bodyPr>
            <a:lstStyle/>
            <a:p>
              <a:pPr marL="0" marR="63500" lvl="0" indent="0" algn="ctr" rtl="0">
                <a:lnSpc>
                  <a:spcPct val="115000"/>
                </a:lnSpc>
                <a:spcBef>
                  <a:spcPts val="0"/>
                </a:spcBef>
                <a:spcAft>
                  <a:spcPts val="0"/>
                </a:spcAft>
                <a:buNone/>
              </a:pPr>
              <a:r>
                <a:rPr lang="es" sz="1300">
                  <a:solidFill>
                    <a:srgbClr val="595959"/>
                  </a:solidFill>
                  <a:latin typeface="Montserrat"/>
                  <a:ea typeface="Montserrat"/>
                  <a:cs typeface="Montserrat"/>
                  <a:sym typeface="Montserrat"/>
                </a:rPr>
                <a:t>HGR 1 Querétaro</a:t>
              </a:r>
            </a:p>
            <a:p>
              <a:pPr marL="0" marR="63500" lvl="0" indent="0" algn="ctr" rtl="0">
                <a:lnSpc>
                  <a:spcPct val="115000"/>
                </a:lnSpc>
                <a:spcBef>
                  <a:spcPts val="0"/>
                </a:spcBef>
                <a:spcAft>
                  <a:spcPts val="0"/>
                </a:spcAft>
                <a:buNone/>
              </a:pPr>
              <a:r>
                <a:rPr lang="es" sz="1300" b="1">
                  <a:solidFill>
                    <a:srgbClr val="595959"/>
                  </a:solidFill>
                  <a:latin typeface="Montserrat"/>
                  <a:ea typeface="Montserrat"/>
                  <a:cs typeface="Montserrat"/>
                  <a:sym typeface="Montserrat"/>
                </a:rPr>
                <a:t>$4.3 mdp</a:t>
              </a:r>
              <a:endParaRPr sz="1300" b="1">
                <a:solidFill>
                  <a:srgbClr val="595959"/>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154" name="Table 153"/>
          <p:cNvGraphicFramePr>
            <a:graphicFrameLocks noGrp="1"/>
          </p:cNvGraphicFramePr>
          <p:nvPr>
            <p:extLst>
              <p:ext uri="{D42A27DB-BD31-4B8C-83A1-F6EECF244321}">
                <p14:modId xmlns:p14="http://schemas.microsoft.com/office/powerpoint/2010/main" val="773995559"/>
              </p:ext>
            </p:extLst>
          </p:nvPr>
        </p:nvGraphicFramePr>
        <p:xfrm>
          <a:off x="93600" y="1180800"/>
          <a:ext cx="7534799" cy="1722120"/>
        </p:xfrm>
        <a:graphic>
          <a:graphicData uri="http://schemas.openxmlformats.org/drawingml/2006/table">
            <a:tbl>
              <a:tblPr firstRow="1" bandRow="1">
                <a:tableStyleId>{5C22544A-7EE6-4342-B048-85BDC9FD1C3A}</a:tableStyleId>
              </a:tblPr>
              <a:tblGrid>
                <a:gridCol w="2192400">
                  <a:extLst>
                    <a:ext uri="{9D8B030D-6E8A-4147-A177-3AD203B41FA5}">
                      <a16:colId xmlns:a16="http://schemas.microsoft.com/office/drawing/2014/main" val="20000"/>
                    </a:ext>
                  </a:extLst>
                </a:gridCol>
                <a:gridCol w="943200">
                  <a:extLst>
                    <a:ext uri="{9D8B030D-6E8A-4147-A177-3AD203B41FA5}">
                      <a16:colId xmlns:a16="http://schemas.microsoft.com/office/drawing/2014/main" val="20001"/>
                    </a:ext>
                  </a:extLst>
                </a:gridCol>
                <a:gridCol w="925200">
                  <a:extLst>
                    <a:ext uri="{9D8B030D-6E8A-4147-A177-3AD203B41FA5}">
                      <a16:colId xmlns:a16="http://schemas.microsoft.com/office/drawing/2014/main" val="20002"/>
                    </a:ext>
                  </a:extLst>
                </a:gridCol>
                <a:gridCol w="896400">
                  <a:extLst>
                    <a:ext uri="{9D8B030D-6E8A-4147-A177-3AD203B41FA5}">
                      <a16:colId xmlns:a16="http://schemas.microsoft.com/office/drawing/2014/main" val="20003"/>
                    </a:ext>
                  </a:extLst>
                </a:gridCol>
                <a:gridCol w="525600">
                  <a:extLst>
                    <a:ext uri="{9D8B030D-6E8A-4147-A177-3AD203B41FA5}">
                      <a16:colId xmlns:a16="http://schemas.microsoft.com/office/drawing/2014/main" val="20004"/>
                    </a:ext>
                  </a:extLst>
                </a:gridCol>
                <a:gridCol w="1000799">
                  <a:extLst>
                    <a:ext uri="{9D8B030D-6E8A-4147-A177-3AD203B41FA5}">
                      <a16:colId xmlns:a16="http://schemas.microsoft.com/office/drawing/2014/main" val="20005"/>
                    </a:ext>
                  </a:extLst>
                </a:gridCol>
                <a:gridCol w="1051200">
                  <a:extLst>
                    <a:ext uri="{9D8B030D-6E8A-4147-A177-3AD203B41FA5}">
                      <a16:colId xmlns:a16="http://schemas.microsoft.com/office/drawing/2014/main" val="20006"/>
                    </a:ext>
                  </a:extLst>
                </a:gridCol>
              </a:tblGrid>
              <a:tr h="215999">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Aparatos de Tomografía</a:t>
                      </a:r>
                    </a:p>
                  </a:txBody>
                  <a:tcPr anchor="ctr">
                    <a:solidFill>
                      <a:srgbClr val="006455"/>
                    </a:solidFill>
                  </a:tcPr>
                </a:tc>
                <a:tc>
                  <a:txBody>
                    <a:bodyPr/>
                    <a:lstStyle/>
                    <a:p>
                      <a:pPr algn="ctr">
                        <a:defRPr sz="900" b="1">
                          <a:solidFill>
                            <a:srgbClr val="FFFFFF"/>
                          </a:solidFill>
                          <a:latin typeface="Montserrat"/>
                        </a:defRPr>
                      </a:pPr>
                      <a:r>
                        <a:t>Equipos de Resonancia Magnética</a:t>
                      </a:r>
                    </a:p>
                  </a:txBody>
                  <a:tcPr anchor="ctr">
                    <a:solidFill>
                      <a:srgbClr val="006455"/>
                    </a:solidFill>
                  </a:tcPr>
                </a:tc>
                <a:tc>
                  <a:txBody>
                    <a:bodyPr/>
                    <a:lstStyle/>
                    <a:p>
                      <a:pPr algn="ctr">
                        <a:defRPr sz="900" b="1">
                          <a:solidFill>
                            <a:srgbClr val="FFFFFF"/>
                          </a:solidFill>
                          <a:latin typeface="Montserrat"/>
                        </a:defRPr>
                      </a:pPr>
                      <a:r>
                        <a:t>Mastógrafo</a:t>
                      </a:r>
                    </a:p>
                  </a:txBody>
                  <a:tcPr anchor="ctr">
                    <a:solidFill>
                      <a:srgbClr val="006455"/>
                    </a:solidFill>
                  </a:tcPr>
                </a:tc>
                <a:tc>
                  <a:txBody>
                    <a:bodyPr/>
                    <a:lstStyle/>
                    <a:p>
                      <a:pPr algn="ctr">
                        <a:defRPr sz="900" b="1">
                          <a:solidFill>
                            <a:srgbClr val="FFFFFF"/>
                          </a:solidFill>
                          <a:latin typeface="Montserrat"/>
                        </a:defRPr>
                      </a:pPr>
                      <a:r>
                        <a:t>Arcos en C</a:t>
                      </a:r>
                    </a:p>
                  </a:txBody>
                  <a:tcPr anchor="ctr">
                    <a:solidFill>
                      <a:srgbClr val="006455"/>
                    </a:solidFill>
                  </a:tcPr>
                </a:tc>
                <a:tc>
                  <a:txBody>
                    <a:bodyPr/>
                    <a:lstStyle/>
                    <a:p>
                      <a:pPr algn="ctr">
                        <a:defRPr sz="900" b="1">
                          <a:solidFill>
                            <a:srgbClr val="FFFFFF"/>
                          </a:solidFill>
                          <a:latin typeface="Montserrat"/>
                        </a:defRPr>
                      </a:pPr>
                      <a:r>
                        <a:t>Máquinas de Hemodiálisis</a:t>
                      </a:r>
                    </a:p>
                  </a:txBody>
                  <a:tcPr anchor="ctr">
                    <a:solidFill>
                      <a:srgbClr val="006455"/>
                    </a:solidFill>
                  </a:tcPr>
                </a:tc>
                <a:tc>
                  <a:txBody>
                    <a:bodyPr/>
                    <a:lstStyle/>
                    <a:p>
                      <a:pPr algn="ctr">
                        <a:defRPr sz="900" b="1">
                          <a:solidFill>
                            <a:srgbClr val="FFFFFF"/>
                          </a:solidFill>
                          <a:latin typeface="Montserrat"/>
                        </a:defRPr>
                      </a:pPr>
                      <a:r>
                        <a:t>Sala de Hemodinamia</a:t>
                      </a:r>
                    </a:p>
                  </a:txBody>
                  <a:tcPr anchor="ctr">
                    <a:solidFill>
                      <a:srgbClr val="006455"/>
                    </a:solidFill>
                  </a:tcPr>
                </a:tc>
                <a:extLst>
                  <a:ext uri="{0D108BD9-81ED-4DB2-BD59-A6C34878D82A}">
                    <a16:rowId xmlns:a16="http://schemas.microsoft.com/office/drawing/2014/main" val="10000"/>
                  </a:ext>
                </a:extLst>
              </a:tr>
              <a:tr h="215999">
                <a:tc>
                  <a:txBody>
                    <a:bodyPr/>
                    <a:lstStyle/>
                    <a:p>
                      <a:pPr algn="l">
                        <a:defRPr sz="1000">
                          <a:latin typeface="Montserrat"/>
                        </a:defRPr>
                      </a:pPr>
                      <a:r>
                        <a:t>HGZ 3 S. Juan del Río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1"/>
                  </a:ext>
                </a:extLst>
              </a:tr>
              <a:tr h="215999">
                <a:tc>
                  <a:txBody>
                    <a:bodyPr/>
                    <a:lstStyle/>
                    <a:p>
                      <a:pPr algn="l">
                        <a:defRPr sz="1000">
                          <a:latin typeface="Montserrat"/>
                        </a:defRPr>
                      </a:pPr>
                      <a:r>
                        <a:t>UMAA 1 Querétaro (Aut)</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extLst>
                  <a:ext uri="{0D108BD9-81ED-4DB2-BD59-A6C34878D82A}">
                    <a16:rowId xmlns:a16="http://schemas.microsoft.com/office/drawing/2014/main" val="10002"/>
                  </a:ext>
                </a:extLst>
              </a:tr>
              <a:tr h="215999">
                <a:tc>
                  <a:txBody>
                    <a:bodyPr/>
                    <a:lstStyle/>
                    <a:p>
                      <a:pPr algn="l">
                        <a:defRPr sz="1000">
                          <a:latin typeface="Montserrat"/>
                        </a:defRPr>
                      </a:pPr>
                      <a:r>
                        <a:t>HGR 1 Querétaro</a:t>
                      </a:r>
                    </a:p>
                  </a:txBody>
                  <a:tcPr>
                    <a:solidFill>
                      <a:srgbClr val="FFFFFF"/>
                    </a:solidFill>
                  </a:tcPr>
                </a:tc>
                <a:tc>
                  <a:txBody>
                    <a:bodyPr/>
                    <a:lstStyle/>
                    <a:p>
                      <a:pPr algn="ctr">
                        <a:defRPr sz="1000">
                          <a:latin typeface="Montserrat"/>
                        </a:defRPr>
                      </a:pPr>
                      <a:r>
                        <a:rPr dirty="0"/>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rPr dirty="0"/>
                        <a:t>1</a:t>
                      </a:r>
                    </a:p>
                  </a:txBody>
                  <a:tcPr>
                    <a:solidFill>
                      <a:srgbClr val="E6D194"/>
                    </a:solidFill>
                  </a:tcPr>
                </a:tc>
                <a:tc>
                  <a:txBody>
                    <a:bodyPr/>
                    <a:lstStyle/>
                    <a:p>
                      <a:pPr algn="ctr">
                        <a:defRPr sz="1000">
                          <a:latin typeface="Montserrat"/>
                        </a:defRPr>
                      </a:pPr>
                      <a:r>
                        <a:t>4</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extLst>
                  <a:ext uri="{0D108BD9-81ED-4DB2-BD59-A6C34878D82A}">
                    <a16:rowId xmlns:a16="http://schemas.microsoft.com/office/drawing/2014/main" val="10003"/>
                  </a:ext>
                </a:extLst>
              </a:tr>
              <a:tr h="215999">
                <a:tc>
                  <a:txBody>
                    <a:bodyPr/>
                    <a:lstStyle/>
                    <a:p>
                      <a:pPr algn="l">
                        <a:defRPr sz="1000">
                          <a:latin typeface="Montserrat"/>
                        </a:defRPr>
                      </a:pPr>
                      <a:r>
                        <a:t>HGR 2 El Marqués</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3</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extLst>
                  <a:ext uri="{0D108BD9-81ED-4DB2-BD59-A6C34878D82A}">
                    <a16:rowId xmlns:a16="http://schemas.microsoft.com/office/drawing/2014/main" val="10004"/>
                  </a:ext>
                </a:extLst>
              </a:tr>
              <a:tr h="216004">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rPr dirty="0"/>
                        <a:t>1</a:t>
                      </a:r>
                    </a:p>
                  </a:txBody>
                  <a:tcPr>
                    <a:solidFill>
                      <a:srgbClr val="D3E9E7"/>
                    </a:solidFill>
                  </a:tcPr>
                </a:tc>
                <a:extLst>
                  <a:ext uri="{0D108BD9-81ED-4DB2-BD59-A6C34878D82A}">
                    <a16:rowId xmlns:a16="http://schemas.microsoft.com/office/drawing/2014/main" val="10005"/>
                  </a:ext>
                </a:extLst>
              </a:tr>
            </a:tbl>
          </a:graphicData>
        </a:graphic>
      </p:graphicFrame>
      <p:sp>
        <p:nvSpPr>
          <p:cNvPr id="155" name="Rectangle 154"/>
          <p:cNvSpPr/>
          <p:nvPr/>
        </p:nvSpPr>
        <p:spPr>
          <a:xfrm>
            <a:off x="205199" y="96696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406799" y="9568800"/>
            <a:ext cx="7149600" cy="461665"/>
          </a:xfrm>
          <a:prstGeom prst="rect">
            <a:avLst/>
          </a:prstGeom>
          <a:noFill/>
        </p:spPr>
        <p:txBody>
          <a:bodyPr wrap="square">
            <a:spAutoFit/>
          </a:bodyPr>
          <a:lstStyle/>
          <a:p>
            <a:pPr>
              <a:defRPr sz="800">
                <a:solidFill>
                  <a:srgbClr val="FFFFFF"/>
                </a:solidFill>
                <a:latin typeface="Montserrat"/>
              </a:defRPr>
            </a:pPr>
            <a:r>
              <a:rPr dirty="0" err="1"/>
              <a:t>Proyectos</a:t>
            </a:r>
            <a:r>
              <a:rPr dirty="0"/>
              <a:t> de </a:t>
            </a:r>
            <a:r>
              <a:rPr dirty="0" err="1"/>
              <a:t>implementación</a:t>
            </a:r>
            <a:r>
              <a:rPr dirty="0"/>
              <a:t>/</a:t>
            </a:r>
            <a:r>
              <a:rPr dirty="0" err="1"/>
              <a:t>sustitución</a:t>
            </a:r>
            <a:r>
              <a:rPr dirty="0"/>
              <a:t> 2019-2025. </a:t>
            </a:r>
            <a:r>
              <a:rPr dirty="0" err="1"/>
              <a:t>Incluye</a:t>
            </a:r>
            <a:r>
              <a:rPr dirty="0"/>
              <a:t> </a:t>
            </a:r>
            <a:r>
              <a:rPr dirty="0" err="1"/>
              <a:t>equipo</a:t>
            </a:r>
            <a:r>
              <a:rPr dirty="0"/>
              <a:t> de la </a:t>
            </a:r>
            <a:r>
              <a:rPr dirty="0" err="1"/>
              <a:t>compra</a:t>
            </a:r>
            <a:r>
              <a:rPr dirty="0"/>
              <a:t> 2025-2026.</a:t>
            </a:r>
            <a:br>
              <a:rPr dirty="0"/>
            </a:br>
            <a:r>
              <a:rPr dirty="0"/>
              <a:t>Fuente: Cédula de </a:t>
            </a:r>
            <a:r>
              <a:rPr dirty="0" err="1"/>
              <a:t>actualización</a:t>
            </a:r>
            <a:r>
              <a:rPr dirty="0"/>
              <a:t> de variables </a:t>
            </a:r>
            <a:r>
              <a:rPr dirty="0" err="1"/>
              <a:t>seleccionadas</a:t>
            </a:r>
            <a:r>
              <a:rPr dirty="0"/>
              <a:t> del IFU, </a:t>
            </a:r>
            <a:r>
              <a:rPr dirty="0" err="1"/>
              <a:t>enviadas</a:t>
            </a:r>
            <a:r>
              <a:rPr dirty="0"/>
              <a:t> </a:t>
            </a:r>
            <a:r>
              <a:rPr dirty="0" err="1"/>
              <a:t>por</a:t>
            </a:r>
            <a:r>
              <a:rPr dirty="0"/>
              <a:t> </a:t>
            </a:r>
            <a:r>
              <a:rPr dirty="0" err="1"/>
              <a:t>el</a:t>
            </a:r>
            <a:r>
              <a:rPr dirty="0"/>
              <a:t> OOAD.</a:t>
            </a:r>
            <a:br>
              <a:rPr dirty="0"/>
            </a:br>
            <a:r>
              <a:rPr dirty="0"/>
              <a:t>Corte de </a:t>
            </a:r>
            <a:r>
              <a:rPr dirty="0" err="1"/>
              <a:t>información</a:t>
            </a:r>
            <a:r>
              <a:rPr dirty="0"/>
              <a:t>: ma</a:t>
            </a:r>
            <a:r>
              <a:rPr lang="es-MX" dirty="0"/>
              <a:t>yo</a:t>
            </a:r>
            <a:r>
              <a:rPr dirty="0"/>
              <a:t>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292847347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Resumen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B3238C87-67CB-A792-44F9-BEB7AACCF1B6}"/>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Resultados 2025</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24DBA245-D0F2-5439-3D4E-406757F4198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CB93BA46-99FC-F8F4-980E-6D1E57E3DAB9}"/>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93451C3C-D474-8429-BEA1-D4D7C6B2EBA2}"/>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7" name="CuadroTexto 6">
            <a:extLst>
              <a:ext uri="{FF2B5EF4-FFF2-40B4-BE49-F238E27FC236}">
                <a16:creationId xmlns:a16="http://schemas.microsoft.com/office/drawing/2014/main" id="{F3F70D3E-ED13-9419-AB91-37DC4C86D4FF}"/>
              </a:ext>
            </a:extLst>
          </p:cNvPr>
          <p:cNvSpPr txBox="1"/>
          <p:nvPr/>
        </p:nvSpPr>
        <p:spPr>
          <a:xfrm>
            <a:off x="5064096" y="6510000"/>
            <a:ext cx="1930400" cy="738664"/>
          </a:xfrm>
          <a:prstGeom prst="rect">
            <a:avLst/>
          </a:prstGeom>
          <a:noFill/>
        </p:spPr>
        <p:txBody>
          <a:bodyPr wrap="square" rtlCol="0">
            <a:spAutoFit/>
          </a:bodyPr>
          <a:lstStyle/>
          <a:p>
            <a:pPr algn="ctr"/>
            <a:r>
              <a:rPr lang="es-ES" sz="2100" b="1">
                <a:solidFill>
                  <a:schemeClr val="tx1">
                    <a:lumMod val="75000"/>
                    <a:lumOff val="25000"/>
                  </a:schemeClr>
                </a:solidFill>
              </a:rPr>
              <a:t>Consultas Especialidad</a:t>
            </a:r>
            <a:endParaRPr lang="es-MX" sz="2100" b="1">
              <a:solidFill>
                <a:schemeClr val="tx1">
                  <a:lumMod val="75000"/>
                  <a:lumOff val="25000"/>
                </a:schemeClr>
              </a:solidFill>
            </a:endParaRPr>
          </a:p>
        </p:txBody>
      </p:sp>
      <p:sp>
        <p:nvSpPr>
          <p:cNvPr id="10" name="CuadroTexto 6">
            <a:extLst>
              <a:ext uri="{FF2B5EF4-FFF2-40B4-BE49-F238E27FC236}">
                <a16:creationId xmlns:a16="http://schemas.microsoft.com/office/drawing/2014/main" id="{4D1471DF-3C99-3D8D-BCEB-504F0C6A73F8}"/>
              </a:ext>
            </a:extLst>
          </p:cNvPr>
          <p:cNvSpPr txBox="1"/>
          <p:nvPr/>
        </p:nvSpPr>
        <p:spPr>
          <a:xfrm>
            <a:off x="5064096" y="8117456"/>
            <a:ext cx="1930400" cy="415498"/>
          </a:xfrm>
          <a:prstGeom prst="rect">
            <a:avLst/>
          </a:prstGeom>
          <a:noFill/>
        </p:spPr>
        <p:txBody>
          <a:bodyPr wrap="square" rtlCol="0">
            <a:spAutoFit/>
          </a:bodyPr>
          <a:lstStyle/>
          <a:p>
            <a:pPr algn="ctr"/>
            <a:r>
              <a:rPr lang="es-ES" sz="2100" b="1">
                <a:solidFill>
                  <a:schemeClr val="tx1">
                    <a:lumMod val="75000"/>
                    <a:lumOff val="25000"/>
                  </a:schemeClr>
                </a:solidFill>
              </a:rPr>
              <a:t>Cirugías</a:t>
            </a:r>
            <a:endParaRPr lang="es-MX" sz="2100" b="1">
              <a:solidFill>
                <a:schemeClr val="tx1">
                  <a:lumMod val="75000"/>
                  <a:lumOff val="25000"/>
                </a:schemeClr>
              </a:solidFill>
            </a:endParaRPr>
          </a:p>
        </p:txBody>
      </p:sp>
      <p:sp>
        <p:nvSpPr>
          <p:cNvPr id="12" name="CuadroTexto 8">
            <a:extLst>
              <a:ext uri="{FF2B5EF4-FFF2-40B4-BE49-F238E27FC236}">
                <a16:creationId xmlns:a16="http://schemas.microsoft.com/office/drawing/2014/main" id="{E5090D90-A249-6F81-BEC0-306A16650C94}"/>
              </a:ext>
            </a:extLst>
          </p:cNvPr>
          <p:cNvSpPr txBox="1"/>
          <p:nvPr/>
        </p:nvSpPr>
        <p:spPr>
          <a:xfrm>
            <a:off x="4701239" y="4744510"/>
            <a:ext cx="2656114" cy="738664"/>
          </a:xfrm>
          <a:prstGeom prst="rect">
            <a:avLst/>
          </a:prstGeom>
          <a:noFill/>
        </p:spPr>
        <p:txBody>
          <a:bodyPr wrap="square" rtlCol="0">
            <a:spAutoFit/>
          </a:bodyPr>
          <a:lstStyle/>
          <a:p>
            <a:pPr algn="ctr"/>
            <a:r>
              <a:rPr lang="es-ES" sz="2100" b="1">
                <a:solidFill>
                  <a:schemeClr val="tx1">
                    <a:lumMod val="75000"/>
                    <a:lumOff val="25000"/>
                  </a:schemeClr>
                </a:solidFill>
              </a:rPr>
              <a:t>Consultas Medicina Familiar</a:t>
            </a:r>
            <a:endParaRPr lang="es-MX" sz="2100" b="1">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32" name="TextBox 231"/>
          <p:cNvSpPr txBox="1"/>
          <p:nvPr/>
        </p:nvSpPr>
        <p:spPr>
          <a:xfrm>
            <a:off x="176400" y="9565200"/>
            <a:ext cx="4680000" cy="399600"/>
          </a:xfrm>
          <a:prstGeom prst="rect">
            <a:avLst/>
          </a:prstGeom>
          <a:noFill/>
        </p:spPr>
        <p:txBody>
          <a:bodyPr wrap="square" lIns="0" tIns="0" rIns="0" bIns="0">
            <a:spAutoFit/>
          </a:bodyPr>
          <a:lstStyle/>
          <a:p>
            <a:pPr algn="l">
              <a:defRPr sz="800">
                <a:solidFill>
                  <a:srgbClr val="FFFFFF"/>
                </a:solidFill>
                <a:latin typeface="Montserrat"/>
              </a:defRPr>
            </a:pPr>
            <a:r>
              <a:t>Corte de información: semana 24, 7 junio 2026</a:t>
            </a:r>
            <a:br/>
            <a:r>
              <a:t>¹Las consultas de medicina familiar incluyen los hospitales con MF.</a:t>
            </a:r>
          </a:p>
        </p:txBody>
      </p:sp>
      <p:sp>
        <p:nvSpPr>
          <p:cNvPr id="233" name="TextBox 232"/>
          <p:cNvSpPr txBox="1"/>
          <p:nvPr/>
        </p:nvSpPr>
        <p:spPr>
          <a:xfrm>
            <a:off x="5270400" y="7488000"/>
            <a:ext cx="1515600" cy="540000"/>
          </a:xfrm>
          <a:prstGeom prst="rect">
            <a:avLst/>
          </a:prstGeom>
          <a:noFill/>
        </p:spPr>
        <p:txBody>
          <a:bodyPr wrap="none">
            <a:spAutoFit/>
          </a:bodyPr>
          <a:lstStyle/>
          <a:p>
            <a:pPr algn="ctr">
              <a:defRPr sz="2500" b="1">
                <a:solidFill>
                  <a:srgbClr val="9F2241"/>
                </a:solidFill>
                <a:latin typeface="Montserrat"/>
              </a:defRPr>
            </a:pPr>
            <a:r>
              <a:t>+4,035</a:t>
            </a:r>
          </a:p>
        </p:txBody>
      </p:sp>
      <p:sp>
        <p:nvSpPr>
          <p:cNvPr id="234" name="TextBox 233"/>
          <p:cNvSpPr txBox="1"/>
          <p:nvPr/>
        </p:nvSpPr>
        <p:spPr>
          <a:xfrm>
            <a:off x="5270400" y="4233600"/>
            <a:ext cx="1515600" cy="540000"/>
          </a:xfrm>
          <a:prstGeom prst="rect">
            <a:avLst/>
          </a:prstGeom>
          <a:noFill/>
        </p:spPr>
        <p:txBody>
          <a:bodyPr wrap="none">
            <a:spAutoFit/>
          </a:bodyPr>
          <a:lstStyle/>
          <a:p>
            <a:pPr algn="ctr">
              <a:defRPr sz="2500" b="1">
                <a:solidFill>
                  <a:srgbClr val="9F2241"/>
                </a:solidFill>
                <a:latin typeface="Montserrat"/>
              </a:defRPr>
            </a:pPr>
            <a:r>
              <a:t>+314,716</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+124,547</a:t>
            </a:r>
          </a:p>
        </p:txBody>
      </p:sp>
      <p:graphicFrame>
        <p:nvGraphicFramePr>
          <p:cNvPr id="236" name="Table 235"/>
          <p:cNvGraphicFramePr>
            <a:graphicFrameLocks noGrp="1"/>
          </p:cNvGraphicFramePr>
          <p:nvPr/>
        </p:nvGraphicFramePr>
        <p:xfrm>
          <a:off x="144000" y="1620000"/>
          <a:ext cx="7469999" cy="1828080"/>
        </p:xfrm>
        <a:graphic>
          <a:graphicData uri="http://schemas.openxmlformats.org/drawingml/2006/table">
            <a:tbl>
              <a:tblPr firstRow="1" bandRow="1">
                <a:tableStyleId>{5C22544A-7EE6-4342-B048-85BDC9FD1C3A}</a:tableStyleId>
              </a:tblPr>
              <a:tblGrid>
                <a:gridCol w="2134800">
                  <a:extLst>
                    <a:ext uri="{9D8B030D-6E8A-4147-A177-3AD203B41FA5}">
                      <a16:colId xmlns:a16="http://schemas.microsoft.com/office/drawing/2014/main" val="20000"/>
                    </a:ext>
                  </a:extLst>
                </a:gridCol>
                <a:gridCol w="1007999">
                  <a:extLst>
                    <a:ext uri="{9D8B030D-6E8A-4147-A177-3AD203B41FA5}">
                      <a16:colId xmlns:a16="http://schemas.microsoft.com/office/drawing/2014/main" val="20001"/>
                    </a:ext>
                  </a:extLst>
                </a:gridCol>
                <a:gridCol w="1188000">
                  <a:extLst>
                    <a:ext uri="{9D8B030D-6E8A-4147-A177-3AD203B41FA5}">
                      <a16:colId xmlns:a16="http://schemas.microsoft.com/office/drawing/2014/main" val="20002"/>
                    </a:ext>
                  </a:extLst>
                </a:gridCol>
                <a:gridCol w="1098000">
                  <a:extLst>
                    <a:ext uri="{9D8B030D-6E8A-4147-A177-3AD203B41FA5}">
                      <a16:colId xmlns:a16="http://schemas.microsoft.com/office/drawing/2014/main" val="20003"/>
                    </a:ext>
                  </a:extLst>
                </a:gridCol>
                <a:gridCol w="1098000">
                  <a:extLst>
                    <a:ext uri="{9D8B030D-6E8A-4147-A177-3AD203B41FA5}">
                      <a16:colId xmlns:a16="http://schemas.microsoft.com/office/drawing/2014/main" val="20004"/>
                    </a:ext>
                  </a:extLst>
                </a:gridCol>
                <a:gridCol w="943200">
                  <a:extLst>
                    <a:ext uri="{9D8B030D-6E8A-4147-A177-3AD203B41FA5}">
                      <a16:colId xmlns:a16="http://schemas.microsoft.com/office/drawing/2014/main" val="20005"/>
                    </a:ext>
                  </a:extLst>
                </a:gridCol>
              </a:tblGrid>
              <a:tr h="396000">
                <a:tc>
                  <a:txBody>
                    <a:bodyPr/>
                    <a:lstStyle/>
                    <a:p>
                      <a:pPr algn="ctr">
                        <a:defRPr sz="1200" b="1">
                          <a:solidFill>
                            <a:srgbClr val="FFFFFF"/>
                          </a:solidFill>
                          <a:latin typeface="Montserrat"/>
                        </a:defRPr>
                      </a:pPr>
                      <a:r>
                        <a:t>Indicador</a:t>
                      </a:r>
                    </a:p>
                  </a:txBody>
                  <a:tcPr anchor="ctr">
                    <a:solidFill>
                      <a:srgbClr val="006455"/>
                    </a:solidFill>
                  </a:tcPr>
                </a:tc>
                <a:tc>
                  <a:txBody>
                    <a:bodyPr/>
                    <a:lstStyle/>
                    <a:p>
                      <a:pPr algn="ctr">
                        <a:defRPr sz="1200" b="1">
                          <a:solidFill>
                            <a:srgbClr val="FFFFFF"/>
                          </a:solidFill>
                          <a:latin typeface="Montserrat"/>
                        </a:defRPr>
                      </a:pPr>
                      <a:r>
                        <a:t>2025</a:t>
                      </a:r>
                    </a:p>
                  </a:txBody>
                  <a:tcPr anchor="ctr">
                    <a:solidFill>
                      <a:srgbClr val="006455"/>
                    </a:solidFill>
                  </a:tcPr>
                </a:tc>
                <a:tc>
                  <a:txBody>
                    <a:bodyPr/>
                    <a:lstStyle/>
                    <a:p>
                      <a:pPr algn="ctr">
                        <a:defRPr sz="1200" b="1">
                          <a:solidFill>
                            <a:srgbClr val="FFFFFF"/>
                          </a:solidFill>
                          <a:latin typeface="Montserrat"/>
                        </a:defRPr>
                      </a:pPr>
                      <a:r>
                        <a:t>Incremento 2024 vs 2025</a:t>
                      </a:r>
                    </a:p>
                  </a:txBody>
                  <a:tcPr anchor="ctr">
                    <a:solidFill>
                      <a:srgbClr val="006455"/>
                    </a:solidFill>
                  </a:tcPr>
                </a:tc>
                <a:tc>
                  <a:txBody>
                    <a:bodyPr/>
                    <a:lstStyle/>
                    <a:p>
                      <a:pPr algn="ctr">
                        <a:defRPr sz="1200" b="1">
                          <a:solidFill>
                            <a:srgbClr val="FFFFFF"/>
                          </a:solidFill>
                          <a:latin typeface="Montserrat"/>
                        </a:defRPr>
                      </a:pPr>
                      <a:r>
                        <a:t>Avance 2026</a:t>
                      </a:r>
                    </a:p>
                  </a:txBody>
                  <a:tcPr anchor="ctr">
                    <a:solidFill>
                      <a:srgbClr val="980000"/>
                    </a:solidFill>
                  </a:tcPr>
                </a:tc>
                <a:tc>
                  <a:txBody>
                    <a:bodyPr/>
                    <a:lstStyle/>
                    <a:p>
                      <a:pPr algn="ctr">
                        <a:defRPr sz="1200" b="1">
                          <a:solidFill>
                            <a:srgbClr val="FFFFFF"/>
                          </a:solidFill>
                          <a:latin typeface="Montserrat"/>
                        </a:defRPr>
                      </a:pPr>
                      <a:r>
                        <a:t>Meta 2026</a:t>
                      </a:r>
                    </a:p>
                  </a:txBody>
                  <a:tcPr anchor="ctr">
                    <a:solidFill>
                      <a:srgbClr val="980000"/>
                    </a:solidFill>
                  </a:tcPr>
                </a:tc>
                <a:tc>
                  <a:txBody>
                    <a:bodyPr/>
                    <a:lstStyle/>
                    <a:p>
                      <a:pPr algn="ctr">
                        <a:defRPr sz="1200" b="1">
                          <a:solidFill>
                            <a:srgbClr val="FFFFFF"/>
                          </a:solidFill>
                          <a:latin typeface="Montserrat"/>
                        </a:defRPr>
                      </a:pPr>
                      <a:r>
                        <a:t>% avance anual</a:t>
                      </a:r>
                    </a:p>
                  </a:txBody>
                  <a:tcPr anchor="ctr">
                    <a:solidFill>
                      <a:srgbClr val="980000"/>
                    </a:solidFill>
                  </a:tcPr>
                </a:tc>
                <a:extLst>
                  <a:ext uri="{0D108BD9-81ED-4DB2-BD59-A6C34878D82A}">
                    <a16:rowId xmlns:a16="http://schemas.microsoft.com/office/drawing/2014/main" val="10000"/>
                  </a:ext>
                </a:extLst>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2,361,256</a:t>
                      </a:r>
                    </a:p>
                  </a:txBody>
                  <a:tcPr marL="0" marR="0" marT="0" marB="0" anchor="ctr">
                    <a:solidFill>
                      <a:srgbClr val="FFFFFF"/>
                    </a:solidFill>
                  </a:tcPr>
                </a:tc>
                <a:tc>
                  <a:txBody>
                    <a:bodyPr/>
                    <a:lstStyle/>
                    <a:p>
                      <a:pPr algn="ctr">
                        <a:defRPr sz="1000">
                          <a:solidFill>
                            <a:srgbClr val="404040"/>
                          </a:solidFill>
                          <a:latin typeface="Montserrat"/>
                        </a:defRPr>
                      </a:pPr>
                      <a:r>
                        <a:t>314,716</a:t>
                      </a:r>
                    </a:p>
                  </a:txBody>
                  <a:tcPr marL="0" marR="0" marT="0" marB="0" anchor="ctr">
                    <a:solidFill>
                      <a:srgbClr val="FFFFFF"/>
                    </a:solidFill>
                  </a:tcPr>
                </a:tc>
                <a:tc>
                  <a:txBody>
                    <a:bodyPr/>
                    <a:lstStyle/>
                    <a:p>
                      <a:pPr algn="ctr">
                        <a:defRPr sz="1000" b="1">
                          <a:solidFill>
                            <a:srgbClr val="980000"/>
                          </a:solidFill>
                          <a:latin typeface="Montserrat"/>
                        </a:defRPr>
                      </a:pPr>
                      <a:r>
                        <a:t>1,068,379</a:t>
                      </a:r>
                    </a:p>
                  </a:txBody>
                  <a:tcPr marL="0" marR="0" marT="0" marB="0" anchor="ctr">
                    <a:solidFill>
                      <a:srgbClr val="ECD3D9"/>
                    </a:solidFill>
                  </a:tcPr>
                </a:tc>
                <a:tc>
                  <a:txBody>
                    <a:bodyPr/>
                    <a:lstStyle/>
                    <a:p>
                      <a:pPr algn="ctr">
                        <a:defRPr sz="1000" b="1">
                          <a:solidFill>
                            <a:srgbClr val="980000"/>
                          </a:solidFill>
                          <a:latin typeface="Montserrat"/>
                        </a:defRPr>
                      </a:pPr>
                      <a:r>
                        <a:t>2,371,808</a:t>
                      </a:r>
                    </a:p>
                  </a:txBody>
                  <a:tcPr marL="0" marR="0" marT="0" marB="0" anchor="ctr">
                    <a:solidFill>
                      <a:srgbClr val="ECD3D9"/>
                    </a:solidFill>
                  </a:tcPr>
                </a:tc>
                <a:tc>
                  <a:txBody>
                    <a:bodyPr/>
                    <a:lstStyle/>
                    <a:p>
                      <a:pPr algn="ctr">
                        <a:defRPr sz="1000" b="1">
                          <a:solidFill>
                            <a:srgbClr val="980000"/>
                          </a:solidFill>
                          <a:latin typeface="Montserrat"/>
                        </a:defRPr>
                      </a:pPr>
                      <a:r>
                        <a:t>45.0%</a:t>
                      </a:r>
                    </a:p>
                  </a:txBody>
                  <a:tcPr marL="0" marR="0" marT="0" marB="0" anchor="ctr">
                    <a:solidFill>
                      <a:srgbClr val="ECD3D9"/>
                    </a:solidFill>
                  </a:tcPr>
                </a:tc>
                <a:extLst>
                  <a:ext uri="{0D108BD9-81ED-4DB2-BD59-A6C34878D82A}">
                    <a16:rowId xmlns:a16="http://schemas.microsoft.com/office/drawing/2014/main" val="10001"/>
                  </a:ext>
                </a:extLst>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620,528</a:t>
                      </a:r>
                    </a:p>
                  </a:txBody>
                  <a:tcPr marL="0" marR="0" marT="0" marB="0" anchor="ctr">
                    <a:solidFill>
                      <a:srgbClr val="EFEFEF"/>
                    </a:solidFill>
                  </a:tcPr>
                </a:tc>
                <a:tc>
                  <a:txBody>
                    <a:bodyPr/>
                    <a:lstStyle/>
                    <a:p>
                      <a:pPr algn="ctr">
                        <a:defRPr sz="1000">
                          <a:solidFill>
                            <a:srgbClr val="404040"/>
                          </a:solidFill>
                          <a:latin typeface="Montserrat"/>
                        </a:defRPr>
                      </a:pPr>
                      <a:r>
                        <a:t>124,547</a:t>
                      </a:r>
                    </a:p>
                  </a:txBody>
                  <a:tcPr marL="0" marR="0" marT="0" marB="0" anchor="ctr">
                    <a:solidFill>
                      <a:srgbClr val="EFEFEF"/>
                    </a:solidFill>
                  </a:tcPr>
                </a:tc>
                <a:tc>
                  <a:txBody>
                    <a:bodyPr/>
                    <a:lstStyle/>
                    <a:p>
                      <a:pPr algn="ctr">
                        <a:defRPr sz="1000" b="1">
                          <a:solidFill>
                            <a:srgbClr val="980000"/>
                          </a:solidFill>
                          <a:latin typeface="Montserrat"/>
                        </a:defRPr>
                      </a:pPr>
                      <a:r>
                        <a:t>318,358</a:t>
                      </a:r>
                    </a:p>
                  </a:txBody>
                  <a:tcPr marL="0" marR="0" marT="0" marB="0" anchor="ctr">
                    <a:solidFill>
                      <a:srgbClr val="F4E3E7"/>
                    </a:solidFill>
                  </a:tcPr>
                </a:tc>
                <a:tc>
                  <a:txBody>
                    <a:bodyPr/>
                    <a:lstStyle/>
                    <a:p>
                      <a:pPr algn="ctr">
                        <a:defRPr sz="1000" b="1">
                          <a:solidFill>
                            <a:srgbClr val="980000"/>
                          </a:solidFill>
                          <a:latin typeface="Montserrat"/>
                        </a:defRPr>
                      </a:pPr>
                      <a:r>
                        <a:t>632,910</a:t>
                      </a:r>
                    </a:p>
                  </a:txBody>
                  <a:tcPr marL="0" marR="0" marT="0" marB="0" anchor="ctr">
                    <a:solidFill>
                      <a:srgbClr val="F4E3E7"/>
                    </a:solidFill>
                  </a:tcPr>
                </a:tc>
                <a:tc>
                  <a:txBody>
                    <a:bodyPr/>
                    <a:lstStyle/>
                    <a:p>
                      <a:pPr algn="ctr">
                        <a:defRPr sz="1000" b="1">
                          <a:solidFill>
                            <a:srgbClr val="980000"/>
                          </a:solidFill>
                          <a:latin typeface="Montserrat"/>
                        </a:defRPr>
                      </a:pPr>
                      <a:r>
                        <a:t>50.3%</a:t>
                      </a:r>
                    </a:p>
                  </a:txBody>
                  <a:tcPr marL="0" marR="0" marT="0" marB="0" anchor="ctr">
                    <a:solidFill>
                      <a:srgbClr val="F4E3E7"/>
                    </a:solidFill>
                  </a:tcPr>
                </a:tc>
                <a:extLst>
                  <a:ext uri="{0D108BD9-81ED-4DB2-BD59-A6C34878D82A}">
                    <a16:rowId xmlns:a16="http://schemas.microsoft.com/office/drawing/2014/main" val="10002"/>
                  </a:ext>
                </a:extLst>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35,419</a:t>
                      </a:r>
                    </a:p>
                  </a:txBody>
                  <a:tcPr marL="0" marR="0" marT="0" marB="0" anchor="ctr">
                    <a:solidFill>
                      <a:srgbClr val="FFFFFF"/>
                    </a:solidFill>
                  </a:tcPr>
                </a:tc>
                <a:tc>
                  <a:txBody>
                    <a:bodyPr/>
                    <a:lstStyle/>
                    <a:p>
                      <a:pPr algn="ctr">
                        <a:defRPr sz="1000">
                          <a:solidFill>
                            <a:srgbClr val="404040"/>
                          </a:solidFill>
                          <a:latin typeface="Montserrat"/>
                        </a:defRPr>
                      </a:pPr>
                      <a:r>
                        <a:t>4,035</a:t>
                      </a:r>
                    </a:p>
                  </a:txBody>
                  <a:tcPr marL="0" marR="0" marT="0" marB="0" anchor="ctr">
                    <a:solidFill>
                      <a:srgbClr val="FFFFFF"/>
                    </a:solidFill>
                  </a:tcPr>
                </a:tc>
                <a:tc>
                  <a:txBody>
                    <a:bodyPr/>
                    <a:lstStyle/>
                    <a:p>
                      <a:pPr algn="ctr">
                        <a:defRPr sz="1000" b="1">
                          <a:solidFill>
                            <a:srgbClr val="980000"/>
                          </a:solidFill>
                          <a:latin typeface="Montserrat"/>
                        </a:defRPr>
                      </a:pPr>
                      <a:r>
                        <a:t>18,096</a:t>
                      </a:r>
                    </a:p>
                  </a:txBody>
                  <a:tcPr marL="0" marR="0" marT="0" marB="0" anchor="ctr">
                    <a:solidFill>
                      <a:srgbClr val="ECD3D9"/>
                    </a:solidFill>
                  </a:tcPr>
                </a:tc>
                <a:tc>
                  <a:txBody>
                    <a:bodyPr/>
                    <a:lstStyle/>
                    <a:p>
                      <a:pPr algn="ctr">
                        <a:defRPr sz="1000" b="1">
                          <a:solidFill>
                            <a:srgbClr val="980000"/>
                          </a:solidFill>
                          <a:latin typeface="Montserrat"/>
                        </a:defRPr>
                      </a:pPr>
                      <a:r>
                        <a:t>39,458</a:t>
                      </a:r>
                    </a:p>
                  </a:txBody>
                  <a:tcPr marL="0" marR="0" marT="0" marB="0" anchor="ctr">
                    <a:solidFill>
                      <a:srgbClr val="ECD3D9"/>
                    </a:solidFill>
                  </a:tcPr>
                </a:tc>
                <a:tc>
                  <a:txBody>
                    <a:bodyPr/>
                    <a:lstStyle/>
                    <a:p>
                      <a:pPr algn="ctr">
                        <a:defRPr sz="1000" b="1">
                          <a:solidFill>
                            <a:srgbClr val="980000"/>
                          </a:solidFill>
                          <a:latin typeface="Montserrat"/>
                        </a:defRPr>
                      </a:pPr>
                      <a:r>
                        <a:t>45.9%</a:t>
                      </a:r>
                    </a:p>
                  </a:txBody>
                  <a:tcPr marL="0" marR="0" marT="0" marB="0" anchor="ctr">
                    <a:solidFill>
                      <a:srgbClr val="ECD3D9"/>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22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10 UMF de lunes a viernes</a:t>
            </a:r>
          </a:p>
        </p:txBody>
      </p:sp>
      <p:sp>
        <p:nvSpPr>
          <p:cNvPr id="5" name="TextBox 4"/>
          <p:cNvSpPr txBox="1"/>
          <p:nvPr/>
        </p:nvSpPr>
        <p:spPr>
          <a:xfrm>
            <a:off x="125999" y="1505723"/>
            <a:ext cx="7473600" cy="288000"/>
          </a:xfrm>
          <a:prstGeom prst="rect">
            <a:avLst/>
          </a:prstGeom>
          <a:noFill/>
        </p:spPr>
        <p:txBody>
          <a:bodyPr wrap="none">
            <a:spAutoFit/>
          </a:bodyPr>
          <a:lstStyle/>
          <a:p>
            <a:pPr algn="l">
              <a:defRPr sz="1800" b="1">
                <a:solidFill>
                  <a:srgbClr val="009193"/>
                </a:solidFill>
                <a:latin typeface="Montserrat"/>
              </a:defRPr>
            </a:pPr>
            <a:r>
              <a:rPr err="1"/>
              <a:t>Productividad</a:t>
            </a:r>
            <a:r>
              <a:t> de </a:t>
            </a:r>
            <a:r>
              <a:rPr err="1"/>
              <a:t>consultas</a:t>
            </a:r>
            <a:r>
              <a:t> de </a:t>
            </a:r>
            <a:r>
              <a:rPr err="1"/>
              <a:t>medicina</a:t>
            </a:r>
            <a:r>
              <a:t> familiar 2025-2026</a:t>
            </a:r>
          </a:p>
        </p:txBody>
      </p:sp>
      <p:sp>
        <p:nvSpPr>
          <p:cNvPr id="6" name="TextBox 5"/>
          <p:cNvSpPr txBox="1"/>
          <p:nvPr/>
        </p:nvSpPr>
        <p:spPr>
          <a:xfrm>
            <a:off x="147600" y="9561600"/>
            <a:ext cx="7473600" cy="399600"/>
          </a:xfrm>
          <a:prstGeom prst="rect">
            <a:avLst/>
          </a:prstGeom>
          <a:noFill/>
        </p:spPr>
        <p:txBody>
          <a:bodyPr wrap="square" lIns="0" tIns="0" rIns="0" bIns="0">
            <a:spAutoFit/>
          </a:bodyPr>
          <a:lstStyle/>
          <a:p>
            <a:pPr algn="l">
              <a:defRPr sz="800">
                <a:solidFill>
                  <a:srgbClr val="FFFFFF"/>
                </a:solidFill>
                <a:latin typeface="Montserrat"/>
              </a:defRPr>
            </a:pPr>
            <a:r>
              <a:t>En el año 2025 no incluye información de HR y UMR</a:t>
            </a:r>
            <a:br/>
            <a:r>
              <a:t>No incluye Unidades Auxiliares de Medicina Familiar, ni hospitales con servicio de medicina familiar.</a:t>
            </a:r>
            <a:br/>
            <a:r>
              <a:t>El año de proceso inicia del 26 de diciembre del año anterior al 25 de diciembre del año en curso:2025 (del 26 de dic de 2024 al 25 de dic de 2025).</a:t>
            </a:r>
            <a:br/>
            <a:r>
              <a:t>Corte de información: Semana 24, 7 junio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extLst>
              <p:ext uri="{D42A27DB-BD31-4B8C-83A1-F6EECF244321}">
                <p14:modId xmlns:p14="http://schemas.microsoft.com/office/powerpoint/2010/main" val="1044121190"/>
              </p:ext>
            </p:extLst>
          </p:nvPr>
        </p:nvGraphicFramePr>
        <p:xfrm>
          <a:off x="151200" y="2244898"/>
          <a:ext cx="7473599" cy="2072640"/>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151200">
                <a:tc>
                  <a:txBody>
                    <a:bodyPr/>
                    <a:lstStyle/>
                    <a:p>
                      <a:pPr algn="ctr">
                        <a:defRPr sz="1000" b="1">
                          <a:solidFill>
                            <a:srgbClr val="FFFFFF"/>
                          </a:solidFill>
                          <a:latin typeface="Montserrat"/>
                        </a:defRPr>
                      </a:pPr>
                      <a:r>
                        <a:t>Unidad</a:t>
                      </a:r>
                    </a:p>
                  </a:txBody>
                  <a:tcPr anchor="ctr">
                    <a:solidFill>
                      <a:srgbClr val="006455"/>
                    </a:solidFill>
                  </a:tcPr>
                </a:tc>
                <a:tc>
                  <a:txBody>
                    <a:bodyPr/>
                    <a:lstStyle/>
                    <a:p>
                      <a:pPr algn="ctr">
                        <a:defRPr sz="1000" b="1">
                          <a:solidFill>
                            <a:srgbClr val="FFFFFF"/>
                          </a:solidFill>
                          <a:latin typeface="Montserrat"/>
                        </a:defRPr>
                      </a:pPr>
                      <a:r>
                        <a:t>Consultas 2025</a:t>
                      </a:r>
                    </a:p>
                  </a:txBody>
                  <a:tcPr anchor="ctr">
                    <a:solidFill>
                      <a:srgbClr val="006455"/>
                    </a:solidFill>
                  </a:tcPr>
                </a:tc>
                <a:tc>
                  <a:txBody>
                    <a:bodyPr/>
                    <a:lstStyle/>
                    <a:p>
                      <a:pPr algn="ctr">
                        <a:defRPr sz="1000" b="1">
                          <a:solidFill>
                            <a:srgbClr val="FFFFFF"/>
                          </a:solidFill>
                          <a:latin typeface="Montserrat"/>
                        </a:defRPr>
                      </a:pPr>
                      <a:r>
                        <a:t>Incremento 2025 vs 2024</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151200">
                <a:tc>
                  <a:txBody>
                    <a:bodyPr/>
                    <a:lstStyle/>
                    <a:p>
                      <a:pPr algn="l">
                        <a:defRPr sz="1000">
                          <a:latin typeface="Montserrat"/>
                        </a:defRPr>
                      </a:pPr>
                      <a:r>
                        <a:t>UMFH 4 Tequisquiapan</a:t>
                      </a:r>
                    </a:p>
                  </a:txBody>
                  <a:tcPr marL="0" marR="0" marT="0" marB="0">
                    <a:solidFill>
                      <a:srgbClr val="FFFFFF"/>
                    </a:solidFill>
                  </a:tcPr>
                </a:tc>
                <a:tc>
                  <a:txBody>
                    <a:bodyPr/>
                    <a:lstStyle/>
                    <a:p>
                      <a:pPr algn="ctr">
                        <a:defRPr sz="1000">
                          <a:latin typeface="Montserrat"/>
                        </a:defRPr>
                      </a:pPr>
                      <a:r>
                        <a:t>49,436</a:t>
                      </a:r>
                    </a:p>
                  </a:txBody>
                  <a:tcPr marL="0" marR="0" marT="0" marB="0">
                    <a:solidFill>
                      <a:srgbClr val="FFFFFF"/>
                    </a:solidFill>
                  </a:tcPr>
                </a:tc>
                <a:tc>
                  <a:txBody>
                    <a:bodyPr/>
                    <a:lstStyle/>
                    <a:p>
                      <a:pPr algn="ctr">
                        <a:defRPr sz="1000">
                          <a:latin typeface="Montserrat"/>
                        </a:defRPr>
                      </a:pPr>
                      <a:r>
                        <a:t>6,723</a:t>
                      </a:r>
                    </a:p>
                  </a:txBody>
                  <a:tcPr marL="0" marR="0" marT="0" marB="0">
                    <a:solidFill>
                      <a:srgbClr val="FFFFFF"/>
                    </a:solidFill>
                  </a:tcPr>
                </a:tc>
                <a:tc>
                  <a:txBody>
                    <a:bodyPr/>
                    <a:lstStyle/>
                    <a:p>
                      <a:pPr algn="ctr">
                        <a:defRPr sz="1000">
                          <a:latin typeface="Montserrat"/>
                        </a:defRPr>
                      </a:pPr>
                      <a:r>
                        <a:t>22,368</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44.6%</a:t>
                      </a:r>
                    </a:p>
                  </a:txBody>
                  <a:tcPr marL="0" marR="0" marT="0" marB="0">
                    <a:solidFill>
                      <a:srgbClr val="ECD3D9"/>
                    </a:solidFill>
                  </a:tcPr>
                </a:tc>
                <a:extLst>
                  <a:ext uri="{0D108BD9-81ED-4DB2-BD59-A6C34878D82A}">
                    <a16:rowId xmlns:a16="http://schemas.microsoft.com/office/drawing/2014/main" val="10001"/>
                  </a:ext>
                </a:extLst>
              </a:tr>
              <a:tr h="151200">
                <a:tc>
                  <a:txBody>
                    <a:bodyPr/>
                    <a:lstStyle/>
                    <a:p>
                      <a:pPr algn="l">
                        <a:defRPr sz="1000">
                          <a:latin typeface="Montserrat"/>
                        </a:defRPr>
                      </a:pPr>
                      <a:r>
                        <a:t>UMF 59 Huimilpan</a:t>
                      </a:r>
                    </a:p>
                  </a:txBody>
                  <a:tcPr marL="0" marR="0" marT="0" marB="0">
                    <a:solidFill>
                      <a:srgbClr val="EFEFEF"/>
                    </a:solidFill>
                  </a:tcPr>
                </a:tc>
                <a:tc>
                  <a:txBody>
                    <a:bodyPr/>
                    <a:lstStyle/>
                    <a:p>
                      <a:pPr algn="ctr">
                        <a:defRPr sz="1000">
                          <a:latin typeface="Montserrat"/>
                        </a:defRPr>
                      </a:pPr>
                      <a:r>
                        <a:t>7,722</a:t>
                      </a:r>
                    </a:p>
                  </a:txBody>
                  <a:tcPr marL="0" marR="0" marT="0" marB="0">
                    <a:solidFill>
                      <a:srgbClr val="EFEFEF"/>
                    </a:solidFill>
                  </a:tcPr>
                </a:tc>
                <a:tc>
                  <a:txBody>
                    <a:bodyPr/>
                    <a:lstStyle/>
                    <a:p>
                      <a:pPr algn="ctr">
                        <a:defRPr sz="1000">
                          <a:latin typeface="Montserrat"/>
                        </a:defRPr>
                      </a:pPr>
                      <a:r>
                        <a:t>414</a:t>
                      </a:r>
                    </a:p>
                  </a:txBody>
                  <a:tcPr marL="0" marR="0" marT="0" marB="0">
                    <a:solidFill>
                      <a:srgbClr val="EFEFEF"/>
                    </a:solidFill>
                  </a:tcPr>
                </a:tc>
                <a:tc>
                  <a:txBody>
                    <a:bodyPr/>
                    <a:lstStyle/>
                    <a:p>
                      <a:pPr algn="ctr">
                        <a:defRPr sz="1000">
                          <a:latin typeface="Montserrat"/>
                        </a:defRPr>
                      </a:pPr>
                      <a:r>
                        <a:t>3,356</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37.3%</a:t>
                      </a:r>
                    </a:p>
                  </a:txBody>
                  <a:tcPr marL="0" marR="0" marT="0" marB="0">
                    <a:solidFill>
                      <a:srgbClr val="ECD3D9"/>
                    </a:solidFill>
                  </a:tcPr>
                </a:tc>
                <a:extLst>
                  <a:ext uri="{0D108BD9-81ED-4DB2-BD59-A6C34878D82A}">
                    <a16:rowId xmlns:a16="http://schemas.microsoft.com/office/drawing/2014/main" val="10002"/>
                  </a:ext>
                </a:extLst>
              </a:tr>
              <a:tr h="151200">
                <a:tc>
                  <a:txBody>
                    <a:bodyPr/>
                    <a:lstStyle/>
                    <a:p>
                      <a:pPr algn="l">
                        <a:defRPr sz="1000">
                          <a:latin typeface="Montserrat"/>
                        </a:defRPr>
                      </a:pPr>
                      <a:r>
                        <a:t>UMF 57 Colón</a:t>
                      </a:r>
                    </a:p>
                  </a:txBody>
                  <a:tcPr marL="0" marR="0" marT="0" marB="0">
                    <a:solidFill>
                      <a:srgbClr val="FFFFFF"/>
                    </a:solidFill>
                  </a:tcPr>
                </a:tc>
                <a:tc>
                  <a:txBody>
                    <a:bodyPr/>
                    <a:lstStyle/>
                    <a:p>
                      <a:pPr algn="ctr">
                        <a:defRPr sz="1000">
                          <a:latin typeface="Montserrat"/>
                        </a:defRPr>
                      </a:pPr>
                      <a:r>
                        <a:t>32,669</a:t>
                      </a:r>
                    </a:p>
                  </a:txBody>
                  <a:tcPr marL="0" marR="0" marT="0" marB="0">
                    <a:solidFill>
                      <a:srgbClr val="FFFFFF"/>
                    </a:solidFill>
                  </a:tcPr>
                </a:tc>
                <a:tc>
                  <a:txBody>
                    <a:bodyPr/>
                    <a:lstStyle/>
                    <a:p>
                      <a:pPr algn="ctr">
                        <a:defRPr sz="1000">
                          <a:latin typeface="Montserrat"/>
                        </a:defRPr>
                      </a:pPr>
                      <a:r>
                        <a:t>13,714</a:t>
                      </a:r>
                    </a:p>
                  </a:txBody>
                  <a:tcPr marL="0" marR="0" marT="0" marB="0">
                    <a:solidFill>
                      <a:srgbClr val="FFFFFF"/>
                    </a:solidFill>
                  </a:tcPr>
                </a:tc>
                <a:tc>
                  <a:txBody>
                    <a:bodyPr/>
                    <a:lstStyle/>
                    <a:p>
                      <a:pPr algn="ctr">
                        <a:defRPr sz="1000">
                          <a:latin typeface="Montserrat"/>
                        </a:defRPr>
                      </a:pPr>
                      <a:r>
                        <a:t>14,994</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39.9%</a:t>
                      </a:r>
                    </a:p>
                  </a:txBody>
                  <a:tcPr marL="0" marR="0" marT="0" marB="0">
                    <a:solidFill>
                      <a:srgbClr val="ECD3D9"/>
                    </a:solidFill>
                  </a:tcPr>
                </a:tc>
                <a:extLst>
                  <a:ext uri="{0D108BD9-81ED-4DB2-BD59-A6C34878D82A}">
                    <a16:rowId xmlns:a16="http://schemas.microsoft.com/office/drawing/2014/main" val="10003"/>
                  </a:ext>
                </a:extLst>
              </a:tr>
              <a:tr h="151200">
                <a:tc>
                  <a:txBody>
                    <a:bodyPr/>
                    <a:lstStyle/>
                    <a:p>
                      <a:pPr algn="l">
                        <a:defRPr sz="1000">
                          <a:latin typeface="Montserrat"/>
                        </a:defRPr>
                      </a:pPr>
                      <a:r>
                        <a:t>UMF 63 S. Joaquín</a:t>
                      </a:r>
                    </a:p>
                  </a:txBody>
                  <a:tcPr marL="0" marR="0" marT="0" marB="0">
                    <a:solidFill>
                      <a:srgbClr val="EFEFEF"/>
                    </a:solidFill>
                  </a:tcPr>
                </a:tc>
                <a:tc>
                  <a:txBody>
                    <a:bodyPr/>
                    <a:lstStyle/>
                    <a:p>
                      <a:pPr algn="ctr">
                        <a:defRPr sz="1000">
                          <a:latin typeface="Montserrat"/>
                        </a:defRPr>
                      </a:pPr>
                      <a:r>
                        <a:t>2,657</a:t>
                      </a:r>
                    </a:p>
                  </a:txBody>
                  <a:tcPr marL="0" marR="0" marT="0" marB="0">
                    <a:solidFill>
                      <a:srgbClr val="EFEFEF"/>
                    </a:solidFill>
                  </a:tcPr>
                </a:tc>
                <a:tc>
                  <a:txBody>
                    <a:bodyPr/>
                    <a:lstStyle/>
                    <a:p>
                      <a:pPr algn="ctr">
                        <a:defRPr sz="1000">
                          <a:latin typeface="Montserrat"/>
                        </a:defRPr>
                      </a:pPr>
                      <a:r>
                        <a:t>565</a:t>
                      </a:r>
                    </a:p>
                  </a:txBody>
                  <a:tcPr marL="0" marR="0" marT="0" marB="0">
                    <a:solidFill>
                      <a:srgbClr val="EFEFEF"/>
                    </a:solidFill>
                  </a:tcPr>
                </a:tc>
                <a:tc>
                  <a:txBody>
                    <a:bodyPr/>
                    <a:lstStyle/>
                    <a:p>
                      <a:pPr algn="ctr">
                        <a:defRPr sz="1000">
                          <a:latin typeface="Montserrat"/>
                        </a:defRPr>
                      </a:pPr>
                      <a:r>
                        <a:t>1,291</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32.3%</a:t>
                      </a:r>
                    </a:p>
                  </a:txBody>
                  <a:tcPr marL="0" marR="0" marT="0" marB="0">
                    <a:solidFill>
                      <a:srgbClr val="ECD3D9"/>
                    </a:solidFill>
                  </a:tcPr>
                </a:tc>
                <a:extLst>
                  <a:ext uri="{0D108BD9-81ED-4DB2-BD59-A6C34878D82A}">
                    <a16:rowId xmlns:a16="http://schemas.microsoft.com/office/drawing/2014/main" val="10004"/>
                  </a:ext>
                </a:extLst>
              </a:tr>
              <a:tr h="151200">
                <a:tc>
                  <a:txBody>
                    <a:bodyPr/>
                    <a:lstStyle/>
                    <a:p>
                      <a:pPr algn="l">
                        <a:defRPr sz="1000">
                          <a:latin typeface="Montserrat"/>
                        </a:defRPr>
                      </a:pPr>
                      <a:r>
                        <a:t>UMF 64 Toliman</a:t>
                      </a:r>
                    </a:p>
                  </a:txBody>
                  <a:tcPr marL="0" marR="0" marT="0" marB="0">
                    <a:solidFill>
                      <a:srgbClr val="FFFFFF"/>
                    </a:solidFill>
                  </a:tcPr>
                </a:tc>
                <a:tc>
                  <a:txBody>
                    <a:bodyPr/>
                    <a:lstStyle/>
                    <a:p>
                      <a:pPr algn="ctr">
                        <a:defRPr sz="1000">
                          <a:latin typeface="Montserrat"/>
                        </a:defRPr>
                      </a:pPr>
                      <a:r>
                        <a:t>5,862</a:t>
                      </a:r>
                    </a:p>
                  </a:txBody>
                  <a:tcPr marL="0" marR="0" marT="0" marB="0">
                    <a:solidFill>
                      <a:srgbClr val="FFFFFF"/>
                    </a:solidFill>
                  </a:tcPr>
                </a:tc>
                <a:tc>
                  <a:txBody>
                    <a:bodyPr/>
                    <a:lstStyle/>
                    <a:p>
                      <a:pPr algn="ctr">
                        <a:defRPr sz="1000">
                          <a:latin typeface="Montserrat"/>
                        </a:defRPr>
                      </a:pPr>
                      <a:r>
                        <a:t>1,211</a:t>
                      </a:r>
                    </a:p>
                  </a:txBody>
                  <a:tcPr marL="0" marR="0" marT="0" marB="0">
                    <a:solidFill>
                      <a:srgbClr val="FFFFFF"/>
                    </a:solidFill>
                  </a:tcPr>
                </a:tc>
                <a:tc>
                  <a:txBody>
                    <a:bodyPr/>
                    <a:lstStyle/>
                    <a:p>
                      <a:pPr algn="ctr">
                        <a:defRPr sz="1000">
                          <a:latin typeface="Montserrat"/>
                        </a:defRPr>
                      </a:pPr>
                      <a:r>
                        <a:t>2,329</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33.3%</a:t>
                      </a:r>
                    </a:p>
                  </a:txBody>
                  <a:tcPr marL="0" marR="0" marT="0" marB="0">
                    <a:solidFill>
                      <a:srgbClr val="ECD3D9"/>
                    </a:solidFill>
                  </a:tcPr>
                </a:tc>
                <a:extLst>
                  <a:ext uri="{0D108BD9-81ED-4DB2-BD59-A6C34878D82A}">
                    <a16:rowId xmlns:a16="http://schemas.microsoft.com/office/drawing/2014/main" val="10005"/>
                  </a:ext>
                </a:extLst>
              </a:tr>
              <a:tr h="151200">
                <a:tc>
                  <a:txBody>
                    <a:bodyPr/>
                    <a:lstStyle/>
                    <a:p>
                      <a:pPr algn="l">
                        <a:defRPr sz="1000">
                          <a:latin typeface="Montserrat"/>
                        </a:defRPr>
                      </a:pPr>
                      <a:r>
                        <a:t>UMF 58 E. Montes</a:t>
                      </a:r>
                    </a:p>
                  </a:txBody>
                  <a:tcPr marL="0" marR="0" marT="0" marB="0">
                    <a:solidFill>
                      <a:srgbClr val="EFEFEF"/>
                    </a:solidFill>
                  </a:tcPr>
                </a:tc>
                <a:tc>
                  <a:txBody>
                    <a:bodyPr/>
                    <a:lstStyle/>
                    <a:p>
                      <a:pPr algn="ctr">
                        <a:defRPr sz="1000">
                          <a:latin typeface="Montserrat"/>
                        </a:defRPr>
                      </a:pPr>
                      <a:r>
                        <a:t>29,049</a:t>
                      </a:r>
                    </a:p>
                  </a:txBody>
                  <a:tcPr marL="0" marR="0" marT="0" marB="0">
                    <a:solidFill>
                      <a:srgbClr val="EFEFEF"/>
                    </a:solidFill>
                  </a:tcPr>
                </a:tc>
                <a:tc>
                  <a:txBody>
                    <a:bodyPr/>
                    <a:lstStyle/>
                    <a:p>
                      <a:pPr algn="ctr">
                        <a:defRPr sz="1000">
                          <a:latin typeface="Montserrat"/>
                        </a:defRPr>
                      </a:pPr>
                      <a:r>
                        <a:t>9,513</a:t>
                      </a:r>
                    </a:p>
                  </a:txBody>
                  <a:tcPr marL="0" marR="0" marT="0" marB="0">
                    <a:solidFill>
                      <a:srgbClr val="EFEFEF"/>
                    </a:solidFill>
                  </a:tcPr>
                </a:tc>
                <a:tc>
                  <a:txBody>
                    <a:bodyPr/>
                    <a:lstStyle/>
                    <a:p>
                      <a:pPr algn="ctr">
                        <a:defRPr sz="1000">
                          <a:latin typeface="Montserrat"/>
                        </a:defRPr>
                      </a:pPr>
                      <a:r>
                        <a:t>13,620</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36.2%</a:t>
                      </a:r>
                    </a:p>
                  </a:txBody>
                  <a:tcPr marL="0" marR="0" marT="0" marB="0">
                    <a:solidFill>
                      <a:srgbClr val="ECD3D9"/>
                    </a:solidFill>
                  </a:tcPr>
                </a:tc>
                <a:extLst>
                  <a:ext uri="{0D108BD9-81ED-4DB2-BD59-A6C34878D82A}">
                    <a16:rowId xmlns:a16="http://schemas.microsoft.com/office/drawing/2014/main" val="10006"/>
                  </a:ext>
                </a:extLst>
              </a:tr>
              <a:tr h="151200">
                <a:tc>
                  <a:txBody>
                    <a:bodyPr/>
                    <a:lstStyle/>
                    <a:p>
                      <a:pPr algn="l">
                        <a:defRPr sz="1000">
                          <a:latin typeface="Montserrat"/>
                        </a:defRPr>
                      </a:pPr>
                      <a:r>
                        <a:t>UMF 12 Cadereyta</a:t>
                      </a:r>
                    </a:p>
                  </a:txBody>
                  <a:tcPr marL="0" marR="0" marT="0" marB="0">
                    <a:solidFill>
                      <a:srgbClr val="FFFFFF"/>
                    </a:solidFill>
                  </a:tcPr>
                </a:tc>
                <a:tc>
                  <a:txBody>
                    <a:bodyPr/>
                    <a:lstStyle/>
                    <a:p>
                      <a:pPr algn="ctr">
                        <a:defRPr sz="1000">
                          <a:latin typeface="Montserrat"/>
                        </a:defRPr>
                      </a:pPr>
                      <a:r>
                        <a:t>27,889</a:t>
                      </a:r>
                    </a:p>
                  </a:txBody>
                  <a:tcPr marL="0" marR="0" marT="0" marB="0">
                    <a:solidFill>
                      <a:srgbClr val="FFFFFF"/>
                    </a:solidFill>
                  </a:tcPr>
                </a:tc>
                <a:tc>
                  <a:txBody>
                    <a:bodyPr/>
                    <a:lstStyle/>
                    <a:p>
                      <a:pPr algn="ctr">
                        <a:defRPr sz="1000">
                          <a:latin typeface="Montserrat"/>
                        </a:defRPr>
                      </a:pPr>
                      <a:r>
                        <a:t>7,503</a:t>
                      </a:r>
                    </a:p>
                  </a:txBody>
                  <a:tcPr marL="0" marR="0" marT="0" marB="0">
                    <a:solidFill>
                      <a:srgbClr val="FFFFFF"/>
                    </a:solidFill>
                  </a:tcPr>
                </a:tc>
                <a:tc>
                  <a:txBody>
                    <a:bodyPr/>
                    <a:lstStyle/>
                    <a:p>
                      <a:pPr algn="ctr">
                        <a:defRPr sz="1000">
                          <a:latin typeface="Montserrat"/>
                        </a:defRPr>
                      </a:pPr>
                      <a:r>
                        <a:t>15,593</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41.5%</a:t>
                      </a:r>
                    </a:p>
                  </a:txBody>
                  <a:tcPr marL="0" marR="0" marT="0" marB="0">
                    <a:solidFill>
                      <a:srgbClr val="ECD3D9"/>
                    </a:solidFill>
                  </a:tcPr>
                </a:tc>
                <a:extLst>
                  <a:ext uri="{0D108BD9-81ED-4DB2-BD59-A6C34878D82A}">
                    <a16:rowId xmlns:a16="http://schemas.microsoft.com/office/drawing/2014/main" val="10007"/>
                  </a:ext>
                </a:extLst>
              </a:tr>
              <a:tr h="151200">
                <a:tc>
                  <a:txBody>
                    <a:bodyPr/>
                    <a:lstStyle/>
                    <a:p>
                      <a:pPr algn="l">
                        <a:defRPr sz="1000">
                          <a:latin typeface="Montserrat"/>
                        </a:defRPr>
                      </a:pPr>
                      <a:r>
                        <a:t>UMF 66 Maconi</a:t>
                      </a:r>
                    </a:p>
                  </a:txBody>
                  <a:tcPr marL="0" marR="0" marT="0" marB="0">
                    <a:solidFill>
                      <a:srgbClr val="EFEFEF"/>
                    </a:solidFill>
                  </a:tcPr>
                </a:tc>
                <a:tc>
                  <a:txBody>
                    <a:bodyPr/>
                    <a:lstStyle/>
                    <a:p>
                      <a:pPr algn="ctr">
                        <a:defRPr sz="1000">
                          <a:latin typeface="Montserrat"/>
                        </a:defRPr>
                      </a:pPr>
                      <a:r>
                        <a:t>2,808</a:t>
                      </a:r>
                    </a:p>
                  </a:txBody>
                  <a:tcPr marL="0" marR="0" marT="0" marB="0">
                    <a:solidFill>
                      <a:srgbClr val="EFEFEF"/>
                    </a:solidFill>
                  </a:tcPr>
                </a:tc>
                <a:tc>
                  <a:txBody>
                    <a:bodyPr/>
                    <a:lstStyle/>
                    <a:p>
                      <a:pPr algn="ctr">
                        <a:defRPr sz="1000">
                          <a:latin typeface="Montserrat"/>
                        </a:defRPr>
                      </a:pPr>
                      <a:r>
                        <a:t>975</a:t>
                      </a:r>
                    </a:p>
                  </a:txBody>
                  <a:tcPr marL="0" marR="0" marT="0" marB="0">
                    <a:solidFill>
                      <a:srgbClr val="EFEFEF"/>
                    </a:solidFill>
                  </a:tcPr>
                </a:tc>
                <a:tc>
                  <a:txBody>
                    <a:bodyPr/>
                    <a:lstStyle/>
                    <a:p>
                      <a:pPr algn="ctr">
                        <a:defRPr sz="1000">
                          <a:latin typeface="Montserrat"/>
                        </a:defRPr>
                      </a:pPr>
                      <a:r>
                        <a:t>1,248</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31.2%</a:t>
                      </a:r>
                    </a:p>
                  </a:txBody>
                  <a:tcPr marL="0" marR="0" marT="0" marB="0">
                    <a:solidFill>
                      <a:srgbClr val="ECD3D9"/>
                    </a:solidFill>
                  </a:tcPr>
                </a:tc>
                <a:extLst>
                  <a:ext uri="{0D108BD9-81ED-4DB2-BD59-A6C34878D82A}">
                    <a16:rowId xmlns:a16="http://schemas.microsoft.com/office/drawing/2014/main" val="10008"/>
                  </a:ext>
                </a:extLst>
              </a:tr>
              <a:tr h="151200">
                <a:tc>
                  <a:txBody>
                    <a:bodyPr/>
                    <a:lstStyle/>
                    <a:p>
                      <a:pPr algn="l">
                        <a:defRPr sz="1000">
                          <a:latin typeface="Montserrat"/>
                        </a:defRPr>
                      </a:pPr>
                      <a:r>
                        <a:t>UMF 5 P. Escobedo</a:t>
                      </a:r>
                    </a:p>
                  </a:txBody>
                  <a:tcPr marL="0" marR="0" marT="0" marB="0">
                    <a:solidFill>
                      <a:srgbClr val="FFFFFF"/>
                    </a:solidFill>
                  </a:tcPr>
                </a:tc>
                <a:tc>
                  <a:txBody>
                    <a:bodyPr/>
                    <a:lstStyle/>
                    <a:p>
                      <a:pPr algn="ctr">
                        <a:defRPr sz="1000">
                          <a:latin typeface="Montserrat"/>
                        </a:defRPr>
                      </a:pPr>
                      <a:r>
                        <a:t>118,668</a:t>
                      </a:r>
                    </a:p>
                  </a:txBody>
                  <a:tcPr marL="0" marR="0" marT="0" marB="0">
                    <a:solidFill>
                      <a:srgbClr val="FFFFFF"/>
                    </a:solidFill>
                  </a:tcPr>
                </a:tc>
                <a:tc>
                  <a:txBody>
                    <a:bodyPr/>
                    <a:lstStyle/>
                    <a:p>
                      <a:pPr algn="ctr">
                        <a:defRPr sz="1000">
                          <a:latin typeface="Montserrat"/>
                        </a:defRPr>
                      </a:pPr>
                      <a:r>
                        <a:t>19,965</a:t>
                      </a:r>
                    </a:p>
                  </a:txBody>
                  <a:tcPr marL="0" marR="0" marT="0" marB="0">
                    <a:solidFill>
                      <a:srgbClr val="FFFFFF"/>
                    </a:solidFill>
                  </a:tcPr>
                </a:tc>
                <a:tc>
                  <a:txBody>
                    <a:bodyPr/>
                    <a:lstStyle/>
                    <a:p>
                      <a:pPr algn="ctr">
                        <a:defRPr sz="1000">
                          <a:latin typeface="Montserrat"/>
                        </a:defRPr>
                      </a:pPr>
                      <a:r>
                        <a:t>50,025</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39.9%</a:t>
                      </a:r>
                    </a:p>
                  </a:txBody>
                  <a:tcPr marL="0" marR="0" marT="0" marB="0">
                    <a:solidFill>
                      <a:srgbClr val="ECD3D9"/>
                    </a:solidFill>
                  </a:tcPr>
                </a:tc>
                <a:extLst>
                  <a:ext uri="{0D108BD9-81ED-4DB2-BD59-A6C34878D82A}">
                    <a16:rowId xmlns:a16="http://schemas.microsoft.com/office/drawing/2014/main" val="10009"/>
                  </a:ext>
                </a:extLst>
              </a:tr>
              <a:tr h="151200">
                <a:tc>
                  <a:txBody>
                    <a:bodyPr/>
                    <a:lstStyle/>
                    <a:p>
                      <a:pPr algn="l">
                        <a:defRPr sz="1000">
                          <a:latin typeface="Montserrat"/>
                        </a:defRPr>
                      </a:pPr>
                      <a:r>
                        <a:t>UMF 56 Amealco</a:t>
                      </a:r>
                    </a:p>
                  </a:txBody>
                  <a:tcPr marL="0" marR="0" marT="0" marB="0">
                    <a:solidFill>
                      <a:srgbClr val="EFEFEF"/>
                    </a:solidFill>
                  </a:tcPr>
                </a:tc>
                <a:tc>
                  <a:txBody>
                    <a:bodyPr/>
                    <a:lstStyle/>
                    <a:p>
                      <a:pPr algn="ctr">
                        <a:defRPr sz="1000">
                          <a:latin typeface="Montserrat"/>
                        </a:defRPr>
                      </a:pPr>
                      <a:r>
                        <a:t>20,525</a:t>
                      </a:r>
                    </a:p>
                  </a:txBody>
                  <a:tcPr marL="0" marR="0" marT="0" marB="0">
                    <a:solidFill>
                      <a:srgbClr val="EFEFEF"/>
                    </a:solidFill>
                  </a:tcPr>
                </a:tc>
                <a:tc>
                  <a:txBody>
                    <a:bodyPr/>
                    <a:lstStyle/>
                    <a:p>
                      <a:pPr algn="ctr">
                        <a:defRPr sz="1000">
                          <a:latin typeface="Montserrat"/>
                        </a:defRPr>
                      </a:pPr>
                      <a:r>
                        <a:t>2,460</a:t>
                      </a:r>
                    </a:p>
                  </a:txBody>
                  <a:tcPr marL="0" marR="0" marT="0" marB="0">
                    <a:solidFill>
                      <a:srgbClr val="EFEFEF"/>
                    </a:solidFill>
                  </a:tcPr>
                </a:tc>
                <a:tc>
                  <a:txBody>
                    <a:bodyPr/>
                    <a:lstStyle/>
                    <a:p>
                      <a:pPr algn="ctr">
                        <a:defRPr sz="1000">
                          <a:latin typeface="Montserrat"/>
                        </a:defRPr>
                      </a:pPr>
                      <a:r>
                        <a:t>8,178</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32.6%</a:t>
                      </a:r>
                    </a:p>
                  </a:txBody>
                  <a:tcPr marL="0" marR="0" marT="0" marB="0">
                    <a:solidFill>
                      <a:srgbClr val="ECD3D9"/>
                    </a:solidFill>
                  </a:tcPr>
                </a:tc>
                <a:extLst>
                  <a:ext uri="{0D108BD9-81ED-4DB2-BD59-A6C34878D82A}">
                    <a16:rowId xmlns:a16="http://schemas.microsoft.com/office/drawing/2014/main" val="10010"/>
                  </a:ext>
                </a:extLst>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297,285</a:t>
                      </a:r>
                    </a:p>
                  </a:txBody>
                  <a:tcPr marL="0" marR="0" marT="0" marB="0">
                    <a:solidFill>
                      <a:srgbClr val="D3E9E7"/>
                    </a:solidFill>
                  </a:tcPr>
                </a:tc>
                <a:tc>
                  <a:txBody>
                    <a:bodyPr/>
                    <a:lstStyle/>
                    <a:p>
                      <a:pPr algn="ctr">
                        <a:defRPr sz="1000" b="1">
                          <a:solidFill>
                            <a:srgbClr val="006556"/>
                          </a:solidFill>
                          <a:latin typeface="Montserrat"/>
                        </a:defRPr>
                      </a:pPr>
                      <a:r>
                        <a:t>63,043</a:t>
                      </a:r>
                    </a:p>
                  </a:txBody>
                  <a:tcPr marL="0" marR="0" marT="0" marB="0">
                    <a:solidFill>
                      <a:srgbClr val="D3E9E7"/>
                    </a:solidFill>
                  </a:tcPr>
                </a:tc>
                <a:tc>
                  <a:txBody>
                    <a:bodyPr/>
                    <a:lstStyle/>
                    <a:p>
                      <a:pPr algn="ctr">
                        <a:defRPr sz="1000" b="1">
                          <a:solidFill>
                            <a:srgbClr val="FFFFFF"/>
                          </a:solidFill>
                          <a:latin typeface="Montserrat"/>
                        </a:defRPr>
                      </a:pPr>
                      <a:r>
                        <a:t>133,002</a:t>
                      </a:r>
                    </a:p>
                  </a:txBody>
                  <a:tcPr marL="0" marR="0" marT="0" marB="0">
                    <a:solidFill>
                      <a:srgbClr val="9F2241"/>
                    </a:solidFill>
                  </a:tcPr>
                </a:tc>
                <a:tc>
                  <a:txBody>
                    <a:bodyPr/>
                    <a:lstStyle/>
                    <a:p>
                      <a:pPr algn="ctr">
                        <a:defRPr sz="1000" b="1">
                          <a:solidFill>
                            <a:srgbClr val="FFFFFF"/>
                          </a:solidFill>
                          <a:latin typeface="Montserrat"/>
                        </a:defRPr>
                      </a:pPr>
                      <a:r>
                        <a:t>337,200</a:t>
                      </a:r>
                    </a:p>
                  </a:txBody>
                  <a:tcPr marL="0" marR="0" marT="0" marB="0">
                    <a:solidFill>
                      <a:srgbClr val="9F2241"/>
                    </a:solidFill>
                  </a:tcPr>
                </a:tc>
                <a:tc>
                  <a:txBody>
                    <a:bodyPr/>
                    <a:lstStyle/>
                    <a:p>
                      <a:pPr algn="ctr">
                        <a:defRPr sz="1000" b="1">
                          <a:solidFill>
                            <a:srgbClr val="FFFFFF"/>
                          </a:solidFill>
                          <a:latin typeface="Montserrat"/>
                        </a:defRPr>
                      </a:pPr>
                      <a:r>
                        <a:t>39.4%</a:t>
                      </a:r>
                    </a:p>
                  </a:txBody>
                  <a:tcPr marL="0" marR="0" marT="0" marB="0">
                    <a:solidFill>
                      <a:srgbClr val="9F2241"/>
                    </a:solidFill>
                  </a:tcPr>
                </a:tc>
                <a:extLst>
                  <a:ext uri="{0D108BD9-81ED-4DB2-BD59-A6C34878D82A}">
                    <a16:rowId xmlns:a16="http://schemas.microsoft.com/office/drawing/2014/main" val="10011"/>
                  </a:ext>
                </a:extLst>
              </a:tr>
            </a:tbl>
          </a:graphicData>
        </a:graphic>
      </p:graphicFrame>
      <p:graphicFrame>
        <p:nvGraphicFramePr>
          <p:cNvPr id="9" name="Chart 8"/>
          <p:cNvGraphicFramePr>
            <a:graphicFrameLocks noGrp="1"/>
          </p:cNvGraphicFramePr>
          <p:nvPr>
            <p:extLst>
              <p:ext uri="{D42A27DB-BD31-4B8C-83A1-F6EECF244321}">
                <p14:modId xmlns:p14="http://schemas.microsoft.com/office/powerpoint/2010/main" val="1602359168"/>
              </p:ext>
            </p:extLst>
          </p:nvPr>
        </p:nvGraphicFramePr>
        <p:xfrm>
          <a:off x="4780800" y="5604063"/>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4780800" y="6324063"/>
            <a:ext cx="1800000" cy="360000"/>
          </a:xfrm>
          <a:prstGeom prst="rect">
            <a:avLst/>
          </a:prstGeom>
          <a:noFill/>
        </p:spPr>
        <p:txBody>
          <a:bodyPr wrap="none">
            <a:spAutoFit/>
          </a:bodyPr>
          <a:lstStyle/>
          <a:p>
            <a:pPr algn="ctr"/>
            <a:r>
              <a:rPr sz="2400" b="1">
                <a:solidFill>
                  <a:srgbClr val="9F2241"/>
                </a:solidFill>
                <a:latin typeface="Montserrat"/>
              </a:rPr>
              <a:t>39.4%</a:t>
            </a:r>
          </a:p>
        </p:txBody>
      </p:sp>
      <p:sp>
        <p:nvSpPr>
          <p:cNvPr id="11" name="TextBox 10"/>
          <p:cNvSpPr txBox="1"/>
          <p:nvPr/>
        </p:nvSpPr>
        <p:spPr>
          <a:xfrm>
            <a:off x="4780800" y="7224063"/>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5604063"/>
            <a:ext cx="2854800" cy="1198800"/>
          </a:xfrm>
          <a:prstGeom prst="rect">
            <a:avLst/>
          </a:prstGeom>
          <a:noFill/>
        </p:spPr>
        <p:txBody>
          <a:bodyPr wrap="square">
            <a:spAutoFit/>
          </a:bodyPr>
          <a:lstStyle/>
          <a:p>
            <a:pPr algn="ctr">
              <a:defRPr sz="3600" b="1">
                <a:solidFill>
                  <a:srgbClr val="9F2241"/>
                </a:solidFill>
                <a:latin typeface="Montserrat"/>
              </a:defRPr>
            </a:pPr>
            <a:r>
              <a:t>337,200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261" name="CuadroTexto 260">
            <a:extLst>
              <a:ext uri="{FF2B5EF4-FFF2-40B4-BE49-F238E27FC236}">
                <a16:creationId xmlns:a16="http://schemas.microsoft.com/office/drawing/2014/main" id="{E595643D-899B-65A9-60BB-1D7D7F88CF0F}"/>
              </a:ext>
            </a:extLst>
          </p:cNvPr>
          <p:cNvSpPr txBox="1"/>
          <p:nvPr/>
        </p:nvSpPr>
        <p:spPr>
          <a:xfrm>
            <a:off x="4328581" y="5900650"/>
            <a:ext cx="3006672" cy="1015663"/>
          </a:xfrm>
          <a:prstGeom prst="rect">
            <a:avLst/>
          </a:prstGeom>
          <a:noFill/>
        </p:spPr>
        <p:txBody>
          <a:bodyPr wrap="square">
            <a:spAutoFit/>
          </a:bodyPr>
          <a:lstStyle/>
          <a:p>
            <a:pPr algn="ctr">
              <a:defRPr sz="2000" b="1">
                <a:solidFill>
                  <a:srgbClr val="5B0F00"/>
                </a:solidFill>
                <a:latin typeface="Montserrat"/>
              </a:defRPr>
            </a:pPr>
            <a:r>
              <a:rPr lang="es-MX"/>
              <a:t>Proyectos 2026</a:t>
            </a:r>
          </a:p>
          <a:p>
            <a:pPr algn="ctr">
              <a:defRPr sz="2000" b="1">
                <a:solidFill>
                  <a:srgbClr val="5B0F00"/>
                </a:solidFill>
                <a:latin typeface="Montserrat"/>
              </a:defRPr>
            </a:pPr>
            <a:r>
              <a:rPr lang="es-MX"/>
              <a:t>1 Nueva UMTC con   2 consultorios</a:t>
            </a:r>
          </a:p>
        </p:txBody>
      </p:sp>
      <p:sp>
        <p:nvSpPr>
          <p:cNvPr id="262" name="CuadroTexto 261">
            <a:extLst>
              <a:ext uri="{FF2B5EF4-FFF2-40B4-BE49-F238E27FC236}">
                <a16:creationId xmlns:a16="http://schemas.microsoft.com/office/drawing/2014/main" id="{4F6E33E2-A6CF-23E3-A6CF-EC229DA0E531}"/>
              </a:ext>
            </a:extLst>
          </p:cNvPr>
          <p:cNvSpPr txBox="1"/>
          <p:nvPr/>
        </p:nvSpPr>
        <p:spPr>
          <a:xfrm>
            <a:off x="4750909" y="7183256"/>
            <a:ext cx="2686003" cy="307777"/>
          </a:xfrm>
          <a:prstGeom prst="rect">
            <a:avLst/>
          </a:prstGeom>
          <a:noFill/>
        </p:spPr>
        <p:txBody>
          <a:bodyPr wrap="square">
            <a:spAutoFit/>
          </a:bodyPr>
          <a:lstStyle/>
          <a:p>
            <a:r>
              <a:rPr lang="es-MX">
                <a:latin typeface="Montserrat" panose="00000500000000000000" pitchFamily="2" charset="0"/>
              </a:rPr>
              <a:t>UMF 5 P. Escobedo</a:t>
            </a:r>
          </a:p>
        </p:txBody>
      </p:sp>
      <p:sp>
        <p:nvSpPr>
          <p:cNvPr id="263" name="TextBox 26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64" name="TextBox 26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22 Unidades de Medicina Familiar</a:t>
            </a:r>
          </a:p>
        </p:txBody>
      </p:sp>
      <p:sp>
        <p:nvSpPr>
          <p:cNvPr id="265" name="TextBox 264"/>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12 Unidades Médicas de tiempo completo (61 consultorios)</a:t>
            </a:r>
          </a:p>
        </p:txBody>
      </p:sp>
      <p:sp>
        <p:nvSpPr>
          <p:cNvPr id="266" name="TextBox 265"/>
          <p:cNvSpPr txBox="1"/>
          <p:nvPr/>
        </p:nvSpPr>
        <p:spPr>
          <a:xfrm>
            <a:off x="125999" y="1686477"/>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267" name="Connector 26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47600" y="9532800"/>
            <a:ext cx="7473600" cy="399600"/>
          </a:xfrm>
          <a:prstGeom prst="rect">
            <a:avLst/>
          </a:prstGeom>
          <a:noFill/>
        </p:spPr>
        <p:txBody>
          <a:bodyPr wrap="square" lIns="0" tIns="0" rIns="0" bIns="0">
            <a:spAutoFit/>
          </a:bodyPr>
          <a:lstStyle/>
          <a:p>
            <a:pPr algn="l">
              <a:defRPr sz="800">
                <a:solidFill>
                  <a:srgbClr val="FFFFFF"/>
                </a:solidFill>
                <a:latin typeface="Montserrat"/>
              </a:defRPr>
            </a:pPr>
            <a:r>
              <a:t>En el año 2025 no incluye información de HR y UMR.</a:t>
            </a:r>
            <a:br/>
            <a:r>
              <a:t>No incluye Unidades Auxiliares de Medicina Familiar, ni hospitales con servicio de medicina familiar.</a:t>
            </a:r>
            <a:br/>
            <a:r>
              <a:t>El año de proceso inicia del 26 de diciembre del año anterior al 25 de diciembre del año en curso: 2025 (del 26 de Dic de 2024 al 25 de Dic de 2025).</a:t>
            </a:r>
            <a:br/>
            <a:r>
              <a:t>Corte de información: Semana 24, 7 junio 2026</a:t>
            </a:r>
          </a:p>
        </p:txBody>
      </p:sp>
      <p:sp>
        <p:nvSpPr>
          <p:cNvPr id="269" name="TextBox 268"/>
          <p:cNvSpPr txBox="1"/>
          <p:nvPr/>
        </p:nvSpPr>
        <p:spPr>
          <a:xfrm>
            <a:off x="1912264" y="6149357"/>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(348,934 consultas)</a:t>
            </a:r>
          </a:p>
        </p:txBody>
      </p:sp>
      <p:graphicFrame>
        <p:nvGraphicFramePr>
          <p:cNvPr id="270" name="Table 269"/>
          <p:cNvGraphicFramePr>
            <a:graphicFrameLocks noGrp="1"/>
          </p:cNvGraphicFramePr>
          <p:nvPr>
            <p:extLst>
              <p:ext uri="{D42A27DB-BD31-4B8C-83A1-F6EECF244321}">
                <p14:modId xmlns:p14="http://schemas.microsoft.com/office/powerpoint/2010/main" val="2669246131"/>
              </p:ext>
            </p:extLst>
          </p:nvPr>
        </p:nvGraphicFramePr>
        <p:xfrm>
          <a:off x="151200" y="2046477"/>
          <a:ext cx="7473599" cy="2377440"/>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151200">
                <a:tc>
                  <a:txBody>
                    <a:bodyPr/>
                    <a:lstStyle/>
                    <a:p>
                      <a:pPr algn="ctr">
                        <a:defRPr sz="1000" b="1">
                          <a:solidFill>
                            <a:srgbClr val="FFFFFF"/>
                          </a:solidFill>
                          <a:latin typeface="Montserrat"/>
                        </a:defRPr>
                      </a:pPr>
                      <a:r>
                        <a:t>Unidad</a:t>
                      </a:r>
                    </a:p>
                  </a:txBody>
                  <a:tcPr anchor="ctr">
                    <a:solidFill>
                      <a:srgbClr val="006455"/>
                    </a:solidFill>
                  </a:tcPr>
                </a:tc>
                <a:tc>
                  <a:txBody>
                    <a:bodyPr/>
                    <a:lstStyle/>
                    <a:p>
                      <a:pPr algn="ctr">
                        <a:defRPr sz="1000" b="1">
                          <a:solidFill>
                            <a:srgbClr val="FFFFFF"/>
                          </a:solidFill>
                          <a:latin typeface="Montserrat"/>
                        </a:defRPr>
                      </a:pPr>
                      <a:r>
                        <a:t>2025</a:t>
                      </a:r>
                    </a:p>
                  </a:txBody>
                  <a:tcPr anchor="ctr">
                    <a:solidFill>
                      <a:srgbClr val="006455"/>
                    </a:solidFill>
                  </a:tcPr>
                </a:tc>
                <a:tc>
                  <a:txBody>
                    <a:bodyPr/>
                    <a:lstStyle/>
                    <a:p>
                      <a:pPr algn="ctr">
                        <a:defRPr sz="1000" b="1">
                          <a:solidFill>
                            <a:srgbClr val="FFFFFF"/>
                          </a:solidFill>
                          <a:latin typeface="Montserrat"/>
                        </a:defRPr>
                      </a:pPr>
                      <a:r>
                        <a:t>Incremento 2024 vs 2025</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151200">
                <a:tc>
                  <a:txBody>
                    <a:bodyPr/>
                    <a:lstStyle/>
                    <a:p>
                      <a:pPr algn="l">
                        <a:defRPr sz="1000">
                          <a:solidFill>
                            <a:srgbClr val="000000"/>
                          </a:solidFill>
                          <a:latin typeface="Montserrat"/>
                        </a:defRPr>
                      </a:pPr>
                      <a:r>
                        <a:t>UMF 2 San Cayetano</a:t>
                      </a:r>
                    </a:p>
                  </a:txBody>
                  <a:tcPr marL="0" marR="0" marT="0" marB="0">
                    <a:solidFill>
                      <a:srgbClr val="FFFFFF"/>
                    </a:solidFill>
                  </a:tcPr>
                </a:tc>
                <a:tc>
                  <a:txBody>
                    <a:bodyPr/>
                    <a:lstStyle/>
                    <a:p>
                      <a:pPr algn="ctr">
                        <a:defRPr sz="1000">
                          <a:solidFill>
                            <a:srgbClr val="000000"/>
                          </a:solidFill>
                          <a:latin typeface="Montserrat"/>
                        </a:defRPr>
                      </a:pPr>
                      <a:r>
                        <a:t>117,836</a:t>
                      </a:r>
                    </a:p>
                  </a:txBody>
                  <a:tcPr marL="0" marR="0" marT="0" marB="0">
                    <a:solidFill>
                      <a:srgbClr val="FFFFFF"/>
                    </a:solidFill>
                  </a:tcPr>
                </a:tc>
                <a:tc>
                  <a:txBody>
                    <a:bodyPr/>
                    <a:lstStyle/>
                    <a:p>
                      <a:pPr algn="ctr">
                        <a:defRPr sz="1000">
                          <a:solidFill>
                            <a:srgbClr val="000000"/>
                          </a:solidFill>
                          <a:latin typeface="Montserrat"/>
                        </a:defRPr>
                      </a:pPr>
                      <a:r>
                        <a:t>27,189</a:t>
                      </a:r>
                    </a:p>
                  </a:txBody>
                  <a:tcPr marL="0" marR="0" marT="0" marB="0">
                    <a:solidFill>
                      <a:srgbClr val="FFFFFF"/>
                    </a:solidFill>
                  </a:tcPr>
                </a:tc>
                <a:tc>
                  <a:txBody>
                    <a:bodyPr/>
                    <a:lstStyle/>
                    <a:p>
                      <a:pPr algn="ctr">
                        <a:defRPr sz="1000">
                          <a:solidFill>
                            <a:srgbClr val="000000"/>
                          </a:solidFill>
                          <a:latin typeface="Montserrat"/>
                        </a:defRPr>
                      </a:pPr>
                      <a:r>
                        <a:t>54,906</a:t>
                      </a:r>
                    </a:p>
                  </a:txBody>
                  <a:tcPr marL="0" marR="0" marT="0" marB="0">
                    <a:solidFill>
                      <a:srgbClr val="ECD3D9"/>
                    </a:solidFill>
                  </a:tcPr>
                </a:tc>
                <a:tc>
                  <a:txBody>
                    <a:bodyPr/>
                    <a:lstStyle/>
                    <a:p>
                      <a:pPr algn="ctr">
                        <a:defRPr sz="1000">
                          <a:solidFill>
                            <a:srgbClr val="000000"/>
                          </a:solidFill>
                          <a:latin typeface="Montserrat"/>
                        </a:defRPr>
                      </a:pPr>
                      <a:r>
                        <a:t>114,000</a:t>
                      </a:r>
                    </a:p>
                  </a:txBody>
                  <a:tcPr marL="0" marR="0" marT="0" marB="0">
                    <a:solidFill>
                      <a:srgbClr val="ECD3D9"/>
                    </a:solidFill>
                  </a:tcPr>
                </a:tc>
                <a:tc>
                  <a:txBody>
                    <a:bodyPr/>
                    <a:lstStyle/>
                    <a:p>
                      <a:pPr algn="ctr">
                        <a:defRPr sz="1000">
                          <a:solidFill>
                            <a:srgbClr val="000000"/>
                          </a:solidFill>
                          <a:latin typeface="Montserrat"/>
                        </a:defRPr>
                      </a:pPr>
                      <a:r>
                        <a:t>48.2%</a:t>
                      </a:r>
                    </a:p>
                  </a:txBody>
                  <a:tcPr marL="0" marR="0" marT="0" marB="0">
                    <a:solidFill>
                      <a:srgbClr val="ECD3D9"/>
                    </a:solidFill>
                  </a:tcPr>
                </a:tc>
                <a:extLst>
                  <a:ext uri="{0D108BD9-81ED-4DB2-BD59-A6C34878D82A}">
                    <a16:rowId xmlns:a16="http://schemas.microsoft.com/office/drawing/2014/main" val="10001"/>
                  </a:ext>
                </a:extLst>
              </a:tr>
              <a:tr h="151200">
                <a:tc>
                  <a:txBody>
                    <a:bodyPr/>
                    <a:lstStyle/>
                    <a:p>
                      <a:pPr algn="l">
                        <a:defRPr sz="1000">
                          <a:solidFill>
                            <a:srgbClr val="000000"/>
                          </a:solidFill>
                          <a:latin typeface="Montserrat"/>
                        </a:defRPr>
                      </a:pPr>
                      <a:r>
                        <a:t>UMF 6 S. Juan del Río</a:t>
                      </a:r>
                    </a:p>
                  </a:txBody>
                  <a:tcPr marL="0" marR="0" marT="0" marB="0">
                    <a:solidFill>
                      <a:srgbClr val="EFEFEF"/>
                    </a:solidFill>
                  </a:tcPr>
                </a:tc>
                <a:tc>
                  <a:txBody>
                    <a:bodyPr/>
                    <a:lstStyle/>
                    <a:p>
                      <a:pPr algn="ctr">
                        <a:defRPr sz="1000">
                          <a:solidFill>
                            <a:srgbClr val="000000"/>
                          </a:solidFill>
                          <a:latin typeface="Montserrat"/>
                        </a:defRPr>
                      </a:pPr>
                      <a:r>
                        <a:t>192,456</a:t>
                      </a:r>
                    </a:p>
                  </a:txBody>
                  <a:tcPr marL="0" marR="0" marT="0" marB="0">
                    <a:solidFill>
                      <a:srgbClr val="EFEFEF"/>
                    </a:solidFill>
                  </a:tcPr>
                </a:tc>
                <a:tc>
                  <a:txBody>
                    <a:bodyPr/>
                    <a:lstStyle/>
                    <a:p>
                      <a:pPr algn="ctr">
                        <a:defRPr sz="1000">
                          <a:solidFill>
                            <a:srgbClr val="000000"/>
                          </a:solidFill>
                          <a:latin typeface="Montserrat"/>
                        </a:defRPr>
                      </a:pPr>
                      <a:r>
                        <a:t>21,444</a:t>
                      </a:r>
                    </a:p>
                  </a:txBody>
                  <a:tcPr marL="0" marR="0" marT="0" marB="0">
                    <a:solidFill>
                      <a:srgbClr val="EFEFEF"/>
                    </a:solidFill>
                  </a:tcPr>
                </a:tc>
                <a:tc>
                  <a:txBody>
                    <a:bodyPr/>
                    <a:lstStyle/>
                    <a:p>
                      <a:pPr algn="ctr">
                        <a:defRPr sz="1000">
                          <a:solidFill>
                            <a:srgbClr val="000000"/>
                          </a:solidFill>
                          <a:latin typeface="Montserrat"/>
                        </a:defRPr>
                      </a:pPr>
                      <a:r>
                        <a:t>85,150</a:t>
                      </a:r>
                    </a:p>
                  </a:txBody>
                  <a:tcPr marL="0" marR="0" marT="0" marB="0">
                    <a:solidFill>
                      <a:srgbClr val="ECD3D9"/>
                    </a:solidFill>
                  </a:tcPr>
                </a:tc>
                <a:tc>
                  <a:txBody>
                    <a:bodyPr/>
                    <a:lstStyle/>
                    <a:p>
                      <a:pPr algn="ctr">
                        <a:defRPr sz="1000">
                          <a:solidFill>
                            <a:srgbClr val="000000"/>
                          </a:solidFill>
                          <a:latin typeface="Montserrat"/>
                        </a:defRPr>
                      </a:pPr>
                      <a:r>
                        <a:t>187,000</a:t>
                      </a:r>
                    </a:p>
                  </a:txBody>
                  <a:tcPr marL="0" marR="0" marT="0" marB="0">
                    <a:solidFill>
                      <a:srgbClr val="ECD3D9"/>
                    </a:solidFill>
                  </a:tcPr>
                </a:tc>
                <a:tc>
                  <a:txBody>
                    <a:bodyPr/>
                    <a:lstStyle/>
                    <a:p>
                      <a:pPr algn="ctr">
                        <a:defRPr sz="1000">
                          <a:solidFill>
                            <a:srgbClr val="000000"/>
                          </a:solidFill>
                          <a:latin typeface="Montserrat"/>
                        </a:defRPr>
                      </a:pPr>
                      <a:r>
                        <a:t>45.5%</a:t>
                      </a:r>
                    </a:p>
                  </a:txBody>
                  <a:tcPr marL="0" marR="0" marT="0" marB="0">
                    <a:solidFill>
                      <a:srgbClr val="ECD3D9"/>
                    </a:solidFill>
                  </a:tcPr>
                </a:tc>
                <a:extLst>
                  <a:ext uri="{0D108BD9-81ED-4DB2-BD59-A6C34878D82A}">
                    <a16:rowId xmlns:a16="http://schemas.microsoft.com/office/drawing/2014/main" val="10002"/>
                  </a:ext>
                </a:extLst>
              </a:tr>
              <a:tr h="151200">
                <a:tc>
                  <a:txBody>
                    <a:bodyPr/>
                    <a:lstStyle/>
                    <a:p>
                      <a:pPr algn="l">
                        <a:defRPr sz="1000">
                          <a:solidFill>
                            <a:srgbClr val="000000"/>
                          </a:solidFill>
                          <a:latin typeface="Montserrat"/>
                        </a:defRPr>
                      </a:pPr>
                      <a:r>
                        <a:t>UMF 13 Querétaro</a:t>
                      </a:r>
                    </a:p>
                  </a:txBody>
                  <a:tcPr marL="0" marR="0" marT="0" marB="0">
                    <a:solidFill>
                      <a:srgbClr val="FFFFFF"/>
                    </a:solidFill>
                  </a:tcPr>
                </a:tc>
                <a:tc>
                  <a:txBody>
                    <a:bodyPr/>
                    <a:lstStyle/>
                    <a:p>
                      <a:pPr algn="ctr">
                        <a:defRPr sz="1000">
                          <a:solidFill>
                            <a:srgbClr val="000000"/>
                          </a:solidFill>
                          <a:latin typeface="Montserrat"/>
                        </a:defRPr>
                      </a:pPr>
                      <a:r>
                        <a:t>264,584</a:t>
                      </a:r>
                    </a:p>
                  </a:txBody>
                  <a:tcPr marL="0" marR="0" marT="0" marB="0">
                    <a:solidFill>
                      <a:srgbClr val="FFFFFF"/>
                    </a:solidFill>
                  </a:tcPr>
                </a:tc>
                <a:tc>
                  <a:txBody>
                    <a:bodyPr/>
                    <a:lstStyle/>
                    <a:p>
                      <a:pPr algn="ctr">
                        <a:defRPr sz="1000">
                          <a:solidFill>
                            <a:srgbClr val="000000"/>
                          </a:solidFill>
                          <a:latin typeface="Montserrat"/>
                        </a:defRPr>
                      </a:pPr>
                      <a:r>
                        <a:t>28,506</a:t>
                      </a:r>
                    </a:p>
                  </a:txBody>
                  <a:tcPr marL="0" marR="0" marT="0" marB="0">
                    <a:solidFill>
                      <a:srgbClr val="FFFFFF"/>
                    </a:solidFill>
                  </a:tcPr>
                </a:tc>
                <a:tc>
                  <a:txBody>
                    <a:bodyPr/>
                    <a:lstStyle/>
                    <a:p>
                      <a:pPr algn="ctr">
                        <a:defRPr sz="1000">
                          <a:solidFill>
                            <a:srgbClr val="000000"/>
                          </a:solidFill>
                          <a:latin typeface="Montserrat"/>
                        </a:defRPr>
                      </a:pPr>
                      <a:r>
                        <a:t>117,845</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42.8%</a:t>
                      </a:r>
                    </a:p>
                  </a:txBody>
                  <a:tcPr marL="0" marR="0" marT="0" marB="0">
                    <a:solidFill>
                      <a:srgbClr val="ECD3D9"/>
                    </a:solidFill>
                  </a:tcPr>
                </a:tc>
                <a:extLst>
                  <a:ext uri="{0D108BD9-81ED-4DB2-BD59-A6C34878D82A}">
                    <a16:rowId xmlns:a16="http://schemas.microsoft.com/office/drawing/2014/main" val="10003"/>
                  </a:ext>
                </a:extLst>
              </a:tr>
              <a:tr h="151200">
                <a:tc>
                  <a:txBody>
                    <a:bodyPr/>
                    <a:lstStyle/>
                    <a:p>
                      <a:pPr algn="l">
                        <a:defRPr sz="1000">
                          <a:solidFill>
                            <a:srgbClr val="000000"/>
                          </a:solidFill>
                          <a:latin typeface="Montserrat"/>
                        </a:defRPr>
                      </a:pPr>
                      <a:r>
                        <a:t>UMF 16 Querétaro</a:t>
                      </a:r>
                    </a:p>
                  </a:txBody>
                  <a:tcPr marL="0" marR="0" marT="0" marB="0">
                    <a:solidFill>
                      <a:srgbClr val="EFEFEF"/>
                    </a:solidFill>
                  </a:tcPr>
                </a:tc>
                <a:tc>
                  <a:txBody>
                    <a:bodyPr/>
                    <a:lstStyle/>
                    <a:p>
                      <a:pPr algn="ctr">
                        <a:defRPr sz="1000">
                          <a:solidFill>
                            <a:srgbClr val="000000"/>
                          </a:solidFill>
                          <a:latin typeface="Montserrat"/>
                        </a:defRPr>
                      </a:pPr>
                      <a:r>
                        <a:t>234,952</a:t>
                      </a:r>
                    </a:p>
                  </a:txBody>
                  <a:tcPr marL="0" marR="0" marT="0" marB="0">
                    <a:solidFill>
                      <a:srgbClr val="EFEFEF"/>
                    </a:solidFill>
                  </a:tcPr>
                </a:tc>
                <a:tc>
                  <a:txBody>
                    <a:bodyPr/>
                    <a:lstStyle/>
                    <a:p>
                      <a:pPr algn="ctr">
                        <a:defRPr sz="1000">
                          <a:solidFill>
                            <a:srgbClr val="000000"/>
                          </a:solidFill>
                          <a:latin typeface="Montserrat"/>
                        </a:defRPr>
                      </a:pPr>
                      <a:r>
                        <a:t>29,078</a:t>
                      </a:r>
                    </a:p>
                  </a:txBody>
                  <a:tcPr marL="0" marR="0" marT="0" marB="0">
                    <a:solidFill>
                      <a:srgbClr val="EFEFEF"/>
                    </a:solidFill>
                  </a:tcPr>
                </a:tc>
                <a:tc>
                  <a:txBody>
                    <a:bodyPr/>
                    <a:lstStyle/>
                    <a:p>
                      <a:pPr algn="ctr">
                        <a:defRPr sz="1000">
                          <a:solidFill>
                            <a:srgbClr val="000000"/>
                          </a:solidFill>
                          <a:latin typeface="Montserrat"/>
                        </a:defRPr>
                      </a:pPr>
                      <a:r>
                        <a:t>106,268</a:t>
                      </a:r>
                    </a:p>
                  </a:txBody>
                  <a:tcPr marL="0" marR="0" marT="0" marB="0">
                    <a:solidFill>
                      <a:srgbClr val="ECD3D9"/>
                    </a:solidFill>
                  </a:tcPr>
                </a:tc>
                <a:tc>
                  <a:txBody>
                    <a:bodyPr/>
                    <a:lstStyle/>
                    <a:p>
                      <a:pPr algn="ctr">
                        <a:defRPr sz="1000">
                          <a:solidFill>
                            <a:srgbClr val="000000"/>
                          </a:solidFill>
                          <a:latin typeface="Montserrat"/>
                        </a:defRPr>
                      </a:pPr>
                      <a:r>
                        <a:t>228,000</a:t>
                      </a:r>
                    </a:p>
                  </a:txBody>
                  <a:tcPr marL="0" marR="0" marT="0" marB="0">
                    <a:solidFill>
                      <a:srgbClr val="ECD3D9"/>
                    </a:solidFill>
                  </a:tcPr>
                </a:tc>
                <a:tc>
                  <a:txBody>
                    <a:bodyPr/>
                    <a:lstStyle/>
                    <a:p>
                      <a:pPr algn="ctr">
                        <a:defRPr sz="1000">
                          <a:solidFill>
                            <a:srgbClr val="000000"/>
                          </a:solidFill>
                          <a:latin typeface="Montserrat"/>
                        </a:defRPr>
                      </a:pPr>
                      <a:r>
                        <a:t>46.6%</a:t>
                      </a:r>
                    </a:p>
                  </a:txBody>
                  <a:tcPr marL="0" marR="0" marT="0" marB="0">
                    <a:solidFill>
                      <a:srgbClr val="ECD3D9"/>
                    </a:solidFill>
                  </a:tcPr>
                </a:tc>
                <a:extLst>
                  <a:ext uri="{0D108BD9-81ED-4DB2-BD59-A6C34878D82A}">
                    <a16:rowId xmlns:a16="http://schemas.microsoft.com/office/drawing/2014/main" val="10004"/>
                  </a:ext>
                </a:extLst>
              </a:tr>
              <a:tr h="151200">
                <a:tc>
                  <a:txBody>
                    <a:bodyPr/>
                    <a:lstStyle/>
                    <a:p>
                      <a:pPr algn="l">
                        <a:defRPr sz="1000">
                          <a:solidFill>
                            <a:srgbClr val="000000"/>
                          </a:solidFill>
                          <a:latin typeface="Montserrat"/>
                        </a:defRPr>
                      </a:pPr>
                      <a:r>
                        <a:t>UMF 11 S. R. Jaúregui</a:t>
                      </a:r>
                    </a:p>
                  </a:txBody>
                  <a:tcPr marL="0" marR="0" marT="0" marB="0">
                    <a:solidFill>
                      <a:srgbClr val="FFFFFF"/>
                    </a:solidFill>
                  </a:tcPr>
                </a:tc>
                <a:tc>
                  <a:txBody>
                    <a:bodyPr/>
                    <a:lstStyle/>
                    <a:p>
                      <a:pPr algn="ctr">
                        <a:defRPr sz="1000">
                          <a:solidFill>
                            <a:srgbClr val="000000"/>
                          </a:solidFill>
                          <a:latin typeface="Montserrat"/>
                        </a:defRPr>
                      </a:pPr>
                      <a:r>
                        <a:t>147,570</a:t>
                      </a:r>
                    </a:p>
                  </a:txBody>
                  <a:tcPr marL="0" marR="0" marT="0" marB="0">
                    <a:solidFill>
                      <a:srgbClr val="FFFFFF"/>
                    </a:solidFill>
                  </a:tcPr>
                </a:tc>
                <a:tc>
                  <a:txBody>
                    <a:bodyPr/>
                    <a:lstStyle/>
                    <a:p>
                      <a:pPr algn="ctr">
                        <a:defRPr sz="1000">
                          <a:solidFill>
                            <a:srgbClr val="000000"/>
                          </a:solidFill>
                          <a:latin typeface="Montserrat"/>
                        </a:defRPr>
                      </a:pPr>
                      <a:r>
                        <a:t>27,396</a:t>
                      </a:r>
                    </a:p>
                  </a:txBody>
                  <a:tcPr marL="0" marR="0" marT="0" marB="0">
                    <a:solidFill>
                      <a:srgbClr val="FFFFFF"/>
                    </a:solidFill>
                  </a:tcPr>
                </a:tc>
                <a:tc>
                  <a:txBody>
                    <a:bodyPr/>
                    <a:lstStyle/>
                    <a:p>
                      <a:pPr algn="ctr">
                        <a:defRPr sz="1000">
                          <a:solidFill>
                            <a:srgbClr val="000000"/>
                          </a:solidFill>
                          <a:latin typeface="Montserrat"/>
                        </a:defRPr>
                      </a:pPr>
                      <a:r>
                        <a:t>66,694</a:t>
                      </a:r>
                    </a:p>
                  </a:txBody>
                  <a:tcPr marL="0" marR="0" marT="0" marB="0">
                    <a:solidFill>
                      <a:srgbClr val="ECD3D9"/>
                    </a:solidFill>
                  </a:tcPr>
                </a:tc>
                <a:tc>
                  <a:txBody>
                    <a:bodyPr/>
                    <a:lstStyle/>
                    <a:p>
                      <a:pPr algn="ctr">
                        <a:defRPr sz="1000">
                          <a:solidFill>
                            <a:srgbClr val="000000"/>
                          </a:solidFill>
                          <a:latin typeface="Montserrat"/>
                        </a:defRPr>
                      </a:pPr>
                      <a:r>
                        <a:t>144,000</a:t>
                      </a:r>
                    </a:p>
                  </a:txBody>
                  <a:tcPr marL="0" marR="0" marT="0" marB="0">
                    <a:solidFill>
                      <a:srgbClr val="ECD3D9"/>
                    </a:solidFill>
                  </a:tcPr>
                </a:tc>
                <a:tc>
                  <a:txBody>
                    <a:bodyPr/>
                    <a:lstStyle/>
                    <a:p>
                      <a:pPr algn="ctr">
                        <a:defRPr sz="1000">
                          <a:solidFill>
                            <a:srgbClr val="000000"/>
                          </a:solidFill>
                          <a:latin typeface="Montserrat"/>
                        </a:defRPr>
                      </a:pPr>
                      <a:r>
                        <a:t>46.3%</a:t>
                      </a:r>
                    </a:p>
                  </a:txBody>
                  <a:tcPr marL="0" marR="0" marT="0" marB="0">
                    <a:solidFill>
                      <a:srgbClr val="ECD3D9"/>
                    </a:solidFill>
                  </a:tcPr>
                </a:tc>
                <a:extLst>
                  <a:ext uri="{0D108BD9-81ED-4DB2-BD59-A6C34878D82A}">
                    <a16:rowId xmlns:a16="http://schemas.microsoft.com/office/drawing/2014/main" val="10005"/>
                  </a:ext>
                </a:extLst>
              </a:tr>
              <a:tr h="151200">
                <a:tc>
                  <a:txBody>
                    <a:bodyPr/>
                    <a:lstStyle/>
                    <a:p>
                      <a:pPr algn="l">
                        <a:defRPr sz="1000">
                          <a:solidFill>
                            <a:srgbClr val="000000"/>
                          </a:solidFill>
                          <a:latin typeface="Montserrat"/>
                        </a:defRPr>
                      </a:pPr>
                      <a:r>
                        <a:t>UMF 14 El Pueblito</a:t>
                      </a:r>
                    </a:p>
                  </a:txBody>
                  <a:tcPr marL="0" marR="0" marT="0" marB="0">
                    <a:solidFill>
                      <a:srgbClr val="EFEFEF"/>
                    </a:solidFill>
                  </a:tcPr>
                </a:tc>
                <a:tc>
                  <a:txBody>
                    <a:bodyPr/>
                    <a:lstStyle/>
                    <a:p>
                      <a:pPr algn="ctr">
                        <a:defRPr sz="1000">
                          <a:solidFill>
                            <a:srgbClr val="000000"/>
                          </a:solidFill>
                          <a:latin typeface="Montserrat"/>
                        </a:defRPr>
                      </a:pPr>
                      <a:r>
                        <a:t>99,932</a:t>
                      </a:r>
                    </a:p>
                  </a:txBody>
                  <a:tcPr marL="0" marR="0" marT="0" marB="0">
                    <a:solidFill>
                      <a:srgbClr val="EFEFEF"/>
                    </a:solidFill>
                  </a:tcPr>
                </a:tc>
                <a:tc>
                  <a:txBody>
                    <a:bodyPr/>
                    <a:lstStyle/>
                    <a:p>
                      <a:pPr algn="ctr">
                        <a:defRPr sz="1000">
                          <a:solidFill>
                            <a:srgbClr val="000000"/>
                          </a:solidFill>
                          <a:latin typeface="Montserrat"/>
                        </a:defRPr>
                      </a:pPr>
                      <a:r>
                        <a:t>5,532</a:t>
                      </a:r>
                    </a:p>
                  </a:txBody>
                  <a:tcPr marL="0" marR="0" marT="0" marB="0">
                    <a:solidFill>
                      <a:srgbClr val="EFEFEF"/>
                    </a:solidFill>
                  </a:tcPr>
                </a:tc>
                <a:tc>
                  <a:txBody>
                    <a:bodyPr/>
                    <a:lstStyle/>
                    <a:p>
                      <a:pPr algn="ctr">
                        <a:defRPr sz="1000">
                          <a:solidFill>
                            <a:srgbClr val="000000"/>
                          </a:solidFill>
                          <a:latin typeface="Montserrat"/>
                        </a:defRPr>
                      </a:pPr>
                      <a:r>
                        <a:t>44,557</a:t>
                      </a:r>
                    </a:p>
                  </a:txBody>
                  <a:tcPr marL="0" marR="0" marT="0" marB="0">
                    <a:solidFill>
                      <a:srgbClr val="ECD3D9"/>
                    </a:solidFill>
                  </a:tcPr>
                </a:tc>
                <a:tc>
                  <a:txBody>
                    <a:bodyPr/>
                    <a:lstStyle/>
                    <a:p>
                      <a:pPr algn="ctr">
                        <a:defRPr sz="1000">
                          <a:solidFill>
                            <a:srgbClr val="000000"/>
                          </a:solidFill>
                          <a:latin typeface="Montserrat"/>
                        </a:defRPr>
                      </a:pPr>
                      <a:r>
                        <a:t>97,000</a:t>
                      </a:r>
                    </a:p>
                  </a:txBody>
                  <a:tcPr marL="0" marR="0" marT="0" marB="0">
                    <a:solidFill>
                      <a:srgbClr val="ECD3D9"/>
                    </a:solidFill>
                  </a:tcPr>
                </a:tc>
                <a:tc>
                  <a:txBody>
                    <a:bodyPr/>
                    <a:lstStyle/>
                    <a:p>
                      <a:pPr algn="ctr">
                        <a:defRPr sz="1000">
                          <a:solidFill>
                            <a:srgbClr val="000000"/>
                          </a:solidFill>
                          <a:latin typeface="Montserrat"/>
                        </a:defRPr>
                      </a:pPr>
                      <a:r>
                        <a:t>45.9%</a:t>
                      </a:r>
                    </a:p>
                  </a:txBody>
                  <a:tcPr marL="0" marR="0" marT="0" marB="0">
                    <a:solidFill>
                      <a:srgbClr val="ECD3D9"/>
                    </a:solidFill>
                  </a:tcPr>
                </a:tc>
                <a:extLst>
                  <a:ext uri="{0D108BD9-81ED-4DB2-BD59-A6C34878D82A}">
                    <a16:rowId xmlns:a16="http://schemas.microsoft.com/office/drawing/2014/main" val="10006"/>
                  </a:ext>
                </a:extLst>
              </a:tr>
              <a:tr h="151200">
                <a:tc>
                  <a:txBody>
                    <a:bodyPr/>
                    <a:lstStyle/>
                    <a:p>
                      <a:pPr algn="l">
                        <a:defRPr sz="1000">
                          <a:solidFill>
                            <a:srgbClr val="000000"/>
                          </a:solidFill>
                          <a:latin typeface="Montserrat"/>
                        </a:defRPr>
                      </a:pPr>
                      <a:r>
                        <a:t>UMF 9 Del Tintero</a:t>
                      </a:r>
                    </a:p>
                  </a:txBody>
                  <a:tcPr marL="0" marR="0" marT="0" marB="0">
                    <a:solidFill>
                      <a:srgbClr val="FFFFFF"/>
                    </a:solidFill>
                  </a:tcPr>
                </a:tc>
                <a:tc>
                  <a:txBody>
                    <a:bodyPr/>
                    <a:lstStyle/>
                    <a:p>
                      <a:pPr algn="ctr">
                        <a:defRPr sz="1000">
                          <a:solidFill>
                            <a:srgbClr val="000000"/>
                          </a:solidFill>
                          <a:latin typeface="Montserrat"/>
                        </a:defRPr>
                      </a:pPr>
                      <a:r>
                        <a:t>276,369</a:t>
                      </a:r>
                    </a:p>
                  </a:txBody>
                  <a:tcPr marL="0" marR="0" marT="0" marB="0">
                    <a:solidFill>
                      <a:srgbClr val="FFFFFF"/>
                    </a:solidFill>
                  </a:tcPr>
                </a:tc>
                <a:tc>
                  <a:txBody>
                    <a:bodyPr/>
                    <a:lstStyle/>
                    <a:p>
                      <a:pPr algn="ctr">
                        <a:defRPr sz="1000">
                          <a:solidFill>
                            <a:srgbClr val="000000"/>
                          </a:solidFill>
                          <a:latin typeface="Montserrat"/>
                        </a:defRPr>
                      </a:pPr>
                      <a:r>
                        <a:t>16,911</a:t>
                      </a:r>
                    </a:p>
                  </a:txBody>
                  <a:tcPr marL="0" marR="0" marT="0" marB="0">
                    <a:solidFill>
                      <a:srgbClr val="FFFFFF"/>
                    </a:solidFill>
                  </a:tcPr>
                </a:tc>
                <a:tc>
                  <a:txBody>
                    <a:bodyPr/>
                    <a:lstStyle/>
                    <a:p>
                      <a:pPr algn="ctr">
                        <a:defRPr sz="1000">
                          <a:solidFill>
                            <a:srgbClr val="000000"/>
                          </a:solidFill>
                          <a:latin typeface="Montserrat"/>
                        </a:defRPr>
                      </a:pPr>
                      <a:r>
                        <a:t>124,083</a:t>
                      </a:r>
                    </a:p>
                  </a:txBody>
                  <a:tcPr marL="0" marR="0" marT="0" marB="0">
                    <a:solidFill>
                      <a:srgbClr val="ECD3D9"/>
                    </a:solidFill>
                  </a:tcPr>
                </a:tc>
                <a:tc>
                  <a:txBody>
                    <a:bodyPr/>
                    <a:lstStyle/>
                    <a:p>
                      <a:pPr algn="ctr">
                        <a:defRPr sz="1000">
                          <a:solidFill>
                            <a:srgbClr val="000000"/>
                          </a:solidFill>
                          <a:latin typeface="Montserrat"/>
                        </a:defRPr>
                      </a:pPr>
                      <a:r>
                        <a:t>269,000</a:t>
                      </a:r>
                    </a:p>
                  </a:txBody>
                  <a:tcPr marL="0" marR="0" marT="0" marB="0">
                    <a:solidFill>
                      <a:srgbClr val="ECD3D9"/>
                    </a:solidFill>
                  </a:tcPr>
                </a:tc>
                <a:tc>
                  <a:txBody>
                    <a:bodyPr/>
                    <a:lstStyle/>
                    <a:p>
                      <a:pPr algn="ctr">
                        <a:defRPr sz="1000">
                          <a:solidFill>
                            <a:srgbClr val="000000"/>
                          </a:solidFill>
                          <a:latin typeface="Montserrat"/>
                        </a:defRPr>
                      </a:pPr>
                      <a:r>
                        <a:t>46.1%</a:t>
                      </a:r>
                    </a:p>
                  </a:txBody>
                  <a:tcPr marL="0" marR="0" marT="0" marB="0">
                    <a:solidFill>
                      <a:srgbClr val="ECD3D9"/>
                    </a:solidFill>
                  </a:tcPr>
                </a:tc>
                <a:extLst>
                  <a:ext uri="{0D108BD9-81ED-4DB2-BD59-A6C34878D82A}">
                    <a16:rowId xmlns:a16="http://schemas.microsoft.com/office/drawing/2014/main" val="10007"/>
                  </a:ext>
                </a:extLst>
              </a:tr>
              <a:tr h="151200">
                <a:tc>
                  <a:txBody>
                    <a:bodyPr/>
                    <a:lstStyle/>
                    <a:p>
                      <a:pPr algn="l">
                        <a:defRPr sz="1000">
                          <a:solidFill>
                            <a:srgbClr val="000000"/>
                          </a:solidFill>
                          <a:latin typeface="Montserrat"/>
                        </a:defRPr>
                      </a:pPr>
                      <a:r>
                        <a:t>UMF 15 Querétaro</a:t>
                      </a:r>
                    </a:p>
                  </a:txBody>
                  <a:tcPr marL="0" marR="0" marT="0" marB="0">
                    <a:solidFill>
                      <a:srgbClr val="EFEFEF"/>
                    </a:solidFill>
                  </a:tcPr>
                </a:tc>
                <a:tc>
                  <a:txBody>
                    <a:bodyPr/>
                    <a:lstStyle/>
                    <a:p>
                      <a:pPr algn="ctr">
                        <a:defRPr sz="1000">
                          <a:solidFill>
                            <a:srgbClr val="000000"/>
                          </a:solidFill>
                          <a:latin typeface="Montserrat"/>
                        </a:defRPr>
                      </a:pPr>
                      <a:r>
                        <a:t>203,089</a:t>
                      </a:r>
                    </a:p>
                  </a:txBody>
                  <a:tcPr marL="0" marR="0" marT="0" marB="0">
                    <a:solidFill>
                      <a:srgbClr val="EFEFEF"/>
                    </a:solidFill>
                  </a:tcPr>
                </a:tc>
                <a:tc>
                  <a:txBody>
                    <a:bodyPr/>
                    <a:lstStyle/>
                    <a:p>
                      <a:pPr algn="ctr">
                        <a:defRPr sz="1000">
                          <a:solidFill>
                            <a:srgbClr val="000000"/>
                          </a:solidFill>
                          <a:latin typeface="Montserrat"/>
                        </a:defRPr>
                      </a:pPr>
                      <a:r>
                        <a:t>6,949</a:t>
                      </a:r>
                    </a:p>
                  </a:txBody>
                  <a:tcPr marL="0" marR="0" marT="0" marB="0">
                    <a:solidFill>
                      <a:srgbClr val="EFEFEF"/>
                    </a:solidFill>
                  </a:tcPr>
                </a:tc>
                <a:tc>
                  <a:txBody>
                    <a:bodyPr/>
                    <a:lstStyle/>
                    <a:p>
                      <a:pPr algn="ctr">
                        <a:defRPr sz="1000">
                          <a:solidFill>
                            <a:srgbClr val="000000"/>
                          </a:solidFill>
                          <a:latin typeface="Montserrat"/>
                        </a:defRPr>
                      </a:pPr>
                      <a:r>
                        <a:t>89,095</a:t>
                      </a:r>
                    </a:p>
                  </a:txBody>
                  <a:tcPr marL="0" marR="0" marT="0" marB="0">
                    <a:solidFill>
                      <a:srgbClr val="ECD3D9"/>
                    </a:solidFill>
                  </a:tcPr>
                </a:tc>
                <a:tc>
                  <a:txBody>
                    <a:bodyPr/>
                    <a:lstStyle/>
                    <a:p>
                      <a:pPr algn="ctr">
                        <a:defRPr sz="1000">
                          <a:solidFill>
                            <a:srgbClr val="000000"/>
                          </a:solidFill>
                          <a:latin typeface="Montserrat"/>
                        </a:defRPr>
                      </a:pPr>
                      <a:r>
                        <a:t>198,000</a:t>
                      </a:r>
                    </a:p>
                  </a:txBody>
                  <a:tcPr marL="0" marR="0" marT="0" marB="0">
                    <a:solidFill>
                      <a:srgbClr val="ECD3D9"/>
                    </a:solidFill>
                  </a:tcPr>
                </a:tc>
                <a:tc>
                  <a:txBody>
                    <a:bodyPr/>
                    <a:lstStyle/>
                    <a:p>
                      <a:pPr algn="ctr">
                        <a:defRPr sz="1000">
                          <a:solidFill>
                            <a:srgbClr val="000000"/>
                          </a:solidFill>
                          <a:latin typeface="Montserrat"/>
                        </a:defRPr>
                      </a:pPr>
                      <a:r>
                        <a:t>45.0%</a:t>
                      </a:r>
                    </a:p>
                  </a:txBody>
                  <a:tcPr marL="0" marR="0" marT="0" marB="0">
                    <a:solidFill>
                      <a:srgbClr val="ECD3D9"/>
                    </a:solidFill>
                  </a:tcPr>
                </a:tc>
                <a:extLst>
                  <a:ext uri="{0D108BD9-81ED-4DB2-BD59-A6C34878D82A}">
                    <a16:rowId xmlns:a16="http://schemas.microsoft.com/office/drawing/2014/main" val="10008"/>
                  </a:ext>
                </a:extLst>
              </a:tr>
              <a:tr h="151200">
                <a:tc>
                  <a:txBody>
                    <a:bodyPr/>
                    <a:lstStyle/>
                    <a:p>
                      <a:pPr algn="l">
                        <a:defRPr sz="1000">
                          <a:solidFill>
                            <a:srgbClr val="000000"/>
                          </a:solidFill>
                          <a:latin typeface="Montserrat"/>
                        </a:defRPr>
                      </a:pPr>
                      <a:r>
                        <a:t>UMF 7 S. Juan del Río</a:t>
                      </a:r>
                    </a:p>
                  </a:txBody>
                  <a:tcPr marL="0" marR="0" marT="0" marB="0">
                    <a:solidFill>
                      <a:srgbClr val="FFFFFF"/>
                    </a:solidFill>
                  </a:tcPr>
                </a:tc>
                <a:tc>
                  <a:txBody>
                    <a:bodyPr/>
                    <a:lstStyle/>
                    <a:p>
                      <a:pPr algn="ctr">
                        <a:defRPr sz="1000">
                          <a:solidFill>
                            <a:srgbClr val="000000"/>
                          </a:solidFill>
                          <a:latin typeface="Montserrat"/>
                        </a:defRPr>
                      </a:pPr>
                      <a:r>
                        <a:t>175,329</a:t>
                      </a:r>
                    </a:p>
                  </a:txBody>
                  <a:tcPr marL="0" marR="0" marT="0" marB="0">
                    <a:solidFill>
                      <a:srgbClr val="FFFFFF"/>
                    </a:solidFill>
                  </a:tcPr>
                </a:tc>
                <a:tc>
                  <a:txBody>
                    <a:bodyPr/>
                    <a:lstStyle/>
                    <a:p>
                      <a:pPr algn="ctr">
                        <a:defRPr sz="1000">
                          <a:solidFill>
                            <a:srgbClr val="000000"/>
                          </a:solidFill>
                          <a:latin typeface="Montserrat"/>
                        </a:defRPr>
                      </a:pPr>
                      <a:r>
                        <a:t>48,650</a:t>
                      </a:r>
                    </a:p>
                  </a:txBody>
                  <a:tcPr marL="0" marR="0" marT="0" marB="0">
                    <a:solidFill>
                      <a:srgbClr val="FFFFFF"/>
                    </a:solidFill>
                  </a:tcPr>
                </a:tc>
                <a:tc>
                  <a:txBody>
                    <a:bodyPr/>
                    <a:lstStyle/>
                    <a:p>
                      <a:pPr algn="ctr">
                        <a:defRPr sz="1000">
                          <a:solidFill>
                            <a:srgbClr val="000000"/>
                          </a:solidFill>
                          <a:latin typeface="Montserrat"/>
                        </a:defRPr>
                      </a:pPr>
                      <a:r>
                        <a:t>85,159</a:t>
                      </a:r>
                    </a:p>
                  </a:txBody>
                  <a:tcPr marL="0" marR="0" marT="0" marB="0">
                    <a:solidFill>
                      <a:srgbClr val="ECD3D9"/>
                    </a:solidFill>
                  </a:tcPr>
                </a:tc>
                <a:tc>
                  <a:txBody>
                    <a:bodyPr/>
                    <a:lstStyle/>
                    <a:p>
                      <a:pPr algn="ctr">
                        <a:defRPr sz="1000">
                          <a:solidFill>
                            <a:srgbClr val="000000"/>
                          </a:solidFill>
                          <a:latin typeface="Montserrat"/>
                        </a:defRPr>
                      </a:pPr>
                      <a:r>
                        <a:t>179,088</a:t>
                      </a:r>
                    </a:p>
                  </a:txBody>
                  <a:tcPr marL="0" marR="0" marT="0" marB="0">
                    <a:solidFill>
                      <a:srgbClr val="ECD3D9"/>
                    </a:solidFill>
                  </a:tcPr>
                </a:tc>
                <a:tc>
                  <a:txBody>
                    <a:bodyPr/>
                    <a:lstStyle/>
                    <a:p>
                      <a:pPr algn="ctr">
                        <a:defRPr sz="1000">
                          <a:solidFill>
                            <a:srgbClr val="000000"/>
                          </a:solidFill>
                          <a:latin typeface="Montserrat"/>
                        </a:defRPr>
                      </a:pPr>
                      <a:r>
                        <a:t>47.6%</a:t>
                      </a:r>
                    </a:p>
                  </a:txBody>
                  <a:tcPr marL="0" marR="0" marT="0" marB="0">
                    <a:solidFill>
                      <a:srgbClr val="ECD3D9"/>
                    </a:solidFill>
                  </a:tcPr>
                </a:tc>
                <a:extLst>
                  <a:ext uri="{0D108BD9-81ED-4DB2-BD59-A6C34878D82A}">
                    <a16:rowId xmlns:a16="http://schemas.microsoft.com/office/drawing/2014/main" val="10009"/>
                  </a:ext>
                </a:extLst>
              </a:tr>
              <a:tr h="151200">
                <a:tc>
                  <a:txBody>
                    <a:bodyPr/>
                    <a:lstStyle/>
                    <a:p>
                      <a:pPr algn="l">
                        <a:defRPr sz="1000">
                          <a:solidFill>
                            <a:srgbClr val="000000"/>
                          </a:solidFill>
                          <a:latin typeface="Montserrat"/>
                        </a:defRPr>
                      </a:pPr>
                      <a:r>
                        <a:t>UMF 10 S. Gregorio</a:t>
                      </a:r>
                    </a:p>
                  </a:txBody>
                  <a:tcPr marL="0" marR="0" marT="0" marB="0">
                    <a:solidFill>
                      <a:srgbClr val="EFEFEF"/>
                    </a:solidFill>
                  </a:tcPr>
                </a:tc>
                <a:tc>
                  <a:txBody>
                    <a:bodyPr/>
                    <a:lstStyle/>
                    <a:p>
                      <a:pPr algn="ctr">
                        <a:defRPr sz="1000">
                          <a:solidFill>
                            <a:srgbClr val="000000"/>
                          </a:solidFill>
                          <a:latin typeface="Montserrat"/>
                        </a:defRPr>
                      </a:pPr>
                      <a:r>
                        <a:t>89,550</a:t>
                      </a:r>
                    </a:p>
                  </a:txBody>
                  <a:tcPr marL="0" marR="0" marT="0" marB="0">
                    <a:solidFill>
                      <a:srgbClr val="EFEFEF"/>
                    </a:solidFill>
                  </a:tcPr>
                </a:tc>
                <a:tc>
                  <a:txBody>
                    <a:bodyPr/>
                    <a:lstStyle/>
                    <a:p>
                      <a:pPr algn="ctr">
                        <a:defRPr sz="1000">
                          <a:solidFill>
                            <a:srgbClr val="000000"/>
                          </a:solidFill>
                          <a:latin typeface="Montserrat"/>
                        </a:defRPr>
                      </a:pPr>
                      <a:r>
                        <a:t>21,333</a:t>
                      </a:r>
                    </a:p>
                  </a:txBody>
                  <a:tcPr marL="0" marR="0" marT="0" marB="0">
                    <a:solidFill>
                      <a:srgbClr val="EFEFEF"/>
                    </a:solidFill>
                  </a:tcPr>
                </a:tc>
                <a:tc>
                  <a:txBody>
                    <a:bodyPr/>
                    <a:lstStyle/>
                    <a:p>
                      <a:pPr algn="ctr">
                        <a:defRPr sz="1000">
                          <a:solidFill>
                            <a:srgbClr val="000000"/>
                          </a:solidFill>
                          <a:latin typeface="Montserrat"/>
                        </a:defRPr>
                      </a:pPr>
                      <a:r>
                        <a:t>44,307</a:t>
                      </a:r>
                    </a:p>
                  </a:txBody>
                  <a:tcPr marL="0" marR="0" marT="0" marB="0">
                    <a:solidFill>
                      <a:srgbClr val="ECD3D9"/>
                    </a:solidFill>
                  </a:tcPr>
                </a:tc>
                <a:tc>
                  <a:txBody>
                    <a:bodyPr/>
                    <a:lstStyle/>
                    <a:p>
                      <a:pPr algn="ctr">
                        <a:defRPr sz="1000">
                          <a:solidFill>
                            <a:srgbClr val="000000"/>
                          </a:solidFill>
                          <a:latin typeface="Montserrat"/>
                        </a:defRPr>
                      </a:pPr>
                      <a:r>
                        <a:t>87,000</a:t>
                      </a:r>
                    </a:p>
                  </a:txBody>
                  <a:tcPr marL="0" marR="0" marT="0" marB="0">
                    <a:solidFill>
                      <a:srgbClr val="ECD3D9"/>
                    </a:solidFill>
                  </a:tcPr>
                </a:tc>
                <a:tc>
                  <a:txBody>
                    <a:bodyPr/>
                    <a:lstStyle/>
                    <a:p>
                      <a:pPr algn="ctr">
                        <a:defRPr sz="1000">
                          <a:solidFill>
                            <a:srgbClr val="000000"/>
                          </a:solidFill>
                          <a:latin typeface="Montserrat"/>
                        </a:defRPr>
                      </a:pPr>
                      <a:r>
                        <a:t>50.9%</a:t>
                      </a:r>
                    </a:p>
                  </a:txBody>
                  <a:tcPr marL="0" marR="0" marT="0" marB="0">
                    <a:solidFill>
                      <a:srgbClr val="ECD3D9"/>
                    </a:solidFill>
                  </a:tcPr>
                </a:tc>
                <a:extLst>
                  <a:ext uri="{0D108BD9-81ED-4DB2-BD59-A6C34878D82A}">
                    <a16:rowId xmlns:a16="http://schemas.microsoft.com/office/drawing/2014/main" val="10010"/>
                  </a:ext>
                </a:extLst>
              </a:tr>
              <a:tr h="151200">
                <a:tc>
                  <a:txBody>
                    <a:bodyPr/>
                    <a:lstStyle/>
                    <a:p>
                      <a:pPr algn="l">
                        <a:defRPr sz="1000">
                          <a:solidFill>
                            <a:srgbClr val="000000"/>
                          </a:solidFill>
                          <a:latin typeface="Montserrat"/>
                        </a:defRPr>
                      </a:pPr>
                      <a:r>
                        <a:t>UMF 8 El Marqués</a:t>
                      </a:r>
                    </a:p>
                  </a:txBody>
                  <a:tcPr marL="0" marR="0" marT="0" marB="0">
                    <a:solidFill>
                      <a:srgbClr val="FFFFFF"/>
                    </a:solidFill>
                  </a:tcPr>
                </a:tc>
                <a:tc>
                  <a:txBody>
                    <a:bodyPr/>
                    <a:lstStyle/>
                    <a:p>
                      <a:pPr algn="ctr">
                        <a:defRPr sz="1000">
                          <a:solidFill>
                            <a:srgbClr val="000000"/>
                          </a:solidFill>
                          <a:latin typeface="Montserrat"/>
                        </a:defRPr>
                      </a:pPr>
                      <a:r>
                        <a:t>167,301</a:t>
                      </a:r>
                    </a:p>
                  </a:txBody>
                  <a:tcPr marL="0" marR="0" marT="0" marB="0">
                    <a:solidFill>
                      <a:srgbClr val="FFFFFF"/>
                    </a:solidFill>
                  </a:tcPr>
                </a:tc>
                <a:tc>
                  <a:txBody>
                    <a:bodyPr/>
                    <a:lstStyle/>
                    <a:p>
                      <a:pPr algn="ctr">
                        <a:defRPr sz="1000">
                          <a:solidFill>
                            <a:srgbClr val="000000"/>
                          </a:solidFill>
                          <a:latin typeface="Montserrat"/>
                        </a:defRPr>
                      </a:pPr>
                      <a:r>
                        <a:t>10,694</a:t>
                      </a:r>
                    </a:p>
                  </a:txBody>
                  <a:tcPr marL="0" marR="0" marT="0" marB="0">
                    <a:solidFill>
                      <a:srgbClr val="FFFFFF"/>
                    </a:solidFill>
                  </a:tcPr>
                </a:tc>
                <a:tc>
                  <a:txBody>
                    <a:bodyPr/>
                    <a:lstStyle/>
                    <a:p>
                      <a:pPr algn="ctr">
                        <a:defRPr sz="1000">
                          <a:solidFill>
                            <a:srgbClr val="000000"/>
                          </a:solidFill>
                          <a:latin typeface="Montserrat"/>
                        </a:defRPr>
                      </a:pPr>
                      <a:r>
                        <a:t>73,795</a:t>
                      </a:r>
                    </a:p>
                  </a:txBody>
                  <a:tcPr marL="0" marR="0" marT="0" marB="0">
                    <a:solidFill>
                      <a:srgbClr val="ECD3D9"/>
                    </a:solidFill>
                  </a:tcPr>
                </a:tc>
                <a:tc>
                  <a:txBody>
                    <a:bodyPr/>
                    <a:lstStyle/>
                    <a:p>
                      <a:pPr algn="ctr">
                        <a:defRPr sz="1000">
                          <a:solidFill>
                            <a:srgbClr val="000000"/>
                          </a:solidFill>
                          <a:latin typeface="Montserrat"/>
                        </a:defRPr>
                      </a:pPr>
                      <a:r>
                        <a:t>163,000</a:t>
                      </a:r>
                    </a:p>
                  </a:txBody>
                  <a:tcPr marL="0" marR="0" marT="0" marB="0">
                    <a:solidFill>
                      <a:srgbClr val="ECD3D9"/>
                    </a:solidFill>
                  </a:tcPr>
                </a:tc>
                <a:tc>
                  <a:txBody>
                    <a:bodyPr/>
                    <a:lstStyle/>
                    <a:p>
                      <a:pPr algn="ctr">
                        <a:defRPr sz="1000">
                          <a:solidFill>
                            <a:srgbClr val="000000"/>
                          </a:solidFill>
                          <a:latin typeface="Montserrat"/>
                        </a:defRPr>
                      </a:pPr>
                      <a:r>
                        <a:t>45.3%</a:t>
                      </a:r>
                    </a:p>
                  </a:txBody>
                  <a:tcPr marL="0" marR="0" marT="0" marB="0">
                    <a:solidFill>
                      <a:srgbClr val="ECD3D9"/>
                    </a:solidFill>
                  </a:tcPr>
                </a:tc>
                <a:extLst>
                  <a:ext uri="{0D108BD9-81ED-4DB2-BD59-A6C34878D82A}">
                    <a16:rowId xmlns:a16="http://schemas.microsoft.com/office/drawing/2014/main" val="10011"/>
                  </a:ext>
                </a:extLst>
              </a:tr>
              <a:tr h="151200">
                <a:tc>
                  <a:txBody>
                    <a:bodyPr/>
                    <a:lstStyle/>
                    <a:p>
                      <a:pPr algn="l">
                        <a:defRPr sz="1000">
                          <a:solidFill>
                            <a:srgbClr val="000000"/>
                          </a:solidFill>
                          <a:latin typeface="Montserrat"/>
                        </a:defRPr>
                      </a:pPr>
                      <a:r>
                        <a:t>UMF 17 Corregidora</a:t>
                      </a:r>
                    </a:p>
                  </a:txBody>
                  <a:tcPr marL="0" marR="0" marT="0" marB="0">
                    <a:solidFill>
                      <a:srgbClr val="EFEFEF"/>
                    </a:solidFill>
                  </a:tcPr>
                </a:tc>
                <a:tc>
                  <a:txBody>
                    <a:bodyPr/>
                    <a:lstStyle/>
                    <a:p>
                      <a:pPr algn="ctr">
                        <a:defRPr sz="1000">
                          <a:solidFill>
                            <a:srgbClr val="000000"/>
                          </a:solidFill>
                          <a:latin typeface="Montserrat"/>
                        </a:defRPr>
                      </a:pPr>
                      <a:r>
                        <a:t>95,003</a:t>
                      </a:r>
                    </a:p>
                  </a:txBody>
                  <a:tcPr marL="0" marR="0" marT="0" marB="0">
                    <a:solidFill>
                      <a:srgbClr val="EFEFEF"/>
                    </a:solidFill>
                  </a:tcPr>
                </a:tc>
                <a:tc>
                  <a:txBody>
                    <a:bodyPr/>
                    <a:lstStyle/>
                    <a:p>
                      <a:pPr algn="ctr">
                        <a:defRPr sz="1000">
                          <a:solidFill>
                            <a:srgbClr val="000000"/>
                          </a:solidFill>
                          <a:latin typeface="Montserrat"/>
                        </a:defRPr>
                      </a:pPr>
                      <a:r>
                        <a:t>7,991</a:t>
                      </a:r>
                    </a:p>
                  </a:txBody>
                  <a:tcPr marL="0" marR="0" marT="0" marB="0">
                    <a:solidFill>
                      <a:srgbClr val="EFEFEF"/>
                    </a:solidFill>
                  </a:tcPr>
                </a:tc>
                <a:tc>
                  <a:txBody>
                    <a:bodyPr/>
                    <a:lstStyle/>
                    <a:p>
                      <a:pPr algn="ctr">
                        <a:defRPr sz="1000">
                          <a:solidFill>
                            <a:srgbClr val="000000"/>
                          </a:solidFill>
                          <a:latin typeface="Montserrat"/>
                        </a:defRPr>
                      </a:pPr>
                      <a:r>
                        <a:t>43,518</a:t>
                      </a:r>
                    </a:p>
                  </a:txBody>
                  <a:tcPr marL="0" marR="0" marT="0" marB="0">
                    <a:solidFill>
                      <a:srgbClr val="ECD3D9"/>
                    </a:solidFill>
                  </a:tcPr>
                </a:tc>
                <a:tc>
                  <a:txBody>
                    <a:bodyPr/>
                    <a:lstStyle/>
                    <a:p>
                      <a:pPr algn="ctr">
                        <a:defRPr sz="1000">
                          <a:solidFill>
                            <a:srgbClr val="000000"/>
                          </a:solidFill>
                          <a:latin typeface="Montserrat"/>
                        </a:defRPr>
                      </a:pPr>
                      <a:r>
                        <a:t>93,000</a:t>
                      </a:r>
                    </a:p>
                  </a:txBody>
                  <a:tcPr marL="0" marR="0" marT="0" marB="0">
                    <a:solidFill>
                      <a:srgbClr val="ECD3D9"/>
                    </a:solidFill>
                  </a:tcPr>
                </a:tc>
                <a:tc>
                  <a:txBody>
                    <a:bodyPr/>
                    <a:lstStyle/>
                    <a:p>
                      <a:pPr algn="ctr">
                        <a:defRPr sz="1000">
                          <a:solidFill>
                            <a:srgbClr val="000000"/>
                          </a:solidFill>
                          <a:latin typeface="Montserrat"/>
                        </a:defRPr>
                      </a:pPr>
                      <a:r>
                        <a:t>46.8%</a:t>
                      </a:r>
                    </a:p>
                  </a:txBody>
                  <a:tcPr marL="0" marR="0" marT="0" marB="0">
                    <a:solidFill>
                      <a:srgbClr val="ECD3D9"/>
                    </a:solidFill>
                  </a:tcPr>
                </a:tc>
                <a:extLst>
                  <a:ext uri="{0D108BD9-81ED-4DB2-BD59-A6C34878D82A}">
                    <a16:rowId xmlns:a16="http://schemas.microsoft.com/office/drawing/2014/main" val="10012"/>
                  </a:ext>
                </a:extLst>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2,063,971</a:t>
                      </a:r>
                    </a:p>
                  </a:txBody>
                  <a:tcPr marL="0" marR="0" marT="0" marB="0">
                    <a:solidFill>
                      <a:srgbClr val="D3E9E7"/>
                    </a:solidFill>
                  </a:tcPr>
                </a:tc>
                <a:tc>
                  <a:txBody>
                    <a:bodyPr/>
                    <a:lstStyle/>
                    <a:p>
                      <a:pPr algn="ctr">
                        <a:defRPr sz="1000" b="1">
                          <a:solidFill>
                            <a:srgbClr val="006556"/>
                          </a:solidFill>
                          <a:latin typeface="Montserrat"/>
                        </a:defRPr>
                      </a:pPr>
                      <a:r>
                        <a:t>251,673</a:t>
                      </a:r>
                    </a:p>
                  </a:txBody>
                  <a:tcPr marL="0" marR="0" marT="0" marB="0">
                    <a:solidFill>
                      <a:srgbClr val="D3E9E7"/>
                    </a:solidFill>
                  </a:tcPr>
                </a:tc>
                <a:tc>
                  <a:txBody>
                    <a:bodyPr/>
                    <a:lstStyle/>
                    <a:p>
                      <a:pPr algn="ctr">
                        <a:defRPr sz="1000" b="1">
                          <a:solidFill>
                            <a:srgbClr val="FFFFFF"/>
                          </a:solidFill>
                          <a:latin typeface="Montserrat"/>
                        </a:defRPr>
                      </a:pPr>
                      <a:r>
                        <a:t>935,377</a:t>
                      </a:r>
                    </a:p>
                  </a:txBody>
                  <a:tcPr marL="0" marR="0" marT="0" marB="0">
                    <a:solidFill>
                      <a:srgbClr val="9F2241"/>
                    </a:solidFill>
                  </a:tcPr>
                </a:tc>
                <a:tc>
                  <a:txBody>
                    <a:bodyPr/>
                    <a:lstStyle/>
                    <a:p>
                      <a:pPr algn="ctr">
                        <a:defRPr sz="1000" b="1">
                          <a:solidFill>
                            <a:srgbClr val="FFFFFF"/>
                          </a:solidFill>
                          <a:latin typeface="Montserrat"/>
                        </a:defRPr>
                      </a:pPr>
                      <a:r>
                        <a:t>2,034,608</a:t>
                      </a:r>
                    </a:p>
                  </a:txBody>
                  <a:tcPr marL="0" marR="0" marT="0" marB="0">
                    <a:solidFill>
                      <a:srgbClr val="9F2241"/>
                    </a:solidFill>
                  </a:tcPr>
                </a:tc>
                <a:tc>
                  <a:txBody>
                    <a:bodyPr/>
                    <a:lstStyle/>
                    <a:p>
                      <a:pPr algn="ctr">
                        <a:defRPr sz="1000" b="1">
                          <a:solidFill>
                            <a:srgbClr val="FFFFFF"/>
                          </a:solidFill>
                          <a:latin typeface="Montserrat"/>
                        </a:defRPr>
                      </a:pPr>
                      <a:r>
                        <a:t>46.0%</a:t>
                      </a:r>
                    </a:p>
                  </a:txBody>
                  <a:tcPr marL="0" marR="0" marT="0" marB="0">
                    <a:solidFill>
                      <a:srgbClr val="9F2241"/>
                    </a:solidFill>
                  </a:tcPr>
                </a:tc>
                <a:extLst>
                  <a:ext uri="{0D108BD9-81ED-4DB2-BD59-A6C34878D82A}">
                    <a16:rowId xmlns:a16="http://schemas.microsoft.com/office/drawing/2014/main" val="10013"/>
                  </a:ext>
                </a:extLst>
              </a:tr>
            </a:tbl>
          </a:graphicData>
        </a:graphic>
      </p:graphicFrame>
      <p:graphicFrame>
        <p:nvGraphicFramePr>
          <p:cNvPr id="271" name="Chart 270"/>
          <p:cNvGraphicFramePr>
            <a:graphicFrameLocks noGrp="1"/>
          </p:cNvGraphicFramePr>
          <p:nvPr>
            <p:extLst>
              <p:ext uri="{D42A27DB-BD31-4B8C-83A1-F6EECF244321}">
                <p14:modId xmlns:p14="http://schemas.microsoft.com/office/powerpoint/2010/main" val="176846278"/>
              </p:ext>
            </p:extLst>
          </p:nvPr>
        </p:nvGraphicFramePr>
        <p:xfrm>
          <a:off x="357064" y="6116957"/>
          <a:ext cx="1555200" cy="1533600"/>
        </p:xfrm>
        <a:graphic>
          <a:graphicData uri="http://schemas.openxmlformats.org/drawingml/2006/chart">
            <c:chart xmlns:c="http://schemas.openxmlformats.org/drawingml/2006/chart" xmlns:r="http://schemas.openxmlformats.org/officeDocument/2006/relationships" r:id="rId4"/>
          </a:graphicData>
        </a:graphic>
      </p:graphicFrame>
      <p:sp>
        <p:nvSpPr>
          <p:cNvPr id="272" name="TextBox 271"/>
          <p:cNvSpPr txBox="1"/>
          <p:nvPr/>
        </p:nvSpPr>
        <p:spPr>
          <a:xfrm>
            <a:off x="357064" y="6798358"/>
            <a:ext cx="1555200" cy="360000"/>
          </a:xfrm>
          <a:prstGeom prst="rect">
            <a:avLst/>
          </a:prstGeom>
          <a:noFill/>
        </p:spPr>
        <p:txBody>
          <a:bodyPr wrap="none">
            <a:spAutoFit/>
          </a:bodyPr>
          <a:lstStyle/>
          <a:p>
            <a:pPr algn="ctr"/>
            <a:r>
              <a:rPr sz="2200" b="1" dirty="0">
                <a:solidFill>
                  <a:srgbClr val="9F2241"/>
                </a:solidFill>
                <a:latin typeface="Montserrat"/>
              </a:rPr>
              <a:t>15%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2426422701"/>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Consultas de especialidad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sp>
        <p:nvSpPr>
          <p:cNvPr id="234" name="TextBox 233"/>
          <p:cNvSpPr txBox="1"/>
          <p:nvPr/>
        </p:nvSpPr>
        <p:spPr>
          <a:xfrm>
            <a:off x="125999" y="1481326"/>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9572400"/>
            <a:ext cx="7473600" cy="399600"/>
          </a:xfrm>
          <a:prstGeom prst="rect">
            <a:avLst/>
          </a:prstGeom>
          <a:noFill/>
        </p:spPr>
        <p:txBody>
          <a:bodyPr wrap="square" lIns="0" tIns="0" rIns="0" bIns="0">
            <a:spAutoFit/>
          </a:bodyPr>
          <a:lstStyle/>
          <a:p>
            <a:pPr algn="l">
              <a:defRPr sz="800">
                <a:solidFill>
                  <a:srgbClr val="FFFFFF"/>
                </a:solidFill>
                <a:latin typeface="Montserrat"/>
              </a:defRPr>
            </a:pPr>
            <a:r>
              <a:t>No incluye la productividad de especialidad generada en UMF ni en HR. En el año 2025 no incluye información de HR y UMR.</a:t>
            </a:r>
            <a:br/>
            <a:r>
              <a:t>El año de proceso inicia del 26 de diciembre del año anterior al 25 de diciembre del año en curso:2025 (del 26 de dic de 2024 al 25 de dic de 2025). Corte de información: Semana: 24, 7 junio 2026</a:t>
            </a:r>
          </a:p>
        </p:txBody>
      </p:sp>
      <p:graphicFrame>
        <p:nvGraphicFramePr>
          <p:cNvPr id="236" name="Table 235"/>
          <p:cNvGraphicFramePr>
            <a:graphicFrameLocks noGrp="1"/>
          </p:cNvGraphicFramePr>
          <p:nvPr>
            <p:extLst>
              <p:ext uri="{D42A27DB-BD31-4B8C-83A1-F6EECF244321}">
                <p14:modId xmlns:p14="http://schemas.microsoft.com/office/powerpoint/2010/main" val="3198843312"/>
              </p:ext>
            </p:extLst>
          </p:nvPr>
        </p:nvGraphicFramePr>
        <p:xfrm>
          <a:off x="144000" y="1866526"/>
          <a:ext cx="7340399" cy="1787760"/>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2844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284400">
                <a:tc>
                  <a:txBody>
                    <a:bodyPr/>
                    <a:lstStyle/>
                    <a:p>
                      <a:pPr algn="l">
                        <a:defRPr sz="1000">
                          <a:latin typeface="Montserrat"/>
                        </a:defRPr>
                      </a:pPr>
                      <a:r>
                        <a:t>HGR 1 Querétaro</a:t>
                      </a:r>
                    </a:p>
                  </a:txBody>
                  <a:tcPr>
                    <a:solidFill>
                      <a:srgbClr val="FFFFFF"/>
                    </a:solidFill>
                  </a:tcPr>
                </a:tc>
                <a:tc>
                  <a:txBody>
                    <a:bodyPr/>
                    <a:lstStyle/>
                    <a:p>
                      <a:pPr algn="ctr">
                        <a:defRPr sz="1000">
                          <a:latin typeface="Montserrat"/>
                        </a:defRPr>
                      </a:pPr>
                      <a:r>
                        <a:t>220,066</a:t>
                      </a:r>
                    </a:p>
                  </a:txBody>
                  <a:tcPr>
                    <a:solidFill>
                      <a:srgbClr val="FFFFFF"/>
                    </a:solidFill>
                  </a:tcPr>
                </a:tc>
                <a:tc>
                  <a:txBody>
                    <a:bodyPr/>
                    <a:lstStyle/>
                    <a:p>
                      <a:pPr algn="ctr">
                        <a:defRPr sz="1000">
                          <a:latin typeface="Montserrat"/>
                        </a:defRPr>
                      </a:pPr>
                      <a:r>
                        <a:t>10,051</a:t>
                      </a:r>
                    </a:p>
                  </a:txBody>
                  <a:tcPr>
                    <a:solidFill>
                      <a:srgbClr val="FFFFFF"/>
                    </a:solidFill>
                  </a:tcPr>
                </a:tc>
                <a:tc>
                  <a:txBody>
                    <a:bodyPr/>
                    <a:lstStyle/>
                    <a:p>
                      <a:pPr algn="ctr">
                        <a:defRPr sz="1000">
                          <a:latin typeface="Montserrat"/>
                        </a:defRPr>
                      </a:pPr>
                      <a:r>
                        <a:t>120,911</a:t>
                      </a:r>
                    </a:p>
                  </a:txBody>
                  <a:tcPr>
                    <a:solidFill>
                      <a:srgbClr val="ECD3D9"/>
                    </a:solidFill>
                  </a:tcPr>
                </a:tc>
                <a:tc>
                  <a:txBody>
                    <a:bodyPr/>
                    <a:lstStyle/>
                    <a:p>
                      <a:pPr algn="ctr">
                        <a:defRPr sz="1000">
                          <a:latin typeface="Montserrat"/>
                        </a:defRPr>
                      </a:pPr>
                      <a:r>
                        <a:t>223,380</a:t>
                      </a:r>
                    </a:p>
                  </a:txBody>
                  <a:tcPr>
                    <a:solidFill>
                      <a:srgbClr val="ECD3D9"/>
                    </a:solidFill>
                  </a:tcPr>
                </a:tc>
                <a:tc>
                  <a:txBody>
                    <a:bodyPr/>
                    <a:lstStyle/>
                    <a:p>
                      <a:pPr algn="ctr">
                        <a:defRPr sz="1000">
                          <a:latin typeface="Montserrat"/>
                        </a:defRPr>
                      </a:pPr>
                      <a:r>
                        <a:t>54.1%</a:t>
                      </a:r>
                    </a:p>
                  </a:txBody>
                  <a:tcPr>
                    <a:solidFill>
                      <a:srgbClr val="ECD3D9"/>
                    </a:solidFill>
                  </a:tcPr>
                </a:tc>
                <a:extLst>
                  <a:ext uri="{0D108BD9-81ED-4DB2-BD59-A6C34878D82A}">
                    <a16:rowId xmlns:a16="http://schemas.microsoft.com/office/drawing/2014/main" val="10001"/>
                  </a:ext>
                </a:extLst>
              </a:tr>
              <a:tr h="284400">
                <a:tc>
                  <a:txBody>
                    <a:bodyPr/>
                    <a:lstStyle/>
                    <a:p>
                      <a:pPr algn="l">
                        <a:defRPr sz="1000">
                          <a:latin typeface="Montserrat"/>
                        </a:defRPr>
                      </a:pPr>
                      <a:r>
                        <a:t>HGR 2 El Marqués</a:t>
                      </a:r>
                    </a:p>
                  </a:txBody>
                  <a:tcPr>
                    <a:solidFill>
                      <a:srgbClr val="EFEFEF"/>
                    </a:solidFill>
                  </a:tcPr>
                </a:tc>
                <a:tc>
                  <a:txBody>
                    <a:bodyPr/>
                    <a:lstStyle/>
                    <a:p>
                      <a:pPr algn="ctr">
                        <a:defRPr sz="1000">
                          <a:latin typeface="Montserrat"/>
                        </a:defRPr>
                      </a:pPr>
                      <a:r>
                        <a:t>278,570</a:t>
                      </a:r>
                    </a:p>
                  </a:txBody>
                  <a:tcPr>
                    <a:solidFill>
                      <a:srgbClr val="EFEFEF"/>
                    </a:solidFill>
                  </a:tcPr>
                </a:tc>
                <a:tc>
                  <a:txBody>
                    <a:bodyPr/>
                    <a:lstStyle/>
                    <a:p>
                      <a:pPr algn="ctr">
                        <a:defRPr sz="1000">
                          <a:latin typeface="Montserrat"/>
                        </a:defRPr>
                      </a:pPr>
                      <a:r>
                        <a:t>82,912</a:t>
                      </a:r>
                    </a:p>
                  </a:txBody>
                  <a:tcPr>
                    <a:solidFill>
                      <a:srgbClr val="EFEFEF"/>
                    </a:solidFill>
                  </a:tcPr>
                </a:tc>
                <a:tc>
                  <a:txBody>
                    <a:bodyPr/>
                    <a:lstStyle/>
                    <a:p>
                      <a:pPr algn="ctr">
                        <a:defRPr sz="1000">
                          <a:latin typeface="Montserrat"/>
                        </a:defRPr>
                      </a:pPr>
                      <a:r>
                        <a:t>135,090</a:t>
                      </a:r>
                    </a:p>
                  </a:txBody>
                  <a:tcPr>
                    <a:solidFill>
                      <a:srgbClr val="ECD3D9"/>
                    </a:solidFill>
                  </a:tcPr>
                </a:tc>
                <a:tc>
                  <a:txBody>
                    <a:bodyPr/>
                    <a:lstStyle/>
                    <a:p>
                      <a:pPr algn="ctr">
                        <a:defRPr sz="1000">
                          <a:latin typeface="Montserrat"/>
                        </a:defRPr>
                      </a:pPr>
                      <a:r>
                        <a:t>275,940</a:t>
                      </a:r>
                    </a:p>
                  </a:txBody>
                  <a:tcPr>
                    <a:solidFill>
                      <a:srgbClr val="ECD3D9"/>
                    </a:solidFill>
                  </a:tcPr>
                </a:tc>
                <a:tc>
                  <a:txBody>
                    <a:bodyPr/>
                    <a:lstStyle/>
                    <a:p>
                      <a:pPr algn="ctr">
                        <a:defRPr sz="1000">
                          <a:latin typeface="Montserrat"/>
                        </a:defRPr>
                      </a:pPr>
                      <a:r>
                        <a:t>49.0%</a:t>
                      </a:r>
                    </a:p>
                  </a:txBody>
                  <a:tcPr>
                    <a:solidFill>
                      <a:srgbClr val="ECD3D9"/>
                    </a:solidFill>
                  </a:tcPr>
                </a:tc>
                <a:extLst>
                  <a:ext uri="{0D108BD9-81ED-4DB2-BD59-A6C34878D82A}">
                    <a16:rowId xmlns:a16="http://schemas.microsoft.com/office/drawing/2014/main" val="10002"/>
                  </a:ext>
                </a:extLst>
              </a:tr>
              <a:tr h="284400">
                <a:tc>
                  <a:txBody>
                    <a:bodyPr/>
                    <a:lstStyle/>
                    <a:p>
                      <a:pPr algn="l">
                        <a:defRPr sz="1000">
                          <a:latin typeface="Montserrat"/>
                        </a:defRPr>
                      </a:pPr>
                      <a:r>
                        <a:t>UMAA 1 Querétaro (Aut)</a:t>
                      </a:r>
                    </a:p>
                  </a:txBody>
                  <a:tcPr>
                    <a:solidFill>
                      <a:srgbClr val="FFFFFF"/>
                    </a:solidFill>
                  </a:tcPr>
                </a:tc>
                <a:tc>
                  <a:txBody>
                    <a:bodyPr/>
                    <a:lstStyle/>
                    <a:p>
                      <a:pPr algn="ctr">
                        <a:defRPr sz="1000">
                          <a:latin typeface="Montserrat"/>
                        </a:defRPr>
                      </a:pPr>
                      <a:r>
                        <a:t>28,130</a:t>
                      </a:r>
                    </a:p>
                  </a:txBody>
                  <a:tcPr>
                    <a:solidFill>
                      <a:srgbClr val="FFFFFF"/>
                    </a:solidFill>
                  </a:tcPr>
                </a:tc>
                <a:tc>
                  <a:txBody>
                    <a:bodyPr/>
                    <a:lstStyle/>
                    <a:p>
                      <a:pPr algn="ctr">
                        <a:defRPr sz="1000">
                          <a:latin typeface="Montserrat"/>
                        </a:defRPr>
                      </a:pPr>
                      <a:r>
                        <a:t>10,409</a:t>
                      </a:r>
                    </a:p>
                  </a:txBody>
                  <a:tcPr>
                    <a:solidFill>
                      <a:srgbClr val="FFFFFF"/>
                    </a:solidFill>
                  </a:tcPr>
                </a:tc>
                <a:tc>
                  <a:txBody>
                    <a:bodyPr/>
                    <a:lstStyle/>
                    <a:p>
                      <a:pPr algn="ctr">
                        <a:defRPr sz="1000">
                          <a:latin typeface="Montserrat"/>
                        </a:defRPr>
                      </a:pPr>
                      <a:r>
                        <a:t>16,461</a:t>
                      </a:r>
                    </a:p>
                  </a:txBody>
                  <a:tcPr>
                    <a:solidFill>
                      <a:srgbClr val="ECD3D9"/>
                    </a:solidFill>
                  </a:tcPr>
                </a:tc>
                <a:tc>
                  <a:txBody>
                    <a:bodyPr/>
                    <a:lstStyle/>
                    <a:p>
                      <a:pPr algn="ctr">
                        <a:defRPr sz="1000">
                          <a:latin typeface="Montserrat"/>
                        </a:defRPr>
                      </a:pPr>
                      <a:r>
                        <a:t>35,040</a:t>
                      </a:r>
                    </a:p>
                  </a:txBody>
                  <a:tcPr>
                    <a:solidFill>
                      <a:srgbClr val="ECD3D9"/>
                    </a:solidFill>
                  </a:tcPr>
                </a:tc>
                <a:tc>
                  <a:txBody>
                    <a:bodyPr/>
                    <a:lstStyle/>
                    <a:p>
                      <a:pPr algn="ctr">
                        <a:defRPr sz="1000">
                          <a:latin typeface="Montserrat"/>
                        </a:defRPr>
                      </a:pPr>
                      <a:r>
                        <a:t>47.0%</a:t>
                      </a:r>
                    </a:p>
                  </a:txBody>
                  <a:tcPr>
                    <a:solidFill>
                      <a:srgbClr val="ECD3D9"/>
                    </a:solidFill>
                  </a:tcPr>
                </a:tc>
                <a:extLst>
                  <a:ext uri="{0D108BD9-81ED-4DB2-BD59-A6C34878D82A}">
                    <a16:rowId xmlns:a16="http://schemas.microsoft.com/office/drawing/2014/main" val="10003"/>
                  </a:ext>
                </a:extLst>
              </a:tr>
              <a:tr h="284400">
                <a:tc>
                  <a:txBody>
                    <a:bodyPr/>
                    <a:lstStyle/>
                    <a:p>
                      <a:pPr algn="l">
                        <a:defRPr sz="1000">
                          <a:latin typeface="Montserrat"/>
                        </a:defRPr>
                      </a:pPr>
                      <a:r>
                        <a:t>HGZ 3 S. Juan del Río</a:t>
                      </a:r>
                    </a:p>
                  </a:txBody>
                  <a:tcPr>
                    <a:solidFill>
                      <a:srgbClr val="EFEFEF"/>
                    </a:solidFill>
                  </a:tcPr>
                </a:tc>
                <a:tc>
                  <a:txBody>
                    <a:bodyPr/>
                    <a:lstStyle/>
                    <a:p>
                      <a:pPr algn="ctr">
                        <a:defRPr sz="1000">
                          <a:latin typeface="Montserrat"/>
                        </a:defRPr>
                      </a:pPr>
                      <a:r>
                        <a:t>93,762</a:t>
                      </a:r>
                    </a:p>
                  </a:txBody>
                  <a:tcPr>
                    <a:solidFill>
                      <a:srgbClr val="EFEFEF"/>
                    </a:solidFill>
                  </a:tcPr>
                </a:tc>
                <a:tc>
                  <a:txBody>
                    <a:bodyPr/>
                    <a:lstStyle/>
                    <a:p>
                      <a:pPr algn="ctr">
                        <a:defRPr sz="1000">
                          <a:latin typeface="Montserrat"/>
                        </a:defRPr>
                      </a:pPr>
                      <a:r>
                        <a:t>21,175</a:t>
                      </a:r>
                    </a:p>
                  </a:txBody>
                  <a:tcPr>
                    <a:solidFill>
                      <a:srgbClr val="EFEFEF"/>
                    </a:solidFill>
                  </a:tcPr>
                </a:tc>
                <a:tc>
                  <a:txBody>
                    <a:bodyPr/>
                    <a:lstStyle/>
                    <a:p>
                      <a:pPr algn="ctr">
                        <a:defRPr sz="1000">
                          <a:latin typeface="Montserrat"/>
                        </a:defRPr>
                      </a:pPr>
                      <a:r>
                        <a:t>45,896</a:t>
                      </a:r>
                    </a:p>
                  </a:txBody>
                  <a:tcPr>
                    <a:solidFill>
                      <a:srgbClr val="ECD3D9"/>
                    </a:solidFill>
                  </a:tcPr>
                </a:tc>
                <a:tc>
                  <a:txBody>
                    <a:bodyPr/>
                    <a:lstStyle/>
                    <a:p>
                      <a:pPr algn="ctr">
                        <a:defRPr sz="1000">
                          <a:latin typeface="Montserrat"/>
                        </a:defRPr>
                      </a:pPr>
                      <a:r>
                        <a:t>98,550</a:t>
                      </a:r>
                    </a:p>
                  </a:txBody>
                  <a:tcPr>
                    <a:solidFill>
                      <a:srgbClr val="ECD3D9"/>
                    </a:solidFill>
                  </a:tcPr>
                </a:tc>
                <a:tc>
                  <a:txBody>
                    <a:bodyPr/>
                    <a:lstStyle/>
                    <a:p>
                      <a:pPr algn="ctr">
                        <a:defRPr sz="1000">
                          <a:latin typeface="Montserrat"/>
                        </a:defRPr>
                      </a:pPr>
                      <a:r>
                        <a:t>46.6%</a:t>
                      </a:r>
                    </a:p>
                  </a:txBody>
                  <a:tcPr>
                    <a:solidFill>
                      <a:srgbClr val="ECD3D9"/>
                    </a:solidFill>
                  </a:tcPr>
                </a:tc>
                <a:extLst>
                  <a:ext uri="{0D108BD9-81ED-4DB2-BD59-A6C34878D82A}">
                    <a16:rowId xmlns:a16="http://schemas.microsoft.com/office/drawing/2014/main" val="10004"/>
                  </a:ext>
                </a:extLst>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620,528</a:t>
                      </a:r>
                    </a:p>
                  </a:txBody>
                  <a:tcPr>
                    <a:solidFill>
                      <a:srgbClr val="D3E9E7"/>
                    </a:solidFill>
                  </a:tcPr>
                </a:tc>
                <a:tc>
                  <a:txBody>
                    <a:bodyPr/>
                    <a:lstStyle/>
                    <a:p>
                      <a:pPr algn="ctr">
                        <a:defRPr sz="1000" b="1">
                          <a:solidFill>
                            <a:srgbClr val="006556"/>
                          </a:solidFill>
                          <a:latin typeface="Montserrat"/>
                        </a:defRPr>
                      </a:pPr>
                      <a:r>
                        <a:t>124,547</a:t>
                      </a:r>
                    </a:p>
                  </a:txBody>
                  <a:tcPr>
                    <a:solidFill>
                      <a:srgbClr val="D3E9E7"/>
                    </a:solidFill>
                  </a:tcPr>
                </a:tc>
                <a:tc>
                  <a:txBody>
                    <a:bodyPr/>
                    <a:lstStyle/>
                    <a:p>
                      <a:pPr algn="ctr">
                        <a:defRPr sz="1000" b="1">
                          <a:solidFill>
                            <a:srgbClr val="FFFFFF"/>
                          </a:solidFill>
                          <a:latin typeface="Montserrat"/>
                        </a:defRPr>
                      </a:pPr>
                      <a:r>
                        <a:t>318,358</a:t>
                      </a:r>
                    </a:p>
                  </a:txBody>
                  <a:tcPr>
                    <a:solidFill>
                      <a:srgbClr val="9F2241"/>
                    </a:solidFill>
                  </a:tcPr>
                </a:tc>
                <a:tc>
                  <a:txBody>
                    <a:bodyPr/>
                    <a:lstStyle/>
                    <a:p>
                      <a:pPr algn="ctr">
                        <a:defRPr sz="1000" b="1">
                          <a:solidFill>
                            <a:srgbClr val="FFFFFF"/>
                          </a:solidFill>
                          <a:latin typeface="Montserrat"/>
                        </a:defRPr>
                      </a:pPr>
                      <a:r>
                        <a:t>632,910</a:t>
                      </a:r>
                    </a:p>
                  </a:txBody>
                  <a:tcPr>
                    <a:solidFill>
                      <a:srgbClr val="9F2241"/>
                    </a:solidFill>
                  </a:tcPr>
                </a:tc>
                <a:tc>
                  <a:txBody>
                    <a:bodyPr/>
                    <a:lstStyle/>
                    <a:p>
                      <a:pPr algn="ctr">
                        <a:defRPr sz="1000" b="1">
                          <a:solidFill>
                            <a:srgbClr val="FFFFFF"/>
                          </a:solidFill>
                          <a:latin typeface="Montserrat"/>
                        </a:defRPr>
                      </a:pPr>
                      <a:r>
                        <a:t>50.3%</a:t>
                      </a:r>
                    </a:p>
                  </a:txBody>
                  <a:tcPr>
                    <a:solidFill>
                      <a:srgbClr val="9F2241"/>
                    </a:solidFill>
                  </a:tcPr>
                </a:tc>
                <a:extLst>
                  <a:ext uri="{0D108BD9-81ED-4DB2-BD59-A6C34878D82A}">
                    <a16:rowId xmlns:a16="http://schemas.microsoft.com/office/drawing/2014/main" val="10005"/>
                  </a:ext>
                </a:extLst>
              </a:tr>
            </a:tbl>
          </a:graphicData>
        </a:graphic>
      </p:graphicFrame>
      <p:graphicFrame>
        <p:nvGraphicFramePr>
          <p:cNvPr id="237" name="Chart 236"/>
          <p:cNvGraphicFramePr>
            <a:graphicFrameLocks noGrp="1"/>
          </p:cNvGraphicFramePr>
          <p:nvPr>
            <p:extLst>
              <p:ext uri="{D42A27DB-BD31-4B8C-83A1-F6EECF244321}">
                <p14:modId xmlns:p14="http://schemas.microsoft.com/office/powerpoint/2010/main" val="3566097719"/>
              </p:ext>
            </p:extLst>
          </p:nvPr>
        </p:nvGraphicFramePr>
        <p:xfrm>
          <a:off x="4752664" y="4924514"/>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238" name="TextBox 237"/>
          <p:cNvSpPr txBox="1"/>
          <p:nvPr/>
        </p:nvSpPr>
        <p:spPr>
          <a:xfrm>
            <a:off x="4752664" y="5644514"/>
            <a:ext cx="1800000" cy="360000"/>
          </a:xfrm>
          <a:prstGeom prst="rect">
            <a:avLst/>
          </a:prstGeom>
          <a:noFill/>
        </p:spPr>
        <p:txBody>
          <a:bodyPr wrap="none">
            <a:spAutoFit/>
          </a:bodyPr>
          <a:lstStyle/>
          <a:p>
            <a:pPr algn="ctr"/>
            <a:r>
              <a:rPr sz="2400" b="1">
                <a:solidFill>
                  <a:srgbClr val="9F2241"/>
                </a:solidFill>
                <a:latin typeface="Montserrat"/>
              </a:rPr>
              <a:t>50.3%</a:t>
            </a:r>
          </a:p>
        </p:txBody>
      </p:sp>
      <p:sp>
        <p:nvSpPr>
          <p:cNvPr id="239" name="TextBox 238"/>
          <p:cNvSpPr txBox="1"/>
          <p:nvPr/>
        </p:nvSpPr>
        <p:spPr>
          <a:xfrm>
            <a:off x="4752664" y="6544514"/>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02663" y="4924514"/>
            <a:ext cx="2854800" cy="1198800"/>
          </a:xfrm>
          <a:prstGeom prst="rect">
            <a:avLst/>
          </a:prstGeom>
          <a:noFill/>
        </p:spPr>
        <p:txBody>
          <a:bodyPr wrap="square">
            <a:spAutoFit/>
          </a:bodyPr>
          <a:lstStyle/>
          <a:p>
            <a:pPr algn="ctr">
              <a:defRPr sz="3600" b="1">
                <a:solidFill>
                  <a:srgbClr val="9F2241"/>
                </a:solidFill>
                <a:latin typeface="Montserrat"/>
              </a:defRPr>
            </a:pPr>
            <a:r>
              <a:t>632,910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982110145"/>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980000"/>
                          </a:solidFill>
                          <a:latin typeface="Montserrat"/>
                          <a:ea typeface="Montserrat"/>
                          <a:cs typeface="Montserrat"/>
                          <a:sym typeface="Montserrat"/>
                        </a:rPr>
                        <a:t>Cirugías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32" name="TextBox 231"/>
          <p:cNvSpPr txBox="1"/>
          <p:nvPr/>
        </p:nvSpPr>
        <p:spPr>
          <a:xfrm>
            <a:off x="147600" y="9561600"/>
            <a:ext cx="7473600" cy="399600"/>
          </a:xfrm>
          <a:prstGeom prst="rect">
            <a:avLst/>
          </a:prstGeom>
          <a:noFill/>
        </p:spPr>
        <p:txBody>
          <a:bodyPr wrap="square" lIns="0" tIns="0" rIns="0" bIns="0">
            <a:spAutoFit/>
          </a:bodyPr>
          <a:lstStyle/>
          <a:p>
            <a:pPr algn="l">
              <a:defRPr sz="800">
                <a:solidFill>
                  <a:srgbClr val="FFFFFF"/>
                </a:solidFill>
                <a:latin typeface="Montserrat"/>
              </a:defRPr>
            </a:pPr>
            <a:r>
              <a:t>No incluye las cirugías realizadas en HR.</a:t>
            </a:r>
            <a:br/>
            <a:r>
              <a:t>Sólo se consideran cirugías principales.</a:t>
            </a:r>
            <a:br/>
            <a:r>
              <a:t>Corte de información: Semana: 24, 7 junio 2026</a:t>
            </a:r>
          </a:p>
        </p:txBody>
      </p:sp>
      <p:graphicFrame>
        <p:nvGraphicFramePr>
          <p:cNvPr id="233" name="Table 232"/>
          <p:cNvGraphicFramePr>
            <a:graphicFrameLocks noGrp="1"/>
          </p:cNvGraphicFramePr>
          <p:nvPr>
            <p:extLst>
              <p:ext uri="{D42A27DB-BD31-4B8C-83A1-F6EECF244321}">
                <p14:modId xmlns:p14="http://schemas.microsoft.com/office/powerpoint/2010/main" val="2789618405"/>
              </p:ext>
            </p:extLst>
          </p:nvPr>
        </p:nvGraphicFramePr>
        <p:xfrm>
          <a:off x="144000" y="1467211"/>
          <a:ext cx="7340399" cy="1787760"/>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2844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284400">
                <a:tc>
                  <a:txBody>
                    <a:bodyPr/>
                    <a:lstStyle/>
                    <a:p>
                      <a:pPr algn="l">
                        <a:defRPr sz="1000">
                          <a:latin typeface="Montserrat"/>
                        </a:defRPr>
                      </a:pPr>
                      <a:r>
                        <a:t>HGR 1 Querétaro</a:t>
                      </a:r>
                    </a:p>
                  </a:txBody>
                  <a:tcPr>
                    <a:solidFill>
                      <a:srgbClr val="FFFFFF"/>
                    </a:solidFill>
                  </a:tcPr>
                </a:tc>
                <a:tc>
                  <a:txBody>
                    <a:bodyPr/>
                    <a:lstStyle/>
                    <a:p>
                      <a:pPr algn="ctr">
                        <a:defRPr sz="1000">
                          <a:latin typeface="Montserrat"/>
                        </a:defRPr>
                      </a:pPr>
                      <a:r>
                        <a:t>12,160</a:t>
                      </a:r>
                    </a:p>
                  </a:txBody>
                  <a:tcPr>
                    <a:solidFill>
                      <a:srgbClr val="FFFFFF"/>
                    </a:solidFill>
                  </a:tcPr>
                </a:tc>
                <a:tc>
                  <a:txBody>
                    <a:bodyPr/>
                    <a:lstStyle/>
                    <a:p>
                      <a:pPr algn="ctr">
                        <a:defRPr sz="1000">
                          <a:latin typeface="Montserrat"/>
                        </a:defRPr>
                      </a:pPr>
                      <a:r>
                        <a:t>224</a:t>
                      </a:r>
                    </a:p>
                  </a:txBody>
                  <a:tcPr>
                    <a:solidFill>
                      <a:srgbClr val="FFFFFF"/>
                    </a:solidFill>
                  </a:tcPr>
                </a:tc>
                <a:tc>
                  <a:txBody>
                    <a:bodyPr/>
                    <a:lstStyle/>
                    <a:p>
                      <a:pPr algn="ctr">
                        <a:defRPr sz="1000">
                          <a:latin typeface="Montserrat"/>
                        </a:defRPr>
                      </a:pPr>
                      <a:r>
                        <a:t>6,032</a:t>
                      </a:r>
                    </a:p>
                  </a:txBody>
                  <a:tcPr>
                    <a:solidFill>
                      <a:srgbClr val="ECD3D9"/>
                    </a:solidFill>
                  </a:tcPr>
                </a:tc>
                <a:tc>
                  <a:txBody>
                    <a:bodyPr/>
                    <a:lstStyle/>
                    <a:p>
                      <a:pPr algn="ctr">
                        <a:defRPr sz="1000">
                          <a:latin typeface="Montserrat"/>
                        </a:defRPr>
                      </a:pPr>
                      <a:r>
                        <a:t>12,075</a:t>
                      </a:r>
                    </a:p>
                  </a:txBody>
                  <a:tcPr>
                    <a:solidFill>
                      <a:srgbClr val="ECD3D9"/>
                    </a:solidFill>
                  </a:tcPr>
                </a:tc>
                <a:tc>
                  <a:txBody>
                    <a:bodyPr/>
                    <a:lstStyle/>
                    <a:p>
                      <a:pPr algn="ctr">
                        <a:defRPr sz="1000">
                          <a:latin typeface="Montserrat"/>
                        </a:defRPr>
                      </a:pPr>
                      <a:r>
                        <a:t>50.0%</a:t>
                      </a:r>
                    </a:p>
                  </a:txBody>
                  <a:tcPr>
                    <a:solidFill>
                      <a:srgbClr val="ECD3D9"/>
                    </a:solidFill>
                  </a:tcPr>
                </a:tc>
                <a:extLst>
                  <a:ext uri="{0D108BD9-81ED-4DB2-BD59-A6C34878D82A}">
                    <a16:rowId xmlns:a16="http://schemas.microsoft.com/office/drawing/2014/main" val="10001"/>
                  </a:ext>
                </a:extLst>
              </a:tr>
              <a:tr h="284400">
                <a:tc>
                  <a:txBody>
                    <a:bodyPr/>
                    <a:lstStyle/>
                    <a:p>
                      <a:pPr algn="l">
                        <a:defRPr sz="1000">
                          <a:latin typeface="Montserrat"/>
                        </a:defRPr>
                      </a:pPr>
                      <a:r>
                        <a:t>HGR 2 El Marqués</a:t>
                      </a:r>
                    </a:p>
                  </a:txBody>
                  <a:tcPr>
                    <a:solidFill>
                      <a:srgbClr val="EFEFEF"/>
                    </a:solidFill>
                  </a:tcPr>
                </a:tc>
                <a:tc>
                  <a:txBody>
                    <a:bodyPr/>
                    <a:lstStyle/>
                    <a:p>
                      <a:pPr algn="ctr">
                        <a:defRPr sz="1000">
                          <a:latin typeface="Montserrat"/>
                        </a:defRPr>
                      </a:pPr>
                      <a:r>
                        <a:t>14,025</a:t>
                      </a:r>
                    </a:p>
                  </a:txBody>
                  <a:tcPr>
                    <a:solidFill>
                      <a:srgbClr val="EFEFEF"/>
                    </a:solidFill>
                  </a:tcPr>
                </a:tc>
                <a:tc>
                  <a:txBody>
                    <a:bodyPr/>
                    <a:lstStyle/>
                    <a:p>
                      <a:pPr algn="ctr">
                        <a:defRPr sz="1000">
                          <a:latin typeface="Montserrat"/>
                        </a:defRPr>
                      </a:pPr>
                      <a:r>
                        <a:t>2,268</a:t>
                      </a:r>
                    </a:p>
                  </a:txBody>
                  <a:tcPr>
                    <a:solidFill>
                      <a:srgbClr val="EFEFEF"/>
                    </a:solidFill>
                  </a:tcPr>
                </a:tc>
                <a:tc>
                  <a:txBody>
                    <a:bodyPr/>
                    <a:lstStyle/>
                    <a:p>
                      <a:pPr algn="ctr">
                        <a:defRPr sz="1000">
                          <a:latin typeface="Montserrat"/>
                        </a:defRPr>
                      </a:pPr>
                      <a:r>
                        <a:t>7,661</a:t>
                      </a:r>
                    </a:p>
                  </a:txBody>
                  <a:tcPr>
                    <a:solidFill>
                      <a:srgbClr val="ECD3D9"/>
                    </a:solidFill>
                  </a:tcPr>
                </a:tc>
                <a:tc>
                  <a:txBody>
                    <a:bodyPr/>
                    <a:lstStyle/>
                    <a:p>
                      <a:pPr algn="ctr">
                        <a:defRPr sz="1000">
                          <a:latin typeface="Montserrat"/>
                        </a:defRPr>
                      </a:pPr>
                      <a:r>
                        <a:t>15,890</a:t>
                      </a:r>
                    </a:p>
                  </a:txBody>
                  <a:tcPr>
                    <a:solidFill>
                      <a:srgbClr val="ECD3D9"/>
                    </a:solidFill>
                  </a:tcPr>
                </a:tc>
                <a:tc>
                  <a:txBody>
                    <a:bodyPr/>
                    <a:lstStyle/>
                    <a:p>
                      <a:pPr algn="ctr">
                        <a:defRPr sz="1000">
                          <a:latin typeface="Montserrat"/>
                        </a:defRPr>
                      </a:pPr>
                      <a:r>
                        <a:t>48.2%</a:t>
                      </a:r>
                    </a:p>
                  </a:txBody>
                  <a:tcPr>
                    <a:solidFill>
                      <a:srgbClr val="ECD3D9"/>
                    </a:solidFill>
                  </a:tcPr>
                </a:tc>
                <a:extLst>
                  <a:ext uri="{0D108BD9-81ED-4DB2-BD59-A6C34878D82A}">
                    <a16:rowId xmlns:a16="http://schemas.microsoft.com/office/drawing/2014/main" val="10002"/>
                  </a:ext>
                </a:extLst>
              </a:tr>
              <a:tr h="284400">
                <a:tc>
                  <a:txBody>
                    <a:bodyPr/>
                    <a:lstStyle/>
                    <a:p>
                      <a:pPr algn="l">
                        <a:defRPr sz="1000">
                          <a:latin typeface="Montserrat"/>
                        </a:defRPr>
                      </a:pPr>
                      <a:r>
                        <a:t>HGZ 3 S. Juan del Río</a:t>
                      </a:r>
                    </a:p>
                  </a:txBody>
                  <a:tcPr>
                    <a:solidFill>
                      <a:srgbClr val="FFFFFF"/>
                    </a:solidFill>
                  </a:tcPr>
                </a:tc>
                <a:tc>
                  <a:txBody>
                    <a:bodyPr/>
                    <a:lstStyle/>
                    <a:p>
                      <a:pPr algn="ctr">
                        <a:defRPr sz="1000">
                          <a:latin typeface="Montserrat"/>
                        </a:defRPr>
                      </a:pPr>
                      <a:r>
                        <a:t>5,531</a:t>
                      </a:r>
                    </a:p>
                  </a:txBody>
                  <a:tcPr>
                    <a:solidFill>
                      <a:srgbClr val="FFFFFF"/>
                    </a:solidFill>
                  </a:tcPr>
                </a:tc>
                <a:tc>
                  <a:txBody>
                    <a:bodyPr/>
                    <a:lstStyle/>
                    <a:p>
                      <a:pPr algn="ctr">
                        <a:defRPr sz="1000">
                          <a:latin typeface="Montserrat"/>
                        </a:defRPr>
                      </a:pPr>
                      <a:r>
                        <a:t>788</a:t>
                      </a:r>
                    </a:p>
                  </a:txBody>
                  <a:tcPr>
                    <a:solidFill>
                      <a:srgbClr val="FFFFFF"/>
                    </a:solidFill>
                  </a:tcPr>
                </a:tc>
                <a:tc>
                  <a:txBody>
                    <a:bodyPr/>
                    <a:lstStyle/>
                    <a:p>
                      <a:pPr algn="ctr">
                        <a:defRPr sz="1000">
                          <a:latin typeface="Montserrat"/>
                        </a:defRPr>
                      </a:pPr>
                      <a:r>
                        <a:t>2,831</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41.7%</a:t>
                      </a:r>
                    </a:p>
                  </a:txBody>
                  <a:tcPr>
                    <a:solidFill>
                      <a:srgbClr val="ECD3D9"/>
                    </a:solidFill>
                  </a:tcPr>
                </a:tc>
                <a:extLst>
                  <a:ext uri="{0D108BD9-81ED-4DB2-BD59-A6C34878D82A}">
                    <a16:rowId xmlns:a16="http://schemas.microsoft.com/office/drawing/2014/main" val="10003"/>
                  </a:ext>
                </a:extLst>
              </a:tr>
              <a:tr h="284400">
                <a:tc>
                  <a:txBody>
                    <a:bodyPr/>
                    <a:lstStyle/>
                    <a:p>
                      <a:pPr algn="l">
                        <a:defRPr sz="1000">
                          <a:latin typeface="Montserrat"/>
                        </a:defRPr>
                      </a:pPr>
                      <a:r>
                        <a:t>UMAA 1 Querétaro (Aut)</a:t>
                      </a:r>
                    </a:p>
                  </a:txBody>
                  <a:tcPr>
                    <a:solidFill>
                      <a:srgbClr val="EFEFEF"/>
                    </a:solidFill>
                  </a:tcPr>
                </a:tc>
                <a:tc>
                  <a:txBody>
                    <a:bodyPr/>
                    <a:lstStyle/>
                    <a:p>
                      <a:pPr algn="ctr">
                        <a:defRPr sz="1000">
                          <a:latin typeface="Montserrat"/>
                        </a:defRPr>
                      </a:pPr>
                      <a:r>
                        <a:t>3,703</a:t>
                      </a:r>
                    </a:p>
                  </a:txBody>
                  <a:tcPr>
                    <a:solidFill>
                      <a:srgbClr val="EFEFEF"/>
                    </a:solidFill>
                  </a:tcPr>
                </a:tc>
                <a:tc>
                  <a:txBody>
                    <a:bodyPr/>
                    <a:lstStyle/>
                    <a:p>
                      <a:pPr algn="ctr">
                        <a:defRPr sz="1000">
                          <a:latin typeface="Montserrat"/>
                        </a:defRPr>
                      </a:pPr>
                      <a:r>
                        <a:t>755</a:t>
                      </a:r>
                    </a:p>
                  </a:txBody>
                  <a:tcPr>
                    <a:solidFill>
                      <a:srgbClr val="EFEFEF"/>
                    </a:solidFill>
                  </a:tcPr>
                </a:tc>
                <a:tc>
                  <a:txBody>
                    <a:bodyPr/>
                    <a:lstStyle/>
                    <a:p>
                      <a:pPr algn="ctr">
                        <a:defRPr sz="1000">
                          <a:latin typeface="Montserrat"/>
                        </a:defRPr>
                      </a:pPr>
                      <a:r>
                        <a:t>1,572</a:t>
                      </a:r>
                    </a:p>
                  </a:txBody>
                  <a:tcPr>
                    <a:solidFill>
                      <a:srgbClr val="ECD3D9"/>
                    </a:solidFill>
                  </a:tcPr>
                </a:tc>
                <a:tc>
                  <a:txBody>
                    <a:bodyPr/>
                    <a:lstStyle/>
                    <a:p>
                      <a:pPr algn="ctr">
                        <a:defRPr sz="1000">
                          <a:latin typeface="Montserrat"/>
                        </a:defRPr>
                      </a:pPr>
                      <a:r>
                        <a:t>4,698</a:t>
                      </a:r>
                    </a:p>
                  </a:txBody>
                  <a:tcPr>
                    <a:solidFill>
                      <a:srgbClr val="ECD3D9"/>
                    </a:solidFill>
                  </a:tcPr>
                </a:tc>
                <a:tc>
                  <a:txBody>
                    <a:bodyPr/>
                    <a:lstStyle/>
                    <a:p>
                      <a:pPr algn="ctr">
                        <a:defRPr sz="1000">
                          <a:latin typeface="Montserrat"/>
                        </a:defRPr>
                      </a:pPr>
                      <a:r>
                        <a:t>33.5%</a:t>
                      </a:r>
                    </a:p>
                  </a:txBody>
                  <a:tcPr>
                    <a:solidFill>
                      <a:srgbClr val="ECD3D9"/>
                    </a:solidFill>
                  </a:tcPr>
                </a:tc>
                <a:extLst>
                  <a:ext uri="{0D108BD9-81ED-4DB2-BD59-A6C34878D82A}">
                    <a16:rowId xmlns:a16="http://schemas.microsoft.com/office/drawing/2014/main" val="10004"/>
                  </a:ext>
                </a:extLst>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35,419</a:t>
                      </a:r>
                    </a:p>
                  </a:txBody>
                  <a:tcPr>
                    <a:solidFill>
                      <a:srgbClr val="D3E9E7"/>
                    </a:solidFill>
                  </a:tcPr>
                </a:tc>
                <a:tc>
                  <a:txBody>
                    <a:bodyPr/>
                    <a:lstStyle/>
                    <a:p>
                      <a:pPr algn="ctr">
                        <a:defRPr sz="1000" b="1">
                          <a:solidFill>
                            <a:srgbClr val="006556"/>
                          </a:solidFill>
                          <a:latin typeface="Montserrat"/>
                        </a:defRPr>
                      </a:pPr>
                      <a:r>
                        <a:t>4,035</a:t>
                      </a:r>
                    </a:p>
                  </a:txBody>
                  <a:tcPr>
                    <a:solidFill>
                      <a:srgbClr val="D3E9E7"/>
                    </a:solidFill>
                  </a:tcPr>
                </a:tc>
                <a:tc>
                  <a:txBody>
                    <a:bodyPr/>
                    <a:lstStyle/>
                    <a:p>
                      <a:pPr algn="ctr">
                        <a:defRPr sz="1000" b="1">
                          <a:solidFill>
                            <a:srgbClr val="FFFFFF"/>
                          </a:solidFill>
                          <a:latin typeface="Montserrat"/>
                        </a:defRPr>
                      </a:pPr>
                      <a:r>
                        <a:t>18,096</a:t>
                      </a:r>
                    </a:p>
                  </a:txBody>
                  <a:tcPr>
                    <a:solidFill>
                      <a:srgbClr val="9F2241"/>
                    </a:solidFill>
                  </a:tcPr>
                </a:tc>
                <a:tc>
                  <a:txBody>
                    <a:bodyPr/>
                    <a:lstStyle/>
                    <a:p>
                      <a:pPr algn="ctr">
                        <a:defRPr sz="1000" b="1">
                          <a:solidFill>
                            <a:srgbClr val="FFFFFF"/>
                          </a:solidFill>
                          <a:latin typeface="Montserrat"/>
                        </a:defRPr>
                      </a:pPr>
                      <a:r>
                        <a:t>39,458</a:t>
                      </a:r>
                    </a:p>
                  </a:txBody>
                  <a:tcPr>
                    <a:solidFill>
                      <a:srgbClr val="9F2241"/>
                    </a:solidFill>
                  </a:tcPr>
                </a:tc>
                <a:tc>
                  <a:txBody>
                    <a:bodyPr/>
                    <a:lstStyle/>
                    <a:p>
                      <a:pPr algn="ctr">
                        <a:defRPr sz="1000" b="1">
                          <a:solidFill>
                            <a:srgbClr val="FFFFFF"/>
                          </a:solidFill>
                          <a:latin typeface="Montserrat"/>
                        </a:defRPr>
                      </a:pPr>
                      <a:r>
                        <a:t>45.9%</a:t>
                      </a:r>
                    </a:p>
                  </a:txBody>
                  <a:tcPr>
                    <a:solidFill>
                      <a:srgbClr val="9F2241"/>
                    </a:solidFill>
                  </a:tcPr>
                </a:tc>
                <a:extLst>
                  <a:ext uri="{0D108BD9-81ED-4DB2-BD59-A6C34878D82A}">
                    <a16:rowId xmlns:a16="http://schemas.microsoft.com/office/drawing/2014/main" val="10005"/>
                  </a:ext>
                </a:extLst>
              </a:tr>
            </a:tbl>
          </a:graphicData>
        </a:graphic>
      </p:graphicFrame>
      <p:graphicFrame>
        <p:nvGraphicFramePr>
          <p:cNvPr id="234" name="Chart 233"/>
          <p:cNvGraphicFramePr>
            <a:graphicFrameLocks noGrp="1"/>
          </p:cNvGraphicFramePr>
          <p:nvPr>
            <p:extLst>
              <p:ext uri="{D42A27DB-BD31-4B8C-83A1-F6EECF244321}">
                <p14:modId xmlns:p14="http://schemas.microsoft.com/office/powerpoint/2010/main" val="735601625"/>
              </p:ext>
            </p:extLst>
          </p:nvPr>
        </p:nvGraphicFramePr>
        <p:xfrm>
          <a:off x="4837070" y="4823430"/>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235" name="TextBox 234"/>
          <p:cNvSpPr txBox="1"/>
          <p:nvPr/>
        </p:nvSpPr>
        <p:spPr>
          <a:xfrm>
            <a:off x="4837070" y="5543430"/>
            <a:ext cx="1800000" cy="360000"/>
          </a:xfrm>
          <a:prstGeom prst="rect">
            <a:avLst/>
          </a:prstGeom>
          <a:noFill/>
        </p:spPr>
        <p:txBody>
          <a:bodyPr wrap="none">
            <a:spAutoFit/>
          </a:bodyPr>
          <a:lstStyle/>
          <a:p>
            <a:pPr algn="ctr"/>
            <a:r>
              <a:rPr sz="2400" b="1">
                <a:solidFill>
                  <a:srgbClr val="9F2241"/>
                </a:solidFill>
                <a:latin typeface="Montserrat"/>
              </a:rPr>
              <a:t>45.9%</a:t>
            </a:r>
          </a:p>
        </p:txBody>
      </p:sp>
      <p:sp>
        <p:nvSpPr>
          <p:cNvPr id="236" name="TextBox 235"/>
          <p:cNvSpPr txBox="1"/>
          <p:nvPr/>
        </p:nvSpPr>
        <p:spPr>
          <a:xfrm>
            <a:off x="4837070" y="644343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87069" y="4823430"/>
            <a:ext cx="2854800" cy="1198800"/>
          </a:xfrm>
          <a:prstGeom prst="rect">
            <a:avLst/>
          </a:prstGeom>
          <a:noFill/>
        </p:spPr>
        <p:txBody>
          <a:bodyPr wrap="square">
            <a:spAutoFit/>
          </a:bodyPr>
          <a:lstStyle/>
          <a:p>
            <a:pPr algn="ctr">
              <a:defRPr sz="3600" b="1">
                <a:solidFill>
                  <a:srgbClr val="9F2241"/>
                </a:solidFill>
                <a:latin typeface="Montserrat"/>
              </a:defRPr>
            </a:pPr>
            <a:r>
              <a:t>39,458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205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26 en Hospitales, 0 en sede, 11 en UMF y 168 sustitutos</a:t>
            </a:r>
          </a:p>
        </p:txBody>
      </p:sp>
      <p:sp>
        <p:nvSpPr>
          <p:cNvPr id="5" name="TextBox 4"/>
          <p:cNvSpPr txBox="1"/>
          <p:nvPr/>
        </p:nvSpPr>
        <p:spPr>
          <a:xfrm>
            <a:off x="360000" y="1419945"/>
            <a:ext cx="3456395" cy="400110"/>
          </a:xfrm>
          <a:prstGeom prst="rect">
            <a:avLst/>
          </a:prstGeom>
          <a:noFill/>
        </p:spPr>
        <p:txBody>
          <a:bodyPr wrap="none" anchor="ctr">
            <a:spAutoFit/>
          </a:bodyPr>
          <a:lstStyle/>
          <a:p>
            <a:pPr>
              <a:defRPr sz="2000" b="1">
                <a:solidFill>
                  <a:srgbClr val="BC955C"/>
                </a:solidFill>
                <a:latin typeface="Montserrat"/>
              </a:defRPr>
            </a:pPr>
            <a:r>
              <a:t>26 en Hospitales</a:t>
            </a:r>
            <a:r>
              <a:rPr lang="es-MX"/>
              <a:t> ( 1 de 2)</a:t>
            </a:r>
            <a:endParaRP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2376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0">
                  <a:txBody>
                    <a:bodyPr/>
                    <a:lstStyle/>
                    <a:p>
                      <a:pPr algn="ctr">
                        <a:defRPr sz="800" b="1">
                          <a:solidFill>
                            <a:srgbClr val="000000"/>
                          </a:solidFill>
                          <a:latin typeface="Montserrat"/>
                        </a:defRPr>
                      </a:pPr>
                      <a:r>
                        <a:t>Hospital General Regional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extLst>
                  <a:ext uri="{0D108BD9-81ED-4DB2-BD59-A6C34878D82A}">
                    <a16:rowId xmlns:a16="http://schemas.microsoft.com/office/drawing/2014/main" val="10010"/>
                  </a:ext>
                </a:extLst>
              </a:tr>
            </a:tbl>
          </a:graphicData>
        </a:graphic>
      </p:graphicFrame>
      <p:graphicFrame>
        <p:nvGraphicFramePr>
          <p:cNvPr id="8" name="Table 7"/>
          <p:cNvGraphicFramePr>
            <a:graphicFrameLocks noGrp="1"/>
          </p:cNvGraphicFramePr>
          <p:nvPr/>
        </p:nvGraphicFramePr>
        <p:xfrm>
          <a:off x="3960000" y="1908000"/>
          <a:ext cx="3456000" cy="2830561"/>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11">
                  <a:txBody>
                    <a:bodyPr/>
                    <a:lstStyle/>
                    <a:p>
                      <a:pPr algn="ctr">
                        <a:defRPr sz="800" b="1">
                          <a:solidFill>
                            <a:srgbClr val="000000"/>
                          </a:solidFill>
                          <a:latin typeface="Montserrat"/>
                        </a:defRPr>
                      </a:pPr>
                      <a:r>
                        <a:t>Hospital General Regional 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Oncológica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0"/>
                  </a:ext>
                </a:extLst>
              </a:tr>
              <a:tr h="21601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extLst>
                  <a:ext uri="{0D108BD9-81ED-4DB2-BD59-A6C34878D82A}">
                    <a16:rowId xmlns:a16="http://schemas.microsoft.com/office/drawing/2014/main" val="10011"/>
                  </a:ext>
                </a:extLst>
              </a:tr>
            </a:tbl>
          </a:graphicData>
        </a:graphic>
      </p:graphicFrame>
      <p:graphicFrame>
        <p:nvGraphicFramePr>
          <p:cNvPr id="9" name="Table 8"/>
          <p:cNvGraphicFramePr>
            <a:graphicFrameLocks noGrp="1"/>
          </p:cNvGraphicFramePr>
          <p:nvPr/>
        </p:nvGraphicFramePr>
        <p:xfrm>
          <a:off x="360000" y="5075999"/>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Hospital General Regional No. 2</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nvGraphicFramePr>
        <p:xfrm>
          <a:off x="3960000" y="5075999"/>
          <a:ext cx="3456000" cy="983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Hospital General de Zona 3</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1" name="Table 10"/>
          <p:cNvGraphicFramePr>
            <a:graphicFrameLocks noGrp="1"/>
          </p:cNvGraphicFramePr>
          <p:nvPr/>
        </p:nvGraphicFramePr>
        <p:xfrm>
          <a:off x="360000" y="6227998"/>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UMAA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24095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205 total especialistas contratados en el draft 2026</a:t>
            </a:r>
          </a:p>
        </p:txBody>
      </p:sp>
      <p:sp>
        <p:nvSpPr>
          <p:cNvPr id="4" name="TextBox 3"/>
          <p:cNvSpPr txBox="1"/>
          <p:nvPr/>
        </p:nvSpPr>
        <p:spPr>
          <a:xfrm>
            <a:off x="360000" y="1081545"/>
            <a:ext cx="6056466" cy="400110"/>
          </a:xfrm>
          <a:prstGeom prst="rect">
            <a:avLst/>
          </a:prstGeom>
          <a:noFill/>
        </p:spPr>
        <p:txBody>
          <a:bodyPr wrap="none" anchor="ctr">
            <a:spAutoFit/>
          </a:bodyPr>
          <a:lstStyle/>
          <a:p>
            <a:pPr>
              <a:defRPr sz="2000" b="1">
                <a:solidFill>
                  <a:srgbClr val="BC955C"/>
                </a:solidFill>
                <a:latin typeface="Montserrat"/>
              </a:defRPr>
            </a:pPr>
            <a:r>
              <a:t>11 en </a:t>
            </a:r>
            <a:r>
              <a:rPr err="1"/>
              <a:t>Unidades</a:t>
            </a:r>
            <a:r>
              <a:t> de Medicina Familiar</a:t>
            </a:r>
            <a:r>
              <a:rPr lang="es-MX"/>
              <a:t> (2 de 2)</a:t>
            </a:r>
            <a:endParaRP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10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7" name="Table 6"/>
          <p:cNvGraphicFramePr>
            <a:graphicFrameLocks noGrp="1"/>
          </p:cNvGraphicFramePr>
          <p:nvPr/>
        </p:nvGraphicFramePr>
        <p:xfrm>
          <a:off x="3960000" y="1569600"/>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13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8" name="Table 7"/>
          <p:cNvGraphicFramePr>
            <a:graphicFrameLocks noGrp="1"/>
          </p:cNvGraphicFramePr>
          <p:nvPr/>
        </p:nvGraphicFramePr>
        <p:xfrm>
          <a:off x="360000" y="2469599"/>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9" name="Table 8"/>
          <p:cNvGraphicFramePr>
            <a:graphicFrameLocks noGrp="1"/>
          </p:cNvGraphicFramePr>
          <p:nvPr/>
        </p:nvGraphicFramePr>
        <p:xfrm>
          <a:off x="3960000" y="2469599"/>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nvGraphicFramePr>
        <p:xfrm>
          <a:off x="360000" y="3369598"/>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nvGraphicFramePr>
        <p:xfrm>
          <a:off x="3960000" y="3369598"/>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8</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nvGraphicFramePr>
        <p:xfrm>
          <a:off x="360000" y="4269597"/>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2"/>
                  </a:ext>
                </a:extLst>
              </a:tr>
            </a:tbl>
          </a:graphicData>
        </a:graphic>
      </p:graphicFrame>
      <p:sp>
        <p:nvSpPr>
          <p:cNvPr id="13" name="TextBox 12"/>
          <p:cNvSpPr txBox="1"/>
          <p:nvPr/>
        </p:nvSpPr>
        <p:spPr>
          <a:xfrm>
            <a:off x="360000" y="5190105"/>
            <a:ext cx="6840000" cy="360000"/>
          </a:xfrm>
          <a:prstGeom prst="rect">
            <a:avLst/>
          </a:prstGeom>
          <a:noFill/>
        </p:spPr>
        <p:txBody>
          <a:bodyPr wrap="none" anchor="ctr">
            <a:spAutoFit/>
          </a:bodyPr>
          <a:lstStyle/>
          <a:p>
            <a:pPr algn="l">
              <a:defRPr sz="2000" b="1">
                <a:solidFill>
                  <a:srgbClr val="BC955C"/>
                </a:solidFill>
                <a:latin typeface="Montserrat"/>
              </a:defRPr>
            </a:pPr>
            <a:r>
              <a:t>168 especialistas (sustitutos)</a:t>
            </a:r>
          </a:p>
        </p:txBody>
      </p:sp>
      <p:cxnSp>
        <p:nvCxnSpPr>
          <p:cNvPr id="14" name="Connector 13"/>
          <p:cNvCxnSpPr/>
          <p:nvPr/>
        </p:nvCxnSpPr>
        <p:spPr>
          <a:xfrm>
            <a:off x="360000" y="5586105"/>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extLst>
              <p:ext uri="{D42A27DB-BD31-4B8C-83A1-F6EECF244321}">
                <p14:modId xmlns:p14="http://schemas.microsoft.com/office/powerpoint/2010/main" val="1389693163"/>
              </p:ext>
            </p:extLst>
          </p:nvPr>
        </p:nvGraphicFramePr>
        <p:xfrm>
          <a:off x="360000" y="5658105"/>
          <a:ext cx="3456000" cy="3575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19</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Cardiología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Endocrinología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9</a:t>
                      </a:r>
                    </a:p>
                  </a:txBody>
                  <a:tcP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19</a:t>
                      </a:r>
                    </a:p>
                  </a:txBody>
                  <a:tcP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1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19</a:t>
                      </a:r>
                    </a:p>
                  </a:txBody>
                  <a:tcPr>
                    <a:solidFill>
                      <a:srgbClr val="F0F0F0"/>
                    </a:solidFill>
                  </a:tcPr>
                </a:tc>
                <a:extLst>
                  <a:ext uri="{0D108BD9-81ED-4DB2-BD59-A6C34878D82A}">
                    <a16:rowId xmlns:a16="http://schemas.microsoft.com/office/drawing/2014/main" val="1001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extLst>
                  <a:ext uri="{0D108BD9-81ED-4DB2-BD59-A6C34878D82A}">
                    <a16:rowId xmlns:a16="http://schemas.microsoft.com/office/drawing/2014/main" val="10015"/>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694207682"/>
              </p:ext>
            </p:extLst>
          </p:nvPr>
        </p:nvGraphicFramePr>
        <p:xfrm>
          <a:off x="3960000" y="5658105"/>
          <a:ext cx="3456000" cy="359784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4">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16</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Nefrología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Neumología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9</a:t>
                      </a:r>
                    </a:p>
                  </a:txBody>
                  <a:tcP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15</a:t>
                      </a:r>
                    </a:p>
                  </a:txBody>
                  <a:tcPr>
                    <a:solidFill>
                      <a:srgbClr val="F0F0F0"/>
                    </a:solidFill>
                  </a:tcPr>
                </a:tc>
                <a:extLst>
                  <a:ext uri="{0D108BD9-81ED-4DB2-BD59-A6C34878D82A}">
                    <a16:rowId xmlns:a16="http://schemas.microsoft.com/office/drawing/2014/main" val="1001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1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168</a:t>
                      </a:r>
                    </a:p>
                  </a:txBody>
                  <a:tcPr>
                    <a:solidFill>
                      <a:srgbClr val="D3E9E7"/>
                    </a:solidFill>
                  </a:tcPr>
                </a:tc>
                <a:extLst>
                  <a:ext uri="{0D108BD9-81ED-4DB2-BD59-A6C34878D82A}">
                    <a16:rowId xmlns:a16="http://schemas.microsoft.com/office/drawing/2014/main" val="10014"/>
                  </a:ext>
                </a:extLst>
              </a:tr>
            </a:tbl>
          </a:graphicData>
        </a:graphic>
      </p:graphicFrame>
      <p:sp>
        <p:nvSpPr>
          <p:cNvPr id="17" name="TextBox 16"/>
          <p:cNvSpPr txBox="1"/>
          <p:nvPr/>
        </p:nvSpPr>
        <p:spPr>
          <a:xfrm>
            <a:off x="270000" y="10893595"/>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223200" y="723599"/>
            <a:ext cx="5795176" cy="415498"/>
          </a:xfrm>
          <a:prstGeom prst="rect">
            <a:avLst/>
          </a:prstGeom>
          <a:noFill/>
        </p:spPr>
        <p:txBody>
          <a:bodyPr wrap="none">
            <a:spAutoFit/>
          </a:bodyPr>
          <a:lstStyle/>
          <a:p>
            <a:pPr algn="l">
              <a:defRPr sz="2100" b="1">
                <a:solidFill>
                  <a:srgbClr val="BC955C"/>
                </a:solidFill>
                <a:latin typeface="Montserrat"/>
              </a:defRPr>
            </a:pPr>
            <a:r>
              <a:rPr dirty="0" err="1"/>
              <a:t>Contrataciones</a:t>
            </a:r>
            <a:r>
              <a:rPr dirty="0"/>
              <a:t> </a:t>
            </a:r>
            <a:r>
              <a:rPr dirty="0" err="1"/>
              <a:t>por</a:t>
            </a:r>
            <a:r>
              <a:rPr dirty="0"/>
              <a:t> </a:t>
            </a:r>
            <a:r>
              <a:rPr dirty="0" err="1"/>
              <a:t>especialidad</a:t>
            </a:r>
            <a:r>
              <a:rPr lang="es-MX" dirty="0"/>
              <a:t> (1 de 2)</a:t>
            </a:r>
            <a:endParaRPr dirty="0"/>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7344000"/>
        </p:xfrm>
        <a:graphic>
          <a:graphicData uri="http://schemas.openxmlformats.org/drawingml/2006/table">
            <a:tbl>
              <a:tblPr firstRow="1" bandRow="1">
                <a:tableStyleId>{5C22544A-7EE6-4342-B048-85BDC9FD1C3A}</a:tableStyleId>
              </a:tblPr>
              <a:tblGrid>
                <a:gridCol w="2642400">
                  <a:extLst>
                    <a:ext uri="{9D8B030D-6E8A-4147-A177-3AD203B41FA5}">
                      <a16:colId xmlns:a16="http://schemas.microsoft.com/office/drawing/2014/main" val="20000"/>
                    </a:ext>
                  </a:extLst>
                </a:gridCol>
                <a:gridCol w="1638000">
                  <a:extLst>
                    <a:ext uri="{9D8B030D-6E8A-4147-A177-3AD203B41FA5}">
                      <a16:colId xmlns:a16="http://schemas.microsoft.com/office/drawing/2014/main" val="20001"/>
                    </a:ext>
                  </a:extLst>
                </a:gridCol>
                <a:gridCol w="1475999">
                  <a:extLst>
                    <a:ext uri="{9D8B030D-6E8A-4147-A177-3AD203B41FA5}">
                      <a16:colId xmlns:a16="http://schemas.microsoft.com/office/drawing/2014/main" val="20002"/>
                    </a:ext>
                  </a:extLst>
                </a:gridCol>
              </a:tblGrid>
              <a:tr h="161584">
                <a:tc>
                  <a:txBody>
                    <a:bodyPr/>
                    <a:lstStyle/>
                    <a:p>
                      <a:pPr algn="ctr">
                        <a:defRPr sz="1100" b="1">
                          <a:solidFill>
                            <a:srgbClr val="FFFFFF"/>
                          </a:solidFill>
                          <a:latin typeface="Montserrat"/>
                        </a:defRPr>
                      </a:pPr>
                      <a:r>
                        <a:t>Especialidad</a:t>
                      </a:r>
                    </a:p>
                  </a:txBody>
                  <a:tcPr marL="14400" marR="14400" marT="14400" marB="14400">
                    <a:solidFill>
                      <a:srgbClr val="006455"/>
                    </a:solidFill>
                  </a:tcPr>
                </a:tc>
                <a:tc>
                  <a:txBody>
                    <a:bodyPr/>
                    <a:lstStyle/>
                    <a:p>
                      <a:pPr algn="ctr">
                        <a:defRPr sz="1100" b="1">
                          <a:solidFill>
                            <a:srgbClr val="FFFFFF"/>
                          </a:solidFill>
                          <a:latin typeface="Montserrat"/>
                        </a:defRPr>
                      </a:pPr>
                      <a:r>
                        <a:t>Número</a:t>
                      </a:r>
                    </a:p>
                  </a:txBody>
                  <a:tcPr marL="14400" marR="14400" marT="14400" marB="14400">
                    <a:solidFill>
                      <a:srgbClr val="006455"/>
                    </a:solidFill>
                  </a:tcPr>
                </a:tc>
                <a:tc>
                  <a:txBody>
                    <a:bodyPr/>
                    <a:lstStyle/>
                    <a:p>
                      <a:pPr algn="ctr">
                        <a:defRPr sz="1100" b="1">
                          <a:solidFill>
                            <a:srgbClr val="FFFFFF"/>
                          </a:solidFill>
                          <a:latin typeface="Montserrat"/>
                        </a:defRPr>
                      </a:pPr>
                      <a:r>
                        <a:t>% Acumulado</a:t>
                      </a:r>
                    </a:p>
                  </a:txBody>
                  <a:tcPr marL="14400" marR="14400" marT="14400" marB="14400">
                    <a:solidFill>
                      <a:srgbClr val="006455"/>
                    </a:solidFill>
                  </a:tcPr>
                </a:tc>
                <a:extLst>
                  <a:ext uri="{0D108BD9-81ED-4DB2-BD59-A6C34878D82A}">
                    <a16:rowId xmlns:a16="http://schemas.microsoft.com/office/drawing/2014/main" val="10000"/>
                  </a:ext>
                </a:extLst>
              </a:tr>
              <a:tr h="161584">
                <a:tc>
                  <a:txBody>
                    <a:bodyPr/>
                    <a:lstStyle/>
                    <a:p>
                      <a:pPr algn="l">
                        <a:defRPr sz="1100" b="0">
                          <a:solidFill>
                            <a:srgbClr val="000000"/>
                          </a:solidFill>
                          <a:latin typeface="Montserrat"/>
                        </a:defRPr>
                      </a:pPr>
                      <a:r>
                        <a:t>Medicina Familiar</a:t>
                      </a:r>
                    </a:p>
                  </a:txBody>
                  <a:tcPr marL="45720" marR="45720" anchor="ctr">
                    <a:solidFill>
                      <a:srgbClr val="FFFFFF"/>
                    </a:solidFill>
                  </a:tcPr>
                </a:tc>
                <a:tc>
                  <a:txBody>
                    <a:bodyPr/>
                    <a:lstStyle/>
                    <a:p>
                      <a:pPr algn="ctr">
                        <a:defRPr sz="1100" b="0">
                          <a:solidFill>
                            <a:srgbClr val="000000"/>
                          </a:solidFill>
                          <a:latin typeface="Montserrat"/>
                        </a:defRPr>
                      </a:pPr>
                      <a:r>
                        <a:t>29</a:t>
                      </a:r>
                    </a:p>
                  </a:txBody>
                  <a:tcPr marL="45720" marR="45720" anchor="ctr">
                    <a:solidFill>
                      <a:srgbClr val="FFFFFF"/>
                    </a:solidFill>
                  </a:tcPr>
                </a:tc>
                <a:tc>
                  <a:txBody>
                    <a:bodyPr/>
                    <a:lstStyle/>
                    <a:p>
                      <a:pPr algn="ctr">
                        <a:defRPr sz="1100" b="1">
                          <a:solidFill>
                            <a:srgbClr val="000000"/>
                          </a:solidFill>
                          <a:latin typeface="Montserrat"/>
                        </a:defRPr>
                      </a:pPr>
                      <a:r>
                        <a:t>14.1%</a:t>
                      </a:r>
                    </a:p>
                  </a:txBody>
                  <a:tcPr marL="45720" marR="45720" anchor="ctr">
                    <a:solidFill>
                      <a:srgbClr val="FFFFFF"/>
                    </a:solidFill>
                  </a:tcPr>
                </a:tc>
                <a:extLst>
                  <a:ext uri="{0D108BD9-81ED-4DB2-BD59-A6C34878D82A}">
                    <a16:rowId xmlns:a16="http://schemas.microsoft.com/office/drawing/2014/main" val="10001"/>
                  </a:ext>
                </a:extLst>
              </a:tr>
              <a:tr h="161584">
                <a:tc>
                  <a:txBody>
                    <a:bodyPr/>
                    <a:lstStyle/>
                    <a:p>
                      <a:pPr algn="l">
                        <a:defRPr sz="1100" b="0">
                          <a:solidFill>
                            <a:srgbClr val="000000"/>
                          </a:solidFill>
                          <a:latin typeface="Montserrat"/>
                        </a:defRPr>
                      </a:pPr>
                      <a:r>
                        <a:t>Ginecología y Obstetricia</a:t>
                      </a:r>
                    </a:p>
                  </a:txBody>
                  <a:tcPr marL="45720" marR="45720" anchor="ctr">
                    <a:solidFill>
                      <a:srgbClr val="D9D9D9"/>
                    </a:solidFill>
                  </a:tcPr>
                </a:tc>
                <a:tc>
                  <a:txBody>
                    <a:bodyPr/>
                    <a:lstStyle/>
                    <a:p>
                      <a:pPr algn="ctr">
                        <a:defRPr sz="1100" b="0">
                          <a:solidFill>
                            <a:srgbClr val="000000"/>
                          </a:solidFill>
                          <a:latin typeface="Montserrat"/>
                        </a:defRPr>
                      </a:pPr>
                      <a:r>
                        <a:t>24</a:t>
                      </a:r>
                    </a:p>
                  </a:txBody>
                  <a:tcPr marL="45720" marR="45720" anchor="ctr">
                    <a:solidFill>
                      <a:srgbClr val="D9D9D9"/>
                    </a:solidFill>
                  </a:tcPr>
                </a:tc>
                <a:tc>
                  <a:txBody>
                    <a:bodyPr/>
                    <a:lstStyle/>
                    <a:p>
                      <a:pPr algn="ctr">
                        <a:defRPr sz="1100" b="1">
                          <a:solidFill>
                            <a:srgbClr val="000000"/>
                          </a:solidFill>
                          <a:latin typeface="Montserrat"/>
                        </a:defRPr>
                      </a:pPr>
                      <a:r>
                        <a:t>25.8%</a:t>
                      </a:r>
                    </a:p>
                  </a:txBody>
                  <a:tcPr marL="45720" marR="45720" anchor="ctr">
                    <a:solidFill>
                      <a:srgbClr val="D9D9D9"/>
                    </a:solidFill>
                  </a:tcPr>
                </a:tc>
                <a:extLst>
                  <a:ext uri="{0D108BD9-81ED-4DB2-BD59-A6C34878D82A}">
                    <a16:rowId xmlns:a16="http://schemas.microsoft.com/office/drawing/2014/main" val="10002"/>
                  </a:ext>
                </a:extLst>
              </a:tr>
              <a:tr h="161584">
                <a:tc>
                  <a:txBody>
                    <a:bodyPr/>
                    <a:lstStyle/>
                    <a:p>
                      <a:pPr algn="l">
                        <a:defRPr sz="1100" b="0">
                          <a:solidFill>
                            <a:srgbClr val="000000"/>
                          </a:solidFill>
                          <a:latin typeface="Montserrat"/>
                        </a:defRPr>
                      </a:pPr>
                      <a:r>
                        <a:t>Anestesiología</a:t>
                      </a:r>
                    </a:p>
                  </a:txBody>
                  <a:tcPr marL="45720" marR="45720" anchor="ctr">
                    <a:solidFill>
                      <a:srgbClr val="FFFFFF"/>
                    </a:solidFill>
                  </a:tcPr>
                </a:tc>
                <a:tc>
                  <a:txBody>
                    <a:bodyPr/>
                    <a:lstStyle/>
                    <a:p>
                      <a:pPr algn="ctr">
                        <a:defRPr sz="1100" b="0">
                          <a:solidFill>
                            <a:srgbClr val="000000"/>
                          </a:solidFill>
                          <a:latin typeface="Montserrat"/>
                        </a:defRPr>
                      </a:pPr>
                      <a:r>
                        <a:t>22</a:t>
                      </a:r>
                    </a:p>
                  </a:txBody>
                  <a:tcPr marL="45720" marR="45720" anchor="ctr">
                    <a:solidFill>
                      <a:srgbClr val="FFFFFF"/>
                    </a:solidFill>
                  </a:tcPr>
                </a:tc>
                <a:tc>
                  <a:txBody>
                    <a:bodyPr/>
                    <a:lstStyle/>
                    <a:p>
                      <a:pPr algn="ctr">
                        <a:defRPr sz="1100" b="1">
                          <a:solidFill>
                            <a:srgbClr val="000000"/>
                          </a:solidFill>
                          <a:latin typeface="Montserrat"/>
                        </a:defRPr>
                      </a:pPr>
                      <a:r>
                        <a:t>36.5%</a:t>
                      </a:r>
                    </a:p>
                  </a:txBody>
                  <a:tcPr marL="45720" marR="45720" anchor="ctr">
                    <a:solidFill>
                      <a:srgbClr val="FFFFFF"/>
                    </a:solidFill>
                  </a:tcPr>
                </a:tc>
                <a:extLst>
                  <a:ext uri="{0D108BD9-81ED-4DB2-BD59-A6C34878D82A}">
                    <a16:rowId xmlns:a16="http://schemas.microsoft.com/office/drawing/2014/main" val="10003"/>
                  </a:ext>
                </a:extLst>
              </a:tr>
              <a:tr h="161584">
                <a:tc>
                  <a:txBody>
                    <a:bodyPr/>
                    <a:lstStyle/>
                    <a:p>
                      <a:pPr algn="l">
                        <a:defRPr sz="1100" b="0">
                          <a:solidFill>
                            <a:srgbClr val="000000"/>
                          </a:solidFill>
                          <a:latin typeface="Montserrat"/>
                        </a:defRPr>
                      </a:pPr>
                      <a:r>
                        <a:t>Cirugía General</a:t>
                      </a:r>
                    </a:p>
                  </a:txBody>
                  <a:tcPr marL="45720" marR="45720" anchor="ctr">
                    <a:solidFill>
                      <a:srgbClr val="D9D9D9"/>
                    </a:solidFill>
                  </a:tcPr>
                </a:tc>
                <a:tc>
                  <a:txBody>
                    <a:bodyPr/>
                    <a:lstStyle/>
                    <a:p>
                      <a:pPr algn="ctr">
                        <a:defRPr sz="1100" b="0">
                          <a:solidFill>
                            <a:srgbClr val="000000"/>
                          </a:solidFill>
                          <a:latin typeface="Montserrat"/>
                        </a:defRPr>
                      </a:pPr>
                      <a:r>
                        <a:t>22</a:t>
                      </a:r>
                    </a:p>
                  </a:txBody>
                  <a:tcPr marL="45720" marR="45720" anchor="ctr">
                    <a:solidFill>
                      <a:srgbClr val="D9D9D9"/>
                    </a:solidFill>
                  </a:tcPr>
                </a:tc>
                <a:tc>
                  <a:txBody>
                    <a:bodyPr/>
                    <a:lstStyle/>
                    <a:p>
                      <a:pPr algn="ctr">
                        <a:defRPr sz="1100" b="1">
                          <a:solidFill>
                            <a:srgbClr val="000000"/>
                          </a:solidFill>
                          <a:latin typeface="Montserrat"/>
                        </a:defRPr>
                      </a:pPr>
                      <a:r>
                        <a:t>47.3%</a:t>
                      </a:r>
                    </a:p>
                  </a:txBody>
                  <a:tcPr marL="45720" marR="45720" anchor="ctr">
                    <a:solidFill>
                      <a:srgbClr val="D9D9D9"/>
                    </a:solidFill>
                  </a:tcPr>
                </a:tc>
                <a:extLst>
                  <a:ext uri="{0D108BD9-81ED-4DB2-BD59-A6C34878D82A}">
                    <a16:rowId xmlns:a16="http://schemas.microsoft.com/office/drawing/2014/main" val="10004"/>
                  </a:ext>
                </a:extLst>
              </a:tr>
              <a:tr h="161584">
                <a:tc>
                  <a:txBody>
                    <a:bodyPr/>
                    <a:lstStyle/>
                    <a:p>
                      <a:pPr algn="l">
                        <a:defRPr sz="1100" b="0">
                          <a:solidFill>
                            <a:srgbClr val="000000"/>
                          </a:solidFill>
                          <a:latin typeface="Montserrat"/>
                        </a:defRPr>
                      </a:pPr>
                      <a:r>
                        <a:t>Medicina de Urgencias</a:t>
                      </a:r>
                    </a:p>
                  </a:txBody>
                  <a:tcPr marL="45720" marR="45720" anchor="ctr">
                    <a:solidFill>
                      <a:srgbClr val="FFFFFF"/>
                    </a:solidFill>
                  </a:tcPr>
                </a:tc>
                <a:tc>
                  <a:txBody>
                    <a:bodyPr/>
                    <a:lstStyle/>
                    <a:p>
                      <a:pPr algn="ctr">
                        <a:defRPr sz="1100" b="0">
                          <a:solidFill>
                            <a:srgbClr val="000000"/>
                          </a:solidFill>
                          <a:latin typeface="Montserrat"/>
                        </a:defRPr>
                      </a:pPr>
                      <a:r>
                        <a:t>19</a:t>
                      </a:r>
                    </a:p>
                  </a:txBody>
                  <a:tcPr marL="45720" marR="45720" anchor="ctr">
                    <a:solidFill>
                      <a:srgbClr val="FFFFFF"/>
                    </a:solidFill>
                  </a:tcPr>
                </a:tc>
                <a:tc>
                  <a:txBody>
                    <a:bodyPr/>
                    <a:lstStyle/>
                    <a:p>
                      <a:pPr algn="ctr">
                        <a:defRPr sz="1100" b="1">
                          <a:solidFill>
                            <a:srgbClr val="000000"/>
                          </a:solidFill>
                          <a:latin typeface="Montserrat"/>
                        </a:defRPr>
                      </a:pPr>
                      <a:r>
                        <a:t>56.5%</a:t>
                      </a:r>
                    </a:p>
                  </a:txBody>
                  <a:tcPr marL="45720" marR="45720" anchor="ctr">
                    <a:solidFill>
                      <a:srgbClr val="FFFFFF"/>
                    </a:solidFill>
                  </a:tcPr>
                </a:tc>
                <a:extLst>
                  <a:ext uri="{0D108BD9-81ED-4DB2-BD59-A6C34878D82A}">
                    <a16:rowId xmlns:a16="http://schemas.microsoft.com/office/drawing/2014/main" val="10005"/>
                  </a:ext>
                </a:extLst>
              </a:tr>
              <a:tr h="161584">
                <a:tc>
                  <a:txBody>
                    <a:bodyPr/>
                    <a:lstStyle/>
                    <a:p>
                      <a:pPr algn="l">
                        <a:defRPr sz="1100" b="0">
                          <a:solidFill>
                            <a:srgbClr val="000000"/>
                          </a:solidFill>
                          <a:latin typeface="Montserrat"/>
                        </a:defRPr>
                      </a:pPr>
                      <a:r>
                        <a:t>Traumatología y Ortopedia</a:t>
                      </a:r>
                    </a:p>
                  </a:txBody>
                  <a:tcPr marL="45720" marR="45720" anchor="ctr">
                    <a:solidFill>
                      <a:srgbClr val="D9D9D9"/>
                    </a:solidFill>
                  </a:tcPr>
                </a:tc>
                <a:tc>
                  <a:txBody>
                    <a:bodyPr/>
                    <a:lstStyle/>
                    <a:p>
                      <a:pPr algn="ctr">
                        <a:defRPr sz="1100" b="0">
                          <a:solidFill>
                            <a:srgbClr val="000000"/>
                          </a:solidFill>
                          <a:latin typeface="Montserrat"/>
                        </a:defRPr>
                      </a:pPr>
                      <a:r>
                        <a:t>16</a:t>
                      </a:r>
                    </a:p>
                  </a:txBody>
                  <a:tcPr marL="45720" marR="45720" anchor="ctr">
                    <a:solidFill>
                      <a:srgbClr val="D9D9D9"/>
                    </a:solidFill>
                  </a:tcPr>
                </a:tc>
                <a:tc>
                  <a:txBody>
                    <a:bodyPr/>
                    <a:lstStyle/>
                    <a:p>
                      <a:pPr algn="ctr">
                        <a:defRPr sz="1100" b="1">
                          <a:solidFill>
                            <a:srgbClr val="000000"/>
                          </a:solidFill>
                          <a:latin typeface="Montserrat"/>
                        </a:defRPr>
                      </a:pPr>
                      <a:r>
                        <a:t>64.3%</a:t>
                      </a:r>
                    </a:p>
                  </a:txBody>
                  <a:tcPr marL="45720" marR="45720" anchor="ctr">
                    <a:solidFill>
                      <a:srgbClr val="D9D9D9"/>
                    </a:solidFill>
                  </a:tcPr>
                </a:tc>
                <a:extLst>
                  <a:ext uri="{0D108BD9-81ED-4DB2-BD59-A6C34878D82A}">
                    <a16:rowId xmlns:a16="http://schemas.microsoft.com/office/drawing/2014/main" val="10006"/>
                  </a:ext>
                </a:extLst>
              </a:tr>
              <a:tr h="161584">
                <a:tc>
                  <a:txBody>
                    <a:bodyPr/>
                    <a:lstStyle/>
                    <a:p>
                      <a:pPr algn="l">
                        <a:defRPr sz="1100" b="0">
                          <a:solidFill>
                            <a:srgbClr val="000000"/>
                          </a:solidFill>
                          <a:latin typeface="Montserrat"/>
                        </a:defRPr>
                      </a:pPr>
                      <a:r>
                        <a:t>Geriatría</a:t>
                      </a:r>
                    </a:p>
                  </a:txBody>
                  <a:tcPr marL="45720" marR="45720" anchor="ctr">
                    <a:solidFill>
                      <a:srgbClr val="FFFFFF"/>
                    </a:solidFill>
                  </a:tcPr>
                </a:tc>
                <a:tc>
                  <a:txBody>
                    <a:bodyPr/>
                    <a:lstStyle/>
                    <a:p>
                      <a:pPr algn="ctr">
                        <a:defRPr sz="1100" b="0">
                          <a:solidFill>
                            <a:srgbClr val="000000"/>
                          </a:solidFill>
                          <a:latin typeface="Montserrat"/>
                        </a:defRPr>
                      </a:pPr>
                      <a:r>
                        <a:t>9</a:t>
                      </a:r>
                    </a:p>
                  </a:txBody>
                  <a:tcPr marL="45720" marR="45720" anchor="ctr">
                    <a:solidFill>
                      <a:srgbClr val="FFFFFF"/>
                    </a:solidFill>
                  </a:tcPr>
                </a:tc>
                <a:tc>
                  <a:txBody>
                    <a:bodyPr/>
                    <a:lstStyle/>
                    <a:p>
                      <a:pPr algn="ctr">
                        <a:defRPr sz="1100" b="1">
                          <a:solidFill>
                            <a:srgbClr val="000000"/>
                          </a:solidFill>
                          <a:latin typeface="Montserrat"/>
                        </a:defRPr>
                      </a:pPr>
                      <a:r>
                        <a:t>68.7%</a:t>
                      </a:r>
                    </a:p>
                  </a:txBody>
                  <a:tcPr marL="45720" marR="45720" anchor="ctr">
                    <a:solidFill>
                      <a:srgbClr val="FFFFFF"/>
                    </a:solidFill>
                  </a:tcPr>
                </a:tc>
                <a:extLst>
                  <a:ext uri="{0D108BD9-81ED-4DB2-BD59-A6C34878D82A}">
                    <a16:rowId xmlns:a16="http://schemas.microsoft.com/office/drawing/2014/main" val="10007"/>
                  </a:ext>
                </a:extLst>
              </a:tr>
              <a:tr h="161584">
                <a:tc>
                  <a:txBody>
                    <a:bodyPr/>
                    <a:lstStyle/>
                    <a:p>
                      <a:pPr algn="l">
                        <a:defRPr sz="1100" b="0">
                          <a:solidFill>
                            <a:srgbClr val="000000"/>
                          </a:solidFill>
                          <a:latin typeface="Montserrat"/>
                        </a:defRPr>
                      </a:pPr>
                      <a:r>
                        <a:t>Pediatría</a:t>
                      </a:r>
                    </a:p>
                  </a:txBody>
                  <a:tcPr marL="45720" marR="45720" anchor="ctr">
                    <a:solidFill>
                      <a:srgbClr val="D9D9D9"/>
                    </a:solidFill>
                  </a:tcPr>
                </a:tc>
                <a:tc>
                  <a:txBody>
                    <a:bodyPr/>
                    <a:lstStyle/>
                    <a:p>
                      <a:pPr algn="ctr">
                        <a:defRPr sz="1100" b="0">
                          <a:solidFill>
                            <a:srgbClr val="000000"/>
                          </a:solidFill>
                          <a:latin typeface="Montserrat"/>
                        </a:defRPr>
                      </a:pPr>
                      <a:r>
                        <a:t>9</a:t>
                      </a:r>
                    </a:p>
                  </a:txBody>
                  <a:tcPr marL="45720" marR="45720" anchor="ctr">
                    <a:solidFill>
                      <a:srgbClr val="D9D9D9"/>
                    </a:solidFill>
                  </a:tcPr>
                </a:tc>
                <a:tc>
                  <a:txBody>
                    <a:bodyPr/>
                    <a:lstStyle/>
                    <a:p>
                      <a:pPr algn="ctr">
                        <a:defRPr sz="1100" b="1">
                          <a:solidFill>
                            <a:srgbClr val="000000"/>
                          </a:solidFill>
                          <a:latin typeface="Montserrat"/>
                        </a:defRPr>
                      </a:pPr>
                      <a:r>
                        <a:t>73.1%</a:t>
                      </a:r>
                    </a:p>
                  </a:txBody>
                  <a:tcPr marL="45720" marR="45720" anchor="ctr">
                    <a:solidFill>
                      <a:srgbClr val="D9D9D9"/>
                    </a:solidFill>
                  </a:tcPr>
                </a:tc>
                <a:extLst>
                  <a:ext uri="{0D108BD9-81ED-4DB2-BD59-A6C34878D82A}">
                    <a16:rowId xmlns:a16="http://schemas.microsoft.com/office/drawing/2014/main" val="10008"/>
                  </a:ext>
                </a:extLst>
              </a:tr>
              <a:tr h="161584">
                <a:tc>
                  <a:txBody>
                    <a:bodyPr/>
                    <a:lstStyle/>
                    <a:p>
                      <a:pPr algn="l">
                        <a:defRPr sz="1100" b="0">
                          <a:solidFill>
                            <a:srgbClr val="000000"/>
                          </a:solidFill>
                          <a:latin typeface="Montserrat"/>
                        </a:defRPr>
                      </a:pPr>
                      <a:r>
                        <a:t>Medicina Interna</a:t>
                      </a:r>
                    </a:p>
                  </a:txBody>
                  <a:tcPr marL="45720" marR="45720" anchor="ctr">
                    <a:solidFill>
                      <a:srgbClr val="FFFFFF"/>
                    </a:solidFill>
                  </a:tcPr>
                </a:tc>
                <a:tc>
                  <a:txBody>
                    <a:bodyPr/>
                    <a:lstStyle/>
                    <a:p>
                      <a:pPr algn="ctr">
                        <a:defRPr sz="1100" b="0">
                          <a:solidFill>
                            <a:srgbClr val="000000"/>
                          </a:solidFill>
                          <a:latin typeface="Montserrat"/>
                        </a:defRPr>
                      </a:pPr>
                      <a:r>
                        <a:t>8</a:t>
                      </a:r>
                    </a:p>
                  </a:txBody>
                  <a:tcPr marL="45720" marR="45720" anchor="ctr">
                    <a:solidFill>
                      <a:srgbClr val="FFFFFF"/>
                    </a:solidFill>
                  </a:tcPr>
                </a:tc>
                <a:tc>
                  <a:txBody>
                    <a:bodyPr/>
                    <a:lstStyle/>
                    <a:p>
                      <a:pPr algn="ctr">
                        <a:defRPr sz="1100" b="1">
                          <a:solidFill>
                            <a:srgbClr val="000000"/>
                          </a:solidFill>
                          <a:latin typeface="Montserrat"/>
                        </a:defRPr>
                      </a:pPr>
                      <a:r>
                        <a:t>77.0%</a:t>
                      </a:r>
                    </a:p>
                  </a:txBody>
                  <a:tcPr marL="45720" marR="45720" anchor="ctr">
                    <a:solidFill>
                      <a:srgbClr val="FFFFFF"/>
                    </a:solidFill>
                  </a:tcPr>
                </a:tc>
                <a:extLst>
                  <a:ext uri="{0D108BD9-81ED-4DB2-BD59-A6C34878D82A}">
                    <a16:rowId xmlns:a16="http://schemas.microsoft.com/office/drawing/2014/main" val="10009"/>
                  </a:ext>
                </a:extLst>
              </a:tr>
              <a:tr h="161584">
                <a:tc>
                  <a:txBody>
                    <a:bodyPr/>
                    <a:lstStyle/>
                    <a:p>
                      <a:pPr algn="l">
                        <a:defRPr sz="1100" b="0">
                          <a:solidFill>
                            <a:srgbClr val="000000"/>
                          </a:solidFill>
                          <a:latin typeface="Montserrat"/>
                        </a:defRPr>
                      </a:pPr>
                      <a:r>
                        <a:t>Cirugía Plástica y Reconstructiva</a:t>
                      </a:r>
                    </a:p>
                  </a:txBody>
                  <a:tcPr marL="45720" marR="45720" anchor="ctr">
                    <a:solidFill>
                      <a:srgbClr val="D9D9D9"/>
                    </a:solidFill>
                  </a:tcPr>
                </a:tc>
                <a:tc>
                  <a:txBody>
                    <a:bodyPr/>
                    <a:lstStyle/>
                    <a:p>
                      <a:pPr algn="ctr">
                        <a:defRPr sz="1100" b="0">
                          <a:solidFill>
                            <a:srgbClr val="000000"/>
                          </a:solidFill>
                          <a:latin typeface="Montserrat"/>
                        </a:defRPr>
                      </a:pPr>
                      <a:r>
                        <a:t>4</a:t>
                      </a:r>
                    </a:p>
                  </a:txBody>
                  <a:tcPr marL="45720" marR="45720" anchor="ctr">
                    <a:solidFill>
                      <a:srgbClr val="D9D9D9"/>
                    </a:solidFill>
                  </a:tcPr>
                </a:tc>
                <a:tc>
                  <a:txBody>
                    <a:bodyPr/>
                    <a:lstStyle/>
                    <a:p>
                      <a:pPr algn="ctr">
                        <a:defRPr sz="1100" b="1">
                          <a:solidFill>
                            <a:srgbClr val="000000"/>
                          </a:solidFill>
                          <a:latin typeface="Montserrat"/>
                        </a:defRPr>
                      </a:pPr>
                      <a:r>
                        <a:t>79.0%</a:t>
                      </a:r>
                    </a:p>
                  </a:txBody>
                  <a:tcPr marL="45720" marR="45720" anchor="ctr">
                    <a:solidFill>
                      <a:srgbClr val="D9D9D9"/>
                    </a:solidFill>
                  </a:tcPr>
                </a:tc>
                <a:extLst>
                  <a:ext uri="{0D108BD9-81ED-4DB2-BD59-A6C34878D82A}">
                    <a16:rowId xmlns:a16="http://schemas.microsoft.com/office/drawing/2014/main" val="10010"/>
                  </a:ext>
                </a:extLst>
              </a:tr>
              <a:tr h="161584">
                <a:tc>
                  <a:txBody>
                    <a:bodyPr/>
                    <a:lstStyle/>
                    <a:p>
                      <a:pPr algn="l">
                        <a:defRPr sz="1100" b="0">
                          <a:solidFill>
                            <a:srgbClr val="000000"/>
                          </a:solidFill>
                          <a:latin typeface="Montserrat"/>
                        </a:defRPr>
                      </a:pPr>
                      <a:r>
                        <a:t>Urología</a:t>
                      </a:r>
                    </a:p>
                  </a:txBody>
                  <a:tcPr marL="45720" marR="45720" anchor="ctr">
                    <a:solidFill>
                      <a:srgbClr val="FFFFFF"/>
                    </a:solidFill>
                  </a:tcPr>
                </a:tc>
                <a:tc>
                  <a:txBody>
                    <a:bodyPr/>
                    <a:lstStyle/>
                    <a:p>
                      <a:pPr algn="ctr">
                        <a:defRPr sz="1100" b="0">
                          <a:solidFill>
                            <a:srgbClr val="000000"/>
                          </a:solidFill>
                          <a:latin typeface="Montserrat"/>
                        </a:defRPr>
                      </a:pPr>
                      <a:r>
                        <a:t>4</a:t>
                      </a:r>
                    </a:p>
                  </a:txBody>
                  <a:tcPr marL="45720" marR="45720" anchor="ctr">
                    <a:solidFill>
                      <a:srgbClr val="FFFFFF"/>
                    </a:solidFill>
                  </a:tcPr>
                </a:tc>
                <a:tc>
                  <a:txBody>
                    <a:bodyPr/>
                    <a:lstStyle/>
                    <a:p>
                      <a:pPr algn="ctr">
                        <a:defRPr sz="1100" b="1">
                          <a:solidFill>
                            <a:srgbClr val="000000"/>
                          </a:solidFill>
                          <a:latin typeface="Montserrat"/>
                        </a:defRPr>
                      </a:pPr>
                      <a:r>
                        <a:t>80.9%</a:t>
                      </a:r>
                    </a:p>
                  </a:txBody>
                  <a:tcPr marL="45720" marR="45720" anchor="ctr">
                    <a:solidFill>
                      <a:srgbClr val="FFFFFF"/>
                    </a:solidFill>
                  </a:tcPr>
                </a:tc>
                <a:extLst>
                  <a:ext uri="{0D108BD9-81ED-4DB2-BD59-A6C34878D82A}">
                    <a16:rowId xmlns:a16="http://schemas.microsoft.com/office/drawing/2014/main" val="10011"/>
                  </a:ext>
                </a:extLst>
              </a:tr>
              <a:tr h="161584">
                <a:tc>
                  <a:txBody>
                    <a:bodyPr/>
                    <a:lstStyle/>
                    <a:p>
                      <a:pPr algn="l">
                        <a:defRPr sz="1100" b="0">
                          <a:solidFill>
                            <a:srgbClr val="000000"/>
                          </a:solidFill>
                          <a:latin typeface="Montserrat"/>
                        </a:defRPr>
                      </a:pPr>
                      <a:r>
                        <a:t>Medicina del Trabajo y Ambiental</a:t>
                      </a:r>
                    </a:p>
                  </a:txBody>
                  <a:tcPr marL="45720" marR="45720" anchor="ctr">
                    <a:solidFill>
                      <a:srgbClr val="D9D9D9"/>
                    </a:solidFill>
                  </a:tcPr>
                </a:tc>
                <a:tc>
                  <a:txBody>
                    <a:bodyPr/>
                    <a:lstStyle/>
                    <a:p>
                      <a:pPr algn="ctr">
                        <a:defRPr sz="1100" b="0">
                          <a:solidFill>
                            <a:srgbClr val="000000"/>
                          </a:solidFill>
                          <a:latin typeface="Montserrat"/>
                        </a:defRPr>
                      </a:pPr>
                      <a:r>
                        <a:t>4</a:t>
                      </a:r>
                    </a:p>
                  </a:txBody>
                  <a:tcPr marL="45720" marR="45720" anchor="ctr">
                    <a:solidFill>
                      <a:srgbClr val="D9D9D9"/>
                    </a:solidFill>
                  </a:tcPr>
                </a:tc>
                <a:tc>
                  <a:txBody>
                    <a:bodyPr/>
                    <a:lstStyle/>
                    <a:p>
                      <a:pPr algn="ctr">
                        <a:defRPr sz="1100" b="1">
                          <a:solidFill>
                            <a:srgbClr val="000000"/>
                          </a:solidFill>
                          <a:latin typeface="Montserrat"/>
                        </a:defRPr>
                      </a:pPr>
                      <a:r>
                        <a:t>82.9%</a:t>
                      </a:r>
                    </a:p>
                  </a:txBody>
                  <a:tcPr marL="45720" marR="45720" anchor="ctr">
                    <a:solidFill>
                      <a:srgbClr val="D9D9D9"/>
                    </a:solidFill>
                  </a:tcPr>
                </a:tc>
                <a:extLst>
                  <a:ext uri="{0D108BD9-81ED-4DB2-BD59-A6C34878D82A}">
                    <a16:rowId xmlns:a16="http://schemas.microsoft.com/office/drawing/2014/main" val="10012"/>
                  </a:ext>
                </a:extLst>
              </a:tr>
              <a:tr h="161584">
                <a:tc>
                  <a:txBody>
                    <a:bodyPr/>
                    <a:lstStyle/>
                    <a:p>
                      <a:pPr algn="l">
                        <a:defRPr sz="1100" b="0">
                          <a:solidFill>
                            <a:srgbClr val="000000"/>
                          </a:solidFill>
                          <a:latin typeface="Montserrat"/>
                        </a:defRPr>
                      </a:pPr>
                      <a:r>
                        <a:t>Nefrología</a:t>
                      </a:r>
                    </a:p>
                  </a:txBody>
                  <a:tcPr marL="45720" marR="45720" anchor="ctr">
                    <a:solidFill>
                      <a:srgbClr val="FFFFFF"/>
                    </a:solidFill>
                  </a:tcPr>
                </a:tc>
                <a:tc>
                  <a:txBody>
                    <a:bodyPr/>
                    <a:lstStyle/>
                    <a:p>
                      <a:pPr algn="ctr">
                        <a:defRPr sz="1100" b="0">
                          <a:solidFill>
                            <a:srgbClr val="000000"/>
                          </a:solidFill>
                          <a:latin typeface="Montserrat"/>
                        </a:defRPr>
                      </a:pPr>
                      <a:r>
                        <a:t>3</a:t>
                      </a:r>
                    </a:p>
                  </a:txBody>
                  <a:tcPr marL="45720" marR="45720" anchor="ctr">
                    <a:solidFill>
                      <a:srgbClr val="FFFFFF"/>
                    </a:solidFill>
                  </a:tcPr>
                </a:tc>
                <a:tc>
                  <a:txBody>
                    <a:bodyPr/>
                    <a:lstStyle/>
                    <a:p>
                      <a:pPr algn="ctr">
                        <a:defRPr sz="1100" b="1">
                          <a:solidFill>
                            <a:srgbClr val="000000"/>
                          </a:solidFill>
                          <a:latin typeface="Montserrat"/>
                        </a:defRPr>
                      </a:pPr>
                      <a:r>
                        <a:t>84.3%</a:t>
                      </a:r>
                    </a:p>
                  </a:txBody>
                  <a:tcPr marL="45720" marR="45720" anchor="ctr">
                    <a:solidFill>
                      <a:srgbClr val="FFFFFF"/>
                    </a:solidFill>
                  </a:tcPr>
                </a:tc>
                <a:extLst>
                  <a:ext uri="{0D108BD9-81ED-4DB2-BD59-A6C34878D82A}">
                    <a16:rowId xmlns:a16="http://schemas.microsoft.com/office/drawing/2014/main" val="10013"/>
                  </a:ext>
                </a:extLst>
              </a:tr>
              <a:tr h="161584">
                <a:tc>
                  <a:txBody>
                    <a:bodyPr/>
                    <a:lstStyle/>
                    <a:p>
                      <a:pPr algn="l">
                        <a:defRPr sz="1100" b="0">
                          <a:solidFill>
                            <a:srgbClr val="000000"/>
                          </a:solidFill>
                          <a:latin typeface="Montserrat"/>
                        </a:defRPr>
                      </a:pPr>
                      <a:r>
                        <a:t>Oftalmología</a:t>
                      </a:r>
                    </a:p>
                  </a:txBody>
                  <a:tcPr marL="45720" marR="45720" anchor="ctr">
                    <a:solidFill>
                      <a:srgbClr val="D9D9D9"/>
                    </a:solidFill>
                  </a:tcPr>
                </a:tc>
                <a:tc>
                  <a:txBody>
                    <a:bodyPr/>
                    <a:lstStyle/>
                    <a:p>
                      <a:pPr algn="ctr">
                        <a:defRPr sz="1100" b="0">
                          <a:solidFill>
                            <a:srgbClr val="000000"/>
                          </a:solidFill>
                          <a:latin typeface="Montserrat"/>
                        </a:defRPr>
                      </a:pPr>
                      <a:r>
                        <a:t>3</a:t>
                      </a:r>
                    </a:p>
                  </a:txBody>
                  <a:tcPr marL="45720" marR="45720" anchor="ctr">
                    <a:solidFill>
                      <a:srgbClr val="D9D9D9"/>
                    </a:solidFill>
                  </a:tcPr>
                </a:tc>
                <a:tc>
                  <a:txBody>
                    <a:bodyPr/>
                    <a:lstStyle/>
                    <a:p>
                      <a:pPr algn="ctr">
                        <a:defRPr sz="1100" b="1">
                          <a:solidFill>
                            <a:srgbClr val="000000"/>
                          </a:solidFill>
                          <a:latin typeface="Montserrat"/>
                        </a:defRPr>
                      </a:pPr>
                      <a:r>
                        <a:t>85.8%</a:t>
                      </a:r>
                    </a:p>
                  </a:txBody>
                  <a:tcPr marL="45720" marR="45720" anchor="ctr">
                    <a:solidFill>
                      <a:srgbClr val="D9D9D9"/>
                    </a:solidFill>
                  </a:tcPr>
                </a:tc>
                <a:extLst>
                  <a:ext uri="{0D108BD9-81ED-4DB2-BD59-A6C34878D82A}">
                    <a16:rowId xmlns:a16="http://schemas.microsoft.com/office/drawing/2014/main" val="10014"/>
                  </a:ext>
                </a:extLst>
              </a:tr>
              <a:tr h="161584">
                <a:tc>
                  <a:txBody>
                    <a:bodyPr/>
                    <a:lstStyle/>
                    <a:p>
                      <a:pPr algn="l">
                        <a:defRPr sz="1100" b="0">
                          <a:solidFill>
                            <a:srgbClr val="000000"/>
                          </a:solidFill>
                          <a:latin typeface="Montserrat"/>
                        </a:defRPr>
                      </a:pPr>
                      <a:r>
                        <a:t>Imagenología Diagnóstico y Terapéutica</a:t>
                      </a:r>
                    </a:p>
                  </a:txBody>
                  <a:tcPr marL="45720" marR="45720" anchor="ctr">
                    <a:solidFill>
                      <a:srgbClr val="FFFFFF"/>
                    </a:solidFill>
                  </a:tcPr>
                </a:tc>
                <a:tc>
                  <a:txBody>
                    <a:bodyPr/>
                    <a:lstStyle/>
                    <a:p>
                      <a:pPr algn="ctr">
                        <a:defRPr sz="1100" b="0">
                          <a:solidFill>
                            <a:srgbClr val="000000"/>
                          </a:solidFill>
                          <a:latin typeface="Montserrat"/>
                        </a:defRPr>
                      </a:pPr>
                      <a:r>
                        <a:t>3</a:t>
                      </a:r>
                    </a:p>
                  </a:txBody>
                  <a:tcPr marL="45720" marR="45720" anchor="ctr">
                    <a:solidFill>
                      <a:srgbClr val="FFFFFF"/>
                    </a:solidFill>
                  </a:tcPr>
                </a:tc>
                <a:tc>
                  <a:txBody>
                    <a:bodyPr/>
                    <a:lstStyle/>
                    <a:p>
                      <a:pPr algn="ctr">
                        <a:defRPr sz="1100" b="1">
                          <a:solidFill>
                            <a:srgbClr val="000000"/>
                          </a:solidFill>
                          <a:latin typeface="Montserrat"/>
                        </a:defRPr>
                      </a:pPr>
                      <a:r>
                        <a:t>87.3%</a:t>
                      </a:r>
                    </a:p>
                  </a:txBody>
                  <a:tcPr marL="45720" marR="45720" anchor="ctr">
                    <a:solidFill>
                      <a:srgbClr val="FFFFFF"/>
                    </a:solidFill>
                  </a:tcPr>
                </a:tc>
                <a:extLst>
                  <a:ext uri="{0D108BD9-81ED-4DB2-BD59-A6C34878D82A}">
                    <a16:rowId xmlns:a16="http://schemas.microsoft.com/office/drawing/2014/main" val="10015"/>
                  </a:ext>
                </a:extLst>
              </a:tr>
              <a:tr h="161584">
                <a:tc>
                  <a:txBody>
                    <a:bodyPr/>
                    <a:lstStyle/>
                    <a:p>
                      <a:pPr algn="l">
                        <a:defRPr sz="1100" b="0">
                          <a:solidFill>
                            <a:srgbClr val="000000"/>
                          </a:solidFill>
                          <a:latin typeface="Montserrat"/>
                        </a:defRPr>
                      </a:pPr>
                      <a:r>
                        <a:t>Cardiología</a:t>
                      </a:r>
                    </a:p>
                  </a:txBody>
                  <a:tcPr marL="45720" marR="45720" anchor="ctr">
                    <a:solidFill>
                      <a:srgbClr val="D9D9D9"/>
                    </a:solidFill>
                  </a:tcPr>
                </a:tc>
                <a:tc>
                  <a:txBody>
                    <a:bodyPr/>
                    <a:lstStyle/>
                    <a:p>
                      <a:pPr algn="ctr">
                        <a:defRPr sz="1100" b="0">
                          <a:solidFill>
                            <a:srgbClr val="000000"/>
                          </a:solidFill>
                          <a:latin typeface="Montserrat"/>
                        </a:defRPr>
                      </a:pPr>
                      <a:r>
                        <a:t>3</a:t>
                      </a:r>
                    </a:p>
                  </a:txBody>
                  <a:tcPr marL="45720" marR="45720" anchor="ctr">
                    <a:solidFill>
                      <a:srgbClr val="D9D9D9"/>
                    </a:solidFill>
                  </a:tcPr>
                </a:tc>
                <a:tc>
                  <a:txBody>
                    <a:bodyPr/>
                    <a:lstStyle/>
                    <a:p>
                      <a:pPr algn="ctr">
                        <a:defRPr sz="1100" b="1">
                          <a:solidFill>
                            <a:srgbClr val="000000"/>
                          </a:solidFill>
                          <a:latin typeface="Montserrat"/>
                        </a:defRPr>
                      </a:pPr>
                      <a:r>
                        <a:t>88.7%</a:t>
                      </a:r>
                    </a:p>
                  </a:txBody>
                  <a:tcPr marL="45720" marR="45720" anchor="ctr">
                    <a:solidFill>
                      <a:srgbClr val="D9D9D9"/>
                    </a:solidFill>
                  </a:tcPr>
                </a:tc>
                <a:extLst>
                  <a:ext uri="{0D108BD9-81ED-4DB2-BD59-A6C34878D82A}">
                    <a16:rowId xmlns:a16="http://schemas.microsoft.com/office/drawing/2014/main" val="10016"/>
                  </a:ext>
                </a:extLst>
              </a:tr>
              <a:tr h="161584">
                <a:tc>
                  <a:txBody>
                    <a:bodyPr/>
                    <a:lstStyle/>
                    <a:p>
                      <a:pPr algn="l">
                        <a:defRPr sz="1100" b="0">
                          <a:solidFill>
                            <a:srgbClr val="000000"/>
                          </a:solidFill>
                          <a:latin typeface="Montserrat"/>
                        </a:defRPr>
                      </a:pPr>
                      <a:r>
                        <a:t>Reumatología</a:t>
                      </a:r>
                    </a:p>
                  </a:txBody>
                  <a:tcPr marL="45720" marR="45720" anchor="ctr">
                    <a:solidFill>
                      <a:srgbClr val="FFFFFF"/>
                    </a:solidFill>
                  </a:tcPr>
                </a:tc>
                <a:tc>
                  <a:txBody>
                    <a:bodyPr/>
                    <a:lstStyle/>
                    <a:p>
                      <a:pPr algn="ctr">
                        <a:defRPr sz="1100" b="0">
                          <a:solidFill>
                            <a:srgbClr val="000000"/>
                          </a:solidFill>
                          <a:latin typeface="Montserrat"/>
                        </a:defRPr>
                      </a:pPr>
                      <a:r>
                        <a:t>3</a:t>
                      </a:r>
                    </a:p>
                  </a:txBody>
                  <a:tcPr marL="45720" marR="45720" anchor="ctr">
                    <a:solidFill>
                      <a:srgbClr val="FFFFFF"/>
                    </a:solidFill>
                  </a:tcPr>
                </a:tc>
                <a:tc>
                  <a:txBody>
                    <a:bodyPr/>
                    <a:lstStyle/>
                    <a:p>
                      <a:pPr algn="ctr">
                        <a:defRPr sz="1100" b="1">
                          <a:solidFill>
                            <a:srgbClr val="000000"/>
                          </a:solidFill>
                          <a:latin typeface="Montserrat"/>
                        </a:defRPr>
                      </a:pPr>
                      <a:r>
                        <a:t>90.2%</a:t>
                      </a:r>
                    </a:p>
                  </a:txBody>
                  <a:tcPr marL="45720" marR="45720" anchor="ctr">
                    <a:solidFill>
                      <a:srgbClr val="FFFFFF"/>
                    </a:solidFill>
                  </a:tcPr>
                </a:tc>
                <a:extLst>
                  <a:ext uri="{0D108BD9-81ED-4DB2-BD59-A6C34878D82A}">
                    <a16:rowId xmlns:a16="http://schemas.microsoft.com/office/drawing/2014/main" val="10017"/>
                  </a:ext>
                </a:extLst>
              </a:tr>
              <a:tr h="161584">
                <a:tc>
                  <a:txBody>
                    <a:bodyPr/>
                    <a:lstStyle/>
                    <a:p>
                      <a:pPr algn="l">
                        <a:defRPr sz="1100" b="0">
                          <a:solidFill>
                            <a:srgbClr val="000000"/>
                          </a:solidFill>
                          <a:latin typeface="Montserrat"/>
                        </a:defRPr>
                      </a:pPr>
                      <a:r>
                        <a:t>Otorrinolaringología y Cirugía de Cabeza y Cuello</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91.2%</a:t>
                      </a:r>
                    </a:p>
                  </a:txBody>
                  <a:tcPr marL="45720" marR="45720" anchor="ctr">
                    <a:solidFill>
                      <a:srgbClr val="D9D9D9"/>
                    </a:solidFill>
                  </a:tcPr>
                </a:tc>
                <a:extLst>
                  <a:ext uri="{0D108BD9-81ED-4DB2-BD59-A6C34878D82A}">
                    <a16:rowId xmlns:a16="http://schemas.microsoft.com/office/drawing/2014/main" val="10018"/>
                  </a:ext>
                </a:extLst>
              </a:tr>
              <a:tr h="161584">
                <a:tc>
                  <a:txBody>
                    <a:bodyPr/>
                    <a:lstStyle/>
                    <a:p>
                      <a:pPr algn="l">
                        <a:defRPr sz="1100" b="0">
                          <a:solidFill>
                            <a:srgbClr val="000000"/>
                          </a:solidFill>
                          <a:latin typeface="Montserrat"/>
                        </a:defRPr>
                      </a:pPr>
                      <a:r>
                        <a:t>Neonatología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92.1%</a:t>
                      </a:r>
                    </a:p>
                  </a:txBody>
                  <a:tcPr marL="45720" marR="45720" anchor="ctr">
                    <a:solidFill>
                      <a:srgbClr val="FFFFFF"/>
                    </a:solidFill>
                  </a:tcPr>
                </a:tc>
                <a:extLst>
                  <a:ext uri="{0D108BD9-81ED-4DB2-BD59-A6C34878D82A}">
                    <a16:rowId xmlns:a16="http://schemas.microsoft.com/office/drawing/2014/main" val="10019"/>
                  </a:ext>
                </a:extLst>
              </a:tr>
              <a:tr h="161584">
                <a:tc>
                  <a:txBody>
                    <a:bodyPr/>
                    <a:lstStyle/>
                    <a:p>
                      <a:pPr algn="l">
                        <a:defRPr sz="1100" b="0">
                          <a:solidFill>
                            <a:srgbClr val="000000"/>
                          </a:solidFill>
                          <a:latin typeface="Montserrat"/>
                        </a:defRPr>
                      </a:pPr>
                      <a:r>
                        <a:t>Medicina del Enfermo en Estado Crítico</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93.1%</a:t>
                      </a:r>
                    </a:p>
                  </a:txBody>
                  <a:tcPr marL="45720" marR="45720" anchor="ctr">
                    <a:solidFill>
                      <a:srgbClr val="D9D9D9"/>
                    </a:solidFill>
                  </a:tcPr>
                </a:tc>
                <a:extLst>
                  <a:ext uri="{0D108BD9-81ED-4DB2-BD59-A6C34878D82A}">
                    <a16:rowId xmlns:a16="http://schemas.microsoft.com/office/drawing/2014/main" val="10020"/>
                  </a:ext>
                </a:extLst>
              </a:tr>
              <a:tr h="161584">
                <a:tc>
                  <a:txBody>
                    <a:bodyPr/>
                    <a:lstStyle/>
                    <a:p>
                      <a:pPr algn="l">
                        <a:defRPr sz="1100" b="0">
                          <a:solidFill>
                            <a:srgbClr val="000000"/>
                          </a:solidFill>
                          <a:latin typeface="Montserrat"/>
                        </a:defRPr>
                      </a:pPr>
                      <a:r>
                        <a:t>Cirugía Oncológica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94.1%</a:t>
                      </a:r>
                    </a:p>
                  </a:txBody>
                  <a:tcPr marL="45720" marR="45720" anchor="ctr">
                    <a:solidFill>
                      <a:srgbClr val="FFFFFF"/>
                    </a:solidFill>
                  </a:tcPr>
                </a:tc>
                <a:extLst>
                  <a:ext uri="{0D108BD9-81ED-4DB2-BD59-A6C34878D82A}">
                    <a16:rowId xmlns:a16="http://schemas.microsoft.com/office/drawing/2014/main" val="10021"/>
                  </a:ext>
                </a:extLst>
              </a:tr>
              <a:tr h="161584">
                <a:tc>
                  <a:txBody>
                    <a:bodyPr/>
                    <a:lstStyle/>
                    <a:p>
                      <a:pPr algn="l">
                        <a:defRPr sz="1100" b="0">
                          <a:solidFill>
                            <a:srgbClr val="000000"/>
                          </a:solidFill>
                          <a:latin typeface="Montserrat"/>
                        </a:defRPr>
                      </a:pPr>
                      <a:r>
                        <a:t>Anatomía Patológica</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95.1%</a:t>
                      </a:r>
                    </a:p>
                  </a:txBody>
                  <a:tcPr marL="45720" marR="45720" anchor="ctr">
                    <a:solidFill>
                      <a:srgbClr val="D9D9D9"/>
                    </a:solidFill>
                  </a:tcPr>
                </a:tc>
                <a:extLst>
                  <a:ext uri="{0D108BD9-81ED-4DB2-BD59-A6C34878D82A}">
                    <a16:rowId xmlns:a16="http://schemas.microsoft.com/office/drawing/2014/main" val="10022"/>
                  </a:ext>
                </a:extLst>
              </a:tr>
              <a:tr h="161584">
                <a:tc>
                  <a:txBody>
                    <a:bodyPr/>
                    <a:lstStyle/>
                    <a:p>
                      <a:pPr algn="l">
                        <a:defRPr sz="1100" b="0">
                          <a:solidFill>
                            <a:srgbClr val="000000"/>
                          </a:solidFill>
                          <a:latin typeface="Montserrat"/>
                        </a:defRPr>
                      </a:pPr>
                      <a:r>
                        <a:t>Audiología Otoneurología y Foniatría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95.6%</a:t>
                      </a:r>
                    </a:p>
                  </a:txBody>
                  <a:tcPr marL="45720" marR="45720" anchor="ctr">
                    <a:solidFill>
                      <a:srgbClr val="FFFFFF"/>
                    </a:solidFill>
                  </a:tcPr>
                </a:tc>
                <a:extLst>
                  <a:ext uri="{0D108BD9-81ED-4DB2-BD59-A6C34878D82A}">
                    <a16:rowId xmlns:a16="http://schemas.microsoft.com/office/drawing/2014/main" val="10023"/>
                  </a:ext>
                </a:extLst>
              </a:tr>
              <a:tr h="161584">
                <a:tc>
                  <a:txBody>
                    <a:bodyPr/>
                    <a:lstStyle/>
                    <a:p>
                      <a:pPr algn="l">
                        <a:defRPr sz="1100" b="0">
                          <a:solidFill>
                            <a:srgbClr val="000000"/>
                          </a:solidFill>
                          <a:latin typeface="Montserrat"/>
                        </a:defRPr>
                      </a:pPr>
                      <a:r>
                        <a:t>Cardiología Pediátrica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96.0%</a:t>
                      </a:r>
                    </a:p>
                  </a:txBody>
                  <a:tcPr marL="45720" marR="45720" anchor="ctr">
                    <a:solidFill>
                      <a:srgbClr val="D9D9D9"/>
                    </a:solidFill>
                  </a:tcPr>
                </a:tc>
                <a:extLst>
                  <a:ext uri="{0D108BD9-81ED-4DB2-BD59-A6C34878D82A}">
                    <a16:rowId xmlns:a16="http://schemas.microsoft.com/office/drawing/2014/main" val="10024"/>
                  </a:ext>
                </a:extLst>
              </a:tr>
              <a:tr h="161600">
                <a:tc>
                  <a:txBody>
                    <a:bodyPr/>
                    <a:lstStyle/>
                    <a:p>
                      <a:pPr algn="l">
                        <a:defRPr sz="1100" b="0">
                          <a:solidFill>
                            <a:srgbClr val="000000"/>
                          </a:solidFill>
                          <a:latin typeface="Montserrat"/>
                        </a:defRPr>
                      </a:pPr>
                      <a:r>
                        <a:t>Hematología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96.5%</a:t>
                      </a:r>
                    </a:p>
                  </a:txBody>
                  <a:tcPr marL="45720" marR="45720" anchor="ctr">
                    <a:solidFill>
                      <a:srgbClr val="FFFFFF"/>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223200" y="723599"/>
            <a:ext cx="5848076" cy="415498"/>
          </a:xfrm>
          <a:prstGeom prst="rect">
            <a:avLst/>
          </a:prstGeom>
          <a:noFill/>
        </p:spPr>
        <p:txBody>
          <a:bodyPr wrap="none">
            <a:spAutoFit/>
          </a:bodyPr>
          <a:lstStyle/>
          <a:p>
            <a:pPr algn="l">
              <a:defRPr sz="2100" b="1">
                <a:solidFill>
                  <a:srgbClr val="BC955C"/>
                </a:solidFill>
                <a:latin typeface="Montserrat"/>
              </a:defRPr>
            </a:pPr>
            <a:r>
              <a:rPr dirty="0" err="1"/>
              <a:t>Contrataciones</a:t>
            </a:r>
            <a:r>
              <a:rPr dirty="0"/>
              <a:t> </a:t>
            </a:r>
            <a:r>
              <a:rPr dirty="0" err="1"/>
              <a:t>por</a:t>
            </a:r>
            <a:r>
              <a:rPr dirty="0"/>
              <a:t> </a:t>
            </a:r>
            <a:r>
              <a:rPr dirty="0" err="1"/>
              <a:t>especialidad</a:t>
            </a:r>
            <a:r>
              <a:rPr lang="es-MX" dirty="0"/>
              <a:t> (2 de 2)</a:t>
            </a:r>
            <a:endParaRPr dirty="0"/>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2795121649"/>
              </p:ext>
            </p:extLst>
          </p:nvPr>
        </p:nvGraphicFramePr>
        <p:xfrm>
          <a:off x="1008000" y="1826122"/>
          <a:ext cx="6168977" cy="2536072"/>
        </p:xfrm>
        <a:graphic>
          <a:graphicData uri="http://schemas.openxmlformats.org/drawingml/2006/table">
            <a:tbl>
              <a:tblPr firstRow="1" bandRow="1">
                <a:tableStyleId>{5C22544A-7EE6-4342-B048-85BDC9FD1C3A}</a:tableStyleId>
              </a:tblPr>
              <a:tblGrid>
                <a:gridCol w="2831789">
                  <a:extLst>
                    <a:ext uri="{9D8B030D-6E8A-4147-A177-3AD203B41FA5}">
                      <a16:colId xmlns:a16="http://schemas.microsoft.com/office/drawing/2014/main" val="20000"/>
                    </a:ext>
                  </a:extLst>
                </a:gridCol>
                <a:gridCol w="1755400">
                  <a:extLst>
                    <a:ext uri="{9D8B030D-6E8A-4147-A177-3AD203B41FA5}">
                      <a16:colId xmlns:a16="http://schemas.microsoft.com/office/drawing/2014/main" val="20001"/>
                    </a:ext>
                  </a:extLst>
                </a:gridCol>
                <a:gridCol w="1581788">
                  <a:extLst>
                    <a:ext uri="{9D8B030D-6E8A-4147-A177-3AD203B41FA5}">
                      <a16:colId xmlns:a16="http://schemas.microsoft.com/office/drawing/2014/main" val="20002"/>
                    </a:ext>
                  </a:extLst>
                </a:gridCol>
              </a:tblGrid>
              <a:tr h="249642">
                <a:tc>
                  <a:txBody>
                    <a:bodyPr/>
                    <a:lstStyle/>
                    <a:p>
                      <a:pPr algn="ctr">
                        <a:defRPr sz="1100" b="1">
                          <a:solidFill>
                            <a:srgbClr val="FFFFFF"/>
                          </a:solidFill>
                          <a:latin typeface="Montserrat"/>
                        </a:defRPr>
                      </a:pPr>
                      <a:r>
                        <a:t>Especialidad</a:t>
                      </a:r>
                    </a:p>
                  </a:txBody>
                  <a:tcPr marL="14400" marR="14400" marT="14400" marB="14400">
                    <a:solidFill>
                      <a:srgbClr val="006455"/>
                    </a:solidFill>
                  </a:tcPr>
                </a:tc>
                <a:tc>
                  <a:txBody>
                    <a:bodyPr/>
                    <a:lstStyle/>
                    <a:p>
                      <a:pPr algn="ctr">
                        <a:defRPr sz="1100" b="1">
                          <a:solidFill>
                            <a:srgbClr val="FFFFFF"/>
                          </a:solidFill>
                          <a:latin typeface="Montserrat"/>
                        </a:defRPr>
                      </a:pPr>
                      <a:r>
                        <a:t>Número</a:t>
                      </a:r>
                    </a:p>
                  </a:txBody>
                  <a:tcPr marL="14400" marR="14400" marT="14400" marB="14400">
                    <a:solidFill>
                      <a:srgbClr val="006455"/>
                    </a:solidFill>
                  </a:tcPr>
                </a:tc>
                <a:tc>
                  <a:txBody>
                    <a:bodyPr/>
                    <a:lstStyle/>
                    <a:p>
                      <a:pPr algn="ctr">
                        <a:defRPr sz="1100" b="1">
                          <a:solidFill>
                            <a:srgbClr val="FFFFFF"/>
                          </a:solidFill>
                          <a:latin typeface="Montserrat"/>
                        </a:defRPr>
                      </a:pPr>
                      <a:r>
                        <a:t>% Acumulado</a:t>
                      </a:r>
                    </a:p>
                  </a:txBody>
                  <a:tcPr marL="14400" marR="14400" marT="14400" marB="14400">
                    <a:solidFill>
                      <a:srgbClr val="006455"/>
                    </a:solidFill>
                  </a:tcPr>
                </a:tc>
                <a:extLst>
                  <a:ext uri="{0D108BD9-81ED-4DB2-BD59-A6C34878D82A}">
                    <a16:rowId xmlns:a16="http://schemas.microsoft.com/office/drawing/2014/main" val="10000"/>
                  </a:ext>
                </a:extLst>
              </a:tr>
              <a:tr h="329778">
                <a:tc>
                  <a:txBody>
                    <a:bodyPr/>
                    <a:lstStyle/>
                    <a:p>
                      <a:pPr algn="l">
                        <a:defRPr sz="1100" b="0">
                          <a:solidFill>
                            <a:srgbClr val="000000"/>
                          </a:solidFill>
                          <a:latin typeface="Montserrat"/>
                        </a:defRPr>
                      </a:pPr>
                      <a:r>
                        <a:t>Endocrinología Pediátrica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97.0%</a:t>
                      </a:r>
                    </a:p>
                  </a:txBody>
                  <a:tcPr marL="45720" marR="45720" anchor="ctr">
                    <a:solidFill>
                      <a:srgbClr val="D9D9D9"/>
                    </a:solidFill>
                  </a:tcPr>
                </a:tc>
                <a:extLst>
                  <a:ext uri="{0D108BD9-81ED-4DB2-BD59-A6C34878D82A}">
                    <a16:rowId xmlns:a16="http://schemas.microsoft.com/office/drawing/2014/main" val="10001"/>
                  </a:ext>
                </a:extLst>
              </a:tr>
              <a:tr h="252598">
                <a:tc>
                  <a:txBody>
                    <a:bodyPr/>
                    <a:lstStyle/>
                    <a:p>
                      <a:pPr algn="l">
                        <a:defRPr sz="1100" b="0">
                          <a:solidFill>
                            <a:srgbClr val="000000"/>
                          </a:solidFill>
                          <a:latin typeface="Montserrat"/>
                        </a:defRPr>
                      </a:pPr>
                      <a:r>
                        <a:t>Epidemiología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97.5%</a:t>
                      </a:r>
                    </a:p>
                  </a:txBody>
                  <a:tcPr marL="45720" marR="45720" anchor="ctr">
                    <a:solidFill>
                      <a:srgbClr val="FFFFFF"/>
                    </a:solidFill>
                  </a:tcPr>
                </a:tc>
                <a:extLst>
                  <a:ext uri="{0D108BD9-81ED-4DB2-BD59-A6C34878D82A}">
                    <a16:rowId xmlns:a16="http://schemas.microsoft.com/office/drawing/2014/main" val="10002"/>
                  </a:ext>
                </a:extLst>
              </a:tr>
              <a:tr h="242158">
                <a:tc>
                  <a:txBody>
                    <a:bodyPr/>
                    <a:lstStyle/>
                    <a:p>
                      <a:pPr algn="l">
                        <a:defRPr sz="1100" b="0">
                          <a:solidFill>
                            <a:srgbClr val="000000"/>
                          </a:solidFill>
                          <a:latin typeface="Montserrat"/>
                        </a:defRPr>
                      </a:pPr>
                      <a:r>
                        <a:t>Ginecología Oncológica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98.0%</a:t>
                      </a:r>
                    </a:p>
                  </a:txBody>
                  <a:tcPr marL="45720" marR="45720" anchor="ctr">
                    <a:solidFill>
                      <a:srgbClr val="D9D9D9"/>
                    </a:solidFill>
                  </a:tcPr>
                </a:tc>
                <a:extLst>
                  <a:ext uri="{0D108BD9-81ED-4DB2-BD59-A6C34878D82A}">
                    <a16:rowId xmlns:a16="http://schemas.microsoft.com/office/drawing/2014/main" val="10003"/>
                  </a:ext>
                </a:extLst>
              </a:tr>
              <a:tr h="242158">
                <a:tc>
                  <a:txBody>
                    <a:bodyPr/>
                    <a:lstStyle/>
                    <a:p>
                      <a:pPr algn="l">
                        <a:defRPr sz="1100" b="0">
                          <a:solidFill>
                            <a:srgbClr val="000000"/>
                          </a:solidFill>
                          <a:latin typeface="Montserrat"/>
                        </a:defRPr>
                      </a:pPr>
                      <a:r>
                        <a:t>Neumología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98.5%</a:t>
                      </a:r>
                    </a:p>
                  </a:txBody>
                  <a:tcPr marL="45720" marR="45720" anchor="ctr">
                    <a:solidFill>
                      <a:srgbClr val="FFFFFF"/>
                    </a:solidFill>
                  </a:tcPr>
                </a:tc>
                <a:extLst>
                  <a:ext uri="{0D108BD9-81ED-4DB2-BD59-A6C34878D82A}">
                    <a16:rowId xmlns:a16="http://schemas.microsoft.com/office/drawing/2014/main" val="10004"/>
                  </a:ext>
                </a:extLst>
              </a:tr>
              <a:tr h="242158">
                <a:tc>
                  <a:txBody>
                    <a:bodyPr/>
                    <a:lstStyle/>
                    <a:p>
                      <a:pPr algn="l">
                        <a:defRPr sz="1100" b="0">
                          <a:solidFill>
                            <a:srgbClr val="000000"/>
                          </a:solidFill>
                          <a:latin typeface="Montserrat"/>
                        </a:defRPr>
                      </a:pPr>
                      <a:r>
                        <a:t>Nefrología Pediátrica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99.0%</a:t>
                      </a:r>
                    </a:p>
                  </a:txBody>
                  <a:tcPr marL="45720" marR="45720" anchor="ctr">
                    <a:solidFill>
                      <a:srgbClr val="D9D9D9"/>
                    </a:solidFill>
                  </a:tcPr>
                </a:tc>
                <a:extLst>
                  <a:ext uri="{0D108BD9-81ED-4DB2-BD59-A6C34878D82A}">
                    <a16:rowId xmlns:a16="http://schemas.microsoft.com/office/drawing/2014/main" val="10005"/>
                  </a:ext>
                </a:extLst>
              </a:tr>
              <a:tr h="242158">
                <a:tc>
                  <a:txBody>
                    <a:bodyPr/>
                    <a:lstStyle/>
                    <a:p>
                      <a:pPr algn="l">
                        <a:defRPr sz="1100" b="0">
                          <a:solidFill>
                            <a:srgbClr val="000000"/>
                          </a:solidFill>
                          <a:latin typeface="Montserrat"/>
                        </a:defRPr>
                      </a:pPr>
                      <a:r>
                        <a:t>Oncología Médica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99.5%</a:t>
                      </a:r>
                    </a:p>
                  </a:txBody>
                  <a:tcPr marL="45720" marR="45720" anchor="ctr">
                    <a:solidFill>
                      <a:srgbClr val="FFFFFF"/>
                    </a:solidFill>
                  </a:tcPr>
                </a:tc>
                <a:extLst>
                  <a:ext uri="{0D108BD9-81ED-4DB2-BD59-A6C34878D82A}">
                    <a16:rowId xmlns:a16="http://schemas.microsoft.com/office/drawing/2014/main" val="10006"/>
                  </a:ext>
                </a:extLst>
              </a:tr>
              <a:tr h="256494">
                <a:tc>
                  <a:txBody>
                    <a:bodyPr/>
                    <a:lstStyle/>
                    <a:p>
                      <a:pPr algn="l">
                        <a:defRPr sz="1100" b="0">
                          <a:solidFill>
                            <a:srgbClr val="000000"/>
                          </a:solidFill>
                          <a:latin typeface="Montserrat"/>
                        </a:defRPr>
                      </a:pPr>
                      <a:r>
                        <a:t>Neumología Pediátrica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100.0%</a:t>
                      </a:r>
                    </a:p>
                  </a:txBody>
                  <a:tcPr marL="45720" marR="45720" anchor="ctr">
                    <a:solidFill>
                      <a:srgbClr val="D9D9D9"/>
                    </a:solidFill>
                  </a:tcPr>
                </a:tc>
                <a:extLst>
                  <a:ext uri="{0D108BD9-81ED-4DB2-BD59-A6C34878D82A}">
                    <a16:rowId xmlns:a16="http://schemas.microsoft.com/office/drawing/2014/main" val="10007"/>
                  </a:ext>
                </a:extLst>
              </a:tr>
              <a:tr h="402172">
                <a:tc>
                  <a:txBody>
                    <a:bodyPr/>
                    <a:lstStyle/>
                    <a:p>
                      <a:pPr algn="l">
                        <a:defRPr sz="1100" b="1">
                          <a:solidFill>
                            <a:srgbClr val="006455"/>
                          </a:solidFill>
                          <a:latin typeface="Montserrat"/>
                        </a:defRPr>
                      </a:pPr>
                      <a:r>
                        <a:t>Total</a:t>
                      </a:r>
                    </a:p>
                  </a:txBody>
                  <a:tcPr marL="45720" marR="45720" anchor="ctr">
                    <a:solidFill>
                      <a:srgbClr val="CBE6E1"/>
                    </a:solidFill>
                  </a:tcPr>
                </a:tc>
                <a:tc>
                  <a:txBody>
                    <a:bodyPr/>
                    <a:lstStyle/>
                    <a:p>
                      <a:pPr algn="ctr">
                        <a:defRPr sz="1100" b="1">
                          <a:solidFill>
                            <a:srgbClr val="006455"/>
                          </a:solidFill>
                          <a:latin typeface="Montserrat"/>
                        </a:defRPr>
                      </a:pPr>
                      <a:r>
                        <a:t>205</a:t>
                      </a:r>
                    </a:p>
                  </a:txBody>
                  <a:tcPr marL="45720" marR="45720" anchor="ctr">
                    <a:solidFill>
                      <a:srgbClr val="CBE6E1"/>
                    </a:solidFill>
                  </a:tcPr>
                </a:tc>
                <a:tc>
                  <a:txBody>
                    <a:bodyPr/>
                    <a:lstStyle/>
                    <a:p>
                      <a:pPr algn="ctr">
                        <a:defRPr sz="1100" b="1">
                          <a:solidFill>
                            <a:srgbClr val="006455"/>
                          </a:solidFill>
                          <a:latin typeface="Montserrat"/>
                        </a:defRPr>
                      </a:pPr>
                      <a:r>
                        <a:t>100.0%</a:t>
                      </a:r>
                    </a:p>
                  </a:txBody>
                  <a:tcPr marL="45720" marR="45720" anchor="ctr">
                    <a:solidFill>
                      <a:srgbClr val="CBE6E1"/>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86F61EB5-B94A-BBC4-F2A3-3246403104D7}"/>
              </a:ext>
            </a:extLst>
          </p:cNvPr>
          <p:cNvGraphicFramePr/>
          <p:nvPr>
            <p:extLst>
              <p:ext uri="{D42A27DB-BD31-4B8C-83A1-F6EECF244321}">
                <p14:modId xmlns:p14="http://schemas.microsoft.com/office/powerpoint/2010/main" val="3896244087"/>
              </p:ext>
            </p:extLst>
          </p:nvPr>
        </p:nvGraphicFramePr>
        <p:xfrm>
          <a:off x="287050" y="989179"/>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Lista de espera por especialidad y por cirugía prioritaria 2026</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QUERÉTARO</a:t>
            </a:r>
          </a:p>
        </p:txBody>
      </p:sp>
      <p:sp>
        <p:nvSpPr>
          <p:cNvPr id="4" name="TextBox 3"/>
          <p:cNvSpPr txBox="1"/>
          <p:nvPr/>
        </p:nvSpPr>
        <p:spPr>
          <a:xfrm>
            <a:off x="4043355" y="4594105"/>
            <a:ext cx="5324400" cy="123111"/>
          </a:xfrm>
          <a:prstGeom prst="rect">
            <a:avLst/>
          </a:prstGeom>
          <a:noFill/>
        </p:spPr>
        <p:txBody>
          <a:bodyPr wrap="square" lIns="0" tIns="0" rIns="0" bIns="0">
            <a:spAutoFit/>
          </a:bodyPr>
          <a:lstStyle/>
          <a:p>
            <a:pPr algn="l">
              <a:defRPr sz="800">
                <a:solidFill>
                  <a:srgbClr val="FFFFFF"/>
                </a:solidFill>
                <a:latin typeface="Montserrat"/>
              </a:defRPr>
            </a:pPr>
            <a:r>
              <a:rPr dirty="0">
                <a:solidFill>
                  <a:schemeClr val="tx1"/>
                </a:solidFill>
              </a:rPr>
              <a:t>Corte de </a:t>
            </a:r>
            <a:r>
              <a:rPr dirty="0" err="1">
                <a:solidFill>
                  <a:schemeClr val="tx1"/>
                </a:solidFill>
              </a:rPr>
              <a:t>información</a:t>
            </a:r>
            <a:r>
              <a:rPr dirty="0">
                <a:solidFill>
                  <a:schemeClr val="tx1"/>
                </a:solidFill>
              </a:rPr>
              <a:t>: </a:t>
            </a:r>
            <a:r>
              <a:rPr dirty="0" err="1">
                <a:solidFill>
                  <a:schemeClr val="tx1"/>
                </a:solidFill>
              </a:rPr>
              <a:t>semana</a:t>
            </a:r>
            <a:r>
              <a:rPr dirty="0">
                <a:solidFill>
                  <a:schemeClr val="tx1"/>
                </a:solidFill>
              </a:rPr>
              <a:t> 24, 7 </a:t>
            </a:r>
            <a:r>
              <a:rPr dirty="0" err="1">
                <a:solidFill>
                  <a:schemeClr val="tx1"/>
                </a:solidFill>
              </a:rPr>
              <a:t>junio</a:t>
            </a:r>
            <a:r>
              <a:rPr dirty="0">
                <a:solidFill>
                  <a:schemeClr val="tx1"/>
                </a:solidFill>
              </a:rPr>
              <a:t> 2026</a:t>
            </a:r>
          </a:p>
        </p:txBody>
      </p:sp>
      <p:graphicFrame>
        <p:nvGraphicFramePr>
          <p:cNvPr id="5" name="Table 4"/>
          <p:cNvGraphicFramePr>
            <a:graphicFrameLocks noGrp="1"/>
          </p:cNvGraphicFramePr>
          <p:nvPr>
            <p:extLst>
              <p:ext uri="{D42A27DB-BD31-4B8C-83A1-F6EECF244321}">
                <p14:modId xmlns:p14="http://schemas.microsoft.com/office/powerpoint/2010/main" val="1451913393"/>
              </p:ext>
            </p:extLst>
          </p:nvPr>
        </p:nvGraphicFramePr>
        <p:xfrm>
          <a:off x="155232" y="1701185"/>
          <a:ext cx="3639599" cy="3733800"/>
        </p:xfrm>
        <a:graphic>
          <a:graphicData uri="http://schemas.openxmlformats.org/drawingml/2006/table">
            <a:tbl>
              <a:tblPr firstRow="1" bandRow="1">
                <a:tableStyleId>{5C22544A-7EE6-4342-B048-85BDC9FD1C3A}</a:tableStyleId>
              </a:tblPr>
              <a:tblGrid>
                <a:gridCol w="1731599">
                  <a:extLst>
                    <a:ext uri="{9D8B030D-6E8A-4147-A177-3AD203B41FA5}">
                      <a16:colId xmlns:a16="http://schemas.microsoft.com/office/drawing/2014/main" val="20000"/>
                    </a:ext>
                  </a:extLst>
                </a:gridCol>
                <a:gridCol w="950400">
                  <a:extLst>
                    <a:ext uri="{9D8B030D-6E8A-4147-A177-3AD203B41FA5}">
                      <a16:colId xmlns:a16="http://schemas.microsoft.com/office/drawing/2014/main" val="20001"/>
                    </a:ext>
                  </a:extLst>
                </a:gridCol>
                <a:gridCol w="957600">
                  <a:extLst>
                    <a:ext uri="{9D8B030D-6E8A-4147-A177-3AD203B41FA5}">
                      <a16:colId xmlns:a16="http://schemas.microsoft.com/office/drawing/2014/main" val="20002"/>
                    </a:ext>
                  </a:extLst>
                </a:gridCol>
              </a:tblGrid>
              <a:tr h="216000">
                <a:tc>
                  <a:txBody>
                    <a:bodyPr/>
                    <a:lstStyle/>
                    <a:p>
                      <a:pPr algn="ctr">
                        <a:defRPr sz="1100" b="1">
                          <a:solidFill>
                            <a:srgbClr val="FFFFFF"/>
                          </a:solidFill>
                          <a:latin typeface="Montserrat"/>
                        </a:defRPr>
                      </a:pPr>
                      <a:r>
                        <a:t>Especialidad</a:t>
                      </a:r>
                    </a:p>
                  </a:txBody>
                  <a:tcPr marL="14400" marR="14400" anchor="ctr">
                    <a:solidFill>
                      <a:srgbClr val="006455"/>
                    </a:solidFill>
                  </a:tcPr>
                </a:tc>
                <a:tc>
                  <a:txBody>
                    <a:bodyPr/>
                    <a:lstStyle/>
                    <a:p>
                      <a:pPr algn="ctr">
                        <a:defRPr sz="1100" b="1">
                          <a:solidFill>
                            <a:srgbClr val="FFFFFF"/>
                          </a:solidFill>
                          <a:latin typeface="Montserrat"/>
                        </a:defRPr>
                      </a:pPr>
                      <a:r>
                        <a:t>Total</a:t>
                      </a:r>
                    </a:p>
                  </a:txBody>
                  <a:tcPr marL="14400" marR="14400" anchor="ctr">
                    <a:solidFill>
                      <a:srgbClr val="006455"/>
                    </a:solidFill>
                  </a:tcPr>
                </a:tc>
                <a:tc>
                  <a:txBody>
                    <a:bodyPr/>
                    <a:lstStyle/>
                    <a:p>
                      <a:pPr algn="ctr">
                        <a:defRPr sz="1100" b="1">
                          <a:solidFill>
                            <a:srgbClr val="FFFFFF"/>
                          </a:solidFill>
                          <a:latin typeface="Montserrat"/>
                        </a:defRPr>
                      </a:pPr>
                      <a:r>
                        <a:t>% acumulado total</a:t>
                      </a: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rPr lang="es-MX" dirty="0"/>
                        <a:t>961</a:t>
                      </a:r>
                      <a:endParaRPr dirty="0"/>
                    </a:p>
                  </a:txBody>
                  <a:tcPr anchor="ctr">
                    <a:solidFill>
                      <a:srgbClr val="FFFFFF"/>
                    </a:solidFill>
                  </a:tcPr>
                </a:tc>
                <a:tc>
                  <a:txBody>
                    <a:bodyPr/>
                    <a:lstStyle/>
                    <a:p>
                      <a:pPr algn="ctr">
                        <a:defRPr sz="1000">
                          <a:latin typeface="Montserrat"/>
                        </a:defRPr>
                      </a:pPr>
                      <a:r>
                        <a:rPr dirty="0"/>
                        <a:t>3</a:t>
                      </a:r>
                      <a:r>
                        <a:rPr lang="es-MX" dirty="0"/>
                        <a:t>9</a:t>
                      </a:r>
                      <a:r>
                        <a:rPr dirty="0"/>
                        <a:t>.</a:t>
                      </a:r>
                      <a:r>
                        <a:rPr lang="es-MX" dirty="0"/>
                        <a:t>8</a:t>
                      </a:r>
                      <a:r>
                        <a:rPr dirty="0"/>
                        <a:t>%</a:t>
                      </a:r>
                    </a:p>
                  </a:txBody>
                  <a:tcPr anchor="ct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rPr lang="es-MX" dirty="0"/>
                        <a:t>466</a:t>
                      </a:r>
                      <a:endParaRPr dirty="0"/>
                    </a:p>
                  </a:txBody>
                  <a:tcPr anchor="ctr">
                    <a:solidFill>
                      <a:srgbClr val="D9D9D9"/>
                    </a:solidFill>
                  </a:tcPr>
                </a:tc>
                <a:tc>
                  <a:txBody>
                    <a:bodyPr/>
                    <a:lstStyle/>
                    <a:p>
                      <a:pPr algn="ctr">
                        <a:defRPr sz="1000">
                          <a:latin typeface="Montserrat"/>
                        </a:defRPr>
                      </a:pPr>
                      <a:r>
                        <a:rPr lang="es-MX" dirty="0"/>
                        <a:t>19</a:t>
                      </a:r>
                      <a:r>
                        <a:rPr dirty="0"/>
                        <a:t>%</a:t>
                      </a:r>
                    </a:p>
                  </a:txBody>
                  <a:tcPr anchor="ctr">
                    <a:solidFill>
                      <a:srgbClr val="D9D9D9"/>
                    </a:solidFill>
                  </a:tcPr>
                </a:tc>
                <a:extLst>
                  <a:ext uri="{0D108BD9-81ED-4DB2-BD59-A6C34878D82A}">
                    <a16:rowId xmlns:a16="http://schemas.microsoft.com/office/drawing/2014/main" val="10002"/>
                  </a:ext>
                </a:extLst>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rPr lang="es-MX" dirty="0"/>
                        <a:t>157</a:t>
                      </a:r>
                      <a:endParaRPr dirty="0"/>
                    </a:p>
                  </a:txBody>
                  <a:tcPr anchor="ctr">
                    <a:solidFill>
                      <a:srgbClr val="FFFFFF"/>
                    </a:solidFill>
                  </a:tcPr>
                </a:tc>
                <a:tc>
                  <a:txBody>
                    <a:bodyPr/>
                    <a:lstStyle/>
                    <a:p>
                      <a:pPr algn="ctr">
                        <a:defRPr sz="1000">
                          <a:latin typeface="Montserrat"/>
                        </a:defRPr>
                      </a:pPr>
                      <a:r>
                        <a:rPr dirty="0"/>
                        <a:t>6</a:t>
                      </a:r>
                      <a:r>
                        <a:rPr lang="es-MX" dirty="0"/>
                        <a:t>.</a:t>
                      </a:r>
                      <a:r>
                        <a:rPr dirty="0"/>
                        <a:t>5%</a:t>
                      </a:r>
                    </a:p>
                  </a:txBody>
                  <a:tcPr anchor="ct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rPr dirty="0"/>
                        <a:t>4</a:t>
                      </a:r>
                      <a:r>
                        <a:rPr lang="es-MX" dirty="0"/>
                        <a:t>6</a:t>
                      </a:r>
                      <a:endParaRPr dirty="0"/>
                    </a:p>
                  </a:txBody>
                  <a:tcPr anchor="ctr">
                    <a:solidFill>
                      <a:srgbClr val="D9D9D9"/>
                    </a:solidFill>
                  </a:tcPr>
                </a:tc>
                <a:tc>
                  <a:txBody>
                    <a:bodyPr/>
                    <a:lstStyle/>
                    <a:p>
                      <a:pPr algn="ctr">
                        <a:defRPr sz="1000">
                          <a:latin typeface="Montserrat"/>
                        </a:defRPr>
                      </a:pPr>
                      <a:r>
                        <a:rPr lang="es-MX" dirty="0"/>
                        <a:t>1.9</a:t>
                      </a:r>
                      <a:r>
                        <a:rPr dirty="0"/>
                        <a:t>%</a:t>
                      </a:r>
                    </a:p>
                  </a:txBody>
                  <a:tcPr anchor="ctr">
                    <a:solidFill>
                      <a:srgbClr val="D9D9D9"/>
                    </a:solidFill>
                  </a:tcPr>
                </a:tc>
                <a:extLst>
                  <a:ext uri="{0D108BD9-81ED-4DB2-BD59-A6C34878D82A}">
                    <a16:rowId xmlns:a16="http://schemas.microsoft.com/office/drawing/2014/main" val="10004"/>
                  </a:ext>
                </a:extLst>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rPr lang="es-MX" dirty="0"/>
                        <a:t>37</a:t>
                      </a:r>
                      <a:endParaRPr dirty="0"/>
                    </a:p>
                  </a:txBody>
                  <a:tcPr anchor="ctr">
                    <a:solidFill>
                      <a:srgbClr val="FFFFFF"/>
                    </a:solidFill>
                  </a:tcPr>
                </a:tc>
                <a:tc>
                  <a:txBody>
                    <a:bodyPr/>
                    <a:lstStyle/>
                    <a:p>
                      <a:pPr algn="ctr">
                        <a:defRPr sz="1000">
                          <a:latin typeface="Montserrat"/>
                        </a:defRPr>
                      </a:pPr>
                      <a:r>
                        <a:rPr lang="es-MX" dirty="0"/>
                        <a:t>1.5</a:t>
                      </a:r>
                      <a:r>
                        <a:rPr dirty="0"/>
                        <a:t>%</a:t>
                      </a:r>
                    </a:p>
                  </a:txBody>
                  <a:tcPr anchor="ct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rPr lang="es-MX" dirty="0"/>
                        <a:t>230</a:t>
                      </a:r>
                      <a:endParaRPr dirty="0"/>
                    </a:p>
                  </a:txBody>
                  <a:tcPr anchor="ctr">
                    <a:solidFill>
                      <a:srgbClr val="D9D9D9"/>
                    </a:solidFill>
                  </a:tcPr>
                </a:tc>
                <a:tc>
                  <a:txBody>
                    <a:bodyPr/>
                    <a:lstStyle/>
                    <a:p>
                      <a:pPr algn="ctr">
                        <a:defRPr sz="1000">
                          <a:latin typeface="Montserrat"/>
                        </a:defRPr>
                      </a:pPr>
                      <a:r>
                        <a:rPr lang="es-MX" dirty="0"/>
                        <a:t>9.5</a:t>
                      </a:r>
                      <a:r>
                        <a:rPr dirty="0"/>
                        <a:t>%</a:t>
                      </a:r>
                    </a:p>
                  </a:txBody>
                  <a:tcPr anchor="ctr">
                    <a:solidFill>
                      <a:srgbClr val="D9D9D9"/>
                    </a:solidFill>
                  </a:tcPr>
                </a:tc>
                <a:extLst>
                  <a:ext uri="{0D108BD9-81ED-4DB2-BD59-A6C34878D82A}">
                    <a16:rowId xmlns:a16="http://schemas.microsoft.com/office/drawing/2014/main" val="10006"/>
                  </a:ext>
                </a:extLst>
              </a:tr>
              <a:tr h="216000">
                <a:tc>
                  <a:txBody>
                    <a:bodyPr/>
                    <a:lstStyle/>
                    <a:p>
                      <a:pPr algn="l">
                        <a:defRPr sz="1000">
                          <a:latin typeface="Montserrat"/>
                        </a:defRPr>
                      </a:pPr>
                      <a:r>
                        <a:t>Cirugía Plástica y Reconstructiva</a:t>
                      </a:r>
                    </a:p>
                  </a:txBody>
                  <a:tcPr anchor="ctr">
                    <a:solidFill>
                      <a:srgbClr val="FFFFFF"/>
                    </a:solidFill>
                  </a:tcPr>
                </a:tc>
                <a:tc>
                  <a:txBody>
                    <a:bodyPr/>
                    <a:lstStyle/>
                    <a:p>
                      <a:pPr algn="ctr">
                        <a:defRPr sz="1000">
                          <a:latin typeface="Montserrat"/>
                        </a:defRPr>
                      </a:pPr>
                      <a:r>
                        <a:rPr lang="es-MX" dirty="0"/>
                        <a:t>74</a:t>
                      </a:r>
                      <a:endParaRPr dirty="0"/>
                    </a:p>
                  </a:txBody>
                  <a:tcPr anchor="ctr">
                    <a:solidFill>
                      <a:srgbClr val="FFFFFF"/>
                    </a:solidFill>
                  </a:tcPr>
                </a:tc>
                <a:tc>
                  <a:txBody>
                    <a:bodyPr/>
                    <a:lstStyle/>
                    <a:p>
                      <a:pPr algn="ctr">
                        <a:defRPr sz="1000">
                          <a:latin typeface="Montserrat"/>
                        </a:defRPr>
                      </a:pPr>
                      <a:r>
                        <a:rPr lang="es-MX" dirty="0"/>
                        <a:t>3.8</a:t>
                      </a:r>
                      <a:r>
                        <a:rPr dirty="0"/>
                        <a:t>%</a:t>
                      </a:r>
                    </a:p>
                  </a:txBody>
                  <a:tcPr anchor="ctr">
                    <a:solidFill>
                      <a:srgbClr val="FFFFFF"/>
                    </a:solidFill>
                  </a:tcPr>
                </a:tc>
                <a:extLst>
                  <a:ext uri="{0D108BD9-81ED-4DB2-BD59-A6C34878D82A}">
                    <a16:rowId xmlns:a16="http://schemas.microsoft.com/office/drawing/2014/main" val="10007"/>
                  </a:ext>
                </a:extLst>
              </a:tr>
              <a:tr h="216000">
                <a:tc>
                  <a:txBody>
                    <a:bodyPr/>
                    <a:lstStyle/>
                    <a:p>
                      <a:pPr algn="l">
                        <a:defRPr sz="1000">
                          <a:latin typeface="Montserrat"/>
                        </a:defRPr>
                      </a:pPr>
                      <a:r>
                        <a:t>Otorrinolaringología</a:t>
                      </a:r>
                    </a:p>
                  </a:txBody>
                  <a:tcPr anchor="ctr">
                    <a:solidFill>
                      <a:srgbClr val="D9D9D9"/>
                    </a:solidFill>
                  </a:tcPr>
                </a:tc>
                <a:tc>
                  <a:txBody>
                    <a:bodyPr/>
                    <a:lstStyle/>
                    <a:p>
                      <a:pPr algn="ctr">
                        <a:defRPr sz="1000">
                          <a:latin typeface="Montserrat"/>
                        </a:defRPr>
                      </a:pPr>
                      <a:r>
                        <a:rPr lang="es-MX" dirty="0"/>
                        <a:t>80</a:t>
                      </a:r>
                      <a:endParaRPr dirty="0"/>
                    </a:p>
                  </a:txBody>
                  <a:tcPr anchor="ctr">
                    <a:solidFill>
                      <a:srgbClr val="D9D9D9"/>
                    </a:solidFill>
                  </a:tcPr>
                </a:tc>
                <a:tc>
                  <a:txBody>
                    <a:bodyPr/>
                    <a:lstStyle/>
                    <a:p>
                      <a:pPr algn="ctr">
                        <a:defRPr sz="1000">
                          <a:latin typeface="Montserrat"/>
                        </a:defRPr>
                      </a:pPr>
                      <a:r>
                        <a:rPr lang="es-MX" dirty="0"/>
                        <a:t>3.3</a:t>
                      </a:r>
                      <a:r>
                        <a:rPr dirty="0"/>
                        <a:t>%</a:t>
                      </a:r>
                    </a:p>
                  </a:txBody>
                  <a:tcPr anchor="ctr">
                    <a:solidFill>
                      <a:srgbClr val="D9D9D9"/>
                    </a:solidFill>
                  </a:tcPr>
                </a:tc>
                <a:extLst>
                  <a:ext uri="{0D108BD9-81ED-4DB2-BD59-A6C34878D82A}">
                    <a16:rowId xmlns:a16="http://schemas.microsoft.com/office/drawing/2014/main" val="10008"/>
                  </a:ext>
                </a:extLst>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rPr lang="es-MX" dirty="0"/>
                        <a:t>49</a:t>
                      </a:r>
                      <a:endParaRPr dirty="0"/>
                    </a:p>
                  </a:txBody>
                  <a:tcPr anchor="ctr">
                    <a:solidFill>
                      <a:srgbClr val="FFFFFF"/>
                    </a:solidFill>
                  </a:tcPr>
                </a:tc>
                <a:tc>
                  <a:txBody>
                    <a:bodyPr/>
                    <a:lstStyle/>
                    <a:p>
                      <a:pPr algn="ctr">
                        <a:defRPr sz="1000">
                          <a:latin typeface="Montserrat"/>
                        </a:defRPr>
                      </a:pPr>
                      <a:r>
                        <a:rPr lang="es-MX" dirty="0"/>
                        <a:t>2</a:t>
                      </a:r>
                      <a:r>
                        <a:rPr dirty="0"/>
                        <a:t>%</a:t>
                      </a:r>
                    </a:p>
                  </a:txBody>
                  <a:tcPr anchor="ctr">
                    <a:solidFill>
                      <a:srgbClr val="FFFFFF"/>
                    </a:solidFill>
                  </a:tcPr>
                </a:tc>
                <a:extLst>
                  <a:ext uri="{0D108BD9-81ED-4DB2-BD59-A6C34878D82A}">
                    <a16:rowId xmlns:a16="http://schemas.microsoft.com/office/drawing/2014/main" val="10009"/>
                  </a:ext>
                </a:extLst>
              </a:tr>
              <a:tr h="216000">
                <a:tc>
                  <a:txBody>
                    <a:bodyPr/>
                    <a:lstStyle/>
                    <a:p>
                      <a:pPr algn="l">
                        <a:defRPr sz="1000">
                          <a:latin typeface="Montserrat"/>
                        </a:defRPr>
                      </a:pPr>
                      <a:r>
                        <a:t>Angiología y Cirugía Vascular</a:t>
                      </a:r>
                    </a:p>
                  </a:txBody>
                  <a:tcPr anchor="ctr">
                    <a:solidFill>
                      <a:srgbClr val="D9D9D9"/>
                    </a:solidFill>
                  </a:tcPr>
                </a:tc>
                <a:tc>
                  <a:txBody>
                    <a:bodyPr/>
                    <a:lstStyle/>
                    <a:p>
                      <a:pPr algn="ctr">
                        <a:defRPr sz="1000">
                          <a:latin typeface="Montserrat"/>
                        </a:defRPr>
                      </a:pPr>
                      <a:r>
                        <a:rPr lang="es-MX" dirty="0"/>
                        <a:t>45</a:t>
                      </a:r>
                      <a:endParaRPr dirty="0"/>
                    </a:p>
                  </a:txBody>
                  <a:tcPr anchor="ctr">
                    <a:solidFill>
                      <a:srgbClr val="D9D9D9"/>
                    </a:solidFill>
                  </a:tcPr>
                </a:tc>
                <a:tc>
                  <a:txBody>
                    <a:bodyPr/>
                    <a:lstStyle/>
                    <a:p>
                      <a:pPr algn="ctr">
                        <a:defRPr sz="1000">
                          <a:latin typeface="Montserrat"/>
                        </a:defRPr>
                      </a:pPr>
                      <a:r>
                        <a:rPr dirty="0"/>
                        <a:t>1</a:t>
                      </a:r>
                      <a:r>
                        <a:rPr lang="es-MX" dirty="0"/>
                        <a:t>.8</a:t>
                      </a:r>
                      <a:r>
                        <a:rPr dirty="0"/>
                        <a:t>%</a:t>
                      </a:r>
                    </a:p>
                  </a:txBody>
                  <a:tcPr anchor="ctr">
                    <a:solidFill>
                      <a:srgbClr val="D9D9D9"/>
                    </a:solidFill>
                  </a:tcPr>
                </a:tc>
                <a:extLst>
                  <a:ext uri="{0D108BD9-81ED-4DB2-BD59-A6C34878D82A}">
                    <a16:rowId xmlns:a16="http://schemas.microsoft.com/office/drawing/2014/main" val="10010"/>
                  </a:ext>
                </a:extLst>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rPr lang="es-MX" dirty="0"/>
                        <a:t>2,413</a:t>
                      </a:r>
                      <a:endParaRPr dirty="0"/>
                    </a:p>
                  </a:txBody>
                  <a:tcPr anchor="ctr">
                    <a:solidFill>
                      <a:srgbClr val="D3E9E7"/>
                    </a:solidFill>
                  </a:tcPr>
                </a:tc>
                <a:tc>
                  <a:txBody>
                    <a:bodyPr/>
                    <a:lstStyle/>
                    <a:p>
                      <a:pPr algn="ctr">
                        <a:defRPr sz="1000" b="1">
                          <a:solidFill>
                            <a:srgbClr val="006455"/>
                          </a:solidFill>
                          <a:latin typeface="Montserrat"/>
                        </a:defRPr>
                      </a:pPr>
                      <a:r>
                        <a:rPr dirty="0"/>
                        <a:t>100.0%</a:t>
                      </a:r>
                    </a:p>
                  </a:txBody>
                  <a:tcPr anchor="ctr">
                    <a:solidFill>
                      <a:srgbClr val="D3E9E7"/>
                    </a:solidFill>
                  </a:tcPr>
                </a:tc>
                <a:extLst>
                  <a:ext uri="{0D108BD9-81ED-4DB2-BD59-A6C34878D82A}">
                    <a16:rowId xmlns:a16="http://schemas.microsoft.com/office/drawing/2014/main" val="10011"/>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809281116"/>
              </p:ext>
            </p:extLst>
          </p:nvPr>
        </p:nvGraphicFramePr>
        <p:xfrm>
          <a:off x="3992400" y="2075585"/>
          <a:ext cx="3639599" cy="2362200"/>
        </p:xfrm>
        <a:graphic>
          <a:graphicData uri="http://schemas.openxmlformats.org/drawingml/2006/table">
            <a:tbl>
              <a:tblPr firstRow="1" bandRow="1">
                <a:tableStyleId>{5C22544A-7EE6-4342-B048-85BDC9FD1C3A}</a:tableStyleId>
              </a:tblPr>
              <a:tblGrid>
                <a:gridCol w="1738800">
                  <a:extLst>
                    <a:ext uri="{9D8B030D-6E8A-4147-A177-3AD203B41FA5}">
                      <a16:colId xmlns:a16="http://schemas.microsoft.com/office/drawing/2014/main" val="20000"/>
                    </a:ext>
                  </a:extLst>
                </a:gridCol>
                <a:gridCol w="1000799">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tblGrid>
              <a:tr h="216000">
                <a:tc>
                  <a:txBody>
                    <a:bodyPr/>
                    <a:lstStyle/>
                    <a:p>
                      <a:pPr algn="ctr">
                        <a:defRPr sz="1100" b="1">
                          <a:solidFill>
                            <a:srgbClr val="FFFFFF"/>
                          </a:solidFill>
                          <a:latin typeface="Montserrat"/>
                        </a:defRPr>
                      </a:pPr>
                      <a:r>
                        <a:t>Cirugía prioritaria</a:t>
                      </a:r>
                    </a:p>
                  </a:txBody>
                  <a:tcPr marL="14400" marR="14400" anchor="ctr">
                    <a:solidFill>
                      <a:srgbClr val="006455"/>
                    </a:solidFill>
                  </a:tcPr>
                </a:tc>
                <a:tc>
                  <a:txBody>
                    <a:bodyPr/>
                    <a:lstStyle/>
                    <a:p>
                      <a:pPr algn="ctr">
                        <a:defRPr sz="1100" b="1">
                          <a:solidFill>
                            <a:srgbClr val="FFFFFF"/>
                          </a:solidFill>
                          <a:latin typeface="Montserrat"/>
                        </a:defRPr>
                      </a:pPr>
                      <a:r>
                        <a:t>Total</a:t>
                      </a:r>
                    </a:p>
                  </a:txBody>
                  <a:tcPr marL="14400" marR="14400" anchor="ctr">
                    <a:solidFill>
                      <a:srgbClr val="006455"/>
                    </a:solidFill>
                  </a:tcPr>
                </a:tc>
                <a:tc>
                  <a:txBody>
                    <a:bodyPr/>
                    <a:lstStyle/>
                    <a:p>
                      <a:pPr algn="ctr">
                        <a:defRPr sz="1100" b="1">
                          <a:solidFill>
                            <a:srgbClr val="FFFFFF"/>
                          </a:solidFill>
                          <a:latin typeface="Montserrat"/>
                        </a:defRPr>
                      </a:pPr>
                      <a:r>
                        <a:t>% del total</a:t>
                      </a: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rPr lang="es-MX" dirty="0"/>
                        <a:t>116</a:t>
                      </a:r>
                      <a:endParaRPr dirty="0"/>
                    </a:p>
                  </a:txBody>
                  <a:tcPr anchor="ctr">
                    <a:solidFill>
                      <a:srgbClr val="FFFFFF"/>
                    </a:solidFill>
                  </a:tcPr>
                </a:tc>
                <a:tc>
                  <a:txBody>
                    <a:bodyPr/>
                    <a:lstStyle/>
                    <a:p>
                      <a:pPr algn="ctr">
                        <a:defRPr sz="1000">
                          <a:latin typeface="Montserrat"/>
                        </a:defRPr>
                      </a:pPr>
                      <a:r>
                        <a:rPr lang="es-MX" dirty="0"/>
                        <a:t>1</a:t>
                      </a:r>
                      <a:r>
                        <a:rPr dirty="0"/>
                        <a:t>8%</a:t>
                      </a:r>
                    </a:p>
                  </a:txBody>
                  <a:tcPr anchor="ct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t>Catarata</a:t>
                      </a:r>
                    </a:p>
                  </a:txBody>
                  <a:tcPr anchor="ctr">
                    <a:solidFill>
                      <a:srgbClr val="D9D9D9"/>
                    </a:solidFill>
                  </a:tcPr>
                </a:tc>
                <a:tc>
                  <a:txBody>
                    <a:bodyPr/>
                    <a:lstStyle/>
                    <a:p>
                      <a:pPr algn="ctr">
                        <a:defRPr sz="1000">
                          <a:latin typeface="Montserrat"/>
                        </a:defRPr>
                      </a:pPr>
                      <a:r>
                        <a:rPr lang="es-MX" dirty="0"/>
                        <a:t>108</a:t>
                      </a:r>
                      <a:endParaRPr dirty="0"/>
                    </a:p>
                  </a:txBody>
                  <a:tcPr anchor="ctr">
                    <a:solidFill>
                      <a:srgbClr val="D9D9D9"/>
                    </a:solidFill>
                  </a:tcPr>
                </a:tc>
                <a:tc>
                  <a:txBody>
                    <a:bodyPr/>
                    <a:lstStyle/>
                    <a:p>
                      <a:pPr algn="ctr">
                        <a:defRPr sz="1000">
                          <a:latin typeface="Montserrat"/>
                        </a:defRPr>
                      </a:pPr>
                      <a:r>
                        <a:rPr lang="es-MX" dirty="0"/>
                        <a:t>17</a:t>
                      </a:r>
                      <a:r>
                        <a:rPr dirty="0"/>
                        <a:t>.</a:t>
                      </a:r>
                      <a:r>
                        <a:rPr lang="es-MX" dirty="0"/>
                        <a:t>4</a:t>
                      </a:r>
                      <a:r>
                        <a:rPr dirty="0"/>
                        <a:t>%</a:t>
                      </a:r>
                    </a:p>
                  </a:txBody>
                  <a:tcPr anchor="ctr">
                    <a:solidFill>
                      <a:srgbClr val="D9D9D9"/>
                    </a:solidFill>
                  </a:tcPr>
                </a:tc>
                <a:extLst>
                  <a:ext uri="{0D108BD9-81ED-4DB2-BD59-A6C34878D82A}">
                    <a16:rowId xmlns:a16="http://schemas.microsoft.com/office/drawing/2014/main" val="10002"/>
                  </a:ext>
                </a:extLst>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rPr lang="es-MX" dirty="0"/>
                        <a:t>94</a:t>
                      </a:r>
                      <a:endParaRPr dirty="0"/>
                    </a:p>
                  </a:txBody>
                  <a:tcPr anchor="ctr">
                    <a:solidFill>
                      <a:srgbClr val="FFFFFF"/>
                    </a:solidFill>
                  </a:tcPr>
                </a:tc>
                <a:tc>
                  <a:txBody>
                    <a:bodyPr/>
                    <a:lstStyle/>
                    <a:p>
                      <a:pPr algn="ctr">
                        <a:defRPr sz="1000">
                          <a:latin typeface="Montserrat"/>
                        </a:defRPr>
                      </a:pPr>
                      <a:r>
                        <a:rPr lang="es-MX" dirty="0"/>
                        <a:t>15</a:t>
                      </a:r>
                      <a:r>
                        <a:rPr dirty="0"/>
                        <a:t>.1%</a:t>
                      </a:r>
                    </a:p>
                  </a:txBody>
                  <a:tcPr anchor="ct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rPr dirty="0"/>
                        <a:t>2</a:t>
                      </a:r>
                      <a:r>
                        <a:rPr lang="es-MX" dirty="0"/>
                        <a:t>25</a:t>
                      </a:r>
                      <a:endParaRPr dirty="0"/>
                    </a:p>
                  </a:txBody>
                  <a:tcPr anchor="ctr">
                    <a:solidFill>
                      <a:srgbClr val="D9D9D9"/>
                    </a:solidFill>
                  </a:tcPr>
                </a:tc>
                <a:tc>
                  <a:txBody>
                    <a:bodyPr/>
                    <a:lstStyle/>
                    <a:p>
                      <a:pPr algn="ctr">
                        <a:defRPr sz="1000">
                          <a:latin typeface="Montserrat"/>
                        </a:defRPr>
                      </a:pPr>
                      <a:r>
                        <a:rPr lang="es-MX" dirty="0"/>
                        <a:t>36.3</a:t>
                      </a:r>
                      <a:r>
                        <a:rPr dirty="0"/>
                        <a:t>%</a:t>
                      </a:r>
                    </a:p>
                  </a:txBody>
                  <a:tcPr anchor="ctr">
                    <a:solidFill>
                      <a:srgbClr val="D9D9D9"/>
                    </a:solidFill>
                  </a:tcPr>
                </a:tc>
                <a:extLst>
                  <a:ext uri="{0D108BD9-81ED-4DB2-BD59-A6C34878D82A}">
                    <a16:rowId xmlns:a16="http://schemas.microsoft.com/office/drawing/2014/main" val="10004"/>
                  </a:ext>
                </a:extLst>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rPr lang="es-MX" dirty="0"/>
                        <a:t>64</a:t>
                      </a:r>
                      <a:endParaRPr dirty="0"/>
                    </a:p>
                  </a:txBody>
                  <a:tcPr anchor="ctr">
                    <a:solidFill>
                      <a:srgbClr val="FFFFFF"/>
                    </a:solidFill>
                  </a:tcPr>
                </a:tc>
                <a:tc>
                  <a:txBody>
                    <a:bodyPr/>
                    <a:lstStyle/>
                    <a:p>
                      <a:pPr algn="ctr">
                        <a:defRPr sz="1000">
                          <a:latin typeface="Montserrat"/>
                        </a:defRPr>
                      </a:pPr>
                      <a:r>
                        <a:rPr lang="es-MX" dirty="0"/>
                        <a:t>10</a:t>
                      </a:r>
                      <a:r>
                        <a:rPr dirty="0"/>
                        <a:t>.</a:t>
                      </a:r>
                      <a:r>
                        <a:rPr lang="es-MX" dirty="0"/>
                        <a:t>3</a:t>
                      </a:r>
                      <a:r>
                        <a:rPr dirty="0"/>
                        <a:t>%</a:t>
                      </a:r>
                    </a:p>
                  </a:txBody>
                  <a:tcPr anchor="ct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68</a:t>
                      </a:r>
                    </a:p>
                  </a:txBody>
                  <a:tcPr anchor="ctr">
                    <a:solidFill>
                      <a:srgbClr val="D9D9D9"/>
                    </a:solidFill>
                  </a:tcPr>
                </a:tc>
                <a:tc>
                  <a:txBody>
                    <a:bodyPr/>
                    <a:lstStyle/>
                    <a:p>
                      <a:pPr algn="ctr">
                        <a:defRPr sz="1000">
                          <a:latin typeface="Montserrat"/>
                        </a:defRPr>
                      </a:pPr>
                      <a:r>
                        <a:t>96.9%</a:t>
                      </a:r>
                    </a:p>
                  </a:txBody>
                  <a:tcPr anchor="ctr">
                    <a:solidFill>
                      <a:srgbClr val="D9D9D9"/>
                    </a:solidFill>
                  </a:tcPr>
                </a:tc>
                <a:extLst>
                  <a:ext uri="{0D108BD9-81ED-4DB2-BD59-A6C34878D82A}">
                    <a16:rowId xmlns:a16="http://schemas.microsoft.com/office/drawing/2014/main" val="10006"/>
                  </a:ext>
                </a:extLst>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rPr lang="es-MX" dirty="0"/>
                        <a:t>12</a:t>
                      </a:r>
                      <a:endParaRPr dirty="0"/>
                    </a:p>
                  </a:txBody>
                  <a:tcPr anchor="ctr">
                    <a:solidFill>
                      <a:srgbClr val="FFFFFF"/>
                    </a:solidFill>
                  </a:tcPr>
                </a:tc>
                <a:tc>
                  <a:txBody>
                    <a:bodyPr/>
                    <a:lstStyle/>
                    <a:p>
                      <a:pPr algn="ctr">
                        <a:defRPr sz="1000">
                          <a:latin typeface="Montserrat"/>
                        </a:defRPr>
                      </a:pPr>
                      <a:r>
                        <a:rPr dirty="0"/>
                        <a:t>1</a:t>
                      </a:r>
                      <a:r>
                        <a:rPr lang="es-MX" dirty="0"/>
                        <a:t>.9</a:t>
                      </a:r>
                      <a:r>
                        <a:rPr dirty="0"/>
                        <a:t>%</a:t>
                      </a:r>
                    </a:p>
                  </a:txBody>
                  <a:tcPr anchor="ctr">
                    <a:solidFill>
                      <a:srgbClr val="FFFFFF"/>
                    </a:solidFill>
                  </a:tcPr>
                </a:tc>
                <a:extLst>
                  <a:ext uri="{0D108BD9-81ED-4DB2-BD59-A6C34878D82A}">
                    <a16:rowId xmlns:a16="http://schemas.microsoft.com/office/drawing/2014/main" val="10007"/>
                  </a:ext>
                </a:extLst>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rPr lang="es-MX" dirty="0"/>
                        <a:t>619</a:t>
                      </a:r>
                      <a:endParaRPr dirty="0"/>
                    </a:p>
                  </a:txBody>
                  <a:tcPr anchor="ctr">
                    <a:solidFill>
                      <a:srgbClr val="D3E9E7"/>
                    </a:solidFill>
                  </a:tcPr>
                </a:tc>
                <a:tc>
                  <a:txBody>
                    <a:bodyPr/>
                    <a:lstStyle/>
                    <a:p>
                      <a:pPr algn="ctr">
                        <a:defRPr sz="1000" b="1">
                          <a:solidFill>
                            <a:srgbClr val="006455"/>
                          </a:solidFill>
                          <a:latin typeface="Montserrat"/>
                        </a:defRPr>
                      </a:pPr>
                      <a:r>
                        <a:rPr dirty="0"/>
                        <a:t>100.0%</a:t>
                      </a:r>
                    </a:p>
                  </a:txBody>
                  <a:tcPr anchor="ctr">
                    <a:solidFill>
                      <a:srgbClr val="D3E9E7"/>
                    </a:solidFill>
                  </a:tcPr>
                </a:tc>
                <a:extLst>
                  <a:ext uri="{0D108BD9-81ED-4DB2-BD59-A6C34878D82A}">
                    <a16:rowId xmlns:a16="http://schemas.microsoft.com/office/drawing/2014/main" val="10008"/>
                  </a:ext>
                </a:extLst>
              </a:tr>
            </a:tbl>
          </a:graphicData>
        </a:graphic>
      </p:graphicFrame>
      <p:sp>
        <p:nvSpPr>
          <p:cNvPr id="7" name="TextBox 231">
            <a:extLst>
              <a:ext uri="{FF2B5EF4-FFF2-40B4-BE49-F238E27FC236}">
                <a16:creationId xmlns:a16="http://schemas.microsoft.com/office/drawing/2014/main" id="{B73B03EC-C7C4-A495-BAA1-CE66ABBFB185}"/>
              </a:ext>
            </a:extLst>
          </p:cNvPr>
          <p:cNvSpPr txBox="1"/>
          <p:nvPr/>
        </p:nvSpPr>
        <p:spPr>
          <a:xfrm>
            <a:off x="642541" y="6861513"/>
            <a:ext cx="5324400" cy="123111"/>
          </a:xfrm>
          <a:prstGeom prst="rect">
            <a:avLst/>
          </a:prstGeom>
          <a:noFill/>
        </p:spPr>
        <p:txBody>
          <a:bodyPr wrap="square" lIns="0" tIns="0" rIns="0" bIns="0">
            <a:spAutoFit/>
          </a:bodyPr>
          <a:lstStyle/>
          <a:p>
            <a:pPr algn="l">
              <a:defRPr sz="800">
                <a:solidFill>
                  <a:srgbClr val="000000"/>
                </a:solidFill>
                <a:latin typeface="Montserrat" panose="00000500000000000000"/>
              </a:defRPr>
            </a:pPr>
            <a:r>
              <a:t>Corte de </a:t>
            </a:r>
            <a:r>
              <a:rPr err="1"/>
              <a:t>información</a:t>
            </a:r>
            <a:r>
              <a:t>: </a:t>
            </a:r>
            <a:r>
              <a:rPr lang="es-MX"/>
              <a:t>18</a:t>
            </a:r>
            <a:r>
              <a:t> </a:t>
            </a:r>
            <a:r>
              <a:rPr lang="es-MX"/>
              <a:t>junio</a:t>
            </a:r>
            <a:r>
              <a:t> 2026</a:t>
            </a:r>
          </a:p>
        </p:txBody>
      </p:sp>
      <p:graphicFrame>
        <p:nvGraphicFramePr>
          <p:cNvPr id="8" name="Google Shape;230;g370e87ffe7a_2_137">
            <a:extLst>
              <a:ext uri="{FF2B5EF4-FFF2-40B4-BE49-F238E27FC236}">
                <a16:creationId xmlns:a16="http://schemas.microsoft.com/office/drawing/2014/main" id="{286AE021-C0E1-C77F-7252-613E022373C1}"/>
              </a:ext>
            </a:extLst>
          </p:cNvPr>
          <p:cNvGraphicFramePr/>
          <p:nvPr>
            <p:extLst>
              <p:ext uri="{D42A27DB-BD31-4B8C-83A1-F6EECF244321}">
                <p14:modId xmlns:p14="http://schemas.microsoft.com/office/powerpoint/2010/main" val="3483557253"/>
              </p:ext>
            </p:extLst>
          </p:nvPr>
        </p:nvGraphicFramePr>
        <p:xfrm>
          <a:off x="200058" y="5490801"/>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panose="020B0604020202020204"/>
                        <a:buNone/>
                      </a:pPr>
                      <a:r>
                        <a:rPr lang="en-US" sz="2100" b="1" u="none" strike="noStrike" cap="none" err="1">
                          <a:solidFill>
                            <a:srgbClr val="BC955C"/>
                          </a:solidFill>
                          <a:latin typeface="Montserrat" panose="00000500000000000000"/>
                          <a:ea typeface="Montserrat" panose="00000500000000000000"/>
                          <a:cs typeface="Montserrat" panose="00000500000000000000"/>
                          <a:sym typeface="Montserrat" panose="00000500000000000000"/>
                        </a:rPr>
                        <a:t>Vive</a:t>
                      </a:r>
                      <a:r>
                        <a:rPr lang="en-US" sz="2100" b="1" u="none" strike="noStrike" cap="none">
                          <a:solidFill>
                            <a:srgbClr val="BC955C"/>
                          </a:solidFill>
                          <a:latin typeface="Montserrat" panose="00000500000000000000"/>
                          <a:ea typeface="Montserrat" panose="00000500000000000000"/>
                          <a:cs typeface="Montserrat" panose="00000500000000000000"/>
                          <a:sym typeface="Montserrat" panose="00000500000000000000"/>
                        </a:rPr>
                        <a:t> </a:t>
                      </a:r>
                      <a:r>
                        <a:rPr lang="en-US" sz="2100" b="1" u="none" strike="noStrike" cap="none" err="1">
                          <a:solidFill>
                            <a:srgbClr val="BC955C"/>
                          </a:solidFill>
                          <a:latin typeface="Montserrat" panose="00000500000000000000"/>
                          <a:ea typeface="Montserrat" panose="00000500000000000000"/>
                          <a:cs typeface="Montserrat" panose="00000500000000000000"/>
                          <a:sym typeface="Montserrat" panose="00000500000000000000"/>
                        </a:rPr>
                        <a:t>saludable</a:t>
                      </a:r>
                      <a:r>
                        <a:rPr lang="en-US" sz="2100" b="1" u="none" strike="noStrike" cap="none">
                          <a:solidFill>
                            <a:srgbClr val="BC955C"/>
                          </a:solidFill>
                          <a:latin typeface="Montserrat" panose="00000500000000000000"/>
                          <a:ea typeface="Montserrat" panose="00000500000000000000"/>
                          <a:cs typeface="Montserrat" panose="00000500000000000000"/>
                          <a:sym typeface="Montserrat" panose="00000500000000000000"/>
                        </a:rPr>
                        <a:t>, </a:t>
                      </a:r>
                      <a:r>
                        <a:rPr lang="en-US" sz="2100" b="1" u="none" strike="noStrike" cap="none" err="1">
                          <a:solidFill>
                            <a:srgbClr val="BC955C"/>
                          </a:solidFill>
                          <a:latin typeface="Montserrat" panose="00000500000000000000"/>
                          <a:ea typeface="Montserrat" panose="00000500000000000000"/>
                          <a:cs typeface="Montserrat" panose="00000500000000000000"/>
                          <a:sym typeface="Montserrat" panose="00000500000000000000"/>
                        </a:rPr>
                        <a:t>Vive</a:t>
                      </a:r>
                      <a:r>
                        <a:rPr lang="en-US" sz="2100" b="1" u="none" strike="noStrike" cap="none">
                          <a:solidFill>
                            <a:srgbClr val="BC955C"/>
                          </a:solidFill>
                          <a:latin typeface="Montserrat" panose="00000500000000000000"/>
                          <a:ea typeface="Montserrat" panose="00000500000000000000"/>
                          <a:cs typeface="Montserrat" panose="00000500000000000000"/>
                          <a:sym typeface="Montserrat" panose="00000500000000000000"/>
                        </a:rPr>
                        <a:t> Feliz</a:t>
                      </a:r>
                      <a:endParaRPr sz="2100" b="1" u="none" strike="noStrike" cap="none">
                        <a:solidFill>
                          <a:srgbClr val="980000"/>
                        </a:solidFill>
                        <a:latin typeface="Montserrat" panose="00000500000000000000"/>
                        <a:ea typeface="Montserrat" panose="00000500000000000000"/>
                        <a:cs typeface="Montserrat" panose="00000500000000000000"/>
                        <a:sym typeface="Montserrat" panose="00000500000000000000"/>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9" name="Table 232">
            <a:extLst>
              <a:ext uri="{FF2B5EF4-FFF2-40B4-BE49-F238E27FC236}">
                <a16:creationId xmlns:a16="http://schemas.microsoft.com/office/drawing/2014/main" id="{05F1183F-B1E3-FA9A-B809-CB20B859C95C}"/>
              </a:ext>
            </a:extLst>
          </p:cNvPr>
          <p:cNvGraphicFramePr>
            <a:graphicFrameLocks noGrp="1"/>
          </p:cNvGraphicFramePr>
          <p:nvPr>
            <p:extLst>
              <p:ext uri="{D42A27DB-BD31-4B8C-83A1-F6EECF244321}">
                <p14:modId xmlns:p14="http://schemas.microsoft.com/office/powerpoint/2010/main" val="2959007865"/>
              </p:ext>
            </p:extLst>
          </p:nvPr>
        </p:nvGraphicFramePr>
        <p:xfrm>
          <a:off x="659906" y="6069376"/>
          <a:ext cx="6443841" cy="670560"/>
        </p:xfrm>
        <a:graphic>
          <a:graphicData uri="http://schemas.openxmlformats.org/drawingml/2006/table">
            <a:tbl>
              <a:tblPr firstRow="1" bandRow="1">
                <a:tableStyleId>{5C22544A-7EE6-4342-B048-85BDC9FD1C3A}</a:tableStyleId>
              </a:tblPr>
              <a:tblGrid>
                <a:gridCol w="2392646">
                  <a:extLst>
                    <a:ext uri="{9D8B030D-6E8A-4147-A177-3AD203B41FA5}">
                      <a16:colId xmlns:a16="http://schemas.microsoft.com/office/drawing/2014/main" val="20000"/>
                    </a:ext>
                  </a:extLst>
                </a:gridCol>
                <a:gridCol w="1313220">
                  <a:extLst>
                    <a:ext uri="{9D8B030D-6E8A-4147-A177-3AD203B41FA5}">
                      <a16:colId xmlns:a16="http://schemas.microsoft.com/office/drawing/2014/main" val="20001"/>
                    </a:ext>
                  </a:extLst>
                </a:gridCol>
                <a:gridCol w="1323168">
                  <a:extLst>
                    <a:ext uri="{9D8B030D-6E8A-4147-A177-3AD203B41FA5}">
                      <a16:colId xmlns:a16="http://schemas.microsoft.com/office/drawing/2014/main" val="20002"/>
                    </a:ext>
                  </a:extLst>
                </a:gridCol>
                <a:gridCol w="1414807">
                  <a:extLst>
                    <a:ext uri="{9D8B030D-6E8A-4147-A177-3AD203B41FA5}">
                      <a16:colId xmlns:a16="http://schemas.microsoft.com/office/drawing/2014/main" val="20003"/>
                    </a:ext>
                  </a:extLst>
                </a:gridCol>
              </a:tblGrid>
              <a:tr h="216000">
                <a:tc>
                  <a:txBody>
                    <a:bodyPr/>
                    <a:lstStyle/>
                    <a:p>
                      <a:pPr algn="ctr">
                        <a:defRPr sz="1100" b="1">
                          <a:solidFill>
                            <a:srgbClr val="FFFFFF"/>
                          </a:solidFill>
                          <a:latin typeface="Montserrat" panose="00000500000000000000"/>
                        </a:defRPr>
                      </a:pPr>
                      <a:r>
                        <a:rPr lang="es-MX"/>
                        <a:t>Total de Escuelas</a:t>
                      </a:r>
                    </a:p>
                  </a:txBody>
                  <a:tcPr marL="14400" marR="14400" anchor="ctr">
                    <a:solidFill>
                      <a:srgbClr val="006455"/>
                    </a:solidFill>
                  </a:tcPr>
                </a:tc>
                <a:tc>
                  <a:txBody>
                    <a:bodyPr/>
                    <a:lstStyle/>
                    <a:p>
                      <a:pPr algn="ctr">
                        <a:defRPr sz="1100" b="1">
                          <a:solidFill>
                            <a:srgbClr val="FFFFFF"/>
                          </a:solidFill>
                          <a:latin typeface="Montserrat" panose="00000500000000000000"/>
                        </a:defRPr>
                      </a:pPr>
                      <a:r>
                        <a:rPr lang="es-MX"/>
                        <a:t>Escuelas visitadas</a:t>
                      </a:r>
                    </a:p>
                  </a:txBody>
                  <a:tcPr marL="14400" marR="14400" anchor="ctr">
                    <a:solidFill>
                      <a:srgbClr val="006455"/>
                    </a:solidFill>
                  </a:tcPr>
                </a:tc>
                <a:tc>
                  <a:txBody>
                    <a:bodyPr/>
                    <a:lstStyle/>
                    <a:p>
                      <a:pPr algn="ctr">
                        <a:defRPr sz="1100" b="1">
                          <a:solidFill>
                            <a:srgbClr val="FFFFFF"/>
                          </a:solidFill>
                          <a:latin typeface="Montserrat" panose="00000500000000000000"/>
                        </a:defRPr>
                      </a:pPr>
                      <a:r>
                        <a:rPr lang="es-MX"/>
                        <a:t>Población </a:t>
                      </a:r>
                    </a:p>
                  </a:txBody>
                  <a:tcPr marL="14400" marR="14400" anchor="ctr">
                    <a:solidFill>
                      <a:srgbClr val="006455"/>
                    </a:solidFill>
                  </a:tcPr>
                </a:tc>
                <a:tc>
                  <a:txBody>
                    <a:bodyPr/>
                    <a:lstStyle/>
                    <a:p>
                      <a:pPr algn="ctr">
                        <a:defRPr sz="1100" b="1">
                          <a:solidFill>
                            <a:srgbClr val="FFFFFF"/>
                          </a:solidFill>
                          <a:latin typeface="Montserrat" panose="00000500000000000000"/>
                        </a:defRPr>
                      </a:pPr>
                      <a:r>
                        <a:rPr lang="es-MX"/>
                        <a:t>Menores tamizados</a:t>
                      </a: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lvl="0" algn="ctr">
                        <a:buNone/>
                        <a:defRPr sz="1000" b="1">
                          <a:solidFill>
                            <a:srgbClr val="006455"/>
                          </a:solidFill>
                          <a:latin typeface="Montserrat" panose="00000500000000000000"/>
                        </a:defRPr>
                      </a:pPr>
                      <a:r>
                        <a:rPr lang="es-MX"/>
                        <a:t>1,351</a:t>
                      </a:r>
                    </a:p>
                  </a:txBody>
                  <a:tcPr anchor="ctr">
                    <a:solidFill>
                      <a:srgbClr val="D3E9E7"/>
                    </a:solidFill>
                  </a:tcPr>
                </a:tc>
                <a:tc>
                  <a:txBody>
                    <a:bodyPr/>
                    <a:lstStyle/>
                    <a:p>
                      <a:pPr lvl="0" algn="ctr">
                        <a:buNone/>
                        <a:defRPr sz="1000" b="1">
                          <a:solidFill>
                            <a:srgbClr val="006455"/>
                          </a:solidFill>
                          <a:latin typeface="Montserrat" panose="00000500000000000000"/>
                        </a:defRPr>
                      </a:pPr>
                      <a:r>
                        <a:rPr lang="es-MX"/>
                        <a:t>1,262</a:t>
                      </a:r>
                    </a:p>
                  </a:txBody>
                  <a:tcPr anchor="ctr">
                    <a:solidFill>
                      <a:srgbClr val="D3E9E7"/>
                    </a:solidFill>
                  </a:tcPr>
                </a:tc>
                <a:tc>
                  <a:txBody>
                    <a:bodyPr/>
                    <a:lstStyle/>
                    <a:p>
                      <a:pPr lvl="0" algn="ctr">
                        <a:buNone/>
                        <a:defRPr sz="1000" b="1">
                          <a:solidFill>
                            <a:srgbClr val="006455"/>
                          </a:solidFill>
                          <a:latin typeface="Montserrat" panose="00000500000000000000"/>
                        </a:defRPr>
                      </a:pPr>
                      <a:r>
                        <a:rPr lang="es-MX"/>
                        <a:t>239,017</a:t>
                      </a:r>
                    </a:p>
                  </a:txBody>
                  <a:tcPr anchor="ctr">
                    <a:solidFill>
                      <a:srgbClr val="D3E9E7"/>
                    </a:solidFill>
                  </a:tcPr>
                </a:tc>
                <a:tc>
                  <a:txBody>
                    <a:bodyPr/>
                    <a:lstStyle/>
                    <a:p>
                      <a:pPr lvl="0" algn="ctr">
                        <a:buNone/>
                        <a:defRPr sz="1000" b="1">
                          <a:solidFill>
                            <a:srgbClr val="006455"/>
                          </a:solidFill>
                          <a:latin typeface="Montserrat" panose="00000500000000000000"/>
                        </a:defRPr>
                      </a:pPr>
                      <a:r>
                        <a:rPr lang="es-MX"/>
                        <a:t>153,396</a:t>
                      </a:r>
                    </a:p>
                  </a:txBody>
                  <a:tcPr anchor="ctr">
                    <a:solidFill>
                      <a:srgbClr val="D3E9E7"/>
                    </a:solidFill>
                  </a:tcPr>
                </a:tc>
                <a:extLst>
                  <a:ext uri="{0D108BD9-81ED-4DB2-BD59-A6C34878D82A}">
                    <a16:rowId xmlns:a16="http://schemas.microsoft.com/office/drawing/2014/main" val="10001"/>
                  </a:ext>
                </a:extLst>
              </a:tr>
            </a:tbl>
          </a:graphicData>
        </a:graphic>
      </p:graphicFrame>
      <p:graphicFrame>
        <p:nvGraphicFramePr>
          <p:cNvPr id="10" name="Table 232">
            <a:extLst>
              <a:ext uri="{FF2B5EF4-FFF2-40B4-BE49-F238E27FC236}">
                <a16:creationId xmlns:a16="http://schemas.microsoft.com/office/drawing/2014/main" id="{49726BF0-B9FB-0D47-870A-DDF17259043A}"/>
              </a:ext>
            </a:extLst>
          </p:cNvPr>
          <p:cNvGraphicFramePr>
            <a:graphicFrameLocks noGrp="1"/>
          </p:cNvGraphicFramePr>
          <p:nvPr>
            <p:extLst>
              <p:ext uri="{D42A27DB-BD31-4B8C-83A1-F6EECF244321}">
                <p14:modId xmlns:p14="http://schemas.microsoft.com/office/powerpoint/2010/main" val="3603244131"/>
              </p:ext>
            </p:extLst>
          </p:nvPr>
        </p:nvGraphicFramePr>
        <p:xfrm>
          <a:off x="1735038" y="7041041"/>
          <a:ext cx="3737789" cy="670560"/>
        </p:xfrm>
        <a:graphic>
          <a:graphicData uri="http://schemas.openxmlformats.org/drawingml/2006/table">
            <a:tbl>
              <a:tblPr firstRow="1" bandRow="1">
                <a:tableStyleId>{5C22544A-7EE6-4342-B048-85BDC9FD1C3A}</a:tableStyleId>
              </a:tblPr>
              <a:tblGrid>
                <a:gridCol w="2210637">
                  <a:extLst>
                    <a:ext uri="{9D8B030D-6E8A-4147-A177-3AD203B41FA5}">
                      <a16:colId xmlns:a16="http://schemas.microsoft.com/office/drawing/2014/main" val="20000"/>
                    </a:ext>
                  </a:extLst>
                </a:gridCol>
                <a:gridCol w="1527152">
                  <a:extLst>
                    <a:ext uri="{9D8B030D-6E8A-4147-A177-3AD203B41FA5}">
                      <a16:colId xmlns:a16="http://schemas.microsoft.com/office/drawing/2014/main" val="20001"/>
                    </a:ext>
                  </a:extLst>
                </a:gridCol>
              </a:tblGrid>
              <a:tr h="216000">
                <a:tc>
                  <a:txBody>
                    <a:bodyPr/>
                    <a:lstStyle/>
                    <a:p>
                      <a:pPr algn="ctr">
                        <a:defRPr sz="1100" b="1">
                          <a:solidFill>
                            <a:srgbClr val="FFFFFF"/>
                          </a:solidFill>
                          <a:latin typeface="Montserrat" panose="00000500000000000000"/>
                        </a:defRPr>
                      </a:pPr>
                      <a:r>
                        <a:rPr lang="es-MX"/>
                        <a:t>Brigadas</a:t>
                      </a:r>
                    </a:p>
                  </a:txBody>
                  <a:tcPr marL="14400" marR="14400" anchor="ctr">
                    <a:solidFill>
                      <a:srgbClr val="006455"/>
                    </a:solidFill>
                  </a:tcPr>
                </a:tc>
                <a:tc>
                  <a:txBody>
                    <a:bodyPr/>
                    <a:lstStyle/>
                    <a:p>
                      <a:pPr algn="ctr">
                        <a:defRPr sz="1100" b="1">
                          <a:solidFill>
                            <a:srgbClr val="FFFFFF"/>
                          </a:solidFill>
                          <a:latin typeface="Montserrat" panose="00000500000000000000"/>
                        </a:defRPr>
                      </a:pPr>
                      <a:r>
                        <a:rPr lang="es-MX"/>
                        <a:t>Personal de enfermería IMSS</a:t>
                      </a: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ctr">
                        <a:defRPr sz="1000" b="1">
                          <a:solidFill>
                            <a:srgbClr val="006455"/>
                          </a:solidFill>
                          <a:latin typeface="Montserrat" panose="00000500000000000000"/>
                        </a:defRPr>
                      </a:pPr>
                      <a:r>
                        <a:rPr lang="es-MX"/>
                        <a:t>13</a:t>
                      </a:r>
                    </a:p>
                  </a:txBody>
                  <a:tcPr anchor="ctr">
                    <a:solidFill>
                      <a:srgbClr val="D3E9E7"/>
                    </a:solidFill>
                  </a:tcPr>
                </a:tc>
                <a:tc>
                  <a:txBody>
                    <a:bodyPr/>
                    <a:lstStyle/>
                    <a:p>
                      <a:pPr algn="ctr">
                        <a:defRPr sz="1000" b="1">
                          <a:solidFill>
                            <a:srgbClr val="006455"/>
                          </a:solidFill>
                          <a:latin typeface="Montserrat" panose="00000500000000000000"/>
                        </a:defRPr>
                      </a:pPr>
                      <a:r>
                        <a:rPr lang="es-MX"/>
                        <a:t>65</a:t>
                      </a:r>
                    </a:p>
                  </a:txBody>
                  <a:tcPr anchor="ctr">
                    <a:solidFill>
                      <a:srgbClr val="D3E9E7"/>
                    </a:solidFill>
                  </a:tcPr>
                </a:tc>
                <a:extLst>
                  <a:ext uri="{0D108BD9-81ED-4DB2-BD59-A6C34878D82A}">
                    <a16:rowId xmlns:a16="http://schemas.microsoft.com/office/drawing/2014/main" val="10001"/>
                  </a:ext>
                </a:extLst>
              </a:tr>
            </a:tbl>
          </a:graphicData>
        </a:graphic>
      </p:graphicFrame>
      <p:sp>
        <p:nvSpPr>
          <p:cNvPr id="11" name="TextBox 231">
            <a:extLst>
              <a:ext uri="{FF2B5EF4-FFF2-40B4-BE49-F238E27FC236}">
                <a16:creationId xmlns:a16="http://schemas.microsoft.com/office/drawing/2014/main" id="{AC4F29A9-C720-CC83-0D44-EE6A1EE7F9A1}"/>
              </a:ext>
            </a:extLst>
          </p:cNvPr>
          <p:cNvSpPr txBox="1"/>
          <p:nvPr/>
        </p:nvSpPr>
        <p:spPr>
          <a:xfrm>
            <a:off x="1473784" y="7732268"/>
            <a:ext cx="5324400" cy="123111"/>
          </a:xfrm>
          <a:prstGeom prst="rect">
            <a:avLst/>
          </a:prstGeom>
          <a:noFill/>
        </p:spPr>
        <p:txBody>
          <a:bodyPr wrap="square" lIns="0" tIns="0" rIns="0" bIns="0">
            <a:spAutoFit/>
          </a:bodyPr>
          <a:lstStyle/>
          <a:p>
            <a:pPr algn="l">
              <a:defRPr sz="800">
                <a:solidFill>
                  <a:srgbClr val="000000"/>
                </a:solidFill>
                <a:latin typeface="Montserrat" panose="00000500000000000000"/>
              </a:defRPr>
            </a:pPr>
            <a:r>
              <a:rPr lang="es-MX"/>
              <a:t>En cada brigada participan 5 personas del IMSS.</a:t>
            </a:r>
          </a:p>
        </p:txBody>
      </p:sp>
      <p:sp>
        <p:nvSpPr>
          <p:cNvPr id="12" name="CuadroTexto 11">
            <a:extLst>
              <a:ext uri="{FF2B5EF4-FFF2-40B4-BE49-F238E27FC236}">
                <a16:creationId xmlns:a16="http://schemas.microsoft.com/office/drawing/2014/main" id="{E925B8BB-1514-52FC-78BD-7330CEF016EC}"/>
              </a:ext>
            </a:extLst>
          </p:cNvPr>
          <p:cNvSpPr txBox="1"/>
          <p:nvPr/>
        </p:nvSpPr>
        <p:spPr>
          <a:xfrm>
            <a:off x="197428" y="8487584"/>
            <a:ext cx="1841269"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2800" b="1">
                <a:solidFill>
                  <a:srgbClr val="006556"/>
                </a:solidFill>
                <a:latin typeface="Montserrat" panose="00000500000000000000"/>
                <a:ea typeface="Montserrat" panose="00000500000000000000"/>
                <a:cs typeface="Montserrat" panose="00000500000000000000"/>
              </a:rPr>
              <a:t>14,987</a:t>
            </a:r>
            <a:endParaRPr lang="en-US" sz="2800" b="1" i="0" u="none" strike="noStrike">
              <a:solidFill>
                <a:srgbClr val="006556"/>
              </a:solidFill>
              <a:latin typeface="Montserrat" panose="00000500000000000000"/>
              <a:ea typeface="Montserrat" panose="00000500000000000000"/>
              <a:cs typeface="Montserrat" panose="00000500000000000000"/>
            </a:endParaRPr>
          </a:p>
          <a:p>
            <a:pPr algn="ctr"/>
            <a:r>
              <a:rPr lang="en-US" sz="1200" b="1" i="0" u="none" strike="noStrike" err="1">
                <a:solidFill>
                  <a:srgbClr val="434343"/>
                </a:solidFill>
                <a:latin typeface="Montserrat" panose="00000500000000000000"/>
                <a:ea typeface="Montserrat" panose="00000500000000000000"/>
                <a:cs typeface="Montserrat" panose="00000500000000000000"/>
              </a:rPr>
              <a:t>Valoraciones</a:t>
            </a:r>
            <a:r>
              <a:rPr lang="en-US" sz="1200" b="1" i="0" u="none" strike="noStrike">
                <a:solidFill>
                  <a:srgbClr val="434343"/>
                </a:solidFill>
                <a:latin typeface="Montserrat" panose="00000500000000000000"/>
                <a:ea typeface="Montserrat" panose="00000500000000000000"/>
                <a:cs typeface="Montserrat" panose="00000500000000000000"/>
              </a:rPr>
              <a:t> </a:t>
            </a:r>
            <a:br>
              <a:rPr lang="en-US" sz="1200" b="1">
                <a:latin typeface="Montserrat" panose="00000500000000000000"/>
                <a:ea typeface="Montserrat" panose="00000500000000000000"/>
                <a:cs typeface="Montserrat" panose="00000500000000000000"/>
              </a:rPr>
            </a:br>
            <a:r>
              <a:rPr lang="en-US" sz="1200" b="1" i="0" u="none" strike="noStrike" err="1">
                <a:solidFill>
                  <a:srgbClr val="434343"/>
                </a:solidFill>
                <a:latin typeface="Montserrat" panose="00000500000000000000"/>
                <a:ea typeface="Montserrat" panose="00000500000000000000"/>
                <a:cs typeface="Montserrat" panose="00000500000000000000"/>
              </a:rPr>
              <a:t>nutricionales</a:t>
            </a:r>
            <a:endParaRPr lang="en-US" sz="1200" b="1" i="0" u="none" strike="noStrike">
              <a:solidFill>
                <a:srgbClr val="434343"/>
              </a:solidFill>
              <a:latin typeface="Montserrat" panose="00000500000000000000"/>
              <a:ea typeface="Montserrat" panose="00000500000000000000"/>
              <a:cs typeface="Montserrat" panose="00000500000000000000"/>
            </a:endParaRPr>
          </a:p>
        </p:txBody>
      </p:sp>
      <p:sp>
        <p:nvSpPr>
          <p:cNvPr id="13" name="CuadroTexto 12">
            <a:extLst>
              <a:ext uri="{FF2B5EF4-FFF2-40B4-BE49-F238E27FC236}">
                <a16:creationId xmlns:a16="http://schemas.microsoft.com/office/drawing/2014/main" id="{A8C8510D-1F40-2BF7-BD50-50D42112EDBE}"/>
              </a:ext>
            </a:extLst>
          </p:cNvPr>
          <p:cNvSpPr txBox="1"/>
          <p:nvPr/>
        </p:nvSpPr>
        <p:spPr>
          <a:xfrm>
            <a:off x="2924003" y="8487584"/>
            <a:ext cx="1832957"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2800" b="1">
                <a:solidFill>
                  <a:srgbClr val="006556"/>
                </a:solidFill>
                <a:latin typeface="Montserrat" panose="00000500000000000000"/>
                <a:ea typeface="Montserrat" panose="00000500000000000000"/>
                <a:cs typeface="Montserrat" panose="00000500000000000000"/>
              </a:rPr>
              <a:t>11,521</a:t>
            </a:r>
            <a:endParaRPr lang="en-US" sz="2800" b="1" i="0" u="none" strike="noStrike">
              <a:solidFill>
                <a:srgbClr val="006556"/>
              </a:solidFill>
              <a:latin typeface="Montserrat" panose="00000500000000000000"/>
              <a:ea typeface="Montserrat" panose="00000500000000000000"/>
              <a:cs typeface="Montserrat" panose="00000500000000000000"/>
            </a:endParaRPr>
          </a:p>
          <a:p>
            <a:pPr algn="ctr"/>
            <a:r>
              <a:rPr lang="en-US" sz="1200" b="1" i="0" u="none" strike="noStrike" err="1">
                <a:solidFill>
                  <a:srgbClr val="434343"/>
                </a:solidFill>
                <a:latin typeface="Montserrat" panose="00000500000000000000"/>
                <a:ea typeface="Montserrat" panose="00000500000000000000"/>
                <a:cs typeface="Montserrat" panose="00000500000000000000"/>
              </a:rPr>
              <a:t>Valoraciones</a:t>
            </a:r>
            <a:r>
              <a:rPr lang="en-US" sz="1200" b="1" i="0" u="none" strike="noStrike">
                <a:solidFill>
                  <a:srgbClr val="434343"/>
                </a:solidFill>
                <a:latin typeface="Montserrat" panose="00000500000000000000"/>
                <a:ea typeface="Montserrat" panose="00000500000000000000"/>
                <a:cs typeface="Montserrat" panose="00000500000000000000"/>
              </a:rPr>
              <a:t> </a:t>
            </a:r>
            <a:br>
              <a:rPr lang="en-US" sz="1200" b="1">
                <a:latin typeface="Montserrat" panose="00000500000000000000"/>
                <a:ea typeface="Montserrat" panose="00000500000000000000"/>
                <a:cs typeface="Montserrat" panose="00000500000000000000"/>
              </a:rPr>
            </a:br>
            <a:r>
              <a:rPr lang="en-US" sz="1200" b="1" err="1">
                <a:solidFill>
                  <a:srgbClr val="434343"/>
                </a:solidFill>
                <a:latin typeface="Montserrat" panose="00000500000000000000"/>
                <a:ea typeface="Montserrat" panose="00000500000000000000"/>
                <a:cs typeface="Montserrat" panose="00000500000000000000"/>
              </a:rPr>
              <a:t>bucales</a:t>
            </a:r>
            <a:endParaRPr lang="en-US" sz="1200" b="1" i="0" u="none" strike="noStrike">
              <a:solidFill>
                <a:srgbClr val="434343"/>
              </a:solidFill>
              <a:latin typeface="Montserrat" panose="00000500000000000000"/>
              <a:ea typeface="Montserrat" panose="00000500000000000000"/>
              <a:cs typeface="Montserrat" panose="00000500000000000000"/>
            </a:endParaRPr>
          </a:p>
        </p:txBody>
      </p:sp>
      <p:sp>
        <p:nvSpPr>
          <p:cNvPr id="14" name="CuadroTexto 13">
            <a:extLst>
              <a:ext uri="{FF2B5EF4-FFF2-40B4-BE49-F238E27FC236}">
                <a16:creationId xmlns:a16="http://schemas.microsoft.com/office/drawing/2014/main" id="{58EB6069-C851-BAD0-6477-F97AC77E987C}"/>
              </a:ext>
            </a:extLst>
          </p:cNvPr>
          <p:cNvSpPr txBox="1"/>
          <p:nvPr/>
        </p:nvSpPr>
        <p:spPr>
          <a:xfrm>
            <a:off x="5218315" y="8487584"/>
            <a:ext cx="184126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2800" b="1">
                <a:solidFill>
                  <a:srgbClr val="006556"/>
                </a:solidFill>
                <a:latin typeface="Montserrat" panose="00000500000000000000"/>
                <a:ea typeface="Montserrat" panose="00000500000000000000"/>
                <a:cs typeface="Montserrat" panose="00000500000000000000"/>
              </a:rPr>
              <a:t>3,746</a:t>
            </a:r>
            <a:endParaRPr lang="en-US" sz="2800" b="1" i="0" u="none" strike="noStrike">
              <a:solidFill>
                <a:srgbClr val="006556"/>
              </a:solidFill>
              <a:latin typeface="Montserrat" panose="00000500000000000000"/>
              <a:ea typeface="Montserrat" panose="00000500000000000000"/>
              <a:cs typeface="Montserrat" panose="00000500000000000000"/>
            </a:endParaRPr>
          </a:p>
          <a:p>
            <a:pPr algn="ctr"/>
            <a:r>
              <a:rPr lang="en-US" sz="1200" b="1">
                <a:solidFill>
                  <a:srgbClr val="434343"/>
                </a:solidFill>
                <a:latin typeface="Montserrat" panose="00000500000000000000"/>
                <a:ea typeface="Montserrat" panose="00000500000000000000"/>
                <a:cs typeface="Montserrat" panose="00000500000000000000"/>
              </a:rPr>
              <a:t>Salud visual</a:t>
            </a:r>
            <a:endParaRPr lang="en-US" sz="1200" b="1" i="0" u="none" strike="noStrike">
              <a:solidFill>
                <a:srgbClr val="434343"/>
              </a:solidFill>
              <a:latin typeface="Montserrat" panose="00000500000000000000"/>
              <a:ea typeface="Montserrat" panose="00000500000000000000"/>
              <a:cs typeface="Montserrat" panose="00000500000000000000"/>
            </a:endParaRPr>
          </a:p>
        </p:txBody>
      </p:sp>
      <p:pic>
        <p:nvPicPr>
          <p:cNvPr id="15" name="Imagen 14" descr="Icono&#10;&#10;El contenido generado por IA puede ser incorrecto.">
            <a:extLst>
              <a:ext uri="{FF2B5EF4-FFF2-40B4-BE49-F238E27FC236}">
                <a16:creationId xmlns:a16="http://schemas.microsoft.com/office/drawing/2014/main" id="{06EA5D30-E612-BD6F-F62C-78213BBD3292}"/>
              </a:ext>
            </a:extLst>
          </p:cNvPr>
          <p:cNvPicPr>
            <a:picLocks noChangeAspect="1"/>
          </p:cNvPicPr>
          <p:nvPr/>
        </p:nvPicPr>
        <p:blipFill>
          <a:blip r:embed="rId4"/>
          <a:stretch>
            <a:fillRect/>
          </a:stretch>
        </p:blipFill>
        <p:spPr>
          <a:xfrm>
            <a:off x="3462944" y="7874521"/>
            <a:ext cx="730135" cy="669175"/>
          </a:xfrm>
          <a:prstGeom prst="rect">
            <a:avLst/>
          </a:prstGeom>
        </p:spPr>
      </p:pic>
      <p:pic>
        <p:nvPicPr>
          <p:cNvPr id="16" name="Imagen 15" descr="Icono&#10;&#10;El contenido generado por IA puede ser incorrecto.">
            <a:extLst>
              <a:ext uri="{FF2B5EF4-FFF2-40B4-BE49-F238E27FC236}">
                <a16:creationId xmlns:a16="http://schemas.microsoft.com/office/drawing/2014/main" id="{DAA06BEA-72F7-F6D1-1744-36D81CD8CB68}"/>
              </a:ext>
            </a:extLst>
          </p:cNvPr>
          <p:cNvPicPr>
            <a:picLocks noChangeAspect="1"/>
          </p:cNvPicPr>
          <p:nvPr/>
        </p:nvPicPr>
        <p:blipFill>
          <a:blip r:embed="rId5"/>
          <a:stretch>
            <a:fillRect/>
          </a:stretch>
        </p:blipFill>
        <p:spPr>
          <a:xfrm>
            <a:off x="5655945" y="8021552"/>
            <a:ext cx="924445" cy="491944"/>
          </a:xfrm>
          <a:prstGeom prst="rect">
            <a:avLst/>
          </a:prstGeom>
        </p:spPr>
      </p:pic>
      <p:pic>
        <p:nvPicPr>
          <p:cNvPr id="17" name="Imagen 16" descr="Icono&#10;&#10;El contenido generado por IA puede ser incorrecto.">
            <a:extLst>
              <a:ext uri="{FF2B5EF4-FFF2-40B4-BE49-F238E27FC236}">
                <a16:creationId xmlns:a16="http://schemas.microsoft.com/office/drawing/2014/main" id="{3CAF46C9-D603-A9F1-DFB4-EAE7A130B183}"/>
              </a:ext>
            </a:extLst>
          </p:cNvPr>
          <p:cNvPicPr>
            <a:picLocks noChangeAspect="1"/>
          </p:cNvPicPr>
          <p:nvPr/>
        </p:nvPicPr>
        <p:blipFill>
          <a:blip r:embed="rId6"/>
          <a:stretch>
            <a:fillRect/>
          </a:stretch>
        </p:blipFill>
        <p:spPr>
          <a:xfrm>
            <a:off x="816379" y="7856510"/>
            <a:ext cx="603366" cy="713510"/>
          </a:xfrm>
          <a:prstGeom prst="rect">
            <a:avLst/>
          </a:prstGeom>
        </p:spPr>
      </p:pic>
    </p:spTree>
    <p:extLst>
      <p:ext uri="{BB962C8B-B14F-4D97-AF65-F5344CB8AC3E}">
        <p14:creationId xmlns:p14="http://schemas.microsoft.com/office/powerpoint/2010/main" val="3805655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97" name="TextBox 296"/>
          <p:cNvSpPr txBox="1"/>
          <p:nvPr/>
        </p:nvSpPr>
        <p:spPr>
          <a:xfrm>
            <a:off x="137160" y="722376"/>
            <a:ext cx="7382149" cy="415498"/>
          </a:xfrm>
          <a:prstGeom prst="rect">
            <a:avLst/>
          </a:prstGeom>
          <a:noFill/>
        </p:spPr>
        <p:txBody>
          <a:bodyPr wrap="none">
            <a:spAutoFit/>
          </a:bodyPr>
          <a:lstStyle/>
          <a:p>
            <a:pPr algn="l">
              <a:defRPr sz="2100" b="1">
                <a:solidFill>
                  <a:srgbClr val="B4975A"/>
                </a:solidFill>
                <a:latin typeface="Montserrat"/>
              </a:defRPr>
            </a:pPr>
            <a:r>
              <a:rPr dirty="0"/>
              <a:t>Personal Total: </a:t>
            </a:r>
            <a:r>
              <a:rPr lang="es-MX" dirty="0"/>
              <a:t>9,99</a:t>
            </a:r>
            <a:r>
              <a:rPr dirty="0"/>
              <a:t>7	 Personal de Salud: 6,</a:t>
            </a:r>
            <a:r>
              <a:rPr lang="es-MX" dirty="0"/>
              <a:t>926</a:t>
            </a:r>
            <a:endParaRPr dirty="0"/>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+257.9%</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19</a:t>
                      </a:r>
                    </a:p>
                  </a:txBody>
                  <a:tcPr marL="0" marR="0" marT="0" marB="0">
                    <a:noFill/>
                  </a:tcPr>
                </a:tc>
                <a:tc>
                  <a:txBody>
                    <a:bodyPr/>
                    <a:lstStyle/>
                    <a:p>
                      <a:pPr algn="ctr">
                        <a:defRPr sz="1500" b="1">
                          <a:solidFill>
                            <a:srgbClr val="B4975A"/>
                          </a:solidFill>
                          <a:latin typeface="Montserrat"/>
                        </a:defRPr>
                      </a:pPr>
                      <a:r>
                        <a:t>68</a:t>
                      </a:r>
                    </a:p>
                  </a:txBody>
                  <a:tcPr marL="0" marR="0" marT="0" marB="0">
                    <a:noFill/>
                  </a:tcPr>
                </a:tc>
                <a:extLst>
                  <a:ext uri="{0D108BD9-81ED-4DB2-BD59-A6C34878D82A}">
                    <a16:rowId xmlns:a16="http://schemas.microsoft.com/office/drawing/2014/main" val="10001"/>
                  </a:ext>
                </a:extLst>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rPr dirty="0" err="1"/>
              <a:t>Médicos</a:t>
            </a:r>
            <a:r>
              <a:rPr dirty="0"/>
              <a:t> Especialistas</a:t>
            </a:r>
          </a:p>
          <a:p>
            <a:pPr algn="ctr">
              <a:defRPr sz="1600" b="1">
                <a:solidFill>
                  <a:srgbClr val="FFFFFF"/>
                </a:solidFill>
                <a:latin typeface="Montserrat"/>
              </a:defRPr>
            </a:pPr>
            <a:r>
              <a:rPr dirty="0"/>
              <a:t>+4</a:t>
            </a:r>
            <a:r>
              <a:rPr lang="es-MX" dirty="0"/>
              <a:t>9</a:t>
            </a:r>
            <a:r>
              <a:rPr dirty="0"/>
              <a:t>.</a:t>
            </a:r>
            <a:r>
              <a:rPr lang="es-MX" dirty="0"/>
              <a:t>1</a:t>
            </a:r>
            <a:r>
              <a:rPr dirty="0"/>
              <a:t>%</a:t>
            </a:r>
          </a:p>
        </p:txBody>
      </p:sp>
      <p:graphicFrame>
        <p:nvGraphicFramePr>
          <p:cNvPr id="304" name="Table 303"/>
          <p:cNvGraphicFramePr>
            <a:graphicFrameLocks noGrp="1"/>
          </p:cNvGraphicFramePr>
          <p:nvPr>
            <p:extLst>
              <p:ext uri="{D42A27DB-BD31-4B8C-83A1-F6EECF244321}">
                <p14:modId xmlns:p14="http://schemas.microsoft.com/office/powerpoint/2010/main" val="2604211100"/>
              </p:ext>
            </p:extLst>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8317">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8318">
                <a:tc>
                  <a:txBody>
                    <a:bodyPr/>
                    <a:lstStyle/>
                    <a:p>
                      <a:pPr algn="ctr">
                        <a:defRPr sz="1500" b="1">
                          <a:solidFill>
                            <a:srgbClr val="004B41"/>
                          </a:solidFill>
                          <a:latin typeface="Montserrat"/>
                        </a:defRPr>
                      </a:pPr>
                      <a:r>
                        <a:t>1,058</a:t>
                      </a:r>
                    </a:p>
                  </a:txBody>
                  <a:tcPr marL="0" marR="0" marT="0" marB="0">
                    <a:noFill/>
                  </a:tcPr>
                </a:tc>
                <a:tc>
                  <a:txBody>
                    <a:bodyPr/>
                    <a:lstStyle/>
                    <a:p>
                      <a:pPr algn="ctr">
                        <a:defRPr sz="1500" b="1">
                          <a:solidFill>
                            <a:srgbClr val="B4975A"/>
                          </a:solidFill>
                          <a:latin typeface="Montserrat"/>
                        </a:defRPr>
                      </a:pPr>
                      <a:r>
                        <a:rPr dirty="0"/>
                        <a:t>1,57</a:t>
                      </a:r>
                      <a:r>
                        <a:rPr lang="es-MX" dirty="0"/>
                        <a:t>7</a:t>
                      </a:r>
                      <a:endParaRPr dirty="0"/>
                    </a:p>
                  </a:txBody>
                  <a:tcPr marL="0" marR="0" marT="0" marB="0">
                    <a:noFill/>
                  </a:tcPr>
                </a:tc>
                <a:extLst>
                  <a:ext uri="{0D108BD9-81ED-4DB2-BD59-A6C34878D82A}">
                    <a16:rowId xmlns:a16="http://schemas.microsoft.com/office/drawing/2014/main" val="10001"/>
                  </a:ext>
                </a:extLst>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rPr dirty="0" err="1"/>
              <a:t>Enfermeras</a:t>
            </a:r>
            <a:endParaRPr dirty="0"/>
          </a:p>
          <a:p>
            <a:pPr algn="ctr">
              <a:defRPr sz="1600" b="1">
                <a:solidFill>
                  <a:srgbClr val="FFFFFF"/>
                </a:solidFill>
                <a:latin typeface="Montserrat"/>
              </a:defRPr>
            </a:pPr>
            <a:r>
              <a:rPr dirty="0"/>
              <a:t>+</a:t>
            </a:r>
            <a:r>
              <a:rPr lang="es-MX" dirty="0"/>
              <a:t>56</a:t>
            </a:r>
            <a:r>
              <a:rPr dirty="0"/>
              <a:t>.6%</a:t>
            </a:r>
          </a:p>
        </p:txBody>
      </p:sp>
      <p:graphicFrame>
        <p:nvGraphicFramePr>
          <p:cNvPr id="307" name="Table 306"/>
          <p:cNvGraphicFramePr>
            <a:graphicFrameLocks noGrp="1"/>
          </p:cNvGraphicFramePr>
          <p:nvPr>
            <p:extLst>
              <p:ext uri="{D42A27DB-BD31-4B8C-83A1-F6EECF244321}">
                <p14:modId xmlns:p14="http://schemas.microsoft.com/office/powerpoint/2010/main" val="1464235776"/>
              </p:ext>
            </p:extLst>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1,665</a:t>
                      </a:r>
                    </a:p>
                  </a:txBody>
                  <a:tcPr marL="0" marR="0" marT="0" marB="0">
                    <a:noFill/>
                  </a:tcPr>
                </a:tc>
                <a:tc>
                  <a:txBody>
                    <a:bodyPr/>
                    <a:lstStyle/>
                    <a:p>
                      <a:pPr algn="ctr">
                        <a:defRPr sz="1500" b="1">
                          <a:solidFill>
                            <a:srgbClr val="B4975A"/>
                          </a:solidFill>
                          <a:latin typeface="Montserrat"/>
                        </a:defRPr>
                      </a:pPr>
                      <a:r>
                        <a:rPr dirty="0"/>
                        <a:t>2,</a:t>
                      </a:r>
                      <a:r>
                        <a:rPr lang="es-MX" dirty="0"/>
                        <a:t>60</a:t>
                      </a:r>
                      <a:r>
                        <a:rPr dirty="0"/>
                        <a:t>7</a:t>
                      </a:r>
                    </a:p>
                  </a:txBody>
                  <a:tcPr marL="0" marR="0" marT="0" marB="0">
                    <a:noFill/>
                  </a:tcPr>
                </a:tc>
                <a:extLst>
                  <a:ext uri="{0D108BD9-81ED-4DB2-BD59-A6C34878D82A}">
                    <a16:rowId xmlns:a16="http://schemas.microsoft.com/office/drawing/2014/main" val="10001"/>
                  </a:ext>
                </a:extLst>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+46.8%</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1,151</a:t>
                      </a:r>
                    </a:p>
                  </a:txBody>
                  <a:tcPr marL="0" marR="0" marT="0" marB="0">
                    <a:noFill/>
                  </a:tcPr>
                </a:tc>
                <a:tc>
                  <a:txBody>
                    <a:bodyPr/>
                    <a:lstStyle/>
                    <a:p>
                      <a:pPr algn="ctr">
                        <a:defRPr sz="1500" b="1">
                          <a:solidFill>
                            <a:srgbClr val="B4975A"/>
                          </a:solidFill>
                          <a:latin typeface="Montserrat"/>
                        </a:defRPr>
                      </a:pPr>
                      <a:r>
                        <a:t>1,690</a:t>
                      </a:r>
                    </a:p>
                  </a:txBody>
                  <a:tcPr marL="0" marR="0" marT="0" marB="0">
                    <a:noFill/>
                  </a:tcPr>
                </a:tc>
                <a:extLst>
                  <a:ext uri="{0D108BD9-81ED-4DB2-BD59-A6C34878D82A}">
                    <a16:rowId xmlns:a16="http://schemas.microsoft.com/office/drawing/2014/main" val="10001"/>
                  </a:ext>
                </a:extLst>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rPr dirty="0" err="1"/>
              <a:t>Residentes</a:t>
            </a:r>
            <a:endParaRPr dirty="0"/>
          </a:p>
          <a:p>
            <a:pPr algn="ctr">
              <a:defRPr sz="1600" b="1">
                <a:solidFill>
                  <a:srgbClr val="FFFFFF"/>
                </a:solidFill>
                <a:latin typeface="Montserrat"/>
              </a:defRPr>
            </a:pPr>
            <a:r>
              <a:rPr dirty="0"/>
              <a:t>+20</a:t>
            </a:r>
            <a:r>
              <a:rPr lang="es-MX" dirty="0"/>
              <a:t>7</a:t>
            </a:r>
            <a:r>
              <a:rPr dirty="0"/>
              <a:t>.</a:t>
            </a:r>
            <a:r>
              <a:rPr lang="es-MX" dirty="0"/>
              <a:t>7</a:t>
            </a:r>
            <a:r>
              <a:rPr dirty="0"/>
              <a:t>%</a:t>
            </a:r>
          </a:p>
        </p:txBody>
      </p:sp>
      <p:graphicFrame>
        <p:nvGraphicFramePr>
          <p:cNvPr id="313" name="Table 312"/>
          <p:cNvGraphicFramePr>
            <a:graphicFrameLocks noGrp="1"/>
          </p:cNvGraphicFramePr>
          <p:nvPr>
            <p:extLst>
              <p:ext uri="{D42A27DB-BD31-4B8C-83A1-F6EECF244321}">
                <p14:modId xmlns:p14="http://schemas.microsoft.com/office/powerpoint/2010/main" val="4023044453"/>
              </p:ext>
            </p:extLst>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207</a:t>
                      </a:r>
                    </a:p>
                  </a:txBody>
                  <a:tcPr marL="0" marR="0" marT="0" marB="0">
                    <a:noFill/>
                  </a:tcPr>
                </a:tc>
                <a:tc>
                  <a:txBody>
                    <a:bodyPr/>
                    <a:lstStyle/>
                    <a:p>
                      <a:pPr algn="ctr">
                        <a:defRPr sz="1500" b="1">
                          <a:solidFill>
                            <a:srgbClr val="B4975A"/>
                          </a:solidFill>
                          <a:latin typeface="Montserrat"/>
                        </a:defRPr>
                      </a:pPr>
                      <a:r>
                        <a:rPr dirty="0"/>
                        <a:t>6</a:t>
                      </a:r>
                      <a:r>
                        <a:rPr lang="es-MX" dirty="0"/>
                        <a:t>37</a:t>
                      </a:r>
                      <a:endParaRPr dirty="0"/>
                    </a:p>
                  </a:txBody>
                  <a:tcPr marL="0" marR="0" marT="0" marB="0">
                    <a:noFill/>
                  </a:tcPr>
                </a:tc>
                <a:extLst>
                  <a:ext uri="{0D108BD9-81ED-4DB2-BD59-A6C34878D82A}">
                    <a16:rowId xmlns:a16="http://schemas.microsoft.com/office/drawing/2014/main" val="10001"/>
                  </a:ext>
                </a:extLst>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rPr dirty="0" err="1"/>
              <a:t>Técnicos</a:t>
            </a:r>
            <a:endParaRPr dirty="0"/>
          </a:p>
          <a:p>
            <a:pPr algn="ctr">
              <a:defRPr sz="1600" b="1">
                <a:solidFill>
                  <a:srgbClr val="FFFFFF"/>
                </a:solidFill>
                <a:latin typeface="Montserrat"/>
              </a:defRPr>
            </a:pPr>
            <a:r>
              <a:rPr dirty="0"/>
              <a:t>+</a:t>
            </a:r>
            <a:r>
              <a:rPr lang="es-MX" dirty="0"/>
              <a:t>28</a:t>
            </a:r>
            <a:r>
              <a:rPr dirty="0"/>
              <a:t>.</a:t>
            </a:r>
            <a:r>
              <a:rPr lang="es-MX" dirty="0"/>
              <a:t>5</a:t>
            </a:r>
            <a:r>
              <a:rPr dirty="0"/>
              <a:t>%</a:t>
            </a:r>
          </a:p>
        </p:txBody>
      </p:sp>
      <p:graphicFrame>
        <p:nvGraphicFramePr>
          <p:cNvPr id="316" name="Table 315"/>
          <p:cNvGraphicFramePr>
            <a:graphicFrameLocks noGrp="1"/>
          </p:cNvGraphicFramePr>
          <p:nvPr>
            <p:extLst>
              <p:ext uri="{D42A27DB-BD31-4B8C-83A1-F6EECF244321}">
                <p14:modId xmlns:p14="http://schemas.microsoft.com/office/powerpoint/2010/main" val="892641737"/>
              </p:ext>
            </p:extLst>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oFill/>
                  </a:tcPr>
                </a:tc>
                <a:tc>
                  <a:txBody>
                    <a:bodyPr/>
                    <a:lstStyle/>
                    <a:p>
                      <a:pPr algn="ctr">
                        <a:defRPr sz="1300" b="1">
                          <a:solidFill>
                            <a:srgbClr val="A51E37"/>
                          </a:solidFill>
                          <a:latin typeface="Montserrat"/>
                        </a:defRPr>
                      </a:pPr>
                      <a:r>
                        <a:t>2026</a:t>
                      </a:r>
                    </a:p>
                  </a:txBody>
                  <a:tcPr marL="0" marR="0" marT="0" marB="0">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270</a:t>
                      </a:r>
                    </a:p>
                  </a:txBody>
                  <a:tcPr marL="0" marR="0" marT="0" marB="0">
                    <a:noFill/>
                  </a:tcPr>
                </a:tc>
                <a:tc>
                  <a:txBody>
                    <a:bodyPr/>
                    <a:lstStyle/>
                    <a:p>
                      <a:pPr algn="ctr">
                        <a:defRPr sz="1500" b="1">
                          <a:solidFill>
                            <a:srgbClr val="B4975A"/>
                          </a:solidFill>
                          <a:latin typeface="Montserrat"/>
                        </a:defRPr>
                      </a:pPr>
                      <a:r>
                        <a:rPr lang="es-MX" dirty="0"/>
                        <a:t>347</a:t>
                      </a:r>
                      <a:endParaRPr dirty="0"/>
                    </a:p>
                  </a:txBody>
                  <a:tcPr marL="0" marR="0" marT="0" marB="0">
                    <a:noFill/>
                  </a:tcPr>
                </a:tc>
                <a:extLst>
                  <a:ext uri="{0D108BD9-81ED-4DB2-BD59-A6C34878D82A}">
                    <a16:rowId xmlns:a16="http://schemas.microsoft.com/office/drawing/2014/main" val="10001"/>
                  </a:ext>
                </a:extLst>
              </a:tr>
            </a:tbl>
          </a:graphicData>
        </a:graphic>
      </p:graphicFrame>
      <p:graphicFrame>
        <p:nvGraphicFramePr>
          <p:cNvPr id="317" name="Table 316"/>
          <p:cNvGraphicFramePr>
            <a:graphicFrameLocks noGrp="1"/>
          </p:cNvGraphicFramePr>
          <p:nvPr/>
        </p:nvGraphicFramePr>
        <p:xfrm>
          <a:off x="4507200" y="5515200"/>
          <a:ext cx="2843784" cy="1277112"/>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t>Top 5 Egresos 2025</a:t>
                      </a:r>
                    </a:p>
                  </a:txBody>
                  <a:tcPr marL="36576" marR="36576" marT="36576" marB="36576">
                    <a:solidFill>
                      <a:srgbClr val="006455"/>
                    </a:solidFill>
                  </a:tcPr>
                </a:tc>
                <a:tc>
                  <a:txBody>
                    <a:bodyPr/>
                    <a:lstStyle/>
                    <a:p>
                      <a:pPr algn="ctr">
                        <a:defRPr sz="900" b="1">
                          <a:solidFill>
                            <a:srgbClr val="FFFFFF"/>
                          </a:solidFill>
                          <a:latin typeface="Montserrat"/>
                        </a:defRPr>
                      </a:pPr>
                      <a:r>
                        <a:t>Cantidad</a:t>
                      </a:r>
                    </a:p>
                  </a:txBody>
                  <a:tcPr marL="36576" marR="36576" marT="36576" marB="36576">
                    <a:solidFill>
                      <a:srgbClr val="006455"/>
                    </a:solidFill>
                  </a:tcPr>
                </a:tc>
                <a:extLst>
                  <a:ext uri="{0D108BD9-81ED-4DB2-BD59-A6C34878D82A}">
                    <a16:rowId xmlns:a16="http://schemas.microsoft.com/office/drawing/2014/main" val="10000"/>
                  </a:ext>
                </a:extLst>
              </a:tr>
              <a:tr h="0">
                <a:tc>
                  <a:txBody>
                    <a:bodyPr/>
                    <a:lstStyle/>
                    <a:p>
                      <a:pPr algn="l">
                        <a:defRPr sz="800">
                          <a:latin typeface="Montserrat"/>
                        </a:defRPr>
                      </a:pPr>
                      <a:r>
                        <a:t>Medicina Familiar</a:t>
                      </a:r>
                    </a:p>
                  </a:txBody>
                  <a:tcPr marL="45720" marR="45720">
                    <a:solidFill>
                      <a:srgbClr val="FFFFFF"/>
                    </a:solidFill>
                  </a:tcPr>
                </a:tc>
                <a:tc>
                  <a:txBody>
                    <a:bodyPr/>
                    <a:lstStyle/>
                    <a:p>
                      <a:pPr algn="ctr">
                        <a:defRPr sz="800">
                          <a:latin typeface="Montserrat"/>
                        </a:defRPr>
                      </a:pPr>
                      <a:r>
                        <a:t>53</a:t>
                      </a:r>
                    </a:p>
                  </a:txBody>
                  <a:tcPr marL="45720" marR="45720">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t>Medicina de Urgencias</a:t>
                      </a:r>
                    </a:p>
                  </a:txBody>
                  <a:tcPr marL="45720" marR="45720">
                    <a:solidFill>
                      <a:srgbClr val="EFEFEF"/>
                    </a:solidFill>
                  </a:tcPr>
                </a:tc>
                <a:tc>
                  <a:txBody>
                    <a:bodyPr/>
                    <a:lstStyle/>
                    <a:p>
                      <a:pPr algn="ctr">
                        <a:defRPr sz="800">
                          <a:latin typeface="Montserrat"/>
                        </a:defRPr>
                      </a:pPr>
                      <a:r>
                        <a:t>30</a:t>
                      </a:r>
                    </a:p>
                  </a:txBody>
                  <a:tcPr marL="45720" marR="45720">
                    <a:solidFill>
                      <a:srgbClr val="EFEFEF"/>
                    </a:solidFill>
                  </a:tcPr>
                </a:tc>
                <a:extLst>
                  <a:ext uri="{0D108BD9-81ED-4DB2-BD59-A6C34878D82A}">
                    <a16:rowId xmlns:a16="http://schemas.microsoft.com/office/drawing/2014/main" val="10002"/>
                  </a:ext>
                </a:extLst>
              </a:tr>
              <a:tr h="0">
                <a:tc>
                  <a:txBody>
                    <a:bodyPr/>
                    <a:lstStyle/>
                    <a:p>
                      <a:pPr algn="l">
                        <a:defRPr sz="800">
                          <a:latin typeface="Montserrat"/>
                        </a:defRPr>
                      </a:pPr>
                      <a:r>
                        <a:t>Anestesiología</a:t>
                      </a:r>
                    </a:p>
                  </a:txBody>
                  <a:tcPr marL="45720" marR="45720">
                    <a:solidFill>
                      <a:srgbClr val="FFFFFF"/>
                    </a:solidFill>
                  </a:tcPr>
                </a:tc>
                <a:tc>
                  <a:txBody>
                    <a:bodyPr/>
                    <a:lstStyle/>
                    <a:p>
                      <a:pPr algn="ctr">
                        <a:defRPr sz="800">
                          <a:latin typeface="Montserrat"/>
                        </a:defRPr>
                      </a:pPr>
                      <a:r>
                        <a:t>26</a:t>
                      </a:r>
                    </a:p>
                  </a:txBody>
                  <a:tcPr marL="45720" marR="45720">
                    <a:solidFill>
                      <a:srgbClr val="FFFFFF"/>
                    </a:solidFill>
                  </a:tcPr>
                </a:tc>
                <a:extLst>
                  <a:ext uri="{0D108BD9-81ED-4DB2-BD59-A6C34878D82A}">
                    <a16:rowId xmlns:a16="http://schemas.microsoft.com/office/drawing/2014/main" val="10003"/>
                  </a:ext>
                </a:extLst>
              </a:tr>
              <a:tr h="0">
                <a:tc>
                  <a:txBody>
                    <a:bodyPr/>
                    <a:lstStyle/>
                    <a:p>
                      <a:pPr algn="l">
                        <a:defRPr sz="800">
                          <a:latin typeface="Montserrat"/>
                        </a:defRPr>
                      </a:pPr>
                      <a:r>
                        <a:t>Cirugía General</a:t>
                      </a:r>
                    </a:p>
                  </a:txBody>
                  <a:tcPr marL="45720" marR="45720">
                    <a:solidFill>
                      <a:srgbClr val="EFEFEF"/>
                    </a:solidFill>
                  </a:tcPr>
                </a:tc>
                <a:tc>
                  <a:txBody>
                    <a:bodyPr/>
                    <a:lstStyle/>
                    <a:p>
                      <a:pPr algn="ctr">
                        <a:defRPr sz="800">
                          <a:latin typeface="Montserrat"/>
                        </a:defRPr>
                      </a:pPr>
                      <a:r>
                        <a:t>24</a:t>
                      </a:r>
                    </a:p>
                  </a:txBody>
                  <a:tcPr marL="45720" marR="45720">
                    <a:solidFill>
                      <a:srgbClr val="EFEFEF"/>
                    </a:solidFill>
                  </a:tcPr>
                </a:tc>
                <a:extLst>
                  <a:ext uri="{0D108BD9-81ED-4DB2-BD59-A6C34878D82A}">
                    <a16:rowId xmlns:a16="http://schemas.microsoft.com/office/drawing/2014/main" val="10004"/>
                  </a:ext>
                </a:extLst>
              </a:tr>
              <a:tr h="0">
                <a:tc>
                  <a:txBody>
                    <a:bodyPr/>
                    <a:lstStyle/>
                    <a:p>
                      <a:pPr algn="l">
                        <a:defRPr sz="800">
                          <a:latin typeface="Montserrat"/>
                        </a:defRPr>
                      </a:pPr>
                      <a:r>
                        <a:t>Traumatología y Ortopedia</a:t>
                      </a:r>
                    </a:p>
                  </a:txBody>
                  <a:tcPr marL="45720" marR="45720">
                    <a:solidFill>
                      <a:srgbClr val="FFFFFF"/>
                    </a:solidFill>
                  </a:tcPr>
                </a:tc>
                <a:tc>
                  <a:txBody>
                    <a:bodyPr/>
                    <a:lstStyle/>
                    <a:p>
                      <a:pPr algn="ctr">
                        <a:defRPr sz="800">
                          <a:latin typeface="Montserrat"/>
                        </a:defRPr>
                      </a:pPr>
                      <a:r>
                        <a:t>14</a:t>
                      </a:r>
                    </a:p>
                  </a:txBody>
                  <a:tcPr marL="45720" marR="45720">
                    <a:solidFill>
                      <a:srgbClr val="FFFFFF"/>
                    </a:solidFill>
                  </a:tcPr>
                </a:tc>
                <a:extLst>
                  <a:ext uri="{0D108BD9-81ED-4DB2-BD59-A6C34878D82A}">
                    <a16:rowId xmlns:a16="http://schemas.microsoft.com/office/drawing/2014/main" val="10005"/>
                  </a:ext>
                </a:extLst>
              </a:tr>
            </a:tbl>
          </a:graphicData>
        </a:graphic>
      </p:graphicFrame>
      <p:graphicFrame>
        <p:nvGraphicFramePr>
          <p:cNvPr id="318" name="Table 317"/>
          <p:cNvGraphicFramePr>
            <a:graphicFrameLocks noGrp="1"/>
          </p:cNvGraphicFramePr>
          <p:nvPr/>
        </p:nvGraphicFramePr>
        <p:xfrm>
          <a:off x="4507200" y="6850800"/>
          <a:ext cx="2843784" cy="1277112"/>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t>Top 5 Egresos 2026</a:t>
                      </a:r>
                    </a:p>
                  </a:txBody>
                  <a:tcPr marL="36576" marR="36576" marT="36576" marB="36576">
                    <a:solidFill>
                      <a:srgbClr val="691C32"/>
                    </a:solidFill>
                  </a:tcPr>
                </a:tc>
                <a:tc>
                  <a:txBody>
                    <a:bodyPr/>
                    <a:lstStyle/>
                    <a:p>
                      <a:pPr algn="ctr">
                        <a:defRPr sz="900" b="1">
                          <a:solidFill>
                            <a:srgbClr val="FFFFFF"/>
                          </a:solidFill>
                          <a:latin typeface="Montserrat"/>
                        </a:defRPr>
                      </a:pPr>
                      <a:r>
                        <a:t>Cantidad</a:t>
                      </a:r>
                    </a:p>
                  </a:txBody>
                  <a:tcPr marL="36576" marR="36576" marT="36576" marB="36576">
                    <a:solidFill>
                      <a:srgbClr val="691C32"/>
                    </a:solidFill>
                  </a:tcPr>
                </a:tc>
                <a:extLst>
                  <a:ext uri="{0D108BD9-81ED-4DB2-BD59-A6C34878D82A}">
                    <a16:rowId xmlns:a16="http://schemas.microsoft.com/office/drawing/2014/main" val="10000"/>
                  </a:ext>
                </a:extLst>
              </a:tr>
              <a:tr h="0">
                <a:tc>
                  <a:txBody>
                    <a:bodyPr/>
                    <a:lstStyle/>
                    <a:p>
                      <a:pPr algn="l">
                        <a:defRPr sz="800">
                          <a:latin typeface="Montserrat"/>
                        </a:defRPr>
                      </a:pPr>
                      <a:r>
                        <a:t>Medicina Familiar</a:t>
                      </a:r>
                    </a:p>
                  </a:txBody>
                  <a:tcPr marL="45720" marR="45720">
                    <a:solidFill>
                      <a:srgbClr val="FFFFFF"/>
                    </a:solidFill>
                  </a:tcPr>
                </a:tc>
                <a:tc>
                  <a:txBody>
                    <a:bodyPr/>
                    <a:lstStyle/>
                    <a:p>
                      <a:pPr algn="ctr">
                        <a:defRPr sz="800">
                          <a:latin typeface="Montserrat"/>
                        </a:defRPr>
                      </a:pPr>
                      <a:r>
                        <a:t>36</a:t>
                      </a:r>
                    </a:p>
                  </a:txBody>
                  <a:tcPr marL="45720" marR="45720">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t>Cirugía General</a:t>
                      </a:r>
                    </a:p>
                  </a:txBody>
                  <a:tcPr marL="45720" marR="45720">
                    <a:solidFill>
                      <a:srgbClr val="EFEFEF"/>
                    </a:solidFill>
                  </a:tcPr>
                </a:tc>
                <a:tc>
                  <a:txBody>
                    <a:bodyPr/>
                    <a:lstStyle/>
                    <a:p>
                      <a:pPr algn="ctr">
                        <a:defRPr sz="800">
                          <a:latin typeface="Montserrat"/>
                        </a:defRPr>
                      </a:pPr>
                      <a:r>
                        <a:t>29</a:t>
                      </a:r>
                    </a:p>
                  </a:txBody>
                  <a:tcPr marL="45720" marR="45720">
                    <a:solidFill>
                      <a:srgbClr val="EFEFEF"/>
                    </a:solidFill>
                  </a:tcPr>
                </a:tc>
                <a:extLst>
                  <a:ext uri="{0D108BD9-81ED-4DB2-BD59-A6C34878D82A}">
                    <a16:rowId xmlns:a16="http://schemas.microsoft.com/office/drawing/2014/main" val="10002"/>
                  </a:ext>
                </a:extLst>
              </a:tr>
              <a:tr h="0">
                <a:tc>
                  <a:txBody>
                    <a:bodyPr/>
                    <a:lstStyle/>
                    <a:p>
                      <a:pPr algn="l">
                        <a:defRPr sz="800">
                          <a:latin typeface="Montserrat"/>
                        </a:defRPr>
                      </a:pPr>
                      <a:r>
                        <a:t>Anestesiología</a:t>
                      </a:r>
                    </a:p>
                  </a:txBody>
                  <a:tcPr marL="45720" marR="45720">
                    <a:solidFill>
                      <a:srgbClr val="FFFFFF"/>
                    </a:solidFill>
                  </a:tcPr>
                </a:tc>
                <a:tc>
                  <a:txBody>
                    <a:bodyPr/>
                    <a:lstStyle/>
                    <a:p>
                      <a:pPr algn="ctr">
                        <a:defRPr sz="800">
                          <a:latin typeface="Montserrat"/>
                        </a:defRPr>
                      </a:pPr>
                      <a:r>
                        <a:t>29</a:t>
                      </a:r>
                    </a:p>
                  </a:txBody>
                  <a:tcPr marL="45720" marR="45720">
                    <a:solidFill>
                      <a:srgbClr val="FFFFFF"/>
                    </a:solidFill>
                  </a:tcPr>
                </a:tc>
                <a:extLst>
                  <a:ext uri="{0D108BD9-81ED-4DB2-BD59-A6C34878D82A}">
                    <a16:rowId xmlns:a16="http://schemas.microsoft.com/office/drawing/2014/main" val="10003"/>
                  </a:ext>
                </a:extLst>
              </a:tr>
              <a:tr h="0">
                <a:tc>
                  <a:txBody>
                    <a:bodyPr/>
                    <a:lstStyle/>
                    <a:p>
                      <a:pPr algn="l">
                        <a:defRPr sz="800">
                          <a:latin typeface="Montserrat"/>
                        </a:defRPr>
                      </a:pPr>
                      <a:r>
                        <a:t>Medicina Interna</a:t>
                      </a:r>
                    </a:p>
                  </a:txBody>
                  <a:tcPr marL="45720" marR="45720">
                    <a:solidFill>
                      <a:srgbClr val="EFEFEF"/>
                    </a:solidFill>
                  </a:tcPr>
                </a:tc>
                <a:tc>
                  <a:txBody>
                    <a:bodyPr/>
                    <a:lstStyle/>
                    <a:p>
                      <a:pPr algn="ctr">
                        <a:defRPr sz="800">
                          <a:latin typeface="Montserrat"/>
                        </a:defRPr>
                      </a:pPr>
                      <a:r>
                        <a:rPr dirty="0"/>
                        <a:t>18</a:t>
                      </a:r>
                    </a:p>
                  </a:txBody>
                  <a:tcPr marL="45720" marR="45720">
                    <a:solidFill>
                      <a:srgbClr val="EFEFEF"/>
                    </a:solidFill>
                  </a:tcPr>
                </a:tc>
                <a:extLst>
                  <a:ext uri="{0D108BD9-81ED-4DB2-BD59-A6C34878D82A}">
                    <a16:rowId xmlns:a16="http://schemas.microsoft.com/office/drawing/2014/main" val="10004"/>
                  </a:ext>
                </a:extLst>
              </a:tr>
              <a:tr h="0">
                <a:tc>
                  <a:txBody>
                    <a:bodyPr/>
                    <a:lstStyle/>
                    <a:p>
                      <a:pPr algn="l">
                        <a:defRPr sz="800">
                          <a:latin typeface="Montserrat"/>
                        </a:defRPr>
                      </a:pPr>
                      <a:r>
                        <a:t>Medicina de Urgencias</a:t>
                      </a:r>
                    </a:p>
                  </a:txBody>
                  <a:tcPr marL="45720" marR="45720">
                    <a:solidFill>
                      <a:srgbClr val="FFFFFF"/>
                    </a:solidFill>
                  </a:tcPr>
                </a:tc>
                <a:tc>
                  <a:txBody>
                    <a:bodyPr/>
                    <a:lstStyle/>
                    <a:p>
                      <a:pPr algn="ctr">
                        <a:defRPr sz="800">
                          <a:latin typeface="Montserrat"/>
                        </a:defRPr>
                      </a:pPr>
                      <a:r>
                        <a:rPr dirty="0"/>
                        <a:t>16</a:t>
                      </a:r>
                    </a:p>
                  </a:txBody>
                  <a:tcPr marL="45720" marR="45720">
                    <a:solidFill>
                      <a:srgbClr val="FFFFFF"/>
                    </a:solidFill>
                  </a:tcPr>
                </a:tc>
                <a:extLst>
                  <a:ext uri="{0D108BD9-81ED-4DB2-BD59-A6C34878D82A}">
                    <a16:rowId xmlns:a16="http://schemas.microsoft.com/office/drawing/2014/main" val="10005"/>
                  </a:ext>
                </a:extLst>
              </a:tr>
            </a:tbl>
          </a:graphicData>
        </a:graphic>
      </p:graphicFrame>
      <p:graphicFrame>
        <p:nvGraphicFramePr>
          <p:cNvPr id="319" name="Table 318"/>
          <p:cNvGraphicFramePr>
            <a:graphicFrameLocks noGrp="1"/>
          </p:cNvGraphicFramePr>
          <p:nvPr>
            <p:extLst>
              <p:ext uri="{D42A27DB-BD31-4B8C-83A1-F6EECF244321}">
                <p14:modId xmlns:p14="http://schemas.microsoft.com/office/powerpoint/2010/main" val="2222929962"/>
              </p:ext>
            </p:extLst>
          </p:nvPr>
        </p:nvGraphicFramePr>
        <p:xfrm>
          <a:off x="384048" y="8313724"/>
          <a:ext cx="5266944" cy="1127760"/>
        </p:xfrm>
        <a:graphic>
          <a:graphicData uri="http://schemas.openxmlformats.org/drawingml/2006/table">
            <a:tbl>
              <a:tblPr bandRow="1">
                <a:tableStyleId>{5C22544A-7EE6-4342-B048-85BDC9FD1C3A}</a:tableStyleId>
              </a:tblPr>
              <a:tblGrid>
                <a:gridCol w="3218688">
                  <a:extLst>
                    <a:ext uri="{9D8B030D-6E8A-4147-A177-3AD203B41FA5}">
                      <a16:colId xmlns:a16="http://schemas.microsoft.com/office/drawing/2014/main" val="20000"/>
                    </a:ext>
                  </a:extLst>
                </a:gridCol>
                <a:gridCol w="2048256">
                  <a:extLst>
                    <a:ext uri="{9D8B030D-6E8A-4147-A177-3AD203B41FA5}">
                      <a16:colId xmlns:a16="http://schemas.microsoft.com/office/drawing/2014/main" val="20001"/>
                    </a:ext>
                  </a:extLst>
                </a:gridCol>
              </a:tblGrid>
              <a:tr h="0">
                <a:tc>
                  <a:txBody>
                    <a:bodyPr/>
                    <a:lstStyle/>
                    <a:p>
                      <a:pPr algn="l">
                        <a:defRPr sz="1000" b="1">
                          <a:solidFill>
                            <a:srgbClr val="FFFFFF"/>
                          </a:solidFill>
                          <a:latin typeface="Montserrat"/>
                        </a:defRPr>
                      </a:pPr>
                      <a:r>
                        <a:t>Personal médico</a:t>
                      </a:r>
                    </a:p>
                  </a:txBody>
                  <a:tcPr marL="36576" marR="36576" marT="36576" marB="36576" anchor="ctr">
                    <a:solidFill>
                      <a:srgbClr val="006455"/>
                    </a:solidFill>
                  </a:tcPr>
                </a:tc>
                <a:tc>
                  <a:txBody>
                    <a:bodyPr/>
                    <a:lstStyle/>
                    <a:p>
                      <a:pPr algn="ctr">
                        <a:defRPr sz="1000" b="0">
                          <a:solidFill>
                            <a:srgbClr val="000000"/>
                          </a:solidFill>
                          <a:latin typeface="Montserrat"/>
                        </a:defRPr>
                      </a:pPr>
                      <a:r>
                        <a:rPr dirty="0"/>
                        <a:t>1</a:t>
                      </a:r>
                      <a:r>
                        <a:rPr lang="es-MX" dirty="0"/>
                        <a:t>4</a:t>
                      </a:r>
                      <a:endParaRPr dirty="0"/>
                    </a:p>
                  </a:txBody>
                  <a:tcPr marL="36576" marR="36576" marT="36576" marB="36576" anchor="ctr">
                    <a:solidFill>
                      <a:srgbClr val="EFEFEF"/>
                    </a:solidFill>
                  </a:tcPr>
                </a:tc>
                <a:extLst>
                  <a:ext uri="{0D108BD9-81ED-4DB2-BD59-A6C34878D82A}">
                    <a16:rowId xmlns:a16="http://schemas.microsoft.com/office/drawing/2014/main" val="10000"/>
                  </a:ext>
                </a:extLst>
              </a:tr>
              <a:tr h="0">
                <a:tc>
                  <a:txBody>
                    <a:bodyPr/>
                    <a:lstStyle/>
                    <a:p>
                      <a:pPr algn="l">
                        <a:defRPr sz="1000" b="1">
                          <a:solidFill>
                            <a:srgbClr val="FFFFFF"/>
                          </a:solidFill>
                          <a:latin typeface="Montserrat"/>
                        </a:defRPr>
                      </a:pPr>
                      <a:r>
                        <a:t>Personal de Enfermería</a:t>
                      </a:r>
                    </a:p>
                  </a:txBody>
                  <a:tcPr marL="36576" marR="36576" marT="36576" marB="36576" anchor="ctr">
                    <a:solidFill>
                      <a:srgbClr val="006455"/>
                    </a:solidFill>
                  </a:tcPr>
                </a:tc>
                <a:tc>
                  <a:txBody>
                    <a:bodyPr/>
                    <a:lstStyle/>
                    <a:p>
                      <a:pPr algn="ctr">
                        <a:defRPr sz="1000" b="0">
                          <a:solidFill>
                            <a:srgbClr val="000000"/>
                          </a:solidFill>
                          <a:latin typeface="Montserrat"/>
                        </a:defRPr>
                      </a:pPr>
                      <a:r>
                        <a:rPr lang="es-MX" dirty="0"/>
                        <a:t>94</a:t>
                      </a:r>
                      <a:endParaRPr dirty="0"/>
                    </a:p>
                  </a:txBody>
                  <a:tcPr marL="36576" marR="36576" marT="36576" marB="36576" anchor="ctr">
                    <a:solidFill>
                      <a:srgbClr val="FFFFFF"/>
                    </a:solidFill>
                  </a:tcPr>
                </a:tc>
                <a:extLst>
                  <a:ext uri="{0D108BD9-81ED-4DB2-BD59-A6C34878D82A}">
                    <a16:rowId xmlns:a16="http://schemas.microsoft.com/office/drawing/2014/main" val="10001"/>
                  </a:ext>
                </a:extLst>
              </a:tr>
              <a:tr h="0">
                <a:tc>
                  <a:txBody>
                    <a:bodyPr/>
                    <a:lstStyle/>
                    <a:p>
                      <a:pPr algn="l">
                        <a:defRPr sz="1000" b="1">
                          <a:solidFill>
                            <a:srgbClr val="FFFFFF"/>
                          </a:solidFill>
                          <a:latin typeface="Montserrat"/>
                        </a:defRPr>
                      </a:pPr>
                      <a:r>
                        <a:t>Personal administrativos y básico</a:t>
                      </a:r>
                    </a:p>
                  </a:txBody>
                  <a:tcPr marL="36576" marR="36576" marT="36576" marB="36576" anchor="ctr">
                    <a:solidFill>
                      <a:srgbClr val="006455"/>
                    </a:solidFill>
                  </a:tcPr>
                </a:tc>
                <a:tc>
                  <a:txBody>
                    <a:bodyPr/>
                    <a:lstStyle/>
                    <a:p>
                      <a:pPr algn="ctr">
                        <a:defRPr sz="1000" b="0">
                          <a:solidFill>
                            <a:srgbClr val="000000"/>
                          </a:solidFill>
                          <a:latin typeface="Montserrat"/>
                        </a:defRPr>
                      </a:pPr>
                      <a:r>
                        <a:rPr lang="es-MX" dirty="0"/>
                        <a:t>76</a:t>
                      </a:r>
                      <a:endParaRPr dirty="0"/>
                    </a:p>
                  </a:txBody>
                  <a:tcPr marL="36576" marR="36576" marT="36576" marB="36576" anchor="ctr">
                    <a:solidFill>
                      <a:srgbClr val="EFEFEF"/>
                    </a:solidFill>
                  </a:tcPr>
                </a:tc>
                <a:extLst>
                  <a:ext uri="{0D108BD9-81ED-4DB2-BD59-A6C34878D82A}">
                    <a16:rowId xmlns:a16="http://schemas.microsoft.com/office/drawing/2014/main" val="10002"/>
                  </a:ext>
                </a:extLst>
              </a:tr>
              <a:tr h="0">
                <a:tc>
                  <a:txBody>
                    <a:bodyPr/>
                    <a:lstStyle/>
                    <a:p>
                      <a:pPr algn="l">
                        <a:defRPr sz="1000" b="1">
                          <a:solidFill>
                            <a:srgbClr val="FFFFFF"/>
                          </a:solidFill>
                          <a:latin typeface="Montserrat"/>
                        </a:defRPr>
                      </a:pPr>
                      <a:r>
                        <a:t>Personal paramédico y técnico</a:t>
                      </a:r>
                    </a:p>
                  </a:txBody>
                  <a:tcPr marL="36576" marR="36576" marT="36576" marB="36576" anchor="ctr">
                    <a:solidFill>
                      <a:srgbClr val="006455"/>
                    </a:solidFill>
                  </a:tcPr>
                </a:tc>
                <a:tc>
                  <a:txBody>
                    <a:bodyPr/>
                    <a:lstStyle/>
                    <a:p>
                      <a:pPr algn="ctr">
                        <a:defRPr sz="1000" b="0">
                          <a:solidFill>
                            <a:srgbClr val="000000"/>
                          </a:solidFill>
                          <a:latin typeface="Montserrat"/>
                        </a:defRPr>
                      </a:pPr>
                      <a:r>
                        <a:rPr dirty="0"/>
                        <a:t>1</a:t>
                      </a:r>
                      <a:r>
                        <a:rPr lang="es-MX" dirty="0"/>
                        <a:t>2</a:t>
                      </a:r>
                      <a:endParaRPr dirty="0"/>
                    </a:p>
                  </a:txBody>
                  <a:tcPr marL="36576" marR="36576" marT="36576" marB="36576" anchor="ctr">
                    <a:solidFill>
                      <a:srgbClr val="FFFFFF"/>
                    </a:solidFill>
                  </a:tcPr>
                </a:tc>
                <a:extLst>
                  <a:ext uri="{0D108BD9-81ED-4DB2-BD59-A6C34878D82A}">
                    <a16:rowId xmlns:a16="http://schemas.microsoft.com/office/drawing/2014/main" val="10003"/>
                  </a:ext>
                </a:extLst>
              </a:tr>
              <a:tr h="0">
                <a:tc>
                  <a:txBody>
                    <a:bodyPr/>
                    <a:lstStyle/>
                    <a:p>
                      <a:pPr algn="l">
                        <a:defRPr sz="1000" b="1">
                          <a:solidFill>
                            <a:srgbClr val="00515E"/>
                          </a:solidFill>
                          <a:latin typeface="Montserrat"/>
                        </a:defRPr>
                      </a:pPr>
                      <a:r>
                        <a:t>Total</a:t>
                      </a:r>
                    </a:p>
                  </a:txBody>
                  <a:tcPr marL="36576" marR="36576" marT="36576" marB="36576" anchor="ctr">
                    <a:solidFill>
                      <a:srgbClr val="D3E9E7"/>
                    </a:solidFill>
                  </a:tcPr>
                </a:tc>
                <a:tc>
                  <a:txBody>
                    <a:bodyPr/>
                    <a:lstStyle/>
                    <a:p>
                      <a:pPr algn="ctr">
                        <a:defRPr sz="1000" b="1">
                          <a:solidFill>
                            <a:srgbClr val="00515E"/>
                          </a:solidFill>
                          <a:latin typeface="Montserrat"/>
                        </a:defRPr>
                      </a:pPr>
                      <a:r>
                        <a:rPr dirty="0"/>
                        <a:t>1</a:t>
                      </a:r>
                      <a:r>
                        <a:rPr lang="es-MX" dirty="0"/>
                        <a:t>96</a:t>
                      </a:r>
                      <a:endParaRPr dirty="0"/>
                    </a:p>
                  </a:txBody>
                  <a:tcPr marL="36576" marR="36576" marT="36576" marB="36576"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xmlns:r="http://schemas.openxmlformats.org/officeDocument/2006/relationships" r:id="rId10"/>
          </a:graphicData>
        </a:graphic>
      </p:graphicFrame>
      <p:sp>
        <p:nvSpPr>
          <p:cNvPr id="321" name="TextBox 320"/>
          <p:cNvSpPr txBox="1"/>
          <p:nvPr/>
        </p:nvSpPr>
        <p:spPr>
          <a:xfrm>
            <a:off x="324000" y="4888800"/>
            <a:ext cx="7286399" cy="331200"/>
          </a:xfrm>
          <a:prstGeom prst="rect">
            <a:avLst/>
          </a:prstGeom>
          <a:noFill/>
        </p:spPr>
        <p:txBody>
          <a:bodyPr wrap="square" lIns="0" tIns="0" rIns="0" bIns="0">
            <a:spAutoFit/>
          </a:bodyPr>
          <a:lstStyle/>
          <a:p>
            <a:pPr algn="l">
              <a:defRPr sz="900">
                <a:solidFill>
                  <a:srgbClr val="000000"/>
                </a:solidFill>
                <a:latin typeface="Montserrat"/>
              </a:defRPr>
            </a:pPr>
            <a:r>
              <a:t>Fuente: Dirección de Administración. Base SIAP comparativa del diciembre 2018 con el 15 de junio 2026.</a:t>
            </a:r>
          </a:p>
        </p:txBody>
      </p:sp>
      <p:sp>
        <p:nvSpPr>
          <p:cNvPr id="322" name="TextBox 321"/>
          <p:cNvSpPr txBox="1"/>
          <p:nvPr/>
        </p:nvSpPr>
        <p:spPr>
          <a:xfrm>
            <a:off x="162000" y="7405200"/>
            <a:ext cx="3888000" cy="370800"/>
          </a:xfrm>
          <a:prstGeom prst="rect">
            <a:avLst/>
          </a:prstGeom>
          <a:noFill/>
        </p:spPr>
        <p:txBody>
          <a:bodyPr wrap="square" lIns="0" tIns="0" rIns="0" b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3886200" y="9607159"/>
            <a:ext cx="3886200" cy="246221"/>
          </a:xfrm>
          <a:prstGeom prst="rect">
            <a:avLst/>
          </a:prstGeom>
          <a:noFill/>
        </p:spPr>
        <p:txBody>
          <a:bodyPr wrap="square" lIns="0" tIns="0" rIns="0" bIns="0">
            <a:spAutoFit/>
          </a:bodyPr>
          <a:lstStyle/>
          <a:p>
            <a:pPr algn="l">
              <a:defRPr sz="800">
                <a:solidFill>
                  <a:srgbClr val="000000"/>
                </a:solidFill>
                <a:latin typeface="Montserrat"/>
              </a:defRPr>
            </a:pPr>
            <a:r>
              <a:rPr>
                <a:solidFill>
                  <a:schemeClr val="bg1"/>
                </a:solidFill>
              </a:rPr>
              <a:t>Fuente: Sistema de </a:t>
            </a:r>
            <a:r>
              <a:rPr err="1">
                <a:solidFill>
                  <a:schemeClr val="bg1"/>
                </a:solidFill>
              </a:rPr>
              <a:t>Información</a:t>
            </a:r>
            <a:r>
              <a:rPr>
                <a:solidFill>
                  <a:schemeClr val="bg1"/>
                </a:solidFill>
              </a:rPr>
              <a:t> </a:t>
            </a:r>
            <a:r>
              <a:rPr err="1">
                <a:solidFill>
                  <a:schemeClr val="bg1"/>
                </a:solidFill>
              </a:rPr>
              <a:t>Operativa</a:t>
            </a:r>
            <a:r>
              <a:rPr>
                <a:solidFill>
                  <a:schemeClr val="bg1"/>
                </a:solidFill>
              </a:rPr>
              <a:t>. Personal de base. Corte de </a:t>
            </a:r>
            <a:r>
              <a:rPr err="1">
                <a:solidFill>
                  <a:schemeClr val="bg1"/>
                </a:solidFill>
              </a:rPr>
              <a:t>información</a:t>
            </a:r>
            <a:r>
              <a:rPr>
                <a:solidFill>
                  <a:schemeClr val="bg1"/>
                </a:solidFill>
              </a:rPr>
              <a:t>: mayo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a:solidFill>
                  <a:srgbClr val="980000"/>
                </a:solidFill>
                <a:latin typeface="Montserrat"/>
                <a:ea typeface="Montserrat"/>
                <a:cs typeface="Montserrat"/>
                <a:sym typeface="Montserrat"/>
              </a:rPr>
              <a:t>consultas diarias</a:t>
            </a:r>
            <a:endParaRPr sz="2000" b="0" i="0" u="none" strike="noStrike" cap="none">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Día típico</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9,780</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712</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110</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148</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2,830</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1,026</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19</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14,348</a:t>
            </a:r>
          </a:p>
        </p:txBody>
      </p:sp>
      <p:graphicFrame>
        <p:nvGraphicFramePr>
          <p:cNvPr id="344" name="Table 343"/>
          <p:cNvGraphicFramePr>
            <a:graphicFrameLocks noGrp="1"/>
          </p:cNvGraphicFramePr>
          <p:nvPr/>
        </p:nvGraphicFramePr>
        <p:xfrm>
          <a:off x="219600" y="1548000"/>
          <a:ext cx="7567200" cy="3278520"/>
        </p:xfrm>
        <a:graphic>
          <a:graphicData uri="http://schemas.openxmlformats.org/drawingml/2006/table">
            <a:tbl>
              <a:tblPr firstRow="1" bandRow="1">
                <a:tableStyleId>{5C22544A-7EE6-4342-B048-85BDC9FD1C3A}</a:tableStyleId>
              </a:tblPr>
              <a:tblGrid>
                <a:gridCol w="1472400">
                  <a:extLst>
                    <a:ext uri="{9D8B030D-6E8A-4147-A177-3AD203B41FA5}">
                      <a16:colId xmlns:a16="http://schemas.microsoft.com/office/drawing/2014/main" val="20000"/>
                    </a:ext>
                  </a:extLst>
                </a:gridCol>
                <a:gridCol w="1468800">
                  <a:extLst>
                    <a:ext uri="{9D8B030D-6E8A-4147-A177-3AD203B41FA5}">
                      <a16:colId xmlns:a16="http://schemas.microsoft.com/office/drawing/2014/main" val="20001"/>
                    </a:ext>
                  </a:extLst>
                </a:gridCol>
                <a:gridCol w="1479600">
                  <a:extLst>
                    <a:ext uri="{9D8B030D-6E8A-4147-A177-3AD203B41FA5}">
                      <a16:colId xmlns:a16="http://schemas.microsoft.com/office/drawing/2014/main" val="20002"/>
                    </a:ext>
                  </a:extLst>
                </a:gridCol>
                <a:gridCol w="1602000">
                  <a:extLst>
                    <a:ext uri="{9D8B030D-6E8A-4147-A177-3AD203B41FA5}">
                      <a16:colId xmlns:a16="http://schemas.microsoft.com/office/drawing/2014/main" val="20003"/>
                    </a:ext>
                  </a:extLst>
                </a:gridCol>
                <a:gridCol w="1544400">
                  <a:extLst>
                    <a:ext uri="{9D8B030D-6E8A-4147-A177-3AD203B41FA5}">
                      <a16:colId xmlns:a16="http://schemas.microsoft.com/office/drawing/2014/main" val="20004"/>
                    </a:ext>
                  </a:extLst>
                </a:gridCol>
              </a:tblGrid>
              <a:tr h="489600">
                <a:tc>
                  <a:txBody>
                    <a:bodyPr/>
                    <a:lstStyle/>
                    <a:p>
                      <a:pPr algn="ctr">
                        <a:defRPr sz="1000" b="1">
                          <a:solidFill>
                            <a:srgbClr val="FFFFFF"/>
                          </a:solidFill>
                          <a:latin typeface="Montserrat"/>
                        </a:defRPr>
                      </a:pPr>
                      <a:r>
                        <a:t>Medicina Familiar</a:t>
                      </a:r>
                    </a:p>
                  </a:txBody>
                  <a:tcPr anchor="ctr">
                    <a:solidFill>
                      <a:srgbClr val="006455"/>
                    </a:solidFill>
                  </a:tcPr>
                </a:tc>
                <a:tc>
                  <a:txBody>
                    <a:bodyPr/>
                    <a:lstStyle/>
                    <a:p>
                      <a:pPr algn="ctr">
                        <a:defRPr sz="1000" b="1">
                          <a:solidFill>
                            <a:srgbClr val="FFFFFF"/>
                          </a:solidFill>
                          <a:latin typeface="Montserrat"/>
                        </a:defRPr>
                      </a:pPr>
                      <a:r>
                        <a:t>Especialidades</a:t>
                      </a:r>
                    </a:p>
                  </a:txBody>
                  <a:tcPr anchor="ctr">
                    <a:solidFill>
                      <a:srgbClr val="006455"/>
                    </a:solidFill>
                  </a:tcPr>
                </a:tc>
                <a:tc>
                  <a:txBody>
                    <a:bodyPr/>
                    <a:lstStyle/>
                    <a:p>
                      <a:pPr algn="ctr">
                        <a:defRPr sz="1000" b="1">
                          <a:solidFill>
                            <a:srgbClr val="FFFFFF"/>
                          </a:solidFill>
                          <a:latin typeface="Montserrat"/>
                        </a:defRPr>
                      </a:pPr>
                      <a:r>
                        <a:t>Cirugías</a:t>
                      </a:r>
                    </a:p>
                  </a:txBody>
                  <a:tcPr anchor="ctr">
                    <a:solidFill>
                      <a:srgbClr val="006455"/>
                    </a:solidFill>
                  </a:tcPr>
                </a:tc>
                <a:tc>
                  <a:txBody>
                    <a:bodyPr/>
                    <a:lstStyle/>
                    <a:p>
                      <a:pPr algn="ctr">
                        <a:defRPr sz="1000" b="1">
                          <a:solidFill>
                            <a:srgbClr val="FFFFFF"/>
                          </a:solidFill>
                          <a:latin typeface="Montserrat"/>
                        </a:defRPr>
                      </a:pPr>
                      <a:r>
                        <a:t>Egresos</a:t>
                      </a:r>
                    </a:p>
                  </a:txBody>
                  <a:tcPr anchor="ctr">
                    <a:solidFill>
                      <a:srgbClr val="006455"/>
                    </a:solidFill>
                  </a:tcPr>
                </a:tc>
                <a:tc>
                  <a:txBody>
                    <a:bodyPr/>
                    <a:lstStyle/>
                    <a:p>
                      <a:pPr algn="ctr">
                        <a:defRPr sz="1000" b="1">
                          <a:solidFill>
                            <a:srgbClr val="FFFFFF"/>
                          </a:solidFill>
                          <a:latin typeface="Montserrat"/>
                        </a:defRPr>
                      </a:pPr>
                      <a:r>
                        <a:t>Defunciones</a:t>
                      </a:r>
                    </a:p>
                  </a:txBody>
                  <a:tcPr anchor="ctr">
                    <a:solidFill>
                      <a:srgbClr val="006455"/>
                    </a:solidFill>
                  </a:tcPr>
                </a:tc>
                <a:extLst>
                  <a:ext uri="{0D108BD9-81ED-4DB2-BD59-A6C34878D82A}">
                    <a16:rowId xmlns:a16="http://schemas.microsoft.com/office/drawing/2014/main" val="10000"/>
                  </a:ext>
                </a:extLst>
              </a:tr>
              <a:tr h="489600">
                <a:tc>
                  <a:txBody>
                    <a:bodyPr/>
                    <a:lstStyle/>
                    <a:p>
                      <a:pPr algn="ctr"/>
                      <a:r>
                        <a:rPr sz="900" b="0">
                          <a:latin typeface="Montserrat"/>
                        </a:rPr>
                        <a:t>Diabetes mellitus
(129,051)</a:t>
                      </a:r>
                    </a:p>
                  </a:txBody>
                  <a:tcPr>
                    <a:solidFill>
                      <a:srgbClr val="FFFFFF"/>
                    </a:solidFill>
                  </a:tcPr>
                </a:tc>
                <a:tc>
                  <a:txBody>
                    <a:bodyPr/>
                    <a:lstStyle/>
                    <a:p>
                      <a:pPr algn="ctr"/>
                      <a:r>
                        <a:rPr sz="900" b="0">
                          <a:latin typeface="Montserrat"/>
                        </a:rPr>
                        <a:t>Tumores malignos
(15,338)</a:t>
                      </a:r>
                    </a:p>
                  </a:txBody>
                  <a:tcPr>
                    <a:solidFill>
                      <a:srgbClr val="FFFFFF"/>
                    </a:solidFill>
                  </a:tcPr>
                </a:tc>
                <a:tc>
                  <a:txBody>
                    <a:bodyPr/>
                    <a:lstStyle/>
                    <a:p>
                      <a:pPr algn="ctr"/>
                      <a:r>
                        <a:rPr sz="900" b="0">
                          <a:latin typeface="Montserrat"/>
                        </a:rPr>
                        <a:t>Cesárea
(2,357)</a:t>
                      </a:r>
                    </a:p>
                  </a:txBody>
                  <a:tcPr>
                    <a:solidFill>
                      <a:srgbClr val="FFFFFF"/>
                    </a:solidFill>
                  </a:tcPr>
                </a:tc>
                <a:tc>
                  <a:txBody>
                    <a:bodyPr/>
                    <a:lstStyle/>
                    <a:p>
                      <a:pPr algn="ctr"/>
                      <a:r>
                        <a:rPr sz="900" b="0">
                          <a:latin typeface="Montserrat"/>
                        </a:rPr>
                        <a:t>Embarazo, parto y puerperio
(3,770)</a:t>
                      </a:r>
                    </a:p>
                  </a:txBody>
                  <a:tcPr>
                    <a:solidFill>
                      <a:srgbClr val="FFFFFF"/>
                    </a:solidFill>
                  </a:tcPr>
                </a:tc>
                <a:tc>
                  <a:txBody>
                    <a:bodyPr/>
                    <a:lstStyle/>
                    <a:p>
                      <a:pPr algn="ctr"/>
                      <a:r>
                        <a:rPr sz="900" b="0">
                          <a:latin typeface="Montserrat"/>
                        </a:rPr>
                        <a:t>Enfermedades del corazón
(169)</a:t>
                      </a:r>
                    </a:p>
                  </a:txBody>
                  <a:tcPr>
                    <a:solidFill>
                      <a:srgbClr val="FFFFFF"/>
                    </a:solidFill>
                  </a:tcPr>
                </a:tc>
                <a:extLst>
                  <a:ext uri="{0D108BD9-81ED-4DB2-BD59-A6C34878D82A}">
                    <a16:rowId xmlns:a16="http://schemas.microsoft.com/office/drawing/2014/main" val="10001"/>
                  </a:ext>
                </a:extLst>
              </a:tr>
              <a:tr h="489600">
                <a:tc>
                  <a:txBody>
                    <a:bodyPr/>
                    <a:lstStyle/>
                    <a:p>
                      <a:pPr algn="ctr"/>
                      <a:r>
                        <a:rPr sz="900" b="0">
                          <a:latin typeface="Montserrat"/>
                        </a:rPr>
                        <a:t>Enfermedades del corazón
(104,307)</a:t>
                      </a:r>
                    </a:p>
                  </a:txBody>
                  <a:tcPr>
                    <a:solidFill>
                      <a:srgbClr val="EFEFEF"/>
                    </a:solidFill>
                  </a:tcPr>
                </a:tc>
                <a:tc>
                  <a:txBody>
                    <a:bodyPr/>
                    <a:lstStyle/>
                    <a:p>
                      <a:pPr algn="ctr"/>
                      <a:r>
                        <a:rPr sz="900" b="0">
                          <a:latin typeface="Montserrat"/>
                        </a:rPr>
                        <a:t>Enfermedades y trastornos de las articulaciones
(14,925)</a:t>
                      </a:r>
                    </a:p>
                  </a:txBody>
                  <a:tcPr>
                    <a:solidFill>
                      <a:srgbClr val="EFEFEF"/>
                    </a:solidFill>
                  </a:tcPr>
                </a:tc>
                <a:tc>
                  <a:txBody>
                    <a:bodyPr/>
                    <a:lstStyle/>
                    <a:p>
                      <a:pPr algn="ctr"/>
                      <a:r>
                        <a:rPr sz="900" b="0">
                          <a:latin typeface="Montserrat"/>
                        </a:rPr>
                        <a:t>Traumatismos y envenenamientos
(1,814)</a:t>
                      </a:r>
                    </a:p>
                  </a:txBody>
                  <a:tcPr>
                    <a:solidFill>
                      <a:srgbClr val="EFEFEF"/>
                    </a:solidFill>
                  </a:tcPr>
                </a:tc>
                <a:tc>
                  <a:txBody>
                    <a:bodyPr/>
                    <a:lstStyle/>
                    <a:p>
                      <a:pPr algn="ctr"/>
                      <a:r>
                        <a:rPr sz="900" b="0">
                          <a:latin typeface="Montserrat"/>
                        </a:rPr>
                        <a:t>Traumatismos e intoxicaciones
(1,975)</a:t>
                      </a:r>
                    </a:p>
                  </a:txBody>
                  <a:tcPr>
                    <a:solidFill>
                      <a:srgbClr val="EFEFEF"/>
                    </a:solidFill>
                  </a:tcPr>
                </a:tc>
                <a:tc>
                  <a:txBody>
                    <a:bodyPr/>
                    <a:lstStyle/>
                    <a:p>
                      <a:pPr algn="ctr"/>
                      <a:r>
                        <a:rPr sz="900" b="0">
                          <a:latin typeface="Montserrat"/>
                        </a:rPr>
                        <a:t>Tumores malignos
(124)</a:t>
                      </a:r>
                    </a:p>
                  </a:txBody>
                  <a:tcPr>
                    <a:solidFill>
                      <a:srgbClr val="EFEFEF"/>
                    </a:solidFill>
                  </a:tcPr>
                </a:tc>
                <a:extLst>
                  <a:ext uri="{0D108BD9-81ED-4DB2-BD59-A6C34878D82A}">
                    <a16:rowId xmlns:a16="http://schemas.microsoft.com/office/drawing/2014/main" val="10002"/>
                  </a:ext>
                </a:extLst>
              </a:tr>
              <a:tr h="489600">
                <a:tc>
                  <a:txBody>
                    <a:bodyPr/>
                    <a:lstStyle/>
                    <a:p>
                      <a:pPr algn="ctr"/>
                      <a:r>
                        <a:rPr sz="900" b="0">
                          <a:latin typeface="Montserrat"/>
                        </a:rPr>
                        <a:t>Infecciones respiratorias agudas
(41,227)</a:t>
                      </a:r>
                    </a:p>
                  </a:txBody>
                  <a:tcPr>
                    <a:solidFill>
                      <a:srgbClr val="FFFFFF"/>
                    </a:solidFill>
                  </a:tcPr>
                </a:tc>
                <a:tc>
                  <a:txBody>
                    <a:bodyPr/>
                    <a:lstStyle/>
                    <a:p>
                      <a:pPr algn="ctr"/>
                      <a:r>
                        <a:rPr sz="900" b="0">
                          <a:latin typeface="Montserrat"/>
                        </a:rPr>
                        <a:t>Traumatismos e intoxicaciones
(14,902)</a:t>
                      </a:r>
                    </a:p>
                  </a:txBody>
                  <a:tcPr>
                    <a:solidFill>
                      <a:srgbClr val="FFFFFF"/>
                    </a:solidFill>
                  </a:tcPr>
                </a:tc>
                <a:tc>
                  <a:txBody>
                    <a:bodyPr/>
                    <a:lstStyle/>
                    <a:p>
                      <a:pPr algn="ctr"/>
                      <a:r>
                        <a:rPr sz="900" b="0">
                          <a:latin typeface="Montserrat"/>
                        </a:rPr>
                        <a:t>Cirugía de Hernias (Hernioplastía)
(833)</a:t>
                      </a:r>
                    </a:p>
                  </a:txBody>
                  <a:tcPr>
                    <a:solidFill>
                      <a:srgbClr val="FFFFFF"/>
                    </a:solidFill>
                  </a:tcPr>
                </a:tc>
                <a:tc>
                  <a:txBody>
                    <a:bodyPr/>
                    <a:lstStyle/>
                    <a:p>
                      <a:pPr algn="ctr"/>
                      <a:r>
                        <a:rPr sz="900" b="0">
                          <a:latin typeface="Montserrat"/>
                        </a:rPr>
                        <a:t>Hernias
(883)</a:t>
                      </a:r>
                    </a:p>
                  </a:txBody>
                  <a:tcPr>
                    <a:solidFill>
                      <a:srgbClr val="FFFFFF"/>
                    </a:solidFill>
                  </a:tcPr>
                </a:tc>
                <a:tc>
                  <a:txBody>
                    <a:bodyPr/>
                    <a:lstStyle/>
                    <a:p>
                      <a:pPr algn="ctr"/>
                      <a:r>
                        <a:rPr sz="900" b="0">
                          <a:latin typeface="Montserrat"/>
                        </a:rPr>
                        <a:t>Diabetes mellitus
(122)</a:t>
                      </a:r>
                    </a:p>
                  </a:txBody>
                  <a:tcPr>
                    <a:solidFill>
                      <a:srgbClr val="FFFFFF"/>
                    </a:solidFill>
                  </a:tcPr>
                </a:tc>
                <a:extLst>
                  <a:ext uri="{0D108BD9-81ED-4DB2-BD59-A6C34878D82A}">
                    <a16:rowId xmlns:a16="http://schemas.microsoft.com/office/drawing/2014/main" val="10003"/>
                  </a:ext>
                </a:extLst>
              </a:tr>
              <a:tr h="489600">
                <a:tc>
                  <a:txBody>
                    <a:bodyPr/>
                    <a:lstStyle/>
                    <a:p>
                      <a:pPr algn="ctr"/>
                      <a:r>
                        <a:rPr sz="900" b="0">
                          <a:latin typeface="Montserrat"/>
                        </a:rPr>
                        <a:t>traumatismos e intoxicaciones
(29,833)</a:t>
                      </a:r>
                    </a:p>
                  </a:txBody>
                  <a:tcPr>
                    <a:solidFill>
                      <a:srgbClr val="EFEFEF"/>
                    </a:solidFill>
                  </a:tcPr>
                </a:tc>
                <a:tc>
                  <a:txBody>
                    <a:bodyPr/>
                    <a:lstStyle/>
                    <a:p>
                      <a:pPr algn="ctr"/>
                      <a:r>
                        <a:rPr sz="900" b="0">
                          <a:latin typeface="Montserrat"/>
                        </a:rPr>
                        <a:t>Problemas y enfermedades de la columna vertebral
(12,350)</a:t>
                      </a:r>
                    </a:p>
                  </a:txBody>
                  <a:tcPr>
                    <a:solidFill>
                      <a:srgbClr val="EFEFEF"/>
                    </a:solidFill>
                  </a:tcPr>
                </a:tc>
                <a:tc>
                  <a:txBody>
                    <a:bodyPr/>
                    <a:lstStyle/>
                    <a:p>
                      <a:pPr algn="ctr"/>
                      <a:r>
                        <a:rPr sz="900" b="0">
                          <a:latin typeface="Montserrat"/>
                        </a:rPr>
                        <a:t>Cirugía de vesicula biliar (Colecistectomía)
(717)</a:t>
                      </a:r>
                    </a:p>
                  </a:txBody>
                  <a:tcPr>
                    <a:solidFill>
                      <a:srgbClr val="EFEFEF"/>
                    </a:solidFill>
                  </a:tcPr>
                </a:tc>
                <a:tc>
                  <a:txBody>
                    <a:bodyPr/>
                    <a:lstStyle/>
                    <a:p>
                      <a:pPr algn="ctr"/>
                      <a:r>
                        <a:rPr sz="900" b="0">
                          <a:latin typeface="Montserrat"/>
                        </a:rPr>
                        <a:t>Enfermedades de la vesicula biliar
(830)</a:t>
                      </a:r>
                    </a:p>
                  </a:txBody>
                  <a:tcPr>
                    <a:solidFill>
                      <a:srgbClr val="EFEFEF"/>
                    </a:solidFill>
                  </a:tcPr>
                </a:tc>
                <a:tc>
                  <a:txBody>
                    <a:bodyPr/>
                    <a:lstStyle/>
                    <a:p>
                      <a:pPr algn="ctr"/>
                      <a:r>
                        <a:rPr sz="900" b="0">
                          <a:latin typeface="Montserrat"/>
                        </a:rPr>
                        <a:t>Insuficiencia renal
(88)</a:t>
                      </a:r>
                    </a:p>
                  </a:txBody>
                  <a:tcPr>
                    <a:solidFill>
                      <a:srgbClr val="EFEFEF"/>
                    </a:solidFill>
                  </a:tcPr>
                </a:tc>
                <a:extLst>
                  <a:ext uri="{0D108BD9-81ED-4DB2-BD59-A6C34878D82A}">
                    <a16:rowId xmlns:a16="http://schemas.microsoft.com/office/drawing/2014/main" val="10004"/>
                  </a:ext>
                </a:extLst>
              </a:tr>
              <a:tr h="489600">
                <a:tc>
                  <a:txBody>
                    <a:bodyPr/>
                    <a:lstStyle/>
                    <a:p>
                      <a:pPr algn="ctr"/>
                      <a:r>
                        <a:rPr sz="900" b="0">
                          <a:latin typeface="Montserrat"/>
                        </a:rPr>
                        <a:t>Embarazo, parto y puerperio
(17,909)</a:t>
                      </a:r>
                    </a:p>
                  </a:txBody>
                  <a:tcPr>
                    <a:solidFill>
                      <a:srgbClr val="FFFFFF"/>
                    </a:solidFill>
                  </a:tcPr>
                </a:tc>
                <a:tc>
                  <a:txBody>
                    <a:bodyPr/>
                    <a:lstStyle/>
                    <a:p>
                      <a:pPr algn="ctr"/>
                      <a:r>
                        <a:rPr sz="900" b="0">
                          <a:latin typeface="Montserrat"/>
                        </a:rPr>
                        <a:t>Enfermedades del corazón
(10,788)</a:t>
                      </a:r>
                    </a:p>
                  </a:txBody>
                  <a:tcPr>
                    <a:solidFill>
                      <a:srgbClr val="FFFFFF"/>
                    </a:solidFill>
                  </a:tcPr>
                </a:tc>
                <a:tc>
                  <a:txBody>
                    <a:bodyPr/>
                    <a:lstStyle/>
                    <a:p>
                      <a:pPr algn="ctr"/>
                      <a:r>
                        <a:rPr sz="900" b="0">
                          <a:latin typeface="Montserrat"/>
                        </a:rPr>
                        <a:t>Artropatias
(476)</a:t>
                      </a:r>
                    </a:p>
                  </a:txBody>
                  <a:tcPr>
                    <a:solidFill>
                      <a:srgbClr val="FFFFFF"/>
                    </a:solidFill>
                  </a:tcPr>
                </a:tc>
                <a:tc>
                  <a:txBody>
                    <a:bodyPr/>
                    <a:lstStyle/>
                    <a:p>
                      <a:pPr algn="ctr"/>
                      <a:r>
                        <a:rPr sz="900" b="0">
                          <a:latin typeface="Montserrat"/>
                        </a:rPr>
                        <a:t>Enfermedades perinatales
(757)</a:t>
                      </a:r>
                    </a:p>
                  </a:txBody>
                  <a:tcPr>
                    <a:solidFill>
                      <a:srgbClr val="FFFFFF"/>
                    </a:solidFill>
                  </a:tcPr>
                </a:tc>
                <a:tc>
                  <a:txBody>
                    <a:bodyPr/>
                    <a:lstStyle/>
                    <a:p>
                      <a:pPr algn="ctr"/>
                      <a:r>
                        <a:rPr sz="900" b="0">
                          <a:latin typeface="Montserrat"/>
                        </a:rPr>
                        <a:t>Neumonía e influenza
(83)</a:t>
                      </a:r>
                    </a:p>
                  </a:txBody>
                  <a:tcPr>
                    <a:solidFill>
                      <a:srgbClr val="FFFFFF"/>
                    </a:solidFill>
                  </a:tcPr>
                </a:tc>
                <a:extLst>
                  <a:ext uri="{0D108BD9-81ED-4DB2-BD59-A6C34878D82A}">
                    <a16:rowId xmlns:a16="http://schemas.microsoft.com/office/drawing/2014/main" val="10005"/>
                  </a:ext>
                </a:extLst>
              </a:tr>
            </a:tbl>
          </a:graphicData>
        </a:graphic>
      </p:graphicFrame>
      <p:sp>
        <p:nvSpPr>
          <p:cNvPr id="345" name="TextBox 344"/>
          <p:cNvSpPr txBox="1"/>
          <p:nvPr/>
        </p:nvSpPr>
        <p:spPr>
          <a:xfrm>
            <a:off x="219600" y="5286987"/>
            <a:ext cx="6503576" cy="432000"/>
          </a:xfrm>
          <a:prstGeom prst="rect">
            <a:avLst/>
          </a:prstGeom>
          <a:noFill/>
        </p:spPr>
        <p:txBody>
          <a:bodyPr wrap="square" lIns="0" tIns="0" rIns="0" b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107722"/>
          </a:xfrm>
          <a:prstGeom prst="rect">
            <a:avLst/>
          </a:prstGeom>
          <a:noFill/>
        </p:spPr>
        <p:txBody>
          <a:bodyPr wrap="square" lIns="0" tIns="0" rIns="0" bIns="0">
            <a:spAutoFit/>
          </a:bodyPr>
          <a:lstStyle/>
          <a:p>
            <a:pPr algn="l">
              <a:defRPr sz="700">
                <a:solidFill>
                  <a:srgbClr val="000000"/>
                </a:solidFill>
                <a:latin typeface="Montserrat"/>
              </a:defRPr>
            </a:pPr>
            <a:r>
              <a:rPr dirty="0"/>
              <a:t>Corte de </a:t>
            </a:r>
            <a:r>
              <a:rPr dirty="0" err="1"/>
              <a:t>información</a:t>
            </a:r>
            <a:r>
              <a:rPr dirty="0"/>
              <a:t>: ma</a:t>
            </a:r>
            <a:r>
              <a:rPr lang="es-MX" dirty="0"/>
              <a:t>yo</a:t>
            </a:r>
            <a:r>
              <a:rPr dirty="0"/>
              <a:t> 2026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QUERÉTARO</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mayo de cada año</a:t>
            </a:r>
          </a:p>
        </p:txBody>
      </p:sp>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FFFFFF"/>
                </a:solidFill>
                <a:latin typeface="Montserrat"/>
              </a:defRPr>
            </a:pPr>
            <a:r>
              <a:t>Fuente: Portal de Control de Abasto. En 2026, se muestra lo correspondiente al periodo del 1 de enero al 31 de mayo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103632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extLst>
                  <a:ext uri="{0D108BD9-81ED-4DB2-BD59-A6C34878D82A}">
                    <a16:rowId xmlns:a16="http://schemas.microsoft.com/office/drawing/2014/main" val="10000"/>
                  </a:ext>
                </a:extLst>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118,021</a:t>
                      </a:r>
                    </a:p>
                  </a:txBody>
                  <a:tcPr>
                    <a:solidFill>
                      <a:srgbClr val="FFFFFF"/>
                    </a:solidFill>
                  </a:tcPr>
                </a:tc>
                <a:tc>
                  <a:txBody>
                    <a:bodyPr/>
                    <a:lstStyle/>
                    <a:p>
                      <a:pPr algn="ctr"/>
                      <a:r>
                        <a:rPr sz="1100" b="0">
                          <a:solidFill>
                            <a:srgbClr val="434343"/>
                          </a:solidFill>
                          <a:latin typeface="Montserrat"/>
                        </a:rPr>
                        <a:t>1,471,332</a:t>
                      </a:r>
                    </a:p>
                  </a:txBody>
                  <a:tcPr>
                    <a:solidFill>
                      <a:srgbClr val="FFFFFF"/>
                    </a:solidFill>
                  </a:tcPr>
                </a:tc>
                <a:tc>
                  <a:txBody>
                    <a:bodyPr/>
                    <a:lstStyle/>
                    <a:p>
                      <a:pPr algn="ctr"/>
                      <a:r>
                        <a:rPr sz="1100" b="0">
                          <a:solidFill>
                            <a:srgbClr val="434343"/>
                          </a:solidFill>
                          <a:latin typeface="Montserrat"/>
                        </a:rPr>
                        <a:t>92.6%</a:t>
                      </a:r>
                    </a:p>
                  </a:txBody>
                  <a:tcPr>
                    <a:solidFill>
                      <a:srgbClr val="FFFFFF"/>
                    </a:solidFill>
                  </a:tcPr>
                </a:tc>
                <a:extLst>
                  <a:ext uri="{0D108BD9-81ED-4DB2-BD59-A6C34878D82A}">
                    <a16:rowId xmlns:a16="http://schemas.microsoft.com/office/drawing/2014/main" val="10001"/>
                  </a:ext>
                </a:extLst>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101,968</a:t>
                      </a:r>
                    </a:p>
                  </a:txBody>
                  <a:tcPr>
                    <a:solidFill>
                      <a:srgbClr val="D9D9D9"/>
                    </a:solidFill>
                  </a:tcPr>
                </a:tc>
                <a:tc>
                  <a:txBody>
                    <a:bodyPr/>
                    <a:lstStyle/>
                    <a:p>
                      <a:pPr algn="ctr"/>
                      <a:r>
                        <a:rPr sz="1100" b="1">
                          <a:solidFill>
                            <a:srgbClr val="006455"/>
                          </a:solidFill>
                          <a:latin typeface="Montserrat"/>
                        </a:rPr>
                        <a:t>1,722,163</a:t>
                      </a:r>
                    </a:p>
                  </a:txBody>
                  <a:tcPr>
                    <a:solidFill>
                      <a:srgbClr val="D9D9D9"/>
                    </a:solidFill>
                  </a:tcPr>
                </a:tc>
                <a:tc>
                  <a:txBody>
                    <a:bodyPr/>
                    <a:lstStyle/>
                    <a:p>
                      <a:pPr algn="ctr"/>
                      <a:r>
                        <a:rPr sz="1100" b="1">
                          <a:solidFill>
                            <a:srgbClr val="006455"/>
                          </a:solidFill>
                          <a:latin typeface="Montserrat"/>
                        </a:rPr>
                        <a:t>94.4%</a:t>
                      </a:r>
                    </a:p>
                  </a:txBody>
                  <a:tcPr>
                    <a:solidFill>
                      <a:srgbClr val="D9D9D9"/>
                    </a:solidFill>
                  </a:tcPr>
                </a:tc>
                <a:extLst>
                  <a:ext uri="{0D108BD9-81ED-4DB2-BD59-A6C34878D82A}">
                    <a16:rowId xmlns:a16="http://schemas.microsoft.com/office/drawing/2014/main" val="10002"/>
                  </a:ext>
                </a:extLst>
              </a:tr>
            </a:tbl>
          </a:graphicData>
        </a:graphic>
      </p:graphicFrame>
      <p:sp>
        <p:nvSpPr>
          <p:cNvPr id="11" name="TextBox 10"/>
          <p:cNvSpPr txBox="1"/>
          <p:nvPr/>
        </p:nvSpPr>
        <p:spPr>
          <a:xfrm>
            <a:off x="457200" y="9651600"/>
            <a:ext cx="6858000" cy="274320"/>
          </a:xfrm>
          <a:prstGeom prst="rect">
            <a:avLst/>
          </a:prstGeom>
          <a:noFill/>
        </p:spPr>
        <p:txBody>
          <a:bodyPr wrap="none">
            <a:spAutoFit/>
          </a:bodyPr>
          <a:lstStyle/>
          <a:p>
            <a:pPr algn="l">
              <a:defRPr sz="800" b="0">
                <a:solidFill>
                  <a:srgbClr val="FFFFFF"/>
                </a:solidFill>
                <a:latin typeface="Montserrat"/>
              </a:defRPr>
            </a:pPr>
            <a:r>
              <a:t>Fuente: Portal de Control de Abasto. En 2026, se muestra lo correspondiente al periodo del 1 de enero al 31 de mayo de 2026.</a:t>
            </a:r>
          </a:p>
        </p:txBody>
      </p:sp>
      <p:graphicFrame>
        <p:nvGraphicFramePr>
          <p:cNvPr id="12" name="Gráfico 11">
            <a:extLst>
              <a:ext uri="{FF2B5EF4-FFF2-40B4-BE49-F238E27FC236}">
                <a16:creationId xmlns:a16="http://schemas.microsoft.com/office/drawing/2014/main" id="{BD2080F9-6146-ED11-8622-4B600EF13244}"/>
              </a:ext>
            </a:extLst>
          </p:cNvPr>
          <p:cNvGraphicFramePr>
            <a:graphicFrameLocks/>
          </p:cNvGraphicFramePr>
          <p:nvPr>
            <p:extLst>
              <p:ext uri="{D42A27DB-BD31-4B8C-83A1-F6EECF244321}">
                <p14:modId xmlns:p14="http://schemas.microsoft.com/office/powerpoint/2010/main" val="3182554875"/>
              </p:ext>
            </p:extLst>
          </p:nvPr>
        </p:nvGraphicFramePr>
        <p:xfrm>
          <a:off x="138223" y="1544624"/>
          <a:ext cx="7223760" cy="4409604"/>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BD1D1-7DC0-DB61-D555-1D27F0EABA28}"/>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QUERÉTARO</a:t>
            </a:r>
          </a:p>
        </p:txBody>
      </p:sp>
      <p:sp>
        <p:nvSpPr>
          <p:cNvPr id="3" name="TextBox 2"/>
          <p:cNvSpPr txBox="1"/>
          <p:nvPr/>
        </p:nvSpPr>
        <p:spPr>
          <a:xfrm>
            <a:off x="258877" y="836833"/>
            <a:ext cx="5400000" cy="324000"/>
          </a:xfrm>
          <a:prstGeom prst="rect">
            <a:avLst/>
          </a:prstGeom>
          <a:noFill/>
        </p:spPr>
        <p:txBody>
          <a:bodyPr wrap="none" lIns="0" tIns="0" r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258877" y="1095245"/>
            <a:ext cx="5400000" cy="251999"/>
          </a:xfrm>
          <a:prstGeom prst="rect">
            <a:avLst/>
          </a:prstGeom>
          <a:noFill/>
        </p:spPr>
        <p:txBody>
          <a:bodyPr wrap="none" lIns="0" tIns="0" r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15200" y="136035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75534" y="5005632"/>
            <a:ext cx="6840000" cy="288000"/>
          </a:xfrm>
          <a:prstGeom prst="rect">
            <a:avLst/>
          </a:prstGeom>
          <a:noFill/>
        </p:spPr>
        <p:txBody>
          <a:bodyPr wrap="none" lIns="0" tIns="0" r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275534" y="5275632"/>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extLst>
              <p:ext uri="{D42A27DB-BD31-4B8C-83A1-F6EECF244321}">
                <p14:modId xmlns:p14="http://schemas.microsoft.com/office/powerpoint/2010/main" val="3957731768"/>
              </p:ext>
            </p:extLst>
          </p:nvPr>
        </p:nvGraphicFramePr>
        <p:xfrm>
          <a:off x="275534" y="5455632"/>
          <a:ext cx="7200000" cy="2145600"/>
        </p:xfrm>
        <a:graphic>
          <a:graphicData uri="http://schemas.openxmlformats.org/drawingml/2006/table">
            <a:tbl>
              <a:tblPr firstRow="1" bandRow="1">
                <a:tableStyleId>{5C22544A-7EE6-4342-B048-85BDC9FD1C3A}</a:tableStyleId>
              </a:tblPr>
              <a:tblGrid>
                <a:gridCol w="54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tblGrid>
              <a:tr h="198000">
                <a:tc gridSpan="2">
                  <a:txBody>
                    <a:bodyPr/>
                    <a:lstStyle/>
                    <a:p>
                      <a:pPr algn="ctr">
                        <a:defRPr sz="1000" b="1">
                          <a:solidFill>
                            <a:srgbClr val="FFFFFF"/>
                          </a:solidFill>
                          <a:latin typeface="Montserrat"/>
                        </a:defRPr>
                      </a:pPr>
                      <a:r>
                        <a:t>Con mayor </a:t>
                      </a:r>
                      <a:r>
                        <a:rPr err="1"/>
                        <a:t>demanda</a:t>
                      </a:r>
                      <a:r>
                        <a:t> de </a:t>
                      </a:r>
                      <a:r>
                        <a:rPr err="1"/>
                        <a:t>enero</a:t>
                      </a:r>
                      <a:r>
                        <a:t> a </a:t>
                      </a:r>
                      <a:r>
                        <a:rPr lang="es-MX"/>
                        <a:t>mayo </a:t>
                      </a:r>
                      <a:r>
                        <a:t>de 2026</a:t>
                      </a:r>
                    </a:p>
                  </a:txBody>
                  <a:tcPr marL="18000" marR="18000" marT="18000" marB="18000" anchor="ctr">
                    <a:solidFill>
                      <a:srgbClr val="006455"/>
                    </a:solidFill>
                  </a:tcPr>
                </a:tc>
                <a:tc hMerge="1">
                  <a:txBody>
                    <a:bodyPr/>
                    <a:lstStyle/>
                    <a:p>
                      <a:endParaRPr/>
                    </a:p>
                  </a:txBody>
                  <a:tcPr/>
                </a:tc>
                <a:extLst>
                  <a:ext uri="{0D108BD9-81ED-4DB2-BD59-A6C34878D82A}">
                    <a16:rowId xmlns:a16="http://schemas.microsoft.com/office/drawing/2014/main" val="10000"/>
                  </a:ext>
                </a:extLst>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extLst>
                  <a:ext uri="{0D108BD9-81ED-4DB2-BD59-A6C34878D82A}">
                    <a16:rowId xmlns:a16="http://schemas.microsoft.com/office/drawing/2014/main" val="10001"/>
                  </a:ext>
                </a:extLst>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rPr lang="es-MX" dirty="0"/>
                        <a:t>468</a:t>
                      </a:r>
                      <a:r>
                        <a:rPr dirty="0"/>
                        <a:t>,</a:t>
                      </a:r>
                      <a:r>
                        <a:rPr lang="es-MX" dirty="0"/>
                        <a:t>650</a:t>
                      </a:r>
                      <a:endParaRPr dirty="0"/>
                    </a:p>
                  </a:txBody>
                  <a:tcPr marL="18000" marR="18000" marT="18000" marB="18000" anchor="ctr">
                    <a:solidFill>
                      <a:srgbClr val="F2F2F2"/>
                    </a:solidFill>
                  </a:tcPr>
                </a:tc>
                <a:extLst>
                  <a:ext uri="{0D108BD9-81ED-4DB2-BD59-A6C34878D82A}">
                    <a16:rowId xmlns:a16="http://schemas.microsoft.com/office/drawing/2014/main" val="10002"/>
                  </a:ext>
                </a:extLst>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rPr lang="es-MX" dirty="0"/>
                        <a:t>240</a:t>
                      </a:r>
                      <a:r>
                        <a:rPr dirty="0"/>
                        <a:t>,</a:t>
                      </a:r>
                      <a:r>
                        <a:rPr lang="es-MX" dirty="0"/>
                        <a:t>090</a:t>
                      </a:r>
                      <a:endParaRPr dirty="0"/>
                    </a:p>
                  </a:txBody>
                  <a:tcPr marL="18000" marR="18000" marT="18000" marB="18000" anchor="ctr">
                    <a:solidFill>
                      <a:srgbClr val="FFFFFF"/>
                    </a:solidFill>
                  </a:tcPr>
                </a:tc>
                <a:extLst>
                  <a:ext uri="{0D108BD9-81ED-4DB2-BD59-A6C34878D82A}">
                    <a16:rowId xmlns:a16="http://schemas.microsoft.com/office/drawing/2014/main" val="10003"/>
                  </a:ext>
                </a:extLst>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2F2F2"/>
                    </a:solidFill>
                  </a:tcPr>
                </a:tc>
                <a:tc>
                  <a:txBody>
                    <a:bodyPr/>
                    <a:lstStyle/>
                    <a:p>
                      <a:pPr algn="ctr">
                        <a:defRPr sz="900" b="0">
                          <a:solidFill>
                            <a:srgbClr val="333333"/>
                          </a:solidFill>
                          <a:latin typeface="Montserrat"/>
                        </a:defRPr>
                      </a:pPr>
                      <a:r>
                        <a:rPr lang="es-MX" dirty="0"/>
                        <a:t>220,805</a:t>
                      </a:r>
                      <a:endParaRPr dirty="0"/>
                    </a:p>
                  </a:txBody>
                  <a:tcPr marL="18000" marR="18000" marT="18000" marB="18000" anchor="ctr">
                    <a:solidFill>
                      <a:srgbClr val="F2F2F2"/>
                    </a:solidFill>
                  </a:tcPr>
                </a:tc>
                <a:extLst>
                  <a:ext uri="{0D108BD9-81ED-4DB2-BD59-A6C34878D82A}">
                    <a16:rowId xmlns:a16="http://schemas.microsoft.com/office/drawing/2014/main" val="10004"/>
                  </a:ext>
                </a:extLst>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rPr lang="es-MX" dirty="0"/>
                        <a:t>204,970</a:t>
                      </a:r>
                      <a:endParaRPr dirty="0"/>
                    </a:p>
                  </a:txBody>
                  <a:tcPr marL="18000" marR="18000" marT="18000" marB="18000" anchor="ctr">
                    <a:solidFill>
                      <a:srgbClr val="FFFFFF"/>
                    </a:solidFill>
                  </a:tcPr>
                </a:tc>
                <a:extLst>
                  <a:ext uri="{0D108BD9-81ED-4DB2-BD59-A6C34878D82A}">
                    <a16:rowId xmlns:a16="http://schemas.microsoft.com/office/drawing/2014/main" val="10005"/>
                  </a:ext>
                </a:extLst>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2F2F2"/>
                    </a:solidFill>
                  </a:tcPr>
                </a:tc>
                <a:tc>
                  <a:txBody>
                    <a:bodyPr/>
                    <a:lstStyle/>
                    <a:p>
                      <a:pPr algn="ctr">
                        <a:defRPr sz="900" b="0">
                          <a:solidFill>
                            <a:srgbClr val="333333"/>
                          </a:solidFill>
                          <a:latin typeface="Montserrat"/>
                        </a:defRPr>
                      </a:pPr>
                      <a:r>
                        <a:rPr lang="es-MX" dirty="0"/>
                        <a:t>202,150</a:t>
                      </a:r>
                      <a:endParaRPr dirty="0"/>
                    </a:p>
                  </a:txBody>
                  <a:tcPr marL="18000" marR="18000" marT="18000" marB="18000" anchor="ctr">
                    <a:solidFill>
                      <a:srgbClr val="F2F2F2"/>
                    </a:solidFill>
                  </a:tcPr>
                </a:tc>
                <a:extLst>
                  <a:ext uri="{0D108BD9-81ED-4DB2-BD59-A6C34878D82A}">
                    <a16:rowId xmlns:a16="http://schemas.microsoft.com/office/drawing/2014/main" val="10006"/>
                  </a:ext>
                </a:extLst>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rPr lang="es-MX" dirty="0"/>
                        <a:t>203,885</a:t>
                      </a:r>
                      <a:endParaRPr dirty="0"/>
                    </a:p>
                  </a:txBody>
                  <a:tcPr marL="18000" marR="18000" marT="18000" marB="18000" anchor="ctr">
                    <a:solidFill>
                      <a:srgbClr val="FFFFFF"/>
                    </a:solidFill>
                  </a:tcPr>
                </a:tc>
                <a:extLst>
                  <a:ext uri="{0D108BD9-81ED-4DB2-BD59-A6C34878D82A}">
                    <a16:rowId xmlns:a16="http://schemas.microsoft.com/office/drawing/2014/main" val="10007"/>
                  </a:ext>
                </a:extLst>
              </a:tr>
              <a:tr h="162000">
                <a:tc>
                  <a:txBody>
                    <a:bodyPr/>
                    <a:lstStyle/>
                    <a:p>
                      <a:pPr algn="l">
                        <a:defRPr sz="900" b="0">
                          <a:solidFill>
                            <a:srgbClr val="333333"/>
                          </a:solidFill>
                          <a:latin typeface="Montserrat"/>
                        </a:defRPr>
                      </a:pPr>
                      <a:r>
                        <a:t>Cloruro de sodio, solución inyectable al 0.9% (deshidratación)                                                                        </a:t>
                      </a:r>
                    </a:p>
                  </a:txBody>
                  <a:tcPr marL="18000" marR="18000" marT="18000" marB="18000" anchor="ctr">
                    <a:solidFill>
                      <a:srgbClr val="F2F2F2"/>
                    </a:solidFill>
                  </a:tcPr>
                </a:tc>
                <a:tc>
                  <a:txBody>
                    <a:bodyPr/>
                    <a:lstStyle/>
                    <a:p>
                      <a:pPr algn="ctr">
                        <a:defRPr sz="900" b="0">
                          <a:solidFill>
                            <a:srgbClr val="333333"/>
                          </a:solidFill>
                          <a:latin typeface="Montserrat"/>
                        </a:defRPr>
                      </a:pPr>
                      <a:r>
                        <a:rPr lang="es-MX" dirty="0"/>
                        <a:t>196,240</a:t>
                      </a:r>
                      <a:endParaRPr dirty="0"/>
                    </a:p>
                  </a:txBody>
                  <a:tcPr marL="18000" marR="18000" marT="18000" marB="18000" anchor="ctr">
                    <a:solidFill>
                      <a:srgbClr val="F2F2F2"/>
                    </a:solidFill>
                  </a:tcPr>
                </a:tc>
                <a:extLst>
                  <a:ext uri="{0D108BD9-81ED-4DB2-BD59-A6C34878D82A}">
                    <a16:rowId xmlns:a16="http://schemas.microsoft.com/office/drawing/2014/main" val="10008"/>
                  </a:ext>
                </a:extLst>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rPr dirty="0"/>
                        <a:t>1</a:t>
                      </a:r>
                      <a:r>
                        <a:rPr lang="es-MX" dirty="0"/>
                        <a:t>88,630</a:t>
                      </a:r>
                      <a:endParaRPr dirty="0"/>
                    </a:p>
                  </a:txBody>
                  <a:tcPr marL="18000" marR="18000" marT="18000" marB="18000" anchor="ctr">
                    <a:solidFill>
                      <a:srgbClr val="FFFFFF"/>
                    </a:solidFill>
                  </a:tcPr>
                </a:tc>
                <a:extLst>
                  <a:ext uri="{0D108BD9-81ED-4DB2-BD59-A6C34878D82A}">
                    <a16:rowId xmlns:a16="http://schemas.microsoft.com/office/drawing/2014/main" val="10009"/>
                  </a:ext>
                </a:extLst>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rPr dirty="0"/>
                        <a:t>1</a:t>
                      </a:r>
                      <a:r>
                        <a:rPr lang="es-MX" dirty="0"/>
                        <a:t>65,715</a:t>
                      </a:r>
                      <a:endParaRPr dirty="0"/>
                    </a:p>
                  </a:txBody>
                  <a:tcPr marL="18000" marR="18000" marT="18000" marB="18000" anchor="ctr">
                    <a:solidFill>
                      <a:srgbClr val="F2F2F2"/>
                    </a:solidFill>
                  </a:tcPr>
                </a:tc>
                <a:extLst>
                  <a:ext uri="{0D108BD9-81ED-4DB2-BD59-A6C34878D82A}">
                    <a16:rowId xmlns:a16="http://schemas.microsoft.com/office/drawing/2014/main" val="10010"/>
                  </a:ext>
                </a:extLst>
              </a:tr>
              <a:tr h="162000">
                <a:tc>
                  <a:txBody>
                    <a:bodyPr/>
                    <a:lstStyle/>
                    <a:p>
                      <a:pPr algn="l">
                        <a:defRPr sz="900" b="0">
                          <a:solidFill>
                            <a:srgbClr val="333333"/>
                          </a:solidFill>
                          <a:latin typeface="Montserrat"/>
                        </a:defRPr>
                      </a:pPr>
                      <a:r>
                        <a:t>Albendazol, suspensión oral (antiparasitario)</a:t>
                      </a:r>
                    </a:p>
                  </a:txBody>
                  <a:tcPr marL="18000" marR="18000" marT="18000" marB="18000" anchor="ctr">
                    <a:solidFill>
                      <a:srgbClr val="FFFFFF"/>
                    </a:solidFill>
                  </a:tcPr>
                </a:tc>
                <a:tc>
                  <a:txBody>
                    <a:bodyPr/>
                    <a:lstStyle/>
                    <a:p>
                      <a:pPr algn="ctr">
                        <a:defRPr sz="900" b="0">
                          <a:solidFill>
                            <a:srgbClr val="333333"/>
                          </a:solidFill>
                          <a:latin typeface="Montserrat"/>
                        </a:defRPr>
                      </a:pPr>
                      <a:r>
                        <a:rPr dirty="0"/>
                        <a:t>1</a:t>
                      </a:r>
                      <a:r>
                        <a:rPr lang="es-MX" dirty="0"/>
                        <a:t>64,015</a:t>
                      </a:r>
                      <a:endParaRPr dirty="0"/>
                    </a:p>
                  </a:txBody>
                  <a:tcPr marL="18000" marR="18000" marT="18000" marB="18000" anchor="ctr">
                    <a:solidFill>
                      <a:srgbClr val="FFFFFF"/>
                    </a:solidFill>
                  </a:tcPr>
                </a:tc>
                <a:extLst>
                  <a:ext uri="{0D108BD9-81ED-4DB2-BD59-A6C34878D82A}">
                    <a16:rowId xmlns:a16="http://schemas.microsoft.com/office/drawing/2014/main" val="10011"/>
                  </a:ext>
                </a:extLst>
              </a:tr>
            </a:tbl>
          </a:graphicData>
        </a:graphic>
      </p:graphicFrame>
      <p:sp>
        <p:nvSpPr>
          <p:cNvPr id="10" name="TextBox 9"/>
          <p:cNvSpPr txBox="1"/>
          <p:nvPr/>
        </p:nvSpPr>
        <p:spPr>
          <a:xfrm>
            <a:off x="457200" y="9651600"/>
            <a:ext cx="6858000" cy="123111"/>
          </a:xfrm>
          <a:prstGeom prst="rect">
            <a:avLst/>
          </a:prstGeom>
          <a:noFill/>
        </p:spPr>
        <p:txBody>
          <a:bodyPr wrap="square" lIns="0" tIns="0" rIns="0" bIns="0">
            <a:spAutoFit/>
          </a:bodyPr>
          <a:lstStyle/>
          <a:p>
            <a:pPr algn="l">
              <a:defRPr sz="800">
                <a:solidFill>
                  <a:srgbClr val="FFFFFF"/>
                </a:solidFill>
                <a:latin typeface="Montserrat"/>
              </a:defRPr>
            </a:pPr>
            <a:r>
              <a:t>Fuente: Portal de Control de Abasto. En 2026, se </a:t>
            </a:r>
            <a:r>
              <a:rPr err="1"/>
              <a:t>muestra</a:t>
            </a:r>
            <a:r>
              <a:t> lo </a:t>
            </a:r>
            <a:r>
              <a:rPr err="1"/>
              <a:t>correspondiente</a:t>
            </a:r>
            <a:r>
              <a:t> al </a:t>
            </a:r>
            <a:r>
              <a:rPr err="1"/>
              <a:t>periodo</a:t>
            </a:r>
            <a:r>
              <a:t> del 1 de </a:t>
            </a:r>
            <a:r>
              <a:rPr err="1"/>
              <a:t>enero</a:t>
            </a:r>
            <a:r>
              <a:t> al 30 de </a:t>
            </a:r>
            <a:r>
              <a:rPr lang="es-MX"/>
              <a:t>mayo </a:t>
            </a:r>
            <a:r>
              <a:t>de 2026.</a:t>
            </a:r>
          </a:p>
        </p:txBody>
      </p:sp>
      <p:graphicFrame>
        <p:nvGraphicFramePr>
          <p:cNvPr id="11" name="Gráfico 10">
            <a:extLst>
              <a:ext uri="{FF2B5EF4-FFF2-40B4-BE49-F238E27FC236}">
                <a16:creationId xmlns:a16="http://schemas.microsoft.com/office/drawing/2014/main" id="{850B1015-DF5F-141B-5B50-4745E5EADA55}"/>
              </a:ext>
            </a:extLst>
          </p:cNvPr>
          <p:cNvGraphicFramePr>
            <a:graphicFrameLocks/>
          </p:cNvGraphicFramePr>
          <p:nvPr>
            <p:extLst>
              <p:ext uri="{D42A27DB-BD31-4B8C-83A1-F6EECF244321}">
                <p14:modId xmlns:p14="http://schemas.microsoft.com/office/powerpoint/2010/main" val="769809353"/>
              </p:ext>
            </p:extLst>
          </p:nvPr>
        </p:nvGraphicFramePr>
        <p:xfrm>
          <a:off x="275534" y="2068366"/>
          <a:ext cx="6858000" cy="230399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567372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Acciones 2025</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15617"/>
            <a:ext cx="1599000" cy="771583"/>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a:ln>
                <a:noFill/>
              </a:ln>
              <a:solidFill>
                <a:srgbClr val="BC955C"/>
              </a:solidFill>
              <a:effectLst/>
              <a:uLnTx/>
              <a:uFillTx/>
              <a:latin typeface="Arial"/>
              <a:ea typeface="Arial"/>
              <a:cs typeface="Arial"/>
              <a:sym typeface="Arial"/>
            </a:endParaRPr>
          </a:p>
        </p:txBody>
      </p:sp>
      <p:pic>
        <p:nvPicPr>
          <p:cNvPr id="3" name="Imagen 2" descr="Imagen que contiene firmar, lado, parada, camión&#10;&#10;El contenido generado por IA puede ser incorrecto.">
            <a:extLst>
              <a:ext uri="{FF2B5EF4-FFF2-40B4-BE49-F238E27FC236}">
                <a16:creationId xmlns:a16="http://schemas.microsoft.com/office/drawing/2014/main" id="{4A354C11-472E-B13F-7640-F22CBC3FCD5B}"/>
              </a:ext>
            </a:extLst>
          </p:cNvPr>
          <p:cNvPicPr>
            <a:picLocks noChangeAspect="1"/>
          </p:cNvPicPr>
          <p:nvPr/>
        </p:nvPicPr>
        <p:blipFill>
          <a:blip r:embed="rId5"/>
          <a:stretch>
            <a:fillRect/>
          </a:stretch>
        </p:blipFill>
        <p:spPr>
          <a:xfrm>
            <a:off x="-4892" y="1673469"/>
            <a:ext cx="1593128" cy="3883856"/>
          </a:xfrm>
          <a:prstGeom prst="rect">
            <a:avLst/>
          </a:prstGeom>
        </p:spPr>
      </p:pic>
      <p:sp>
        <p:nvSpPr>
          <p:cNvPr id="7" name="TextBox 6"/>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8" name="Table 7"/>
          <p:cNvGraphicFramePr>
            <a:graphicFrameLocks noGrp="1"/>
          </p:cNvGraphicFramePr>
          <p:nvPr>
            <p:extLst>
              <p:ext uri="{D42A27DB-BD31-4B8C-83A1-F6EECF244321}">
                <p14:modId xmlns:p14="http://schemas.microsoft.com/office/powerpoint/2010/main" val="2715248258"/>
              </p:ext>
            </p:extLst>
          </p:nvPr>
        </p:nvGraphicFramePr>
        <p:xfrm>
          <a:off x="1785600" y="1679697"/>
          <a:ext cx="5635926" cy="2201192"/>
        </p:xfrm>
        <a:graphic>
          <a:graphicData uri="http://schemas.openxmlformats.org/drawingml/2006/table">
            <a:tbl>
              <a:tblPr firstRow="1" bandRow="1">
                <a:tableStyleId>{5C22544A-7EE6-4342-B048-85BDC9FD1C3A}</a:tableStyleId>
              </a:tblPr>
              <a:tblGrid>
                <a:gridCol w="4444374">
                  <a:extLst>
                    <a:ext uri="{9D8B030D-6E8A-4147-A177-3AD203B41FA5}">
                      <a16:colId xmlns:a16="http://schemas.microsoft.com/office/drawing/2014/main" val="20000"/>
                    </a:ext>
                  </a:extLst>
                </a:gridCol>
                <a:gridCol w="1191552">
                  <a:extLst>
                    <a:ext uri="{9D8B030D-6E8A-4147-A177-3AD203B41FA5}">
                      <a16:colId xmlns:a16="http://schemas.microsoft.com/office/drawing/2014/main" val="20001"/>
                    </a:ext>
                  </a:extLst>
                </a:gridCol>
              </a:tblGrid>
              <a:tr h="338626">
                <a:tc>
                  <a:txBody>
                    <a:bodyPr/>
                    <a:lstStyle/>
                    <a:p>
                      <a:pPr algn="ctr">
                        <a:defRPr sz="1000" b="1">
                          <a:solidFill>
                            <a:srgbClr val="FFFFFF"/>
                          </a:solidFill>
                          <a:latin typeface="Montserrat"/>
                        </a:defRPr>
                      </a:pPr>
                      <a:r>
                        <a:t>Obras de Conservación 2025</a:t>
                      </a:r>
                    </a:p>
                  </a:txBody>
                  <a:tcPr marL="3600" marR="3600" marT="3600" marB="3600" anchor="ctr">
                    <a:solidFill>
                      <a:srgbClr val="BC955C"/>
                    </a:solidFill>
                  </a:tcPr>
                </a:tc>
                <a:tc>
                  <a:txBody>
                    <a:bodyPr/>
                    <a:lstStyle/>
                    <a:p>
                      <a:pPr algn="ctr">
                        <a:defRPr sz="1000" b="1">
                          <a:solidFill>
                            <a:srgbClr val="FFFFFF"/>
                          </a:solidFill>
                          <a:latin typeface="Montserrat"/>
                        </a:defRPr>
                      </a:pPr>
                      <a:r>
                        <a:t>Monto (mdp)</a:t>
                      </a:r>
                    </a:p>
                  </a:txBody>
                  <a:tcPr marL="3600" marR="3600" marT="3600" marB="3600" anchor="ctr">
                    <a:solidFill>
                      <a:srgbClr val="BC955C"/>
                    </a:solidFill>
                  </a:tcPr>
                </a:tc>
                <a:extLst>
                  <a:ext uri="{0D108BD9-81ED-4DB2-BD59-A6C34878D82A}">
                    <a16:rowId xmlns:a16="http://schemas.microsoft.com/office/drawing/2014/main" val="10000"/>
                  </a:ext>
                </a:extLst>
              </a:tr>
              <a:tr h="254151">
                <a:tc>
                  <a:txBody>
                    <a:bodyPr/>
                    <a:lstStyle/>
                    <a:p>
                      <a:pPr algn="l">
                        <a:lnSpc>
                          <a:spcPct val="100000"/>
                        </a:lnSpc>
                      </a:pPr>
                      <a:r>
                        <a:rPr sz="1000" err="1">
                          <a:latin typeface="Montserrat"/>
                        </a:rPr>
                        <a:t>Mantenimiento</a:t>
                      </a:r>
                      <a:r>
                        <a:rPr sz="1000">
                          <a:latin typeface="Montserrat"/>
                        </a:rPr>
                        <a:t> de </a:t>
                      </a:r>
                      <a:r>
                        <a:rPr sz="1000" err="1">
                          <a:latin typeface="Montserrat"/>
                        </a:rPr>
                        <a:t>Infraestructura</a:t>
                      </a:r>
                      <a:r>
                        <a:rPr sz="1000">
                          <a:latin typeface="Montserrat"/>
                        </a:rPr>
                        <a:t> (PAO 2025)</a:t>
                      </a:r>
                    </a:p>
                  </a:txBody>
                  <a:tcPr marL="3600" marR="3600" marT="3600" marB="3600" anchor="ctr">
                    <a:solidFill>
                      <a:srgbClr val="FFFFFF"/>
                    </a:solidFill>
                  </a:tcPr>
                </a:tc>
                <a:tc>
                  <a:txBody>
                    <a:bodyPr/>
                    <a:lstStyle/>
                    <a:p>
                      <a:pPr algn="ctr">
                        <a:lnSpc>
                          <a:spcPct val="100000"/>
                        </a:lnSpc>
                      </a:pPr>
                      <a:r>
                        <a:rPr sz="1000" dirty="0">
                          <a:latin typeface="Montserrat"/>
                        </a:rPr>
                        <a:t>$352.1</a:t>
                      </a:r>
                    </a:p>
                  </a:txBody>
                  <a:tcPr marL="3600" marR="3600" marT="3600" marB="3600" anchor="ctr">
                    <a:solidFill>
                      <a:srgbClr val="FFFFFF"/>
                    </a:solidFill>
                  </a:tcPr>
                </a:tc>
                <a:extLst>
                  <a:ext uri="{0D108BD9-81ED-4DB2-BD59-A6C34878D82A}">
                    <a16:rowId xmlns:a16="http://schemas.microsoft.com/office/drawing/2014/main" val="10001"/>
                  </a:ext>
                </a:extLst>
              </a:tr>
              <a:tr h="338626">
                <a:tc>
                  <a:txBody>
                    <a:bodyPr/>
                    <a:lstStyle/>
                    <a:p>
                      <a:pPr algn="l">
                        <a:lnSpc>
                          <a:spcPct val="100000"/>
                        </a:lnSpc>
                      </a:pPr>
                      <a:r>
                        <a:rPr sz="1000">
                          <a:latin typeface="Montserrat"/>
                        </a:rPr>
                        <a:t>Remodelación y mejora de imagen en el HGZ No. 3 San Juan del Río y HGR No.1 Querétaro</a:t>
                      </a:r>
                    </a:p>
                  </a:txBody>
                  <a:tcPr marL="3600" marR="3600" marT="3600" marB="3600" anchor="ctr">
                    <a:solidFill>
                      <a:srgbClr val="D9D9D9"/>
                    </a:solidFill>
                  </a:tcPr>
                </a:tc>
                <a:tc>
                  <a:txBody>
                    <a:bodyPr/>
                    <a:lstStyle/>
                    <a:p>
                      <a:pPr algn="ctr">
                        <a:lnSpc>
                          <a:spcPct val="100000"/>
                        </a:lnSpc>
                      </a:pPr>
                      <a:r>
                        <a:rPr sz="1000" dirty="0">
                          <a:latin typeface="Montserrat"/>
                        </a:rPr>
                        <a:t>$161.3</a:t>
                      </a:r>
                    </a:p>
                  </a:txBody>
                  <a:tcPr marL="3600" marR="3600" marT="3600" marB="3600" anchor="ctr">
                    <a:solidFill>
                      <a:srgbClr val="D9D9D9"/>
                    </a:solidFill>
                  </a:tcPr>
                </a:tc>
                <a:extLst>
                  <a:ext uri="{0D108BD9-81ED-4DB2-BD59-A6C34878D82A}">
                    <a16:rowId xmlns:a16="http://schemas.microsoft.com/office/drawing/2014/main" val="10002"/>
                  </a:ext>
                </a:extLst>
              </a:tr>
              <a:tr h="253909">
                <a:tc>
                  <a:txBody>
                    <a:bodyPr/>
                    <a:lstStyle/>
                    <a:p>
                      <a:pPr algn="l">
                        <a:lnSpc>
                          <a:spcPct val="100000"/>
                        </a:lnSpc>
                      </a:pPr>
                      <a:r>
                        <a:rPr sz="1000">
                          <a:latin typeface="Montserrat"/>
                        </a:rPr>
                        <a:t>Intervención en áreas de mejora en Subdelegacion Querétaro</a:t>
                      </a:r>
                    </a:p>
                  </a:txBody>
                  <a:tcPr marL="3600" marR="3600" marT="3600" marB="3600" anchor="ctr">
                    <a:solidFill>
                      <a:srgbClr val="FFFFFF"/>
                    </a:solidFill>
                  </a:tcPr>
                </a:tc>
                <a:tc>
                  <a:txBody>
                    <a:bodyPr/>
                    <a:lstStyle/>
                    <a:p>
                      <a:pPr algn="ctr">
                        <a:lnSpc>
                          <a:spcPct val="100000"/>
                        </a:lnSpc>
                      </a:pPr>
                      <a:r>
                        <a:rPr sz="1000" dirty="0">
                          <a:latin typeface="Montserrat"/>
                        </a:rPr>
                        <a:t>$3.5</a:t>
                      </a:r>
                    </a:p>
                  </a:txBody>
                  <a:tcPr marL="3600" marR="3600" marT="3600" marB="3600" anchor="ctr">
                    <a:solidFill>
                      <a:srgbClr val="FFFFFF"/>
                    </a:solidFill>
                  </a:tcPr>
                </a:tc>
                <a:extLst>
                  <a:ext uri="{0D108BD9-81ED-4DB2-BD59-A6C34878D82A}">
                    <a16:rowId xmlns:a16="http://schemas.microsoft.com/office/drawing/2014/main" val="10003"/>
                  </a:ext>
                </a:extLst>
              </a:tr>
              <a:tr h="338626">
                <a:tc>
                  <a:txBody>
                    <a:bodyPr/>
                    <a:lstStyle/>
                    <a:p>
                      <a:pPr algn="l">
                        <a:lnSpc>
                          <a:spcPct val="100000"/>
                        </a:lnSpc>
                      </a:pPr>
                      <a:r>
                        <a:rPr sz="1000">
                          <a:latin typeface="Montserrat"/>
                        </a:rPr>
                        <a:t>Intervención en áreas de residencias médicas en HGZ No. 3 San Juan del Río</a:t>
                      </a:r>
                    </a:p>
                  </a:txBody>
                  <a:tcPr marL="3600" marR="3600" marT="3600" marB="3600" anchor="ctr">
                    <a:solidFill>
                      <a:srgbClr val="D9D9D9"/>
                    </a:solidFill>
                  </a:tcPr>
                </a:tc>
                <a:tc>
                  <a:txBody>
                    <a:bodyPr/>
                    <a:lstStyle/>
                    <a:p>
                      <a:pPr algn="ctr">
                        <a:lnSpc>
                          <a:spcPct val="100000"/>
                        </a:lnSpc>
                      </a:pPr>
                      <a:r>
                        <a:rPr sz="1000" dirty="0">
                          <a:latin typeface="Montserrat"/>
                        </a:rPr>
                        <a:t>$0.8</a:t>
                      </a:r>
                    </a:p>
                  </a:txBody>
                  <a:tcPr marL="3600" marR="3600" marT="3600" marB="3600" anchor="ctr">
                    <a:solidFill>
                      <a:srgbClr val="D9D9D9"/>
                    </a:solidFill>
                  </a:tcPr>
                </a:tc>
                <a:extLst>
                  <a:ext uri="{0D108BD9-81ED-4DB2-BD59-A6C34878D82A}">
                    <a16:rowId xmlns:a16="http://schemas.microsoft.com/office/drawing/2014/main" val="10004"/>
                  </a:ext>
                </a:extLst>
              </a:tr>
              <a:tr h="338626">
                <a:tc>
                  <a:txBody>
                    <a:bodyPr/>
                    <a:lstStyle/>
                    <a:p>
                      <a:pPr algn="l">
                        <a:lnSpc>
                          <a:spcPct val="100000"/>
                        </a:lnSpc>
                      </a:pPr>
                      <a:r>
                        <a:rPr sz="1000">
                          <a:latin typeface="Montserrat"/>
                        </a:rPr>
                        <a:t>Intervención en áreas de accesibilidad (rampas) en UMF No. 6 San Juan del Río</a:t>
                      </a:r>
                    </a:p>
                  </a:txBody>
                  <a:tcPr marL="3600" marR="3600" marT="3600" marB="3600" anchor="ctr">
                    <a:solidFill>
                      <a:srgbClr val="FFFFFF"/>
                    </a:solidFill>
                  </a:tcPr>
                </a:tc>
                <a:tc>
                  <a:txBody>
                    <a:bodyPr/>
                    <a:lstStyle/>
                    <a:p>
                      <a:pPr algn="ctr">
                        <a:lnSpc>
                          <a:spcPct val="100000"/>
                        </a:lnSpc>
                      </a:pPr>
                      <a:r>
                        <a:rPr sz="1000" dirty="0">
                          <a:latin typeface="Montserrat"/>
                        </a:rPr>
                        <a:t>$0.2</a:t>
                      </a:r>
                    </a:p>
                  </a:txBody>
                  <a:tcPr marL="3600" marR="3600" marT="3600" marB="3600" anchor="ctr">
                    <a:solidFill>
                      <a:srgbClr val="FFFFFF"/>
                    </a:solidFill>
                  </a:tcPr>
                </a:tc>
                <a:extLst>
                  <a:ext uri="{0D108BD9-81ED-4DB2-BD59-A6C34878D82A}">
                    <a16:rowId xmlns:a16="http://schemas.microsoft.com/office/drawing/2014/main" val="10005"/>
                  </a:ext>
                </a:extLst>
              </a:tr>
              <a:tr h="338628">
                <a:tc>
                  <a:txBody>
                    <a:bodyPr/>
                    <a:lstStyle/>
                    <a:p>
                      <a:pPr algn="l">
                        <a:lnSpc>
                          <a:spcPct val="100000"/>
                        </a:lnSpc>
                        <a:defRPr sz="900" b="1">
                          <a:solidFill>
                            <a:srgbClr val="BC955C"/>
                          </a:solidFill>
                          <a:latin typeface="Montserrat"/>
                        </a:defRPr>
                      </a:pPr>
                      <a:r>
                        <a:t>Subtotal</a:t>
                      </a:r>
                    </a:p>
                  </a:txBody>
                  <a:tcPr marL="3600" marR="3600" marT="3600" marB="3600" anchor="ctr">
                    <a:solidFill>
                      <a:srgbClr val="ECE1D2"/>
                    </a:solidFill>
                  </a:tcPr>
                </a:tc>
                <a:tc>
                  <a:txBody>
                    <a:bodyPr/>
                    <a:lstStyle/>
                    <a:p>
                      <a:pPr algn="ctr">
                        <a:lnSpc>
                          <a:spcPct val="100000"/>
                        </a:lnSpc>
                        <a:defRPr sz="900" b="1">
                          <a:solidFill>
                            <a:srgbClr val="BC955C"/>
                          </a:solidFill>
                          <a:latin typeface="Montserrat"/>
                        </a:defRPr>
                      </a:pPr>
                      <a:r>
                        <a:rPr dirty="0"/>
                        <a:t>$517.9</a:t>
                      </a:r>
                    </a:p>
                  </a:txBody>
                  <a:tcPr marL="3600" marR="3600" marT="3600" marB="3600" anchor="ctr">
                    <a:solidFill>
                      <a:srgbClr val="ECE1D2"/>
                    </a:solidFill>
                  </a:tcPr>
                </a:tc>
                <a:extLst>
                  <a:ext uri="{0D108BD9-81ED-4DB2-BD59-A6C34878D82A}">
                    <a16:rowId xmlns:a16="http://schemas.microsoft.com/office/drawing/2014/main" val="10006"/>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807359636"/>
              </p:ext>
            </p:extLst>
          </p:nvPr>
        </p:nvGraphicFramePr>
        <p:xfrm>
          <a:off x="1785600" y="4464000"/>
          <a:ext cx="5635926" cy="1004791"/>
        </p:xfrm>
        <a:graphic>
          <a:graphicData uri="http://schemas.openxmlformats.org/drawingml/2006/table">
            <a:tbl>
              <a:tblPr firstRow="1" bandRow="1">
                <a:tableStyleId>{5C22544A-7EE6-4342-B048-85BDC9FD1C3A}</a:tableStyleId>
              </a:tblPr>
              <a:tblGrid>
                <a:gridCol w="4444374">
                  <a:extLst>
                    <a:ext uri="{9D8B030D-6E8A-4147-A177-3AD203B41FA5}">
                      <a16:colId xmlns:a16="http://schemas.microsoft.com/office/drawing/2014/main" val="20000"/>
                    </a:ext>
                  </a:extLst>
                </a:gridCol>
                <a:gridCol w="1191552">
                  <a:extLst>
                    <a:ext uri="{9D8B030D-6E8A-4147-A177-3AD203B41FA5}">
                      <a16:colId xmlns:a16="http://schemas.microsoft.com/office/drawing/2014/main" val="20001"/>
                    </a:ext>
                  </a:extLst>
                </a:gridCol>
              </a:tblGrid>
              <a:tr h="235591">
                <a:tc>
                  <a:txBody>
                    <a:bodyPr/>
                    <a:lstStyle/>
                    <a:p>
                      <a:pPr algn="ctr">
                        <a:defRPr sz="1000" b="1">
                          <a:solidFill>
                            <a:srgbClr val="FFFFFF"/>
                          </a:solidFill>
                          <a:latin typeface="Montserrat"/>
                        </a:defRPr>
                      </a:pPr>
                      <a:r>
                        <a:t>Equipo Médico 2025, </a:t>
                      </a:r>
                      <a:r>
                        <a:rPr err="1"/>
                        <a:t>Instalación</a:t>
                      </a:r>
                      <a:r>
                        <a:t> 2026</a:t>
                      </a:r>
                    </a:p>
                  </a:txBody>
                  <a:tcPr marL="3600" marR="3600" marT="3600" marB="3600" anchor="ctr">
                    <a:solidFill>
                      <a:srgbClr val="BC955C"/>
                    </a:solidFill>
                  </a:tcPr>
                </a:tc>
                <a:tc>
                  <a:txBody>
                    <a:bodyPr/>
                    <a:lstStyle/>
                    <a:p>
                      <a:pPr algn="ctr">
                        <a:defRPr sz="1000" b="1">
                          <a:solidFill>
                            <a:srgbClr val="FFFFFF"/>
                          </a:solidFill>
                          <a:latin typeface="Montserrat"/>
                        </a:defRPr>
                      </a:pPr>
                      <a:r>
                        <a:t>Monto (mdp)</a:t>
                      </a:r>
                    </a:p>
                  </a:txBody>
                  <a:tcPr marL="3600" marR="3600" marT="3600" marB="3600" anchor="ctr">
                    <a:solidFill>
                      <a:srgbClr val="BC955C"/>
                    </a:solidFill>
                  </a:tcPr>
                </a:tc>
                <a:extLst>
                  <a:ext uri="{0D108BD9-81ED-4DB2-BD59-A6C34878D82A}">
                    <a16:rowId xmlns:a16="http://schemas.microsoft.com/office/drawing/2014/main" val="10000"/>
                  </a:ext>
                </a:extLst>
              </a:tr>
              <a:tr h="720000">
                <a:tc>
                  <a:txBody>
                    <a:bodyPr/>
                    <a:lstStyle/>
                    <a:p>
                      <a:pPr algn="l">
                        <a:lnSpc>
                          <a:spcPct val="100000"/>
                        </a:lnSpc>
                      </a:pPr>
                      <a:r>
                        <a:rPr sz="1000">
                          <a:latin typeface="Montserrat"/>
                        </a:rPr>
                        <a:t>Adquisición de 8 piezas de equipo médico: 2 refrigeradores para vacunas, 3 refrigeradores congeladores de 5.4 pies cúbicos, 1 monitor de signos vitales para el traslado del </a:t>
                      </a:r>
                      <a:r>
                        <a:rPr sz="1000" err="1">
                          <a:latin typeface="Montserrat"/>
                        </a:rPr>
                        <a:t>paciente</a:t>
                      </a:r>
                      <a:r>
                        <a:rPr sz="1000">
                          <a:latin typeface="Montserrat"/>
                        </a:rPr>
                        <a:t> (con protección antimagnética), 1 </a:t>
                      </a:r>
                      <a:r>
                        <a:rPr sz="1000" err="1">
                          <a:latin typeface="Montserrat"/>
                        </a:rPr>
                        <a:t>unidad</a:t>
                      </a:r>
                      <a:r>
                        <a:rPr sz="1000">
                          <a:latin typeface="Montserrat"/>
                        </a:rPr>
                        <a:t> de anestesia básica (con protección antimagnética), 1 </a:t>
                      </a:r>
                      <a:r>
                        <a:rPr sz="1000" err="1">
                          <a:latin typeface="Montserrat"/>
                        </a:rPr>
                        <a:t>mastógrafo</a:t>
                      </a:r>
                      <a:r>
                        <a:rPr sz="1000">
                          <a:latin typeface="Montserrat"/>
                        </a:rPr>
                        <a:t> digital con </a:t>
                      </a:r>
                      <a:r>
                        <a:rPr sz="1000" err="1">
                          <a:latin typeface="Montserrat"/>
                        </a:rPr>
                        <a:t>estereotaxia</a:t>
                      </a:r>
                      <a:r>
                        <a:rPr sz="1000">
                          <a:latin typeface="Montserrat"/>
                        </a:rPr>
                        <a:t> y </a:t>
                      </a:r>
                      <a:r>
                        <a:rPr sz="1000" err="1">
                          <a:latin typeface="Montserrat"/>
                        </a:rPr>
                        <a:t>tomosíntesis</a:t>
                      </a:r>
                      <a:endParaRPr sz="1000">
                        <a:latin typeface="Montserrat"/>
                      </a:endParaRPr>
                    </a:p>
                  </a:txBody>
                  <a:tcPr marL="3600" marR="3600" marT="3600" marB="3600" anchor="ctr">
                    <a:solidFill>
                      <a:srgbClr val="FFFFFF"/>
                    </a:solidFill>
                  </a:tcPr>
                </a:tc>
                <a:tc>
                  <a:txBody>
                    <a:bodyPr/>
                    <a:lstStyle/>
                    <a:p>
                      <a:pPr algn="ctr">
                        <a:lnSpc>
                          <a:spcPct val="100000"/>
                        </a:lnSpc>
                      </a:pPr>
                      <a:r>
                        <a:rPr sz="1000">
                          <a:latin typeface="Montserrat"/>
                        </a:rPr>
                        <a:t>$8.0</a:t>
                      </a:r>
                    </a:p>
                  </a:txBody>
                  <a:tcPr marL="3600" marR="3600" marT="3600" marB="3600" anchor="ctr">
                    <a:solidFill>
                      <a:srgbClr val="FFFFFF"/>
                    </a:solidFill>
                  </a:tcPr>
                </a:tc>
                <a:extLst>
                  <a:ext uri="{0D108BD9-81ED-4DB2-BD59-A6C34878D82A}">
                    <a16:rowId xmlns:a16="http://schemas.microsoft.com/office/drawing/2014/main" val="10001"/>
                  </a:ext>
                </a:extLst>
              </a:tr>
            </a:tbl>
          </a:graphicData>
        </a:graphic>
      </p:graphicFrame>
      <p:sp>
        <p:nvSpPr>
          <p:cNvPr id="10" name="TextBox 9"/>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525.9</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9F2241"/>
                          </a:solidFill>
                          <a:latin typeface="Montserrat"/>
                          <a:ea typeface="Montserrat"/>
                          <a:cs typeface="Montserrat"/>
                          <a:sym typeface="Montserrat"/>
                        </a:rPr>
                        <a:t>Acciones 2026</a:t>
                      </a:r>
                      <a:endParaRPr sz="2100" b="1" u="none" strike="noStrike" cap="none">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28870"/>
            <a:ext cx="1599000" cy="759936"/>
          </a:xfrm>
          <a:prstGeom prst="rect">
            <a:avLst/>
          </a:prstGeom>
          <a:noFill/>
          <a:ln>
            <a:noFill/>
          </a:ln>
        </p:spPr>
      </p:pic>
      <p:pic>
        <p:nvPicPr>
          <p:cNvPr id="4" name="Imagen 3" descr="Interfaz de usuario gráfica, Aplicación&#10;&#10;El contenido generado por IA puede ser incorrecto.">
            <a:extLst>
              <a:ext uri="{FF2B5EF4-FFF2-40B4-BE49-F238E27FC236}">
                <a16:creationId xmlns:a16="http://schemas.microsoft.com/office/drawing/2014/main" id="{73F7DEE2-3725-CD39-2C69-BA5D4F2A65D5}"/>
              </a:ext>
            </a:extLst>
          </p:cNvPr>
          <p:cNvPicPr>
            <a:picLocks noChangeAspect="1"/>
          </p:cNvPicPr>
          <p:nvPr/>
        </p:nvPicPr>
        <p:blipFill>
          <a:blip r:embed="rId5"/>
          <a:stretch>
            <a:fillRect/>
          </a:stretch>
        </p:blipFill>
        <p:spPr>
          <a:xfrm>
            <a:off x="-827542" y="1834772"/>
            <a:ext cx="3403632" cy="2929618"/>
          </a:xfrm>
          <a:prstGeom prst="rect">
            <a:avLst/>
          </a:prstGeom>
        </p:spPr>
      </p:pic>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9" name="Table 8"/>
          <p:cNvGraphicFramePr>
            <a:graphicFrameLocks noGrp="1"/>
          </p:cNvGraphicFramePr>
          <p:nvPr>
            <p:extLst>
              <p:ext uri="{D42A27DB-BD31-4B8C-83A1-F6EECF244321}">
                <p14:modId xmlns:p14="http://schemas.microsoft.com/office/powerpoint/2010/main" val="1592930089"/>
              </p:ext>
            </p:extLst>
          </p:nvPr>
        </p:nvGraphicFramePr>
        <p:xfrm>
          <a:off x="1785600" y="1722225"/>
          <a:ext cx="5396400" cy="1471704"/>
        </p:xfrm>
        <a:graphic>
          <a:graphicData uri="http://schemas.openxmlformats.org/drawingml/2006/table">
            <a:tbl>
              <a:tblPr firstRow="1" bandRow="1">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282567">
                <a:tc>
                  <a:txBody>
                    <a:bodyPr/>
                    <a:lstStyle/>
                    <a:p>
                      <a:pPr algn="ctr">
                        <a:defRPr sz="1000" b="1">
                          <a:solidFill>
                            <a:srgbClr val="FFFFFF"/>
                          </a:solidFill>
                          <a:latin typeface="Montserrat"/>
                        </a:defRPr>
                      </a:pPr>
                      <a:r>
                        <a:t>Obras de Infraestructura 2026</a:t>
                      </a:r>
                    </a:p>
                  </a:txBody>
                  <a:tcPr marL="3600" marR="3600" marT="3600" marB="3600" anchor="ctr">
                    <a:solidFill>
                      <a:srgbClr val="9F2241"/>
                    </a:solidFill>
                  </a:tcPr>
                </a:tc>
                <a:tc>
                  <a:txBody>
                    <a:bodyPr/>
                    <a:lstStyle/>
                    <a:p>
                      <a:pPr algn="ctr">
                        <a:defRPr sz="1000" b="1">
                          <a:solidFill>
                            <a:srgbClr val="FFFFFF"/>
                          </a:solidFill>
                          <a:latin typeface="Montserrat"/>
                        </a:defRPr>
                      </a:pPr>
                      <a:r>
                        <a:t>Monto (mdp)</a:t>
                      </a:r>
                    </a:p>
                  </a:txBody>
                  <a:tcPr marL="3600" marR="3600" marT="3600" marB="3600" anchor="ctr">
                    <a:solidFill>
                      <a:srgbClr val="9F2241"/>
                    </a:solidFill>
                  </a:tcPr>
                </a:tc>
                <a:extLst>
                  <a:ext uri="{0D108BD9-81ED-4DB2-BD59-A6C34878D82A}">
                    <a16:rowId xmlns:a16="http://schemas.microsoft.com/office/drawing/2014/main" val="10000"/>
                  </a:ext>
                </a:extLst>
              </a:tr>
              <a:tr h="282567">
                <a:tc>
                  <a:txBody>
                    <a:bodyPr/>
                    <a:lstStyle/>
                    <a:p>
                      <a:pPr algn="l">
                        <a:lnSpc>
                          <a:spcPct val="100000"/>
                        </a:lnSpc>
                      </a:pPr>
                      <a:r>
                        <a:rPr sz="1000">
                          <a:latin typeface="Montserrat"/>
                        </a:rPr>
                        <a:t>CECI 200 Pedro Escobedo, CECI 150 El Marqués</a:t>
                      </a:r>
                    </a:p>
                  </a:txBody>
                  <a:tcPr marL="3600" marR="3600" marT="3600" marB="3600" anchor="ctr">
                    <a:solidFill>
                      <a:srgbClr val="FFFFFF"/>
                    </a:solidFill>
                  </a:tcPr>
                </a:tc>
                <a:tc>
                  <a:txBody>
                    <a:bodyPr/>
                    <a:lstStyle/>
                    <a:p>
                      <a:pPr algn="ctr">
                        <a:lnSpc>
                          <a:spcPct val="100000"/>
                        </a:lnSpc>
                      </a:pPr>
                      <a:r>
                        <a:rPr sz="1000" dirty="0">
                          <a:latin typeface="Montserrat"/>
                        </a:rPr>
                        <a:t>$99.1</a:t>
                      </a:r>
                    </a:p>
                  </a:txBody>
                  <a:tcPr marL="3600" marR="3600" marT="3600" marB="3600" anchor="ctr">
                    <a:solidFill>
                      <a:srgbClr val="FFFFFF"/>
                    </a:solidFill>
                  </a:tcPr>
                </a:tc>
                <a:extLst>
                  <a:ext uri="{0D108BD9-81ED-4DB2-BD59-A6C34878D82A}">
                    <a16:rowId xmlns:a16="http://schemas.microsoft.com/office/drawing/2014/main" val="10001"/>
                  </a:ext>
                </a:extLst>
              </a:tr>
              <a:tr h="291539">
                <a:tc>
                  <a:txBody>
                    <a:bodyPr/>
                    <a:lstStyle/>
                    <a:p>
                      <a:pPr algn="l">
                        <a:lnSpc>
                          <a:spcPct val="100000"/>
                        </a:lnSpc>
                      </a:pPr>
                      <a:r>
                        <a:rPr sz="1000">
                          <a:latin typeface="Montserrat"/>
                        </a:rPr>
                        <a:t>Ampliación de las Aulas y Áreas de Enseñanza del Hospital General Regional No. 1, Querétaro</a:t>
                      </a:r>
                    </a:p>
                  </a:txBody>
                  <a:tcPr marL="3600" marR="3600" marT="3600" marB="3600" anchor="ctr">
                    <a:solidFill>
                      <a:srgbClr val="D9D9D9"/>
                    </a:solidFill>
                  </a:tcPr>
                </a:tc>
                <a:tc>
                  <a:txBody>
                    <a:bodyPr/>
                    <a:lstStyle/>
                    <a:p>
                      <a:pPr algn="ctr">
                        <a:lnSpc>
                          <a:spcPct val="100000"/>
                        </a:lnSpc>
                      </a:pPr>
                      <a:r>
                        <a:rPr sz="1000" dirty="0">
                          <a:latin typeface="Montserrat"/>
                        </a:rPr>
                        <a:t>$27.5</a:t>
                      </a:r>
                    </a:p>
                  </a:txBody>
                  <a:tcPr marL="3600" marR="3600" marT="3600" marB="3600" anchor="ctr">
                    <a:solidFill>
                      <a:srgbClr val="D9D9D9"/>
                    </a:solidFill>
                  </a:tcPr>
                </a:tc>
                <a:extLst>
                  <a:ext uri="{0D108BD9-81ED-4DB2-BD59-A6C34878D82A}">
                    <a16:rowId xmlns:a16="http://schemas.microsoft.com/office/drawing/2014/main" val="10002"/>
                  </a:ext>
                </a:extLst>
              </a:tr>
              <a:tr h="291539">
                <a:tc>
                  <a:txBody>
                    <a:bodyPr/>
                    <a:lstStyle/>
                    <a:p>
                      <a:pPr algn="l">
                        <a:lnSpc>
                          <a:spcPct val="100000"/>
                        </a:lnSpc>
                      </a:pPr>
                      <a:r>
                        <a:rPr sz="1000">
                          <a:latin typeface="Montserrat"/>
                        </a:rPr>
                        <a:t>Construcción de la techumbre de la Cancha de Usos Múltiples de la U.D. Querétaro</a:t>
                      </a:r>
                    </a:p>
                  </a:txBody>
                  <a:tcPr marL="3600" marR="3600" marT="3600" marB="3600" anchor="ctr">
                    <a:solidFill>
                      <a:srgbClr val="FFFFFF"/>
                    </a:solidFill>
                  </a:tcPr>
                </a:tc>
                <a:tc>
                  <a:txBody>
                    <a:bodyPr/>
                    <a:lstStyle/>
                    <a:p>
                      <a:pPr algn="ctr">
                        <a:lnSpc>
                          <a:spcPct val="100000"/>
                        </a:lnSpc>
                      </a:pPr>
                      <a:r>
                        <a:rPr sz="1000" dirty="0">
                          <a:latin typeface="Montserrat"/>
                        </a:rPr>
                        <a:t>$6.5</a:t>
                      </a:r>
                    </a:p>
                  </a:txBody>
                  <a:tcPr marL="3600" marR="3600" marT="3600" marB="3600" anchor="ctr">
                    <a:solidFill>
                      <a:srgbClr val="FFFFFF"/>
                    </a:solidFill>
                  </a:tcPr>
                </a:tc>
                <a:extLst>
                  <a:ext uri="{0D108BD9-81ED-4DB2-BD59-A6C34878D82A}">
                    <a16:rowId xmlns:a16="http://schemas.microsoft.com/office/drawing/2014/main" val="10003"/>
                  </a:ext>
                </a:extLst>
              </a:tr>
              <a:tr h="282570">
                <a:tc>
                  <a:txBody>
                    <a:bodyPr/>
                    <a:lstStyle/>
                    <a:p>
                      <a:pPr algn="l">
                        <a:lnSpc>
                          <a:spcPct val="100000"/>
                        </a:lnSpc>
                        <a:defRPr sz="900" b="1">
                          <a:solidFill>
                            <a:srgbClr val="FFFFFF"/>
                          </a:solidFill>
                          <a:latin typeface="Montserrat"/>
                        </a:defRPr>
                      </a:pPr>
                      <a:r>
                        <a:t>Subtotal</a:t>
                      </a:r>
                    </a:p>
                  </a:txBody>
                  <a:tcPr marL="3600" marR="3600" marT="3600" marB="3600" anchor="ctr">
                    <a:solidFill>
                      <a:srgbClr val="9F2241"/>
                    </a:solidFill>
                  </a:tcPr>
                </a:tc>
                <a:tc>
                  <a:txBody>
                    <a:bodyPr/>
                    <a:lstStyle/>
                    <a:p>
                      <a:pPr algn="ctr">
                        <a:lnSpc>
                          <a:spcPct val="100000"/>
                        </a:lnSpc>
                        <a:defRPr sz="900" b="1">
                          <a:solidFill>
                            <a:srgbClr val="FFFFFF"/>
                          </a:solidFill>
                          <a:latin typeface="Montserrat"/>
                        </a:defRPr>
                      </a:pPr>
                      <a:r>
                        <a:rPr dirty="0"/>
                        <a:t>$133.1</a:t>
                      </a:r>
                    </a:p>
                  </a:txBody>
                  <a:tcPr marL="3600" marR="3600" marT="3600" marB="3600" anchor="ctr">
                    <a:solidFill>
                      <a:srgbClr val="9F2241"/>
                    </a:solidFill>
                  </a:tcPr>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829664981"/>
              </p:ext>
            </p:extLst>
          </p:nvPr>
        </p:nvGraphicFramePr>
        <p:xfrm>
          <a:off x="1785600" y="3548427"/>
          <a:ext cx="5396400" cy="503998"/>
        </p:xfrm>
        <a:graphic>
          <a:graphicData uri="http://schemas.openxmlformats.org/drawingml/2006/table">
            <a:tbl>
              <a:tblPr firstRow="1" bandRow="1">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251999">
                <a:tc>
                  <a:txBody>
                    <a:bodyPr/>
                    <a:lstStyle/>
                    <a:p>
                      <a:pPr algn="ctr">
                        <a:defRPr sz="1000" b="1">
                          <a:solidFill>
                            <a:srgbClr val="FFFFFF"/>
                          </a:solidFill>
                          <a:latin typeface="Montserrat"/>
                        </a:defRPr>
                      </a:pPr>
                      <a:r>
                        <a:t>Obras de </a:t>
                      </a:r>
                      <a:r>
                        <a:rPr err="1"/>
                        <a:t>Conservación</a:t>
                      </a:r>
                      <a:r>
                        <a:t> 2026</a:t>
                      </a:r>
                    </a:p>
                  </a:txBody>
                  <a:tcPr marL="3600" marR="3600" marT="3600" marB="3600" anchor="ctr">
                    <a:solidFill>
                      <a:srgbClr val="9F2241"/>
                    </a:solidFill>
                  </a:tcPr>
                </a:tc>
                <a:tc>
                  <a:txBody>
                    <a:bodyPr/>
                    <a:lstStyle/>
                    <a:p>
                      <a:pPr algn="ctr">
                        <a:defRPr sz="1000" b="1">
                          <a:solidFill>
                            <a:srgbClr val="FFFFFF"/>
                          </a:solidFill>
                          <a:latin typeface="Montserrat"/>
                        </a:defRPr>
                      </a:pPr>
                      <a:r>
                        <a:t>Monto (mdp)</a:t>
                      </a:r>
                    </a:p>
                  </a:txBody>
                  <a:tcPr marL="3600" marR="3600" marT="3600" marB="3600" anchor="ctr">
                    <a:solidFill>
                      <a:srgbClr val="9F2241"/>
                    </a:solidFill>
                  </a:tcPr>
                </a:tc>
                <a:extLst>
                  <a:ext uri="{0D108BD9-81ED-4DB2-BD59-A6C34878D82A}">
                    <a16:rowId xmlns:a16="http://schemas.microsoft.com/office/drawing/2014/main" val="10000"/>
                  </a:ext>
                </a:extLst>
              </a:tr>
              <a:tr h="251999">
                <a:tc>
                  <a:txBody>
                    <a:bodyPr/>
                    <a:lstStyle/>
                    <a:p>
                      <a:pPr algn="l">
                        <a:lnSpc>
                          <a:spcPct val="100000"/>
                        </a:lnSpc>
                      </a:pPr>
                      <a:r>
                        <a:rPr sz="1000">
                          <a:latin typeface="Montserrat"/>
                        </a:rPr>
                        <a:t>Mantenimiento de infraestructura (PAO 2026)</a:t>
                      </a:r>
                    </a:p>
                  </a:txBody>
                  <a:tcPr marL="3600" marR="3600" marT="3600" marB="3600" anchor="ctr">
                    <a:solidFill>
                      <a:srgbClr val="FFFFFF"/>
                    </a:solidFill>
                  </a:tcPr>
                </a:tc>
                <a:tc>
                  <a:txBody>
                    <a:bodyPr/>
                    <a:lstStyle/>
                    <a:p>
                      <a:pPr algn="ctr">
                        <a:lnSpc>
                          <a:spcPct val="100000"/>
                        </a:lnSpc>
                      </a:pPr>
                      <a:r>
                        <a:rPr sz="1000">
                          <a:latin typeface="Montserrat"/>
                        </a:rPr>
                        <a:t>$70.9</a:t>
                      </a:r>
                    </a:p>
                  </a:txBody>
                  <a:tcPr marL="3600" marR="3600" marT="3600" marB="3600" anchor="ctr">
                    <a:solidFill>
                      <a:srgbClr val="FFFFFF"/>
                    </a:solidFill>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830903697"/>
              </p:ext>
            </p:extLst>
          </p:nvPr>
        </p:nvGraphicFramePr>
        <p:xfrm>
          <a:off x="1770475" y="4090542"/>
          <a:ext cx="5396400" cy="786395"/>
        </p:xfrm>
        <a:graphic>
          <a:graphicData uri="http://schemas.openxmlformats.org/drawingml/2006/table">
            <a:tbl>
              <a:tblPr firstRow="1" bandRow="1">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282397">
                <a:tc>
                  <a:txBody>
                    <a:bodyPr/>
                    <a:lstStyle/>
                    <a:p>
                      <a:pPr algn="ctr">
                        <a:defRPr sz="1000" b="1">
                          <a:solidFill>
                            <a:srgbClr val="FFFFFF"/>
                          </a:solidFill>
                          <a:latin typeface="Montserrat"/>
                        </a:defRPr>
                      </a:pPr>
                      <a:r>
                        <a:rPr err="1"/>
                        <a:t>Equipamiento</a:t>
                      </a:r>
                      <a:r>
                        <a:t> </a:t>
                      </a:r>
                      <a:r>
                        <a:rPr err="1"/>
                        <a:t>Electromecánico</a:t>
                      </a:r>
                      <a:r>
                        <a:t> 2026</a:t>
                      </a:r>
                    </a:p>
                  </a:txBody>
                  <a:tcPr marL="3600" marR="3600" marT="3600" marB="3600" anchor="ctr">
                    <a:solidFill>
                      <a:srgbClr val="9F2241"/>
                    </a:solidFill>
                  </a:tcPr>
                </a:tc>
                <a:tc>
                  <a:txBody>
                    <a:bodyPr/>
                    <a:lstStyle/>
                    <a:p>
                      <a:pPr algn="ctr">
                        <a:defRPr sz="1000" b="1">
                          <a:solidFill>
                            <a:srgbClr val="FFFFFF"/>
                          </a:solidFill>
                          <a:latin typeface="Montserrat"/>
                        </a:defRPr>
                      </a:pPr>
                      <a:r>
                        <a:t>Monto (mdp)</a:t>
                      </a:r>
                    </a:p>
                  </a:txBody>
                  <a:tcPr marL="3600" marR="3600" marT="3600" marB="3600" anchor="ctr">
                    <a:solidFill>
                      <a:srgbClr val="9F2241"/>
                    </a:solidFill>
                  </a:tcPr>
                </a:tc>
                <a:extLst>
                  <a:ext uri="{0D108BD9-81ED-4DB2-BD59-A6C34878D82A}">
                    <a16:rowId xmlns:a16="http://schemas.microsoft.com/office/drawing/2014/main" val="10000"/>
                  </a:ext>
                </a:extLst>
              </a:tr>
              <a:tr h="503998">
                <a:tc>
                  <a:txBody>
                    <a:bodyPr/>
                    <a:lstStyle/>
                    <a:p>
                      <a:pPr algn="l">
                        <a:lnSpc>
                          <a:spcPct val="100000"/>
                        </a:lnSpc>
                      </a:pPr>
                      <a:r>
                        <a:rPr sz="1000">
                          <a:latin typeface="Montserrat"/>
                        </a:rPr>
                        <a:t>28 </a:t>
                      </a:r>
                      <a:r>
                        <a:rPr sz="1000" err="1">
                          <a:latin typeface="Montserrat"/>
                        </a:rPr>
                        <a:t>equipos</a:t>
                      </a:r>
                      <a:r>
                        <a:rPr sz="1000">
                          <a:latin typeface="Montserrat"/>
                        </a:rPr>
                        <a:t> </a:t>
                      </a:r>
                      <a:r>
                        <a:rPr sz="1000" err="1">
                          <a:latin typeface="Montserrat"/>
                        </a:rPr>
                        <a:t>electromecánicos</a:t>
                      </a:r>
                      <a:r>
                        <a:rPr sz="1000">
                          <a:latin typeface="Montserrat"/>
                        </a:rPr>
                        <a:t> para 10 </a:t>
                      </a:r>
                      <a:r>
                        <a:rPr sz="1000" err="1">
                          <a:latin typeface="Montserrat"/>
                        </a:rPr>
                        <a:t>unidades</a:t>
                      </a:r>
                      <a:r>
                        <a:rPr sz="1000">
                          <a:latin typeface="Montserrat"/>
                        </a:rPr>
                        <a:t>; 13 </a:t>
                      </a:r>
                      <a:r>
                        <a:rPr sz="1000" err="1">
                          <a:latin typeface="Montserrat"/>
                        </a:rPr>
                        <a:t>equipos</a:t>
                      </a:r>
                      <a:r>
                        <a:rPr sz="1000">
                          <a:latin typeface="Montserrat"/>
                        </a:rPr>
                        <a:t> para </a:t>
                      </a:r>
                      <a:r>
                        <a:rPr sz="1000" err="1">
                          <a:latin typeface="Montserrat"/>
                        </a:rPr>
                        <a:t>aire</a:t>
                      </a:r>
                      <a:r>
                        <a:rPr sz="1000">
                          <a:latin typeface="Montserrat"/>
                        </a:rPr>
                        <a:t> </a:t>
                      </a:r>
                      <a:r>
                        <a:rPr sz="1000" err="1">
                          <a:latin typeface="Montserrat"/>
                        </a:rPr>
                        <a:t>acondicionado</a:t>
                      </a:r>
                      <a:r>
                        <a:rPr sz="1000">
                          <a:latin typeface="Montserrat"/>
                        </a:rPr>
                        <a:t>, 2 </a:t>
                      </a:r>
                      <a:r>
                        <a:rPr sz="1000" err="1">
                          <a:latin typeface="Montserrat"/>
                        </a:rPr>
                        <a:t>lavadoras</a:t>
                      </a:r>
                      <a:r>
                        <a:rPr sz="1000">
                          <a:latin typeface="Montserrat"/>
                        </a:rPr>
                        <a:t>, 2 </a:t>
                      </a:r>
                      <a:r>
                        <a:rPr sz="1000" err="1">
                          <a:latin typeface="Montserrat"/>
                        </a:rPr>
                        <a:t>secadoras</a:t>
                      </a:r>
                      <a:r>
                        <a:rPr sz="1000">
                          <a:latin typeface="Montserrat"/>
                        </a:rPr>
                        <a:t> y 11 </a:t>
                      </a:r>
                      <a:r>
                        <a:rPr sz="1000" err="1">
                          <a:latin typeface="Montserrat"/>
                        </a:rPr>
                        <a:t>equipos</a:t>
                      </a:r>
                      <a:r>
                        <a:rPr sz="1000">
                          <a:latin typeface="Montserrat"/>
                        </a:rPr>
                        <a:t> para casa de </a:t>
                      </a:r>
                      <a:r>
                        <a:rPr sz="1000" err="1">
                          <a:latin typeface="Montserrat"/>
                        </a:rPr>
                        <a:t>máquinas</a:t>
                      </a:r>
                      <a:endParaRPr sz="1000">
                        <a:latin typeface="Montserrat"/>
                      </a:endParaRPr>
                    </a:p>
                  </a:txBody>
                  <a:tcPr marL="3600" marR="3600" marT="3600" marB="3600" anchor="ctr">
                    <a:solidFill>
                      <a:srgbClr val="FFFFFF"/>
                    </a:solidFill>
                  </a:tcPr>
                </a:tc>
                <a:tc>
                  <a:txBody>
                    <a:bodyPr/>
                    <a:lstStyle/>
                    <a:p>
                      <a:pPr algn="ctr">
                        <a:lnSpc>
                          <a:spcPct val="100000"/>
                        </a:lnSpc>
                      </a:pPr>
                      <a:r>
                        <a:rPr sz="1000">
                          <a:latin typeface="Montserrat"/>
                        </a:rPr>
                        <a:t>$72.7</a:t>
                      </a:r>
                    </a:p>
                  </a:txBody>
                  <a:tcPr marL="3600" marR="3600" marT="3600" marB="3600" anchor="ctr">
                    <a:solidFill>
                      <a:srgbClr val="FFFFFF"/>
                    </a:solidFill>
                  </a:tcPr>
                </a:tc>
                <a:extLst>
                  <a:ext uri="{0D108BD9-81ED-4DB2-BD59-A6C34878D82A}">
                    <a16:rowId xmlns:a16="http://schemas.microsoft.com/office/drawing/2014/main" val="10001"/>
                  </a:ext>
                </a:extLst>
              </a:tr>
            </a:tbl>
          </a:graphicData>
        </a:graphic>
      </p:graphicFrame>
      <p:sp>
        <p:nvSpPr>
          <p:cNvPr id="12" name="TextBox 11"/>
          <p:cNvSpPr txBox="1"/>
          <p:nvPr/>
        </p:nvSpPr>
        <p:spPr>
          <a:xfrm>
            <a:off x="6099010" y="878400"/>
            <a:ext cx="671979" cy="523220"/>
          </a:xfrm>
          <a:prstGeom prst="rect">
            <a:avLst/>
          </a:prstGeom>
          <a:noFill/>
        </p:spPr>
        <p:txBody>
          <a:bodyPr wrap="none">
            <a:spAutoFit/>
          </a:bodyPr>
          <a:lstStyle/>
          <a:p>
            <a:pPr algn="ctr">
              <a:defRPr sz="1400" b="1">
                <a:solidFill>
                  <a:srgbClr val="FFFFFF"/>
                </a:solidFill>
                <a:latin typeface="Montserrat"/>
              </a:defRPr>
            </a:pPr>
            <a:r>
              <a:rPr lang="es-MX" dirty="0"/>
              <a:t>276.7</a:t>
            </a:r>
            <a:endParaRPr dirty="0"/>
          </a:p>
          <a:p>
            <a:pPr algn="ctr">
              <a:defRPr sz="1400" b="1">
                <a:solidFill>
                  <a:srgbClr val="FFFFFF"/>
                </a:solidFill>
                <a:latin typeface="Montserrat"/>
              </a:defRPr>
            </a:pPr>
            <a:r>
              <a:rPr dirty="0"/>
              <a:t>mdp</a:t>
            </a:r>
          </a:p>
        </p:txBody>
      </p:sp>
      <p:pic>
        <p:nvPicPr>
          <p:cNvPr id="3" name="Google Shape;551;g3d0ffe769cd_0_0">
            <a:extLst>
              <a:ext uri="{FF2B5EF4-FFF2-40B4-BE49-F238E27FC236}">
                <a16:creationId xmlns:a16="http://schemas.microsoft.com/office/drawing/2014/main" id="{87F29DEE-D8B9-5569-E7D5-E226B96D9A54}"/>
              </a:ext>
            </a:extLst>
          </p:cNvPr>
          <p:cNvPicPr preferRelativeResize="0"/>
          <p:nvPr/>
        </p:nvPicPr>
        <p:blipFill rotWithShape="1">
          <a:blip r:embed="rId6">
            <a:alphaModFix/>
          </a:blip>
          <a:srcRect l="382" t="14684" r="1598" b="17771"/>
          <a:stretch/>
        </p:blipFill>
        <p:spPr>
          <a:xfrm>
            <a:off x="232377" y="6207919"/>
            <a:ext cx="7368300" cy="2862900"/>
          </a:xfrm>
          <a:prstGeom prst="rect">
            <a:avLst/>
          </a:prstGeom>
          <a:noFill/>
          <a:ln>
            <a:noFill/>
          </a:ln>
        </p:spPr>
      </p:pic>
      <p:graphicFrame>
        <p:nvGraphicFramePr>
          <p:cNvPr id="6" name="Google Shape;559;g3d0ffe769cd_0_0">
            <a:extLst>
              <a:ext uri="{FF2B5EF4-FFF2-40B4-BE49-F238E27FC236}">
                <a16:creationId xmlns:a16="http://schemas.microsoft.com/office/drawing/2014/main" id="{46CFD36A-F3BC-D1C8-61F0-E522B9483E59}"/>
              </a:ext>
            </a:extLst>
          </p:cNvPr>
          <p:cNvGraphicFramePr/>
          <p:nvPr>
            <p:extLst>
              <p:ext uri="{D42A27DB-BD31-4B8C-83A1-F6EECF244321}">
                <p14:modId xmlns:p14="http://schemas.microsoft.com/office/powerpoint/2010/main" val="1658067428"/>
              </p:ext>
            </p:extLst>
          </p:nvPr>
        </p:nvGraphicFramePr>
        <p:xfrm>
          <a:off x="149075" y="5259199"/>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A42145"/>
                          </a:solidFill>
                          <a:latin typeface="Montserrat"/>
                          <a:ea typeface="Montserrat"/>
                          <a:cs typeface="Montserrat"/>
                          <a:sym typeface="Montserrat"/>
                        </a:rPr>
                        <a:t>Propuestas </a:t>
                      </a:r>
                      <a:r>
                        <a:rPr lang="es" sz="2100" b="1">
                          <a:solidFill>
                            <a:srgbClr val="A42145"/>
                          </a:solidFill>
                          <a:latin typeface="Montserrat"/>
                          <a:ea typeface="Montserrat"/>
                          <a:cs typeface="Montserrat"/>
                          <a:sym typeface="Montserrat"/>
                        </a:rPr>
                        <a:t>en</a:t>
                      </a:r>
                      <a:r>
                        <a:rPr lang="es" sz="2100" b="1" u="none" strike="noStrike" cap="none">
                          <a:solidFill>
                            <a:srgbClr val="A42145"/>
                          </a:solidFill>
                          <a:latin typeface="Montserrat"/>
                          <a:ea typeface="Montserrat"/>
                          <a:cs typeface="Montserrat"/>
                          <a:sym typeface="Montserrat"/>
                        </a:rPr>
                        <a:t> valoración</a:t>
                      </a:r>
                      <a:endParaRPr sz="2100" b="1" u="none" strike="noStrike" cap="none">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3" name="Google Shape;552;g3d0ffe769cd_0_0">
            <a:extLst>
              <a:ext uri="{FF2B5EF4-FFF2-40B4-BE49-F238E27FC236}">
                <a16:creationId xmlns:a16="http://schemas.microsoft.com/office/drawing/2014/main" id="{1F02FAD3-EEB8-D853-75B6-A382B5D85213}"/>
              </a:ext>
            </a:extLst>
          </p:cNvPr>
          <p:cNvSpPr/>
          <p:nvPr/>
        </p:nvSpPr>
        <p:spPr>
          <a:xfrm>
            <a:off x="236167" y="6230033"/>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4" name="Google Shape;556;g3d0ffe769cd_0_0">
            <a:extLst>
              <a:ext uri="{FF2B5EF4-FFF2-40B4-BE49-F238E27FC236}">
                <a16:creationId xmlns:a16="http://schemas.microsoft.com/office/drawing/2014/main" id="{7E9DFDEE-1889-72CF-AED6-63336A981610}"/>
              </a:ext>
            </a:extLst>
          </p:cNvPr>
          <p:cNvSpPr/>
          <p:nvPr/>
        </p:nvSpPr>
        <p:spPr>
          <a:xfrm>
            <a:off x="853559" y="6625516"/>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5" name="Google Shape;553;g3d0ffe769cd_0_0">
            <a:extLst>
              <a:ext uri="{FF2B5EF4-FFF2-40B4-BE49-F238E27FC236}">
                <a16:creationId xmlns:a16="http://schemas.microsoft.com/office/drawing/2014/main" id="{89D3263B-DB3F-CC07-7A95-2C85D0AB0828}"/>
              </a:ext>
            </a:extLst>
          </p:cNvPr>
          <p:cNvSpPr/>
          <p:nvPr/>
        </p:nvSpPr>
        <p:spPr>
          <a:xfrm>
            <a:off x="292273" y="7392163"/>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sp>
        <p:nvSpPr>
          <p:cNvPr id="16" name="Google Shape;554;g3d0ffe769cd_0_0">
            <a:extLst>
              <a:ext uri="{FF2B5EF4-FFF2-40B4-BE49-F238E27FC236}">
                <a16:creationId xmlns:a16="http://schemas.microsoft.com/office/drawing/2014/main" id="{E266BF10-E31B-B360-20C2-35BDCED01AA1}"/>
              </a:ext>
            </a:extLst>
          </p:cNvPr>
          <p:cNvSpPr txBox="1"/>
          <p:nvPr/>
        </p:nvSpPr>
        <p:spPr>
          <a:xfrm>
            <a:off x="278176" y="7983150"/>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sp>
        <p:nvSpPr>
          <p:cNvPr id="17" name="Google Shape;562;g3d0ffe769cd_0_0">
            <a:extLst>
              <a:ext uri="{FF2B5EF4-FFF2-40B4-BE49-F238E27FC236}">
                <a16:creationId xmlns:a16="http://schemas.microsoft.com/office/drawing/2014/main" id="{B9D7D377-C730-D2BD-CA1D-4D41290C708F}"/>
              </a:ext>
            </a:extLst>
          </p:cNvPr>
          <p:cNvSpPr txBox="1"/>
          <p:nvPr/>
        </p:nvSpPr>
        <p:spPr>
          <a:xfrm rot="16200000">
            <a:off x="1960325" y="7771585"/>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a:ln>
                <a:noFill/>
              </a:ln>
              <a:solidFill>
                <a:srgbClr val="FFFFFF"/>
              </a:solidFill>
              <a:effectLst/>
              <a:uLnTx/>
              <a:uFillTx/>
              <a:latin typeface="Montserrat"/>
              <a:ea typeface="Montserrat"/>
              <a:cs typeface="Montserrat"/>
              <a:sym typeface="Montserrat"/>
            </a:endParaRPr>
          </a:p>
        </p:txBody>
      </p:sp>
      <p:graphicFrame>
        <p:nvGraphicFramePr>
          <p:cNvPr id="18" name="Table 20">
            <a:extLst>
              <a:ext uri="{FF2B5EF4-FFF2-40B4-BE49-F238E27FC236}">
                <a16:creationId xmlns:a16="http://schemas.microsoft.com/office/drawing/2014/main" id="{B413955C-5A2F-9E20-BC9E-3714CADB48C2}"/>
              </a:ext>
            </a:extLst>
          </p:cNvPr>
          <p:cNvGraphicFramePr>
            <a:graphicFrameLocks noGrp="1"/>
          </p:cNvGraphicFramePr>
          <p:nvPr>
            <p:extLst>
              <p:ext uri="{D42A27DB-BD31-4B8C-83A1-F6EECF244321}">
                <p14:modId xmlns:p14="http://schemas.microsoft.com/office/powerpoint/2010/main" val="12925450"/>
              </p:ext>
            </p:extLst>
          </p:nvPr>
        </p:nvGraphicFramePr>
        <p:xfrm>
          <a:off x="2553875" y="6626785"/>
          <a:ext cx="4928400" cy="1861200"/>
        </p:xfrm>
        <a:graphic>
          <a:graphicData uri="http://schemas.openxmlformats.org/drawingml/2006/table">
            <a:tbl>
              <a:tblPr firstRow="1" bandRow="1">
                <a:tableStyleId>{5C22544A-7EE6-4342-B048-85BDC9FD1C3A}</a:tableStyleId>
              </a:tblPr>
              <a:tblGrid>
                <a:gridCol w="4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628000">
                  <a:extLst>
                    <a:ext uri="{9D8B030D-6E8A-4147-A177-3AD203B41FA5}">
                      <a16:colId xmlns:a16="http://schemas.microsoft.com/office/drawing/2014/main" val="20002"/>
                    </a:ext>
                  </a:extLst>
                </a:gridCol>
              </a:tblGrid>
              <a:tr h="465300">
                <a:tc gridSpan="3">
                  <a:txBody>
                    <a:bodyPr/>
                    <a:lstStyle/>
                    <a:p>
                      <a:pPr algn="ctr">
                        <a:defRPr sz="1400" b="1">
                          <a:solidFill>
                            <a:srgbClr val="FFFFFF"/>
                          </a:solidFill>
                          <a:latin typeface="Montserrat"/>
                        </a:defRPr>
                      </a:pPr>
                      <a:r>
                        <a:t>3 Predios en ruta y 0 CECI en Construción 2026</a:t>
                      </a:r>
                    </a:p>
                  </a:txBody>
                  <a:tcPr marL="72000" marR="72000" anchor="ctr">
                    <a:solidFill>
                      <a:srgbClr val="705085"/>
                    </a:solidFill>
                  </a:tcPr>
                </a:tc>
                <a:tc hMerge="1">
                  <a:txBody>
                    <a:bodyPr/>
                    <a:lstStyle/>
                    <a:p>
                      <a:endParaRPr/>
                    </a:p>
                  </a:txBody>
                  <a:tcPr marL="72000" marR="72000" anchor="ctr"/>
                </a:tc>
                <a:tc hMerge="1">
                  <a:txBody>
                    <a:bodyPr/>
                    <a:lstStyle/>
                    <a:p>
                      <a:endParaRPr/>
                    </a:p>
                  </a:txBody>
                  <a:tcPr marL="72000" marR="72000" anchor="ctr"/>
                </a:tc>
                <a:extLst>
                  <a:ext uri="{0D108BD9-81ED-4DB2-BD59-A6C34878D82A}">
                    <a16:rowId xmlns:a16="http://schemas.microsoft.com/office/drawing/2014/main" val="10000"/>
                  </a:ext>
                </a:extLst>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endParaRPr/>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extLst>
                  <a:ext uri="{0D108BD9-81ED-4DB2-BD59-A6C34878D82A}">
                    <a16:rowId xmlns:a16="http://schemas.microsoft.com/office/drawing/2014/main" val="10001"/>
                  </a:ext>
                </a:extLst>
              </a:tr>
              <a:tr h="465300">
                <a:tc rowSpan="2">
                  <a:txBody>
                    <a:bodyPr/>
                    <a:lstStyle/>
                    <a:p>
                      <a:endParaRPr/>
                    </a:p>
                  </a:txBody>
                  <a:tcPr marL="72000" marR="72000" anchor="ctr">
                    <a:noFill/>
                  </a:tcPr>
                </a:tc>
                <a:tc>
                  <a:txBody>
                    <a:bodyPr/>
                    <a:lstStyle/>
                    <a:p>
                      <a:pPr algn="ctr">
                        <a:defRPr sz="1200" b="1">
                          <a:solidFill>
                            <a:srgbClr val="FFFFFF"/>
                          </a:solidFill>
                          <a:latin typeface="Montserrat"/>
                        </a:defRPr>
                      </a:pPr>
                      <a:r>
                        <a:t>2 Reserva IMSS</a:t>
                      </a:r>
                    </a:p>
                  </a:txBody>
                  <a:tcPr marL="72000" marR="72000" anchor="ctr">
                    <a:noFill/>
                  </a:tcPr>
                </a:tc>
                <a:tc>
                  <a:txBody>
                    <a:bodyPr/>
                    <a:lstStyle/>
                    <a:p>
                      <a:pPr algn="ctr">
                        <a:defRPr sz="1200" b="0">
                          <a:solidFill>
                            <a:srgbClr val="FFFFFF"/>
                          </a:solidFill>
                          <a:latin typeface="Montserrat"/>
                        </a:defRPr>
                      </a:pPr>
                      <a:r>
                        <a:t>Pedro Escobedo, El Marqués</a:t>
                      </a:r>
                    </a:p>
                  </a:txBody>
                  <a:tcPr marL="72000" marR="72000" anchor="ctr">
                    <a:noFill/>
                  </a:tcPr>
                </a:tc>
                <a:extLst>
                  <a:ext uri="{0D108BD9-81ED-4DB2-BD59-A6C34878D82A}">
                    <a16:rowId xmlns:a16="http://schemas.microsoft.com/office/drawing/2014/main" val="10002"/>
                  </a:ext>
                </a:extLst>
              </a:tr>
              <a:tr h="465300">
                <a:tc vMerge="1">
                  <a:txBody>
                    <a:bodyPr/>
                    <a:lstStyle/>
                    <a:p>
                      <a:endParaRPr/>
                    </a:p>
                  </a:txBody>
                  <a:tcPr marL="72000" marR="72000" anchor="ctr"/>
                </a:tc>
                <a:tc>
                  <a:txBody>
                    <a:bodyPr/>
                    <a:lstStyle/>
                    <a:p>
                      <a:pPr algn="ctr">
                        <a:defRPr sz="1200" b="1">
                          <a:solidFill>
                            <a:srgbClr val="FFFFFF"/>
                          </a:solidFill>
                          <a:latin typeface="Montserrat"/>
                        </a:defRPr>
                      </a:pPr>
                      <a:r>
                        <a:t>1 Donación</a:t>
                      </a:r>
                    </a:p>
                  </a:txBody>
                  <a:tcPr marL="72000" marR="72000" anchor="ctr">
                    <a:noFill/>
                  </a:tcPr>
                </a:tc>
                <a:tc>
                  <a:txBody>
                    <a:bodyPr/>
                    <a:lstStyle/>
                    <a:p>
                      <a:pPr algn="ctr">
                        <a:defRPr sz="1200" b="0">
                          <a:solidFill>
                            <a:srgbClr val="FFFFFF"/>
                          </a:solidFill>
                          <a:latin typeface="Montserrat"/>
                        </a:defRPr>
                      </a:pPr>
                      <a:r>
                        <a:t>Tequisquiapan</a:t>
                      </a:r>
                    </a:p>
                  </a:txBody>
                  <a:tcPr marL="72000" marR="72000" anchor="ctr">
                    <a:noFill/>
                  </a:tcPr>
                </a:tc>
                <a:extLst>
                  <a:ext uri="{0D108BD9-81ED-4DB2-BD59-A6C34878D82A}">
                    <a16:rowId xmlns:a16="http://schemas.microsoft.com/office/drawing/2014/main" val="10003"/>
                  </a:ext>
                </a:extLst>
              </a:tr>
            </a:tbl>
          </a:graphicData>
        </a:graphic>
      </p:graphicFrame>
      <p:sp>
        <p:nvSpPr>
          <p:cNvPr id="19" name="Oval 21">
            <a:extLst>
              <a:ext uri="{FF2B5EF4-FFF2-40B4-BE49-F238E27FC236}">
                <a16:creationId xmlns:a16="http://schemas.microsoft.com/office/drawing/2014/main" id="{07F0B217-C760-57B9-ADF5-347FA07EB6E0}"/>
              </a:ext>
            </a:extLst>
          </p:cNvPr>
          <p:cNvSpPr/>
          <p:nvPr/>
        </p:nvSpPr>
        <p:spPr>
          <a:xfrm>
            <a:off x="887075" y="6648385"/>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705085"/>
                </a:solidFill>
                <a:latin typeface="Montserrat"/>
              </a:defRPr>
            </a:pPr>
            <a:r>
              <a:t>12</a:t>
            </a:r>
          </a:p>
        </p:txBody>
      </p:sp>
      <p:sp>
        <p:nvSpPr>
          <p:cNvPr id="20" name="Rectangle 22">
            <a:extLst>
              <a:ext uri="{FF2B5EF4-FFF2-40B4-BE49-F238E27FC236}">
                <a16:creationId xmlns:a16="http://schemas.microsoft.com/office/drawing/2014/main" id="{A7328DD2-9F9D-DA34-66A9-D11122093CA8}"/>
              </a:ext>
            </a:extLst>
          </p:cNvPr>
          <p:cNvSpPr/>
          <p:nvPr/>
        </p:nvSpPr>
        <p:spPr>
          <a:xfrm>
            <a:off x="365075" y="7433185"/>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a:defRPr sz="1500" b="1">
                <a:solidFill>
                  <a:srgbClr val="FFFFFF"/>
                </a:solidFill>
                <a:latin typeface="Montserrat"/>
              </a:defRPr>
            </a:pPr>
            <a:r>
              <a:t>12 CECI IMSS</a:t>
            </a:r>
          </a:p>
          <a:p>
            <a:pPr algn="ctr">
              <a:defRPr sz="1500" b="1">
                <a:solidFill>
                  <a:srgbClr val="FFFFFF"/>
                </a:solidFill>
                <a:latin typeface="Montserrat"/>
              </a:defRPr>
            </a:pPr>
            <a:r>
              <a:t>0 CECI CAMPO</a:t>
            </a:r>
          </a:p>
        </p:txBody>
      </p:sp>
      <p:sp>
        <p:nvSpPr>
          <p:cNvPr id="21" name="TextBox 23">
            <a:extLst>
              <a:ext uri="{FF2B5EF4-FFF2-40B4-BE49-F238E27FC236}">
                <a16:creationId xmlns:a16="http://schemas.microsoft.com/office/drawing/2014/main" id="{8D6CD32D-5218-3CE4-2C58-1B8BCD3C6BED}"/>
              </a:ext>
            </a:extLst>
          </p:cNvPr>
          <p:cNvSpPr txBox="1"/>
          <p:nvPr/>
        </p:nvSpPr>
        <p:spPr>
          <a:xfrm>
            <a:off x="0" y="9590400"/>
            <a:ext cx="7574400" cy="230400"/>
          </a:xfrm>
          <a:prstGeom prst="rect">
            <a:avLst/>
          </a:prstGeom>
          <a:noFill/>
        </p:spPr>
        <p:txBody>
          <a:bodyPr wrap="square" lIns="0" tIns="0" rIns="0" bIns="0">
            <a:spAutoFit/>
          </a:bodyPr>
          <a:lstStyle/>
          <a:p>
            <a:pPr algn="l">
              <a:defRPr sz="900">
                <a:solidFill>
                  <a:srgbClr val="FFFFFF"/>
                </a:solidFill>
                <a:latin typeface="Montserrat"/>
              </a:defRPr>
            </a:pPr>
            <a:r>
              <a:t>¹ Terrenos validados. 5 CECI en validación o en integración de expediente para donación en Pedro Escobedo, El Marqués, Tequisquiapan y San Juan del Río.</a:t>
            </a:r>
          </a:p>
        </p:txBody>
      </p:sp>
    </p:spTree>
    <p:extLst>
      <p:ext uri="{BB962C8B-B14F-4D97-AF65-F5344CB8AC3E}">
        <p14:creationId xmlns:p14="http://schemas.microsoft.com/office/powerpoint/2010/main" val="364733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QUERÉTARO</a:t>
            </a:r>
          </a:p>
        </p:txBody>
      </p:sp>
      <p:graphicFrame>
        <p:nvGraphicFramePr>
          <p:cNvPr id="467" name="Table 466"/>
          <p:cNvGraphicFramePr>
            <a:graphicFrameLocks noGrp="1"/>
          </p:cNvGraphicFramePr>
          <p:nvPr/>
        </p:nvGraphicFramePr>
        <p:xfrm>
          <a:off x="2311200" y="1670400"/>
          <a:ext cx="5032800" cy="881640"/>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333000">
                <a:tc gridSpan="2">
                  <a:txBody>
                    <a:bodyPr/>
                    <a:lstStyle/>
                    <a:p>
                      <a:pPr algn="ctr"/>
                      <a:r>
                        <a:rPr sz="1000" b="1">
                          <a:solidFill>
                            <a:srgbClr val="FFFFFF"/>
                          </a:solidFill>
                          <a:latin typeface="Montserrat"/>
                        </a:rPr>
                        <a:t>GUARDERÍAS</a:t>
                      </a:r>
                    </a:p>
                  </a:txBody>
                  <a:tcPr marL="0" marR="0" marT="0" marB="0" anchor="ctr">
                    <a:solidFill>
                      <a:srgbClr val="006455"/>
                    </a:solidFill>
                  </a:tcPr>
                </a:tc>
                <a:tc hMerge="1">
                  <a:txBody>
                    <a:bodyPr/>
                    <a:lstStyle/>
                    <a:p>
                      <a:endParaRPr/>
                    </a:p>
                  </a:txBody>
                  <a:tcPr/>
                </a:tc>
                <a:extLst>
                  <a:ext uri="{0D108BD9-81ED-4DB2-BD59-A6C34878D82A}">
                    <a16:rowId xmlns:a16="http://schemas.microsoft.com/office/drawing/2014/main" val="10000"/>
                  </a:ext>
                </a:extLst>
              </a:tr>
              <a:tr h="333000">
                <a:tc>
                  <a:txBody>
                    <a:bodyPr/>
                    <a:lstStyle/>
                    <a:p>
                      <a:pPr algn="ctr"/>
                      <a:r>
                        <a:rPr sz="1000" b="1">
                          <a:latin typeface="Montserrat"/>
                        </a:rPr>
                        <a:t>32 unidades</a:t>
                      </a:r>
                    </a:p>
                    <a:p>
                      <a:pPr algn="ctr">
                        <a:defRPr sz="1000">
                          <a:solidFill>
                            <a:srgbClr val="505050"/>
                          </a:solidFill>
                          <a:latin typeface="Montserrat"/>
                        </a:defRPr>
                      </a:pPr>
                      <a:r>
                        <a:t>1 directas</a:t>
                      </a:r>
                    </a:p>
                    <a:p>
                      <a:pPr algn="ctr">
                        <a:defRPr sz="1000">
                          <a:solidFill>
                            <a:srgbClr val="505050"/>
                          </a:solidFill>
                          <a:latin typeface="Montserrat"/>
                        </a:defRPr>
                      </a:pPr>
                      <a:r>
                        <a:t>31 indirectas</a:t>
                      </a:r>
                    </a:p>
                  </a:txBody>
                  <a:tcPr anchor="ctr">
                    <a:solidFill>
                      <a:srgbClr val="FFFFFF"/>
                    </a:solidFill>
                  </a:tcPr>
                </a:tc>
                <a:tc>
                  <a:txBody>
                    <a:bodyPr/>
                    <a:lstStyle/>
                    <a:p>
                      <a:pPr algn="ctr"/>
                      <a:r>
                        <a:rPr sz="1000" b="1">
                          <a:latin typeface="Montserrat"/>
                        </a:rPr>
                        <a:t>5,761 inscritos</a:t>
                      </a:r>
                    </a:p>
                    <a:p>
                      <a:pPr algn="ctr">
                        <a:defRPr sz="1000">
                          <a:solidFill>
                            <a:srgbClr val="505050"/>
                          </a:solidFill>
                          <a:latin typeface="Montserrat"/>
                        </a:defRPr>
                      </a:pPr>
                      <a:r>
                        <a:t>1,852 en espera</a:t>
                      </a:r>
                    </a:p>
                  </a:txBody>
                  <a:tcPr anchor="ctr">
                    <a:solidFill>
                      <a:srgbClr val="FFFFFF"/>
                    </a:solidFill>
                  </a:tcPr>
                </a:tc>
                <a:extLst>
                  <a:ext uri="{0D108BD9-81ED-4DB2-BD59-A6C34878D82A}">
                    <a16:rowId xmlns:a16="http://schemas.microsoft.com/office/drawing/2014/main" val="10001"/>
                  </a:ext>
                </a:extLst>
              </a:tr>
            </a:tbl>
          </a:graphicData>
        </a:graphic>
      </p:graphicFrame>
      <p:graphicFrame>
        <p:nvGraphicFramePr>
          <p:cNvPr id="468" name="Table 467"/>
          <p:cNvGraphicFramePr>
            <a:graphicFrameLocks noGrp="1"/>
          </p:cNvGraphicFramePr>
          <p:nvPr>
            <p:extLst>
              <p:ext uri="{D42A27DB-BD31-4B8C-83A1-F6EECF244321}">
                <p14:modId xmlns:p14="http://schemas.microsoft.com/office/powerpoint/2010/main" val="3567642540"/>
              </p:ext>
            </p:extLst>
          </p:nvPr>
        </p:nvGraphicFramePr>
        <p:xfrm>
          <a:off x="2311200" y="3006339"/>
          <a:ext cx="5032800" cy="1568110"/>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388573">
                <a:tc gridSpan="2">
                  <a:txBody>
                    <a:bodyPr/>
                    <a:lstStyle/>
                    <a:p>
                      <a:pPr algn="ctr">
                        <a:defRPr sz="1000" b="1">
                          <a:solidFill>
                            <a:srgbClr val="FFFFFF"/>
                          </a:solidFill>
                          <a:latin typeface="Montserrat"/>
                        </a:defRPr>
                      </a:pPr>
                      <a:r>
                        <a:t>BIENESTAR SOCIAL</a:t>
                      </a:r>
                    </a:p>
                  </a:txBody>
                  <a:tcPr anchor="ctr">
                    <a:solidFill>
                      <a:srgbClr val="006455"/>
                    </a:solidFill>
                  </a:tcPr>
                </a:tc>
                <a:tc hMerge="1">
                  <a:txBody>
                    <a:bodyPr/>
                    <a:lstStyle/>
                    <a:p>
                      <a:endParaRPr/>
                    </a:p>
                  </a:txBody>
                  <a:tcPr/>
                </a:tc>
                <a:extLst>
                  <a:ext uri="{0D108BD9-81ED-4DB2-BD59-A6C34878D82A}">
                    <a16:rowId xmlns:a16="http://schemas.microsoft.com/office/drawing/2014/main" val="10000"/>
                  </a:ext>
                </a:extLst>
              </a:tr>
              <a:tr h="257359">
                <a:tc>
                  <a:txBody>
                    <a:bodyPr/>
                    <a:lstStyle/>
                    <a:p>
                      <a:pPr algn="ctr">
                        <a:defRPr sz="800" b="1">
                          <a:latin typeface="Montserrat"/>
                        </a:defRPr>
                      </a:pPr>
                      <a:r>
                        <a:t>1 CECEM</a:t>
                      </a:r>
                    </a:p>
                  </a:txBody>
                  <a:tcPr marL="28800" marR="28800" marT="0" marB="0" anchor="ctr">
                    <a:solidFill>
                      <a:srgbClr val="FFFFFF"/>
                    </a:solidFill>
                  </a:tcPr>
                </a:tc>
                <a:tc>
                  <a:txBody>
                    <a:bodyPr/>
                    <a:lstStyle/>
                    <a:p>
                      <a:pPr algn="ctr">
                        <a:defRPr sz="800">
                          <a:latin typeface="Montserrat"/>
                        </a:defRPr>
                      </a:pPr>
                      <a:r>
                        <a:t>San Pedrito </a:t>
                      </a:r>
                      <a:r>
                        <a:rPr err="1"/>
                        <a:t>Peñuelas</a:t>
                      </a:r>
                      <a:endParaRPr/>
                    </a:p>
                  </a:txBody>
                  <a:tcPr marL="28800" marR="28800" marT="0" marB="0" anchor="ctr">
                    <a:solidFill>
                      <a:srgbClr val="FFFFFF"/>
                    </a:solidFill>
                  </a:tcPr>
                </a:tc>
                <a:extLst>
                  <a:ext uri="{0D108BD9-81ED-4DB2-BD59-A6C34878D82A}">
                    <a16:rowId xmlns:a16="http://schemas.microsoft.com/office/drawing/2014/main" val="10001"/>
                  </a:ext>
                </a:extLst>
              </a:tr>
              <a:tr h="236421">
                <a:tc>
                  <a:txBody>
                    <a:bodyPr/>
                    <a:lstStyle/>
                    <a:p>
                      <a:pPr algn="ctr">
                        <a:defRPr sz="800" b="1">
                          <a:latin typeface="Montserrat"/>
                        </a:defRPr>
                      </a:pPr>
                      <a:r>
                        <a:t>1 Centro de Seguridad Social</a:t>
                      </a:r>
                    </a:p>
                  </a:txBody>
                  <a:tcPr marL="28800" marR="28800" marT="0" marB="0" anchor="ctr">
                    <a:solidFill>
                      <a:srgbClr val="EFEFEF"/>
                    </a:solidFill>
                  </a:tcPr>
                </a:tc>
                <a:tc>
                  <a:txBody>
                    <a:bodyPr/>
                    <a:lstStyle/>
                    <a:p>
                      <a:pPr algn="ctr">
                        <a:defRPr sz="800">
                          <a:latin typeface="Montserrat"/>
                        </a:defRPr>
                      </a:pPr>
                      <a:r>
                        <a:t>Querétaro</a:t>
                      </a:r>
                    </a:p>
                  </a:txBody>
                  <a:tcPr marL="28800" marR="28800" marT="0" marB="0" anchor="ctr">
                    <a:solidFill>
                      <a:srgbClr val="EFEFEF"/>
                    </a:solidFill>
                  </a:tcPr>
                </a:tc>
                <a:extLst>
                  <a:ext uri="{0D108BD9-81ED-4DB2-BD59-A6C34878D82A}">
                    <a16:rowId xmlns:a16="http://schemas.microsoft.com/office/drawing/2014/main" val="10002"/>
                  </a:ext>
                </a:extLst>
              </a:tr>
              <a:tr h="297180">
                <a:tc>
                  <a:txBody>
                    <a:bodyPr/>
                    <a:lstStyle/>
                    <a:p>
                      <a:pPr algn="ctr">
                        <a:defRPr sz="800" b="1">
                          <a:latin typeface="Montserrat"/>
                        </a:defRPr>
                      </a:pPr>
                      <a:r>
                        <a:t>1 Teatro</a:t>
                      </a:r>
                    </a:p>
                  </a:txBody>
                  <a:tcPr marL="28800" marR="28800" marT="0" marB="0" anchor="ctr">
                    <a:solidFill>
                      <a:srgbClr val="FFFFFF"/>
                    </a:solidFill>
                  </a:tcPr>
                </a:tc>
                <a:tc>
                  <a:txBody>
                    <a:bodyPr/>
                    <a:lstStyle/>
                    <a:p>
                      <a:pPr algn="ctr">
                        <a:defRPr sz="800">
                          <a:latin typeface="Montserrat"/>
                        </a:defRPr>
                      </a:pPr>
                      <a:r>
                        <a:t>Querétaro</a:t>
                      </a:r>
                    </a:p>
                  </a:txBody>
                  <a:tcPr marL="28800" marR="28800" marT="0" marB="0" anchor="ctr">
                    <a:solidFill>
                      <a:srgbClr val="FFFFFF"/>
                    </a:solidFill>
                  </a:tcPr>
                </a:tc>
                <a:extLst>
                  <a:ext uri="{0D108BD9-81ED-4DB2-BD59-A6C34878D82A}">
                    <a16:rowId xmlns:a16="http://schemas.microsoft.com/office/drawing/2014/main" val="10003"/>
                  </a:ext>
                </a:extLst>
              </a:tr>
              <a:tr h="388577">
                <a:tc>
                  <a:txBody>
                    <a:bodyPr/>
                    <a:lstStyle/>
                    <a:p>
                      <a:pPr algn="ctr">
                        <a:defRPr sz="800" b="1">
                          <a:latin typeface="Montserrat"/>
                        </a:defRPr>
                      </a:pPr>
                      <a:r>
                        <a:t>1 Unidad Deportiva</a:t>
                      </a:r>
                    </a:p>
                  </a:txBody>
                  <a:tcPr marL="28800" marR="28800" marT="0" marB="0" anchor="ctr">
                    <a:solidFill>
                      <a:srgbClr val="EFEFEF"/>
                    </a:solidFill>
                  </a:tcPr>
                </a:tc>
                <a:tc>
                  <a:txBody>
                    <a:bodyPr/>
                    <a:lstStyle/>
                    <a:p>
                      <a:pPr algn="ctr">
                        <a:defRPr sz="800">
                          <a:latin typeface="Montserrat"/>
                        </a:defRPr>
                      </a:pPr>
                      <a:r>
                        <a:t>Querétaro</a:t>
                      </a:r>
                    </a:p>
                  </a:txBody>
                  <a:tcPr marL="28800" marR="28800" marT="0" marB="0" anchor="ctr">
                    <a:solidFill>
                      <a:srgbClr val="EFEFEF"/>
                    </a:solidFill>
                  </a:tcPr>
                </a:tc>
                <a:extLst>
                  <a:ext uri="{0D108BD9-81ED-4DB2-BD59-A6C34878D82A}">
                    <a16:rowId xmlns:a16="http://schemas.microsoft.com/office/drawing/2014/main" val="10004"/>
                  </a:ext>
                </a:extLst>
              </a:tr>
            </a:tbl>
          </a:graphicData>
        </a:graphic>
      </p:graphicFrame>
      <p:graphicFrame>
        <p:nvGraphicFramePr>
          <p:cNvPr id="469" name="Table 468"/>
          <p:cNvGraphicFramePr>
            <a:graphicFrameLocks noGrp="1"/>
          </p:cNvGraphicFramePr>
          <p:nvPr>
            <p:extLst>
              <p:ext uri="{D42A27DB-BD31-4B8C-83A1-F6EECF244321}">
                <p14:modId xmlns:p14="http://schemas.microsoft.com/office/powerpoint/2010/main" val="3101091573"/>
              </p:ext>
            </p:extLst>
          </p:nvPr>
        </p:nvGraphicFramePr>
        <p:xfrm>
          <a:off x="2311200" y="5112424"/>
          <a:ext cx="5032800" cy="817200"/>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272400">
                <a:tc gridSpan="2">
                  <a:txBody>
                    <a:bodyPr/>
                    <a:lstStyle/>
                    <a:p>
                      <a:pPr algn="ctr">
                        <a:defRPr sz="1000" b="1">
                          <a:solidFill>
                            <a:srgbClr val="FFFFFF"/>
                          </a:solidFill>
                          <a:latin typeface="Montserrat"/>
                        </a:defRPr>
                      </a:pPr>
                      <a:r>
                        <a:t>CENTROS VACACIONALES, VELATORIOS Y TIENDAS</a:t>
                      </a:r>
                    </a:p>
                  </a:txBody>
                  <a:tcPr anchor="ctr">
                    <a:solidFill>
                      <a:srgbClr val="006455"/>
                    </a:solidFill>
                  </a:tcPr>
                </a:tc>
                <a:tc hMerge="1">
                  <a:txBody>
                    <a:bodyPr/>
                    <a:lstStyle/>
                    <a:p>
                      <a:endParaRPr/>
                    </a:p>
                  </a:txBody>
                  <a:tcPr/>
                </a:tc>
                <a:extLst>
                  <a:ext uri="{0D108BD9-81ED-4DB2-BD59-A6C34878D82A}">
                    <a16:rowId xmlns:a16="http://schemas.microsoft.com/office/drawing/2014/main" val="10000"/>
                  </a:ext>
                </a:extLst>
              </a:tr>
              <a:tr h="272400">
                <a:tc>
                  <a:txBody>
                    <a:bodyPr/>
                    <a:lstStyle/>
                    <a:p>
                      <a:pPr algn="ctr">
                        <a:defRPr sz="800" b="1">
                          <a:latin typeface="Montserrat"/>
                        </a:defRPr>
                      </a:pPr>
                      <a:r>
                        <a:t>1 Tienda IMSS-SNTSS</a:t>
                      </a:r>
                    </a:p>
                  </a:txBody>
                  <a:tcPr marL="28800" marR="28800" marT="0" marB="0" anchor="ctr">
                    <a:solidFill>
                      <a:srgbClr val="FFFFFF"/>
                    </a:solidFill>
                  </a:tcPr>
                </a:tc>
                <a:tc>
                  <a:txBody>
                    <a:bodyPr/>
                    <a:lstStyle/>
                    <a:p>
                      <a:pPr algn="ctr">
                        <a:defRPr sz="800">
                          <a:latin typeface="Montserrat"/>
                        </a:defRPr>
                      </a:pPr>
                      <a:r>
                        <a:t>No. 35 Querétaro</a:t>
                      </a:r>
                    </a:p>
                  </a:txBody>
                  <a:tcPr marL="28800" marR="28800" marT="0" marB="0" anchor="ctr">
                    <a:solidFill>
                      <a:srgbClr val="FFFFFF"/>
                    </a:solidFill>
                  </a:tcPr>
                </a:tc>
                <a:extLst>
                  <a:ext uri="{0D108BD9-81ED-4DB2-BD59-A6C34878D82A}">
                    <a16:rowId xmlns:a16="http://schemas.microsoft.com/office/drawing/2014/main" val="10001"/>
                  </a:ext>
                </a:extLst>
              </a:tr>
              <a:tr h="272400">
                <a:tc>
                  <a:txBody>
                    <a:bodyPr/>
                    <a:lstStyle/>
                    <a:p>
                      <a:pPr algn="ctr">
                        <a:defRPr sz="800" b="1">
                          <a:latin typeface="Montserrat"/>
                        </a:defRPr>
                      </a:pPr>
                      <a:r>
                        <a:t>1 Velatorio</a:t>
                      </a:r>
                    </a:p>
                  </a:txBody>
                  <a:tcPr marL="28800" marR="28800" marT="0" marB="0" anchor="ctr">
                    <a:solidFill>
                      <a:srgbClr val="EFEFEF"/>
                    </a:solidFill>
                  </a:tcPr>
                </a:tc>
                <a:tc>
                  <a:txBody>
                    <a:bodyPr/>
                    <a:lstStyle/>
                    <a:p>
                      <a:pPr algn="ctr">
                        <a:defRPr sz="800">
                          <a:latin typeface="Montserrat"/>
                        </a:defRPr>
                      </a:pPr>
                      <a:r>
                        <a:t>Querétaro</a:t>
                      </a:r>
                    </a:p>
                  </a:txBody>
                  <a:tcPr marL="28800" marR="28800" marT="0" marB="0" anchor="ctr">
                    <a:solidFill>
                      <a:srgbClr val="EFEFEF"/>
                    </a:solidFill>
                  </a:tcPr>
                </a:tc>
                <a:extLst>
                  <a:ext uri="{0D108BD9-81ED-4DB2-BD59-A6C34878D82A}">
                    <a16:rowId xmlns:a16="http://schemas.microsoft.com/office/drawing/2014/main" val="10002"/>
                  </a:ext>
                </a:extLst>
              </a:tr>
            </a:tbl>
          </a:graphicData>
        </a:graphic>
      </p:graphicFrame>
      <p:pic>
        <p:nvPicPr>
          <p:cNvPr id="470" name="Picture 469" descr="map_tipo2_22_qro.png"/>
          <p:cNvPicPr>
            <a:picLocks noChangeAspect="1"/>
          </p:cNvPicPr>
          <p:nvPr/>
        </p:nvPicPr>
        <p:blipFill>
          <a:blip r:embed="rId6"/>
          <a:stretch>
            <a:fillRect/>
          </a:stretch>
        </p:blipFill>
        <p:spPr>
          <a:xfrm>
            <a:off x="2822400" y="5929200"/>
            <a:ext cx="2656800" cy="302049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sz="1000" b="0">
                <a:solidFill>
                  <a:srgbClr val="000000"/>
                </a:solidFill>
                <a:latin typeface="Montserrat"/>
              </a:defRPr>
            </a:pPr>
            <a:r>
              <a:t>Guarderías    32</a:t>
            </a:r>
          </a:p>
        </p:txBody>
      </p:sp>
      <p:sp>
        <p:nvSpPr>
          <p:cNvPr id="472" name="TextBox 471"/>
          <p:cNvSpPr txBox="1"/>
          <p:nvPr/>
        </p:nvSpPr>
        <p:spPr>
          <a:xfrm>
            <a:off x="0" y="9640800"/>
            <a:ext cx="4258800" cy="230400"/>
          </a:xfrm>
          <a:prstGeom prst="rect">
            <a:avLst/>
          </a:prstGeom>
          <a:noFill/>
        </p:spPr>
        <p:txBody>
          <a:bodyPr wrap="square" lIns="0" tIns="0" rIns="0" bIns="0">
            <a:spAutoFit/>
          </a:bodyPr>
          <a:lstStyle/>
          <a:p>
            <a:pPr algn="l">
              <a:defRPr sz="900">
                <a:solidFill>
                  <a:srgbClr val="FFFFFF"/>
                </a:solidFill>
                <a:latin typeface="Montserrat"/>
              </a:defRPr>
            </a:pPr>
            <a:r>
              <a:t>Fuente: Dirección de Prestaciones Económicas y Sociales, mayo de 2026.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a:solidFill>
                            <a:srgbClr val="BC955C"/>
                          </a:solidFill>
                          <a:latin typeface="Montserrat"/>
                          <a:ea typeface="Montserrat"/>
                          <a:cs typeface="Montserrat"/>
                          <a:sym typeface="Montserrat"/>
                        </a:rPr>
                        <a:t>Actividad económica</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2670525348"/>
              </p:ext>
            </p:extLst>
          </p:nvPr>
        </p:nvGraphicFramePr>
        <p:xfrm>
          <a:off x="282450" y="3269169"/>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MX" sz="1500" b="1" u="none" strike="noStrike" cap="none">
                          <a:solidFill>
                            <a:srgbClr val="BC955C"/>
                          </a:solidFill>
                          <a:latin typeface="Montserrat"/>
                          <a:ea typeface="Montserrat"/>
                          <a:cs typeface="Montserrat"/>
                          <a:sym typeface="Montserrat"/>
                        </a:rPr>
                        <a:t>Puestos de trabajo, </a:t>
                      </a:r>
                      <a:r>
                        <a:rPr lang="es-MX" sz="15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MX" sz="15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lang="es-MX"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extLst>
              <p:ext uri="{D42A27DB-BD31-4B8C-83A1-F6EECF244321}">
                <p14:modId xmlns:p14="http://schemas.microsoft.com/office/powerpoint/2010/main" val="203358765"/>
              </p:ext>
            </p:extLst>
          </p:nvPr>
        </p:nvGraphicFramePr>
        <p:xfrm>
          <a:off x="231775" y="750409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479" name="Table 478"/>
          <p:cNvGraphicFramePr>
            <a:graphicFrameLocks noGrp="1"/>
          </p:cNvGraphicFramePr>
          <p:nvPr>
            <p:extLst>
              <p:ext uri="{D42A27DB-BD31-4B8C-83A1-F6EECF244321}">
                <p14:modId xmlns:p14="http://schemas.microsoft.com/office/powerpoint/2010/main" val="407682390"/>
              </p:ext>
            </p:extLst>
          </p:nvPr>
        </p:nvGraphicFramePr>
        <p:xfrm>
          <a:off x="454524" y="1119099"/>
          <a:ext cx="6984000" cy="2072699"/>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92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92000">
                  <a:extLst>
                    <a:ext uri="{9D8B030D-6E8A-4147-A177-3AD203B41FA5}">
                      <a16:colId xmlns:a16="http://schemas.microsoft.com/office/drawing/2014/main" val="20007"/>
                    </a:ext>
                  </a:extLst>
                </a:gridCol>
              </a:tblGrid>
              <a:tr h="251999">
                <a:tc gridSpan="8">
                  <a:txBody>
                    <a:bodyPr/>
                    <a:lstStyle/>
                    <a:p>
                      <a:pPr algn="ctr">
                        <a:defRPr sz="1000" b="1">
                          <a:solidFill>
                            <a:srgbClr val="FFFFFF"/>
                          </a:solidFill>
                          <a:latin typeface="Montserrat"/>
                        </a:defRPr>
                      </a:pPr>
                      <a:r>
                        <a:t>PRINCIPALES EMPLEADORES</a:t>
                      </a:r>
                    </a:p>
                  </a:txBody>
                  <a:tcPr anchor="ctr">
                    <a:solidFill>
                      <a:srgbClr val="BC955C"/>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60000">
                <a:tc>
                  <a:txBody>
                    <a:bodyPr/>
                    <a:lstStyle/>
                    <a:p>
                      <a:pPr algn="ctr">
                        <a:defRPr sz="850" b="1">
                          <a:solidFill>
                            <a:srgbClr val="FFFFFF"/>
                          </a:solidFill>
                          <a:latin typeface="Montserrat"/>
                        </a:defRPr>
                      </a:pPr>
                      <a:r>
                        <a:t>Empleador público</a:t>
                      </a:r>
                    </a:p>
                  </a:txBody>
                  <a:tcPr anchor="ctr">
                    <a:solidFill>
                      <a:srgbClr val="BC955C"/>
                    </a:solidFill>
                  </a:tcPr>
                </a:tc>
                <a:tc>
                  <a:txBody>
                    <a:bodyPr/>
                    <a:lstStyle/>
                    <a:p>
                      <a:pPr algn="ctr">
                        <a:defRPr sz="850" b="1">
                          <a:solidFill>
                            <a:srgbClr val="FFFFFF"/>
                          </a:solidFill>
                          <a:latin typeface="Montserrat"/>
                        </a:defRPr>
                      </a:pPr>
                      <a:r>
                        <a:t>Empleos Anterior</a:t>
                      </a:r>
                    </a:p>
                  </a:txBody>
                  <a:tcPr anchor="ctr">
                    <a:solidFill>
                      <a:srgbClr val="BC955C"/>
                    </a:solidFill>
                  </a:tcPr>
                </a:tc>
                <a:tc>
                  <a:txBody>
                    <a:bodyPr/>
                    <a:lstStyle/>
                    <a:p>
                      <a:pPr algn="ctr">
                        <a:defRPr sz="850" b="1">
                          <a:solidFill>
                            <a:srgbClr val="FFFFFF"/>
                          </a:solidFill>
                          <a:latin typeface="Montserrat"/>
                        </a:defRPr>
                      </a:pPr>
                      <a:r>
                        <a:t>Empleos Actual</a:t>
                      </a:r>
                    </a:p>
                  </a:txBody>
                  <a:tcPr anchor="ctr">
                    <a:solidFill>
                      <a:srgbClr val="BC955C"/>
                    </a:solidFill>
                  </a:tcPr>
                </a:tc>
                <a:tc>
                  <a:txBody>
                    <a:bodyPr/>
                    <a:lstStyle/>
                    <a:p>
                      <a:pPr algn="ctr">
                        <a:defRPr sz="850" b="1">
                          <a:solidFill>
                            <a:srgbClr val="FFFFFF"/>
                          </a:solidFill>
                          <a:latin typeface="Montserrat"/>
                        </a:defRPr>
                      </a:pPr>
                      <a:r>
                        <a:t>Variación</a:t>
                      </a:r>
                    </a:p>
                  </a:txBody>
                  <a:tcPr anchor="ctr">
                    <a:solidFill>
                      <a:srgbClr val="BC955C"/>
                    </a:solidFill>
                  </a:tcPr>
                </a:tc>
                <a:tc>
                  <a:txBody>
                    <a:bodyPr/>
                    <a:lstStyle/>
                    <a:p>
                      <a:pPr algn="ctr">
                        <a:defRPr sz="850" b="1">
                          <a:solidFill>
                            <a:srgbClr val="FFFFFF"/>
                          </a:solidFill>
                          <a:latin typeface="Montserrat"/>
                        </a:defRPr>
                      </a:pPr>
                      <a:r>
                        <a:t>Empleador Privado</a:t>
                      </a:r>
                    </a:p>
                  </a:txBody>
                  <a:tcPr anchor="ctr">
                    <a:solidFill>
                      <a:srgbClr val="BC955C"/>
                    </a:solidFill>
                  </a:tcPr>
                </a:tc>
                <a:tc>
                  <a:txBody>
                    <a:bodyPr/>
                    <a:lstStyle/>
                    <a:p>
                      <a:pPr algn="ctr">
                        <a:defRPr sz="850" b="1">
                          <a:solidFill>
                            <a:srgbClr val="FFFFFF"/>
                          </a:solidFill>
                          <a:latin typeface="Montserrat"/>
                        </a:defRPr>
                      </a:pPr>
                      <a:r>
                        <a:t>Empleos Anterior</a:t>
                      </a:r>
                    </a:p>
                  </a:txBody>
                  <a:tcPr anchor="ctr">
                    <a:solidFill>
                      <a:srgbClr val="BC955C"/>
                    </a:solidFill>
                  </a:tcPr>
                </a:tc>
                <a:tc>
                  <a:txBody>
                    <a:bodyPr/>
                    <a:lstStyle/>
                    <a:p>
                      <a:pPr algn="ctr">
                        <a:defRPr sz="850" b="1">
                          <a:solidFill>
                            <a:srgbClr val="FFFFFF"/>
                          </a:solidFill>
                          <a:latin typeface="Montserrat"/>
                        </a:defRPr>
                      </a:pPr>
                      <a:r>
                        <a:t>Empleos Actual</a:t>
                      </a:r>
                    </a:p>
                  </a:txBody>
                  <a:tcPr anchor="ctr">
                    <a:solidFill>
                      <a:srgbClr val="BC955C"/>
                    </a:solidFill>
                  </a:tcPr>
                </a:tc>
                <a:tc>
                  <a:txBody>
                    <a:bodyPr/>
                    <a:lstStyle/>
                    <a:p>
                      <a:pPr algn="ctr">
                        <a:defRPr sz="850" b="1">
                          <a:solidFill>
                            <a:srgbClr val="FFFFFF"/>
                          </a:solidFill>
                          <a:latin typeface="Montserrat"/>
                        </a:defRPr>
                      </a:pPr>
                      <a:r>
                        <a:t>Variación</a:t>
                      </a:r>
                    </a:p>
                  </a:txBody>
                  <a:tcPr anchor="ctr">
                    <a:solidFill>
                      <a:srgbClr val="BC955C"/>
                    </a:solidFill>
                  </a:tcPr>
                </a:tc>
                <a:extLst>
                  <a:ext uri="{0D108BD9-81ED-4DB2-BD59-A6C34878D82A}">
                    <a16:rowId xmlns:a16="http://schemas.microsoft.com/office/drawing/2014/main" val="10001"/>
                  </a:ext>
                </a:extLst>
              </a:tr>
              <a:tr h="288000">
                <a:tc>
                  <a:txBody>
                    <a:bodyPr/>
                    <a:lstStyle/>
                    <a:p>
                      <a:pPr algn="ctr">
                        <a:defRPr sz="850">
                          <a:latin typeface="Montserrat"/>
                        </a:defRPr>
                      </a:pPr>
                      <a:r>
                        <a:t>Poder Ejecutivo del Estado de Queretaro</a:t>
                      </a:r>
                    </a:p>
                  </a:txBody>
                  <a:tcPr anchor="ctr">
                    <a:solidFill>
                      <a:srgbClr val="FFFFFF"/>
                    </a:solidFill>
                  </a:tcPr>
                </a:tc>
                <a:tc>
                  <a:txBody>
                    <a:bodyPr/>
                    <a:lstStyle/>
                    <a:p>
                      <a:pPr algn="ctr">
                        <a:defRPr sz="850">
                          <a:latin typeface="Montserrat"/>
                        </a:defRPr>
                      </a:pPr>
                      <a:r>
                        <a:t>14,939</a:t>
                      </a:r>
                    </a:p>
                  </a:txBody>
                  <a:tcPr anchor="ctr">
                    <a:solidFill>
                      <a:srgbClr val="FFFFFF"/>
                    </a:solidFill>
                  </a:tcPr>
                </a:tc>
                <a:tc>
                  <a:txBody>
                    <a:bodyPr/>
                    <a:lstStyle/>
                    <a:p>
                      <a:pPr algn="ctr">
                        <a:defRPr sz="850">
                          <a:latin typeface="Montserrat"/>
                        </a:defRPr>
                      </a:pPr>
                      <a:r>
                        <a:t>15,202</a:t>
                      </a:r>
                    </a:p>
                  </a:txBody>
                  <a:tcPr anchor="ctr">
                    <a:solidFill>
                      <a:srgbClr val="FFFFFF"/>
                    </a:solidFill>
                  </a:tcPr>
                </a:tc>
                <a:tc>
                  <a:txBody>
                    <a:bodyPr/>
                    <a:lstStyle/>
                    <a:p>
                      <a:pPr algn="ctr">
                        <a:defRPr sz="850" b="1">
                          <a:solidFill>
                            <a:srgbClr val="006455"/>
                          </a:solidFill>
                          <a:latin typeface="Montserrat"/>
                        </a:defRPr>
                      </a:pPr>
                      <a:r>
                        <a:t>1.8%</a:t>
                      </a:r>
                    </a:p>
                  </a:txBody>
                  <a:tcPr anchor="ctr">
                    <a:solidFill>
                      <a:srgbClr val="FFFFFF"/>
                    </a:solidFill>
                  </a:tcPr>
                </a:tc>
                <a:tc>
                  <a:txBody>
                    <a:bodyPr/>
                    <a:lstStyle/>
                    <a:p>
                      <a:pPr algn="ctr">
                        <a:defRPr sz="850">
                          <a:latin typeface="Montserrat"/>
                        </a:defRPr>
                      </a:pPr>
                      <a:r>
                        <a:t>Autoliv Steering Wheels México S. de R.L. de C.V.</a:t>
                      </a:r>
                    </a:p>
                  </a:txBody>
                  <a:tcPr anchor="ctr">
                    <a:solidFill>
                      <a:srgbClr val="FFFFFF"/>
                    </a:solidFill>
                  </a:tcPr>
                </a:tc>
                <a:tc>
                  <a:txBody>
                    <a:bodyPr/>
                    <a:lstStyle/>
                    <a:p>
                      <a:pPr algn="ctr">
                        <a:defRPr sz="850">
                          <a:latin typeface="Montserrat"/>
                        </a:defRPr>
                      </a:pPr>
                      <a:r>
                        <a:t>4,751</a:t>
                      </a:r>
                    </a:p>
                  </a:txBody>
                  <a:tcPr anchor="ctr">
                    <a:solidFill>
                      <a:srgbClr val="FFFFFF"/>
                    </a:solidFill>
                  </a:tcPr>
                </a:tc>
                <a:tc>
                  <a:txBody>
                    <a:bodyPr/>
                    <a:lstStyle/>
                    <a:p>
                      <a:pPr algn="ctr">
                        <a:defRPr sz="850">
                          <a:latin typeface="Montserrat"/>
                        </a:defRPr>
                      </a:pPr>
                      <a:r>
                        <a:t>4,905</a:t>
                      </a:r>
                    </a:p>
                  </a:txBody>
                  <a:tcPr anchor="ctr">
                    <a:solidFill>
                      <a:srgbClr val="FFFFFF"/>
                    </a:solidFill>
                  </a:tcPr>
                </a:tc>
                <a:tc>
                  <a:txBody>
                    <a:bodyPr/>
                    <a:lstStyle/>
                    <a:p>
                      <a:pPr algn="ctr">
                        <a:defRPr sz="850" b="1">
                          <a:solidFill>
                            <a:srgbClr val="006455"/>
                          </a:solidFill>
                          <a:latin typeface="Montserrat"/>
                        </a:defRPr>
                      </a:pPr>
                      <a:r>
                        <a:t>3.2%</a:t>
                      </a:r>
                    </a:p>
                  </a:txBody>
                  <a:tcPr anchor="ctr">
                    <a:solidFill>
                      <a:srgbClr val="FFFFFF"/>
                    </a:solidFill>
                  </a:tcPr>
                </a:tc>
                <a:extLst>
                  <a:ext uri="{0D108BD9-81ED-4DB2-BD59-A6C34878D82A}">
                    <a16:rowId xmlns:a16="http://schemas.microsoft.com/office/drawing/2014/main" val="10002"/>
                  </a:ext>
                </a:extLst>
              </a:tr>
              <a:tr h="490320">
                <a:tc>
                  <a:txBody>
                    <a:bodyPr/>
                    <a:lstStyle/>
                    <a:p>
                      <a:pPr algn="ctr">
                        <a:defRPr sz="850">
                          <a:latin typeface="Montserrat"/>
                        </a:defRPr>
                      </a:pPr>
                      <a:r>
                        <a:t>Instituto Mexicano del Seguro Social</a:t>
                      </a:r>
                    </a:p>
                  </a:txBody>
                  <a:tcPr anchor="ctr">
                    <a:solidFill>
                      <a:srgbClr val="D9D9D9"/>
                    </a:solidFill>
                  </a:tcPr>
                </a:tc>
                <a:tc>
                  <a:txBody>
                    <a:bodyPr/>
                    <a:lstStyle/>
                    <a:p>
                      <a:pPr algn="ctr">
                        <a:defRPr sz="850">
                          <a:latin typeface="Montserrat"/>
                        </a:defRPr>
                      </a:pPr>
                      <a:r>
                        <a:t>10,037</a:t>
                      </a:r>
                    </a:p>
                  </a:txBody>
                  <a:tcPr anchor="ctr">
                    <a:solidFill>
                      <a:srgbClr val="D9D9D9"/>
                    </a:solidFill>
                  </a:tcPr>
                </a:tc>
                <a:tc>
                  <a:txBody>
                    <a:bodyPr/>
                    <a:lstStyle/>
                    <a:p>
                      <a:pPr algn="ctr">
                        <a:defRPr sz="850">
                          <a:latin typeface="Montserrat"/>
                        </a:defRPr>
                      </a:pPr>
                      <a:r>
                        <a:t>9,997</a:t>
                      </a:r>
                    </a:p>
                  </a:txBody>
                  <a:tcPr anchor="ctr">
                    <a:solidFill>
                      <a:srgbClr val="D9D9D9"/>
                    </a:solidFill>
                  </a:tcPr>
                </a:tc>
                <a:tc>
                  <a:txBody>
                    <a:bodyPr/>
                    <a:lstStyle/>
                    <a:p>
                      <a:pPr algn="ctr">
                        <a:defRPr sz="850" b="1">
                          <a:solidFill>
                            <a:srgbClr val="691C32"/>
                          </a:solidFill>
                          <a:latin typeface="Montserrat"/>
                        </a:defRPr>
                      </a:pPr>
                      <a:r>
                        <a:t>-0.4%</a:t>
                      </a:r>
                    </a:p>
                  </a:txBody>
                  <a:tcPr anchor="ctr">
                    <a:solidFill>
                      <a:srgbClr val="D9D9D9"/>
                    </a:solidFill>
                  </a:tcPr>
                </a:tc>
                <a:tc>
                  <a:txBody>
                    <a:bodyPr/>
                    <a:lstStyle/>
                    <a:p>
                      <a:pPr algn="ctr">
                        <a:defRPr sz="850">
                          <a:latin typeface="Montserrat"/>
                        </a:defRPr>
                      </a:pPr>
                      <a:r>
                        <a:t>Nueva Wal Mart de México S. de R.L. de C.V.</a:t>
                      </a:r>
                    </a:p>
                  </a:txBody>
                  <a:tcPr anchor="ctr">
                    <a:solidFill>
                      <a:srgbClr val="D9D9D9"/>
                    </a:solidFill>
                  </a:tcPr>
                </a:tc>
                <a:tc>
                  <a:txBody>
                    <a:bodyPr/>
                    <a:lstStyle/>
                    <a:p>
                      <a:pPr algn="ctr">
                        <a:defRPr sz="850">
                          <a:latin typeface="Montserrat"/>
                        </a:defRPr>
                      </a:pPr>
                      <a:r>
                        <a:t>4,794</a:t>
                      </a:r>
                    </a:p>
                  </a:txBody>
                  <a:tcPr anchor="ctr">
                    <a:solidFill>
                      <a:srgbClr val="D9D9D9"/>
                    </a:solidFill>
                  </a:tcPr>
                </a:tc>
                <a:tc>
                  <a:txBody>
                    <a:bodyPr/>
                    <a:lstStyle/>
                    <a:p>
                      <a:pPr algn="ctr">
                        <a:defRPr sz="850">
                          <a:latin typeface="Montserrat"/>
                        </a:defRPr>
                      </a:pPr>
                      <a:r>
                        <a:t>4,795</a:t>
                      </a:r>
                    </a:p>
                  </a:txBody>
                  <a:tcPr anchor="ctr">
                    <a:solidFill>
                      <a:srgbClr val="D9D9D9"/>
                    </a:solidFill>
                  </a:tcPr>
                </a:tc>
                <a:tc>
                  <a:txBody>
                    <a:bodyPr/>
                    <a:lstStyle/>
                    <a:p>
                      <a:pPr algn="ctr">
                        <a:defRPr sz="850">
                          <a:latin typeface="Montserrat"/>
                        </a:defRPr>
                      </a:pPr>
                      <a:r>
                        <a:t>0.0%</a:t>
                      </a:r>
                    </a:p>
                  </a:txBody>
                  <a:tcPr anchor="ctr">
                    <a:solidFill>
                      <a:srgbClr val="D9D9D9"/>
                    </a:solidFill>
                  </a:tcPr>
                </a:tc>
                <a:extLst>
                  <a:ext uri="{0D108BD9-81ED-4DB2-BD59-A6C34878D82A}">
                    <a16:rowId xmlns:a16="http://schemas.microsoft.com/office/drawing/2014/main" val="10003"/>
                  </a:ext>
                </a:extLst>
              </a:tr>
              <a:tr h="490320">
                <a:tc>
                  <a:txBody>
                    <a:bodyPr/>
                    <a:lstStyle/>
                    <a:p>
                      <a:pPr algn="ctr">
                        <a:defRPr sz="850">
                          <a:latin typeface="Montserrat"/>
                        </a:defRPr>
                      </a:pPr>
                      <a:r>
                        <a:t>Municipio de Querétaro</a:t>
                      </a:r>
                    </a:p>
                  </a:txBody>
                  <a:tcPr anchor="ctr">
                    <a:solidFill>
                      <a:srgbClr val="FFFFFF"/>
                    </a:solidFill>
                  </a:tcPr>
                </a:tc>
                <a:tc>
                  <a:txBody>
                    <a:bodyPr/>
                    <a:lstStyle/>
                    <a:p>
                      <a:pPr algn="ctr">
                        <a:defRPr sz="850">
                          <a:latin typeface="Montserrat"/>
                        </a:defRPr>
                      </a:pPr>
                      <a:r>
                        <a:t>5,410</a:t>
                      </a:r>
                    </a:p>
                  </a:txBody>
                  <a:tcPr anchor="ctr">
                    <a:solidFill>
                      <a:srgbClr val="FFFFFF"/>
                    </a:solidFill>
                  </a:tcPr>
                </a:tc>
                <a:tc>
                  <a:txBody>
                    <a:bodyPr/>
                    <a:lstStyle/>
                    <a:p>
                      <a:pPr algn="ctr">
                        <a:defRPr sz="850">
                          <a:latin typeface="Montserrat"/>
                        </a:defRPr>
                      </a:pPr>
                      <a:r>
                        <a:t>5,422</a:t>
                      </a:r>
                    </a:p>
                  </a:txBody>
                  <a:tcPr anchor="ctr">
                    <a:solidFill>
                      <a:srgbClr val="FFFFFF"/>
                    </a:solidFill>
                  </a:tcPr>
                </a:tc>
                <a:tc>
                  <a:txBody>
                    <a:bodyPr/>
                    <a:lstStyle/>
                    <a:p>
                      <a:pPr algn="ctr">
                        <a:defRPr sz="850" b="1">
                          <a:solidFill>
                            <a:srgbClr val="006455"/>
                          </a:solidFill>
                          <a:latin typeface="Montserrat"/>
                        </a:defRPr>
                      </a:pPr>
                      <a:r>
                        <a:t>0.2%</a:t>
                      </a:r>
                    </a:p>
                  </a:txBody>
                  <a:tcPr anchor="ctr">
                    <a:solidFill>
                      <a:srgbClr val="FFFFFF"/>
                    </a:solidFill>
                  </a:tcPr>
                </a:tc>
                <a:tc>
                  <a:txBody>
                    <a:bodyPr/>
                    <a:lstStyle/>
                    <a:p>
                      <a:pPr algn="ctr">
                        <a:defRPr sz="850">
                          <a:latin typeface="Montserrat"/>
                        </a:defRPr>
                      </a:pPr>
                      <a:r>
                        <a:t>Almacenaje y Distribución Avior S.A. de C.V.</a:t>
                      </a:r>
                    </a:p>
                  </a:txBody>
                  <a:tcPr anchor="ctr">
                    <a:solidFill>
                      <a:srgbClr val="FFFFFF"/>
                    </a:solidFill>
                  </a:tcPr>
                </a:tc>
                <a:tc>
                  <a:txBody>
                    <a:bodyPr/>
                    <a:lstStyle/>
                    <a:p>
                      <a:pPr algn="ctr">
                        <a:defRPr sz="850">
                          <a:latin typeface="Montserrat"/>
                        </a:defRPr>
                      </a:pPr>
                      <a:r>
                        <a:t>4,519</a:t>
                      </a:r>
                    </a:p>
                  </a:txBody>
                  <a:tcPr anchor="ctr">
                    <a:solidFill>
                      <a:srgbClr val="FFFFFF"/>
                    </a:solidFill>
                  </a:tcPr>
                </a:tc>
                <a:tc>
                  <a:txBody>
                    <a:bodyPr/>
                    <a:lstStyle/>
                    <a:p>
                      <a:pPr algn="ctr">
                        <a:defRPr sz="850">
                          <a:latin typeface="Montserrat"/>
                        </a:defRPr>
                      </a:pPr>
                      <a:r>
                        <a:t>4,538</a:t>
                      </a:r>
                    </a:p>
                  </a:txBody>
                  <a:tcPr anchor="ctr">
                    <a:solidFill>
                      <a:srgbClr val="FFFFFF"/>
                    </a:solidFill>
                  </a:tcPr>
                </a:tc>
                <a:tc>
                  <a:txBody>
                    <a:bodyPr/>
                    <a:lstStyle/>
                    <a:p>
                      <a:pPr algn="ctr">
                        <a:defRPr sz="850" b="1">
                          <a:solidFill>
                            <a:srgbClr val="006455"/>
                          </a:solidFill>
                          <a:latin typeface="Montserrat"/>
                        </a:defRPr>
                      </a:pPr>
                      <a:r>
                        <a:t>0.4%</a:t>
                      </a:r>
                    </a:p>
                  </a:txBody>
                  <a:tcPr anchor="ctr">
                    <a:solidFill>
                      <a:srgbClr val="FFFFFF"/>
                    </a:solidFill>
                  </a:tcPr>
                </a:tc>
                <a:extLst>
                  <a:ext uri="{0D108BD9-81ED-4DB2-BD59-A6C34878D82A}">
                    <a16:rowId xmlns:a16="http://schemas.microsoft.com/office/drawing/2014/main" val="10004"/>
                  </a:ext>
                </a:extLst>
              </a:tr>
            </a:tbl>
          </a:graphicData>
        </a:graphic>
      </p:graphicFrame>
      <p:graphicFrame>
        <p:nvGraphicFramePr>
          <p:cNvPr id="480" name="Chart 479"/>
          <p:cNvGraphicFramePr>
            <a:graphicFrameLocks noGrp="1"/>
          </p:cNvGraphicFramePr>
          <p:nvPr>
            <p:extLst>
              <p:ext uri="{D42A27DB-BD31-4B8C-83A1-F6EECF244321}">
                <p14:modId xmlns:p14="http://schemas.microsoft.com/office/powerpoint/2010/main" val="1339351516"/>
              </p:ext>
            </p:extLst>
          </p:nvPr>
        </p:nvGraphicFramePr>
        <p:xfrm>
          <a:off x="72000" y="3884304"/>
          <a:ext cx="7016399" cy="3726000"/>
        </p:xfrm>
        <a:graphic>
          <a:graphicData uri="http://schemas.openxmlformats.org/drawingml/2006/chart">
            <c:chart xmlns:c="http://schemas.openxmlformats.org/drawingml/2006/chart" xmlns:r="http://schemas.openxmlformats.org/officeDocument/2006/relationships" r:id="rId4"/>
          </a:graphicData>
        </a:graphic>
      </p:graphicFrame>
      <p:sp>
        <p:nvSpPr>
          <p:cNvPr id="481" name="Rounded Rectangle 480"/>
          <p:cNvSpPr/>
          <p:nvPr/>
        </p:nvSpPr>
        <p:spPr>
          <a:xfrm>
            <a:off x="6913672" y="3939485"/>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-5.94%</a:t>
            </a:r>
          </a:p>
        </p:txBody>
      </p:sp>
      <p:sp>
        <p:nvSpPr>
          <p:cNvPr id="482" name="Rounded Rectangle 481"/>
          <p:cNvSpPr/>
          <p:nvPr/>
        </p:nvSpPr>
        <p:spPr>
          <a:xfrm>
            <a:off x="6913672" y="4335485"/>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-0.71%</a:t>
            </a:r>
          </a:p>
        </p:txBody>
      </p:sp>
      <p:sp>
        <p:nvSpPr>
          <p:cNvPr id="483" name="Rounded Rectangle 482"/>
          <p:cNvSpPr/>
          <p:nvPr/>
        </p:nvSpPr>
        <p:spPr>
          <a:xfrm>
            <a:off x="6913672" y="4731485"/>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+1.42%</a:t>
            </a:r>
          </a:p>
        </p:txBody>
      </p:sp>
      <p:sp>
        <p:nvSpPr>
          <p:cNvPr id="484" name="Rounded Rectangle 483"/>
          <p:cNvSpPr/>
          <p:nvPr/>
        </p:nvSpPr>
        <p:spPr>
          <a:xfrm>
            <a:off x="6913672" y="5127485"/>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+1.69%</a:t>
            </a:r>
          </a:p>
        </p:txBody>
      </p:sp>
      <p:sp>
        <p:nvSpPr>
          <p:cNvPr id="485" name="Rounded Rectangle 484"/>
          <p:cNvSpPr/>
          <p:nvPr/>
        </p:nvSpPr>
        <p:spPr>
          <a:xfrm>
            <a:off x="6913672" y="5523485"/>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+2.13%</a:t>
            </a:r>
          </a:p>
        </p:txBody>
      </p:sp>
      <p:sp>
        <p:nvSpPr>
          <p:cNvPr id="486" name="Rounded Rectangle 485"/>
          <p:cNvSpPr/>
          <p:nvPr/>
        </p:nvSpPr>
        <p:spPr>
          <a:xfrm>
            <a:off x="6913672" y="5919485"/>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+2.60%</a:t>
            </a:r>
          </a:p>
        </p:txBody>
      </p:sp>
      <p:sp>
        <p:nvSpPr>
          <p:cNvPr id="487" name="Rounded Rectangle 486"/>
          <p:cNvSpPr/>
          <p:nvPr/>
        </p:nvSpPr>
        <p:spPr>
          <a:xfrm>
            <a:off x="6913672" y="6315485"/>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+7.45%</a:t>
            </a:r>
          </a:p>
        </p:txBody>
      </p:sp>
      <p:sp>
        <p:nvSpPr>
          <p:cNvPr id="488" name="Rounded Rectangle 487"/>
          <p:cNvSpPr/>
          <p:nvPr/>
        </p:nvSpPr>
        <p:spPr>
          <a:xfrm>
            <a:off x="6913672" y="6711485"/>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+9.34%</a:t>
            </a:r>
          </a:p>
        </p:txBody>
      </p:sp>
      <p:sp>
        <p:nvSpPr>
          <p:cNvPr id="489" name="Rounded Rectangle 488"/>
          <p:cNvSpPr/>
          <p:nvPr/>
        </p:nvSpPr>
        <p:spPr>
          <a:xfrm>
            <a:off x="6913672" y="728824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+9.76%</a:t>
            </a:r>
          </a:p>
        </p:txBody>
      </p:sp>
      <p:sp>
        <p:nvSpPr>
          <p:cNvPr id="490" name="Rounded Rectangle 489"/>
          <p:cNvSpPr/>
          <p:nvPr/>
        </p:nvSpPr>
        <p:spPr>
          <a:xfrm>
            <a:off x="4525200" y="378970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2025</a:t>
            </a:r>
          </a:p>
        </p:txBody>
      </p:sp>
      <p:sp>
        <p:nvSpPr>
          <p:cNvPr id="491" name="Rounded Rectangle 490"/>
          <p:cNvSpPr/>
          <p:nvPr/>
        </p:nvSpPr>
        <p:spPr>
          <a:xfrm>
            <a:off x="5425200" y="378970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2026</a:t>
            </a:r>
          </a:p>
        </p:txBody>
      </p:sp>
      <p:graphicFrame>
        <p:nvGraphicFramePr>
          <p:cNvPr id="492" name="Table 491"/>
          <p:cNvGraphicFramePr>
            <a:graphicFrameLocks noGrp="1"/>
          </p:cNvGraphicFramePr>
          <p:nvPr>
            <p:extLst>
              <p:ext uri="{D42A27DB-BD31-4B8C-83A1-F6EECF244321}">
                <p14:modId xmlns:p14="http://schemas.microsoft.com/office/powerpoint/2010/main" val="33237596"/>
              </p:ext>
            </p:extLst>
          </p:nvPr>
        </p:nvGraphicFramePr>
        <p:xfrm>
          <a:off x="853200" y="7911461"/>
          <a:ext cx="5875200" cy="138312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838800">
                  <a:extLst>
                    <a:ext uri="{9D8B030D-6E8A-4147-A177-3AD203B41FA5}">
                      <a16:colId xmlns:a16="http://schemas.microsoft.com/office/drawing/2014/main" val="20001"/>
                    </a:ext>
                  </a:extLst>
                </a:gridCol>
                <a:gridCol w="838800">
                  <a:extLst>
                    <a:ext uri="{9D8B030D-6E8A-4147-A177-3AD203B41FA5}">
                      <a16:colId xmlns:a16="http://schemas.microsoft.com/office/drawing/2014/main" val="20002"/>
                    </a:ext>
                  </a:extLst>
                </a:gridCol>
                <a:gridCol w="838800">
                  <a:extLst>
                    <a:ext uri="{9D8B030D-6E8A-4147-A177-3AD203B41FA5}">
                      <a16:colId xmlns:a16="http://schemas.microsoft.com/office/drawing/2014/main" val="20003"/>
                    </a:ext>
                  </a:extLst>
                </a:gridCol>
                <a:gridCol w="838800">
                  <a:extLst>
                    <a:ext uri="{9D8B030D-6E8A-4147-A177-3AD203B41FA5}">
                      <a16:colId xmlns:a16="http://schemas.microsoft.com/office/drawing/2014/main" val="20004"/>
                    </a:ext>
                  </a:extLst>
                </a:gridCol>
                <a:gridCol w="1260000">
                  <a:extLst>
                    <a:ext uri="{9D8B030D-6E8A-4147-A177-3AD203B41FA5}">
                      <a16:colId xmlns:a16="http://schemas.microsoft.com/office/drawing/2014/main" val="20005"/>
                    </a:ext>
                  </a:extLst>
                </a:gridCol>
              </a:tblGrid>
              <a:tr h="286560">
                <a:tc rowSpan="2">
                  <a:txBody>
                    <a:bodyPr/>
                    <a:lstStyle/>
                    <a:p>
                      <a:pPr algn="ctr">
                        <a:defRPr sz="1000" b="1">
                          <a:solidFill>
                            <a:srgbClr val="FFFFFF"/>
                          </a:solidFill>
                          <a:latin typeface="Montserrat"/>
                        </a:defRPr>
                      </a:pPr>
                      <a:r>
                        <a:t>Mes</a:t>
                      </a:r>
                    </a:p>
                  </a:txBody>
                  <a:tcPr anchor="ctr">
                    <a:solidFill>
                      <a:srgbClr val="BC955C"/>
                    </a:solidFill>
                  </a:tcPr>
                </a:tc>
                <a:tc gridSpan="2">
                  <a:txBody>
                    <a:bodyPr/>
                    <a:lstStyle/>
                    <a:p>
                      <a:pPr algn="ctr">
                        <a:defRPr sz="1000" b="1">
                          <a:solidFill>
                            <a:srgbClr val="FFFFFF"/>
                          </a:solidFill>
                          <a:latin typeface="Montserrat"/>
                        </a:defRPr>
                      </a:pPr>
                      <a:r>
                        <a:t>Permanente</a:t>
                      </a:r>
                    </a:p>
                  </a:txBody>
                  <a:tcPr anchor="ctr">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gridSpan="2">
                  <a:txBody>
                    <a:bodyPr/>
                    <a:lstStyle/>
                    <a:p>
                      <a:pPr algn="ctr">
                        <a:defRPr sz="1000" b="1">
                          <a:solidFill>
                            <a:srgbClr val="FFFFFF"/>
                          </a:solidFill>
                          <a:latin typeface="Montserrat"/>
                        </a:defRPr>
                      </a:pPr>
                      <a:r>
                        <a:t>Eventual</a:t>
                      </a:r>
                    </a:p>
                  </a:txBody>
                  <a:tcPr anchor="ctr">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rowSpan="2">
                  <a:txBody>
                    <a:bodyPr/>
                    <a:lstStyle/>
                    <a:p>
                      <a:pPr algn="ctr">
                        <a:defRPr sz="1000" b="1">
                          <a:solidFill>
                            <a:srgbClr val="FFFFFF"/>
                          </a:solidFill>
                          <a:latin typeface="Montserrat"/>
                        </a:defRPr>
                      </a:pPr>
                      <a:r>
                        <a:t>Total</a:t>
                      </a:r>
                    </a:p>
                  </a:txBody>
                  <a:tcPr anchor="ctr">
                    <a:solidFill>
                      <a:srgbClr val="BC955C"/>
                    </a:solidFill>
                  </a:tcPr>
                </a:tc>
                <a:extLst>
                  <a:ext uri="{0D108BD9-81ED-4DB2-BD59-A6C34878D82A}">
                    <a16:rowId xmlns:a16="http://schemas.microsoft.com/office/drawing/2014/main" val="10000"/>
                  </a:ext>
                </a:extLst>
              </a:tr>
              <a:tr h="286560">
                <a:tc vMerge="1">
                  <a:txBody>
                    <a:bodyPr/>
                    <a:lstStyle/>
                    <a:p>
                      <a:pPr algn="ctr">
                        <a:defRPr sz="1000" b="1">
                          <a:solidFill>
                            <a:srgbClr val="FFFFFF"/>
                          </a:solidFill>
                          <a:latin typeface="Montserrat"/>
                        </a:defRPr>
                      </a:pPr>
                      <a:endParaRPr/>
                    </a:p>
                  </a:txBody>
                  <a:tcPr anchor="ctr">
                    <a:solidFill>
                      <a:srgbClr val="BC955C"/>
                    </a:solidFill>
                  </a:tcPr>
                </a:tc>
                <a:tc>
                  <a:txBody>
                    <a:bodyPr/>
                    <a:lstStyle/>
                    <a:p>
                      <a:pPr algn="ctr">
                        <a:defRPr sz="1000" b="1">
                          <a:solidFill>
                            <a:srgbClr val="FFFFFF"/>
                          </a:solidFill>
                          <a:latin typeface="Montserrat"/>
                        </a:defRPr>
                      </a:pPr>
                      <a:r>
                        <a:t>Urbano</a:t>
                      </a:r>
                    </a:p>
                  </a:txBody>
                  <a:tcPr anchor="ctr">
                    <a:solidFill>
                      <a:srgbClr val="BC955C"/>
                    </a:solidFill>
                  </a:tcPr>
                </a:tc>
                <a:tc>
                  <a:txBody>
                    <a:bodyPr/>
                    <a:lstStyle/>
                    <a:p>
                      <a:pPr algn="ctr">
                        <a:defRPr sz="1000" b="1">
                          <a:solidFill>
                            <a:srgbClr val="FFFFFF"/>
                          </a:solidFill>
                          <a:latin typeface="Montserrat"/>
                        </a:defRPr>
                      </a:pPr>
                      <a:r>
                        <a:t>Campo</a:t>
                      </a:r>
                    </a:p>
                  </a:txBody>
                  <a:tcPr anchor="ctr">
                    <a:solidFill>
                      <a:srgbClr val="BC955C"/>
                    </a:solidFill>
                  </a:tcPr>
                </a:tc>
                <a:tc>
                  <a:txBody>
                    <a:bodyPr/>
                    <a:lstStyle/>
                    <a:p>
                      <a:pPr algn="ctr">
                        <a:defRPr sz="1000" b="1">
                          <a:solidFill>
                            <a:srgbClr val="FFFFFF"/>
                          </a:solidFill>
                          <a:latin typeface="Montserrat"/>
                        </a:defRPr>
                      </a:pPr>
                      <a:r>
                        <a:t>Urbano</a:t>
                      </a:r>
                    </a:p>
                  </a:txBody>
                  <a:tcPr anchor="ctr">
                    <a:solidFill>
                      <a:srgbClr val="BC955C"/>
                    </a:solidFill>
                  </a:tcPr>
                </a:tc>
                <a:tc>
                  <a:txBody>
                    <a:bodyPr/>
                    <a:lstStyle/>
                    <a:p>
                      <a:pPr algn="ctr">
                        <a:defRPr sz="1000" b="1">
                          <a:solidFill>
                            <a:srgbClr val="FFFFFF"/>
                          </a:solidFill>
                          <a:latin typeface="Montserrat"/>
                        </a:defRPr>
                      </a:pPr>
                      <a:r>
                        <a:t>Campo</a:t>
                      </a:r>
                    </a:p>
                  </a:txBody>
                  <a:tcPr anchor="ctr">
                    <a:solidFill>
                      <a:srgbClr val="BC955C"/>
                    </a:solidFill>
                  </a:tcPr>
                </a:tc>
                <a:tc vMerge="1">
                  <a:txBody>
                    <a:bodyPr/>
                    <a:lstStyle/>
                    <a:p>
                      <a:pPr algn="ctr">
                        <a:defRPr sz="1000" b="1">
                          <a:solidFill>
                            <a:srgbClr val="FFFFFF"/>
                          </a:solidFill>
                          <a:latin typeface="Montserrat"/>
                        </a:defRPr>
                      </a:pPr>
                      <a:endParaRPr/>
                    </a:p>
                  </a:txBody>
                  <a:tcPr anchor="ctr">
                    <a:solidFill>
                      <a:srgbClr val="BC955C"/>
                    </a:solidFill>
                  </a:tcPr>
                </a:tc>
                <a:extLst>
                  <a:ext uri="{0D108BD9-81ED-4DB2-BD59-A6C34878D82A}">
                    <a16:rowId xmlns:a16="http://schemas.microsoft.com/office/drawing/2014/main" val="10001"/>
                  </a:ext>
                </a:extLst>
              </a:tr>
              <a:tr h="270000">
                <a:tc>
                  <a:txBody>
                    <a:bodyPr/>
                    <a:lstStyle/>
                    <a:p>
                      <a:pPr algn="ctr">
                        <a:defRPr sz="900">
                          <a:latin typeface="Montserrat"/>
                        </a:defRPr>
                      </a:pPr>
                      <a:r>
                        <a:t>May 2025</a:t>
                      </a:r>
                    </a:p>
                  </a:txBody>
                  <a:tcPr>
                    <a:solidFill>
                      <a:srgbClr val="FFFFFF"/>
                    </a:solidFill>
                  </a:tcPr>
                </a:tc>
                <a:tc>
                  <a:txBody>
                    <a:bodyPr/>
                    <a:lstStyle/>
                    <a:p>
                      <a:pPr algn="ctr">
                        <a:defRPr sz="900">
                          <a:latin typeface="Montserrat"/>
                        </a:defRPr>
                      </a:pPr>
                      <a:r>
                        <a:t>582,186</a:t>
                      </a:r>
                    </a:p>
                  </a:txBody>
                  <a:tcPr>
                    <a:solidFill>
                      <a:srgbClr val="FFFFFF"/>
                    </a:solidFill>
                  </a:tcPr>
                </a:tc>
                <a:tc>
                  <a:txBody>
                    <a:bodyPr/>
                    <a:lstStyle/>
                    <a:p>
                      <a:pPr algn="ctr">
                        <a:defRPr sz="900">
                          <a:latin typeface="Montserrat"/>
                        </a:defRPr>
                      </a:pPr>
                      <a:r>
                        <a:t>16,096</a:t>
                      </a:r>
                    </a:p>
                  </a:txBody>
                  <a:tcPr>
                    <a:solidFill>
                      <a:srgbClr val="FFFFFF"/>
                    </a:solidFill>
                  </a:tcPr>
                </a:tc>
                <a:tc>
                  <a:txBody>
                    <a:bodyPr/>
                    <a:lstStyle/>
                    <a:p>
                      <a:pPr algn="ctr">
                        <a:defRPr sz="900">
                          <a:latin typeface="Montserrat"/>
                        </a:defRPr>
                      </a:pPr>
                      <a:r>
                        <a:t>114,582</a:t>
                      </a:r>
                    </a:p>
                  </a:txBody>
                  <a:tcPr>
                    <a:solidFill>
                      <a:srgbClr val="FFFFFF"/>
                    </a:solidFill>
                  </a:tcPr>
                </a:tc>
                <a:tc>
                  <a:txBody>
                    <a:bodyPr/>
                    <a:lstStyle/>
                    <a:p>
                      <a:pPr algn="ctr">
                        <a:defRPr sz="900">
                          <a:latin typeface="Montserrat"/>
                        </a:defRPr>
                      </a:pPr>
                      <a:r>
                        <a:t>2,113</a:t>
                      </a:r>
                    </a:p>
                  </a:txBody>
                  <a:tcPr>
                    <a:solidFill>
                      <a:srgbClr val="FFFFFF"/>
                    </a:solidFill>
                  </a:tcPr>
                </a:tc>
                <a:tc>
                  <a:txBody>
                    <a:bodyPr/>
                    <a:lstStyle/>
                    <a:p>
                      <a:pPr algn="ctr">
                        <a:defRPr sz="900">
                          <a:latin typeface="Montserrat"/>
                        </a:defRPr>
                      </a:pPr>
                      <a:r>
                        <a:t>714,977</a:t>
                      </a:r>
                    </a:p>
                  </a:txBody>
                  <a:tcPr>
                    <a:solidFill>
                      <a:srgbClr val="FFFFFF"/>
                    </a:solidFill>
                  </a:tcPr>
                </a:tc>
                <a:extLst>
                  <a:ext uri="{0D108BD9-81ED-4DB2-BD59-A6C34878D82A}">
                    <a16:rowId xmlns:a16="http://schemas.microsoft.com/office/drawing/2014/main" val="10002"/>
                  </a:ext>
                </a:extLst>
              </a:tr>
              <a:tr h="270000">
                <a:tc>
                  <a:txBody>
                    <a:bodyPr/>
                    <a:lstStyle/>
                    <a:p>
                      <a:pPr algn="ctr">
                        <a:defRPr sz="900">
                          <a:latin typeface="Montserrat"/>
                        </a:defRPr>
                      </a:pPr>
                      <a:r>
                        <a:t>May 2026</a:t>
                      </a:r>
                    </a:p>
                  </a:txBody>
                  <a:tcPr>
                    <a:solidFill>
                      <a:srgbClr val="D9D9D9"/>
                    </a:solidFill>
                  </a:tcPr>
                </a:tc>
                <a:tc>
                  <a:txBody>
                    <a:bodyPr/>
                    <a:lstStyle/>
                    <a:p>
                      <a:pPr algn="ctr">
                        <a:defRPr sz="900">
                          <a:latin typeface="Montserrat"/>
                        </a:defRPr>
                      </a:pPr>
                      <a:r>
                        <a:t>593,039</a:t>
                      </a:r>
                    </a:p>
                  </a:txBody>
                  <a:tcPr>
                    <a:solidFill>
                      <a:srgbClr val="D9D9D9"/>
                    </a:solidFill>
                  </a:tcPr>
                </a:tc>
                <a:tc>
                  <a:txBody>
                    <a:bodyPr/>
                    <a:lstStyle/>
                    <a:p>
                      <a:pPr algn="ctr">
                        <a:defRPr sz="900">
                          <a:latin typeface="Montserrat"/>
                        </a:defRPr>
                      </a:pPr>
                      <a:r>
                        <a:t>14,935</a:t>
                      </a:r>
                    </a:p>
                  </a:txBody>
                  <a:tcPr>
                    <a:solidFill>
                      <a:srgbClr val="D9D9D9"/>
                    </a:solidFill>
                  </a:tcPr>
                </a:tc>
                <a:tc>
                  <a:txBody>
                    <a:bodyPr/>
                    <a:lstStyle/>
                    <a:p>
                      <a:pPr algn="ctr">
                        <a:defRPr sz="900">
                          <a:latin typeface="Montserrat"/>
                        </a:defRPr>
                      </a:pPr>
                      <a:r>
                        <a:t>113,964</a:t>
                      </a:r>
                    </a:p>
                  </a:txBody>
                  <a:tcPr>
                    <a:solidFill>
                      <a:srgbClr val="D9D9D9"/>
                    </a:solidFill>
                  </a:tcPr>
                </a:tc>
                <a:tc>
                  <a:txBody>
                    <a:bodyPr/>
                    <a:lstStyle/>
                    <a:p>
                      <a:pPr algn="ctr">
                        <a:defRPr sz="900">
                          <a:latin typeface="Montserrat"/>
                        </a:defRPr>
                      </a:pPr>
                      <a:r>
                        <a:t>1,416</a:t>
                      </a:r>
                    </a:p>
                  </a:txBody>
                  <a:tcPr>
                    <a:solidFill>
                      <a:srgbClr val="D9D9D9"/>
                    </a:solidFill>
                  </a:tcPr>
                </a:tc>
                <a:tc>
                  <a:txBody>
                    <a:bodyPr/>
                    <a:lstStyle/>
                    <a:p>
                      <a:pPr algn="ctr">
                        <a:defRPr sz="900">
                          <a:latin typeface="Montserrat"/>
                        </a:defRPr>
                      </a:pPr>
                      <a:r>
                        <a:t>723,354</a:t>
                      </a:r>
                    </a:p>
                  </a:txBody>
                  <a:tcPr>
                    <a:solidFill>
                      <a:srgbClr val="D9D9D9"/>
                    </a:solidFill>
                  </a:tcPr>
                </a:tc>
                <a:extLst>
                  <a:ext uri="{0D108BD9-81ED-4DB2-BD59-A6C34878D82A}">
                    <a16:rowId xmlns:a16="http://schemas.microsoft.com/office/drawing/2014/main" val="10003"/>
                  </a:ext>
                </a:extLst>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+1.9%</a:t>
                      </a:r>
                    </a:p>
                  </a:txBody>
                  <a:tcPr>
                    <a:solidFill>
                      <a:srgbClr val="FFFFFF"/>
                    </a:solidFill>
                  </a:tcPr>
                </a:tc>
                <a:tc>
                  <a:txBody>
                    <a:bodyPr/>
                    <a:lstStyle/>
                    <a:p>
                      <a:pPr algn="ctr">
                        <a:defRPr sz="900" b="0">
                          <a:solidFill>
                            <a:srgbClr val="691C32"/>
                          </a:solidFill>
                          <a:latin typeface="Montserrat"/>
                        </a:defRPr>
                      </a:pPr>
                      <a:r>
                        <a:t>-7.2%</a:t>
                      </a:r>
                    </a:p>
                  </a:txBody>
                  <a:tcPr>
                    <a:solidFill>
                      <a:srgbClr val="FFFFFF"/>
                    </a:solidFill>
                  </a:tcPr>
                </a:tc>
                <a:tc>
                  <a:txBody>
                    <a:bodyPr/>
                    <a:lstStyle/>
                    <a:p>
                      <a:pPr algn="ctr">
                        <a:defRPr sz="900" b="0">
                          <a:solidFill>
                            <a:srgbClr val="691C32"/>
                          </a:solidFill>
                          <a:latin typeface="Montserrat"/>
                        </a:defRPr>
                      </a:pPr>
                      <a:r>
                        <a:t>-0.5%</a:t>
                      </a:r>
                    </a:p>
                  </a:txBody>
                  <a:tcPr>
                    <a:solidFill>
                      <a:srgbClr val="FFFFFF"/>
                    </a:solidFill>
                  </a:tcPr>
                </a:tc>
                <a:tc>
                  <a:txBody>
                    <a:bodyPr/>
                    <a:lstStyle/>
                    <a:p>
                      <a:pPr algn="ctr">
                        <a:defRPr sz="900" b="0">
                          <a:solidFill>
                            <a:srgbClr val="691C32"/>
                          </a:solidFill>
                          <a:latin typeface="Montserrat"/>
                        </a:defRPr>
                      </a:pPr>
                      <a:r>
                        <a:t>-33.0%</a:t>
                      </a:r>
                    </a:p>
                  </a:txBody>
                  <a:tcPr>
                    <a:solidFill>
                      <a:srgbClr val="FFFFFF"/>
                    </a:solidFill>
                  </a:tcPr>
                </a:tc>
                <a:tc>
                  <a:txBody>
                    <a:bodyPr/>
                    <a:lstStyle/>
                    <a:p>
                      <a:pPr algn="ctr">
                        <a:defRPr sz="900" b="1">
                          <a:solidFill>
                            <a:srgbClr val="006455"/>
                          </a:solidFill>
                          <a:latin typeface="Montserrat"/>
                        </a:defRPr>
                      </a:pPr>
                      <a:r>
                        <a:t>+1.2%</a:t>
                      </a:r>
                    </a:p>
                  </a:txBody>
                  <a:tcPr>
                    <a:solidFill>
                      <a:srgbClr val="FFFFFF"/>
                    </a:solidFill>
                  </a:tcPr>
                </a:tc>
                <a:extLst>
                  <a:ext uri="{0D108BD9-81ED-4DB2-BD59-A6C34878D82A}">
                    <a16:rowId xmlns:a16="http://schemas.microsoft.com/office/drawing/2014/main" val="10004"/>
                  </a:ext>
                </a:extLst>
              </a:tr>
            </a:tbl>
          </a:graphicData>
        </a:graphic>
      </p:graphicFrame>
      <p:sp>
        <p:nvSpPr>
          <p:cNvPr id="493" name="TextBox 492"/>
          <p:cNvSpPr txBox="1"/>
          <p:nvPr/>
        </p:nvSpPr>
        <p:spPr>
          <a:xfrm>
            <a:off x="208800" y="9644400"/>
            <a:ext cx="4316400" cy="244800"/>
          </a:xfrm>
          <a:prstGeom prst="rect">
            <a:avLst/>
          </a:prstGeom>
          <a:noFill/>
        </p:spPr>
        <p:txBody>
          <a:bodyPr wrap="square" lIns="0" tIns="0" rIns="0" bIns="0">
            <a:spAutoFit/>
          </a:bodyPr>
          <a:lstStyle/>
          <a:p>
            <a:pPr algn="l">
              <a:defRPr sz="800">
                <a:solidFill>
                  <a:srgbClr val="FFFFFF"/>
                </a:solidFill>
                <a:latin typeface="Montserrat"/>
              </a:defRPr>
            </a:pPr>
            <a:r>
              <a:t>Fuente: Dirección de Incorporación y Recaudación.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MX" sz="2000" b="1" u="none" strike="noStrike" cap="none">
                          <a:solidFill>
                            <a:srgbClr val="BC955C"/>
                          </a:solidFill>
                          <a:latin typeface="Montserrat"/>
                          <a:ea typeface="Montserrat"/>
                          <a:cs typeface="Montserrat"/>
                          <a:sym typeface="Montserrat"/>
                        </a:rPr>
                        <a:t>Puestos de trabajo y salario base de </a:t>
                      </a:r>
                      <a:r>
                        <a:rPr lang="es-MX"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lang="es-MX"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a:solidFill>
                  <a:srgbClr val="5B0F00"/>
                </a:solidFill>
                <a:latin typeface="Montserrat"/>
                <a:ea typeface="Montserrat"/>
                <a:cs typeface="Montserrat"/>
                <a:sym typeface="Montserrat"/>
              </a:rPr>
              <a:t> </a:t>
            </a:r>
            <a:r>
              <a:rPr lang="es" sz="1400" b="1" i="0" u="none" strike="noStrike" cap="none">
                <a:solidFill>
                  <a:srgbClr val="5B0F00"/>
                </a:solidFill>
                <a:latin typeface="Montserrat"/>
                <a:ea typeface="Montserrat"/>
                <a:cs typeface="Montserrat"/>
                <a:sym typeface="Montserrat"/>
              </a:rPr>
              <a:t>Puestos de trabajo comparación interanual de cada año</a:t>
            </a:r>
            <a:endParaRPr sz="2000" b="1" i="0" u="none" strike="noStrike" cap="none">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C40E98EE-4DF2-1751-AF7E-15529E7A6F40}"/>
              </a:ext>
            </a:extLst>
          </p:cNvPr>
          <p:cNvSpPr/>
          <p:nvPr/>
        </p:nvSpPr>
        <p:spPr>
          <a:xfrm>
            <a:off x="590523" y="1375448"/>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$729.54</a:t>
            </a:r>
          </a:p>
          <a:p>
            <a:pPr algn="ctr">
              <a:defRPr sz="800" b="1">
                <a:solidFill>
                  <a:srgbClr val="FFFFFF"/>
                </a:solidFill>
                <a:latin typeface="Montserrat"/>
              </a:defRPr>
            </a:pPr>
            <a:r>
              <a:t>SBC</a:t>
            </a:r>
          </a:p>
          <a:p>
            <a:pPr algn="ctr">
              <a:defRPr sz="800" b="0">
                <a:solidFill>
                  <a:srgbClr val="FFFFFF"/>
                </a:solidFill>
                <a:latin typeface="Montserrat"/>
              </a:defRPr>
            </a:pPr>
            <a:r>
              <a:t>Mayo</a:t>
            </a:r>
          </a:p>
        </p:txBody>
      </p:sp>
      <p:graphicFrame>
        <p:nvGraphicFramePr>
          <p:cNvPr id="503" name="Table 502"/>
          <p:cNvGraphicFramePr>
            <a:graphicFrameLocks noGrp="1"/>
          </p:cNvGraphicFramePr>
          <p:nvPr>
            <p:extLst>
              <p:ext uri="{D42A27DB-BD31-4B8C-83A1-F6EECF244321}">
                <p14:modId xmlns:p14="http://schemas.microsoft.com/office/powerpoint/2010/main" val="934071257"/>
              </p:ext>
            </p:extLst>
          </p:nvPr>
        </p:nvGraphicFramePr>
        <p:xfrm>
          <a:off x="240990" y="1333030"/>
          <a:ext cx="7196820" cy="941505"/>
        </p:xfrm>
        <a:graphic>
          <a:graphicData uri="http://schemas.openxmlformats.org/drawingml/2006/table">
            <a:tbl>
              <a:tblPr firstRow="1" bandRow="1">
                <a:tableStyleId>{5C22544A-7EE6-4342-B048-85BDC9FD1C3A}</a:tableStyleId>
              </a:tblPr>
              <a:tblGrid>
                <a:gridCol w="1199470">
                  <a:extLst>
                    <a:ext uri="{9D8B030D-6E8A-4147-A177-3AD203B41FA5}">
                      <a16:colId xmlns:a16="http://schemas.microsoft.com/office/drawing/2014/main" val="20000"/>
                    </a:ext>
                  </a:extLst>
                </a:gridCol>
                <a:gridCol w="1199470">
                  <a:extLst>
                    <a:ext uri="{9D8B030D-6E8A-4147-A177-3AD203B41FA5}">
                      <a16:colId xmlns:a16="http://schemas.microsoft.com/office/drawing/2014/main" val="20001"/>
                    </a:ext>
                  </a:extLst>
                </a:gridCol>
                <a:gridCol w="1199470">
                  <a:extLst>
                    <a:ext uri="{9D8B030D-6E8A-4147-A177-3AD203B41FA5}">
                      <a16:colId xmlns:a16="http://schemas.microsoft.com/office/drawing/2014/main" val="20002"/>
                    </a:ext>
                  </a:extLst>
                </a:gridCol>
                <a:gridCol w="1199470">
                  <a:extLst>
                    <a:ext uri="{9D8B030D-6E8A-4147-A177-3AD203B41FA5}">
                      <a16:colId xmlns:a16="http://schemas.microsoft.com/office/drawing/2014/main" val="20003"/>
                    </a:ext>
                  </a:extLst>
                </a:gridCol>
                <a:gridCol w="1199470">
                  <a:extLst>
                    <a:ext uri="{9D8B030D-6E8A-4147-A177-3AD203B41FA5}">
                      <a16:colId xmlns:a16="http://schemas.microsoft.com/office/drawing/2014/main" val="20004"/>
                    </a:ext>
                  </a:extLst>
                </a:gridCol>
                <a:gridCol w="1199470">
                  <a:extLst>
                    <a:ext uri="{9D8B030D-6E8A-4147-A177-3AD203B41FA5}">
                      <a16:colId xmlns:a16="http://schemas.microsoft.com/office/drawing/2014/main" val="20005"/>
                    </a:ext>
                  </a:extLst>
                </a:gridCol>
              </a:tblGrid>
              <a:tr h="369590">
                <a:tc>
                  <a:txBody>
                    <a:bodyPr/>
                    <a:lstStyle/>
                    <a:p>
                      <a:pPr algn="ctr">
                        <a:defRPr sz="1100" b="1">
                          <a:solidFill>
                            <a:srgbClr val="FFFFFF"/>
                          </a:solidFill>
                          <a:latin typeface="Montserrat"/>
                        </a:defRPr>
                      </a:pPr>
                      <a:endParaRPr/>
                    </a:p>
                  </a:txBody>
                  <a:tcPr anchor="ctr">
                    <a:noFill/>
                  </a:tcPr>
                </a:tc>
                <a:tc>
                  <a:txBody>
                    <a:bodyPr/>
                    <a:lstStyle/>
                    <a:p>
                      <a:pPr algn="ctr">
                        <a:defRPr sz="1100" b="1">
                          <a:solidFill>
                            <a:srgbClr val="FFFFFF"/>
                          </a:solidFill>
                          <a:latin typeface="Montserrat"/>
                        </a:defRPr>
                      </a:pPr>
                      <a:r>
                        <a:t>2018 diciembre</a:t>
                      </a:r>
                    </a:p>
                  </a:txBody>
                  <a:tcPr anchor="ctr">
                    <a:solidFill>
                      <a:srgbClr val="A42145"/>
                    </a:solidFill>
                  </a:tcPr>
                </a:tc>
                <a:tc>
                  <a:txBody>
                    <a:bodyPr/>
                    <a:lstStyle/>
                    <a:p>
                      <a:pPr algn="ctr">
                        <a:defRPr sz="1100" b="1">
                          <a:solidFill>
                            <a:srgbClr val="FFFFFF"/>
                          </a:solidFill>
                          <a:latin typeface="Montserrat"/>
                        </a:defRPr>
                      </a:pPr>
                      <a:r>
                        <a:t>2026 Mayo</a:t>
                      </a:r>
                    </a:p>
                  </a:txBody>
                  <a:tcPr anchor="ctr">
                    <a:solidFill>
                      <a:srgbClr val="A42145"/>
                    </a:solidFill>
                  </a:tcPr>
                </a:tc>
                <a:tc>
                  <a:txBody>
                    <a:bodyPr/>
                    <a:lstStyle/>
                    <a:p>
                      <a:pPr algn="ctr">
                        <a:defRPr sz="1100" b="1">
                          <a:solidFill>
                            <a:srgbClr val="FFFFFF"/>
                          </a:solidFill>
                          <a:latin typeface="Montserrat"/>
                        </a:defRPr>
                      </a:pPr>
                      <a:r>
                        <a:rPr dirty="0" err="1"/>
                        <a:t>Variación</a:t>
                      </a:r>
                      <a:r>
                        <a:rPr dirty="0"/>
                        <a:t> %</a:t>
                      </a:r>
                    </a:p>
                  </a:txBody>
                  <a:tcPr anchor="ctr">
                    <a:solidFill>
                      <a:srgbClr val="A42145"/>
                    </a:solidFill>
                  </a:tcPr>
                </a:tc>
                <a:tc>
                  <a:txBody>
                    <a:bodyPr/>
                    <a:lstStyle/>
                    <a:p>
                      <a:pPr algn="ctr">
                        <a:defRPr sz="1100" b="1">
                          <a:solidFill>
                            <a:srgbClr val="FFFFFF"/>
                          </a:solidFill>
                          <a:latin typeface="Montserrat"/>
                        </a:defRPr>
                      </a:pPr>
                      <a:r>
                        <a:t>Nacional 2026</a:t>
                      </a:r>
                    </a:p>
                  </a:txBody>
                  <a:tcPr anchor="ctr">
                    <a:solidFill>
                      <a:srgbClr val="A42145"/>
                    </a:solidFill>
                  </a:tcPr>
                </a:tc>
                <a:tc>
                  <a:txBody>
                    <a:bodyPr/>
                    <a:lstStyle/>
                    <a:p>
                      <a:pPr algn="ctr">
                        <a:defRPr sz="1100" b="1">
                          <a:solidFill>
                            <a:srgbClr val="FFFFFF"/>
                          </a:solidFill>
                          <a:latin typeface="Montserrat"/>
                        </a:defRPr>
                      </a:pPr>
                      <a:r>
                        <a:t>Salario </a:t>
                      </a:r>
                      <a:r>
                        <a:rPr err="1"/>
                        <a:t>Mensual</a:t>
                      </a:r>
                      <a:endParaRPr/>
                    </a:p>
                  </a:txBody>
                  <a:tcPr anchor="ctr">
                    <a:solidFill>
                      <a:srgbClr val="A42145"/>
                    </a:solidFill>
                  </a:tcPr>
                </a:tc>
                <a:extLst>
                  <a:ext uri="{0D108BD9-81ED-4DB2-BD59-A6C34878D82A}">
                    <a16:rowId xmlns:a16="http://schemas.microsoft.com/office/drawing/2014/main" val="10000"/>
                  </a:ext>
                </a:extLst>
              </a:tr>
              <a:tr h="514785">
                <a:tc>
                  <a:txBody>
                    <a:bodyPr/>
                    <a:lstStyle/>
                    <a:p>
                      <a:pPr algn="ctr">
                        <a:defRPr sz="1100" b="1">
                          <a:solidFill>
                            <a:srgbClr val="FFFFFF"/>
                          </a:solidFill>
                          <a:latin typeface="Montserrat"/>
                        </a:defRPr>
                      </a:pPr>
                      <a:r>
                        <a:t>Salario Base de </a:t>
                      </a:r>
                      <a:r>
                        <a:rPr err="1"/>
                        <a:t>Cotización</a:t>
                      </a:r>
                      <a:endParaRPr/>
                    </a:p>
                  </a:txBody>
                  <a:tcPr anchor="ctr">
                    <a:solidFill>
                      <a:srgbClr val="A42145"/>
                    </a:solidFill>
                  </a:tcPr>
                </a:tc>
                <a:tc>
                  <a:txBody>
                    <a:bodyPr/>
                    <a:lstStyle/>
                    <a:p>
                      <a:pPr algn="ctr">
                        <a:defRPr sz="1100">
                          <a:latin typeface="Montserrat"/>
                        </a:defRPr>
                      </a:pPr>
                      <a:r>
                        <a:t>$402.99</a:t>
                      </a:r>
                    </a:p>
                  </a:txBody>
                  <a:tcPr anchor="ctr">
                    <a:solidFill>
                      <a:srgbClr val="EEEEEE"/>
                    </a:solidFill>
                  </a:tcPr>
                </a:tc>
                <a:tc>
                  <a:txBody>
                    <a:bodyPr/>
                    <a:lstStyle/>
                    <a:p>
                      <a:pPr algn="ctr">
                        <a:defRPr sz="1100" b="1">
                          <a:latin typeface="Montserrat"/>
                        </a:defRPr>
                      </a:pPr>
                      <a:r>
                        <a:t>$729.54</a:t>
                      </a:r>
                    </a:p>
                  </a:txBody>
                  <a:tcPr anchor="ctr">
                    <a:solidFill>
                      <a:srgbClr val="EEEEEE"/>
                    </a:solidFill>
                  </a:tcPr>
                </a:tc>
                <a:tc>
                  <a:txBody>
                    <a:bodyPr/>
                    <a:lstStyle/>
                    <a:p>
                      <a:pPr algn="ctr">
                        <a:defRPr sz="1100">
                          <a:latin typeface="Montserrat"/>
                        </a:defRPr>
                      </a:pPr>
                      <a:r>
                        <a:t>28.0%</a:t>
                      </a:r>
                    </a:p>
                  </a:txBody>
                  <a:tcPr anchor="ctr">
                    <a:solidFill>
                      <a:srgbClr val="EEEEEE"/>
                    </a:solidFill>
                  </a:tcPr>
                </a:tc>
                <a:tc>
                  <a:txBody>
                    <a:bodyPr/>
                    <a:lstStyle/>
                    <a:p>
                      <a:pPr algn="ctr">
                        <a:defRPr sz="1100" b="1">
                          <a:latin typeface="Montserrat"/>
                        </a:defRPr>
                      </a:pPr>
                      <a:r>
                        <a:t>$671.25</a:t>
                      </a:r>
                    </a:p>
                  </a:txBody>
                  <a:tcPr anchor="ctr">
                    <a:solidFill>
                      <a:srgbClr val="EEEEEE"/>
                    </a:solidFill>
                  </a:tcPr>
                </a:tc>
                <a:tc>
                  <a:txBody>
                    <a:bodyPr/>
                    <a:lstStyle/>
                    <a:p>
                      <a:pPr algn="ctr">
                        <a:defRPr sz="1100" b="1">
                          <a:solidFill>
                            <a:srgbClr val="9F2241"/>
                          </a:solidFill>
                          <a:latin typeface="Montserrat"/>
                        </a:defRPr>
                      </a:pPr>
                      <a:r>
                        <a:rPr dirty="0"/>
                        <a:t>$21,886.2</a:t>
                      </a:r>
                    </a:p>
                  </a:txBody>
                  <a:tcPr anchor="ctr">
                    <a:solidFill>
                      <a:srgbClr val="EEEEEE"/>
                    </a:solidFill>
                  </a:tcPr>
                </a:tc>
                <a:extLst>
                  <a:ext uri="{0D108BD9-81ED-4DB2-BD59-A6C34878D82A}">
                    <a16:rowId xmlns:a16="http://schemas.microsoft.com/office/drawing/2014/main" val="10001"/>
                  </a:ext>
                </a:extLst>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xmlns:r="http://schemas.openxmlformats.org/officeDocument/2006/relationships"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extLst>
              <p:ext uri="{D42A27DB-BD31-4B8C-83A1-F6EECF244321}">
                <p14:modId xmlns:p14="http://schemas.microsoft.com/office/powerpoint/2010/main" val="2647107761"/>
              </p:ext>
            </p:extLst>
          </p:nvPr>
        </p:nvGraphicFramePr>
        <p:xfrm>
          <a:off x="320400" y="6712998"/>
          <a:ext cx="7038000" cy="2413800"/>
        </p:xfrm>
        <a:graphic>
          <a:graphicData uri="http://schemas.openxmlformats.org/drawingml/2006/table">
            <a:tbl>
              <a:tblPr firstRow="1" bandRow="1">
                <a:tableStyleId>{5C22544A-7EE6-4342-B048-85BDC9FD1C3A}</a:tableStyleId>
              </a:tblPr>
              <a:tblGrid>
                <a:gridCol w="2520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gridCol w="1278000">
                  <a:extLst>
                    <a:ext uri="{9D8B030D-6E8A-4147-A177-3AD203B41FA5}">
                      <a16:colId xmlns:a16="http://schemas.microsoft.com/office/drawing/2014/main" val="20002"/>
                    </a:ext>
                  </a:extLst>
                </a:gridCol>
              </a:tblGrid>
              <a:tr h="251999">
                <a:tc gridSpan="3">
                  <a:txBody>
                    <a:bodyPr/>
                    <a:lstStyle/>
                    <a:p>
                      <a:pPr algn="ctr">
                        <a:defRPr sz="1100" b="1">
                          <a:solidFill>
                            <a:srgbClr val="FFFFFF"/>
                          </a:solidFill>
                          <a:latin typeface="Montserrat"/>
                        </a:defRPr>
                      </a:pPr>
                      <a:r>
                        <a:t>PRINCIPALES DEUDORES</a:t>
                      </a:r>
                    </a:p>
                  </a:txBody>
                  <a:tcPr>
                    <a:solidFill>
                      <a:srgbClr val="006455"/>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60000">
                <a:tc>
                  <a:txBody>
                    <a:bodyPr/>
                    <a:lstStyle/>
                    <a:p>
                      <a:pPr algn="ctr">
                        <a:defRPr sz="1100" b="1">
                          <a:solidFill>
                            <a:srgbClr val="FFFFFF"/>
                          </a:solidFill>
                          <a:latin typeface="Montserrat"/>
                        </a:defRPr>
                      </a:pPr>
                      <a:r>
                        <a:t>Categoría</a:t>
                      </a:r>
                    </a:p>
                  </a:txBody>
                  <a:tcPr>
                    <a:solidFill>
                      <a:srgbClr val="006455"/>
                    </a:solidFill>
                  </a:tcPr>
                </a:tc>
                <a:tc>
                  <a:txBody>
                    <a:bodyPr/>
                    <a:lstStyle/>
                    <a:p>
                      <a:pPr algn="ctr">
                        <a:defRPr sz="1100" b="1">
                          <a:solidFill>
                            <a:srgbClr val="FFFFFF"/>
                          </a:solidFill>
                          <a:latin typeface="Montserrat"/>
                        </a:defRPr>
                      </a:pPr>
                      <a:r>
                        <a:t>Deudores</a:t>
                      </a:r>
                    </a:p>
                  </a:txBody>
                  <a:tcPr>
                    <a:solidFill>
                      <a:srgbClr val="006455"/>
                    </a:solidFill>
                  </a:tcPr>
                </a:tc>
                <a:tc>
                  <a:txBody>
                    <a:bodyPr/>
                    <a:lstStyle/>
                    <a:p>
                      <a:pPr algn="ctr">
                        <a:defRPr sz="1100" b="1">
                          <a:solidFill>
                            <a:srgbClr val="FFFFFF"/>
                          </a:solidFill>
                          <a:latin typeface="Montserrat"/>
                        </a:defRPr>
                      </a:pPr>
                      <a:r>
                        <a:t>Monto de deuda (mdp)</a:t>
                      </a:r>
                    </a:p>
                  </a:txBody>
                  <a:tcPr>
                    <a:solidFill>
                      <a:srgbClr val="006455"/>
                    </a:solidFill>
                  </a:tcPr>
                </a:tc>
                <a:extLst>
                  <a:ext uri="{0D108BD9-81ED-4DB2-BD59-A6C34878D82A}">
                    <a16:rowId xmlns:a16="http://schemas.microsoft.com/office/drawing/2014/main" val="10001"/>
                  </a:ext>
                </a:extLst>
              </a:tr>
              <a:tr h="288000">
                <a:tc rowSpan="3">
                  <a:txBody>
                    <a:bodyPr/>
                    <a:lstStyle/>
                    <a:p>
                      <a:pPr algn="ctr">
                        <a:defRPr sz="1100">
                          <a:solidFill>
                            <a:srgbClr val="FFFFFF"/>
                          </a:solidFill>
                          <a:latin typeface="Montserrat"/>
                        </a:defRPr>
                      </a:pPr>
                      <a:r>
                        <a:rPr dirty="0"/>
                        <a:t>Principal</a:t>
                      </a:r>
                      <a:r>
                        <a:rPr lang="es-MX" dirty="0"/>
                        <a:t>es</a:t>
                      </a:r>
                      <a:r>
                        <a:rPr dirty="0"/>
                        <a:t> </a:t>
                      </a:r>
                      <a:r>
                        <a:rPr dirty="0" err="1"/>
                        <a:t>deudor</a:t>
                      </a:r>
                      <a:r>
                        <a:rPr lang="es-MX" dirty="0"/>
                        <a:t>es</a:t>
                      </a:r>
                      <a:r>
                        <a:rPr dirty="0"/>
                        <a:t> </a:t>
                      </a:r>
                      <a:r>
                        <a:rPr dirty="0" err="1"/>
                        <a:t>público</a:t>
                      </a:r>
                      <a:r>
                        <a:rPr lang="es-MX" dirty="0"/>
                        <a:t>s</a:t>
                      </a:r>
                      <a:endParaRPr dirty="0"/>
                    </a:p>
                  </a:txBody>
                  <a:tcPr anchor="ctr">
                    <a:solidFill>
                      <a:srgbClr val="006455"/>
                    </a:solidFill>
                  </a:tcPr>
                </a:tc>
                <a:tc>
                  <a:txBody>
                    <a:bodyPr/>
                    <a:lstStyle/>
                    <a:p>
                      <a:pPr algn="ctr">
                        <a:defRPr sz="900">
                          <a:latin typeface="Montserrat"/>
                        </a:defRPr>
                      </a:pPr>
                      <a:r>
                        <a:t>Tribunal electoral del Estado de Querétaro</a:t>
                      </a:r>
                    </a:p>
                  </a:txBody>
                  <a:tcPr>
                    <a:solidFill>
                      <a:srgbClr val="FFFFFF"/>
                    </a:solidFill>
                  </a:tcPr>
                </a:tc>
                <a:tc>
                  <a:txBody>
                    <a:bodyPr/>
                    <a:lstStyle/>
                    <a:p>
                      <a:pPr algn="ctr">
                        <a:defRPr sz="900">
                          <a:latin typeface="Montserrat"/>
                        </a:defRPr>
                      </a:pPr>
                      <a:r>
                        <a:t>$0.07</a:t>
                      </a:r>
                    </a:p>
                  </a:txBody>
                  <a:tcPr>
                    <a:solidFill>
                      <a:srgbClr val="FFFFFF"/>
                    </a:solidFill>
                  </a:tcPr>
                </a:tc>
                <a:extLst>
                  <a:ext uri="{0D108BD9-81ED-4DB2-BD59-A6C34878D82A}">
                    <a16:rowId xmlns:a16="http://schemas.microsoft.com/office/drawing/2014/main" val="10002"/>
                  </a:ext>
                </a:extLst>
              </a:tr>
              <a:tr h="288000">
                <a:tc vMerge="1">
                  <a:txBody>
                    <a:bodyPr/>
                    <a:lstStyle/>
                    <a:p>
                      <a:endParaRPr/>
                    </a:p>
                  </a:txBody>
                  <a:tcPr>
                    <a:solidFill>
                      <a:srgbClr val="EEEEEE"/>
                    </a:solidFill>
                  </a:tcPr>
                </a:tc>
                <a:tc>
                  <a:txBody>
                    <a:bodyPr/>
                    <a:lstStyle/>
                    <a:p>
                      <a:pPr algn="ctr">
                        <a:defRPr sz="900">
                          <a:latin typeface="Montserrat"/>
                        </a:defRPr>
                      </a:pPr>
                      <a:r>
                        <a:t>CIATEQ AC</a:t>
                      </a:r>
                    </a:p>
                  </a:txBody>
                  <a:tcPr>
                    <a:solidFill>
                      <a:srgbClr val="EEEEEE"/>
                    </a:solidFill>
                  </a:tcPr>
                </a:tc>
                <a:tc>
                  <a:txBody>
                    <a:bodyPr/>
                    <a:lstStyle/>
                    <a:p>
                      <a:pPr algn="ctr">
                        <a:defRPr sz="900">
                          <a:latin typeface="Montserrat"/>
                        </a:defRPr>
                      </a:pPr>
                      <a:r>
                        <a:t>$0.05</a:t>
                      </a:r>
                    </a:p>
                  </a:txBody>
                  <a:tcPr>
                    <a:solidFill>
                      <a:srgbClr val="EEEEEE"/>
                    </a:solidFill>
                  </a:tcPr>
                </a:tc>
                <a:extLst>
                  <a:ext uri="{0D108BD9-81ED-4DB2-BD59-A6C34878D82A}">
                    <a16:rowId xmlns:a16="http://schemas.microsoft.com/office/drawing/2014/main" val="10003"/>
                  </a:ext>
                </a:extLst>
              </a:tr>
              <a:tr h="288000">
                <a:tc vMerge="1">
                  <a:txBody>
                    <a:bodyPr/>
                    <a:lstStyle/>
                    <a:p>
                      <a:endParaRPr/>
                    </a:p>
                  </a:txBody>
                  <a:tcPr>
                    <a:solidFill>
                      <a:srgbClr val="FFFFFF"/>
                    </a:solidFill>
                  </a:tcPr>
                </a:tc>
                <a:tc>
                  <a:txBody>
                    <a:bodyPr/>
                    <a:lstStyle/>
                    <a:p>
                      <a:pPr algn="ctr">
                        <a:defRPr sz="900">
                          <a:latin typeface="Montserrat"/>
                        </a:defRPr>
                      </a:pPr>
                      <a:r>
                        <a:t>Instituto electoral del Estado de Querétaro</a:t>
                      </a:r>
                    </a:p>
                  </a:txBody>
                  <a:tcPr>
                    <a:solidFill>
                      <a:srgbClr val="FFFFFF"/>
                    </a:solidFill>
                  </a:tcPr>
                </a:tc>
                <a:tc>
                  <a:txBody>
                    <a:bodyPr/>
                    <a:lstStyle/>
                    <a:p>
                      <a:pPr algn="ctr">
                        <a:defRPr sz="900">
                          <a:latin typeface="Montserrat"/>
                        </a:defRPr>
                      </a:pPr>
                      <a:r>
                        <a:t>$0.02</a:t>
                      </a:r>
                    </a:p>
                  </a:txBody>
                  <a:tcPr>
                    <a:solidFill>
                      <a:srgbClr val="FFFFFF"/>
                    </a:solidFill>
                  </a:tcPr>
                </a:tc>
                <a:extLst>
                  <a:ext uri="{0D108BD9-81ED-4DB2-BD59-A6C34878D82A}">
                    <a16:rowId xmlns:a16="http://schemas.microsoft.com/office/drawing/2014/main" val="10004"/>
                  </a:ext>
                </a:extLst>
              </a:tr>
              <a:tr h="288000">
                <a:tc rowSpan="3">
                  <a:txBody>
                    <a:bodyPr/>
                    <a:lstStyle/>
                    <a:p>
                      <a:pPr algn="ctr">
                        <a:defRPr sz="1100">
                          <a:solidFill>
                            <a:srgbClr val="FFFFFF"/>
                          </a:solidFill>
                          <a:latin typeface="Montserrat"/>
                        </a:defRPr>
                      </a:pPr>
                      <a:r>
                        <a:rPr dirty="0"/>
                        <a:t>Principal</a:t>
                      </a:r>
                      <a:r>
                        <a:rPr lang="es-MX" dirty="0"/>
                        <a:t>es</a:t>
                      </a:r>
                      <a:r>
                        <a:rPr dirty="0"/>
                        <a:t> </a:t>
                      </a:r>
                      <a:r>
                        <a:rPr dirty="0" err="1"/>
                        <a:t>deudor</a:t>
                      </a:r>
                      <a:r>
                        <a:rPr lang="es-MX" dirty="0"/>
                        <a:t>es</a:t>
                      </a:r>
                      <a:r>
                        <a:rPr dirty="0"/>
                        <a:t> privado</a:t>
                      </a:r>
                      <a:r>
                        <a:rPr lang="es-MX" dirty="0"/>
                        <a:t>s</a:t>
                      </a:r>
                      <a:endParaRPr dirty="0"/>
                    </a:p>
                  </a:txBody>
                  <a:tcPr anchor="ctr">
                    <a:solidFill>
                      <a:srgbClr val="006455"/>
                    </a:solidFill>
                  </a:tcPr>
                </a:tc>
                <a:tc>
                  <a:txBody>
                    <a:bodyPr/>
                    <a:lstStyle/>
                    <a:p>
                      <a:pPr algn="ctr">
                        <a:defRPr sz="900">
                          <a:latin typeface="Montserrat"/>
                        </a:defRPr>
                      </a:pPr>
                      <a:r>
                        <a:t>Comercializadora 2000 en Obra Civil SAS de CV</a:t>
                      </a:r>
                    </a:p>
                  </a:txBody>
                  <a:tcPr>
                    <a:solidFill>
                      <a:srgbClr val="EEEEEE"/>
                    </a:solidFill>
                  </a:tcPr>
                </a:tc>
                <a:tc>
                  <a:txBody>
                    <a:bodyPr/>
                    <a:lstStyle/>
                    <a:p>
                      <a:pPr algn="ctr">
                        <a:defRPr sz="900">
                          <a:latin typeface="Montserrat"/>
                        </a:defRPr>
                      </a:pPr>
                      <a:r>
                        <a:t>$20.85</a:t>
                      </a:r>
                    </a:p>
                  </a:txBody>
                  <a:tcPr>
                    <a:solidFill>
                      <a:srgbClr val="EEEEEE"/>
                    </a:solidFill>
                  </a:tcPr>
                </a:tc>
                <a:extLst>
                  <a:ext uri="{0D108BD9-81ED-4DB2-BD59-A6C34878D82A}">
                    <a16:rowId xmlns:a16="http://schemas.microsoft.com/office/drawing/2014/main" val="10005"/>
                  </a:ext>
                </a:extLst>
              </a:tr>
              <a:tr h="288000">
                <a:tc vMerge="1">
                  <a:txBody>
                    <a:bodyPr/>
                    <a:lstStyle/>
                    <a:p>
                      <a:endParaRPr/>
                    </a:p>
                  </a:txBody>
                  <a:tcPr>
                    <a:solidFill>
                      <a:srgbClr val="FFFFFF"/>
                    </a:solidFill>
                  </a:tcPr>
                </a:tc>
                <a:tc>
                  <a:txBody>
                    <a:bodyPr/>
                    <a:lstStyle/>
                    <a:p>
                      <a:pPr algn="ctr">
                        <a:defRPr sz="900">
                          <a:latin typeface="Montserrat"/>
                        </a:defRPr>
                      </a:pPr>
                      <a:r>
                        <a:t>Mexico Data Properties S de RL de CV</a:t>
                      </a:r>
                    </a:p>
                  </a:txBody>
                  <a:tcPr>
                    <a:solidFill>
                      <a:srgbClr val="FFFFFF"/>
                    </a:solidFill>
                  </a:tcPr>
                </a:tc>
                <a:tc>
                  <a:txBody>
                    <a:bodyPr/>
                    <a:lstStyle/>
                    <a:p>
                      <a:pPr algn="ctr">
                        <a:defRPr sz="900">
                          <a:latin typeface="Montserrat"/>
                        </a:defRPr>
                      </a:pPr>
                      <a:r>
                        <a:t>$20.14</a:t>
                      </a:r>
                    </a:p>
                  </a:txBody>
                  <a:tcPr>
                    <a:solidFill>
                      <a:srgbClr val="FFFFFF"/>
                    </a:solidFill>
                  </a:tcPr>
                </a:tc>
                <a:extLst>
                  <a:ext uri="{0D108BD9-81ED-4DB2-BD59-A6C34878D82A}">
                    <a16:rowId xmlns:a16="http://schemas.microsoft.com/office/drawing/2014/main" val="10006"/>
                  </a:ext>
                </a:extLst>
              </a:tr>
              <a:tr h="288000">
                <a:tc vMerge="1">
                  <a:txBody>
                    <a:bodyPr/>
                    <a:lstStyle/>
                    <a:p>
                      <a:endParaRPr/>
                    </a:p>
                  </a:txBody>
                  <a:tcPr>
                    <a:solidFill>
                      <a:srgbClr val="006455"/>
                    </a:solidFill>
                  </a:tcPr>
                </a:tc>
                <a:tc>
                  <a:txBody>
                    <a:bodyPr/>
                    <a:lstStyle/>
                    <a:p>
                      <a:pPr algn="ctr">
                        <a:defRPr sz="900">
                          <a:latin typeface="Montserrat"/>
                        </a:defRPr>
                      </a:pPr>
                      <a:r>
                        <a:t>Ssspive Valle de México SC</a:t>
                      </a:r>
                    </a:p>
                  </a:txBody>
                  <a:tcPr>
                    <a:solidFill>
                      <a:srgbClr val="EEEEEE"/>
                    </a:solidFill>
                  </a:tcPr>
                </a:tc>
                <a:tc>
                  <a:txBody>
                    <a:bodyPr/>
                    <a:lstStyle/>
                    <a:p>
                      <a:pPr algn="ctr">
                        <a:defRPr sz="900">
                          <a:latin typeface="Montserrat"/>
                        </a:defRPr>
                      </a:pPr>
                      <a:r>
                        <a:rPr dirty="0"/>
                        <a:t>$15.97</a:t>
                      </a:r>
                    </a:p>
                  </a:txBody>
                  <a:tcPr>
                    <a:solidFill>
                      <a:srgbClr val="EEEEEE"/>
                    </a:solidFill>
                  </a:tcPr>
                </a:tc>
                <a:extLst>
                  <a:ext uri="{0D108BD9-81ED-4DB2-BD59-A6C34878D82A}">
                    <a16:rowId xmlns:a16="http://schemas.microsoft.com/office/drawing/2014/main" val="10007"/>
                  </a:ext>
                </a:extLst>
              </a:tr>
            </a:tbl>
          </a:graphicData>
        </a:graphic>
      </p:graphicFrame>
      <p:sp>
        <p:nvSpPr>
          <p:cNvPr id="515" name="TextBox 514"/>
          <p:cNvSpPr txBox="1"/>
          <p:nvPr/>
        </p:nvSpPr>
        <p:spPr>
          <a:xfrm>
            <a:off x="251998" y="2350800"/>
            <a:ext cx="5043015" cy="246221"/>
          </a:xfrm>
          <a:prstGeom prst="rect">
            <a:avLst/>
          </a:prstGeom>
          <a:noFill/>
        </p:spPr>
        <p:txBody>
          <a:bodyPr wrap="square" lIns="0" tIns="0" rIns="0" bIns="0">
            <a:spAutoFit/>
          </a:bodyPr>
          <a:lstStyle/>
          <a:p>
            <a:pPr>
              <a:defRPr sz="800">
                <a:solidFill>
                  <a:srgbClr val="FFFFFF"/>
                </a:solidFill>
                <a:latin typeface="Montserrat"/>
              </a:defRPr>
            </a:pPr>
            <a:r>
              <a:rPr>
                <a:solidFill>
                  <a:schemeClr val="tx1"/>
                </a:solidFill>
              </a:rPr>
              <a:t>Salario Base de </a:t>
            </a:r>
            <a:r>
              <a:rPr err="1">
                <a:solidFill>
                  <a:schemeClr val="tx1"/>
                </a:solidFill>
              </a:rPr>
              <a:t>Cotización</a:t>
            </a:r>
            <a:r>
              <a:rPr>
                <a:solidFill>
                  <a:schemeClr val="tx1"/>
                </a:solidFill>
              </a:rPr>
              <a:t>: </a:t>
            </a:r>
            <a:r>
              <a:rPr err="1">
                <a:solidFill>
                  <a:schemeClr val="tx1"/>
                </a:solidFill>
              </a:rPr>
              <a:t>tado</a:t>
            </a:r>
            <a:r>
              <a:rPr>
                <a:solidFill>
                  <a:schemeClr val="tx1"/>
                </a:solidFill>
              </a:rPr>
              <a:t>:</a:t>
            </a:r>
            <a:r>
              <a:rPr lang="es-MX">
                <a:solidFill>
                  <a:schemeClr val="tx1"/>
                </a:solidFill>
              </a:rPr>
              <a:t>  se utilizó como deflactor del salario el cociente del INPC entre diciembre 2018 (103.02) y  preliminar de mayo  2026 (145.714) de 0.7069998</a:t>
            </a:r>
            <a:endParaRPr>
              <a:solidFill>
                <a:schemeClr val="tx1"/>
              </a:solidFill>
            </a:endParaRPr>
          </a:p>
        </p:txBody>
      </p:sp>
      <p:sp>
        <p:nvSpPr>
          <p:cNvPr id="516" name="TextBox 515"/>
          <p:cNvSpPr txBox="1"/>
          <p:nvPr/>
        </p:nvSpPr>
        <p:spPr>
          <a:xfrm>
            <a:off x="251999" y="9561600"/>
            <a:ext cx="4316400" cy="244800"/>
          </a:xfrm>
          <a:prstGeom prst="rect">
            <a:avLst/>
          </a:prstGeom>
          <a:noFill/>
        </p:spPr>
        <p:txBody>
          <a:bodyPr wrap="square" lIns="0" tIns="0" rIns="0" bIns="0">
            <a:spAutoFit/>
          </a:bodyPr>
          <a:lstStyle/>
          <a:p>
            <a:pPr algn="l">
              <a:defRPr sz="800">
                <a:solidFill>
                  <a:srgbClr val="FFFFFF"/>
                </a:solidFill>
                <a:latin typeface="Montserrat"/>
              </a:defRPr>
            </a:pPr>
            <a:r>
              <a:t>Fuente: Dirección de Incorporación y Recaudación. Corte de información mayo 2026.</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378</TotalTime>
  <Words>4129</Words>
  <Application>Microsoft Office PowerPoint</Application>
  <PresentationFormat>Personalizado</PresentationFormat>
  <Paragraphs>1381</Paragraphs>
  <Slides>25</Slides>
  <Notes>21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25</vt:i4>
      </vt:variant>
    </vt:vector>
  </HeadingPairs>
  <TitlesOfParts>
    <vt:vector size="31" baseType="lpstr">
      <vt:lpstr>Noto Sans</vt:lpstr>
      <vt:lpstr>Arial</vt:lpstr>
      <vt:lpstr>Montserrat</vt:lpstr>
      <vt:lpstr>Calibri</vt:lpstr>
      <vt:lpstr>Noto Sans Black</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Laura Patricia Galvan Chavez</cp:lastModifiedBy>
  <cp:revision>1</cp:revision>
  <dcterms:modified xsi:type="dcterms:W3CDTF">2026-07-03T00:47:41Z</dcterms:modified>
</cp:coreProperties>
</file>