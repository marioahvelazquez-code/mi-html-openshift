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3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4"/>
    <p:sldId id="303" r:id="rId45"/>
    <p:sldId id="304" r:id="rId46"/>
    <p:sldId id="305" r:id="rId47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9507CF-5E2A-0B7E-10CB-B76999DDD305}" v="40" dt="2026-05-12T22:46:27.387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3:12.770" v="0"/>
      <pc:docMkLst>
        <pc:docMk/>
      </pc:docMkLst>
      <pc:sldChg chg="add">
        <pc:chgData name="Carlos Esponda Rosales" userId="08a2b2cc-6d12-4dea-90fe-c484bece8186" providerId="ADAL" clId="{6846A1DD-3EC1-5A12-B3C5-9C410579EE4F}" dt="2026-05-08T17:33:12.770" v="0"/>
        <pc:sldMkLst>
          <pc:docMk/>
          <pc:sldMk cId="4037960979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8:56:12.217" v="4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0:24.864" v="33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0:16.290" v="30" actId="1076"/>
          <ac:spMkLst>
            <pc:docMk/>
            <pc:sldMk cId="0" sldId="260"/>
            <ac:spMk id="7" creationId="{E689F7C2-FB21-799B-FE5E-0D35DA032DDF}"/>
          </ac:spMkLst>
        </pc:spChg>
        <pc:graphicFrameChg chg="add mod">
          <ac:chgData name="Edgar Rosales Ortega" userId="d1d54fc2-1570-4978-babc-e22e1526833f" providerId="ADAL" clId="{66BE7C30-C669-4152-AC74-10076FC0590C}" dt="2026-04-30T23:10:11.054" v="29" actId="1076"/>
          <ac:graphicFrameMkLst>
            <pc:docMk/>
            <pc:sldMk cId="0" sldId="260"/>
            <ac:graphicFrameMk id="5" creationId="{EEA9DB8B-9828-0F39-BADF-093B6FA4ADDC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0:24.864" v="33" actId="1076"/>
          <ac:picMkLst>
            <pc:docMk/>
            <pc:sldMk cId="0" sldId="260"/>
            <ac:picMk id="6" creationId="{24AE15D1-8F7D-F7AE-9E02-5DB8C38566BB}"/>
          </ac:picMkLst>
        </pc:picChg>
      </pc:sldChg>
      <pc:sldChg chg="delSp mod">
        <pc:chgData name="Edgar Rosales Ortega" userId="d1d54fc2-1570-4978-babc-e22e1526833f" providerId="ADAL" clId="{66BE7C30-C669-4152-AC74-10076FC0590C}" dt="2026-05-07T18:53:46.670" v="3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8:53:51.935" v="38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8:43.219" v="2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1:22.869" v="13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8:54:02.391" v="39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8:54:02.391" v="39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7:40.277" v="35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6:23.207" v="25" actId="1076"/>
          <ac:spMkLst>
            <pc:docMk/>
            <pc:sldMk cId="0" sldId="279"/>
            <ac:spMk id="2" creationId="{0773AC79-3E90-3182-C0B0-06065976D053}"/>
          </ac:spMkLst>
        </pc:spChg>
        <pc:spChg chg="mod">
          <ac:chgData name="Edgar Rosales Ortega" userId="d1d54fc2-1570-4978-babc-e22e1526833f" providerId="ADAL" clId="{66BE7C30-C669-4152-AC74-10076FC0590C}" dt="2026-05-05T17:57:40.277" v="35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8:40.198" v="2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1:27.788" v="14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7:25.580" v="34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8:56:12.217" v="4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8:56:12.217" v="4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8:31.847" v="2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1:31.209" v="15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8:56:00.410" v="45" actId="14100"/>
        <pc:sldMkLst>
          <pc:docMk/>
          <pc:sldMk cId="3240565764" sldId="297"/>
        </pc:sldMkLst>
        <pc:graphicFrameChg chg="modGraphic">
          <ac:chgData name="Edgar Rosales Ortega" userId="d1d54fc2-1570-4978-babc-e22e1526833f" providerId="ADAL" clId="{66BE7C30-C669-4152-AC74-10076FC0590C}" dt="2026-05-07T18:54:12.266" v="42" actId="20577"/>
          <ac:graphicFrameMkLst>
            <pc:docMk/>
            <pc:sldMk cId="3240565764" sldId="297"/>
            <ac:graphicFrameMk id="2" creationId="{434C3138-4D0E-D6F5-1979-61C724288F50}"/>
          </ac:graphicFrameMkLst>
        </pc:graphicFrameChg>
        <pc:picChg chg="mod">
          <ac:chgData name="Edgar Rosales Ortega" userId="d1d54fc2-1570-4978-babc-e22e1526833f" providerId="ADAL" clId="{66BE7C30-C669-4152-AC74-10076FC0590C}" dt="2026-05-07T18:56:00.410" v="45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29:37.935" v="1"/>
        <pc:sldMkLst>
          <pc:docMk/>
          <pc:sldMk cId="3987891378" sldId="298"/>
        </pc:sldMkLst>
      </pc:sldChg>
    </pc:docChg>
  </pc:docChgLst>
  <pc:docChgLst>
    <pc:chgData name="Gerardo Jahir Lara Garcia" userId="S::gerardo.larag@imss.gob.mx::84d5cd65-4601-4e92-b448-a9da4809e012" providerId="AD" clId="Web-{7A9507CF-5E2A-0B7E-10CB-B76999DDD305}"/>
    <pc:docChg chg="modSld">
      <pc:chgData name="Gerardo Jahir Lara Garcia" userId="S::gerardo.larag@imss.gob.mx::84d5cd65-4601-4e92-b448-a9da4809e012" providerId="AD" clId="Web-{7A9507CF-5E2A-0B7E-10CB-B76999DDD305}" dt="2026-05-12T22:46:27.387" v="27" actId="1076"/>
      <pc:docMkLst>
        <pc:docMk/>
      </pc:docMkLst>
      <pc:sldChg chg="addSp delSp modSp">
        <pc:chgData name="Gerardo Jahir Lara Garcia" userId="S::gerardo.larag@imss.gob.mx::84d5cd65-4601-4e92-b448-a9da4809e012" providerId="AD" clId="Web-{7A9507CF-5E2A-0B7E-10CB-B76999DDD305}" dt="2026-05-12T22:46:14.136" v="2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7A9507CF-5E2A-0B7E-10CB-B76999DDD305}" dt="2026-05-12T22:44:40.648" v="1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07.902" v="20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12.855" v="24" actId="20577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7A9507CF-5E2A-0B7E-10CB-B76999DDD305}" dt="2026-05-12T22:46:14.136" v="25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7A9507CF-5E2A-0B7E-10CB-B76999DDD305}" dt="2026-05-12T22:44:40.648" v="17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7A9507CF-5E2A-0B7E-10CB-B76999DDD305}" dt="2026-05-12T22:44:40.648" v="1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7A9507CF-5E2A-0B7E-10CB-B76999DDD305}" dt="2026-05-12T22:46:14.136" v="2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7A9507CF-5E2A-0B7E-10CB-B76999DDD305}" dt="2026-05-12T22:46:27.387" v="27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7A9507CF-5E2A-0B7E-10CB-B76999DDD305}" dt="2026-05-12T22:44:30.820" v="14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4:30.835" v="16" actId="1076"/>
          <ac:spMkLst>
            <pc:docMk/>
            <pc:sldMk cId="3240565764" sldId="297"/>
            <ac:spMk id="7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7A9507CF-5E2A-0B7E-10CB-B76999DDD305}" dt="2026-05-12T22:44:25.616" v="12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7A9507CF-5E2A-0B7E-10CB-B76999DDD305}" dt="2026-05-12T22:44:25.616" v="11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7A9507CF-5E2A-0B7E-10CB-B76999DDD305}" dt="2026-05-12T22:44:25.616" v="9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7A9507CF-5E2A-0B7E-10CB-B76999DDD305}" dt="2026-05-12T22:43:29.958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27.387" v="27" actId="1076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7A9507CF-5E2A-0B7E-10CB-B76999DDD305}" dt="2026-05-12T22:44:30.835" v="15" actId="1076"/>
          <ac:picMkLst>
            <pc:docMk/>
            <pc:sldMk cId="3240565764" sldId="297"/>
            <ac:picMk id="4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7A9507CF-5E2A-0B7E-10CB-B76999DDD305}" dt="2026-05-12T22:44:25.616" v="13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7A9507CF-5E2A-0B7E-10CB-B76999DDD305}" dt="2026-05-12T22:44:25.616" v="1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7A9507CF-5E2A-0B7E-10CB-B76999DDD305}" dt="2026-05-12T22:43:29.958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1115656.0</c:v>
                </c:pt>
                <c:pt idx="1">
                  <c:v>650033.0</c:v>
                </c:pt>
                <c:pt idx="2">
                  <c:v>417630.0</c:v>
                </c:pt>
                <c:pt idx="3">
                  <c:v>1112663.0</c:v>
                </c:pt>
                <c:pt idx="4">
                  <c:v>38078.0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29.779599587442046</c:v>
                </c:pt>
                <c:pt idx="1">
                  <c:v>70.22040041255795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17.044916783</c:v>
                </c:pt>
                <c:pt idx="1">
                  <c:v>82.955083217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30.846018890995765</c:v>
                </c:pt>
                <c:pt idx="1">
                  <c:v>69.15398110900423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25.88163906339235</c:v>
                </c:pt>
                <c:pt idx="1">
                  <c:v>74.11836093660764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53</c:v>
                </c:pt>
                <c:pt idx="2">
                  <c:v>49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Industrias Extractivas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40805</c:v>
                </c:pt>
                <c:pt idx="1">
                  <c:v>82855</c:v>
                </c:pt>
                <c:pt idx="2">
                  <c:v>2829</c:v>
                </c:pt>
                <c:pt idx="3">
                  <c:v>66194</c:v>
                </c:pt>
                <c:pt idx="4">
                  <c:v>2857</c:v>
                </c:pt>
                <c:pt idx="5">
                  <c:v>4018</c:v>
                </c:pt>
                <c:pt idx="6">
                  <c:v>31485</c:v>
                </c:pt>
                <c:pt idx="7">
                  <c:v>29566</c:v>
                </c:pt>
                <c:pt idx="8">
                  <c:v>23891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Industrias Extractivas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38704</c:v>
                </c:pt>
                <c:pt idx="1">
                  <c:v>81223</c:v>
                </c:pt>
                <c:pt idx="2">
                  <c:v>2800</c:v>
                </c:pt>
                <c:pt idx="3">
                  <c:v>66372</c:v>
                </c:pt>
                <c:pt idx="4">
                  <c:v>2867</c:v>
                </c:pt>
                <c:pt idx="5">
                  <c:v>4065</c:v>
                </c:pt>
                <c:pt idx="6">
                  <c:v>34660</c:v>
                </c:pt>
                <c:pt idx="7">
                  <c:v>33147</c:v>
                </c:pt>
                <c:pt idx="8">
                  <c:v>27742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227478</c:v>
                </c:pt>
                <c:pt idx="1">
                  <c:v>233419</c:v>
                </c:pt>
                <c:pt idx="2">
                  <c:v>226030</c:v>
                </c:pt>
                <c:pt idx="3">
                  <c:v>222289</c:v>
                </c:pt>
                <c:pt idx="4">
                  <c:v>249917</c:v>
                </c:pt>
                <c:pt idx="5">
                  <c:v>263144</c:v>
                </c:pt>
                <c:pt idx="6">
                  <c:v>277081</c:v>
                </c:pt>
                <c:pt idx="7">
                  <c:v>284500</c:v>
                </c:pt>
                <c:pt idx="8">
                  <c:v>291580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sintesis.com.mx/hidalgo/2022/08/22/destacan-atencion-de-imss-sahagun-sus-50-anos-de-creacion/" TargetMode="External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Hidalgo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_Hid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53%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1,115,656</a:t>
            </a:r>
            <a:br/>
            <a:r>
              <a:t>33%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650,033</a:t>
            </a:r>
            <a:br/>
            <a:r>
              <a:t>19%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417,630</a:t>
            </a:r>
            <a:br/>
            <a:r>
              <a:t>13%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1,112,663</a:t>
            </a:r>
            <a:br/>
            <a:r>
              <a:t>33%</a:t>
            </a:r>
          </a:p>
        </p:txBody>
      </p:sp>
      <p:pic>
        <p:nvPicPr>
          <p:cNvPr id="128" name="Picture 127" descr="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38,078</a:t>
            </a:r>
            <a:br/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3,334,060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834,539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1,123,947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490,444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722,056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291,580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176,875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249,989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344,095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401,891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8,581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3_h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14 UMF, 2 UMFH y no incluye 5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53;g3d7b9a303e3_0_33">
            <a:extLst>
              <a:ext uri="{FF2B5EF4-FFF2-40B4-BE49-F238E27FC236}">
                <a16:creationId xmlns:a16="http://schemas.microsoft.com/office/drawing/2014/main" id="{EEA9DB8B-9828-0F39-BADF-093B6FA4AD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4149558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Zona, Ciudad Sahagún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59;g3d7b9a303e3_0_33">
            <a:extLst>
              <a:ext uri="{FF2B5EF4-FFF2-40B4-BE49-F238E27FC236}">
                <a16:creationId xmlns:a16="http://schemas.microsoft.com/office/drawing/2014/main" id="{24AE15D1-8F7D-F7AE-9E02-5DB8C38566B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735" y="2272208"/>
            <a:ext cx="3464453" cy="24030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89F7C2-FB21-799B-FE5E-0D35DA032DDF}"/>
              </a:ext>
            </a:extLst>
          </p:cNvPr>
          <p:cNvSpPr txBox="1"/>
          <p:nvPr/>
        </p:nvSpPr>
        <p:spPr>
          <a:xfrm>
            <a:off x="3597188" y="1990151"/>
            <a:ext cx="3889512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el estado en 1958. Las consultas se otorgaban a través de consultorios adaptados y unidades médicas subrogadas, ofreciendo medicina general, atención preventiva y servicios básicos.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Hidalgo fue el Hospital General de Zona del IMSS en Ciudad Sahagún, hoy HGZ/MF No. 8, el cual inició operaciones el 18 de agosto de 1978.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una capacidad instalada aproximada de 40 camas y ofrecía servicios de hospitalización general, urgencias, medicina interna, pediatría, cirugía general, gineco‑obstetricia, farmacia, laboratorio y radiología.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id_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948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CE90A97-C673-C209-4463-B2C3555C7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6056038-6E36-A958-03AC-D2A018EC081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7C1620-B208-EFCB-2E29-6BEE7D419B4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3CD9260-704A-3E5A-E7A6-1BD63EDD1114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8861925-5186-C077-D463-320F25E26DF9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5FEE11-3A98-90B7-FD70-FE48B89F025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18913F-7441-684D-AC75-0EC944FF7D1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+170,816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+77,525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1,689,874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170,816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574,446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1,737,132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174,061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7,251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Cuautepec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SantiagoTulant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Tlaxcoapan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47,516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Mineral Monte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Huichapan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Mixquiahuala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Cruz Azul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Doxey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39,542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357,999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123,577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414,972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075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79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569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07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414,972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adroTexto 179">
            <a:extLst>
              <a:ext uri="{FF2B5EF4-FFF2-40B4-BE49-F238E27FC236}">
                <a16:creationId xmlns:a16="http://schemas.microsoft.com/office/drawing/2014/main" id="{D7BA50D1-82EC-6646-C200-37DEE99712CC}"/>
              </a:ext>
            </a:extLst>
          </p:cNvPr>
          <p:cNvSpPr txBox="1"/>
          <p:nvPr/>
        </p:nvSpPr>
        <p:spPr>
          <a:xfrm>
            <a:off x="4333475" y="565885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(24 consultorios)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(118,860 consultas)</a:t>
            </a:r>
          </a:p>
        </p:txBody>
      </p:sp>
      <p:graphicFrame>
        <p:nvGraphicFramePr>
          <p:cNvPr id="188" name="Table 187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7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65,449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24,723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16,838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Actopan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Tizayuca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45,949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Pachuca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47,386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Tulancingo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50,542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La Colonia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31,875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697,334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92,139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237,853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695,400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9" name="Chart 18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0" name="TextBox 18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4453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63,564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55,663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174,061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80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5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4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80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564,290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67304491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7,251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25.9%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28,016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168 en Hospitales, 2 en sede, 18 en UMF y 65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9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750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Ixmiquilpan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Metepec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Zacualtipán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Huejutla de Reyes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9F0CE32-688A-CC5B-A70E-30EE45EC4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064321"/>
              </p:ext>
            </p:extLst>
          </p:nvPr>
        </p:nvGraphicFramePr>
        <p:xfrm>
          <a:off x="287050" y="100467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3,917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9,700	 Personal de Salud: 5,348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+85.0%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+61.9%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+50.7%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+118.8%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5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7,095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2,208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563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10,250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(116,799)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(16,426)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(95,558)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(706)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(1,082)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(17,921)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(782)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(6,531)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87,252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58,302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1,206,201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33B5-FC28-CA2A-C10C-B918E20D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239,331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229,953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199,295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198,918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135,154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126,602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114,076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110,687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101,640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Insulina glargina, solución inyectable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98,674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960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449298"/>
              </p:ext>
            </p:extLst>
          </p:nvPr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9718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240771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3530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Hospitales</a:t>
            </a:r>
            <a:endParaRPr lang="en-US" sz="800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30762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36 en Pachuca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$370.9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 No. 33 Tizayuca, HGZMF No. 1 Pachuca y HGZ No. 2 Tulancingo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$130.7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27 Tlaxcoapan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HGZMF No. 1 Pachuca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$517.5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464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11  piezas de equipo médico: 2 congeladores horizontales de refrigerantes para vacunas, 3 refrigeradores para vacunas, 6 refrigeradores congeladores de 5.4 pies cúbicos.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59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572.2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675861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 Tula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$2,580.2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150 Tepeapulco, CECI 110 Mineral de la Reforma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$2,672.1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2771996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HGZ No. 36 y HGZMF No. 1 Pachuca de Soto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$90.7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$212.4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2,884.5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HR Huejutla de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HGZ No. 36 y HGZMF No. 1 Pachuca de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548.1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Tepeapulco (Cd. Sahagún), Mineral de la Reforma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Tizayuca, Tepeji del Río, Tulancingo de Bravo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Ciudad Sahagún y Mineral de la Reforma. En integración de expediente para donación: 5 en Mineral de Reforma, Tepeji del Río, Tepeapulco, Tizayuca y Tulancingo de Bravo.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2,222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225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Tepeji del Río, Ciudad Sahagún y Pachuca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121 Tulancingo y No. 137 Tepeji del 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Pachuca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3_h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Uaeh Educación Superior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3,545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Hidalgo Vigueras Consultores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-5.15%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+10.08%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+12.11%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+16.12%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230,312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234,847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54,633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291,580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73AC79-3E90-3182-C0B0-06065976D053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$557.61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$305.99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$557.61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$16,728.3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Estatal electoral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José Antonio Cristopher Murillo López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Imagen Corporativa Atlanta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$43.27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de Real del Monte y Pachuca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634,273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585,302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2,243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18,923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5,009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6,498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650,033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151,754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498,279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274,537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634,273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5,155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Huejutla de Reyes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Zacualtipán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Ixmiquilpan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233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Huejutla de Reyes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Ixmiquilpan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Metepec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Zacualtipán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2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18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873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0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65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316</Words>
  <Application>Microsoft Office PowerPoint</Application>
  <PresentationFormat>Personalizado</PresentationFormat>
  <Paragraphs>79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95</cp:revision>
  <dcterms:modified xsi:type="dcterms:W3CDTF">2026-05-12T22:46:30Z</dcterms:modified>
</cp:coreProperties>
</file>