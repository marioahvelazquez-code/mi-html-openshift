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charts/style1.xml" ContentType="application/vnd.ms-office.chartstyle+xml"/>
  <Override PartName="/ppt/charts/colors1.xml" ContentType="application/vnd.ms-office.chartcolorstyl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9.xml" ContentType="application/vnd.openxmlformats-officedocument.drawingml.chart+xml"/>
  <Override PartName="/ppt/notesSlides/notesSlide17.xml" ContentType="application/vnd.openxmlformats-officedocument.presentationml.notesSlide+xml"/>
  <Override PartName="/ppt/charts/chart10.xml" ContentType="application/vnd.openxmlformats-officedocument.drawingml.chart+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89" r:id="rId3"/>
    <p:sldId id="258" r:id="rId4"/>
    <p:sldId id="259" r:id="rId5"/>
    <p:sldId id="260" r:id="rId6"/>
    <p:sldId id="301" r:id="rId7"/>
    <p:sldId id="287" r:id="rId8"/>
    <p:sldId id="262" r:id="rId9"/>
    <p:sldId id="280" r:id="rId10"/>
    <p:sldId id="298" r:id="rId11"/>
    <p:sldId id="302" r:id="rId12"/>
    <p:sldId id="281" r:id="rId13"/>
    <p:sldId id="288" r:id="rId14"/>
    <p:sldId id="270" r:id="rId15"/>
    <p:sldId id="271" r:id="rId16"/>
    <p:sldId id="272" r:id="rId17"/>
    <p:sldId id="300" r:id="rId18"/>
    <p:sldId id="297" r:id="rId19"/>
    <p:sldId id="284" r:id="rId20"/>
    <p:sldId id="277" r:id="rId21"/>
    <p:sldId id="278" r:id="rId22"/>
    <p:sldId id="279" r:id="rId23"/>
    <p:sldId id="282" r:id="rId24"/>
  </p:sldIdLst>
  <p:sldSz cx="7772400" cy="10058400"/>
  <p:notesSz cx="6858000" cy="9144000"/>
  <p:embeddedFontLst>
    <p:embeddedFont>
      <p:font typeface="Montserrat" panose="00000500000000000000" pitchFamily="2" charset="0"/>
      <p:regular r:id="rId26"/>
      <p:bold r:id="rId27"/>
      <p:italic r:id="rId28"/>
      <p:boldItalic r:id="rId29"/>
    </p:embeddedFont>
    <p:embeddedFont>
      <p:font typeface="Noto Sans" panose="020B0502040504020204" pitchFamily="34" charset="0"/>
      <p:regular r:id="rId30"/>
      <p:bold r:id="rId31"/>
      <p:italic r:id="rId32"/>
      <p:boldItalic r:id="rId33"/>
    </p:embeddedFont>
    <p:embeddedFont>
      <p:font typeface="Noto Sans Black" panose="020B0604020202020204" charset="0"/>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741CE8-FE3D-4EFF-92A6-D4ABECC84E94}" v="6" dt="2026-07-02T19:17:02.429"/>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2" autoAdjust="0"/>
    <p:restoredTop sz="93671" autoAdjust="0"/>
  </p:normalViewPr>
  <p:slideViewPr>
    <p:cSldViewPr snapToGrid="0">
      <p:cViewPr varScale="1">
        <p:scale>
          <a:sx n="66" d="100"/>
          <a:sy n="66" d="100"/>
        </p:scale>
        <p:origin x="858" y="72"/>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84d5cd65-4601-4e92-b448-a9da4809e012" providerId="ADAL" clId="{848F2E50-180B-4DB9-9EF6-4803D25AC9EC}"/>
    <pc:docChg chg="undo custSel modSld">
      <pc:chgData name="Gerardo Jahir Lara Garcia" userId="84d5cd65-4601-4e92-b448-a9da4809e012" providerId="ADAL" clId="{848F2E50-180B-4DB9-9EF6-4803D25AC9EC}" dt="2026-07-02T19:20:45.051" v="452" actId="207"/>
      <pc:docMkLst>
        <pc:docMk/>
      </pc:docMkLst>
      <pc:sldChg chg="modSp mod">
        <pc:chgData name="Gerardo Jahir Lara Garcia" userId="84d5cd65-4601-4e92-b448-a9da4809e012" providerId="ADAL" clId="{848F2E50-180B-4DB9-9EF6-4803D25AC9EC}" dt="2026-07-02T19:19:14.314" v="420" actId="2062"/>
        <pc:sldMkLst>
          <pc:docMk/>
          <pc:sldMk cId="0" sldId="262"/>
        </pc:sldMkLst>
        <pc:graphicFrameChg chg="modGraphic">
          <ac:chgData name="Gerardo Jahir Lara Garcia" userId="84d5cd65-4601-4e92-b448-a9da4809e012" providerId="ADAL" clId="{848F2E50-180B-4DB9-9EF6-4803D25AC9EC}" dt="2026-07-02T19:19:09.960" v="419" actId="2062"/>
          <ac:graphicFrameMkLst>
            <pc:docMk/>
            <pc:sldMk cId="0" sldId="262"/>
            <ac:graphicFrameMk id="8" creationId="{00000000-0000-0000-0000-000000000000}"/>
          </ac:graphicFrameMkLst>
        </pc:graphicFrameChg>
        <pc:graphicFrameChg chg="modGraphic">
          <ac:chgData name="Gerardo Jahir Lara Garcia" userId="84d5cd65-4601-4e92-b448-a9da4809e012" providerId="ADAL" clId="{848F2E50-180B-4DB9-9EF6-4803D25AC9EC}" dt="2026-07-02T19:19:14.314" v="420" actId="2062"/>
          <ac:graphicFrameMkLst>
            <pc:docMk/>
            <pc:sldMk cId="0" sldId="262"/>
            <ac:graphicFrameMk id="16" creationId="{00000000-0000-0000-0000-000000000000}"/>
          </ac:graphicFrameMkLst>
        </pc:graphicFrameChg>
      </pc:sldChg>
      <pc:sldChg chg="modSp mod">
        <pc:chgData name="Gerardo Jahir Lara Garcia" userId="84d5cd65-4601-4e92-b448-a9da4809e012" providerId="ADAL" clId="{848F2E50-180B-4DB9-9EF6-4803D25AC9EC}" dt="2026-07-02T19:19:56.372" v="445" actId="2062"/>
        <pc:sldMkLst>
          <pc:docMk/>
          <pc:sldMk cId="0" sldId="271"/>
        </pc:sldMkLst>
        <pc:graphicFrameChg chg="mod modGraphic">
          <ac:chgData name="Gerardo Jahir Lara Garcia" userId="84d5cd65-4601-4e92-b448-a9da4809e012" providerId="ADAL" clId="{848F2E50-180B-4DB9-9EF6-4803D25AC9EC}" dt="2026-07-02T19:19:56.372" v="445" actId="2062"/>
          <ac:graphicFrameMkLst>
            <pc:docMk/>
            <pc:sldMk cId="0" sldId="271"/>
            <ac:graphicFrameMk id="344" creationId="{00000000-0000-0000-0000-000000000000}"/>
          </ac:graphicFrameMkLst>
        </pc:graphicFrameChg>
      </pc:sldChg>
      <pc:sldChg chg="addSp delSp modSp mod">
        <pc:chgData name="Gerardo Jahir Lara Garcia" userId="84d5cd65-4601-4e92-b448-a9da4809e012" providerId="ADAL" clId="{848F2E50-180B-4DB9-9EF6-4803D25AC9EC}" dt="2026-07-02T19:18:07.256" v="418" actId="1035"/>
        <pc:sldMkLst>
          <pc:docMk/>
          <pc:sldMk cId="0" sldId="272"/>
        </pc:sldMkLst>
        <pc:spChg chg="add del mod">
          <ac:chgData name="Gerardo Jahir Lara Garcia" userId="84d5cd65-4601-4e92-b448-a9da4809e012" providerId="ADAL" clId="{848F2E50-180B-4DB9-9EF6-4803D25AC9EC}" dt="2026-07-02T19:17:58.248" v="403" actId="1035"/>
          <ac:spMkLst>
            <pc:docMk/>
            <pc:sldMk cId="0" sldId="272"/>
            <ac:spMk id="5" creationId="{00000000-0000-0000-0000-000000000000}"/>
          </ac:spMkLst>
        </pc:spChg>
        <pc:spChg chg="mod">
          <ac:chgData name="Gerardo Jahir Lara Garcia" userId="84d5cd65-4601-4e92-b448-a9da4809e012" providerId="ADAL" clId="{848F2E50-180B-4DB9-9EF6-4803D25AC9EC}" dt="2026-07-02T19:18:07.256" v="418" actId="1035"/>
          <ac:spMkLst>
            <pc:docMk/>
            <pc:sldMk cId="0" sldId="272"/>
            <ac:spMk id="7" creationId="{00000000-0000-0000-0000-000000000000}"/>
          </ac:spMkLst>
        </pc:spChg>
        <pc:spChg chg="mod">
          <ac:chgData name="Gerardo Jahir Lara Garcia" userId="84d5cd65-4601-4e92-b448-a9da4809e012" providerId="ADAL" clId="{848F2E50-180B-4DB9-9EF6-4803D25AC9EC}" dt="2026-07-02T19:18:07.256" v="418" actId="1035"/>
          <ac:spMkLst>
            <pc:docMk/>
            <pc:sldMk cId="0" sldId="272"/>
            <ac:spMk id="8" creationId="{00000000-0000-0000-0000-000000000000}"/>
          </ac:spMkLst>
        </pc:spChg>
        <pc:graphicFrameChg chg="mod">
          <ac:chgData name="Gerardo Jahir Lara Garcia" userId="84d5cd65-4601-4e92-b448-a9da4809e012" providerId="ADAL" clId="{848F2E50-180B-4DB9-9EF6-4803D25AC9EC}" dt="2026-07-02T19:18:07.256" v="418" actId="1035"/>
          <ac:graphicFrameMkLst>
            <pc:docMk/>
            <pc:sldMk cId="0" sldId="272"/>
            <ac:graphicFrameMk id="10" creationId="{00000000-0000-0000-0000-000000000000}"/>
          </ac:graphicFrameMkLst>
        </pc:graphicFrameChg>
        <pc:graphicFrameChg chg="add mod">
          <ac:chgData name="Gerardo Jahir Lara Garcia" userId="84d5cd65-4601-4e92-b448-a9da4809e012" providerId="ADAL" clId="{848F2E50-180B-4DB9-9EF6-4803D25AC9EC}" dt="2026-07-02T19:15:58.130" v="272"/>
          <ac:graphicFrameMkLst>
            <pc:docMk/>
            <pc:sldMk cId="0" sldId="272"/>
            <ac:graphicFrameMk id="12" creationId="{BD2080F9-6146-ED11-8622-4B600EF13244}"/>
          </ac:graphicFrameMkLst>
        </pc:graphicFrameChg>
        <pc:graphicFrameChg chg="add mod">
          <ac:chgData name="Gerardo Jahir Lara Garcia" userId="84d5cd65-4601-4e92-b448-a9da4809e012" providerId="ADAL" clId="{848F2E50-180B-4DB9-9EF6-4803D25AC9EC}" dt="2026-07-02T19:17:00.776" v="278"/>
          <ac:graphicFrameMkLst>
            <pc:docMk/>
            <pc:sldMk cId="0" sldId="272"/>
            <ac:graphicFrameMk id="13" creationId="{BD2080F9-6146-ED11-8622-4B600EF13244}"/>
          </ac:graphicFrameMkLst>
        </pc:graphicFrameChg>
        <pc:graphicFrameChg chg="add mod">
          <ac:chgData name="Gerardo Jahir Lara Garcia" userId="84d5cd65-4601-4e92-b448-a9da4809e012" providerId="ADAL" clId="{848F2E50-180B-4DB9-9EF6-4803D25AC9EC}" dt="2026-07-02T19:18:02.749" v="405" actId="14100"/>
          <ac:graphicFrameMkLst>
            <pc:docMk/>
            <pc:sldMk cId="0" sldId="272"/>
            <ac:graphicFrameMk id="14" creationId="{BD2080F9-6146-ED11-8622-4B600EF13244}"/>
          </ac:graphicFrameMkLst>
        </pc:graphicFrameChg>
        <pc:picChg chg="del">
          <ac:chgData name="Gerardo Jahir Lara Garcia" userId="84d5cd65-4601-4e92-b448-a9da4809e012" providerId="ADAL" clId="{848F2E50-180B-4DB9-9EF6-4803D25AC9EC}" dt="2026-07-02T19:15:30.683" v="258" actId="478"/>
          <ac:picMkLst>
            <pc:docMk/>
            <pc:sldMk cId="0" sldId="272"/>
            <ac:picMk id="6" creationId="{00000000-0000-0000-0000-000000000000}"/>
          </ac:picMkLst>
        </pc:picChg>
        <pc:cxnChg chg="mod">
          <ac:chgData name="Gerardo Jahir Lara Garcia" userId="84d5cd65-4601-4e92-b448-a9da4809e012" providerId="ADAL" clId="{848F2E50-180B-4DB9-9EF6-4803D25AC9EC}" dt="2026-07-02T19:18:07.256" v="418" actId="1035"/>
          <ac:cxnSpMkLst>
            <pc:docMk/>
            <pc:sldMk cId="0" sldId="272"/>
            <ac:cxnSpMk id="9" creationId="{00000000-0000-0000-0000-000000000000}"/>
          </ac:cxnSpMkLst>
        </pc:cxnChg>
      </pc:sldChg>
      <pc:sldChg chg="modSp mod">
        <pc:chgData name="Gerardo Jahir Lara Garcia" userId="84d5cd65-4601-4e92-b448-a9da4809e012" providerId="ADAL" clId="{848F2E50-180B-4DB9-9EF6-4803D25AC9EC}" dt="2026-07-02T19:20:45.051" v="452" actId="207"/>
        <pc:sldMkLst>
          <pc:docMk/>
          <pc:sldMk cId="0" sldId="279"/>
        </pc:sldMkLst>
        <pc:spChg chg="mod">
          <ac:chgData name="Gerardo Jahir Lara Garcia" userId="84d5cd65-4601-4e92-b448-a9da4809e012" providerId="ADAL" clId="{848F2E50-180B-4DB9-9EF6-4803D25AC9EC}" dt="2026-07-02T19:20:45.051" v="452" actId="207"/>
          <ac:spMkLst>
            <pc:docMk/>
            <pc:sldMk cId="0" sldId="279"/>
            <ac:spMk id="515" creationId="{00000000-0000-0000-0000-000000000000}"/>
          </ac:spMkLst>
        </pc:spChg>
      </pc:sldChg>
      <pc:sldChg chg="modSp mod">
        <pc:chgData name="Gerardo Jahir Lara Garcia" userId="84d5cd65-4601-4e92-b448-a9da4809e012" providerId="ADAL" clId="{848F2E50-180B-4DB9-9EF6-4803D25AC9EC}" dt="2026-07-02T19:19:23.457" v="422" actId="2062"/>
        <pc:sldMkLst>
          <pc:docMk/>
          <pc:sldMk cId="540716406" sldId="280"/>
        </pc:sldMkLst>
        <pc:graphicFrameChg chg="modGraphic">
          <ac:chgData name="Gerardo Jahir Lara Garcia" userId="84d5cd65-4601-4e92-b448-a9da4809e012" providerId="ADAL" clId="{848F2E50-180B-4DB9-9EF6-4803D25AC9EC}" dt="2026-07-02T19:19:23.457" v="422" actId="2062"/>
          <ac:graphicFrameMkLst>
            <pc:docMk/>
            <pc:sldMk cId="540716406" sldId="280"/>
            <ac:graphicFrameMk id="14" creationId="{00000000-0000-0000-0000-000000000000}"/>
          </ac:graphicFrameMkLst>
        </pc:graphicFrameChg>
        <pc:graphicFrameChg chg="modGraphic">
          <ac:chgData name="Gerardo Jahir Lara Garcia" userId="84d5cd65-4601-4e92-b448-a9da4809e012" providerId="ADAL" clId="{848F2E50-180B-4DB9-9EF6-4803D25AC9EC}" dt="2026-07-02T19:19:19.753" v="421" actId="2062"/>
          <ac:graphicFrameMkLst>
            <pc:docMk/>
            <pc:sldMk cId="540716406" sldId="280"/>
            <ac:graphicFrameMk id="236" creationId="{00000000-0000-0000-0000-000000000000}"/>
          </ac:graphicFrameMkLst>
        </pc:graphicFrameChg>
      </pc:sldChg>
      <pc:sldChg chg="modSp mod">
        <pc:chgData name="Gerardo Jahir Lara Garcia" userId="84d5cd65-4601-4e92-b448-a9da4809e012" providerId="ADAL" clId="{848F2E50-180B-4DB9-9EF6-4803D25AC9EC}" dt="2026-07-02T19:19:39.152" v="436" actId="1035"/>
        <pc:sldMkLst>
          <pc:docMk/>
          <pc:sldMk cId="3828482411" sldId="281"/>
        </pc:sldMkLst>
        <pc:cxnChg chg="mod">
          <ac:chgData name="Gerardo Jahir Lara Garcia" userId="84d5cd65-4601-4e92-b448-a9da4809e012" providerId="ADAL" clId="{848F2E50-180B-4DB9-9EF6-4803D25AC9EC}" dt="2026-07-02T19:19:39.152" v="436" actId="1035"/>
          <ac:cxnSpMkLst>
            <pc:docMk/>
            <pc:sldMk cId="3828482411" sldId="281"/>
            <ac:cxnSpMk id="4" creationId="{00000000-0000-0000-0000-000000000000}"/>
          </ac:cxnSpMkLst>
        </pc:cxnChg>
      </pc:sldChg>
      <pc:sldChg chg="modSp mod">
        <pc:chgData name="Gerardo Jahir Lara Garcia" userId="84d5cd65-4601-4e92-b448-a9da4809e012" providerId="ADAL" clId="{848F2E50-180B-4DB9-9EF6-4803D25AC9EC}" dt="2026-07-02T00:36:05.311" v="1" actId="20577"/>
        <pc:sldMkLst>
          <pc:docMk/>
          <pc:sldMk cId="3763779569" sldId="289"/>
        </pc:sldMkLst>
        <pc:spChg chg="mod">
          <ac:chgData name="Gerardo Jahir Lara Garcia" userId="84d5cd65-4601-4e92-b448-a9da4809e012" providerId="ADAL" clId="{848F2E50-180B-4DB9-9EF6-4803D25AC9EC}" dt="2026-07-02T00:36:05.311" v="1" actId="20577"/>
          <ac:spMkLst>
            <pc:docMk/>
            <pc:sldMk cId="3763779569" sldId="289"/>
            <ac:spMk id="6" creationId="{00000000-0000-0000-0000-000000000000}"/>
          </ac:spMkLst>
        </pc:spChg>
      </pc:sldChg>
      <pc:sldChg chg="modSp mod">
        <pc:chgData name="Gerardo Jahir Lara Garcia" userId="84d5cd65-4601-4e92-b448-a9da4809e012" providerId="ADAL" clId="{848F2E50-180B-4DB9-9EF6-4803D25AC9EC}" dt="2026-07-02T19:20:11.489" v="451" actId="1035"/>
        <pc:sldMkLst>
          <pc:docMk/>
          <pc:sldMk cId="3240565764" sldId="297"/>
        </pc:sldMkLst>
        <pc:spChg chg="mod">
          <ac:chgData name="Gerardo Jahir Lara Garcia" userId="84d5cd65-4601-4e92-b448-a9da4809e012" providerId="ADAL" clId="{848F2E50-180B-4DB9-9EF6-4803D25AC9EC}" dt="2026-07-02T19:20:11.489" v="451" actId="1035"/>
          <ac:spMkLst>
            <pc:docMk/>
            <pc:sldMk cId="3240565764" sldId="297"/>
            <ac:spMk id="37" creationId="{00000000-0000-0000-0000-000000000000}"/>
          </ac:spMkLst>
        </pc:spChg>
      </pc:sldChg>
      <pc:sldChg chg="addSp delSp modSp mod">
        <pc:chgData name="Gerardo Jahir Lara Garcia" userId="84d5cd65-4601-4e92-b448-a9da4809e012" providerId="ADAL" clId="{848F2E50-180B-4DB9-9EF6-4803D25AC9EC}" dt="2026-07-02T16:29:13.580" v="257" actId="1036"/>
        <pc:sldMkLst>
          <pc:docMk/>
          <pc:sldMk cId="3324551169" sldId="300"/>
        </pc:sldMkLst>
        <pc:spChg chg="mod">
          <ac:chgData name="Gerardo Jahir Lara Garcia" userId="84d5cd65-4601-4e92-b448-a9da4809e012" providerId="ADAL" clId="{848F2E50-180B-4DB9-9EF6-4803D25AC9EC}" dt="2026-07-02T16:28:46.462" v="209" actId="1035"/>
          <ac:spMkLst>
            <pc:docMk/>
            <pc:sldMk cId="3324551169" sldId="300"/>
            <ac:spMk id="7" creationId="{00000000-0000-0000-0000-000000000000}"/>
          </ac:spMkLst>
        </pc:spChg>
        <pc:graphicFrameChg chg="mod modGraphic">
          <ac:chgData name="Gerardo Jahir Lara Garcia" userId="84d5cd65-4601-4e92-b448-a9da4809e012" providerId="ADAL" clId="{848F2E50-180B-4DB9-9EF6-4803D25AC9EC}" dt="2026-07-02T16:28:46.462" v="209" actId="1035"/>
          <ac:graphicFrameMkLst>
            <pc:docMk/>
            <pc:sldMk cId="3324551169" sldId="300"/>
            <ac:graphicFrameMk id="9" creationId="{00000000-0000-0000-0000-000000000000}"/>
          </ac:graphicFrameMkLst>
        </pc:graphicFrameChg>
        <pc:graphicFrameChg chg="add mod">
          <ac:chgData name="Gerardo Jahir Lara Garcia" userId="84d5cd65-4601-4e92-b448-a9da4809e012" providerId="ADAL" clId="{848F2E50-180B-4DB9-9EF6-4803D25AC9EC}" dt="2026-07-02T16:29:13.580" v="257" actId="1036"/>
          <ac:graphicFrameMkLst>
            <pc:docMk/>
            <pc:sldMk cId="3324551169" sldId="300"/>
            <ac:graphicFrameMk id="11" creationId="{850B1015-DF5F-141B-5B50-4745E5EADA55}"/>
          </ac:graphicFrameMkLst>
        </pc:graphicFrameChg>
        <pc:picChg chg="del">
          <ac:chgData name="Gerardo Jahir Lara Garcia" userId="84d5cd65-4601-4e92-b448-a9da4809e012" providerId="ADAL" clId="{848F2E50-180B-4DB9-9EF6-4803D25AC9EC}" dt="2026-07-02T16:28:25.675" v="142" actId="478"/>
          <ac:picMkLst>
            <pc:docMk/>
            <pc:sldMk cId="3324551169" sldId="300"/>
            <ac:picMk id="6" creationId="{00000000-0000-0000-0000-000000000000}"/>
          </ac:picMkLst>
        </pc:picChg>
        <pc:cxnChg chg="mod">
          <ac:chgData name="Gerardo Jahir Lara Garcia" userId="84d5cd65-4601-4e92-b448-a9da4809e012" providerId="ADAL" clId="{848F2E50-180B-4DB9-9EF6-4803D25AC9EC}" dt="2026-07-02T16:29:06.084" v="253" actId="1037"/>
          <ac:cxnSpMkLst>
            <pc:docMk/>
            <pc:sldMk cId="3324551169" sldId="300"/>
            <ac:cxnSpMk id="5" creationId="{00000000-0000-0000-0000-000000000000}"/>
          </ac:cxnSpMkLst>
        </pc:cxnChg>
        <pc:cxnChg chg="mod">
          <ac:chgData name="Gerardo Jahir Lara Garcia" userId="84d5cd65-4601-4e92-b448-a9da4809e012" providerId="ADAL" clId="{848F2E50-180B-4DB9-9EF6-4803D25AC9EC}" dt="2026-07-02T16:28:46.462" v="209" actId="1035"/>
          <ac:cxnSpMkLst>
            <pc:docMk/>
            <pc:sldMk cId="3324551169" sldId="300"/>
            <ac:cxnSpMk id="8" creationId="{00000000-0000-0000-0000-000000000000}"/>
          </ac:cxnSpMkLst>
        </pc:cxnChg>
      </pc:sldChg>
    </pc:docChg>
  </pc:docChgLst>
  <pc:docChgLst>
    <pc:chgData name="Laura Patricia Galvan Chavez" userId="6b13af50-ce8b-483e-8fc4-f994efaf3289" providerId="ADAL" clId="{655D084B-7DF1-4C24-9447-417D7DC498B8}"/>
    <pc:docChg chg="undo custSel modSld">
      <pc:chgData name="Laura Patricia Galvan Chavez" userId="6b13af50-ce8b-483e-8fc4-f994efaf3289" providerId="ADAL" clId="{655D084B-7DF1-4C24-9447-417D7DC498B8}" dt="2026-07-02T20:01:28.607" v="42" actId="20577"/>
      <pc:docMkLst>
        <pc:docMk/>
      </pc:docMkLst>
      <pc:sldChg chg="modSp mod">
        <pc:chgData name="Laura Patricia Galvan Chavez" userId="6b13af50-ce8b-483e-8fc4-f994efaf3289" providerId="ADAL" clId="{655D084B-7DF1-4C24-9447-417D7DC498B8}" dt="2026-06-29T18:15:07.193" v="0" actId="1076"/>
        <pc:sldMkLst>
          <pc:docMk/>
          <pc:sldMk cId="0" sldId="260"/>
        </pc:sldMkLst>
        <pc:picChg chg="mod">
          <ac:chgData name="Laura Patricia Galvan Chavez" userId="6b13af50-ce8b-483e-8fc4-f994efaf3289" providerId="ADAL" clId="{655D084B-7DF1-4C24-9447-417D7DC498B8}" dt="2026-06-29T18:15:07.193" v="0" actId="1076"/>
          <ac:picMkLst>
            <pc:docMk/>
            <pc:sldMk cId="0" sldId="260"/>
            <ac:picMk id="11" creationId="{00000000-0000-0000-0000-000000000000}"/>
          </ac:picMkLst>
        </pc:picChg>
      </pc:sldChg>
      <pc:sldChg chg="modSp mod">
        <pc:chgData name="Laura Patricia Galvan Chavez" userId="6b13af50-ce8b-483e-8fc4-f994efaf3289" providerId="ADAL" clId="{655D084B-7DF1-4C24-9447-417D7DC498B8}" dt="2026-06-29T18:18:42.771" v="29" actId="20577"/>
        <pc:sldMkLst>
          <pc:docMk/>
          <pc:sldMk cId="0" sldId="279"/>
        </pc:sldMkLst>
        <pc:graphicFrameChg chg="modGraphic">
          <ac:chgData name="Laura Patricia Galvan Chavez" userId="6b13af50-ce8b-483e-8fc4-f994efaf3289" providerId="ADAL" clId="{655D084B-7DF1-4C24-9447-417D7DC498B8}" dt="2026-06-29T18:18:42.771" v="29" actId="20577"/>
          <ac:graphicFrameMkLst>
            <pc:docMk/>
            <pc:sldMk cId="0" sldId="279"/>
            <ac:graphicFrameMk id="514" creationId="{00000000-0000-0000-0000-000000000000}"/>
          </ac:graphicFrameMkLst>
        </pc:graphicFrameChg>
      </pc:sldChg>
      <pc:sldChg chg="modSp mod">
        <pc:chgData name="Laura Patricia Galvan Chavez" userId="6b13af50-ce8b-483e-8fc4-f994efaf3289" providerId="ADAL" clId="{655D084B-7DF1-4C24-9447-417D7DC498B8}" dt="2026-06-29T19:55:27.094" v="33" actId="1076"/>
        <pc:sldMkLst>
          <pc:docMk/>
          <pc:sldMk cId="3805655920" sldId="288"/>
        </pc:sldMkLst>
        <pc:spChg chg="mod">
          <ac:chgData name="Laura Patricia Galvan Chavez" userId="6b13af50-ce8b-483e-8fc4-f994efaf3289" providerId="ADAL" clId="{655D084B-7DF1-4C24-9447-417D7DC498B8}" dt="2026-06-29T19:55:27.094" v="33" actId="1076"/>
          <ac:spMkLst>
            <pc:docMk/>
            <pc:sldMk cId="3805655920" sldId="288"/>
            <ac:spMk id="4" creationId="{00000000-0000-0000-0000-000000000000}"/>
          </ac:spMkLst>
        </pc:spChg>
      </pc:sldChg>
      <pc:sldChg chg="modSp mod">
        <pc:chgData name="Laura Patricia Galvan Chavez" userId="6b13af50-ce8b-483e-8fc4-f994efaf3289" providerId="ADAL" clId="{655D084B-7DF1-4C24-9447-417D7DC498B8}" dt="2026-07-02T19:54:42.516" v="40" actId="20577"/>
        <pc:sldMkLst>
          <pc:docMk/>
          <pc:sldMk cId="3763779569" sldId="289"/>
        </pc:sldMkLst>
        <pc:graphicFrameChg chg="modGraphic">
          <ac:chgData name="Laura Patricia Galvan Chavez" userId="6b13af50-ce8b-483e-8fc4-f994efaf3289" providerId="ADAL" clId="{655D084B-7DF1-4C24-9447-417D7DC498B8}" dt="2026-07-02T19:54:42.516" v="40" actId="20577"/>
          <ac:graphicFrameMkLst>
            <pc:docMk/>
            <pc:sldMk cId="3763779569" sldId="289"/>
            <ac:graphicFrameMk id="5" creationId="{00000000-0000-0000-0000-000000000000}"/>
          </ac:graphicFrameMkLst>
        </pc:graphicFrameChg>
      </pc:sldChg>
      <pc:sldChg chg="modSp mod">
        <pc:chgData name="Laura Patricia Galvan Chavez" userId="6b13af50-ce8b-483e-8fc4-f994efaf3289" providerId="ADAL" clId="{655D084B-7DF1-4C24-9447-417D7DC498B8}" dt="2026-07-02T20:01:28.607" v="42" actId="20577"/>
        <pc:sldMkLst>
          <pc:docMk/>
          <pc:sldMk cId="3240565764" sldId="297"/>
        </pc:sldMkLst>
        <pc:spChg chg="mod">
          <ac:chgData name="Laura Patricia Galvan Chavez" userId="6b13af50-ce8b-483e-8fc4-f994efaf3289" providerId="ADAL" clId="{655D084B-7DF1-4C24-9447-417D7DC498B8}" dt="2026-07-02T20:01:28.607" v="42" actId="20577"/>
          <ac:spMkLst>
            <pc:docMk/>
            <pc:sldMk cId="3240565764" sldId="297"/>
            <ac:spMk id="37" creationId="{00000000-0000-0000-0000-000000000000}"/>
          </ac:spMkLst>
        </pc:spChg>
      </pc:sldChg>
      <pc:sldChg chg="modSp mod">
        <pc:chgData name="Laura Patricia Galvan Chavez" userId="6b13af50-ce8b-483e-8fc4-f994efaf3289" providerId="ADAL" clId="{655D084B-7DF1-4C24-9447-417D7DC498B8}" dt="2026-06-29T18:16:52.457" v="9" actId="20577"/>
        <pc:sldMkLst>
          <pc:docMk/>
          <pc:sldMk cId="2220445772" sldId="298"/>
        </pc:sldMkLst>
        <pc:spChg chg="mod">
          <ac:chgData name="Laura Patricia Galvan Chavez" userId="6b13af50-ce8b-483e-8fc4-f994efaf3289" providerId="ADAL" clId="{655D084B-7DF1-4C24-9447-417D7DC498B8}" dt="2026-06-29T18:16:52.457" v="9" actId="20577"/>
          <ac:spMkLst>
            <pc:docMk/>
            <pc:sldMk cId="2220445772" sldId="298"/>
            <ac:spMk id="5" creationId="{00000000-0000-0000-0000-000000000000}"/>
          </ac:spMkLst>
        </pc:spChg>
      </pc:sldChg>
      <pc:sldChg chg="modSp mod">
        <pc:chgData name="Laura Patricia Galvan Chavez" userId="6b13af50-ce8b-483e-8fc4-f994efaf3289" providerId="ADAL" clId="{655D084B-7DF1-4C24-9447-417D7DC498B8}" dt="2026-06-29T18:17:09.275" v="18" actId="20577"/>
        <pc:sldMkLst>
          <pc:docMk/>
          <pc:sldMk cId="0" sldId="302"/>
        </pc:sldMkLst>
        <pc:spChg chg="mod">
          <ac:chgData name="Laura Patricia Galvan Chavez" userId="6b13af50-ce8b-483e-8fc4-f994efaf3289" providerId="ADAL" clId="{655D084B-7DF1-4C24-9447-417D7DC498B8}" dt="2026-06-29T18:17:09.275" v="18" actId="20577"/>
          <ac:spMkLst>
            <pc:docMk/>
            <pc:sldMk cId="0" sldId="302"/>
            <ac:spMk id="7" creationId="{00000000-0000-0000-0000-000000000000}"/>
          </ac:spMkLst>
        </pc:sp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9:20.760" v="2" actId="22"/>
      <pc:docMkLst>
        <pc:docMk/>
      </pc:docMkLst>
      <pc:sldChg chg="addSp delSp mod">
        <pc:chgData name="Rohan Myron Oprisko" userId="a7c52ab4-f8b1-4d15-aaf6-6388cc510347" providerId="ADAL" clId="{97C26823-81C0-4343-94EC-E87AB1317939}" dt="2026-06-24T15:59:20.760" v="2" actId="22"/>
        <pc:sldMkLst>
          <pc:docMk/>
          <pc:sldMk cId="748044913" sldId="287"/>
        </pc:sldMkLst>
        <pc:spChg chg="add">
          <ac:chgData name="Rohan Myron Oprisko" userId="a7c52ab4-f8b1-4d15-aaf6-6388cc510347" providerId="ADAL" clId="{97C26823-81C0-4343-94EC-E87AB1317939}" dt="2026-06-24T15:59:20.760" v="2" actId="22"/>
          <ac:spMkLst>
            <pc:docMk/>
            <pc:sldMk cId="748044913" sldId="287"/>
            <ac:spMk id="10" creationId="{519206D4-6B99-640A-8D11-09A472643E64}"/>
          </ac:spMkLst>
        </pc:spChg>
        <pc:spChg chg="add">
          <ac:chgData name="Rohan Myron Oprisko" userId="a7c52ab4-f8b1-4d15-aaf6-6388cc510347" providerId="ADAL" clId="{97C26823-81C0-4343-94EC-E87AB1317939}" dt="2026-06-24T15:59:20.760" v="2" actId="22"/>
          <ac:spMkLst>
            <pc:docMk/>
            <pc:sldMk cId="748044913" sldId="287"/>
            <ac:spMk id="12" creationId="{D9F2113D-C647-21BD-AFD6-277FBE0A969C}"/>
          </ac:spMkLst>
        </pc:spChg>
      </pc:sldChg>
    </pc:docChg>
  </pc:docChgLst>
  <pc:docChgLst>
    <pc:chgData name="Laura Patricia Galvan Chavez" userId="S::laura.galvan@imss.gob.mx::6b13af50-ce8b-483e-8fc4-f994efaf3289" providerId="AD" clId="Web-{E2371FCE-F524-6B76-25D7-11E18501CF96}"/>
    <pc:docChg chg="modSld">
      <pc:chgData name="Laura Patricia Galvan Chavez" userId="S::laura.galvan@imss.gob.mx::6b13af50-ce8b-483e-8fc4-f994efaf3289" providerId="AD" clId="Web-{E2371FCE-F524-6B76-25D7-11E18501CF96}" dt="2026-06-23T19:59:08.592" v="30" actId="1076"/>
      <pc:docMkLst>
        <pc:docMk/>
      </pc:docMkLst>
      <pc:sldChg chg="addSp delSp modSp">
        <pc:chgData name="Laura Patricia Galvan Chavez" userId="S::laura.galvan@imss.gob.mx::6b13af50-ce8b-483e-8fc4-f994efaf3289" providerId="AD" clId="Web-{E2371FCE-F524-6B76-25D7-11E18501CF96}" dt="2026-06-23T19:59:08.592" v="30" actId="1076"/>
        <pc:sldMkLst>
          <pc:docMk/>
          <pc:sldMk cId="0" sldId="260"/>
        </pc:sldMkLst>
        <pc:graphicFrameChg chg="mod modGraphic">
          <ac:chgData name="Laura Patricia Galvan Chavez" userId="S::laura.galvan@imss.gob.mx::6b13af50-ce8b-483e-8fc4-f994efaf3289" providerId="AD" clId="Web-{E2371FCE-F524-6B76-25D7-11E18501CF96}" dt="2026-06-23T19:57:41.982" v="19"/>
          <ac:graphicFrameMkLst>
            <pc:docMk/>
            <pc:sldMk cId="0" sldId="260"/>
            <ac:graphicFrameMk id="6" creationId="{9DFC0BA5-5C9C-B059-5B74-402440E96DC7}"/>
          </ac:graphicFrameMkLst>
        </pc:graphicFrameChg>
        <pc:picChg chg="add mod">
          <ac:chgData name="Laura Patricia Galvan Chavez" userId="S::laura.galvan@imss.gob.mx::6b13af50-ce8b-483e-8fc4-f994efaf3289" providerId="AD" clId="Web-{E2371FCE-F524-6B76-25D7-11E18501CF96}" dt="2026-06-23T19:58:52.123" v="24" actId="1076"/>
          <ac:picMkLst>
            <pc:docMk/>
            <pc:sldMk cId="0" sldId="260"/>
            <ac:picMk id="2" creationId="{59D7FB9D-CA55-EFFB-1C9D-61F916CE2B35}"/>
          </ac:picMkLst>
        </pc:picChg>
        <pc:picChg chg="mod">
          <ac:chgData name="Laura Patricia Galvan Chavez" userId="S::laura.galvan@imss.gob.mx::6b13af50-ce8b-483e-8fc4-f994efaf3289" providerId="AD" clId="Web-{E2371FCE-F524-6B76-25D7-11E18501CF96}" dt="2026-06-23T19:59:08.592" v="30" actId="1076"/>
          <ac:picMkLst>
            <pc:docMk/>
            <pc:sldMk cId="0" sldId="260"/>
            <ac:picMk id="7" creationId="{EBE398C2-7EA2-8E00-A460-8140C5BC2EB3}"/>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3" Type="http://schemas.openxmlformats.org/officeDocument/2006/relationships/oleObject" Target="file:///C:\Users\gerardo.larag\Downloads\Gr&#225;ficas%20Estados%20(1).xlsx" TargetMode="External"/><Relationship Id="rId2" Type="http://schemas.microsoft.com/office/2011/relationships/chartColorStyle" Target="colors1.xml"/><Relationship Id="rId1" Type="http://schemas.microsoft.com/office/2011/relationships/chartStyle" Target="style1.xml"/></Relationships>
</file>

<file path=ppt/charts/_rels/chart8.xml.rels><?xml version="1.0" encoding="UTF-8" standalone="yes"?>
<Relationships xmlns="http://schemas.openxmlformats.org/package/2006/relationships"><Relationship Id="rId3" Type="http://schemas.openxmlformats.org/officeDocument/2006/relationships/oleObject" Target="file:///C:\Users\gerardo.larag\Downloads\Copia%20de%20reporte_revision_FE_12_GRO.xlsx" TargetMode="External"/><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CBC6-4D26-95D4-57C2032881B0}"/>
              </c:ext>
            </c:extLst>
          </c:dPt>
          <c:dPt>
            <c:idx val="1"/>
            <c:bubble3D val="0"/>
            <c:spPr>
              <a:solidFill>
                <a:schemeClr val="tx2"/>
              </a:solidFill>
            </c:spPr>
            <c:extLst>
              <c:ext xmlns:c16="http://schemas.microsoft.com/office/drawing/2014/chart" uri="{C3380CC4-5D6E-409C-BE32-E72D297353CC}">
                <c16:uniqueId val="{00000003-CBC6-4D26-95D4-57C2032881B0}"/>
              </c:ext>
            </c:extLst>
          </c:dPt>
          <c:dPt>
            <c:idx val="2"/>
            <c:bubble3D val="0"/>
            <c:spPr>
              <a:solidFill>
                <a:srgbClr val="691C32"/>
              </a:solidFill>
            </c:spPr>
            <c:extLst>
              <c:ext xmlns:c16="http://schemas.microsoft.com/office/drawing/2014/chart" uri="{C3380CC4-5D6E-409C-BE32-E72D297353CC}">
                <c16:uniqueId val="{00000005-CBC6-4D26-95D4-57C2032881B0}"/>
              </c:ext>
            </c:extLst>
          </c:dPt>
          <c:dPt>
            <c:idx val="3"/>
            <c:bubble3D val="0"/>
            <c:spPr>
              <a:solidFill>
                <a:srgbClr val="BC955C"/>
              </a:solidFill>
            </c:spPr>
            <c:extLst>
              <c:ext xmlns:c16="http://schemas.microsoft.com/office/drawing/2014/chart" uri="{C3380CC4-5D6E-409C-BE32-E72D297353CC}">
                <c16:uniqueId val="{00000007-CBC6-4D26-95D4-57C2032881B0}"/>
              </c:ext>
            </c:extLst>
          </c:dPt>
          <c:dPt>
            <c:idx val="4"/>
            <c:bubble3D val="0"/>
            <c:spPr>
              <a:solidFill>
                <a:srgbClr val="9E9E9E"/>
              </a:solidFill>
            </c:spPr>
            <c:extLst>
              <c:ext xmlns:c16="http://schemas.microsoft.com/office/drawing/2014/chart" uri="{C3380CC4-5D6E-409C-BE32-E72D297353CC}">
                <c16:uniqueId val="{00000009-CBC6-4D26-95D4-57C2032881B0}"/>
              </c:ext>
            </c:extLst>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773005</c:v>
                </c:pt>
                <c:pt idx="1">
                  <c:v>78827</c:v>
                </c:pt>
                <c:pt idx="2">
                  <c:v>625250</c:v>
                </c:pt>
                <c:pt idx="3">
                  <c:v>2096193</c:v>
                </c:pt>
                <c:pt idx="4">
                  <c:v>33021</c:v>
                </c:pt>
              </c:numCache>
            </c:numRef>
          </c:val>
          <c:extLst>
            <c:ext xmlns:c16="http://schemas.microsoft.com/office/drawing/2014/chart" uri="{C3380CC4-5D6E-409C-BE32-E72D297353CC}">
              <c16:uniqueId val="{0000000A-CBC6-4D26-95D4-57C2032881B0}"/>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BFEA-4DBE-8C8E-E52B651F74DD}"/>
              </c:ext>
            </c:extLst>
          </c:dPt>
          <c:dPt>
            <c:idx val="1"/>
            <c:bubble3D val="0"/>
            <c:spPr>
              <a:solidFill>
                <a:srgbClr val="EBE0D2"/>
              </a:solidFill>
              <a:ln>
                <a:noFill/>
              </a:ln>
            </c:spPr>
            <c:extLst>
              <c:ext xmlns:c16="http://schemas.microsoft.com/office/drawing/2014/chart" uri="{C3380CC4-5D6E-409C-BE32-E72D297353CC}">
                <c16:uniqueId val="{00000003-BFEA-4DBE-8C8E-E52B651F74DD}"/>
              </c:ext>
            </c:extLst>
          </c:dPt>
          <c:cat>
            <c:strRef>
              <c:f>Sheet1!$A$2:$A$3</c:f>
              <c:strCache>
                <c:ptCount val="2"/>
                <c:pt idx="0">
                  <c:v>Avance</c:v>
                </c:pt>
                <c:pt idx="1">
                  <c:v>Restante</c:v>
                </c:pt>
              </c:strCache>
            </c:strRef>
          </c:cat>
          <c:val>
            <c:numRef>
              <c:f>Sheet1!$B$2:$B$3</c:f>
              <c:numCache>
                <c:formatCode>General</c:formatCode>
                <c:ptCount val="2"/>
                <c:pt idx="0">
                  <c:v>44.413868504929212</c:v>
                </c:pt>
                <c:pt idx="1">
                  <c:v>55.586131495070788</c:v>
                </c:pt>
              </c:numCache>
            </c:numRef>
          </c:val>
          <c:extLst>
            <c:ext xmlns:c16="http://schemas.microsoft.com/office/drawing/2014/chart" uri="{C3380CC4-5D6E-409C-BE32-E72D297353CC}">
              <c16:uniqueId val="{00000004-BFEA-4DBE-8C8E-E52B651F74DD}"/>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0878-4C6C-AAF1-F1C30CA73756}"/>
              </c:ext>
            </c:extLst>
          </c:dPt>
          <c:dPt>
            <c:idx val="1"/>
            <c:bubble3D val="0"/>
            <c:spPr>
              <a:solidFill>
                <a:srgbClr val="EBE0D2"/>
              </a:solidFill>
              <a:ln>
                <a:noFill/>
              </a:ln>
            </c:spPr>
            <c:extLst>
              <c:ext xmlns:c16="http://schemas.microsoft.com/office/drawing/2014/chart" uri="{C3380CC4-5D6E-409C-BE32-E72D297353CC}">
                <c16:uniqueId val="{00000003-0878-4C6C-AAF1-F1C30CA73756}"/>
              </c:ext>
            </c:extLst>
          </c:dPt>
          <c:cat>
            <c:strRef>
              <c:f>Sheet1!$A$2:$A$3</c:f>
              <c:strCache>
                <c:ptCount val="2"/>
                <c:pt idx="0">
                  <c:v>Avance</c:v>
                </c:pt>
                <c:pt idx="1">
                  <c:v>Restante</c:v>
                </c:pt>
              </c:strCache>
            </c:strRef>
          </c:cat>
          <c:val>
            <c:numRef>
              <c:f>Sheet1!$B$2:$B$3</c:f>
              <c:numCache>
                <c:formatCode>General</c:formatCode>
                <c:ptCount val="2"/>
                <c:pt idx="0">
                  <c:v>6.3739854080999994</c:v>
                </c:pt>
                <c:pt idx="1">
                  <c:v>93.626014591900002</c:v>
                </c:pt>
              </c:numCache>
            </c:numRef>
          </c:val>
          <c:extLst>
            <c:ext xmlns:c16="http://schemas.microsoft.com/office/drawing/2014/chart" uri="{C3380CC4-5D6E-409C-BE32-E72D297353CC}">
              <c16:uniqueId val="{00000004-0878-4C6C-AAF1-F1C30CA73756}"/>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2938-4163-9D78-000FD9409E81}"/>
              </c:ext>
            </c:extLst>
          </c:dPt>
          <c:dPt>
            <c:idx val="1"/>
            <c:bubble3D val="0"/>
            <c:spPr>
              <a:solidFill>
                <a:srgbClr val="EBE0D2"/>
              </a:solidFill>
              <a:ln>
                <a:noFill/>
              </a:ln>
            </c:spPr>
            <c:extLst>
              <c:ext xmlns:c16="http://schemas.microsoft.com/office/drawing/2014/chart" uri="{C3380CC4-5D6E-409C-BE32-E72D297353CC}">
                <c16:uniqueId val="{00000003-2938-4163-9D78-000FD9409E81}"/>
              </c:ext>
            </c:extLst>
          </c:dPt>
          <c:cat>
            <c:strRef>
              <c:f>Sheet1!$A$2:$A$3</c:f>
              <c:strCache>
                <c:ptCount val="2"/>
                <c:pt idx="0">
                  <c:v>Avance</c:v>
                </c:pt>
                <c:pt idx="1">
                  <c:v>Restante</c:v>
                </c:pt>
              </c:strCache>
            </c:strRef>
          </c:cat>
          <c:val>
            <c:numRef>
              <c:f>Sheet1!$B$2:$B$3</c:f>
              <c:numCache>
                <c:formatCode>General</c:formatCode>
                <c:ptCount val="2"/>
                <c:pt idx="0">
                  <c:v>41.699310286194034</c:v>
                </c:pt>
                <c:pt idx="1">
                  <c:v>58.300689713805966</c:v>
                </c:pt>
              </c:numCache>
            </c:numRef>
          </c:val>
          <c:extLst>
            <c:ext xmlns:c16="http://schemas.microsoft.com/office/drawing/2014/chart" uri="{C3380CC4-5D6E-409C-BE32-E72D297353CC}">
              <c16:uniqueId val="{00000004-2938-4163-9D78-000FD9409E81}"/>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97E7-4E44-86EC-33FFE84CBA2C}"/>
              </c:ext>
            </c:extLst>
          </c:dPt>
          <c:dPt>
            <c:idx val="1"/>
            <c:bubble3D val="0"/>
            <c:spPr>
              <a:solidFill>
                <a:srgbClr val="EBE0D2"/>
              </a:solidFill>
              <a:ln>
                <a:noFill/>
              </a:ln>
            </c:spPr>
            <c:extLst>
              <c:ext xmlns:c16="http://schemas.microsoft.com/office/drawing/2014/chart" uri="{C3380CC4-5D6E-409C-BE32-E72D297353CC}">
                <c16:uniqueId val="{00000003-97E7-4E44-86EC-33FFE84CBA2C}"/>
              </c:ext>
            </c:extLst>
          </c:dPt>
          <c:cat>
            <c:strRef>
              <c:f>Sheet1!$A$2:$A$3</c:f>
              <c:strCache>
                <c:ptCount val="2"/>
                <c:pt idx="0">
                  <c:v>Avance</c:v>
                </c:pt>
                <c:pt idx="1">
                  <c:v>Restante</c:v>
                </c:pt>
              </c:strCache>
            </c:strRef>
          </c:cat>
          <c:val>
            <c:numRef>
              <c:f>Sheet1!$B$2:$B$3</c:f>
              <c:numCache>
                <c:formatCode>General</c:formatCode>
                <c:ptCount val="2"/>
                <c:pt idx="0">
                  <c:v>42.997579779934632</c:v>
                </c:pt>
                <c:pt idx="1">
                  <c:v>57.002420220065368</c:v>
                </c:pt>
              </c:numCache>
            </c:numRef>
          </c:val>
          <c:extLst>
            <c:ext xmlns:c16="http://schemas.microsoft.com/office/drawing/2014/chart" uri="{C3380CC4-5D6E-409C-BE32-E72D297353CC}">
              <c16:uniqueId val="{00000004-97E7-4E44-86EC-33FFE84CBA2C}"/>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831D-49CB-AA2F-084875B721FD}"/>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35</c:v>
                </c:pt>
                <c:pt idx="1">
                  <c:v>72</c:v>
                </c:pt>
                <c:pt idx="2">
                  <c:v>67</c:v>
                </c:pt>
                <c:pt idx="3">
                  <c:v>74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31D-49CB-AA2F-084875B721FD}"/>
            </c:ext>
          </c:extLst>
        </c:ser>
        <c:dLbls>
          <c:dLblPos val="inEnd"/>
          <c:showLegendKey val="0"/>
          <c:showVal val="1"/>
          <c:showCatName val="0"/>
          <c:showSerName val="0"/>
          <c:showPercent val="0"/>
          <c:showBubbleSize val="0"/>
        </c:dLbls>
        <c:gapWidth val="100"/>
        <c:axId val="239654400"/>
        <c:axId val="239760128"/>
      </c:barChart>
      <c:catAx>
        <c:axId val="239654400"/>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39760128"/>
        <c:crosses val="autoZero"/>
        <c:auto val="1"/>
        <c:lblAlgn val="ctr"/>
        <c:lblOffset val="100"/>
        <c:noMultiLvlLbl val="0"/>
      </c:catAx>
      <c:valAx>
        <c:axId val="239760128"/>
        <c:scaling>
          <c:orientation val="minMax"/>
        </c:scaling>
        <c:delete val="1"/>
        <c:axPos val="l"/>
        <c:numFmt formatCode="General" sourceLinked="1"/>
        <c:majorTickMark val="out"/>
        <c:minorTickMark val="none"/>
        <c:tickLblPos val="nextTo"/>
        <c:crossAx val="239654400"/>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354842574138816"/>
          <c:y val="0.13698684187655352"/>
          <c:w val="0.80449559468966791"/>
          <c:h val="0.7327918861135736"/>
        </c:manualLayout>
      </c:layout>
      <c:barChart>
        <c:barDir val="col"/>
        <c:grouping val="stacked"/>
        <c:varyColors val="0"/>
        <c:ser>
          <c:idx val="0"/>
          <c:order val="0"/>
          <c:tx>
            <c:strRef>
              <c:f>'Recetas Guerrero'!$B$1</c:f>
              <c:strCache>
                <c:ptCount val="1"/>
                <c:pt idx="0">
                  <c:v>Recetas Surtidas</c:v>
                </c:pt>
              </c:strCache>
            </c:strRef>
          </c:tx>
          <c:spPr>
            <a:solidFill>
              <a:srgbClr val="005C4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'Recetas Guerrero'!$A$2:$A$9</c:f>
              <c:numCache>
                <c:formatCode>General</c:formatCode>
                <c:ptCount val="8"/>
                <c:pt idx="0">
                  <c:v>2019</c:v>
                </c:pt>
                <c:pt idx="1">
                  <c:v>2020</c:v>
                </c:pt>
                <c:pt idx="2">
                  <c:v>2021</c:v>
                </c:pt>
                <c:pt idx="3">
                  <c:v>2022</c:v>
                </c:pt>
                <c:pt idx="4">
                  <c:v>2023</c:v>
                </c:pt>
                <c:pt idx="5">
                  <c:v>2024</c:v>
                </c:pt>
                <c:pt idx="6">
                  <c:v>2025</c:v>
                </c:pt>
                <c:pt idx="7">
                  <c:v>2026</c:v>
                </c:pt>
              </c:numCache>
            </c:numRef>
          </c:cat>
          <c:val>
            <c:numRef>
              <c:f>'Recetas Guerrero'!$B$2:$B$9</c:f>
              <c:numCache>
                <c:formatCode>#,##0</c:formatCode>
                <c:ptCount val="8"/>
                <c:pt idx="0">
                  <c:v>1425362</c:v>
                </c:pt>
                <c:pt idx="1">
                  <c:v>1338058</c:v>
                </c:pt>
                <c:pt idx="2">
                  <c:v>1270120</c:v>
                </c:pt>
                <c:pt idx="3">
                  <c:v>1343772</c:v>
                </c:pt>
                <c:pt idx="4">
                  <c:v>1614246</c:v>
                </c:pt>
                <c:pt idx="5">
                  <c:v>1272854</c:v>
                </c:pt>
                <c:pt idx="6">
                  <c:v>1299995</c:v>
                </c:pt>
                <c:pt idx="7">
                  <c:v>1385529</c:v>
                </c:pt>
              </c:numCache>
            </c:numRef>
          </c:val>
          <c:extLst>
            <c:ext xmlns:c16="http://schemas.microsoft.com/office/drawing/2014/chart" uri="{C3380CC4-5D6E-409C-BE32-E72D297353CC}">
              <c16:uniqueId val="{00000000-8214-492F-91DD-B8A2E2A46D8A}"/>
            </c:ext>
          </c:extLst>
        </c:ser>
        <c:ser>
          <c:idx val="1"/>
          <c:order val="1"/>
          <c:tx>
            <c:strRef>
              <c:f>'Recetas Guerrero'!$C$1</c:f>
              <c:strCache>
                <c:ptCount val="1"/>
                <c:pt idx="0">
                  <c:v>Recetas Negadas</c:v>
                </c:pt>
              </c:strCache>
            </c:strRef>
          </c:tx>
          <c:spPr>
            <a:solidFill>
              <a:srgbClr val="9F2241"/>
            </a:solidFill>
            <a:ln>
              <a:noFill/>
            </a:ln>
            <a:effectLst/>
          </c:spPr>
          <c:invertIfNegative val="0"/>
          <c:dLbls>
            <c:dLbl>
              <c:idx val="0"/>
              <c:layout>
                <c:manualLayout>
                  <c:x val="-1.3831258644536654E-3"/>
                  <c:y val="-2.7374184038745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214-492F-91DD-B8A2E2A46D8A}"/>
                </c:ext>
              </c:extLst>
            </c:dLbl>
            <c:dLbl>
              <c:idx val="1"/>
              <c:layout>
                <c:manualLayout>
                  <c:x val="-2.7662517289073815E-3"/>
                  <c:y val="-4.421983575489577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214-492F-91DD-B8A2E2A46D8A}"/>
                </c:ext>
              </c:extLst>
            </c:dLbl>
            <c:dLbl>
              <c:idx val="2"/>
              <c:layout>
                <c:manualLayout>
                  <c:x val="0"/>
                  <c:y val="-4.6325542219414616E-2"/>
                </c:manualLayout>
              </c:layout>
              <c:tx>
                <c:rich>
                  <a:bodyPr/>
                  <a:lstStyle/>
                  <a:p>
                    <a:fld id="{381ADFEA-D28B-4CEA-B021-BF6AAA3C3B6A}" type="VALUE">
                      <a:rPr lang="en-US">
                        <a:solidFill>
                          <a:srgbClr val="C00000"/>
                        </a:solidFill>
                      </a:rPr>
                      <a:pPr/>
                      <a:t>[VALOR]</a:t>
                    </a:fld>
                    <a:endParaRPr lang="es-MX"/>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214-492F-91DD-B8A2E2A46D8A}"/>
                </c:ext>
              </c:extLst>
            </c:dLbl>
            <c:dLbl>
              <c:idx val="3"/>
              <c:layout>
                <c:manualLayout>
                  <c:x val="0"/>
                  <c:y val="-4.0008422825858113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14-492F-91DD-B8A2E2A46D8A}"/>
                </c:ext>
              </c:extLst>
            </c:dLbl>
            <c:dLbl>
              <c:idx val="4"/>
              <c:layout>
                <c:manualLayout>
                  <c:x val="0"/>
                  <c:y val="-2.7374184038745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14-492F-91DD-B8A2E2A46D8A}"/>
                </c:ext>
              </c:extLst>
            </c:dLbl>
            <c:dLbl>
              <c:idx val="5"/>
              <c:layout>
                <c:manualLayout>
                  <c:x val="-1.0142805835435015E-16"/>
                  <c:y val="-2.1057064645188462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14-492F-91DD-B8A2E2A46D8A}"/>
                </c:ext>
              </c:extLst>
            </c:dLbl>
            <c:dLbl>
              <c:idx val="6"/>
              <c:layout>
                <c:manualLayout>
                  <c:x val="-1.0142805835435015E-16"/>
                  <c:y val="-2.5268477574226154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14-492F-91DD-B8A2E2A46D8A}"/>
                </c:ext>
              </c:extLst>
            </c:dLbl>
            <c:dLbl>
              <c:idx val="7"/>
              <c:layout>
                <c:manualLayout>
                  <c:x val="-1.3831258644536654E-3"/>
                  <c:y val="-2.3162771109707308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14-492F-91DD-B8A2E2A46D8A}"/>
                </c:ext>
              </c:extLst>
            </c:dLbl>
            <c:spPr>
              <a:solidFill>
                <a:schemeClr val="bg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'Recetas Guerrero'!$A$2:$A$9</c:f>
              <c:numCache>
                <c:formatCode>General</c:formatCode>
                <c:ptCount val="8"/>
                <c:pt idx="0">
                  <c:v>2019</c:v>
                </c:pt>
                <c:pt idx="1">
                  <c:v>2020</c:v>
                </c:pt>
                <c:pt idx="2">
                  <c:v>2021</c:v>
                </c:pt>
                <c:pt idx="3">
                  <c:v>2022</c:v>
                </c:pt>
                <c:pt idx="4">
                  <c:v>2023</c:v>
                </c:pt>
                <c:pt idx="5">
                  <c:v>2024</c:v>
                </c:pt>
                <c:pt idx="6">
                  <c:v>2025</c:v>
                </c:pt>
                <c:pt idx="7">
                  <c:v>2026</c:v>
                </c:pt>
              </c:numCache>
            </c:numRef>
          </c:cat>
          <c:val>
            <c:numRef>
              <c:f>'Recetas Guerrero'!$C$2:$C$9</c:f>
              <c:numCache>
                <c:formatCode>#,##0</c:formatCode>
                <c:ptCount val="8"/>
                <c:pt idx="0">
                  <c:v>8065</c:v>
                </c:pt>
                <c:pt idx="1">
                  <c:v>56216</c:v>
                </c:pt>
                <c:pt idx="2">
                  <c:v>80664</c:v>
                </c:pt>
                <c:pt idx="3">
                  <c:v>78228</c:v>
                </c:pt>
                <c:pt idx="4">
                  <c:v>9922</c:v>
                </c:pt>
                <c:pt idx="5" formatCode="General">
                  <c:v>662</c:v>
                </c:pt>
                <c:pt idx="6" formatCode="General">
                  <c:v>990</c:v>
                </c:pt>
                <c:pt idx="7">
                  <c:v>1993</c:v>
                </c:pt>
              </c:numCache>
            </c:numRef>
          </c:val>
          <c:extLst>
            <c:ext xmlns:c16="http://schemas.microsoft.com/office/drawing/2014/chart" uri="{C3380CC4-5D6E-409C-BE32-E72D297353CC}">
              <c16:uniqueId val="{00000009-8214-492F-91DD-B8A2E2A46D8A}"/>
            </c:ext>
          </c:extLst>
        </c:ser>
        <c:dLbls>
          <c:showLegendKey val="0"/>
          <c:showVal val="0"/>
          <c:showCatName val="0"/>
          <c:showSerName val="0"/>
          <c:showPercent val="0"/>
          <c:showBubbleSize val="0"/>
        </c:dLbls>
        <c:gapWidth val="50"/>
        <c:overlap val="100"/>
        <c:axId val="1373565088"/>
        <c:axId val="1217327376"/>
      </c:barChart>
      <c:lineChart>
        <c:grouping val="standard"/>
        <c:varyColors val="0"/>
        <c:ser>
          <c:idx val="2"/>
          <c:order val="2"/>
          <c:tx>
            <c:v>% Recetas Surtidas</c:v>
          </c:tx>
          <c:spPr>
            <a:ln w="22225" cap="rnd">
              <a:solidFill>
                <a:srgbClr val="BC955C"/>
              </a:solidFill>
              <a:round/>
            </a:ln>
            <a:effectLst/>
          </c:spPr>
          <c:marker>
            <c:symbol val="square"/>
            <c:size val="5"/>
            <c:spPr>
              <a:solidFill>
                <a:srgbClr val="BC955C"/>
              </a:solidFill>
              <a:ln w="9525">
                <a:noFill/>
                <a:round/>
              </a:ln>
              <a:effectLst/>
            </c:spPr>
          </c:marker>
          <c:dLbls>
            <c:spPr>
              <a:solidFill>
                <a:srgbClr val="BC955C"/>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'Recetas Guerrero'!$D$2:$D$9</c:f>
              <c:numCache>
                <c:formatCode>0%</c:formatCode>
                <c:ptCount val="8"/>
                <c:pt idx="0">
                  <c:v>0.99</c:v>
                </c:pt>
                <c:pt idx="1">
                  <c:v>0.96</c:v>
                </c:pt>
                <c:pt idx="2">
                  <c:v>0.94</c:v>
                </c:pt>
                <c:pt idx="3">
                  <c:v>0.94</c:v>
                </c:pt>
                <c:pt idx="4">
                  <c:v>0.99</c:v>
                </c:pt>
                <c:pt idx="5">
                  <c:v>0.99</c:v>
                </c:pt>
                <c:pt idx="6">
                  <c:v>0.99</c:v>
                </c:pt>
                <c:pt idx="7">
                  <c:v>0.99</c:v>
                </c:pt>
              </c:numCache>
            </c:numRef>
          </c:val>
          <c:smooth val="0"/>
          <c:extLst>
            <c:ext xmlns:c16="http://schemas.microsoft.com/office/drawing/2014/chart" uri="{C3380CC4-5D6E-409C-BE32-E72D297353CC}">
              <c16:uniqueId val="{0000000A-8214-492F-91DD-B8A2E2A46D8A}"/>
            </c:ext>
          </c:extLst>
        </c:ser>
        <c:dLbls>
          <c:dLblPos val="ctr"/>
          <c:showLegendKey val="0"/>
          <c:showVal val="1"/>
          <c:showCatName val="0"/>
          <c:showSerName val="0"/>
          <c:showPercent val="0"/>
          <c:showBubbleSize val="0"/>
        </c:dLbls>
        <c:marker val="1"/>
        <c:smooth val="0"/>
        <c:axId val="1422724288"/>
        <c:axId val="1217255376"/>
      </c:lineChart>
      <c:catAx>
        <c:axId val="1373565088"/>
        <c:scaling>
          <c:orientation val="minMax"/>
        </c:scaling>
        <c:delete val="0"/>
        <c:axPos val="b"/>
        <c:numFmt formatCode="General" sourceLinked="1"/>
        <c:majorTickMark val="out"/>
        <c:minorTickMark val="none"/>
        <c:tickLblPos val="nextTo"/>
        <c:spPr>
          <a:solidFill>
            <a:sysClr val="window" lastClr="FFFFFF"/>
          </a:solidFill>
          <a:ln w="9525" cap="flat" cmpd="sng" algn="ctr">
            <a:solidFill>
              <a:schemeClr val="bg1"/>
            </a:solidFill>
            <a:round/>
          </a:ln>
          <a:effectLst/>
        </c:spPr>
        <c:txPr>
          <a:bodyPr rot="-60000000" spcFirstLastPara="1" vertOverflow="ellipsis" vert="horz" wrap="square" anchor="ctr" anchorCtr="1"/>
          <a:lstStyle/>
          <a:p>
            <a:pPr>
              <a:defRPr sz="1000" b="1" i="0" u="none" strike="noStrike" kern="1200" cap="all" spc="120" normalizeH="0" baseline="0">
                <a:solidFill>
                  <a:sysClr val="windowText" lastClr="000000"/>
                </a:solidFill>
                <a:latin typeface="Noto Sans" panose="020B0502040504020204" pitchFamily="34" charset="0"/>
                <a:ea typeface="Noto Sans" panose="020B0502040504020204" pitchFamily="34" charset="0"/>
                <a:cs typeface="Noto Sans" panose="020B0502040504020204" pitchFamily="34" charset="0"/>
              </a:defRPr>
            </a:pPr>
            <a:endParaRPr lang="es-MX"/>
          </a:p>
        </c:txPr>
        <c:crossAx val="1217327376"/>
        <c:crosses val="autoZero"/>
        <c:auto val="1"/>
        <c:lblAlgn val="ctr"/>
        <c:lblOffset val="100"/>
        <c:noMultiLvlLbl val="0"/>
      </c:catAx>
      <c:valAx>
        <c:axId val="1217327376"/>
        <c:scaling>
          <c:orientation val="minMax"/>
          <c:max val="1800000"/>
        </c:scaling>
        <c:delete val="0"/>
        <c:axPos val="l"/>
        <c:numFmt formatCode="#,##0" sourceLinked="1"/>
        <c:majorTickMark val="out"/>
        <c:minorTickMark val="none"/>
        <c:tickLblPos val="none"/>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1373565088"/>
        <c:crosses val="autoZero"/>
        <c:crossBetween val="between"/>
        <c:majorUnit val="200000"/>
      </c:valAx>
      <c:valAx>
        <c:axId val="1217255376"/>
        <c:scaling>
          <c:orientation val="minMax"/>
          <c:max val="1"/>
          <c:min val="0.4"/>
        </c:scaling>
        <c:delete val="0"/>
        <c:axPos val="r"/>
        <c:numFmt formatCode="0%" sourceLinked="1"/>
        <c:majorTickMark val="out"/>
        <c:minorTickMark val="none"/>
        <c:tickLblPos val="none"/>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s-MX"/>
          </a:p>
        </c:txPr>
        <c:crossAx val="1422724288"/>
        <c:crosses val="max"/>
        <c:crossBetween val="between"/>
      </c:valAx>
      <c:catAx>
        <c:axId val="1422724288"/>
        <c:scaling>
          <c:orientation val="minMax"/>
        </c:scaling>
        <c:delete val="1"/>
        <c:axPos val="t"/>
        <c:numFmt formatCode="General" sourceLinked="1"/>
        <c:majorTickMark val="out"/>
        <c:minorTickMark val="none"/>
        <c:tickLblPos val="nextTo"/>
        <c:crossAx val="1217255376"/>
        <c:crosses val="max"/>
        <c:auto val="1"/>
        <c:lblAlgn val="ctr"/>
        <c:lblOffset val="100"/>
        <c:tickMarkSkip val="1"/>
        <c:noMultiLvlLbl val="0"/>
      </c:catAx>
      <c:spPr>
        <a:noFill/>
        <a:ln w="25400">
          <a:noFill/>
        </a:ln>
        <a:effectLst/>
      </c:spPr>
    </c:plotArea>
    <c:legend>
      <c:legendPos val="r"/>
      <c:legendEntry>
        <c:idx val="0"/>
        <c:txPr>
          <a:bodyPr rot="0" spcFirstLastPara="1" vertOverflow="ellipsis" vert="horz" wrap="square" anchor="ctr" anchorCtr="1"/>
          <a:lstStyle/>
          <a:p>
            <a:pPr>
              <a:defRPr sz="9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Entry>
      <c:legendEntry>
        <c:idx val="1"/>
        <c:txPr>
          <a:bodyPr rot="0" spcFirstLastPara="1" vertOverflow="ellipsis" vert="horz" wrap="square" anchor="ctr" anchorCtr="1"/>
          <a:lstStyle/>
          <a:p>
            <a:pPr>
              <a:defRPr sz="9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Entry>
      <c:legendEntry>
        <c:idx val="2"/>
        <c:txPr>
          <a:bodyPr rot="0" spcFirstLastPara="1" vertOverflow="ellipsis" vert="horz" wrap="square" anchor="ctr" anchorCtr="1"/>
          <a:lstStyle/>
          <a:p>
            <a:pPr>
              <a:defRPr sz="9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Entry>
      <c:layout>
        <c:manualLayout>
          <c:xMode val="edge"/>
          <c:yMode val="edge"/>
          <c:x val="0.2005317955587502"/>
          <c:y val="0.88141648903003145"/>
          <c:w val="0.66530499558924439"/>
          <c:h val="0.1165408709270457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
    <c:plotVisOnly val="1"/>
    <c:dispBlanksAs val="gap"/>
    <c:showDLblsOverMax val="0"/>
  </c:chart>
  <c:spPr>
    <a:noFill/>
    <a:ln>
      <a:noFill/>
    </a:ln>
    <a:effectLst/>
  </c:spPr>
  <c:txPr>
    <a:bodyPr/>
    <a:lstStyle/>
    <a:p>
      <a:pPr>
        <a:defRPr/>
      </a:pPr>
      <a:endParaRPr lang="es-MX"/>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Hoja1!$A$1</c:f>
              <c:strCache>
                <c:ptCount val="1"/>
                <c:pt idx="0">
                  <c:v>año</c:v>
                </c:pt>
              </c:strCache>
            </c:strRef>
          </c:tx>
          <c:spPr>
            <a:ln w="28575" cap="rnd">
              <a:solidFill>
                <a:srgbClr val="10312B"/>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MX"/>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Hoja1!$A$2:$A$9</c:f>
              <c:numCache>
                <c:formatCode>General</c:formatCode>
                <c:ptCount val="8"/>
                <c:pt idx="0">
                  <c:v>2019</c:v>
                </c:pt>
                <c:pt idx="1">
                  <c:v>2020</c:v>
                </c:pt>
                <c:pt idx="2">
                  <c:v>2021</c:v>
                </c:pt>
                <c:pt idx="3">
                  <c:v>2022</c:v>
                </c:pt>
                <c:pt idx="4">
                  <c:v>2023</c:v>
                </c:pt>
                <c:pt idx="5">
                  <c:v>2024</c:v>
                </c:pt>
                <c:pt idx="6">
                  <c:v>2025</c:v>
                </c:pt>
                <c:pt idx="7">
                  <c:v>2026</c:v>
                </c:pt>
              </c:numCache>
            </c:numRef>
          </c:cat>
          <c:val>
            <c:numRef>
              <c:f>Hoja1!$A$2:$A$9</c:f>
              <c:numCache>
                <c:formatCode>General</c:formatCode>
                <c:ptCount val="8"/>
                <c:pt idx="0">
                  <c:v>2019</c:v>
                </c:pt>
                <c:pt idx="1">
                  <c:v>2020</c:v>
                </c:pt>
                <c:pt idx="2">
                  <c:v>2021</c:v>
                </c:pt>
                <c:pt idx="3">
                  <c:v>2022</c:v>
                </c:pt>
                <c:pt idx="4">
                  <c:v>2023</c:v>
                </c:pt>
                <c:pt idx="5">
                  <c:v>2024</c:v>
                </c:pt>
                <c:pt idx="6">
                  <c:v>2025</c:v>
                </c:pt>
                <c:pt idx="7">
                  <c:v>2026</c:v>
                </c:pt>
              </c:numCache>
            </c:numRef>
          </c:val>
          <c:smooth val="0"/>
          <c:extLst>
            <c:ext xmlns:c16="http://schemas.microsoft.com/office/drawing/2014/chart" uri="{C3380CC4-5D6E-409C-BE32-E72D297353CC}">
              <c16:uniqueId val="{00000000-268C-411B-B9CF-2C41BFFEA779}"/>
            </c:ext>
          </c:extLst>
        </c:ser>
        <c:ser>
          <c:idx val="1"/>
          <c:order val="1"/>
          <c:tx>
            <c:strRef>
              <c:f>Hoja1!$B$1</c:f>
              <c:strCache>
                <c:ptCount val="1"/>
                <c:pt idx="0">
                  <c:v>piezas consumidas</c:v>
                </c:pt>
              </c:strCache>
            </c:strRef>
          </c:tx>
          <c:spPr>
            <a:ln w="22225" cap="rnd">
              <a:solidFill>
                <a:srgbClr val="005C4C"/>
              </a:solidFill>
              <a:round/>
            </a:ln>
            <a:effectLst/>
          </c:spPr>
          <c:marker>
            <c:symbol val="circle"/>
            <c:size val="5"/>
            <c:spPr>
              <a:solidFill>
                <a:srgbClr val="005C4C"/>
              </a:solidFill>
              <a:ln w="9525">
                <a:solidFill>
                  <a:srgbClr val="005C4C"/>
                </a:solidFill>
              </a:ln>
              <a:effectLst/>
            </c:spPr>
          </c:marker>
          <c:dLbls>
            <c:spPr>
              <a:solidFill>
                <a:srgbClr val="005C4C"/>
              </a:solidFill>
              <a:ln>
                <a:solidFill>
                  <a:srgbClr val="10312B">
                    <a:alpha val="96000"/>
                  </a:srgbClr>
                </a:solidFill>
                <a:round/>
              </a:ln>
              <a:effectLst>
                <a:softEdge rad="0"/>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Hoja1!$A$2:$A$9</c:f>
              <c:numCache>
                <c:formatCode>General</c:formatCode>
                <c:ptCount val="8"/>
                <c:pt idx="0">
                  <c:v>2019</c:v>
                </c:pt>
                <c:pt idx="1">
                  <c:v>2020</c:v>
                </c:pt>
                <c:pt idx="2">
                  <c:v>2021</c:v>
                </c:pt>
                <c:pt idx="3">
                  <c:v>2022</c:v>
                </c:pt>
                <c:pt idx="4">
                  <c:v>2023</c:v>
                </c:pt>
                <c:pt idx="5">
                  <c:v>2024</c:v>
                </c:pt>
                <c:pt idx="6">
                  <c:v>2025</c:v>
                </c:pt>
                <c:pt idx="7">
                  <c:v>2026</c:v>
                </c:pt>
              </c:numCache>
            </c:numRef>
          </c:cat>
          <c:val>
            <c:numRef>
              <c:f>Hoja1!$B$2:$B$9</c:f>
              <c:numCache>
                <c:formatCode>#,##0</c:formatCode>
                <c:ptCount val="8"/>
                <c:pt idx="0">
                  <c:v>6177916</c:v>
                </c:pt>
                <c:pt idx="1">
                  <c:v>5891495</c:v>
                </c:pt>
                <c:pt idx="2">
                  <c:v>5696682</c:v>
                </c:pt>
                <c:pt idx="3">
                  <c:v>5940330</c:v>
                </c:pt>
                <c:pt idx="4">
                  <c:v>6456102</c:v>
                </c:pt>
                <c:pt idx="5">
                  <c:v>6114578</c:v>
                </c:pt>
                <c:pt idx="6">
                  <c:v>5969804</c:v>
                </c:pt>
                <c:pt idx="7">
                  <c:v>5789305</c:v>
                </c:pt>
              </c:numCache>
            </c:numRef>
          </c:val>
          <c:smooth val="0"/>
          <c:extLst>
            <c:ext xmlns:c16="http://schemas.microsoft.com/office/drawing/2014/chart" uri="{C3380CC4-5D6E-409C-BE32-E72D297353CC}">
              <c16:uniqueId val="{00000001-268C-411B-B9CF-2C41BFFEA779}"/>
            </c:ext>
          </c:extLst>
        </c:ser>
        <c:dLbls>
          <c:dLblPos val="b"/>
          <c:showLegendKey val="0"/>
          <c:showVal val="1"/>
          <c:showCatName val="0"/>
          <c:showSerName val="0"/>
          <c:showPercent val="0"/>
          <c:showBubbleSize val="0"/>
        </c:dLbls>
        <c:marker val="1"/>
        <c:smooth val="0"/>
        <c:axId val="1696358959"/>
        <c:axId val="1698566751"/>
      </c:lineChart>
      <c:catAx>
        <c:axId val="1696358959"/>
        <c:scaling>
          <c:orientation val="minMax"/>
        </c:scaling>
        <c:delete val="0"/>
        <c:axPos val="b"/>
        <c:numFmt formatCode="General"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crossAx val="1698566751"/>
        <c:crosses val="autoZero"/>
        <c:auto val="1"/>
        <c:lblAlgn val="ctr"/>
        <c:lblOffset val="100"/>
        <c:noMultiLvlLbl val="0"/>
      </c:catAx>
      <c:valAx>
        <c:axId val="1698566751"/>
        <c:scaling>
          <c:orientation val="minMax"/>
          <c:max val="6500000"/>
          <c:min val="5400000"/>
        </c:scaling>
        <c:delete val="1"/>
        <c:axPos val="l"/>
        <c:numFmt formatCode="General" sourceLinked="1"/>
        <c:majorTickMark val="out"/>
        <c:minorTickMark val="none"/>
        <c:tickLblPos val="nextTo"/>
        <c:crossAx val="1696358959"/>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Industrias de la Transformación</c:v>
                </c:pt>
                <c:pt idx="1">
                  <c:v>Industria de la Construcción</c:v>
                </c:pt>
                <c:pt idx="2">
                  <c:v>Industrias Extractivas</c:v>
                </c:pt>
                <c:pt idx="3">
                  <c:v>Servicios para Empresas, Personas y el Hogar</c:v>
                </c:pt>
                <c:pt idx="4">
                  <c:v>Comercio</c:v>
                </c:pt>
                <c:pt idx="5">
                  <c:v>Ind Eléctrica y Captación y Suministro de Agua Potable</c:v>
                </c:pt>
                <c:pt idx="6">
                  <c:v>Servicios Sociales y Comunales</c:v>
                </c:pt>
                <c:pt idx="7">
                  <c:v>Transportes y Comunicaciones</c:v>
                </c:pt>
                <c:pt idx="8">
                  <c:v>Agricultura, Ganaderia, Silvicultura, Pesca y Caza</c:v>
                </c:pt>
              </c:strCache>
            </c:strRef>
          </c:cat>
          <c:val>
            <c:numRef>
              <c:f>Sheet1!$B$2:$B$10</c:f>
              <c:numCache>
                <c:formatCode>General</c:formatCode>
                <c:ptCount val="9"/>
                <c:pt idx="0">
                  <c:v>7939</c:v>
                </c:pt>
                <c:pt idx="1">
                  <c:v>16063</c:v>
                </c:pt>
                <c:pt idx="2">
                  <c:v>3263</c:v>
                </c:pt>
                <c:pt idx="3">
                  <c:v>50489</c:v>
                </c:pt>
                <c:pt idx="4">
                  <c:v>52660</c:v>
                </c:pt>
                <c:pt idx="5">
                  <c:v>2868</c:v>
                </c:pt>
                <c:pt idx="6">
                  <c:v>19637</c:v>
                </c:pt>
                <c:pt idx="7">
                  <c:v>5754</c:v>
                </c:pt>
                <c:pt idx="8">
                  <c:v>1251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0C9-4F88-A1D2-2B804FF32CF7}"/>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Industrias de la Transformación</c:v>
                </c:pt>
                <c:pt idx="1">
                  <c:v>Industria de la Construcción</c:v>
                </c:pt>
                <c:pt idx="2">
                  <c:v>Industrias Extractivas</c:v>
                </c:pt>
                <c:pt idx="3">
                  <c:v>Servicios para Empresas, Personas y el Hogar</c:v>
                </c:pt>
                <c:pt idx="4">
                  <c:v>Comercio</c:v>
                </c:pt>
                <c:pt idx="5">
                  <c:v>Ind Eléctrica y Captación y Suministro de Agua Potable</c:v>
                </c:pt>
                <c:pt idx="6">
                  <c:v>Servicios Sociales y Comunales</c:v>
                </c:pt>
                <c:pt idx="7">
                  <c:v>Transportes y Comunicaciones</c:v>
                </c:pt>
                <c:pt idx="8">
                  <c:v>Agricultura, Ganaderia, Silvicultura, Pesca y Caza</c:v>
                </c:pt>
              </c:strCache>
            </c:strRef>
          </c:cat>
          <c:val>
            <c:numRef>
              <c:f>Sheet1!$C$2:$C$10</c:f>
              <c:numCache>
                <c:formatCode>General</c:formatCode>
                <c:ptCount val="9"/>
                <c:pt idx="0">
                  <c:v>6964</c:v>
                </c:pt>
                <c:pt idx="1">
                  <c:v>14856</c:v>
                </c:pt>
                <c:pt idx="2">
                  <c:v>3264</c:v>
                </c:pt>
                <c:pt idx="3">
                  <c:v>50682</c:v>
                </c:pt>
                <c:pt idx="4">
                  <c:v>52976</c:v>
                </c:pt>
                <c:pt idx="5">
                  <c:v>2894</c:v>
                </c:pt>
                <c:pt idx="6">
                  <c:v>20057</c:v>
                </c:pt>
                <c:pt idx="7">
                  <c:v>6126</c:v>
                </c:pt>
                <c:pt idx="8">
                  <c:v>1472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0C9-4F88-A1D2-2B804FF32CF7}"/>
            </c:ext>
          </c:extLst>
        </c:ser>
        <c:dLbls>
          <c:showLegendKey val="0"/>
          <c:showVal val="0"/>
          <c:showCatName val="0"/>
          <c:showSerName val="0"/>
          <c:showPercent val="0"/>
          <c:showBubbleSize val="0"/>
        </c:dLbls>
        <c:gapWidth val="50"/>
        <c:axId val="240999808"/>
        <c:axId val="240431872"/>
      </c:barChart>
      <c:catAx>
        <c:axId val="240999808"/>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40431872"/>
        <c:crosses val="autoZero"/>
        <c:auto val="1"/>
        <c:lblAlgn val="ctr"/>
        <c:lblOffset val="100"/>
        <c:noMultiLvlLbl val="0"/>
      </c:catAx>
      <c:valAx>
        <c:axId val="240431872"/>
        <c:scaling>
          <c:orientation val="minMax"/>
        </c:scaling>
        <c:delete val="1"/>
        <c:axPos val="t"/>
        <c:numFmt formatCode="General" sourceLinked="1"/>
        <c:majorTickMark val="out"/>
        <c:minorTickMark val="none"/>
        <c:tickLblPos val="nextTo"/>
        <c:crossAx val="240999808"/>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160298</c:v>
                </c:pt>
                <c:pt idx="1">
                  <c:v>154740</c:v>
                </c:pt>
                <c:pt idx="2">
                  <c:v>144039</c:v>
                </c:pt>
                <c:pt idx="3">
                  <c:v>147900</c:v>
                </c:pt>
                <c:pt idx="4">
                  <c:v>150869</c:v>
                </c:pt>
                <c:pt idx="5">
                  <c:v>157429</c:v>
                </c:pt>
                <c:pt idx="6">
                  <c:v>162349</c:v>
                </c:pt>
                <c:pt idx="7">
                  <c:v>159924</c:v>
                </c:pt>
                <c:pt idx="8">
                  <c:v>159291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255-4D1E-AEFC-BBAE64712375}"/>
            </c:ext>
          </c:extLst>
        </c:ser>
        <c:dLbls>
          <c:showLegendKey val="0"/>
          <c:showVal val="0"/>
          <c:showCatName val="0"/>
          <c:showSerName val="0"/>
          <c:showPercent val="0"/>
          <c:showBubbleSize val="0"/>
        </c:dLbls>
        <c:gapWidth val="50"/>
        <c:axId val="240317184"/>
        <c:axId val="240318720"/>
      </c:barChart>
      <c:catAx>
        <c:axId val="240317184"/>
        <c:scaling>
          <c:orientation val="minMax"/>
        </c:scaling>
        <c:delete val="1"/>
        <c:axPos val="b"/>
        <c:numFmt formatCode="General" sourceLinked="1"/>
        <c:majorTickMark val="out"/>
        <c:minorTickMark val="none"/>
        <c:tickLblPos val="nextTo"/>
        <c:crossAx val="240318720"/>
        <c:crosses val="autoZero"/>
        <c:auto val="1"/>
        <c:lblAlgn val="ctr"/>
        <c:lblOffset val="100"/>
        <c:noMultiLvlLbl val="0"/>
      </c:catAx>
      <c:valAx>
        <c:axId val="240318720"/>
        <c:scaling>
          <c:orientation val="minMax"/>
        </c:scaling>
        <c:delete val="1"/>
        <c:axPos val="l"/>
        <c:numFmt formatCode="General" sourceLinked="1"/>
        <c:majorTickMark val="out"/>
        <c:minorTickMark val="none"/>
        <c:tickLblPos val="nextTo"/>
        <c:crossAx val="240317184"/>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87690331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dirty="0"/>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dirty="0"/>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18</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jpe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chart" Target="../charts/chart1.xml"/><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2.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chart" Target="../charts/chart6.xml"/><Relationship Id="rId4" Type="http://schemas.openxmlformats.org/officeDocument/2006/relationships/image" Target="../media/image28.pn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hart" Target="../charts/chart9.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chart" Target="../charts/chart10.xml"/><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Guerrero</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dirty="0" err="1"/>
              <a:t>Ficha</a:t>
            </a:r>
            <a:r>
              <a:rPr dirty="0"/>
              <a:t> </a:t>
            </a:r>
            <a:r>
              <a:rPr dirty="0" err="1"/>
              <a:t>Estatal</a:t>
            </a:r>
            <a:endParaRPr dirty="0"/>
          </a:p>
          <a:p>
            <a:pPr algn="ctr">
              <a:defRPr sz="1500" b="1">
                <a:solidFill>
                  <a:srgbClr val="7F7F7F"/>
                </a:solidFill>
                <a:latin typeface="Montserrat"/>
              </a:defRPr>
            </a:pPr>
            <a:r>
              <a:rPr dirty="0" err="1"/>
              <a:t>Ju</a:t>
            </a:r>
            <a:r>
              <a:rPr lang="es-MX" dirty="0"/>
              <a:t>l</a:t>
            </a:r>
            <a:r>
              <a:rPr dirty="0" err="1"/>
              <a:t>io</a:t>
            </a:r>
            <a:r>
              <a:rPr dirty="0"/>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4" name="Google Shape;66;p15"/>
          <p:cNvSpPr/>
          <p:nvPr/>
        </p:nvSpPr>
        <p:spPr>
          <a:xfrm>
            <a:off x="0" y="571500"/>
            <a:ext cx="7772400" cy="17718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5" name="Google Shape;67;p15"/>
          <p:cNvGraphicFramePr/>
          <p:nvPr>
            <p:extLst>
              <p:ext uri="{D42A27DB-BD31-4B8C-83A1-F6EECF244321}">
                <p14:modId xmlns:p14="http://schemas.microsoft.com/office/powerpoint/2010/main" val="3060550431"/>
              </p:ext>
            </p:extLst>
          </p:nvPr>
        </p:nvGraphicFramePr>
        <p:xfrm>
          <a:off x="1271721" y="2384701"/>
          <a:ext cx="5192450" cy="6624000"/>
        </p:xfrm>
        <a:graphic>
          <a:graphicData uri="http://schemas.openxmlformats.org/drawingml/2006/table">
            <a:tbl>
              <a:tblPr>
                <a:noFill/>
              </a:tblPr>
              <a:tblGrid>
                <a:gridCol w="1746850">
                  <a:extLst>
                    <a:ext uri="{9D8B030D-6E8A-4147-A177-3AD203B41FA5}">
                      <a16:colId xmlns:a16="http://schemas.microsoft.com/office/drawing/2014/main" val="20000"/>
                    </a:ext>
                  </a:extLst>
                </a:gridCol>
                <a:gridCol w="2694300">
                  <a:extLst>
                    <a:ext uri="{9D8B030D-6E8A-4147-A177-3AD203B41FA5}">
                      <a16:colId xmlns:a16="http://schemas.microsoft.com/office/drawing/2014/main" val="20001"/>
                    </a:ext>
                  </a:extLst>
                </a:gridCol>
                <a:gridCol w="751300">
                  <a:extLst>
                    <a:ext uri="{9D8B030D-6E8A-4147-A177-3AD203B41FA5}">
                      <a16:colId xmlns:a16="http://schemas.microsoft.com/office/drawing/2014/main" val="20002"/>
                    </a:ext>
                  </a:extLst>
                </a:gridCol>
              </a:tblGrid>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dirty="0">
                          <a:solidFill>
                            <a:schemeClr val="lt1"/>
                          </a:solidFill>
                          <a:latin typeface="Montserrat"/>
                          <a:ea typeface="Montserrat"/>
                          <a:cs typeface="Montserrat"/>
                          <a:sym typeface="Montserrat"/>
                        </a:rPr>
                        <a:t>Jefatura de Servicios </a:t>
                      </a:r>
                      <a:br>
                        <a:rPr lang="es" sz="1000" b="1" u="none" strike="noStrike" cap="none" dirty="0">
                          <a:solidFill>
                            <a:schemeClr val="lt1"/>
                          </a:solidFill>
                          <a:latin typeface="Montserrat"/>
                          <a:ea typeface="Montserrat"/>
                          <a:cs typeface="Montserrat"/>
                          <a:sym typeface="Montserrat"/>
                        </a:rPr>
                      </a:br>
                      <a:r>
                        <a:rPr lang="es" sz="1000" b="1" u="none" strike="noStrike" cap="none" dirty="0">
                          <a:solidFill>
                            <a:schemeClr val="lt1"/>
                          </a:solidFill>
                          <a:latin typeface="Montserrat"/>
                          <a:ea typeface="Montserrat"/>
                          <a:cs typeface="Montserrat"/>
                          <a:sym typeface="Montserrat"/>
                        </a:rPr>
                        <a:t>de Prestaciones Médicas</a:t>
                      </a:r>
                      <a:endParaRPr sz="1000" b="1" u="none" strike="noStrike" cap="none" dirty="0">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Dr. Ángel Gómez Carbajal</a:t>
                      </a:r>
                      <a:endParaRPr sz="1000" b="1"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Médico especialista en Medicina Familiar</a:t>
                      </a:r>
                      <a:endParaRPr sz="100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encargo: 16 de noviembre de 2024</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Salud en el Trabajo, Prestaciones Económicas y Sociales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Lic. Fátima Ivonne Argueta Rivera </a:t>
                      </a:r>
                      <a:endParaRPr sz="1000" b="1"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 </a:t>
                      </a:r>
                      <a:r>
                        <a:rPr lang="es" sz="1000" u="none" strike="noStrike" cap="none" dirty="0">
                          <a:latin typeface="Montserrat"/>
                          <a:ea typeface="Montserrat"/>
                          <a:cs typeface="Montserrat"/>
                          <a:sym typeface="Montserrat"/>
                        </a:rPr>
                        <a:t>en</a:t>
                      </a:r>
                      <a:r>
                        <a:rPr lang="es" sz="1000" u="none" strike="noStrike" cap="none" dirty="0">
                          <a:solidFill>
                            <a:schemeClr val="dk1"/>
                          </a:solidFill>
                          <a:latin typeface="Montserrat"/>
                          <a:ea typeface="Montserrat"/>
                          <a:cs typeface="Montserrat"/>
                          <a:sym typeface="Montserrat"/>
                        </a:rPr>
                        <a:t> Contaduría  </a:t>
                      </a:r>
                      <a:endParaRPr sz="1000"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16 de septiembre de 2023</a:t>
                      </a:r>
                      <a:endParaRPr sz="1000"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dirty="0">
                          <a:solidFill>
                            <a:schemeClr val="lt1"/>
                          </a:solidFill>
                          <a:latin typeface="Montserrat"/>
                          <a:ea typeface="Montserrat"/>
                          <a:cs typeface="Montserrat"/>
                          <a:sym typeface="Montserrat"/>
                        </a:rPr>
                        <a:t>Jefatura de Servicios </a:t>
                      </a:r>
                      <a:br>
                        <a:rPr lang="es" sz="1000" b="1" u="none" strike="noStrike" cap="none" dirty="0">
                          <a:solidFill>
                            <a:schemeClr val="lt1"/>
                          </a:solidFill>
                          <a:latin typeface="Montserrat"/>
                          <a:ea typeface="Montserrat"/>
                          <a:cs typeface="Montserrat"/>
                          <a:sym typeface="Montserrat"/>
                        </a:rPr>
                      </a:br>
                      <a:r>
                        <a:rPr lang="es" sz="1000" b="1" u="none" strike="noStrike" cap="none" dirty="0">
                          <a:solidFill>
                            <a:schemeClr val="lt1"/>
                          </a:solidFill>
                          <a:latin typeface="Montserrat"/>
                          <a:ea typeface="Montserrat"/>
                          <a:cs typeface="Montserrat"/>
                          <a:sym typeface="Montserrat"/>
                        </a:rPr>
                        <a:t>de Afiliación y Cobranza</a:t>
                      </a:r>
                      <a:endParaRPr sz="1000" b="1" u="none" strike="noStrike" cap="none" dirty="0">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C.P. Iván Peralta Vázquez  </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 en Contaduría  </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13 de agosto de 2019</a:t>
                      </a: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Desarrollo de Personal</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Mtra. Kenia Angelina Garduño Díaz  </a:t>
                      </a:r>
                      <a:endParaRPr sz="1000" b="1"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Maestría en Derecho Laboral</a:t>
                      </a:r>
                      <a:endParaRPr sz="1000" u="none" strike="noStrike" cap="none" dirty="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01 de enero de 2023</a:t>
                      </a:r>
                      <a:endParaRPr sz="1000" u="none" strike="noStrike" cap="none" dirty="0">
                        <a:solidFill>
                          <a:schemeClr val="dk1"/>
                        </a:solidFill>
                        <a:latin typeface="Montserrat"/>
                        <a:ea typeface="Montserrat"/>
                        <a:cs typeface="Montserrat"/>
                        <a:sym typeface="Montserrat"/>
                      </a:endParaRPr>
                    </a:p>
                    <a:p>
                      <a:pPr marL="0" marR="35999" lvl="0" indent="0" algn="l" rtl="0">
                        <a:lnSpc>
                          <a:spcPct val="107916"/>
                        </a:lnSpc>
                        <a:spcBef>
                          <a:spcPts val="0"/>
                        </a:spcBef>
                        <a:spcAft>
                          <a:spcPts val="0"/>
                        </a:spcAft>
                        <a:buClr>
                          <a:schemeClr val="dk1"/>
                        </a:buClr>
                        <a:buSzPts val="1100"/>
                        <a:buFont typeface="Arial"/>
                        <a:buNone/>
                      </a:pPr>
                      <a:endParaRPr sz="1000"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Finanzas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a:solidFill>
                            <a:schemeClr val="dk1"/>
                          </a:solidFill>
                          <a:latin typeface="Montserrat"/>
                          <a:ea typeface="Montserrat"/>
                          <a:cs typeface="Montserrat"/>
                          <a:sym typeface="Montserrat"/>
                        </a:rPr>
                        <a:t>LAE</a:t>
                      </a:r>
                      <a:r>
                        <a:rPr lang="es" sz="1000" b="1" u="none" strike="noStrike" cap="none">
                          <a:solidFill>
                            <a:schemeClr val="dk1"/>
                          </a:solidFill>
                          <a:latin typeface="Montserrat"/>
                          <a:ea typeface="Montserrat"/>
                          <a:cs typeface="Montserrat"/>
                          <a:sym typeface="Montserrat"/>
                        </a:rPr>
                        <a:t>. </a:t>
                      </a:r>
                      <a:r>
                        <a:rPr lang="es" sz="1000" b="1">
                          <a:solidFill>
                            <a:schemeClr val="dk1"/>
                          </a:solidFill>
                          <a:latin typeface="Montserrat"/>
                          <a:ea typeface="Montserrat"/>
                          <a:cs typeface="Montserrat"/>
                          <a:sym typeface="Montserrat"/>
                        </a:rPr>
                        <a:t>Leisa María Arroyo Virgen</a:t>
                      </a:r>
                      <a:r>
                        <a:rPr lang="es" sz="1000" b="1" u="none" strike="noStrike" cap="none">
                          <a:solidFill>
                            <a:schemeClr val="dk1"/>
                          </a:solidFill>
                          <a:latin typeface="Montserrat"/>
                          <a:ea typeface="Montserrat"/>
                          <a:cs typeface="Montserrat"/>
                          <a:sym typeface="Montserrat"/>
                        </a:rPr>
                        <a:t>  </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 </a:t>
                      </a:r>
                      <a:r>
                        <a:rPr lang="es" sz="1000">
                          <a:solidFill>
                            <a:schemeClr val="dk1"/>
                          </a:solidFill>
                          <a:latin typeface="Montserrat"/>
                          <a:ea typeface="Montserrat"/>
                          <a:cs typeface="Montserrat"/>
                          <a:sym typeface="Montserrat"/>
                        </a:rPr>
                        <a:t>en Administración de Empresas</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a:t>
                      </a:r>
                      <a:r>
                        <a:rPr lang="es" sz="1000">
                          <a:solidFill>
                            <a:schemeClr val="dk1"/>
                          </a:solidFill>
                          <a:latin typeface="Montserrat"/>
                          <a:ea typeface="Montserrat"/>
                          <a:cs typeface="Montserrat"/>
                          <a:sym typeface="Montserrat"/>
                        </a:rPr>
                        <a:t>01 de diciembre de 2025</a:t>
                      </a:r>
                      <a:endParaRPr sz="100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Administrativos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Mtro. Moises Siddharta Bailón Jiménez</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 en Ciencia Política y Mtro en Derecho</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22 de agosto de 2024</a:t>
                      </a:r>
                      <a:endParaRPr sz="1000"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Jurídicos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chemeClr val="dk1"/>
                        </a:buClr>
                        <a:buSzPts val="1100"/>
                        <a:buFont typeface="Arial"/>
                        <a:buNone/>
                      </a:pPr>
                      <a:r>
                        <a:rPr lang="es" sz="1000" b="1" u="none" strike="noStrike" cap="none">
                          <a:solidFill>
                            <a:schemeClr val="dk1"/>
                          </a:solidFill>
                          <a:latin typeface="Montserrat"/>
                          <a:ea typeface="Montserrat"/>
                          <a:cs typeface="Montserrat"/>
                          <a:sym typeface="Montserrat"/>
                        </a:rPr>
                        <a:t>Mtra. María del Rocío Sánchez Ramos</a:t>
                      </a:r>
                      <a:endParaRPr sz="1000" b="1"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Lic. en Derecho y Mtra en Administración</a:t>
                      </a:r>
                      <a:endParaRPr sz="1000" u="none" strike="noStrike" cap="none">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16 de julio de 2025</a:t>
                      </a:r>
                      <a:endParaRPr sz="1000"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82800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Secretar</a:t>
                      </a:r>
                      <a:r>
                        <a:rPr lang="es" sz="1000" b="1">
                          <a:solidFill>
                            <a:schemeClr val="lt1"/>
                          </a:solidFill>
                          <a:latin typeface="Montserrat"/>
                          <a:ea typeface="Montserrat"/>
                          <a:cs typeface="Montserrat"/>
                          <a:sym typeface="Montserrat"/>
                        </a:rPr>
                        <a:t>í</a:t>
                      </a:r>
                      <a:r>
                        <a:rPr lang="es" sz="1000" b="1" u="none" strike="noStrike" cap="none">
                          <a:solidFill>
                            <a:schemeClr val="lt1"/>
                          </a:solidFill>
                          <a:latin typeface="Montserrat"/>
                          <a:ea typeface="Montserrat"/>
                          <a:cs typeface="Montserrat"/>
                          <a:sym typeface="Montserrat"/>
                        </a:rPr>
                        <a:t>a General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la Sección XVII </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rgbClr val="006858"/>
                    </a:solidFill>
                  </a:tcPr>
                </a:tc>
                <a:tc>
                  <a:txBody>
                    <a:bodyPr/>
                    <a:lstStyle/>
                    <a:p>
                      <a:pPr marL="0" marR="35999" lvl="0" indent="0" algn="l" rtl="0">
                        <a:lnSpc>
                          <a:spcPct val="107916"/>
                        </a:lnSpc>
                        <a:spcBef>
                          <a:spcPts val="0"/>
                        </a:spcBef>
                        <a:spcAft>
                          <a:spcPts val="0"/>
                        </a:spcAft>
                        <a:buClr>
                          <a:srgbClr val="000000"/>
                        </a:buClr>
                        <a:buSzPts val="1000"/>
                        <a:buFont typeface="Arial"/>
                        <a:buNone/>
                      </a:pPr>
                      <a:r>
                        <a:rPr lang="es" sz="1000" b="1" u="none" strike="noStrike" cap="none">
                          <a:solidFill>
                            <a:schemeClr val="dk1"/>
                          </a:solidFill>
                          <a:latin typeface="Montserrat"/>
                          <a:ea typeface="Montserrat"/>
                          <a:cs typeface="Montserrat"/>
                          <a:sym typeface="Montserrat"/>
                        </a:rPr>
                        <a:t>CT. Rogelio Varela Carmona</a:t>
                      </a:r>
                      <a:endParaRPr sz="1000" b="1"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Citotecnólogo</a:t>
                      </a:r>
                      <a:endParaRPr sz="100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a:solidFill>
                            <a:schemeClr val="dk1"/>
                          </a:solidFill>
                          <a:latin typeface="Montserrat"/>
                          <a:ea typeface="Montserrat"/>
                          <a:cs typeface="Montserrat"/>
                          <a:sym typeface="Montserrat"/>
                        </a:rPr>
                        <a:t>Inicio en el cargo: 01 de octubre de 2025</a:t>
                      </a:r>
                      <a:endParaRPr sz="100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tx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tx2"/>
                    </a:solidFill>
                  </a:tcPr>
                </a:tc>
                <a:extLst>
                  <a:ext uri="{0D108BD9-81ED-4DB2-BD59-A6C34878D82A}">
                    <a16:rowId xmlns:a16="http://schemas.microsoft.com/office/drawing/2014/main" val="10007"/>
                  </a:ext>
                </a:extLst>
              </a:tr>
            </a:tbl>
          </a:graphicData>
        </a:graphic>
      </p:graphicFrame>
      <p:sp>
        <p:nvSpPr>
          <p:cNvPr id="6" name="Google Shape;68;p15"/>
          <p:cNvSpPr txBox="1"/>
          <p:nvPr/>
        </p:nvSpPr>
        <p:spPr>
          <a:xfrm>
            <a:off x="2798775" y="545725"/>
            <a:ext cx="4198800" cy="154890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endParaRPr sz="1000" b="0" i="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300" b="1" i="0" u="none" strike="noStrike" cap="none" dirty="0">
                <a:solidFill>
                  <a:srgbClr val="006455"/>
                </a:solidFill>
                <a:latin typeface="Montserrat"/>
                <a:ea typeface="Montserrat"/>
                <a:cs typeface="Montserrat"/>
                <a:sym typeface="Montserrat"/>
              </a:rPr>
              <a:t>Dra. María de Lourdes Díaz Espinosa </a:t>
            </a:r>
            <a:endParaRPr sz="1000" b="0" i="0" u="none" strike="noStrike" cap="none" dirty="0">
              <a:solidFill>
                <a:schemeClr val="dk1"/>
              </a:solidFill>
              <a:latin typeface="Montserrat"/>
              <a:ea typeface="Montserrat"/>
              <a:cs typeface="Montserrat"/>
              <a:sym typeface="Montserrat"/>
            </a:endParaRPr>
          </a:p>
          <a:p>
            <a:pPr marL="269999" marR="0" lvl="0" indent="-140800" algn="l" rtl="0">
              <a:lnSpc>
                <a:spcPct val="107916"/>
              </a:lnSpc>
              <a:spcBef>
                <a:spcPts val="0"/>
              </a:spcBef>
              <a:spcAft>
                <a:spcPts val="0"/>
              </a:spcAft>
              <a:buClr>
                <a:schemeClr val="dk1"/>
              </a:buClr>
              <a:buSzPts val="800"/>
              <a:buFont typeface="Montserrat"/>
              <a:buChar char="●"/>
            </a:pPr>
            <a:r>
              <a:rPr lang="es" sz="1200" b="0" i="0" u="none" strike="noStrike" cap="none" dirty="0">
                <a:solidFill>
                  <a:schemeClr val="dk1"/>
                </a:solidFill>
                <a:latin typeface="Montserrat"/>
                <a:ea typeface="Montserrat"/>
                <a:cs typeface="Montserrat"/>
                <a:sym typeface="Montserrat"/>
              </a:rPr>
              <a:t>Médica Cirujano </a:t>
            </a:r>
            <a:endParaRPr sz="1200" b="0" i="0" u="none" strike="noStrike" cap="none" dirty="0">
              <a:solidFill>
                <a:schemeClr val="dk1"/>
              </a:solidFill>
              <a:latin typeface="Montserrat"/>
              <a:ea typeface="Montserrat"/>
              <a:cs typeface="Montserrat"/>
              <a:sym typeface="Montserrat"/>
            </a:endParaRPr>
          </a:p>
          <a:p>
            <a:pPr marL="269999" marR="0" lvl="0" indent="-140800" algn="l" rtl="0">
              <a:lnSpc>
                <a:spcPct val="107916"/>
              </a:lnSpc>
              <a:spcBef>
                <a:spcPts val="0"/>
              </a:spcBef>
              <a:spcAft>
                <a:spcPts val="0"/>
              </a:spcAft>
              <a:buClr>
                <a:schemeClr val="dk1"/>
              </a:buClr>
              <a:buSzPts val="800"/>
              <a:buFont typeface="Montserrat"/>
              <a:buChar char="●"/>
            </a:pPr>
            <a:r>
              <a:rPr lang="es" sz="1200" b="0" i="0" u="none" strike="noStrike" cap="none" dirty="0">
                <a:solidFill>
                  <a:schemeClr val="dk1"/>
                </a:solidFill>
                <a:latin typeface="Montserrat"/>
                <a:ea typeface="Montserrat"/>
                <a:cs typeface="Montserrat"/>
                <a:sym typeface="Montserrat"/>
              </a:rPr>
              <a:t>Maestría en Gestión Directiva en Salud</a:t>
            </a:r>
            <a:endParaRPr sz="1200" b="0" i="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endParaRPr sz="1200" b="0" i="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1" i="0" u="none" strike="noStrike" cap="none" dirty="0">
                <a:solidFill>
                  <a:srgbClr val="006858"/>
                </a:solidFill>
                <a:latin typeface="Montserrat"/>
                <a:ea typeface="Montserrat"/>
                <a:cs typeface="Montserrat"/>
                <a:sym typeface="Montserrat"/>
              </a:rPr>
              <a:t>Inicio en el cargo: 01 de diciembre de 2024</a:t>
            </a:r>
            <a:endParaRPr sz="1200" b="1" i="0" u="none" strike="noStrike" cap="none" dirty="0">
              <a:solidFill>
                <a:srgbClr val="006858"/>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0" i="0" u="none" strike="noStrike" cap="none" dirty="0">
                <a:solidFill>
                  <a:srgbClr val="000000"/>
                </a:solidFill>
                <a:latin typeface="Montserrat"/>
                <a:ea typeface="Montserrat"/>
                <a:cs typeface="Montserrat"/>
                <a:sym typeface="Montserrat"/>
              </a:rPr>
              <a:t>Fue titular del OOAD Sonora</a:t>
            </a:r>
            <a:endParaRPr sz="1200" b="0" i="0" u="none" strike="noStrike" cap="none" dirty="0">
              <a:solidFill>
                <a:srgbClr val="000000"/>
              </a:solidFill>
              <a:latin typeface="Montserrat"/>
              <a:ea typeface="Montserrat"/>
              <a:cs typeface="Montserrat"/>
              <a:sym typeface="Montserrat"/>
            </a:endParaRPr>
          </a:p>
        </p:txBody>
      </p:sp>
      <p:pic>
        <p:nvPicPr>
          <p:cNvPr id="7" name="Google Shape;70;p15" title="Dra María de Lourdes Díaz Espinosa.jpeg"/>
          <p:cNvPicPr preferRelativeResize="0"/>
          <p:nvPr/>
        </p:nvPicPr>
        <p:blipFill>
          <a:blip r:embed="rId2">
            <a:alphaModFix/>
          </a:blip>
          <a:stretch>
            <a:fillRect/>
          </a:stretch>
        </p:blipFill>
        <p:spPr>
          <a:xfrm>
            <a:off x="612050" y="574025"/>
            <a:ext cx="1418926" cy="1771800"/>
          </a:xfrm>
          <a:prstGeom prst="rect">
            <a:avLst/>
          </a:prstGeom>
          <a:noFill/>
          <a:ln>
            <a:noFill/>
          </a:ln>
        </p:spPr>
      </p:pic>
      <p:pic>
        <p:nvPicPr>
          <p:cNvPr id="8" name="Google Shape;71;p15" title="Dr Ángel Gómez Carbajal.jpeg"/>
          <p:cNvPicPr preferRelativeResize="0"/>
          <p:nvPr/>
        </p:nvPicPr>
        <p:blipFill>
          <a:blip r:embed="rId3">
            <a:alphaModFix/>
          </a:blip>
          <a:srcRect b="10860"/>
          <a:stretch>
            <a:fillRect/>
          </a:stretch>
        </p:blipFill>
        <p:spPr>
          <a:xfrm>
            <a:off x="5863850" y="2384700"/>
            <a:ext cx="597877" cy="820483"/>
          </a:xfrm>
          <a:prstGeom prst="rect">
            <a:avLst/>
          </a:prstGeom>
          <a:noFill/>
          <a:ln>
            <a:noFill/>
          </a:ln>
        </p:spPr>
      </p:pic>
      <p:pic>
        <p:nvPicPr>
          <p:cNvPr id="9" name="Google Shape;72;p15" title="Mtra Fátima Ivonne Argueta Rivera.jpeg"/>
          <p:cNvPicPr preferRelativeResize="0"/>
          <p:nvPr/>
        </p:nvPicPr>
        <p:blipFill>
          <a:blip r:embed="rId4">
            <a:alphaModFix/>
          </a:blip>
          <a:srcRect b="7217"/>
          <a:stretch>
            <a:fillRect/>
          </a:stretch>
        </p:blipFill>
        <p:spPr>
          <a:xfrm>
            <a:off x="5863847" y="3205174"/>
            <a:ext cx="597880" cy="832090"/>
          </a:xfrm>
          <a:prstGeom prst="rect">
            <a:avLst/>
          </a:prstGeom>
          <a:noFill/>
          <a:ln>
            <a:noFill/>
          </a:ln>
        </p:spPr>
      </p:pic>
      <p:pic>
        <p:nvPicPr>
          <p:cNvPr id="10" name="Google Shape;73;p15" title="CP Iván Peralta Vázquez.jpeg"/>
          <p:cNvPicPr preferRelativeResize="0"/>
          <p:nvPr/>
        </p:nvPicPr>
        <p:blipFill>
          <a:blip r:embed="rId5">
            <a:alphaModFix/>
          </a:blip>
          <a:srcRect b="7218"/>
          <a:stretch>
            <a:fillRect/>
          </a:stretch>
        </p:blipFill>
        <p:spPr>
          <a:xfrm>
            <a:off x="5863847" y="4037264"/>
            <a:ext cx="597880" cy="832089"/>
          </a:xfrm>
          <a:prstGeom prst="rect">
            <a:avLst/>
          </a:prstGeom>
          <a:noFill/>
          <a:ln>
            <a:noFill/>
          </a:ln>
        </p:spPr>
      </p:pic>
      <p:pic>
        <p:nvPicPr>
          <p:cNvPr id="11" name="Google Shape;74;p15" title="Mtra Kenia Angelina Garduño Díaz.jpeg"/>
          <p:cNvPicPr preferRelativeResize="0"/>
          <p:nvPr/>
        </p:nvPicPr>
        <p:blipFill rotWithShape="1">
          <a:blip r:embed="rId6">
            <a:alphaModFix/>
          </a:blip>
          <a:srcRect t="1" b="7246"/>
          <a:stretch>
            <a:fillRect/>
          </a:stretch>
        </p:blipFill>
        <p:spPr>
          <a:xfrm>
            <a:off x="5863834" y="4857737"/>
            <a:ext cx="597893" cy="832089"/>
          </a:xfrm>
          <a:prstGeom prst="rect">
            <a:avLst/>
          </a:prstGeom>
          <a:noFill/>
          <a:ln>
            <a:noFill/>
          </a:ln>
        </p:spPr>
      </p:pic>
      <p:pic>
        <p:nvPicPr>
          <p:cNvPr id="12" name="Google Shape;75;p15" title="LAE Leisa María Arroyo Virgen.jpeg"/>
          <p:cNvPicPr preferRelativeResize="0"/>
          <p:nvPr/>
        </p:nvPicPr>
        <p:blipFill rotWithShape="1">
          <a:blip r:embed="rId7">
            <a:alphaModFix/>
          </a:blip>
          <a:srcRect b="3389"/>
          <a:stretch>
            <a:fillRect/>
          </a:stretch>
        </p:blipFill>
        <p:spPr>
          <a:xfrm>
            <a:off x="5863834" y="5689817"/>
            <a:ext cx="597893" cy="832089"/>
          </a:xfrm>
          <a:prstGeom prst="rect">
            <a:avLst/>
          </a:prstGeom>
          <a:noFill/>
          <a:ln>
            <a:noFill/>
          </a:ln>
        </p:spPr>
      </p:pic>
      <p:pic>
        <p:nvPicPr>
          <p:cNvPr id="13" name="Google Shape;76;p15" title="Mtro Moisés Siddharta Bailón Jiménez.jpeg"/>
          <p:cNvPicPr preferRelativeResize="0"/>
          <p:nvPr/>
        </p:nvPicPr>
        <p:blipFill rotWithShape="1">
          <a:blip r:embed="rId8">
            <a:alphaModFix/>
          </a:blip>
          <a:srcRect t="-1" b="14150"/>
          <a:stretch>
            <a:fillRect/>
          </a:stretch>
        </p:blipFill>
        <p:spPr>
          <a:xfrm>
            <a:off x="5859516" y="6517603"/>
            <a:ext cx="600134" cy="820472"/>
          </a:xfrm>
          <a:prstGeom prst="rect">
            <a:avLst/>
          </a:prstGeom>
          <a:noFill/>
          <a:ln>
            <a:noFill/>
          </a:ln>
        </p:spPr>
      </p:pic>
      <p:pic>
        <p:nvPicPr>
          <p:cNvPr id="14" name="Google Shape;77;p15" title="Mtra María del Rocío Sánchez Ramos.jpeg"/>
          <p:cNvPicPr preferRelativeResize="0"/>
          <p:nvPr/>
        </p:nvPicPr>
        <p:blipFill rotWithShape="1">
          <a:blip r:embed="rId9">
            <a:alphaModFix/>
          </a:blip>
          <a:srcRect t="-1562" b="20394"/>
          <a:stretch>
            <a:fillRect/>
          </a:stretch>
        </p:blipFill>
        <p:spPr>
          <a:xfrm>
            <a:off x="5860648" y="7317376"/>
            <a:ext cx="597869" cy="866042"/>
          </a:xfrm>
          <a:prstGeom prst="rect">
            <a:avLst/>
          </a:prstGeom>
          <a:noFill/>
          <a:ln>
            <a:noFill/>
          </a:ln>
        </p:spPr>
      </p:pic>
      <p:pic>
        <p:nvPicPr>
          <p:cNvPr id="15" name="Google Shape;78;p15" title="Secretario General Rogelio Varela Carmona.jpeg"/>
          <p:cNvPicPr preferRelativeResize="0"/>
          <p:nvPr/>
        </p:nvPicPr>
        <p:blipFill rotWithShape="1">
          <a:blip r:embed="rId10">
            <a:alphaModFix/>
          </a:blip>
          <a:srcRect b="16409"/>
          <a:stretch/>
        </p:blipFill>
        <p:spPr>
          <a:xfrm>
            <a:off x="5860647" y="8183239"/>
            <a:ext cx="597869" cy="832089"/>
          </a:xfrm>
          <a:prstGeom prst="rect">
            <a:avLst/>
          </a:prstGeom>
          <a:noFill/>
          <a:ln>
            <a:noFill/>
          </a:ln>
        </p:spPr>
      </p:pic>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24%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extLst>
              <p:ext uri="{D42A27DB-BD31-4B8C-83A1-F6EECF244321}">
                <p14:modId xmlns:p14="http://schemas.microsoft.com/office/powerpoint/2010/main" val="1891465189"/>
              </p:ext>
            </p:extLst>
          </p:nvPr>
        </p:nvGraphicFramePr>
        <p:xfrm>
          <a:off x="2268000" y="1116000"/>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028639" y="1213200"/>
            <a:ext cx="1188000" cy="503999"/>
          </a:xfrm>
          <a:prstGeom prst="rect">
            <a:avLst/>
          </a:prstGeom>
          <a:noFill/>
        </p:spPr>
        <p:txBody>
          <a:bodyPr wrap="none"/>
          <a:lstStyle/>
          <a:p>
            <a:pPr algn="l">
              <a:defRPr sz="1400" b="1">
                <a:solidFill>
                  <a:srgbClr val="595959"/>
                </a:solidFill>
                <a:latin typeface="Montserrat"/>
              </a:defRPr>
            </a:pPr>
            <a:r>
              <a:rPr dirty="0"/>
              <a:t>773,005</a:t>
            </a:r>
            <a:br>
              <a:rPr dirty="0"/>
            </a:br>
            <a:r>
              <a:rPr dirty="0"/>
              <a:t>21%</a:t>
            </a:r>
          </a:p>
        </p:txBody>
      </p:sp>
      <p:pic>
        <p:nvPicPr>
          <p:cNvPr id="119" name="Picture 118" descr="imss.png"/>
          <p:cNvPicPr>
            <a:picLocks noChangeAspect="1"/>
          </p:cNvPicPr>
          <p:nvPr/>
        </p:nvPicPr>
        <p:blipFill>
          <a:blip r:embed="rId6"/>
          <a:stretch>
            <a:fillRect/>
          </a:stretch>
        </p:blipFill>
        <p:spPr>
          <a:xfrm>
            <a:off x="5556375" y="1231200"/>
            <a:ext cx="377265" cy="468000"/>
          </a:xfrm>
          <a:prstGeom prst="rect">
            <a:avLst/>
          </a:prstGeom>
        </p:spPr>
      </p:pic>
      <p:sp>
        <p:nvSpPr>
          <p:cNvPr id="120" name="Rectangle 119"/>
          <p:cNvSpPr/>
          <p:nvPr/>
        </p:nvSpPr>
        <p:spPr>
          <a:xfrm>
            <a:off x="5288880" y="14040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6537275" y="2219820"/>
            <a:ext cx="1188000" cy="503999"/>
          </a:xfrm>
          <a:prstGeom prst="rect">
            <a:avLst/>
          </a:prstGeom>
          <a:noFill/>
        </p:spPr>
        <p:txBody>
          <a:bodyPr wrap="none"/>
          <a:lstStyle/>
          <a:p>
            <a:pPr algn="l">
              <a:defRPr sz="1400" b="1">
                <a:solidFill>
                  <a:srgbClr val="595959"/>
                </a:solidFill>
                <a:latin typeface="Montserrat"/>
              </a:defRPr>
            </a:pPr>
            <a:r>
              <a:t>78,827</a:t>
            </a:r>
            <a:br/>
            <a:r>
              <a:t>2%</a:t>
            </a:r>
          </a:p>
        </p:txBody>
      </p:sp>
      <p:pic>
        <p:nvPicPr>
          <p:cNvPr id="122" name="Picture 121" descr="imss_coplamar.png"/>
          <p:cNvPicPr>
            <a:picLocks noChangeAspect="1"/>
          </p:cNvPicPr>
          <p:nvPr/>
        </p:nvPicPr>
        <p:blipFill>
          <a:blip r:embed="rId7"/>
          <a:stretch>
            <a:fillRect/>
          </a:stretch>
        </p:blipFill>
        <p:spPr>
          <a:xfrm>
            <a:off x="5865505" y="2228400"/>
            <a:ext cx="586036" cy="468000"/>
          </a:xfrm>
          <a:prstGeom prst="rect">
            <a:avLst/>
          </a:prstGeom>
        </p:spPr>
      </p:pic>
      <p:sp>
        <p:nvSpPr>
          <p:cNvPr id="123" name="Rectangle 122"/>
          <p:cNvSpPr/>
          <p:nvPr/>
        </p:nvSpPr>
        <p:spPr>
          <a:xfrm>
            <a:off x="5653485" y="2401200"/>
            <a:ext cx="122400" cy="122400"/>
          </a:xfrm>
          <a:prstGeom prst="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714685" y="3819599"/>
            <a:ext cx="1188000" cy="503999"/>
          </a:xfrm>
          <a:prstGeom prst="rect">
            <a:avLst/>
          </a:prstGeom>
          <a:noFill/>
        </p:spPr>
        <p:txBody>
          <a:bodyPr wrap="none"/>
          <a:lstStyle/>
          <a:p>
            <a:pPr algn="l">
              <a:defRPr sz="1400" b="1">
                <a:solidFill>
                  <a:srgbClr val="595959"/>
                </a:solidFill>
                <a:latin typeface="Montserrat"/>
              </a:defRPr>
            </a:pPr>
            <a:r>
              <a:rPr dirty="0"/>
              <a:t>625,250</a:t>
            </a:r>
            <a:br>
              <a:rPr dirty="0"/>
            </a:br>
            <a:r>
              <a:rPr dirty="0"/>
              <a:t>17%</a:t>
            </a:r>
          </a:p>
        </p:txBody>
      </p:sp>
      <p:pic>
        <p:nvPicPr>
          <p:cNvPr id="125" name="Picture 124" descr="issste.png"/>
          <p:cNvPicPr>
            <a:picLocks noChangeAspect="1"/>
          </p:cNvPicPr>
          <p:nvPr/>
        </p:nvPicPr>
        <p:blipFill>
          <a:blip r:embed="rId8"/>
          <a:stretch>
            <a:fillRect/>
          </a:stretch>
        </p:blipFill>
        <p:spPr>
          <a:xfrm>
            <a:off x="5653485" y="3351599"/>
            <a:ext cx="1437091" cy="468000"/>
          </a:xfrm>
          <a:prstGeom prst="rect">
            <a:avLst/>
          </a:prstGeom>
        </p:spPr>
      </p:pic>
      <p:sp>
        <p:nvSpPr>
          <p:cNvPr id="126" name="Rectangle 125"/>
          <p:cNvSpPr/>
          <p:nvPr/>
        </p:nvSpPr>
        <p:spPr>
          <a:xfrm>
            <a:off x="5411280" y="3524399"/>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14175" y="3567599"/>
            <a:ext cx="1188000" cy="503999"/>
          </a:xfrm>
          <a:prstGeom prst="rect">
            <a:avLst/>
          </a:prstGeom>
          <a:noFill/>
        </p:spPr>
        <p:txBody>
          <a:bodyPr wrap="none"/>
          <a:lstStyle/>
          <a:p>
            <a:pPr>
              <a:defRPr sz="1400" b="1">
                <a:solidFill>
                  <a:srgbClr val="595959"/>
                </a:solidFill>
                <a:latin typeface="Montserrat"/>
              </a:defRPr>
            </a:pPr>
            <a:r>
              <a:rPr dirty="0"/>
              <a:t>2,096,193</a:t>
            </a:r>
            <a:br>
              <a:rPr dirty="0"/>
            </a:br>
            <a:r>
              <a:rPr dirty="0"/>
              <a:t>58%</a:t>
            </a:r>
          </a:p>
        </p:txBody>
      </p:sp>
      <p:pic>
        <p:nvPicPr>
          <p:cNvPr id="128" name="Picture 127" descr="12.png"/>
          <p:cNvPicPr>
            <a:picLocks noChangeAspect="1"/>
          </p:cNvPicPr>
          <p:nvPr/>
        </p:nvPicPr>
        <p:blipFill>
          <a:blip r:embed="rId9"/>
          <a:stretch>
            <a:fillRect/>
          </a:stretch>
        </p:blipFill>
        <p:spPr>
          <a:xfrm>
            <a:off x="714175" y="3117599"/>
            <a:ext cx="1247031" cy="468000"/>
          </a:xfrm>
          <a:prstGeom prst="rect">
            <a:avLst/>
          </a:prstGeom>
        </p:spPr>
      </p:pic>
      <p:sp>
        <p:nvSpPr>
          <p:cNvPr id="129" name="Rectangle 128"/>
          <p:cNvSpPr/>
          <p:nvPr/>
        </p:nvSpPr>
        <p:spPr>
          <a:xfrm>
            <a:off x="2111031" y="32903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864771" y="1160100"/>
            <a:ext cx="1188000" cy="503999"/>
          </a:xfrm>
          <a:prstGeom prst="rect">
            <a:avLst/>
          </a:prstGeom>
          <a:noFill/>
        </p:spPr>
        <p:txBody>
          <a:bodyPr wrap="none"/>
          <a:lstStyle/>
          <a:p>
            <a:pPr algn="r">
              <a:defRPr sz="1400" b="1">
                <a:solidFill>
                  <a:srgbClr val="595959"/>
                </a:solidFill>
                <a:latin typeface="Montserrat"/>
              </a:defRPr>
            </a:pPr>
            <a:r>
              <a:rPr dirty="0" err="1"/>
              <a:t>Otros</a:t>
            </a:r>
            <a:br>
              <a:rPr dirty="0"/>
            </a:br>
            <a:r>
              <a:rPr dirty="0"/>
              <a:t>33,021</a:t>
            </a:r>
            <a:br>
              <a:rPr dirty="0"/>
            </a:br>
            <a:r>
              <a:rPr dirty="0"/>
              <a:t>0.92%</a:t>
            </a:r>
          </a:p>
        </p:txBody>
      </p:sp>
      <p:pic>
        <p:nvPicPr>
          <p:cNvPr id="131" name="Picture 130" descr="otros.png"/>
          <p:cNvPicPr>
            <a:picLocks noChangeAspect="1"/>
          </p:cNvPicPr>
          <p:nvPr/>
        </p:nvPicPr>
        <p:blipFill>
          <a:blip r:embed="rId10"/>
          <a:stretch>
            <a:fillRect/>
          </a:stretch>
        </p:blipFill>
        <p:spPr>
          <a:xfrm>
            <a:off x="1999431" y="1179599"/>
            <a:ext cx="468000" cy="468000"/>
          </a:xfrm>
          <a:prstGeom prst="rect">
            <a:avLst/>
          </a:prstGeom>
        </p:spPr>
      </p:pic>
      <p:sp>
        <p:nvSpPr>
          <p:cNvPr id="132" name="Rectangle 131"/>
          <p:cNvSpPr/>
          <p:nvPr/>
        </p:nvSpPr>
        <p:spPr>
          <a:xfrm>
            <a:off x="2491200" y="1352399"/>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3,606,296</a:t>
            </a:r>
          </a:p>
        </p:txBody>
      </p:sp>
      <p:sp>
        <p:nvSpPr>
          <p:cNvPr id="134" name="TextBox 133"/>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5" name="TextBox 134"/>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6" name="TextBox 135"/>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extLst>
              <p:ext uri="{D42A27DB-BD31-4B8C-83A1-F6EECF244321}">
                <p14:modId xmlns:p14="http://schemas.microsoft.com/office/powerpoint/2010/main" val="89811438"/>
              </p:ext>
            </p:extLst>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rPr dirty="0" err="1"/>
                        <a:t>Categoría</a:t>
                      </a:r>
                      <a:endParaRPr dirty="0"/>
                    </a:p>
                  </a:txBody>
                  <a:tcPr anchor="ctr">
                    <a:solidFill>
                      <a:srgbClr val="006455"/>
                    </a:solidFill>
                  </a:tcPr>
                </a:tc>
                <a:tc>
                  <a:txBody>
                    <a:bodyPr/>
                    <a:lstStyle/>
                    <a:p>
                      <a:pPr algn="ctr">
                        <a:defRPr sz="900" b="1">
                          <a:solidFill>
                            <a:srgbClr val="FFFFFF"/>
                          </a:solidFill>
                          <a:latin typeface="Montserrat"/>
                        </a:defRPr>
                      </a:pPr>
                      <a:r>
                        <a:t>2018</a:t>
                      </a:r>
                    </a:p>
                  </a:txBody>
                  <a:tcPr anchor="ctr">
                    <a:solidFill>
                      <a:srgbClr val="006455"/>
                    </a:solidFill>
                  </a:tcPr>
                </a:tc>
                <a:tc>
                  <a:txBody>
                    <a:bodyPr/>
                    <a:lstStyle/>
                    <a:p>
                      <a:pPr algn="ctr">
                        <a:defRPr sz="900" b="1">
                          <a:solidFill>
                            <a:srgbClr val="FFFFFF"/>
                          </a:solidFill>
                          <a:latin typeface="Montserrat"/>
                        </a:defRPr>
                      </a:pPr>
                      <a:r>
                        <a:t>2026</a:t>
                      </a:r>
                    </a:p>
                  </a:txBody>
                  <a:tcPr anchor="ctr">
                    <a:solidFill>
                      <a:srgbClr val="006455"/>
                    </a:solidFill>
                  </a:tcPr>
                </a:tc>
                <a:tc>
                  <a:txBody>
                    <a:bodyPr/>
                    <a:lstStyle/>
                    <a:p>
                      <a:pPr algn="ctr">
                        <a:defRPr sz="900" b="1">
                          <a:solidFill>
                            <a:srgbClr val="FFFFFF"/>
                          </a:solidFill>
                          <a:latin typeface="Montserrat"/>
                        </a:defRPr>
                      </a:pPr>
                      <a:r>
                        <a:t>Variación</a:t>
                      </a:r>
                    </a:p>
                  </a:txBody>
                  <a:tcPr anchor="ct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rPr dirty="0"/>
                        <a:t>PDA¹</a:t>
                      </a:r>
                    </a:p>
                  </a:txBody>
                  <a:tcPr anchor="ctr">
                    <a:solidFill>
                      <a:srgbClr val="9F2241"/>
                    </a:solidFill>
                  </a:tcPr>
                </a:tc>
                <a:tc>
                  <a:txBody>
                    <a:bodyPr/>
                    <a:lstStyle/>
                    <a:p>
                      <a:pPr algn="ctr">
                        <a:defRPr sz="900" b="1">
                          <a:solidFill>
                            <a:srgbClr val="000000"/>
                          </a:solidFill>
                          <a:latin typeface="Montserrat"/>
                        </a:defRPr>
                      </a:pPr>
                      <a:r>
                        <a:t>696,285</a:t>
                      </a:r>
                    </a:p>
                  </a:txBody>
                  <a:tcPr anchor="ctr">
                    <a:solidFill>
                      <a:srgbClr val="EBD2D9"/>
                    </a:solidFill>
                  </a:tcPr>
                </a:tc>
                <a:tc>
                  <a:txBody>
                    <a:bodyPr/>
                    <a:lstStyle/>
                    <a:p>
                      <a:pPr algn="ctr">
                        <a:defRPr sz="900" b="1">
                          <a:solidFill>
                            <a:srgbClr val="000000"/>
                          </a:solidFill>
                          <a:latin typeface="Montserrat"/>
                        </a:defRPr>
                      </a:pPr>
                      <a:r>
                        <a:t>773,005</a:t>
                      </a:r>
                    </a:p>
                  </a:txBody>
                  <a:tcPr anchor="ctr">
                    <a:solidFill>
                      <a:srgbClr val="EBD2D9"/>
                    </a:solidFill>
                  </a:tcPr>
                </a:tc>
                <a:tc>
                  <a:txBody>
                    <a:bodyPr/>
                    <a:lstStyle/>
                    <a:p>
                      <a:pPr algn="ctr">
                        <a:defRPr sz="900" b="1">
                          <a:solidFill>
                            <a:srgbClr val="000000"/>
                          </a:solidFill>
                          <a:latin typeface="Montserrat"/>
                        </a:defRPr>
                      </a:pPr>
                      <a:r>
                        <a:t>11%</a:t>
                      </a:r>
                    </a:p>
                  </a:txBody>
                  <a:tcPr anchor="ct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nchor="ctr">
                    <a:solidFill>
                      <a:srgbClr val="9F2241"/>
                    </a:solidFill>
                  </a:tcPr>
                </a:tc>
                <a:tc>
                  <a:txBody>
                    <a:bodyPr/>
                    <a:lstStyle/>
                    <a:p>
                      <a:pPr algn="ctr">
                        <a:defRPr sz="900" b="1">
                          <a:solidFill>
                            <a:srgbClr val="000000"/>
                          </a:solidFill>
                          <a:latin typeface="Montserrat"/>
                        </a:defRPr>
                      </a:pPr>
                      <a:r>
                        <a:rPr dirty="0"/>
                        <a:t>385,762</a:t>
                      </a:r>
                    </a:p>
                  </a:txBody>
                  <a:tcPr anchor="ctr">
                    <a:solidFill>
                      <a:srgbClr val="EBD2D9"/>
                    </a:solidFill>
                  </a:tcPr>
                </a:tc>
                <a:tc>
                  <a:txBody>
                    <a:bodyPr/>
                    <a:lstStyle/>
                    <a:p>
                      <a:pPr algn="ctr">
                        <a:defRPr sz="900" b="1">
                          <a:solidFill>
                            <a:srgbClr val="000000"/>
                          </a:solidFill>
                          <a:latin typeface="Montserrat"/>
                        </a:defRPr>
                      </a:pPr>
                      <a:r>
                        <a:t>454,687</a:t>
                      </a:r>
                    </a:p>
                  </a:txBody>
                  <a:tcPr anchor="ctr">
                    <a:solidFill>
                      <a:srgbClr val="EBD2D9"/>
                    </a:solidFill>
                  </a:tcPr>
                </a:tc>
                <a:tc>
                  <a:txBody>
                    <a:bodyPr/>
                    <a:lstStyle/>
                    <a:p>
                      <a:pPr algn="ctr">
                        <a:defRPr sz="900" b="1">
                          <a:solidFill>
                            <a:srgbClr val="000000"/>
                          </a:solidFill>
                          <a:latin typeface="Montserrat"/>
                        </a:defRPr>
                      </a:pPr>
                      <a:r>
                        <a:t>18%</a:t>
                      </a:r>
                    </a:p>
                  </a:txBody>
                  <a:tcPr anchor="ct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nchor="ctr">
                    <a:solidFill>
                      <a:srgbClr val="DDC9A3"/>
                    </a:solidFill>
                  </a:tcPr>
                </a:tc>
                <a:tc>
                  <a:txBody>
                    <a:bodyPr/>
                    <a:lstStyle/>
                    <a:p>
                      <a:pPr algn="ctr">
                        <a:defRPr sz="900" b="1">
                          <a:solidFill>
                            <a:srgbClr val="000000"/>
                          </a:solidFill>
                          <a:latin typeface="Montserrat"/>
                        </a:defRPr>
                      </a:pPr>
                      <a:r>
                        <a:rPr dirty="0"/>
                        <a:t>157,793</a:t>
                      </a:r>
                    </a:p>
                  </a:txBody>
                  <a:tcPr anchor="ctr">
                    <a:solidFill>
                      <a:srgbClr val="F8F4EC"/>
                    </a:solidFill>
                  </a:tcPr>
                </a:tc>
                <a:tc>
                  <a:txBody>
                    <a:bodyPr/>
                    <a:lstStyle/>
                    <a:p>
                      <a:pPr algn="ctr">
                        <a:defRPr sz="900" b="1">
                          <a:solidFill>
                            <a:srgbClr val="000000"/>
                          </a:solidFill>
                          <a:latin typeface="Montserrat"/>
                        </a:defRPr>
                      </a:pPr>
                      <a:r>
                        <a:t>159,291</a:t>
                      </a:r>
                    </a:p>
                  </a:txBody>
                  <a:tcPr anchor="ctr">
                    <a:solidFill>
                      <a:srgbClr val="F8F4EC"/>
                    </a:solidFill>
                  </a:tcPr>
                </a:tc>
                <a:tc>
                  <a:txBody>
                    <a:bodyPr/>
                    <a:lstStyle/>
                    <a:p>
                      <a:pPr algn="ctr">
                        <a:defRPr sz="900" b="1">
                          <a:solidFill>
                            <a:srgbClr val="000000"/>
                          </a:solidFill>
                          <a:latin typeface="Montserrat"/>
                        </a:defRPr>
                      </a:pPr>
                      <a:r>
                        <a:t>1%</a:t>
                      </a:r>
                    </a:p>
                  </a:txBody>
                  <a:tcPr anchor="ct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nchor="ctr">
                    <a:solidFill>
                      <a:srgbClr val="FFFFFF"/>
                    </a:solidFill>
                  </a:tcPr>
                </a:tc>
                <a:tc>
                  <a:txBody>
                    <a:bodyPr/>
                    <a:lstStyle/>
                    <a:p>
                      <a:pPr algn="ctr">
                        <a:defRPr sz="900">
                          <a:solidFill>
                            <a:srgbClr val="000000"/>
                          </a:solidFill>
                          <a:latin typeface="Montserrat"/>
                        </a:defRPr>
                      </a:pPr>
                      <a:r>
                        <a:rPr dirty="0"/>
                        <a:t>47,963</a:t>
                      </a:r>
                    </a:p>
                  </a:txBody>
                  <a:tcPr anchor="ctr">
                    <a:solidFill>
                      <a:srgbClr val="FFFFFF"/>
                    </a:solidFill>
                  </a:tcPr>
                </a:tc>
                <a:tc>
                  <a:txBody>
                    <a:bodyPr/>
                    <a:lstStyle/>
                    <a:p>
                      <a:pPr algn="ctr">
                        <a:defRPr sz="900">
                          <a:solidFill>
                            <a:srgbClr val="000000"/>
                          </a:solidFill>
                          <a:latin typeface="Montserrat"/>
                        </a:defRPr>
                      </a:pPr>
                      <a:r>
                        <a:t>67,767</a:t>
                      </a:r>
                    </a:p>
                  </a:txBody>
                  <a:tcPr anchor="ctr">
                    <a:solidFill>
                      <a:srgbClr val="FFFFFF"/>
                    </a:solidFill>
                  </a:tcPr>
                </a:tc>
                <a:tc>
                  <a:txBody>
                    <a:bodyPr/>
                    <a:lstStyle/>
                    <a:p>
                      <a:pPr algn="ctr">
                        <a:defRPr sz="900">
                          <a:solidFill>
                            <a:srgbClr val="000000"/>
                          </a:solidFill>
                          <a:latin typeface="Montserrat"/>
                        </a:defRPr>
                      </a:pPr>
                      <a:r>
                        <a:t>41%</a:t>
                      </a:r>
                    </a:p>
                  </a:txBody>
                  <a:tcPr anchor="ct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nchor="ctr">
                    <a:solidFill>
                      <a:srgbClr val="FFFFFF"/>
                    </a:solidFill>
                  </a:tcPr>
                </a:tc>
                <a:tc>
                  <a:txBody>
                    <a:bodyPr/>
                    <a:lstStyle/>
                    <a:p>
                      <a:pPr algn="ctr">
                        <a:defRPr sz="900">
                          <a:solidFill>
                            <a:srgbClr val="000000"/>
                          </a:solidFill>
                          <a:latin typeface="Montserrat"/>
                        </a:defRPr>
                      </a:pPr>
                      <a:r>
                        <a:rPr dirty="0"/>
                        <a:t>6,956</a:t>
                      </a:r>
                    </a:p>
                  </a:txBody>
                  <a:tcPr anchor="ctr">
                    <a:solidFill>
                      <a:srgbClr val="FFFFFF"/>
                    </a:solidFill>
                  </a:tcPr>
                </a:tc>
                <a:tc>
                  <a:txBody>
                    <a:bodyPr/>
                    <a:lstStyle/>
                    <a:p>
                      <a:pPr algn="ctr">
                        <a:defRPr sz="900">
                          <a:solidFill>
                            <a:srgbClr val="000000"/>
                          </a:solidFill>
                          <a:latin typeface="Montserrat"/>
                        </a:defRPr>
                      </a:pPr>
                      <a:r>
                        <a:t>6,128</a:t>
                      </a:r>
                    </a:p>
                  </a:txBody>
                  <a:tcPr anchor="ctr">
                    <a:solidFill>
                      <a:srgbClr val="FFFFFF"/>
                    </a:solidFill>
                  </a:tcPr>
                </a:tc>
                <a:tc>
                  <a:txBody>
                    <a:bodyPr/>
                    <a:lstStyle/>
                    <a:p>
                      <a:pPr algn="ctr">
                        <a:defRPr sz="900">
                          <a:solidFill>
                            <a:srgbClr val="000000"/>
                          </a:solidFill>
                          <a:latin typeface="Montserrat"/>
                        </a:defRPr>
                      </a:pPr>
                      <a:r>
                        <a:t>-12%</a:t>
                      </a:r>
                    </a:p>
                  </a:txBody>
                  <a:tcPr anchor="ct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nchor="ctr">
                    <a:solidFill>
                      <a:srgbClr val="006455"/>
                    </a:solidFill>
                  </a:tcPr>
                </a:tc>
                <a:tc>
                  <a:txBody>
                    <a:bodyPr/>
                    <a:lstStyle/>
                    <a:p>
                      <a:pPr algn="ctr">
                        <a:defRPr sz="900" b="1">
                          <a:solidFill>
                            <a:srgbClr val="000000"/>
                          </a:solidFill>
                          <a:latin typeface="Montserrat"/>
                        </a:defRPr>
                      </a:pPr>
                      <a:r>
                        <a:rPr dirty="0"/>
                        <a:t>173,050</a:t>
                      </a:r>
                    </a:p>
                  </a:txBody>
                  <a:tcPr anchor="ctr">
                    <a:solidFill>
                      <a:srgbClr val="CCE0DD"/>
                    </a:solidFill>
                  </a:tcPr>
                </a:tc>
                <a:tc>
                  <a:txBody>
                    <a:bodyPr/>
                    <a:lstStyle/>
                    <a:p>
                      <a:pPr algn="ctr">
                        <a:defRPr sz="900" b="1">
                          <a:solidFill>
                            <a:srgbClr val="000000"/>
                          </a:solidFill>
                          <a:latin typeface="Montserrat"/>
                        </a:defRPr>
                      </a:pPr>
                      <a:r>
                        <a:rPr dirty="0"/>
                        <a:t>180,463</a:t>
                      </a:r>
                    </a:p>
                  </a:txBody>
                  <a:tcPr anchor="ctr">
                    <a:solidFill>
                      <a:srgbClr val="CCE0DD"/>
                    </a:solidFill>
                  </a:tcPr>
                </a:tc>
                <a:tc>
                  <a:txBody>
                    <a:bodyPr/>
                    <a:lstStyle/>
                    <a:p>
                      <a:pPr algn="ctr">
                        <a:defRPr sz="900" b="1">
                          <a:solidFill>
                            <a:srgbClr val="000000"/>
                          </a:solidFill>
                          <a:latin typeface="Montserrat"/>
                        </a:defRPr>
                      </a:pPr>
                      <a:r>
                        <a:t>4%</a:t>
                      </a:r>
                    </a:p>
                  </a:txBody>
                  <a:tcPr anchor="ct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nchor="ctr">
                    <a:solidFill>
                      <a:srgbClr val="FFFFFF"/>
                    </a:solidFill>
                  </a:tcPr>
                </a:tc>
                <a:tc>
                  <a:txBody>
                    <a:bodyPr/>
                    <a:lstStyle/>
                    <a:p>
                      <a:pPr algn="ctr">
                        <a:defRPr sz="900">
                          <a:solidFill>
                            <a:srgbClr val="000000"/>
                          </a:solidFill>
                          <a:latin typeface="Montserrat"/>
                        </a:defRPr>
                      </a:pPr>
                      <a:r>
                        <a:t>155,606</a:t>
                      </a:r>
                    </a:p>
                  </a:txBody>
                  <a:tcPr anchor="ctr">
                    <a:solidFill>
                      <a:srgbClr val="FFFFFF"/>
                    </a:solidFill>
                  </a:tcPr>
                </a:tc>
                <a:tc>
                  <a:txBody>
                    <a:bodyPr/>
                    <a:lstStyle/>
                    <a:p>
                      <a:pPr algn="ctr">
                        <a:defRPr sz="900">
                          <a:solidFill>
                            <a:srgbClr val="000000"/>
                          </a:solidFill>
                          <a:latin typeface="Montserrat"/>
                        </a:defRPr>
                      </a:pPr>
                      <a:r>
                        <a:rPr dirty="0"/>
                        <a:t>171,040</a:t>
                      </a:r>
                    </a:p>
                  </a:txBody>
                  <a:tcPr anchor="ctr">
                    <a:solidFill>
                      <a:srgbClr val="FFFFFF"/>
                    </a:solidFill>
                  </a:tcPr>
                </a:tc>
                <a:tc>
                  <a:txBody>
                    <a:bodyPr/>
                    <a:lstStyle/>
                    <a:p>
                      <a:pPr algn="ctr">
                        <a:defRPr sz="900">
                          <a:solidFill>
                            <a:srgbClr val="000000"/>
                          </a:solidFill>
                          <a:latin typeface="Montserrat"/>
                        </a:defRPr>
                      </a:pPr>
                      <a:r>
                        <a:t>10%</a:t>
                      </a:r>
                    </a:p>
                  </a:txBody>
                  <a:tcPr anchor="ct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nchor="ctr">
                    <a:solidFill>
                      <a:srgbClr val="FFFFFF"/>
                    </a:solidFill>
                  </a:tcPr>
                </a:tc>
                <a:tc>
                  <a:txBody>
                    <a:bodyPr/>
                    <a:lstStyle/>
                    <a:p>
                      <a:pPr algn="ctr">
                        <a:defRPr sz="900">
                          <a:solidFill>
                            <a:srgbClr val="000000"/>
                          </a:solidFill>
                          <a:latin typeface="Montserrat"/>
                        </a:defRPr>
                      </a:pPr>
                      <a:r>
                        <a:t>15,812</a:t>
                      </a:r>
                    </a:p>
                  </a:txBody>
                  <a:tcPr anchor="ctr">
                    <a:solidFill>
                      <a:srgbClr val="FFFFFF"/>
                    </a:solidFill>
                  </a:tcPr>
                </a:tc>
                <a:tc>
                  <a:txBody>
                    <a:bodyPr/>
                    <a:lstStyle/>
                    <a:p>
                      <a:pPr algn="ctr">
                        <a:defRPr sz="900">
                          <a:solidFill>
                            <a:srgbClr val="000000"/>
                          </a:solidFill>
                          <a:latin typeface="Montserrat"/>
                        </a:defRPr>
                      </a:pPr>
                      <a:r>
                        <a:rPr dirty="0"/>
                        <a:t>7,359</a:t>
                      </a:r>
                    </a:p>
                  </a:txBody>
                  <a:tcPr anchor="ctr">
                    <a:solidFill>
                      <a:srgbClr val="FFFFFF"/>
                    </a:solidFill>
                  </a:tcPr>
                </a:tc>
                <a:tc>
                  <a:txBody>
                    <a:bodyPr/>
                    <a:lstStyle/>
                    <a:p>
                      <a:pPr algn="ctr">
                        <a:defRPr sz="900">
                          <a:solidFill>
                            <a:srgbClr val="000000"/>
                          </a:solidFill>
                          <a:latin typeface="Montserrat"/>
                        </a:defRPr>
                      </a:pPr>
                      <a:r>
                        <a:t>-53%</a:t>
                      </a:r>
                    </a:p>
                  </a:txBody>
                  <a:tcPr anchor="ct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nchor="ctr">
                    <a:solidFill>
                      <a:srgbClr val="FFFFFF"/>
                    </a:solidFill>
                  </a:tcPr>
                </a:tc>
                <a:tc>
                  <a:txBody>
                    <a:bodyPr/>
                    <a:lstStyle/>
                    <a:p>
                      <a:pPr algn="ctr">
                        <a:defRPr sz="900">
                          <a:solidFill>
                            <a:srgbClr val="000000"/>
                          </a:solidFill>
                          <a:latin typeface="Montserrat"/>
                        </a:defRPr>
                      </a:pPr>
                      <a:r>
                        <a:t>1,632</a:t>
                      </a:r>
                    </a:p>
                  </a:txBody>
                  <a:tcPr anchor="ctr">
                    <a:solidFill>
                      <a:srgbClr val="FFFFFF"/>
                    </a:solidFill>
                  </a:tcPr>
                </a:tc>
                <a:tc>
                  <a:txBody>
                    <a:bodyPr/>
                    <a:lstStyle/>
                    <a:p>
                      <a:pPr algn="ctr">
                        <a:defRPr sz="900">
                          <a:solidFill>
                            <a:srgbClr val="000000"/>
                          </a:solidFill>
                          <a:latin typeface="Montserrat"/>
                        </a:defRPr>
                      </a:pPr>
                      <a:r>
                        <a:rPr dirty="0"/>
                        <a:t>2,064</a:t>
                      </a:r>
                    </a:p>
                  </a:txBody>
                  <a:tcPr anchor="ctr">
                    <a:solidFill>
                      <a:srgbClr val="FFFFFF"/>
                    </a:solidFill>
                  </a:tcPr>
                </a:tc>
                <a:tc>
                  <a:txBody>
                    <a:bodyPr/>
                    <a:lstStyle/>
                    <a:p>
                      <a:pPr algn="ctr">
                        <a:defRPr sz="900">
                          <a:solidFill>
                            <a:srgbClr val="000000"/>
                          </a:solidFill>
                          <a:latin typeface="Montserrat"/>
                        </a:defRPr>
                      </a:pPr>
                      <a:r>
                        <a:t>26%</a:t>
                      </a:r>
                    </a:p>
                  </a:txBody>
                  <a:tcPr anchor="ct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nchor="ctr">
                    <a:solidFill>
                      <a:srgbClr val="9F2241"/>
                    </a:solidFill>
                  </a:tcPr>
                </a:tc>
                <a:tc>
                  <a:txBody>
                    <a:bodyPr/>
                    <a:lstStyle/>
                    <a:p>
                      <a:pPr algn="ctr">
                        <a:defRPr sz="900" b="1">
                          <a:solidFill>
                            <a:srgbClr val="000000"/>
                          </a:solidFill>
                          <a:latin typeface="Montserrat"/>
                        </a:defRPr>
                      </a:pPr>
                      <a:r>
                        <a:t>310,523</a:t>
                      </a:r>
                    </a:p>
                  </a:txBody>
                  <a:tcPr anchor="ctr">
                    <a:solidFill>
                      <a:srgbClr val="EBD2D9"/>
                    </a:solidFill>
                  </a:tcPr>
                </a:tc>
                <a:tc>
                  <a:txBody>
                    <a:bodyPr/>
                    <a:lstStyle/>
                    <a:p>
                      <a:pPr algn="ctr">
                        <a:defRPr sz="900" b="1">
                          <a:solidFill>
                            <a:srgbClr val="000000"/>
                          </a:solidFill>
                          <a:latin typeface="Montserrat"/>
                        </a:defRPr>
                      </a:pPr>
                      <a:r>
                        <a:rPr dirty="0"/>
                        <a:t>318,318</a:t>
                      </a:r>
                    </a:p>
                  </a:txBody>
                  <a:tcPr anchor="ctr">
                    <a:solidFill>
                      <a:srgbClr val="EBD2D9"/>
                    </a:solidFill>
                  </a:tcPr>
                </a:tc>
                <a:tc>
                  <a:txBody>
                    <a:bodyPr/>
                    <a:lstStyle/>
                    <a:p>
                      <a:pPr algn="ctr">
                        <a:defRPr sz="900" b="1">
                          <a:solidFill>
                            <a:srgbClr val="000000"/>
                          </a:solidFill>
                          <a:latin typeface="Montserrat"/>
                        </a:defRPr>
                      </a:pPr>
                      <a:r>
                        <a:t>3%</a:t>
                      </a:r>
                    </a:p>
                  </a:txBody>
                  <a:tcPr anchor="ct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nchor="ctr">
                    <a:solidFill>
                      <a:srgbClr val="FFFFFF"/>
                    </a:solidFill>
                  </a:tcPr>
                </a:tc>
                <a:tc>
                  <a:txBody>
                    <a:bodyPr/>
                    <a:lstStyle/>
                    <a:p>
                      <a:pPr algn="ctr">
                        <a:defRPr sz="900">
                          <a:solidFill>
                            <a:srgbClr val="000000"/>
                          </a:solidFill>
                          <a:latin typeface="Montserrat"/>
                        </a:defRPr>
                      </a:pPr>
                      <a:r>
                        <a:t>95,245</a:t>
                      </a:r>
                    </a:p>
                  </a:txBody>
                  <a:tcPr anchor="ctr">
                    <a:solidFill>
                      <a:srgbClr val="FFFFFF"/>
                    </a:solidFill>
                  </a:tcPr>
                </a:tc>
                <a:tc>
                  <a:txBody>
                    <a:bodyPr/>
                    <a:lstStyle/>
                    <a:p>
                      <a:pPr algn="ctr">
                        <a:defRPr sz="900">
                          <a:solidFill>
                            <a:srgbClr val="000000"/>
                          </a:solidFill>
                          <a:latin typeface="Montserrat"/>
                        </a:defRPr>
                      </a:pPr>
                      <a:r>
                        <a:rPr dirty="0"/>
                        <a:t>102,315</a:t>
                      </a:r>
                    </a:p>
                  </a:txBody>
                  <a:tcPr anchor="ctr">
                    <a:solidFill>
                      <a:srgbClr val="FFFFFF"/>
                    </a:solidFill>
                  </a:tcPr>
                </a:tc>
                <a:tc>
                  <a:txBody>
                    <a:bodyPr/>
                    <a:lstStyle/>
                    <a:p>
                      <a:pPr algn="ctr">
                        <a:defRPr sz="900">
                          <a:solidFill>
                            <a:srgbClr val="000000"/>
                          </a:solidFill>
                          <a:latin typeface="Montserrat"/>
                        </a:defRPr>
                      </a:pPr>
                      <a:r>
                        <a:rPr dirty="0"/>
                        <a:t>7%</a:t>
                      </a:r>
                    </a:p>
                  </a:txBody>
                  <a:tcPr anchor="ct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nchor="ctr">
                    <a:solidFill>
                      <a:srgbClr val="FFFFFF"/>
                    </a:solidFill>
                  </a:tcPr>
                </a:tc>
                <a:tc>
                  <a:txBody>
                    <a:bodyPr/>
                    <a:lstStyle/>
                    <a:p>
                      <a:pPr algn="ctr">
                        <a:defRPr sz="900">
                          <a:solidFill>
                            <a:srgbClr val="000000"/>
                          </a:solidFill>
                          <a:latin typeface="Montserrat"/>
                        </a:defRPr>
                      </a:pPr>
                      <a:r>
                        <a:t>131,724</a:t>
                      </a:r>
                    </a:p>
                  </a:txBody>
                  <a:tcPr anchor="ctr">
                    <a:solidFill>
                      <a:srgbClr val="FFFFFF"/>
                    </a:solidFill>
                  </a:tcPr>
                </a:tc>
                <a:tc>
                  <a:txBody>
                    <a:bodyPr/>
                    <a:lstStyle/>
                    <a:p>
                      <a:pPr algn="ctr">
                        <a:defRPr sz="900">
                          <a:solidFill>
                            <a:srgbClr val="000000"/>
                          </a:solidFill>
                          <a:latin typeface="Montserrat"/>
                        </a:defRPr>
                      </a:pPr>
                      <a:r>
                        <a:t>108,881</a:t>
                      </a:r>
                    </a:p>
                  </a:txBody>
                  <a:tcPr anchor="ctr">
                    <a:solidFill>
                      <a:srgbClr val="FFFFFF"/>
                    </a:solidFill>
                  </a:tcPr>
                </a:tc>
                <a:tc>
                  <a:txBody>
                    <a:bodyPr/>
                    <a:lstStyle/>
                    <a:p>
                      <a:pPr algn="ctr">
                        <a:defRPr sz="900">
                          <a:solidFill>
                            <a:srgbClr val="000000"/>
                          </a:solidFill>
                          <a:latin typeface="Montserrat"/>
                        </a:defRPr>
                      </a:pPr>
                      <a:r>
                        <a:rPr dirty="0"/>
                        <a:t>-17%</a:t>
                      </a:r>
                    </a:p>
                  </a:txBody>
                  <a:tcPr anchor="ct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nchor="ctr">
                    <a:solidFill>
                      <a:srgbClr val="FFFFFF"/>
                    </a:solidFill>
                  </a:tcPr>
                </a:tc>
                <a:tc>
                  <a:txBody>
                    <a:bodyPr/>
                    <a:lstStyle/>
                    <a:p>
                      <a:pPr algn="ctr">
                        <a:defRPr sz="900">
                          <a:solidFill>
                            <a:srgbClr val="000000"/>
                          </a:solidFill>
                          <a:latin typeface="Montserrat"/>
                        </a:defRPr>
                      </a:pPr>
                      <a:r>
                        <a:t>83,554</a:t>
                      </a:r>
                    </a:p>
                  </a:txBody>
                  <a:tcPr anchor="ctr">
                    <a:solidFill>
                      <a:srgbClr val="FFFFFF"/>
                    </a:solidFill>
                  </a:tcPr>
                </a:tc>
                <a:tc>
                  <a:txBody>
                    <a:bodyPr/>
                    <a:lstStyle/>
                    <a:p>
                      <a:pPr algn="ctr">
                        <a:defRPr sz="900">
                          <a:solidFill>
                            <a:srgbClr val="000000"/>
                          </a:solidFill>
                          <a:latin typeface="Montserrat"/>
                        </a:defRPr>
                      </a:pPr>
                      <a:r>
                        <a:t>107,122</a:t>
                      </a:r>
                    </a:p>
                  </a:txBody>
                  <a:tcPr anchor="ctr">
                    <a:solidFill>
                      <a:srgbClr val="FFFFFF"/>
                    </a:solidFill>
                  </a:tcPr>
                </a:tc>
                <a:tc>
                  <a:txBody>
                    <a:bodyPr/>
                    <a:lstStyle/>
                    <a:p>
                      <a:pPr algn="ctr">
                        <a:defRPr sz="900">
                          <a:solidFill>
                            <a:srgbClr val="000000"/>
                          </a:solidFill>
                          <a:latin typeface="Montserrat"/>
                        </a:defRPr>
                      </a:pPr>
                      <a:r>
                        <a:rPr dirty="0"/>
                        <a:t>28%</a:t>
                      </a:r>
                    </a:p>
                  </a:txBody>
                  <a:tcPr anchor="ctr">
                    <a:solidFill>
                      <a:srgbClr val="FFFFFF"/>
                    </a:solidFill>
                  </a:tcPr>
                </a:tc>
                <a:extLst>
                  <a:ext uri="{0D108BD9-81ED-4DB2-BD59-A6C34878D82A}">
                    <a16:rowId xmlns:a16="http://schemas.microsoft.com/office/drawing/2014/main" val="10013"/>
                  </a:ext>
                </a:extLst>
              </a:tr>
            </a:tbl>
          </a:graphicData>
        </a:graphic>
      </p:graphicFrame>
      <p:graphicFrame>
        <p:nvGraphicFramePr>
          <p:cNvPr id="138" name="Table 137"/>
          <p:cNvGraphicFramePr>
            <a:graphicFrameLocks noGrp="1"/>
          </p:cNvGraphicFramePr>
          <p:nvPr>
            <p:extLst>
              <p:ext uri="{D42A27DB-BD31-4B8C-83A1-F6EECF244321}">
                <p14:modId xmlns:p14="http://schemas.microsoft.com/office/powerpoint/2010/main" val="616687075"/>
              </p:ext>
            </p:extLst>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rPr dirty="0"/>
                        <a:t>mayo</a:t>
                      </a:r>
                    </a:p>
                  </a:txBody>
                  <a:tcPr anchor="ct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rPr dirty="0" err="1"/>
                        <a:t>Variación</a:t>
                      </a:r>
                      <a:endParaRPr dirty="0"/>
                    </a:p>
                  </a:txBody>
                  <a:tcPr marL="0" marR="0" marT="216000" marB="0">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rPr dirty="0"/>
                        <a:t>2025</a:t>
                      </a:r>
                    </a:p>
                  </a:txBody>
                  <a:tcPr anchor="ctr">
                    <a:solidFill>
                      <a:srgbClr val="006455"/>
                    </a:solidFill>
                  </a:tcPr>
                </a:tc>
                <a:tc>
                  <a:txBody>
                    <a:bodyPr/>
                    <a:lstStyle/>
                    <a:p>
                      <a:pPr algn="ctr">
                        <a:defRPr sz="900" b="1">
                          <a:solidFill>
                            <a:srgbClr val="FFFFFF"/>
                          </a:solidFill>
                          <a:latin typeface="Montserrat"/>
                        </a:defRPr>
                      </a:pPr>
                      <a:r>
                        <a:rPr dirty="0"/>
                        <a:t>2026</a:t>
                      </a:r>
                    </a:p>
                  </a:txBody>
                  <a:tcPr anchor="ct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rPr dirty="0"/>
                        <a:t>1,213</a:t>
                      </a:r>
                    </a:p>
                  </a:txBody>
                  <a:tcPr anchor="ctr">
                    <a:solidFill>
                      <a:srgbClr val="F8F4EC"/>
                    </a:solidFill>
                  </a:tcPr>
                </a:tc>
                <a:tc>
                  <a:txBody>
                    <a:bodyPr/>
                    <a:lstStyle/>
                    <a:p>
                      <a:pPr algn="ctr">
                        <a:defRPr sz="900" b="1">
                          <a:latin typeface="Montserrat"/>
                        </a:defRPr>
                      </a:pPr>
                      <a:r>
                        <a:rPr dirty="0"/>
                        <a:t>1,083</a:t>
                      </a:r>
                    </a:p>
                  </a:txBody>
                  <a:tcPr anchor="ctr">
                    <a:solidFill>
                      <a:srgbClr val="F8F4EC"/>
                    </a:solidFill>
                  </a:tcPr>
                </a:tc>
                <a:tc>
                  <a:txBody>
                    <a:bodyPr/>
                    <a:lstStyle/>
                    <a:p>
                      <a:pPr algn="ctr">
                        <a:defRPr sz="900" b="1">
                          <a:solidFill>
                            <a:srgbClr val="A61C00"/>
                          </a:solidFill>
                          <a:latin typeface="Montserrat"/>
                        </a:defRPr>
                      </a:pPr>
                      <a:r>
                        <a:rPr dirty="0"/>
                        <a:t>-10%</a:t>
                      </a:r>
                    </a:p>
                  </a:txBody>
                  <a:tcPr anchor="ctr">
                    <a:solidFill>
                      <a:srgbClr val="F8F4EC"/>
                    </a:solidFill>
                  </a:tcPr>
                </a:tc>
                <a:extLst>
                  <a:ext uri="{0D108BD9-81ED-4DB2-BD59-A6C34878D82A}">
                    <a16:rowId xmlns:a16="http://schemas.microsoft.com/office/drawing/2014/main" val="10002"/>
                  </a:ext>
                </a:extLst>
              </a:tr>
            </a:tbl>
          </a:graphicData>
        </a:graphic>
      </p:graphicFrame>
      <p:graphicFrame>
        <p:nvGraphicFramePr>
          <p:cNvPr id="139" name="Table 138"/>
          <p:cNvGraphicFramePr>
            <a:graphicFrameLocks noGrp="1"/>
          </p:cNvGraphicFramePr>
          <p:nvPr>
            <p:extLst>
              <p:ext uri="{D42A27DB-BD31-4B8C-83A1-F6EECF244321}">
                <p14:modId xmlns:p14="http://schemas.microsoft.com/office/powerpoint/2010/main" val="1404501089"/>
              </p:ext>
            </p:extLst>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rPr dirty="0"/>
                        <a:t>mayo</a:t>
                      </a:r>
                    </a:p>
                  </a:txBody>
                  <a:tcPr anchor="ct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rPr dirty="0" err="1"/>
                        <a:t>Variación</a:t>
                      </a:r>
                      <a:endParaRPr dirty="0"/>
                    </a:p>
                  </a:txBody>
                  <a:tcPr marL="0" marR="0" marT="216000" marB="0">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rPr dirty="0"/>
                        <a:t>2026</a:t>
                      </a:r>
                    </a:p>
                  </a:txBody>
                  <a:tcPr anchor="ct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11,374</a:t>
                      </a:r>
                    </a:p>
                  </a:txBody>
                  <a:tcPr anchor="ctr">
                    <a:solidFill>
                      <a:srgbClr val="F8F4EC"/>
                    </a:solidFill>
                  </a:tcPr>
                </a:tc>
                <a:tc>
                  <a:txBody>
                    <a:bodyPr/>
                    <a:lstStyle/>
                    <a:p>
                      <a:pPr algn="ctr">
                        <a:defRPr sz="900" b="1">
                          <a:latin typeface="Montserrat"/>
                        </a:defRPr>
                      </a:pPr>
                      <a:r>
                        <a:t>13,720</a:t>
                      </a:r>
                    </a:p>
                  </a:txBody>
                  <a:tcPr anchor="ctr">
                    <a:solidFill>
                      <a:srgbClr val="F8F4EC"/>
                    </a:solidFill>
                  </a:tcPr>
                </a:tc>
                <a:tc>
                  <a:txBody>
                    <a:bodyPr/>
                    <a:lstStyle/>
                    <a:p>
                      <a:pPr algn="ctr">
                        <a:defRPr sz="900" b="1">
                          <a:latin typeface="Montserrat"/>
                        </a:defRPr>
                      </a:pPr>
                      <a:r>
                        <a:rPr dirty="0"/>
                        <a:t>21%</a:t>
                      </a:r>
                    </a:p>
                  </a:txBody>
                  <a:tcPr anchor="ctr">
                    <a:solidFill>
                      <a:srgbClr val="F8F4EC"/>
                    </a:solidFill>
                  </a:tcPr>
                </a:tc>
                <a:extLst>
                  <a:ext uri="{0D108BD9-81ED-4DB2-BD59-A6C34878D82A}">
                    <a16:rowId xmlns:a16="http://schemas.microsoft.com/office/drawing/2014/main" val="10002"/>
                  </a:ext>
                </a:extLst>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2_gro.png"/>
          <p:cNvPicPr>
            <a:picLocks noChangeAspect="1"/>
          </p:cNvPicPr>
          <p:nvPr/>
        </p:nvPicPr>
        <p:blipFill>
          <a:blip r:embed="rId4"/>
          <a:stretch>
            <a:fillRect/>
          </a:stretch>
        </p:blipFill>
        <p:spPr>
          <a:xfrm>
            <a:off x="198000" y="1564898"/>
            <a:ext cx="5588490" cy="5128001"/>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10463397"/>
              </p:ext>
            </p:extLst>
          </p:nvPr>
        </p:nvGraphicFramePr>
        <p:xfrm>
          <a:off x="97200" y="6854400"/>
          <a:ext cx="4359600" cy="1262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rPr dirty="0" err="1"/>
                        <a:t>Nivel</a:t>
                      </a:r>
                      <a:endParaRPr dirty="0"/>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rPr dirty="0" err="1"/>
                        <a:t>Unidades</a:t>
                      </a:r>
                      <a:endParaRPr dirty="0"/>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dirty="0">
                          <a:latin typeface="Montserrat"/>
                        </a:rPr>
                        <a:t>1</a:t>
                      </a:r>
                      <a:r>
                        <a:rPr lang="es-MX" sz="1000" dirty="0">
                          <a:latin typeface="Montserrat"/>
                        </a:rPr>
                        <a:t>5</a:t>
                      </a:r>
                      <a:r>
                        <a:rPr lang="es-MX" sz="1050" baseline="30000" dirty="0">
                          <a:latin typeface="Montserrat"/>
                        </a:rPr>
                        <a:t>1</a:t>
                      </a:r>
                      <a:endParaRPr sz="800" baseline="30000" dirty="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dirty="0">
                          <a:latin typeface="Montserrat"/>
                        </a:rPr>
                        <a:t>8</a:t>
                      </a:r>
                      <a:r>
                        <a:rPr lang="es-MX" sz="1000" dirty="0">
                          <a:latin typeface="Montserrat"/>
                        </a:rPr>
                        <a:t>6</a:t>
                      </a:r>
                      <a:endParaRPr sz="1000" dirty="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27</a:t>
                      </a: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dirty="0">
                          <a:latin typeface="Montserrat"/>
                        </a:rPr>
                        <a:t>34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dirty="0">
                          <a:latin typeface="Montserrat"/>
                        </a:rPr>
                        <a:t>519</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223</a:t>
                      </a: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dirty="0">
                          <a:latin typeface="Montserrat"/>
                        </a:rPr>
                        <a:t>1</a:t>
                      </a:r>
                      <a:r>
                        <a:rPr lang="es-MX" sz="1000" dirty="0">
                          <a:latin typeface="Montserrat"/>
                        </a:rPr>
                        <a:t>20</a:t>
                      </a:r>
                      <a:endParaRPr sz="1000" dirty="0">
                        <a:latin typeface="Montserrat"/>
                      </a:endParaRPr>
                    </a:p>
                  </a:txBody>
                  <a:tcPr marL="10800" marR="10800" marT="10800" marB="10800" anchor="ctr">
                    <a:solidFill>
                      <a:srgbClr val="D3E9E7"/>
                    </a:solidFill>
                  </a:tcPr>
                </a:tc>
                <a:tc>
                  <a:txBody>
                    <a:bodyPr/>
                    <a:lstStyle/>
                    <a:p>
                      <a:pPr algn="ctr">
                        <a:defRPr sz="1000" b="1">
                          <a:solidFill>
                            <a:srgbClr val="006556"/>
                          </a:solidFill>
                          <a:latin typeface="Montserrat"/>
                        </a:defRPr>
                      </a:pPr>
                      <a:r>
                        <a:rPr sz="1000" dirty="0">
                          <a:latin typeface="Montserrat"/>
                        </a:rPr>
                        <a:t>519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dirty="0">
                          <a:latin typeface="Montserrat"/>
                        </a:rPr>
                        <a:t>250</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2319008784"/>
              </p:ext>
            </p:extLst>
          </p:nvPr>
        </p:nvGraphicFramePr>
        <p:xfrm>
          <a:off x="4536000" y="6854400"/>
          <a:ext cx="3096000" cy="1254550"/>
        </p:xfrm>
        <a:graphic>
          <a:graphicData uri="http://schemas.openxmlformats.org/drawingml/2006/table">
            <a:tbl>
              <a:tblPr firstRow="1" bandRow="1">
                <a:tableStyleId>{5C22544A-7EE6-4342-B048-85BDC9FD1C3A}</a:tableStyleId>
              </a:tblPr>
              <a:tblGrid>
                <a:gridCol w="846000">
                  <a:extLst>
                    <a:ext uri="{9D8B030D-6E8A-4147-A177-3AD203B41FA5}">
                      <a16:colId xmlns:a16="http://schemas.microsoft.com/office/drawing/2014/main" val="20000"/>
                    </a:ext>
                  </a:extLst>
                </a:gridCol>
                <a:gridCol w="846000">
                  <a:extLst>
                    <a:ext uri="{9D8B030D-6E8A-4147-A177-3AD203B41FA5}">
                      <a16:colId xmlns:a16="http://schemas.microsoft.com/office/drawing/2014/main" val="20001"/>
                    </a:ext>
                  </a:extLst>
                </a:gridCol>
                <a:gridCol w="846000">
                  <a:extLst>
                    <a:ext uri="{9D8B030D-6E8A-4147-A177-3AD203B41FA5}">
                      <a16:colId xmlns:a16="http://schemas.microsoft.com/office/drawing/2014/main" val="20002"/>
                    </a:ext>
                  </a:extLst>
                </a:gridCol>
                <a:gridCol w="558000">
                  <a:extLst>
                    <a:ext uri="{9D8B030D-6E8A-4147-A177-3AD203B41FA5}">
                      <a16:colId xmlns:a16="http://schemas.microsoft.com/office/drawing/2014/main" val="20003"/>
                    </a:ext>
                  </a:extLst>
                </a:gridCol>
              </a:tblGrid>
              <a:tr h="248400">
                <a:tc gridSpan="4">
                  <a:txBody>
                    <a:bodyPr/>
                    <a:lstStyle/>
                    <a:p>
                      <a:pPr algn="ctr">
                        <a:defRPr sz="1000" b="1">
                          <a:solidFill>
                            <a:srgbClr val="FFFFFF"/>
                          </a:solidFill>
                          <a:latin typeface="Montserrat"/>
                        </a:defRPr>
                      </a:pPr>
                      <a:r>
                        <a:rPr dirty="0"/>
                        <a:t>IMSS-COPLAMAR</a:t>
                      </a:r>
                    </a:p>
                  </a:txBody>
                  <a:tcPr marL="10800" marR="10800" marT="10800" marB="10800" anchor="ctr">
                    <a:solidFill>
                      <a:srgbClr val="BC955C"/>
                    </a:solidFill>
                  </a:tcPr>
                </a:tc>
                <a:tc hMerge="1">
                  <a:txBody>
                    <a:bodyPr/>
                    <a:lstStyle/>
                    <a:p>
                      <a:endParaRPr/>
                    </a:p>
                  </a:txBody>
                  <a:tcPr marL="10800" marR="10800" marT="10800" marB="10800" anchor="ctr"/>
                </a:tc>
                <a:tc hMerge="1">
                  <a:txBody>
                    <a:bodyPr/>
                    <a:lstStyle/>
                    <a:p>
                      <a:endParaRPr/>
                    </a:p>
                  </a:txBody>
                  <a:tcPr marL="10800" marR="10800" marT="10800" marB="10800" anchor="ctr"/>
                </a:tc>
                <a:tc hMerge="1">
                  <a:txBody>
                    <a:bodyPr/>
                    <a:lstStyle/>
                    <a:p>
                      <a:endParaRPr/>
                    </a:p>
                  </a:txBody>
                  <a:tcPr marL="10800" marR="10800" marT="10800" marB="10800" anchor="ctr"/>
                </a:tc>
                <a:extLst>
                  <a:ext uri="{0D108BD9-81ED-4DB2-BD59-A6C34878D82A}">
                    <a16:rowId xmlns:a16="http://schemas.microsoft.com/office/drawing/2014/main" val="10000"/>
                  </a:ext>
                </a:extLst>
              </a:tr>
              <a:tr h="248400">
                <a:tc>
                  <a:txBody>
                    <a:bodyPr/>
                    <a:lstStyle/>
                    <a:p>
                      <a:pPr algn="ctr">
                        <a:defRPr sz="1000" b="1">
                          <a:solidFill>
                            <a:srgbClr val="FFFFFF"/>
                          </a:solidFill>
                          <a:latin typeface="Montserrat"/>
                        </a:defRPr>
                      </a:pPr>
                      <a:r>
                        <a:rPr dirty="0" err="1"/>
                        <a:t>Nivel</a:t>
                      </a:r>
                      <a:endParaRPr dirty="0"/>
                    </a:p>
                  </a:txBody>
                  <a:tcPr marL="10800" marR="10800" marT="10800" marB="10800" anchor="ctr">
                    <a:solidFill>
                      <a:srgbClr val="BC955C"/>
                    </a:solidFill>
                  </a:tcPr>
                </a:tc>
                <a:tc>
                  <a:txBody>
                    <a:bodyPr/>
                    <a:lstStyle/>
                    <a:p>
                      <a:pPr algn="ctr">
                        <a:defRPr sz="1000" b="1">
                          <a:solidFill>
                            <a:srgbClr val="FFFFFF"/>
                          </a:solidFill>
                          <a:latin typeface="Montserrat"/>
                        </a:defRPr>
                      </a:pPr>
                      <a:r>
                        <a:rPr dirty="0" err="1"/>
                        <a:t>Unidades</a:t>
                      </a:r>
                      <a:endParaRPr dirty="0"/>
                    </a:p>
                  </a:txBody>
                  <a:tcPr marL="0" marR="0" marT="10800" marB="10800" anchor="ctr">
                    <a:solidFill>
                      <a:srgbClr val="BC955C"/>
                    </a:solidFill>
                  </a:tcPr>
                </a:tc>
                <a:tc>
                  <a:txBody>
                    <a:bodyPr/>
                    <a:lstStyle/>
                    <a:p>
                      <a:pPr algn="ctr">
                        <a:defRPr sz="1000" b="1">
                          <a:solidFill>
                            <a:srgbClr val="FFFFFF"/>
                          </a:solidFill>
                          <a:latin typeface="Montserrat"/>
                        </a:defRPr>
                      </a:pPr>
                      <a:r>
                        <a:t>Consultorios de MF</a:t>
                      </a:r>
                    </a:p>
                  </a:txBody>
                  <a:tcPr marL="0" marR="0" marT="10800" marB="10800" anchor="ctr">
                    <a:solidFill>
                      <a:srgbClr val="BC955C"/>
                    </a:solidFill>
                  </a:tcPr>
                </a:tc>
                <a:tc>
                  <a:txBody>
                    <a:bodyPr/>
                    <a:lstStyle/>
                    <a:p>
                      <a:pPr algn="ctr">
                        <a:defRPr sz="1000" b="1">
                          <a:solidFill>
                            <a:srgbClr val="FFFFFF"/>
                          </a:solidFill>
                          <a:latin typeface="Montserrat"/>
                        </a:defRPr>
                      </a:pPr>
                      <a:r>
                        <a:t>Camas</a:t>
                      </a:r>
                    </a:p>
                  </a:txBody>
                  <a:tcPr marL="0" marR="0" marT="10800" marB="10800" anchor="ctr">
                    <a:solidFill>
                      <a:srgbClr val="BC955C"/>
                    </a:solidFill>
                  </a:tcPr>
                </a:tc>
                <a:extLst>
                  <a:ext uri="{0D108BD9-81ED-4DB2-BD59-A6C34878D82A}">
                    <a16:rowId xmlns:a16="http://schemas.microsoft.com/office/drawing/2014/main" val="10001"/>
                  </a:ext>
                </a:extLst>
              </a:tr>
              <a:tr h="2416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dirty="0"/>
                        <a:t>1</a:t>
                      </a:r>
                      <a:r>
                        <a:rPr lang="es-MX" dirty="0"/>
                        <a:t>9</a:t>
                      </a:r>
                      <a:r>
                        <a:rPr lang="es-MX" sz="1050" baseline="30000" dirty="0"/>
                        <a:t>2</a:t>
                      </a:r>
                      <a:endParaRPr baseline="30000" dirty="0"/>
                    </a:p>
                  </a:txBody>
                  <a:tcPr marL="10800" marR="10800" marT="10800" marB="10800" anchor="ctr">
                    <a:solidFill>
                      <a:srgbClr val="FFFFFF"/>
                    </a:solidFill>
                  </a:tcPr>
                </a:tc>
                <a:tc>
                  <a:txBody>
                    <a:bodyPr/>
                    <a:lstStyle/>
                    <a:p>
                      <a:pPr algn="ctr">
                        <a:defRPr sz="1000">
                          <a:solidFill>
                            <a:srgbClr val="000000"/>
                          </a:solidFill>
                          <a:latin typeface="Montserrat"/>
                        </a:defRPr>
                      </a:pPr>
                      <a:r>
                        <a:t>22</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extLst>
                  <a:ext uri="{0D108BD9-81ED-4DB2-BD59-A6C34878D82A}">
                    <a16:rowId xmlns:a16="http://schemas.microsoft.com/office/drawing/2014/main" val="10002"/>
                  </a:ext>
                </a:extLst>
              </a:tr>
              <a:tr h="20955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dirty="0"/>
                        <a:t>1</a:t>
                      </a:r>
                    </a:p>
                  </a:txBody>
                  <a:tcPr marL="10800" marR="10800" marT="10800" marB="10800" anchor="ctr">
                    <a:solidFill>
                      <a:srgbClr val="EFEFEF"/>
                    </a:solidFill>
                  </a:tcPr>
                </a:tc>
                <a:tc>
                  <a:txBody>
                    <a:bodyPr/>
                    <a:lstStyle/>
                    <a:p>
                      <a:pPr algn="ctr">
                        <a:defRPr sz="1000">
                          <a:solidFill>
                            <a:srgbClr val="000000"/>
                          </a:solidFill>
                          <a:latin typeface="Montserrat"/>
                        </a:defRPr>
                      </a:pPr>
                      <a:r>
                        <a:t>4</a:t>
                      </a:r>
                    </a:p>
                  </a:txBody>
                  <a:tcPr marL="10800" marR="10800" marT="10800" marB="10800" anchor="ctr">
                    <a:solidFill>
                      <a:srgbClr val="EFEFEF"/>
                    </a:solidFill>
                  </a:tcPr>
                </a:tc>
                <a:tc>
                  <a:txBody>
                    <a:bodyPr/>
                    <a:lstStyle/>
                    <a:p>
                      <a:pPr algn="ctr">
                        <a:defRPr sz="1000">
                          <a:solidFill>
                            <a:srgbClr val="000000"/>
                          </a:solidFill>
                          <a:latin typeface="Montserrat"/>
                        </a:defRPr>
                      </a:pPr>
                      <a:r>
                        <a:t>30</a:t>
                      </a:r>
                    </a:p>
                  </a:txBody>
                  <a:tcPr marL="10800" marR="10800" marT="10800" marB="10800" anchor="ctr">
                    <a:solidFill>
                      <a:srgbClr val="EFEFEF"/>
                    </a:solidFill>
                  </a:tcPr>
                </a:tc>
                <a:extLst>
                  <a:ext uri="{0D108BD9-81ED-4DB2-BD59-A6C34878D82A}">
                    <a16:rowId xmlns:a16="http://schemas.microsoft.com/office/drawing/2014/main" val="10003"/>
                  </a:ext>
                </a:extLst>
              </a:tr>
              <a:tr h="2286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dirty="0"/>
                        <a:t>20</a:t>
                      </a:r>
                    </a:p>
                  </a:txBody>
                  <a:tcPr marL="10800" marR="10800" marT="10800" marB="10800" anchor="ctr">
                    <a:solidFill>
                      <a:srgbClr val="D3E9E7"/>
                    </a:solidFill>
                  </a:tcPr>
                </a:tc>
                <a:tc>
                  <a:txBody>
                    <a:bodyPr/>
                    <a:lstStyle/>
                    <a:p>
                      <a:pPr algn="ctr">
                        <a:defRPr sz="1000" b="1">
                          <a:solidFill>
                            <a:srgbClr val="006556"/>
                          </a:solidFill>
                          <a:latin typeface="Montserrat"/>
                        </a:defRPr>
                      </a:pPr>
                      <a:r>
                        <a:rPr dirty="0"/>
                        <a:t>26</a:t>
                      </a:r>
                    </a:p>
                  </a:txBody>
                  <a:tcPr marL="10800" marR="10800" marT="10800" marB="10800" anchor="ctr">
                    <a:solidFill>
                      <a:srgbClr val="D3E9E7"/>
                    </a:solidFill>
                  </a:tcPr>
                </a:tc>
                <a:tc>
                  <a:txBody>
                    <a:bodyPr/>
                    <a:lstStyle/>
                    <a:p>
                      <a:pPr algn="ctr">
                        <a:defRPr sz="1000" b="1">
                          <a:solidFill>
                            <a:srgbClr val="006556"/>
                          </a:solidFill>
                          <a:latin typeface="Montserrat"/>
                        </a:defRPr>
                      </a:pPr>
                      <a:r>
                        <a:rPr dirty="0"/>
                        <a:t>30</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7" name="Table 136"/>
          <p:cNvGraphicFramePr>
            <a:graphicFrameLocks noGrp="1"/>
          </p:cNvGraphicFramePr>
          <p:nvPr>
            <p:extLst>
              <p:ext uri="{D42A27DB-BD31-4B8C-83A1-F6EECF244321}">
                <p14:modId xmlns:p14="http://schemas.microsoft.com/office/powerpoint/2010/main" val="1462704250"/>
              </p:ext>
            </p:extLst>
          </p:nvPr>
        </p:nvGraphicFramePr>
        <p:xfrm>
          <a:off x="5659200" y="1155600"/>
          <a:ext cx="2026800" cy="146304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195600">
                <a:tc>
                  <a:txBody>
                    <a:bodyPr/>
                    <a:lstStyle/>
                    <a:p>
                      <a:pPr algn="ctr">
                        <a:defRPr sz="1000" b="1">
                          <a:solidFill>
                            <a:srgbClr val="FFFFFF"/>
                          </a:solidFill>
                          <a:latin typeface="Montserrat"/>
                        </a:defRPr>
                      </a:pPr>
                      <a:r>
                        <a:rPr dirty="0"/>
                        <a:t>2o </a:t>
                      </a:r>
                      <a:r>
                        <a:rPr dirty="0" err="1"/>
                        <a:t>Nivel</a:t>
                      </a:r>
                      <a:endParaRPr dirty="0"/>
                    </a:p>
                  </a:txBody>
                  <a:tcPr anchor="ctr">
                    <a:solidFill>
                      <a:srgbClr val="006455"/>
                    </a:solidFill>
                  </a:tcPr>
                </a:tc>
                <a:tc>
                  <a:txBody>
                    <a:bodyPr/>
                    <a:lstStyle/>
                    <a:p>
                      <a:pPr algn="ctr">
                        <a:defRPr sz="1000" b="1">
                          <a:solidFill>
                            <a:srgbClr val="FFFFFF"/>
                          </a:solidFill>
                          <a:latin typeface="Montserrat"/>
                        </a:defRPr>
                      </a:pPr>
                      <a:r>
                        <a:rPr dirty="0" err="1"/>
                        <a:t>Unidades</a:t>
                      </a:r>
                      <a:endParaRPr dirty="0"/>
                    </a:p>
                  </a:txBody>
                  <a:tcPr anchor="ctr">
                    <a:solidFill>
                      <a:srgbClr val="006455"/>
                    </a:solidFill>
                  </a:tcPr>
                </a:tc>
                <a:extLst>
                  <a:ext uri="{0D108BD9-81ED-4DB2-BD59-A6C34878D82A}">
                    <a16:rowId xmlns:a16="http://schemas.microsoft.com/office/drawing/2014/main" val="10000"/>
                  </a:ext>
                </a:extLst>
              </a:tr>
              <a:tr h="195600">
                <a:tc>
                  <a:txBody>
                    <a:bodyPr/>
                    <a:lstStyle/>
                    <a:p>
                      <a:pPr algn="ctr">
                        <a:defRPr sz="1000">
                          <a:solidFill>
                            <a:srgbClr val="000000"/>
                          </a:solidFill>
                          <a:latin typeface="Montserrat"/>
                        </a:defRPr>
                      </a:pPr>
                      <a:r>
                        <a:t>HR</a:t>
                      </a:r>
                    </a:p>
                  </a:txBody>
                  <a:tcPr anchor="ctr">
                    <a:solidFill>
                      <a:srgbClr val="EFEFEF"/>
                    </a:solidFill>
                  </a:tcPr>
                </a:tc>
                <a:tc>
                  <a:txBody>
                    <a:bodyPr/>
                    <a:lstStyle/>
                    <a:p>
                      <a:pPr algn="ctr">
                        <a:defRPr sz="1000">
                          <a:solidFill>
                            <a:srgbClr val="000000"/>
                          </a:solidFill>
                          <a:latin typeface="Montserrat"/>
                        </a:defRPr>
                      </a:pPr>
                      <a:r>
                        <a:rPr dirty="0"/>
                        <a:t>1</a:t>
                      </a:r>
                    </a:p>
                  </a:txBody>
                  <a:tcPr anchor="ctr">
                    <a:solidFill>
                      <a:srgbClr val="EFEFEF"/>
                    </a:solidFill>
                  </a:tcPr>
                </a:tc>
                <a:extLst>
                  <a:ext uri="{0D108BD9-81ED-4DB2-BD59-A6C34878D82A}">
                    <a16:rowId xmlns:a16="http://schemas.microsoft.com/office/drawing/2014/main" val="10001"/>
                  </a:ext>
                </a:extLst>
              </a:tr>
              <a:tr h="195600">
                <a:tc>
                  <a:txBody>
                    <a:bodyPr/>
                    <a:lstStyle/>
                    <a:p>
                      <a:pPr algn="ctr">
                        <a:defRPr sz="1000">
                          <a:solidFill>
                            <a:srgbClr val="000000"/>
                          </a:solidFill>
                          <a:latin typeface="Montserrat"/>
                        </a:defRPr>
                      </a:pPr>
                      <a:r>
                        <a:t>HGZ</a:t>
                      </a:r>
                    </a:p>
                  </a:txBody>
                  <a:tcPr anchor="ctr">
                    <a:solidFill>
                      <a:srgbClr val="FFFFFF"/>
                    </a:solidFill>
                  </a:tcPr>
                </a:tc>
                <a:tc>
                  <a:txBody>
                    <a:bodyPr/>
                    <a:lstStyle/>
                    <a:p>
                      <a:pPr algn="ctr">
                        <a:defRPr sz="1000">
                          <a:solidFill>
                            <a:srgbClr val="000000"/>
                          </a:solidFill>
                          <a:latin typeface="Montserrat"/>
                        </a:defRPr>
                      </a:pPr>
                      <a:r>
                        <a:rPr dirty="0"/>
                        <a:t>2</a:t>
                      </a:r>
                    </a:p>
                  </a:txBody>
                  <a:tcPr anchor="ctr">
                    <a:solidFill>
                      <a:srgbClr val="FFFFFF"/>
                    </a:solidFill>
                  </a:tcPr>
                </a:tc>
                <a:extLst>
                  <a:ext uri="{0D108BD9-81ED-4DB2-BD59-A6C34878D82A}">
                    <a16:rowId xmlns:a16="http://schemas.microsoft.com/office/drawing/2014/main" val="10002"/>
                  </a:ext>
                </a:extLst>
              </a:tr>
              <a:tr h="195600">
                <a:tc>
                  <a:txBody>
                    <a:bodyPr/>
                    <a:lstStyle/>
                    <a:p>
                      <a:pPr algn="ctr">
                        <a:defRPr sz="1000">
                          <a:solidFill>
                            <a:srgbClr val="000000"/>
                          </a:solidFill>
                          <a:latin typeface="Montserrat"/>
                        </a:defRPr>
                      </a:pPr>
                      <a:r>
                        <a:t>HGS</a:t>
                      </a:r>
                    </a:p>
                  </a:txBody>
                  <a:tcPr anchor="ctr">
                    <a:solidFill>
                      <a:srgbClr val="EFEFEF"/>
                    </a:solidFill>
                  </a:tcPr>
                </a:tc>
                <a:tc>
                  <a:txBody>
                    <a:bodyPr/>
                    <a:lstStyle/>
                    <a:p>
                      <a:pPr algn="ctr">
                        <a:defRPr sz="1000">
                          <a:solidFill>
                            <a:srgbClr val="000000"/>
                          </a:solidFill>
                          <a:latin typeface="Montserrat"/>
                        </a:defRPr>
                      </a:pPr>
                      <a:r>
                        <a:rPr dirty="0"/>
                        <a:t>3</a:t>
                      </a:r>
                    </a:p>
                  </a:txBody>
                  <a:tcPr anchor="ctr">
                    <a:solidFill>
                      <a:srgbClr val="EFEFEF"/>
                    </a:solidFill>
                  </a:tcPr>
                </a:tc>
                <a:extLst>
                  <a:ext uri="{0D108BD9-81ED-4DB2-BD59-A6C34878D82A}">
                    <a16:rowId xmlns:a16="http://schemas.microsoft.com/office/drawing/2014/main" val="10003"/>
                  </a:ext>
                </a:extLst>
              </a:tr>
              <a:tr h="195600">
                <a:tc>
                  <a:txBody>
                    <a:bodyPr/>
                    <a:lstStyle/>
                    <a:p>
                      <a:pPr algn="ctr">
                        <a:defRPr sz="1000">
                          <a:solidFill>
                            <a:srgbClr val="000000"/>
                          </a:solidFill>
                          <a:latin typeface="Montserrat"/>
                        </a:defRPr>
                      </a:pPr>
                      <a:r>
                        <a:t>HGR</a:t>
                      </a:r>
                    </a:p>
                  </a:txBody>
                  <a:tcPr anchor="ctr">
                    <a:solidFill>
                      <a:srgbClr val="FFFFFF"/>
                    </a:solidFill>
                  </a:tcPr>
                </a:tc>
                <a:tc>
                  <a:txBody>
                    <a:bodyPr/>
                    <a:lstStyle/>
                    <a:p>
                      <a:pPr algn="ctr">
                        <a:defRPr sz="1000">
                          <a:solidFill>
                            <a:srgbClr val="000000"/>
                          </a:solidFill>
                          <a:latin typeface="Montserrat"/>
                        </a:defRPr>
                      </a:pPr>
                      <a:r>
                        <a:rPr dirty="0"/>
                        <a:t>1</a:t>
                      </a:r>
                    </a:p>
                  </a:txBody>
                  <a:tcPr anchor="ctr">
                    <a:solidFill>
                      <a:srgbClr val="FFFFFF"/>
                    </a:solidFill>
                  </a:tcPr>
                </a:tc>
                <a:extLst>
                  <a:ext uri="{0D108BD9-81ED-4DB2-BD59-A6C34878D82A}">
                    <a16:rowId xmlns:a16="http://schemas.microsoft.com/office/drawing/2014/main" val="10004"/>
                  </a:ext>
                </a:extLst>
              </a:tr>
              <a:tr h="195600">
                <a:tc>
                  <a:txBody>
                    <a:bodyPr/>
                    <a:lstStyle/>
                    <a:p>
                      <a:pPr algn="ctr">
                        <a:defRPr sz="1000" b="1">
                          <a:solidFill>
                            <a:srgbClr val="006556"/>
                          </a:solidFill>
                          <a:latin typeface="Montserrat"/>
                        </a:defRPr>
                      </a:pPr>
                      <a:r>
                        <a:t>Total</a:t>
                      </a:r>
                    </a:p>
                  </a:txBody>
                  <a:tcPr anchor="ctr">
                    <a:solidFill>
                      <a:srgbClr val="D3E9E7"/>
                    </a:solidFill>
                  </a:tcPr>
                </a:tc>
                <a:tc>
                  <a:txBody>
                    <a:bodyPr/>
                    <a:lstStyle/>
                    <a:p>
                      <a:pPr algn="ctr">
                        <a:defRPr sz="1000" b="1">
                          <a:solidFill>
                            <a:srgbClr val="006556"/>
                          </a:solidFill>
                          <a:latin typeface="Montserrat"/>
                        </a:defRPr>
                      </a:pPr>
                      <a:r>
                        <a:rPr dirty="0"/>
                        <a:t>7</a:t>
                      </a:r>
                    </a:p>
                  </a:txBody>
                  <a:tcPr anchor="ctr">
                    <a:solidFill>
                      <a:srgbClr val="D3E9E7"/>
                    </a:solidFill>
                  </a:tcPr>
                </a:tc>
                <a:extLst>
                  <a:ext uri="{0D108BD9-81ED-4DB2-BD59-A6C34878D82A}">
                    <a16:rowId xmlns:a16="http://schemas.microsoft.com/office/drawing/2014/main" val="10005"/>
                  </a:ext>
                </a:extLst>
              </a:tr>
            </a:tbl>
          </a:graphicData>
        </a:graphic>
      </p:graphicFrame>
      <p:sp>
        <p:nvSpPr>
          <p:cNvPr id="138" name="TextBox 137"/>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14 UMF, 1 UMF-UMAA y no incluye 9 Unidades Auxiliares de Medicina Familiar.</a:t>
            </a:r>
            <a:br/>
            <a:r>
              <a:t>² No incluye Unidades médicas móviles (UMM) ni Brigadas de salud (BS).</a:t>
            </a:r>
          </a:p>
        </p:txBody>
      </p:sp>
      <p:sp>
        <p:nvSpPr>
          <p:cNvPr id="139" name="TextBox 138"/>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rPr dirty="0"/>
              <a:t>Corte de </a:t>
            </a:r>
            <a:r>
              <a:rPr dirty="0" err="1"/>
              <a:t>información</a:t>
            </a:r>
            <a:r>
              <a:rPr dirty="0"/>
              <a:t>: m</a:t>
            </a:r>
            <a:r>
              <a:rPr lang="es-MX" dirty="0" err="1"/>
              <a:t>ayo</a:t>
            </a:r>
            <a:r>
              <a:rPr dirty="0"/>
              <a:t>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6" name="Google Shape;141;g3d0b4d3c5c9_2_33">
            <a:extLst>
              <a:ext uri="{FF2B5EF4-FFF2-40B4-BE49-F238E27FC236}">
                <a16:creationId xmlns:a16="http://schemas.microsoft.com/office/drawing/2014/main" id="{9DFC0BA5-5C9C-B059-5B74-402440E96DC7}"/>
              </a:ext>
            </a:extLst>
          </p:cNvPr>
          <p:cNvGraphicFramePr/>
          <p:nvPr>
            <p:extLst>
              <p:ext uri="{D42A27DB-BD31-4B8C-83A1-F6EECF244321}">
                <p14:modId xmlns:p14="http://schemas.microsoft.com/office/powerpoint/2010/main" val="498740650"/>
              </p:ext>
            </p:extLst>
          </p:nvPr>
        </p:nvGraphicFramePr>
        <p:xfrm>
          <a:off x="288000" y="1191600"/>
          <a:ext cx="7132025" cy="548640"/>
        </p:xfrm>
        <a:graphic>
          <a:graphicData uri="http://schemas.openxmlformats.org/drawingml/2006/table">
            <a:tbl>
              <a:tblPr>
                <a:noFill/>
              </a:tblPr>
              <a:tblGrid>
                <a:gridCol w="7132025">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a:solidFill>
                            <a:srgbClr val="BC955C"/>
                          </a:solidFill>
                          <a:latin typeface="Montserrat"/>
                          <a:ea typeface="Montserrat"/>
                          <a:cs typeface="Montserrat"/>
                          <a:sym typeface="Montserrat"/>
                        </a:rPr>
                        <a:t>Unidad Médico‑Social Acapulco</a:t>
                      </a:r>
                      <a:r>
                        <a:rPr lang="es" sz="1800" b="1">
                          <a:solidFill>
                            <a:srgbClr val="BC955C"/>
                          </a:solidFill>
                          <a:latin typeface="Montserrat"/>
                          <a:ea typeface="Montserrat"/>
                          <a:cs typeface="Montserrat"/>
                        </a:rPr>
                        <a:t>, Guerrero</a:t>
                      </a:r>
                      <a:endParaRPr sz="18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7" name="Google Shape;143;g3d0b4d3c5c9_2_33">
            <a:extLst>
              <a:ext uri="{FF2B5EF4-FFF2-40B4-BE49-F238E27FC236}">
                <a16:creationId xmlns:a16="http://schemas.microsoft.com/office/drawing/2014/main" id="{EBE398C2-7EA2-8E00-A460-8140C5BC2EB3}"/>
              </a:ext>
            </a:extLst>
          </p:cNvPr>
          <p:cNvPicPr preferRelativeResize="0"/>
          <p:nvPr/>
        </p:nvPicPr>
        <p:blipFill>
          <a:blip r:embed="rId4">
            <a:alphaModFix/>
          </a:blip>
          <a:stretch>
            <a:fillRect/>
          </a:stretch>
        </p:blipFill>
        <p:spPr>
          <a:xfrm>
            <a:off x="405118" y="2167377"/>
            <a:ext cx="3078563" cy="2212893"/>
          </a:xfrm>
          <a:prstGeom prst="rect">
            <a:avLst/>
          </a:prstGeom>
          <a:noFill/>
          <a:ln>
            <a:noFill/>
          </a:ln>
        </p:spPr>
      </p:pic>
      <p:pic>
        <p:nvPicPr>
          <p:cNvPr id="2" name="Imagen 1">
            <a:extLst>
              <a:ext uri="{FF2B5EF4-FFF2-40B4-BE49-F238E27FC236}">
                <a16:creationId xmlns:a16="http://schemas.microsoft.com/office/drawing/2014/main" id="{59D7FB9D-CA55-EFFB-1C9D-61F916CE2B35}"/>
              </a:ext>
            </a:extLst>
          </p:cNvPr>
          <p:cNvPicPr>
            <a:picLocks noChangeAspect="1"/>
          </p:cNvPicPr>
          <p:nvPr/>
        </p:nvPicPr>
        <p:blipFill>
          <a:blip r:embed="rId5"/>
          <a:stretch>
            <a:fillRect/>
          </a:stretch>
        </p:blipFill>
        <p:spPr>
          <a:xfrm>
            <a:off x="3648182" y="2020283"/>
            <a:ext cx="3874888" cy="2750185"/>
          </a:xfrm>
          <a:prstGeom prst="rect">
            <a:avLst/>
          </a:prstGeom>
        </p:spPr>
      </p:pic>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gue_12.png"/>
          <p:cNvPicPr>
            <a:picLocks noChangeAspect="1"/>
          </p:cNvPicPr>
          <p:nvPr/>
        </p:nvPicPr>
        <p:blipFill>
          <a:blip r:embed="rId6"/>
          <a:stretch>
            <a:fillRect/>
          </a:stretch>
        </p:blipFill>
        <p:spPr>
          <a:xfrm>
            <a:off x="110012" y="5197605"/>
            <a:ext cx="7488000" cy="727200"/>
          </a:xfrm>
          <a:prstGeom prst="rect">
            <a:avLst/>
          </a:prstGeom>
        </p:spPr>
      </p:pic>
      <p:graphicFrame>
        <p:nvGraphicFramePr>
          <p:cNvPr id="12" name="Table 11"/>
          <p:cNvGraphicFramePr>
            <a:graphicFrameLocks noGrp="1"/>
          </p:cNvGraphicFramePr>
          <p:nvPr/>
        </p:nvGraphicFramePr>
        <p:xfrm>
          <a:off x="75600" y="6476399"/>
          <a:ext cx="7650000" cy="21157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rPr dirty="0"/>
                        <a:t>Camas no </a:t>
                      </a:r>
                      <a:r>
                        <a:rPr dirty="0" err="1"/>
                        <a:t>censables</a:t>
                      </a:r>
                      <a:endParaRPr dirty="0"/>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HGZMF 4 Iguala</a:t>
                      </a:r>
                    </a:p>
                  </a:txBody>
                  <a:tcPr anchor="ctr">
                    <a:solidFill>
                      <a:srgbClr val="FFFFFF"/>
                    </a:solidFill>
                  </a:tcPr>
                </a:tc>
                <a:tc>
                  <a:txBody>
                    <a:bodyPr/>
                    <a:lstStyle/>
                    <a:p>
                      <a:pPr algn="ctr">
                        <a:defRPr sz="900">
                          <a:latin typeface="Montserrat"/>
                        </a:defRPr>
                      </a:pPr>
                      <a:r>
                        <a:t>Mayo de 1963</a:t>
                      </a:r>
                    </a:p>
                  </a:txBody>
                  <a:tcPr anchor="ctr">
                    <a:solidFill>
                      <a:srgbClr val="FFFFFF"/>
                    </a:solidFill>
                  </a:tcPr>
                </a:tc>
                <a:tc>
                  <a:txBody>
                    <a:bodyPr/>
                    <a:lstStyle/>
                    <a:p>
                      <a:pPr algn="ctr">
                        <a:defRPr sz="900">
                          <a:latin typeface="Montserrat"/>
                        </a:defRPr>
                      </a:pPr>
                      <a:r>
                        <a:rPr dirty="0"/>
                        <a:t>37</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13</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HGZMF 8 Zihuatanejo</a:t>
                      </a:r>
                    </a:p>
                  </a:txBody>
                  <a:tcPr anchor="ctr">
                    <a:solidFill>
                      <a:srgbClr val="EFEFEF"/>
                    </a:solidFill>
                  </a:tcPr>
                </a:tc>
                <a:tc>
                  <a:txBody>
                    <a:bodyPr/>
                    <a:lstStyle/>
                    <a:p>
                      <a:pPr algn="ctr">
                        <a:defRPr sz="900">
                          <a:latin typeface="Montserrat"/>
                        </a:defRPr>
                      </a:pPr>
                      <a:r>
                        <a:t>Agosto de 1963</a:t>
                      </a:r>
                    </a:p>
                  </a:txBody>
                  <a:tcPr anchor="ctr">
                    <a:solidFill>
                      <a:srgbClr val="EFEFEF"/>
                    </a:solidFill>
                  </a:tcPr>
                </a:tc>
                <a:tc>
                  <a:txBody>
                    <a:bodyPr/>
                    <a:lstStyle/>
                    <a:p>
                      <a:pPr algn="ctr">
                        <a:defRPr sz="900">
                          <a:latin typeface="Montserrat"/>
                        </a:defRPr>
                      </a:pPr>
                      <a:r>
                        <a:t>45</a:t>
                      </a:r>
                    </a:p>
                  </a:txBody>
                  <a:tcPr anchor="ctr">
                    <a:solidFill>
                      <a:srgbClr val="EFEFEF"/>
                    </a:solidFill>
                  </a:tcPr>
                </a:tc>
                <a:tc>
                  <a:txBody>
                    <a:bodyPr/>
                    <a:lstStyle/>
                    <a:p>
                      <a:pPr algn="ctr">
                        <a:defRPr sz="900">
                          <a:latin typeface="Montserrat"/>
                        </a:defRPr>
                      </a:pPr>
                      <a:r>
                        <a:rPr dirty="0"/>
                        <a:t>28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11</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HGSMF 3 Chilpancingo</a:t>
                      </a:r>
                    </a:p>
                  </a:txBody>
                  <a:tcPr anchor="ctr">
                    <a:solidFill>
                      <a:srgbClr val="FFFFFF"/>
                    </a:solidFill>
                  </a:tcPr>
                </a:tc>
                <a:tc>
                  <a:txBody>
                    <a:bodyPr/>
                    <a:lstStyle/>
                    <a:p>
                      <a:pPr algn="ctr">
                        <a:defRPr sz="900">
                          <a:latin typeface="Montserrat"/>
                        </a:defRPr>
                      </a:pPr>
                      <a:r>
                        <a:t>Noviembre de 1964</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rPr dirty="0"/>
                        <a:t>25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9</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HGSMF 5 Taxco</a:t>
                      </a:r>
                    </a:p>
                  </a:txBody>
                  <a:tcPr anchor="ctr">
                    <a:solidFill>
                      <a:srgbClr val="EFEFEF"/>
                    </a:solidFill>
                  </a:tcPr>
                </a:tc>
                <a:tc>
                  <a:txBody>
                    <a:bodyPr/>
                    <a:lstStyle/>
                    <a:p>
                      <a:pPr algn="ctr">
                        <a:defRPr sz="900">
                          <a:latin typeface="Montserrat"/>
                        </a:defRPr>
                      </a:pPr>
                      <a:r>
                        <a:t>Noviembre de 1986</a:t>
                      </a:r>
                    </a:p>
                  </a:txBody>
                  <a:tcPr anchor="ctr">
                    <a:solidFill>
                      <a:srgbClr val="EFEFEF"/>
                    </a:solidFill>
                  </a:tcPr>
                </a:tc>
                <a:tc>
                  <a:txBody>
                    <a:bodyPr/>
                    <a:lstStyle/>
                    <a:p>
                      <a:pPr algn="ctr">
                        <a:defRPr sz="900">
                          <a:latin typeface="Montserrat"/>
                        </a:defRPr>
                      </a:pPr>
                      <a:r>
                        <a:t>31</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rPr dirty="0"/>
                        <a:t>0</a:t>
                      </a:r>
                    </a:p>
                  </a:txBody>
                  <a:tcPr anchor="ctr">
                    <a:solidFill>
                      <a:srgbClr val="EFEFEF"/>
                    </a:solidFill>
                  </a:tcPr>
                </a:tc>
                <a:tc>
                  <a:txBody>
                    <a:bodyPr/>
                    <a:lstStyle/>
                    <a:p>
                      <a:pPr algn="ctr">
                        <a:defRPr sz="900">
                          <a:latin typeface="Montserrat"/>
                        </a:defRPr>
                      </a:pPr>
                      <a:r>
                        <a:rPr dirty="0"/>
                        <a:t>1</a:t>
                      </a:r>
                    </a:p>
                  </a:txBody>
                  <a:tcPr anchor="ctr">
                    <a:solidFill>
                      <a:srgbClr val="EFEFEF"/>
                    </a:solidFill>
                  </a:tcPr>
                </a:tc>
                <a:tc>
                  <a:txBody>
                    <a:bodyPr/>
                    <a:lstStyle/>
                    <a:p>
                      <a:pPr algn="ctr">
                        <a:defRPr sz="900">
                          <a:latin typeface="Montserrat"/>
                        </a:defRPr>
                      </a:pPr>
                      <a:r>
                        <a:rPr dirty="0"/>
                        <a:t>7</a:t>
                      </a:r>
                    </a:p>
                  </a:txBody>
                  <a:tcPr anchor="ctr">
                    <a:solidFill>
                      <a:srgbClr val="EFEFEF"/>
                    </a:solidFill>
                  </a:tcPr>
                </a:tc>
                <a:extLst>
                  <a:ext uri="{0D108BD9-81ED-4DB2-BD59-A6C34878D82A}">
                    <a16:rowId xmlns:a16="http://schemas.microsoft.com/office/drawing/2014/main" val="10004"/>
                  </a:ext>
                </a:extLst>
              </a:tr>
              <a:tr h="230400">
                <a:tc>
                  <a:txBody>
                    <a:bodyPr/>
                    <a:lstStyle/>
                    <a:p>
                      <a:pPr algn="l">
                        <a:defRPr sz="900">
                          <a:latin typeface="Montserrat"/>
                        </a:defRPr>
                      </a:pPr>
                      <a:r>
                        <a:t>HGSMF 19 Cd. Altamirano</a:t>
                      </a:r>
                    </a:p>
                  </a:txBody>
                  <a:tcPr anchor="ctr">
                    <a:solidFill>
                      <a:srgbClr val="FFFFFF"/>
                    </a:solidFill>
                  </a:tcPr>
                </a:tc>
                <a:tc>
                  <a:txBody>
                    <a:bodyPr/>
                    <a:lstStyle/>
                    <a:p>
                      <a:pPr algn="ctr">
                        <a:defRPr sz="900">
                          <a:latin typeface="Montserrat"/>
                        </a:defRPr>
                      </a:pPr>
                      <a:r>
                        <a:t>Diciembre de 1986</a:t>
                      </a:r>
                    </a:p>
                  </a:txBody>
                  <a:tcPr anchor="ctr">
                    <a:solidFill>
                      <a:srgbClr val="FFFFFF"/>
                    </a:solidFill>
                  </a:tcPr>
                </a:tc>
                <a:tc>
                  <a:txBody>
                    <a:bodyPr/>
                    <a:lstStyle/>
                    <a:p>
                      <a:pPr algn="ctr">
                        <a:defRPr sz="900">
                          <a:latin typeface="Montserrat"/>
                        </a:defRPr>
                      </a:pPr>
                      <a:r>
                        <a:t>21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rPr dirty="0"/>
                        <a:t>3</a:t>
                      </a:r>
                    </a:p>
                  </a:txBody>
                  <a:tcPr anchor="ctr">
                    <a:solidFill>
                      <a:srgbClr val="FFFFFF"/>
                    </a:solidFill>
                  </a:tcPr>
                </a:tc>
                <a:extLst>
                  <a:ext uri="{0D108BD9-81ED-4DB2-BD59-A6C34878D82A}">
                    <a16:rowId xmlns:a16="http://schemas.microsoft.com/office/drawing/2014/main" val="10005"/>
                  </a:ext>
                </a:extLst>
              </a:tr>
              <a:tr h="230400">
                <a:tc>
                  <a:txBody>
                    <a:bodyPr/>
                    <a:lstStyle/>
                    <a:p>
                      <a:pPr algn="l">
                        <a:defRPr sz="900">
                          <a:latin typeface="Montserrat"/>
                        </a:defRPr>
                      </a:pPr>
                      <a:r>
                        <a:t>HGR 1 Vicente Guerrero</a:t>
                      </a:r>
                    </a:p>
                  </a:txBody>
                  <a:tcPr anchor="ctr">
                    <a:solidFill>
                      <a:srgbClr val="EFEFEF"/>
                    </a:solidFill>
                  </a:tcPr>
                </a:tc>
                <a:tc>
                  <a:txBody>
                    <a:bodyPr/>
                    <a:lstStyle/>
                    <a:p>
                      <a:pPr algn="ctr">
                        <a:defRPr sz="900">
                          <a:latin typeface="Montserrat"/>
                        </a:defRPr>
                      </a:pPr>
                      <a:r>
                        <a:t>Octubre de 1991</a:t>
                      </a:r>
                    </a:p>
                  </a:txBody>
                  <a:tcPr anchor="ctr">
                    <a:solidFill>
                      <a:srgbClr val="EFEFEF"/>
                    </a:solidFill>
                  </a:tcPr>
                </a:tc>
                <a:tc>
                  <a:txBody>
                    <a:bodyPr/>
                    <a:lstStyle/>
                    <a:p>
                      <a:pPr algn="ctr">
                        <a:defRPr sz="900">
                          <a:latin typeface="Montserrat"/>
                        </a:defRPr>
                      </a:pPr>
                      <a:r>
                        <a:t>358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rPr dirty="0"/>
                        <a:t>51</a:t>
                      </a:r>
                    </a:p>
                  </a:txBody>
                  <a:tcPr anchor="ctr">
                    <a:solidFill>
                      <a:srgbClr val="EFEFEF"/>
                    </a:solidFill>
                  </a:tcPr>
                </a:tc>
                <a:extLst>
                  <a:ext uri="{0D108BD9-81ED-4DB2-BD59-A6C34878D82A}">
                    <a16:rowId xmlns:a16="http://schemas.microsoft.com/office/drawing/2014/main" val="10006"/>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519</a:t>
                      </a:r>
                    </a:p>
                  </a:txBody>
                  <a:tcPr anchor="ctr">
                    <a:solidFill>
                      <a:srgbClr val="D3E9E7"/>
                    </a:solidFill>
                  </a:tcPr>
                </a:tc>
                <a:tc>
                  <a:txBody>
                    <a:bodyPr/>
                    <a:lstStyle/>
                    <a:p>
                      <a:pPr algn="ctr">
                        <a:defRPr sz="900" b="1">
                          <a:solidFill>
                            <a:srgbClr val="006556"/>
                          </a:solidFill>
                          <a:latin typeface="Montserrat"/>
                        </a:defRPr>
                      </a:pPr>
                      <a:r>
                        <a:t>223</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rPr dirty="0"/>
                        <a:t>94</a:t>
                      </a:r>
                    </a:p>
                  </a:txBody>
                  <a:tcPr anchor="ctr">
                    <a:solidFill>
                      <a:srgbClr val="D3E9E7"/>
                    </a:solidFill>
                  </a:tcPr>
                </a:tc>
                <a:extLst>
                  <a:ext uri="{0D108BD9-81ED-4DB2-BD59-A6C34878D82A}">
                    <a16:rowId xmlns:a16="http://schemas.microsoft.com/office/drawing/2014/main" val="10007"/>
                  </a:ext>
                </a:extLst>
              </a:tr>
            </a:tbl>
          </a:graphicData>
        </a:graphic>
      </p:graphicFrame>
      <p:sp>
        <p:nvSpPr>
          <p:cNvPr id="13" name="TextBox 12"/>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rPr dirty="0"/>
              <a:t>¹Incluye </a:t>
            </a:r>
            <a:r>
              <a:rPr dirty="0" err="1"/>
              <a:t>salas</a:t>
            </a:r>
            <a:r>
              <a:rPr dirty="0"/>
              <a:t> de </a:t>
            </a:r>
            <a:r>
              <a:rPr dirty="0" err="1"/>
              <a:t>quirófano</a:t>
            </a:r>
            <a:r>
              <a:rPr dirty="0"/>
              <a:t>, </a:t>
            </a:r>
            <a:r>
              <a:rPr dirty="0" err="1"/>
              <a:t>salas</a:t>
            </a:r>
            <a:r>
              <a:rPr dirty="0"/>
              <a:t> </a:t>
            </a:r>
            <a:r>
              <a:rPr dirty="0" err="1"/>
              <a:t>híbridas</a:t>
            </a:r>
            <a:r>
              <a:rPr dirty="0"/>
              <a:t> y </a:t>
            </a:r>
            <a:r>
              <a:rPr dirty="0" err="1"/>
              <a:t>salas</a:t>
            </a:r>
            <a:r>
              <a:rPr dirty="0"/>
              <a:t> </a:t>
            </a:r>
            <a:r>
              <a:rPr dirty="0" err="1"/>
              <a:t>mixtas</a:t>
            </a:r>
            <a:r>
              <a:rPr dirty="0"/>
              <a:t>, no </a:t>
            </a:r>
            <a:r>
              <a:rPr dirty="0" err="1"/>
              <a:t>considera</a:t>
            </a:r>
            <a:r>
              <a:rPr dirty="0"/>
              <a:t> </a:t>
            </a:r>
            <a:r>
              <a:rPr dirty="0" err="1"/>
              <a:t>salas</a:t>
            </a:r>
            <a:r>
              <a:rPr dirty="0"/>
              <a:t> de </a:t>
            </a:r>
            <a:r>
              <a:rPr dirty="0" err="1"/>
              <a:t>tococirugía</a:t>
            </a:r>
            <a:r>
              <a:rPr dirty="0"/>
              <a:t> y </a:t>
            </a:r>
            <a:r>
              <a:rPr dirty="0" err="1"/>
              <a:t>expulsión</a:t>
            </a:r>
            <a:r>
              <a:rPr dirty="0"/>
              <a:t>.</a:t>
            </a:r>
            <a:br>
              <a:rPr dirty="0"/>
            </a:br>
            <a:r>
              <a:rPr dirty="0" err="1"/>
              <a:t>Fuente</a:t>
            </a:r>
            <a:r>
              <a:rPr dirty="0"/>
              <a:t>: </a:t>
            </a:r>
            <a:r>
              <a:rPr dirty="0" err="1"/>
              <a:t>Cédula</a:t>
            </a:r>
            <a:r>
              <a:rPr dirty="0"/>
              <a:t> de </a:t>
            </a:r>
            <a:r>
              <a:rPr dirty="0" err="1"/>
              <a:t>actualización</a:t>
            </a:r>
            <a:r>
              <a:rPr dirty="0"/>
              <a:t> de variables </a:t>
            </a:r>
            <a:r>
              <a:rPr dirty="0" err="1"/>
              <a:t>seleccionados</a:t>
            </a:r>
            <a:r>
              <a:rPr dirty="0"/>
              <a:t> del IFU </a:t>
            </a:r>
            <a:r>
              <a:rPr dirty="0" err="1"/>
              <a:t>enviados</a:t>
            </a:r>
            <a:r>
              <a:rPr dirty="0"/>
              <a:t> </a:t>
            </a:r>
            <a:r>
              <a:rPr dirty="0" err="1"/>
              <a:t>por</a:t>
            </a:r>
            <a:r>
              <a:rPr dirty="0"/>
              <a:t> el OOAD.</a:t>
            </a:r>
            <a:br>
              <a:rPr dirty="0"/>
            </a:br>
            <a:r>
              <a:rPr dirty="0"/>
              <a:t>Corte de </a:t>
            </a:r>
            <a:r>
              <a:rPr dirty="0" err="1"/>
              <a:t>Información</a:t>
            </a:r>
            <a:r>
              <a:rPr dirty="0"/>
              <a:t>: m</a:t>
            </a:r>
            <a:r>
              <a:rPr lang="es-MX" dirty="0"/>
              <a:t>ay</a:t>
            </a:r>
            <a:r>
              <a:rPr dirty="0"/>
              <a:t>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1941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IMSS-Coplamar</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HR La Union</a:t>
                      </a:r>
                    </a:p>
                  </a:txBody>
                  <a:tcPr anchor="ctr">
                    <a:solidFill>
                      <a:srgbClr val="FFFFFF"/>
                    </a:solidFill>
                  </a:tcPr>
                </a:tc>
                <a:tc>
                  <a:txBody>
                    <a:bodyPr/>
                    <a:lstStyle/>
                    <a:p>
                      <a:pPr algn="ctr">
                        <a:defRPr sz="900">
                          <a:latin typeface="Montserrat"/>
                        </a:defRPr>
                      </a:pPr>
                      <a:r>
                        <a:t>Junio de 2010</a:t>
                      </a:r>
                    </a:p>
                  </a:txBody>
                  <a:tcPr anchor="ctr">
                    <a:solidFill>
                      <a:srgbClr val="FFFFFF"/>
                    </a:solidFill>
                  </a:tcPr>
                </a:tc>
                <a:tc>
                  <a:txBody>
                    <a:bodyPr/>
                    <a:lstStyle/>
                    <a:p>
                      <a:pPr algn="ctr">
                        <a:defRPr sz="900">
                          <a:latin typeface="Montserrat"/>
                        </a:defRPr>
                      </a:pPr>
                      <a:r>
                        <a:rPr dirty="0"/>
                        <a:t>29</a:t>
                      </a:r>
                    </a:p>
                  </a:txBody>
                  <a:tcPr anchor="ctr">
                    <a:solidFill>
                      <a:srgbClr val="FFFFFF"/>
                    </a:solidFill>
                  </a:tcPr>
                </a:tc>
                <a:tc>
                  <a:txBody>
                    <a:bodyPr/>
                    <a:lstStyle/>
                    <a:p>
                      <a:pPr algn="ctr">
                        <a:defRPr sz="900">
                          <a:latin typeface="Montserrat"/>
                        </a:defRPr>
                      </a:pPr>
                      <a:r>
                        <a:rPr dirty="0"/>
                        <a:t>13</a:t>
                      </a:r>
                    </a:p>
                  </a:txBody>
                  <a:tcPr anchor="ctr">
                    <a:solidFill>
                      <a:srgbClr val="FFFFFF"/>
                    </a:solidFill>
                  </a:tcPr>
                </a:tc>
                <a:tc>
                  <a:txBody>
                    <a:bodyPr/>
                    <a:lstStyle/>
                    <a:p>
                      <a:pPr algn="ctr">
                        <a:defRPr sz="900">
                          <a:latin typeface="Montserrat"/>
                        </a:defRPr>
                      </a:pPr>
                      <a:r>
                        <a:rPr dirty="0"/>
                        <a:t>0</a:t>
                      </a:r>
                    </a:p>
                  </a:txBody>
                  <a:tcPr anchor="ctr">
                    <a:solidFill>
                      <a:srgbClr val="FFFFFF"/>
                    </a:solidFill>
                  </a:tcPr>
                </a:tc>
                <a:tc>
                  <a:txBody>
                    <a:bodyPr/>
                    <a:lstStyle/>
                    <a:p>
                      <a:pPr algn="ctr">
                        <a:defRPr sz="900">
                          <a:latin typeface="Montserrat"/>
                        </a:defRPr>
                      </a:pPr>
                      <a:r>
                        <a:rPr dirty="0"/>
                        <a:t>1</a:t>
                      </a:r>
                    </a:p>
                  </a:txBody>
                  <a:tcPr anchor="ctr">
                    <a:solidFill>
                      <a:srgbClr val="FFFFFF"/>
                    </a:solidFill>
                  </a:tcPr>
                </a:tc>
                <a:tc>
                  <a:txBody>
                    <a:bodyPr/>
                    <a:lstStyle/>
                    <a:p>
                      <a:pPr algn="ctr">
                        <a:defRPr sz="900">
                          <a:latin typeface="Montserrat"/>
                        </a:defRPr>
                      </a:pPr>
                      <a:r>
                        <a:rPr dirty="0"/>
                        <a:t>7</a:t>
                      </a:r>
                    </a:p>
                  </a:txBody>
                  <a:tcPr anchor="ctr">
                    <a:solidFill>
                      <a:srgbClr val="FFFFFF"/>
                    </a:solidFill>
                  </a:tcPr>
                </a:tc>
                <a:extLst>
                  <a:ext uri="{0D108BD9-81ED-4DB2-BD59-A6C34878D82A}">
                    <a16:rowId xmlns:a16="http://schemas.microsoft.com/office/drawing/2014/main" val="10001"/>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13</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1</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extLst>
                  <a:ext uri="{0D108BD9-81ED-4DB2-BD59-A6C34878D82A}">
                    <a16:rowId xmlns:a16="http://schemas.microsoft.com/office/drawing/2014/main" val="10002"/>
                  </a:ext>
                </a:extLst>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548</a:t>
                      </a:r>
                    </a:p>
                  </a:txBody>
                  <a:tcPr anchor="ctr">
                    <a:solidFill>
                      <a:srgbClr val="D3E9E7"/>
                    </a:solidFill>
                  </a:tcPr>
                </a:tc>
                <a:tc>
                  <a:txBody>
                    <a:bodyPr/>
                    <a:lstStyle/>
                    <a:p>
                      <a:pPr algn="ctr">
                        <a:defRPr sz="900" b="1">
                          <a:solidFill>
                            <a:srgbClr val="006556"/>
                          </a:solidFill>
                          <a:latin typeface="Montserrat"/>
                        </a:defRPr>
                      </a:pPr>
                      <a:r>
                        <a:t>236</a:t>
                      </a:r>
                    </a:p>
                  </a:txBody>
                  <a:tcPr anchor="ctr">
                    <a:solidFill>
                      <a:srgbClr val="D3E9E7"/>
                    </a:solidFill>
                  </a:tcPr>
                </a:tc>
                <a:tc>
                  <a:txBody>
                    <a:bodyPr/>
                    <a:lstStyle/>
                    <a:p>
                      <a:pPr algn="ctr">
                        <a:defRPr sz="900" b="1">
                          <a:solidFill>
                            <a:srgbClr val="006556"/>
                          </a:solidFill>
                          <a:latin typeface="Montserrat"/>
                        </a:defRPr>
                      </a:pPr>
                      <a:r>
                        <a:t>20</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rPr dirty="0"/>
                        <a:t>101</a:t>
                      </a:r>
                    </a:p>
                  </a:txBody>
                  <a:tcPr anchor="ctr">
                    <a:solidFill>
                      <a:srgbClr val="D3E9E7"/>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rPr dirty="0"/>
              <a:t>¹Incluye </a:t>
            </a:r>
            <a:r>
              <a:rPr dirty="0" err="1"/>
              <a:t>salas</a:t>
            </a:r>
            <a:r>
              <a:rPr dirty="0"/>
              <a:t> de </a:t>
            </a:r>
            <a:r>
              <a:rPr dirty="0" err="1"/>
              <a:t>quirófano</a:t>
            </a:r>
            <a:r>
              <a:rPr dirty="0"/>
              <a:t>, </a:t>
            </a:r>
            <a:r>
              <a:rPr dirty="0" err="1"/>
              <a:t>salas</a:t>
            </a:r>
            <a:r>
              <a:rPr dirty="0"/>
              <a:t> </a:t>
            </a:r>
            <a:r>
              <a:rPr dirty="0" err="1"/>
              <a:t>híbridas</a:t>
            </a:r>
            <a:r>
              <a:rPr dirty="0"/>
              <a:t> y </a:t>
            </a:r>
            <a:r>
              <a:rPr dirty="0" err="1"/>
              <a:t>salas</a:t>
            </a:r>
            <a:r>
              <a:rPr dirty="0"/>
              <a:t> </a:t>
            </a:r>
            <a:r>
              <a:rPr dirty="0" err="1"/>
              <a:t>mixtas</a:t>
            </a:r>
            <a:r>
              <a:rPr dirty="0"/>
              <a:t>, no </a:t>
            </a:r>
            <a:r>
              <a:rPr dirty="0" err="1"/>
              <a:t>considera</a:t>
            </a:r>
            <a:r>
              <a:rPr dirty="0"/>
              <a:t> </a:t>
            </a:r>
            <a:r>
              <a:rPr dirty="0" err="1"/>
              <a:t>salas</a:t>
            </a:r>
            <a:r>
              <a:rPr dirty="0"/>
              <a:t> de </a:t>
            </a:r>
            <a:r>
              <a:rPr dirty="0" err="1"/>
              <a:t>tococirugía</a:t>
            </a:r>
            <a:r>
              <a:rPr dirty="0"/>
              <a:t> y </a:t>
            </a:r>
            <a:r>
              <a:rPr dirty="0" err="1"/>
              <a:t>expulsión</a:t>
            </a:r>
            <a:r>
              <a:rPr dirty="0"/>
              <a:t>.</a:t>
            </a:r>
            <a:br>
              <a:rPr dirty="0"/>
            </a:br>
            <a:r>
              <a:rPr dirty="0" err="1"/>
              <a:t>Fuente</a:t>
            </a:r>
            <a:r>
              <a:rPr dirty="0"/>
              <a:t>: </a:t>
            </a:r>
            <a:r>
              <a:rPr dirty="0" err="1"/>
              <a:t>Cédula</a:t>
            </a:r>
            <a:r>
              <a:rPr dirty="0"/>
              <a:t> de </a:t>
            </a:r>
            <a:r>
              <a:rPr dirty="0" err="1"/>
              <a:t>actualización</a:t>
            </a:r>
            <a:r>
              <a:rPr dirty="0"/>
              <a:t> de variables </a:t>
            </a:r>
            <a:r>
              <a:rPr dirty="0" err="1"/>
              <a:t>seleccionados</a:t>
            </a:r>
            <a:r>
              <a:rPr dirty="0"/>
              <a:t> del IFU </a:t>
            </a:r>
            <a:r>
              <a:rPr dirty="0" err="1"/>
              <a:t>enviados</a:t>
            </a:r>
            <a:r>
              <a:rPr dirty="0"/>
              <a:t> </a:t>
            </a:r>
            <a:r>
              <a:rPr dirty="0" err="1"/>
              <a:t>por</a:t>
            </a:r>
            <a:r>
              <a:rPr dirty="0"/>
              <a:t> el OOAD.</a:t>
            </a:r>
            <a:br>
              <a:rPr dirty="0"/>
            </a:br>
            <a:r>
              <a:rPr dirty="0"/>
              <a:t>Corte de </a:t>
            </a:r>
            <a:r>
              <a:rPr dirty="0" err="1"/>
              <a:t>Información</a:t>
            </a:r>
            <a:r>
              <a:rPr dirty="0"/>
              <a:t>: ma</a:t>
            </a:r>
            <a:r>
              <a:rPr lang="es-MX" dirty="0"/>
              <a:t>yo</a:t>
            </a:r>
            <a:r>
              <a:rPr dirty="0"/>
              <a:t> de 2026</a:t>
            </a:r>
          </a:p>
        </p:txBody>
      </p:sp>
      <p:graphicFrame>
        <p:nvGraphicFramePr>
          <p:cNvPr id="7" name="Google Shape;152;g370e475fb19_0_8"/>
          <p:cNvGraphicFramePr/>
          <p:nvPr>
            <p:extLst>
              <p:ext uri="{D42A27DB-BD31-4B8C-83A1-F6EECF244321}">
                <p14:modId xmlns:p14="http://schemas.microsoft.com/office/powerpoint/2010/main" val="779400580"/>
              </p:ext>
            </p:extLst>
          </p:nvPr>
        </p:nvGraphicFramePr>
        <p:xfrm>
          <a:off x="149075" y="25639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8" name="Table 153"/>
          <p:cNvGraphicFramePr>
            <a:graphicFrameLocks noGrp="1"/>
          </p:cNvGraphicFramePr>
          <p:nvPr>
            <p:extLst>
              <p:ext uri="{D42A27DB-BD31-4B8C-83A1-F6EECF244321}">
                <p14:modId xmlns:p14="http://schemas.microsoft.com/office/powerpoint/2010/main" val="2046764390"/>
              </p:ext>
            </p:extLst>
          </p:nvPr>
        </p:nvGraphicFramePr>
        <p:xfrm>
          <a:off x="93600" y="3022300"/>
          <a:ext cx="7534799" cy="220980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HGR 1 Vicente Guerrero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11</a:t>
                      </a:r>
                    </a:p>
                  </a:txBody>
                  <a:tcPr>
                    <a:solidFill>
                      <a:srgbClr val="FFFFF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1"/>
                  </a:ext>
                </a:extLst>
              </a:tr>
              <a:tr h="216000">
                <a:tc>
                  <a:txBody>
                    <a:bodyPr/>
                    <a:lstStyle/>
                    <a:p>
                      <a:pPr algn="l">
                        <a:defRPr sz="1000">
                          <a:latin typeface="Montserrat"/>
                        </a:defRPr>
                      </a:pPr>
                      <a:r>
                        <a:t>HGZMF 4 Iguala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16000">
                <a:tc>
                  <a:txBody>
                    <a:bodyPr/>
                    <a:lstStyle/>
                    <a:p>
                      <a:pPr algn="l">
                        <a:defRPr sz="1000">
                          <a:latin typeface="Montserrat"/>
                        </a:defRPr>
                      </a:pPr>
                      <a:r>
                        <a:t>HGSMF 19 Cd. Altamirano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HGSMF 3 Chilpancingo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4"/>
                  </a:ext>
                </a:extLst>
              </a:tr>
              <a:tr h="216000">
                <a:tc>
                  <a:txBody>
                    <a:bodyPr/>
                    <a:lstStyle/>
                    <a:p>
                      <a:pPr algn="l">
                        <a:defRPr sz="1000">
                          <a:latin typeface="Montserrat"/>
                        </a:defRPr>
                      </a:pPr>
                      <a:r>
                        <a:t>HGSMF 5 Taxco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HGZMF 8 Zihuatanejo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6"/>
                  </a:ext>
                </a:extLst>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extLst>
                  <a:ext uri="{0D108BD9-81ED-4DB2-BD59-A6C34878D82A}">
                    <a16:rowId xmlns:a16="http://schemas.microsoft.com/office/drawing/2014/main" val="10007"/>
                  </a:ext>
                </a:extLst>
              </a:tr>
            </a:tbl>
          </a:graphicData>
        </a:graphic>
      </p:graphicFrame>
      <p:grpSp>
        <p:nvGrpSpPr>
          <p:cNvPr id="9" name="Grupo 1">
            <a:extLst>
              <a:ext uri="{FF2B5EF4-FFF2-40B4-BE49-F238E27FC236}">
                <a16:creationId xmlns:a16="http://schemas.microsoft.com/office/drawing/2014/main" id="{750AA6D3-18F8-05F5-C809-792B0C40545E}"/>
              </a:ext>
            </a:extLst>
          </p:cNvPr>
          <p:cNvGrpSpPr/>
          <p:nvPr/>
        </p:nvGrpSpPr>
        <p:grpSpPr>
          <a:xfrm>
            <a:off x="59675" y="5300268"/>
            <a:ext cx="7772400" cy="3330917"/>
            <a:chOff x="59675" y="5401868"/>
            <a:chExt cx="7772400" cy="3330917"/>
          </a:xfrm>
        </p:grpSpPr>
        <p:sp>
          <p:nvSpPr>
            <p:cNvPr id="10" name="Google Shape;169;g3d62d805bc0_1_167">
              <a:extLst>
                <a:ext uri="{FF2B5EF4-FFF2-40B4-BE49-F238E27FC236}">
                  <a16:creationId xmlns:a16="http://schemas.microsoft.com/office/drawing/2014/main" id="{5BC37EAF-87AB-0F78-0020-7BCB84D5C8BC}"/>
                </a:ext>
              </a:extLst>
            </p:cNvPr>
            <p:cNvSpPr txBox="1"/>
            <p:nvPr/>
          </p:nvSpPr>
          <p:spPr>
            <a:xfrm>
              <a:off x="59675" y="5401868"/>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a:t>
              </a:r>
              <a:endParaRPr sz="2300" b="1" i="0" u="none" strike="noStrike" cap="none" dirty="0">
                <a:solidFill>
                  <a:srgbClr val="006858"/>
                </a:solidFill>
                <a:latin typeface="Montserrat"/>
                <a:ea typeface="Montserrat"/>
                <a:cs typeface="Montserrat"/>
                <a:sym typeface="Montserrat"/>
              </a:endParaRPr>
            </a:p>
          </p:txBody>
        </p:sp>
        <p:sp>
          <p:nvSpPr>
            <p:cNvPr id="11" name="Google Shape;176;g3d62d805bc0_1_167">
              <a:extLst>
                <a:ext uri="{FF2B5EF4-FFF2-40B4-BE49-F238E27FC236}">
                  <a16:creationId xmlns:a16="http://schemas.microsoft.com/office/drawing/2014/main" id="{70C4DDE0-27AB-7054-557E-C8C647D00CAA}"/>
                </a:ext>
              </a:extLst>
            </p:cNvPr>
            <p:cNvSpPr/>
            <p:nvPr/>
          </p:nvSpPr>
          <p:spPr>
            <a:xfrm>
              <a:off x="3193172" y="7733249"/>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12" name="Google Shape;177;g3d62d805bc0_1_167">
              <a:extLst>
                <a:ext uri="{FF2B5EF4-FFF2-40B4-BE49-F238E27FC236}">
                  <a16:creationId xmlns:a16="http://schemas.microsoft.com/office/drawing/2014/main" id="{0EE4122A-4775-B513-4D0E-1FE52FE3FD96}"/>
                </a:ext>
              </a:extLst>
            </p:cNvPr>
            <p:cNvSpPr/>
            <p:nvPr/>
          </p:nvSpPr>
          <p:spPr>
            <a:xfrm>
              <a:off x="2728869" y="7733249"/>
              <a:ext cx="469264"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13" name="Google Shape;178;g3d62d805bc0_1_167">
              <a:extLst>
                <a:ext uri="{FF2B5EF4-FFF2-40B4-BE49-F238E27FC236}">
                  <a16:creationId xmlns:a16="http://schemas.microsoft.com/office/drawing/2014/main" id="{42C7F049-E53E-C6BA-1454-F1810786337D}"/>
                </a:ext>
              </a:extLst>
            </p:cNvPr>
            <p:cNvSpPr txBox="1"/>
            <p:nvPr/>
          </p:nvSpPr>
          <p:spPr>
            <a:xfrm>
              <a:off x="2618994" y="8086933"/>
              <a:ext cx="2577600" cy="645852"/>
            </a:xfrm>
            <a:prstGeom prst="rect">
              <a:avLst/>
            </a:prstGeom>
            <a:noFill/>
            <a:ln>
              <a:noFill/>
            </a:ln>
          </p:spPr>
          <p:txBody>
            <a:bodyPr spcFirstLastPara="1" wrap="square" lIns="91425" tIns="91425" rIns="91425" bIns="91425" anchor="t" anchorCtr="0">
              <a:spAutoFit/>
            </a:bodyPr>
            <a:lstStyle/>
            <a:p>
              <a:pPr marL="0" marR="50800" lvl="0" indent="0" algn="ctr"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HGR 1 Vicente Guerrero</a:t>
              </a:r>
            </a:p>
            <a:p>
              <a:pPr marL="0" marR="50800" lvl="0" indent="0" algn="ctr"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 mdp</a:t>
              </a:r>
              <a:r>
                <a:rPr lang="es" sz="1300" dirty="0">
                  <a:solidFill>
                    <a:srgbClr val="595959"/>
                  </a:solidFill>
                  <a:latin typeface="Montserrat"/>
                  <a:ea typeface="Montserrat"/>
                  <a:cs typeface="Montserrat"/>
                  <a:sym typeface="Montserrat"/>
                </a:rPr>
                <a:t>   </a:t>
              </a:r>
              <a:r>
                <a:rPr lang="es" dirty="0">
                  <a:solidFill>
                    <a:srgbClr val="434343"/>
                  </a:solidFill>
                  <a:latin typeface="Noto Sans"/>
                  <a:ea typeface="Noto Sans"/>
                  <a:cs typeface="Noto Sans"/>
                  <a:sym typeface="Noto Sans"/>
                </a:rPr>
                <a:t> </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14" name="Google Shape;179;g3d62d805bc0_1_167">
              <a:extLst>
                <a:ext uri="{FF2B5EF4-FFF2-40B4-BE49-F238E27FC236}">
                  <a16:creationId xmlns:a16="http://schemas.microsoft.com/office/drawing/2014/main" id="{2296D0F3-84CE-1143-2414-CC403DE591D0}"/>
                </a:ext>
              </a:extLst>
            </p:cNvPr>
            <p:cNvPicPr preferRelativeResize="0"/>
            <p:nvPr/>
          </p:nvPicPr>
          <p:blipFill>
            <a:blip r:embed="rId2">
              <a:alphaModFix/>
            </a:blip>
            <a:stretch>
              <a:fillRect/>
            </a:stretch>
          </p:blipFill>
          <p:spPr>
            <a:xfrm>
              <a:off x="2728869" y="6170915"/>
              <a:ext cx="2374103" cy="1562334"/>
            </a:xfrm>
            <a:prstGeom prst="rect">
              <a:avLst/>
            </a:prstGeom>
            <a:noFill/>
            <a:ln>
              <a:noFill/>
            </a:ln>
          </p:spPr>
        </p:pic>
      </p:grpSp>
      <p:sp>
        <p:nvSpPr>
          <p:cNvPr id="15" name="Rectangle 154"/>
          <p:cNvSpPr/>
          <p:nvPr/>
        </p:nvSpPr>
        <p:spPr>
          <a:xfrm>
            <a:off x="205199" y="9066464"/>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5"/>
          <p:cNvSpPr txBox="1"/>
          <p:nvPr/>
        </p:nvSpPr>
        <p:spPr>
          <a:xfrm>
            <a:off x="406799" y="8965664"/>
            <a:ext cx="7149600" cy="461665"/>
          </a:xfrm>
          <a:prstGeom prst="rect">
            <a:avLst/>
          </a:prstGeom>
          <a:noFill/>
        </p:spPr>
        <p:txBody>
          <a:bodyPr wrap="square">
            <a:spAutoFit/>
          </a:bodyPr>
          <a:lstStyle/>
          <a:p>
            <a:pPr>
              <a:defRPr sz="800">
                <a:solidFill>
                  <a:srgbClr val="FFFFFF"/>
                </a:solidFill>
                <a:latin typeface="Montserrat"/>
              </a:defRPr>
            </a:pPr>
            <a:r>
              <a:rPr dirty="0" err="1">
                <a:solidFill>
                  <a:schemeClr val="tx1"/>
                </a:solidFill>
              </a:rPr>
              <a:t>Proyectos</a:t>
            </a:r>
            <a:r>
              <a:rPr dirty="0">
                <a:solidFill>
                  <a:schemeClr val="tx1"/>
                </a:solidFill>
              </a:rPr>
              <a:t> de </a:t>
            </a:r>
            <a:r>
              <a:rPr dirty="0" err="1">
                <a:solidFill>
                  <a:schemeClr val="tx1"/>
                </a:solidFill>
              </a:rPr>
              <a:t>implementación</a:t>
            </a:r>
            <a:r>
              <a:rPr dirty="0">
                <a:solidFill>
                  <a:schemeClr val="tx1"/>
                </a:solidFill>
              </a:rPr>
              <a:t>/</a:t>
            </a:r>
            <a:r>
              <a:rPr dirty="0" err="1">
                <a:solidFill>
                  <a:schemeClr val="tx1"/>
                </a:solidFill>
              </a:rPr>
              <a:t>sustitución</a:t>
            </a:r>
            <a:r>
              <a:rPr dirty="0">
                <a:solidFill>
                  <a:schemeClr val="tx1"/>
                </a:solidFill>
              </a:rPr>
              <a:t> 2019-2025. </a:t>
            </a:r>
            <a:r>
              <a:rPr dirty="0" err="1">
                <a:solidFill>
                  <a:schemeClr val="tx1"/>
                </a:solidFill>
              </a:rPr>
              <a:t>Incluye</a:t>
            </a:r>
            <a:r>
              <a:rPr dirty="0">
                <a:solidFill>
                  <a:schemeClr val="tx1"/>
                </a:solidFill>
              </a:rPr>
              <a:t> </a:t>
            </a:r>
            <a:r>
              <a:rPr dirty="0" err="1">
                <a:solidFill>
                  <a:schemeClr val="tx1"/>
                </a:solidFill>
              </a:rPr>
              <a:t>equipo</a:t>
            </a:r>
            <a:r>
              <a:rPr dirty="0">
                <a:solidFill>
                  <a:schemeClr val="tx1"/>
                </a:solidFill>
              </a:rPr>
              <a:t> de la </a:t>
            </a:r>
            <a:r>
              <a:rPr dirty="0" err="1">
                <a:solidFill>
                  <a:schemeClr val="tx1"/>
                </a:solidFill>
              </a:rPr>
              <a:t>compra</a:t>
            </a:r>
            <a:r>
              <a:rPr dirty="0">
                <a:solidFill>
                  <a:schemeClr val="tx1"/>
                </a:solidFill>
              </a:rPr>
              <a:t> 2025-2026.</a:t>
            </a:r>
            <a:br>
              <a:rPr dirty="0">
                <a:solidFill>
                  <a:schemeClr val="tx1"/>
                </a:solidFill>
              </a:rPr>
            </a:br>
            <a:r>
              <a:rPr dirty="0" err="1">
                <a:solidFill>
                  <a:schemeClr val="tx1"/>
                </a:solidFill>
              </a:rPr>
              <a:t>Fuente</a:t>
            </a:r>
            <a:r>
              <a:rPr dirty="0">
                <a:solidFill>
                  <a:schemeClr val="tx1"/>
                </a:solidFill>
              </a:rPr>
              <a:t>: </a:t>
            </a:r>
            <a:r>
              <a:rPr dirty="0" err="1">
                <a:solidFill>
                  <a:schemeClr val="tx1"/>
                </a:solidFill>
              </a:rPr>
              <a:t>Cédula</a:t>
            </a:r>
            <a:r>
              <a:rPr dirty="0">
                <a:solidFill>
                  <a:schemeClr val="tx1"/>
                </a:solidFill>
              </a:rPr>
              <a:t> de </a:t>
            </a:r>
            <a:r>
              <a:rPr dirty="0" err="1">
                <a:solidFill>
                  <a:schemeClr val="tx1"/>
                </a:solidFill>
              </a:rPr>
              <a:t>actualización</a:t>
            </a:r>
            <a:r>
              <a:rPr dirty="0">
                <a:solidFill>
                  <a:schemeClr val="tx1"/>
                </a:solidFill>
              </a:rPr>
              <a:t> de variables </a:t>
            </a:r>
            <a:r>
              <a:rPr dirty="0" err="1">
                <a:solidFill>
                  <a:schemeClr val="tx1"/>
                </a:solidFill>
              </a:rPr>
              <a:t>seleccionadas</a:t>
            </a:r>
            <a:r>
              <a:rPr dirty="0">
                <a:solidFill>
                  <a:schemeClr val="tx1"/>
                </a:solidFill>
              </a:rPr>
              <a:t> del IFU, </a:t>
            </a:r>
            <a:r>
              <a:rPr dirty="0" err="1">
                <a:solidFill>
                  <a:schemeClr val="tx1"/>
                </a:solidFill>
              </a:rPr>
              <a:t>enviadas</a:t>
            </a:r>
            <a:r>
              <a:rPr dirty="0">
                <a:solidFill>
                  <a:schemeClr val="tx1"/>
                </a:solidFill>
              </a:rPr>
              <a:t> </a:t>
            </a:r>
            <a:r>
              <a:rPr dirty="0" err="1">
                <a:solidFill>
                  <a:schemeClr val="tx1"/>
                </a:solidFill>
              </a:rPr>
              <a:t>por</a:t>
            </a:r>
            <a:r>
              <a:rPr dirty="0">
                <a:solidFill>
                  <a:schemeClr val="tx1"/>
                </a:solidFill>
              </a:rPr>
              <a:t> el OOAD.</a:t>
            </a:r>
            <a:br>
              <a:rPr dirty="0">
                <a:solidFill>
                  <a:schemeClr val="tx1"/>
                </a:solidFill>
              </a:rPr>
            </a:br>
            <a:r>
              <a:rPr dirty="0">
                <a:solidFill>
                  <a:schemeClr val="tx1"/>
                </a:solidFill>
              </a:rPr>
              <a:t>Corte de </a:t>
            </a:r>
            <a:r>
              <a:rPr dirty="0" err="1">
                <a:solidFill>
                  <a:schemeClr val="tx1"/>
                </a:solidFill>
              </a:rPr>
              <a:t>información</a:t>
            </a:r>
            <a:r>
              <a:rPr dirty="0">
                <a:solidFill>
                  <a:schemeClr val="tx1"/>
                </a:solidFill>
              </a:rPr>
              <a:t>: ma</a:t>
            </a:r>
            <a:r>
              <a:rPr lang="es-MX" dirty="0">
                <a:solidFill>
                  <a:schemeClr val="tx1"/>
                </a:solidFill>
              </a:rPr>
              <a:t>y</a:t>
            </a:r>
            <a:r>
              <a:rPr dirty="0">
                <a:solidFill>
                  <a:schemeClr val="tx1"/>
                </a:solidFill>
              </a:rPr>
              <a:t>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5118250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F49C43-7227-6C20-0CB5-95D0D79AA4FC}"/>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175D7C60-9DFA-3D60-0923-AF82BA5E23E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7020B8D9-0B37-5FB7-D3E2-C2B43607E526}"/>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6B924792-F2BA-770E-00F2-25932E9098A5}"/>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E5A3BAAF-A330-1BC1-293C-C5962576C687}"/>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10" name="CuadroTexto 6">
            <a:extLst>
              <a:ext uri="{FF2B5EF4-FFF2-40B4-BE49-F238E27FC236}">
                <a16:creationId xmlns:a16="http://schemas.microsoft.com/office/drawing/2014/main" id="{519206D4-6B99-640A-8D11-09A472643E64}"/>
              </a:ext>
            </a:extLst>
          </p:cNvPr>
          <p:cNvSpPr txBox="1"/>
          <p:nvPr/>
        </p:nvSpPr>
        <p:spPr>
          <a:xfrm>
            <a:off x="5064096" y="8117456"/>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12" name="CuadroTexto 8">
            <a:extLst>
              <a:ext uri="{FF2B5EF4-FFF2-40B4-BE49-F238E27FC236}">
                <a16:creationId xmlns:a16="http://schemas.microsoft.com/office/drawing/2014/main" id="{D9F2113D-C647-21BD-AFD6-277FBE0A969C}"/>
              </a:ext>
            </a:extLst>
          </p:cNvPr>
          <p:cNvSpPr txBox="1"/>
          <p:nvPr/>
        </p:nvSpPr>
        <p:spPr>
          <a:xfrm>
            <a:off x="4701239" y="4744510"/>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semana 24, 7 junio 2026</a:t>
            </a:r>
            <a:br/>
            <a:r>
              <a:t>¹Las consultas de medicina familiar incluyen los hospitales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+15,966</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+77,991</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+127,867</a:t>
            </a:r>
          </a:p>
        </p:txBody>
      </p:sp>
      <p:graphicFrame>
        <p:nvGraphicFramePr>
          <p:cNvPr id="236" name="Table 235"/>
          <p:cNvGraphicFramePr>
            <a:graphicFrameLocks noGrp="1"/>
          </p:cNvGraphicFramePr>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solidFill>
                      <a:srgbClr val="006455"/>
                    </a:solidFill>
                  </a:tcPr>
                </a:tc>
                <a:tc>
                  <a:txBody>
                    <a:bodyPr/>
                    <a:lstStyle/>
                    <a:p>
                      <a:pPr algn="ctr">
                        <a:defRPr sz="1200" b="1">
                          <a:solidFill>
                            <a:srgbClr val="FFFFFF"/>
                          </a:solidFill>
                          <a:latin typeface="Montserrat"/>
                        </a:defRPr>
                      </a:pPr>
                      <a:r>
                        <a:t>2025</a:t>
                      </a:r>
                    </a:p>
                  </a:txBody>
                  <a:tcPr anchor="ctr">
                    <a:solidFill>
                      <a:srgbClr val="006455"/>
                    </a:solidFill>
                  </a:tcPr>
                </a:tc>
                <a:tc>
                  <a:txBody>
                    <a:bodyPr/>
                    <a:lstStyle/>
                    <a:p>
                      <a:pPr algn="ctr">
                        <a:defRPr sz="1200" b="1">
                          <a:solidFill>
                            <a:srgbClr val="FFFFFF"/>
                          </a:solidFill>
                          <a:latin typeface="Montserrat"/>
                        </a:defRPr>
                      </a:pPr>
                      <a:r>
                        <a:t>Incremento 2024 vs 2025</a:t>
                      </a:r>
                    </a:p>
                  </a:txBody>
                  <a:tcPr anchor="ctr">
                    <a:solidFill>
                      <a:srgbClr val="006455"/>
                    </a:solidFill>
                  </a:tcPr>
                </a:tc>
                <a:tc>
                  <a:txBody>
                    <a:bodyPr/>
                    <a:lstStyle/>
                    <a:p>
                      <a:pPr algn="ctr">
                        <a:defRPr sz="1200" b="1">
                          <a:solidFill>
                            <a:srgbClr val="FFFFFF"/>
                          </a:solidFill>
                          <a:latin typeface="Montserrat"/>
                        </a:defRPr>
                      </a:pPr>
                      <a:r>
                        <a:t>Avance 2026</a:t>
                      </a:r>
                    </a:p>
                  </a:txBody>
                  <a:tcPr anchor="ctr">
                    <a:solidFill>
                      <a:srgbClr val="980000"/>
                    </a:solidFill>
                  </a:tcPr>
                </a:tc>
                <a:tc>
                  <a:txBody>
                    <a:bodyPr/>
                    <a:lstStyle/>
                    <a:p>
                      <a:pPr algn="ctr">
                        <a:defRPr sz="1200" b="1">
                          <a:solidFill>
                            <a:srgbClr val="FFFFFF"/>
                          </a:solidFill>
                          <a:latin typeface="Montserrat"/>
                        </a:defRPr>
                      </a:pPr>
                      <a:r>
                        <a:t>Meta 2026</a:t>
                      </a:r>
                    </a:p>
                  </a:txBody>
                  <a:tcPr anchor="ctr">
                    <a:solidFill>
                      <a:srgbClr val="980000"/>
                    </a:solidFill>
                  </a:tcPr>
                </a:tc>
                <a:tc>
                  <a:txBody>
                    <a:bodyPr/>
                    <a:lstStyle/>
                    <a:p>
                      <a:pPr algn="ctr">
                        <a:defRPr sz="1200" b="1">
                          <a:solidFill>
                            <a:srgbClr val="FFFFFF"/>
                          </a:solidFill>
                          <a:latin typeface="Montserrat"/>
                        </a:defRPr>
                      </a:pPr>
                      <a:r>
                        <a:t>% avance anual</a:t>
                      </a:r>
                    </a:p>
                  </a:txBody>
                  <a:tcPr anchor="ctr">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1,613,411</a:t>
                      </a:r>
                    </a:p>
                  </a:txBody>
                  <a:tcPr marL="0" marR="0" marT="0" marB="0" anchor="ctr">
                    <a:solidFill>
                      <a:srgbClr val="FFFFFF"/>
                    </a:solidFill>
                  </a:tcPr>
                </a:tc>
                <a:tc>
                  <a:txBody>
                    <a:bodyPr/>
                    <a:lstStyle/>
                    <a:p>
                      <a:pPr algn="ctr">
                        <a:defRPr sz="1000">
                          <a:solidFill>
                            <a:srgbClr val="404040"/>
                          </a:solidFill>
                          <a:latin typeface="Montserrat"/>
                        </a:defRPr>
                      </a:pPr>
                      <a:r>
                        <a:t>77,991</a:t>
                      </a:r>
                    </a:p>
                  </a:txBody>
                  <a:tcPr marL="0" marR="0" marT="0" marB="0" anchor="ctr">
                    <a:solidFill>
                      <a:srgbClr val="FFFFFF"/>
                    </a:solidFill>
                  </a:tcPr>
                </a:tc>
                <a:tc>
                  <a:txBody>
                    <a:bodyPr/>
                    <a:lstStyle/>
                    <a:p>
                      <a:pPr algn="ctr">
                        <a:defRPr sz="1000" b="1">
                          <a:solidFill>
                            <a:srgbClr val="980000"/>
                          </a:solidFill>
                          <a:latin typeface="Montserrat"/>
                        </a:defRPr>
                      </a:pPr>
                      <a:r>
                        <a:t>727,252</a:t>
                      </a:r>
                    </a:p>
                  </a:txBody>
                  <a:tcPr marL="0" marR="0" marT="0" marB="0" anchor="ctr">
                    <a:solidFill>
                      <a:srgbClr val="ECD3D9"/>
                    </a:solidFill>
                  </a:tcPr>
                </a:tc>
                <a:tc>
                  <a:txBody>
                    <a:bodyPr/>
                    <a:lstStyle/>
                    <a:p>
                      <a:pPr algn="ctr">
                        <a:defRPr sz="1000" b="1">
                          <a:solidFill>
                            <a:srgbClr val="980000"/>
                          </a:solidFill>
                          <a:latin typeface="Montserrat"/>
                        </a:defRPr>
                      </a:pPr>
                      <a:r>
                        <a:t>1,584,224</a:t>
                      </a:r>
                    </a:p>
                  </a:txBody>
                  <a:tcPr marL="0" marR="0" marT="0" marB="0" anchor="ctr">
                    <a:solidFill>
                      <a:srgbClr val="ECD3D9"/>
                    </a:solidFill>
                  </a:tcPr>
                </a:tc>
                <a:tc>
                  <a:txBody>
                    <a:bodyPr/>
                    <a:lstStyle/>
                    <a:p>
                      <a:pPr algn="ctr">
                        <a:defRPr sz="1000" b="1">
                          <a:solidFill>
                            <a:srgbClr val="980000"/>
                          </a:solidFill>
                          <a:latin typeface="Montserrat"/>
                        </a:defRPr>
                      </a:pPr>
                      <a:r>
                        <a:t>45.9%</a:t>
                      </a:r>
                    </a:p>
                  </a:txBody>
                  <a:tcPr marL="0" marR="0" marT="0" marB="0" anchor="ct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411,028</a:t>
                      </a:r>
                    </a:p>
                  </a:txBody>
                  <a:tcPr marL="0" marR="0" marT="0" marB="0" anchor="ctr">
                    <a:solidFill>
                      <a:srgbClr val="EFEFEF"/>
                    </a:solidFill>
                  </a:tcPr>
                </a:tc>
                <a:tc>
                  <a:txBody>
                    <a:bodyPr/>
                    <a:lstStyle/>
                    <a:p>
                      <a:pPr algn="ctr">
                        <a:defRPr sz="1000">
                          <a:solidFill>
                            <a:srgbClr val="404040"/>
                          </a:solidFill>
                          <a:latin typeface="Montserrat"/>
                        </a:defRPr>
                      </a:pPr>
                      <a:r>
                        <a:t>127,867</a:t>
                      </a:r>
                    </a:p>
                  </a:txBody>
                  <a:tcPr marL="0" marR="0" marT="0" marB="0" anchor="ctr">
                    <a:solidFill>
                      <a:srgbClr val="EFEFEF"/>
                    </a:solidFill>
                  </a:tcPr>
                </a:tc>
                <a:tc>
                  <a:txBody>
                    <a:bodyPr/>
                    <a:lstStyle/>
                    <a:p>
                      <a:pPr algn="ctr">
                        <a:defRPr sz="1000" b="1">
                          <a:solidFill>
                            <a:srgbClr val="980000"/>
                          </a:solidFill>
                          <a:latin typeface="Montserrat"/>
                        </a:defRPr>
                      </a:pPr>
                      <a:r>
                        <a:t>196,189</a:t>
                      </a:r>
                    </a:p>
                  </a:txBody>
                  <a:tcPr marL="0" marR="0" marT="0" marB="0" anchor="ctr">
                    <a:solidFill>
                      <a:srgbClr val="F4E3E7"/>
                    </a:solidFill>
                  </a:tcPr>
                </a:tc>
                <a:tc>
                  <a:txBody>
                    <a:bodyPr/>
                    <a:lstStyle/>
                    <a:p>
                      <a:pPr algn="ctr">
                        <a:defRPr sz="1000" b="1">
                          <a:solidFill>
                            <a:srgbClr val="980000"/>
                          </a:solidFill>
                          <a:latin typeface="Montserrat"/>
                        </a:defRPr>
                      </a:pPr>
                      <a:r>
                        <a:t>470,485</a:t>
                      </a:r>
                    </a:p>
                  </a:txBody>
                  <a:tcPr marL="0" marR="0" marT="0" marB="0" anchor="ctr">
                    <a:solidFill>
                      <a:srgbClr val="F4E3E7"/>
                    </a:solidFill>
                  </a:tcPr>
                </a:tc>
                <a:tc>
                  <a:txBody>
                    <a:bodyPr/>
                    <a:lstStyle/>
                    <a:p>
                      <a:pPr algn="ctr">
                        <a:defRPr sz="1000" b="1">
                          <a:solidFill>
                            <a:srgbClr val="980000"/>
                          </a:solidFill>
                          <a:latin typeface="Montserrat"/>
                        </a:defRPr>
                      </a:pPr>
                      <a:r>
                        <a:t>41.7%</a:t>
                      </a:r>
                    </a:p>
                  </a:txBody>
                  <a:tcPr marL="0" marR="0" marT="0" marB="0" anchor="ct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34,001</a:t>
                      </a:r>
                    </a:p>
                  </a:txBody>
                  <a:tcPr marL="0" marR="0" marT="0" marB="0" anchor="ctr">
                    <a:solidFill>
                      <a:srgbClr val="FFFFFF"/>
                    </a:solidFill>
                  </a:tcPr>
                </a:tc>
                <a:tc>
                  <a:txBody>
                    <a:bodyPr/>
                    <a:lstStyle/>
                    <a:p>
                      <a:pPr algn="ctr">
                        <a:defRPr sz="1000">
                          <a:solidFill>
                            <a:srgbClr val="404040"/>
                          </a:solidFill>
                          <a:latin typeface="Montserrat"/>
                        </a:defRPr>
                      </a:pPr>
                      <a:r>
                        <a:t>15,966</a:t>
                      </a:r>
                    </a:p>
                  </a:txBody>
                  <a:tcPr marL="0" marR="0" marT="0" marB="0" anchor="ctr">
                    <a:solidFill>
                      <a:srgbClr val="FFFFFF"/>
                    </a:solidFill>
                  </a:tcPr>
                </a:tc>
                <a:tc>
                  <a:txBody>
                    <a:bodyPr/>
                    <a:lstStyle/>
                    <a:p>
                      <a:pPr algn="ctr">
                        <a:defRPr sz="1000" b="1">
                          <a:solidFill>
                            <a:srgbClr val="980000"/>
                          </a:solidFill>
                          <a:latin typeface="Montserrat"/>
                        </a:defRPr>
                      </a:pPr>
                      <a:r>
                        <a:t>17,233</a:t>
                      </a:r>
                    </a:p>
                  </a:txBody>
                  <a:tcPr marL="0" marR="0" marT="0" marB="0" anchor="ctr">
                    <a:solidFill>
                      <a:srgbClr val="ECD3D9"/>
                    </a:solidFill>
                  </a:tcPr>
                </a:tc>
                <a:tc>
                  <a:txBody>
                    <a:bodyPr/>
                    <a:lstStyle/>
                    <a:p>
                      <a:pPr algn="ctr">
                        <a:defRPr sz="1000" b="1">
                          <a:solidFill>
                            <a:srgbClr val="980000"/>
                          </a:solidFill>
                          <a:latin typeface="Montserrat"/>
                        </a:defRPr>
                      </a:pPr>
                      <a:r>
                        <a:t>40,079</a:t>
                      </a:r>
                    </a:p>
                  </a:txBody>
                  <a:tcPr marL="0" marR="0" marT="0" marB="0" anchor="ctr">
                    <a:solidFill>
                      <a:srgbClr val="ECD3D9"/>
                    </a:solidFill>
                  </a:tcPr>
                </a:tc>
                <a:tc>
                  <a:txBody>
                    <a:bodyPr/>
                    <a:lstStyle/>
                    <a:p>
                      <a:pPr algn="ctr">
                        <a:defRPr sz="1000" b="1">
                          <a:solidFill>
                            <a:srgbClr val="980000"/>
                          </a:solidFill>
                          <a:latin typeface="Montserrat"/>
                        </a:defRPr>
                      </a:pPr>
                      <a:r>
                        <a:t>43.0%</a:t>
                      </a:r>
                    </a:p>
                  </a:txBody>
                  <a:tcPr marL="0" marR="0" marT="0" marB="0" anchor="ctr">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15 Unidades de Medicina Familiar</a:t>
            </a:r>
          </a:p>
        </p:txBody>
      </p:sp>
      <p:sp>
        <p:nvSpPr>
          <p:cNvPr id="4" name="TextBox 3"/>
          <p:cNvSpPr txBox="1"/>
          <p:nvPr/>
        </p:nvSpPr>
        <p:spPr>
          <a:xfrm>
            <a:off x="147600" y="917999"/>
            <a:ext cx="3273653" cy="369332"/>
          </a:xfrm>
          <a:prstGeom prst="rect">
            <a:avLst/>
          </a:prstGeom>
          <a:noFill/>
        </p:spPr>
        <p:txBody>
          <a:bodyPr wrap="none">
            <a:spAutoFit/>
          </a:bodyPr>
          <a:lstStyle/>
          <a:p>
            <a:pPr algn="l">
              <a:defRPr sz="2000" b="1">
                <a:solidFill>
                  <a:srgbClr val="5B0F00"/>
                </a:solidFill>
                <a:latin typeface="Montserrat"/>
              </a:defRPr>
            </a:pPr>
            <a:r>
              <a:rPr sz="1800" dirty="0"/>
              <a:t>12 UMF de </a:t>
            </a:r>
            <a:r>
              <a:rPr sz="1800" dirty="0" err="1"/>
              <a:t>lunes</a:t>
            </a:r>
            <a:r>
              <a:rPr sz="1800" dirty="0"/>
              <a:t> a </a:t>
            </a:r>
            <a:r>
              <a:rPr sz="1800" dirty="0" err="1"/>
              <a:t>viernes</a:t>
            </a:r>
            <a:endParaRPr sz="1800"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3565765933"/>
              </p:ext>
            </p:extLst>
          </p:nvPr>
        </p:nvGraphicFramePr>
        <p:xfrm>
          <a:off x="151200" y="1692000"/>
          <a:ext cx="7473599" cy="2377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rPr dirty="0"/>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 23 Chilapa</a:t>
                      </a:r>
                    </a:p>
                  </a:txBody>
                  <a:tcPr marL="0" marR="0" marT="0" marB="0" anchor="ctr">
                    <a:solidFill>
                      <a:srgbClr val="FFFFFF"/>
                    </a:solidFill>
                  </a:tcPr>
                </a:tc>
                <a:tc>
                  <a:txBody>
                    <a:bodyPr/>
                    <a:lstStyle/>
                    <a:p>
                      <a:pPr algn="ctr">
                        <a:defRPr sz="1000">
                          <a:latin typeface="Montserrat"/>
                        </a:defRPr>
                      </a:pPr>
                      <a:r>
                        <a:rPr dirty="0"/>
                        <a:t>6,080</a:t>
                      </a:r>
                    </a:p>
                  </a:txBody>
                  <a:tcPr marL="0" marR="0" marT="0" marB="0" anchor="ctr">
                    <a:solidFill>
                      <a:srgbClr val="FFFFFF"/>
                    </a:solidFill>
                  </a:tcPr>
                </a:tc>
                <a:tc>
                  <a:txBody>
                    <a:bodyPr/>
                    <a:lstStyle/>
                    <a:p>
                      <a:pPr algn="ctr">
                        <a:defRPr sz="1000">
                          <a:latin typeface="Montserrat"/>
                        </a:defRPr>
                      </a:pPr>
                      <a:r>
                        <a:t>-412</a:t>
                      </a:r>
                    </a:p>
                  </a:txBody>
                  <a:tcPr marL="0" marR="0" marT="0" marB="0" anchor="ctr">
                    <a:solidFill>
                      <a:srgbClr val="FFFFFF"/>
                    </a:solidFill>
                  </a:tcPr>
                </a:tc>
                <a:tc>
                  <a:txBody>
                    <a:bodyPr/>
                    <a:lstStyle/>
                    <a:p>
                      <a:pPr algn="ctr">
                        <a:defRPr sz="1000">
                          <a:latin typeface="Montserrat"/>
                        </a:defRPr>
                      </a:pPr>
                      <a:r>
                        <a:t>2,761</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t>39.4%</a:t>
                      </a:r>
                    </a:p>
                  </a:txBody>
                  <a:tcPr marL="0" marR="0" marT="0" marB="0" anchor="ctr">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7 Tierra Colorada</a:t>
                      </a:r>
                    </a:p>
                  </a:txBody>
                  <a:tcPr marL="0" marR="0" marT="0" marB="0" anchor="ctr">
                    <a:solidFill>
                      <a:srgbClr val="EFEFEF"/>
                    </a:solidFill>
                  </a:tcPr>
                </a:tc>
                <a:tc>
                  <a:txBody>
                    <a:bodyPr/>
                    <a:lstStyle/>
                    <a:p>
                      <a:pPr algn="ctr">
                        <a:defRPr sz="1000">
                          <a:latin typeface="Montserrat"/>
                        </a:defRPr>
                      </a:pPr>
                      <a:r>
                        <a:t>8,865</a:t>
                      </a:r>
                    </a:p>
                  </a:txBody>
                  <a:tcPr marL="0" marR="0" marT="0" marB="0" anchor="ctr">
                    <a:solidFill>
                      <a:srgbClr val="EFEFEF"/>
                    </a:solidFill>
                  </a:tcPr>
                </a:tc>
                <a:tc>
                  <a:txBody>
                    <a:bodyPr/>
                    <a:lstStyle/>
                    <a:p>
                      <a:pPr algn="ctr">
                        <a:defRPr sz="1000">
                          <a:latin typeface="Montserrat"/>
                        </a:defRPr>
                      </a:pPr>
                      <a:r>
                        <a:t>43</a:t>
                      </a:r>
                    </a:p>
                  </a:txBody>
                  <a:tcPr marL="0" marR="0" marT="0" marB="0" anchor="ctr">
                    <a:solidFill>
                      <a:srgbClr val="EFEFEF"/>
                    </a:solidFill>
                  </a:tcPr>
                </a:tc>
                <a:tc>
                  <a:txBody>
                    <a:bodyPr/>
                    <a:lstStyle/>
                    <a:p>
                      <a:pPr algn="ctr">
                        <a:defRPr sz="1000">
                          <a:latin typeface="Montserrat"/>
                        </a:defRPr>
                      </a:pPr>
                      <a:r>
                        <a:t>3,615</a:t>
                      </a:r>
                    </a:p>
                  </a:txBody>
                  <a:tcPr marL="0" marR="0" marT="0" marB="0" anchor="ctr">
                    <a:solidFill>
                      <a:srgbClr val="ECD3D9"/>
                    </a:solidFill>
                  </a:tcPr>
                </a:tc>
                <a:tc>
                  <a:txBody>
                    <a:bodyPr/>
                    <a:lstStyle/>
                    <a:p>
                      <a:pPr algn="ctr">
                        <a:defRPr sz="1000">
                          <a:latin typeface="Montserrat"/>
                        </a:defRPr>
                      </a:pPr>
                      <a:r>
                        <a:t>10,000</a:t>
                      </a:r>
                    </a:p>
                  </a:txBody>
                  <a:tcPr marL="0" marR="0" marT="0" marB="0" anchor="ctr">
                    <a:solidFill>
                      <a:srgbClr val="ECD3D9"/>
                    </a:solidFill>
                  </a:tcPr>
                </a:tc>
                <a:tc>
                  <a:txBody>
                    <a:bodyPr/>
                    <a:lstStyle/>
                    <a:p>
                      <a:pPr algn="ctr">
                        <a:defRPr sz="1000">
                          <a:latin typeface="Montserrat"/>
                        </a:defRPr>
                      </a:pPr>
                      <a:r>
                        <a:t>36.2%</a:t>
                      </a:r>
                    </a:p>
                  </a:txBody>
                  <a:tcPr marL="0" marR="0" marT="0" marB="0" anchor="ctr">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25 Ometepec</a:t>
                      </a:r>
                    </a:p>
                  </a:txBody>
                  <a:tcPr marL="0" marR="0" marT="0" marB="0" anchor="ctr">
                    <a:solidFill>
                      <a:srgbClr val="FFFFFF"/>
                    </a:solidFill>
                  </a:tcPr>
                </a:tc>
                <a:tc>
                  <a:txBody>
                    <a:bodyPr/>
                    <a:lstStyle/>
                    <a:p>
                      <a:pPr algn="ctr">
                        <a:defRPr sz="1000">
                          <a:latin typeface="Montserrat"/>
                        </a:defRPr>
                      </a:pPr>
                      <a:r>
                        <a:t>13,499</a:t>
                      </a:r>
                    </a:p>
                  </a:txBody>
                  <a:tcPr marL="0" marR="0" marT="0" marB="0" anchor="ctr">
                    <a:solidFill>
                      <a:srgbClr val="FFFFFF"/>
                    </a:solidFill>
                  </a:tcPr>
                </a:tc>
                <a:tc>
                  <a:txBody>
                    <a:bodyPr/>
                    <a:lstStyle/>
                    <a:p>
                      <a:pPr algn="ctr">
                        <a:defRPr sz="1000">
                          <a:latin typeface="Montserrat"/>
                        </a:defRPr>
                      </a:pPr>
                      <a:r>
                        <a:t>733</a:t>
                      </a:r>
                    </a:p>
                  </a:txBody>
                  <a:tcPr marL="0" marR="0" marT="0" marB="0" anchor="ctr">
                    <a:solidFill>
                      <a:srgbClr val="FFFFFF"/>
                    </a:solidFill>
                  </a:tcPr>
                </a:tc>
                <a:tc>
                  <a:txBody>
                    <a:bodyPr/>
                    <a:lstStyle/>
                    <a:p>
                      <a:pPr algn="ctr">
                        <a:defRPr sz="1000">
                          <a:latin typeface="Montserrat"/>
                        </a:defRPr>
                      </a:pPr>
                      <a:r>
                        <a:t>5,321</a:t>
                      </a:r>
                    </a:p>
                  </a:txBody>
                  <a:tcPr marL="0" marR="0" marT="0" marB="0" anchor="ctr">
                    <a:solidFill>
                      <a:srgbClr val="ECD3D9"/>
                    </a:solidFill>
                  </a:tcPr>
                </a:tc>
                <a:tc>
                  <a:txBody>
                    <a:bodyPr/>
                    <a:lstStyle/>
                    <a:p>
                      <a:pPr algn="ctr">
                        <a:defRPr sz="1000">
                          <a:latin typeface="Montserrat"/>
                        </a:defRPr>
                      </a:pPr>
                      <a:r>
                        <a:t>14,000</a:t>
                      </a:r>
                    </a:p>
                  </a:txBody>
                  <a:tcPr marL="0" marR="0" marT="0" marB="0" anchor="ctr">
                    <a:solidFill>
                      <a:srgbClr val="ECD3D9"/>
                    </a:solidFill>
                  </a:tcPr>
                </a:tc>
                <a:tc>
                  <a:txBody>
                    <a:bodyPr/>
                    <a:lstStyle/>
                    <a:p>
                      <a:pPr algn="ctr">
                        <a:defRPr sz="1000">
                          <a:latin typeface="Montserrat"/>
                        </a:defRPr>
                      </a:pPr>
                      <a:r>
                        <a:t>38.0%</a:t>
                      </a:r>
                    </a:p>
                  </a:txBody>
                  <a:tcPr marL="0" marR="0" marT="0" marB="0" anchor="ctr">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20 Coyuca</a:t>
                      </a:r>
                    </a:p>
                  </a:txBody>
                  <a:tcPr marL="0" marR="0" marT="0" marB="0" anchor="ctr">
                    <a:solidFill>
                      <a:srgbClr val="EFEFEF"/>
                    </a:solidFill>
                  </a:tcPr>
                </a:tc>
                <a:tc>
                  <a:txBody>
                    <a:bodyPr/>
                    <a:lstStyle/>
                    <a:p>
                      <a:pPr algn="ctr">
                        <a:defRPr sz="1000">
                          <a:latin typeface="Montserrat"/>
                        </a:defRPr>
                      </a:pPr>
                      <a:r>
                        <a:t>7,035</a:t>
                      </a:r>
                    </a:p>
                  </a:txBody>
                  <a:tcPr marL="0" marR="0" marT="0" marB="0" anchor="ctr">
                    <a:solidFill>
                      <a:srgbClr val="EFEFEF"/>
                    </a:solidFill>
                  </a:tcPr>
                </a:tc>
                <a:tc>
                  <a:txBody>
                    <a:bodyPr/>
                    <a:lstStyle/>
                    <a:p>
                      <a:pPr algn="ctr">
                        <a:defRPr sz="1000">
                          <a:latin typeface="Montserrat"/>
                        </a:defRPr>
                      </a:pPr>
                      <a:r>
                        <a:t>1,062</a:t>
                      </a:r>
                    </a:p>
                  </a:txBody>
                  <a:tcPr marL="0" marR="0" marT="0" marB="0" anchor="ctr">
                    <a:solidFill>
                      <a:srgbClr val="EFEFEF"/>
                    </a:solidFill>
                  </a:tcPr>
                </a:tc>
                <a:tc>
                  <a:txBody>
                    <a:bodyPr/>
                    <a:lstStyle/>
                    <a:p>
                      <a:pPr algn="ctr">
                        <a:defRPr sz="1000">
                          <a:latin typeface="Montserrat"/>
                        </a:defRPr>
                      </a:pPr>
                      <a:r>
                        <a:t>2,896</a:t>
                      </a:r>
                    </a:p>
                  </a:txBody>
                  <a:tcPr marL="0" marR="0" marT="0" marB="0" anchor="ctr">
                    <a:solidFill>
                      <a:srgbClr val="ECD3D9"/>
                    </a:solidFill>
                  </a:tcPr>
                </a:tc>
                <a:tc>
                  <a:txBody>
                    <a:bodyPr/>
                    <a:lstStyle/>
                    <a:p>
                      <a:pPr algn="ctr">
                        <a:defRPr sz="1000">
                          <a:latin typeface="Montserrat"/>
                        </a:defRPr>
                      </a:pPr>
                      <a:r>
                        <a:t>8,000</a:t>
                      </a:r>
                    </a:p>
                  </a:txBody>
                  <a:tcPr marL="0" marR="0" marT="0" marB="0" anchor="ctr">
                    <a:solidFill>
                      <a:srgbClr val="ECD3D9"/>
                    </a:solidFill>
                  </a:tcPr>
                </a:tc>
                <a:tc>
                  <a:txBody>
                    <a:bodyPr/>
                    <a:lstStyle/>
                    <a:p>
                      <a:pPr algn="ctr">
                        <a:defRPr sz="1000">
                          <a:latin typeface="Montserrat"/>
                        </a:defRPr>
                      </a:pPr>
                      <a:r>
                        <a:t>36.2%</a:t>
                      </a:r>
                    </a:p>
                  </a:txBody>
                  <a:tcPr marL="0" marR="0" marT="0" marB="0" anchor="ctr">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21 Cutzamala</a:t>
                      </a:r>
                    </a:p>
                  </a:txBody>
                  <a:tcPr marL="0" marR="0" marT="0" marB="0" anchor="ctr">
                    <a:solidFill>
                      <a:srgbClr val="FFFFFF"/>
                    </a:solidFill>
                  </a:tcPr>
                </a:tc>
                <a:tc>
                  <a:txBody>
                    <a:bodyPr/>
                    <a:lstStyle/>
                    <a:p>
                      <a:pPr algn="ctr">
                        <a:defRPr sz="1000">
                          <a:latin typeface="Montserrat"/>
                        </a:defRPr>
                      </a:pPr>
                      <a:r>
                        <a:t>5,576</a:t>
                      </a:r>
                    </a:p>
                  </a:txBody>
                  <a:tcPr marL="0" marR="0" marT="0" marB="0" anchor="ctr">
                    <a:solidFill>
                      <a:srgbClr val="FFFFFF"/>
                    </a:solidFill>
                  </a:tcPr>
                </a:tc>
                <a:tc>
                  <a:txBody>
                    <a:bodyPr/>
                    <a:lstStyle/>
                    <a:p>
                      <a:pPr algn="ctr">
                        <a:defRPr sz="1000">
                          <a:latin typeface="Montserrat"/>
                        </a:defRPr>
                      </a:pPr>
                      <a:r>
                        <a:rPr dirty="0"/>
                        <a:t>193</a:t>
                      </a:r>
                    </a:p>
                  </a:txBody>
                  <a:tcPr marL="0" marR="0" marT="0" marB="0" anchor="ctr">
                    <a:solidFill>
                      <a:srgbClr val="FFFFFF"/>
                    </a:solidFill>
                  </a:tcPr>
                </a:tc>
                <a:tc>
                  <a:txBody>
                    <a:bodyPr/>
                    <a:lstStyle/>
                    <a:p>
                      <a:pPr algn="ctr">
                        <a:defRPr sz="1000">
                          <a:latin typeface="Montserrat"/>
                        </a:defRPr>
                      </a:pPr>
                      <a:r>
                        <a:t>1,925</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t>27.5%</a:t>
                      </a:r>
                    </a:p>
                  </a:txBody>
                  <a:tcPr marL="0" marR="0" marT="0" marB="0" anchor="ctr">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15 Petatlan</a:t>
                      </a:r>
                    </a:p>
                  </a:txBody>
                  <a:tcPr marL="0" marR="0" marT="0" marB="0" anchor="ctr">
                    <a:solidFill>
                      <a:srgbClr val="EFEFEF"/>
                    </a:solidFill>
                  </a:tcPr>
                </a:tc>
                <a:tc>
                  <a:txBody>
                    <a:bodyPr/>
                    <a:lstStyle/>
                    <a:p>
                      <a:pPr algn="ctr">
                        <a:defRPr sz="1000">
                          <a:latin typeface="Montserrat"/>
                        </a:defRPr>
                      </a:pPr>
                      <a:r>
                        <a:t>12,488</a:t>
                      </a:r>
                    </a:p>
                  </a:txBody>
                  <a:tcPr marL="0" marR="0" marT="0" marB="0" anchor="ctr">
                    <a:solidFill>
                      <a:srgbClr val="EFEFEF"/>
                    </a:solidFill>
                  </a:tcPr>
                </a:tc>
                <a:tc>
                  <a:txBody>
                    <a:bodyPr/>
                    <a:lstStyle/>
                    <a:p>
                      <a:pPr algn="ctr">
                        <a:defRPr sz="1000">
                          <a:latin typeface="Montserrat"/>
                        </a:defRPr>
                      </a:pPr>
                      <a:r>
                        <a:t>-234</a:t>
                      </a:r>
                    </a:p>
                  </a:txBody>
                  <a:tcPr marL="0" marR="0" marT="0" marB="0" anchor="ctr">
                    <a:solidFill>
                      <a:srgbClr val="EFEFEF"/>
                    </a:solidFill>
                  </a:tcPr>
                </a:tc>
                <a:tc>
                  <a:txBody>
                    <a:bodyPr/>
                    <a:lstStyle/>
                    <a:p>
                      <a:pPr algn="ctr">
                        <a:defRPr sz="1000">
                          <a:latin typeface="Montserrat"/>
                        </a:defRPr>
                      </a:pPr>
                      <a:r>
                        <a:t>5,524</a:t>
                      </a:r>
                    </a:p>
                  </a:txBody>
                  <a:tcPr marL="0" marR="0" marT="0" marB="0" anchor="ctr">
                    <a:solidFill>
                      <a:srgbClr val="ECD3D9"/>
                    </a:solidFill>
                  </a:tcPr>
                </a:tc>
                <a:tc>
                  <a:txBody>
                    <a:bodyPr/>
                    <a:lstStyle/>
                    <a:p>
                      <a:pPr algn="ctr">
                        <a:defRPr sz="1000">
                          <a:latin typeface="Montserrat"/>
                        </a:defRPr>
                      </a:pPr>
                      <a:r>
                        <a:t>14,000</a:t>
                      </a:r>
                    </a:p>
                  </a:txBody>
                  <a:tcPr marL="0" marR="0" marT="0" marB="0" anchor="ctr">
                    <a:solidFill>
                      <a:srgbClr val="ECD3D9"/>
                    </a:solidFill>
                  </a:tcPr>
                </a:tc>
                <a:tc>
                  <a:txBody>
                    <a:bodyPr/>
                    <a:lstStyle/>
                    <a:p>
                      <a:pPr algn="ctr">
                        <a:defRPr sz="1000">
                          <a:latin typeface="Montserrat"/>
                        </a:defRPr>
                      </a:pPr>
                      <a:r>
                        <a:t>39.5%</a:t>
                      </a:r>
                    </a:p>
                  </a:txBody>
                  <a:tcPr marL="0" marR="0" marT="0" marB="0" anchor="ctr">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17 La Unión</a:t>
                      </a:r>
                    </a:p>
                  </a:txBody>
                  <a:tcPr marL="0" marR="0" marT="0" marB="0" anchor="ctr">
                    <a:solidFill>
                      <a:srgbClr val="FFFFFF"/>
                    </a:solidFill>
                  </a:tcPr>
                </a:tc>
                <a:tc>
                  <a:txBody>
                    <a:bodyPr/>
                    <a:lstStyle/>
                    <a:p>
                      <a:pPr algn="ctr">
                        <a:defRPr sz="1000">
                          <a:latin typeface="Montserrat"/>
                        </a:defRPr>
                      </a:pPr>
                      <a:r>
                        <a:t>1,627</a:t>
                      </a:r>
                    </a:p>
                  </a:txBody>
                  <a:tcPr marL="0" marR="0" marT="0" marB="0" anchor="ctr">
                    <a:solidFill>
                      <a:srgbClr val="FFFFFF"/>
                    </a:solidFill>
                  </a:tcPr>
                </a:tc>
                <a:tc>
                  <a:txBody>
                    <a:bodyPr/>
                    <a:lstStyle/>
                    <a:p>
                      <a:pPr algn="ctr">
                        <a:defRPr sz="1000">
                          <a:latin typeface="Montserrat"/>
                        </a:defRPr>
                      </a:pPr>
                      <a:r>
                        <a:t>-290</a:t>
                      </a:r>
                    </a:p>
                  </a:txBody>
                  <a:tcPr marL="0" marR="0" marT="0" marB="0" anchor="ctr">
                    <a:solidFill>
                      <a:srgbClr val="FFFFFF"/>
                    </a:solidFill>
                  </a:tcPr>
                </a:tc>
                <a:tc>
                  <a:txBody>
                    <a:bodyPr/>
                    <a:lstStyle/>
                    <a:p>
                      <a:pPr algn="ctr">
                        <a:defRPr sz="1000">
                          <a:latin typeface="Montserrat"/>
                        </a:defRPr>
                      </a:pPr>
                      <a:r>
                        <a:t>849</a:t>
                      </a:r>
                    </a:p>
                  </a:txBody>
                  <a:tcPr marL="0" marR="0" marT="0" marB="0" anchor="ctr">
                    <a:solidFill>
                      <a:srgbClr val="ECD3D9"/>
                    </a:solidFill>
                  </a:tcPr>
                </a:tc>
                <a:tc>
                  <a:txBody>
                    <a:bodyPr/>
                    <a:lstStyle/>
                    <a:p>
                      <a:pPr algn="ctr">
                        <a:defRPr sz="1000">
                          <a:latin typeface="Montserrat"/>
                        </a:defRPr>
                      </a:pPr>
                      <a:r>
                        <a:t>3,000</a:t>
                      </a:r>
                    </a:p>
                  </a:txBody>
                  <a:tcPr marL="0" marR="0" marT="0" marB="0" anchor="ctr">
                    <a:solidFill>
                      <a:srgbClr val="ECD3D9"/>
                    </a:solidFill>
                  </a:tcPr>
                </a:tc>
                <a:tc>
                  <a:txBody>
                    <a:bodyPr/>
                    <a:lstStyle/>
                    <a:p>
                      <a:pPr algn="ctr">
                        <a:defRPr sz="1000">
                          <a:latin typeface="Montserrat"/>
                        </a:defRPr>
                      </a:pPr>
                      <a:r>
                        <a:t>28.3%</a:t>
                      </a:r>
                    </a:p>
                  </a:txBody>
                  <a:tcPr marL="0" marR="0" marT="0" marB="0" anchor="ctr">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12 S. Marcos</a:t>
                      </a:r>
                    </a:p>
                  </a:txBody>
                  <a:tcPr marL="0" marR="0" marT="0" marB="0" anchor="ctr">
                    <a:solidFill>
                      <a:srgbClr val="EFEFEF"/>
                    </a:solidFill>
                  </a:tcPr>
                </a:tc>
                <a:tc>
                  <a:txBody>
                    <a:bodyPr/>
                    <a:lstStyle/>
                    <a:p>
                      <a:pPr algn="ctr">
                        <a:defRPr sz="1000">
                          <a:latin typeface="Montserrat"/>
                        </a:defRPr>
                      </a:pPr>
                      <a:r>
                        <a:t>10,847</a:t>
                      </a:r>
                    </a:p>
                  </a:txBody>
                  <a:tcPr marL="0" marR="0" marT="0" marB="0" anchor="ctr">
                    <a:solidFill>
                      <a:srgbClr val="EFEFEF"/>
                    </a:solidFill>
                  </a:tcPr>
                </a:tc>
                <a:tc>
                  <a:txBody>
                    <a:bodyPr/>
                    <a:lstStyle/>
                    <a:p>
                      <a:pPr algn="ctr">
                        <a:defRPr sz="1000">
                          <a:latin typeface="Montserrat"/>
                        </a:defRPr>
                      </a:pPr>
                      <a:r>
                        <a:rPr dirty="0"/>
                        <a:t>-192</a:t>
                      </a:r>
                    </a:p>
                  </a:txBody>
                  <a:tcPr marL="0" marR="0" marT="0" marB="0" anchor="ctr">
                    <a:solidFill>
                      <a:srgbClr val="EFEFEF"/>
                    </a:solidFill>
                  </a:tcPr>
                </a:tc>
                <a:tc>
                  <a:txBody>
                    <a:bodyPr/>
                    <a:lstStyle/>
                    <a:p>
                      <a:pPr algn="ctr">
                        <a:defRPr sz="1000">
                          <a:latin typeface="Montserrat"/>
                        </a:defRPr>
                      </a:pPr>
                      <a:r>
                        <a:t>5,141</a:t>
                      </a:r>
                    </a:p>
                  </a:txBody>
                  <a:tcPr marL="0" marR="0" marT="0" marB="0" anchor="ctr">
                    <a:solidFill>
                      <a:srgbClr val="ECD3D9"/>
                    </a:solidFill>
                  </a:tcPr>
                </a:tc>
                <a:tc>
                  <a:txBody>
                    <a:bodyPr/>
                    <a:lstStyle/>
                    <a:p>
                      <a:pPr algn="ctr">
                        <a:defRPr sz="1000">
                          <a:latin typeface="Montserrat"/>
                        </a:defRPr>
                      </a:pPr>
                      <a:r>
                        <a:t>12,000</a:t>
                      </a:r>
                    </a:p>
                  </a:txBody>
                  <a:tcPr marL="0" marR="0" marT="0" marB="0" anchor="ctr">
                    <a:solidFill>
                      <a:srgbClr val="ECD3D9"/>
                    </a:solidFill>
                  </a:tcPr>
                </a:tc>
                <a:tc>
                  <a:txBody>
                    <a:bodyPr/>
                    <a:lstStyle/>
                    <a:p>
                      <a:pPr algn="ctr">
                        <a:defRPr sz="1000">
                          <a:latin typeface="Montserrat"/>
                        </a:defRPr>
                      </a:pPr>
                      <a:r>
                        <a:t>42.8%</a:t>
                      </a:r>
                    </a:p>
                  </a:txBody>
                  <a:tcPr marL="0" marR="0" marT="0" marB="0" anchor="ctr">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27 Petacalco</a:t>
                      </a:r>
                    </a:p>
                  </a:txBody>
                  <a:tcPr marL="0" marR="0" marT="0" marB="0" anchor="ctr">
                    <a:solidFill>
                      <a:srgbClr val="FFFFFF"/>
                    </a:solidFill>
                  </a:tcPr>
                </a:tc>
                <a:tc>
                  <a:txBody>
                    <a:bodyPr/>
                    <a:lstStyle/>
                    <a:p>
                      <a:pPr algn="ctr">
                        <a:defRPr sz="1000">
                          <a:latin typeface="Montserrat"/>
                        </a:defRPr>
                      </a:pPr>
                      <a:r>
                        <a:t>2,510</a:t>
                      </a:r>
                    </a:p>
                  </a:txBody>
                  <a:tcPr marL="0" marR="0" marT="0" marB="0" anchor="ctr">
                    <a:solidFill>
                      <a:srgbClr val="FFFFFF"/>
                    </a:solidFill>
                  </a:tcPr>
                </a:tc>
                <a:tc>
                  <a:txBody>
                    <a:bodyPr/>
                    <a:lstStyle/>
                    <a:p>
                      <a:pPr algn="ctr">
                        <a:defRPr sz="1000">
                          <a:latin typeface="Montserrat"/>
                        </a:defRPr>
                      </a:pPr>
                      <a:r>
                        <a:t>-325</a:t>
                      </a:r>
                    </a:p>
                  </a:txBody>
                  <a:tcPr marL="0" marR="0" marT="0" marB="0" anchor="ctr">
                    <a:solidFill>
                      <a:srgbClr val="FFFFFF"/>
                    </a:solidFill>
                  </a:tcPr>
                </a:tc>
                <a:tc>
                  <a:txBody>
                    <a:bodyPr/>
                    <a:lstStyle/>
                    <a:p>
                      <a:pPr algn="ctr">
                        <a:defRPr sz="1000">
                          <a:latin typeface="Montserrat"/>
                        </a:defRPr>
                      </a:pPr>
                      <a:r>
                        <a:t>1,084</a:t>
                      </a:r>
                    </a:p>
                  </a:txBody>
                  <a:tcPr marL="0" marR="0" marT="0" marB="0" anchor="ctr">
                    <a:solidFill>
                      <a:srgbClr val="ECD3D9"/>
                    </a:solidFill>
                  </a:tcPr>
                </a:tc>
                <a:tc>
                  <a:txBody>
                    <a:bodyPr/>
                    <a:lstStyle/>
                    <a:p>
                      <a:pPr algn="ctr">
                        <a:defRPr sz="1000">
                          <a:latin typeface="Montserrat"/>
                        </a:defRPr>
                      </a:pPr>
                      <a:r>
                        <a:t>4,000</a:t>
                      </a:r>
                    </a:p>
                  </a:txBody>
                  <a:tcPr marL="0" marR="0" marT="0" marB="0" anchor="ctr">
                    <a:solidFill>
                      <a:srgbClr val="ECD3D9"/>
                    </a:solidFill>
                  </a:tcPr>
                </a:tc>
                <a:tc>
                  <a:txBody>
                    <a:bodyPr/>
                    <a:lstStyle/>
                    <a:p>
                      <a:pPr algn="ctr">
                        <a:defRPr sz="1000">
                          <a:latin typeface="Montserrat"/>
                        </a:defRPr>
                      </a:pPr>
                      <a:r>
                        <a:t>27.1%</a:t>
                      </a:r>
                    </a:p>
                  </a:txBody>
                  <a:tcPr marL="0" marR="0" marT="0" marB="0" anchor="ctr">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28 El Coloso</a:t>
                      </a:r>
                    </a:p>
                  </a:txBody>
                  <a:tcPr marL="0" marR="0" marT="0" marB="0" anchor="ctr">
                    <a:solidFill>
                      <a:srgbClr val="EFEFEF"/>
                    </a:solidFill>
                  </a:tcPr>
                </a:tc>
                <a:tc>
                  <a:txBody>
                    <a:bodyPr/>
                    <a:lstStyle/>
                    <a:p>
                      <a:pPr algn="ctr">
                        <a:defRPr sz="1000">
                          <a:latin typeface="Montserrat"/>
                        </a:defRPr>
                      </a:pPr>
                      <a:r>
                        <a:t>62,680</a:t>
                      </a:r>
                    </a:p>
                  </a:txBody>
                  <a:tcPr marL="0" marR="0" marT="0" marB="0" anchor="ctr">
                    <a:solidFill>
                      <a:srgbClr val="EFEFEF"/>
                    </a:solidFill>
                  </a:tcPr>
                </a:tc>
                <a:tc>
                  <a:txBody>
                    <a:bodyPr/>
                    <a:lstStyle/>
                    <a:p>
                      <a:pPr algn="ctr">
                        <a:defRPr sz="1000">
                          <a:latin typeface="Montserrat"/>
                        </a:defRPr>
                      </a:pPr>
                      <a:r>
                        <a:t>7,450</a:t>
                      </a:r>
                    </a:p>
                  </a:txBody>
                  <a:tcPr marL="0" marR="0" marT="0" marB="0" anchor="ctr">
                    <a:solidFill>
                      <a:srgbClr val="EFEFEF"/>
                    </a:solidFill>
                  </a:tcPr>
                </a:tc>
                <a:tc>
                  <a:txBody>
                    <a:bodyPr/>
                    <a:lstStyle/>
                    <a:p>
                      <a:pPr algn="ctr">
                        <a:defRPr sz="1000">
                          <a:latin typeface="Montserrat"/>
                        </a:defRPr>
                      </a:pPr>
                      <a:r>
                        <a:t>28,769</a:t>
                      </a:r>
                    </a:p>
                  </a:txBody>
                  <a:tcPr marL="0" marR="0" marT="0" marB="0" anchor="ctr">
                    <a:solidFill>
                      <a:srgbClr val="ECD3D9"/>
                    </a:solidFill>
                  </a:tcPr>
                </a:tc>
                <a:tc>
                  <a:txBody>
                    <a:bodyPr/>
                    <a:lstStyle/>
                    <a:p>
                      <a:pPr algn="ctr">
                        <a:defRPr sz="1000">
                          <a:latin typeface="Montserrat"/>
                        </a:defRPr>
                      </a:pPr>
                      <a:r>
                        <a:t>62,640</a:t>
                      </a:r>
                    </a:p>
                  </a:txBody>
                  <a:tcPr marL="0" marR="0" marT="0" marB="0" anchor="ctr">
                    <a:solidFill>
                      <a:srgbClr val="ECD3D9"/>
                    </a:solidFill>
                  </a:tcPr>
                </a:tc>
                <a:tc>
                  <a:txBody>
                    <a:bodyPr/>
                    <a:lstStyle/>
                    <a:p>
                      <a:pPr algn="ctr">
                        <a:defRPr sz="1000">
                          <a:latin typeface="Montserrat"/>
                        </a:defRPr>
                      </a:pPr>
                      <a:r>
                        <a:t>45.9%</a:t>
                      </a:r>
                    </a:p>
                  </a:txBody>
                  <a:tcPr marL="0" marR="0" marT="0" marB="0" anchor="ctr">
                    <a:solidFill>
                      <a:srgbClr val="ECD3D9"/>
                    </a:solidFill>
                  </a:tcPr>
                </a:tc>
                <a:extLst>
                  <a:ext uri="{0D108BD9-81ED-4DB2-BD59-A6C34878D82A}">
                    <a16:rowId xmlns:a16="http://schemas.microsoft.com/office/drawing/2014/main" val="10010"/>
                  </a:ext>
                </a:extLst>
              </a:tr>
              <a:tr h="151200">
                <a:tc>
                  <a:txBody>
                    <a:bodyPr/>
                    <a:lstStyle/>
                    <a:p>
                      <a:pPr algn="l">
                        <a:defRPr sz="1000">
                          <a:latin typeface="Montserrat"/>
                        </a:defRPr>
                      </a:pPr>
                      <a:r>
                        <a:t>UMF 9 Acapulco</a:t>
                      </a:r>
                    </a:p>
                  </a:txBody>
                  <a:tcPr marL="0" marR="0" marT="0" marB="0" anchor="ctr">
                    <a:solidFill>
                      <a:srgbClr val="FFFFFF"/>
                    </a:solidFill>
                  </a:tcPr>
                </a:tc>
                <a:tc>
                  <a:txBody>
                    <a:bodyPr/>
                    <a:lstStyle/>
                    <a:p>
                      <a:pPr algn="ctr">
                        <a:defRPr sz="1000">
                          <a:latin typeface="Montserrat"/>
                        </a:defRPr>
                      </a:pPr>
                      <a:r>
                        <a:t>403,899</a:t>
                      </a:r>
                    </a:p>
                  </a:txBody>
                  <a:tcPr marL="0" marR="0" marT="0" marB="0" anchor="ctr">
                    <a:solidFill>
                      <a:srgbClr val="FFFFFF"/>
                    </a:solidFill>
                  </a:tcPr>
                </a:tc>
                <a:tc>
                  <a:txBody>
                    <a:bodyPr/>
                    <a:lstStyle/>
                    <a:p>
                      <a:pPr algn="ctr">
                        <a:defRPr sz="1000">
                          <a:latin typeface="Montserrat"/>
                        </a:defRPr>
                      </a:pPr>
                      <a:r>
                        <a:t>11,468</a:t>
                      </a:r>
                    </a:p>
                  </a:txBody>
                  <a:tcPr marL="0" marR="0" marT="0" marB="0" anchor="ctr">
                    <a:solidFill>
                      <a:srgbClr val="FFFFFF"/>
                    </a:solidFill>
                  </a:tcPr>
                </a:tc>
                <a:tc>
                  <a:txBody>
                    <a:bodyPr/>
                    <a:lstStyle/>
                    <a:p>
                      <a:pPr algn="ctr">
                        <a:defRPr sz="1000">
                          <a:latin typeface="Montserrat"/>
                        </a:defRPr>
                      </a:pPr>
                      <a:r>
                        <a:rPr dirty="0"/>
                        <a:t>179,818</a:t>
                      </a:r>
                    </a:p>
                  </a:txBody>
                  <a:tcPr marL="0" marR="0" marT="0" marB="0" anchor="ctr">
                    <a:solidFill>
                      <a:srgbClr val="ECD3D9"/>
                    </a:solidFill>
                  </a:tcPr>
                </a:tc>
                <a:tc>
                  <a:txBody>
                    <a:bodyPr/>
                    <a:lstStyle/>
                    <a:p>
                      <a:pPr algn="ctr">
                        <a:defRPr sz="1000">
                          <a:latin typeface="Montserrat"/>
                        </a:defRPr>
                      </a:pPr>
                      <a:r>
                        <a:t>391,000</a:t>
                      </a:r>
                    </a:p>
                  </a:txBody>
                  <a:tcPr marL="0" marR="0" marT="0" marB="0" anchor="ctr">
                    <a:solidFill>
                      <a:srgbClr val="ECD3D9"/>
                    </a:solidFill>
                  </a:tcPr>
                </a:tc>
                <a:tc>
                  <a:txBody>
                    <a:bodyPr/>
                    <a:lstStyle/>
                    <a:p>
                      <a:pPr algn="ctr">
                        <a:defRPr sz="1000">
                          <a:latin typeface="Montserrat"/>
                        </a:defRPr>
                      </a:pPr>
                      <a:r>
                        <a:t>46.0%</a:t>
                      </a:r>
                    </a:p>
                  </a:txBody>
                  <a:tcPr marL="0" marR="0" marT="0" marB="0" anchor="ctr">
                    <a:solidFill>
                      <a:srgbClr val="ECD3D9"/>
                    </a:solidFill>
                  </a:tcPr>
                </a:tc>
                <a:extLst>
                  <a:ext uri="{0D108BD9-81ED-4DB2-BD59-A6C34878D82A}">
                    <a16:rowId xmlns:a16="http://schemas.microsoft.com/office/drawing/2014/main" val="10011"/>
                  </a:ext>
                </a:extLst>
              </a:tr>
              <a:tr h="151200">
                <a:tc>
                  <a:txBody>
                    <a:bodyPr/>
                    <a:lstStyle/>
                    <a:p>
                      <a:pPr algn="l">
                        <a:defRPr sz="1000">
                          <a:latin typeface="Montserrat"/>
                        </a:defRPr>
                      </a:pPr>
                      <a:r>
                        <a:t>UMF 31 Mezcala</a:t>
                      </a:r>
                    </a:p>
                  </a:txBody>
                  <a:tcPr marL="0" marR="0" marT="0" marB="0" anchor="ctr">
                    <a:solidFill>
                      <a:srgbClr val="EFEFEF"/>
                    </a:solidFill>
                  </a:tcPr>
                </a:tc>
                <a:tc>
                  <a:txBody>
                    <a:bodyPr/>
                    <a:lstStyle/>
                    <a:p>
                      <a:pPr algn="ctr">
                        <a:defRPr sz="1000">
                          <a:latin typeface="Montserrat"/>
                        </a:defRPr>
                      </a:pPr>
                      <a:r>
                        <a:t>5,152</a:t>
                      </a:r>
                    </a:p>
                  </a:txBody>
                  <a:tcPr marL="0" marR="0" marT="0" marB="0" anchor="ctr">
                    <a:solidFill>
                      <a:srgbClr val="EFEFEF"/>
                    </a:solidFill>
                  </a:tcPr>
                </a:tc>
                <a:tc>
                  <a:txBody>
                    <a:bodyPr/>
                    <a:lstStyle/>
                    <a:p>
                      <a:pPr algn="ctr">
                        <a:defRPr sz="1000">
                          <a:latin typeface="Montserrat"/>
                        </a:defRPr>
                      </a:pPr>
                      <a:r>
                        <a:t>-2,778</a:t>
                      </a:r>
                    </a:p>
                  </a:txBody>
                  <a:tcPr marL="0" marR="0" marT="0" marB="0" anchor="ctr">
                    <a:solidFill>
                      <a:srgbClr val="EFEFEF"/>
                    </a:solidFill>
                  </a:tcPr>
                </a:tc>
                <a:tc>
                  <a:txBody>
                    <a:bodyPr/>
                    <a:lstStyle/>
                    <a:p>
                      <a:pPr algn="ctr">
                        <a:defRPr sz="1000">
                          <a:latin typeface="Montserrat"/>
                        </a:defRPr>
                      </a:pPr>
                      <a:r>
                        <a:t>1,972</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rPr dirty="0"/>
                        <a:t>28.2%</a:t>
                      </a:r>
                    </a:p>
                  </a:txBody>
                  <a:tcPr marL="0" marR="0" marT="0" marB="0" anchor="ctr">
                    <a:solidFill>
                      <a:srgbClr val="ECD3D9"/>
                    </a:solidFill>
                  </a:tcPr>
                </a:tc>
                <a:extLst>
                  <a:ext uri="{0D108BD9-81ED-4DB2-BD59-A6C34878D82A}">
                    <a16:rowId xmlns:a16="http://schemas.microsoft.com/office/drawing/2014/main" val="10012"/>
                  </a:ext>
                </a:extLst>
              </a:tr>
              <a:tr h="151200">
                <a:tc>
                  <a:txBody>
                    <a:bodyPr/>
                    <a:lstStyle/>
                    <a:p>
                      <a:pPr algn="ctr">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540,258</a:t>
                      </a:r>
                    </a:p>
                  </a:txBody>
                  <a:tcPr marL="0" marR="0" marT="0" marB="0" anchor="ctr">
                    <a:solidFill>
                      <a:srgbClr val="D3E9E7"/>
                    </a:solidFill>
                  </a:tcPr>
                </a:tc>
                <a:tc>
                  <a:txBody>
                    <a:bodyPr/>
                    <a:lstStyle/>
                    <a:p>
                      <a:pPr algn="ctr">
                        <a:defRPr sz="1000" b="1">
                          <a:solidFill>
                            <a:srgbClr val="006556"/>
                          </a:solidFill>
                          <a:latin typeface="Montserrat"/>
                        </a:defRPr>
                      </a:pPr>
                      <a:r>
                        <a:t>16,718</a:t>
                      </a:r>
                    </a:p>
                  </a:txBody>
                  <a:tcPr marL="0" marR="0" marT="0" marB="0" anchor="ctr">
                    <a:solidFill>
                      <a:srgbClr val="D3E9E7"/>
                    </a:solidFill>
                  </a:tcPr>
                </a:tc>
                <a:tc>
                  <a:txBody>
                    <a:bodyPr/>
                    <a:lstStyle/>
                    <a:p>
                      <a:pPr algn="ctr">
                        <a:defRPr sz="1000" b="1">
                          <a:solidFill>
                            <a:srgbClr val="FFFFFF"/>
                          </a:solidFill>
                          <a:latin typeface="Montserrat"/>
                        </a:defRPr>
                      </a:pPr>
                      <a:r>
                        <a:t>239,675</a:t>
                      </a:r>
                    </a:p>
                  </a:txBody>
                  <a:tcPr marL="0" marR="0" marT="0" marB="0" anchor="ctr">
                    <a:solidFill>
                      <a:srgbClr val="9F2241"/>
                    </a:solidFill>
                  </a:tcPr>
                </a:tc>
                <a:tc>
                  <a:txBody>
                    <a:bodyPr/>
                    <a:lstStyle/>
                    <a:p>
                      <a:pPr algn="ctr">
                        <a:defRPr sz="1000" b="1">
                          <a:solidFill>
                            <a:srgbClr val="FFFFFF"/>
                          </a:solidFill>
                          <a:latin typeface="Montserrat"/>
                        </a:defRPr>
                      </a:pPr>
                      <a:r>
                        <a:rPr dirty="0"/>
                        <a:t>539,640</a:t>
                      </a:r>
                    </a:p>
                  </a:txBody>
                  <a:tcPr marL="0" marR="0" marT="0" marB="0" anchor="ctr">
                    <a:solidFill>
                      <a:srgbClr val="9F2241"/>
                    </a:solidFill>
                  </a:tcPr>
                </a:tc>
                <a:tc>
                  <a:txBody>
                    <a:bodyPr/>
                    <a:lstStyle/>
                    <a:p>
                      <a:pPr algn="ctr">
                        <a:defRPr sz="1000" b="1">
                          <a:solidFill>
                            <a:srgbClr val="FFFFFF"/>
                          </a:solidFill>
                          <a:latin typeface="Montserrat"/>
                        </a:defRPr>
                      </a:pPr>
                      <a:r>
                        <a:rPr dirty="0"/>
                        <a:t>44.4%</a:t>
                      </a:r>
                    </a:p>
                  </a:txBody>
                  <a:tcPr marL="0" marR="0" marT="0" marB="0" anchor="ctr">
                    <a:solidFill>
                      <a:srgbClr val="9F2241"/>
                    </a:solidFill>
                  </a:tcPr>
                </a:tc>
                <a:extLst>
                  <a:ext uri="{0D108BD9-81ED-4DB2-BD59-A6C34878D82A}">
                    <a16:rowId xmlns:a16="http://schemas.microsoft.com/office/drawing/2014/main" val="10013"/>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2406105531"/>
              </p:ext>
            </p:extLst>
          </p:nvPr>
        </p:nvGraphicFramePr>
        <p:xfrm>
          <a:off x="3817500" y="4008497"/>
          <a:ext cx="1493000" cy="154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3817500" y="4622817"/>
            <a:ext cx="1493000" cy="369332"/>
          </a:xfrm>
          <a:prstGeom prst="rect">
            <a:avLst/>
          </a:prstGeom>
          <a:noFill/>
        </p:spPr>
        <p:txBody>
          <a:bodyPr wrap="square">
            <a:spAutoFit/>
          </a:bodyPr>
          <a:lstStyle/>
          <a:p>
            <a:pPr algn="ctr"/>
            <a:r>
              <a:rPr sz="1800" b="1" dirty="0">
                <a:solidFill>
                  <a:srgbClr val="9F2241"/>
                </a:solidFill>
                <a:latin typeface="Montserrat"/>
              </a:rPr>
              <a:t>44.4%</a:t>
            </a:r>
          </a:p>
        </p:txBody>
      </p:sp>
      <p:sp>
        <p:nvSpPr>
          <p:cNvPr id="11" name="TextBox 10"/>
          <p:cNvSpPr txBox="1"/>
          <p:nvPr/>
        </p:nvSpPr>
        <p:spPr>
          <a:xfrm>
            <a:off x="3817500" y="5421217"/>
            <a:ext cx="1493000" cy="308180"/>
          </a:xfrm>
          <a:prstGeom prst="rect">
            <a:avLst/>
          </a:prstGeom>
          <a:noFill/>
        </p:spPr>
        <p:txBody>
          <a:bodyPr wrap="square">
            <a:spAutoFit/>
          </a:bodyPr>
          <a:lstStyle/>
          <a:p>
            <a:pPr algn="ctr"/>
            <a:r>
              <a:rPr sz="1400" b="1">
                <a:solidFill>
                  <a:srgbClr val="9F2241"/>
                </a:solidFill>
                <a:latin typeface="Montserrat"/>
              </a:rPr>
              <a:t>Avance</a:t>
            </a:r>
          </a:p>
        </p:txBody>
      </p:sp>
      <p:sp>
        <p:nvSpPr>
          <p:cNvPr id="12" name="TextBox 11"/>
          <p:cNvSpPr txBox="1"/>
          <p:nvPr/>
        </p:nvSpPr>
        <p:spPr>
          <a:xfrm>
            <a:off x="1374800" y="4391984"/>
            <a:ext cx="2854800" cy="830997"/>
          </a:xfrm>
          <a:prstGeom prst="rect">
            <a:avLst/>
          </a:prstGeom>
          <a:noFill/>
        </p:spPr>
        <p:txBody>
          <a:bodyPr wrap="square">
            <a:spAutoFit/>
          </a:bodyPr>
          <a:lstStyle/>
          <a:p>
            <a:pPr algn="ctr">
              <a:defRPr sz="3600" b="1">
                <a:solidFill>
                  <a:srgbClr val="9F2241"/>
                </a:solidFill>
                <a:latin typeface="Montserrat"/>
              </a:defRPr>
            </a:pPr>
            <a:r>
              <a:rPr sz="2400" dirty="0"/>
              <a:t>539,640 </a:t>
            </a:r>
            <a:br>
              <a:rPr sz="2400" dirty="0"/>
            </a:br>
            <a:r>
              <a:rPr sz="2400" dirty="0"/>
              <a:t>Meta 2026</a:t>
            </a:r>
          </a:p>
        </p:txBody>
      </p:sp>
      <p:sp>
        <p:nvSpPr>
          <p:cNvPr id="13" name="TextBox 173"/>
          <p:cNvSpPr txBox="1"/>
          <p:nvPr/>
        </p:nvSpPr>
        <p:spPr>
          <a:xfrm>
            <a:off x="147600" y="5667799"/>
            <a:ext cx="7127272" cy="369332"/>
          </a:xfrm>
          <a:prstGeom prst="rect">
            <a:avLst/>
          </a:prstGeom>
          <a:noFill/>
        </p:spPr>
        <p:txBody>
          <a:bodyPr wrap="none">
            <a:spAutoFit/>
          </a:bodyPr>
          <a:lstStyle/>
          <a:p>
            <a:pPr algn="l">
              <a:defRPr sz="1600" b="1">
                <a:solidFill>
                  <a:srgbClr val="5B0F00"/>
                </a:solidFill>
                <a:latin typeface="Montserrat"/>
              </a:defRPr>
            </a:pPr>
            <a:r>
              <a:rPr sz="1800" dirty="0"/>
              <a:t>3 </a:t>
            </a:r>
            <a:r>
              <a:rPr sz="1800" dirty="0" err="1"/>
              <a:t>Unidades</a:t>
            </a:r>
            <a:r>
              <a:rPr sz="1800" dirty="0"/>
              <a:t> </a:t>
            </a:r>
            <a:r>
              <a:rPr sz="1800" dirty="0" err="1"/>
              <a:t>Médicas</a:t>
            </a:r>
            <a:r>
              <a:rPr sz="1800" dirty="0"/>
              <a:t> de </a:t>
            </a:r>
            <a:r>
              <a:rPr sz="1800" dirty="0" err="1"/>
              <a:t>tiempo</a:t>
            </a:r>
            <a:r>
              <a:rPr sz="1800" dirty="0"/>
              <a:t> </a:t>
            </a:r>
            <a:r>
              <a:rPr sz="1800" dirty="0" err="1"/>
              <a:t>completo</a:t>
            </a:r>
            <a:r>
              <a:rPr sz="1800" dirty="0"/>
              <a:t> (12 </a:t>
            </a:r>
            <a:r>
              <a:rPr sz="1800" dirty="0" err="1"/>
              <a:t>consultorios</a:t>
            </a:r>
            <a:r>
              <a:rPr sz="1800" dirty="0"/>
              <a:t>)</a:t>
            </a:r>
          </a:p>
        </p:txBody>
      </p:sp>
      <p:sp>
        <p:nvSpPr>
          <p:cNvPr id="14" name="TextBox 174"/>
          <p:cNvSpPr txBox="1"/>
          <p:nvPr/>
        </p:nvSpPr>
        <p:spPr>
          <a:xfrm>
            <a:off x="125999" y="60854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75"/>
          <p:cNvCxnSpPr/>
          <p:nvPr/>
        </p:nvCxnSpPr>
        <p:spPr>
          <a:xfrm>
            <a:off x="118800" y="60098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6" name="Table 178"/>
          <p:cNvGraphicFramePr>
            <a:graphicFrameLocks noGrp="1"/>
          </p:cNvGraphicFramePr>
          <p:nvPr>
            <p:extLst>
              <p:ext uri="{D42A27DB-BD31-4B8C-83A1-F6EECF244321}">
                <p14:modId xmlns:p14="http://schemas.microsoft.com/office/powerpoint/2010/main" val="3585038612"/>
              </p:ext>
            </p:extLst>
          </p:nvPr>
        </p:nvGraphicFramePr>
        <p:xfrm>
          <a:off x="151200" y="6445400"/>
          <a:ext cx="7473599" cy="10058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rPr dirty="0"/>
                        <a:t>Unidad</a:t>
                      </a:r>
                    </a:p>
                  </a:txBody>
                  <a:tcPr anchor="ctr">
                    <a:solidFill>
                      <a:srgbClr val="006455"/>
                    </a:solidFill>
                  </a:tcPr>
                </a:tc>
                <a:tc>
                  <a:txBody>
                    <a:bodyPr/>
                    <a:lstStyle/>
                    <a:p>
                      <a:pPr algn="ctr">
                        <a:defRPr sz="1000" b="1">
                          <a:solidFill>
                            <a:srgbClr val="FFFFFF"/>
                          </a:solidFill>
                          <a:latin typeface="Montserrat"/>
                        </a:defRPr>
                      </a:pPr>
                      <a:r>
                        <a:rPr dirty="0"/>
                        <a:t>2025</a:t>
                      </a:r>
                    </a:p>
                  </a:txBody>
                  <a:tcPr anchor="ctr">
                    <a:solidFill>
                      <a:srgbClr val="006455"/>
                    </a:solidFill>
                  </a:tcPr>
                </a:tc>
                <a:tc>
                  <a:txBody>
                    <a:bodyPr/>
                    <a:lstStyle/>
                    <a:p>
                      <a:pPr algn="ctr">
                        <a:defRPr sz="1000" b="1">
                          <a:solidFill>
                            <a:srgbClr val="FFFFFF"/>
                          </a:solidFill>
                          <a:latin typeface="Montserrat"/>
                        </a:defRPr>
                      </a:pPr>
                      <a:r>
                        <a:rPr dirty="0" err="1"/>
                        <a:t>Incremento</a:t>
                      </a:r>
                      <a:r>
                        <a:rPr dirty="0"/>
                        <a:t> 2024 vs 2025</a:t>
                      </a:r>
                    </a:p>
                  </a:txBody>
                  <a:tcPr anchor="ctr">
                    <a:solidFill>
                      <a:srgbClr val="006455"/>
                    </a:solidFill>
                  </a:tcPr>
                </a:tc>
                <a:tc>
                  <a:txBody>
                    <a:bodyPr/>
                    <a:lstStyle/>
                    <a:p>
                      <a:pPr algn="ctr">
                        <a:defRPr sz="1000" b="1">
                          <a:solidFill>
                            <a:srgbClr val="FFFFFF"/>
                          </a:solidFill>
                          <a:latin typeface="Montserrat"/>
                        </a:defRPr>
                      </a:pPr>
                      <a:r>
                        <a:rPr dirty="0"/>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solidFill>
                            <a:srgbClr val="000000"/>
                          </a:solidFill>
                          <a:latin typeface="Montserrat"/>
                        </a:defRPr>
                      </a:pPr>
                      <a:r>
                        <a:t>UMF 26 Acapulco</a:t>
                      </a:r>
                    </a:p>
                  </a:txBody>
                  <a:tcPr marL="0" marR="0" marT="0" marB="0" anchor="ctr">
                    <a:solidFill>
                      <a:srgbClr val="FFFFFF"/>
                    </a:solidFill>
                  </a:tcPr>
                </a:tc>
                <a:tc>
                  <a:txBody>
                    <a:bodyPr/>
                    <a:lstStyle/>
                    <a:p>
                      <a:pPr algn="ctr">
                        <a:defRPr sz="1000">
                          <a:solidFill>
                            <a:srgbClr val="000000"/>
                          </a:solidFill>
                          <a:latin typeface="Montserrat"/>
                        </a:defRPr>
                      </a:pPr>
                      <a:r>
                        <a:t>295,316</a:t>
                      </a:r>
                    </a:p>
                  </a:txBody>
                  <a:tcPr marL="0" marR="0" marT="0" marB="0" anchor="ctr">
                    <a:solidFill>
                      <a:srgbClr val="FFFFFF"/>
                    </a:solidFill>
                  </a:tcPr>
                </a:tc>
                <a:tc>
                  <a:txBody>
                    <a:bodyPr/>
                    <a:lstStyle/>
                    <a:p>
                      <a:pPr algn="ctr">
                        <a:defRPr sz="1000">
                          <a:solidFill>
                            <a:srgbClr val="000000"/>
                          </a:solidFill>
                          <a:latin typeface="Montserrat"/>
                        </a:defRPr>
                      </a:pPr>
                      <a:r>
                        <a:t>4,245</a:t>
                      </a:r>
                    </a:p>
                  </a:txBody>
                  <a:tcPr marL="0" marR="0" marT="0" marB="0" anchor="ctr">
                    <a:solidFill>
                      <a:srgbClr val="FFFFFF"/>
                    </a:solidFill>
                  </a:tcPr>
                </a:tc>
                <a:tc>
                  <a:txBody>
                    <a:bodyPr/>
                    <a:lstStyle/>
                    <a:p>
                      <a:pPr algn="ctr">
                        <a:defRPr sz="1000">
                          <a:solidFill>
                            <a:srgbClr val="000000"/>
                          </a:solidFill>
                          <a:latin typeface="Montserrat"/>
                        </a:defRPr>
                      </a:pPr>
                      <a:r>
                        <a:rPr dirty="0"/>
                        <a:t>127,679</a:t>
                      </a:r>
                    </a:p>
                  </a:txBody>
                  <a:tcPr marL="0" marR="0" marT="0" marB="0" anchor="ctr">
                    <a:solidFill>
                      <a:srgbClr val="ECD3D9"/>
                    </a:solidFill>
                  </a:tcPr>
                </a:tc>
                <a:tc>
                  <a:txBody>
                    <a:bodyPr/>
                    <a:lstStyle/>
                    <a:p>
                      <a:pPr algn="ctr">
                        <a:defRPr sz="1000">
                          <a:solidFill>
                            <a:srgbClr val="000000"/>
                          </a:solidFill>
                          <a:latin typeface="Montserrat"/>
                        </a:defRPr>
                      </a:pPr>
                      <a:r>
                        <a:t>285,000</a:t>
                      </a:r>
                    </a:p>
                  </a:txBody>
                  <a:tcPr marL="0" marR="0" marT="0" marB="0" anchor="ctr">
                    <a:solidFill>
                      <a:srgbClr val="ECD3D9"/>
                    </a:solidFill>
                  </a:tcPr>
                </a:tc>
                <a:tc>
                  <a:txBody>
                    <a:bodyPr/>
                    <a:lstStyle/>
                    <a:p>
                      <a:pPr algn="ctr">
                        <a:defRPr sz="1000">
                          <a:solidFill>
                            <a:srgbClr val="000000"/>
                          </a:solidFill>
                          <a:latin typeface="Montserrat"/>
                        </a:defRPr>
                      </a:pPr>
                      <a:r>
                        <a:t>44.8%</a:t>
                      </a:r>
                    </a:p>
                  </a:txBody>
                  <a:tcPr marL="0" marR="0" marT="0" marB="0" anchor="ctr">
                    <a:solidFill>
                      <a:srgbClr val="ECD3D9"/>
                    </a:solidFill>
                  </a:tcPr>
                </a:tc>
                <a:extLst>
                  <a:ext uri="{0D108BD9-81ED-4DB2-BD59-A6C34878D82A}">
                    <a16:rowId xmlns:a16="http://schemas.microsoft.com/office/drawing/2014/main" val="10001"/>
                  </a:ext>
                </a:extLst>
              </a:tr>
              <a:tr h="151200">
                <a:tc>
                  <a:txBody>
                    <a:bodyPr/>
                    <a:lstStyle/>
                    <a:p>
                      <a:pPr algn="l">
                        <a:defRPr sz="1000">
                          <a:solidFill>
                            <a:srgbClr val="000000"/>
                          </a:solidFill>
                          <a:latin typeface="Montserrat"/>
                        </a:defRPr>
                      </a:pPr>
                      <a:r>
                        <a:t>UMF 2 La Garita</a:t>
                      </a:r>
                    </a:p>
                  </a:txBody>
                  <a:tcPr marL="0" marR="0" marT="0" marB="0" anchor="ctr">
                    <a:solidFill>
                      <a:srgbClr val="EFEFEF"/>
                    </a:solidFill>
                  </a:tcPr>
                </a:tc>
                <a:tc>
                  <a:txBody>
                    <a:bodyPr/>
                    <a:lstStyle/>
                    <a:p>
                      <a:pPr algn="ctr">
                        <a:defRPr sz="1000">
                          <a:solidFill>
                            <a:srgbClr val="000000"/>
                          </a:solidFill>
                          <a:latin typeface="Montserrat"/>
                        </a:defRPr>
                      </a:pPr>
                      <a:r>
                        <a:t>159,698</a:t>
                      </a:r>
                    </a:p>
                  </a:txBody>
                  <a:tcPr marL="0" marR="0" marT="0" marB="0" anchor="ctr">
                    <a:solidFill>
                      <a:srgbClr val="EFEFEF"/>
                    </a:solidFill>
                  </a:tcPr>
                </a:tc>
                <a:tc>
                  <a:txBody>
                    <a:bodyPr/>
                    <a:lstStyle/>
                    <a:p>
                      <a:pPr algn="ctr">
                        <a:defRPr sz="1000">
                          <a:solidFill>
                            <a:srgbClr val="000000"/>
                          </a:solidFill>
                          <a:latin typeface="Montserrat"/>
                        </a:defRPr>
                      </a:pPr>
                      <a:r>
                        <a:t>8,166</a:t>
                      </a:r>
                    </a:p>
                  </a:txBody>
                  <a:tcPr marL="0" marR="0" marT="0" marB="0" anchor="ctr">
                    <a:solidFill>
                      <a:srgbClr val="EFEFEF"/>
                    </a:solidFill>
                  </a:tcPr>
                </a:tc>
                <a:tc>
                  <a:txBody>
                    <a:bodyPr/>
                    <a:lstStyle/>
                    <a:p>
                      <a:pPr algn="ctr">
                        <a:defRPr sz="1000">
                          <a:solidFill>
                            <a:srgbClr val="000000"/>
                          </a:solidFill>
                          <a:latin typeface="Montserrat"/>
                        </a:defRPr>
                      </a:pPr>
                      <a:r>
                        <a:t>75,329</a:t>
                      </a:r>
                    </a:p>
                  </a:txBody>
                  <a:tcPr marL="0" marR="0" marT="0" marB="0" anchor="ctr">
                    <a:solidFill>
                      <a:srgbClr val="ECD3D9"/>
                    </a:solidFill>
                  </a:tcPr>
                </a:tc>
                <a:tc>
                  <a:txBody>
                    <a:bodyPr/>
                    <a:lstStyle/>
                    <a:p>
                      <a:pPr algn="ctr">
                        <a:defRPr sz="1000">
                          <a:solidFill>
                            <a:srgbClr val="000000"/>
                          </a:solidFill>
                          <a:latin typeface="Montserrat"/>
                        </a:defRPr>
                      </a:pPr>
                      <a:r>
                        <a:rPr dirty="0"/>
                        <a:t>155,000</a:t>
                      </a:r>
                    </a:p>
                  </a:txBody>
                  <a:tcPr marL="0" marR="0" marT="0" marB="0" anchor="ctr">
                    <a:solidFill>
                      <a:srgbClr val="ECD3D9"/>
                    </a:solidFill>
                  </a:tcPr>
                </a:tc>
                <a:tc>
                  <a:txBody>
                    <a:bodyPr/>
                    <a:lstStyle/>
                    <a:p>
                      <a:pPr algn="ctr">
                        <a:defRPr sz="1000">
                          <a:solidFill>
                            <a:srgbClr val="000000"/>
                          </a:solidFill>
                          <a:latin typeface="Montserrat"/>
                        </a:defRPr>
                      </a:pPr>
                      <a:r>
                        <a:rPr dirty="0"/>
                        <a:t>48.6%</a:t>
                      </a:r>
                    </a:p>
                  </a:txBody>
                  <a:tcPr marL="0" marR="0" marT="0" marB="0" anchor="ctr">
                    <a:solidFill>
                      <a:srgbClr val="ECD3D9"/>
                    </a:solidFill>
                  </a:tcPr>
                </a:tc>
                <a:extLst>
                  <a:ext uri="{0D108BD9-81ED-4DB2-BD59-A6C34878D82A}">
                    <a16:rowId xmlns:a16="http://schemas.microsoft.com/office/drawing/2014/main" val="10002"/>
                  </a:ext>
                </a:extLst>
              </a:tr>
              <a:tr h="151200">
                <a:tc>
                  <a:txBody>
                    <a:bodyPr/>
                    <a:lstStyle/>
                    <a:p>
                      <a:pPr algn="l">
                        <a:defRPr sz="1000">
                          <a:solidFill>
                            <a:srgbClr val="000000"/>
                          </a:solidFill>
                          <a:latin typeface="Montserrat"/>
                        </a:defRPr>
                      </a:pPr>
                      <a:r>
                        <a:t>UMF-UMAA 29 Diamante</a:t>
                      </a:r>
                    </a:p>
                  </a:txBody>
                  <a:tcPr marL="0" marR="0" marT="0" marB="0" anchor="ctr">
                    <a:solidFill>
                      <a:srgbClr val="FFFFFF"/>
                    </a:solidFill>
                  </a:tcPr>
                </a:tc>
                <a:tc>
                  <a:txBody>
                    <a:bodyPr/>
                    <a:lstStyle/>
                    <a:p>
                      <a:pPr algn="ctr">
                        <a:defRPr sz="1000">
                          <a:solidFill>
                            <a:srgbClr val="000000"/>
                          </a:solidFill>
                          <a:latin typeface="Montserrat"/>
                        </a:defRPr>
                      </a:pPr>
                      <a:r>
                        <a:t>135,206</a:t>
                      </a:r>
                    </a:p>
                  </a:txBody>
                  <a:tcPr marL="0" marR="0" marT="0" marB="0" anchor="ctr">
                    <a:solidFill>
                      <a:srgbClr val="FFFFFF"/>
                    </a:solidFill>
                  </a:tcPr>
                </a:tc>
                <a:tc>
                  <a:txBody>
                    <a:bodyPr/>
                    <a:lstStyle/>
                    <a:p>
                      <a:pPr algn="ctr">
                        <a:defRPr sz="1000">
                          <a:solidFill>
                            <a:srgbClr val="000000"/>
                          </a:solidFill>
                          <a:latin typeface="Montserrat"/>
                        </a:defRPr>
                      </a:pPr>
                      <a:r>
                        <a:t>31,278</a:t>
                      </a:r>
                    </a:p>
                  </a:txBody>
                  <a:tcPr marL="0" marR="0" marT="0" marB="0" anchor="ctr">
                    <a:solidFill>
                      <a:srgbClr val="FFFFFF"/>
                    </a:solidFill>
                  </a:tcPr>
                </a:tc>
                <a:tc>
                  <a:txBody>
                    <a:bodyPr/>
                    <a:lstStyle/>
                    <a:p>
                      <a:pPr algn="ctr">
                        <a:defRPr sz="1000">
                          <a:solidFill>
                            <a:srgbClr val="000000"/>
                          </a:solidFill>
                          <a:latin typeface="Montserrat"/>
                        </a:defRPr>
                      </a:pPr>
                      <a:r>
                        <a:t>62,912</a:t>
                      </a:r>
                    </a:p>
                  </a:txBody>
                  <a:tcPr marL="0" marR="0" marT="0" marB="0" anchor="ctr">
                    <a:solidFill>
                      <a:srgbClr val="ECD3D9"/>
                    </a:solidFill>
                  </a:tcPr>
                </a:tc>
                <a:tc>
                  <a:txBody>
                    <a:bodyPr/>
                    <a:lstStyle/>
                    <a:p>
                      <a:pPr algn="ctr">
                        <a:defRPr sz="1000">
                          <a:solidFill>
                            <a:srgbClr val="000000"/>
                          </a:solidFill>
                          <a:latin typeface="Montserrat"/>
                        </a:defRPr>
                      </a:pPr>
                      <a:r>
                        <a:t>131,000</a:t>
                      </a:r>
                    </a:p>
                  </a:txBody>
                  <a:tcPr marL="0" marR="0" marT="0" marB="0" anchor="ctr">
                    <a:solidFill>
                      <a:srgbClr val="ECD3D9"/>
                    </a:solidFill>
                  </a:tcPr>
                </a:tc>
                <a:tc>
                  <a:txBody>
                    <a:bodyPr/>
                    <a:lstStyle/>
                    <a:p>
                      <a:pPr algn="ctr">
                        <a:defRPr sz="1000">
                          <a:solidFill>
                            <a:srgbClr val="000000"/>
                          </a:solidFill>
                          <a:latin typeface="Montserrat"/>
                        </a:defRPr>
                      </a:pPr>
                      <a:r>
                        <a:rPr dirty="0"/>
                        <a:t>48.0%</a:t>
                      </a:r>
                    </a:p>
                  </a:txBody>
                  <a:tcPr marL="0" marR="0" marT="0" marB="0" anchor="ctr">
                    <a:solidFill>
                      <a:srgbClr val="ECD3D9"/>
                    </a:solidFill>
                  </a:tcPr>
                </a:tc>
                <a:extLst>
                  <a:ext uri="{0D108BD9-81ED-4DB2-BD59-A6C34878D82A}">
                    <a16:rowId xmlns:a16="http://schemas.microsoft.com/office/drawing/2014/main" val="10003"/>
                  </a:ext>
                </a:extLst>
              </a:tr>
              <a:tr h="151200">
                <a:tc>
                  <a:txBody>
                    <a:bodyPr/>
                    <a:lstStyle/>
                    <a:p>
                      <a:pPr algn="l">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590,220</a:t>
                      </a:r>
                    </a:p>
                  </a:txBody>
                  <a:tcPr marL="0" marR="0" marT="0" marB="0" anchor="ctr">
                    <a:solidFill>
                      <a:srgbClr val="D3E9E7"/>
                    </a:solidFill>
                  </a:tcPr>
                </a:tc>
                <a:tc>
                  <a:txBody>
                    <a:bodyPr/>
                    <a:lstStyle/>
                    <a:p>
                      <a:pPr algn="ctr">
                        <a:defRPr sz="1000" b="1">
                          <a:solidFill>
                            <a:srgbClr val="006556"/>
                          </a:solidFill>
                          <a:latin typeface="Montserrat"/>
                        </a:defRPr>
                      </a:pPr>
                      <a:r>
                        <a:t>43,689</a:t>
                      </a:r>
                    </a:p>
                  </a:txBody>
                  <a:tcPr marL="0" marR="0" marT="0" marB="0" anchor="ctr">
                    <a:solidFill>
                      <a:srgbClr val="D3E9E7"/>
                    </a:solidFill>
                  </a:tcPr>
                </a:tc>
                <a:tc>
                  <a:txBody>
                    <a:bodyPr/>
                    <a:lstStyle/>
                    <a:p>
                      <a:pPr algn="ctr">
                        <a:defRPr sz="1000" b="1">
                          <a:solidFill>
                            <a:srgbClr val="FFFFFF"/>
                          </a:solidFill>
                          <a:latin typeface="Montserrat"/>
                        </a:defRPr>
                      </a:pPr>
                      <a:r>
                        <a:t>265,920</a:t>
                      </a:r>
                    </a:p>
                  </a:txBody>
                  <a:tcPr marL="0" marR="0" marT="0" marB="0" anchor="ctr">
                    <a:solidFill>
                      <a:srgbClr val="9F2241"/>
                    </a:solidFill>
                  </a:tcPr>
                </a:tc>
                <a:tc>
                  <a:txBody>
                    <a:bodyPr/>
                    <a:lstStyle/>
                    <a:p>
                      <a:pPr algn="ctr">
                        <a:defRPr sz="1000" b="1">
                          <a:solidFill>
                            <a:srgbClr val="FFFFFF"/>
                          </a:solidFill>
                          <a:latin typeface="Montserrat"/>
                        </a:defRPr>
                      </a:pPr>
                      <a:r>
                        <a:t>571,000</a:t>
                      </a:r>
                    </a:p>
                  </a:txBody>
                  <a:tcPr marL="0" marR="0" marT="0" marB="0" anchor="ctr">
                    <a:solidFill>
                      <a:srgbClr val="9F2241"/>
                    </a:solidFill>
                  </a:tcPr>
                </a:tc>
                <a:tc>
                  <a:txBody>
                    <a:bodyPr/>
                    <a:lstStyle/>
                    <a:p>
                      <a:pPr algn="ctr">
                        <a:defRPr sz="1000" b="1">
                          <a:solidFill>
                            <a:srgbClr val="FFFFFF"/>
                          </a:solidFill>
                          <a:latin typeface="Montserrat"/>
                        </a:defRPr>
                      </a:pPr>
                      <a:r>
                        <a:rPr dirty="0"/>
                        <a:t>46.6%</a:t>
                      </a:r>
                    </a:p>
                  </a:txBody>
                  <a:tcPr marL="0" marR="0" marT="0" marB="0" anchor="ctr">
                    <a:solidFill>
                      <a:srgbClr val="9F2241"/>
                    </a:solidFill>
                  </a:tcPr>
                </a:tc>
                <a:extLst>
                  <a:ext uri="{0D108BD9-81ED-4DB2-BD59-A6C34878D82A}">
                    <a16:rowId xmlns:a16="http://schemas.microsoft.com/office/drawing/2014/main" val="10004"/>
                  </a:ext>
                </a:extLst>
              </a:tr>
            </a:tbl>
          </a:graphicData>
        </a:graphic>
      </p:graphicFrame>
      <p:sp>
        <p:nvSpPr>
          <p:cNvPr id="17" name="CuadroTexto 27">
            <a:extLst>
              <a:ext uri="{FF2B5EF4-FFF2-40B4-BE49-F238E27FC236}">
                <a16:creationId xmlns:a16="http://schemas.microsoft.com/office/drawing/2014/main" id="{B910C242-F8AA-B585-B80E-1633031A155B}"/>
              </a:ext>
            </a:extLst>
          </p:cNvPr>
          <p:cNvSpPr txBox="1"/>
          <p:nvPr/>
        </p:nvSpPr>
        <p:spPr>
          <a:xfrm>
            <a:off x="4080058" y="7617523"/>
            <a:ext cx="3006672" cy="1015663"/>
          </a:xfrm>
          <a:prstGeom prst="rect">
            <a:avLst/>
          </a:prstGeom>
          <a:noFill/>
        </p:spPr>
        <p:txBody>
          <a:bodyPr wrap="square">
            <a:spAutoFit/>
          </a:bodyPr>
          <a:lstStyle/>
          <a:p>
            <a:pPr algn="ctr">
              <a:defRPr sz="2000" b="1">
                <a:solidFill>
                  <a:srgbClr val="5B0F00"/>
                </a:solidFill>
                <a:latin typeface="Montserrat"/>
              </a:defRPr>
            </a:pPr>
            <a:r>
              <a:rPr lang="es-MX"/>
              <a:t>Proyectos 2026</a:t>
            </a:r>
          </a:p>
          <a:p>
            <a:pPr algn="ctr">
              <a:defRPr sz="2000" b="1">
                <a:solidFill>
                  <a:srgbClr val="5B0F00"/>
                </a:solidFill>
                <a:latin typeface="Montserrat"/>
              </a:defRPr>
            </a:pPr>
            <a:r>
              <a:rPr lang="es-MX"/>
              <a:t>1 Nueva UMTC con   10 consultorios</a:t>
            </a:r>
          </a:p>
        </p:txBody>
      </p:sp>
      <p:graphicFrame>
        <p:nvGraphicFramePr>
          <p:cNvPr id="18" name="Tabla 28">
            <a:extLst>
              <a:ext uri="{FF2B5EF4-FFF2-40B4-BE49-F238E27FC236}">
                <a16:creationId xmlns:a16="http://schemas.microsoft.com/office/drawing/2014/main" id="{7957435B-83CB-C5C9-41CB-86911AE86F9D}"/>
              </a:ext>
            </a:extLst>
          </p:cNvPr>
          <p:cNvGraphicFramePr>
            <a:graphicFrameLocks noGrp="1"/>
          </p:cNvGraphicFramePr>
          <p:nvPr>
            <p:extLst>
              <p:ext uri="{D42A27DB-BD31-4B8C-83A1-F6EECF244321}">
                <p14:modId xmlns:p14="http://schemas.microsoft.com/office/powerpoint/2010/main" val="3192923042"/>
              </p:ext>
            </p:extLst>
          </p:nvPr>
        </p:nvGraphicFramePr>
        <p:xfrm>
          <a:off x="4769710" y="8708183"/>
          <a:ext cx="2808830" cy="66865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a:effectLst/>
                          <a:latin typeface="Montserrat" panose="00000500000000000000" pitchFamily="2" charset="0"/>
                        </a:rPr>
                        <a:t>UMF  9 Acapulco</a:t>
                      </a: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9" name="TextBox 177">
            <a:extLst>
              <a:ext uri="{FF2B5EF4-FFF2-40B4-BE49-F238E27FC236}">
                <a16:creationId xmlns:a16="http://schemas.microsoft.com/office/drawing/2014/main" id="{26C67A1D-0060-9544-22B0-698A8FA12300}"/>
              </a:ext>
            </a:extLst>
          </p:cNvPr>
          <p:cNvSpPr txBox="1"/>
          <p:nvPr/>
        </p:nvSpPr>
        <p:spPr>
          <a:xfrm>
            <a:off x="1940400" y="7577575"/>
            <a:ext cx="1810800" cy="1569600"/>
          </a:xfrm>
          <a:prstGeom prst="rect">
            <a:avLst/>
          </a:prstGeom>
          <a:noFill/>
        </p:spPr>
        <p:txBody>
          <a:bodyPr wrap="square">
            <a:spAutoFit/>
          </a:bodyPr>
          <a:lstStyle/>
          <a:p>
            <a:pPr algn="l">
              <a:defRPr sz="1600" b="1">
                <a:solidFill>
                  <a:srgbClr val="000000"/>
                </a:solidFill>
                <a:latin typeface="Montserrat"/>
              </a:defRPr>
            </a:pPr>
            <a:r>
              <a:t>de las </a:t>
            </a:r>
            <a:r>
              <a:rPr err="1"/>
              <a:t>consultas</a:t>
            </a:r>
            <a:r>
              <a:t> </a:t>
            </a:r>
            <a:r>
              <a:rPr err="1"/>
              <a:t>en</a:t>
            </a:r>
            <a:r>
              <a:t> 2025 </a:t>
            </a:r>
            <a:r>
              <a:rPr err="1"/>
              <a:t>fueron</a:t>
            </a:r>
            <a:r>
              <a:t> </a:t>
            </a:r>
            <a:r>
              <a:rPr err="1"/>
              <a:t>en</a:t>
            </a:r>
            <a:r>
              <a:t> fin de </a:t>
            </a:r>
            <a:r>
              <a:rPr err="1"/>
              <a:t>semana</a:t>
            </a:r>
            <a:r>
              <a:t> (63,365 </a:t>
            </a:r>
            <a:r>
              <a:rPr err="1"/>
              <a:t>consultas</a:t>
            </a:r>
            <a:r>
              <a:t>)</a:t>
            </a:r>
          </a:p>
        </p:txBody>
      </p:sp>
      <p:graphicFrame>
        <p:nvGraphicFramePr>
          <p:cNvPr id="20" name="Chart 179">
            <a:extLst>
              <a:ext uri="{FF2B5EF4-FFF2-40B4-BE49-F238E27FC236}">
                <a16:creationId xmlns:a16="http://schemas.microsoft.com/office/drawing/2014/main" id="{7F3CFB4E-E384-8464-75C1-9175C6776964}"/>
              </a:ext>
            </a:extLst>
          </p:cNvPr>
          <p:cNvGraphicFramePr>
            <a:graphicFrameLocks noGrp="1"/>
          </p:cNvGraphicFramePr>
          <p:nvPr>
            <p:extLst>
              <p:ext uri="{D42A27DB-BD31-4B8C-83A1-F6EECF244321}">
                <p14:modId xmlns:p14="http://schemas.microsoft.com/office/powerpoint/2010/main" val="2045093089"/>
              </p:ext>
            </p:extLst>
          </p:nvPr>
        </p:nvGraphicFramePr>
        <p:xfrm>
          <a:off x="385200" y="7545175"/>
          <a:ext cx="1555200" cy="1533600"/>
        </p:xfrm>
        <a:graphic>
          <a:graphicData uri="http://schemas.openxmlformats.org/drawingml/2006/chart">
            <c:chart xmlns:c="http://schemas.openxmlformats.org/drawingml/2006/chart" xmlns:r="http://schemas.openxmlformats.org/officeDocument/2006/relationships" r:id="rId5"/>
          </a:graphicData>
        </a:graphic>
      </p:graphicFrame>
      <p:sp>
        <p:nvSpPr>
          <p:cNvPr id="21" name="TextBox 180">
            <a:extLst>
              <a:ext uri="{FF2B5EF4-FFF2-40B4-BE49-F238E27FC236}">
                <a16:creationId xmlns:a16="http://schemas.microsoft.com/office/drawing/2014/main" id="{305464CC-B729-DACA-6819-0E14C9BDAB8D}"/>
              </a:ext>
            </a:extLst>
          </p:cNvPr>
          <p:cNvSpPr txBox="1"/>
          <p:nvPr/>
        </p:nvSpPr>
        <p:spPr>
          <a:xfrm>
            <a:off x="385200" y="8281831"/>
            <a:ext cx="1555200" cy="360000"/>
          </a:xfrm>
          <a:prstGeom prst="rect">
            <a:avLst/>
          </a:prstGeom>
          <a:noFill/>
        </p:spPr>
        <p:txBody>
          <a:bodyPr wrap="none">
            <a:spAutoFit/>
          </a:bodyPr>
          <a:lstStyle/>
          <a:p>
            <a:pPr algn="ctr"/>
            <a:r>
              <a:rPr sz="2200" b="1">
                <a:solidFill>
                  <a:srgbClr val="9F2241"/>
                </a:solidFill>
                <a:latin typeface="Montserrat"/>
              </a:rPr>
              <a:t>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71510215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032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9526680"/>
            <a:ext cx="7473600" cy="492443"/>
          </a:xfrm>
          <a:prstGeom prst="rect">
            <a:avLst/>
          </a:prstGeom>
          <a:noFill/>
        </p:spPr>
        <p:txBody>
          <a:bodyPr wrap="square" lIns="0" tIns="0" rIns="0" bIns="0">
            <a:spAutoFit/>
          </a:bodyPr>
          <a:lstStyle/>
          <a:p>
            <a:pPr algn="l">
              <a:defRPr sz="800">
                <a:solidFill>
                  <a:srgbClr val="FFFFFF"/>
                </a:solidFill>
                <a:latin typeface="Montserrat"/>
              </a:defRPr>
            </a:pPr>
            <a:r>
              <a:rPr dirty="0"/>
              <a:t>No </a:t>
            </a:r>
            <a:r>
              <a:rPr dirty="0" err="1"/>
              <a:t>incluye</a:t>
            </a:r>
            <a:r>
              <a:rPr dirty="0"/>
              <a:t> la </a:t>
            </a:r>
            <a:r>
              <a:rPr dirty="0" err="1"/>
              <a:t>productividad</a:t>
            </a:r>
            <a:r>
              <a:rPr dirty="0"/>
              <a:t> de </a:t>
            </a:r>
            <a:r>
              <a:rPr dirty="0" err="1"/>
              <a:t>especialidad</a:t>
            </a:r>
            <a:r>
              <a:rPr dirty="0"/>
              <a:t> </a:t>
            </a:r>
            <a:r>
              <a:rPr dirty="0" err="1"/>
              <a:t>generada</a:t>
            </a:r>
            <a:r>
              <a:rPr dirty="0"/>
              <a:t> en UMF </a:t>
            </a:r>
            <a:r>
              <a:rPr dirty="0" err="1"/>
              <a:t>ni</a:t>
            </a:r>
            <a:r>
              <a:rPr dirty="0"/>
              <a:t> en HR. En el </a:t>
            </a:r>
            <a:r>
              <a:rPr dirty="0" err="1"/>
              <a:t>año</a:t>
            </a:r>
            <a:r>
              <a:rPr dirty="0"/>
              <a:t> 2025 no </a:t>
            </a:r>
            <a:r>
              <a:rPr dirty="0" err="1"/>
              <a:t>incluye</a:t>
            </a:r>
            <a:r>
              <a:rPr dirty="0"/>
              <a:t> </a:t>
            </a:r>
            <a:r>
              <a:rPr dirty="0" err="1"/>
              <a:t>información</a:t>
            </a:r>
            <a:r>
              <a:rPr dirty="0"/>
              <a:t> de HR y UMR.</a:t>
            </a:r>
            <a:br>
              <a:rPr dirty="0"/>
            </a:br>
            <a:r>
              <a:rPr dirty="0"/>
              <a:t>El </a:t>
            </a:r>
            <a:r>
              <a:rPr dirty="0" err="1"/>
              <a:t>año</a:t>
            </a:r>
            <a:r>
              <a:rPr dirty="0"/>
              <a:t> de </a:t>
            </a:r>
            <a:r>
              <a:rPr dirty="0" err="1"/>
              <a:t>proceso</a:t>
            </a:r>
            <a:r>
              <a:rPr dirty="0"/>
              <a:t> </a:t>
            </a:r>
            <a:r>
              <a:rPr dirty="0" err="1"/>
              <a:t>inicia</a:t>
            </a:r>
            <a:r>
              <a:rPr dirty="0"/>
              <a:t> del 26 de </a:t>
            </a:r>
            <a:r>
              <a:rPr dirty="0" err="1"/>
              <a:t>diciembre</a:t>
            </a:r>
            <a:r>
              <a:rPr dirty="0"/>
              <a:t> del </a:t>
            </a:r>
            <a:r>
              <a:rPr dirty="0" err="1"/>
              <a:t>año</a:t>
            </a:r>
            <a:r>
              <a:rPr dirty="0"/>
              <a:t> anterior al 25 de </a:t>
            </a:r>
            <a:r>
              <a:rPr dirty="0" err="1"/>
              <a:t>diciembre</a:t>
            </a:r>
            <a:r>
              <a:rPr dirty="0"/>
              <a:t> del </a:t>
            </a:r>
            <a:r>
              <a:rPr dirty="0" err="1"/>
              <a:t>año</a:t>
            </a:r>
            <a:r>
              <a:rPr dirty="0"/>
              <a:t> en curso:2025 (del 26 de </a:t>
            </a:r>
            <a:r>
              <a:rPr dirty="0" err="1"/>
              <a:t>dic</a:t>
            </a:r>
            <a:r>
              <a:rPr dirty="0"/>
              <a:t> de 2024 al 25 de </a:t>
            </a:r>
            <a:r>
              <a:rPr dirty="0" err="1"/>
              <a:t>dic</a:t>
            </a:r>
            <a:r>
              <a:rPr dirty="0"/>
              <a:t> de 2025). </a:t>
            </a:r>
            <a:endParaRPr lang="es-MX" dirty="0"/>
          </a:p>
          <a:p>
            <a:pPr>
              <a:defRPr sz="800">
                <a:solidFill>
                  <a:srgbClr val="FFFFFF"/>
                </a:solidFill>
                <a:latin typeface="Montserrat"/>
              </a:defRPr>
            </a:pPr>
            <a:r>
              <a:rPr lang="es-MX" dirty="0">
                <a:solidFill>
                  <a:schemeClr val="bg1"/>
                </a:solidFill>
              </a:rPr>
              <a:t>No incluye las cirugías realizadas en HR. Sólo se consideran cirugías principales.</a:t>
            </a:r>
          </a:p>
          <a:p>
            <a:pPr algn="l">
              <a:defRPr sz="800">
                <a:solidFill>
                  <a:srgbClr val="FFFFFF"/>
                </a:solidFill>
                <a:latin typeface="Montserrat"/>
              </a:defRPr>
            </a:pPr>
            <a:r>
              <a:rPr dirty="0"/>
              <a:t>Corte de </a:t>
            </a:r>
            <a:r>
              <a:rPr dirty="0" err="1"/>
              <a:t>información</a:t>
            </a:r>
            <a:r>
              <a:rPr dirty="0"/>
              <a:t>: </a:t>
            </a:r>
            <a:r>
              <a:rPr dirty="0" err="1"/>
              <a:t>Semana</a:t>
            </a:r>
            <a:r>
              <a:rPr dirty="0"/>
              <a:t>: 24, 7 </a:t>
            </a:r>
            <a:r>
              <a:rPr dirty="0" err="1"/>
              <a:t>junio</a:t>
            </a:r>
            <a:r>
              <a:rPr dirty="0"/>
              <a:t> 2026</a:t>
            </a:r>
          </a:p>
        </p:txBody>
      </p:sp>
      <p:graphicFrame>
        <p:nvGraphicFramePr>
          <p:cNvPr id="236" name="Table 235"/>
          <p:cNvGraphicFramePr>
            <a:graphicFrameLocks noGrp="1"/>
          </p:cNvGraphicFramePr>
          <p:nvPr>
            <p:extLst>
              <p:ext uri="{D42A27DB-BD31-4B8C-83A1-F6EECF244321}">
                <p14:modId xmlns:p14="http://schemas.microsoft.com/office/powerpoint/2010/main" val="637469040"/>
              </p:ext>
            </p:extLst>
          </p:nvPr>
        </p:nvGraphicFramePr>
        <p:xfrm>
          <a:off x="144000" y="1417800"/>
          <a:ext cx="7340399" cy="2206472"/>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35591">
                <a:tc>
                  <a:txBody>
                    <a:bodyPr/>
                    <a:lstStyle/>
                    <a:p>
                      <a:pPr algn="ctr">
                        <a:defRPr sz="900" b="1">
                          <a:solidFill>
                            <a:srgbClr val="FFFFFF"/>
                          </a:solidFill>
                          <a:latin typeface="Montserrat"/>
                        </a:defRPr>
                      </a:pPr>
                      <a:r>
                        <a:rPr sz="900" dirty="0" err="1"/>
                        <a:t>Unidad</a:t>
                      </a:r>
                      <a:endParaRPr sz="900" dirty="0"/>
                    </a:p>
                  </a:txBody>
                  <a:tcPr anchor="ctr">
                    <a:solidFill>
                      <a:srgbClr val="006455"/>
                    </a:solidFill>
                  </a:tcPr>
                </a:tc>
                <a:tc>
                  <a:txBody>
                    <a:bodyPr/>
                    <a:lstStyle/>
                    <a:p>
                      <a:pPr algn="ctr">
                        <a:defRPr sz="900" b="1">
                          <a:solidFill>
                            <a:srgbClr val="FFFFFF"/>
                          </a:solidFill>
                          <a:latin typeface="Montserrat"/>
                        </a:defRPr>
                      </a:pPr>
                      <a:r>
                        <a:rPr sz="900"/>
                        <a:t>2025</a:t>
                      </a:r>
                    </a:p>
                  </a:txBody>
                  <a:tcPr anchor="ctr">
                    <a:solidFill>
                      <a:srgbClr val="006455"/>
                    </a:solidFill>
                  </a:tcPr>
                </a:tc>
                <a:tc>
                  <a:txBody>
                    <a:bodyPr/>
                    <a:lstStyle/>
                    <a:p>
                      <a:pPr algn="ctr">
                        <a:defRPr sz="900" b="1">
                          <a:solidFill>
                            <a:srgbClr val="FFFFFF"/>
                          </a:solidFill>
                          <a:latin typeface="Montserrat"/>
                        </a:defRPr>
                      </a:pPr>
                      <a:r>
                        <a:rPr sz="900"/>
                        <a:t>Incremento 2025 vs 2024</a:t>
                      </a:r>
                    </a:p>
                  </a:txBody>
                  <a:tcPr anchor="ctr">
                    <a:solidFill>
                      <a:srgbClr val="006455"/>
                    </a:solidFill>
                  </a:tcPr>
                </a:tc>
                <a:tc>
                  <a:txBody>
                    <a:bodyPr/>
                    <a:lstStyle/>
                    <a:p>
                      <a:pPr algn="ctr">
                        <a:defRPr sz="900" b="1">
                          <a:solidFill>
                            <a:srgbClr val="FFFFFF"/>
                          </a:solidFill>
                          <a:latin typeface="Montserrat"/>
                        </a:defRPr>
                      </a:pPr>
                      <a:r>
                        <a:rPr sz="900"/>
                        <a:t>Avance 2026</a:t>
                      </a:r>
                    </a:p>
                  </a:txBody>
                  <a:tcPr anchor="ctr">
                    <a:solidFill>
                      <a:srgbClr val="980000"/>
                    </a:solidFill>
                  </a:tcPr>
                </a:tc>
                <a:tc>
                  <a:txBody>
                    <a:bodyPr/>
                    <a:lstStyle/>
                    <a:p>
                      <a:pPr algn="ctr">
                        <a:defRPr sz="900" b="1">
                          <a:solidFill>
                            <a:srgbClr val="FFFFFF"/>
                          </a:solidFill>
                          <a:latin typeface="Montserrat"/>
                        </a:defRPr>
                      </a:pPr>
                      <a:r>
                        <a:rPr sz="900"/>
                        <a:t>Meta 2026</a:t>
                      </a:r>
                    </a:p>
                  </a:txBody>
                  <a:tcPr anchor="ctr">
                    <a:solidFill>
                      <a:srgbClr val="980000"/>
                    </a:solidFill>
                  </a:tcPr>
                </a:tc>
                <a:tc>
                  <a:txBody>
                    <a:bodyPr/>
                    <a:lstStyle/>
                    <a:p>
                      <a:pPr algn="ctr">
                        <a:defRPr sz="900" b="1">
                          <a:solidFill>
                            <a:srgbClr val="FFFFFF"/>
                          </a:solidFill>
                          <a:latin typeface="Montserrat"/>
                        </a:defRPr>
                      </a:pPr>
                      <a:r>
                        <a:rPr sz="900"/>
                        <a:t>% Cumplimiento de la meta</a:t>
                      </a:r>
                    </a:p>
                  </a:txBody>
                  <a:tcPr anchor="ctr">
                    <a:solidFill>
                      <a:srgbClr val="980000"/>
                    </a:solidFill>
                  </a:tcPr>
                </a:tc>
                <a:extLst>
                  <a:ext uri="{0D108BD9-81ED-4DB2-BD59-A6C34878D82A}">
                    <a16:rowId xmlns:a16="http://schemas.microsoft.com/office/drawing/2014/main" val="10000"/>
                  </a:ext>
                </a:extLst>
              </a:tr>
              <a:tr h="230089">
                <a:tc>
                  <a:txBody>
                    <a:bodyPr/>
                    <a:lstStyle/>
                    <a:p>
                      <a:pPr algn="l">
                        <a:defRPr sz="1000">
                          <a:latin typeface="Montserrat"/>
                        </a:defRPr>
                      </a:pPr>
                      <a:r>
                        <a:rPr sz="900"/>
                        <a:t>HGR 1 Vicente Guerrero</a:t>
                      </a:r>
                    </a:p>
                  </a:txBody>
                  <a:tcPr anchor="ctr">
                    <a:solidFill>
                      <a:srgbClr val="FFFFFF"/>
                    </a:solidFill>
                  </a:tcPr>
                </a:tc>
                <a:tc>
                  <a:txBody>
                    <a:bodyPr/>
                    <a:lstStyle/>
                    <a:p>
                      <a:pPr algn="ctr">
                        <a:defRPr sz="1000">
                          <a:latin typeface="Montserrat"/>
                        </a:defRPr>
                      </a:pPr>
                      <a:r>
                        <a:rPr sz="900" dirty="0"/>
                        <a:t>268,517</a:t>
                      </a:r>
                    </a:p>
                  </a:txBody>
                  <a:tcPr anchor="ctr">
                    <a:solidFill>
                      <a:srgbClr val="FFFFFF"/>
                    </a:solidFill>
                  </a:tcPr>
                </a:tc>
                <a:tc>
                  <a:txBody>
                    <a:bodyPr/>
                    <a:lstStyle/>
                    <a:p>
                      <a:pPr algn="ctr">
                        <a:defRPr sz="1000">
                          <a:latin typeface="Montserrat"/>
                        </a:defRPr>
                      </a:pPr>
                      <a:r>
                        <a:rPr sz="900" dirty="0"/>
                        <a:t>72,944</a:t>
                      </a:r>
                    </a:p>
                  </a:txBody>
                  <a:tcPr anchor="ctr">
                    <a:solidFill>
                      <a:srgbClr val="FFFFFF"/>
                    </a:solidFill>
                  </a:tcPr>
                </a:tc>
                <a:tc>
                  <a:txBody>
                    <a:bodyPr/>
                    <a:lstStyle/>
                    <a:p>
                      <a:pPr algn="ctr">
                        <a:defRPr sz="1000">
                          <a:latin typeface="Montserrat"/>
                        </a:defRPr>
                      </a:pPr>
                      <a:r>
                        <a:rPr sz="900"/>
                        <a:t>127,391</a:t>
                      </a:r>
                    </a:p>
                  </a:txBody>
                  <a:tcPr anchor="ctr">
                    <a:solidFill>
                      <a:srgbClr val="ECD3D9"/>
                    </a:solidFill>
                  </a:tcPr>
                </a:tc>
                <a:tc>
                  <a:txBody>
                    <a:bodyPr/>
                    <a:lstStyle/>
                    <a:p>
                      <a:pPr algn="ctr">
                        <a:defRPr sz="1000">
                          <a:latin typeface="Montserrat"/>
                        </a:defRPr>
                      </a:pPr>
                      <a:r>
                        <a:rPr sz="900"/>
                        <a:t>269,370</a:t>
                      </a:r>
                    </a:p>
                  </a:txBody>
                  <a:tcPr anchor="ctr">
                    <a:solidFill>
                      <a:srgbClr val="ECD3D9"/>
                    </a:solidFill>
                  </a:tcPr>
                </a:tc>
                <a:tc>
                  <a:txBody>
                    <a:bodyPr/>
                    <a:lstStyle/>
                    <a:p>
                      <a:pPr algn="ctr">
                        <a:defRPr sz="1000">
                          <a:latin typeface="Montserrat"/>
                        </a:defRPr>
                      </a:pPr>
                      <a:r>
                        <a:rPr sz="900"/>
                        <a:t>47.3%</a:t>
                      </a:r>
                    </a:p>
                  </a:txBody>
                  <a:tcPr anchor="ctr">
                    <a:solidFill>
                      <a:srgbClr val="ECD3D9"/>
                    </a:solidFill>
                  </a:tcPr>
                </a:tc>
                <a:extLst>
                  <a:ext uri="{0D108BD9-81ED-4DB2-BD59-A6C34878D82A}">
                    <a16:rowId xmlns:a16="http://schemas.microsoft.com/office/drawing/2014/main" val="10001"/>
                  </a:ext>
                </a:extLst>
              </a:tr>
              <a:tr h="230089">
                <a:tc>
                  <a:txBody>
                    <a:bodyPr/>
                    <a:lstStyle/>
                    <a:p>
                      <a:pPr algn="l">
                        <a:defRPr sz="1000">
                          <a:latin typeface="Montserrat"/>
                        </a:defRPr>
                      </a:pPr>
                      <a:r>
                        <a:rPr sz="900"/>
                        <a:t>HGSMF 19 Cd. Altamirano</a:t>
                      </a:r>
                    </a:p>
                  </a:txBody>
                  <a:tcPr anchor="ctr">
                    <a:solidFill>
                      <a:srgbClr val="EFEFEF"/>
                    </a:solidFill>
                  </a:tcPr>
                </a:tc>
                <a:tc>
                  <a:txBody>
                    <a:bodyPr/>
                    <a:lstStyle/>
                    <a:p>
                      <a:pPr algn="ctr">
                        <a:defRPr sz="1000">
                          <a:latin typeface="Montserrat"/>
                        </a:defRPr>
                      </a:pPr>
                      <a:r>
                        <a:rPr sz="900"/>
                        <a:t>5,374</a:t>
                      </a:r>
                    </a:p>
                  </a:txBody>
                  <a:tcPr anchor="ctr">
                    <a:solidFill>
                      <a:srgbClr val="EFEFEF"/>
                    </a:solidFill>
                  </a:tcPr>
                </a:tc>
                <a:tc>
                  <a:txBody>
                    <a:bodyPr/>
                    <a:lstStyle/>
                    <a:p>
                      <a:pPr algn="ctr">
                        <a:defRPr sz="1000">
                          <a:latin typeface="Montserrat"/>
                        </a:defRPr>
                      </a:pPr>
                      <a:r>
                        <a:rPr sz="900" dirty="0"/>
                        <a:t>887</a:t>
                      </a:r>
                    </a:p>
                  </a:txBody>
                  <a:tcPr anchor="ctr">
                    <a:solidFill>
                      <a:srgbClr val="EFEFEF"/>
                    </a:solidFill>
                  </a:tcPr>
                </a:tc>
                <a:tc>
                  <a:txBody>
                    <a:bodyPr/>
                    <a:lstStyle/>
                    <a:p>
                      <a:pPr algn="ctr">
                        <a:defRPr sz="1000">
                          <a:latin typeface="Montserrat"/>
                        </a:defRPr>
                      </a:pPr>
                      <a:r>
                        <a:rPr sz="900" dirty="0"/>
                        <a:t>2,564</a:t>
                      </a:r>
                    </a:p>
                  </a:txBody>
                  <a:tcPr anchor="ctr">
                    <a:solidFill>
                      <a:srgbClr val="ECD3D9"/>
                    </a:solidFill>
                  </a:tcPr>
                </a:tc>
                <a:tc>
                  <a:txBody>
                    <a:bodyPr/>
                    <a:lstStyle/>
                    <a:p>
                      <a:pPr algn="ctr">
                        <a:defRPr sz="1000">
                          <a:latin typeface="Montserrat"/>
                        </a:defRPr>
                      </a:pPr>
                      <a:r>
                        <a:rPr sz="900"/>
                        <a:t>5,840</a:t>
                      </a:r>
                    </a:p>
                  </a:txBody>
                  <a:tcPr anchor="ctr">
                    <a:solidFill>
                      <a:srgbClr val="ECD3D9"/>
                    </a:solidFill>
                  </a:tcPr>
                </a:tc>
                <a:tc>
                  <a:txBody>
                    <a:bodyPr/>
                    <a:lstStyle/>
                    <a:p>
                      <a:pPr algn="ctr">
                        <a:defRPr sz="1000">
                          <a:latin typeface="Montserrat"/>
                        </a:defRPr>
                      </a:pPr>
                      <a:r>
                        <a:rPr sz="900"/>
                        <a:t>43.9%</a:t>
                      </a:r>
                    </a:p>
                  </a:txBody>
                  <a:tcPr anchor="ctr">
                    <a:solidFill>
                      <a:srgbClr val="ECD3D9"/>
                    </a:solidFill>
                  </a:tcPr>
                </a:tc>
                <a:extLst>
                  <a:ext uri="{0D108BD9-81ED-4DB2-BD59-A6C34878D82A}">
                    <a16:rowId xmlns:a16="http://schemas.microsoft.com/office/drawing/2014/main" val="10002"/>
                  </a:ext>
                </a:extLst>
              </a:tr>
              <a:tr h="230089">
                <a:tc>
                  <a:txBody>
                    <a:bodyPr/>
                    <a:lstStyle/>
                    <a:p>
                      <a:pPr algn="l">
                        <a:defRPr sz="1000">
                          <a:latin typeface="Montserrat"/>
                        </a:defRPr>
                      </a:pPr>
                      <a:r>
                        <a:rPr sz="900"/>
                        <a:t>HGZMF 4 Iguala</a:t>
                      </a:r>
                    </a:p>
                  </a:txBody>
                  <a:tcPr anchor="ctr">
                    <a:solidFill>
                      <a:srgbClr val="FFFFFF"/>
                    </a:solidFill>
                  </a:tcPr>
                </a:tc>
                <a:tc>
                  <a:txBody>
                    <a:bodyPr/>
                    <a:lstStyle/>
                    <a:p>
                      <a:pPr algn="ctr">
                        <a:defRPr sz="1000">
                          <a:latin typeface="Montserrat"/>
                        </a:defRPr>
                      </a:pPr>
                      <a:r>
                        <a:rPr sz="900"/>
                        <a:t>29,165</a:t>
                      </a:r>
                    </a:p>
                  </a:txBody>
                  <a:tcPr anchor="ctr">
                    <a:solidFill>
                      <a:srgbClr val="FFFFFF"/>
                    </a:solidFill>
                  </a:tcPr>
                </a:tc>
                <a:tc>
                  <a:txBody>
                    <a:bodyPr/>
                    <a:lstStyle/>
                    <a:p>
                      <a:pPr algn="ctr">
                        <a:defRPr sz="1000">
                          <a:latin typeface="Montserrat"/>
                        </a:defRPr>
                      </a:pPr>
                      <a:r>
                        <a:rPr sz="900" dirty="0"/>
                        <a:t>6,288</a:t>
                      </a:r>
                    </a:p>
                  </a:txBody>
                  <a:tcPr anchor="ctr">
                    <a:solidFill>
                      <a:srgbClr val="FFFFFF"/>
                    </a:solidFill>
                  </a:tcPr>
                </a:tc>
                <a:tc>
                  <a:txBody>
                    <a:bodyPr/>
                    <a:lstStyle/>
                    <a:p>
                      <a:pPr algn="ctr">
                        <a:defRPr sz="1000">
                          <a:latin typeface="Montserrat"/>
                        </a:defRPr>
                      </a:pPr>
                      <a:r>
                        <a:rPr sz="900" dirty="0"/>
                        <a:t>15,274</a:t>
                      </a:r>
                    </a:p>
                  </a:txBody>
                  <a:tcPr anchor="ctr">
                    <a:solidFill>
                      <a:srgbClr val="ECD3D9"/>
                    </a:solidFill>
                  </a:tcPr>
                </a:tc>
                <a:tc>
                  <a:txBody>
                    <a:bodyPr/>
                    <a:lstStyle/>
                    <a:p>
                      <a:pPr algn="ctr">
                        <a:defRPr sz="1000">
                          <a:latin typeface="Montserrat"/>
                        </a:defRPr>
                      </a:pPr>
                      <a:r>
                        <a:rPr sz="900" dirty="0"/>
                        <a:t>37,230</a:t>
                      </a:r>
                    </a:p>
                  </a:txBody>
                  <a:tcPr anchor="ctr">
                    <a:solidFill>
                      <a:srgbClr val="ECD3D9"/>
                    </a:solidFill>
                  </a:tcPr>
                </a:tc>
                <a:tc>
                  <a:txBody>
                    <a:bodyPr/>
                    <a:lstStyle/>
                    <a:p>
                      <a:pPr algn="ctr">
                        <a:defRPr sz="1000">
                          <a:latin typeface="Montserrat"/>
                        </a:defRPr>
                      </a:pPr>
                      <a:r>
                        <a:rPr sz="900"/>
                        <a:t>41.0%</a:t>
                      </a:r>
                    </a:p>
                  </a:txBody>
                  <a:tcPr anchor="ctr">
                    <a:solidFill>
                      <a:srgbClr val="ECD3D9"/>
                    </a:solidFill>
                  </a:tcPr>
                </a:tc>
                <a:extLst>
                  <a:ext uri="{0D108BD9-81ED-4DB2-BD59-A6C34878D82A}">
                    <a16:rowId xmlns:a16="http://schemas.microsoft.com/office/drawing/2014/main" val="10003"/>
                  </a:ext>
                </a:extLst>
              </a:tr>
              <a:tr h="230089">
                <a:tc>
                  <a:txBody>
                    <a:bodyPr/>
                    <a:lstStyle/>
                    <a:p>
                      <a:pPr algn="l">
                        <a:defRPr sz="1000">
                          <a:latin typeface="Montserrat"/>
                        </a:defRPr>
                      </a:pPr>
                      <a:r>
                        <a:rPr sz="900"/>
                        <a:t>HGSMF 5 Taxco</a:t>
                      </a:r>
                    </a:p>
                  </a:txBody>
                  <a:tcPr anchor="ctr">
                    <a:solidFill>
                      <a:srgbClr val="EFEFEF"/>
                    </a:solidFill>
                  </a:tcPr>
                </a:tc>
                <a:tc>
                  <a:txBody>
                    <a:bodyPr/>
                    <a:lstStyle/>
                    <a:p>
                      <a:pPr algn="ctr">
                        <a:defRPr sz="1000">
                          <a:latin typeface="Montserrat"/>
                        </a:defRPr>
                      </a:pPr>
                      <a:r>
                        <a:rPr sz="900"/>
                        <a:t>29,405</a:t>
                      </a:r>
                    </a:p>
                  </a:txBody>
                  <a:tcPr anchor="ctr">
                    <a:solidFill>
                      <a:srgbClr val="EFEFEF"/>
                    </a:solidFill>
                  </a:tcPr>
                </a:tc>
                <a:tc>
                  <a:txBody>
                    <a:bodyPr/>
                    <a:lstStyle/>
                    <a:p>
                      <a:pPr algn="ctr">
                        <a:defRPr sz="1000">
                          <a:latin typeface="Montserrat"/>
                        </a:defRPr>
                      </a:pPr>
                      <a:r>
                        <a:rPr sz="900"/>
                        <a:t>15,445</a:t>
                      </a:r>
                    </a:p>
                  </a:txBody>
                  <a:tcPr anchor="ctr">
                    <a:solidFill>
                      <a:srgbClr val="EFEFEF"/>
                    </a:solidFill>
                  </a:tcPr>
                </a:tc>
                <a:tc>
                  <a:txBody>
                    <a:bodyPr/>
                    <a:lstStyle/>
                    <a:p>
                      <a:pPr algn="ctr">
                        <a:defRPr sz="1000">
                          <a:latin typeface="Montserrat"/>
                        </a:defRPr>
                      </a:pPr>
                      <a:r>
                        <a:rPr sz="900" dirty="0"/>
                        <a:t>12,729</a:t>
                      </a:r>
                    </a:p>
                  </a:txBody>
                  <a:tcPr anchor="ctr">
                    <a:solidFill>
                      <a:srgbClr val="ECD3D9"/>
                    </a:solidFill>
                  </a:tcPr>
                </a:tc>
                <a:tc>
                  <a:txBody>
                    <a:bodyPr/>
                    <a:lstStyle/>
                    <a:p>
                      <a:pPr algn="ctr">
                        <a:defRPr sz="1000">
                          <a:latin typeface="Montserrat"/>
                        </a:defRPr>
                      </a:pPr>
                      <a:r>
                        <a:rPr sz="900" dirty="0"/>
                        <a:t>32,850</a:t>
                      </a:r>
                    </a:p>
                  </a:txBody>
                  <a:tcPr anchor="ctr">
                    <a:solidFill>
                      <a:srgbClr val="ECD3D9"/>
                    </a:solidFill>
                  </a:tcPr>
                </a:tc>
                <a:tc>
                  <a:txBody>
                    <a:bodyPr/>
                    <a:lstStyle/>
                    <a:p>
                      <a:pPr algn="ctr">
                        <a:defRPr sz="1000">
                          <a:latin typeface="Montserrat"/>
                        </a:defRPr>
                      </a:pPr>
                      <a:r>
                        <a:rPr sz="900"/>
                        <a:t>38.8%</a:t>
                      </a:r>
                    </a:p>
                  </a:txBody>
                  <a:tcPr anchor="ctr">
                    <a:solidFill>
                      <a:srgbClr val="ECD3D9"/>
                    </a:solidFill>
                  </a:tcPr>
                </a:tc>
                <a:extLst>
                  <a:ext uri="{0D108BD9-81ED-4DB2-BD59-A6C34878D82A}">
                    <a16:rowId xmlns:a16="http://schemas.microsoft.com/office/drawing/2014/main" val="10004"/>
                  </a:ext>
                </a:extLst>
              </a:tr>
              <a:tr h="230089">
                <a:tc>
                  <a:txBody>
                    <a:bodyPr/>
                    <a:lstStyle/>
                    <a:p>
                      <a:pPr algn="l">
                        <a:defRPr sz="1000">
                          <a:latin typeface="Montserrat"/>
                        </a:defRPr>
                      </a:pPr>
                      <a:r>
                        <a:rPr sz="900"/>
                        <a:t>HGZMF 8 Zihuatanejo</a:t>
                      </a:r>
                    </a:p>
                  </a:txBody>
                  <a:tcPr anchor="ctr">
                    <a:solidFill>
                      <a:srgbClr val="FFFFFF"/>
                    </a:solidFill>
                  </a:tcPr>
                </a:tc>
                <a:tc>
                  <a:txBody>
                    <a:bodyPr/>
                    <a:lstStyle/>
                    <a:p>
                      <a:pPr algn="ctr">
                        <a:defRPr sz="1000">
                          <a:latin typeface="Montserrat"/>
                        </a:defRPr>
                      </a:pPr>
                      <a:r>
                        <a:rPr sz="900"/>
                        <a:t>27,589</a:t>
                      </a:r>
                    </a:p>
                  </a:txBody>
                  <a:tcPr anchor="ctr">
                    <a:solidFill>
                      <a:srgbClr val="FFFFFF"/>
                    </a:solidFill>
                  </a:tcPr>
                </a:tc>
                <a:tc>
                  <a:txBody>
                    <a:bodyPr/>
                    <a:lstStyle/>
                    <a:p>
                      <a:pPr algn="ctr">
                        <a:defRPr sz="1000">
                          <a:latin typeface="Montserrat"/>
                        </a:defRPr>
                      </a:pPr>
                      <a:r>
                        <a:rPr sz="900"/>
                        <a:t>11,242</a:t>
                      </a:r>
                    </a:p>
                  </a:txBody>
                  <a:tcPr anchor="ctr">
                    <a:solidFill>
                      <a:srgbClr val="FFFFFF"/>
                    </a:solidFill>
                  </a:tcPr>
                </a:tc>
                <a:tc>
                  <a:txBody>
                    <a:bodyPr/>
                    <a:lstStyle/>
                    <a:p>
                      <a:pPr algn="ctr">
                        <a:defRPr sz="1000">
                          <a:latin typeface="Montserrat"/>
                        </a:defRPr>
                      </a:pPr>
                      <a:r>
                        <a:rPr sz="900" dirty="0"/>
                        <a:t>13,867</a:t>
                      </a:r>
                    </a:p>
                  </a:txBody>
                  <a:tcPr anchor="ctr">
                    <a:solidFill>
                      <a:srgbClr val="ECD3D9"/>
                    </a:solidFill>
                  </a:tcPr>
                </a:tc>
                <a:tc>
                  <a:txBody>
                    <a:bodyPr/>
                    <a:lstStyle/>
                    <a:p>
                      <a:pPr algn="ctr">
                        <a:defRPr sz="1000">
                          <a:latin typeface="Montserrat"/>
                        </a:defRPr>
                      </a:pPr>
                      <a:r>
                        <a:rPr sz="900" dirty="0"/>
                        <a:t>43,435</a:t>
                      </a:r>
                    </a:p>
                  </a:txBody>
                  <a:tcPr anchor="ctr">
                    <a:solidFill>
                      <a:srgbClr val="ECD3D9"/>
                    </a:solidFill>
                  </a:tcPr>
                </a:tc>
                <a:tc>
                  <a:txBody>
                    <a:bodyPr/>
                    <a:lstStyle/>
                    <a:p>
                      <a:pPr algn="ctr">
                        <a:defRPr sz="1000">
                          <a:latin typeface="Montserrat"/>
                        </a:defRPr>
                      </a:pPr>
                      <a:r>
                        <a:rPr sz="900" dirty="0"/>
                        <a:t>31.9%</a:t>
                      </a:r>
                    </a:p>
                  </a:txBody>
                  <a:tcPr anchor="ctr">
                    <a:solidFill>
                      <a:srgbClr val="ECD3D9"/>
                    </a:solidFill>
                  </a:tcPr>
                </a:tc>
                <a:extLst>
                  <a:ext uri="{0D108BD9-81ED-4DB2-BD59-A6C34878D82A}">
                    <a16:rowId xmlns:a16="http://schemas.microsoft.com/office/drawing/2014/main" val="10005"/>
                  </a:ext>
                </a:extLst>
              </a:tr>
              <a:tr h="230089">
                <a:tc>
                  <a:txBody>
                    <a:bodyPr/>
                    <a:lstStyle/>
                    <a:p>
                      <a:pPr algn="l">
                        <a:defRPr sz="1000">
                          <a:latin typeface="Montserrat"/>
                        </a:defRPr>
                      </a:pPr>
                      <a:r>
                        <a:rPr sz="900"/>
                        <a:t>HGSMF 3 Chilpancingo</a:t>
                      </a:r>
                    </a:p>
                  </a:txBody>
                  <a:tcPr anchor="ctr">
                    <a:solidFill>
                      <a:srgbClr val="EFEFEF"/>
                    </a:solidFill>
                  </a:tcPr>
                </a:tc>
                <a:tc>
                  <a:txBody>
                    <a:bodyPr/>
                    <a:lstStyle/>
                    <a:p>
                      <a:pPr algn="ctr">
                        <a:defRPr sz="1000">
                          <a:latin typeface="Montserrat"/>
                        </a:defRPr>
                      </a:pPr>
                      <a:r>
                        <a:rPr sz="900"/>
                        <a:t>21,240</a:t>
                      </a:r>
                    </a:p>
                  </a:txBody>
                  <a:tcPr anchor="ctr">
                    <a:solidFill>
                      <a:srgbClr val="EFEFEF"/>
                    </a:solidFill>
                  </a:tcPr>
                </a:tc>
                <a:tc>
                  <a:txBody>
                    <a:bodyPr/>
                    <a:lstStyle/>
                    <a:p>
                      <a:pPr algn="ctr">
                        <a:defRPr sz="1000">
                          <a:latin typeface="Montserrat"/>
                        </a:defRPr>
                      </a:pPr>
                      <a:r>
                        <a:rPr sz="900"/>
                        <a:t>5,070</a:t>
                      </a:r>
                    </a:p>
                  </a:txBody>
                  <a:tcPr anchor="ctr">
                    <a:solidFill>
                      <a:srgbClr val="EFEFEF"/>
                    </a:solidFill>
                  </a:tcPr>
                </a:tc>
                <a:tc>
                  <a:txBody>
                    <a:bodyPr/>
                    <a:lstStyle/>
                    <a:p>
                      <a:pPr algn="ctr">
                        <a:defRPr sz="1000">
                          <a:latin typeface="Montserrat"/>
                        </a:defRPr>
                      </a:pPr>
                      <a:r>
                        <a:rPr sz="900"/>
                        <a:t>10,661</a:t>
                      </a:r>
                    </a:p>
                  </a:txBody>
                  <a:tcPr anchor="ctr">
                    <a:solidFill>
                      <a:srgbClr val="ECD3D9"/>
                    </a:solidFill>
                  </a:tcPr>
                </a:tc>
                <a:tc>
                  <a:txBody>
                    <a:bodyPr/>
                    <a:lstStyle/>
                    <a:p>
                      <a:pPr algn="ctr">
                        <a:defRPr sz="1000">
                          <a:latin typeface="Montserrat"/>
                        </a:defRPr>
                      </a:pPr>
                      <a:r>
                        <a:rPr sz="900" dirty="0"/>
                        <a:t>35,040</a:t>
                      </a:r>
                    </a:p>
                  </a:txBody>
                  <a:tcPr anchor="ctr">
                    <a:solidFill>
                      <a:srgbClr val="ECD3D9"/>
                    </a:solidFill>
                  </a:tcPr>
                </a:tc>
                <a:tc>
                  <a:txBody>
                    <a:bodyPr/>
                    <a:lstStyle/>
                    <a:p>
                      <a:pPr algn="ctr">
                        <a:defRPr sz="1000">
                          <a:latin typeface="Montserrat"/>
                        </a:defRPr>
                      </a:pPr>
                      <a:r>
                        <a:rPr sz="900" dirty="0"/>
                        <a:t>30.4%</a:t>
                      </a:r>
                    </a:p>
                  </a:txBody>
                  <a:tcPr anchor="ctr">
                    <a:solidFill>
                      <a:srgbClr val="ECD3D9"/>
                    </a:solidFill>
                  </a:tcPr>
                </a:tc>
                <a:extLst>
                  <a:ext uri="{0D108BD9-81ED-4DB2-BD59-A6C34878D82A}">
                    <a16:rowId xmlns:a16="http://schemas.microsoft.com/office/drawing/2014/main" val="10006"/>
                  </a:ext>
                </a:extLst>
              </a:tr>
              <a:tr h="230089">
                <a:tc>
                  <a:txBody>
                    <a:bodyPr/>
                    <a:lstStyle/>
                    <a:p>
                      <a:pPr algn="l">
                        <a:defRPr sz="1000">
                          <a:latin typeface="Montserrat"/>
                        </a:defRPr>
                      </a:pPr>
                      <a:r>
                        <a:rPr sz="900"/>
                        <a:t>UMAA 29 Diamante</a:t>
                      </a:r>
                    </a:p>
                  </a:txBody>
                  <a:tcPr anchor="ctr">
                    <a:solidFill>
                      <a:srgbClr val="FFFFFF"/>
                    </a:solidFill>
                  </a:tcPr>
                </a:tc>
                <a:tc>
                  <a:txBody>
                    <a:bodyPr/>
                    <a:lstStyle/>
                    <a:p>
                      <a:pPr algn="ctr">
                        <a:defRPr sz="1000">
                          <a:latin typeface="Montserrat"/>
                        </a:defRPr>
                      </a:pPr>
                      <a:r>
                        <a:rPr sz="900"/>
                        <a:t>29,738</a:t>
                      </a:r>
                    </a:p>
                  </a:txBody>
                  <a:tcPr anchor="ctr">
                    <a:solidFill>
                      <a:srgbClr val="FFFFFF"/>
                    </a:solidFill>
                  </a:tcPr>
                </a:tc>
                <a:tc>
                  <a:txBody>
                    <a:bodyPr/>
                    <a:lstStyle/>
                    <a:p>
                      <a:pPr algn="ctr">
                        <a:defRPr sz="1000">
                          <a:latin typeface="Montserrat"/>
                        </a:defRPr>
                      </a:pPr>
                      <a:r>
                        <a:rPr sz="900"/>
                        <a:t>15,991</a:t>
                      </a:r>
                    </a:p>
                  </a:txBody>
                  <a:tcPr anchor="ctr">
                    <a:solidFill>
                      <a:srgbClr val="FFFFFF"/>
                    </a:solidFill>
                  </a:tcPr>
                </a:tc>
                <a:tc>
                  <a:txBody>
                    <a:bodyPr/>
                    <a:lstStyle/>
                    <a:p>
                      <a:pPr algn="ctr">
                        <a:defRPr sz="1000">
                          <a:latin typeface="Montserrat"/>
                        </a:defRPr>
                      </a:pPr>
                      <a:r>
                        <a:rPr sz="900"/>
                        <a:t>13,703</a:t>
                      </a:r>
                    </a:p>
                  </a:txBody>
                  <a:tcPr anchor="ctr">
                    <a:solidFill>
                      <a:srgbClr val="ECD3D9"/>
                    </a:solidFill>
                  </a:tcPr>
                </a:tc>
                <a:tc>
                  <a:txBody>
                    <a:bodyPr/>
                    <a:lstStyle/>
                    <a:p>
                      <a:pPr algn="ctr">
                        <a:defRPr sz="1000">
                          <a:latin typeface="Montserrat"/>
                        </a:defRPr>
                      </a:pPr>
                      <a:r>
                        <a:rPr sz="900" dirty="0"/>
                        <a:t>46,720</a:t>
                      </a:r>
                    </a:p>
                  </a:txBody>
                  <a:tcPr anchor="ctr">
                    <a:solidFill>
                      <a:srgbClr val="ECD3D9"/>
                    </a:solidFill>
                  </a:tcPr>
                </a:tc>
                <a:tc>
                  <a:txBody>
                    <a:bodyPr/>
                    <a:lstStyle/>
                    <a:p>
                      <a:pPr algn="ctr">
                        <a:defRPr sz="1000">
                          <a:latin typeface="Montserrat"/>
                        </a:defRPr>
                      </a:pPr>
                      <a:r>
                        <a:rPr sz="900" dirty="0"/>
                        <a:t>29.3%</a:t>
                      </a:r>
                    </a:p>
                  </a:txBody>
                  <a:tcPr anchor="ctr">
                    <a:solidFill>
                      <a:srgbClr val="ECD3D9"/>
                    </a:solidFill>
                  </a:tcPr>
                </a:tc>
                <a:extLst>
                  <a:ext uri="{0D108BD9-81ED-4DB2-BD59-A6C34878D82A}">
                    <a16:rowId xmlns:a16="http://schemas.microsoft.com/office/drawing/2014/main" val="10007"/>
                  </a:ext>
                </a:extLst>
              </a:tr>
              <a:tr h="230089">
                <a:tc>
                  <a:txBody>
                    <a:bodyPr/>
                    <a:lstStyle/>
                    <a:p>
                      <a:pPr algn="l">
                        <a:defRPr sz="1000" b="1">
                          <a:solidFill>
                            <a:srgbClr val="006556"/>
                          </a:solidFill>
                          <a:latin typeface="Montserrat"/>
                        </a:defRPr>
                      </a:pPr>
                      <a:r>
                        <a:rPr sz="900"/>
                        <a:t>Total</a:t>
                      </a:r>
                    </a:p>
                  </a:txBody>
                  <a:tcPr anchor="ctr">
                    <a:solidFill>
                      <a:srgbClr val="D3E9E7"/>
                    </a:solidFill>
                  </a:tcPr>
                </a:tc>
                <a:tc>
                  <a:txBody>
                    <a:bodyPr/>
                    <a:lstStyle/>
                    <a:p>
                      <a:pPr algn="ctr">
                        <a:defRPr sz="1000" b="1">
                          <a:solidFill>
                            <a:srgbClr val="006556"/>
                          </a:solidFill>
                          <a:latin typeface="Montserrat"/>
                        </a:defRPr>
                      </a:pPr>
                      <a:r>
                        <a:rPr sz="900"/>
                        <a:t>411,028</a:t>
                      </a:r>
                    </a:p>
                  </a:txBody>
                  <a:tcPr anchor="ctr">
                    <a:solidFill>
                      <a:srgbClr val="D3E9E7"/>
                    </a:solidFill>
                  </a:tcPr>
                </a:tc>
                <a:tc>
                  <a:txBody>
                    <a:bodyPr/>
                    <a:lstStyle/>
                    <a:p>
                      <a:pPr algn="ctr">
                        <a:defRPr sz="1000" b="1">
                          <a:solidFill>
                            <a:srgbClr val="006556"/>
                          </a:solidFill>
                          <a:latin typeface="Montserrat"/>
                        </a:defRPr>
                      </a:pPr>
                      <a:r>
                        <a:rPr sz="900"/>
                        <a:t>127,867</a:t>
                      </a:r>
                    </a:p>
                  </a:txBody>
                  <a:tcPr anchor="ctr">
                    <a:solidFill>
                      <a:srgbClr val="D3E9E7"/>
                    </a:solidFill>
                  </a:tcPr>
                </a:tc>
                <a:tc>
                  <a:txBody>
                    <a:bodyPr/>
                    <a:lstStyle/>
                    <a:p>
                      <a:pPr algn="ctr">
                        <a:defRPr sz="1000" b="1">
                          <a:solidFill>
                            <a:srgbClr val="FFFFFF"/>
                          </a:solidFill>
                          <a:latin typeface="Montserrat"/>
                        </a:defRPr>
                      </a:pPr>
                      <a:r>
                        <a:rPr sz="900"/>
                        <a:t>196,189</a:t>
                      </a:r>
                    </a:p>
                  </a:txBody>
                  <a:tcPr anchor="ctr">
                    <a:solidFill>
                      <a:srgbClr val="9F2241"/>
                    </a:solidFill>
                  </a:tcPr>
                </a:tc>
                <a:tc>
                  <a:txBody>
                    <a:bodyPr/>
                    <a:lstStyle/>
                    <a:p>
                      <a:pPr algn="ctr">
                        <a:defRPr sz="1000" b="1">
                          <a:solidFill>
                            <a:srgbClr val="FFFFFF"/>
                          </a:solidFill>
                          <a:latin typeface="Montserrat"/>
                        </a:defRPr>
                      </a:pPr>
                      <a:r>
                        <a:rPr sz="900"/>
                        <a:t>470,485</a:t>
                      </a:r>
                    </a:p>
                  </a:txBody>
                  <a:tcPr anchor="ctr">
                    <a:solidFill>
                      <a:srgbClr val="9F2241"/>
                    </a:solidFill>
                  </a:tcPr>
                </a:tc>
                <a:tc>
                  <a:txBody>
                    <a:bodyPr/>
                    <a:lstStyle/>
                    <a:p>
                      <a:pPr algn="ctr">
                        <a:defRPr sz="1000" b="1">
                          <a:solidFill>
                            <a:srgbClr val="FFFFFF"/>
                          </a:solidFill>
                          <a:latin typeface="Montserrat"/>
                        </a:defRPr>
                      </a:pPr>
                      <a:r>
                        <a:rPr sz="900" dirty="0"/>
                        <a:t>41.7%</a:t>
                      </a:r>
                    </a:p>
                  </a:txBody>
                  <a:tcPr anchor="ctr">
                    <a:solidFill>
                      <a:srgbClr val="9F2241"/>
                    </a:solidFill>
                  </a:tcPr>
                </a:tc>
                <a:extLst>
                  <a:ext uri="{0D108BD9-81ED-4DB2-BD59-A6C34878D82A}">
                    <a16:rowId xmlns:a16="http://schemas.microsoft.com/office/drawing/2014/main" val="10008"/>
                  </a:ext>
                </a:extLst>
              </a:tr>
            </a:tbl>
          </a:graphicData>
        </a:graphic>
      </p:graphicFrame>
      <p:graphicFrame>
        <p:nvGraphicFramePr>
          <p:cNvPr id="237" name="Chart 236"/>
          <p:cNvGraphicFramePr>
            <a:graphicFrameLocks noGrp="1"/>
          </p:cNvGraphicFramePr>
          <p:nvPr>
            <p:extLst>
              <p:ext uri="{D42A27DB-BD31-4B8C-83A1-F6EECF244321}">
                <p14:modId xmlns:p14="http://schemas.microsoft.com/office/powerpoint/2010/main" val="4009669847"/>
              </p:ext>
            </p:extLst>
          </p:nvPr>
        </p:nvGraphicFramePr>
        <p:xfrm>
          <a:off x="4068199" y="3565000"/>
          <a:ext cx="1557901" cy="1500600"/>
        </p:xfrm>
        <a:graphic>
          <a:graphicData uri="http://schemas.openxmlformats.org/drawingml/2006/chart">
            <c:chart xmlns:c="http://schemas.openxmlformats.org/drawingml/2006/chart" xmlns:r="http://schemas.openxmlformats.org/officeDocument/2006/relationships" r:id="rId4"/>
          </a:graphicData>
        </a:graphic>
      </p:graphicFrame>
      <p:sp>
        <p:nvSpPr>
          <p:cNvPr id="238" name="TextBox 237"/>
          <p:cNvSpPr txBox="1"/>
          <p:nvPr/>
        </p:nvSpPr>
        <p:spPr>
          <a:xfrm>
            <a:off x="4068199" y="4134380"/>
            <a:ext cx="1557901" cy="400110"/>
          </a:xfrm>
          <a:prstGeom prst="rect">
            <a:avLst/>
          </a:prstGeom>
          <a:noFill/>
        </p:spPr>
        <p:txBody>
          <a:bodyPr wrap="square">
            <a:spAutoFit/>
          </a:bodyPr>
          <a:lstStyle/>
          <a:p>
            <a:pPr algn="ctr"/>
            <a:r>
              <a:rPr sz="2000" b="1" dirty="0">
                <a:solidFill>
                  <a:srgbClr val="9F2241"/>
                </a:solidFill>
                <a:latin typeface="Montserrat"/>
              </a:rPr>
              <a:t>41.7%</a:t>
            </a:r>
          </a:p>
        </p:txBody>
      </p:sp>
      <p:sp>
        <p:nvSpPr>
          <p:cNvPr id="239" name="TextBox 238"/>
          <p:cNvSpPr txBox="1"/>
          <p:nvPr/>
        </p:nvSpPr>
        <p:spPr>
          <a:xfrm>
            <a:off x="4068199" y="4945480"/>
            <a:ext cx="1557901" cy="307777"/>
          </a:xfrm>
          <a:prstGeom prst="rect">
            <a:avLst/>
          </a:prstGeom>
          <a:noFill/>
        </p:spPr>
        <p:txBody>
          <a:bodyPr wrap="square">
            <a:spAutoFit/>
          </a:bodyPr>
          <a:lstStyle/>
          <a:p>
            <a:pPr algn="ctr"/>
            <a:r>
              <a:rPr sz="1400" b="1">
                <a:solidFill>
                  <a:srgbClr val="9F2241"/>
                </a:solidFill>
                <a:latin typeface="Montserrat"/>
              </a:rPr>
              <a:t>Avance</a:t>
            </a:r>
          </a:p>
        </p:txBody>
      </p:sp>
      <p:sp>
        <p:nvSpPr>
          <p:cNvPr id="240" name="TextBox 239"/>
          <p:cNvSpPr txBox="1"/>
          <p:nvPr/>
        </p:nvSpPr>
        <p:spPr>
          <a:xfrm>
            <a:off x="1759499" y="3844400"/>
            <a:ext cx="2854800" cy="830997"/>
          </a:xfrm>
          <a:prstGeom prst="rect">
            <a:avLst/>
          </a:prstGeom>
          <a:noFill/>
        </p:spPr>
        <p:txBody>
          <a:bodyPr wrap="square">
            <a:spAutoFit/>
          </a:bodyPr>
          <a:lstStyle/>
          <a:p>
            <a:pPr algn="ctr">
              <a:defRPr sz="3600" b="1">
                <a:solidFill>
                  <a:srgbClr val="9F2241"/>
                </a:solidFill>
                <a:latin typeface="Montserrat"/>
              </a:defRPr>
            </a:pPr>
            <a:r>
              <a:rPr sz="2400" dirty="0"/>
              <a:t>470,485 </a:t>
            </a:r>
            <a:br>
              <a:rPr sz="2400" dirty="0"/>
            </a:br>
            <a:r>
              <a:rPr sz="2400" dirty="0"/>
              <a:t>Meta 2026</a:t>
            </a:r>
          </a:p>
        </p:txBody>
      </p:sp>
      <p:graphicFrame>
        <p:nvGraphicFramePr>
          <p:cNvPr id="13" name="Google Shape;230;g370e87ffe7a_2_137"/>
          <p:cNvGraphicFramePr/>
          <p:nvPr>
            <p:extLst>
              <p:ext uri="{D42A27DB-BD31-4B8C-83A1-F6EECF244321}">
                <p14:modId xmlns:p14="http://schemas.microsoft.com/office/powerpoint/2010/main" val="2454771763"/>
              </p:ext>
            </p:extLst>
          </p:nvPr>
        </p:nvGraphicFramePr>
        <p:xfrm>
          <a:off x="143502" y="50645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4" name="Table 232"/>
          <p:cNvGraphicFramePr>
            <a:graphicFrameLocks noGrp="1"/>
          </p:cNvGraphicFramePr>
          <p:nvPr>
            <p:extLst>
              <p:ext uri="{D42A27DB-BD31-4B8C-83A1-F6EECF244321}">
                <p14:modId xmlns:p14="http://schemas.microsoft.com/office/powerpoint/2010/main" val="3483841564"/>
              </p:ext>
            </p:extLst>
          </p:nvPr>
        </p:nvGraphicFramePr>
        <p:xfrm>
          <a:off x="144000" y="5595300"/>
          <a:ext cx="7340399" cy="2245392"/>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348265">
                <a:tc>
                  <a:txBody>
                    <a:bodyPr/>
                    <a:lstStyle/>
                    <a:p>
                      <a:pPr algn="ctr">
                        <a:defRPr sz="900" b="1">
                          <a:solidFill>
                            <a:srgbClr val="FFFFFF"/>
                          </a:solidFill>
                          <a:latin typeface="Montserrat"/>
                        </a:defRPr>
                      </a:pPr>
                      <a:r>
                        <a:rPr sz="900" dirty="0" err="1"/>
                        <a:t>Unidad</a:t>
                      </a:r>
                      <a:endParaRPr sz="900" dirty="0"/>
                    </a:p>
                  </a:txBody>
                  <a:tcPr anchor="ctr">
                    <a:solidFill>
                      <a:srgbClr val="006455"/>
                    </a:solidFill>
                  </a:tcPr>
                </a:tc>
                <a:tc>
                  <a:txBody>
                    <a:bodyPr/>
                    <a:lstStyle/>
                    <a:p>
                      <a:pPr algn="ctr">
                        <a:defRPr sz="900" b="1">
                          <a:solidFill>
                            <a:srgbClr val="FFFFFF"/>
                          </a:solidFill>
                          <a:latin typeface="Montserrat"/>
                        </a:defRPr>
                      </a:pPr>
                      <a:r>
                        <a:rPr sz="900"/>
                        <a:t>2025</a:t>
                      </a:r>
                    </a:p>
                  </a:txBody>
                  <a:tcPr anchor="ctr">
                    <a:solidFill>
                      <a:srgbClr val="006455"/>
                    </a:solidFill>
                  </a:tcPr>
                </a:tc>
                <a:tc>
                  <a:txBody>
                    <a:bodyPr/>
                    <a:lstStyle/>
                    <a:p>
                      <a:pPr algn="ctr">
                        <a:defRPr sz="900" b="1">
                          <a:solidFill>
                            <a:srgbClr val="FFFFFF"/>
                          </a:solidFill>
                          <a:latin typeface="Montserrat"/>
                        </a:defRPr>
                      </a:pPr>
                      <a:r>
                        <a:rPr sz="900"/>
                        <a:t>Incremento 2025 vs 2024</a:t>
                      </a:r>
                    </a:p>
                  </a:txBody>
                  <a:tcPr anchor="ctr">
                    <a:solidFill>
                      <a:srgbClr val="006455"/>
                    </a:solidFill>
                  </a:tcPr>
                </a:tc>
                <a:tc>
                  <a:txBody>
                    <a:bodyPr/>
                    <a:lstStyle/>
                    <a:p>
                      <a:pPr algn="ctr">
                        <a:defRPr sz="900" b="1">
                          <a:solidFill>
                            <a:srgbClr val="FFFFFF"/>
                          </a:solidFill>
                          <a:latin typeface="Montserrat"/>
                        </a:defRPr>
                      </a:pPr>
                      <a:r>
                        <a:rPr sz="900"/>
                        <a:t>Avance 2026</a:t>
                      </a:r>
                    </a:p>
                  </a:txBody>
                  <a:tcPr anchor="ctr">
                    <a:solidFill>
                      <a:srgbClr val="980000"/>
                    </a:solidFill>
                  </a:tcPr>
                </a:tc>
                <a:tc>
                  <a:txBody>
                    <a:bodyPr/>
                    <a:lstStyle/>
                    <a:p>
                      <a:pPr algn="ctr">
                        <a:defRPr sz="900" b="1">
                          <a:solidFill>
                            <a:srgbClr val="FFFFFF"/>
                          </a:solidFill>
                          <a:latin typeface="Montserrat"/>
                        </a:defRPr>
                      </a:pPr>
                      <a:r>
                        <a:rPr sz="900"/>
                        <a:t>Meta 2026</a:t>
                      </a:r>
                    </a:p>
                  </a:txBody>
                  <a:tcPr anchor="ctr">
                    <a:solidFill>
                      <a:srgbClr val="980000"/>
                    </a:solidFill>
                  </a:tcPr>
                </a:tc>
                <a:tc>
                  <a:txBody>
                    <a:bodyPr/>
                    <a:lstStyle/>
                    <a:p>
                      <a:pPr algn="ctr">
                        <a:defRPr sz="900" b="1">
                          <a:solidFill>
                            <a:srgbClr val="FFFFFF"/>
                          </a:solidFill>
                          <a:latin typeface="Montserrat"/>
                        </a:defRPr>
                      </a:pPr>
                      <a:r>
                        <a:rPr sz="900"/>
                        <a:t>% Cumplimiento de la meta</a:t>
                      </a:r>
                    </a:p>
                  </a:txBody>
                  <a:tcPr anchor="ctr">
                    <a:solidFill>
                      <a:srgbClr val="980000"/>
                    </a:solidFill>
                  </a:tcPr>
                </a:tc>
                <a:extLst>
                  <a:ext uri="{0D108BD9-81ED-4DB2-BD59-A6C34878D82A}">
                    <a16:rowId xmlns:a16="http://schemas.microsoft.com/office/drawing/2014/main" val="10000"/>
                  </a:ext>
                </a:extLst>
              </a:tr>
              <a:tr h="234954">
                <a:tc>
                  <a:txBody>
                    <a:bodyPr/>
                    <a:lstStyle/>
                    <a:p>
                      <a:pPr algn="l">
                        <a:defRPr sz="1000">
                          <a:latin typeface="Montserrat"/>
                        </a:defRPr>
                      </a:pPr>
                      <a:r>
                        <a:rPr sz="900" dirty="0"/>
                        <a:t>HGSMF 19 Cd. </a:t>
                      </a:r>
                      <a:r>
                        <a:rPr sz="900" dirty="0" err="1"/>
                        <a:t>Altamirano</a:t>
                      </a:r>
                      <a:endParaRPr sz="900" dirty="0"/>
                    </a:p>
                  </a:txBody>
                  <a:tcPr anchor="ctr">
                    <a:solidFill>
                      <a:srgbClr val="FFFFFF"/>
                    </a:solidFill>
                  </a:tcPr>
                </a:tc>
                <a:tc>
                  <a:txBody>
                    <a:bodyPr/>
                    <a:lstStyle/>
                    <a:p>
                      <a:pPr algn="ctr">
                        <a:defRPr sz="1000">
                          <a:latin typeface="Montserrat"/>
                        </a:defRPr>
                      </a:pPr>
                      <a:r>
                        <a:rPr sz="900" dirty="0"/>
                        <a:t>913</a:t>
                      </a:r>
                    </a:p>
                  </a:txBody>
                  <a:tcPr anchor="ctr">
                    <a:solidFill>
                      <a:srgbClr val="FFFFFF"/>
                    </a:solidFill>
                  </a:tcPr>
                </a:tc>
                <a:tc>
                  <a:txBody>
                    <a:bodyPr/>
                    <a:lstStyle/>
                    <a:p>
                      <a:pPr algn="ctr">
                        <a:defRPr sz="1000">
                          <a:latin typeface="Montserrat"/>
                        </a:defRPr>
                      </a:pPr>
                      <a:r>
                        <a:rPr sz="900" dirty="0"/>
                        <a:t>478</a:t>
                      </a:r>
                    </a:p>
                  </a:txBody>
                  <a:tcPr anchor="ctr">
                    <a:solidFill>
                      <a:srgbClr val="FFFFFF"/>
                    </a:solidFill>
                  </a:tcPr>
                </a:tc>
                <a:tc>
                  <a:txBody>
                    <a:bodyPr/>
                    <a:lstStyle/>
                    <a:p>
                      <a:pPr algn="ctr">
                        <a:defRPr sz="1000">
                          <a:latin typeface="Montserrat"/>
                        </a:defRPr>
                      </a:pPr>
                      <a:r>
                        <a:rPr sz="900"/>
                        <a:t>674</a:t>
                      </a:r>
                    </a:p>
                  </a:txBody>
                  <a:tcPr anchor="ctr">
                    <a:solidFill>
                      <a:srgbClr val="ECD3D9"/>
                    </a:solidFill>
                  </a:tcPr>
                </a:tc>
                <a:tc>
                  <a:txBody>
                    <a:bodyPr/>
                    <a:lstStyle/>
                    <a:p>
                      <a:pPr algn="ctr">
                        <a:defRPr sz="1000">
                          <a:latin typeface="Montserrat"/>
                        </a:defRPr>
                      </a:pPr>
                      <a:r>
                        <a:rPr sz="900"/>
                        <a:t>1,254</a:t>
                      </a:r>
                    </a:p>
                  </a:txBody>
                  <a:tcPr anchor="ctr">
                    <a:solidFill>
                      <a:srgbClr val="ECD3D9"/>
                    </a:solidFill>
                  </a:tcPr>
                </a:tc>
                <a:tc>
                  <a:txBody>
                    <a:bodyPr/>
                    <a:lstStyle/>
                    <a:p>
                      <a:pPr algn="ctr">
                        <a:defRPr sz="1000">
                          <a:latin typeface="Montserrat"/>
                        </a:defRPr>
                      </a:pPr>
                      <a:r>
                        <a:rPr sz="900"/>
                        <a:t>53.8%</a:t>
                      </a:r>
                    </a:p>
                  </a:txBody>
                  <a:tcPr anchor="ctr">
                    <a:solidFill>
                      <a:srgbClr val="ECD3D9"/>
                    </a:solidFill>
                  </a:tcPr>
                </a:tc>
                <a:extLst>
                  <a:ext uri="{0D108BD9-81ED-4DB2-BD59-A6C34878D82A}">
                    <a16:rowId xmlns:a16="http://schemas.microsoft.com/office/drawing/2014/main" val="10001"/>
                  </a:ext>
                </a:extLst>
              </a:tr>
              <a:tr h="234954">
                <a:tc>
                  <a:txBody>
                    <a:bodyPr/>
                    <a:lstStyle/>
                    <a:p>
                      <a:pPr algn="l">
                        <a:defRPr sz="1000">
                          <a:latin typeface="Montserrat"/>
                        </a:defRPr>
                      </a:pPr>
                      <a:r>
                        <a:rPr sz="900"/>
                        <a:t>HGZMF 4 Iguala</a:t>
                      </a:r>
                    </a:p>
                  </a:txBody>
                  <a:tcPr anchor="ctr">
                    <a:solidFill>
                      <a:srgbClr val="EFEFEF"/>
                    </a:solidFill>
                  </a:tcPr>
                </a:tc>
                <a:tc>
                  <a:txBody>
                    <a:bodyPr/>
                    <a:lstStyle/>
                    <a:p>
                      <a:pPr algn="ctr">
                        <a:defRPr sz="1000">
                          <a:latin typeface="Montserrat"/>
                        </a:defRPr>
                      </a:pPr>
                      <a:r>
                        <a:rPr sz="900"/>
                        <a:t>2,808</a:t>
                      </a:r>
                    </a:p>
                  </a:txBody>
                  <a:tcPr anchor="ctr">
                    <a:solidFill>
                      <a:srgbClr val="EFEFEF"/>
                    </a:solidFill>
                  </a:tcPr>
                </a:tc>
                <a:tc>
                  <a:txBody>
                    <a:bodyPr/>
                    <a:lstStyle/>
                    <a:p>
                      <a:pPr algn="ctr">
                        <a:defRPr sz="1000">
                          <a:latin typeface="Montserrat"/>
                        </a:defRPr>
                      </a:pPr>
                      <a:r>
                        <a:rPr sz="900" dirty="0"/>
                        <a:t>1,282</a:t>
                      </a:r>
                    </a:p>
                  </a:txBody>
                  <a:tcPr anchor="ctr">
                    <a:solidFill>
                      <a:srgbClr val="EFEFEF"/>
                    </a:solidFill>
                  </a:tcPr>
                </a:tc>
                <a:tc>
                  <a:txBody>
                    <a:bodyPr/>
                    <a:lstStyle/>
                    <a:p>
                      <a:pPr algn="ctr">
                        <a:defRPr sz="1000">
                          <a:latin typeface="Montserrat"/>
                        </a:defRPr>
                      </a:pPr>
                      <a:r>
                        <a:rPr sz="900" dirty="0"/>
                        <a:t>2,145</a:t>
                      </a:r>
                    </a:p>
                  </a:txBody>
                  <a:tcPr anchor="ctr">
                    <a:solidFill>
                      <a:srgbClr val="ECD3D9"/>
                    </a:solidFill>
                  </a:tcPr>
                </a:tc>
                <a:tc>
                  <a:txBody>
                    <a:bodyPr/>
                    <a:lstStyle/>
                    <a:p>
                      <a:pPr algn="ctr">
                        <a:defRPr sz="1000">
                          <a:latin typeface="Montserrat"/>
                        </a:defRPr>
                      </a:pPr>
                      <a:r>
                        <a:rPr sz="900"/>
                        <a:t>4,077</a:t>
                      </a:r>
                    </a:p>
                  </a:txBody>
                  <a:tcPr anchor="ctr">
                    <a:solidFill>
                      <a:srgbClr val="ECD3D9"/>
                    </a:solidFill>
                  </a:tcPr>
                </a:tc>
                <a:tc>
                  <a:txBody>
                    <a:bodyPr/>
                    <a:lstStyle/>
                    <a:p>
                      <a:pPr algn="ctr">
                        <a:defRPr sz="1000">
                          <a:latin typeface="Montserrat"/>
                        </a:defRPr>
                      </a:pPr>
                      <a:r>
                        <a:rPr sz="900"/>
                        <a:t>52.6%</a:t>
                      </a:r>
                    </a:p>
                  </a:txBody>
                  <a:tcPr anchor="ctr">
                    <a:solidFill>
                      <a:srgbClr val="ECD3D9"/>
                    </a:solidFill>
                  </a:tcPr>
                </a:tc>
                <a:extLst>
                  <a:ext uri="{0D108BD9-81ED-4DB2-BD59-A6C34878D82A}">
                    <a16:rowId xmlns:a16="http://schemas.microsoft.com/office/drawing/2014/main" val="10002"/>
                  </a:ext>
                </a:extLst>
              </a:tr>
              <a:tr h="234954">
                <a:tc>
                  <a:txBody>
                    <a:bodyPr/>
                    <a:lstStyle/>
                    <a:p>
                      <a:pPr algn="l">
                        <a:defRPr sz="1000">
                          <a:latin typeface="Montserrat"/>
                        </a:defRPr>
                      </a:pPr>
                      <a:r>
                        <a:rPr sz="900"/>
                        <a:t>HGSMF 5 Taxco</a:t>
                      </a:r>
                    </a:p>
                  </a:txBody>
                  <a:tcPr anchor="ctr">
                    <a:solidFill>
                      <a:srgbClr val="FFFFFF"/>
                    </a:solidFill>
                  </a:tcPr>
                </a:tc>
                <a:tc>
                  <a:txBody>
                    <a:bodyPr/>
                    <a:lstStyle/>
                    <a:p>
                      <a:pPr algn="ctr">
                        <a:defRPr sz="1000">
                          <a:latin typeface="Montserrat"/>
                        </a:defRPr>
                      </a:pPr>
                      <a:r>
                        <a:rPr sz="900"/>
                        <a:t>2,059</a:t>
                      </a:r>
                    </a:p>
                  </a:txBody>
                  <a:tcPr anchor="ctr">
                    <a:solidFill>
                      <a:srgbClr val="FFFFFF"/>
                    </a:solidFill>
                  </a:tcPr>
                </a:tc>
                <a:tc>
                  <a:txBody>
                    <a:bodyPr/>
                    <a:lstStyle/>
                    <a:p>
                      <a:pPr algn="ctr">
                        <a:defRPr sz="1000">
                          <a:latin typeface="Montserrat"/>
                        </a:defRPr>
                      </a:pPr>
                      <a:r>
                        <a:rPr sz="900" dirty="0"/>
                        <a:t>1,491</a:t>
                      </a:r>
                    </a:p>
                  </a:txBody>
                  <a:tcPr anchor="ctr">
                    <a:solidFill>
                      <a:srgbClr val="FFFFFF"/>
                    </a:solidFill>
                  </a:tcPr>
                </a:tc>
                <a:tc>
                  <a:txBody>
                    <a:bodyPr/>
                    <a:lstStyle/>
                    <a:p>
                      <a:pPr algn="ctr">
                        <a:defRPr sz="1000">
                          <a:latin typeface="Montserrat"/>
                        </a:defRPr>
                      </a:pPr>
                      <a:r>
                        <a:rPr sz="900" dirty="0"/>
                        <a:t>1,100</a:t>
                      </a:r>
                    </a:p>
                  </a:txBody>
                  <a:tcPr anchor="ctr">
                    <a:solidFill>
                      <a:srgbClr val="ECD3D9"/>
                    </a:solidFill>
                  </a:tcPr>
                </a:tc>
                <a:tc>
                  <a:txBody>
                    <a:bodyPr/>
                    <a:lstStyle/>
                    <a:p>
                      <a:pPr algn="ctr">
                        <a:defRPr sz="1000">
                          <a:latin typeface="Montserrat"/>
                        </a:defRPr>
                      </a:pPr>
                      <a:r>
                        <a:rPr sz="900"/>
                        <a:t>2,091</a:t>
                      </a:r>
                    </a:p>
                  </a:txBody>
                  <a:tcPr anchor="ctr">
                    <a:solidFill>
                      <a:srgbClr val="ECD3D9"/>
                    </a:solidFill>
                  </a:tcPr>
                </a:tc>
                <a:tc>
                  <a:txBody>
                    <a:bodyPr/>
                    <a:lstStyle/>
                    <a:p>
                      <a:pPr algn="ctr">
                        <a:defRPr sz="1000">
                          <a:latin typeface="Montserrat"/>
                        </a:defRPr>
                      </a:pPr>
                      <a:r>
                        <a:rPr sz="900"/>
                        <a:t>52.6%</a:t>
                      </a:r>
                    </a:p>
                  </a:txBody>
                  <a:tcPr anchor="ctr">
                    <a:solidFill>
                      <a:srgbClr val="ECD3D9"/>
                    </a:solidFill>
                  </a:tcPr>
                </a:tc>
                <a:extLst>
                  <a:ext uri="{0D108BD9-81ED-4DB2-BD59-A6C34878D82A}">
                    <a16:rowId xmlns:a16="http://schemas.microsoft.com/office/drawing/2014/main" val="10003"/>
                  </a:ext>
                </a:extLst>
              </a:tr>
              <a:tr h="234954">
                <a:tc>
                  <a:txBody>
                    <a:bodyPr/>
                    <a:lstStyle/>
                    <a:p>
                      <a:pPr algn="l">
                        <a:defRPr sz="1000">
                          <a:latin typeface="Montserrat"/>
                        </a:defRPr>
                      </a:pPr>
                      <a:r>
                        <a:rPr sz="900"/>
                        <a:t>HGZMF 8 Zihuatanejo</a:t>
                      </a:r>
                    </a:p>
                  </a:txBody>
                  <a:tcPr anchor="ctr">
                    <a:solidFill>
                      <a:srgbClr val="EFEFEF"/>
                    </a:solidFill>
                  </a:tcPr>
                </a:tc>
                <a:tc>
                  <a:txBody>
                    <a:bodyPr/>
                    <a:lstStyle/>
                    <a:p>
                      <a:pPr algn="ctr">
                        <a:defRPr sz="1000">
                          <a:latin typeface="Montserrat"/>
                        </a:defRPr>
                      </a:pPr>
                      <a:r>
                        <a:rPr sz="900"/>
                        <a:t>3,830</a:t>
                      </a:r>
                    </a:p>
                  </a:txBody>
                  <a:tcPr anchor="ctr">
                    <a:solidFill>
                      <a:srgbClr val="EFEFEF"/>
                    </a:solidFill>
                  </a:tcPr>
                </a:tc>
                <a:tc>
                  <a:txBody>
                    <a:bodyPr/>
                    <a:lstStyle/>
                    <a:p>
                      <a:pPr algn="ctr">
                        <a:defRPr sz="1000">
                          <a:latin typeface="Montserrat"/>
                        </a:defRPr>
                      </a:pPr>
                      <a:r>
                        <a:rPr sz="900"/>
                        <a:t>2,428</a:t>
                      </a:r>
                    </a:p>
                  </a:txBody>
                  <a:tcPr anchor="ctr">
                    <a:solidFill>
                      <a:srgbClr val="EFEFEF"/>
                    </a:solidFill>
                  </a:tcPr>
                </a:tc>
                <a:tc>
                  <a:txBody>
                    <a:bodyPr/>
                    <a:lstStyle/>
                    <a:p>
                      <a:pPr algn="ctr">
                        <a:defRPr sz="1000">
                          <a:latin typeface="Montserrat"/>
                        </a:defRPr>
                      </a:pPr>
                      <a:r>
                        <a:rPr sz="900" dirty="0"/>
                        <a:t>2,122</a:t>
                      </a:r>
                    </a:p>
                  </a:txBody>
                  <a:tcPr anchor="ctr">
                    <a:solidFill>
                      <a:srgbClr val="ECD3D9"/>
                    </a:solidFill>
                  </a:tcPr>
                </a:tc>
                <a:tc>
                  <a:txBody>
                    <a:bodyPr/>
                    <a:lstStyle/>
                    <a:p>
                      <a:pPr algn="ctr">
                        <a:defRPr sz="1000">
                          <a:latin typeface="Montserrat"/>
                        </a:defRPr>
                      </a:pPr>
                      <a:r>
                        <a:rPr sz="900" dirty="0"/>
                        <a:t>4,182</a:t>
                      </a:r>
                    </a:p>
                  </a:txBody>
                  <a:tcPr anchor="ctr">
                    <a:solidFill>
                      <a:srgbClr val="ECD3D9"/>
                    </a:solidFill>
                  </a:tcPr>
                </a:tc>
                <a:tc>
                  <a:txBody>
                    <a:bodyPr/>
                    <a:lstStyle/>
                    <a:p>
                      <a:pPr algn="ctr">
                        <a:defRPr sz="1000">
                          <a:latin typeface="Montserrat"/>
                        </a:defRPr>
                      </a:pPr>
                      <a:r>
                        <a:rPr sz="900"/>
                        <a:t>50.7%</a:t>
                      </a:r>
                    </a:p>
                  </a:txBody>
                  <a:tcPr anchor="ctr">
                    <a:solidFill>
                      <a:srgbClr val="ECD3D9"/>
                    </a:solidFill>
                  </a:tcPr>
                </a:tc>
                <a:extLst>
                  <a:ext uri="{0D108BD9-81ED-4DB2-BD59-A6C34878D82A}">
                    <a16:rowId xmlns:a16="http://schemas.microsoft.com/office/drawing/2014/main" val="10004"/>
                  </a:ext>
                </a:extLst>
              </a:tr>
              <a:tr h="234954">
                <a:tc>
                  <a:txBody>
                    <a:bodyPr/>
                    <a:lstStyle/>
                    <a:p>
                      <a:pPr algn="l">
                        <a:defRPr sz="1000">
                          <a:latin typeface="Montserrat"/>
                        </a:defRPr>
                      </a:pPr>
                      <a:r>
                        <a:rPr sz="900"/>
                        <a:t>HGSMF 3 Chilpancingo</a:t>
                      </a:r>
                    </a:p>
                  </a:txBody>
                  <a:tcPr anchor="ctr">
                    <a:solidFill>
                      <a:srgbClr val="FFFFFF"/>
                    </a:solidFill>
                  </a:tcPr>
                </a:tc>
                <a:tc>
                  <a:txBody>
                    <a:bodyPr/>
                    <a:lstStyle/>
                    <a:p>
                      <a:pPr algn="ctr">
                        <a:defRPr sz="1000">
                          <a:latin typeface="Montserrat"/>
                        </a:defRPr>
                      </a:pPr>
                      <a:r>
                        <a:rPr sz="900"/>
                        <a:t>1,586</a:t>
                      </a:r>
                    </a:p>
                  </a:txBody>
                  <a:tcPr anchor="ctr">
                    <a:solidFill>
                      <a:srgbClr val="FFFFFF"/>
                    </a:solidFill>
                  </a:tcPr>
                </a:tc>
                <a:tc>
                  <a:txBody>
                    <a:bodyPr/>
                    <a:lstStyle/>
                    <a:p>
                      <a:pPr algn="ctr">
                        <a:defRPr sz="1000">
                          <a:latin typeface="Montserrat"/>
                        </a:defRPr>
                      </a:pPr>
                      <a:r>
                        <a:rPr sz="900"/>
                        <a:t>551</a:t>
                      </a:r>
                    </a:p>
                  </a:txBody>
                  <a:tcPr anchor="ctr">
                    <a:solidFill>
                      <a:srgbClr val="FFFFFF"/>
                    </a:solidFill>
                  </a:tcPr>
                </a:tc>
                <a:tc>
                  <a:txBody>
                    <a:bodyPr/>
                    <a:lstStyle/>
                    <a:p>
                      <a:pPr algn="ctr">
                        <a:defRPr sz="1000">
                          <a:latin typeface="Montserrat"/>
                        </a:defRPr>
                      </a:pPr>
                      <a:r>
                        <a:rPr sz="900" dirty="0"/>
                        <a:t>874</a:t>
                      </a:r>
                    </a:p>
                  </a:txBody>
                  <a:tcPr anchor="ctr">
                    <a:solidFill>
                      <a:srgbClr val="ECD3D9"/>
                    </a:solidFill>
                  </a:tcPr>
                </a:tc>
                <a:tc>
                  <a:txBody>
                    <a:bodyPr/>
                    <a:lstStyle/>
                    <a:p>
                      <a:pPr algn="ctr">
                        <a:defRPr sz="1000">
                          <a:latin typeface="Montserrat"/>
                        </a:defRPr>
                      </a:pPr>
                      <a:r>
                        <a:rPr sz="900" dirty="0"/>
                        <a:t>1,725</a:t>
                      </a:r>
                    </a:p>
                  </a:txBody>
                  <a:tcPr anchor="ctr">
                    <a:solidFill>
                      <a:srgbClr val="ECD3D9"/>
                    </a:solidFill>
                  </a:tcPr>
                </a:tc>
                <a:tc>
                  <a:txBody>
                    <a:bodyPr/>
                    <a:lstStyle/>
                    <a:p>
                      <a:pPr algn="ctr">
                        <a:defRPr sz="1000">
                          <a:latin typeface="Montserrat"/>
                        </a:defRPr>
                      </a:pPr>
                      <a:r>
                        <a:rPr sz="900"/>
                        <a:t>50.7%</a:t>
                      </a:r>
                    </a:p>
                  </a:txBody>
                  <a:tcPr anchor="ctr">
                    <a:solidFill>
                      <a:srgbClr val="ECD3D9"/>
                    </a:solidFill>
                  </a:tcPr>
                </a:tc>
                <a:extLst>
                  <a:ext uri="{0D108BD9-81ED-4DB2-BD59-A6C34878D82A}">
                    <a16:rowId xmlns:a16="http://schemas.microsoft.com/office/drawing/2014/main" val="10005"/>
                  </a:ext>
                </a:extLst>
              </a:tr>
              <a:tr h="234954">
                <a:tc>
                  <a:txBody>
                    <a:bodyPr/>
                    <a:lstStyle/>
                    <a:p>
                      <a:pPr algn="l">
                        <a:defRPr sz="1000">
                          <a:latin typeface="Montserrat"/>
                        </a:defRPr>
                      </a:pPr>
                      <a:r>
                        <a:rPr sz="900"/>
                        <a:t>HGR 1 Vicente Guerrero</a:t>
                      </a:r>
                    </a:p>
                  </a:txBody>
                  <a:tcPr anchor="ctr">
                    <a:solidFill>
                      <a:srgbClr val="EFEFEF"/>
                    </a:solidFill>
                  </a:tcPr>
                </a:tc>
                <a:tc>
                  <a:txBody>
                    <a:bodyPr/>
                    <a:lstStyle/>
                    <a:p>
                      <a:pPr algn="ctr">
                        <a:defRPr sz="1000">
                          <a:latin typeface="Montserrat"/>
                        </a:defRPr>
                      </a:pPr>
                      <a:r>
                        <a:rPr sz="900"/>
                        <a:t>14,509</a:t>
                      </a:r>
                    </a:p>
                  </a:txBody>
                  <a:tcPr anchor="ctr">
                    <a:solidFill>
                      <a:srgbClr val="EFEFEF"/>
                    </a:solidFill>
                  </a:tcPr>
                </a:tc>
                <a:tc>
                  <a:txBody>
                    <a:bodyPr/>
                    <a:lstStyle/>
                    <a:p>
                      <a:pPr algn="ctr">
                        <a:defRPr sz="1000">
                          <a:latin typeface="Montserrat"/>
                        </a:defRPr>
                      </a:pPr>
                      <a:r>
                        <a:rPr sz="900"/>
                        <a:t>3,513</a:t>
                      </a:r>
                    </a:p>
                  </a:txBody>
                  <a:tcPr anchor="ctr">
                    <a:solidFill>
                      <a:srgbClr val="EFEFEF"/>
                    </a:solidFill>
                  </a:tcPr>
                </a:tc>
                <a:tc>
                  <a:txBody>
                    <a:bodyPr/>
                    <a:lstStyle/>
                    <a:p>
                      <a:pPr algn="ctr">
                        <a:defRPr sz="1000">
                          <a:latin typeface="Montserrat"/>
                        </a:defRPr>
                      </a:pPr>
                      <a:r>
                        <a:rPr sz="900" dirty="0"/>
                        <a:t>7,215</a:t>
                      </a:r>
                    </a:p>
                  </a:txBody>
                  <a:tcPr anchor="ctr">
                    <a:solidFill>
                      <a:srgbClr val="ECD3D9"/>
                    </a:solidFill>
                  </a:tcPr>
                </a:tc>
                <a:tc>
                  <a:txBody>
                    <a:bodyPr/>
                    <a:lstStyle/>
                    <a:p>
                      <a:pPr algn="ctr">
                        <a:defRPr sz="1000">
                          <a:latin typeface="Montserrat"/>
                        </a:defRPr>
                      </a:pPr>
                      <a:r>
                        <a:rPr sz="900" dirty="0"/>
                        <a:t>17,615</a:t>
                      </a:r>
                    </a:p>
                  </a:txBody>
                  <a:tcPr anchor="ctr">
                    <a:solidFill>
                      <a:srgbClr val="ECD3D9"/>
                    </a:solidFill>
                  </a:tcPr>
                </a:tc>
                <a:tc>
                  <a:txBody>
                    <a:bodyPr/>
                    <a:lstStyle/>
                    <a:p>
                      <a:pPr algn="ctr">
                        <a:defRPr sz="1000">
                          <a:latin typeface="Montserrat"/>
                        </a:defRPr>
                      </a:pPr>
                      <a:r>
                        <a:rPr sz="900" dirty="0"/>
                        <a:t>41.0%</a:t>
                      </a:r>
                    </a:p>
                  </a:txBody>
                  <a:tcPr anchor="ctr">
                    <a:solidFill>
                      <a:srgbClr val="ECD3D9"/>
                    </a:solidFill>
                  </a:tcPr>
                </a:tc>
                <a:extLst>
                  <a:ext uri="{0D108BD9-81ED-4DB2-BD59-A6C34878D82A}">
                    <a16:rowId xmlns:a16="http://schemas.microsoft.com/office/drawing/2014/main" val="10006"/>
                  </a:ext>
                </a:extLst>
              </a:tr>
              <a:tr h="234954">
                <a:tc>
                  <a:txBody>
                    <a:bodyPr/>
                    <a:lstStyle/>
                    <a:p>
                      <a:pPr algn="l">
                        <a:defRPr sz="1000">
                          <a:latin typeface="Montserrat"/>
                        </a:defRPr>
                      </a:pPr>
                      <a:r>
                        <a:rPr sz="900"/>
                        <a:t>UMAA 29 Diamante</a:t>
                      </a:r>
                    </a:p>
                  </a:txBody>
                  <a:tcPr anchor="ctr">
                    <a:solidFill>
                      <a:srgbClr val="FFFFFF"/>
                    </a:solidFill>
                  </a:tcPr>
                </a:tc>
                <a:tc>
                  <a:txBody>
                    <a:bodyPr/>
                    <a:lstStyle/>
                    <a:p>
                      <a:pPr algn="ctr">
                        <a:defRPr sz="1000">
                          <a:latin typeface="Montserrat"/>
                        </a:defRPr>
                      </a:pPr>
                      <a:r>
                        <a:rPr sz="900"/>
                        <a:t>8,296</a:t>
                      </a:r>
                    </a:p>
                  </a:txBody>
                  <a:tcPr anchor="ctr">
                    <a:solidFill>
                      <a:srgbClr val="FFFFFF"/>
                    </a:solidFill>
                  </a:tcPr>
                </a:tc>
                <a:tc>
                  <a:txBody>
                    <a:bodyPr/>
                    <a:lstStyle/>
                    <a:p>
                      <a:pPr algn="ctr">
                        <a:defRPr sz="1000">
                          <a:latin typeface="Montserrat"/>
                        </a:defRPr>
                      </a:pPr>
                      <a:r>
                        <a:rPr sz="900"/>
                        <a:t>6,223</a:t>
                      </a:r>
                    </a:p>
                  </a:txBody>
                  <a:tcPr anchor="ctr">
                    <a:solidFill>
                      <a:srgbClr val="FFFFFF"/>
                    </a:solidFill>
                  </a:tcPr>
                </a:tc>
                <a:tc>
                  <a:txBody>
                    <a:bodyPr/>
                    <a:lstStyle/>
                    <a:p>
                      <a:pPr algn="ctr">
                        <a:defRPr sz="1000">
                          <a:latin typeface="Montserrat"/>
                        </a:defRPr>
                      </a:pPr>
                      <a:r>
                        <a:rPr sz="900" dirty="0"/>
                        <a:t>3,103</a:t>
                      </a:r>
                    </a:p>
                  </a:txBody>
                  <a:tcPr anchor="ctr">
                    <a:solidFill>
                      <a:srgbClr val="ECD3D9"/>
                    </a:solidFill>
                  </a:tcPr>
                </a:tc>
                <a:tc>
                  <a:txBody>
                    <a:bodyPr/>
                    <a:lstStyle/>
                    <a:p>
                      <a:pPr algn="ctr">
                        <a:defRPr sz="1000">
                          <a:latin typeface="Montserrat"/>
                        </a:defRPr>
                      </a:pPr>
                      <a:r>
                        <a:rPr sz="900" dirty="0"/>
                        <a:t>9,135</a:t>
                      </a:r>
                    </a:p>
                  </a:txBody>
                  <a:tcPr anchor="ctr">
                    <a:solidFill>
                      <a:srgbClr val="ECD3D9"/>
                    </a:solidFill>
                  </a:tcPr>
                </a:tc>
                <a:tc>
                  <a:txBody>
                    <a:bodyPr/>
                    <a:lstStyle/>
                    <a:p>
                      <a:pPr algn="ctr">
                        <a:defRPr sz="1000">
                          <a:latin typeface="Montserrat"/>
                        </a:defRPr>
                      </a:pPr>
                      <a:r>
                        <a:rPr sz="900" dirty="0"/>
                        <a:t>34.0%</a:t>
                      </a:r>
                    </a:p>
                  </a:txBody>
                  <a:tcPr anchor="ctr">
                    <a:solidFill>
                      <a:srgbClr val="ECD3D9"/>
                    </a:solidFill>
                  </a:tcPr>
                </a:tc>
                <a:extLst>
                  <a:ext uri="{0D108BD9-81ED-4DB2-BD59-A6C34878D82A}">
                    <a16:rowId xmlns:a16="http://schemas.microsoft.com/office/drawing/2014/main" val="10007"/>
                  </a:ext>
                </a:extLst>
              </a:tr>
              <a:tr h="234954">
                <a:tc>
                  <a:txBody>
                    <a:bodyPr/>
                    <a:lstStyle/>
                    <a:p>
                      <a:pPr algn="l">
                        <a:defRPr sz="1000" b="1">
                          <a:solidFill>
                            <a:srgbClr val="006556"/>
                          </a:solidFill>
                          <a:latin typeface="Montserrat"/>
                        </a:defRPr>
                      </a:pPr>
                      <a:r>
                        <a:rPr sz="900"/>
                        <a:t>Total</a:t>
                      </a:r>
                    </a:p>
                  </a:txBody>
                  <a:tcPr anchor="ctr">
                    <a:solidFill>
                      <a:srgbClr val="D3E9E7"/>
                    </a:solidFill>
                  </a:tcPr>
                </a:tc>
                <a:tc>
                  <a:txBody>
                    <a:bodyPr/>
                    <a:lstStyle/>
                    <a:p>
                      <a:pPr algn="ctr">
                        <a:defRPr sz="1000" b="1">
                          <a:solidFill>
                            <a:srgbClr val="006556"/>
                          </a:solidFill>
                          <a:latin typeface="Montserrat"/>
                        </a:defRPr>
                      </a:pPr>
                      <a:r>
                        <a:rPr sz="900" dirty="0"/>
                        <a:t>34,001</a:t>
                      </a:r>
                    </a:p>
                  </a:txBody>
                  <a:tcPr anchor="ctr">
                    <a:solidFill>
                      <a:srgbClr val="D3E9E7"/>
                    </a:solidFill>
                  </a:tcPr>
                </a:tc>
                <a:tc>
                  <a:txBody>
                    <a:bodyPr/>
                    <a:lstStyle/>
                    <a:p>
                      <a:pPr algn="ctr">
                        <a:defRPr sz="1000" b="1">
                          <a:solidFill>
                            <a:srgbClr val="006556"/>
                          </a:solidFill>
                          <a:latin typeface="Montserrat"/>
                        </a:defRPr>
                      </a:pPr>
                      <a:r>
                        <a:rPr sz="900"/>
                        <a:t>15,966</a:t>
                      </a:r>
                    </a:p>
                  </a:txBody>
                  <a:tcPr anchor="ctr">
                    <a:solidFill>
                      <a:srgbClr val="D3E9E7"/>
                    </a:solidFill>
                  </a:tcPr>
                </a:tc>
                <a:tc>
                  <a:txBody>
                    <a:bodyPr/>
                    <a:lstStyle/>
                    <a:p>
                      <a:pPr algn="ctr">
                        <a:defRPr sz="1000" b="1">
                          <a:solidFill>
                            <a:srgbClr val="FFFFFF"/>
                          </a:solidFill>
                          <a:latin typeface="Montserrat"/>
                        </a:defRPr>
                      </a:pPr>
                      <a:r>
                        <a:rPr sz="900"/>
                        <a:t>17,233</a:t>
                      </a:r>
                    </a:p>
                  </a:txBody>
                  <a:tcPr anchor="ctr">
                    <a:solidFill>
                      <a:srgbClr val="9F2241"/>
                    </a:solidFill>
                  </a:tcPr>
                </a:tc>
                <a:tc>
                  <a:txBody>
                    <a:bodyPr/>
                    <a:lstStyle/>
                    <a:p>
                      <a:pPr algn="ctr">
                        <a:defRPr sz="1000" b="1">
                          <a:solidFill>
                            <a:srgbClr val="FFFFFF"/>
                          </a:solidFill>
                          <a:latin typeface="Montserrat"/>
                        </a:defRPr>
                      </a:pPr>
                      <a:r>
                        <a:rPr sz="900" dirty="0"/>
                        <a:t>40,079</a:t>
                      </a:r>
                    </a:p>
                  </a:txBody>
                  <a:tcPr anchor="ctr">
                    <a:solidFill>
                      <a:srgbClr val="9F2241"/>
                    </a:solidFill>
                  </a:tcPr>
                </a:tc>
                <a:tc>
                  <a:txBody>
                    <a:bodyPr/>
                    <a:lstStyle/>
                    <a:p>
                      <a:pPr algn="ctr">
                        <a:defRPr sz="1000" b="1">
                          <a:solidFill>
                            <a:srgbClr val="FFFFFF"/>
                          </a:solidFill>
                          <a:latin typeface="Montserrat"/>
                        </a:defRPr>
                      </a:pPr>
                      <a:r>
                        <a:rPr sz="900" dirty="0"/>
                        <a:t>43.0%</a:t>
                      </a:r>
                    </a:p>
                  </a:txBody>
                  <a:tcPr anchor="ctr">
                    <a:solidFill>
                      <a:srgbClr val="9F2241"/>
                    </a:solidFill>
                  </a:tcPr>
                </a:tc>
                <a:extLst>
                  <a:ext uri="{0D108BD9-81ED-4DB2-BD59-A6C34878D82A}">
                    <a16:rowId xmlns:a16="http://schemas.microsoft.com/office/drawing/2014/main" val="10008"/>
                  </a:ext>
                </a:extLst>
              </a:tr>
            </a:tbl>
          </a:graphicData>
        </a:graphic>
      </p:graphicFrame>
      <p:sp>
        <p:nvSpPr>
          <p:cNvPr id="15" name="TextBox 236"/>
          <p:cNvSpPr txBox="1"/>
          <p:nvPr/>
        </p:nvSpPr>
        <p:spPr>
          <a:xfrm>
            <a:off x="1822999" y="8297699"/>
            <a:ext cx="2854800" cy="830997"/>
          </a:xfrm>
          <a:prstGeom prst="rect">
            <a:avLst/>
          </a:prstGeom>
          <a:noFill/>
        </p:spPr>
        <p:txBody>
          <a:bodyPr wrap="square">
            <a:spAutoFit/>
          </a:bodyPr>
          <a:lstStyle/>
          <a:p>
            <a:pPr algn="ctr">
              <a:defRPr sz="3600" b="1">
                <a:solidFill>
                  <a:srgbClr val="9F2241"/>
                </a:solidFill>
                <a:latin typeface="Montserrat"/>
              </a:defRPr>
            </a:pPr>
            <a:r>
              <a:rPr sz="2400" dirty="0"/>
              <a:t>40,079 </a:t>
            </a:r>
            <a:br>
              <a:rPr sz="2400" dirty="0"/>
            </a:br>
            <a:r>
              <a:rPr sz="2400" dirty="0"/>
              <a:t>Meta 2026</a:t>
            </a:r>
          </a:p>
        </p:txBody>
      </p:sp>
      <p:graphicFrame>
        <p:nvGraphicFramePr>
          <p:cNvPr id="16" name="Chart 233"/>
          <p:cNvGraphicFramePr>
            <a:graphicFrameLocks noGrp="1"/>
          </p:cNvGraphicFramePr>
          <p:nvPr>
            <p:extLst>
              <p:ext uri="{D42A27DB-BD31-4B8C-83A1-F6EECF244321}">
                <p14:modId xmlns:p14="http://schemas.microsoft.com/office/powerpoint/2010/main" val="3176926527"/>
              </p:ext>
            </p:extLst>
          </p:nvPr>
        </p:nvGraphicFramePr>
        <p:xfrm>
          <a:off x="4120400" y="7785099"/>
          <a:ext cx="1505700" cy="1510597"/>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234"/>
          <p:cNvSpPr txBox="1"/>
          <p:nvPr/>
        </p:nvSpPr>
        <p:spPr>
          <a:xfrm>
            <a:off x="4120400" y="8349777"/>
            <a:ext cx="1505700" cy="400110"/>
          </a:xfrm>
          <a:prstGeom prst="rect">
            <a:avLst/>
          </a:prstGeom>
          <a:noFill/>
        </p:spPr>
        <p:txBody>
          <a:bodyPr wrap="square">
            <a:spAutoFit/>
          </a:bodyPr>
          <a:lstStyle/>
          <a:p>
            <a:pPr algn="ctr"/>
            <a:r>
              <a:rPr sz="2000" b="1" dirty="0">
                <a:solidFill>
                  <a:srgbClr val="9F2241"/>
                </a:solidFill>
                <a:latin typeface="Montserrat"/>
              </a:rPr>
              <a:t>43.0%</a:t>
            </a:r>
          </a:p>
        </p:txBody>
      </p:sp>
      <p:sp>
        <p:nvSpPr>
          <p:cNvPr id="18" name="TextBox 235"/>
          <p:cNvSpPr txBox="1"/>
          <p:nvPr/>
        </p:nvSpPr>
        <p:spPr>
          <a:xfrm>
            <a:off x="4120400" y="9173577"/>
            <a:ext cx="1505700" cy="307777"/>
          </a:xfrm>
          <a:prstGeom prst="rect">
            <a:avLst/>
          </a:prstGeom>
          <a:noFill/>
        </p:spPr>
        <p:txBody>
          <a:bodyPr wrap="square">
            <a:spAutoFit/>
          </a:bodyPr>
          <a:lstStyle/>
          <a:p>
            <a:pPr algn="ctr"/>
            <a:r>
              <a:rPr sz="1400" b="1">
                <a:solidFill>
                  <a:srgbClr val="9F2241"/>
                </a:solidFill>
                <a:latin typeface="Montserrat"/>
              </a:rPr>
              <a:t>Avance</a:t>
            </a:r>
          </a:p>
        </p:txBody>
      </p:sp>
    </p:spTree>
    <p:extLst>
      <p:ext uri="{BB962C8B-B14F-4D97-AF65-F5344CB8AC3E}">
        <p14:creationId xmlns:p14="http://schemas.microsoft.com/office/powerpoint/2010/main" val="540716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4" name="TextBox 3"/>
          <p:cNvSpPr txBox="1"/>
          <p:nvPr/>
        </p:nvSpPr>
        <p:spPr>
          <a:xfrm>
            <a:off x="1870263" y="1007999"/>
            <a:ext cx="4031874" cy="307777"/>
          </a:xfrm>
          <a:prstGeom prst="rect">
            <a:avLst/>
          </a:prstGeom>
          <a:noFill/>
        </p:spPr>
        <p:txBody>
          <a:bodyPr wrap="none">
            <a:spAutoFit/>
          </a:bodyPr>
          <a:lstStyle/>
          <a:p>
            <a:pPr algn="ctr">
              <a:defRPr sz="1400" b="0">
                <a:solidFill>
                  <a:srgbClr val="BC955C"/>
                </a:solidFill>
                <a:latin typeface="Montserrat"/>
              </a:defRPr>
            </a:pPr>
            <a:r>
              <a:rPr dirty="0"/>
              <a:t>4</a:t>
            </a:r>
            <a:r>
              <a:rPr lang="es-MX" dirty="0"/>
              <a:t>7</a:t>
            </a:r>
            <a:r>
              <a:rPr dirty="0"/>
              <a:t> en </a:t>
            </a:r>
            <a:r>
              <a:rPr dirty="0" err="1"/>
              <a:t>Hospitales</a:t>
            </a:r>
            <a:r>
              <a:rPr dirty="0"/>
              <a:t>, </a:t>
            </a:r>
            <a:r>
              <a:rPr lang="es-MX" dirty="0"/>
              <a:t>10</a:t>
            </a:r>
            <a:r>
              <a:rPr dirty="0"/>
              <a:t> en UMF y 66 </a:t>
            </a:r>
            <a:r>
              <a:rPr dirty="0" err="1"/>
              <a:t>sustitutos</a:t>
            </a:r>
            <a:endParaRPr dirty="0"/>
          </a:p>
        </p:txBody>
      </p:sp>
      <p:sp>
        <p:nvSpPr>
          <p:cNvPr id="5" name="TextBox 4"/>
          <p:cNvSpPr txBox="1"/>
          <p:nvPr/>
        </p:nvSpPr>
        <p:spPr>
          <a:xfrm>
            <a:off x="360000" y="1419945"/>
            <a:ext cx="3409908" cy="400110"/>
          </a:xfrm>
          <a:prstGeom prst="rect">
            <a:avLst/>
          </a:prstGeom>
          <a:noFill/>
        </p:spPr>
        <p:txBody>
          <a:bodyPr wrap="none" anchor="ctr">
            <a:spAutoFit/>
          </a:bodyPr>
          <a:lstStyle/>
          <a:p>
            <a:pPr algn="l">
              <a:defRPr sz="2000" b="1">
                <a:solidFill>
                  <a:srgbClr val="BC955C"/>
                </a:solidFill>
                <a:latin typeface="Montserrat"/>
              </a:defRPr>
            </a:pPr>
            <a:r>
              <a:rPr dirty="0"/>
              <a:t>46 </a:t>
            </a:r>
            <a:r>
              <a:rPr dirty="0" err="1"/>
              <a:t>en</a:t>
            </a:r>
            <a:r>
              <a:rPr dirty="0"/>
              <a:t> </a:t>
            </a:r>
            <a:r>
              <a:rPr dirty="0" err="1"/>
              <a:t>Hospitales</a:t>
            </a:r>
            <a:r>
              <a:rPr lang="es-MX" dirty="0"/>
              <a:t> (1 de 2)</a:t>
            </a:r>
            <a:endParaRPr dirty="0"/>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478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4">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Hemodinamia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rPr dirty="0"/>
                        <a:t>Total</a:t>
                      </a:r>
                    </a:p>
                  </a:txBody>
                  <a:tcPr>
                    <a:solidFill>
                      <a:srgbClr val="D3E9E7"/>
                    </a:solidFill>
                  </a:tcPr>
                </a:tc>
                <a:tc>
                  <a:txBody>
                    <a:bodyPr/>
                    <a:lstStyle/>
                    <a:p>
                      <a:pPr algn="ctr">
                        <a:defRPr sz="800" b="1">
                          <a:solidFill>
                            <a:srgbClr val="006455"/>
                          </a:solidFill>
                          <a:latin typeface="Montserrat"/>
                        </a:defRPr>
                      </a:pPr>
                      <a:r>
                        <a:rPr dirty="0"/>
                        <a:t>19</a:t>
                      </a:r>
                    </a:p>
                  </a:txBody>
                  <a:tcPr>
                    <a:solidFill>
                      <a:srgbClr val="D3E9E7"/>
                    </a:solidFill>
                  </a:tcPr>
                </a:tc>
                <a:extLst>
                  <a:ext uri="{0D108BD9-81ED-4DB2-BD59-A6C34878D82A}">
                    <a16:rowId xmlns:a16="http://schemas.microsoft.com/office/drawing/2014/main" val="10014"/>
                  </a:ext>
                </a:extLst>
              </a:tr>
            </a:tbl>
          </a:graphicData>
        </a:graphic>
      </p:graphicFrame>
      <p:graphicFrame>
        <p:nvGraphicFramePr>
          <p:cNvPr id="8" name="Table 7"/>
          <p:cNvGraphicFramePr>
            <a:graphicFrameLocks noGrp="1"/>
          </p:cNvGraphicFramePr>
          <p:nvPr/>
        </p:nvGraphicFramePr>
        <p:xfrm>
          <a:off x="3960000" y="1908000"/>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General de Subzona C/MF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377502658"/>
              </p:ext>
            </p:extLst>
          </p:nvPr>
        </p:nvGraphicFramePr>
        <p:xfrm>
          <a:off x="360000" y="5696073"/>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General de Subzona C/MF 5</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125629666"/>
              </p:ext>
            </p:extLst>
          </p:nvPr>
        </p:nvGraphicFramePr>
        <p:xfrm>
          <a:off x="3960000" y="5696073"/>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rPr dirty="0" err="1"/>
                        <a:t>Unidad</a:t>
                      </a:r>
                      <a:endParaRPr dirty="0"/>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General de Zona C/MF 4</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rPr lang="es-MX" dirty="0"/>
                        <a:t>3</a:t>
                      </a:r>
                      <a:endParaRPr dirty="0"/>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rPr lang="es-MX" dirty="0"/>
                        <a:t>5</a:t>
                      </a:r>
                      <a:endParaRPr dirty="0"/>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32517524"/>
              </p:ext>
            </p:extLst>
          </p:nvPr>
        </p:nvGraphicFramePr>
        <p:xfrm>
          <a:off x="360000" y="7100073"/>
          <a:ext cx="3456000" cy="141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General de 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283909130"/>
              </p:ext>
            </p:extLst>
          </p:nvPr>
        </p:nvGraphicFramePr>
        <p:xfrm>
          <a:off x="3960000" y="7100073"/>
          <a:ext cx="3456000" cy="172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Rural La Unión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20445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123 total especialistas contratados en el draft 2026</a:t>
            </a:r>
          </a:p>
        </p:txBody>
      </p:sp>
      <p:sp>
        <p:nvSpPr>
          <p:cNvPr id="7" name="TextBox 6"/>
          <p:cNvSpPr txBox="1"/>
          <p:nvPr/>
        </p:nvSpPr>
        <p:spPr>
          <a:xfrm>
            <a:off x="360000" y="1042044"/>
            <a:ext cx="6017994" cy="400110"/>
          </a:xfrm>
          <a:prstGeom prst="rect">
            <a:avLst/>
          </a:prstGeom>
          <a:noFill/>
        </p:spPr>
        <p:txBody>
          <a:bodyPr wrap="none" anchor="ctr">
            <a:spAutoFit/>
          </a:bodyPr>
          <a:lstStyle/>
          <a:p>
            <a:pPr algn="l">
              <a:defRPr sz="2000" b="1">
                <a:solidFill>
                  <a:srgbClr val="BC955C"/>
                </a:solidFill>
                <a:latin typeface="Montserrat"/>
              </a:defRPr>
            </a:pPr>
            <a:r>
              <a:rPr dirty="0"/>
              <a:t>9 </a:t>
            </a:r>
            <a:r>
              <a:rPr dirty="0" err="1"/>
              <a:t>en</a:t>
            </a:r>
            <a:r>
              <a:rPr dirty="0"/>
              <a:t> </a:t>
            </a:r>
            <a:r>
              <a:rPr dirty="0" err="1"/>
              <a:t>Unidades</a:t>
            </a:r>
            <a:r>
              <a:rPr dirty="0"/>
              <a:t> de Medicina Familiar</a:t>
            </a:r>
            <a:r>
              <a:rPr lang="es-MX" dirty="0"/>
              <a:t> (2 de 2)</a:t>
            </a:r>
            <a:endParaRPr dirty="0"/>
          </a:p>
        </p:txBody>
      </p:sp>
      <p:cxnSp>
        <p:nvCxnSpPr>
          <p:cNvPr id="8" name="Connector 7"/>
          <p:cNvCxnSpPr/>
          <p:nvPr/>
        </p:nvCxnSpPr>
        <p:spPr>
          <a:xfrm>
            <a:off x="360000" y="14580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2904618905"/>
              </p:ext>
            </p:extLst>
          </p:nvPr>
        </p:nvGraphicFramePr>
        <p:xfrm>
          <a:off x="360000" y="15300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rPr dirty="0" err="1"/>
                        <a:t>Unidad</a:t>
                      </a:r>
                      <a:endParaRPr dirty="0"/>
                    </a:p>
                  </a:txBody>
                  <a:tcPr anchor="ctr">
                    <a:solidFill>
                      <a:srgbClr val="006455"/>
                    </a:solidFill>
                  </a:tcPr>
                </a:tc>
                <a:tc>
                  <a:txBody>
                    <a:bodyPr/>
                    <a:lstStyle/>
                    <a:p>
                      <a:pPr algn="ctr">
                        <a:defRPr sz="800" b="1">
                          <a:solidFill>
                            <a:srgbClr val="FFFFFF"/>
                          </a:solidFill>
                          <a:latin typeface="Montserrat"/>
                        </a:defRPr>
                      </a:pPr>
                      <a:r>
                        <a:rPr dirty="0" err="1"/>
                        <a:t>Especialidad</a:t>
                      </a:r>
                      <a:endParaRPr dirty="0"/>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rPr dirty="0" err="1"/>
                        <a:t>Medicina</a:t>
                      </a:r>
                      <a:r>
                        <a:rPr dirty="0"/>
                        <a:t> Familiar</a:t>
                      </a:r>
                    </a:p>
                  </a:txBody>
                  <a:tcPr anchor="ctr">
                    <a:solidFill>
                      <a:srgbClr val="FFFFFF"/>
                    </a:solidFill>
                  </a:tcPr>
                </a:tc>
                <a:tc>
                  <a:txBody>
                    <a:bodyPr/>
                    <a:lstStyle/>
                    <a:p>
                      <a:pPr algn="ctr">
                        <a:defRPr sz="800" b="0">
                          <a:solidFill>
                            <a:srgbClr val="000000"/>
                          </a:solidFill>
                          <a:latin typeface="Montserrat"/>
                        </a:defRPr>
                      </a:pPr>
                      <a:r>
                        <a:t>2</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rPr dirty="0"/>
                        <a:t>Total</a:t>
                      </a:r>
                    </a:p>
                  </a:txBody>
                  <a:tcPr anchor="ctr">
                    <a:solidFill>
                      <a:srgbClr val="D3E9E7"/>
                    </a:solidFill>
                  </a:tcPr>
                </a:tc>
                <a:tc>
                  <a:txBody>
                    <a:bodyPr/>
                    <a:lstStyle/>
                    <a:p>
                      <a:pPr algn="ctr">
                        <a:defRPr sz="800" b="1">
                          <a:solidFill>
                            <a:srgbClr val="006455"/>
                          </a:solidFill>
                          <a:latin typeface="Montserrat"/>
                        </a:defRPr>
                      </a:pPr>
                      <a:r>
                        <a:rPr dirty="0"/>
                        <a:t>2</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901585711"/>
              </p:ext>
            </p:extLst>
          </p:nvPr>
        </p:nvGraphicFramePr>
        <p:xfrm>
          <a:off x="3960000" y="1530099"/>
          <a:ext cx="3456000" cy="76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rPr dirty="0" err="1"/>
                        <a:t>Unidad</a:t>
                      </a:r>
                      <a:endParaRPr dirty="0"/>
                    </a:p>
                  </a:txBody>
                  <a:tcPr anchor="ctr">
                    <a:solidFill>
                      <a:srgbClr val="006455"/>
                    </a:solidFill>
                  </a:tcPr>
                </a:tc>
                <a:tc>
                  <a:txBody>
                    <a:bodyPr/>
                    <a:lstStyle/>
                    <a:p>
                      <a:pPr algn="ctr">
                        <a:defRPr sz="800" b="1">
                          <a:solidFill>
                            <a:srgbClr val="FFFFFF"/>
                          </a:solidFill>
                          <a:latin typeface="Montserrat"/>
                        </a:defRPr>
                      </a:pPr>
                      <a:r>
                        <a:rPr dirty="0" err="1"/>
                        <a:t>Especialidad</a:t>
                      </a:r>
                      <a:endParaRPr dirty="0"/>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26</a:t>
                      </a:r>
                    </a:p>
                  </a:txBody>
                  <a:tcPr anchor="ctr">
                    <a:noFill/>
                  </a:tcPr>
                </a:tc>
                <a:tc>
                  <a:txBody>
                    <a:bodyPr/>
                    <a:lstStyle/>
                    <a:p>
                      <a:pPr algn="ctr">
                        <a:defRPr sz="800" b="0">
                          <a:solidFill>
                            <a:srgbClr val="000000"/>
                          </a:solidFill>
                          <a:latin typeface="Montserrat"/>
                        </a:defRPr>
                      </a:pPr>
                      <a:r>
                        <a:rPr dirty="0" err="1"/>
                        <a:t>Imagenología</a:t>
                      </a:r>
                      <a:r>
                        <a:rPr dirty="0"/>
                        <a:t> </a:t>
                      </a:r>
                      <a:r>
                        <a:rPr dirty="0" err="1"/>
                        <a:t>Diagnóstico</a:t>
                      </a:r>
                      <a:r>
                        <a:rPr dirty="0"/>
                        <a:t> y </a:t>
                      </a:r>
                      <a:r>
                        <a:rPr dirty="0" err="1"/>
                        <a:t>Terapéutica</a:t>
                      </a:r>
                      <a:endParaRPr dirty="0"/>
                    </a:p>
                  </a:txBody>
                  <a:tcPr anchor="ctr">
                    <a:solidFill>
                      <a:srgbClr val="FFFFFF"/>
                    </a:solidFill>
                  </a:tcPr>
                </a:tc>
                <a:tc>
                  <a:txBody>
                    <a:bodyPr/>
                    <a:lstStyle/>
                    <a:p>
                      <a:pPr algn="ctr">
                        <a:defRPr sz="800" b="0">
                          <a:solidFill>
                            <a:srgbClr val="000000"/>
                          </a:solidFill>
                          <a:latin typeface="Montserrat"/>
                        </a:defRPr>
                      </a:pPr>
                      <a:r>
                        <a:rPr dirty="0"/>
                        <a:t>2</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rPr dirty="0"/>
                        <a:t>2</a:t>
                      </a:r>
                    </a:p>
                  </a:txBody>
                  <a:tcPr anchor="ct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975566351"/>
              </p:ext>
            </p:extLst>
          </p:nvPr>
        </p:nvGraphicFramePr>
        <p:xfrm>
          <a:off x="360000" y="2430098"/>
          <a:ext cx="3456000" cy="1199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rPr dirty="0" err="1"/>
                        <a:t>Unidad</a:t>
                      </a:r>
                      <a:endParaRPr dirty="0"/>
                    </a:p>
                  </a:txBody>
                  <a:tcPr anchor="ctr">
                    <a:solidFill>
                      <a:srgbClr val="006455"/>
                    </a:solidFill>
                  </a:tcPr>
                </a:tc>
                <a:tc>
                  <a:txBody>
                    <a:bodyPr/>
                    <a:lstStyle/>
                    <a:p>
                      <a:pPr algn="ctr">
                        <a:defRPr sz="800" b="1">
                          <a:solidFill>
                            <a:srgbClr val="FFFFFF"/>
                          </a:solidFill>
                          <a:latin typeface="Montserrat"/>
                        </a:defRPr>
                      </a:pPr>
                      <a:r>
                        <a:t>Especialidad</a:t>
                      </a:r>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rPr dirty="0" err="1"/>
                        <a:t>Unidad</a:t>
                      </a:r>
                      <a:r>
                        <a:rPr dirty="0"/>
                        <a:t> de </a:t>
                      </a:r>
                      <a:r>
                        <a:rPr dirty="0" err="1"/>
                        <a:t>Medicina</a:t>
                      </a:r>
                      <a:r>
                        <a:rPr dirty="0"/>
                        <a:t> Familiar 29</a:t>
                      </a:r>
                    </a:p>
                  </a:txBody>
                  <a:tcPr anchor="ctr">
                    <a:noFill/>
                  </a:tcPr>
                </a:tc>
                <a:tc>
                  <a:txBody>
                    <a:bodyPr/>
                    <a:lstStyle/>
                    <a:p>
                      <a:pPr algn="ctr">
                        <a:defRPr sz="800" b="0">
                          <a:solidFill>
                            <a:srgbClr val="000000"/>
                          </a:solidFill>
                          <a:latin typeface="Montserrat"/>
                        </a:defRPr>
                      </a:pPr>
                      <a:r>
                        <a:t>Anestesiología</a:t>
                      </a:r>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dirty="0" err="1"/>
                        <a:t>Medicina</a:t>
                      </a:r>
                      <a:r>
                        <a:rPr dirty="0"/>
                        <a:t> del </a:t>
                      </a:r>
                      <a:r>
                        <a:rPr dirty="0" err="1"/>
                        <a:t>Trabajo</a:t>
                      </a:r>
                      <a:r>
                        <a:rPr dirty="0"/>
                        <a:t> y </a:t>
                      </a:r>
                      <a:r>
                        <a:rPr dirty="0" err="1"/>
                        <a:t>Ambiental</a:t>
                      </a:r>
                      <a:endParaRPr dirty="0"/>
                    </a:p>
                  </a:txBody>
                  <a:tcPr anchor="ctr">
                    <a:solidFill>
                      <a:srgbClr val="F0F0F0"/>
                    </a:solidFill>
                  </a:tcPr>
                </a:tc>
                <a:tc>
                  <a:txBody>
                    <a:bodyPr/>
                    <a:lstStyle/>
                    <a:p>
                      <a:pPr algn="ctr">
                        <a:defRPr sz="800" b="0">
                          <a:solidFill>
                            <a:srgbClr val="000000"/>
                          </a:solidFill>
                          <a:latin typeface="Montserrat"/>
                        </a:defRPr>
                      </a:pPr>
                      <a:r>
                        <a:t>1</a:t>
                      </a:r>
                    </a:p>
                  </a:txBody>
                  <a:tcPr anchor="ct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dirty="0" err="1"/>
                        <a:t>Urología</a:t>
                      </a:r>
                      <a:endParaRPr dirty="0"/>
                    </a:p>
                  </a:txBody>
                  <a:tcPr anchor="ctr">
                    <a:solidFill>
                      <a:srgbClr val="FFFFFF"/>
                    </a:solidFill>
                  </a:tcPr>
                </a:tc>
                <a:tc>
                  <a:txBody>
                    <a:bodyPr/>
                    <a:lstStyle/>
                    <a:p>
                      <a:pPr algn="ctr">
                        <a:defRPr sz="800" b="0">
                          <a:solidFill>
                            <a:srgbClr val="000000"/>
                          </a:solidFill>
                          <a:latin typeface="Montserrat"/>
                        </a:defRPr>
                      </a:pPr>
                      <a:r>
                        <a:t>1</a:t>
                      </a:r>
                    </a:p>
                  </a:txBody>
                  <a:tcPr anchor="ct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rPr dirty="0"/>
                        <a:t>Total</a:t>
                      </a:r>
                    </a:p>
                  </a:txBody>
                  <a:tcPr anchor="ctr">
                    <a:solidFill>
                      <a:srgbClr val="D3E9E7"/>
                    </a:solidFill>
                  </a:tcPr>
                </a:tc>
                <a:tc>
                  <a:txBody>
                    <a:bodyPr/>
                    <a:lstStyle/>
                    <a:p>
                      <a:pPr algn="ctr">
                        <a:defRPr sz="800" b="1">
                          <a:solidFill>
                            <a:srgbClr val="006455"/>
                          </a:solidFill>
                          <a:latin typeface="Montserrat"/>
                        </a:defRPr>
                      </a:pPr>
                      <a:r>
                        <a:rPr dirty="0"/>
                        <a:t>3</a:t>
                      </a:r>
                    </a:p>
                  </a:txBody>
                  <a:tcPr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145146592"/>
              </p:ext>
            </p:extLst>
          </p:nvPr>
        </p:nvGraphicFramePr>
        <p:xfrm>
          <a:off x="3960000" y="24300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rPr dirty="0" err="1"/>
                        <a:t>Unidad</a:t>
                      </a:r>
                      <a:endParaRPr dirty="0"/>
                    </a:p>
                  </a:txBody>
                  <a:tcPr anchor="ctr">
                    <a:solidFill>
                      <a:srgbClr val="006455"/>
                    </a:solidFill>
                  </a:tcPr>
                </a:tc>
                <a:tc>
                  <a:txBody>
                    <a:bodyPr/>
                    <a:lstStyle/>
                    <a:p>
                      <a:pPr algn="ctr">
                        <a:defRPr sz="800" b="1">
                          <a:solidFill>
                            <a:srgbClr val="FFFFFF"/>
                          </a:solidFill>
                          <a:latin typeface="Montserrat"/>
                        </a:defRPr>
                      </a:pPr>
                      <a:r>
                        <a:rPr dirty="0" err="1"/>
                        <a:t>Especialidad</a:t>
                      </a:r>
                      <a:endParaRPr dirty="0"/>
                    </a:p>
                  </a:txBody>
                  <a:tcPr anchor="ctr">
                    <a:solidFill>
                      <a:srgbClr val="006455"/>
                    </a:solidFill>
                  </a:tcPr>
                </a:tc>
                <a:tc>
                  <a:txBody>
                    <a:bodyPr/>
                    <a:lstStyle/>
                    <a:p>
                      <a:pPr algn="ctr">
                        <a:defRPr sz="800" b="1">
                          <a:solidFill>
                            <a:srgbClr val="FFFFFF"/>
                          </a:solidFill>
                          <a:latin typeface="Montserrat"/>
                        </a:defRPr>
                      </a:pPr>
                      <a:r>
                        <a:t>No.</a:t>
                      </a:r>
                    </a:p>
                  </a:txBody>
                  <a:tcPr anchor="ct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rPr dirty="0" err="1"/>
                        <a:t>Medicina</a:t>
                      </a:r>
                      <a:r>
                        <a:rPr dirty="0"/>
                        <a:t> de </a:t>
                      </a:r>
                      <a:r>
                        <a:rPr dirty="0" err="1"/>
                        <a:t>Urgencias</a:t>
                      </a:r>
                      <a:endParaRPr dirty="0"/>
                    </a:p>
                  </a:txBody>
                  <a:tcPr anchor="ctr">
                    <a:solidFill>
                      <a:srgbClr val="FFFFFF"/>
                    </a:solidFill>
                  </a:tcPr>
                </a:tc>
                <a:tc>
                  <a:txBody>
                    <a:bodyPr/>
                    <a:lstStyle/>
                    <a:p>
                      <a:pPr algn="ctr">
                        <a:defRPr sz="800" b="0">
                          <a:solidFill>
                            <a:srgbClr val="000000"/>
                          </a:solidFill>
                          <a:latin typeface="Montserrat"/>
                        </a:defRPr>
                      </a:pPr>
                      <a:r>
                        <a:rPr dirty="0"/>
                        <a:t>2</a:t>
                      </a:r>
                    </a:p>
                  </a:txBody>
                  <a:tcPr anchor="ct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nchor="ctr">
                    <a:solidFill>
                      <a:srgbClr val="D3E9E7"/>
                    </a:solidFill>
                  </a:tcPr>
                </a:tc>
                <a:tc>
                  <a:txBody>
                    <a:bodyPr/>
                    <a:lstStyle/>
                    <a:p>
                      <a:pPr algn="ctr">
                        <a:defRPr sz="800" b="1">
                          <a:solidFill>
                            <a:srgbClr val="006455"/>
                          </a:solidFill>
                          <a:latin typeface="Montserrat"/>
                        </a:defRPr>
                      </a:pPr>
                      <a:r>
                        <a:rPr dirty="0"/>
                        <a:t>2</a:t>
                      </a:r>
                    </a:p>
                  </a:txBody>
                  <a:tcPr anchor="ctr">
                    <a:solidFill>
                      <a:srgbClr val="D3E9E7"/>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360000" y="4014098"/>
            <a:ext cx="6840000" cy="360000"/>
          </a:xfrm>
          <a:prstGeom prst="rect">
            <a:avLst/>
          </a:prstGeom>
          <a:noFill/>
        </p:spPr>
        <p:txBody>
          <a:bodyPr wrap="none" anchor="ctr">
            <a:spAutoFit/>
          </a:bodyPr>
          <a:lstStyle/>
          <a:p>
            <a:pPr algn="l">
              <a:defRPr sz="2000" b="1">
                <a:solidFill>
                  <a:srgbClr val="BC955C"/>
                </a:solidFill>
                <a:latin typeface="Montserrat"/>
              </a:defRPr>
            </a:pPr>
            <a:r>
              <a:t>66 especialistas (sustitutos)</a:t>
            </a:r>
          </a:p>
        </p:txBody>
      </p:sp>
      <p:cxnSp>
        <p:nvCxnSpPr>
          <p:cNvPr id="14" name="Connector 13"/>
          <p:cNvCxnSpPr/>
          <p:nvPr/>
        </p:nvCxnSpPr>
        <p:spPr>
          <a:xfrm>
            <a:off x="360000" y="44100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6"/>
          <p:cNvGraphicFramePr>
            <a:graphicFrameLocks noGrp="1"/>
          </p:cNvGraphicFramePr>
          <p:nvPr>
            <p:extLst>
              <p:ext uri="{D42A27DB-BD31-4B8C-83A1-F6EECF244321}">
                <p14:modId xmlns:p14="http://schemas.microsoft.com/office/powerpoint/2010/main" val="2301507115"/>
              </p:ext>
            </p:extLst>
          </p:nvPr>
        </p:nvGraphicFramePr>
        <p:xfrm>
          <a:off x="360000" y="4477900"/>
          <a:ext cx="3456000" cy="292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2">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66</a:t>
                      </a:r>
                    </a:p>
                  </a:txBody>
                  <a:tcPr>
                    <a:solidFill>
                      <a:srgbClr val="D3E9E7"/>
                    </a:solidFill>
                  </a:tcPr>
                </a:tc>
                <a:extLst>
                  <a:ext uri="{0D108BD9-81ED-4DB2-BD59-A6C34878D82A}">
                    <a16:rowId xmlns:a16="http://schemas.microsoft.com/office/drawing/2014/main" val="10012"/>
                  </a:ext>
                </a:extLst>
              </a:tr>
            </a:tbl>
          </a:graphicData>
        </a:graphic>
      </p:graphicFrame>
      <p:sp>
        <p:nvSpPr>
          <p:cNvPr id="16" name="TextBox 7"/>
          <p:cNvSpPr txBox="1"/>
          <p:nvPr/>
        </p:nvSpPr>
        <p:spPr>
          <a:xfrm>
            <a:off x="270000" y="8340700"/>
            <a:ext cx="7200000" cy="540000"/>
          </a:xfrm>
          <a:prstGeom prst="rect">
            <a:avLst/>
          </a:prstGeom>
          <a:noFill/>
        </p:spPr>
        <p:txBody>
          <a:bodyPr wrap="square">
            <a:spAutoFit/>
          </a:bodyPr>
          <a:lstStyle/>
          <a:p>
            <a:pPr algn="l">
              <a:defRPr sz="1000">
                <a:solidFill>
                  <a:srgbClr val="000000"/>
                </a:solidFill>
                <a:latin typeface="Montserrat"/>
              </a:defRPr>
            </a:pPr>
            <a:r>
              <a:rPr dirty="0" err="1"/>
              <a:t>Sustitutos</a:t>
            </a:r>
            <a:r>
              <a:rPr dirty="0"/>
              <a:t> se </a:t>
            </a:r>
            <a:r>
              <a:rPr dirty="0" err="1"/>
              <a:t>integran</a:t>
            </a:r>
            <a:r>
              <a:rPr dirty="0"/>
              <a:t> a los </a:t>
            </a:r>
            <a:r>
              <a:rPr dirty="0" err="1"/>
              <a:t>Listados</a:t>
            </a:r>
            <a:r>
              <a:rPr dirty="0"/>
              <a:t> de </a:t>
            </a:r>
            <a:r>
              <a:rPr dirty="0" err="1"/>
              <a:t>Bolsa</a:t>
            </a:r>
            <a:r>
              <a:rPr dirty="0"/>
              <a:t> de </a:t>
            </a:r>
            <a:r>
              <a:rPr dirty="0" err="1"/>
              <a:t>Trabajo</a:t>
            </a:r>
            <a:r>
              <a:rPr dirty="0"/>
              <a:t>, </a:t>
            </a:r>
            <a:r>
              <a:rPr dirty="0" err="1"/>
              <a:t>para</a:t>
            </a:r>
            <a:r>
              <a:rPr dirty="0"/>
              <a:t> </a:t>
            </a:r>
            <a:r>
              <a:rPr dirty="0" err="1"/>
              <a:t>cubrir</a:t>
            </a:r>
            <a:r>
              <a:rPr dirty="0"/>
              <a:t> </a:t>
            </a:r>
            <a:r>
              <a:rPr dirty="0" err="1"/>
              <a:t>las</a:t>
            </a:r>
            <a:r>
              <a:rPr dirty="0"/>
              <a:t> </a:t>
            </a:r>
            <a:r>
              <a:rPr dirty="0" err="1"/>
              <a:t>futuras</a:t>
            </a:r>
            <a:r>
              <a:rPr dirty="0"/>
              <a:t> </a:t>
            </a:r>
            <a:r>
              <a:rPr dirty="0" err="1"/>
              <a:t>vacantes</a:t>
            </a:r>
            <a:r>
              <a:rPr dirty="0"/>
              <a:t> </a:t>
            </a:r>
            <a:r>
              <a:rPr dirty="0" err="1"/>
              <a:t>por</a:t>
            </a:r>
            <a:r>
              <a:rPr dirty="0"/>
              <a:t> </a:t>
            </a:r>
            <a:r>
              <a:rPr dirty="0" err="1"/>
              <a:t>jubilación</a:t>
            </a:r>
            <a:r>
              <a:rPr dirty="0"/>
              <a:t>, </a:t>
            </a:r>
            <a:r>
              <a:rPr dirty="0" err="1"/>
              <a:t>renuncia</a:t>
            </a:r>
            <a:r>
              <a:rPr dirty="0"/>
              <a:t>, </a:t>
            </a:r>
            <a:r>
              <a:rPr dirty="0" err="1"/>
              <a:t>fallecimiento</a:t>
            </a:r>
            <a:r>
              <a:rPr dirty="0"/>
              <a:t>, etc., </a:t>
            </a:r>
            <a:r>
              <a:rPr dirty="0" err="1"/>
              <a:t>así</a:t>
            </a:r>
            <a:r>
              <a:rPr dirty="0"/>
              <a:t> </a:t>
            </a:r>
            <a:r>
              <a:rPr dirty="0" err="1"/>
              <a:t>como</a:t>
            </a:r>
            <a:r>
              <a:rPr dirty="0"/>
              <a:t> </a:t>
            </a:r>
            <a:r>
              <a:rPr dirty="0" err="1"/>
              <a:t>ausentismo</a:t>
            </a:r>
            <a:r>
              <a:rPr dirty="0"/>
              <a:t> </a:t>
            </a:r>
            <a:r>
              <a:rPr dirty="0" err="1"/>
              <a:t>programado</a:t>
            </a:r>
            <a:r>
              <a:rPr dirty="0"/>
              <a:t> y no </a:t>
            </a:r>
            <a:r>
              <a:rPr dirty="0" err="1"/>
              <a:t>programado</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132173"/>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623148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82660">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82660">
                <a:tc>
                  <a:txBody>
                    <a:bodyPr/>
                    <a:lstStyle/>
                    <a:p>
                      <a:pPr algn="l">
                        <a:defRPr sz="1100" b="0">
                          <a:solidFill>
                            <a:srgbClr val="000000"/>
                          </a:solidFill>
                          <a:latin typeface="Montserrat"/>
                        </a:defRPr>
                      </a:pPr>
                      <a:r>
                        <a:t>Medicina de Urgencias</a:t>
                      </a:r>
                    </a:p>
                  </a:txBody>
                  <a:tcPr marL="45720" marR="45720" anchor="ctr">
                    <a:solidFill>
                      <a:srgbClr val="FFFFFF"/>
                    </a:solidFill>
                  </a:tcPr>
                </a:tc>
                <a:tc>
                  <a:txBody>
                    <a:bodyPr/>
                    <a:lstStyle/>
                    <a:p>
                      <a:pPr algn="ctr">
                        <a:defRPr sz="1100" b="0">
                          <a:solidFill>
                            <a:srgbClr val="000000"/>
                          </a:solidFill>
                          <a:latin typeface="Montserrat"/>
                        </a:defRPr>
                      </a:pPr>
                      <a:r>
                        <a:t>26</a:t>
                      </a:r>
                    </a:p>
                  </a:txBody>
                  <a:tcPr marL="45720" marR="45720" anchor="ctr">
                    <a:solidFill>
                      <a:srgbClr val="FFFFFF"/>
                    </a:solidFill>
                  </a:tcPr>
                </a:tc>
                <a:tc>
                  <a:txBody>
                    <a:bodyPr/>
                    <a:lstStyle/>
                    <a:p>
                      <a:pPr algn="ctr">
                        <a:defRPr sz="1100" b="1">
                          <a:solidFill>
                            <a:srgbClr val="000000"/>
                          </a:solidFill>
                          <a:latin typeface="Montserrat"/>
                        </a:defRPr>
                      </a:pPr>
                      <a:r>
                        <a:t>21.1%</a:t>
                      </a:r>
                    </a:p>
                  </a:txBody>
                  <a:tcPr marL="45720" marR="45720" anchor="ctr">
                    <a:solidFill>
                      <a:srgbClr val="FFFFFF"/>
                    </a:solidFill>
                  </a:tcPr>
                </a:tc>
                <a:extLst>
                  <a:ext uri="{0D108BD9-81ED-4DB2-BD59-A6C34878D82A}">
                    <a16:rowId xmlns:a16="http://schemas.microsoft.com/office/drawing/2014/main" val="10001"/>
                  </a:ext>
                </a:extLst>
              </a:tr>
              <a:tr h="182660">
                <a:tc>
                  <a:txBody>
                    <a:bodyPr/>
                    <a:lstStyle/>
                    <a:p>
                      <a:pPr algn="l">
                        <a:defRPr sz="1100" b="0">
                          <a:solidFill>
                            <a:srgbClr val="000000"/>
                          </a:solidFill>
                          <a:latin typeface="Montserrat"/>
                        </a:defRPr>
                      </a:pPr>
                      <a:r>
                        <a:t>Medicina Familiar</a:t>
                      </a:r>
                    </a:p>
                  </a:txBody>
                  <a:tcPr marL="45720" marR="45720" anchor="ctr">
                    <a:solidFill>
                      <a:srgbClr val="D9D9D9"/>
                    </a:solidFill>
                  </a:tcPr>
                </a:tc>
                <a:tc>
                  <a:txBody>
                    <a:bodyPr/>
                    <a:lstStyle/>
                    <a:p>
                      <a:pPr algn="ctr">
                        <a:defRPr sz="1100" b="0">
                          <a:solidFill>
                            <a:srgbClr val="000000"/>
                          </a:solidFill>
                          <a:latin typeface="Montserrat"/>
                        </a:defRPr>
                      </a:pPr>
                      <a:r>
                        <a:t>15</a:t>
                      </a:r>
                    </a:p>
                  </a:txBody>
                  <a:tcPr marL="45720" marR="45720" anchor="ctr">
                    <a:solidFill>
                      <a:srgbClr val="D9D9D9"/>
                    </a:solidFill>
                  </a:tcPr>
                </a:tc>
                <a:tc>
                  <a:txBody>
                    <a:bodyPr/>
                    <a:lstStyle/>
                    <a:p>
                      <a:pPr algn="ctr">
                        <a:defRPr sz="1100" b="1">
                          <a:solidFill>
                            <a:srgbClr val="000000"/>
                          </a:solidFill>
                          <a:latin typeface="Montserrat"/>
                        </a:defRPr>
                      </a:pPr>
                      <a:r>
                        <a:t>33.3%</a:t>
                      </a:r>
                    </a:p>
                  </a:txBody>
                  <a:tcPr marL="45720" marR="45720" anchor="ctr">
                    <a:solidFill>
                      <a:srgbClr val="D9D9D9"/>
                    </a:solidFill>
                  </a:tcPr>
                </a:tc>
                <a:extLst>
                  <a:ext uri="{0D108BD9-81ED-4DB2-BD59-A6C34878D82A}">
                    <a16:rowId xmlns:a16="http://schemas.microsoft.com/office/drawing/2014/main" val="10002"/>
                  </a:ext>
                </a:extLst>
              </a:tr>
              <a:tr h="182660">
                <a:tc>
                  <a:txBody>
                    <a:bodyPr/>
                    <a:lstStyle/>
                    <a:p>
                      <a:pPr algn="l">
                        <a:defRPr sz="1100" b="0">
                          <a:solidFill>
                            <a:srgbClr val="000000"/>
                          </a:solidFill>
                          <a:latin typeface="Montserrat"/>
                        </a:defRPr>
                      </a:pPr>
                      <a:r>
                        <a:t>Cirugía General</a:t>
                      </a:r>
                    </a:p>
                  </a:txBody>
                  <a:tcPr marL="45720" marR="45720" anchor="ctr">
                    <a:solidFill>
                      <a:srgbClr val="FFFFFF"/>
                    </a:solidFill>
                  </a:tcPr>
                </a:tc>
                <a:tc>
                  <a:txBody>
                    <a:bodyPr/>
                    <a:lstStyle/>
                    <a:p>
                      <a:pPr algn="ctr">
                        <a:defRPr sz="1100" b="0">
                          <a:solidFill>
                            <a:srgbClr val="000000"/>
                          </a:solidFill>
                          <a:latin typeface="Montserrat"/>
                        </a:defRPr>
                      </a:pPr>
                      <a:r>
                        <a:t>14</a:t>
                      </a:r>
                    </a:p>
                  </a:txBody>
                  <a:tcPr marL="45720" marR="45720" anchor="ctr">
                    <a:solidFill>
                      <a:srgbClr val="FFFFFF"/>
                    </a:solidFill>
                  </a:tcPr>
                </a:tc>
                <a:tc>
                  <a:txBody>
                    <a:bodyPr/>
                    <a:lstStyle/>
                    <a:p>
                      <a:pPr algn="ctr">
                        <a:defRPr sz="1100" b="1">
                          <a:solidFill>
                            <a:srgbClr val="000000"/>
                          </a:solidFill>
                          <a:latin typeface="Montserrat"/>
                        </a:defRPr>
                      </a:pPr>
                      <a:r>
                        <a:t>44.7%</a:t>
                      </a:r>
                    </a:p>
                  </a:txBody>
                  <a:tcPr marL="45720" marR="45720" anchor="ctr">
                    <a:solidFill>
                      <a:srgbClr val="FFFFFF"/>
                    </a:solidFill>
                  </a:tcPr>
                </a:tc>
                <a:extLst>
                  <a:ext uri="{0D108BD9-81ED-4DB2-BD59-A6C34878D82A}">
                    <a16:rowId xmlns:a16="http://schemas.microsoft.com/office/drawing/2014/main" val="10003"/>
                  </a:ext>
                </a:extLst>
              </a:tr>
              <a:tr h="182660">
                <a:tc>
                  <a:txBody>
                    <a:bodyPr/>
                    <a:lstStyle/>
                    <a:p>
                      <a:pPr algn="l">
                        <a:defRPr sz="1100" b="0">
                          <a:solidFill>
                            <a:srgbClr val="000000"/>
                          </a:solidFill>
                          <a:latin typeface="Montserrat"/>
                        </a:defRPr>
                      </a:pPr>
                      <a:r>
                        <a:t>Anestesiología</a:t>
                      </a:r>
                    </a:p>
                  </a:txBody>
                  <a:tcPr marL="45720" marR="45720" anchor="ctr">
                    <a:solidFill>
                      <a:srgbClr val="D9D9D9"/>
                    </a:solidFill>
                  </a:tcPr>
                </a:tc>
                <a:tc>
                  <a:txBody>
                    <a:bodyPr/>
                    <a:lstStyle/>
                    <a:p>
                      <a:pPr algn="ctr">
                        <a:defRPr sz="1100" b="0">
                          <a:solidFill>
                            <a:srgbClr val="000000"/>
                          </a:solidFill>
                          <a:latin typeface="Montserrat"/>
                        </a:defRPr>
                      </a:pPr>
                      <a:r>
                        <a:t>13</a:t>
                      </a:r>
                    </a:p>
                  </a:txBody>
                  <a:tcPr marL="45720" marR="45720" anchor="ctr">
                    <a:solidFill>
                      <a:srgbClr val="D9D9D9"/>
                    </a:solidFill>
                  </a:tcPr>
                </a:tc>
                <a:tc>
                  <a:txBody>
                    <a:bodyPr/>
                    <a:lstStyle/>
                    <a:p>
                      <a:pPr algn="ctr">
                        <a:defRPr sz="1100" b="1">
                          <a:solidFill>
                            <a:srgbClr val="000000"/>
                          </a:solidFill>
                          <a:latin typeface="Montserrat"/>
                        </a:defRPr>
                      </a:pPr>
                      <a:r>
                        <a:t>55.2%</a:t>
                      </a:r>
                    </a:p>
                  </a:txBody>
                  <a:tcPr marL="45720" marR="45720" anchor="ctr">
                    <a:solidFill>
                      <a:srgbClr val="D9D9D9"/>
                    </a:solidFill>
                  </a:tcPr>
                </a:tc>
                <a:extLst>
                  <a:ext uri="{0D108BD9-81ED-4DB2-BD59-A6C34878D82A}">
                    <a16:rowId xmlns:a16="http://schemas.microsoft.com/office/drawing/2014/main" val="10004"/>
                  </a:ext>
                </a:extLst>
              </a:tr>
              <a:tr h="182660">
                <a:tc>
                  <a:txBody>
                    <a:bodyPr/>
                    <a:lstStyle/>
                    <a:p>
                      <a:pPr algn="l">
                        <a:defRPr sz="1100" b="0">
                          <a:solidFill>
                            <a:srgbClr val="000000"/>
                          </a:solidFill>
                          <a:latin typeface="Montserrat"/>
                        </a:defRPr>
                      </a:pPr>
                      <a:r>
                        <a:t>Ginecología y Obstetricia</a:t>
                      </a:r>
                    </a:p>
                  </a:txBody>
                  <a:tcPr marL="45720" marR="45720" anchor="ctr">
                    <a:solidFill>
                      <a:srgbClr val="FFFFFF"/>
                    </a:solidFill>
                  </a:tcPr>
                </a:tc>
                <a:tc>
                  <a:txBody>
                    <a:bodyPr/>
                    <a:lstStyle/>
                    <a:p>
                      <a:pPr algn="ctr">
                        <a:defRPr sz="1100" b="0">
                          <a:solidFill>
                            <a:srgbClr val="000000"/>
                          </a:solidFill>
                          <a:latin typeface="Montserrat"/>
                        </a:defRPr>
                      </a:pPr>
                      <a:r>
                        <a:t>11</a:t>
                      </a:r>
                    </a:p>
                  </a:txBody>
                  <a:tcPr marL="45720" marR="45720" anchor="ctr">
                    <a:solidFill>
                      <a:srgbClr val="FFFFFF"/>
                    </a:solidFill>
                  </a:tcPr>
                </a:tc>
                <a:tc>
                  <a:txBody>
                    <a:bodyPr/>
                    <a:lstStyle/>
                    <a:p>
                      <a:pPr algn="ctr">
                        <a:defRPr sz="1100" b="1">
                          <a:solidFill>
                            <a:srgbClr val="000000"/>
                          </a:solidFill>
                          <a:latin typeface="Montserrat"/>
                        </a:defRPr>
                      </a:pPr>
                      <a:r>
                        <a:t>64.2%</a:t>
                      </a:r>
                    </a:p>
                  </a:txBody>
                  <a:tcPr marL="45720" marR="45720" anchor="ctr">
                    <a:solidFill>
                      <a:srgbClr val="FFFFFF"/>
                    </a:solidFill>
                  </a:tcPr>
                </a:tc>
                <a:extLst>
                  <a:ext uri="{0D108BD9-81ED-4DB2-BD59-A6C34878D82A}">
                    <a16:rowId xmlns:a16="http://schemas.microsoft.com/office/drawing/2014/main" val="10005"/>
                  </a:ext>
                </a:extLst>
              </a:tr>
              <a:tr h="182660">
                <a:tc>
                  <a:txBody>
                    <a:bodyPr/>
                    <a:lstStyle/>
                    <a:p>
                      <a:pPr algn="l">
                        <a:defRPr sz="1100" b="0">
                          <a:solidFill>
                            <a:srgbClr val="000000"/>
                          </a:solidFill>
                          <a:latin typeface="Montserrat"/>
                        </a:defRPr>
                      </a:pPr>
                      <a:r>
                        <a:t>Epidemiología</a:t>
                      </a:r>
                    </a:p>
                  </a:txBody>
                  <a:tcPr marL="45720" marR="45720" anchor="ctr">
                    <a:solidFill>
                      <a:srgbClr val="D9D9D9"/>
                    </a:solidFill>
                  </a:tcPr>
                </a:tc>
                <a:tc>
                  <a:txBody>
                    <a:bodyPr/>
                    <a:lstStyle/>
                    <a:p>
                      <a:pPr algn="ctr">
                        <a:defRPr sz="1100" b="0">
                          <a:solidFill>
                            <a:srgbClr val="000000"/>
                          </a:solidFill>
                          <a:latin typeface="Montserrat"/>
                        </a:defRPr>
                      </a:pPr>
                      <a:r>
                        <a:t>6</a:t>
                      </a:r>
                    </a:p>
                  </a:txBody>
                  <a:tcPr marL="45720" marR="45720" anchor="ctr">
                    <a:solidFill>
                      <a:srgbClr val="D9D9D9"/>
                    </a:solidFill>
                  </a:tcPr>
                </a:tc>
                <a:tc>
                  <a:txBody>
                    <a:bodyPr/>
                    <a:lstStyle/>
                    <a:p>
                      <a:pPr algn="ctr">
                        <a:defRPr sz="1100" b="1">
                          <a:solidFill>
                            <a:srgbClr val="000000"/>
                          </a:solidFill>
                          <a:latin typeface="Montserrat"/>
                        </a:defRPr>
                      </a:pPr>
                      <a:r>
                        <a:t>69.1%</a:t>
                      </a:r>
                    </a:p>
                  </a:txBody>
                  <a:tcPr marL="45720" marR="45720" anchor="ctr">
                    <a:solidFill>
                      <a:srgbClr val="D9D9D9"/>
                    </a:solidFill>
                  </a:tcPr>
                </a:tc>
                <a:extLst>
                  <a:ext uri="{0D108BD9-81ED-4DB2-BD59-A6C34878D82A}">
                    <a16:rowId xmlns:a16="http://schemas.microsoft.com/office/drawing/2014/main" val="10006"/>
                  </a:ext>
                </a:extLst>
              </a:tr>
              <a:tr h="182660">
                <a:tc>
                  <a:txBody>
                    <a:bodyPr/>
                    <a:lstStyle/>
                    <a:p>
                      <a:pPr algn="l">
                        <a:defRPr sz="1100" b="0">
                          <a:solidFill>
                            <a:srgbClr val="000000"/>
                          </a:solidFill>
                          <a:latin typeface="Montserrat"/>
                        </a:defRPr>
                      </a:pPr>
                      <a:r>
                        <a:t>Traumatología y Ortopedia</a:t>
                      </a:r>
                    </a:p>
                  </a:txBody>
                  <a:tcPr marL="45720" marR="45720" anchor="ctr">
                    <a:solidFill>
                      <a:srgbClr val="FFFFFF"/>
                    </a:solidFill>
                  </a:tcPr>
                </a:tc>
                <a:tc>
                  <a:txBody>
                    <a:bodyPr/>
                    <a:lstStyle/>
                    <a:p>
                      <a:pPr algn="ctr">
                        <a:defRPr sz="1100" b="0">
                          <a:solidFill>
                            <a:srgbClr val="000000"/>
                          </a:solidFill>
                          <a:latin typeface="Montserrat"/>
                        </a:defRPr>
                      </a:pPr>
                      <a:r>
                        <a:t>6</a:t>
                      </a:r>
                    </a:p>
                  </a:txBody>
                  <a:tcPr marL="45720" marR="45720" anchor="ctr">
                    <a:solidFill>
                      <a:srgbClr val="FFFFFF"/>
                    </a:solidFill>
                  </a:tcPr>
                </a:tc>
                <a:tc>
                  <a:txBody>
                    <a:bodyPr/>
                    <a:lstStyle/>
                    <a:p>
                      <a:pPr algn="ctr">
                        <a:defRPr sz="1100" b="1">
                          <a:solidFill>
                            <a:srgbClr val="000000"/>
                          </a:solidFill>
                          <a:latin typeface="Montserrat"/>
                        </a:defRPr>
                      </a:pPr>
                      <a:r>
                        <a:t>73.9%</a:t>
                      </a:r>
                    </a:p>
                  </a:txBody>
                  <a:tcPr marL="45720" marR="45720" anchor="ctr">
                    <a:solidFill>
                      <a:srgbClr val="FFFFFF"/>
                    </a:solidFill>
                  </a:tcPr>
                </a:tc>
                <a:extLst>
                  <a:ext uri="{0D108BD9-81ED-4DB2-BD59-A6C34878D82A}">
                    <a16:rowId xmlns:a16="http://schemas.microsoft.com/office/drawing/2014/main" val="10007"/>
                  </a:ext>
                </a:extLst>
              </a:tr>
              <a:tr h="182660">
                <a:tc>
                  <a:txBody>
                    <a:bodyPr/>
                    <a:lstStyle/>
                    <a:p>
                      <a:pPr algn="l">
                        <a:defRPr sz="1100" b="0">
                          <a:solidFill>
                            <a:srgbClr val="000000"/>
                          </a:solidFill>
                          <a:latin typeface="Montserrat"/>
                        </a:defRPr>
                      </a:pPr>
                      <a:r>
                        <a:t>Imagenología Diagnóstico y Terapéutica</a:t>
                      </a:r>
                    </a:p>
                  </a:txBody>
                  <a:tcPr marL="45720" marR="45720" anchor="ctr">
                    <a:solidFill>
                      <a:srgbClr val="D9D9D9"/>
                    </a:solidFill>
                  </a:tcPr>
                </a:tc>
                <a:tc>
                  <a:txBody>
                    <a:bodyPr/>
                    <a:lstStyle/>
                    <a:p>
                      <a:pPr algn="ctr">
                        <a:defRPr sz="1100" b="0">
                          <a:solidFill>
                            <a:srgbClr val="000000"/>
                          </a:solidFill>
                          <a:latin typeface="Montserrat"/>
                        </a:defRPr>
                      </a:pPr>
                      <a:r>
                        <a:t>5</a:t>
                      </a:r>
                    </a:p>
                  </a:txBody>
                  <a:tcPr marL="45720" marR="45720" anchor="ctr">
                    <a:solidFill>
                      <a:srgbClr val="D9D9D9"/>
                    </a:solidFill>
                  </a:tcPr>
                </a:tc>
                <a:tc>
                  <a:txBody>
                    <a:bodyPr/>
                    <a:lstStyle/>
                    <a:p>
                      <a:pPr algn="ctr">
                        <a:defRPr sz="1100" b="1">
                          <a:solidFill>
                            <a:srgbClr val="000000"/>
                          </a:solidFill>
                          <a:latin typeface="Montserrat"/>
                        </a:defRPr>
                      </a:pPr>
                      <a:r>
                        <a:t>78.0%</a:t>
                      </a:r>
                    </a:p>
                  </a:txBody>
                  <a:tcPr marL="45720" marR="45720" anchor="ctr">
                    <a:solidFill>
                      <a:srgbClr val="D9D9D9"/>
                    </a:solidFill>
                  </a:tcPr>
                </a:tc>
                <a:extLst>
                  <a:ext uri="{0D108BD9-81ED-4DB2-BD59-A6C34878D82A}">
                    <a16:rowId xmlns:a16="http://schemas.microsoft.com/office/drawing/2014/main" val="10008"/>
                  </a:ext>
                </a:extLst>
              </a:tr>
              <a:tr h="182660">
                <a:tc>
                  <a:txBody>
                    <a:bodyPr/>
                    <a:lstStyle/>
                    <a:p>
                      <a:pPr algn="l">
                        <a:defRPr sz="1100" b="0">
                          <a:solidFill>
                            <a:srgbClr val="000000"/>
                          </a:solidFill>
                          <a:latin typeface="Montserrat"/>
                        </a:defRPr>
                      </a:pPr>
                      <a:r>
                        <a:t>Medicina Interna</a:t>
                      </a:r>
                    </a:p>
                  </a:txBody>
                  <a:tcPr marL="45720" marR="45720" anchor="ctr">
                    <a:solidFill>
                      <a:srgbClr val="FFFFFF"/>
                    </a:solidFill>
                  </a:tcPr>
                </a:tc>
                <a:tc>
                  <a:txBody>
                    <a:bodyPr/>
                    <a:lstStyle/>
                    <a:p>
                      <a:pPr algn="ctr">
                        <a:defRPr sz="1100" b="0">
                          <a:solidFill>
                            <a:srgbClr val="000000"/>
                          </a:solidFill>
                          <a:latin typeface="Montserrat"/>
                        </a:defRPr>
                      </a:pPr>
                      <a:r>
                        <a:t>5</a:t>
                      </a:r>
                    </a:p>
                  </a:txBody>
                  <a:tcPr marL="45720" marR="45720" anchor="ctr">
                    <a:solidFill>
                      <a:srgbClr val="FFFFFF"/>
                    </a:solidFill>
                  </a:tcPr>
                </a:tc>
                <a:tc>
                  <a:txBody>
                    <a:bodyPr/>
                    <a:lstStyle/>
                    <a:p>
                      <a:pPr algn="ctr">
                        <a:defRPr sz="1100" b="1">
                          <a:solidFill>
                            <a:srgbClr val="000000"/>
                          </a:solidFill>
                          <a:latin typeface="Montserrat"/>
                        </a:defRPr>
                      </a:pPr>
                      <a:r>
                        <a:t>82.1%</a:t>
                      </a:r>
                    </a:p>
                  </a:txBody>
                  <a:tcPr marL="45720" marR="45720" anchor="ctr">
                    <a:solidFill>
                      <a:srgbClr val="FFFFFF"/>
                    </a:solidFill>
                  </a:tcPr>
                </a:tc>
                <a:extLst>
                  <a:ext uri="{0D108BD9-81ED-4DB2-BD59-A6C34878D82A}">
                    <a16:rowId xmlns:a16="http://schemas.microsoft.com/office/drawing/2014/main" val="10009"/>
                  </a:ext>
                </a:extLst>
              </a:tr>
              <a:tr h="182660">
                <a:tc>
                  <a:txBody>
                    <a:bodyPr/>
                    <a:lstStyle/>
                    <a:p>
                      <a:pPr algn="l">
                        <a:defRPr sz="1100" b="0">
                          <a:solidFill>
                            <a:srgbClr val="000000"/>
                          </a:solidFill>
                          <a:latin typeface="Montserrat"/>
                        </a:defRPr>
                      </a:pPr>
                      <a:r>
                        <a:t>Geriatría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85.3%</a:t>
                      </a:r>
                    </a:p>
                  </a:txBody>
                  <a:tcPr marL="45720" marR="45720" anchor="ctr">
                    <a:solidFill>
                      <a:srgbClr val="D9D9D9"/>
                    </a:solidFill>
                  </a:tcPr>
                </a:tc>
                <a:extLst>
                  <a:ext uri="{0D108BD9-81ED-4DB2-BD59-A6C34878D82A}">
                    <a16:rowId xmlns:a16="http://schemas.microsoft.com/office/drawing/2014/main" val="10010"/>
                  </a:ext>
                </a:extLst>
              </a:tr>
              <a:tr h="182660">
                <a:tc>
                  <a:txBody>
                    <a:bodyPr/>
                    <a:lstStyle/>
                    <a:p>
                      <a:pPr algn="l">
                        <a:defRPr sz="1100" b="0">
                          <a:solidFill>
                            <a:srgbClr val="000000"/>
                          </a:solidFill>
                          <a:latin typeface="Montserrat"/>
                        </a:defRPr>
                      </a:pPr>
                      <a:r>
                        <a:t>Pediatría</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88.6%</a:t>
                      </a:r>
                    </a:p>
                  </a:txBody>
                  <a:tcPr marL="45720" marR="45720" anchor="ctr">
                    <a:solidFill>
                      <a:srgbClr val="FFFFFF"/>
                    </a:solidFill>
                  </a:tcPr>
                </a:tc>
                <a:extLst>
                  <a:ext uri="{0D108BD9-81ED-4DB2-BD59-A6C34878D82A}">
                    <a16:rowId xmlns:a16="http://schemas.microsoft.com/office/drawing/2014/main" val="10011"/>
                  </a:ext>
                </a:extLst>
              </a:tr>
              <a:tr h="182660">
                <a:tc>
                  <a:txBody>
                    <a:bodyPr/>
                    <a:lstStyle/>
                    <a:p>
                      <a:pPr algn="l">
                        <a:defRPr sz="1100" b="0">
                          <a:solidFill>
                            <a:srgbClr val="000000"/>
                          </a:solidFill>
                          <a:latin typeface="Montserrat"/>
                        </a:defRPr>
                      </a:pPr>
                      <a:r>
                        <a:t>Medicina del Trabajo y Ambiental</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91.0%</a:t>
                      </a:r>
                    </a:p>
                  </a:txBody>
                  <a:tcPr marL="45720" marR="45720" anchor="ctr">
                    <a:solidFill>
                      <a:srgbClr val="D9D9D9"/>
                    </a:solidFill>
                  </a:tcPr>
                </a:tc>
                <a:extLst>
                  <a:ext uri="{0D108BD9-81ED-4DB2-BD59-A6C34878D82A}">
                    <a16:rowId xmlns:a16="http://schemas.microsoft.com/office/drawing/2014/main" val="10012"/>
                  </a:ext>
                </a:extLst>
              </a:tr>
              <a:tr h="182660">
                <a:tc>
                  <a:txBody>
                    <a:bodyPr/>
                    <a:lstStyle/>
                    <a:p>
                      <a:pPr algn="l">
                        <a:defRPr sz="1100" b="0">
                          <a:solidFill>
                            <a:srgbClr val="000000"/>
                          </a:solidFill>
                          <a:latin typeface="Montserrat"/>
                        </a:defRPr>
                      </a:pPr>
                      <a:r>
                        <a:t>Urología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92.6%</a:t>
                      </a:r>
                    </a:p>
                  </a:txBody>
                  <a:tcPr marL="45720" marR="45720" anchor="ctr">
                    <a:solidFill>
                      <a:srgbClr val="FFFFFF"/>
                    </a:solidFill>
                  </a:tcPr>
                </a:tc>
                <a:extLst>
                  <a:ext uri="{0D108BD9-81ED-4DB2-BD59-A6C34878D82A}">
                    <a16:rowId xmlns:a16="http://schemas.microsoft.com/office/drawing/2014/main" val="10013"/>
                  </a:ext>
                </a:extLst>
              </a:tr>
              <a:tr h="182660">
                <a:tc>
                  <a:txBody>
                    <a:bodyPr/>
                    <a:lstStyle/>
                    <a:p>
                      <a:pPr algn="l">
                        <a:defRPr sz="1100" b="0">
                          <a:solidFill>
                            <a:srgbClr val="000000"/>
                          </a:solidFill>
                          <a:latin typeface="Montserrat"/>
                        </a:defRPr>
                      </a:pPr>
                      <a:r>
                        <a:t>Medicina del Enfermo en Estado Crítico</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94.3%</a:t>
                      </a:r>
                    </a:p>
                  </a:txBody>
                  <a:tcPr marL="45720" marR="45720" anchor="ctr">
                    <a:solidFill>
                      <a:srgbClr val="D9D9D9"/>
                    </a:solidFill>
                  </a:tcPr>
                </a:tc>
                <a:extLst>
                  <a:ext uri="{0D108BD9-81ED-4DB2-BD59-A6C34878D82A}">
                    <a16:rowId xmlns:a16="http://schemas.microsoft.com/office/drawing/2014/main" val="10014"/>
                  </a:ext>
                </a:extLst>
              </a:tr>
              <a:tr h="182660">
                <a:tc>
                  <a:txBody>
                    <a:bodyPr/>
                    <a:lstStyle/>
                    <a:p>
                      <a:pPr algn="l">
                        <a:defRPr sz="1100" b="0">
                          <a:solidFill>
                            <a:srgbClr val="000000"/>
                          </a:solidFill>
                          <a:latin typeface="Montserrat"/>
                        </a:defRPr>
                      </a:pPr>
                      <a:r>
                        <a:t>Anatomía Patológica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95.1%</a:t>
                      </a:r>
                    </a:p>
                  </a:txBody>
                  <a:tcPr marL="45720" marR="45720" anchor="ctr">
                    <a:solidFill>
                      <a:srgbClr val="FFFFFF"/>
                    </a:solidFill>
                  </a:tcPr>
                </a:tc>
                <a:extLst>
                  <a:ext uri="{0D108BD9-81ED-4DB2-BD59-A6C34878D82A}">
                    <a16:rowId xmlns:a16="http://schemas.microsoft.com/office/drawing/2014/main" val="10015"/>
                  </a:ext>
                </a:extLst>
              </a:tr>
              <a:tr h="182660">
                <a:tc>
                  <a:txBody>
                    <a:bodyPr/>
                    <a:lstStyle/>
                    <a:p>
                      <a:pPr algn="l">
                        <a:defRPr sz="1100" b="0">
                          <a:solidFill>
                            <a:srgbClr val="000000"/>
                          </a:solidFill>
                          <a:latin typeface="Montserrat"/>
                        </a:defRPr>
                      </a:pPr>
                      <a:r>
                        <a:t>Cardiología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95.9%</a:t>
                      </a:r>
                    </a:p>
                  </a:txBody>
                  <a:tcPr marL="45720" marR="45720" anchor="ctr">
                    <a:solidFill>
                      <a:srgbClr val="D9D9D9"/>
                    </a:solidFill>
                  </a:tcPr>
                </a:tc>
                <a:extLst>
                  <a:ext uri="{0D108BD9-81ED-4DB2-BD59-A6C34878D82A}">
                    <a16:rowId xmlns:a16="http://schemas.microsoft.com/office/drawing/2014/main" val="10016"/>
                  </a:ext>
                </a:extLst>
              </a:tr>
              <a:tr h="182660">
                <a:tc>
                  <a:txBody>
                    <a:bodyPr/>
                    <a:lstStyle/>
                    <a:p>
                      <a:pPr algn="l">
                        <a:defRPr sz="1100" b="0">
                          <a:solidFill>
                            <a:srgbClr val="000000"/>
                          </a:solidFill>
                          <a:latin typeface="Montserrat"/>
                        </a:defRPr>
                      </a:pPr>
                      <a:r>
                        <a:t>Hematología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96.7%</a:t>
                      </a:r>
                    </a:p>
                  </a:txBody>
                  <a:tcPr marL="45720" marR="45720" anchor="ctr">
                    <a:solidFill>
                      <a:srgbClr val="FFFFFF"/>
                    </a:solidFill>
                  </a:tcPr>
                </a:tc>
                <a:extLst>
                  <a:ext uri="{0D108BD9-81ED-4DB2-BD59-A6C34878D82A}">
                    <a16:rowId xmlns:a16="http://schemas.microsoft.com/office/drawing/2014/main" val="10017"/>
                  </a:ext>
                </a:extLst>
              </a:tr>
              <a:tr h="182660">
                <a:tc>
                  <a:txBody>
                    <a:bodyPr/>
                    <a:lstStyle/>
                    <a:p>
                      <a:pPr algn="l">
                        <a:defRPr sz="1100" b="0">
                          <a:solidFill>
                            <a:srgbClr val="000000"/>
                          </a:solidFill>
                          <a:latin typeface="Montserrat"/>
                        </a:defRPr>
                      </a:pPr>
                      <a:r>
                        <a:t>Hemodinamia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97.5%</a:t>
                      </a:r>
                    </a:p>
                  </a:txBody>
                  <a:tcPr marL="45720" marR="45720" anchor="ctr">
                    <a:solidFill>
                      <a:srgbClr val="D9D9D9"/>
                    </a:solidFill>
                  </a:tcPr>
                </a:tc>
                <a:extLst>
                  <a:ext uri="{0D108BD9-81ED-4DB2-BD59-A6C34878D82A}">
                    <a16:rowId xmlns:a16="http://schemas.microsoft.com/office/drawing/2014/main" val="10018"/>
                  </a:ext>
                </a:extLst>
              </a:tr>
              <a:tr h="182660">
                <a:tc>
                  <a:txBody>
                    <a:bodyPr/>
                    <a:lstStyle/>
                    <a:p>
                      <a:pPr algn="l">
                        <a:defRPr sz="1100" b="0">
                          <a:solidFill>
                            <a:srgbClr val="000000"/>
                          </a:solidFill>
                          <a:latin typeface="Montserrat"/>
                        </a:defRPr>
                      </a:pPr>
                      <a:r>
                        <a:t>Hematología Pediátrica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98.3%</a:t>
                      </a:r>
                    </a:p>
                  </a:txBody>
                  <a:tcPr marL="45720" marR="45720" anchor="ctr">
                    <a:solidFill>
                      <a:srgbClr val="FFFFFF"/>
                    </a:solidFill>
                  </a:tcPr>
                </a:tc>
                <a:extLst>
                  <a:ext uri="{0D108BD9-81ED-4DB2-BD59-A6C34878D82A}">
                    <a16:rowId xmlns:a16="http://schemas.microsoft.com/office/drawing/2014/main" val="10019"/>
                  </a:ext>
                </a:extLst>
              </a:tr>
              <a:tr h="182660">
                <a:tc>
                  <a:txBody>
                    <a:bodyPr/>
                    <a:lstStyle/>
                    <a:p>
                      <a:pPr algn="l">
                        <a:defRPr sz="1100" b="0">
                          <a:solidFill>
                            <a:srgbClr val="000000"/>
                          </a:solidFill>
                          <a:latin typeface="Montserrat"/>
                        </a:defRPr>
                      </a:pPr>
                      <a:r>
                        <a:t>Nefrología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99.1%</a:t>
                      </a:r>
                    </a:p>
                  </a:txBody>
                  <a:tcPr marL="45720" marR="45720" anchor="ctr">
                    <a:solidFill>
                      <a:srgbClr val="D9D9D9"/>
                    </a:solidFill>
                  </a:tcPr>
                </a:tc>
                <a:extLst>
                  <a:ext uri="{0D108BD9-81ED-4DB2-BD59-A6C34878D82A}">
                    <a16:rowId xmlns:a16="http://schemas.microsoft.com/office/drawing/2014/main" val="10020"/>
                  </a:ext>
                </a:extLst>
              </a:tr>
              <a:tr h="182660">
                <a:tc>
                  <a:txBody>
                    <a:bodyPr/>
                    <a:lstStyle/>
                    <a:p>
                      <a:pPr algn="l">
                        <a:defRPr sz="1100" b="0">
                          <a:solidFill>
                            <a:srgbClr val="000000"/>
                          </a:solidFill>
                          <a:latin typeface="Montserrat"/>
                        </a:defRPr>
                      </a:pPr>
                      <a:r>
                        <a:t>Psiquiatría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100.0%</a:t>
                      </a:r>
                    </a:p>
                  </a:txBody>
                  <a:tcPr marL="45720" marR="45720" anchor="ctr">
                    <a:solidFill>
                      <a:srgbClr val="FFFFFF"/>
                    </a:solidFill>
                  </a:tcPr>
                </a:tc>
                <a:extLst>
                  <a:ext uri="{0D108BD9-81ED-4DB2-BD59-A6C34878D82A}">
                    <a16:rowId xmlns:a16="http://schemas.microsoft.com/office/drawing/2014/main" val="10021"/>
                  </a:ext>
                </a:extLst>
              </a:tr>
              <a:tr h="182680">
                <a:tc>
                  <a:txBody>
                    <a:bodyPr/>
                    <a:lstStyle/>
                    <a:p>
                      <a:pPr algn="l">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123</a:t>
                      </a:r>
                    </a:p>
                  </a:txBody>
                  <a:tcPr marL="45720" marR="45720" anchor="ctr">
                    <a:solidFill>
                      <a:srgbClr val="CBE6E1"/>
                    </a:solidFill>
                  </a:tcPr>
                </a:tc>
                <a:tc>
                  <a:txBody>
                    <a:bodyPr/>
                    <a:lstStyle/>
                    <a:p>
                      <a:pPr algn="ctr">
                        <a:defRPr sz="1100" b="1">
                          <a:solidFill>
                            <a:srgbClr val="006455"/>
                          </a:solidFill>
                          <a:latin typeface="Montserrat"/>
                        </a:defRPr>
                      </a:pPr>
                      <a:r>
                        <a:t>100.0%</a:t>
                      </a:r>
                    </a:p>
                  </a:txBody>
                  <a:tcPr marL="45720" marR="45720" anchor="ctr">
                    <a:solidFill>
                      <a:srgbClr val="CBE6E1"/>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8C1A8A-235C-173B-7BD7-081EA4CC3B84}"/>
              </a:ext>
            </a:extLst>
          </p:cNvPr>
          <p:cNvGraphicFramePr/>
          <p:nvPr>
            <p:extLst>
              <p:ext uri="{D42A27DB-BD31-4B8C-83A1-F6EECF244321}">
                <p14:modId xmlns:p14="http://schemas.microsoft.com/office/powerpoint/2010/main" val="1816413379"/>
              </p:ext>
            </p:extLst>
          </p:nvPr>
        </p:nvGraphicFramePr>
        <p:xfrm>
          <a:off x="287050" y="7478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4" name="TextBox 3"/>
          <p:cNvSpPr txBox="1"/>
          <p:nvPr/>
        </p:nvSpPr>
        <p:spPr>
          <a:xfrm>
            <a:off x="4006233" y="4440457"/>
            <a:ext cx="5324400" cy="123111"/>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Corte de </a:t>
            </a:r>
            <a:r>
              <a:rPr dirty="0" err="1">
                <a:solidFill>
                  <a:schemeClr val="tx1"/>
                </a:solidFill>
              </a:rPr>
              <a:t>información</a:t>
            </a:r>
            <a:r>
              <a:rPr dirty="0">
                <a:solidFill>
                  <a:schemeClr val="tx1"/>
                </a:solidFill>
              </a:rPr>
              <a:t>: </a:t>
            </a:r>
            <a:r>
              <a:rPr dirty="0" err="1">
                <a:solidFill>
                  <a:schemeClr val="tx1"/>
                </a:solidFill>
              </a:rPr>
              <a:t>semana</a:t>
            </a:r>
            <a:r>
              <a:rPr dirty="0">
                <a:solidFill>
                  <a:schemeClr val="tx1"/>
                </a:solidFill>
              </a:rPr>
              <a:t> 24, 7 </a:t>
            </a:r>
            <a:r>
              <a:rPr dirty="0" err="1">
                <a:solidFill>
                  <a:schemeClr val="tx1"/>
                </a:solidFill>
              </a:rPr>
              <a:t>junio</a:t>
            </a:r>
            <a:r>
              <a:rPr dirty="0">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200696805"/>
              </p:ext>
            </p:extLst>
          </p:nvPr>
        </p:nvGraphicFramePr>
        <p:xfrm>
          <a:off x="70500" y="1518200"/>
          <a:ext cx="3639599" cy="35814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rPr dirty="0"/>
                        <a:t>1,710</a:t>
                      </a:r>
                    </a:p>
                  </a:txBody>
                  <a:tcPr anchor="ctr">
                    <a:solidFill>
                      <a:srgbClr val="FFFFFF"/>
                    </a:solidFill>
                  </a:tcPr>
                </a:tc>
                <a:tc>
                  <a:txBody>
                    <a:bodyPr/>
                    <a:lstStyle/>
                    <a:p>
                      <a:pPr algn="ctr">
                        <a:defRPr sz="1000">
                          <a:latin typeface="Montserrat"/>
                        </a:defRPr>
                      </a:pPr>
                      <a:r>
                        <a:t>29.0%</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1,665</a:t>
                      </a:r>
                    </a:p>
                  </a:txBody>
                  <a:tcPr anchor="ctr">
                    <a:solidFill>
                      <a:srgbClr val="D9D9D9"/>
                    </a:solidFill>
                  </a:tcPr>
                </a:tc>
                <a:tc>
                  <a:txBody>
                    <a:bodyPr/>
                    <a:lstStyle/>
                    <a:p>
                      <a:pPr algn="ctr">
                        <a:defRPr sz="1000">
                          <a:latin typeface="Montserrat"/>
                        </a:defRPr>
                      </a:pPr>
                      <a:r>
                        <a:t>57.2%</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rPr dirty="0"/>
                        <a:t>1,028</a:t>
                      </a:r>
                    </a:p>
                  </a:txBody>
                  <a:tcPr anchor="ctr">
                    <a:solidFill>
                      <a:srgbClr val="FFFFFF"/>
                    </a:solidFill>
                  </a:tcPr>
                </a:tc>
                <a:tc>
                  <a:txBody>
                    <a:bodyPr/>
                    <a:lstStyle/>
                    <a:p>
                      <a:pPr algn="ctr">
                        <a:defRPr sz="1000">
                          <a:latin typeface="Montserrat"/>
                        </a:defRPr>
                      </a:pPr>
                      <a:r>
                        <a:t>74.6%</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rPr dirty="0"/>
                        <a:t>478</a:t>
                      </a:r>
                    </a:p>
                  </a:txBody>
                  <a:tcPr anchor="ctr">
                    <a:solidFill>
                      <a:srgbClr val="D9D9D9"/>
                    </a:solidFill>
                  </a:tcPr>
                </a:tc>
                <a:tc>
                  <a:txBody>
                    <a:bodyPr/>
                    <a:lstStyle/>
                    <a:p>
                      <a:pPr algn="ctr">
                        <a:defRPr sz="1000">
                          <a:latin typeface="Montserrat"/>
                        </a:defRPr>
                      </a:pPr>
                      <a:r>
                        <a:t>82.7%</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231</a:t>
                      </a:r>
                    </a:p>
                  </a:txBody>
                  <a:tcPr anchor="ctr">
                    <a:solidFill>
                      <a:srgbClr val="FFFFFF"/>
                    </a:solidFill>
                  </a:tcPr>
                </a:tc>
                <a:tc>
                  <a:txBody>
                    <a:bodyPr/>
                    <a:lstStyle/>
                    <a:p>
                      <a:pPr algn="ctr">
                        <a:defRPr sz="1000">
                          <a:latin typeface="Montserrat"/>
                        </a:defRPr>
                      </a:pPr>
                      <a:r>
                        <a:t>86.7%</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Cirugía oncológica</a:t>
                      </a:r>
                    </a:p>
                  </a:txBody>
                  <a:tcPr anchor="ctr">
                    <a:solidFill>
                      <a:srgbClr val="D9D9D9"/>
                    </a:solidFill>
                  </a:tcPr>
                </a:tc>
                <a:tc>
                  <a:txBody>
                    <a:bodyPr/>
                    <a:lstStyle/>
                    <a:p>
                      <a:pPr algn="ctr">
                        <a:defRPr sz="1000">
                          <a:latin typeface="Montserrat"/>
                        </a:defRPr>
                      </a:pPr>
                      <a:r>
                        <a:t>218</a:t>
                      </a:r>
                    </a:p>
                  </a:txBody>
                  <a:tcPr anchor="ctr">
                    <a:solidFill>
                      <a:srgbClr val="D9D9D9"/>
                    </a:solidFill>
                  </a:tcPr>
                </a:tc>
                <a:tc>
                  <a:txBody>
                    <a:bodyPr/>
                    <a:lstStyle/>
                    <a:p>
                      <a:pPr algn="ctr">
                        <a:defRPr sz="1000">
                          <a:latin typeface="Montserrat"/>
                        </a:defRPr>
                      </a:pPr>
                      <a:r>
                        <a:t>90.4%</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rPr dirty="0"/>
                        <a:t>195</a:t>
                      </a:r>
                    </a:p>
                  </a:txBody>
                  <a:tcPr anchor="ctr">
                    <a:solidFill>
                      <a:srgbClr val="FFFFFF"/>
                    </a:solidFill>
                  </a:tcPr>
                </a:tc>
                <a:tc>
                  <a:txBody>
                    <a:bodyPr/>
                    <a:lstStyle/>
                    <a:p>
                      <a:pPr algn="ctr">
                        <a:defRPr sz="1000">
                          <a:latin typeface="Montserrat"/>
                        </a:defRPr>
                      </a:pPr>
                      <a:r>
                        <a:t>93.7%</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Proctología</a:t>
                      </a:r>
                    </a:p>
                  </a:txBody>
                  <a:tcPr anchor="ctr">
                    <a:solidFill>
                      <a:srgbClr val="D9D9D9"/>
                    </a:solidFill>
                  </a:tcPr>
                </a:tc>
                <a:tc>
                  <a:txBody>
                    <a:bodyPr/>
                    <a:lstStyle/>
                    <a:p>
                      <a:pPr algn="ctr">
                        <a:defRPr sz="1000">
                          <a:latin typeface="Montserrat"/>
                        </a:defRPr>
                      </a:pPr>
                      <a:r>
                        <a:rPr dirty="0"/>
                        <a:t>126</a:t>
                      </a:r>
                    </a:p>
                  </a:txBody>
                  <a:tcPr anchor="ctr">
                    <a:solidFill>
                      <a:srgbClr val="D9D9D9"/>
                    </a:solidFill>
                  </a:tcPr>
                </a:tc>
                <a:tc>
                  <a:txBody>
                    <a:bodyPr/>
                    <a:lstStyle/>
                    <a:p>
                      <a:pPr algn="ctr">
                        <a:defRPr sz="1000">
                          <a:latin typeface="Montserrat"/>
                        </a:defRPr>
                      </a:pPr>
                      <a:r>
                        <a:t>95.8%</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rPr dirty="0"/>
                        <a:t>125</a:t>
                      </a:r>
                    </a:p>
                  </a:txBody>
                  <a:tcPr anchor="ctr">
                    <a:solidFill>
                      <a:srgbClr val="FFFFFF"/>
                    </a:solidFill>
                  </a:tcPr>
                </a:tc>
                <a:tc>
                  <a:txBody>
                    <a:bodyPr/>
                    <a:lstStyle/>
                    <a:p>
                      <a:pPr algn="ctr">
                        <a:defRPr sz="1000">
                          <a:latin typeface="Montserrat"/>
                        </a:defRPr>
                      </a:pPr>
                      <a:r>
                        <a:t>97.9%</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rPr dirty="0"/>
                        <a:t>123</a:t>
                      </a:r>
                    </a:p>
                  </a:txBody>
                  <a:tcPr anchor="ctr">
                    <a:solidFill>
                      <a:srgbClr val="D9D9D9"/>
                    </a:solidFill>
                  </a:tcPr>
                </a:tc>
                <a:tc>
                  <a:txBody>
                    <a:bodyPr/>
                    <a:lstStyle/>
                    <a:p>
                      <a:pPr algn="ctr">
                        <a:defRPr sz="1000">
                          <a:latin typeface="Montserrat"/>
                        </a:defRPr>
                      </a:pPr>
                      <a:r>
                        <a:t>100.0%</a:t>
                      </a:r>
                    </a:p>
                  </a:txBody>
                  <a:tcPr anchor="ctr">
                    <a:solidFill>
                      <a:srgbClr val="D9D9D9"/>
                    </a:solidFill>
                  </a:tcPr>
                </a:tc>
                <a:extLst>
                  <a:ext uri="{0D108BD9-81ED-4DB2-BD59-A6C34878D82A}">
                    <a16:rowId xmlns:a16="http://schemas.microsoft.com/office/drawing/2014/main" val="10010"/>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5,899</a:t>
                      </a:r>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770109993"/>
              </p:ext>
            </p:extLst>
          </p:nvPr>
        </p:nvGraphicFramePr>
        <p:xfrm>
          <a:off x="4030500" y="1892600"/>
          <a:ext cx="3639599" cy="236220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rPr dirty="0"/>
                        <a:t>1,235</a:t>
                      </a:r>
                    </a:p>
                  </a:txBody>
                  <a:tcPr anchor="ctr">
                    <a:solidFill>
                      <a:srgbClr val="FFFFFF"/>
                    </a:solidFill>
                  </a:tcPr>
                </a:tc>
                <a:tc>
                  <a:txBody>
                    <a:bodyPr/>
                    <a:lstStyle/>
                    <a:p>
                      <a:pPr algn="ctr">
                        <a:defRPr sz="1000">
                          <a:latin typeface="Montserrat"/>
                        </a:defRPr>
                      </a:pPr>
                      <a:r>
                        <a:t>53.2%</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342</a:t>
                      </a:r>
                    </a:p>
                  </a:txBody>
                  <a:tcPr anchor="ctr">
                    <a:solidFill>
                      <a:srgbClr val="D9D9D9"/>
                    </a:solidFill>
                  </a:tcPr>
                </a:tc>
                <a:tc>
                  <a:txBody>
                    <a:bodyPr/>
                    <a:lstStyle/>
                    <a:p>
                      <a:pPr algn="ctr">
                        <a:defRPr sz="1000">
                          <a:latin typeface="Montserrat"/>
                        </a:defRPr>
                      </a:pPr>
                      <a:r>
                        <a:t>67.9%</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rPr dirty="0"/>
                        <a:t>283</a:t>
                      </a:r>
                    </a:p>
                  </a:txBody>
                  <a:tcPr anchor="ctr">
                    <a:solidFill>
                      <a:srgbClr val="FFFFFF"/>
                    </a:solidFill>
                  </a:tcPr>
                </a:tc>
                <a:tc>
                  <a:txBody>
                    <a:bodyPr/>
                    <a:lstStyle/>
                    <a:p>
                      <a:pPr algn="ctr">
                        <a:defRPr sz="1000">
                          <a:latin typeface="Montserrat"/>
                        </a:defRPr>
                      </a:pPr>
                      <a:r>
                        <a:t>80.1%</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rPr dirty="0"/>
                        <a:t>261</a:t>
                      </a:r>
                    </a:p>
                  </a:txBody>
                  <a:tcPr anchor="ctr">
                    <a:solidFill>
                      <a:srgbClr val="D9D9D9"/>
                    </a:solidFill>
                  </a:tcPr>
                </a:tc>
                <a:tc>
                  <a:txBody>
                    <a:bodyPr/>
                    <a:lstStyle/>
                    <a:p>
                      <a:pPr algn="ctr">
                        <a:defRPr sz="1000">
                          <a:latin typeface="Montserrat"/>
                        </a:defRPr>
                      </a:pPr>
                      <a:r>
                        <a:t>91.3%</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rPr dirty="0"/>
                        <a:t>78</a:t>
                      </a:r>
                    </a:p>
                  </a:txBody>
                  <a:tcPr anchor="ctr">
                    <a:solidFill>
                      <a:srgbClr val="FFFFFF"/>
                    </a:solidFill>
                  </a:tcPr>
                </a:tc>
                <a:tc>
                  <a:txBody>
                    <a:bodyPr/>
                    <a:lstStyle/>
                    <a:p>
                      <a:pPr algn="ctr">
                        <a:defRPr sz="1000">
                          <a:latin typeface="Montserrat"/>
                        </a:defRPr>
                      </a:pPr>
                      <a:r>
                        <a:t>94.7%</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rPr dirty="0"/>
                        <a:t>68</a:t>
                      </a:r>
                    </a:p>
                  </a:txBody>
                  <a:tcPr anchor="ctr">
                    <a:solidFill>
                      <a:srgbClr val="D9D9D9"/>
                    </a:solidFill>
                  </a:tcPr>
                </a:tc>
                <a:tc>
                  <a:txBody>
                    <a:bodyPr/>
                    <a:lstStyle/>
                    <a:p>
                      <a:pPr algn="ctr">
                        <a:defRPr sz="1000">
                          <a:latin typeface="Montserrat"/>
                        </a:defRPr>
                      </a:pPr>
                      <a:r>
                        <a:t>97.6%</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rPr dirty="0"/>
                        <a:t>56</a:t>
                      </a:r>
                    </a:p>
                  </a:txBody>
                  <a:tcPr anchor="ctr">
                    <a:solidFill>
                      <a:srgbClr val="FFFFFF"/>
                    </a:solidFill>
                  </a:tcPr>
                </a:tc>
                <a:tc>
                  <a:txBody>
                    <a:bodyPr/>
                    <a:lstStyle/>
                    <a:p>
                      <a:pPr algn="ctr">
                        <a:defRPr sz="1000">
                          <a:latin typeface="Montserrat"/>
                        </a:defRPr>
                      </a:pPr>
                      <a:r>
                        <a:t>100.0%</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2,323</a:t>
                      </a:r>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7" name="TextBox 231">
            <a:extLst>
              <a:ext uri="{FF2B5EF4-FFF2-40B4-BE49-F238E27FC236}">
                <a16:creationId xmlns:a16="http://schemas.microsoft.com/office/drawing/2014/main" id="{76C4532B-D1DF-02D6-213D-3ADE2CC2E898}"/>
              </a:ext>
            </a:extLst>
          </p:cNvPr>
          <p:cNvSpPr txBox="1"/>
          <p:nvPr/>
        </p:nvSpPr>
        <p:spPr>
          <a:xfrm>
            <a:off x="642541" y="6365553"/>
            <a:ext cx="5324400" cy="123111"/>
          </a:xfrm>
          <a:prstGeom prst="rect">
            <a:avLst/>
          </a:prstGeom>
          <a:noFill/>
        </p:spPr>
        <p:txBody>
          <a:bodyPr wrap="square" lIns="0" tIns="0" rIns="0" bIns="0">
            <a:spAutoFit/>
          </a:bodyPr>
          <a:lstStyle/>
          <a:p>
            <a:pPr algn="l">
              <a:defRPr sz="800">
                <a:solidFill>
                  <a:srgbClr val="000000"/>
                </a:solidFill>
                <a:latin typeface="Montserrat"/>
              </a:defRPr>
            </a:pPr>
            <a:r>
              <a:t>Corte de </a:t>
            </a:r>
            <a:r>
              <a:rPr err="1"/>
              <a:t>información</a:t>
            </a:r>
            <a:r>
              <a:t>: </a:t>
            </a:r>
            <a:r>
              <a:rPr lang="es-MX"/>
              <a:t>18</a:t>
            </a:r>
            <a:r>
              <a:t> </a:t>
            </a:r>
            <a:r>
              <a:rPr lang="es-MX"/>
              <a:t>junio</a:t>
            </a:r>
            <a:r>
              <a:t> 2026</a:t>
            </a:r>
          </a:p>
        </p:txBody>
      </p:sp>
      <p:graphicFrame>
        <p:nvGraphicFramePr>
          <p:cNvPr id="8" name="Google Shape;230;g370e87ffe7a_2_137">
            <a:extLst>
              <a:ext uri="{FF2B5EF4-FFF2-40B4-BE49-F238E27FC236}">
                <a16:creationId xmlns:a16="http://schemas.microsoft.com/office/drawing/2014/main" id="{7F1E1F8B-E3ED-D78A-6C68-F1A78435CC7F}"/>
              </a:ext>
            </a:extLst>
          </p:cNvPr>
          <p:cNvGraphicFramePr/>
          <p:nvPr>
            <p:extLst>
              <p:ext uri="{D42A27DB-BD31-4B8C-83A1-F6EECF244321}">
                <p14:modId xmlns:p14="http://schemas.microsoft.com/office/powerpoint/2010/main" val="608175191"/>
              </p:ext>
            </p:extLst>
          </p:nvPr>
        </p:nvGraphicFramePr>
        <p:xfrm>
          <a:off x="263558" y="5175644"/>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Vive saludable, Vive feliz</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 name="Table 232">
            <a:extLst>
              <a:ext uri="{FF2B5EF4-FFF2-40B4-BE49-F238E27FC236}">
                <a16:creationId xmlns:a16="http://schemas.microsoft.com/office/drawing/2014/main" id="{6B2C0ECC-7D41-BB88-9838-CCBE7A3ADBB4}"/>
              </a:ext>
            </a:extLst>
          </p:cNvPr>
          <p:cNvGraphicFramePr>
            <a:graphicFrameLocks noGrp="1"/>
          </p:cNvGraphicFramePr>
          <p:nvPr>
            <p:extLst>
              <p:ext uri="{D42A27DB-BD31-4B8C-83A1-F6EECF244321}">
                <p14:modId xmlns:p14="http://schemas.microsoft.com/office/powerpoint/2010/main" val="1805800863"/>
              </p:ext>
            </p:extLst>
          </p:nvPr>
        </p:nvGraphicFramePr>
        <p:xfrm>
          <a:off x="659906" y="5670178"/>
          <a:ext cx="6352206"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gridCol w="1323169">
                  <a:extLst>
                    <a:ext uri="{9D8B030D-6E8A-4147-A177-3AD203B41FA5}">
                      <a16:colId xmlns:a16="http://schemas.microsoft.com/office/drawing/2014/main" val="20002"/>
                    </a:ext>
                  </a:extLst>
                </a:gridCol>
                <a:gridCol w="1323169">
                  <a:extLst>
                    <a:ext uri="{9D8B030D-6E8A-4147-A177-3AD203B41FA5}">
                      <a16:colId xmlns:a16="http://schemas.microsoft.com/office/drawing/2014/main" val="1781743087"/>
                    </a:ext>
                  </a:extLst>
                </a:gridCol>
              </a:tblGrid>
              <a:tr h="216000">
                <a:tc>
                  <a:txBody>
                    <a:bodyPr/>
                    <a:lstStyle/>
                    <a:p>
                      <a:pPr algn="ctr">
                        <a:defRPr sz="1100" b="1">
                          <a:solidFill>
                            <a:srgbClr val="FFFFFF"/>
                          </a:solidFill>
                          <a:latin typeface="Montserrat"/>
                        </a:defRPr>
                      </a:pPr>
                      <a:r>
                        <a:rPr lang="es-MX"/>
                        <a:t>Total de Escuelas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Escuelas visitadas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Población </a:t>
                      </a:r>
                      <a:endParaRPr/>
                    </a:p>
                  </a:txBody>
                  <a:tcPr marL="14400" marR="14400" anchor="ctr">
                    <a:solidFill>
                      <a:srgbClr val="006455"/>
                    </a:solidFill>
                  </a:tcPr>
                </a:tc>
                <a:tc>
                  <a:txBody>
                    <a:bodyPr/>
                    <a:lstStyle/>
                    <a:p>
                      <a:pPr algn="ctr">
                        <a:defRPr sz="1100" b="1">
                          <a:solidFill>
                            <a:srgbClr val="FFFFFF"/>
                          </a:solidFill>
                          <a:latin typeface="Montserrat"/>
                        </a:defRPr>
                      </a:pPr>
                      <a:r>
                        <a:rPr lang="es-MX"/>
                        <a:t>Menores tamizados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409</a:t>
                      </a:r>
                    </a:p>
                  </a:txBody>
                  <a:tcPr anchor="ctr">
                    <a:solidFill>
                      <a:srgbClr val="D3E9E7"/>
                    </a:solidFill>
                  </a:tcPr>
                </a:tc>
                <a:tc>
                  <a:txBody>
                    <a:bodyPr/>
                    <a:lstStyle/>
                    <a:p>
                      <a:pPr algn="ctr">
                        <a:defRPr sz="1000" b="1">
                          <a:solidFill>
                            <a:srgbClr val="006455"/>
                          </a:solidFill>
                          <a:latin typeface="Montserrat"/>
                        </a:defRPr>
                      </a:pPr>
                      <a:r>
                        <a:rPr lang="es-MX"/>
                        <a:t>319</a:t>
                      </a:r>
                    </a:p>
                  </a:txBody>
                  <a:tcPr anchor="ctr">
                    <a:solidFill>
                      <a:srgbClr val="D3E9E7"/>
                    </a:solidFill>
                  </a:tcPr>
                </a:tc>
                <a:tc>
                  <a:txBody>
                    <a:bodyPr/>
                    <a:lstStyle/>
                    <a:p>
                      <a:pPr algn="ctr">
                        <a:defRPr sz="1000" b="1">
                          <a:solidFill>
                            <a:srgbClr val="006455"/>
                          </a:solidFill>
                          <a:latin typeface="Montserrat"/>
                        </a:defRPr>
                      </a:pPr>
                      <a:r>
                        <a:rPr lang="es-MX"/>
                        <a:t>84,068</a:t>
                      </a:r>
                    </a:p>
                  </a:txBody>
                  <a:tcPr anchor="ctr">
                    <a:solidFill>
                      <a:srgbClr val="D3E9E7"/>
                    </a:solidFill>
                  </a:tcPr>
                </a:tc>
                <a:tc>
                  <a:txBody>
                    <a:bodyPr/>
                    <a:lstStyle/>
                    <a:p>
                      <a:pPr algn="ctr">
                        <a:defRPr sz="1000" b="1">
                          <a:solidFill>
                            <a:srgbClr val="006455"/>
                          </a:solidFill>
                          <a:latin typeface="Montserrat"/>
                        </a:defRPr>
                      </a:pPr>
                      <a:r>
                        <a:rPr lang="es-MX"/>
                        <a:t>53,036</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10" name="Table 232">
            <a:extLst>
              <a:ext uri="{FF2B5EF4-FFF2-40B4-BE49-F238E27FC236}">
                <a16:creationId xmlns:a16="http://schemas.microsoft.com/office/drawing/2014/main" id="{AFBAE38A-6346-03C4-07A3-2F0A0EC616FB}"/>
              </a:ext>
            </a:extLst>
          </p:cNvPr>
          <p:cNvGraphicFramePr>
            <a:graphicFrameLocks noGrp="1"/>
          </p:cNvGraphicFramePr>
          <p:nvPr>
            <p:extLst>
              <p:ext uri="{D42A27DB-BD31-4B8C-83A1-F6EECF244321}">
                <p14:modId xmlns:p14="http://schemas.microsoft.com/office/powerpoint/2010/main" val="3456448823"/>
              </p:ext>
            </p:extLst>
          </p:nvPr>
        </p:nvGraphicFramePr>
        <p:xfrm>
          <a:off x="1735038" y="6675481"/>
          <a:ext cx="3705868"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tblGrid>
              <a:tr h="216000">
                <a:tc>
                  <a:txBody>
                    <a:bodyPr/>
                    <a:lstStyle/>
                    <a:p>
                      <a:pPr algn="ctr">
                        <a:defRPr sz="1100" b="1">
                          <a:solidFill>
                            <a:srgbClr val="FFFFFF"/>
                          </a:solidFill>
                          <a:latin typeface="Montserrat"/>
                        </a:defRPr>
                      </a:pPr>
                      <a:r>
                        <a:rPr lang="es-MX"/>
                        <a:t>Brigadas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Personal de enfermería IMSS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5</a:t>
                      </a:r>
                    </a:p>
                  </a:txBody>
                  <a:tcPr anchor="ctr">
                    <a:solidFill>
                      <a:srgbClr val="D3E9E7"/>
                    </a:solidFill>
                  </a:tcPr>
                </a:tc>
                <a:tc>
                  <a:txBody>
                    <a:bodyPr/>
                    <a:lstStyle/>
                    <a:p>
                      <a:pPr algn="ctr">
                        <a:defRPr sz="1000" b="1">
                          <a:solidFill>
                            <a:srgbClr val="006455"/>
                          </a:solidFill>
                          <a:latin typeface="Montserrat"/>
                        </a:defRPr>
                      </a:pPr>
                      <a:r>
                        <a:rPr lang="es-MX"/>
                        <a:t>25</a:t>
                      </a:r>
                    </a:p>
                  </a:txBody>
                  <a:tcPr anchor="ctr">
                    <a:solidFill>
                      <a:srgbClr val="D3E9E7"/>
                    </a:solidFill>
                  </a:tcPr>
                </a:tc>
                <a:extLst>
                  <a:ext uri="{0D108BD9-81ED-4DB2-BD59-A6C34878D82A}">
                    <a16:rowId xmlns:a16="http://schemas.microsoft.com/office/drawing/2014/main" val="10011"/>
                  </a:ext>
                </a:extLst>
              </a:tr>
            </a:tbl>
          </a:graphicData>
        </a:graphic>
      </p:graphicFrame>
      <p:sp>
        <p:nvSpPr>
          <p:cNvPr id="11" name="TextBox 231">
            <a:extLst>
              <a:ext uri="{FF2B5EF4-FFF2-40B4-BE49-F238E27FC236}">
                <a16:creationId xmlns:a16="http://schemas.microsoft.com/office/drawing/2014/main" id="{0BAB9644-6048-B699-5A49-51733ED9C44F}"/>
              </a:ext>
            </a:extLst>
          </p:cNvPr>
          <p:cNvSpPr txBox="1"/>
          <p:nvPr/>
        </p:nvSpPr>
        <p:spPr>
          <a:xfrm>
            <a:off x="1735038" y="7377368"/>
            <a:ext cx="5324400" cy="123111"/>
          </a:xfrm>
          <a:prstGeom prst="rect">
            <a:avLst/>
          </a:prstGeom>
          <a:noFill/>
        </p:spPr>
        <p:txBody>
          <a:bodyPr wrap="square" lIns="0" tIns="0" rIns="0" bIns="0">
            <a:spAutoFit/>
          </a:bodyPr>
          <a:lstStyle/>
          <a:p>
            <a:pPr algn="l">
              <a:defRPr sz="800">
                <a:solidFill>
                  <a:srgbClr val="000000"/>
                </a:solidFill>
                <a:latin typeface="Montserrat"/>
              </a:defRPr>
            </a:pPr>
            <a:r>
              <a:rPr lang="es-MX" dirty="0"/>
              <a:t>En cada brigada participan 5 personas del IMSS.</a:t>
            </a:r>
            <a:endParaRPr dirty="0"/>
          </a:p>
        </p:txBody>
      </p:sp>
      <p:sp>
        <p:nvSpPr>
          <p:cNvPr id="12" name="CuadroTexto 11">
            <a:extLst>
              <a:ext uri="{FF2B5EF4-FFF2-40B4-BE49-F238E27FC236}">
                <a16:creationId xmlns:a16="http://schemas.microsoft.com/office/drawing/2014/main" id="{48A98D81-2FB4-0CA2-11B8-5F7D8E4BF681}"/>
              </a:ext>
            </a:extLst>
          </p:cNvPr>
          <p:cNvSpPr txBox="1"/>
          <p:nvPr/>
        </p:nvSpPr>
        <p:spPr>
          <a:xfrm>
            <a:off x="578428" y="8299199"/>
            <a:ext cx="184126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4,063</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i="0" u="none" strike="noStrike" err="1">
                <a:solidFill>
                  <a:srgbClr val="434343"/>
                </a:solidFill>
                <a:latin typeface="Montserrat"/>
                <a:ea typeface="Montserrat"/>
                <a:cs typeface="Montserrat"/>
              </a:rPr>
              <a:t>nutricionales</a:t>
            </a:r>
            <a:endParaRPr lang="en-US" sz="1200" b="1" i="0" u="none" strike="noStrike">
              <a:solidFill>
                <a:srgbClr val="434343"/>
              </a:solidFill>
              <a:latin typeface="Montserrat"/>
              <a:ea typeface="Montserrat"/>
              <a:cs typeface="Montserrat"/>
            </a:endParaRPr>
          </a:p>
        </p:txBody>
      </p:sp>
      <p:sp>
        <p:nvSpPr>
          <p:cNvPr id="13" name="CuadroTexto 12">
            <a:extLst>
              <a:ext uri="{FF2B5EF4-FFF2-40B4-BE49-F238E27FC236}">
                <a16:creationId xmlns:a16="http://schemas.microsoft.com/office/drawing/2014/main" id="{9EC39BF6-6B94-6BAC-E5AF-A7A3A18C77F8}"/>
              </a:ext>
            </a:extLst>
          </p:cNvPr>
          <p:cNvSpPr txBox="1"/>
          <p:nvPr/>
        </p:nvSpPr>
        <p:spPr>
          <a:xfrm>
            <a:off x="2973431" y="8299199"/>
            <a:ext cx="183295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3,344</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sp>
        <p:nvSpPr>
          <p:cNvPr id="14" name="CuadroTexto 13">
            <a:extLst>
              <a:ext uri="{FF2B5EF4-FFF2-40B4-BE49-F238E27FC236}">
                <a16:creationId xmlns:a16="http://schemas.microsoft.com/office/drawing/2014/main" id="{7A36C962-610F-F023-D470-9974DAA6BEDA}"/>
              </a:ext>
            </a:extLst>
          </p:cNvPr>
          <p:cNvSpPr txBox="1"/>
          <p:nvPr/>
        </p:nvSpPr>
        <p:spPr>
          <a:xfrm>
            <a:off x="5218315" y="8299199"/>
            <a:ext cx="184126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1,499</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15" name="Imagen 14" descr="Icono&#10;&#10;El contenido generado por IA puede ser incorrecto.">
            <a:extLst>
              <a:ext uri="{FF2B5EF4-FFF2-40B4-BE49-F238E27FC236}">
                <a16:creationId xmlns:a16="http://schemas.microsoft.com/office/drawing/2014/main" id="{7BF1126F-532C-AFEB-9081-1612E924339C}"/>
              </a:ext>
            </a:extLst>
          </p:cNvPr>
          <p:cNvPicPr>
            <a:picLocks noChangeAspect="1"/>
          </p:cNvPicPr>
          <p:nvPr/>
        </p:nvPicPr>
        <p:blipFill>
          <a:blip r:embed="rId4"/>
          <a:stretch>
            <a:fillRect/>
          </a:stretch>
        </p:blipFill>
        <p:spPr>
          <a:xfrm>
            <a:off x="3512372" y="7686136"/>
            <a:ext cx="730135" cy="669175"/>
          </a:xfrm>
          <a:prstGeom prst="rect">
            <a:avLst/>
          </a:prstGeom>
        </p:spPr>
      </p:pic>
      <p:pic>
        <p:nvPicPr>
          <p:cNvPr id="16" name="Imagen 15" descr="Icono&#10;&#10;El contenido generado por IA puede ser incorrecto.">
            <a:extLst>
              <a:ext uri="{FF2B5EF4-FFF2-40B4-BE49-F238E27FC236}">
                <a16:creationId xmlns:a16="http://schemas.microsoft.com/office/drawing/2014/main" id="{8994A361-CFFC-F244-CB21-0EC4BFA313F0}"/>
              </a:ext>
            </a:extLst>
          </p:cNvPr>
          <p:cNvPicPr>
            <a:picLocks noChangeAspect="1"/>
          </p:cNvPicPr>
          <p:nvPr/>
        </p:nvPicPr>
        <p:blipFill>
          <a:blip r:embed="rId5"/>
          <a:stretch>
            <a:fillRect/>
          </a:stretch>
        </p:blipFill>
        <p:spPr>
          <a:xfrm>
            <a:off x="5655945" y="7833167"/>
            <a:ext cx="924445" cy="491944"/>
          </a:xfrm>
          <a:prstGeom prst="rect">
            <a:avLst/>
          </a:prstGeom>
        </p:spPr>
      </p:pic>
      <p:pic>
        <p:nvPicPr>
          <p:cNvPr id="17" name="Imagen 16" descr="Icono&#10;&#10;El contenido generado por IA puede ser incorrecto.">
            <a:extLst>
              <a:ext uri="{FF2B5EF4-FFF2-40B4-BE49-F238E27FC236}">
                <a16:creationId xmlns:a16="http://schemas.microsoft.com/office/drawing/2014/main" id="{B427DB51-4EF1-D152-9316-6183D6E690F0}"/>
              </a:ext>
            </a:extLst>
          </p:cNvPr>
          <p:cNvPicPr>
            <a:picLocks noChangeAspect="1"/>
          </p:cNvPicPr>
          <p:nvPr/>
        </p:nvPicPr>
        <p:blipFill>
          <a:blip r:embed="rId6"/>
          <a:stretch>
            <a:fillRect/>
          </a:stretch>
        </p:blipFill>
        <p:spPr>
          <a:xfrm>
            <a:off x="1197379" y="7668125"/>
            <a:ext cx="603366" cy="713510"/>
          </a:xfrm>
          <a:prstGeom prst="rect">
            <a:avLst/>
          </a:prstGeom>
        </p:spPr>
      </p:pic>
    </p:spTree>
    <p:extLst>
      <p:ext uri="{BB962C8B-B14F-4D97-AF65-F5344CB8AC3E}">
        <p14:creationId xmlns:p14="http://schemas.microsoft.com/office/powerpoint/2010/main" val="3805655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GUERRERO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7,265	 Personal de Salud: 4,565</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+51.0%</a:t>
            </a:r>
          </a:p>
        </p:txBody>
      </p:sp>
      <p:graphicFrame>
        <p:nvGraphicFramePr>
          <p:cNvPr id="301" name="Table 300"/>
          <p:cNvGraphicFramePr>
            <a:graphicFrameLocks noGrp="1"/>
          </p:cNvGraphicFramePr>
          <p:nvPr>
            <p:extLst>
              <p:ext uri="{D42A27DB-BD31-4B8C-83A1-F6EECF244321}">
                <p14:modId xmlns:p14="http://schemas.microsoft.com/office/powerpoint/2010/main" val="988526933"/>
              </p:ext>
            </p:extLst>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rPr dirty="0"/>
                        <a:t>2026</a:t>
                      </a:r>
                    </a:p>
                  </a:txBody>
                  <a:tcPr marL="0" marR="0" marT="0" marB="0" anchor="ctr">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rPr dirty="0"/>
                        <a:t>51</a:t>
                      </a:r>
                    </a:p>
                  </a:txBody>
                  <a:tcPr marL="0" marR="0" marT="0" marB="0" anchor="ctr">
                    <a:noFill/>
                  </a:tcPr>
                </a:tc>
                <a:tc>
                  <a:txBody>
                    <a:bodyPr/>
                    <a:lstStyle/>
                    <a:p>
                      <a:pPr algn="ctr">
                        <a:defRPr sz="1500" b="1">
                          <a:solidFill>
                            <a:srgbClr val="B4975A"/>
                          </a:solidFill>
                          <a:latin typeface="Montserrat"/>
                        </a:defRPr>
                      </a:pPr>
                      <a:r>
                        <a:rPr dirty="0"/>
                        <a:t>77</a:t>
                      </a:r>
                    </a:p>
                  </a:txBody>
                  <a:tcPr marL="0" marR="0" marT="0" marB="0" anchor="ctr">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+29.5%</a:t>
            </a:r>
          </a:p>
        </p:txBody>
      </p:sp>
      <p:graphicFrame>
        <p:nvGraphicFramePr>
          <p:cNvPr id="304" name="Table 303"/>
          <p:cNvGraphicFramePr>
            <a:graphicFrameLocks noGrp="1"/>
          </p:cNvGraphicFramePr>
          <p:nvPr>
            <p:extLst>
              <p:ext uri="{D42A27DB-BD31-4B8C-83A1-F6EECF244321}">
                <p14:modId xmlns:p14="http://schemas.microsoft.com/office/powerpoint/2010/main" val="563629137"/>
              </p:ext>
            </p:extLst>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rPr dirty="0"/>
                        <a:t>2026</a:t>
                      </a:r>
                    </a:p>
                  </a:txBody>
                  <a:tcPr marL="0" marR="0" marT="0" marB="0" anchor="ctr">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826</a:t>
                      </a:r>
                    </a:p>
                  </a:txBody>
                  <a:tcPr marL="0" marR="0" marT="0" marB="0" anchor="ctr">
                    <a:noFill/>
                  </a:tcPr>
                </a:tc>
                <a:tc>
                  <a:txBody>
                    <a:bodyPr/>
                    <a:lstStyle/>
                    <a:p>
                      <a:pPr algn="ctr">
                        <a:defRPr sz="1500" b="1">
                          <a:solidFill>
                            <a:srgbClr val="B4975A"/>
                          </a:solidFill>
                          <a:latin typeface="Montserrat"/>
                        </a:defRPr>
                      </a:pPr>
                      <a:r>
                        <a:rPr dirty="0"/>
                        <a:t>1,070</a:t>
                      </a:r>
                    </a:p>
                  </a:txBody>
                  <a:tcPr marL="0" marR="0" marT="0" marB="0" anchor="ctr">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+13.3%</a:t>
            </a:r>
          </a:p>
        </p:txBody>
      </p:sp>
      <p:graphicFrame>
        <p:nvGraphicFramePr>
          <p:cNvPr id="307" name="Table 306"/>
          <p:cNvGraphicFramePr>
            <a:graphicFrameLocks noGrp="1"/>
          </p:cNvGraphicFramePr>
          <p:nvPr>
            <p:extLst>
              <p:ext uri="{D42A27DB-BD31-4B8C-83A1-F6EECF244321}">
                <p14:modId xmlns:p14="http://schemas.microsoft.com/office/powerpoint/2010/main" val="3215541988"/>
              </p:ext>
            </p:extLst>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rPr dirty="0"/>
                        <a:t>2026</a:t>
                      </a:r>
                    </a:p>
                  </a:txBody>
                  <a:tcPr marL="0" marR="0" marT="0" marB="0" anchor="ctr">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1,440</a:t>
                      </a:r>
                    </a:p>
                  </a:txBody>
                  <a:tcPr marL="0" marR="0" marT="0" marB="0" anchor="ctr">
                    <a:noFill/>
                  </a:tcPr>
                </a:tc>
                <a:tc>
                  <a:txBody>
                    <a:bodyPr/>
                    <a:lstStyle/>
                    <a:p>
                      <a:pPr algn="ctr">
                        <a:defRPr sz="1500" b="1">
                          <a:solidFill>
                            <a:srgbClr val="B4975A"/>
                          </a:solidFill>
                          <a:latin typeface="Montserrat"/>
                        </a:defRPr>
                      </a:pPr>
                      <a:r>
                        <a:rPr dirty="0"/>
                        <a:t>1,632</a:t>
                      </a:r>
                    </a:p>
                  </a:txBody>
                  <a:tcPr marL="0" marR="0" marT="0" marB="0" anchor="ctr">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+9.2%</a:t>
            </a:r>
          </a:p>
        </p:txBody>
      </p:sp>
      <p:graphicFrame>
        <p:nvGraphicFramePr>
          <p:cNvPr id="310" name="Table 309"/>
          <p:cNvGraphicFramePr>
            <a:graphicFrameLocks noGrp="1"/>
          </p:cNvGraphicFramePr>
          <p:nvPr>
            <p:extLst>
              <p:ext uri="{D42A27DB-BD31-4B8C-83A1-F6EECF244321}">
                <p14:modId xmlns:p14="http://schemas.microsoft.com/office/powerpoint/2010/main" val="1695458010"/>
              </p:ext>
            </p:extLst>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rPr dirty="0"/>
                        <a:t>2026</a:t>
                      </a:r>
                    </a:p>
                  </a:txBody>
                  <a:tcPr marL="0" marR="0" marT="0" marB="0" anchor="ctr">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1,060</a:t>
                      </a:r>
                    </a:p>
                  </a:txBody>
                  <a:tcPr marL="0" marR="0" marT="0" marB="0" anchor="ctr">
                    <a:noFill/>
                  </a:tcPr>
                </a:tc>
                <a:tc>
                  <a:txBody>
                    <a:bodyPr/>
                    <a:lstStyle/>
                    <a:p>
                      <a:pPr algn="ctr">
                        <a:defRPr sz="1500" b="1">
                          <a:solidFill>
                            <a:srgbClr val="B4975A"/>
                          </a:solidFill>
                          <a:latin typeface="Montserrat"/>
                        </a:defRPr>
                      </a:pPr>
                      <a:r>
                        <a:rPr dirty="0"/>
                        <a:t>1,157</a:t>
                      </a:r>
                    </a:p>
                  </a:txBody>
                  <a:tcPr marL="0" marR="0" marT="0" marB="0" anchor="ctr">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+201.0%</a:t>
            </a:r>
          </a:p>
        </p:txBody>
      </p:sp>
      <p:graphicFrame>
        <p:nvGraphicFramePr>
          <p:cNvPr id="313" name="Table 312"/>
          <p:cNvGraphicFramePr>
            <a:graphicFrameLocks noGrp="1"/>
          </p:cNvGraphicFramePr>
          <p:nvPr>
            <p:extLst>
              <p:ext uri="{D42A27DB-BD31-4B8C-83A1-F6EECF244321}">
                <p14:modId xmlns:p14="http://schemas.microsoft.com/office/powerpoint/2010/main" val="4272484727"/>
              </p:ext>
            </p:extLst>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rPr dirty="0"/>
                        <a:t>2026</a:t>
                      </a:r>
                    </a:p>
                  </a:txBody>
                  <a:tcPr marL="0" marR="0" marT="0" marB="0" anchor="ctr">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96</a:t>
                      </a:r>
                    </a:p>
                  </a:txBody>
                  <a:tcPr marL="0" marR="0" marT="0" marB="0" anchor="ctr">
                    <a:noFill/>
                  </a:tcPr>
                </a:tc>
                <a:tc>
                  <a:txBody>
                    <a:bodyPr/>
                    <a:lstStyle/>
                    <a:p>
                      <a:pPr algn="ctr">
                        <a:defRPr sz="1500" b="1">
                          <a:solidFill>
                            <a:srgbClr val="B4975A"/>
                          </a:solidFill>
                          <a:latin typeface="Montserrat"/>
                        </a:defRPr>
                      </a:pPr>
                      <a:r>
                        <a:rPr dirty="0"/>
                        <a:t>289</a:t>
                      </a:r>
                    </a:p>
                  </a:txBody>
                  <a:tcPr marL="0" marR="0" marT="0" marB="0" anchor="ctr">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-11.9%</a:t>
            </a:r>
          </a:p>
        </p:txBody>
      </p:sp>
      <p:graphicFrame>
        <p:nvGraphicFramePr>
          <p:cNvPr id="316" name="Table 315"/>
          <p:cNvGraphicFramePr>
            <a:graphicFrameLocks noGrp="1"/>
          </p:cNvGraphicFramePr>
          <p:nvPr>
            <p:extLst>
              <p:ext uri="{D42A27DB-BD31-4B8C-83A1-F6EECF244321}">
                <p14:modId xmlns:p14="http://schemas.microsoft.com/office/powerpoint/2010/main" val="1694135908"/>
              </p:ext>
            </p:extLst>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t>2026</a:t>
                      </a:r>
                    </a:p>
                  </a:txBody>
                  <a:tcPr marL="0" marR="0" marT="0" marB="0" anchor="ctr">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rPr dirty="0"/>
                        <a:t>386</a:t>
                      </a:r>
                    </a:p>
                  </a:txBody>
                  <a:tcPr marL="0" marR="0" marT="0" marB="0" anchor="ctr">
                    <a:noFill/>
                  </a:tcPr>
                </a:tc>
                <a:tc>
                  <a:txBody>
                    <a:bodyPr/>
                    <a:lstStyle/>
                    <a:p>
                      <a:pPr algn="ctr">
                        <a:defRPr sz="1500" b="1">
                          <a:solidFill>
                            <a:srgbClr val="B4975A"/>
                          </a:solidFill>
                          <a:latin typeface="Montserrat"/>
                        </a:defRPr>
                      </a:pPr>
                      <a:r>
                        <a:rPr dirty="0"/>
                        <a:t>340</a:t>
                      </a:r>
                    </a:p>
                  </a:txBody>
                  <a:tcPr marL="0" marR="0" marT="0" marB="0" anchor="ctr">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extLst>
              <p:ext uri="{D42A27DB-BD31-4B8C-83A1-F6EECF244321}">
                <p14:modId xmlns:p14="http://schemas.microsoft.com/office/powerpoint/2010/main" val="2836017086"/>
              </p:ext>
            </p:extLst>
          </p:nvPr>
        </p:nvGraphicFramePr>
        <p:xfrm>
          <a:off x="4507200" y="55152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rPr dirty="0"/>
                        <a:t>Top 5 </a:t>
                      </a:r>
                      <a:r>
                        <a:rPr dirty="0" err="1"/>
                        <a:t>Egresos</a:t>
                      </a:r>
                      <a:r>
                        <a:rPr dirty="0"/>
                        <a:t> 2025</a:t>
                      </a:r>
                    </a:p>
                  </a:txBody>
                  <a:tcPr marL="36576" marR="36576" marT="36576" marB="36576" anchor="ctr">
                    <a:solidFill>
                      <a:srgbClr val="006455"/>
                    </a:solidFill>
                  </a:tcPr>
                </a:tc>
                <a:tc>
                  <a:txBody>
                    <a:bodyPr/>
                    <a:lstStyle/>
                    <a:p>
                      <a:pPr algn="ctr">
                        <a:defRPr sz="900" b="1">
                          <a:solidFill>
                            <a:srgbClr val="FFFFFF"/>
                          </a:solidFill>
                          <a:latin typeface="Montserrat"/>
                        </a:defRPr>
                      </a:pPr>
                      <a:r>
                        <a:t>Cantidad</a:t>
                      </a:r>
                    </a:p>
                  </a:txBody>
                  <a:tcPr marL="36576" marR="36576" marT="36576" marB="36576" anchor="ctr">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rPr dirty="0" err="1"/>
                        <a:t>Medicina</a:t>
                      </a:r>
                      <a:r>
                        <a:rPr dirty="0"/>
                        <a:t> Familiar</a:t>
                      </a:r>
                    </a:p>
                  </a:txBody>
                  <a:tcPr marL="45720" marR="45720" anchor="ctr">
                    <a:solidFill>
                      <a:srgbClr val="FFFFFF"/>
                    </a:solidFill>
                  </a:tcPr>
                </a:tc>
                <a:tc>
                  <a:txBody>
                    <a:bodyPr/>
                    <a:lstStyle/>
                    <a:p>
                      <a:pPr algn="ctr">
                        <a:defRPr sz="800">
                          <a:latin typeface="Montserrat"/>
                        </a:defRPr>
                      </a:pPr>
                      <a:r>
                        <a:t>29</a:t>
                      </a:r>
                    </a:p>
                  </a:txBody>
                  <a:tcPr marL="45720" marR="45720" anchor="ctr">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rPr dirty="0" err="1"/>
                        <a:t>Medicina</a:t>
                      </a:r>
                      <a:r>
                        <a:rPr dirty="0"/>
                        <a:t> de </a:t>
                      </a:r>
                      <a:r>
                        <a:rPr dirty="0" err="1"/>
                        <a:t>Urgencias</a:t>
                      </a:r>
                      <a:endParaRPr dirty="0"/>
                    </a:p>
                  </a:txBody>
                  <a:tcPr marL="45720" marR="45720" anchor="ctr">
                    <a:solidFill>
                      <a:srgbClr val="EFEFEF"/>
                    </a:solidFill>
                  </a:tcPr>
                </a:tc>
                <a:tc>
                  <a:txBody>
                    <a:bodyPr/>
                    <a:lstStyle/>
                    <a:p>
                      <a:pPr algn="ctr">
                        <a:defRPr sz="800">
                          <a:latin typeface="Montserrat"/>
                        </a:defRPr>
                      </a:pPr>
                      <a:r>
                        <a:t>17</a:t>
                      </a:r>
                    </a:p>
                  </a:txBody>
                  <a:tcPr marL="45720" marR="45720" anchor="ctr">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rPr dirty="0" err="1"/>
                        <a:t>Pediatría</a:t>
                      </a:r>
                      <a:endParaRPr dirty="0"/>
                    </a:p>
                  </a:txBody>
                  <a:tcPr marL="45720" marR="45720" anchor="ctr">
                    <a:solidFill>
                      <a:srgbClr val="FFFFFF"/>
                    </a:solidFill>
                  </a:tcPr>
                </a:tc>
                <a:tc>
                  <a:txBody>
                    <a:bodyPr/>
                    <a:lstStyle/>
                    <a:p>
                      <a:pPr algn="ctr">
                        <a:defRPr sz="800">
                          <a:latin typeface="Montserrat"/>
                        </a:defRPr>
                      </a:pPr>
                      <a:r>
                        <a:t>6</a:t>
                      </a:r>
                    </a:p>
                  </a:txBody>
                  <a:tcPr marL="45720" marR="45720" anchor="ctr">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rPr dirty="0" err="1"/>
                        <a:t>Medicina</a:t>
                      </a:r>
                      <a:r>
                        <a:rPr dirty="0"/>
                        <a:t> </a:t>
                      </a:r>
                      <a:r>
                        <a:rPr dirty="0" err="1"/>
                        <a:t>Interna</a:t>
                      </a:r>
                      <a:endParaRPr dirty="0"/>
                    </a:p>
                  </a:txBody>
                  <a:tcPr marL="45720" marR="45720" anchor="ctr">
                    <a:solidFill>
                      <a:srgbClr val="EFEFEF"/>
                    </a:solidFill>
                  </a:tcPr>
                </a:tc>
                <a:tc>
                  <a:txBody>
                    <a:bodyPr/>
                    <a:lstStyle/>
                    <a:p>
                      <a:pPr algn="ctr">
                        <a:defRPr sz="800">
                          <a:latin typeface="Montserrat"/>
                        </a:defRPr>
                      </a:pPr>
                      <a:r>
                        <a:t>6</a:t>
                      </a:r>
                    </a:p>
                  </a:txBody>
                  <a:tcPr marL="45720" marR="45720" anchor="ctr">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rPr dirty="0" err="1"/>
                        <a:t>Cirugía</a:t>
                      </a:r>
                      <a:r>
                        <a:rPr dirty="0"/>
                        <a:t> General</a:t>
                      </a:r>
                    </a:p>
                  </a:txBody>
                  <a:tcPr marL="45720" marR="45720" anchor="ctr">
                    <a:solidFill>
                      <a:srgbClr val="FFFFFF"/>
                    </a:solidFill>
                  </a:tcPr>
                </a:tc>
                <a:tc>
                  <a:txBody>
                    <a:bodyPr/>
                    <a:lstStyle/>
                    <a:p>
                      <a:pPr algn="ctr">
                        <a:defRPr sz="800">
                          <a:latin typeface="Montserrat"/>
                        </a:defRPr>
                      </a:pPr>
                      <a:r>
                        <a:rPr dirty="0"/>
                        <a:t>6</a:t>
                      </a:r>
                    </a:p>
                  </a:txBody>
                  <a:tcPr marL="45720" marR="45720"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extLst>
              <p:ext uri="{D42A27DB-BD31-4B8C-83A1-F6EECF244321}">
                <p14:modId xmlns:p14="http://schemas.microsoft.com/office/powerpoint/2010/main" val="2472597960"/>
              </p:ext>
            </p:extLst>
          </p:nvPr>
        </p:nvGraphicFramePr>
        <p:xfrm>
          <a:off x="4507200" y="68508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rPr dirty="0"/>
                        <a:t>Top 5 </a:t>
                      </a:r>
                      <a:r>
                        <a:rPr dirty="0" err="1"/>
                        <a:t>Egresos</a:t>
                      </a:r>
                      <a:r>
                        <a:rPr dirty="0"/>
                        <a:t> 2026</a:t>
                      </a:r>
                    </a:p>
                  </a:txBody>
                  <a:tcPr marL="36576" marR="36576" marT="36576" marB="36576" anchor="ctr">
                    <a:solidFill>
                      <a:srgbClr val="691C32"/>
                    </a:solidFill>
                  </a:tcPr>
                </a:tc>
                <a:tc>
                  <a:txBody>
                    <a:bodyPr/>
                    <a:lstStyle/>
                    <a:p>
                      <a:pPr algn="ctr">
                        <a:defRPr sz="900" b="1">
                          <a:solidFill>
                            <a:srgbClr val="FFFFFF"/>
                          </a:solidFill>
                          <a:latin typeface="Montserrat"/>
                        </a:defRPr>
                      </a:pPr>
                      <a:r>
                        <a:t>Cantidad</a:t>
                      </a:r>
                    </a:p>
                  </a:txBody>
                  <a:tcPr marL="36576" marR="36576" marT="36576" marB="36576" anchor="ctr">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rPr dirty="0" err="1"/>
                        <a:t>Medicina</a:t>
                      </a:r>
                      <a:r>
                        <a:rPr dirty="0"/>
                        <a:t> Familiar</a:t>
                      </a:r>
                    </a:p>
                  </a:txBody>
                  <a:tcPr marL="45720" marR="45720" anchor="ctr">
                    <a:solidFill>
                      <a:srgbClr val="FFFFFF"/>
                    </a:solidFill>
                  </a:tcPr>
                </a:tc>
                <a:tc>
                  <a:txBody>
                    <a:bodyPr/>
                    <a:lstStyle/>
                    <a:p>
                      <a:pPr algn="ctr">
                        <a:defRPr sz="800">
                          <a:latin typeface="Montserrat"/>
                        </a:defRPr>
                      </a:pPr>
                      <a:r>
                        <a:rPr dirty="0"/>
                        <a:t>30</a:t>
                      </a:r>
                    </a:p>
                  </a:txBody>
                  <a:tcPr marL="45720" marR="45720" anchor="ctr">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nchor="ctr">
                    <a:solidFill>
                      <a:srgbClr val="EFEFEF"/>
                    </a:solidFill>
                  </a:tcPr>
                </a:tc>
                <a:tc>
                  <a:txBody>
                    <a:bodyPr/>
                    <a:lstStyle/>
                    <a:p>
                      <a:pPr algn="ctr">
                        <a:defRPr sz="800">
                          <a:latin typeface="Montserrat"/>
                        </a:defRPr>
                      </a:pPr>
                      <a:r>
                        <a:rPr dirty="0"/>
                        <a:t>19</a:t>
                      </a:r>
                    </a:p>
                  </a:txBody>
                  <a:tcPr marL="45720" marR="45720" anchor="ctr">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Cirugía General</a:t>
                      </a:r>
                    </a:p>
                  </a:txBody>
                  <a:tcPr marL="45720" marR="45720" anchor="ctr">
                    <a:solidFill>
                      <a:srgbClr val="FFFFFF"/>
                    </a:solidFill>
                  </a:tcPr>
                </a:tc>
                <a:tc>
                  <a:txBody>
                    <a:bodyPr/>
                    <a:lstStyle/>
                    <a:p>
                      <a:pPr algn="ctr">
                        <a:defRPr sz="800">
                          <a:latin typeface="Montserrat"/>
                        </a:defRPr>
                      </a:pPr>
                      <a:r>
                        <a:rPr dirty="0"/>
                        <a:t>7</a:t>
                      </a:r>
                    </a:p>
                  </a:txBody>
                  <a:tcPr marL="45720" marR="45720" anchor="ctr">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Pediatría</a:t>
                      </a:r>
                    </a:p>
                  </a:txBody>
                  <a:tcPr marL="45720" marR="45720" anchor="ctr">
                    <a:solidFill>
                      <a:srgbClr val="EFEFEF"/>
                    </a:solidFill>
                  </a:tcPr>
                </a:tc>
                <a:tc>
                  <a:txBody>
                    <a:bodyPr/>
                    <a:lstStyle/>
                    <a:p>
                      <a:pPr algn="ctr">
                        <a:defRPr sz="800">
                          <a:latin typeface="Montserrat"/>
                        </a:defRPr>
                      </a:pPr>
                      <a:r>
                        <a:rPr dirty="0"/>
                        <a:t>7</a:t>
                      </a:r>
                    </a:p>
                  </a:txBody>
                  <a:tcPr marL="45720" marR="45720" anchor="ctr">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Medicina del Trabajo y Ambiental</a:t>
                      </a:r>
                    </a:p>
                  </a:txBody>
                  <a:tcPr marL="45720" marR="45720" anchor="ctr">
                    <a:solidFill>
                      <a:srgbClr val="FFFFFF"/>
                    </a:solidFill>
                  </a:tcPr>
                </a:tc>
                <a:tc>
                  <a:txBody>
                    <a:bodyPr/>
                    <a:lstStyle/>
                    <a:p>
                      <a:pPr algn="ctr">
                        <a:defRPr sz="800">
                          <a:latin typeface="Montserrat"/>
                        </a:defRPr>
                      </a:pPr>
                      <a:r>
                        <a:rPr dirty="0"/>
                        <a:t>6</a:t>
                      </a:r>
                    </a:p>
                  </a:txBody>
                  <a:tcPr marL="45720" marR="45720"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extLst>
              <p:ext uri="{D42A27DB-BD31-4B8C-83A1-F6EECF244321}">
                <p14:modId xmlns:p14="http://schemas.microsoft.com/office/powerpoint/2010/main" val="3269086256"/>
              </p:ext>
            </p:extLst>
          </p:nvPr>
        </p:nvGraphicFramePr>
        <p:xfrm>
          <a:off x="384048" y="8313724"/>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rPr dirty="0"/>
                        <a:t>Personal </a:t>
                      </a:r>
                      <a:r>
                        <a:rPr dirty="0" err="1"/>
                        <a:t>médico</a:t>
                      </a:r>
                      <a:endParaRPr dirty="0"/>
                    </a:p>
                  </a:txBody>
                  <a:tcPr marL="36576" marR="36576" marT="36576" marB="36576" anchor="ctr">
                    <a:solidFill>
                      <a:srgbClr val="006455"/>
                    </a:solidFill>
                  </a:tcPr>
                </a:tc>
                <a:tc>
                  <a:txBody>
                    <a:bodyPr/>
                    <a:lstStyle/>
                    <a:p>
                      <a:pPr algn="ctr">
                        <a:defRPr sz="1000" b="0">
                          <a:solidFill>
                            <a:srgbClr val="000000"/>
                          </a:solidFill>
                          <a:latin typeface="Montserrat"/>
                        </a:defRPr>
                      </a:pPr>
                      <a:r>
                        <a:t>64</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rPr dirty="0"/>
                        <a:t>Personal de </a:t>
                      </a:r>
                      <a:r>
                        <a:rPr dirty="0" err="1"/>
                        <a:t>Enfermería</a:t>
                      </a:r>
                      <a:endParaRPr dirty="0"/>
                    </a:p>
                  </a:txBody>
                  <a:tcPr marL="36576" marR="36576" marT="36576" marB="36576" anchor="ctr">
                    <a:solidFill>
                      <a:srgbClr val="006455"/>
                    </a:solidFill>
                  </a:tcPr>
                </a:tc>
                <a:tc>
                  <a:txBody>
                    <a:bodyPr/>
                    <a:lstStyle/>
                    <a:p>
                      <a:pPr algn="ctr">
                        <a:defRPr sz="1000" b="0">
                          <a:solidFill>
                            <a:srgbClr val="000000"/>
                          </a:solidFill>
                          <a:latin typeface="Montserrat"/>
                        </a:defRPr>
                      </a:pPr>
                      <a:r>
                        <a:t>11</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rPr dirty="0"/>
                        <a:t>Personal </a:t>
                      </a:r>
                      <a:r>
                        <a:rPr dirty="0" err="1"/>
                        <a:t>administrativos</a:t>
                      </a:r>
                      <a:r>
                        <a:rPr dirty="0"/>
                        <a:t> y </a:t>
                      </a:r>
                      <a:r>
                        <a:rPr dirty="0" err="1"/>
                        <a:t>básico</a:t>
                      </a:r>
                      <a:endParaRPr dirty="0"/>
                    </a:p>
                  </a:txBody>
                  <a:tcPr marL="36576" marR="36576" marT="36576" marB="36576" anchor="ctr">
                    <a:solidFill>
                      <a:srgbClr val="006455"/>
                    </a:solidFill>
                  </a:tcPr>
                </a:tc>
                <a:tc>
                  <a:txBody>
                    <a:bodyPr/>
                    <a:lstStyle/>
                    <a:p>
                      <a:pPr algn="ctr">
                        <a:defRPr sz="1000" b="0">
                          <a:solidFill>
                            <a:srgbClr val="000000"/>
                          </a:solidFill>
                          <a:latin typeface="Montserrat"/>
                        </a:defRPr>
                      </a:pPr>
                      <a:r>
                        <a:t>129</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rPr dirty="0"/>
                        <a:t>Personal </a:t>
                      </a:r>
                      <a:r>
                        <a:rPr dirty="0" err="1"/>
                        <a:t>paramédico</a:t>
                      </a:r>
                      <a:r>
                        <a:rPr dirty="0"/>
                        <a:t> y </a:t>
                      </a:r>
                      <a:r>
                        <a:rPr dirty="0" err="1"/>
                        <a:t>técnico</a:t>
                      </a:r>
                      <a:endParaRPr dirty="0"/>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91</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rPr dirty="0"/>
                        <a:t>295</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lIns="0" tIns="0" rIns="0" bIns="0">
            <a:spAutoFit/>
          </a:bodyPr>
          <a:lstStyle/>
          <a:p>
            <a:pPr algn="l">
              <a:defRPr sz="800">
                <a:solidFill>
                  <a:srgbClr val="000000"/>
                </a:solidFill>
                <a:latin typeface="Montserrat"/>
              </a:defRPr>
            </a:pPr>
            <a:r>
              <a:t>Fuente: Sistema de Información Operativa. Personal de base. Corte de información: mayo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6,675</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385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102</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81</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1,803</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818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10</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9,681</a:t>
            </a:r>
          </a:p>
        </p:txBody>
      </p:sp>
      <p:graphicFrame>
        <p:nvGraphicFramePr>
          <p:cNvPr id="344" name="Table 343"/>
          <p:cNvGraphicFramePr>
            <a:graphicFrameLocks noGrp="1"/>
          </p:cNvGraphicFramePr>
          <p:nvPr>
            <p:extLst>
              <p:ext uri="{D42A27DB-BD31-4B8C-83A1-F6EECF244321}">
                <p14:modId xmlns:p14="http://schemas.microsoft.com/office/powerpoint/2010/main" val="451858802"/>
              </p:ext>
            </p:extLst>
          </p:nvPr>
        </p:nvGraphicFramePr>
        <p:xfrm>
          <a:off x="103488" y="1548000"/>
          <a:ext cx="7567200" cy="355284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rPr dirty="0" err="1"/>
                        <a:t>Medicina</a:t>
                      </a:r>
                      <a:r>
                        <a:rPr dirty="0"/>
                        <a:t> Familiar</a:t>
                      </a:r>
                    </a:p>
                  </a:txBody>
                  <a:tcPr anchor="ctr">
                    <a:solidFill>
                      <a:srgbClr val="006455"/>
                    </a:solidFill>
                  </a:tcPr>
                </a:tc>
                <a:tc>
                  <a:txBody>
                    <a:bodyPr/>
                    <a:lstStyle/>
                    <a:p>
                      <a:pPr algn="ctr">
                        <a:defRPr sz="1000" b="1">
                          <a:solidFill>
                            <a:srgbClr val="FFFFFF"/>
                          </a:solidFill>
                          <a:latin typeface="Montserrat"/>
                        </a:defRPr>
                      </a:pPr>
                      <a:r>
                        <a:rPr dirty="0" err="1"/>
                        <a:t>Especialidades</a:t>
                      </a:r>
                      <a:endParaRPr dirty="0"/>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Diabetes mellitus
(102,575)</a:t>
                      </a:r>
                    </a:p>
                  </a:txBody>
                  <a:tcPr anchor="ctr">
                    <a:solidFill>
                      <a:srgbClr val="FFFFFF"/>
                    </a:solidFill>
                  </a:tcPr>
                </a:tc>
                <a:tc>
                  <a:txBody>
                    <a:bodyPr/>
                    <a:lstStyle/>
                    <a:p>
                      <a:pPr algn="ctr"/>
                      <a:r>
                        <a:rPr sz="900" b="0" dirty="0" err="1">
                          <a:latin typeface="Montserrat"/>
                        </a:rPr>
                        <a:t>Traumatismos</a:t>
                      </a:r>
                      <a:r>
                        <a:rPr sz="900" b="0" dirty="0">
                          <a:latin typeface="Montserrat"/>
                        </a:rPr>
                        <a:t> e </a:t>
                      </a:r>
                      <a:r>
                        <a:rPr sz="900" b="0" dirty="0" err="1">
                          <a:latin typeface="Montserrat"/>
                        </a:rPr>
                        <a:t>intoxicaciones</a:t>
                      </a:r>
                      <a:r>
                        <a:rPr sz="900" b="0" dirty="0">
                          <a:latin typeface="Montserrat"/>
                        </a:rPr>
                        <a:t>
(9,999)</a:t>
                      </a:r>
                    </a:p>
                  </a:txBody>
                  <a:tcPr anchor="ctr">
                    <a:solidFill>
                      <a:srgbClr val="FFFFFF"/>
                    </a:solidFill>
                  </a:tcPr>
                </a:tc>
                <a:tc>
                  <a:txBody>
                    <a:bodyPr/>
                    <a:lstStyle/>
                    <a:p>
                      <a:pPr algn="ctr"/>
                      <a:r>
                        <a:rPr sz="900" b="0" dirty="0">
                          <a:latin typeface="Montserrat"/>
                        </a:rPr>
                        <a:t>Las </a:t>
                      </a:r>
                      <a:r>
                        <a:rPr sz="900" b="0" dirty="0" err="1">
                          <a:latin typeface="Montserrat"/>
                        </a:rPr>
                        <a:t>demás</a:t>
                      </a:r>
                      <a:r>
                        <a:rPr sz="900" b="0" dirty="0">
                          <a:latin typeface="Montserrat"/>
                        </a:rPr>
                        <a:t> </a:t>
                      </a:r>
                      <a:r>
                        <a:rPr sz="900" b="0" dirty="0" err="1">
                          <a:latin typeface="Montserrat"/>
                        </a:rPr>
                        <a:t>enfermedades</a:t>
                      </a:r>
                      <a:r>
                        <a:rPr sz="900" b="0" dirty="0">
                          <a:latin typeface="Montserrat"/>
                        </a:rPr>
                        <a:t> </a:t>
                      </a:r>
                      <a:r>
                        <a:rPr sz="900" b="0" dirty="0" err="1">
                          <a:latin typeface="Montserrat"/>
                        </a:rPr>
                        <a:t>víricas</a:t>
                      </a:r>
                      <a:r>
                        <a:rPr sz="900" b="0" dirty="0">
                          <a:latin typeface="Montserrat"/>
                        </a:rPr>
                        <a:t>
(3,721)</a:t>
                      </a:r>
                    </a:p>
                  </a:txBody>
                  <a:tcPr anchor="ctr">
                    <a:solidFill>
                      <a:srgbClr val="FFFFFF"/>
                    </a:solidFill>
                  </a:tcPr>
                </a:tc>
                <a:tc>
                  <a:txBody>
                    <a:bodyPr/>
                    <a:lstStyle/>
                    <a:p>
                      <a:pPr algn="ctr"/>
                      <a:r>
                        <a:rPr sz="900" b="0">
                          <a:latin typeface="Montserrat"/>
                        </a:rPr>
                        <a:t>Otras Enfermedades virales
(4,018)</a:t>
                      </a:r>
                    </a:p>
                  </a:txBody>
                  <a:tcPr anchor="ctr">
                    <a:solidFill>
                      <a:srgbClr val="FFFFFF"/>
                    </a:solidFill>
                  </a:tcPr>
                </a:tc>
                <a:tc>
                  <a:txBody>
                    <a:bodyPr/>
                    <a:lstStyle/>
                    <a:p>
                      <a:pPr algn="ctr"/>
                      <a:r>
                        <a:rPr sz="900" b="0">
                          <a:latin typeface="Montserrat"/>
                        </a:rPr>
                        <a:t>Otras enfermedades respiratorias
(68)</a:t>
                      </a:r>
                    </a:p>
                  </a:txBody>
                  <a:tcPr anchor="ct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Enfermedades del corazón
(74,309)</a:t>
                      </a:r>
                    </a:p>
                  </a:txBody>
                  <a:tcPr anchor="ctr">
                    <a:solidFill>
                      <a:srgbClr val="EFEFEF"/>
                    </a:solidFill>
                  </a:tcPr>
                </a:tc>
                <a:tc>
                  <a:txBody>
                    <a:bodyPr/>
                    <a:lstStyle/>
                    <a:p>
                      <a:pPr algn="ctr"/>
                      <a:r>
                        <a:rPr sz="900" b="0">
                          <a:latin typeface="Montserrat"/>
                        </a:rPr>
                        <a:t>Enfermedades y trastornos de las articulaciones
(8,211)</a:t>
                      </a:r>
                    </a:p>
                  </a:txBody>
                  <a:tcPr anchor="ctr">
                    <a:solidFill>
                      <a:srgbClr val="EFEFEF"/>
                    </a:solidFill>
                  </a:tcPr>
                </a:tc>
                <a:tc>
                  <a:txBody>
                    <a:bodyPr/>
                    <a:lstStyle/>
                    <a:p>
                      <a:pPr algn="ctr"/>
                      <a:r>
                        <a:rPr sz="900" b="0" dirty="0" err="1">
                          <a:latin typeface="Montserrat"/>
                        </a:rPr>
                        <a:t>Traumatismos</a:t>
                      </a:r>
                      <a:r>
                        <a:rPr sz="900" b="0" dirty="0">
                          <a:latin typeface="Montserrat"/>
                        </a:rPr>
                        <a:t> y </a:t>
                      </a:r>
                      <a:r>
                        <a:rPr sz="900" b="0" dirty="0" err="1">
                          <a:latin typeface="Montserrat"/>
                        </a:rPr>
                        <a:t>envenenamientos</a:t>
                      </a:r>
                      <a:r>
                        <a:rPr sz="900" b="0" dirty="0">
                          <a:latin typeface="Montserrat"/>
                        </a:rPr>
                        <a:t>
(1,934)</a:t>
                      </a:r>
                    </a:p>
                  </a:txBody>
                  <a:tcPr anchor="ctr">
                    <a:solidFill>
                      <a:srgbClr val="EFEFEF"/>
                    </a:solidFill>
                  </a:tcPr>
                </a:tc>
                <a:tc>
                  <a:txBody>
                    <a:bodyPr/>
                    <a:lstStyle/>
                    <a:p>
                      <a:pPr algn="ctr"/>
                      <a:r>
                        <a:rPr sz="900" b="0" dirty="0" err="1">
                          <a:latin typeface="Montserrat"/>
                        </a:rPr>
                        <a:t>Traumatismos</a:t>
                      </a:r>
                      <a:r>
                        <a:rPr sz="900" b="0" dirty="0">
                          <a:latin typeface="Montserrat"/>
                        </a:rPr>
                        <a:t> e </a:t>
                      </a:r>
                      <a:r>
                        <a:rPr sz="900" b="0" dirty="0" err="1">
                          <a:latin typeface="Montserrat"/>
                        </a:rPr>
                        <a:t>intoxicaciones</a:t>
                      </a:r>
                      <a:r>
                        <a:rPr sz="900" b="0" dirty="0">
                          <a:latin typeface="Montserrat"/>
                        </a:rPr>
                        <a:t>
(2,207)</a:t>
                      </a:r>
                    </a:p>
                  </a:txBody>
                  <a:tcPr anchor="ctr">
                    <a:solidFill>
                      <a:srgbClr val="EFEFEF"/>
                    </a:solidFill>
                  </a:tcPr>
                </a:tc>
                <a:tc>
                  <a:txBody>
                    <a:bodyPr/>
                    <a:lstStyle/>
                    <a:p>
                      <a:pPr algn="ctr"/>
                      <a:r>
                        <a:rPr sz="900" b="0">
                          <a:latin typeface="Montserrat"/>
                        </a:rPr>
                        <a:t>Enfermedades del corazón
(64)</a:t>
                      </a:r>
                    </a:p>
                  </a:txBody>
                  <a:tcPr anchor="ctr">
                    <a:solidFill>
                      <a:srgbClr val="EFEFEF"/>
                    </a:solidFill>
                  </a:tcPr>
                </a:tc>
                <a:extLst>
                  <a:ext uri="{0D108BD9-81ED-4DB2-BD59-A6C34878D82A}">
                    <a16:rowId xmlns:a16="http://schemas.microsoft.com/office/drawing/2014/main" val="10002"/>
                  </a:ext>
                </a:extLst>
              </a:tr>
              <a:tr h="489600">
                <a:tc>
                  <a:txBody>
                    <a:bodyPr/>
                    <a:lstStyle/>
                    <a:p>
                      <a:pPr algn="ctr"/>
                      <a:r>
                        <a:rPr sz="900" b="0" dirty="0" err="1">
                          <a:latin typeface="Montserrat"/>
                        </a:rPr>
                        <a:t>Infecciones</a:t>
                      </a:r>
                      <a:r>
                        <a:rPr sz="900" b="0" dirty="0">
                          <a:latin typeface="Montserrat"/>
                        </a:rPr>
                        <a:t> </a:t>
                      </a:r>
                      <a:r>
                        <a:rPr sz="900" b="0" dirty="0" err="1">
                          <a:latin typeface="Montserrat"/>
                        </a:rPr>
                        <a:t>respiratorias</a:t>
                      </a:r>
                      <a:r>
                        <a:rPr sz="900" b="0" dirty="0">
                          <a:latin typeface="Montserrat"/>
                        </a:rPr>
                        <a:t> </a:t>
                      </a:r>
                      <a:r>
                        <a:rPr sz="900" b="0" dirty="0" err="1">
                          <a:latin typeface="Montserrat"/>
                        </a:rPr>
                        <a:t>agudas</a:t>
                      </a:r>
                      <a:r>
                        <a:rPr sz="900" b="0" dirty="0">
                          <a:latin typeface="Montserrat"/>
                        </a:rPr>
                        <a:t>
(29,262)</a:t>
                      </a:r>
                    </a:p>
                  </a:txBody>
                  <a:tcPr anchor="ctr">
                    <a:solidFill>
                      <a:srgbClr val="FFFFFF"/>
                    </a:solidFill>
                  </a:tcPr>
                </a:tc>
                <a:tc>
                  <a:txBody>
                    <a:bodyPr/>
                    <a:lstStyle/>
                    <a:p>
                      <a:pPr algn="ctr"/>
                      <a:r>
                        <a:rPr sz="900" b="0">
                          <a:latin typeface="Montserrat"/>
                        </a:rPr>
                        <a:t>Enfermedades del corazón
(6,456)</a:t>
                      </a:r>
                    </a:p>
                  </a:txBody>
                  <a:tcPr anchor="ctr">
                    <a:solidFill>
                      <a:srgbClr val="FFFFFF"/>
                    </a:solidFill>
                  </a:tcPr>
                </a:tc>
                <a:tc>
                  <a:txBody>
                    <a:bodyPr/>
                    <a:lstStyle/>
                    <a:p>
                      <a:pPr algn="ctr"/>
                      <a:r>
                        <a:rPr sz="900" b="0" dirty="0" err="1">
                          <a:latin typeface="Montserrat"/>
                        </a:rPr>
                        <a:t>Cesárea</a:t>
                      </a:r>
                      <a:r>
                        <a:rPr sz="900" b="0" dirty="0">
                          <a:latin typeface="Montserrat"/>
                        </a:rPr>
                        <a:t>
(925)</a:t>
                      </a:r>
                    </a:p>
                  </a:txBody>
                  <a:tcPr anchor="ctr">
                    <a:solidFill>
                      <a:srgbClr val="FFFFFF"/>
                    </a:solidFill>
                  </a:tcPr>
                </a:tc>
                <a:tc>
                  <a:txBody>
                    <a:bodyPr/>
                    <a:lstStyle/>
                    <a:p>
                      <a:pPr algn="ctr"/>
                      <a:r>
                        <a:rPr sz="900" b="0" dirty="0" err="1">
                          <a:latin typeface="Montserrat"/>
                        </a:rPr>
                        <a:t>Embarazo</a:t>
                      </a:r>
                      <a:r>
                        <a:rPr sz="900" b="0" dirty="0">
                          <a:latin typeface="Montserrat"/>
                        </a:rPr>
                        <a:t>, </a:t>
                      </a:r>
                      <a:r>
                        <a:rPr sz="900" b="0" dirty="0" err="1">
                          <a:latin typeface="Montserrat"/>
                        </a:rPr>
                        <a:t>parto</a:t>
                      </a:r>
                      <a:r>
                        <a:rPr sz="900" b="0" dirty="0">
                          <a:latin typeface="Montserrat"/>
                        </a:rPr>
                        <a:t> y </a:t>
                      </a:r>
                      <a:r>
                        <a:rPr sz="900" b="0" dirty="0" err="1">
                          <a:latin typeface="Montserrat"/>
                        </a:rPr>
                        <a:t>puerperio</a:t>
                      </a:r>
                      <a:r>
                        <a:rPr sz="900" b="0" dirty="0">
                          <a:latin typeface="Montserrat"/>
                        </a:rPr>
                        <a:t>
(1,940)</a:t>
                      </a:r>
                    </a:p>
                  </a:txBody>
                  <a:tcPr anchor="ctr">
                    <a:solidFill>
                      <a:srgbClr val="FFFFFF"/>
                    </a:solidFill>
                  </a:tcPr>
                </a:tc>
                <a:tc>
                  <a:txBody>
                    <a:bodyPr/>
                    <a:lstStyle/>
                    <a:p>
                      <a:pPr algn="ctr"/>
                      <a:r>
                        <a:rPr sz="900" b="0">
                          <a:latin typeface="Montserrat"/>
                        </a:rPr>
                        <a:t>Neumonía e influenza
(57)</a:t>
                      </a:r>
                    </a:p>
                  </a:txBody>
                  <a:tcPr anchor="ct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traumatismos e intoxicaciones
(11,707)</a:t>
                      </a:r>
                    </a:p>
                  </a:txBody>
                  <a:tcPr anchor="ctr">
                    <a:solidFill>
                      <a:srgbClr val="EFEFEF"/>
                    </a:solidFill>
                  </a:tcPr>
                </a:tc>
                <a:tc>
                  <a:txBody>
                    <a:bodyPr/>
                    <a:lstStyle/>
                    <a:p>
                      <a:pPr algn="ctr"/>
                      <a:r>
                        <a:rPr sz="900" b="0">
                          <a:latin typeface="Montserrat"/>
                        </a:rPr>
                        <a:t>Tumores malignos
(6,371)</a:t>
                      </a:r>
                    </a:p>
                  </a:txBody>
                  <a:tcPr anchor="ctr">
                    <a:solidFill>
                      <a:srgbClr val="EFEFEF"/>
                    </a:solidFill>
                  </a:tcPr>
                </a:tc>
                <a:tc>
                  <a:txBody>
                    <a:bodyPr/>
                    <a:lstStyle/>
                    <a:p>
                      <a:pPr algn="ctr"/>
                      <a:r>
                        <a:rPr sz="900" b="0">
                          <a:latin typeface="Montserrat"/>
                        </a:rPr>
                        <a:t>Cirugía de cataratas (Facoemulsificación con implante de lente intraocular)
(625)</a:t>
                      </a:r>
                    </a:p>
                  </a:txBody>
                  <a:tcPr anchor="ctr">
                    <a:solidFill>
                      <a:srgbClr val="EFEFEF"/>
                    </a:solidFill>
                  </a:tcPr>
                </a:tc>
                <a:tc>
                  <a:txBody>
                    <a:bodyPr/>
                    <a:lstStyle/>
                    <a:p>
                      <a:pPr algn="ctr"/>
                      <a:r>
                        <a:rPr sz="900" b="0" dirty="0" err="1">
                          <a:latin typeface="Montserrat"/>
                        </a:rPr>
                        <a:t>Insuficiencia</a:t>
                      </a:r>
                      <a:r>
                        <a:rPr sz="900" b="0" dirty="0">
                          <a:latin typeface="Montserrat"/>
                        </a:rPr>
                        <a:t> renal
(835)</a:t>
                      </a:r>
                    </a:p>
                  </a:txBody>
                  <a:tcPr anchor="ctr">
                    <a:solidFill>
                      <a:srgbClr val="EFEFEF"/>
                    </a:solidFill>
                  </a:tcPr>
                </a:tc>
                <a:tc>
                  <a:txBody>
                    <a:bodyPr/>
                    <a:lstStyle/>
                    <a:p>
                      <a:pPr algn="ctr"/>
                      <a:r>
                        <a:rPr sz="900" b="0" dirty="0" err="1">
                          <a:latin typeface="Montserrat"/>
                        </a:rPr>
                        <a:t>Otras</a:t>
                      </a:r>
                      <a:r>
                        <a:rPr sz="900" b="0" dirty="0">
                          <a:latin typeface="Montserrat"/>
                        </a:rPr>
                        <a:t> </a:t>
                      </a:r>
                      <a:r>
                        <a:rPr sz="900" b="0" dirty="0" err="1">
                          <a:latin typeface="Montserrat"/>
                        </a:rPr>
                        <a:t>enfermedades</a:t>
                      </a:r>
                      <a:r>
                        <a:rPr sz="900" b="0" dirty="0">
                          <a:latin typeface="Montserrat"/>
                        </a:rPr>
                        <a:t> del </a:t>
                      </a:r>
                      <a:r>
                        <a:rPr sz="900" b="0" dirty="0" err="1">
                          <a:latin typeface="Montserrat"/>
                        </a:rPr>
                        <a:t>sistema</a:t>
                      </a:r>
                      <a:r>
                        <a:rPr sz="900" b="0" dirty="0">
                          <a:latin typeface="Montserrat"/>
                        </a:rPr>
                        <a:t> </a:t>
                      </a:r>
                      <a:r>
                        <a:rPr sz="900" b="0" dirty="0" err="1">
                          <a:latin typeface="Montserrat"/>
                        </a:rPr>
                        <a:t>nervioso</a:t>
                      </a:r>
                      <a:r>
                        <a:rPr sz="900" b="0" dirty="0">
                          <a:latin typeface="Montserrat"/>
                        </a:rPr>
                        <a:t>
(31)</a:t>
                      </a:r>
                    </a:p>
                  </a:txBody>
                  <a:tcPr anchor="ct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Enfermedades y trastornos de las articulaciones
(11,076)</a:t>
                      </a:r>
                    </a:p>
                  </a:txBody>
                  <a:tcPr anchor="ctr">
                    <a:solidFill>
                      <a:srgbClr val="FFFFFF"/>
                    </a:solidFill>
                  </a:tcPr>
                </a:tc>
                <a:tc>
                  <a:txBody>
                    <a:bodyPr/>
                    <a:lstStyle/>
                    <a:p>
                      <a:pPr algn="ctr"/>
                      <a:r>
                        <a:rPr sz="900" b="0">
                          <a:latin typeface="Montserrat"/>
                        </a:rPr>
                        <a:t>Insuficiencia renal
(5,701)</a:t>
                      </a:r>
                    </a:p>
                  </a:txBody>
                  <a:tcPr anchor="ctr">
                    <a:solidFill>
                      <a:srgbClr val="FFFFFF"/>
                    </a:solidFill>
                  </a:tcPr>
                </a:tc>
                <a:tc>
                  <a:txBody>
                    <a:bodyPr/>
                    <a:lstStyle/>
                    <a:p>
                      <a:pPr algn="ctr"/>
                      <a:r>
                        <a:rPr sz="900" b="0">
                          <a:latin typeface="Montserrat"/>
                        </a:rPr>
                        <a:t>Artropatias
(472)</a:t>
                      </a:r>
                    </a:p>
                  </a:txBody>
                  <a:tcPr anchor="ctr">
                    <a:solidFill>
                      <a:srgbClr val="FFFFFF"/>
                    </a:solidFill>
                  </a:tcPr>
                </a:tc>
                <a:tc>
                  <a:txBody>
                    <a:bodyPr/>
                    <a:lstStyle/>
                    <a:p>
                      <a:pPr algn="ctr"/>
                      <a:r>
                        <a:rPr sz="900" b="0">
                          <a:latin typeface="Montserrat"/>
                        </a:rPr>
                        <a:t>Cataratas
(609)</a:t>
                      </a:r>
                    </a:p>
                  </a:txBody>
                  <a:tcPr anchor="ctr">
                    <a:solidFill>
                      <a:srgbClr val="FFFFFF"/>
                    </a:solidFill>
                  </a:tcPr>
                </a:tc>
                <a:tc>
                  <a:txBody>
                    <a:bodyPr/>
                    <a:lstStyle/>
                    <a:p>
                      <a:pPr algn="ctr"/>
                      <a:r>
                        <a:rPr sz="900" b="0" dirty="0" err="1">
                          <a:latin typeface="Montserrat"/>
                        </a:rPr>
                        <a:t>Enfermedades</a:t>
                      </a:r>
                      <a:r>
                        <a:rPr sz="900" b="0" dirty="0">
                          <a:latin typeface="Montserrat"/>
                        </a:rPr>
                        <a:t> </a:t>
                      </a:r>
                      <a:r>
                        <a:rPr sz="900" b="0" dirty="0" err="1">
                          <a:latin typeface="Montserrat"/>
                        </a:rPr>
                        <a:t>cerebrovasculares</a:t>
                      </a:r>
                      <a:r>
                        <a:rPr sz="900" b="0" dirty="0">
                          <a:latin typeface="Montserrat"/>
                        </a:rPr>
                        <a:t>
(30)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19600" y="5608800"/>
            <a:ext cx="5331600" cy="432000"/>
          </a:xfrm>
          <a:prstGeom prst="rect">
            <a:avLst/>
          </a:prstGeom>
          <a:noFill/>
        </p:spPr>
        <p:txBody>
          <a:bodyPr wrap="square" lIns="0" tIns="0" rIns="0" b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lIns="0" tIns="0" rIns="0" b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285245"/>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sp>
        <p:nvSpPr>
          <p:cNvPr id="7" name="TextBox 6"/>
          <p:cNvSpPr txBox="1"/>
          <p:nvPr/>
        </p:nvSpPr>
        <p:spPr>
          <a:xfrm>
            <a:off x="457200" y="7441475"/>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
        <p:nvSpPr>
          <p:cNvPr id="8" name="TextBox 7"/>
          <p:cNvSpPr txBox="1"/>
          <p:nvPr/>
        </p:nvSpPr>
        <p:spPr>
          <a:xfrm>
            <a:off x="274320" y="7024915"/>
            <a:ext cx="4144083" cy="369332"/>
          </a:xfrm>
          <a:prstGeom prst="rect">
            <a:avLst/>
          </a:prstGeom>
          <a:noFill/>
        </p:spPr>
        <p:txBody>
          <a:bodyPr wrap="none">
            <a:spAutoFit/>
          </a:bodyPr>
          <a:lstStyle/>
          <a:p>
            <a:pPr algn="l">
              <a:defRPr sz="2000" b="0">
                <a:solidFill>
                  <a:srgbClr val="BC955C"/>
                </a:solidFill>
                <a:latin typeface="Montserrat"/>
              </a:defRPr>
            </a:pPr>
            <a:r>
              <a:rPr sz="1800" b="1" dirty="0" err="1"/>
              <a:t>Recetas</a:t>
            </a:r>
            <a:r>
              <a:rPr sz="1800" b="1" dirty="0"/>
              <a:t> </a:t>
            </a:r>
            <a:r>
              <a:rPr sz="1800" b="1" dirty="0" err="1"/>
              <a:t>manuales</a:t>
            </a:r>
            <a:r>
              <a:rPr sz="1800" b="1" dirty="0"/>
              <a:t> y </a:t>
            </a:r>
            <a:r>
              <a:rPr sz="1800" b="1" dirty="0" err="1"/>
              <a:t>electrónicas</a:t>
            </a:r>
            <a:endParaRPr sz="1800" b="1" dirty="0"/>
          </a:p>
        </p:txBody>
      </p:sp>
      <p:cxnSp>
        <p:nvCxnSpPr>
          <p:cNvPr id="9" name="Connector 8"/>
          <p:cNvCxnSpPr/>
          <p:nvPr/>
        </p:nvCxnSpPr>
        <p:spPr>
          <a:xfrm>
            <a:off x="274320" y="7390675"/>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983324099"/>
              </p:ext>
            </p:extLst>
          </p:nvPr>
        </p:nvGraphicFramePr>
        <p:xfrm>
          <a:off x="457200" y="7664995"/>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04800">
                <a:tc>
                  <a:txBody>
                    <a:bodyPr/>
                    <a:lstStyle/>
                    <a:p>
                      <a:pPr algn="ctr"/>
                      <a:r>
                        <a:rPr sz="1100" b="1" dirty="0" err="1">
                          <a:solidFill>
                            <a:srgbClr val="FFFFFF"/>
                          </a:solidFill>
                          <a:latin typeface="Montserrat"/>
                        </a:rPr>
                        <a:t>Año</a:t>
                      </a:r>
                      <a:endParaRPr sz="1100" b="1" dirty="0">
                        <a:solidFill>
                          <a:srgbClr val="FFFFFF"/>
                        </a:solidFill>
                        <a:latin typeface="Montserrat"/>
                      </a:endParaRPr>
                    </a:p>
                  </a:txBody>
                  <a:tcPr anchor="ctr">
                    <a:solidFill>
                      <a:srgbClr val="006455"/>
                    </a:solidFill>
                  </a:tcPr>
                </a:tc>
                <a:tc>
                  <a:txBody>
                    <a:bodyPr/>
                    <a:lstStyle/>
                    <a:p>
                      <a:pPr algn="ctr"/>
                      <a:r>
                        <a:rPr sz="1100" b="1" dirty="0" err="1">
                          <a:solidFill>
                            <a:srgbClr val="FFFFFF"/>
                          </a:solidFill>
                          <a:latin typeface="Montserrat"/>
                        </a:rPr>
                        <a:t>Manuales</a:t>
                      </a:r>
                      <a:endParaRPr sz="1100" b="1" dirty="0">
                        <a:solidFill>
                          <a:srgbClr val="FFFFFF"/>
                        </a:solidFill>
                        <a:latin typeface="Montserrat"/>
                      </a:endParaRPr>
                    </a:p>
                  </a:txBody>
                  <a:tcPr anchor="ctr">
                    <a:solidFill>
                      <a:srgbClr val="006455"/>
                    </a:solidFill>
                  </a:tcPr>
                </a:tc>
                <a:tc>
                  <a:txBody>
                    <a:bodyPr/>
                    <a:lstStyle/>
                    <a:p>
                      <a:pPr algn="ctr"/>
                      <a:r>
                        <a:rPr sz="1100" b="1" dirty="0" err="1">
                          <a:solidFill>
                            <a:srgbClr val="FFFFFF"/>
                          </a:solidFill>
                          <a:latin typeface="Montserrat"/>
                        </a:rPr>
                        <a:t>Electrónicas</a:t>
                      </a:r>
                      <a:endParaRPr sz="1100" b="1" dirty="0">
                        <a:solidFill>
                          <a:srgbClr val="FFFFFF"/>
                        </a:solidFill>
                        <a:latin typeface="Montserrat"/>
                      </a:endParaRP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04800">
                <a:tc>
                  <a:txBody>
                    <a:bodyPr/>
                    <a:lstStyle/>
                    <a:p>
                      <a:pPr algn="ctr"/>
                      <a:r>
                        <a:rPr sz="1100" b="0">
                          <a:solidFill>
                            <a:srgbClr val="434343"/>
                          </a:solidFill>
                          <a:latin typeface="Montserrat"/>
                        </a:rPr>
                        <a:t>2019</a:t>
                      </a:r>
                    </a:p>
                  </a:txBody>
                  <a:tcPr anchor="ctr">
                    <a:solidFill>
                      <a:srgbClr val="FFFFFF"/>
                    </a:solidFill>
                  </a:tcPr>
                </a:tc>
                <a:tc>
                  <a:txBody>
                    <a:bodyPr/>
                    <a:lstStyle/>
                    <a:p>
                      <a:pPr algn="ctr"/>
                      <a:r>
                        <a:rPr sz="1100" b="0">
                          <a:solidFill>
                            <a:srgbClr val="434343"/>
                          </a:solidFill>
                          <a:latin typeface="Montserrat"/>
                        </a:rPr>
                        <a:t>180,188</a:t>
                      </a:r>
                    </a:p>
                  </a:txBody>
                  <a:tcPr anchor="ctr">
                    <a:solidFill>
                      <a:srgbClr val="FFFFFF"/>
                    </a:solidFill>
                  </a:tcPr>
                </a:tc>
                <a:tc>
                  <a:txBody>
                    <a:bodyPr/>
                    <a:lstStyle/>
                    <a:p>
                      <a:pPr algn="ctr"/>
                      <a:r>
                        <a:rPr sz="1100" b="0" dirty="0">
                          <a:solidFill>
                            <a:srgbClr val="434343"/>
                          </a:solidFill>
                          <a:latin typeface="Montserrat"/>
                        </a:rPr>
                        <a:t>1,253,239</a:t>
                      </a:r>
                    </a:p>
                  </a:txBody>
                  <a:tcPr anchor="ctr">
                    <a:solidFill>
                      <a:srgbClr val="FFFFFF"/>
                    </a:solidFill>
                  </a:tcPr>
                </a:tc>
                <a:tc>
                  <a:txBody>
                    <a:bodyPr/>
                    <a:lstStyle/>
                    <a:p>
                      <a:pPr algn="ctr"/>
                      <a:r>
                        <a:rPr sz="1100" b="0" dirty="0">
                          <a:solidFill>
                            <a:srgbClr val="434343"/>
                          </a:solidFill>
                          <a:latin typeface="Montserrat"/>
                        </a:rPr>
                        <a:t>87.4%</a:t>
                      </a:r>
                    </a:p>
                  </a:txBody>
                  <a:tcPr anchor="ctr">
                    <a:solidFill>
                      <a:srgbClr val="FFFFFF"/>
                    </a:solidFill>
                  </a:tcPr>
                </a:tc>
                <a:extLst>
                  <a:ext uri="{0D108BD9-81ED-4DB2-BD59-A6C34878D82A}">
                    <a16:rowId xmlns:a16="http://schemas.microsoft.com/office/drawing/2014/main" val="10001"/>
                  </a:ext>
                </a:extLst>
              </a:tr>
              <a:tr h="304800">
                <a:tc>
                  <a:txBody>
                    <a:bodyPr/>
                    <a:lstStyle/>
                    <a:p>
                      <a:pPr algn="ctr"/>
                      <a:r>
                        <a:rPr sz="1100" b="0">
                          <a:solidFill>
                            <a:srgbClr val="434343"/>
                          </a:solidFill>
                          <a:latin typeface="Montserrat"/>
                        </a:rPr>
                        <a:t>2026</a:t>
                      </a:r>
                    </a:p>
                  </a:txBody>
                  <a:tcPr anchor="ctr">
                    <a:solidFill>
                      <a:srgbClr val="D9D9D9"/>
                    </a:solidFill>
                  </a:tcPr>
                </a:tc>
                <a:tc>
                  <a:txBody>
                    <a:bodyPr/>
                    <a:lstStyle/>
                    <a:p>
                      <a:pPr algn="ctr"/>
                      <a:r>
                        <a:rPr sz="1100" b="0">
                          <a:solidFill>
                            <a:srgbClr val="434343"/>
                          </a:solidFill>
                          <a:latin typeface="Montserrat"/>
                        </a:rPr>
                        <a:t>126,770</a:t>
                      </a:r>
                    </a:p>
                  </a:txBody>
                  <a:tcPr anchor="ctr">
                    <a:solidFill>
                      <a:srgbClr val="D9D9D9"/>
                    </a:solidFill>
                  </a:tcPr>
                </a:tc>
                <a:tc>
                  <a:txBody>
                    <a:bodyPr/>
                    <a:lstStyle/>
                    <a:p>
                      <a:pPr algn="ctr"/>
                      <a:r>
                        <a:rPr sz="1100" b="1">
                          <a:solidFill>
                            <a:srgbClr val="006455"/>
                          </a:solidFill>
                          <a:latin typeface="Montserrat"/>
                        </a:rPr>
                        <a:t>1,260,811</a:t>
                      </a:r>
                    </a:p>
                  </a:txBody>
                  <a:tcPr anchor="ctr">
                    <a:solidFill>
                      <a:srgbClr val="D9D9D9"/>
                    </a:solidFill>
                  </a:tcPr>
                </a:tc>
                <a:tc>
                  <a:txBody>
                    <a:bodyPr/>
                    <a:lstStyle/>
                    <a:p>
                      <a:pPr algn="ctr"/>
                      <a:r>
                        <a:rPr sz="1100" b="1" dirty="0">
                          <a:solidFill>
                            <a:srgbClr val="006455"/>
                          </a:solidFill>
                          <a:latin typeface="Montserrat"/>
                        </a:rPr>
                        <a:t>90.9%</a:t>
                      </a:r>
                    </a:p>
                  </a:txBody>
                  <a:tcPr anchor="ct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graphicFrame>
        <p:nvGraphicFramePr>
          <p:cNvPr id="14" name="Gráfico 13">
            <a:extLst>
              <a:ext uri="{FF2B5EF4-FFF2-40B4-BE49-F238E27FC236}">
                <a16:creationId xmlns:a16="http://schemas.microsoft.com/office/drawing/2014/main" id="{BD2080F9-6146-ED11-8622-4B600EF13244}"/>
              </a:ext>
            </a:extLst>
          </p:cNvPr>
          <p:cNvGraphicFramePr>
            <a:graphicFrameLocks/>
          </p:cNvGraphicFramePr>
          <p:nvPr>
            <p:extLst>
              <p:ext uri="{D42A27DB-BD31-4B8C-83A1-F6EECF244321}">
                <p14:modId xmlns:p14="http://schemas.microsoft.com/office/powerpoint/2010/main" val="3116855003"/>
              </p:ext>
            </p:extLst>
          </p:nvPr>
        </p:nvGraphicFramePr>
        <p:xfrm>
          <a:off x="-1251312" y="1120145"/>
          <a:ext cx="9208225" cy="58369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C8E5-9D65-2B69-91A9-5A97C1446C5F}"/>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GUERRERO</a:t>
            </a:r>
          </a:p>
        </p:txBody>
      </p:sp>
      <p:sp>
        <p:nvSpPr>
          <p:cNvPr id="3" name="TextBox 2"/>
          <p:cNvSpPr txBox="1"/>
          <p:nvPr/>
        </p:nvSpPr>
        <p:spPr>
          <a:xfrm>
            <a:off x="180000" y="670056"/>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76055"/>
            <a:ext cx="2205732" cy="276999"/>
          </a:xfrm>
          <a:prstGeom prst="rect">
            <a:avLst/>
          </a:prstGeom>
          <a:noFill/>
        </p:spPr>
        <p:txBody>
          <a:bodyPr wrap="none" lIns="0" tIns="0" rIns="0" bIns="0">
            <a:spAutoFit/>
          </a:bodyPr>
          <a:lstStyle/>
          <a:p>
            <a:pPr algn="l">
              <a:defRPr sz="1500" b="0">
                <a:solidFill>
                  <a:srgbClr val="BC955C"/>
                </a:solidFill>
                <a:latin typeface="Montserrat"/>
              </a:defRPr>
            </a:pPr>
            <a:r>
              <a:rPr sz="1800" dirty="0" err="1"/>
              <a:t>Piezas</a:t>
            </a:r>
            <a:r>
              <a:rPr sz="1800" dirty="0"/>
              <a:t> </a:t>
            </a:r>
            <a:r>
              <a:rPr sz="1800" dirty="0" err="1"/>
              <a:t>consumidas</a:t>
            </a:r>
            <a:endParaRPr sz="1800" dirty="0"/>
          </a:p>
        </p:txBody>
      </p:sp>
      <p:cxnSp>
        <p:nvCxnSpPr>
          <p:cNvPr id="5" name="Connector 4"/>
          <p:cNvCxnSpPr/>
          <p:nvPr/>
        </p:nvCxnSpPr>
        <p:spPr>
          <a:xfrm>
            <a:off x="169840" y="1246056"/>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80000" y="4278695"/>
            <a:ext cx="6840000" cy="288000"/>
          </a:xfrm>
          <a:prstGeom prst="rect">
            <a:avLst/>
          </a:prstGeom>
          <a:noFill/>
        </p:spPr>
        <p:txBody>
          <a:bodyPr wrap="none" lIns="0" tIns="0" rIns="0" bIns="0">
            <a:spAutoFit/>
          </a:bodyPr>
          <a:lstStyle/>
          <a:p>
            <a:pPr algn="l">
              <a:defRPr sz="1800" b="0">
                <a:solidFill>
                  <a:srgbClr val="BC955C"/>
                </a:solidFill>
                <a:latin typeface="Montserrat"/>
              </a:defRPr>
            </a:pPr>
            <a:r>
              <a:rPr dirty="0" err="1"/>
              <a:t>Medicamentos</a:t>
            </a:r>
            <a:r>
              <a:rPr dirty="0"/>
              <a:t> con mayor </a:t>
            </a:r>
            <a:r>
              <a:rPr dirty="0" err="1"/>
              <a:t>demanda</a:t>
            </a:r>
            <a:endParaRPr dirty="0"/>
          </a:p>
        </p:txBody>
      </p:sp>
      <p:cxnSp>
        <p:nvCxnSpPr>
          <p:cNvPr id="8" name="Connector 7"/>
          <p:cNvCxnSpPr/>
          <p:nvPr/>
        </p:nvCxnSpPr>
        <p:spPr>
          <a:xfrm>
            <a:off x="180000" y="4548695"/>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2016907761"/>
              </p:ext>
            </p:extLst>
          </p:nvPr>
        </p:nvGraphicFramePr>
        <p:xfrm>
          <a:off x="180000" y="4728695"/>
          <a:ext cx="7200000" cy="2145600"/>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198000">
                <a:tc gridSpan="2">
                  <a:txBody>
                    <a:bodyPr/>
                    <a:lstStyle/>
                    <a:p>
                      <a:pPr algn="ctr">
                        <a:defRPr sz="1000" b="1">
                          <a:solidFill>
                            <a:srgbClr val="FFFFFF"/>
                          </a:solidFill>
                          <a:latin typeface="Montserrat"/>
                        </a:defRPr>
                      </a:pPr>
                      <a:r>
                        <a:rPr dirty="0"/>
                        <a:t>Con mayor </a:t>
                      </a:r>
                      <a:r>
                        <a:rPr dirty="0" err="1"/>
                        <a:t>demanda</a:t>
                      </a:r>
                      <a:r>
                        <a:rPr dirty="0"/>
                        <a:t> de </a:t>
                      </a:r>
                      <a:r>
                        <a:rPr dirty="0" err="1"/>
                        <a:t>enero</a:t>
                      </a:r>
                      <a:r>
                        <a:rPr dirty="0"/>
                        <a:t> a </a:t>
                      </a:r>
                      <a:r>
                        <a:rPr lang="es-MX" dirty="0"/>
                        <a:t>mayo</a:t>
                      </a:r>
                      <a:r>
                        <a:rPr dirty="0"/>
                        <a:t>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16000">
                <a:tc>
                  <a:txBody>
                    <a:bodyPr/>
                    <a:lstStyle/>
                    <a:p>
                      <a:pPr algn="ctr">
                        <a:defRPr sz="900" b="1">
                          <a:solidFill>
                            <a:srgbClr val="FFFFFF"/>
                          </a:solidFill>
                          <a:latin typeface="Montserrat"/>
                        </a:defRPr>
                      </a:pPr>
                      <a:r>
                        <a:rPr dirty="0" err="1"/>
                        <a:t>Nombre</a:t>
                      </a:r>
                      <a:endParaRPr dirty="0"/>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extLst>
                  <a:ext uri="{0D108BD9-81ED-4DB2-BD59-A6C34878D82A}">
                    <a16:rowId xmlns:a16="http://schemas.microsoft.com/office/drawing/2014/main" val="10001"/>
                  </a:ext>
                </a:extLst>
              </a:tr>
              <a:tr h="162000">
                <a:tc>
                  <a:txBody>
                    <a:bodyPr/>
                    <a:lstStyle/>
                    <a:p>
                      <a:pPr algn="l">
                        <a:defRPr sz="900" b="0">
                          <a:solidFill>
                            <a:srgbClr val="333333"/>
                          </a:solidFill>
                          <a:latin typeface="Montserrat"/>
                        </a:defRPr>
                      </a:pPr>
                      <a:r>
                        <a:rPr dirty="0" err="1"/>
                        <a:t>Paracetamol</a:t>
                      </a:r>
                      <a:r>
                        <a:rPr dirty="0"/>
                        <a:t>, </a:t>
                      </a:r>
                      <a:r>
                        <a:rPr dirty="0" err="1"/>
                        <a:t>tableta</a:t>
                      </a:r>
                      <a:r>
                        <a:rPr dirty="0"/>
                        <a:t> (</a:t>
                      </a:r>
                      <a:r>
                        <a:rPr dirty="0" err="1"/>
                        <a:t>analgésico</a:t>
                      </a:r>
                      <a:r>
                        <a:rPr dirty="0"/>
                        <a:t>)</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338,800</a:t>
                      </a:r>
                      <a:endParaRPr dirty="0"/>
                    </a:p>
                  </a:txBody>
                  <a:tcPr marL="18000" marR="18000" marT="18000" marB="18000" anchor="ctr">
                    <a:solidFill>
                      <a:srgbClr val="F2F2F2"/>
                    </a:solidFill>
                  </a:tcPr>
                </a:tc>
                <a:extLst>
                  <a:ext uri="{0D108BD9-81ED-4DB2-BD59-A6C34878D82A}">
                    <a16:rowId xmlns:a16="http://schemas.microsoft.com/office/drawing/2014/main" val="10002"/>
                  </a:ext>
                </a:extLst>
              </a:tr>
              <a:tr h="162000">
                <a:tc>
                  <a:txBody>
                    <a:bodyPr/>
                    <a:lstStyle/>
                    <a:p>
                      <a:pPr algn="l">
                        <a:defRPr sz="900" b="0">
                          <a:solidFill>
                            <a:srgbClr val="333333"/>
                          </a:solidFill>
                          <a:latin typeface="Montserrat"/>
                        </a:defRPr>
                      </a:pPr>
                      <a:r>
                        <a:rPr dirty="0" err="1"/>
                        <a:t>Losartán</a:t>
                      </a:r>
                      <a:r>
                        <a:rPr dirty="0"/>
                        <a:t>, </a:t>
                      </a:r>
                      <a:r>
                        <a:rPr dirty="0" err="1"/>
                        <a:t>gragea</a:t>
                      </a:r>
                      <a:r>
                        <a:rPr dirty="0"/>
                        <a:t> o </a:t>
                      </a:r>
                      <a:r>
                        <a:rPr dirty="0" err="1"/>
                        <a:t>comprimido</a:t>
                      </a:r>
                      <a:r>
                        <a:rPr dirty="0"/>
                        <a:t> </a:t>
                      </a:r>
                      <a:r>
                        <a:rPr dirty="0" err="1"/>
                        <a:t>recubierto</a:t>
                      </a:r>
                      <a:r>
                        <a:rPr dirty="0"/>
                        <a:t> (</a:t>
                      </a:r>
                      <a:r>
                        <a:rPr dirty="0" err="1"/>
                        <a:t>hipertensión</a:t>
                      </a:r>
                      <a:r>
                        <a:rPr dirty="0"/>
                        <a:t>)</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209,277</a:t>
                      </a:r>
                      <a:endParaRPr dirty="0"/>
                    </a:p>
                  </a:txBody>
                  <a:tcPr marL="18000" marR="18000" marT="18000" marB="18000" anchor="ctr">
                    <a:solidFill>
                      <a:srgbClr val="FFFFFF"/>
                    </a:solidFill>
                  </a:tcPr>
                </a:tc>
                <a:extLst>
                  <a:ext uri="{0D108BD9-81ED-4DB2-BD59-A6C34878D82A}">
                    <a16:rowId xmlns:a16="http://schemas.microsoft.com/office/drawing/2014/main" val="10003"/>
                  </a:ext>
                </a:extLst>
              </a:tr>
              <a:tr h="162000">
                <a:tc>
                  <a:txBody>
                    <a:bodyPr/>
                    <a:lstStyle/>
                    <a:p>
                      <a:pPr algn="l">
                        <a:defRPr sz="900" b="0">
                          <a:solidFill>
                            <a:srgbClr val="333333"/>
                          </a:solidFill>
                          <a:latin typeface="Montserrat"/>
                        </a:defRPr>
                      </a:pPr>
                      <a:r>
                        <a:rPr dirty="0" err="1"/>
                        <a:t>Dieta</a:t>
                      </a:r>
                      <a:r>
                        <a:rPr dirty="0"/>
                        <a:t> </a:t>
                      </a:r>
                      <a:r>
                        <a:rPr dirty="0" err="1"/>
                        <a:t>polimérica</a:t>
                      </a:r>
                      <a:r>
                        <a:rPr dirty="0"/>
                        <a:t> sin </a:t>
                      </a:r>
                      <a:r>
                        <a:rPr dirty="0" err="1"/>
                        <a:t>fibra</a:t>
                      </a:r>
                      <a:r>
                        <a:rPr dirty="0"/>
                        <a:t>, </a:t>
                      </a:r>
                      <a:r>
                        <a:rPr dirty="0" err="1"/>
                        <a:t>suspensión</a:t>
                      </a:r>
                      <a:r>
                        <a:rPr dirty="0"/>
                        <a:t> (</a:t>
                      </a:r>
                      <a:r>
                        <a:rPr dirty="0" err="1"/>
                        <a:t>nutrición</a:t>
                      </a:r>
                      <a:r>
                        <a:rPr dirty="0"/>
                        <a:t>)</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205,195</a:t>
                      </a:r>
                      <a:endParaRPr dirty="0"/>
                    </a:p>
                  </a:txBody>
                  <a:tcPr marL="18000" marR="18000" marT="18000" marB="18000" anchor="ctr">
                    <a:solidFill>
                      <a:srgbClr val="F2F2F2"/>
                    </a:solidFill>
                  </a:tcPr>
                </a:tc>
                <a:extLst>
                  <a:ext uri="{0D108BD9-81ED-4DB2-BD59-A6C34878D82A}">
                    <a16:rowId xmlns:a16="http://schemas.microsoft.com/office/drawing/2014/main" val="10004"/>
                  </a:ext>
                </a:extLst>
              </a:tr>
              <a:tr h="162000">
                <a:tc>
                  <a:txBody>
                    <a:bodyPr/>
                    <a:lstStyle/>
                    <a:p>
                      <a:pPr algn="l">
                        <a:defRPr sz="900" b="0">
                          <a:solidFill>
                            <a:srgbClr val="333333"/>
                          </a:solidFill>
                          <a:latin typeface="Montserrat"/>
                        </a:defRPr>
                      </a:pPr>
                      <a:r>
                        <a:rPr dirty="0" err="1"/>
                        <a:t>Atorvastatina</a:t>
                      </a:r>
                      <a:r>
                        <a:rPr dirty="0"/>
                        <a:t>, </a:t>
                      </a:r>
                      <a:r>
                        <a:rPr dirty="0" err="1"/>
                        <a:t>tableta</a:t>
                      </a:r>
                      <a:r>
                        <a:rPr dirty="0"/>
                        <a:t> (</a:t>
                      </a:r>
                      <a:r>
                        <a:rPr dirty="0" err="1"/>
                        <a:t>reducir</a:t>
                      </a:r>
                      <a:r>
                        <a:rPr dirty="0"/>
                        <a:t> </a:t>
                      </a:r>
                      <a:r>
                        <a:rPr dirty="0" err="1"/>
                        <a:t>colesterol</a:t>
                      </a:r>
                      <a:r>
                        <a:rPr dirty="0"/>
                        <a:t> y </a:t>
                      </a:r>
                      <a:r>
                        <a:rPr dirty="0" err="1"/>
                        <a:t>triglicéridos</a:t>
                      </a:r>
                      <a:r>
                        <a:rPr dirty="0"/>
                        <a:t>)                          </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159,725</a:t>
                      </a:r>
                      <a:endParaRPr dirty="0"/>
                    </a:p>
                  </a:txBody>
                  <a:tcPr marL="18000" marR="18000" marT="18000" marB="18000" anchor="ctr">
                    <a:solidFill>
                      <a:srgbClr val="FFFFFF"/>
                    </a:solidFill>
                  </a:tcPr>
                </a:tc>
                <a:extLst>
                  <a:ext uri="{0D108BD9-81ED-4DB2-BD59-A6C34878D82A}">
                    <a16:rowId xmlns:a16="http://schemas.microsoft.com/office/drawing/2014/main" val="10005"/>
                  </a:ext>
                </a:extLst>
              </a:tr>
              <a:tr h="162000">
                <a:tc>
                  <a:txBody>
                    <a:bodyPr/>
                    <a:lstStyle/>
                    <a:p>
                      <a:pPr algn="l">
                        <a:defRPr sz="900" b="0">
                          <a:solidFill>
                            <a:srgbClr val="333333"/>
                          </a:solidFill>
                          <a:latin typeface="Montserrat"/>
                        </a:defRPr>
                      </a:pPr>
                      <a:r>
                        <a:rPr dirty="0" err="1"/>
                        <a:t>Metformina</a:t>
                      </a:r>
                      <a:r>
                        <a:rPr dirty="0"/>
                        <a:t>, </a:t>
                      </a:r>
                      <a:r>
                        <a:rPr dirty="0" err="1"/>
                        <a:t>tableta</a:t>
                      </a:r>
                      <a:r>
                        <a:rPr dirty="0"/>
                        <a:t> (</a:t>
                      </a:r>
                      <a:r>
                        <a:rPr dirty="0" err="1"/>
                        <a:t>hipoglucemiante</a:t>
                      </a:r>
                      <a:r>
                        <a:rPr dirty="0"/>
                        <a:t>)                                                                                                                                                    </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134,609</a:t>
                      </a:r>
                      <a:endParaRPr dirty="0"/>
                    </a:p>
                  </a:txBody>
                  <a:tcPr marL="18000" marR="18000" marT="18000" marB="18000" anchor="ctr">
                    <a:solidFill>
                      <a:srgbClr val="F2F2F2"/>
                    </a:solidFill>
                  </a:tcPr>
                </a:tc>
                <a:extLst>
                  <a:ext uri="{0D108BD9-81ED-4DB2-BD59-A6C34878D82A}">
                    <a16:rowId xmlns:a16="http://schemas.microsoft.com/office/drawing/2014/main" val="10006"/>
                  </a:ext>
                </a:extLst>
              </a:tr>
              <a:tr h="162000">
                <a:tc>
                  <a:txBody>
                    <a:bodyPr/>
                    <a:lstStyle/>
                    <a:p>
                      <a:pPr algn="l">
                        <a:defRPr sz="900" b="0">
                          <a:solidFill>
                            <a:srgbClr val="333333"/>
                          </a:solidFill>
                          <a:latin typeface="Montserrat"/>
                        </a:defRPr>
                      </a:pPr>
                      <a:r>
                        <a:rPr dirty="0" err="1"/>
                        <a:t>Gabapentina</a:t>
                      </a:r>
                      <a:r>
                        <a:rPr dirty="0"/>
                        <a:t>, </a:t>
                      </a:r>
                      <a:r>
                        <a:rPr dirty="0" err="1"/>
                        <a:t>cápsula</a:t>
                      </a:r>
                      <a:r>
                        <a:rPr dirty="0"/>
                        <a:t> (</a:t>
                      </a:r>
                      <a:r>
                        <a:rPr dirty="0" err="1"/>
                        <a:t>antiepiléptico</a:t>
                      </a:r>
                      <a:r>
                        <a:rPr dirty="0"/>
                        <a:t>)                                                                                                                                                                </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127,887</a:t>
                      </a:r>
                      <a:endParaRPr dirty="0"/>
                    </a:p>
                  </a:txBody>
                  <a:tcPr marL="18000" marR="18000" marT="18000" marB="18000" anchor="ctr">
                    <a:solidFill>
                      <a:srgbClr val="FFFFFF"/>
                    </a:solidFill>
                  </a:tcPr>
                </a:tc>
                <a:extLst>
                  <a:ext uri="{0D108BD9-81ED-4DB2-BD59-A6C34878D82A}">
                    <a16:rowId xmlns:a16="http://schemas.microsoft.com/office/drawing/2014/main" val="10007"/>
                  </a:ext>
                </a:extLst>
              </a:tr>
              <a:tr h="162000">
                <a:tc>
                  <a:txBody>
                    <a:bodyPr/>
                    <a:lstStyle/>
                    <a:p>
                      <a:pPr algn="l">
                        <a:defRPr sz="900" b="0">
                          <a:solidFill>
                            <a:srgbClr val="333333"/>
                          </a:solidFill>
                          <a:latin typeface="Montserrat"/>
                        </a:defRPr>
                      </a:pPr>
                      <a:r>
                        <a:rPr dirty="0" err="1"/>
                        <a:t>Celecoxib</a:t>
                      </a:r>
                      <a:r>
                        <a:rPr dirty="0"/>
                        <a:t>, </a:t>
                      </a:r>
                      <a:r>
                        <a:rPr dirty="0" err="1"/>
                        <a:t>cápsula</a:t>
                      </a:r>
                      <a:r>
                        <a:rPr dirty="0"/>
                        <a:t> (</a:t>
                      </a:r>
                      <a:r>
                        <a:rPr dirty="0" err="1"/>
                        <a:t>antiinflamatorio</a:t>
                      </a:r>
                      <a:r>
                        <a:rPr dirty="0"/>
                        <a:t>)</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127,051</a:t>
                      </a:r>
                      <a:endParaRPr dirty="0"/>
                    </a:p>
                  </a:txBody>
                  <a:tcPr marL="18000" marR="18000" marT="18000" marB="18000" anchor="ctr">
                    <a:solidFill>
                      <a:srgbClr val="F2F2F2"/>
                    </a:solidFill>
                  </a:tcPr>
                </a:tc>
                <a:extLst>
                  <a:ext uri="{0D108BD9-81ED-4DB2-BD59-A6C34878D82A}">
                    <a16:rowId xmlns:a16="http://schemas.microsoft.com/office/drawing/2014/main" val="10008"/>
                  </a:ext>
                </a:extLst>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118,317</a:t>
                      </a:r>
                      <a:endParaRPr dirty="0"/>
                    </a:p>
                  </a:txBody>
                  <a:tcPr marL="18000" marR="18000" marT="18000" marB="18000" anchor="ctr">
                    <a:solidFill>
                      <a:srgbClr val="FFFFFF"/>
                    </a:solidFill>
                  </a:tcPr>
                </a:tc>
                <a:extLst>
                  <a:ext uri="{0D108BD9-81ED-4DB2-BD59-A6C34878D82A}">
                    <a16:rowId xmlns:a16="http://schemas.microsoft.com/office/drawing/2014/main" val="10009"/>
                  </a:ext>
                </a:extLst>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113,254</a:t>
                      </a:r>
                      <a:endParaRPr dirty="0"/>
                    </a:p>
                  </a:txBody>
                  <a:tcPr marL="18000" marR="18000" marT="18000" marB="18000" anchor="ctr">
                    <a:solidFill>
                      <a:srgbClr val="F2F2F2"/>
                    </a:solidFill>
                  </a:tcPr>
                </a:tc>
                <a:extLst>
                  <a:ext uri="{0D108BD9-81ED-4DB2-BD59-A6C34878D82A}">
                    <a16:rowId xmlns:a16="http://schemas.microsoft.com/office/drawing/2014/main" val="10010"/>
                  </a:ext>
                </a:extLst>
              </a:tr>
              <a:tr h="162000">
                <a:tc>
                  <a:txBody>
                    <a:bodyPr/>
                    <a:lstStyle/>
                    <a:p>
                      <a:pPr algn="l">
                        <a:defRPr sz="900" b="0">
                          <a:solidFill>
                            <a:srgbClr val="333333"/>
                          </a:solidFill>
                          <a:latin typeface="Montserrat"/>
                        </a:defRPr>
                      </a:pPr>
                      <a:r>
                        <a:t>Complejo B, tableta, comprimido o cápsula (vitamínico)</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107,206</a:t>
                      </a:r>
                      <a:endParaRPr dirty="0"/>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457200" y="9651600"/>
            <a:ext cx="6858000" cy="123111"/>
          </a:xfrm>
          <a:prstGeom prst="rect">
            <a:avLst/>
          </a:prstGeom>
          <a:noFill/>
        </p:spPr>
        <p:txBody>
          <a:bodyPr wrap="square" lIns="0" tIns="0" rIns="0" bIns="0">
            <a:spAutoFit/>
          </a:bodyPr>
          <a:lstStyle/>
          <a:p>
            <a:pPr algn="l">
              <a:defRPr sz="800">
                <a:solidFill>
                  <a:srgbClr val="FFFFFF"/>
                </a:solidFill>
                <a:latin typeface="Montserrat"/>
              </a:defRPr>
            </a:pPr>
            <a:r>
              <a:rPr dirty="0" err="1"/>
              <a:t>Fuente</a:t>
            </a:r>
            <a:r>
              <a:rPr dirty="0"/>
              <a:t>: Portal de Control de </a:t>
            </a:r>
            <a:r>
              <a:rPr dirty="0" err="1"/>
              <a:t>Abasto</a:t>
            </a:r>
            <a:r>
              <a:rPr dirty="0"/>
              <a:t>. En 2026, se </a:t>
            </a:r>
            <a:r>
              <a:rPr dirty="0" err="1"/>
              <a:t>muestra</a:t>
            </a:r>
            <a:r>
              <a:rPr dirty="0"/>
              <a:t> lo </a:t>
            </a:r>
            <a:r>
              <a:rPr dirty="0" err="1"/>
              <a:t>correspondiente</a:t>
            </a:r>
            <a:r>
              <a:rPr dirty="0"/>
              <a:t> al </a:t>
            </a:r>
            <a:r>
              <a:rPr dirty="0" err="1"/>
              <a:t>periodo</a:t>
            </a:r>
            <a:r>
              <a:rPr dirty="0"/>
              <a:t> del 1 de </a:t>
            </a:r>
            <a:r>
              <a:rPr dirty="0" err="1"/>
              <a:t>enero</a:t>
            </a:r>
            <a:r>
              <a:rPr dirty="0"/>
              <a:t> al 3</a:t>
            </a:r>
            <a:r>
              <a:rPr lang="es-MX" dirty="0"/>
              <a:t>1</a:t>
            </a:r>
            <a:r>
              <a:rPr dirty="0"/>
              <a:t> de </a:t>
            </a:r>
            <a:r>
              <a:rPr lang="es-MX" dirty="0"/>
              <a:t>mayo</a:t>
            </a:r>
            <a:r>
              <a:rPr dirty="0"/>
              <a:t> de 2026.</a:t>
            </a:r>
          </a:p>
        </p:txBody>
      </p:sp>
      <p:graphicFrame>
        <p:nvGraphicFramePr>
          <p:cNvPr id="11" name="Gráfico 10">
            <a:extLst>
              <a:ext uri="{FF2B5EF4-FFF2-40B4-BE49-F238E27FC236}">
                <a16:creationId xmlns:a16="http://schemas.microsoft.com/office/drawing/2014/main" id="{850B1015-DF5F-141B-5B50-4745E5EADA55}"/>
              </a:ext>
            </a:extLst>
          </p:cNvPr>
          <p:cNvGraphicFramePr>
            <a:graphicFrameLocks/>
          </p:cNvGraphicFramePr>
          <p:nvPr>
            <p:extLst>
              <p:ext uri="{D42A27DB-BD31-4B8C-83A1-F6EECF244321}">
                <p14:modId xmlns:p14="http://schemas.microsoft.com/office/powerpoint/2010/main" val="1738141880"/>
              </p:ext>
            </p:extLst>
          </p:nvPr>
        </p:nvGraphicFramePr>
        <p:xfrm>
          <a:off x="397277" y="1321293"/>
          <a:ext cx="6913446" cy="27509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24551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2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3"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6"/>
            <a:ext cx="1599000" cy="770400"/>
          </a:xfrm>
          <a:prstGeom prst="rect">
            <a:avLst/>
          </a:prstGeom>
          <a:noFill/>
          <a:ln>
            <a:noFill/>
          </a:ln>
        </p:spPr>
      </p:pic>
      <p:sp>
        <p:nvSpPr>
          <p:cNvPr id="24"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25" name="CuadroTexto 10">
            <a:extLst>
              <a:ext uri="{FF2B5EF4-FFF2-40B4-BE49-F238E27FC236}">
                <a16:creationId xmlns:a16="http://schemas.microsoft.com/office/drawing/2014/main" id="{21AE8FA6-CA77-F761-93C9-BF2570CBBE30}"/>
              </a:ext>
            </a:extLst>
          </p:cNvPr>
          <p:cNvSpPr txBox="1"/>
          <p:nvPr/>
        </p:nvSpPr>
        <p:spPr>
          <a:xfrm>
            <a:off x="-1057996" y="2966663"/>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26"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447350" y="3385230"/>
            <a:ext cx="875508" cy="854908"/>
          </a:xfrm>
          <a:prstGeom prst="rect">
            <a:avLst/>
          </a:prstGeom>
        </p:spPr>
      </p:pic>
      <p:sp>
        <p:nvSpPr>
          <p:cNvPr id="27" name="CuadroTexto 12">
            <a:extLst>
              <a:ext uri="{FF2B5EF4-FFF2-40B4-BE49-F238E27FC236}">
                <a16:creationId xmlns:a16="http://schemas.microsoft.com/office/drawing/2014/main" id="{FD4175D4-66CF-7FBC-B843-C149C5339DF1}"/>
              </a:ext>
            </a:extLst>
          </p:cNvPr>
          <p:cNvSpPr txBox="1"/>
          <p:nvPr/>
        </p:nvSpPr>
        <p:spPr>
          <a:xfrm>
            <a:off x="-1057996" y="3365571"/>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Terapia</a:t>
            </a:r>
            <a:r>
              <a:rPr lang="en-US" sz="700" b="1" dirty="0">
                <a:solidFill>
                  <a:srgbClr val="BC955C"/>
                </a:solidFill>
                <a:latin typeface="Montserrat"/>
              </a:rPr>
              <a:t> </a:t>
            </a:r>
            <a:endParaRPr lang="en-US" dirty="0"/>
          </a:p>
          <a:p>
            <a:pPr algn="ctr"/>
            <a:r>
              <a:rPr lang="en-US" sz="700" b="1" dirty="0" err="1">
                <a:solidFill>
                  <a:srgbClr val="BC955C"/>
                </a:solidFill>
                <a:latin typeface="Montserrat"/>
              </a:rPr>
              <a:t>Intensiva</a:t>
            </a:r>
            <a:endParaRPr lang="en-US" dirty="0"/>
          </a:p>
        </p:txBody>
      </p:sp>
      <p:pic>
        <p:nvPicPr>
          <p:cNvPr id="2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447350" y="4375875"/>
            <a:ext cx="875508" cy="854908"/>
          </a:xfrm>
          <a:prstGeom prst="rect">
            <a:avLst/>
          </a:prstGeom>
        </p:spPr>
      </p:pic>
      <p:sp>
        <p:nvSpPr>
          <p:cNvPr id="29" name="CuadroTexto 12">
            <a:extLst>
              <a:ext uri="{FF2B5EF4-FFF2-40B4-BE49-F238E27FC236}">
                <a16:creationId xmlns:a16="http://schemas.microsoft.com/office/drawing/2014/main" id="{50F1217E-09B0-81A3-6E99-CB1DE729ADDF}"/>
              </a:ext>
            </a:extLst>
          </p:cNvPr>
          <p:cNvSpPr txBox="1"/>
          <p:nvPr/>
        </p:nvSpPr>
        <p:spPr>
          <a:xfrm>
            <a:off x="-1057996" y="4430648"/>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a:p>
        </p:txBody>
      </p:sp>
      <p:sp>
        <p:nvSpPr>
          <p:cNvPr id="30" name="CuadroTexto 10">
            <a:extLst>
              <a:ext uri="{FF2B5EF4-FFF2-40B4-BE49-F238E27FC236}">
                <a16:creationId xmlns:a16="http://schemas.microsoft.com/office/drawing/2014/main" id="{B9C2E918-974F-A566-8C8B-5DDE4ED4290B}"/>
              </a:ext>
            </a:extLst>
          </p:cNvPr>
          <p:cNvSpPr txBox="1"/>
          <p:nvPr/>
        </p:nvSpPr>
        <p:spPr>
          <a:xfrm>
            <a:off x="-1057996" y="161354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31"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412868" y="1984041"/>
            <a:ext cx="875508" cy="854908"/>
          </a:xfrm>
          <a:prstGeom prst="rect">
            <a:avLst/>
          </a:prstGeom>
        </p:spPr>
      </p:pic>
      <p:sp>
        <p:nvSpPr>
          <p:cNvPr id="32" name="CuadroTexto 12">
            <a:extLst>
              <a:ext uri="{FF2B5EF4-FFF2-40B4-BE49-F238E27FC236}">
                <a16:creationId xmlns:a16="http://schemas.microsoft.com/office/drawing/2014/main" id="{A0083CC0-370A-999A-F425-0B0E05DEB5CF}"/>
              </a:ext>
            </a:extLst>
          </p:cNvPr>
          <p:cNvSpPr txBox="1"/>
          <p:nvPr/>
        </p:nvSpPr>
        <p:spPr>
          <a:xfrm>
            <a:off x="-1087167" y="199783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a:solidFill>
                  <a:srgbClr val="BC955C"/>
                </a:solidFill>
                <a:latin typeface="Montserrat"/>
              </a:rPr>
              <a:t>Sala de </a:t>
            </a:r>
          </a:p>
          <a:p>
            <a:pPr algn="ctr"/>
            <a:r>
              <a:rPr lang="en-US" sz="700" b="1" dirty="0" err="1">
                <a:solidFill>
                  <a:srgbClr val="BC955C"/>
                </a:solidFill>
                <a:latin typeface="Montserrat"/>
              </a:rPr>
              <a:t>Hemodinamia</a:t>
            </a:r>
            <a:endParaRPr lang="en-US" sz="700" b="1" dirty="0">
              <a:solidFill>
                <a:srgbClr val="BC955C"/>
              </a:solidFill>
              <a:latin typeface="Montserrat"/>
            </a:endParaRPr>
          </a:p>
        </p:txBody>
      </p:sp>
      <p:graphicFrame>
        <p:nvGraphicFramePr>
          <p:cNvPr id="33" name="Table 16"/>
          <p:cNvGraphicFramePr>
            <a:graphicFrameLocks noGrp="1"/>
          </p:cNvGraphicFramePr>
          <p:nvPr>
            <p:extLst>
              <p:ext uri="{D42A27DB-BD31-4B8C-83A1-F6EECF244321}">
                <p14:modId xmlns:p14="http://schemas.microsoft.com/office/powerpoint/2010/main" val="2388049934"/>
              </p:ext>
            </p:extLst>
          </p:nvPr>
        </p:nvGraphicFramePr>
        <p:xfrm>
          <a:off x="1785600" y="1584000"/>
          <a:ext cx="5295600" cy="1349599"/>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295132">
                <a:tc>
                  <a:txBody>
                    <a:bodyPr/>
                    <a:lstStyle/>
                    <a:p>
                      <a:pPr algn="ctr">
                        <a:defRPr sz="1000" b="1">
                          <a:solidFill>
                            <a:srgbClr val="FFFFFF"/>
                          </a:solidFill>
                          <a:latin typeface="Montserrat"/>
                        </a:defRPr>
                      </a:pPr>
                      <a:r>
                        <a:rPr sz="1000"/>
                        <a:t>Obras de </a:t>
                      </a:r>
                      <a:r>
                        <a:rPr sz="1000" err="1"/>
                        <a:t>Infraestructura</a:t>
                      </a:r>
                      <a:r>
                        <a:rPr sz="1000"/>
                        <a:t> 2025</a:t>
                      </a:r>
                    </a:p>
                  </a:txBody>
                  <a:tcPr marL="3600" marR="3600" marT="3600" marB="3600" anchor="ctr">
                    <a:solidFill>
                      <a:srgbClr val="BC955C"/>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BC955C"/>
                    </a:solidFill>
                  </a:tcPr>
                </a:tc>
                <a:extLst>
                  <a:ext uri="{0D108BD9-81ED-4DB2-BD59-A6C34878D82A}">
                    <a16:rowId xmlns:a16="http://schemas.microsoft.com/office/drawing/2014/main" val="10000"/>
                  </a:ext>
                </a:extLst>
              </a:tr>
              <a:tr h="295132">
                <a:tc>
                  <a:txBody>
                    <a:bodyPr/>
                    <a:lstStyle/>
                    <a:p>
                      <a:pPr algn="l">
                        <a:lnSpc>
                          <a:spcPct val="100000"/>
                        </a:lnSpc>
                      </a:pPr>
                      <a:r>
                        <a:rPr sz="1000">
                          <a:latin typeface="Montserrat"/>
                        </a:rPr>
                        <a:t>Nueva Sala de </a:t>
                      </a:r>
                      <a:r>
                        <a:rPr sz="1000" err="1">
                          <a:latin typeface="Montserrat"/>
                        </a:rPr>
                        <a:t>Hemodinamia</a:t>
                      </a:r>
                      <a:r>
                        <a:rPr sz="1000">
                          <a:latin typeface="Montserrat"/>
                        </a:rPr>
                        <a:t> HGR 1 Acapulco de Juárez </a:t>
                      </a:r>
                    </a:p>
                  </a:txBody>
                  <a:tcPr marL="3600" marR="3600" marT="3600" marB="3600" anchor="ctr">
                    <a:solidFill>
                      <a:srgbClr val="FFFFFF"/>
                    </a:solidFill>
                  </a:tcPr>
                </a:tc>
                <a:tc>
                  <a:txBody>
                    <a:bodyPr/>
                    <a:lstStyle/>
                    <a:p>
                      <a:pPr algn="ctr">
                        <a:lnSpc>
                          <a:spcPct val="100000"/>
                        </a:lnSpc>
                      </a:pPr>
                      <a:r>
                        <a:rPr sz="1000">
                          <a:latin typeface="Montserrat"/>
                        </a:rPr>
                        <a:t>$49.3</a:t>
                      </a:r>
                    </a:p>
                  </a:txBody>
                  <a:tcPr marL="3600" marR="3600" marT="3600" marB="3600" anchor="ctr">
                    <a:solidFill>
                      <a:srgbClr val="FFFFFF"/>
                    </a:solidFill>
                  </a:tcPr>
                </a:tc>
                <a:extLst>
                  <a:ext uri="{0D108BD9-81ED-4DB2-BD59-A6C34878D82A}">
                    <a16:rowId xmlns:a16="http://schemas.microsoft.com/office/drawing/2014/main" val="10001"/>
                  </a:ext>
                </a:extLst>
              </a:tr>
              <a:tr h="464203">
                <a:tc>
                  <a:txBody>
                    <a:bodyPr/>
                    <a:lstStyle/>
                    <a:p>
                      <a:pPr algn="l">
                        <a:lnSpc>
                          <a:spcPct val="100000"/>
                        </a:lnSpc>
                      </a:pPr>
                      <a:r>
                        <a:rPr sz="1000" err="1">
                          <a:latin typeface="Montserrat"/>
                        </a:rPr>
                        <a:t>Techado</a:t>
                      </a:r>
                      <a:r>
                        <a:rPr sz="1000">
                          <a:latin typeface="Montserrat"/>
                        </a:rPr>
                        <a:t> de dos canchas de </a:t>
                      </a:r>
                      <a:r>
                        <a:rPr sz="1000" err="1">
                          <a:latin typeface="Montserrat"/>
                        </a:rPr>
                        <a:t>basquetbol</a:t>
                      </a:r>
                      <a:r>
                        <a:rPr sz="1000">
                          <a:latin typeface="Montserrat"/>
                        </a:rPr>
                        <a:t> del Centro de </a:t>
                      </a:r>
                      <a:r>
                        <a:rPr sz="1000" err="1">
                          <a:latin typeface="Montserrat"/>
                        </a:rPr>
                        <a:t>Seguridad</a:t>
                      </a:r>
                      <a:r>
                        <a:rPr sz="1000">
                          <a:latin typeface="Montserrat"/>
                        </a:rPr>
                        <a:t> Social de Acapulco</a:t>
                      </a:r>
                    </a:p>
                  </a:txBody>
                  <a:tcPr marL="3600" marR="3600" marT="3600" marB="3600" anchor="ctr">
                    <a:lnB w="12700" cap="flat" cmpd="sng" algn="ctr">
                      <a:noFill/>
                      <a:prstDash val="solid"/>
                      <a:round/>
                      <a:headEnd type="none" w="med" len="med"/>
                      <a:tailEnd type="none" w="med" len="med"/>
                    </a:lnB>
                    <a:solidFill>
                      <a:srgbClr val="D9D9D9"/>
                    </a:solidFill>
                  </a:tcPr>
                </a:tc>
                <a:tc>
                  <a:txBody>
                    <a:bodyPr/>
                    <a:lstStyle/>
                    <a:p>
                      <a:pPr algn="ctr">
                        <a:lnSpc>
                          <a:spcPct val="100000"/>
                        </a:lnSpc>
                      </a:pPr>
                      <a:r>
                        <a:rPr sz="1000">
                          <a:latin typeface="Montserrat"/>
                        </a:rPr>
                        <a:t>$10.6</a:t>
                      </a:r>
                    </a:p>
                  </a:txBody>
                  <a:tcPr marL="3600" marR="3600" marT="3600" marB="3600" anchor="ctr">
                    <a:lnB w="12700" cap="flat" cmpd="sng" algn="ctr">
                      <a:no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295132">
                <a:tc>
                  <a:txBody>
                    <a:bodyPr/>
                    <a:lstStyle/>
                    <a:p>
                      <a:pPr algn="l">
                        <a:lnSpc>
                          <a:spcPct val="100000"/>
                        </a:lnSpc>
                        <a:defRPr sz="900" b="1">
                          <a:solidFill>
                            <a:srgbClr val="BC955C"/>
                          </a:solidFill>
                          <a:latin typeface="Montserrat"/>
                        </a:defRPr>
                      </a:pPr>
                      <a:r>
                        <a:rPr sz="1000"/>
                        <a:t>Subtotal</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ECE1D2"/>
                    </a:solidFill>
                  </a:tcPr>
                </a:tc>
                <a:tc>
                  <a:txBody>
                    <a:bodyPr/>
                    <a:lstStyle/>
                    <a:p>
                      <a:pPr algn="ctr">
                        <a:lnSpc>
                          <a:spcPct val="100000"/>
                        </a:lnSpc>
                        <a:defRPr sz="900" b="1">
                          <a:solidFill>
                            <a:srgbClr val="BC955C"/>
                          </a:solidFill>
                          <a:latin typeface="Montserrat"/>
                        </a:defRPr>
                      </a:pPr>
                      <a:r>
                        <a:rPr sz="1000"/>
                        <a:t>$59.9</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ECE1D2"/>
                    </a:solidFill>
                  </a:tcPr>
                </a:tc>
                <a:extLst>
                  <a:ext uri="{0D108BD9-81ED-4DB2-BD59-A6C34878D82A}">
                    <a16:rowId xmlns:a16="http://schemas.microsoft.com/office/drawing/2014/main" val="10003"/>
                  </a:ext>
                </a:extLst>
              </a:tr>
            </a:tbl>
          </a:graphicData>
        </a:graphic>
      </p:graphicFrame>
      <p:graphicFrame>
        <p:nvGraphicFramePr>
          <p:cNvPr id="34" name="Table 17"/>
          <p:cNvGraphicFramePr>
            <a:graphicFrameLocks noGrp="1"/>
          </p:cNvGraphicFramePr>
          <p:nvPr>
            <p:extLst>
              <p:ext uri="{D42A27DB-BD31-4B8C-83A1-F6EECF244321}">
                <p14:modId xmlns:p14="http://schemas.microsoft.com/office/powerpoint/2010/main" val="925440828"/>
              </p:ext>
            </p:extLst>
          </p:nvPr>
        </p:nvGraphicFramePr>
        <p:xfrm>
          <a:off x="1785600" y="3102400"/>
          <a:ext cx="5295600" cy="3792896"/>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77962">
                <a:tc>
                  <a:txBody>
                    <a:bodyPr/>
                    <a:lstStyle/>
                    <a:p>
                      <a:pPr algn="ctr">
                        <a:defRPr sz="1000" b="1">
                          <a:solidFill>
                            <a:srgbClr val="FFFFFF"/>
                          </a:solidFill>
                          <a:latin typeface="Montserrat"/>
                        </a:defRPr>
                      </a:pPr>
                      <a:r>
                        <a:rPr sz="1000"/>
                        <a:t>Obras de </a:t>
                      </a:r>
                      <a:r>
                        <a:rPr sz="1000" err="1"/>
                        <a:t>Conservación</a:t>
                      </a:r>
                      <a:r>
                        <a:rPr sz="1000"/>
                        <a:t> 2025</a:t>
                      </a:r>
                    </a:p>
                  </a:txBody>
                  <a:tcPr marL="3600" marR="3600" marT="3600" marB="3600" anchor="ctr">
                    <a:solidFill>
                      <a:srgbClr val="BC955C"/>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BC955C"/>
                    </a:solidFill>
                  </a:tcPr>
                </a:tc>
                <a:extLst>
                  <a:ext uri="{0D108BD9-81ED-4DB2-BD59-A6C34878D82A}">
                    <a16:rowId xmlns:a16="http://schemas.microsoft.com/office/drawing/2014/main" val="10000"/>
                  </a:ext>
                </a:extLst>
              </a:tr>
              <a:tr h="377962">
                <a:tc>
                  <a:txBody>
                    <a:bodyPr/>
                    <a:lstStyle/>
                    <a:p>
                      <a:pPr algn="l">
                        <a:lnSpc>
                          <a:spcPct val="100000"/>
                        </a:lnSpc>
                      </a:pPr>
                      <a:r>
                        <a:rPr sz="1000">
                          <a:latin typeface="Montserrat"/>
                        </a:rPr>
                        <a:t>Mantenimiento de Infraestructura (PAO 2025)</a:t>
                      </a:r>
                    </a:p>
                  </a:txBody>
                  <a:tcPr marL="3600" marR="3600" marT="3600" marB="3600" anchor="ctr">
                    <a:solidFill>
                      <a:srgbClr val="FFFFFF"/>
                    </a:solidFill>
                  </a:tcPr>
                </a:tc>
                <a:tc>
                  <a:txBody>
                    <a:bodyPr/>
                    <a:lstStyle/>
                    <a:p>
                      <a:pPr algn="ctr">
                        <a:lnSpc>
                          <a:spcPct val="100000"/>
                        </a:lnSpc>
                      </a:pPr>
                      <a:r>
                        <a:rPr sz="1000">
                          <a:latin typeface="Montserrat"/>
                        </a:rPr>
                        <a:t>$496.3</a:t>
                      </a:r>
                    </a:p>
                  </a:txBody>
                  <a:tcPr marL="3600" marR="3600" marT="3600" marB="3600" anchor="ctr">
                    <a:solidFill>
                      <a:srgbClr val="FFFFFF"/>
                    </a:solidFill>
                  </a:tcPr>
                </a:tc>
                <a:extLst>
                  <a:ext uri="{0D108BD9-81ED-4DB2-BD59-A6C34878D82A}">
                    <a16:rowId xmlns:a16="http://schemas.microsoft.com/office/drawing/2014/main" val="10001"/>
                  </a:ext>
                </a:extLst>
              </a:tr>
              <a:tr h="377962">
                <a:tc>
                  <a:txBody>
                    <a:bodyPr/>
                    <a:lstStyle/>
                    <a:p>
                      <a:pPr algn="l">
                        <a:lnSpc>
                          <a:spcPct val="100000"/>
                        </a:lnSpc>
                      </a:pPr>
                      <a:r>
                        <a:rPr sz="1000">
                          <a:latin typeface="Montserrat"/>
                        </a:rPr>
                        <a:t>Intervención en áreas de mejora en subdelegaciones en 3 unidades (Acapulco, Chilpancingo, Iguala)</a:t>
                      </a:r>
                    </a:p>
                  </a:txBody>
                  <a:tcPr marL="3600" marR="3600" marT="3600" marB="3600" anchor="ctr">
                    <a:solidFill>
                      <a:srgbClr val="D9D9D9"/>
                    </a:solidFill>
                  </a:tcPr>
                </a:tc>
                <a:tc>
                  <a:txBody>
                    <a:bodyPr/>
                    <a:lstStyle/>
                    <a:p>
                      <a:pPr algn="ctr">
                        <a:lnSpc>
                          <a:spcPct val="100000"/>
                        </a:lnSpc>
                      </a:pPr>
                      <a:r>
                        <a:rPr sz="1000">
                          <a:latin typeface="Montserrat"/>
                        </a:rPr>
                        <a:t>$50.1</a:t>
                      </a:r>
                    </a:p>
                  </a:txBody>
                  <a:tcPr marL="3600" marR="3600" marT="3600" marB="3600" anchor="ctr">
                    <a:solidFill>
                      <a:srgbClr val="D9D9D9"/>
                    </a:solidFill>
                  </a:tcPr>
                </a:tc>
                <a:extLst>
                  <a:ext uri="{0D108BD9-81ED-4DB2-BD59-A6C34878D82A}">
                    <a16:rowId xmlns:a16="http://schemas.microsoft.com/office/drawing/2014/main" val="10002"/>
                  </a:ext>
                </a:extLst>
              </a:tr>
              <a:tr h="377962">
                <a:tc>
                  <a:txBody>
                    <a:bodyPr/>
                    <a:lstStyle/>
                    <a:p>
                      <a:pPr algn="l">
                        <a:lnSpc>
                          <a:spcPct val="100000"/>
                        </a:lnSpc>
                      </a:pPr>
                      <a:r>
                        <a:rPr sz="1000">
                          <a:latin typeface="Montserrat"/>
                        </a:rPr>
                        <a:t>Intervención en áreas de terapia intensiva en HGR No.1 Acapulco</a:t>
                      </a:r>
                    </a:p>
                  </a:txBody>
                  <a:tcPr marL="3600" marR="3600" marT="3600" marB="3600" anchor="ctr">
                    <a:solidFill>
                      <a:srgbClr val="FFFFFF"/>
                    </a:solidFill>
                  </a:tcPr>
                </a:tc>
                <a:tc>
                  <a:txBody>
                    <a:bodyPr/>
                    <a:lstStyle/>
                    <a:p>
                      <a:pPr algn="ctr">
                        <a:lnSpc>
                          <a:spcPct val="100000"/>
                        </a:lnSpc>
                      </a:pPr>
                      <a:r>
                        <a:rPr sz="1000">
                          <a:latin typeface="Montserrat"/>
                        </a:rPr>
                        <a:t>$23.5</a:t>
                      </a:r>
                    </a:p>
                  </a:txBody>
                  <a:tcPr marL="3600" marR="3600" marT="3600" marB="3600" anchor="ctr">
                    <a:solidFill>
                      <a:srgbClr val="FFFFFF"/>
                    </a:solidFill>
                  </a:tcPr>
                </a:tc>
                <a:extLst>
                  <a:ext uri="{0D108BD9-81ED-4DB2-BD59-A6C34878D82A}">
                    <a16:rowId xmlns:a16="http://schemas.microsoft.com/office/drawing/2014/main" val="10003"/>
                  </a:ext>
                </a:extLst>
              </a:tr>
              <a:tr h="656018">
                <a:tc>
                  <a:txBody>
                    <a:bodyPr/>
                    <a:lstStyle/>
                    <a:p>
                      <a:pPr algn="l">
                        <a:lnSpc>
                          <a:spcPct val="100000"/>
                        </a:lnSpc>
                      </a:pPr>
                      <a:r>
                        <a:rPr sz="1000">
                          <a:latin typeface="Montserrat"/>
                        </a:rPr>
                        <a:t>Intervención en áreas de residencias médicas en 9 unidades (HGR No.1 Acapulco, HGSZMF No.3 Chilpancingo, HGSZMF No.19 Pungarabato, HGSZMF No.5 Taxco de Alarcón, UMF No.20 Coyuca de Catalán, UMF No.21 Cutzamala, UMF No.26, UMF No.29 con UMAA, UMF No.9 en Acapulco)</a:t>
                      </a:r>
                    </a:p>
                  </a:txBody>
                  <a:tcPr marL="3600" marR="3600" marT="3600" marB="3600" anchor="ctr">
                    <a:solidFill>
                      <a:srgbClr val="D9D9D9"/>
                    </a:solidFill>
                  </a:tcPr>
                </a:tc>
                <a:tc>
                  <a:txBody>
                    <a:bodyPr/>
                    <a:lstStyle/>
                    <a:p>
                      <a:pPr algn="ctr">
                        <a:lnSpc>
                          <a:spcPct val="100000"/>
                        </a:lnSpc>
                      </a:pPr>
                      <a:r>
                        <a:rPr sz="1000">
                          <a:latin typeface="Montserrat"/>
                        </a:rPr>
                        <a:t>$19.3</a:t>
                      </a:r>
                    </a:p>
                  </a:txBody>
                  <a:tcPr marL="3600" marR="3600" marT="3600" marB="3600" anchor="ctr">
                    <a:solidFill>
                      <a:srgbClr val="D9D9D9"/>
                    </a:solidFill>
                  </a:tcPr>
                </a:tc>
                <a:extLst>
                  <a:ext uri="{0D108BD9-81ED-4DB2-BD59-A6C34878D82A}">
                    <a16:rowId xmlns:a16="http://schemas.microsoft.com/office/drawing/2014/main" val="10004"/>
                  </a:ext>
                </a:extLst>
              </a:tr>
              <a:tr h="377962">
                <a:tc>
                  <a:txBody>
                    <a:bodyPr/>
                    <a:lstStyle/>
                    <a:p>
                      <a:pPr algn="l">
                        <a:lnSpc>
                          <a:spcPct val="100000"/>
                        </a:lnSpc>
                      </a:pPr>
                      <a:r>
                        <a:rPr sz="1000">
                          <a:latin typeface="Montserrat"/>
                        </a:rPr>
                        <a:t>Intervención en áreas de hemodiálisis interna en HGR No.1 Acapulco y UMF No. 29 con UMAA Acapulco</a:t>
                      </a:r>
                    </a:p>
                  </a:txBody>
                  <a:tcPr marL="3600" marR="3600" marT="3600" marB="3600" anchor="ctr">
                    <a:solidFill>
                      <a:srgbClr val="FFFFFF"/>
                    </a:solidFill>
                  </a:tcPr>
                </a:tc>
                <a:tc>
                  <a:txBody>
                    <a:bodyPr/>
                    <a:lstStyle/>
                    <a:p>
                      <a:pPr algn="ctr">
                        <a:lnSpc>
                          <a:spcPct val="100000"/>
                        </a:lnSpc>
                      </a:pPr>
                      <a:r>
                        <a:rPr sz="1000">
                          <a:latin typeface="Montserrat"/>
                        </a:rPr>
                        <a:t>$9.7</a:t>
                      </a:r>
                    </a:p>
                  </a:txBody>
                  <a:tcPr marL="3600" marR="3600" marT="3600" marB="3600" anchor="ctr">
                    <a:solidFill>
                      <a:srgbClr val="FFFFFF"/>
                    </a:solidFill>
                  </a:tcPr>
                </a:tc>
                <a:extLst>
                  <a:ext uri="{0D108BD9-81ED-4DB2-BD59-A6C34878D82A}">
                    <a16:rowId xmlns:a16="http://schemas.microsoft.com/office/drawing/2014/main" val="10005"/>
                  </a:ext>
                </a:extLst>
              </a:tr>
              <a:tr h="377962">
                <a:tc>
                  <a:txBody>
                    <a:bodyPr/>
                    <a:lstStyle/>
                    <a:p>
                      <a:pPr algn="l">
                        <a:lnSpc>
                          <a:spcPct val="100000"/>
                        </a:lnSpc>
                      </a:pPr>
                      <a:r>
                        <a:rPr sz="1000">
                          <a:latin typeface="Montserrat"/>
                        </a:rPr>
                        <a:t>Intervención en áreas de accesibilidad (rampas) en 7 unidades, Guerrero</a:t>
                      </a:r>
                    </a:p>
                  </a:txBody>
                  <a:tcPr marL="3600" marR="3600" marT="3600" marB="3600" anchor="ctr">
                    <a:solidFill>
                      <a:srgbClr val="D9D9D9"/>
                    </a:solidFill>
                  </a:tcPr>
                </a:tc>
                <a:tc>
                  <a:txBody>
                    <a:bodyPr/>
                    <a:lstStyle/>
                    <a:p>
                      <a:pPr algn="ctr">
                        <a:lnSpc>
                          <a:spcPct val="100000"/>
                        </a:lnSpc>
                      </a:pPr>
                      <a:r>
                        <a:rPr sz="1000">
                          <a:latin typeface="Montserrat"/>
                        </a:rPr>
                        <a:t>$6.5</a:t>
                      </a:r>
                    </a:p>
                  </a:txBody>
                  <a:tcPr marL="3600" marR="3600" marT="3600" marB="3600" anchor="ctr">
                    <a:solidFill>
                      <a:srgbClr val="D9D9D9"/>
                    </a:solidFill>
                  </a:tcPr>
                </a:tc>
                <a:extLst>
                  <a:ext uri="{0D108BD9-81ED-4DB2-BD59-A6C34878D82A}">
                    <a16:rowId xmlns:a16="http://schemas.microsoft.com/office/drawing/2014/main" val="10006"/>
                  </a:ext>
                </a:extLst>
              </a:tr>
              <a:tr h="377962">
                <a:tc>
                  <a:txBody>
                    <a:bodyPr/>
                    <a:lstStyle/>
                    <a:p>
                      <a:pPr algn="l">
                        <a:lnSpc>
                          <a:spcPct val="100000"/>
                        </a:lnSpc>
                      </a:pPr>
                      <a:r>
                        <a:rPr sz="1000" err="1">
                          <a:latin typeface="Montserrat"/>
                        </a:rPr>
                        <a:t>Intervención</a:t>
                      </a:r>
                      <a:r>
                        <a:rPr sz="1000">
                          <a:latin typeface="Montserrat"/>
                        </a:rPr>
                        <a:t> </a:t>
                      </a:r>
                      <a:r>
                        <a:rPr sz="1000" err="1">
                          <a:latin typeface="Montserrat"/>
                        </a:rPr>
                        <a:t>en</a:t>
                      </a:r>
                      <a:r>
                        <a:rPr sz="1000">
                          <a:latin typeface="Montserrat"/>
                        </a:rPr>
                        <a:t> </a:t>
                      </a:r>
                      <a:r>
                        <a:rPr sz="1000" err="1">
                          <a:latin typeface="Montserrat"/>
                        </a:rPr>
                        <a:t>áreas</a:t>
                      </a:r>
                      <a:r>
                        <a:rPr sz="1000">
                          <a:latin typeface="Montserrat"/>
                        </a:rPr>
                        <a:t> de </a:t>
                      </a:r>
                      <a:r>
                        <a:rPr sz="1000" err="1">
                          <a:latin typeface="Montserrat"/>
                        </a:rPr>
                        <a:t>salud</a:t>
                      </a:r>
                      <a:r>
                        <a:rPr sz="1000">
                          <a:latin typeface="Montserrat"/>
                        </a:rPr>
                        <a:t> mental </a:t>
                      </a:r>
                      <a:r>
                        <a:rPr sz="1000" err="1">
                          <a:latin typeface="Montserrat"/>
                        </a:rPr>
                        <a:t>en</a:t>
                      </a:r>
                      <a:r>
                        <a:rPr sz="1000">
                          <a:latin typeface="Montserrat"/>
                        </a:rPr>
                        <a:t> HGR No.1 Acapulco</a:t>
                      </a:r>
                    </a:p>
                  </a:txBody>
                  <a:tcPr marL="3600" marR="3600" marT="3600" marB="3600" anchor="ctr">
                    <a:lnB w="12700" cap="flat" cmpd="sng" algn="ctr">
                      <a:noFill/>
                      <a:prstDash val="solid"/>
                      <a:round/>
                      <a:headEnd type="none" w="med" len="med"/>
                      <a:tailEnd type="none" w="med" len="med"/>
                    </a:lnB>
                    <a:solidFill>
                      <a:srgbClr val="FFFFFF"/>
                    </a:solidFill>
                  </a:tcPr>
                </a:tc>
                <a:tc>
                  <a:txBody>
                    <a:bodyPr/>
                    <a:lstStyle/>
                    <a:p>
                      <a:pPr algn="ctr">
                        <a:lnSpc>
                          <a:spcPct val="100000"/>
                        </a:lnSpc>
                      </a:pPr>
                      <a:r>
                        <a:rPr sz="1000">
                          <a:latin typeface="Montserrat"/>
                        </a:rPr>
                        <a:t>$0.5</a:t>
                      </a:r>
                    </a:p>
                  </a:txBody>
                  <a:tcPr marL="3600" marR="3600" marT="3600" marB="3600" anchor="ctr">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7962">
                <a:tc>
                  <a:txBody>
                    <a:bodyPr/>
                    <a:lstStyle/>
                    <a:p>
                      <a:pPr algn="l">
                        <a:lnSpc>
                          <a:spcPct val="100000"/>
                        </a:lnSpc>
                        <a:defRPr sz="900" b="1">
                          <a:solidFill>
                            <a:srgbClr val="BC955C"/>
                          </a:solidFill>
                          <a:latin typeface="Montserrat"/>
                        </a:defRPr>
                      </a:pPr>
                      <a:r>
                        <a:rPr sz="1000"/>
                        <a:t>Subtotal</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ECE1D2"/>
                    </a:solidFill>
                  </a:tcPr>
                </a:tc>
                <a:tc>
                  <a:txBody>
                    <a:bodyPr/>
                    <a:lstStyle/>
                    <a:p>
                      <a:pPr algn="ctr">
                        <a:lnSpc>
                          <a:spcPct val="100000"/>
                        </a:lnSpc>
                        <a:defRPr sz="900" b="1">
                          <a:solidFill>
                            <a:srgbClr val="BC955C"/>
                          </a:solidFill>
                          <a:latin typeface="Montserrat"/>
                        </a:defRPr>
                      </a:pPr>
                      <a:r>
                        <a:rPr sz="1000"/>
                        <a:t>$605.9</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ECE1D2"/>
                    </a:solidFill>
                  </a:tcPr>
                </a:tc>
                <a:extLst>
                  <a:ext uri="{0D108BD9-81ED-4DB2-BD59-A6C34878D82A}">
                    <a16:rowId xmlns:a16="http://schemas.microsoft.com/office/drawing/2014/main" val="10008"/>
                  </a:ext>
                </a:extLst>
              </a:tr>
            </a:tbl>
          </a:graphicData>
        </a:graphic>
      </p:graphicFrame>
      <p:graphicFrame>
        <p:nvGraphicFramePr>
          <p:cNvPr id="35" name="Table 18"/>
          <p:cNvGraphicFramePr>
            <a:graphicFrameLocks noGrp="1"/>
          </p:cNvGraphicFramePr>
          <p:nvPr>
            <p:extLst>
              <p:ext uri="{D42A27DB-BD31-4B8C-83A1-F6EECF244321}">
                <p14:modId xmlns:p14="http://schemas.microsoft.com/office/powerpoint/2010/main" val="359358645"/>
              </p:ext>
            </p:extLst>
          </p:nvPr>
        </p:nvGraphicFramePr>
        <p:xfrm>
          <a:off x="1785600" y="7114555"/>
          <a:ext cx="5295600" cy="827605"/>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63205">
                <a:tc>
                  <a:txBody>
                    <a:bodyPr/>
                    <a:lstStyle/>
                    <a:p>
                      <a:pPr algn="ctr">
                        <a:defRPr sz="1000" b="1">
                          <a:solidFill>
                            <a:srgbClr val="FFFFFF"/>
                          </a:solidFill>
                          <a:latin typeface="Montserrat"/>
                        </a:defRPr>
                      </a:pPr>
                      <a:r>
                        <a:rPr dirty="0"/>
                        <a:t>Equipo Médico 2025</a:t>
                      </a:r>
                    </a:p>
                  </a:txBody>
                  <a:tcPr marL="3600" marR="3600" marT="3600" marB="3600" anchor="ctr">
                    <a:lnB w="12700" cap="flat" cmpd="sng" algn="ctr">
                      <a:noFill/>
                      <a:prstDash val="solid"/>
                      <a:round/>
                      <a:headEnd type="none" w="med" len="med"/>
                      <a:tailEnd type="none" w="med" len="med"/>
                    </a:lnB>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lnB w="12700" cap="flat" cmpd="sng" algn="ctr">
                      <a:noFill/>
                      <a:prstDash val="solid"/>
                      <a:round/>
                      <a:headEnd type="none" w="med" len="med"/>
                      <a:tailEnd type="none" w="med" len="med"/>
                    </a:lnB>
                    <a:solidFill>
                      <a:srgbClr val="BC955C"/>
                    </a:solidFill>
                  </a:tcPr>
                </a:tc>
                <a:extLst>
                  <a:ext uri="{0D108BD9-81ED-4DB2-BD59-A6C34878D82A}">
                    <a16:rowId xmlns:a16="http://schemas.microsoft.com/office/drawing/2014/main" val="10000"/>
                  </a:ext>
                </a:extLst>
              </a:tr>
              <a:tr h="450000">
                <a:tc>
                  <a:txBody>
                    <a:bodyPr/>
                    <a:lstStyle/>
                    <a:p>
                      <a:pPr algn="l">
                        <a:lnSpc>
                          <a:spcPct val="100000"/>
                        </a:lnSpc>
                      </a:pPr>
                      <a:r>
                        <a:rPr sz="1000" err="1">
                          <a:latin typeface="Montserrat"/>
                        </a:rPr>
                        <a:t>Adquisición</a:t>
                      </a:r>
                      <a:r>
                        <a:rPr sz="1000">
                          <a:latin typeface="Montserrat"/>
                        </a:rPr>
                        <a:t> de 3  </a:t>
                      </a:r>
                      <a:r>
                        <a:rPr sz="1000" err="1">
                          <a:latin typeface="Montserrat"/>
                        </a:rPr>
                        <a:t>piezas</a:t>
                      </a:r>
                      <a:r>
                        <a:rPr sz="1000">
                          <a:latin typeface="Montserrat"/>
                        </a:rPr>
                        <a:t> de </a:t>
                      </a:r>
                      <a:r>
                        <a:rPr sz="1000" err="1">
                          <a:latin typeface="Montserrat"/>
                        </a:rPr>
                        <a:t>equipo</a:t>
                      </a:r>
                      <a:r>
                        <a:rPr sz="1000">
                          <a:latin typeface="Montserrat"/>
                        </a:rPr>
                        <a:t> </a:t>
                      </a:r>
                      <a:r>
                        <a:rPr sz="1000" err="1">
                          <a:latin typeface="Montserrat"/>
                        </a:rPr>
                        <a:t>médico</a:t>
                      </a:r>
                      <a:r>
                        <a:rPr sz="1000">
                          <a:latin typeface="Montserrat"/>
                        </a:rPr>
                        <a:t>: 1 </a:t>
                      </a:r>
                      <a:r>
                        <a:rPr sz="1000" err="1">
                          <a:latin typeface="Montserrat"/>
                        </a:rPr>
                        <a:t>refrigerador</a:t>
                      </a:r>
                      <a:r>
                        <a:rPr sz="1000">
                          <a:latin typeface="Montserrat"/>
                        </a:rPr>
                        <a:t> para </a:t>
                      </a:r>
                      <a:r>
                        <a:rPr sz="1000" err="1">
                          <a:latin typeface="Montserrat"/>
                        </a:rPr>
                        <a:t>vacunas</a:t>
                      </a:r>
                      <a:r>
                        <a:rPr sz="1000">
                          <a:latin typeface="Montserrat"/>
                        </a:rPr>
                        <a:t>, 1 </a:t>
                      </a:r>
                      <a:r>
                        <a:rPr sz="1000" err="1">
                          <a:latin typeface="Montserrat"/>
                        </a:rPr>
                        <a:t>refrigerador</a:t>
                      </a:r>
                      <a:r>
                        <a:rPr sz="1000">
                          <a:latin typeface="Montserrat"/>
                        </a:rPr>
                        <a:t> </a:t>
                      </a:r>
                      <a:r>
                        <a:rPr sz="1000" err="1">
                          <a:latin typeface="Montserrat"/>
                        </a:rPr>
                        <a:t>congelador</a:t>
                      </a:r>
                      <a:r>
                        <a:rPr sz="1000">
                          <a:latin typeface="Montserrat"/>
                        </a:rPr>
                        <a:t> de 5.4 pies </a:t>
                      </a:r>
                      <a:r>
                        <a:rPr sz="1000" err="1">
                          <a:latin typeface="Montserrat"/>
                        </a:rPr>
                        <a:t>cúbicos</a:t>
                      </a:r>
                      <a:r>
                        <a:rPr sz="1000">
                          <a:latin typeface="Montserrat"/>
                        </a:rPr>
                        <a:t>, 1 </a:t>
                      </a:r>
                      <a:r>
                        <a:rPr sz="1000" err="1">
                          <a:latin typeface="Montserrat"/>
                        </a:rPr>
                        <a:t>tomógrafo</a:t>
                      </a:r>
                      <a:r>
                        <a:rPr sz="1000">
                          <a:latin typeface="Montserrat"/>
                        </a:rPr>
                        <a:t> axial </a:t>
                      </a:r>
                      <a:r>
                        <a:rPr sz="1000" err="1">
                          <a:latin typeface="Montserrat"/>
                        </a:rPr>
                        <a:t>computarizado</a:t>
                      </a:r>
                      <a:r>
                        <a:rPr sz="1000">
                          <a:latin typeface="Montserrat"/>
                        </a:rPr>
                        <a:t> de </a:t>
                      </a:r>
                      <a:r>
                        <a:rPr sz="1000" err="1">
                          <a:latin typeface="Montserrat"/>
                        </a:rPr>
                        <a:t>alta</a:t>
                      </a:r>
                      <a:r>
                        <a:rPr sz="1000">
                          <a:latin typeface="Montserrat"/>
                        </a:rPr>
                        <a:t> </a:t>
                      </a:r>
                      <a:r>
                        <a:rPr sz="1000" err="1">
                          <a:latin typeface="Montserrat"/>
                        </a:rPr>
                        <a:t>resolución</a:t>
                      </a:r>
                      <a:endParaRPr sz="1000">
                        <a:latin typeface="Montserrat"/>
                      </a:endParaRP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FFFFFF"/>
                    </a:solidFill>
                  </a:tcPr>
                </a:tc>
                <a:tc>
                  <a:txBody>
                    <a:bodyPr/>
                    <a:lstStyle/>
                    <a:p>
                      <a:pPr algn="ctr">
                        <a:lnSpc>
                          <a:spcPct val="100000"/>
                        </a:lnSpc>
                      </a:pPr>
                      <a:r>
                        <a:rPr sz="1000" b="1" dirty="0">
                          <a:latin typeface="Montserrat"/>
                        </a:rPr>
                        <a:t>$29.8</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36" name="Table 19"/>
          <p:cNvGraphicFramePr>
            <a:graphicFrameLocks noGrp="1"/>
          </p:cNvGraphicFramePr>
          <p:nvPr>
            <p:extLst>
              <p:ext uri="{D42A27DB-BD31-4B8C-83A1-F6EECF244321}">
                <p14:modId xmlns:p14="http://schemas.microsoft.com/office/powerpoint/2010/main" val="77952243"/>
              </p:ext>
            </p:extLst>
          </p:nvPr>
        </p:nvGraphicFramePr>
        <p:xfrm>
          <a:off x="1785600" y="8204400"/>
          <a:ext cx="5295600" cy="604320"/>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02160">
                <a:tc>
                  <a:txBody>
                    <a:bodyPr/>
                    <a:lstStyle/>
                    <a:p>
                      <a:pPr algn="ctr">
                        <a:defRPr sz="1000" b="1">
                          <a:solidFill>
                            <a:srgbClr val="FFFFFF"/>
                          </a:solidFill>
                          <a:latin typeface="Montserrat"/>
                        </a:defRPr>
                      </a:pPr>
                      <a:r>
                        <a:t>Equip</a:t>
                      </a:r>
                      <a:r>
                        <a:rPr lang="es-MX"/>
                        <a:t>o</a:t>
                      </a:r>
                      <a:r>
                        <a:t> </a:t>
                      </a:r>
                      <a:r>
                        <a:rPr err="1"/>
                        <a:t>Electromecánico</a:t>
                      </a:r>
                      <a:r>
                        <a:t> 2025</a:t>
                      </a:r>
                    </a:p>
                  </a:txBody>
                  <a:tcPr marL="3600" marR="3600" marT="3600" marB="3600" anchor="ctr">
                    <a:lnB w="12700" cap="flat" cmpd="sng" algn="ctr">
                      <a:noFill/>
                      <a:prstDash val="solid"/>
                      <a:round/>
                      <a:headEnd type="none" w="med" len="med"/>
                      <a:tailEnd type="none" w="med" len="med"/>
                    </a:lnB>
                    <a:solidFill>
                      <a:srgbClr val="BC955C"/>
                    </a:solidFill>
                  </a:tcPr>
                </a:tc>
                <a:tc>
                  <a:txBody>
                    <a:bodyPr/>
                    <a:lstStyle/>
                    <a:p>
                      <a:pPr algn="ctr">
                        <a:defRPr sz="1000" b="1">
                          <a:solidFill>
                            <a:srgbClr val="FFFFFF"/>
                          </a:solidFill>
                          <a:latin typeface="Montserrat"/>
                        </a:defRPr>
                      </a:pPr>
                      <a:r>
                        <a:t>Monto (</a:t>
                      </a:r>
                      <a:r>
                        <a:rPr err="1"/>
                        <a:t>mdp</a:t>
                      </a:r>
                      <a:r>
                        <a:t>)</a:t>
                      </a:r>
                    </a:p>
                  </a:txBody>
                  <a:tcPr marL="3600" marR="3600" marT="3600" marB="3600" anchor="ctr">
                    <a:lnB w="12700" cap="flat" cmpd="sng" algn="ctr">
                      <a:noFill/>
                      <a:prstDash val="solid"/>
                      <a:round/>
                      <a:headEnd type="none" w="med" len="med"/>
                      <a:tailEnd type="none" w="med" len="med"/>
                    </a:lnB>
                    <a:solidFill>
                      <a:srgbClr val="BC955C"/>
                    </a:solidFill>
                  </a:tcPr>
                </a:tc>
                <a:extLst>
                  <a:ext uri="{0D108BD9-81ED-4DB2-BD59-A6C34878D82A}">
                    <a16:rowId xmlns:a16="http://schemas.microsoft.com/office/drawing/2014/main" val="10000"/>
                  </a:ext>
                </a:extLst>
              </a:tr>
              <a:tr h="302160">
                <a:tc>
                  <a:txBody>
                    <a:bodyPr/>
                    <a:lstStyle/>
                    <a:p>
                      <a:pPr algn="l">
                        <a:lnSpc>
                          <a:spcPct val="100000"/>
                        </a:lnSpc>
                      </a:pPr>
                      <a:r>
                        <a:rPr sz="1000">
                          <a:latin typeface="Montserrat"/>
                        </a:rPr>
                        <a:t>Adquisición de elevadores</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FFFFFF"/>
                    </a:solidFill>
                  </a:tcPr>
                </a:tc>
                <a:tc>
                  <a:txBody>
                    <a:bodyPr/>
                    <a:lstStyle/>
                    <a:p>
                      <a:pPr algn="ctr">
                        <a:lnSpc>
                          <a:spcPct val="100000"/>
                        </a:lnSpc>
                      </a:pPr>
                      <a:r>
                        <a:rPr sz="1000" b="1">
                          <a:latin typeface="Montserrat"/>
                        </a:rPr>
                        <a:t>$22.4</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7" name="TextBox 20"/>
          <p:cNvSpPr txBox="1"/>
          <p:nvPr/>
        </p:nvSpPr>
        <p:spPr>
          <a:xfrm>
            <a:off x="6161000" y="834858"/>
            <a:ext cx="620683" cy="523220"/>
          </a:xfrm>
          <a:prstGeom prst="rect">
            <a:avLst/>
          </a:prstGeom>
          <a:noFill/>
        </p:spPr>
        <p:txBody>
          <a:bodyPr wrap="none">
            <a:spAutoFit/>
          </a:bodyPr>
          <a:lstStyle/>
          <a:p>
            <a:pPr algn="ctr">
              <a:defRPr sz="1400" b="1">
                <a:solidFill>
                  <a:srgbClr val="FFFFFF"/>
                </a:solidFill>
                <a:latin typeface="Montserrat"/>
              </a:defRPr>
            </a:pPr>
            <a:r>
              <a:rPr dirty="0"/>
              <a:t>718</a:t>
            </a:r>
          </a:p>
          <a:p>
            <a:pPr algn="ctr">
              <a:defRPr sz="1400" b="1">
                <a:solidFill>
                  <a:srgbClr val="FFFFFF"/>
                </a:solidFill>
                <a:latin typeface="Montserrat"/>
              </a:defRPr>
            </a:pPr>
            <a:r>
              <a:rPr dirty="0" err="1"/>
              <a:t>mdp</a:t>
            </a:r>
            <a:endParaRPr dirty="0"/>
          </a:p>
        </p:txBody>
      </p:sp>
    </p:spTree>
    <p:extLst>
      <p:ext uri="{BB962C8B-B14F-4D97-AF65-F5344CB8AC3E}">
        <p14:creationId xmlns:p14="http://schemas.microsoft.com/office/powerpoint/2010/main" val="3240565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17" name="Google Shape;394;p15">
            <a:extLst>
              <a:ext uri="{FF2B5EF4-FFF2-40B4-BE49-F238E27FC236}">
                <a16:creationId xmlns:a16="http://schemas.microsoft.com/office/drawing/2014/main" id="{B762DBC9-2C5F-4219-04BA-4A2BF2F57E2F}"/>
              </a:ext>
            </a:extLst>
          </p:cNvPr>
          <p:cNvGraphicFramePr/>
          <p:nvPr>
            <p:extLst>
              <p:ext uri="{D42A27DB-BD31-4B8C-83A1-F6EECF244321}">
                <p14:modId xmlns:p14="http://schemas.microsoft.com/office/powerpoint/2010/main" val="3898779387"/>
              </p:ext>
            </p:extLst>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8"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s" sz="1200" b="1" i="0" u="none" strike="noStrike" cap="none">
                <a:solidFill>
                  <a:srgbClr val="9F2241"/>
                </a:solidFill>
                <a:latin typeface="Montserrat"/>
                <a:ea typeface="Montserrat"/>
                <a:cs typeface="Montserrat"/>
                <a:sym typeface="Montserrat"/>
              </a:rPr>
              <a:t> ¿Qué se hará? </a:t>
            </a:r>
            <a:endParaRPr sz="1200" b="1" i="0" u="none" strike="noStrike" cap="none">
              <a:solidFill>
                <a:srgbClr val="9F2241"/>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000"/>
              <a:buFont typeface="Arial"/>
              <a:buNone/>
            </a:pPr>
            <a:r>
              <a:rPr lang="es" sz="1200" b="1" i="0" u="none" strike="noStrike" cap="none">
                <a:solidFill>
                  <a:srgbClr val="9F2241"/>
                </a:solidFill>
                <a:latin typeface="Montserrat"/>
                <a:ea typeface="Montserrat"/>
                <a:cs typeface="Montserrat"/>
                <a:sym typeface="Montserrat"/>
              </a:rPr>
              <a:t>2026</a:t>
            </a:r>
            <a:endParaRPr sz="1200" b="0" i="0" u="none" strike="noStrike" cap="none">
              <a:solidFill>
                <a:srgbClr val="9F2241"/>
              </a:solidFill>
              <a:latin typeface="Arial"/>
              <a:ea typeface="Arial"/>
              <a:cs typeface="Arial"/>
              <a:sym typeface="Arial"/>
            </a:endParaRPr>
          </a:p>
        </p:txBody>
      </p:sp>
      <p:pic>
        <p:nvPicPr>
          <p:cNvPr id="19"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70400"/>
          </a:xfrm>
          <a:prstGeom prst="rect">
            <a:avLst/>
          </a:prstGeom>
          <a:noFill/>
          <a:ln>
            <a:noFill/>
          </a:ln>
        </p:spPr>
      </p:pic>
      <p:sp>
        <p:nvSpPr>
          <p:cNvPr id="20" name="CuadroTexto 9">
            <a:extLst>
              <a:ext uri="{FF2B5EF4-FFF2-40B4-BE49-F238E27FC236}">
                <a16:creationId xmlns:a16="http://schemas.microsoft.com/office/drawing/2014/main" id="{ABCC6279-D2EB-1F1F-D811-3FFF80887FF1}"/>
              </a:ext>
            </a:extLst>
          </p:cNvPr>
          <p:cNvSpPr txBox="1"/>
          <p:nvPr/>
        </p:nvSpPr>
        <p:spPr>
          <a:xfrm>
            <a:off x="-1031694" y="1715303"/>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err="1">
                <a:solidFill>
                  <a:srgbClr val="A42145"/>
                </a:solidFill>
                <a:latin typeface="Montserrat"/>
                <a:ea typeface="Montserrat"/>
                <a:cs typeface="Montserrat"/>
              </a:rPr>
              <a:t>Construcción</a:t>
            </a:r>
            <a:r>
              <a:rPr lang="en-US" sz="1200" b="1" i="0" u="none" strike="noStrike">
                <a:solidFill>
                  <a:srgbClr val="A42145"/>
                </a:solidFill>
                <a:latin typeface="Montserrat"/>
                <a:ea typeface="Montserrat"/>
                <a:cs typeface="Montserrat"/>
              </a:rPr>
              <a:t>: </a:t>
            </a:r>
          </a:p>
        </p:txBody>
      </p:sp>
      <p:pic>
        <p:nvPicPr>
          <p:cNvPr id="21" name="Imagen 9" descr="Forma, Círculo&#10;&#10;El contenido generado por IA puede ser incorrecto.">
            <a:extLst>
              <a:ext uri="{FF2B5EF4-FFF2-40B4-BE49-F238E27FC236}">
                <a16:creationId xmlns:a16="http://schemas.microsoft.com/office/drawing/2014/main" id="{CA24C0E7-282C-9B96-A7B5-7554B2C6EF8D}"/>
              </a:ext>
            </a:extLst>
          </p:cNvPr>
          <p:cNvPicPr>
            <a:picLocks noChangeAspect="1"/>
          </p:cNvPicPr>
          <p:nvPr/>
        </p:nvPicPr>
        <p:blipFill>
          <a:blip r:embed="rId5"/>
          <a:stretch>
            <a:fillRect/>
          </a:stretch>
        </p:blipFill>
        <p:spPr>
          <a:xfrm>
            <a:off x="439756" y="2075365"/>
            <a:ext cx="872667" cy="849944"/>
          </a:xfrm>
          <a:prstGeom prst="rect">
            <a:avLst/>
          </a:prstGeom>
        </p:spPr>
      </p:pic>
      <p:sp>
        <p:nvSpPr>
          <p:cNvPr id="22" name="CuadroTexto 11">
            <a:extLst>
              <a:ext uri="{FF2B5EF4-FFF2-40B4-BE49-F238E27FC236}">
                <a16:creationId xmlns:a16="http://schemas.microsoft.com/office/drawing/2014/main" id="{2C157DF6-A7FD-940D-19DA-323ACD68454D}"/>
              </a:ext>
            </a:extLst>
          </p:cNvPr>
          <p:cNvSpPr txBox="1"/>
          <p:nvPr/>
        </p:nvSpPr>
        <p:spPr>
          <a:xfrm>
            <a:off x="-1076064" y="213564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a:solidFill>
                <a:srgbClr val="A42145"/>
              </a:solidFill>
              <a:latin typeface="Montserrat"/>
              <a:ea typeface="Montserrat"/>
              <a:cs typeface="Montserrat"/>
            </a:endParaRPr>
          </a:p>
          <a:p>
            <a:pPr algn="ctr"/>
            <a:r>
              <a:rPr lang="en-US" sz="800" b="1">
                <a:solidFill>
                  <a:srgbClr val="A42145"/>
                </a:solidFill>
                <a:latin typeface="Montserrat"/>
              </a:rPr>
              <a:t>Centro de </a:t>
            </a:r>
            <a:endParaRPr lang="en-US"/>
          </a:p>
          <a:p>
            <a:pPr algn="ctr"/>
            <a:r>
              <a:rPr lang="en-US" sz="800" b="1" err="1">
                <a:solidFill>
                  <a:srgbClr val="A42145"/>
                </a:solidFill>
                <a:latin typeface="Montserrat"/>
              </a:rPr>
              <a:t>Mezclas</a:t>
            </a:r>
            <a:endParaRPr lang="en-US" err="1"/>
          </a:p>
        </p:txBody>
      </p:sp>
      <p:graphicFrame>
        <p:nvGraphicFramePr>
          <p:cNvPr id="23" name="Table 12"/>
          <p:cNvGraphicFramePr>
            <a:graphicFrameLocks noGrp="1"/>
          </p:cNvGraphicFramePr>
          <p:nvPr>
            <p:extLst>
              <p:ext uri="{D42A27DB-BD31-4B8C-83A1-F6EECF244321}">
                <p14:modId xmlns:p14="http://schemas.microsoft.com/office/powerpoint/2010/main" val="1379121804"/>
              </p:ext>
            </p:extLst>
          </p:nvPr>
        </p:nvGraphicFramePr>
        <p:xfrm>
          <a:off x="1326625" y="4929826"/>
          <a:ext cx="5396400" cy="629996"/>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314998">
                <a:tc>
                  <a:txBody>
                    <a:bodyPr/>
                    <a:lstStyle/>
                    <a:p>
                      <a:pPr algn="ctr">
                        <a:defRPr sz="1000" b="1">
                          <a:solidFill>
                            <a:srgbClr val="FFFFFF"/>
                          </a:solidFill>
                          <a:latin typeface="Montserrat"/>
                        </a:defRPr>
                      </a:pPr>
                      <a:r>
                        <a:rPr sz="1000" dirty="0"/>
                        <a:t>Obras de </a:t>
                      </a:r>
                      <a:r>
                        <a:rPr sz="1000" dirty="0" err="1"/>
                        <a:t>Infraestructura</a:t>
                      </a:r>
                      <a:endParaRPr sz="1000" dirty="0"/>
                    </a:p>
                  </a:txBody>
                  <a:tcPr marL="3600" marR="3600" marT="3600" marB="3600" anchor="ctr">
                    <a:lnB w="12700" cap="flat" cmpd="sng" algn="ctr">
                      <a:noFill/>
                      <a:prstDash val="solid"/>
                      <a:round/>
                      <a:headEnd type="none" w="med" len="med"/>
                      <a:tailEnd type="none" w="med" len="med"/>
                    </a:lnB>
                    <a:solidFill>
                      <a:srgbClr val="9F2241"/>
                    </a:solidFill>
                  </a:tcPr>
                </a:tc>
                <a:tc>
                  <a:txBody>
                    <a:bodyPr/>
                    <a:lstStyle/>
                    <a:p>
                      <a:pPr algn="ctr">
                        <a:defRPr sz="1000" b="1">
                          <a:solidFill>
                            <a:srgbClr val="FFFFFF"/>
                          </a:solidFill>
                          <a:latin typeface="Montserrat"/>
                        </a:defRPr>
                      </a:pPr>
                      <a:r>
                        <a:rPr sz="1000"/>
                        <a:t>Monto (mdp)</a:t>
                      </a:r>
                    </a:p>
                  </a:txBody>
                  <a:tcPr marL="3600" marR="3600" marT="3600" marB="3600" anchor="ctr">
                    <a:lnB w="12700" cap="flat" cmpd="sng" algn="ctr">
                      <a:noFill/>
                      <a:prstDash val="solid"/>
                      <a:round/>
                      <a:headEnd type="none" w="med" len="med"/>
                      <a:tailEnd type="none" w="med" len="med"/>
                    </a:lnB>
                    <a:solidFill>
                      <a:srgbClr val="9F2241"/>
                    </a:solidFill>
                  </a:tcPr>
                </a:tc>
                <a:extLst>
                  <a:ext uri="{0D108BD9-81ED-4DB2-BD59-A6C34878D82A}">
                    <a16:rowId xmlns:a16="http://schemas.microsoft.com/office/drawing/2014/main" val="10000"/>
                  </a:ext>
                </a:extLst>
              </a:tr>
              <a:tr h="314998">
                <a:tc>
                  <a:txBody>
                    <a:bodyPr/>
                    <a:lstStyle/>
                    <a:p>
                      <a:pPr algn="l">
                        <a:lnSpc>
                          <a:spcPct val="100000"/>
                        </a:lnSpc>
                      </a:pPr>
                      <a:r>
                        <a:rPr sz="1000" dirty="0" err="1">
                          <a:latin typeface="Montserrat"/>
                        </a:rPr>
                        <a:t>Fortalecimiento</a:t>
                      </a:r>
                      <a:r>
                        <a:rPr sz="1000" dirty="0">
                          <a:latin typeface="Montserrat"/>
                        </a:rPr>
                        <a:t> HR La Unión</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noFill/>
                  </a:tcPr>
                </a:tc>
                <a:tc>
                  <a:txBody>
                    <a:bodyPr/>
                    <a:lstStyle/>
                    <a:p>
                      <a:pPr algn="ctr">
                        <a:lnSpc>
                          <a:spcPct val="100000"/>
                        </a:lnSpc>
                      </a:pPr>
                      <a:r>
                        <a:rPr sz="1000" b="1" dirty="0">
                          <a:latin typeface="Montserrat"/>
                        </a:rPr>
                        <a:t>$32.0</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4" name="Table 13"/>
          <p:cNvGraphicFramePr>
            <a:graphicFrameLocks noGrp="1"/>
          </p:cNvGraphicFramePr>
          <p:nvPr>
            <p:extLst>
              <p:ext uri="{D42A27DB-BD31-4B8C-83A1-F6EECF244321}">
                <p14:modId xmlns:p14="http://schemas.microsoft.com/office/powerpoint/2010/main" val="3096703579"/>
              </p:ext>
            </p:extLst>
          </p:nvPr>
        </p:nvGraphicFramePr>
        <p:xfrm>
          <a:off x="1745811" y="1894416"/>
          <a:ext cx="5396400" cy="1292853"/>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323213">
                <a:tc>
                  <a:txBody>
                    <a:bodyPr/>
                    <a:lstStyle/>
                    <a:p>
                      <a:pPr algn="ctr">
                        <a:defRPr sz="1000" b="1">
                          <a:solidFill>
                            <a:srgbClr val="FFFFFF"/>
                          </a:solidFill>
                          <a:latin typeface="Montserrat"/>
                        </a:defRPr>
                      </a:pPr>
                      <a:r>
                        <a:rPr sz="1000"/>
                        <a:t>Obras de </a:t>
                      </a:r>
                      <a:r>
                        <a:rPr sz="1000" err="1"/>
                        <a:t>Conservación</a:t>
                      </a:r>
                      <a:r>
                        <a:rPr sz="1000"/>
                        <a:t> 2026</a:t>
                      </a:r>
                    </a:p>
                  </a:txBody>
                  <a:tcPr marL="3600" marR="3600" marT="3600" marB="3600" anchor="ctr">
                    <a:solidFill>
                      <a:srgbClr val="9F2241"/>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9F2241"/>
                    </a:solidFill>
                  </a:tcPr>
                </a:tc>
                <a:extLst>
                  <a:ext uri="{0D108BD9-81ED-4DB2-BD59-A6C34878D82A}">
                    <a16:rowId xmlns:a16="http://schemas.microsoft.com/office/drawing/2014/main" val="10000"/>
                  </a:ext>
                </a:extLst>
              </a:tr>
              <a:tr h="323213">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2026)</a:t>
                      </a:r>
                    </a:p>
                  </a:txBody>
                  <a:tcPr marL="3600" marR="3600" marT="3600" marB="3600" anchor="ctr">
                    <a:solidFill>
                      <a:srgbClr val="FFFFFF"/>
                    </a:solidFill>
                  </a:tcPr>
                </a:tc>
                <a:tc>
                  <a:txBody>
                    <a:bodyPr/>
                    <a:lstStyle/>
                    <a:p>
                      <a:pPr algn="ctr">
                        <a:lnSpc>
                          <a:spcPct val="100000"/>
                        </a:lnSpc>
                      </a:pPr>
                      <a:r>
                        <a:rPr sz="1000">
                          <a:latin typeface="Montserrat"/>
                        </a:rPr>
                        <a:t>$158.6</a:t>
                      </a:r>
                    </a:p>
                  </a:txBody>
                  <a:tcPr marL="3600" marR="3600" marT="3600" marB="3600" anchor="ctr">
                    <a:solidFill>
                      <a:srgbClr val="FFFFFF"/>
                    </a:solidFill>
                  </a:tcPr>
                </a:tc>
                <a:extLst>
                  <a:ext uri="{0D108BD9-81ED-4DB2-BD59-A6C34878D82A}">
                    <a16:rowId xmlns:a16="http://schemas.microsoft.com/office/drawing/2014/main" val="10001"/>
                  </a:ext>
                </a:extLst>
              </a:tr>
              <a:tr h="323213">
                <a:tc>
                  <a:txBody>
                    <a:bodyPr/>
                    <a:lstStyle/>
                    <a:p>
                      <a:pPr algn="l">
                        <a:lnSpc>
                          <a:spcPct val="100000"/>
                        </a:lnSpc>
                      </a:pPr>
                      <a:r>
                        <a:rPr sz="1000">
                          <a:latin typeface="Montserrat"/>
                        </a:rPr>
                        <a:t>Centro de </a:t>
                      </a:r>
                      <a:r>
                        <a:rPr sz="1000" err="1">
                          <a:latin typeface="Montserrat"/>
                        </a:rPr>
                        <a:t>Mezclas</a:t>
                      </a:r>
                      <a:r>
                        <a:rPr sz="1000">
                          <a:latin typeface="Montserrat"/>
                        </a:rPr>
                        <a:t> UMF 29 Acapulco</a:t>
                      </a:r>
                    </a:p>
                  </a:txBody>
                  <a:tcPr marL="3600" marR="3600" marT="3600" marB="3600" anchor="ctr">
                    <a:solidFill>
                      <a:srgbClr val="D9D9D9"/>
                    </a:solidFill>
                  </a:tcPr>
                </a:tc>
                <a:tc>
                  <a:txBody>
                    <a:bodyPr/>
                    <a:lstStyle/>
                    <a:p>
                      <a:pPr algn="ctr">
                        <a:lnSpc>
                          <a:spcPct val="100000"/>
                        </a:lnSpc>
                      </a:pPr>
                      <a:r>
                        <a:rPr sz="1000">
                          <a:latin typeface="Montserrat"/>
                        </a:rPr>
                        <a:t>$10.3</a:t>
                      </a:r>
                    </a:p>
                  </a:txBody>
                  <a:tcPr marL="3600" marR="3600" marT="3600" marB="3600" anchor="ctr">
                    <a:solidFill>
                      <a:srgbClr val="D9D9D9"/>
                    </a:solidFill>
                  </a:tcPr>
                </a:tc>
                <a:extLst>
                  <a:ext uri="{0D108BD9-81ED-4DB2-BD59-A6C34878D82A}">
                    <a16:rowId xmlns:a16="http://schemas.microsoft.com/office/drawing/2014/main" val="10002"/>
                  </a:ext>
                </a:extLst>
              </a:tr>
              <a:tr h="323214">
                <a:tc>
                  <a:txBody>
                    <a:bodyPr/>
                    <a:lstStyle/>
                    <a:p>
                      <a:pPr algn="l">
                        <a:lnSpc>
                          <a:spcPct val="100000"/>
                        </a:lnSpc>
                        <a:defRPr sz="900" b="1">
                          <a:solidFill>
                            <a:srgbClr val="FFFFFF"/>
                          </a:solidFill>
                          <a:latin typeface="Montserrat"/>
                        </a:defRPr>
                      </a:pPr>
                      <a:r>
                        <a:rPr sz="1000"/>
                        <a:t>Subtotal</a:t>
                      </a:r>
                    </a:p>
                  </a:txBody>
                  <a:tcPr marL="3600" marR="3600" marT="3600" marB="3600" anchor="ctr">
                    <a:solidFill>
                      <a:srgbClr val="9F2241"/>
                    </a:solidFill>
                  </a:tcPr>
                </a:tc>
                <a:tc>
                  <a:txBody>
                    <a:bodyPr/>
                    <a:lstStyle/>
                    <a:p>
                      <a:pPr algn="ctr">
                        <a:lnSpc>
                          <a:spcPct val="100000"/>
                        </a:lnSpc>
                        <a:defRPr sz="900" b="1">
                          <a:solidFill>
                            <a:srgbClr val="FFFFFF"/>
                          </a:solidFill>
                          <a:latin typeface="Montserrat"/>
                        </a:defRPr>
                      </a:pPr>
                      <a:r>
                        <a:rPr sz="1000" dirty="0"/>
                        <a:t>$168.9</a:t>
                      </a:r>
                    </a:p>
                  </a:txBody>
                  <a:tcPr marL="3600" marR="3600" marT="3600" marB="3600" anchor="ctr">
                    <a:solidFill>
                      <a:srgbClr val="9F2241"/>
                    </a:solidFill>
                  </a:tcPr>
                </a:tc>
                <a:extLst>
                  <a:ext uri="{0D108BD9-81ED-4DB2-BD59-A6C34878D82A}">
                    <a16:rowId xmlns:a16="http://schemas.microsoft.com/office/drawing/2014/main" val="10003"/>
                  </a:ext>
                </a:extLst>
              </a:tr>
            </a:tbl>
          </a:graphicData>
        </a:graphic>
      </p:graphicFrame>
      <p:graphicFrame>
        <p:nvGraphicFramePr>
          <p:cNvPr id="25" name="Table 14"/>
          <p:cNvGraphicFramePr>
            <a:graphicFrameLocks noGrp="1"/>
          </p:cNvGraphicFramePr>
          <p:nvPr>
            <p:extLst>
              <p:ext uri="{D42A27DB-BD31-4B8C-83A1-F6EECF244321}">
                <p14:modId xmlns:p14="http://schemas.microsoft.com/office/powerpoint/2010/main" val="3306557893"/>
              </p:ext>
            </p:extLst>
          </p:nvPr>
        </p:nvGraphicFramePr>
        <p:xfrm>
          <a:off x="1745811" y="3401237"/>
          <a:ext cx="5396400" cy="801805"/>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337405">
                <a:tc>
                  <a:txBody>
                    <a:bodyPr/>
                    <a:lstStyle/>
                    <a:p>
                      <a:pPr algn="ctr">
                        <a:defRPr sz="1000" b="1">
                          <a:solidFill>
                            <a:srgbClr val="FFFFFF"/>
                          </a:solidFill>
                          <a:latin typeface="Montserrat"/>
                        </a:defRPr>
                      </a:pPr>
                      <a:r>
                        <a:rPr sz="1000"/>
                        <a:t>Equip</a:t>
                      </a:r>
                      <a:r>
                        <a:rPr lang="es-MX" sz="1000"/>
                        <a:t>o</a:t>
                      </a:r>
                      <a:r>
                        <a:rPr sz="1000"/>
                        <a:t> </a:t>
                      </a:r>
                      <a:r>
                        <a:rPr sz="1000" err="1"/>
                        <a:t>Electromecánico</a:t>
                      </a:r>
                      <a:r>
                        <a:rPr sz="1000"/>
                        <a:t> 2026</a:t>
                      </a:r>
                    </a:p>
                  </a:txBody>
                  <a:tcPr marL="3600" marR="3600" marT="3600" marB="3600" anchor="ctr">
                    <a:lnB w="12700" cap="flat" cmpd="sng" algn="ctr">
                      <a:noFill/>
                      <a:prstDash val="solid"/>
                      <a:round/>
                      <a:headEnd type="none" w="med" len="med"/>
                      <a:tailEnd type="none" w="med" len="med"/>
                    </a:lnB>
                    <a:solidFill>
                      <a:srgbClr val="9F2241"/>
                    </a:solidFill>
                  </a:tcPr>
                </a:tc>
                <a:tc>
                  <a:txBody>
                    <a:bodyPr/>
                    <a:lstStyle/>
                    <a:p>
                      <a:pPr algn="ctr">
                        <a:defRPr sz="1000" b="1">
                          <a:solidFill>
                            <a:srgbClr val="FFFFFF"/>
                          </a:solidFill>
                          <a:latin typeface="Montserrat"/>
                        </a:defRPr>
                      </a:pPr>
                      <a:r>
                        <a:rPr sz="1000"/>
                        <a:t>Monto (</a:t>
                      </a:r>
                      <a:r>
                        <a:rPr sz="1000" err="1"/>
                        <a:t>mdp</a:t>
                      </a:r>
                      <a:r>
                        <a:rPr sz="1000"/>
                        <a:t>)</a:t>
                      </a:r>
                    </a:p>
                  </a:txBody>
                  <a:tcPr marL="3600" marR="3600" marT="3600" marB="3600" anchor="ctr">
                    <a:lnB w="12700" cap="flat" cmpd="sng" algn="ctr">
                      <a:noFill/>
                      <a:prstDash val="solid"/>
                      <a:round/>
                      <a:headEnd type="none" w="med" len="med"/>
                      <a:tailEnd type="none" w="med" len="med"/>
                    </a:lnB>
                    <a:solidFill>
                      <a:srgbClr val="9F2241"/>
                    </a:solidFill>
                  </a:tcPr>
                </a:tc>
                <a:extLst>
                  <a:ext uri="{0D108BD9-81ED-4DB2-BD59-A6C34878D82A}">
                    <a16:rowId xmlns:a16="http://schemas.microsoft.com/office/drawing/2014/main" val="10000"/>
                  </a:ext>
                </a:extLst>
              </a:tr>
              <a:tr h="377999">
                <a:tc>
                  <a:txBody>
                    <a:bodyPr/>
                    <a:lstStyle/>
                    <a:p>
                      <a:pPr algn="l">
                        <a:lnSpc>
                          <a:spcPct val="100000"/>
                        </a:lnSpc>
                      </a:pPr>
                      <a:r>
                        <a:rPr sz="1000">
                          <a:latin typeface="Montserrat"/>
                        </a:rPr>
                        <a:t>23 </a:t>
                      </a:r>
                      <a:r>
                        <a:rPr sz="1000" err="1">
                          <a:latin typeface="Montserrat"/>
                        </a:rPr>
                        <a:t>Equipos</a:t>
                      </a:r>
                      <a:r>
                        <a:rPr sz="1000">
                          <a:latin typeface="Montserrat"/>
                        </a:rPr>
                        <a:t> </a:t>
                      </a:r>
                      <a:r>
                        <a:rPr sz="1000" err="1">
                          <a:latin typeface="Montserrat"/>
                        </a:rPr>
                        <a:t>electromecánicos</a:t>
                      </a:r>
                      <a:r>
                        <a:rPr sz="1000">
                          <a:latin typeface="Montserrat"/>
                        </a:rPr>
                        <a:t> para 6 </a:t>
                      </a:r>
                      <a:r>
                        <a:rPr sz="1000" err="1">
                          <a:latin typeface="Montserrat"/>
                        </a:rPr>
                        <a:t>unidades</a:t>
                      </a:r>
                      <a:r>
                        <a:rPr sz="1000">
                          <a:latin typeface="Montserrat"/>
                        </a:rPr>
                        <a:t>; 15 </a:t>
                      </a:r>
                      <a:r>
                        <a:rPr sz="1000" err="1">
                          <a:latin typeface="Montserrat"/>
                        </a:rPr>
                        <a:t>equipos</a:t>
                      </a:r>
                      <a:r>
                        <a:rPr sz="1000">
                          <a:latin typeface="Montserrat"/>
                        </a:rPr>
                        <a:t> para casa de </a:t>
                      </a:r>
                      <a:r>
                        <a:rPr sz="1000" err="1">
                          <a:latin typeface="Montserrat"/>
                        </a:rPr>
                        <a:t>máquinas</a:t>
                      </a:r>
                      <a:r>
                        <a:rPr sz="1000">
                          <a:latin typeface="Montserrat"/>
                        </a:rPr>
                        <a:t>, 4 para </a:t>
                      </a:r>
                      <a:r>
                        <a:rPr sz="1000" err="1">
                          <a:latin typeface="Montserrat"/>
                        </a:rPr>
                        <a:t>aires</a:t>
                      </a:r>
                      <a:r>
                        <a:rPr sz="1000">
                          <a:latin typeface="Montserrat"/>
                        </a:rPr>
                        <a:t> </a:t>
                      </a:r>
                      <a:r>
                        <a:rPr sz="1000" err="1">
                          <a:latin typeface="Montserrat"/>
                        </a:rPr>
                        <a:t>acondicionados</a:t>
                      </a:r>
                      <a:r>
                        <a:rPr sz="1000">
                          <a:latin typeface="Montserrat"/>
                        </a:rPr>
                        <a:t>, 2 </a:t>
                      </a:r>
                      <a:r>
                        <a:rPr sz="1000" err="1">
                          <a:latin typeface="Montserrat"/>
                        </a:rPr>
                        <a:t>lavadoras</a:t>
                      </a:r>
                      <a:r>
                        <a:rPr sz="1000">
                          <a:latin typeface="Montserrat"/>
                        </a:rPr>
                        <a:t> y 2 </a:t>
                      </a:r>
                      <a:r>
                        <a:rPr sz="1000" err="1">
                          <a:latin typeface="Montserrat"/>
                        </a:rPr>
                        <a:t>secadoras</a:t>
                      </a:r>
                      <a:r>
                        <a:rPr sz="1000">
                          <a:latin typeface="Montserrat"/>
                        </a:rPr>
                        <a:t>.</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rgbClr val="FFFFFF"/>
                    </a:solidFill>
                  </a:tcPr>
                </a:tc>
                <a:tc>
                  <a:txBody>
                    <a:bodyPr/>
                    <a:lstStyle/>
                    <a:p>
                      <a:pPr algn="ctr">
                        <a:lnSpc>
                          <a:spcPct val="100000"/>
                        </a:lnSpc>
                      </a:pPr>
                      <a:r>
                        <a:rPr sz="1000" b="1" dirty="0">
                          <a:latin typeface="Montserrat"/>
                        </a:rPr>
                        <a:t>$116.6</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6" name="TextBox 15"/>
          <p:cNvSpPr txBox="1"/>
          <p:nvPr/>
        </p:nvSpPr>
        <p:spPr>
          <a:xfrm>
            <a:off x="6145532" y="852460"/>
            <a:ext cx="670376" cy="523220"/>
          </a:xfrm>
          <a:prstGeom prst="rect">
            <a:avLst/>
          </a:prstGeom>
          <a:noFill/>
        </p:spPr>
        <p:txBody>
          <a:bodyPr wrap="none">
            <a:spAutoFit/>
          </a:bodyPr>
          <a:lstStyle/>
          <a:p>
            <a:pPr algn="ctr">
              <a:defRPr sz="1400" b="1">
                <a:solidFill>
                  <a:srgbClr val="FFFFFF"/>
                </a:solidFill>
                <a:latin typeface="Montserrat"/>
              </a:defRPr>
            </a:pPr>
            <a:r>
              <a:rPr lang="es-MX" dirty="0"/>
              <a:t>285.5</a:t>
            </a:r>
            <a:endParaRPr dirty="0"/>
          </a:p>
          <a:p>
            <a:pPr algn="ctr">
              <a:defRPr sz="1400" b="1">
                <a:solidFill>
                  <a:srgbClr val="FFFFFF"/>
                </a:solidFill>
                <a:latin typeface="Montserrat"/>
              </a:defRPr>
            </a:pPr>
            <a:r>
              <a:rPr dirty="0" err="1"/>
              <a:t>mdp</a:t>
            </a:r>
            <a:endParaRPr dirty="0"/>
          </a:p>
        </p:txBody>
      </p:sp>
      <p:graphicFrame>
        <p:nvGraphicFramePr>
          <p:cNvPr id="27" name="Google Shape;394;p15">
            <a:extLst>
              <a:ext uri="{FF2B5EF4-FFF2-40B4-BE49-F238E27FC236}">
                <a16:creationId xmlns:a16="http://schemas.microsoft.com/office/drawing/2014/main" id="{0BCBCB20-8D89-9B6C-ADB6-99C19A98AD9E}"/>
              </a:ext>
            </a:extLst>
          </p:cNvPr>
          <p:cNvGraphicFramePr/>
          <p:nvPr>
            <p:extLst>
              <p:ext uri="{D42A27DB-BD31-4B8C-83A1-F6EECF244321}">
                <p14:modId xmlns:p14="http://schemas.microsoft.com/office/powerpoint/2010/main" val="2725155600"/>
              </p:ext>
            </p:extLst>
          </p:nvPr>
        </p:nvGraphicFramePr>
        <p:xfrm>
          <a:off x="287700" y="4375934"/>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28"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6">
            <a:alphaModFix/>
          </a:blip>
          <a:srcRect l="382" t="14684" r="1598" b="17771"/>
          <a:stretch/>
        </p:blipFill>
        <p:spPr>
          <a:xfrm>
            <a:off x="218202" y="6371620"/>
            <a:ext cx="7368300" cy="2862900"/>
          </a:xfrm>
          <a:prstGeom prst="rect">
            <a:avLst/>
          </a:prstGeom>
          <a:noFill/>
          <a:ln>
            <a:noFill/>
          </a:ln>
        </p:spPr>
      </p:pic>
      <p:graphicFrame>
        <p:nvGraphicFramePr>
          <p:cNvPr id="29" name="Google Shape;559;g3d0ffe769cd_0_0">
            <a:extLst>
              <a:ext uri="{FF2B5EF4-FFF2-40B4-BE49-F238E27FC236}">
                <a16:creationId xmlns:a16="http://schemas.microsoft.com/office/drawing/2014/main" id="{74EA239F-AD11-6BB6-2B07-15FDA93930A1}"/>
              </a:ext>
            </a:extLst>
          </p:cNvPr>
          <p:cNvGraphicFramePr/>
          <p:nvPr>
            <p:extLst>
              <p:ext uri="{D42A27DB-BD31-4B8C-83A1-F6EECF244321}">
                <p14:modId xmlns:p14="http://schemas.microsoft.com/office/powerpoint/2010/main" val="613798623"/>
              </p:ext>
            </p:extLst>
          </p:nvPr>
        </p:nvGraphicFramePr>
        <p:xfrm>
          <a:off x="286275" y="5791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0" name="Google Shape;552;g3d0ffe769cd_0_0">
            <a:extLst>
              <a:ext uri="{FF2B5EF4-FFF2-40B4-BE49-F238E27FC236}">
                <a16:creationId xmlns:a16="http://schemas.microsoft.com/office/drawing/2014/main" id="{1CFCE444-12DD-D109-A796-7924C33A5D14}"/>
              </a:ext>
            </a:extLst>
          </p:cNvPr>
          <p:cNvSpPr/>
          <p:nvPr/>
        </p:nvSpPr>
        <p:spPr>
          <a:xfrm>
            <a:off x="221992" y="63937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 name="Google Shape;556;g3d0ffe769cd_0_0">
            <a:extLst>
              <a:ext uri="{FF2B5EF4-FFF2-40B4-BE49-F238E27FC236}">
                <a16:creationId xmlns:a16="http://schemas.microsoft.com/office/drawing/2014/main" id="{7A6658D4-29D8-8663-D2C5-74863CD96596}"/>
              </a:ext>
            </a:extLst>
          </p:cNvPr>
          <p:cNvSpPr/>
          <p:nvPr/>
        </p:nvSpPr>
        <p:spPr>
          <a:xfrm>
            <a:off x="839384" y="65340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2" name="Google Shape;553;g3d0ffe769cd_0_0">
            <a:extLst>
              <a:ext uri="{FF2B5EF4-FFF2-40B4-BE49-F238E27FC236}">
                <a16:creationId xmlns:a16="http://schemas.microsoft.com/office/drawing/2014/main" id="{C2E1F9A0-4911-B1FF-D485-66518A66B9A6}"/>
              </a:ext>
            </a:extLst>
          </p:cNvPr>
          <p:cNvSpPr/>
          <p:nvPr/>
        </p:nvSpPr>
        <p:spPr>
          <a:xfrm>
            <a:off x="278098" y="73006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33" name="Google Shape;554;g3d0ffe769cd_0_0">
            <a:extLst>
              <a:ext uri="{FF2B5EF4-FFF2-40B4-BE49-F238E27FC236}">
                <a16:creationId xmlns:a16="http://schemas.microsoft.com/office/drawing/2014/main" id="{6C0AF4EA-FBE1-4238-8146-A4C96C7D760B}"/>
              </a:ext>
            </a:extLst>
          </p:cNvPr>
          <p:cNvSpPr txBox="1"/>
          <p:nvPr/>
        </p:nvSpPr>
        <p:spPr>
          <a:xfrm>
            <a:off x="264001" y="78916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34" name="Google Shape;562;g3d0ffe769cd_0_0">
            <a:extLst>
              <a:ext uri="{FF2B5EF4-FFF2-40B4-BE49-F238E27FC236}">
                <a16:creationId xmlns:a16="http://schemas.microsoft.com/office/drawing/2014/main" id="{D407F8E2-D0BB-FA42-30DC-AD7126C10878}"/>
              </a:ext>
            </a:extLst>
          </p:cNvPr>
          <p:cNvSpPr txBox="1"/>
          <p:nvPr/>
        </p:nvSpPr>
        <p:spPr>
          <a:xfrm rot="16200000">
            <a:off x="1946150" y="76801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graphicFrame>
        <p:nvGraphicFramePr>
          <p:cNvPr id="35" name="Table 19"/>
          <p:cNvGraphicFramePr>
            <a:graphicFrameLocks noGrp="1"/>
          </p:cNvGraphicFramePr>
          <p:nvPr>
            <p:extLst>
              <p:ext uri="{D42A27DB-BD31-4B8C-83A1-F6EECF244321}">
                <p14:modId xmlns:p14="http://schemas.microsoft.com/office/powerpoint/2010/main" val="1285166795"/>
              </p:ext>
            </p:extLst>
          </p:nvPr>
        </p:nvGraphicFramePr>
        <p:xfrm>
          <a:off x="2539700" y="6535300"/>
          <a:ext cx="4928400" cy="186120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rPr dirty="0"/>
                        <a:t>3 </a:t>
                      </a:r>
                      <a:r>
                        <a:rPr dirty="0" err="1"/>
                        <a:t>Predios</a:t>
                      </a:r>
                      <a:r>
                        <a:rPr dirty="0"/>
                        <a:t> en </a:t>
                      </a:r>
                      <a:r>
                        <a:rPr dirty="0" err="1"/>
                        <a:t>ruta</a:t>
                      </a:r>
                      <a:r>
                        <a:rPr dirty="0"/>
                        <a:t>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0 Reserva IMSS</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3 Donación</a:t>
                      </a:r>
                    </a:p>
                  </a:txBody>
                  <a:tcPr marL="72000" marR="72000" anchor="ctr">
                    <a:noFill/>
                  </a:tcPr>
                </a:tc>
                <a:tc>
                  <a:txBody>
                    <a:bodyPr/>
                    <a:lstStyle/>
                    <a:p>
                      <a:pPr algn="ctr">
                        <a:defRPr sz="1200" b="0">
                          <a:solidFill>
                            <a:srgbClr val="FFFFFF"/>
                          </a:solidFill>
                          <a:latin typeface="Montserrat"/>
                        </a:defRPr>
                      </a:pPr>
                      <a:r>
                        <a:t>Chilpancingo, Iguala, Petatlan</a:t>
                      </a:r>
                    </a:p>
                  </a:txBody>
                  <a:tcPr marL="72000" marR="72000" anchor="ctr">
                    <a:noFill/>
                  </a:tcPr>
                </a:tc>
                <a:extLst>
                  <a:ext uri="{0D108BD9-81ED-4DB2-BD59-A6C34878D82A}">
                    <a16:rowId xmlns:a16="http://schemas.microsoft.com/office/drawing/2014/main" val="10003"/>
                  </a:ext>
                </a:extLst>
              </a:tr>
            </a:tbl>
          </a:graphicData>
        </a:graphic>
      </p:graphicFrame>
      <p:sp>
        <p:nvSpPr>
          <p:cNvPr id="36" name="Oval 20"/>
          <p:cNvSpPr/>
          <p:nvPr/>
        </p:nvSpPr>
        <p:spPr>
          <a:xfrm>
            <a:off x="872900" y="65569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11</a:t>
            </a:r>
          </a:p>
        </p:txBody>
      </p:sp>
      <p:sp>
        <p:nvSpPr>
          <p:cNvPr id="37" name="Rectangle 21"/>
          <p:cNvSpPr/>
          <p:nvPr/>
        </p:nvSpPr>
        <p:spPr>
          <a:xfrm>
            <a:off x="350900" y="73417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10 CECI IMSS</a:t>
            </a:r>
          </a:p>
          <a:p>
            <a:pPr algn="ctr">
              <a:defRPr sz="1500" b="1">
                <a:solidFill>
                  <a:srgbClr val="FFFFFF"/>
                </a:solidFill>
                <a:latin typeface="Montserrat"/>
              </a:defRPr>
            </a:pPr>
            <a:r>
              <a:t>1 CECI CAMPO</a:t>
            </a:r>
          </a:p>
        </p:txBody>
      </p:sp>
      <p:sp>
        <p:nvSpPr>
          <p:cNvPr id="38" name="TextBox 22"/>
          <p:cNvSpPr txBox="1"/>
          <p:nvPr/>
        </p:nvSpPr>
        <p:spPr>
          <a:xfrm>
            <a:off x="2539700" y="8442175"/>
            <a:ext cx="4921550" cy="276999"/>
          </a:xfrm>
          <a:prstGeom prst="rect">
            <a:avLst/>
          </a:prstGeom>
          <a:noFill/>
        </p:spPr>
        <p:txBody>
          <a:bodyPr wrap="square" lIns="0" tIns="0" rIns="0" bIns="0">
            <a:spAutoFit/>
          </a:bodyPr>
          <a:lstStyle/>
          <a:p>
            <a:pPr algn="l">
              <a:defRPr sz="900">
                <a:solidFill>
                  <a:srgbClr val="FFFFFF"/>
                </a:solidFill>
                <a:latin typeface="Montserrat"/>
              </a:defRPr>
            </a:pPr>
            <a:r>
              <a:rPr dirty="0"/>
              <a:t>¹ </a:t>
            </a:r>
            <a:r>
              <a:rPr dirty="0" err="1"/>
              <a:t>Terrenos</a:t>
            </a:r>
            <a:r>
              <a:rPr dirty="0"/>
              <a:t> </a:t>
            </a:r>
            <a:r>
              <a:rPr dirty="0" err="1"/>
              <a:t>validados</a:t>
            </a:r>
            <a:r>
              <a:rPr dirty="0"/>
              <a:t>. 3 CECI en </a:t>
            </a:r>
            <a:r>
              <a:rPr dirty="0" err="1"/>
              <a:t>integración</a:t>
            </a:r>
            <a:r>
              <a:rPr dirty="0"/>
              <a:t> de </a:t>
            </a:r>
            <a:r>
              <a:rPr dirty="0" err="1"/>
              <a:t>expediente</a:t>
            </a:r>
            <a:r>
              <a:rPr dirty="0"/>
              <a:t> </a:t>
            </a:r>
            <a:r>
              <a:rPr dirty="0" err="1"/>
              <a:t>para</a:t>
            </a:r>
            <a:r>
              <a:rPr dirty="0"/>
              <a:t> </a:t>
            </a:r>
            <a:r>
              <a:rPr dirty="0" err="1"/>
              <a:t>donación</a:t>
            </a:r>
            <a:r>
              <a:rPr dirty="0"/>
              <a:t> en </a:t>
            </a:r>
            <a:r>
              <a:rPr dirty="0" err="1"/>
              <a:t>Chilpancingo</a:t>
            </a:r>
            <a:r>
              <a:rPr dirty="0"/>
              <a:t>, </a:t>
            </a:r>
            <a:r>
              <a:rPr dirty="0" err="1"/>
              <a:t>Iguala</a:t>
            </a:r>
            <a:r>
              <a:rPr dirty="0"/>
              <a:t> y </a:t>
            </a:r>
            <a:r>
              <a:rPr dirty="0" err="1"/>
              <a:t>Petatlán</a:t>
            </a:r>
            <a:r>
              <a:rPr dirty="0"/>
              <a:t>.</a:t>
            </a:r>
          </a:p>
        </p:txBody>
      </p:sp>
    </p:spTree>
    <p:extLst>
      <p:ext uri="{BB962C8B-B14F-4D97-AF65-F5344CB8AC3E}">
        <p14:creationId xmlns:p14="http://schemas.microsoft.com/office/powerpoint/2010/main" val="364733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289281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450658"/>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GUERRERO</a:t>
            </a:r>
          </a:p>
        </p:txBody>
      </p:sp>
      <p:graphicFrame>
        <p:nvGraphicFramePr>
          <p:cNvPr id="467" name="Table 466"/>
          <p:cNvGraphicFramePr>
            <a:graphicFrameLocks noGrp="1"/>
          </p:cNvGraphicFramePr>
          <p:nvPr>
            <p:extLst>
              <p:ext uri="{D42A27DB-BD31-4B8C-83A1-F6EECF244321}">
                <p14:modId xmlns:p14="http://schemas.microsoft.com/office/powerpoint/2010/main" val="209485280"/>
              </p:ext>
            </p:extLst>
          </p:nvPr>
        </p:nvGraphicFramePr>
        <p:xfrm>
          <a:off x="2311200" y="1670400"/>
          <a:ext cx="5032800" cy="908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60000">
                <a:tc gridSpan="2">
                  <a:txBody>
                    <a:bodyPr/>
                    <a:lstStyle/>
                    <a:p>
                      <a:pPr algn="ctr"/>
                      <a:r>
                        <a:rPr sz="1000" b="1" dirty="0">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540000">
                <a:tc>
                  <a:txBody>
                    <a:bodyPr/>
                    <a:lstStyle/>
                    <a:p>
                      <a:pPr algn="ctr"/>
                      <a:r>
                        <a:rPr sz="1000" b="1" dirty="0">
                          <a:latin typeface="Montserrat"/>
                        </a:rPr>
                        <a:t>14 </a:t>
                      </a:r>
                      <a:r>
                        <a:rPr sz="1000" b="1" dirty="0" err="1">
                          <a:latin typeface="Montserrat"/>
                        </a:rPr>
                        <a:t>unidades</a:t>
                      </a:r>
                      <a:endParaRPr sz="1000" b="1" dirty="0">
                        <a:latin typeface="Montserrat"/>
                      </a:endParaRPr>
                    </a:p>
                    <a:p>
                      <a:pPr algn="ctr">
                        <a:defRPr sz="1000">
                          <a:solidFill>
                            <a:srgbClr val="505050"/>
                          </a:solidFill>
                          <a:latin typeface="Montserrat"/>
                        </a:defRPr>
                      </a:pPr>
                      <a:r>
                        <a:rPr dirty="0"/>
                        <a:t>2 </a:t>
                      </a:r>
                      <a:r>
                        <a:rPr dirty="0" err="1"/>
                        <a:t>directas</a:t>
                      </a:r>
                      <a:endParaRPr dirty="0"/>
                    </a:p>
                    <a:p>
                      <a:pPr algn="ctr">
                        <a:defRPr sz="1000">
                          <a:solidFill>
                            <a:srgbClr val="505050"/>
                          </a:solidFill>
                          <a:latin typeface="Montserrat"/>
                        </a:defRPr>
                      </a:pPr>
                      <a:r>
                        <a:rPr dirty="0"/>
                        <a:t>12 </a:t>
                      </a:r>
                      <a:r>
                        <a:rPr dirty="0" err="1"/>
                        <a:t>indirectas</a:t>
                      </a:r>
                      <a:endParaRPr dirty="0"/>
                    </a:p>
                  </a:txBody>
                  <a:tcPr anchor="ctr">
                    <a:solidFill>
                      <a:srgbClr val="FFFFFF"/>
                    </a:solidFill>
                  </a:tcPr>
                </a:tc>
                <a:tc>
                  <a:txBody>
                    <a:bodyPr/>
                    <a:lstStyle/>
                    <a:p>
                      <a:pPr algn="ctr"/>
                      <a:r>
                        <a:rPr sz="1000" b="1" dirty="0">
                          <a:latin typeface="Montserrat"/>
                        </a:rPr>
                        <a:t>2,331 </a:t>
                      </a:r>
                      <a:r>
                        <a:rPr sz="1000" b="1" dirty="0" err="1">
                          <a:latin typeface="Montserrat"/>
                        </a:rPr>
                        <a:t>inscritos</a:t>
                      </a:r>
                      <a:endParaRPr sz="1000" b="1" dirty="0">
                        <a:latin typeface="Montserrat"/>
                      </a:endParaRPr>
                    </a:p>
                    <a:p>
                      <a:pPr algn="ctr">
                        <a:defRPr sz="1000">
                          <a:solidFill>
                            <a:srgbClr val="505050"/>
                          </a:solidFill>
                          <a:latin typeface="Montserrat"/>
                        </a:defRPr>
                      </a:pPr>
                      <a:r>
                        <a:rPr dirty="0"/>
                        <a:t>367 en </a:t>
                      </a:r>
                      <a:r>
                        <a:rPr dirty="0" err="1"/>
                        <a:t>espera</a:t>
                      </a:r>
                      <a:endParaRPr dirty="0"/>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2039747488"/>
              </p:ext>
            </p:extLst>
          </p:nvPr>
        </p:nvGraphicFramePr>
        <p:xfrm>
          <a:off x="2311200" y="2784150"/>
          <a:ext cx="5032800" cy="144000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60000">
                <a:tc gridSpan="2">
                  <a:txBody>
                    <a:bodyPr/>
                    <a:lstStyle/>
                    <a:p>
                      <a:pPr algn="ctr">
                        <a:defRPr sz="1000" b="1">
                          <a:solidFill>
                            <a:srgbClr val="FFFFFF"/>
                          </a:solidFill>
                          <a:latin typeface="Montserrat"/>
                        </a:defRPr>
                      </a:pPr>
                      <a:r>
                        <a:rPr dirty="0"/>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540000">
                <a:tc>
                  <a:txBody>
                    <a:bodyPr/>
                    <a:lstStyle/>
                    <a:p>
                      <a:pPr algn="ctr">
                        <a:defRPr sz="800" b="1">
                          <a:latin typeface="Montserrat"/>
                        </a:defRPr>
                      </a:pPr>
                      <a:r>
                        <a:rPr sz="1000" dirty="0"/>
                        <a:t>1 CEBIS</a:t>
                      </a:r>
                    </a:p>
                  </a:txBody>
                  <a:tcPr marL="28800" marR="28800" marT="0" marB="0" anchor="ctr">
                    <a:solidFill>
                      <a:srgbClr val="FFFFFF"/>
                    </a:solidFill>
                  </a:tcPr>
                </a:tc>
                <a:tc>
                  <a:txBody>
                    <a:bodyPr/>
                    <a:lstStyle/>
                    <a:p>
                      <a:pPr algn="ctr">
                        <a:defRPr sz="800">
                          <a:latin typeface="Montserrat"/>
                        </a:defRPr>
                      </a:pPr>
                      <a:r>
                        <a:rPr sz="1000" dirty="0"/>
                        <a:t>Acapulco (</a:t>
                      </a:r>
                      <a:r>
                        <a:rPr sz="1000" dirty="0" err="1"/>
                        <a:t>Polígono</a:t>
                      </a:r>
                      <a:r>
                        <a:rPr sz="1000" dirty="0"/>
                        <a:t> D)</a:t>
                      </a:r>
                    </a:p>
                  </a:txBody>
                  <a:tcPr marL="28800" marR="28800" marT="0" marB="0" anchor="ctr">
                    <a:solidFill>
                      <a:srgbClr val="FFFFFF"/>
                    </a:solidFill>
                  </a:tcPr>
                </a:tc>
                <a:extLst>
                  <a:ext uri="{0D108BD9-81ED-4DB2-BD59-A6C34878D82A}">
                    <a16:rowId xmlns:a16="http://schemas.microsoft.com/office/drawing/2014/main" val="10001"/>
                  </a:ext>
                </a:extLst>
              </a:tr>
              <a:tr h="540000">
                <a:tc>
                  <a:txBody>
                    <a:bodyPr/>
                    <a:lstStyle/>
                    <a:p>
                      <a:pPr algn="ctr">
                        <a:defRPr sz="800" b="1">
                          <a:latin typeface="Montserrat"/>
                        </a:defRPr>
                      </a:pPr>
                      <a:r>
                        <a:rPr sz="1000" dirty="0"/>
                        <a:t>5 </a:t>
                      </a:r>
                      <a:r>
                        <a:rPr sz="1000" dirty="0" err="1"/>
                        <a:t>Centros</a:t>
                      </a:r>
                      <a:r>
                        <a:rPr sz="1000" dirty="0"/>
                        <a:t> de </a:t>
                      </a:r>
                      <a:r>
                        <a:rPr sz="1000" dirty="0" err="1"/>
                        <a:t>Seguridad</a:t>
                      </a:r>
                      <a:r>
                        <a:rPr sz="1000" dirty="0"/>
                        <a:t> Social</a:t>
                      </a:r>
                    </a:p>
                  </a:txBody>
                  <a:tcPr marL="28800" marR="28800" marT="0" marB="0" anchor="ctr">
                    <a:solidFill>
                      <a:srgbClr val="EFEFEF"/>
                    </a:solidFill>
                  </a:tcPr>
                </a:tc>
                <a:tc>
                  <a:txBody>
                    <a:bodyPr/>
                    <a:lstStyle/>
                    <a:p>
                      <a:pPr algn="ctr">
                        <a:defRPr sz="800">
                          <a:latin typeface="Montserrat"/>
                        </a:defRPr>
                      </a:pPr>
                      <a:r>
                        <a:rPr sz="1000" dirty="0" err="1"/>
                        <a:t>Chilpancingo</a:t>
                      </a:r>
                      <a:r>
                        <a:rPr sz="1000" dirty="0"/>
                        <a:t>, Acapulco, </a:t>
                      </a:r>
                      <a:r>
                        <a:rPr sz="1000" dirty="0" err="1"/>
                        <a:t>Iguala</a:t>
                      </a:r>
                      <a:r>
                        <a:rPr sz="1000" dirty="0"/>
                        <a:t>, Taxco, </a:t>
                      </a:r>
                      <a:r>
                        <a:rPr sz="1000" dirty="0" err="1"/>
                        <a:t>Zihuatanejo</a:t>
                      </a:r>
                      <a:endParaRPr sz="1000" dirty="0"/>
                    </a:p>
                  </a:txBody>
                  <a:tcPr marL="28800" marR="28800" marT="0" marB="0" anchor="ctr">
                    <a:solidFill>
                      <a:srgbClr val="EFEFEF"/>
                    </a:solidFill>
                  </a:tcPr>
                </a:tc>
                <a:extLst>
                  <a:ext uri="{0D108BD9-81ED-4DB2-BD59-A6C34878D82A}">
                    <a16:rowId xmlns:a16="http://schemas.microsoft.com/office/drawing/2014/main" val="10002"/>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4088143821"/>
              </p:ext>
            </p:extLst>
          </p:nvPr>
        </p:nvGraphicFramePr>
        <p:xfrm>
          <a:off x="2316950" y="4463783"/>
          <a:ext cx="4998250" cy="900000"/>
        </p:xfrm>
        <a:graphic>
          <a:graphicData uri="http://schemas.openxmlformats.org/drawingml/2006/table">
            <a:tbl>
              <a:tblPr firstRow="1" bandRow="1">
                <a:tableStyleId>{5C22544A-7EE6-4342-B048-85BDC9FD1C3A}</a:tableStyleId>
              </a:tblPr>
              <a:tblGrid>
                <a:gridCol w="1565975">
                  <a:extLst>
                    <a:ext uri="{9D8B030D-6E8A-4147-A177-3AD203B41FA5}">
                      <a16:colId xmlns:a16="http://schemas.microsoft.com/office/drawing/2014/main" val="20000"/>
                    </a:ext>
                  </a:extLst>
                </a:gridCol>
                <a:gridCol w="3432275">
                  <a:extLst>
                    <a:ext uri="{9D8B030D-6E8A-4147-A177-3AD203B41FA5}">
                      <a16:colId xmlns:a16="http://schemas.microsoft.com/office/drawing/2014/main" val="20001"/>
                    </a:ext>
                  </a:extLst>
                </a:gridCol>
              </a:tblGrid>
              <a:tr h="360000">
                <a:tc gridSpan="2">
                  <a:txBody>
                    <a:bodyPr/>
                    <a:lstStyle/>
                    <a:p>
                      <a:pPr algn="ctr">
                        <a:defRPr sz="1000" b="1">
                          <a:solidFill>
                            <a:srgbClr val="FFFFFF"/>
                          </a:solidFill>
                          <a:latin typeface="Montserrat"/>
                        </a:defRPr>
                      </a:pPr>
                      <a:r>
                        <a:rPr dirty="0"/>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540000">
                <a:tc>
                  <a:txBody>
                    <a:bodyPr/>
                    <a:lstStyle/>
                    <a:p>
                      <a:pPr algn="ctr">
                        <a:defRPr sz="800" b="1">
                          <a:latin typeface="Montserrat"/>
                        </a:defRPr>
                      </a:pPr>
                      <a:r>
                        <a:rPr sz="1000" dirty="0"/>
                        <a:t>2 </a:t>
                      </a:r>
                      <a:r>
                        <a:rPr sz="1000" dirty="0" err="1"/>
                        <a:t>Tiendas</a:t>
                      </a:r>
                      <a:r>
                        <a:rPr sz="1000" dirty="0"/>
                        <a:t> IMSS-SNTSS</a:t>
                      </a:r>
                    </a:p>
                  </a:txBody>
                  <a:tcPr marL="28800" marR="28800" marT="0" marB="0" anchor="ctr">
                    <a:solidFill>
                      <a:srgbClr val="FFFFFF"/>
                    </a:solidFill>
                  </a:tcPr>
                </a:tc>
                <a:tc>
                  <a:txBody>
                    <a:bodyPr/>
                    <a:lstStyle/>
                    <a:p>
                      <a:pPr algn="ctr">
                        <a:defRPr sz="800">
                          <a:latin typeface="Montserrat"/>
                        </a:defRPr>
                      </a:pPr>
                      <a:r>
                        <a:rPr sz="1000" dirty="0"/>
                        <a:t>No. 18 Acapulco y No. 103 Taxco</a:t>
                      </a:r>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14</a:t>
            </a:r>
          </a:p>
        </p:txBody>
      </p:sp>
      <p:sp>
        <p:nvSpPr>
          <p:cNvPr id="472" name="TextBox 471"/>
          <p:cNvSpPr txBox="1"/>
          <p:nvPr/>
        </p:nvSpPr>
        <p:spPr>
          <a:xfrm>
            <a:off x="0" y="9640800"/>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pic>
        <p:nvPicPr>
          <p:cNvPr id="14" name="Picture 469" descr="map_tipo2_12_gro.png"/>
          <p:cNvPicPr>
            <a:picLocks noChangeAspect="1"/>
          </p:cNvPicPr>
          <p:nvPr/>
        </p:nvPicPr>
        <p:blipFill>
          <a:blip r:embed="rId6"/>
          <a:stretch>
            <a:fillRect/>
          </a:stretch>
        </p:blipFill>
        <p:spPr>
          <a:xfrm>
            <a:off x="2822400" y="5929200"/>
            <a:ext cx="4014000" cy="310172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graphicFrame>
        <p:nvGraphicFramePr>
          <p:cNvPr id="479" name="Table 478"/>
          <p:cNvGraphicFramePr>
            <a:graphicFrameLocks noGrp="1"/>
          </p:cNvGraphicFramePr>
          <p:nvPr>
            <p:extLst>
              <p:ext uri="{D42A27DB-BD31-4B8C-83A1-F6EECF244321}">
                <p14:modId xmlns:p14="http://schemas.microsoft.com/office/powerpoint/2010/main" val="3725033000"/>
              </p:ext>
            </p:extLst>
          </p:nvPr>
        </p:nvGraphicFramePr>
        <p:xfrm>
          <a:off x="284400" y="1087200"/>
          <a:ext cx="6984000" cy="194315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rPr dirty="0"/>
                        <a:t>PRINCIPALES EMPLEADORES</a:t>
                      </a: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rPr dirty="0" err="1"/>
                        <a:t>Empleador</a:t>
                      </a:r>
                      <a:r>
                        <a:rPr dirty="0"/>
                        <a:t> </a:t>
                      </a:r>
                      <a:r>
                        <a:rPr dirty="0" err="1"/>
                        <a:t>público</a:t>
                      </a:r>
                      <a:endParaRPr dirty="0"/>
                    </a:p>
                  </a:txBody>
                  <a:tcPr anchor="ctr">
                    <a:solidFill>
                      <a:srgbClr val="BC955C"/>
                    </a:solidFill>
                  </a:tcPr>
                </a:tc>
                <a:tc>
                  <a:txBody>
                    <a:bodyPr/>
                    <a:lstStyle/>
                    <a:p>
                      <a:pPr algn="ctr">
                        <a:defRPr sz="850" b="1">
                          <a:solidFill>
                            <a:srgbClr val="FFFFFF"/>
                          </a:solidFill>
                          <a:latin typeface="Montserrat"/>
                        </a:defRPr>
                      </a:pPr>
                      <a:r>
                        <a:rPr dirty="0" err="1"/>
                        <a:t>Empleos</a:t>
                      </a:r>
                      <a:r>
                        <a:rPr dirty="0"/>
                        <a:t> Anterior</a:t>
                      </a:r>
                    </a:p>
                  </a:txBody>
                  <a:tcPr anchor="ctr">
                    <a:solidFill>
                      <a:srgbClr val="BC955C"/>
                    </a:solidFill>
                  </a:tcPr>
                </a:tc>
                <a:tc>
                  <a:txBody>
                    <a:bodyPr/>
                    <a:lstStyle/>
                    <a:p>
                      <a:pPr algn="ctr">
                        <a:defRPr sz="850" b="1">
                          <a:solidFill>
                            <a:srgbClr val="FFFFFF"/>
                          </a:solidFill>
                          <a:latin typeface="Montserrat"/>
                        </a:defRPr>
                      </a:pPr>
                      <a:r>
                        <a:rPr dirty="0" err="1"/>
                        <a:t>Empleos</a:t>
                      </a:r>
                      <a:r>
                        <a:rPr dirty="0"/>
                        <a:t>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rPr dirty="0" err="1"/>
                        <a:t>Instituto</a:t>
                      </a:r>
                      <a:r>
                        <a:rPr dirty="0"/>
                        <a:t> </a:t>
                      </a:r>
                      <a:r>
                        <a:rPr dirty="0" err="1"/>
                        <a:t>Mexicano</a:t>
                      </a:r>
                      <a:r>
                        <a:rPr dirty="0"/>
                        <a:t> del </a:t>
                      </a:r>
                      <a:r>
                        <a:rPr dirty="0" err="1"/>
                        <a:t>Seguro</a:t>
                      </a:r>
                      <a:r>
                        <a:rPr dirty="0"/>
                        <a:t> Social</a:t>
                      </a:r>
                    </a:p>
                  </a:txBody>
                  <a:tcPr anchor="ctr">
                    <a:solidFill>
                      <a:srgbClr val="FFFFFF"/>
                    </a:solidFill>
                  </a:tcPr>
                </a:tc>
                <a:tc>
                  <a:txBody>
                    <a:bodyPr/>
                    <a:lstStyle/>
                    <a:p>
                      <a:pPr algn="ctr">
                        <a:defRPr sz="850">
                          <a:latin typeface="Montserrat"/>
                        </a:defRPr>
                      </a:pPr>
                      <a:r>
                        <a:t>7,279</a:t>
                      </a:r>
                    </a:p>
                  </a:txBody>
                  <a:tcPr anchor="ctr">
                    <a:solidFill>
                      <a:srgbClr val="FFFFFF"/>
                    </a:solidFill>
                  </a:tcPr>
                </a:tc>
                <a:tc>
                  <a:txBody>
                    <a:bodyPr/>
                    <a:lstStyle/>
                    <a:p>
                      <a:pPr algn="ctr">
                        <a:defRPr sz="850">
                          <a:latin typeface="Montserrat"/>
                        </a:defRPr>
                      </a:pPr>
                      <a:r>
                        <a:rPr dirty="0"/>
                        <a:t>7,265</a:t>
                      </a:r>
                    </a:p>
                  </a:txBody>
                  <a:tcPr anchor="ctr">
                    <a:solidFill>
                      <a:srgbClr val="FFFFFF"/>
                    </a:solidFill>
                  </a:tcPr>
                </a:tc>
                <a:tc>
                  <a:txBody>
                    <a:bodyPr/>
                    <a:lstStyle/>
                    <a:p>
                      <a:pPr algn="ctr">
                        <a:defRPr sz="850" b="1">
                          <a:solidFill>
                            <a:srgbClr val="691C32"/>
                          </a:solidFill>
                          <a:latin typeface="Montserrat"/>
                        </a:defRPr>
                      </a:pPr>
                      <a:r>
                        <a:rPr dirty="0"/>
                        <a:t>-0.2%</a:t>
                      </a:r>
                    </a:p>
                  </a:txBody>
                  <a:tcPr anchor="ctr">
                    <a:solidFill>
                      <a:srgbClr val="FFFFFF"/>
                    </a:solidFill>
                  </a:tcPr>
                </a:tc>
                <a:tc>
                  <a:txBody>
                    <a:bodyPr/>
                    <a:lstStyle/>
                    <a:p>
                      <a:pPr algn="ctr">
                        <a:defRPr sz="850">
                          <a:latin typeface="Montserrat"/>
                        </a:defRPr>
                      </a:pPr>
                      <a:r>
                        <a:t>Cadena Comercial OXXO S.A. de C.V.</a:t>
                      </a:r>
                    </a:p>
                  </a:txBody>
                  <a:tcPr anchor="ctr">
                    <a:solidFill>
                      <a:srgbClr val="FFFFFF"/>
                    </a:solidFill>
                  </a:tcPr>
                </a:tc>
                <a:tc>
                  <a:txBody>
                    <a:bodyPr/>
                    <a:lstStyle/>
                    <a:p>
                      <a:pPr algn="ctr">
                        <a:defRPr sz="850">
                          <a:latin typeface="Montserrat"/>
                        </a:defRPr>
                      </a:pPr>
                      <a:r>
                        <a:t>3,532</a:t>
                      </a:r>
                    </a:p>
                  </a:txBody>
                  <a:tcPr anchor="ctr">
                    <a:solidFill>
                      <a:srgbClr val="FFFFFF"/>
                    </a:solidFill>
                  </a:tcPr>
                </a:tc>
                <a:tc>
                  <a:txBody>
                    <a:bodyPr/>
                    <a:lstStyle/>
                    <a:p>
                      <a:pPr algn="ctr">
                        <a:defRPr sz="850">
                          <a:latin typeface="Montserrat"/>
                        </a:defRPr>
                      </a:pPr>
                      <a:r>
                        <a:t>3,605</a:t>
                      </a:r>
                    </a:p>
                  </a:txBody>
                  <a:tcPr anchor="ctr">
                    <a:solidFill>
                      <a:srgbClr val="FFFFFF"/>
                    </a:solidFill>
                  </a:tcPr>
                </a:tc>
                <a:tc>
                  <a:txBody>
                    <a:bodyPr/>
                    <a:lstStyle/>
                    <a:p>
                      <a:pPr algn="ctr">
                        <a:defRPr sz="850" b="1">
                          <a:solidFill>
                            <a:srgbClr val="006455"/>
                          </a:solidFill>
                          <a:latin typeface="Montserrat"/>
                        </a:defRPr>
                      </a:pPr>
                      <a:r>
                        <a:t>2.1%</a:t>
                      </a:r>
                    </a:p>
                  </a:txBody>
                  <a:tcPr anchor="ctr">
                    <a:solidFill>
                      <a:srgbClr val="FFFFFF"/>
                    </a:solidFill>
                  </a:tcPr>
                </a:tc>
                <a:extLst>
                  <a:ext uri="{0D108BD9-81ED-4DB2-BD59-A6C34878D82A}">
                    <a16:rowId xmlns:a16="http://schemas.microsoft.com/office/drawing/2014/main" val="10002"/>
                  </a:ext>
                </a:extLst>
              </a:tr>
              <a:tr h="490320">
                <a:tc>
                  <a:txBody>
                    <a:bodyPr/>
                    <a:lstStyle/>
                    <a:p>
                      <a:pPr algn="ctr">
                        <a:defRPr sz="850">
                          <a:latin typeface="Montserrat"/>
                        </a:defRPr>
                      </a:pPr>
                      <a:r>
                        <a:rPr dirty="0" err="1"/>
                        <a:t>Comisión</a:t>
                      </a:r>
                      <a:r>
                        <a:rPr dirty="0"/>
                        <a:t> Federal de </a:t>
                      </a:r>
                      <a:r>
                        <a:rPr dirty="0" err="1"/>
                        <a:t>Electricidad</a:t>
                      </a:r>
                      <a:r>
                        <a:rPr dirty="0"/>
                        <a:t> </a:t>
                      </a:r>
                      <a:r>
                        <a:rPr dirty="0" err="1"/>
                        <a:t>Epe</a:t>
                      </a:r>
                      <a:endParaRPr dirty="0"/>
                    </a:p>
                  </a:txBody>
                  <a:tcPr anchor="ctr">
                    <a:solidFill>
                      <a:srgbClr val="D9D9D9"/>
                    </a:solidFill>
                  </a:tcPr>
                </a:tc>
                <a:tc>
                  <a:txBody>
                    <a:bodyPr/>
                    <a:lstStyle/>
                    <a:p>
                      <a:pPr algn="ctr">
                        <a:defRPr sz="850">
                          <a:latin typeface="Montserrat"/>
                        </a:defRPr>
                      </a:pPr>
                      <a:r>
                        <a:t>2,653</a:t>
                      </a:r>
                    </a:p>
                  </a:txBody>
                  <a:tcPr anchor="ctr">
                    <a:solidFill>
                      <a:srgbClr val="D9D9D9"/>
                    </a:solidFill>
                  </a:tcPr>
                </a:tc>
                <a:tc>
                  <a:txBody>
                    <a:bodyPr/>
                    <a:lstStyle/>
                    <a:p>
                      <a:pPr algn="ctr">
                        <a:defRPr sz="850">
                          <a:latin typeface="Montserrat"/>
                        </a:defRPr>
                      </a:pPr>
                      <a:r>
                        <a:t>2,704</a:t>
                      </a:r>
                    </a:p>
                  </a:txBody>
                  <a:tcPr anchor="ctr">
                    <a:solidFill>
                      <a:srgbClr val="D9D9D9"/>
                    </a:solidFill>
                  </a:tcPr>
                </a:tc>
                <a:tc>
                  <a:txBody>
                    <a:bodyPr/>
                    <a:lstStyle/>
                    <a:p>
                      <a:pPr algn="ctr">
                        <a:defRPr sz="850" b="1">
                          <a:solidFill>
                            <a:srgbClr val="006455"/>
                          </a:solidFill>
                          <a:latin typeface="Montserrat"/>
                        </a:defRPr>
                      </a:pPr>
                      <a:r>
                        <a:rPr dirty="0"/>
                        <a:t>1.9%</a:t>
                      </a:r>
                    </a:p>
                  </a:txBody>
                  <a:tcPr anchor="ctr">
                    <a:solidFill>
                      <a:srgbClr val="D9D9D9"/>
                    </a:solidFill>
                  </a:tcPr>
                </a:tc>
                <a:tc>
                  <a:txBody>
                    <a:bodyPr/>
                    <a:lstStyle/>
                    <a:p>
                      <a:pPr algn="ctr">
                        <a:defRPr sz="850">
                          <a:latin typeface="Montserrat"/>
                        </a:defRPr>
                      </a:pPr>
                      <a:r>
                        <a:rPr dirty="0"/>
                        <a:t>Nueva </a:t>
                      </a:r>
                      <a:r>
                        <a:rPr dirty="0" err="1"/>
                        <a:t>Wal</a:t>
                      </a:r>
                      <a:r>
                        <a:rPr dirty="0"/>
                        <a:t> Mart de México S. de R.L. de C.V.</a:t>
                      </a:r>
                    </a:p>
                  </a:txBody>
                  <a:tcPr anchor="ctr">
                    <a:solidFill>
                      <a:srgbClr val="D9D9D9"/>
                    </a:solidFill>
                  </a:tcPr>
                </a:tc>
                <a:tc>
                  <a:txBody>
                    <a:bodyPr/>
                    <a:lstStyle/>
                    <a:p>
                      <a:pPr algn="ctr">
                        <a:defRPr sz="850">
                          <a:latin typeface="Montserrat"/>
                        </a:defRPr>
                      </a:pPr>
                      <a:r>
                        <a:rPr dirty="0"/>
                        <a:t>3,512</a:t>
                      </a:r>
                    </a:p>
                  </a:txBody>
                  <a:tcPr anchor="ctr">
                    <a:solidFill>
                      <a:srgbClr val="D9D9D9"/>
                    </a:solidFill>
                  </a:tcPr>
                </a:tc>
                <a:tc>
                  <a:txBody>
                    <a:bodyPr/>
                    <a:lstStyle/>
                    <a:p>
                      <a:pPr algn="ctr">
                        <a:defRPr sz="850">
                          <a:latin typeface="Montserrat"/>
                        </a:defRPr>
                      </a:pPr>
                      <a:r>
                        <a:rPr dirty="0"/>
                        <a:t>3,479</a:t>
                      </a:r>
                    </a:p>
                  </a:txBody>
                  <a:tcPr anchor="ctr">
                    <a:solidFill>
                      <a:srgbClr val="D9D9D9"/>
                    </a:solidFill>
                  </a:tcPr>
                </a:tc>
                <a:tc>
                  <a:txBody>
                    <a:bodyPr/>
                    <a:lstStyle/>
                    <a:p>
                      <a:pPr algn="ctr">
                        <a:defRPr sz="850" b="1">
                          <a:solidFill>
                            <a:srgbClr val="691C32"/>
                          </a:solidFill>
                          <a:latin typeface="Montserrat"/>
                        </a:defRPr>
                      </a:pPr>
                      <a:r>
                        <a:t>-0.9%</a:t>
                      </a:r>
                    </a:p>
                  </a:txBody>
                  <a:tcPr anchor="ctr">
                    <a:solidFill>
                      <a:srgbClr val="D9D9D9"/>
                    </a:solidFill>
                  </a:tcPr>
                </a:tc>
                <a:extLst>
                  <a:ext uri="{0D108BD9-81ED-4DB2-BD59-A6C34878D82A}">
                    <a16:rowId xmlns:a16="http://schemas.microsoft.com/office/drawing/2014/main" val="10003"/>
                  </a:ext>
                </a:extLst>
              </a:tr>
              <a:tr h="490320">
                <a:tc>
                  <a:txBody>
                    <a:bodyPr/>
                    <a:lstStyle/>
                    <a:p>
                      <a:pPr algn="ctr">
                        <a:defRPr sz="850">
                          <a:latin typeface="Montserrat"/>
                        </a:defRPr>
                      </a:pPr>
                      <a:r>
                        <a:rPr dirty="0" err="1"/>
                        <a:t>Sistema</a:t>
                      </a:r>
                      <a:r>
                        <a:rPr dirty="0"/>
                        <a:t> </a:t>
                      </a:r>
                      <a:r>
                        <a:rPr dirty="0" err="1"/>
                        <a:t>para</a:t>
                      </a:r>
                      <a:r>
                        <a:rPr dirty="0"/>
                        <a:t> el </a:t>
                      </a:r>
                      <a:r>
                        <a:rPr dirty="0" err="1"/>
                        <a:t>Desarrollo</a:t>
                      </a:r>
                      <a:r>
                        <a:rPr dirty="0"/>
                        <a:t> Integral de la </a:t>
                      </a:r>
                      <a:r>
                        <a:rPr dirty="0" err="1"/>
                        <a:t>Familia</a:t>
                      </a:r>
                      <a:endParaRPr dirty="0"/>
                    </a:p>
                  </a:txBody>
                  <a:tcPr anchor="ctr">
                    <a:solidFill>
                      <a:srgbClr val="FFFFFF"/>
                    </a:solidFill>
                  </a:tcPr>
                </a:tc>
                <a:tc>
                  <a:txBody>
                    <a:bodyPr/>
                    <a:lstStyle/>
                    <a:p>
                      <a:pPr algn="ctr">
                        <a:defRPr sz="850">
                          <a:latin typeface="Montserrat"/>
                        </a:defRPr>
                      </a:pPr>
                      <a:r>
                        <a:rPr dirty="0"/>
                        <a:t>686</a:t>
                      </a:r>
                    </a:p>
                  </a:txBody>
                  <a:tcPr anchor="ctr">
                    <a:solidFill>
                      <a:srgbClr val="FFFFFF"/>
                    </a:solidFill>
                  </a:tcPr>
                </a:tc>
                <a:tc>
                  <a:txBody>
                    <a:bodyPr/>
                    <a:lstStyle/>
                    <a:p>
                      <a:pPr algn="ctr">
                        <a:defRPr sz="850">
                          <a:latin typeface="Montserrat"/>
                        </a:defRPr>
                      </a:pPr>
                      <a:r>
                        <a:rPr dirty="0"/>
                        <a:t>685</a:t>
                      </a:r>
                    </a:p>
                  </a:txBody>
                  <a:tcPr anchor="ctr">
                    <a:solidFill>
                      <a:srgbClr val="FFFFFF"/>
                    </a:solidFill>
                  </a:tcPr>
                </a:tc>
                <a:tc>
                  <a:txBody>
                    <a:bodyPr/>
                    <a:lstStyle/>
                    <a:p>
                      <a:pPr algn="ctr">
                        <a:defRPr sz="850" b="1">
                          <a:solidFill>
                            <a:srgbClr val="691C32"/>
                          </a:solidFill>
                          <a:latin typeface="Montserrat"/>
                        </a:defRPr>
                      </a:pPr>
                      <a:r>
                        <a:rPr dirty="0"/>
                        <a:t>-0.2%</a:t>
                      </a:r>
                    </a:p>
                  </a:txBody>
                  <a:tcPr anchor="ctr">
                    <a:solidFill>
                      <a:srgbClr val="FFFFFF"/>
                    </a:solidFill>
                  </a:tcPr>
                </a:tc>
                <a:tc>
                  <a:txBody>
                    <a:bodyPr/>
                    <a:lstStyle/>
                    <a:p>
                      <a:pPr algn="ctr">
                        <a:defRPr sz="850">
                          <a:latin typeface="Montserrat"/>
                        </a:defRPr>
                      </a:pPr>
                      <a:r>
                        <a:rPr dirty="0" err="1"/>
                        <a:t>Propimex</a:t>
                      </a:r>
                      <a:r>
                        <a:rPr dirty="0"/>
                        <a:t> S. de R.L. de C.V.</a:t>
                      </a:r>
                    </a:p>
                  </a:txBody>
                  <a:tcPr anchor="ctr">
                    <a:solidFill>
                      <a:srgbClr val="FFFFFF"/>
                    </a:solidFill>
                  </a:tcPr>
                </a:tc>
                <a:tc>
                  <a:txBody>
                    <a:bodyPr/>
                    <a:lstStyle/>
                    <a:p>
                      <a:pPr algn="ctr">
                        <a:defRPr sz="850">
                          <a:latin typeface="Montserrat"/>
                        </a:defRPr>
                      </a:pPr>
                      <a:r>
                        <a:rPr dirty="0"/>
                        <a:t>1,931</a:t>
                      </a:r>
                    </a:p>
                  </a:txBody>
                  <a:tcPr anchor="ctr">
                    <a:solidFill>
                      <a:srgbClr val="FFFFFF"/>
                    </a:solidFill>
                  </a:tcPr>
                </a:tc>
                <a:tc>
                  <a:txBody>
                    <a:bodyPr/>
                    <a:lstStyle/>
                    <a:p>
                      <a:pPr algn="ctr">
                        <a:defRPr sz="850">
                          <a:latin typeface="Montserrat"/>
                        </a:defRPr>
                      </a:pPr>
                      <a:r>
                        <a:rPr dirty="0"/>
                        <a:t>1,966</a:t>
                      </a:r>
                    </a:p>
                  </a:txBody>
                  <a:tcPr anchor="ctr">
                    <a:solidFill>
                      <a:srgbClr val="FFFFFF"/>
                    </a:solidFill>
                  </a:tcPr>
                </a:tc>
                <a:tc>
                  <a:txBody>
                    <a:bodyPr/>
                    <a:lstStyle/>
                    <a:p>
                      <a:pPr algn="ctr">
                        <a:defRPr sz="850" b="1">
                          <a:solidFill>
                            <a:srgbClr val="006455"/>
                          </a:solidFill>
                          <a:latin typeface="Montserrat"/>
                        </a:defRPr>
                      </a:pPr>
                      <a:r>
                        <a:rPr dirty="0"/>
                        <a:t>1.8%</a:t>
                      </a:r>
                    </a:p>
                  </a:txBody>
                  <a:tcPr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-12.28%</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-7.51%</a:t>
            </a:r>
          </a:p>
        </p:txBody>
      </p:sp>
      <p:sp>
        <p:nvSpPr>
          <p:cNvPr id="483" name="Rounded Rectangle 482"/>
          <p:cNvSpPr/>
          <p:nvPr/>
        </p:nvSpPr>
        <p:spPr>
          <a:xfrm>
            <a:off x="7020000" y="457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+0.03%</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+0.60%</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+0.91%</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+2.14%</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+6.47%</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+17.67%</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extLst>
              <p:ext uri="{D42A27DB-BD31-4B8C-83A1-F6EECF244321}">
                <p14:modId xmlns:p14="http://schemas.microsoft.com/office/powerpoint/2010/main" val="2343309890"/>
              </p:ext>
            </p:extLst>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rPr dirty="0" err="1"/>
                        <a:t>Mes</a:t>
                      </a:r>
                      <a:endParaRPr dirty="0"/>
                    </a:p>
                  </a:txBody>
                  <a:tcPr anchor="ctr">
                    <a:solidFill>
                      <a:srgbClr val="BC955C"/>
                    </a:solidFill>
                  </a:tcPr>
                </a:tc>
                <a:tc gridSpan="2">
                  <a:txBody>
                    <a:bodyPr/>
                    <a:lstStyle/>
                    <a:p>
                      <a:pPr algn="ctr">
                        <a:defRPr sz="1000" b="1">
                          <a:solidFill>
                            <a:srgbClr val="FFFFFF"/>
                          </a:solidFill>
                          <a:latin typeface="Montserrat"/>
                        </a:defRPr>
                      </a:pPr>
                      <a:r>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rPr dirty="0" err="1"/>
                        <a:t>Urbano</a:t>
                      </a:r>
                      <a:endParaRPr dirty="0"/>
                    </a:p>
                  </a:txBody>
                  <a:tcPr anchor="ctr">
                    <a:solidFill>
                      <a:srgbClr val="BC955C"/>
                    </a:solidFill>
                  </a:tcPr>
                </a:tc>
                <a:tc>
                  <a:txBody>
                    <a:bodyPr/>
                    <a:lstStyle/>
                    <a:p>
                      <a:pPr algn="ctr">
                        <a:defRPr sz="1000" b="1">
                          <a:solidFill>
                            <a:srgbClr val="FFFFFF"/>
                          </a:solidFill>
                          <a:latin typeface="Montserrat"/>
                        </a:defRPr>
                      </a:pPr>
                      <a:r>
                        <a:rPr dirty="0"/>
                        <a:t>Campo</a:t>
                      </a:r>
                    </a:p>
                  </a:txBody>
                  <a:tcPr anchor="ctr">
                    <a:solidFill>
                      <a:srgbClr val="BC955C"/>
                    </a:solidFill>
                  </a:tcPr>
                </a:tc>
                <a:tc>
                  <a:txBody>
                    <a:bodyPr/>
                    <a:lstStyle/>
                    <a:p>
                      <a:pPr algn="ctr">
                        <a:defRPr sz="1000" b="1">
                          <a:solidFill>
                            <a:srgbClr val="FFFFFF"/>
                          </a:solidFill>
                          <a:latin typeface="Montserrat"/>
                        </a:defRPr>
                      </a:pPr>
                      <a:r>
                        <a:rPr dirty="0" err="1"/>
                        <a:t>Urbano</a:t>
                      </a:r>
                      <a:endParaRPr dirty="0"/>
                    </a:p>
                  </a:txBody>
                  <a:tcPr anchor="ctr">
                    <a:solidFill>
                      <a:srgbClr val="BC955C"/>
                    </a:solidFill>
                  </a:tcPr>
                </a:tc>
                <a:tc>
                  <a:txBody>
                    <a:bodyPr/>
                    <a:lstStyle/>
                    <a:p>
                      <a:pPr algn="ctr">
                        <a:defRPr sz="1000" b="1">
                          <a:solidFill>
                            <a:srgbClr val="FFFFFF"/>
                          </a:solidFill>
                          <a:latin typeface="Montserrat"/>
                        </a:defRPr>
                      </a:pPr>
                      <a:r>
                        <a:rPr dirty="0"/>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nchor="ctr">
                    <a:solidFill>
                      <a:srgbClr val="FFFFFF"/>
                    </a:solidFill>
                  </a:tcPr>
                </a:tc>
                <a:tc>
                  <a:txBody>
                    <a:bodyPr/>
                    <a:lstStyle/>
                    <a:p>
                      <a:pPr algn="ctr">
                        <a:defRPr sz="900">
                          <a:latin typeface="Montserrat"/>
                        </a:defRPr>
                      </a:pPr>
                      <a:r>
                        <a:t>130,414</a:t>
                      </a:r>
                    </a:p>
                  </a:txBody>
                  <a:tcPr anchor="ctr">
                    <a:solidFill>
                      <a:srgbClr val="FFFFFF"/>
                    </a:solidFill>
                  </a:tcPr>
                </a:tc>
                <a:tc>
                  <a:txBody>
                    <a:bodyPr/>
                    <a:lstStyle/>
                    <a:p>
                      <a:pPr algn="ctr">
                        <a:defRPr sz="900">
                          <a:latin typeface="Montserrat"/>
                        </a:defRPr>
                      </a:pPr>
                      <a:r>
                        <a:t>262</a:t>
                      </a:r>
                    </a:p>
                  </a:txBody>
                  <a:tcPr anchor="ctr">
                    <a:solidFill>
                      <a:srgbClr val="FFFFFF"/>
                    </a:solidFill>
                  </a:tcPr>
                </a:tc>
                <a:tc>
                  <a:txBody>
                    <a:bodyPr/>
                    <a:lstStyle/>
                    <a:p>
                      <a:pPr algn="ctr">
                        <a:defRPr sz="900">
                          <a:latin typeface="Montserrat"/>
                        </a:defRPr>
                      </a:pPr>
                      <a:r>
                        <a:t>28,816</a:t>
                      </a:r>
                    </a:p>
                  </a:txBody>
                  <a:tcPr anchor="ctr">
                    <a:solidFill>
                      <a:srgbClr val="FFFFFF"/>
                    </a:solidFill>
                  </a:tcPr>
                </a:tc>
                <a:tc>
                  <a:txBody>
                    <a:bodyPr/>
                    <a:lstStyle/>
                    <a:p>
                      <a:pPr algn="ctr">
                        <a:defRPr sz="900">
                          <a:latin typeface="Montserrat"/>
                        </a:defRPr>
                      </a:pPr>
                      <a:r>
                        <a:rPr dirty="0"/>
                        <a:t>432</a:t>
                      </a:r>
                    </a:p>
                  </a:txBody>
                  <a:tcPr anchor="ctr">
                    <a:solidFill>
                      <a:srgbClr val="FFFFFF"/>
                    </a:solidFill>
                  </a:tcPr>
                </a:tc>
                <a:tc>
                  <a:txBody>
                    <a:bodyPr/>
                    <a:lstStyle/>
                    <a:p>
                      <a:pPr algn="ctr">
                        <a:defRPr sz="900">
                          <a:latin typeface="Montserrat"/>
                        </a:defRPr>
                      </a:pPr>
                      <a:r>
                        <a:rPr dirty="0"/>
                        <a:t>159,924</a:t>
                      </a:r>
                    </a:p>
                  </a:txBody>
                  <a:tcPr anchor="ct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nchor="ctr">
                    <a:solidFill>
                      <a:srgbClr val="D9D9D9"/>
                    </a:solidFill>
                  </a:tcPr>
                </a:tc>
                <a:tc>
                  <a:txBody>
                    <a:bodyPr/>
                    <a:lstStyle/>
                    <a:p>
                      <a:pPr algn="ctr">
                        <a:defRPr sz="900">
                          <a:latin typeface="Montserrat"/>
                        </a:defRPr>
                      </a:pPr>
                      <a:r>
                        <a:t>131,512</a:t>
                      </a:r>
                    </a:p>
                  </a:txBody>
                  <a:tcPr anchor="ctr">
                    <a:solidFill>
                      <a:srgbClr val="D9D9D9"/>
                    </a:solidFill>
                  </a:tcPr>
                </a:tc>
                <a:tc>
                  <a:txBody>
                    <a:bodyPr/>
                    <a:lstStyle/>
                    <a:p>
                      <a:pPr algn="ctr">
                        <a:defRPr sz="900">
                          <a:latin typeface="Montserrat"/>
                        </a:defRPr>
                      </a:pPr>
                      <a:r>
                        <a:t>243</a:t>
                      </a:r>
                    </a:p>
                  </a:txBody>
                  <a:tcPr anchor="ctr">
                    <a:solidFill>
                      <a:srgbClr val="D9D9D9"/>
                    </a:solidFill>
                  </a:tcPr>
                </a:tc>
                <a:tc>
                  <a:txBody>
                    <a:bodyPr/>
                    <a:lstStyle/>
                    <a:p>
                      <a:pPr algn="ctr">
                        <a:defRPr sz="900">
                          <a:latin typeface="Montserrat"/>
                        </a:defRPr>
                      </a:pPr>
                      <a:r>
                        <a:t>26,957</a:t>
                      </a:r>
                    </a:p>
                  </a:txBody>
                  <a:tcPr anchor="ctr">
                    <a:solidFill>
                      <a:srgbClr val="D9D9D9"/>
                    </a:solidFill>
                  </a:tcPr>
                </a:tc>
                <a:tc>
                  <a:txBody>
                    <a:bodyPr/>
                    <a:lstStyle/>
                    <a:p>
                      <a:pPr algn="ctr">
                        <a:defRPr sz="900">
                          <a:latin typeface="Montserrat"/>
                        </a:defRPr>
                      </a:pPr>
                      <a:r>
                        <a:t>579</a:t>
                      </a:r>
                    </a:p>
                  </a:txBody>
                  <a:tcPr anchor="ctr">
                    <a:solidFill>
                      <a:srgbClr val="D9D9D9"/>
                    </a:solidFill>
                  </a:tcPr>
                </a:tc>
                <a:tc>
                  <a:txBody>
                    <a:bodyPr/>
                    <a:lstStyle/>
                    <a:p>
                      <a:pPr algn="ctr">
                        <a:defRPr sz="900">
                          <a:latin typeface="Montserrat"/>
                        </a:defRPr>
                      </a:pPr>
                      <a:r>
                        <a:rPr dirty="0"/>
                        <a:t>159,291</a:t>
                      </a:r>
                    </a:p>
                  </a:txBody>
                  <a:tcPr anchor="ct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nchor="ctr">
                    <a:solidFill>
                      <a:srgbClr val="FFFFFF"/>
                    </a:solidFill>
                  </a:tcPr>
                </a:tc>
                <a:tc>
                  <a:txBody>
                    <a:bodyPr/>
                    <a:lstStyle/>
                    <a:p>
                      <a:pPr algn="ctr">
                        <a:defRPr sz="900" b="1">
                          <a:solidFill>
                            <a:srgbClr val="006455"/>
                          </a:solidFill>
                          <a:latin typeface="Montserrat"/>
                        </a:defRPr>
                      </a:pPr>
                      <a:r>
                        <a:t>+0.8%</a:t>
                      </a:r>
                    </a:p>
                  </a:txBody>
                  <a:tcPr anchor="ctr">
                    <a:solidFill>
                      <a:srgbClr val="FFFFFF"/>
                    </a:solidFill>
                  </a:tcPr>
                </a:tc>
                <a:tc>
                  <a:txBody>
                    <a:bodyPr/>
                    <a:lstStyle/>
                    <a:p>
                      <a:pPr algn="ctr">
                        <a:defRPr sz="900" b="0">
                          <a:solidFill>
                            <a:srgbClr val="691C32"/>
                          </a:solidFill>
                          <a:latin typeface="Montserrat"/>
                        </a:defRPr>
                      </a:pPr>
                      <a:r>
                        <a:t>-7.3%</a:t>
                      </a:r>
                    </a:p>
                  </a:txBody>
                  <a:tcPr anchor="ctr">
                    <a:solidFill>
                      <a:srgbClr val="FFFFFF"/>
                    </a:solidFill>
                  </a:tcPr>
                </a:tc>
                <a:tc>
                  <a:txBody>
                    <a:bodyPr/>
                    <a:lstStyle/>
                    <a:p>
                      <a:pPr algn="ctr">
                        <a:defRPr sz="900" b="0">
                          <a:solidFill>
                            <a:srgbClr val="691C32"/>
                          </a:solidFill>
                          <a:latin typeface="Montserrat"/>
                        </a:defRPr>
                      </a:pPr>
                      <a:r>
                        <a:t>-6.5%</a:t>
                      </a:r>
                    </a:p>
                  </a:txBody>
                  <a:tcPr anchor="ctr">
                    <a:solidFill>
                      <a:srgbClr val="FFFFFF"/>
                    </a:solidFill>
                  </a:tcPr>
                </a:tc>
                <a:tc>
                  <a:txBody>
                    <a:bodyPr/>
                    <a:lstStyle/>
                    <a:p>
                      <a:pPr algn="ctr">
                        <a:defRPr sz="900" b="1">
                          <a:solidFill>
                            <a:srgbClr val="006455"/>
                          </a:solidFill>
                          <a:latin typeface="Montserrat"/>
                        </a:defRPr>
                      </a:pPr>
                      <a:r>
                        <a:t>+34.0%</a:t>
                      </a:r>
                    </a:p>
                  </a:txBody>
                  <a:tcPr anchor="ctr">
                    <a:solidFill>
                      <a:srgbClr val="FFFFFF"/>
                    </a:solidFill>
                  </a:tcPr>
                </a:tc>
                <a:tc>
                  <a:txBody>
                    <a:bodyPr/>
                    <a:lstStyle/>
                    <a:p>
                      <a:pPr algn="ctr">
                        <a:defRPr sz="900" b="0">
                          <a:solidFill>
                            <a:srgbClr val="691C32"/>
                          </a:solidFill>
                          <a:latin typeface="Montserrat"/>
                        </a:defRPr>
                      </a:pPr>
                      <a:r>
                        <a:rPr dirty="0"/>
                        <a:t>-0.4%</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BDB91EE-2477-F5F5-BE73-0369E6C50E2B}"/>
              </a:ext>
            </a:extLst>
          </p:cNvPr>
          <p:cNvSpPr/>
          <p:nvPr/>
        </p:nvSpPr>
        <p:spPr>
          <a:xfrm>
            <a:off x="767811" y="1160975"/>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GUERRERO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$552.43</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extLst>
              <p:ext uri="{D42A27DB-BD31-4B8C-83A1-F6EECF244321}">
                <p14:modId xmlns:p14="http://schemas.microsoft.com/office/powerpoint/2010/main" val="4046489187"/>
              </p:ext>
            </p:extLst>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dirty="0"/>
                    </a:p>
                  </a:txBody>
                  <a:tcPr anchor="ctr">
                    <a:noFill/>
                  </a:tcPr>
                </a:tc>
                <a:tc>
                  <a:txBody>
                    <a:bodyPr/>
                    <a:lstStyle/>
                    <a:p>
                      <a:pPr algn="ctr">
                        <a:defRPr sz="1100" b="1">
                          <a:solidFill>
                            <a:srgbClr val="FFFFFF"/>
                          </a:solidFill>
                          <a:latin typeface="Montserrat"/>
                        </a:defRPr>
                      </a:pPr>
                      <a:r>
                        <a:rPr dirty="0"/>
                        <a:t>2018 </a:t>
                      </a:r>
                      <a:r>
                        <a:rPr dirty="0" err="1"/>
                        <a:t>diciembre</a:t>
                      </a:r>
                      <a:endParaRPr dirty="0"/>
                    </a:p>
                  </a:txBody>
                  <a:tcPr anchor="ctr">
                    <a:solidFill>
                      <a:srgbClr val="A42145"/>
                    </a:solidFill>
                  </a:tcPr>
                </a:tc>
                <a:tc>
                  <a:txBody>
                    <a:bodyPr/>
                    <a:lstStyle/>
                    <a:p>
                      <a:pPr algn="ctr">
                        <a:defRPr sz="1100" b="1">
                          <a:solidFill>
                            <a:srgbClr val="FFFFFF"/>
                          </a:solidFill>
                          <a:latin typeface="Montserrat"/>
                        </a:defRPr>
                      </a:pPr>
                      <a:r>
                        <a:rPr dirty="0"/>
                        <a:t>2026 Mayo</a:t>
                      </a:r>
                    </a:p>
                  </a:txBody>
                  <a:tcPr anchor="ctr">
                    <a:solidFill>
                      <a:srgbClr val="A42145"/>
                    </a:solidFill>
                  </a:tcPr>
                </a:tc>
                <a:tc>
                  <a:txBody>
                    <a:bodyPr/>
                    <a:lstStyle/>
                    <a:p>
                      <a:pPr algn="ctr">
                        <a:defRPr sz="1100" b="1">
                          <a:solidFill>
                            <a:srgbClr val="FFFFFF"/>
                          </a:solidFill>
                          <a:latin typeface="Montserrat"/>
                        </a:defRPr>
                      </a:pPr>
                      <a:r>
                        <a:t>Variación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Mensual</a:t>
                      </a:r>
                    </a:p>
                  </a:txBody>
                  <a:tcPr anchor="ctr">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rPr dirty="0" err="1"/>
                        <a:t>Salario</a:t>
                      </a:r>
                      <a:r>
                        <a:rPr dirty="0"/>
                        <a:t> Base de </a:t>
                      </a:r>
                      <a:r>
                        <a:rPr dirty="0" err="1"/>
                        <a:t>Cotización</a:t>
                      </a:r>
                      <a:endParaRPr dirty="0"/>
                    </a:p>
                  </a:txBody>
                  <a:tcPr anchor="ctr">
                    <a:solidFill>
                      <a:srgbClr val="A42145"/>
                    </a:solidFill>
                  </a:tcPr>
                </a:tc>
                <a:tc>
                  <a:txBody>
                    <a:bodyPr/>
                    <a:lstStyle/>
                    <a:p>
                      <a:pPr algn="ctr">
                        <a:defRPr sz="1100">
                          <a:latin typeface="Montserrat"/>
                        </a:defRPr>
                      </a:pPr>
                      <a:r>
                        <a:t>$285.91</a:t>
                      </a:r>
                    </a:p>
                  </a:txBody>
                  <a:tcPr anchor="ctr">
                    <a:solidFill>
                      <a:srgbClr val="EEEEEE"/>
                    </a:solidFill>
                  </a:tcPr>
                </a:tc>
                <a:tc>
                  <a:txBody>
                    <a:bodyPr/>
                    <a:lstStyle/>
                    <a:p>
                      <a:pPr algn="ctr">
                        <a:defRPr sz="1100" b="1">
                          <a:latin typeface="Montserrat"/>
                        </a:defRPr>
                      </a:pPr>
                      <a:r>
                        <a:rPr dirty="0"/>
                        <a:t>$552.43</a:t>
                      </a:r>
                    </a:p>
                  </a:txBody>
                  <a:tcPr anchor="ctr">
                    <a:solidFill>
                      <a:srgbClr val="EEEEEE"/>
                    </a:solidFill>
                  </a:tcPr>
                </a:tc>
                <a:tc>
                  <a:txBody>
                    <a:bodyPr/>
                    <a:lstStyle/>
                    <a:p>
                      <a:pPr algn="ctr">
                        <a:defRPr sz="1100">
                          <a:latin typeface="Montserrat"/>
                        </a:defRPr>
                      </a:pPr>
                      <a:r>
                        <a:rPr dirty="0"/>
                        <a:t>36.6%</a:t>
                      </a:r>
                    </a:p>
                  </a:txBody>
                  <a:tcPr anchor="ctr">
                    <a:solidFill>
                      <a:srgbClr val="EEEEEE"/>
                    </a:solidFill>
                  </a:tcPr>
                </a:tc>
                <a:tc>
                  <a:txBody>
                    <a:bodyPr/>
                    <a:lstStyle/>
                    <a:p>
                      <a:pPr algn="ctr">
                        <a:defRPr sz="1100" b="1">
                          <a:latin typeface="Montserrat"/>
                        </a:defRPr>
                      </a:pPr>
                      <a:r>
                        <a:rPr dirty="0"/>
                        <a:t>$671.25</a:t>
                      </a:r>
                    </a:p>
                  </a:txBody>
                  <a:tcPr anchor="ctr">
                    <a:solidFill>
                      <a:srgbClr val="EEEEEE"/>
                    </a:solidFill>
                  </a:tcPr>
                </a:tc>
                <a:tc>
                  <a:txBody>
                    <a:bodyPr/>
                    <a:lstStyle/>
                    <a:p>
                      <a:pPr algn="ctr">
                        <a:defRPr sz="1100" b="1">
                          <a:solidFill>
                            <a:srgbClr val="9F2241"/>
                          </a:solidFill>
                          <a:latin typeface="Montserrat"/>
                        </a:defRPr>
                      </a:pPr>
                      <a:r>
                        <a:rPr dirty="0"/>
                        <a:t>$16,572.9</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4243063017"/>
              </p:ext>
            </p:extLst>
          </p:nvPr>
        </p:nvGraphicFramePr>
        <p:xfrm>
          <a:off x="320400" y="6649200"/>
          <a:ext cx="7038000" cy="191556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rPr dirty="0"/>
                        <a:t>PRINCIPALES DEUDORES</a:t>
                      </a:r>
                    </a:p>
                  </a:txBody>
                  <a:tcPr anchor="ct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nchor="ctr">
                    <a:solidFill>
                      <a:srgbClr val="006455"/>
                    </a:solidFill>
                  </a:tcPr>
                </a:tc>
                <a:tc>
                  <a:txBody>
                    <a:bodyPr/>
                    <a:lstStyle/>
                    <a:p>
                      <a:pPr algn="ctr">
                        <a:defRPr sz="1100" b="1">
                          <a:solidFill>
                            <a:srgbClr val="FFFFFF"/>
                          </a:solidFill>
                          <a:latin typeface="Montserrat"/>
                        </a:defRPr>
                      </a:pPr>
                      <a:r>
                        <a:rPr dirty="0" err="1"/>
                        <a:t>Deudores</a:t>
                      </a:r>
                      <a:endParaRPr dirty="0"/>
                    </a:p>
                  </a:txBody>
                  <a:tcPr anchor="ctr">
                    <a:solidFill>
                      <a:srgbClr val="006455"/>
                    </a:solidFill>
                  </a:tcPr>
                </a:tc>
                <a:tc>
                  <a:txBody>
                    <a:bodyPr/>
                    <a:lstStyle/>
                    <a:p>
                      <a:pPr algn="ctr">
                        <a:defRPr sz="1100" b="1">
                          <a:solidFill>
                            <a:srgbClr val="FFFFFF"/>
                          </a:solidFill>
                          <a:latin typeface="Montserrat"/>
                        </a:defRPr>
                      </a:pPr>
                      <a:r>
                        <a:t>Monto de deuda (mdp)</a:t>
                      </a:r>
                    </a:p>
                  </a:txBody>
                  <a:tcPr anchor="ctr">
                    <a:solidFill>
                      <a:srgbClr val="006455"/>
                    </a:solidFill>
                  </a:tcPr>
                </a:tc>
                <a:extLst>
                  <a:ext uri="{0D108BD9-81ED-4DB2-BD59-A6C34878D82A}">
                    <a16:rowId xmlns:a16="http://schemas.microsoft.com/office/drawing/2014/main" val="10001"/>
                  </a:ext>
                </a:extLst>
              </a:tr>
              <a:tr h="288000">
                <a:tc>
                  <a:txBody>
                    <a:bodyPr/>
                    <a:lstStyle/>
                    <a:p>
                      <a:pPr algn="ctr">
                        <a:defRPr sz="900">
                          <a:latin typeface="Montserrat"/>
                        </a:defRPr>
                      </a:pPr>
                      <a:r>
                        <a:t>Principal deudor público</a:t>
                      </a:r>
                    </a:p>
                  </a:txBody>
                  <a:tcPr anchor="ctr">
                    <a:solidFill>
                      <a:srgbClr val="FFFFFF"/>
                    </a:solidFill>
                  </a:tcPr>
                </a:tc>
                <a:tc>
                  <a:txBody>
                    <a:bodyPr/>
                    <a:lstStyle/>
                    <a:p>
                      <a:pPr algn="ctr">
                        <a:defRPr sz="900">
                          <a:latin typeface="Montserrat"/>
                        </a:defRPr>
                      </a:pPr>
                      <a:r>
                        <a:rPr dirty="0" err="1"/>
                        <a:t>Comisión</a:t>
                      </a:r>
                      <a:r>
                        <a:rPr dirty="0"/>
                        <a:t> de Agua Potable y </a:t>
                      </a:r>
                      <a:r>
                        <a:rPr dirty="0" err="1"/>
                        <a:t>Alcantarillado</a:t>
                      </a:r>
                      <a:r>
                        <a:rPr dirty="0"/>
                        <a:t> de </a:t>
                      </a:r>
                      <a:r>
                        <a:rPr dirty="0" err="1"/>
                        <a:t>Chilpancingo</a:t>
                      </a:r>
                      <a:endParaRPr dirty="0"/>
                    </a:p>
                  </a:txBody>
                  <a:tcPr anchor="ctr">
                    <a:solidFill>
                      <a:srgbClr val="FFFFFF"/>
                    </a:solidFill>
                  </a:tcPr>
                </a:tc>
                <a:tc>
                  <a:txBody>
                    <a:bodyPr/>
                    <a:lstStyle/>
                    <a:p>
                      <a:pPr algn="ctr">
                        <a:defRPr sz="900">
                          <a:latin typeface="Montserrat"/>
                        </a:defRPr>
                      </a:pPr>
                      <a:r>
                        <a:t>$4.39</a:t>
                      </a:r>
                    </a:p>
                  </a:txBody>
                  <a:tcPr anchor="ctr">
                    <a:solidFill>
                      <a:srgbClr val="FFFFFF"/>
                    </a:solidFill>
                  </a:tcPr>
                </a:tc>
                <a:extLst>
                  <a:ext uri="{0D108BD9-81ED-4DB2-BD59-A6C34878D82A}">
                    <a16:rowId xmlns:a16="http://schemas.microsoft.com/office/drawing/2014/main" val="10002"/>
                  </a:ext>
                </a:extLst>
              </a:tr>
              <a:tr h="288000">
                <a:tc rowSpan="3">
                  <a:txBody>
                    <a:bodyPr/>
                    <a:lstStyle/>
                    <a:p>
                      <a:pPr algn="ctr">
                        <a:defRPr sz="1100">
                          <a:solidFill>
                            <a:srgbClr val="FFFFFF"/>
                          </a:solidFill>
                          <a:latin typeface="Montserrat"/>
                        </a:defRPr>
                      </a:pPr>
                      <a:r>
                        <a:rPr dirty="0"/>
                        <a:t>Principal</a:t>
                      </a:r>
                      <a:r>
                        <a:rPr lang="es-MX" dirty="0"/>
                        <a:t>es </a:t>
                      </a:r>
                      <a:r>
                        <a:rPr dirty="0" err="1"/>
                        <a:t>deudor</a:t>
                      </a:r>
                      <a:r>
                        <a:rPr lang="es-MX" dirty="0"/>
                        <a:t>es</a:t>
                      </a:r>
                      <a:r>
                        <a:rPr dirty="0"/>
                        <a:t> privado</a:t>
                      </a:r>
                      <a:r>
                        <a:rPr lang="es-MX" dirty="0"/>
                        <a:t>s</a:t>
                      </a:r>
                      <a:endParaRPr dirty="0"/>
                    </a:p>
                  </a:txBody>
                  <a:tcPr anchor="ctr">
                    <a:solidFill>
                      <a:srgbClr val="006455"/>
                    </a:solidFill>
                  </a:tcPr>
                </a:tc>
                <a:tc>
                  <a:txBody>
                    <a:bodyPr/>
                    <a:lstStyle/>
                    <a:p>
                      <a:pPr algn="ctr">
                        <a:defRPr sz="900">
                          <a:latin typeface="Montserrat"/>
                        </a:defRPr>
                      </a:pPr>
                      <a:r>
                        <a:rPr dirty="0" err="1"/>
                        <a:t>Industrias</a:t>
                      </a:r>
                      <a:r>
                        <a:rPr dirty="0"/>
                        <a:t> de </a:t>
                      </a:r>
                      <a:r>
                        <a:rPr dirty="0" err="1"/>
                        <a:t>Hielo</a:t>
                      </a:r>
                      <a:r>
                        <a:rPr dirty="0"/>
                        <a:t> de Acapulco SA de CV</a:t>
                      </a:r>
                    </a:p>
                  </a:txBody>
                  <a:tcPr anchor="ctr">
                    <a:solidFill>
                      <a:srgbClr val="EEEEEE"/>
                    </a:solidFill>
                  </a:tcPr>
                </a:tc>
                <a:tc>
                  <a:txBody>
                    <a:bodyPr/>
                    <a:lstStyle/>
                    <a:p>
                      <a:pPr algn="ctr">
                        <a:defRPr sz="900">
                          <a:latin typeface="Montserrat"/>
                        </a:defRPr>
                      </a:pPr>
                      <a:r>
                        <a:t>$8.31</a:t>
                      </a:r>
                    </a:p>
                  </a:txBody>
                  <a:tcPr anchor="ct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rPr dirty="0" err="1"/>
                        <a:t>Desarrollos</a:t>
                      </a:r>
                      <a:r>
                        <a:rPr dirty="0"/>
                        <a:t> </a:t>
                      </a:r>
                      <a:r>
                        <a:rPr dirty="0" err="1"/>
                        <a:t>Mineros</a:t>
                      </a:r>
                      <a:r>
                        <a:rPr dirty="0"/>
                        <a:t> San Luis SA de CV</a:t>
                      </a:r>
                    </a:p>
                  </a:txBody>
                  <a:tcPr anchor="ctr">
                    <a:solidFill>
                      <a:srgbClr val="FFFFFF"/>
                    </a:solidFill>
                  </a:tcPr>
                </a:tc>
                <a:tc>
                  <a:txBody>
                    <a:bodyPr/>
                    <a:lstStyle/>
                    <a:p>
                      <a:pPr algn="ctr">
                        <a:defRPr sz="900">
                          <a:latin typeface="Montserrat"/>
                        </a:defRPr>
                      </a:pPr>
                      <a:r>
                        <a:t>$6.89</a:t>
                      </a:r>
                    </a:p>
                  </a:txBody>
                  <a:tcPr anchor="ctr">
                    <a:solidFill>
                      <a:srgbClr val="FFFFFF"/>
                    </a:solidFill>
                  </a:tcPr>
                </a:tc>
                <a:extLst>
                  <a:ext uri="{0D108BD9-81ED-4DB2-BD59-A6C34878D82A}">
                    <a16:rowId xmlns:a16="http://schemas.microsoft.com/office/drawing/2014/main" val="10004"/>
                  </a:ext>
                </a:extLst>
              </a:tr>
              <a:tr h="288000">
                <a:tc vMerge="1">
                  <a:txBody>
                    <a:bodyPr/>
                    <a:lstStyle/>
                    <a:p>
                      <a:endParaRPr/>
                    </a:p>
                  </a:txBody>
                  <a:tcPr>
                    <a:solidFill>
                      <a:srgbClr val="006455"/>
                    </a:solidFill>
                  </a:tcPr>
                </a:tc>
                <a:tc>
                  <a:txBody>
                    <a:bodyPr/>
                    <a:lstStyle/>
                    <a:p>
                      <a:pPr algn="ctr">
                        <a:defRPr sz="900">
                          <a:latin typeface="Montserrat"/>
                        </a:defRPr>
                      </a:pPr>
                      <a:r>
                        <a:rPr dirty="0" err="1"/>
                        <a:t>Importaciones</a:t>
                      </a:r>
                      <a:r>
                        <a:rPr dirty="0"/>
                        <a:t> del Centro de Campeche SAS de CV</a:t>
                      </a:r>
                    </a:p>
                  </a:txBody>
                  <a:tcPr anchor="ctr">
                    <a:solidFill>
                      <a:srgbClr val="EEEEEE"/>
                    </a:solidFill>
                  </a:tcPr>
                </a:tc>
                <a:tc>
                  <a:txBody>
                    <a:bodyPr/>
                    <a:lstStyle/>
                    <a:p>
                      <a:pPr algn="ctr">
                        <a:defRPr sz="900">
                          <a:latin typeface="Montserrat"/>
                        </a:defRPr>
                      </a:pPr>
                      <a:r>
                        <a:rPr dirty="0"/>
                        <a:t>$3.76</a:t>
                      </a:r>
                    </a:p>
                  </a:txBody>
                  <a:tcPr anchor="ctr">
                    <a:solidFill>
                      <a:srgbClr val="EEEEEE"/>
                    </a:solidFill>
                  </a:tcPr>
                </a:tc>
                <a:extLst>
                  <a:ext uri="{0D108BD9-81ED-4DB2-BD59-A6C34878D82A}">
                    <a16:rowId xmlns:a16="http://schemas.microsoft.com/office/drawing/2014/main" val="10005"/>
                  </a:ext>
                </a:extLst>
              </a:tr>
            </a:tbl>
          </a:graphicData>
        </a:graphic>
      </p:graphicFrame>
      <p:sp>
        <p:nvSpPr>
          <p:cNvPr id="515" name="TextBox 514"/>
          <p:cNvSpPr txBox="1"/>
          <p:nvPr/>
        </p:nvSpPr>
        <p:spPr>
          <a:xfrm>
            <a:off x="251999" y="2350800"/>
            <a:ext cx="4316400" cy="244800"/>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Salario Base de </a:t>
            </a:r>
            <a:r>
              <a:rPr dirty="0" err="1">
                <a:solidFill>
                  <a:schemeClr val="tx1"/>
                </a:solidFill>
              </a:rPr>
              <a:t>Cotización</a:t>
            </a:r>
            <a:r>
              <a:rPr dirty="0">
                <a:solidFill>
                  <a:schemeClr val="tx1"/>
                </a:solidFill>
              </a:rPr>
              <a:t>: </a:t>
            </a:r>
            <a:r>
              <a:rPr dirty="0" err="1">
                <a:solidFill>
                  <a:schemeClr val="tx1"/>
                </a:solidFill>
              </a:rPr>
              <a:t>tado</a:t>
            </a:r>
            <a:r>
              <a:rPr dirty="0">
                <a:solidFill>
                  <a:schemeClr val="tx1"/>
                </a:solidFill>
              </a:rPr>
              <a:t>: Se </a:t>
            </a:r>
            <a:r>
              <a:rPr dirty="0" err="1">
                <a:solidFill>
                  <a:schemeClr val="tx1"/>
                </a:solidFill>
              </a:rPr>
              <a:t>utilizó</a:t>
            </a:r>
            <a:r>
              <a:rPr dirty="0">
                <a:solidFill>
                  <a:schemeClr val="tx1"/>
                </a:solidFill>
              </a:rPr>
              <a:t> </a:t>
            </a:r>
            <a:r>
              <a:rPr dirty="0" err="1">
                <a:solidFill>
                  <a:schemeClr val="tx1"/>
                </a:solidFill>
              </a:rPr>
              <a:t>como</a:t>
            </a:r>
            <a:r>
              <a:rPr dirty="0">
                <a:solidFill>
                  <a:schemeClr val="tx1"/>
                </a:solidFill>
              </a:rPr>
              <a:t> </a:t>
            </a:r>
            <a:r>
              <a:rPr dirty="0" err="1">
                <a:solidFill>
                  <a:schemeClr val="tx1"/>
                </a:solidFill>
              </a:rPr>
              <a:t>deflactor</a:t>
            </a:r>
            <a:r>
              <a:rPr dirty="0">
                <a:solidFill>
                  <a:schemeClr val="tx1"/>
                </a:solidFill>
              </a:rPr>
              <a:t> del </a:t>
            </a:r>
            <a:r>
              <a:rPr dirty="0" err="1">
                <a:solidFill>
                  <a:schemeClr val="tx1"/>
                </a:solidFill>
              </a:rPr>
              <a:t>salario</a:t>
            </a:r>
            <a:r>
              <a:rPr dirty="0">
                <a:solidFill>
                  <a:schemeClr val="tx1"/>
                </a:solidFill>
              </a:rPr>
              <a:t> el </a:t>
            </a:r>
            <a:r>
              <a:rPr dirty="0" err="1">
                <a:solidFill>
                  <a:schemeClr val="tx1"/>
                </a:solidFill>
              </a:rPr>
              <a:t>cociente</a:t>
            </a:r>
            <a:r>
              <a:rPr dirty="0">
                <a:solidFill>
                  <a:schemeClr val="tx1"/>
                </a:solidFill>
              </a:rPr>
              <a:t> del INPC entre </a:t>
            </a:r>
            <a:r>
              <a:rPr dirty="0" err="1">
                <a:solidFill>
                  <a:schemeClr val="tx1"/>
                </a:solidFill>
              </a:rPr>
              <a:t>diciembre</a:t>
            </a:r>
            <a:r>
              <a:rPr dirty="0">
                <a:solidFill>
                  <a:schemeClr val="tx1"/>
                </a:solidFill>
              </a:rPr>
              <a:t> 2018 (103.02) y </a:t>
            </a:r>
            <a:r>
              <a:rPr dirty="0" err="1">
                <a:solidFill>
                  <a:schemeClr val="tx1"/>
                </a:solidFill>
              </a:rPr>
              <a:t>abril</a:t>
            </a:r>
            <a:r>
              <a:rPr dirty="0">
                <a:solidFill>
                  <a:schemeClr val="tx1"/>
                </a:solidFill>
              </a:rPr>
              <a:t> 2026 (145.831) de 0.706434.</a:t>
            </a: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extLst>
              <p:ext uri="{D42A27DB-BD31-4B8C-83A1-F6EECF244321}">
                <p14:modId xmlns:p14="http://schemas.microsoft.com/office/powerpoint/2010/main" val="2096884204"/>
              </p:ext>
            </p:extLst>
          </p:nvPr>
        </p:nvGraphicFramePr>
        <p:xfrm>
          <a:off x="3884217" y="809244"/>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2.  Población beneficiada </a:t>
                      </a:r>
                      <a:endParaRPr sz="16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5988608"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5988608"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GUERRERO PROGRAMA IMSS-COPLAMAR</a:t>
            </a:r>
          </a:p>
        </p:txBody>
      </p:sp>
      <p:sp>
        <p:nvSpPr>
          <p:cNvPr id="531" name="TextBox 530"/>
          <p:cNvSpPr txBox="1"/>
          <p:nvPr/>
        </p:nvSpPr>
        <p:spPr>
          <a:xfrm>
            <a:off x="309600" y="5119200"/>
            <a:ext cx="1958400" cy="123111"/>
          </a:xfrm>
          <a:prstGeom prst="rect">
            <a:avLst/>
          </a:prstGeom>
          <a:noFill/>
        </p:spPr>
        <p:txBody>
          <a:bodyPr wrap="square" lIns="0" tIns="0" rIns="0" bIns="0">
            <a:spAutoFit/>
          </a:bodyPr>
          <a:lstStyle/>
          <a:p>
            <a:pPr algn="l">
              <a:defRPr sz="800">
                <a:solidFill>
                  <a:srgbClr val="FFFFFF"/>
                </a:solidFill>
                <a:latin typeface="Montserrat"/>
              </a:defRPr>
            </a:pPr>
            <a:r>
              <a:rPr>
                <a:solidFill>
                  <a:schemeClr val="tx1"/>
                </a:solidFill>
              </a:rPr>
              <a:t>enero-diciembre 2025</a:t>
            </a:r>
          </a:p>
        </p:txBody>
      </p:sp>
      <p:sp>
        <p:nvSpPr>
          <p:cNvPr id="532" name="TextBox 531"/>
          <p:cNvSpPr txBox="1"/>
          <p:nvPr/>
        </p:nvSpPr>
        <p:spPr>
          <a:xfrm>
            <a:off x="309600" y="96228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graphicFrame>
        <p:nvGraphicFramePr>
          <p:cNvPr id="533" name="Table 532"/>
          <p:cNvGraphicFramePr>
            <a:graphicFrameLocks noGrp="1"/>
          </p:cNvGraphicFramePr>
          <p:nvPr>
            <p:extLst>
              <p:ext uri="{D42A27DB-BD31-4B8C-83A1-F6EECF244321}">
                <p14:modId xmlns:p14="http://schemas.microsoft.com/office/powerpoint/2010/main" val="3410267259"/>
              </p:ext>
            </p:extLst>
          </p:nvPr>
        </p:nvGraphicFramePr>
        <p:xfrm>
          <a:off x="310896" y="1335024"/>
          <a:ext cx="3575304" cy="1464348"/>
        </p:xfrm>
        <a:graphic>
          <a:graphicData uri="http://schemas.openxmlformats.org/drawingml/2006/table">
            <a:tbl>
              <a:tblPr firstRow="1" bandRow="1">
                <a:tableStyleId>{5C22544A-7EE6-4342-B048-85BDC9FD1C3A}</a:tableStyleId>
              </a:tblPr>
              <a:tblGrid>
                <a:gridCol w="255117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tblGrid>
              <a:tr h="177654">
                <a:tc>
                  <a:txBody>
                    <a:bodyPr/>
                    <a:lstStyle/>
                    <a:p>
                      <a:pPr algn="ctr">
                        <a:defRPr sz="1100" b="1">
                          <a:solidFill>
                            <a:srgbClr val="FFFFFF"/>
                          </a:solidFill>
                          <a:latin typeface="Montserrat"/>
                        </a:defRPr>
                      </a:pPr>
                      <a:r>
                        <a:rPr dirty="0" err="1"/>
                        <a:t>Unidades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t>Total</a:t>
                      </a:r>
                    </a:p>
                  </a:txBody>
                  <a:tcPr marL="36576" marR="36576" marT="36576" marB="36576" anchor="ctr">
                    <a:solidFill>
                      <a:srgbClr val="006455"/>
                    </a:solidFill>
                  </a:tcPr>
                </a:tc>
                <a:extLst>
                  <a:ext uri="{0D108BD9-81ED-4DB2-BD59-A6C34878D82A}">
                    <a16:rowId xmlns:a16="http://schemas.microsoft.com/office/drawing/2014/main" val="10000"/>
                  </a:ext>
                </a:extLst>
              </a:tr>
              <a:tr h="177654">
                <a:tc>
                  <a:txBody>
                    <a:bodyPr/>
                    <a:lstStyle/>
                    <a:p>
                      <a:pPr algn="l">
                        <a:defRPr sz="1100" b="0">
                          <a:solidFill>
                            <a:srgbClr val="000000"/>
                          </a:solidFill>
                          <a:latin typeface="Montserrat"/>
                        </a:defRPr>
                      </a:pPr>
                      <a:r>
                        <a:rPr dirty="0"/>
                        <a:t>Hospital Rural</a:t>
                      </a:r>
                    </a:p>
                  </a:txBody>
                  <a:tcPr marL="73152" marR="73152" marT="0" marB="0" anchor="ctr">
                    <a:solidFill>
                      <a:srgbClr val="FFFFFF"/>
                    </a:solidFill>
                  </a:tcPr>
                </a:tc>
                <a:tc>
                  <a:txBody>
                    <a:bodyPr/>
                    <a:lstStyle/>
                    <a:p>
                      <a:pPr algn="ctr">
                        <a:defRPr sz="1000" b="1">
                          <a:solidFill>
                            <a:srgbClr val="006455"/>
                          </a:solidFill>
                          <a:latin typeface="Montserrat"/>
                        </a:defRPr>
                      </a:pPr>
                      <a:r>
                        <a:t>1</a:t>
                      </a:r>
                    </a:p>
                  </a:txBody>
                  <a:tcPr marL="73152" marR="73152" marT="0" marB="0" anchor="ctr">
                    <a:solidFill>
                      <a:srgbClr val="D3E9E7"/>
                    </a:solidFill>
                  </a:tcPr>
                </a:tc>
                <a:extLst>
                  <a:ext uri="{0D108BD9-81ED-4DB2-BD59-A6C34878D82A}">
                    <a16:rowId xmlns:a16="http://schemas.microsoft.com/office/drawing/2014/main" val="10001"/>
                  </a:ext>
                </a:extLst>
              </a:tr>
              <a:tr h="177654">
                <a:tc>
                  <a:txBody>
                    <a:bodyPr/>
                    <a:lstStyle/>
                    <a:p>
                      <a:pPr algn="l">
                        <a:defRPr sz="1100" b="0">
                          <a:solidFill>
                            <a:srgbClr val="000000"/>
                          </a:solidFill>
                          <a:latin typeface="Montserrat"/>
                        </a:defRPr>
                      </a:pPr>
                      <a:r>
                        <a:rPr dirty="0" err="1"/>
                        <a:t>Unidad</a:t>
                      </a:r>
                      <a:r>
                        <a:rPr dirty="0"/>
                        <a:t> </a:t>
                      </a:r>
                      <a:r>
                        <a:rPr dirty="0" err="1"/>
                        <a:t>Médica</a:t>
                      </a:r>
                      <a:r>
                        <a:rPr dirty="0"/>
                        <a:t> Rural</a:t>
                      </a:r>
                    </a:p>
                  </a:txBody>
                  <a:tcPr marL="73152" marR="73152" marT="0" marB="0" anchor="ctr">
                    <a:solidFill>
                      <a:srgbClr val="EFEFEF"/>
                    </a:solidFill>
                  </a:tcPr>
                </a:tc>
                <a:tc>
                  <a:txBody>
                    <a:bodyPr/>
                    <a:lstStyle/>
                    <a:p>
                      <a:pPr algn="ctr">
                        <a:defRPr sz="1000" b="1">
                          <a:solidFill>
                            <a:srgbClr val="006455"/>
                          </a:solidFill>
                          <a:latin typeface="Montserrat"/>
                        </a:defRPr>
                      </a:pPr>
                      <a:r>
                        <a:t>19</a:t>
                      </a:r>
                    </a:p>
                  </a:txBody>
                  <a:tcPr marL="73152" marR="73152" marT="0" marB="0" anchor="ctr">
                    <a:solidFill>
                      <a:srgbClr val="D3E9E7"/>
                    </a:solidFill>
                  </a:tcPr>
                </a:tc>
                <a:extLst>
                  <a:ext uri="{0D108BD9-81ED-4DB2-BD59-A6C34878D82A}">
                    <a16:rowId xmlns:a16="http://schemas.microsoft.com/office/drawing/2014/main" val="10002"/>
                  </a:ext>
                </a:extLst>
              </a:tr>
              <a:tr h="177654">
                <a:tc>
                  <a:txBody>
                    <a:bodyPr/>
                    <a:lstStyle/>
                    <a:p>
                      <a:pPr algn="l">
                        <a:defRPr sz="1100" b="0">
                          <a:solidFill>
                            <a:srgbClr val="000000"/>
                          </a:solidFill>
                          <a:latin typeface="Montserrat"/>
                        </a:defRPr>
                      </a:pPr>
                      <a:r>
                        <a:rPr dirty="0" err="1"/>
                        <a:t>Brigada</a:t>
                      </a:r>
                      <a:r>
                        <a:rPr dirty="0"/>
                        <a:t> </a:t>
                      </a:r>
                      <a:r>
                        <a:rPr dirty="0" err="1"/>
                        <a:t>Salud</a:t>
                      </a:r>
                      <a:endParaRPr dirty="0"/>
                    </a:p>
                  </a:txBody>
                  <a:tcPr marL="73152" marR="73152" marT="0" marB="0" anchor="ctr">
                    <a:solidFill>
                      <a:srgbClr val="FFFFF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3"/>
                  </a:ext>
                </a:extLst>
              </a:tr>
              <a:tr h="177654">
                <a:tc>
                  <a:txBody>
                    <a:bodyPr/>
                    <a:lstStyle/>
                    <a:p>
                      <a:pPr algn="l">
                        <a:defRPr sz="1100" b="0">
                          <a:solidFill>
                            <a:srgbClr val="000000"/>
                          </a:solidFill>
                          <a:latin typeface="Montserrat"/>
                        </a:defRPr>
                      </a:pPr>
                      <a:r>
                        <a:rPr dirty="0" err="1"/>
                        <a:t>Unidad</a:t>
                      </a:r>
                      <a:r>
                        <a:rPr dirty="0"/>
                        <a:t> </a:t>
                      </a:r>
                      <a:r>
                        <a:rPr dirty="0" err="1"/>
                        <a:t>Médica</a:t>
                      </a:r>
                      <a:r>
                        <a:rPr dirty="0"/>
                        <a:t> </a:t>
                      </a:r>
                      <a:r>
                        <a:rPr dirty="0" err="1"/>
                        <a:t>Móvil</a:t>
                      </a:r>
                      <a:endParaRPr dirty="0"/>
                    </a:p>
                  </a:txBody>
                  <a:tcPr marL="73152" marR="73152" marT="0" marB="0" anchor="ctr">
                    <a:solidFill>
                      <a:srgbClr val="EFEFEF"/>
                    </a:solidFill>
                  </a:tcPr>
                </a:tc>
                <a:tc>
                  <a:txBody>
                    <a:bodyPr/>
                    <a:lstStyle/>
                    <a:p>
                      <a:pPr algn="ctr">
                        <a:defRPr sz="1000" b="1">
                          <a:solidFill>
                            <a:srgbClr val="006455"/>
                          </a:solidFill>
                          <a:latin typeface="Montserrat"/>
                        </a:defRPr>
                      </a:pPr>
                      <a:r>
                        <a:t>26</a:t>
                      </a:r>
                    </a:p>
                  </a:txBody>
                  <a:tcPr marL="73152" marR="73152" marT="0" marB="0" anchor="ctr">
                    <a:solidFill>
                      <a:srgbClr val="D3E9E7"/>
                    </a:solidFill>
                  </a:tcPr>
                </a:tc>
                <a:extLst>
                  <a:ext uri="{0D108BD9-81ED-4DB2-BD59-A6C34878D82A}">
                    <a16:rowId xmlns:a16="http://schemas.microsoft.com/office/drawing/2014/main" val="10004"/>
                  </a:ext>
                </a:extLst>
              </a:tr>
              <a:tr h="177654">
                <a:tc>
                  <a:txBody>
                    <a:bodyPr/>
                    <a:lstStyle/>
                    <a:p>
                      <a:pPr algn="l">
                        <a:defRPr sz="1100" b="0">
                          <a:solidFill>
                            <a:srgbClr val="000000"/>
                          </a:solidFill>
                          <a:latin typeface="Montserrat"/>
                        </a:defRPr>
                      </a:pPr>
                      <a:r>
                        <a:rPr dirty="0" err="1"/>
                        <a:t>Centros</a:t>
                      </a:r>
                      <a:r>
                        <a:rPr dirty="0"/>
                        <a:t> de </a:t>
                      </a:r>
                      <a:r>
                        <a:rPr dirty="0" err="1"/>
                        <a:t>Atención</a:t>
                      </a:r>
                      <a:r>
                        <a:rPr dirty="0"/>
                        <a:t> Rural </a:t>
                      </a:r>
                      <a:r>
                        <a:rPr dirty="0" err="1"/>
                        <a:t>Obstétrica</a:t>
                      </a:r>
                      <a:endParaRPr dirty="0"/>
                    </a:p>
                  </a:txBody>
                  <a:tcPr marL="73152" marR="73152" marT="0" marB="0" anchor="ctr">
                    <a:solidFill>
                      <a:srgbClr val="FFFFFF"/>
                    </a:solidFill>
                  </a:tcPr>
                </a:tc>
                <a:tc>
                  <a:txBody>
                    <a:bodyPr/>
                    <a:lstStyle/>
                    <a:p>
                      <a:pPr algn="ctr">
                        <a:defRPr sz="1000" b="1">
                          <a:solidFill>
                            <a:srgbClr val="006455"/>
                          </a:solidFill>
                          <a:latin typeface="Montserrat"/>
                        </a:defRPr>
                      </a:pPr>
                      <a:r>
                        <a:rPr dirty="0"/>
                        <a:t>3</a:t>
                      </a:r>
                    </a:p>
                  </a:txBody>
                  <a:tcPr marL="73152" marR="73152" marT="0" marB="0" anchor="ctr">
                    <a:solidFill>
                      <a:srgbClr val="D3E9E7"/>
                    </a:solidFill>
                  </a:tcPr>
                </a:tc>
                <a:extLst>
                  <a:ext uri="{0D108BD9-81ED-4DB2-BD59-A6C34878D82A}">
                    <a16:rowId xmlns:a16="http://schemas.microsoft.com/office/drawing/2014/main" val="10005"/>
                  </a:ext>
                </a:extLst>
              </a:tr>
              <a:tr h="177660">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rPr dirty="0"/>
                        <a:t>49</a:t>
                      </a:r>
                    </a:p>
                  </a:txBody>
                  <a:tcPr marL="73152" marR="73152" marT="0" marB="0" anchor="ctr">
                    <a:solidFill>
                      <a:srgbClr val="D3E9E7"/>
                    </a:solidFill>
                  </a:tcPr>
                </a:tc>
                <a:extLst>
                  <a:ext uri="{0D108BD9-81ED-4DB2-BD59-A6C34878D82A}">
                    <a16:rowId xmlns:a16="http://schemas.microsoft.com/office/drawing/2014/main" val="10006"/>
                  </a:ext>
                </a:extLst>
              </a:tr>
            </a:tbl>
          </a:graphicData>
        </a:graphic>
      </p:graphicFrame>
      <p:graphicFrame>
        <p:nvGraphicFramePr>
          <p:cNvPr id="534" name="Table 533"/>
          <p:cNvGraphicFramePr>
            <a:graphicFrameLocks noGrp="1"/>
          </p:cNvGraphicFramePr>
          <p:nvPr>
            <p:extLst>
              <p:ext uri="{D42A27DB-BD31-4B8C-83A1-F6EECF244321}">
                <p14:modId xmlns:p14="http://schemas.microsoft.com/office/powerpoint/2010/main" val="578653334"/>
              </p:ext>
            </p:extLst>
          </p:nvPr>
        </p:nvGraphicFramePr>
        <p:xfrm>
          <a:off x="310896" y="3209544"/>
          <a:ext cx="4965192" cy="1744472"/>
        </p:xfrm>
        <a:graphic>
          <a:graphicData uri="http://schemas.openxmlformats.org/drawingml/2006/table">
            <a:tbl>
              <a:tblPr firstRow="1" bandRow="1">
                <a:tableStyleId>{5C22544A-7EE6-4342-B048-85BDC9FD1C3A}</a:tableStyleId>
              </a:tblPr>
              <a:tblGrid>
                <a:gridCol w="1655064">
                  <a:extLst>
                    <a:ext uri="{9D8B030D-6E8A-4147-A177-3AD203B41FA5}">
                      <a16:colId xmlns:a16="http://schemas.microsoft.com/office/drawing/2014/main" val="20000"/>
                    </a:ext>
                  </a:extLst>
                </a:gridCol>
                <a:gridCol w="1655064">
                  <a:extLst>
                    <a:ext uri="{9D8B030D-6E8A-4147-A177-3AD203B41FA5}">
                      <a16:colId xmlns:a16="http://schemas.microsoft.com/office/drawing/2014/main" val="20001"/>
                    </a:ext>
                  </a:extLst>
                </a:gridCol>
                <a:gridCol w="1655064">
                  <a:extLst>
                    <a:ext uri="{9D8B030D-6E8A-4147-A177-3AD203B41FA5}">
                      <a16:colId xmlns:a16="http://schemas.microsoft.com/office/drawing/2014/main" val="20002"/>
                    </a:ext>
                  </a:extLst>
                </a:gridCol>
              </a:tblGrid>
              <a:tr h="187960">
                <a:tc>
                  <a:txBody>
                    <a:bodyPr/>
                    <a:lstStyle/>
                    <a:p>
                      <a:pPr algn="ctr">
                        <a:defRPr sz="1100" b="1">
                          <a:solidFill>
                            <a:srgbClr val="FFFFFF"/>
                          </a:solidFill>
                          <a:latin typeface="Montserrat"/>
                        </a:defRPr>
                      </a:pPr>
                      <a:r>
                        <a:rPr dirty="0" err="1"/>
                        <a:t>Concepto</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Productividad</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t>Día Típico</a:t>
                      </a:r>
                    </a:p>
                  </a:txBody>
                  <a:tcPr marL="36576" marR="36576" marT="36576" marB="36576" anchor="ctr">
                    <a:solidFill>
                      <a:srgbClr val="006455"/>
                    </a:solidFill>
                  </a:tcPr>
                </a:tc>
                <a:extLst>
                  <a:ext uri="{0D108BD9-81ED-4DB2-BD59-A6C34878D82A}">
                    <a16:rowId xmlns:a16="http://schemas.microsoft.com/office/drawing/2014/main" val="10000"/>
                  </a:ext>
                </a:extLst>
              </a:tr>
              <a:tr h="187960">
                <a:tc>
                  <a:txBody>
                    <a:bodyPr/>
                    <a:lstStyle/>
                    <a:p>
                      <a:pPr algn="l">
                        <a:defRPr sz="1100" b="1">
                          <a:solidFill>
                            <a:srgbClr val="006455"/>
                          </a:solidFill>
                          <a:latin typeface="Montserrat"/>
                        </a:defRPr>
                      </a:pPr>
                      <a:r>
                        <a:t>Total consultas</a:t>
                      </a:r>
                    </a:p>
                  </a:txBody>
                  <a:tcPr marL="73152" marR="73152" marT="0" marB="0" anchor="ctr">
                    <a:solidFill>
                      <a:srgbClr val="D3E9E7"/>
                    </a:solidFill>
                  </a:tcPr>
                </a:tc>
                <a:tc>
                  <a:txBody>
                    <a:bodyPr/>
                    <a:lstStyle/>
                    <a:p>
                      <a:pPr algn="ctr">
                        <a:defRPr sz="1000" b="1">
                          <a:solidFill>
                            <a:srgbClr val="006455"/>
                          </a:solidFill>
                          <a:latin typeface="Montserrat"/>
                        </a:defRPr>
                      </a:pPr>
                      <a:r>
                        <a:rPr dirty="0"/>
                        <a:t>74,457</a:t>
                      </a:r>
                    </a:p>
                  </a:txBody>
                  <a:tcPr marL="73152" marR="73152" marT="0" marB="0" anchor="ctr">
                    <a:solidFill>
                      <a:srgbClr val="D3E9E7"/>
                    </a:solidFill>
                  </a:tcPr>
                </a:tc>
                <a:tc>
                  <a:txBody>
                    <a:bodyPr/>
                    <a:lstStyle/>
                    <a:p>
                      <a:pPr algn="ctr">
                        <a:defRPr sz="1000" b="1">
                          <a:solidFill>
                            <a:srgbClr val="006455"/>
                          </a:solidFill>
                          <a:latin typeface="Montserrat"/>
                        </a:defRPr>
                      </a:pPr>
                      <a:r>
                        <a:t>281</a:t>
                      </a:r>
                    </a:p>
                  </a:txBody>
                  <a:tcPr marL="73152" marR="73152" marT="0" marB="0" anchor="ctr">
                    <a:solidFill>
                      <a:srgbClr val="D3E9E7"/>
                    </a:solidFill>
                  </a:tcPr>
                </a:tc>
                <a:extLst>
                  <a:ext uri="{0D108BD9-81ED-4DB2-BD59-A6C34878D82A}">
                    <a16:rowId xmlns:a16="http://schemas.microsoft.com/office/drawing/2014/main" val="10001"/>
                  </a:ext>
                </a:extLst>
              </a:tr>
              <a:tr h="187960">
                <a:tc>
                  <a:txBody>
                    <a:bodyPr/>
                    <a:lstStyle/>
                    <a:p>
                      <a:pPr algn="ctr">
                        <a:defRPr sz="1100" b="0">
                          <a:solidFill>
                            <a:srgbClr val="000000"/>
                          </a:solidFill>
                          <a:latin typeface="Montserrat"/>
                        </a:defRPr>
                      </a:pPr>
                      <a:r>
                        <a:t>Familiar</a:t>
                      </a:r>
                    </a:p>
                  </a:txBody>
                  <a:tcPr marL="73152" marR="73152" marT="0" marB="0" anchor="ctr">
                    <a:solidFill>
                      <a:srgbClr val="FFFFFF"/>
                    </a:solidFill>
                  </a:tcPr>
                </a:tc>
                <a:tc>
                  <a:txBody>
                    <a:bodyPr/>
                    <a:lstStyle/>
                    <a:p>
                      <a:pPr algn="ctr">
                        <a:defRPr sz="1000" b="0">
                          <a:solidFill>
                            <a:srgbClr val="000000"/>
                          </a:solidFill>
                          <a:latin typeface="Montserrat"/>
                        </a:defRPr>
                      </a:pPr>
                      <a:r>
                        <a:rPr dirty="0"/>
                        <a:t>65,454</a:t>
                      </a:r>
                    </a:p>
                  </a:txBody>
                  <a:tcPr marL="73152" marR="73152" marT="0" marB="0" anchor="ctr">
                    <a:solidFill>
                      <a:srgbClr val="FFFFFF"/>
                    </a:solidFill>
                  </a:tcPr>
                </a:tc>
                <a:tc>
                  <a:txBody>
                    <a:bodyPr/>
                    <a:lstStyle/>
                    <a:p>
                      <a:pPr algn="ctr">
                        <a:defRPr sz="1000" b="0">
                          <a:solidFill>
                            <a:srgbClr val="000000"/>
                          </a:solidFill>
                          <a:latin typeface="Montserrat"/>
                        </a:defRPr>
                      </a:pPr>
                      <a:r>
                        <a:t>251</a:t>
                      </a:r>
                    </a:p>
                  </a:txBody>
                  <a:tcPr marL="73152" marR="73152" marT="0" marB="0" anchor="ctr">
                    <a:solidFill>
                      <a:srgbClr val="FFFFFF"/>
                    </a:solidFill>
                  </a:tcPr>
                </a:tc>
                <a:extLst>
                  <a:ext uri="{0D108BD9-81ED-4DB2-BD59-A6C34878D82A}">
                    <a16:rowId xmlns:a16="http://schemas.microsoft.com/office/drawing/2014/main" val="10002"/>
                  </a:ext>
                </a:extLst>
              </a:tr>
              <a:tr h="187960">
                <a:tc>
                  <a:txBody>
                    <a:bodyPr/>
                    <a:lstStyle/>
                    <a:p>
                      <a:pPr algn="ctr">
                        <a:defRPr sz="1100" b="0">
                          <a:solidFill>
                            <a:srgbClr val="000000"/>
                          </a:solidFill>
                          <a:latin typeface="Montserrat"/>
                        </a:defRPr>
                      </a:pPr>
                      <a:r>
                        <a:t>Estomatología</a:t>
                      </a:r>
                    </a:p>
                  </a:txBody>
                  <a:tcPr marL="73152" marR="73152" marT="0" marB="0" anchor="ctr">
                    <a:solidFill>
                      <a:srgbClr val="EFEFEF"/>
                    </a:solidFill>
                  </a:tcPr>
                </a:tc>
                <a:tc>
                  <a:txBody>
                    <a:bodyPr/>
                    <a:lstStyle/>
                    <a:p>
                      <a:pPr algn="ctr">
                        <a:defRPr sz="1000" b="0">
                          <a:solidFill>
                            <a:srgbClr val="000000"/>
                          </a:solidFill>
                          <a:latin typeface="Montserrat"/>
                        </a:defRPr>
                      </a:pPr>
                      <a:r>
                        <a:t>1,116</a:t>
                      </a:r>
                    </a:p>
                  </a:txBody>
                  <a:tcPr marL="73152" marR="73152" marT="0" marB="0" anchor="ctr">
                    <a:solidFill>
                      <a:srgbClr val="EFEFEF"/>
                    </a:solidFill>
                  </a:tcPr>
                </a:tc>
                <a:tc>
                  <a:txBody>
                    <a:bodyPr/>
                    <a:lstStyle/>
                    <a:p>
                      <a:pPr algn="ctr">
                        <a:defRPr sz="1000" b="0">
                          <a:solidFill>
                            <a:srgbClr val="000000"/>
                          </a:solidFill>
                          <a:latin typeface="Montserrat"/>
                        </a:defRPr>
                      </a:pPr>
                      <a:r>
                        <a:rPr dirty="0"/>
                        <a:t>4</a:t>
                      </a:r>
                    </a:p>
                  </a:txBody>
                  <a:tcPr marL="73152" marR="73152" marT="0" marB="0" anchor="ctr">
                    <a:solidFill>
                      <a:srgbClr val="EFEFEF"/>
                    </a:solidFill>
                  </a:tcPr>
                </a:tc>
                <a:extLst>
                  <a:ext uri="{0D108BD9-81ED-4DB2-BD59-A6C34878D82A}">
                    <a16:rowId xmlns:a16="http://schemas.microsoft.com/office/drawing/2014/main" val="10003"/>
                  </a:ext>
                </a:extLst>
              </a:tr>
              <a:tr h="187960">
                <a:tc>
                  <a:txBody>
                    <a:bodyPr/>
                    <a:lstStyle/>
                    <a:p>
                      <a:pPr algn="ctr">
                        <a:defRPr sz="1100" b="0">
                          <a:solidFill>
                            <a:srgbClr val="000000"/>
                          </a:solidFill>
                          <a:latin typeface="Montserrat"/>
                        </a:defRPr>
                      </a:pPr>
                      <a:r>
                        <a:t>Urgencias</a:t>
                      </a:r>
                    </a:p>
                  </a:txBody>
                  <a:tcPr marL="73152" marR="73152" marT="0" marB="0" anchor="ctr">
                    <a:solidFill>
                      <a:srgbClr val="FFFFFF"/>
                    </a:solidFill>
                  </a:tcPr>
                </a:tc>
                <a:tc>
                  <a:txBody>
                    <a:bodyPr/>
                    <a:lstStyle/>
                    <a:p>
                      <a:pPr algn="ctr">
                        <a:defRPr sz="1000" b="0">
                          <a:solidFill>
                            <a:srgbClr val="000000"/>
                          </a:solidFill>
                          <a:latin typeface="Montserrat"/>
                        </a:defRPr>
                      </a:pPr>
                      <a:r>
                        <a:t>3,748</a:t>
                      </a:r>
                    </a:p>
                  </a:txBody>
                  <a:tcPr marL="73152" marR="73152" marT="0" marB="0" anchor="ctr">
                    <a:solidFill>
                      <a:srgbClr val="FFFFFF"/>
                    </a:solidFill>
                  </a:tcPr>
                </a:tc>
                <a:tc>
                  <a:txBody>
                    <a:bodyPr/>
                    <a:lstStyle/>
                    <a:p>
                      <a:pPr algn="ctr">
                        <a:defRPr sz="1000" b="0">
                          <a:solidFill>
                            <a:srgbClr val="000000"/>
                          </a:solidFill>
                          <a:latin typeface="Montserrat"/>
                        </a:defRPr>
                      </a:pPr>
                      <a:r>
                        <a:rPr dirty="0"/>
                        <a:t>10</a:t>
                      </a:r>
                    </a:p>
                  </a:txBody>
                  <a:tcPr marL="73152" marR="73152" marT="0" marB="0" anchor="ctr">
                    <a:solidFill>
                      <a:srgbClr val="FFFFFF"/>
                    </a:solidFill>
                  </a:tcPr>
                </a:tc>
                <a:extLst>
                  <a:ext uri="{0D108BD9-81ED-4DB2-BD59-A6C34878D82A}">
                    <a16:rowId xmlns:a16="http://schemas.microsoft.com/office/drawing/2014/main" val="10004"/>
                  </a:ext>
                </a:extLst>
              </a:tr>
              <a:tr h="187960">
                <a:tc>
                  <a:txBody>
                    <a:bodyPr/>
                    <a:lstStyle/>
                    <a:p>
                      <a:pPr algn="ctr">
                        <a:defRPr sz="1100" b="0">
                          <a:solidFill>
                            <a:srgbClr val="000000"/>
                          </a:solidFill>
                          <a:latin typeface="Montserrat"/>
                        </a:defRPr>
                      </a:pPr>
                      <a:r>
                        <a:t>Especialidades</a:t>
                      </a:r>
                    </a:p>
                  </a:txBody>
                  <a:tcPr marL="73152" marR="73152" marT="0" marB="0" anchor="ctr">
                    <a:solidFill>
                      <a:srgbClr val="EFEFEF"/>
                    </a:solidFill>
                  </a:tcPr>
                </a:tc>
                <a:tc>
                  <a:txBody>
                    <a:bodyPr/>
                    <a:lstStyle/>
                    <a:p>
                      <a:pPr algn="ctr">
                        <a:defRPr sz="1000" b="0">
                          <a:solidFill>
                            <a:srgbClr val="000000"/>
                          </a:solidFill>
                          <a:latin typeface="Montserrat"/>
                        </a:defRPr>
                      </a:pPr>
                      <a:r>
                        <a:t>4,139</a:t>
                      </a:r>
                    </a:p>
                  </a:txBody>
                  <a:tcPr marL="73152" marR="73152" marT="0" marB="0" anchor="ctr">
                    <a:solidFill>
                      <a:srgbClr val="EFEFEF"/>
                    </a:solidFill>
                  </a:tcPr>
                </a:tc>
                <a:tc>
                  <a:txBody>
                    <a:bodyPr/>
                    <a:lstStyle/>
                    <a:p>
                      <a:pPr algn="ctr">
                        <a:defRPr sz="1000" b="0">
                          <a:solidFill>
                            <a:srgbClr val="000000"/>
                          </a:solidFill>
                          <a:latin typeface="Montserrat"/>
                        </a:defRPr>
                      </a:pPr>
                      <a:r>
                        <a:rPr dirty="0"/>
                        <a:t>16</a:t>
                      </a:r>
                    </a:p>
                  </a:txBody>
                  <a:tcPr marL="73152" marR="73152" marT="0" marB="0" anchor="ctr">
                    <a:solidFill>
                      <a:srgbClr val="EFEFEF"/>
                    </a:solidFill>
                  </a:tcPr>
                </a:tc>
                <a:extLst>
                  <a:ext uri="{0D108BD9-81ED-4DB2-BD59-A6C34878D82A}">
                    <a16:rowId xmlns:a16="http://schemas.microsoft.com/office/drawing/2014/main" val="10005"/>
                  </a:ext>
                </a:extLst>
              </a:tr>
              <a:tr h="187960">
                <a:tc>
                  <a:txBody>
                    <a:bodyPr/>
                    <a:lstStyle/>
                    <a:p>
                      <a:pPr algn="l">
                        <a:defRPr sz="1100" b="1">
                          <a:solidFill>
                            <a:srgbClr val="000000"/>
                          </a:solidFill>
                          <a:latin typeface="Montserrat"/>
                        </a:defRPr>
                      </a:pPr>
                      <a:r>
                        <a:t>Cirugías</a:t>
                      </a:r>
                    </a:p>
                  </a:txBody>
                  <a:tcPr marL="73152" marR="73152" marT="0" marB="0" anchor="ctr">
                    <a:solidFill>
                      <a:srgbClr val="FFFFFF"/>
                    </a:solidFill>
                  </a:tcPr>
                </a:tc>
                <a:tc>
                  <a:txBody>
                    <a:bodyPr/>
                    <a:lstStyle/>
                    <a:p>
                      <a:pPr algn="ctr">
                        <a:defRPr sz="1000" b="0">
                          <a:solidFill>
                            <a:srgbClr val="000000"/>
                          </a:solidFill>
                          <a:latin typeface="Montserrat"/>
                        </a:defRPr>
                      </a:pPr>
                      <a:r>
                        <a:t>351</a:t>
                      </a:r>
                    </a:p>
                  </a:txBody>
                  <a:tcPr marL="73152" marR="73152" marT="0" marB="0" anchor="ctr">
                    <a:solidFill>
                      <a:srgbClr val="FFFFFF"/>
                    </a:solidFill>
                  </a:tcPr>
                </a:tc>
                <a:tc>
                  <a:txBody>
                    <a:bodyPr/>
                    <a:lstStyle/>
                    <a:p>
                      <a:pPr algn="ctr">
                        <a:defRPr sz="1000" b="0">
                          <a:solidFill>
                            <a:srgbClr val="000000"/>
                          </a:solidFill>
                          <a:latin typeface="Montserrat"/>
                        </a:defRPr>
                      </a:pPr>
                      <a:r>
                        <a:rPr dirty="0"/>
                        <a:t>1</a:t>
                      </a:r>
                    </a:p>
                  </a:txBody>
                  <a:tcPr marL="73152" marR="73152" marT="0" marB="0" anchor="ctr">
                    <a:solidFill>
                      <a:srgbClr val="FFFFFF"/>
                    </a:solidFill>
                  </a:tcPr>
                </a:tc>
                <a:extLst>
                  <a:ext uri="{0D108BD9-81ED-4DB2-BD59-A6C34878D82A}">
                    <a16:rowId xmlns:a16="http://schemas.microsoft.com/office/drawing/2014/main" val="10006"/>
                  </a:ext>
                </a:extLst>
              </a:tr>
              <a:tr h="187960">
                <a:tc>
                  <a:txBody>
                    <a:bodyPr/>
                    <a:lstStyle/>
                    <a:p>
                      <a:pPr algn="l">
                        <a:defRPr sz="1100" b="1">
                          <a:solidFill>
                            <a:srgbClr val="000000"/>
                          </a:solidFill>
                          <a:latin typeface="Montserrat"/>
                        </a:defRPr>
                      </a:pPr>
                      <a:r>
                        <a:t>Partos</a:t>
                      </a:r>
                    </a:p>
                  </a:txBody>
                  <a:tcPr marL="73152" marR="73152" marT="0" marB="0" anchor="ctr">
                    <a:solidFill>
                      <a:srgbClr val="EFEFEF"/>
                    </a:solidFill>
                  </a:tcPr>
                </a:tc>
                <a:tc>
                  <a:txBody>
                    <a:bodyPr/>
                    <a:lstStyle/>
                    <a:p>
                      <a:pPr algn="ctr">
                        <a:defRPr sz="1000" b="0">
                          <a:solidFill>
                            <a:srgbClr val="000000"/>
                          </a:solidFill>
                          <a:latin typeface="Montserrat"/>
                        </a:defRPr>
                      </a:pPr>
                      <a:r>
                        <a:t>220</a:t>
                      </a:r>
                    </a:p>
                  </a:txBody>
                  <a:tcPr marL="73152" marR="73152" marT="0" marB="0" anchor="ctr">
                    <a:solidFill>
                      <a:srgbClr val="EFEFEF"/>
                    </a:solidFill>
                  </a:tcPr>
                </a:tc>
                <a:tc>
                  <a:txBody>
                    <a:bodyPr/>
                    <a:lstStyle/>
                    <a:p>
                      <a:pPr algn="ctr">
                        <a:defRPr sz="1000" b="0">
                          <a:solidFill>
                            <a:srgbClr val="000000"/>
                          </a:solidFill>
                          <a:latin typeface="Montserrat"/>
                        </a:defRPr>
                      </a:pPr>
                      <a:r>
                        <a:rPr dirty="0"/>
                        <a:t>1</a:t>
                      </a:r>
                    </a:p>
                  </a:txBody>
                  <a:tcPr marL="73152" marR="73152" marT="0" marB="0" anchor="ctr">
                    <a:solidFill>
                      <a:srgbClr val="EFEFEF"/>
                    </a:solidFill>
                  </a:tcPr>
                </a:tc>
                <a:extLst>
                  <a:ext uri="{0D108BD9-81ED-4DB2-BD59-A6C34878D82A}">
                    <a16:rowId xmlns:a16="http://schemas.microsoft.com/office/drawing/2014/main" val="10007"/>
                  </a:ext>
                </a:extLst>
              </a:tr>
              <a:tr h="187960">
                <a:tc>
                  <a:txBody>
                    <a:bodyPr/>
                    <a:lstStyle/>
                    <a:p>
                      <a:pPr algn="l">
                        <a:defRPr sz="1100" b="1">
                          <a:solidFill>
                            <a:srgbClr val="000000"/>
                          </a:solidFill>
                          <a:latin typeface="Montserrat"/>
                        </a:defRPr>
                      </a:pPr>
                      <a:r>
                        <a:t>Egresos Hosp.</a:t>
                      </a:r>
                    </a:p>
                  </a:txBody>
                  <a:tcPr marL="73152" marR="73152" marT="0" marB="0" anchor="ctr">
                    <a:solidFill>
                      <a:srgbClr val="FFFFFF"/>
                    </a:solidFill>
                  </a:tcPr>
                </a:tc>
                <a:tc>
                  <a:txBody>
                    <a:bodyPr/>
                    <a:lstStyle/>
                    <a:p>
                      <a:pPr algn="ctr">
                        <a:defRPr sz="1000" b="0">
                          <a:solidFill>
                            <a:srgbClr val="000000"/>
                          </a:solidFill>
                          <a:latin typeface="Montserrat"/>
                        </a:defRPr>
                      </a:pPr>
                      <a:r>
                        <a:t>547</a:t>
                      </a:r>
                    </a:p>
                  </a:txBody>
                  <a:tcPr marL="73152" marR="73152" marT="0" marB="0" anchor="ctr">
                    <a:solidFill>
                      <a:srgbClr val="FFFFFF"/>
                    </a:solidFill>
                  </a:tcPr>
                </a:tc>
                <a:tc>
                  <a:txBody>
                    <a:bodyPr/>
                    <a:lstStyle/>
                    <a:p>
                      <a:pPr algn="ctr">
                        <a:defRPr sz="1000" b="0">
                          <a:solidFill>
                            <a:srgbClr val="000000"/>
                          </a:solidFill>
                          <a:latin typeface="Montserrat"/>
                        </a:defRPr>
                      </a:pPr>
                      <a:r>
                        <a:rPr dirty="0"/>
                        <a:t>1</a:t>
                      </a:r>
                    </a:p>
                  </a:txBody>
                  <a:tcPr marL="73152" marR="73152" marT="0" marB="0"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535" name="Table 534"/>
          <p:cNvGraphicFramePr>
            <a:graphicFrameLocks noGrp="1"/>
          </p:cNvGraphicFramePr>
          <p:nvPr>
            <p:extLst>
              <p:ext uri="{D42A27DB-BD31-4B8C-83A1-F6EECF244321}">
                <p14:modId xmlns:p14="http://schemas.microsoft.com/office/powerpoint/2010/main" val="3713514866"/>
              </p:ext>
            </p:extLst>
          </p:nvPr>
        </p:nvGraphicFramePr>
        <p:xfrm>
          <a:off x="310896" y="5815584"/>
          <a:ext cx="7022592" cy="1648968"/>
        </p:xfrm>
        <a:graphic>
          <a:graphicData uri="http://schemas.openxmlformats.org/drawingml/2006/table">
            <a:tbl>
              <a:tblPr firstRow="1" bandRow="1">
                <a:tableStyleId>{5C22544A-7EE6-4342-B048-85BDC9FD1C3A}</a:tableStyleId>
              </a:tblPr>
              <a:tblGrid>
                <a:gridCol w="1664208">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1179576">
                  <a:extLst>
                    <a:ext uri="{9D8B030D-6E8A-4147-A177-3AD203B41FA5}">
                      <a16:colId xmlns:a16="http://schemas.microsoft.com/office/drawing/2014/main" val="20002"/>
                    </a:ext>
                  </a:extLst>
                </a:gridCol>
                <a:gridCol w="1179576">
                  <a:extLst>
                    <a:ext uri="{9D8B030D-6E8A-4147-A177-3AD203B41FA5}">
                      <a16:colId xmlns:a16="http://schemas.microsoft.com/office/drawing/2014/main" val="20003"/>
                    </a:ext>
                  </a:extLst>
                </a:gridCol>
                <a:gridCol w="1179576">
                  <a:extLst>
                    <a:ext uri="{9D8B030D-6E8A-4147-A177-3AD203B41FA5}">
                      <a16:colId xmlns:a16="http://schemas.microsoft.com/office/drawing/2014/main" val="20004"/>
                    </a:ext>
                  </a:extLst>
                </a:gridCol>
                <a:gridCol w="896112">
                  <a:extLst>
                    <a:ext uri="{9D8B030D-6E8A-4147-A177-3AD203B41FA5}">
                      <a16:colId xmlns:a16="http://schemas.microsoft.com/office/drawing/2014/main" val="20005"/>
                    </a:ext>
                  </a:extLst>
                </a:gridCol>
              </a:tblGrid>
              <a:tr h="201168">
                <a:tc>
                  <a:txBody>
                    <a:bodyPr/>
                    <a:lstStyle/>
                    <a:p>
                      <a:pPr algn="ctr">
                        <a:defRPr sz="1100" b="1">
                          <a:solidFill>
                            <a:srgbClr val="FFFFFF"/>
                          </a:solidFill>
                          <a:latin typeface="Montserrat"/>
                        </a:defRPr>
                      </a:pPr>
                      <a:r>
                        <a:rPr dirty="0" err="1"/>
                        <a:t>Disciplina</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a:t>Base</a:t>
                      </a:r>
                    </a:p>
                  </a:txBody>
                  <a:tcPr marL="36576" marR="36576" marT="36576" marB="36576" anchor="ctr">
                    <a:solidFill>
                      <a:srgbClr val="006455"/>
                    </a:solidFill>
                  </a:tcPr>
                </a:tc>
                <a:tc>
                  <a:txBody>
                    <a:bodyPr/>
                    <a:lstStyle/>
                    <a:p>
                      <a:pPr algn="ctr">
                        <a:defRPr sz="1100" b="1">
                          <a:solidFill>
                            <a:srgbClr val="FFFFFF"/>
                          </a:solidFill>
                          <a:latin typeface="Montserrat"/>
                        </a:defRPr>
                      </a:pPr>
                      <a:r>
                        <a:t>Confianza</a:t>
                      </a:r>
                    </a:p>
                  </a:txBody>
                  <a:tcPr marL="36576" marR="36576" marT="36576" marB="36576" anchor="ctr">
                    <a:solidFill>
                      <a:srgbClr val="006455"/>
                    </a:solidFill>
                  </a:tcPr>
                </a:tc>
                <a:tc>
                  <a:txBody>
                    <a:bodyPr/>
                    <a:lstStyle/>
                    <a:p>
                      <a:pPr algn="ctr">
                        <a:defRPr sz="1100" b="1">
                          <a:solidFill>
                            <a:srgbClr val="FFFFFF"/>
                          </a:solidFill>
                          <a:latin typeface="Montserrat"/>
                        </a:defRPr>
                      </a:pPr>
                      <a:r>
                        <a:t>Estatuto A</a:t>
                      </a:r>
                    </a:p>
                  </a:txBody>
                  <a:tcPr marL="36576" marR="36576" marT="36576" marB="36576" anchor="ctr">
                    <a:solidFill>
                      <a:srgbClr val="006455"/>
                    </a:solidFill>
                  </a:tcPr>
                </a:tc>
                <a:tc>
                  <a:txBody>
                    <a:bodyPr/>
                    <a:lstStyle/>
                    <a:p>
                      <a:pPr algn="ctr">
                        <a:defRPr sz="1100" b="1">
                          <a:solidFill>
                            <a:srgbClr val="FFFFFF"/>
                          </a:solidFill>
                          <a:latin typeface="Montserrat"/>
                        </a:defRPr>
                      </a:pPr>
                      <a:r>
                        <a:t>Sustitutos</a:t>
                      </a:r>
                    </a:p>
                  </a:txBody>
                  <a:tcPr marL="36576" marR="36576" marT="36576" marB="36576" anchor="ctr">
                    <a:solidFill>
                      <a:srgbClr val="006455"/>
                    </a:solidFill>
                  </a:tcPr>
                </a:tc>
                <a:tc>
                  <a:txBody>
                    <a:bodyPr/>
                    <a:lstStyle/>
                    <a:p>
                      <a:pPr algn="ctr">
                        <a:defRPr sz="1100" b="1">
                          <a:solidFill>
                            <a:srgbClr val="FFFFFF"/>
                          </a:solidFill>
                          <a:latin typeface="Montserrat"/>
                        </a:defRPr>
                      </a:pPr>
                      <a:r>
                        <a:t>Total</a:t>
                      </a:r>
                    </a:p>
                  </a:txBody>
                  <a:tcPr marL="36576" marR="36576" marT="36576" marB="36576" anchor="ctr">
                    <a:solidFill>
                      <a:srgbClr val="006455"/>
                    </a:solidFill>
                  </a:tcPr>
                </a:tc>
                <a:extLst>
                  <a:ext uri="{0D108BD9-81ED-4DB2-BD59-A6C34878D82A}">
                    <a16:rowId xmlns:a16="http://schemas.microsoft.com/office/drawing/2014/main" val="10000"/>
                  </a:ext>
                </a:extLst>
              </a:tr>
              <a:tr h="201168">
                <a:tc>
                  <a:txBody>
                    <a:bodyPr/>
                    <a:lstStyle/>
                    <a:p>
                      <a:pPr algn="l">
                        <a:defRPr sz="1100" b="0">
                          <a:solidFill>
                            <a:srgbClr val="000000"/>
                          </a:solidFill>
                          <a:latin typeface="Montserrat"/>
                        </a:defRPr>
                      </a:pPr>
                      <a:r>
                        <a:t>Médicos</a:t>
                      </a:r>
                    </a:p>
                  </a:txBody>
                  <a:tcPr marL="73152" marR="73152" marT="0" marB="0" anchor="ctr">
                    <a:solidFill>
                      <a:srgbClr val="FFFFFF"/>
                    </a:solidFill>
                  </a:tcPr>
                </a:tc>
                <a:tc>
                  <a:txBody>
                    <a:bodyPr/>
                    <a:lstStyle/>
                    <a:p>
                      <a:pPr algn="ctr">
                        <a:defRPr sz="1000" b="0">
                          <a:solidFill>
                            <a:srgbClr val="000000"/>
                          </a:solidFill>
                          <a:latin typeface="Montserrat"/>
                        </a:defRPr>
                      </a:pPr>
                      <a:r>
                        <a:rPr dirty="0"/>
                        <a:t>36</a:t>
                      </a:r>
                    </a:p>
                  </a:txBody>
                  <a:tcPr marL="73152" marR="73152" marT="0" marB="0" anchor="ctr">
                    <a:solidFill>
                      <a:srgbClr val="FFFFFF"/>
                    </a:solidFill>
                  </a:tcPr>
                </a:tc>
                <a:tc>
                  <a:txBody>
                    <a:bodyPr/>
                    <a:lstStyle/>
                    <a:p>
                      <a:pPr algn="ctr">
                        <a:defRPr sz="1000" b="0">
                          <a:solidFill>
                            <a:srgbClr val="000000"/>
                          </a:solidFill>
                          <a:latin typeface="Montserrat"/>
                        </a:defRPr>
                      </a:pPr>
                      <a:r>
                        <a:rPr dirty="0"/>
                        <a:t>0</a:t>
                      </a:r>
                    </a:p>
                  </a:txBody>
                  <a:tcPr marL="73152" marR="73152" marT="0" marB="0" anchor="ctr">
                    <a:solidFill>
                      <a:srgbClr val="FFFFFF"/>
                    </a:solidFill>
                  </a:tcPr>
                </a:tc>
                <a:tc>
                  <a:txBody>
                    <a:bodyPr/>
                    <a:lstStyle/>
                    <a:p>
                      <a:pPr algn="ctr">
                        <a:defRPr sz="1000" b="0">
                          <a:solidFill>
                            <a:srgbClr val="000000"/>
                          </a:solidFill>
                          <a:latin typeface="Montserrat"/>
                        </a:defRPr>
                      </a:pPr>
                      <a:r>
                        <a:t>6</a:t>
                      </a:r>
                    </a:p>
                  </a:txBody>
                  <a:tcPr marL="73152" marR="73152" marT="0" marB="0" anchor="ctr">
                    <a:solidFill>
                      <a:srgbClr val="FFFFFF"/>
                    </a:solidFill>
                  </a:tcPr>
                </a:tc>
                <a:tc>
                  <a:txBody>
                    <a:bodyPr/>
                    <a:lstStyle/>
                    <a:p>
                      <a:pPr algn="ctr">
                        <a:defRPr sz="1000" b="0">
                          <a:solidFill>
                            <a:srgbClr val="000000"/>
                          </a:solidFill>
                          <a:latin typeface="Montserrat"/>
                        </a:defRPr>
                      </a:pPr>
                      <a:r>
                        <a:t>2</a:t>
                      </a:r>
                    </a:p>
                  </a:txBody>
                  <a:tcPr marL="73152" marR="73152" marT="0" marB="0" anchor="ctr">
                    <a:solidFill>
                      <a:srgbClr val="FFFFFF"/>
                    </a:solidFill>
                  </a:tcPr>
                </a:tc>
                <a:tc>
                  <a:txBody>
                    <a:bodyPr/>
                    <a:lstStyle/>
                    <a:p>
                      <a:pPr algn="ctr">
                        <a:defRPr sz="1000" b="1">
                          <a:solidFill>
                            <a:srgbClr val="006455"/>
                          </a:solidFill>
                          <a:latin typeface="Montserrat"/>
                        </a:defRPr>
                      </a:pPr>
                      <a:r>
                        <a:t>44</a:t>
                      </a:r>
                    </a:p>
                  </a:txBody>
                  <a:tcPr marL="73152" marR="73152" marT="0" marB="0" anchor="ctr">
                    <a:solidFill>
                      <a:srgbClr val="D3E9E7"/>
                    </a:solidFill>
                  </a:tcPr>
                </a:tc>
                <a:extLst>
                  <a:ext uri="{0D108BD9-81ED-4DB2-BD59-A6C34878D82A}">
                    <a16:rowId xmlns:a16="http://schemas.microsoft.com/office/drawing/2014/main" val="10001"/>
                  </a:ext>
                </a:extLst>
              </a:tr>
              <a:tr h="201168">
                <a:tc>
                  <a:txBody>
                    <a:bodyPr/>
                    <a:lstStyle/>
                    <a:p>
                      <a:pPr algn="l">
                        <a:defRPr sz="1100" b="0">
                          <a:solidFill>
                            <a:srgbClr val="000000"/>
                          </a:solidFill>
                          <a:latin typeface="Montserrat"/>
                        </a:defRPr>
                      </a:pPr>
                      <a:r>
                        <a:t>Enfermeras</a:t>
                      </a:r>
                    </a:p>
                  </a:txBody>
                  <a:tcPr marL="73152" marR="73152" marT="0" marB="0" anchor="ctr">
                    <a:solidFill>
                      <a:srgbClr val="EFEFEF"/>
                    </a:solidFill>
                  </a:tcPr>
                </a:tc>
                <a:tc>
                  <a:txBody>
                    <a:bodyPr/>
                    <a:lstStyle/>
                    <a:p>
                      <a:pPr algn="ctr">
                        <a:defRPr sz="1000" b="0">
                          <a:solidFill>
                            <a:srgbClr val="000000"/>
                          </a:solidFill>
                          <a:latin typeface="Montserrat"/>
                        </a:defRPr>
                      </a:pPr>
                      <a:r>
                        <a:t>64</a:t>
                      </a:r>
                    </a:p>
                  </a:txBody>
                  <a:tcPr marL="73152" marR="73152" marT="0" marB="0" anchor="ctr">
                    <a:solidFill>
                      <a:srgbClr val="EFEFEF"/>
                    </a:solidFill>
                  </a:tcPr>
                </a:tc>
                <a:tc>
                  <a:txBody>
                    <a:bodyPr/>
                    <a:lstStyle/>
                    <a:p>
                      <a:pPr algn="ctr">
                        <a:defRPr sz="1000" b="0">
                          <a:solidFill>
                            <a:srgbClr val="000000"/>
                          </a:solidFill>
                          <a:latin typeface="Montserrat"/>
                        </a:defRPr>
                      </a:pPr>
                      <a:r>
                        <a:rPr dirty="0"/>
                        <a:t>1</a:t>
                      </a:r>
                    </a:p>
                  </a:txBody>
                  <a:tcPr marL="73152" marR="73152" marT="0" marB="0" anchor="ctr">
                    <a:solidFill>
                      <a:srgbClr val="EFEFEF"/>
                    </a:solidFill>
                  </a:tcPr>
                </a:tc>
                <a:tc>
                  <a:txBody>
                    <a:bodyPr/>
                    <a:lstStyle/>
                    <a:p>
                      <a:pPr algn="ctr">
                        <a:defRPr sz="1000" b="0">
                          <a:solidFill>
                            <a:srgbClr val="000000"/>
                          </a:solidFill>
                          <a:latin typeface="Montserrat"/>
                        </a:defRPr>
                      </a:pPr>
                      <a:r>
                        <a:rPr dirty="0"/>
                        <a:t>1</a:t>
                      </a:r>
                    </a:p>
                  </a:txBody>
                  <a:tcPr marL="73152" marR="73152" marT="0" marB="0" anchor="ctr">
                    <a:solidFill>
                      <a:srgbClr val="EFEFEF"/>
                    </a:solidFill>
                  </a:tcPr>
                </a:tc>
                <a:tc>
                  <a:txBody>
                    <a:bodyPr/>
                    <a:lstStyle/>
                    <a:p>
                      <a:pPr algn="ctr">
                        <a:defRPr sz="1000" b="0">
                          <a:solidFill>
                            <a:srgbClr val="000000"/>
                          </a:solidFill>
                          <a:latin typeface="Montserrat"/>
                        </a:defRPr>
                      </a:pPr>
                      <a:r>
                        <a:rPr dirty="0"/>
                        <a:t>48</a:t>
                      </a:r>
                    </a:p>
                  </a:txBody>
                  <a:tcPr marL="73152" marR="73152" marT="0" marB="0" anchor="ctr">
                    <a:solidFill>
                      <a:srgbClr val="EFEFEF"/>
                    </a:solidFill>
                  </a:tcPr>
                </a:tc>
                <a:tc>
                  <a:txBody>
                    <a:bodyPr/>
                    <a:lstStyle/>
                    <a:p>
                      <a:pPr algn="ctr">
                        <a:defRPr sz="1000" b="1">
                          <a:solidFill>
                            <a:srgbClr val="006455"/>
                          </a:solidFill>
                          <a:latin typeface="Montserrat"/>
                        </a:defRPr>
                      </a:pPr>
                      <a:r>
                        <a:t>114</a:t>
                      </a:r>
                    </a:p>
                  </a:txBody>
                  <a:tcPr marL="73152" marR="73152" marT="0" marB="0" anchor="ctr">
                    <a:solidFill>
                      <a:srgbClr val="D3E9E7"/>
                    </a:solidFill>
                  </a:tcPr>
                </a:tc>
                <a:extLst>
                  <a:ext uri="{0D108BD9-81ED-4DB2-BD59-A6C34878D82A}">
                    <a16:rowId xmlns:a16="http://schemas.microsoft.com/office/drawing/2014/main" val="10002"/>
                  </a:ext>
                </a:extLst>
              </a:tr>
              <a:tr h="201168">
                <a:tc>
                  <a:txBody>
                    <a:bodyPr/>
                    <a:lstStyle/>
                    <a:p>
                      <a:pPr algn="l">
                        <a:defRPr sz="1100" b="0">
                          <a:solidFill>
                            <a:srgbClr val="000000"/>
                          </a:solidFill>
                          <a:latin typeface="Montserrat"/>
                        </a:defRPr>
                      </a:pPr>
                      <a:r>
                        <a:t>Paramédicos</a:t>
                      </a:r>
                    </a:p>
                  </a:txBody>
                  <a:tcPr marL="73152" marR="73152" marT="0" marB="0" anchor="ctr">
                    <a:solidFill>
                      <a:srgbClr val="FFFFFF"/>
                    </a:solidFill>
                  </a:tcPr>
                </a:tc>
                <a:tc>
                  <a:txBody>
                    <a:bodyPr/>
                    <a:lstStyle/>
                    <a:p>
                      <a:pPr algn="ctr">
                        <a:defRPr sz="1000" b="0">
                          <a:solidFill>
                            <a:srgbClr val="000000"/>
                          </a:solidFill>
                          <a:latin typeface="Montserrat"/>
                        </a:defRPr>
                      </a:pPr>
                      <a:r>
                        <a:t>24</a:t>
                      </a:r>
                    </a:p>
                  </a:txBody>
                  <a:tcPr marL="73152" marR="73152" marT="0" marB="0" anchor="ctr">
                    <a:solidFill>
                      <a:srgbClr val="FFFFFF"/>
                    </a:solidFill>
                  </a:tcPr>
                </a:tc>
                <a:tc>
                  <a:txBody>
                    <a:bodyPr/>
                    <a:lstStyle/>
                    <a:p>
                      <a:pPr algn="ctr">
                        <a:defRPr sz="1000" b="0">
                          <a:solidFill>
                            <a:srgbClr val="000000"/>
                          </a:solidFill>
                          <a:latin typeface="Montserrat"/>
                        </a:defRPr>
                      </a:pPr>
                      <a:r>
                        <a:t>0</a:t>
                      </a:r>
                    </a:p>
                  </a:txBody>
                  <a:tcPr marL="73152" marR="73152" marT="0" marB="0" anchor="ctr">
                    <a:solidFill>
                      <a:srgbClr val="FFFFFF"/>
                    </a:solidFill>
                  </a:tcPr>
                </a:tc>
                <a:tc>
                  <a:txBody>
                    <a:bodyPr/>
                    <a:lstStyle/>
                    <a:p>
                      <a:pPr algn="ctr">
                        <a:defRPr sz="1000" b="0">
                          <a:solidFill>
                            <a:srgbClr val="000000"/>
                          </a:solidFill>
                          <a:latin typeface="Montserrat"/>
                        </a:defRPr>
                      </a:pPr>
                      <a:r>
                        <a:t>1</a:t>
                      </a:r>
                    </a:p>
                  </a:txBody>
                  <a:tcPr marL="73152" marR="73152" marT="0" marB="0" anchor="ctr">
                    <a:solidFill>
                      <a:srgbClr val="FFFFFF"/>
                    </a:solidFill>
                  </a:tcPr>
                </a:tc>
                <a:tc>
                  <a:txBody>
                    <a:bodyPr/>
                    <a:lstStyle/>
                    <a:p>
                      <a:pPr algn="ctr">
                        <a:defRPr sz="1000" b="0">
                          <a:solidFill>
                            <a:srgbClr val="000000"/>
                          </a:solidFill>
                          <a:latin typeface="Montserrat"/>
                        </a:defRPr>
                      </a:pPr>
                      <a:r>
                        <a:rPr dirty="0"/>
                        <a:t>6</a:t>
                      </a:r>
                    </a:p>
                  </a:txBody>
                  <a:tcPr marL="73152" marR="73152" marT="0" marB="0" anchor="ctr">
                    <a:solidFill>
                      <a:srgbClr val="FFFFFF"/>
                    </a:solidFill>
                  </a:tcPr>
                </a:tc>
                <a:tc>
                  <a:txBody>
                    <a:bodyPr/>
                    <a:lstStyle/>
                    <a:p>
                      <a:pPr algn="ctr">
                        <a:defRPr sz="1000" b="1">
                          <a:solidFill>
                            <a:srgbClr val="006455"/>
                          </a:solidFill>
                          <a:latin typeface="Montserrat"/>
                        </a:defRPr>
                      </a:pPr>
                      <a:r>
                        <a:t>31</a:t>
                      </a:r>
                    </a:p>
                  </a:txBody>
                  <a:tcPr marL="73152" marR="73152" marT="0" marB="0" anchor="ctr">
                    <a:solidFill>
                      <a:srgbClr val="D3E9E7"/>
                    </a:solidFill>
                  </a:tcPr>
                </a:tc>
                <a:extLst>
                  <a:ext uri="{0D108BD9-81ED-4DB2-BD59-A6C34878D82A}">
                    <a16:rowId xmlns:a16="http://schemas.microsoft.com/office/drawing/2014/main" val="10003"/>
                  </a:ext>
                </a:extLst>
              </a:tr>
              <a:tr h="201168">
                <a:tc>
                  <a:txBody>
                    <a:bodyPr/>
                    <a:lstStyle/>
                    <a:p>
                      <a:pPr algn="l">
                        <a:defRPr sz="1100" b="0">
                          <a:solidFill>
                            <a:srgbClr val="000000"/>
                          </a:solidFill>
                          <a:latin typeface="Montserrat"/>
                        </a:defRPr>
                      </a:pPr>
                      <a:r>
                        <a:t>Administrativas</a:t>
                      </a:r>
                    </a:p>
                  </a:txBody>
                  <a:tcPr marL="73152" marR="73152" marT="0" marB="0" anchor="ctr">
                    <a:solidFill>
                      <a:srgbClr val="EFEFEF"/>
                    </a:solidFill>
                  </a:tcPr>
                </a:tc>
                <a:tc>
                  <a:txBody>
                    <a:bodyPr/>
                    <a:lstStyle/>
                    <a:p>
                      <a:pPr algn="ctr">
                        <a:defRPr sz="1000" b="0">
                          <a:solidFill>
                            <a:srgbClr val="000000"/>
                          </a:solidFill>
                          <a:latin typeface="Montserrat"/>
                        </a:defRPr>
                      </a:pPr>
                      <a:r>
                        <a:t>9</a:t>
                      </a:r>
                    </a:p>
                  </a:txBody>
                  <a:tcPr marL="73152" marR="73152" marT="0" marB="0" anchor="ctr">
                    <a:solidFill>
                      <a:srgbClr val="EFEFEF"/>
                    </a:solidFill>
                  </a:tcPr>
                </a:tc>
                <a:tc>
                  <a:txBody>
                    <a:bodyPr/>
                    <a:lstStyle/>
                    <a:p>
                      <a:pPr algn="ctr">
                        <a:defRPr sz="1000" b="0">
                          <a:solidFill>
                            <a:srgbClr val="000000"/>
                          </a:solidFill>
                          <a:latin typeface="Montserrat"/>
                        </a:defRPr>
                      </a:pPr>
                      <a:r>
                        <a:t>6</a:t>
                      </a:r>
                    </a:p>
                  </a:txBody>
                  <a:tcPr marL="73152" marR="73152" marT="0" marB="0" anchor="ctr">
                    <a:solidFill>
                      <a:srgbClr val="EFEFEF"/>
                    </a:solidFill>
                  </a:tcPr>
                </a:tc>
                <a:tc>
                  <a:txBody>
                    <a:bodyPr/>
                    <a:lstStyle/>
                    <a:p>
                      <a:pPr algn="ctr">
                        <a:defRPr sz="1000" b="0">
                          <a:solidFill>
                            <a:srgbClr val="000000"/>
                          </a:solidFill>
                          <a:latin typeface="Montserrat"/>
                        </a:defRPr>
                      </a:pPr>
                      <a:r>
                        <a:t>4</a:t>
                      </a:r>
                    </a:p>
                  </a:txBody>
                  <a:tcPr marL="73152" marR="73152" marT="0" marB="0" anchor="ctr">
                    <a:solidFill>
                      <a:srgbClr val="EFEFEF"/>
                    </a:solidFill>
                  </a:tcPr>
                </a:tc>
                <a:tc>
                  <a:txBody>
                    <a:bodyPr/>
                    <a:lstStyle/>
                    <a:p>
                      <a:pPr algn="ctr">
                        <a:defRPr sz="1000" b="0">
                          <a:solidFill>
                            <a:srgbClr val="000000"/>
                          </a:solidFill>
                          <a:latin typeface="Montserrat"/>
                        </a:defRPr>
                      </a:pPr>
                      <a:r>
                        <a:rPr dirty="0"/>
                        <a:t>2</a:t>
                      </a:r>
                    </a:p>
                  </a:txBody>
                  <a:tcPr marL="73152" marR="73152" marT="0" marB="0" anchor="ctr">
                    <a:solidFill>
                      <a:srgbClr val="EFEFEF"/>
                    </a:solidFill>
                  </a:tcPr>
                </a:tc>
                <a:tc>
                  <a:txBody>
                    <a:bodyPr/>
                    <a:lstStyle/>
                    <a:p>
                      <a:pPr algn="ctr">
                        <a:defRPr sz="1000" b="1">
                          <a:solidFill>
                            <a:srgbClr val="006455"/>
                          </a:solidFill>
                          <a:latin typeface="Montserrat"/>
                        </a:defRPr>
                      </a:pPr>
                      <a:r>
                        <a:rPr dirty="0"/>
                        <a:t>21</a:t>
                      </a:r>
                    </a:p>
                  </a:txBody>
                  <a:tcPr marL="73152" marR="73152" marT="0" marB="0" anchor="ctr">
                    <a:solidFill>
                      <a:srgbClr val="D3E9E7"/>
                    </a:solidFill>
                  </a:tcPr>
                </a:tc>
                <a:extLst>
                  <a:ext uri="{0D108BD9-81ED-4DB2-BD59-A6C34878D82A}">
                    <a16:rowId xmlns:a16="http://schemas.microsoft.com/office/drawing/2014/main" val="10004"/>
                  </a:ext>
                </a:extLst>
              </a:tr>
              <a:tr h="201168">
                <a:tc>
                  <a:txBody>
                    <a:bodyPr/>
                    <a:lstStyle/>
                    <a:p>
                      <a:pPr algn="l">
                        <a:defRPr sz="1100" b="0">
                          <a:solidFill>
                            <a:srgbClr val="000000"/>
                          </a:solidFill>
                          <a:latin typeface="Montserrat"/>
                        </a:defRPr>
                      </a:pPr>
                      <a:r>
                        <a:t>Servicios Generales</a:t>
                      </a:r>
                    </a:p>
                  </a:txBody>
                  <a:tcPr marL="73152" marR="73152" marT="0" marB="0" anchor="ctr">
                    <a:solidFill>
                      <a:srgbClr val="FFFFFF"/>
                    </a:solidFill>
                  </a:tcPr>
                </a:tc>
                <a:tc>
                  <a:txBody>
                    <a:bodyPr/>
                    <a:lstStyle/>
                    <a:p>
                      <a:pPr algn="ctr">
                        <a:defRPr sz="1000" b="0">
                          <a:solidFill>
                            <a:srgbClr val="000000"/>
                          </a:solidFill>
                          <a:latin typeface="Montserrat"/>
                        </a:defRPr>
                      </a:pPr>
                      <a:r>
                        <a:t>30</a:t>
                      </a:r>
                    </a:p>
                  </a:txBody>
                  <a:tcPr marL="73152" marR="73152" marT="0" marB="0" anchor="ctr">
                    <a:solidFill>
                      <a:srgbClr val="FFFFFF"/>
                    </a:solidFill>
                  </a:tcPr>
                </a:tc>
                <a:tc>
                  <a:txBody>
                    <a:bodyPr/>
                    <a:lstStyle/>
                    <a:p>
                      <a:pPr algn="ctr">
                        <a:defRPr sz="1000" b="0">
                          <a:solidFill>
                            <a:srgbClr val="000000"/>
                          </a:solidFill>
                          <a:latin typeface="Montserrat"/>
                        </a:defRPr>
                      </a:pPr>
                      <a:r>
                        <a:t>2</a:t>
                      </a:r>
                    </a:p>
                  </a:txBody>
                  <a:tcPr marL="73152" marR="73152" marT="0" marB="0" anchor="ctr">
                    <a:solidFill>
                      <a:srgbClr val="FFFFFF"/>
                    </a:solidFill>
                  </a:tcPr>
                </a:tc>
                <a:tc>
                  <a:txBody>
                    <a:bodyPr/>
                    <a:lstStyle/>
                    <a:p>
                      <a:pPr algn="ctr">
                        <a:defRPr sz="1000" b="0">
                          <a:solidFill>
                            <a:srgbClr val="000000"/>
                          </a:solidFill>
                          <a:latin typeface="Montserrat"/>
                        </a:defRPr>
                      </a:pPr>
                      <a:r>
                        <a:t>3</a:t>
                      </a:r>
                    </a:p>
                  </a:txBody>
                  <a:tcPr marL="73152" marR="73152" marT="0" marB="0" anchor="ctr">
                    <a:solidFill>
                      <a:srgbClr val="FFFFFF"/>
                    </a:solidFill>
                  </a:tcPr>
                </a:tc>
                <a:tc>
                  <a:txBody>
                    <a:bodyPr/>
                    <a:lstStyle/>
                    <a:p>
                      <a:pPr algn="ctr">
                        <a:defRPr sz="1000" b="0">
                          <a:solidFill>
                            <a:srgbClr val="000000"/>
                          </a:solidFill>
                          <a:latin typeface="Montserrat"/>
                        </a:defRPr>
                      </a:pPr>
                      <a:r>
                        <a:t>12</a:t>
                      </a:r>
                    </a:p>
                  </a:txBody>
                  <a:tcPr marL="73152" marR="73152" marT="0" marB="0" anchor="ctr">
                    <a:solidFill>
                      <a:srgbClr val="FFFFFF"/>
                    </a:solidFill>
                  </a:tcPr>
                </a:tc>
                <a:tc>
                  <a:txBody>
                    <a:bodyPr/>
                    <a:lstStyle/>
                    <a:p>
                      <a:pPr algn="ctr">
                        <a:defRPr sz="1000" b="1">
                          <a:solidFill>
                            <a:srgbClr val="006455"/>
                          </a:solidFill>
                          <a:latin typeface="Montserrat"/>
                        </a:defRPr>
                      </a:pPr>
                      <a:r>
                        <a:rPr dirty="0"/>
                        <a:t>47</a:t>
                      </a:r>
                    </a:p>
                  </a:txBody>
                  <a:tcPr marL="73152" marR="73152" marT="0" marB="0" anchor="ctr">
                    <a:solidFill>
                      <a:srgbClr val="D3E9E7"/>
                    </a:solidFill>
                  </a:tcPr>
                </a:tc>
                <a:extLst>
                  <a:ext uri="{0D108BD9-81ED-4DB2-BD59-A6C34878D82A}">
                    <a16:rowId xmlns:a16="http://schemas.microsoft.com/office/drawing/2014/main" val="10005"/>
                  </a:ext>
                </a:extLst>
              </a:tr>
              <a:tr h="201168">
                <a:tc>
                  <a:txBody>
                    <a:bodyPr/>
                    <a:lstStyle/>
                    <a:p>
                      <a:pPr algn="l">
                        <a:defRPr sz="1100" b="0">
                          <a:solidFill>
                            <a:srgbClr val="000000"/>
                          </a:solidFill>
                          <a:latin typeface="Montserrat"/>
                        </a:defRPr>
                      </a:pPr>
                      <a:r>
                        <a:t>Acción Comunitaria</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0">
                          <a:solidFill>
                            <a:srgbClr val="000000"/>
                          </a:solidFill>
                          <a:latin typeface="Montserrat"/>
                        </a:defRPr>
                      </a:pPr>
                      <a:r>
                        <a:t>1</a:t>
                      </a:r>
                    </a:p>
                  </a:txBody>
                  <a:tcPr marL="73152" marR="73152" marT="0" marB="0" anchor="ctr">
                    <a:solidFill>
                      <a:srgbClr val="EFEFEF"/>
                    </a:solidFill>
                  </a:tcPr>
                </a:tc>
                <a:tc>
                  <a:txBody>
                    <a:bodyPr/>
                    <a:lstStyle/>
                    <a:p>
                      <a:pPr algn="ctr">
                        <a:defRPr sz="1000" b="0">
                          <a:solidFill>
                            <a:srgbClr val="000000"/>
                          </a:solidFill>
                          <a:latin typeface="Montserrat"/>
                        </a:defRPr>
                      </a:pPr>
                      <a:r>
                        <a:t>4</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1">
                          <a:solidFill>
                            <a:srgbClr val="006455"/>
                          </a:solidFill>
                          <a:latin typeface="Montserrat"/>
                        </a:defRPr>
                      </a:pPr>
                      <a:r>
                        <a:rPr dirty="0"/>
                        <a:t>5</a:t>
                      </a:r>
                    </a:p>
                  </a:txBody>
                  <a:tcPr marL="73152" marR="73152" marT="0" marB="0" anchor="ctr">
                    <a:solidFill>
                      <a:srgbClr val="D3E9E7"/>
                    </a:solidFill>
                  </a:tcPr>
                </a:tc>
                <a:extLst>
                  <a:ext uri="{0D108BD9-81ED-4DB2-BD59-A6C34878D82A}">
                    <a16:rowId xmlns:a16="http://schemas.microsoft.com/office/drawing/2014/main" val="10006"/>
                  </a:ext>
                </a:extLst>
              </a:tr>
              <a:tr h="201168">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163</a:t>
                      </a:r>
                    </a:p>
                  </a:txBody>
                  <a:tcPr marL="73152" marR="73152" marT="0" marB="0" anchor="ctr">
                    <a:solidFill>
                      <a:srgbClr val="D3E9E7"/>
                    </a:solidFill>
                  </a:tcPr>
                </a:tc>
                <a:tc>
                  <a:txBody>
                    <a:bodyPr/>
                    <a:lstStyle/>
                    <a:p>
                      <a:pPr algn="ctr">
                        <a:defRPr sz="1000" b="1">
                          <a:solidFill>
                            <a:srgbClr val="006455"/>
                          </a:solidFill>
                          <a:latin typeface="Montserrat"/>
                        </a:defRPr>
                      </a:pPr>
                      <a:r>
                        <a:t>10</a:t>
                      </a:r>
                    </a:p>
                  </a:txBody>
                  <a:tcPr marL="73152" marR="73152" marT="0" marB="0" anchor="ctr">
                    <a:solidFill>
                      <a:srgbClr val="D3E9E7"/>
                    </a:solidFill>
                  </a:tcPr>
                </a:tc>
                <a:tc>
                  <a:txBody>
                    <a:bodyPr/>
                    <a:lstStyle/>
                    <a:p>
                      <a:pPr algn="ctr">
                        <a:defRPr sz="1000" b="1">
                          <a:solidFill>
                            <a:srgbClr val="006455"/>
                          </a:solidFill>
                          <a:latin typeface="Montserrat"/>
                        </a:defRPr>
                      </a:pPr>
                      <a:r>
                        <a:t>19</a:t>
                      </a:r>
                    </a:p>
                  </a:txBody>
                  <a:tcPr marL="73152" marR="73152" marT="0" marB="0" anchor="ctr">
                    <a:solidFill>
                      <a:srgbClr val="D3E9E7"/>
                    </a:solidFill>
                  </a:tcPr>
                </a:tc>
                <a:tc>
                  <a:txBody>
                    <a:bodyPr/>
                    <a:lstStyle/>
                    <a:p>
                      <a:pPr algn="ctr">
                        <a:defRPr sz="1000" b="1">
                          <a:solidFill>
                            <a:srgbClr val="006455"/>
                          </a:solidFill>
                          <a:latin typeface="Montserrat"/>
                        </a:defRPr>
                      </a:pPr>
                      <a:r>
                        <a:t>70</a:t>
                      </a:r>
                    </a:p>
                  </a:txBody>
                  <a:tcPr marL="73152" marR="73152" marT="0" marB="0" anchor="ctr">
                    <a:solidFill>
                      <a:srgbClr val="D3E9E7"/>
                    </a:solidFill>
                  </a:tcPr>
                </a:tc>
                <a:tc>
                  <a:txBody>
                    <a:bodyPr/>
                    <a:lstStyle/>
                    <a:p>
                      <a:pPr algn="ctr">
                        <a:defRPr sz="1000" b="1">
                          <a:solidFill>
                            <a:srgbClr val="006455"/>
                          </a:solidFill>
                          <a:latin typeface="Montserrat"/>
                        </a:defRPr>
                      </a:pPr>
                      <a:r>
                        <a:rPr dirty="0"/>
                        <a:t>262</a:t>
                      </a:r>
                    </a:p>
                  </a:txBody>
                  <a:tcPr marL="73152" marR="73152" marT="0" marB="0"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536" name="Table 535"/>
          <p:cNvGraphicFramePr>
            <a:graphicFrameLocks noGrp="1"/>
          </p:cNvGraphicFramePr>
          <p:nvPr>
            <p:extLst>
              <p:ext uri="{D42A27DB-BD31-4B8C-83A1-F6EECF244321}">
                <p14:modId xmlns:p14="http://schemas.microsoft.com/office/powerpoint/2010/main" val="1725290327"/>
              </p:ext>
            </p:extLst>
          </p:nvPr>
        </p:nvGraphicFramePr>
        <p:xfrm>
          <a:off x="310896" y="7991856"/>
          <a:ext cx="7004303" cy="714756"/>
        </p:xfrm>
        <a:graphic>
          <a:graphicData uri="http://schemas.openxmlformats.org/drawingml/2006/table">
            <a:tbl>
              <a:tblPr firstRow="1" bandRow="1">
                <a:tableStyleId>{5C22544A-7EE6-4342-B048-85BDC9FD1C3A}</a:tableStyleId>
              </a:tblPr>
              <a:tblGrid>
                <a:gridCol w="996696">
                  <a:extLst>
                    <a:ext uri="{9D8B030D-6E8A-4147-A177-3AD203B41FA5}">
                      <a16:colId xmlns:a16="http://schemas.microsoft.com/office/drawing/2014/main" val="20000"/>
                    </a:ext>
                  </a:extLst>
                </a:gridCol>
                <a:gridCol w="996696">
                  <a:extLst>
                    <a:ext uri="{9D8B030D-6E8A-4147-A177-3AD203B41FA5}">
                      <a16:colId xmlns:a16="http://schemas.microsoft.com/office/drawing/2014/main" val="20001"/>
                    </a:ext>
                  </a:extLst>
                </a:gridCol>
                <a:gridCol w="8321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gridCol w="1042415">
                  <a:extLst>
                    <a:ext uri="{9D8B030D-6E8A-4147-A177-3AD203B41FA5}">
                      <a16:colId xmlns:a16="http://schemas.microsoft.com/office/drawing/2014/main" val="20005"/>
                    </a:ext>
                  </a:extLst>
                </a:gridCol>
                <a:gridCol w="1106424">
                  <a:extLst>
                    <a:ext uri="{9D8B030D-6E8A-4147-A177-3AD203B41FA5}">
                      <a16:colId xmlns:a16="http://schemas.microsoft.com/office/drawing/2014/main" val="20006"/>
                    </a:ext>
                  </a:extLst>
                </a:gridCol>
              </a:tblGrid>
              <a:tr h="306324">
                <a:tc>
                  <a:txBody>
                    <a:bodyPr/>
                    <a:lstStyle/>
                    <a:p>
                      <a:pPr algn="ctr">
                        <a:defRPr sz="1100" b="1">
                          <a:solidFill>
                            <a:srgbClr val="FFFFFF"/>
                          </a:solidFill>
                          <a:latin typeface="Montserrat"/>
                        </a:defRPr>
                      </a:pPr>
                      <a:r>
                        <a:rPr lang="es-MX" dirty="0"/>
                        <a:t>Concepto</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Voluntarios</a:t>
                      </a:r>
                      <a:r>
                        <a:rPr dirty="0"/>
                        <a:t> </a:t>
                      </a:r>
                      <a:r>
                        <a:rPr dirty="0" err="1"/>
                        <a:t>Rurales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Comités</a:t>
                      </a:r>
                      <a:r>
                        <a:rPr dirty="0"/>
                        <a:t> de </a:t>
                      </a:r>
                      <a:r>
                        <a:rPr dirty="0" err="1"/>
                        <a:t>Salud</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Integrantes</a:t>
                      </a:r>
                      <a:r>
                        <a:rPr dirty="0"/>
                        <a:t> de </a:t>
                      </a:r>
                      <a:r>
                        <a:rPr dirty="0" err="1"/>
                        <a:t>Comités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Voluntarios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Parteras</a:t>
                      </a:r>
                      <a:r>
                        <a:rPr dirty="0"/>
                        <a:t> </a:t>
                      </a:r>
                      <a:r>
                        <a:rPr dirty="0" err="1"/>
                        <a:t>Voluntarias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Médicos</a:t>
                      </a:r>
                      <a:r>
                        <a:rPr dirty="0"/>
                        <a:t> </a:t>
                      </a:r>
                      <a:r>
                        <a:rPr dirty="0" err="1"/>
                        <a:t>Tradicionales</a:t>
                      </a:r>
                      <a:endParaRPr dirty="0"/>
                    </a:p>
                  </a:txBody>
                  <a:tcPr marL="36576" marR="36576" marT="36576" marB="36576" anchor="ctr">
                    <a:solidFill>
                      <a:srgbClr val="006455"/>
                    </a:solidFill>
                  </a:tcPr>
                </a:tc>
                <a:extLst>
                  <a:ext uri="{0D108BD9-81ED-4DB2-BD59-A6C34878D82A}">
                    <a16:rowId xmlns:a16="http://schemas.microsoft.com/office/drawing/2014/main" val="10000"/>
                  </a:ext>
                </a:extLst>
              </a:tr>
              <a:tr h="306324">
                <a:tc>
                  <a:txBody>
                    <a:bodyPr/>
                    <a:lstStyle/>
                    <a:p>
                      <a:pPr algn="l">
                        <a:defRPr sz="1000" b="1">
                          <a:solidFill>
                            <a:srgbClr val="006455"/>
                          </a:solidFill>
                          <a:latin typeface="Montserrat"/>
                        </a:defRPr>
                      </a:pPr>
                      <a:r>
                        <a:t>Total Programa</a:t>
                      </a:r>
                    </a:p>
                  </a:txBody>
                  <a:tcPr marL="73152" marR="73152" marT="0" marB="0" anchor="ctr">
                    <a:solidFill>
                      <a:srgbClr val="D3E9E7"/>
                    </a:solidFill>
                  </a:tcPr>
                </a:tc>
                <a:tc>
                  <a:txBody>
                    <a:bodyPr/>
                    <a:lstStyle/>
                    <a:p>
                      <a:pPr algn="ctr">
                        <a:defRPr sz="1000" b="1">
                          <a:solidFill>
                            <a:srgbClr val="006455"/>
                          </a:solidFill>
                          <a:latin typeface="Montserrat"/>
                        </a:defRPr>
                      </a:pPr>
                      <a:r>
                        <a:t>97</a:t>
                      </a:r>
                    </a:p>
                  </a:txBody>
                  <a:tcPr marL="73152" marR="73152" marT="0" marB="0" anchor="ctr">
                    <a:solidFill>
                      <a:srgbClr val="D3E9E7"/>
                    </a:solidFill>
                  </a:tcPr>
                </a:tc>
                <a:tc>
                  <a:txBody>
                    <a:bodyPr/>
                    <a:lstStyle/>
                    <a:p>
                      <a:pPr algn="ctr">
                        <a:defRPr sz="1000" b="1">
                          <a:solidFill>
                            <a:srgbClr val="006455"/>
                          </a:solidFill>
                          <a:latin typeface="Montserrat"/>
                        </a:defRPr>
                      </a:pPr>
                      <a:r>
                        <a:t>331</a:t>
                      </a:r>
                    </a:p>
                  </a:txBody>
                  <a:tcPr marL="73152" marR="73152" marT="0" marB="0" anchor="ctr">
                    <a:solidFill>
                      <a:srgbClr val="D3E9E7"/>
                    </a:solidFill>
                  </a:tcPr>
                </a:tc>
                <a:tc>
                  <a:txBody>
                    <a:bodyPr/>
                    <a:lstStyle/>
                    <a:p>
                      <a:pPr algn="ctr">
                        <a:defRPr sz="1000" b="1">
                          <a:solidFill>
                            <a:srgbClr val="006455"/>
                          </a:solidFill>
                          <a:latin typeface="Montserrat"/>
                        </a:defRPr>
                      </a:pPr>
                      <a:r>
                        <a:t>2,137</a:t>
                      </a:r>
                    </a:p>
                  </a:txBody>
                  <a:tcPr marL="73152" marR="73152" marT="0" marB="0" anchor="ctr">
                    <a:solidFill>
                      <a:srgbClr val="D3E9E7"/>
                    </a:solidFill>
                  </a:tcPr>
                </a:tc>
                <a:tc>
                  <a:txBody>
                    <a:bodyPr/>
                    <a:lstStyle/>
                    <a:p>
                      <a:pPr algn="ctr">
                        <a:defRPr sz="1000" b="1">
                          <a:solidFill>
                            <a:srgbClr val="006455"/>
                          </a:solidFill>
                          <a:latin typeface="Montserrat"/>
                        </a:defRPr>
                      </a:pPr>
                      <a:r>
                        <a:t>1,361</a:t>
                      </a:r>
                    </a:p>
                  </a:txBody>
                  <a:tcPr marL="73152" marR="73152" marT="0" marB="0" anchor="ctr">
                    <a:solidFill>
                      <a:srgbClr val="D3E9E7"/>
                    </a:solidFill>
                  </a:tcPr>
                </a:tc>
                <a:tc>
                  <a:txBody>
                    <a:bodyPr/>
                    <a:lstStyle/>
                    <a:p>
                      <a:pPr algn="ctr">
                        <a:defRPr sz="1000" b="1">
                          <a:solidFill>
                            <a:srgbClr val="006455"/>
                          </a:solidFill>
                          <a:latin typeface="Montserrat"/>
                        </a:defRPr>
                      </a:pPr>
                      <a:r>
                        <a:t>98</a:t>
                      </a:r>
                    </a:p>
                  </a:txBody>
                  <a:tcPr marL="73152" marR="73152" marT="0" marB="0" anchor="ctr">
                    <a:solidFill>
                      <a:srgbClr val="D3E9E7"/>
                    </a:solidFill>
                  </a:tcPr>
                </a:tc>
                <a:tc>
                  <a:txBody>
                    <a:bodyPr/>
                    <a:lstStyle/>
                    <a:p>
                      <a:pPr algn="ctr">
                        <a:defRPr sz="1000" b="1">
                          <a:solidFill>
                            <a:srgbClr val="006455"/>
                          </a:solidFill>
                          <a:latin typeface="Montserrat"/>
                        </a:defRPr>
                      </a:pPr>
                      <a:r>
                        <a:rPr dirty="0"/>
                        <a:t>0</a:t>
                      </a:r>
                    </a:p>
                  </a:txBody>
                  <a:tcPr marL="73152" marR="73152" marT="0" marB="0" anchor="ctr">
                    <a:solidFill>
                      <a:srgbClr val="D3E9E7"/>
                    </a:solidFill>
                  </a:tcPr>
                </a:tc>
                <a:extLst>
                  <a:ext uri="{0D108BD9-81ED-4DB2-BD59-A6C34878D82A}">
                    <a16:rowId xmlns:a16="http://schemas.microsoft.com/office/drawing/2014/main" val="10001"/>
                  </a:ext>
                </a:extLst>
              </a:tr>
            </a:tbl>
          </a:graphicData>
        </a:graphic>
      </p:graphicFrame>
      <p:sp>
        <p:nvSpPr>
          <p:cNvPr id="537" name="Rounded Rectangle 536"/>
          <p:cNvSpPr/>
          <p:nvPr/>
        </p:nvSpPr>
        <p:spPr>
          <a:xfrm rot="16200000">
            <a:off x="5422775"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8" name="Connector 537"/>
          <p:cNvCxnSpPr/>
          <p:nvPr/>
        </p:nvCxnSpPr>
        <p:spPr>
          <a:xfrm>
            <a:off x="5987975"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252775" y="1429200"/>
            <a:ext cx="1645200" cy="500399"/>
          </a:xfrm>
          <a:prstGeom prst="rect">
            <a:avLst/>
          </a:prstGeom>
          <a:noFill/>
        </p:spPr>
        <p:txBody>
          <a:bodyPr wrap="none">
            <a:spAutoFit/>
          </a:bodyPr>
          <a:lstStyle/>
          <a:p>
            <a:pPr algn="ctr">
              <a:defRPr sz="2000" b="1">
                <a:solidFill>
                  <a:srgbClr val="A08250"/>
                </a:solidFill>
                <a:latin typeface="Montserrat"/>
              </a:defRPr>
            </a:pPr>
            <a:r>
              <a:t>78,827</a:t>
            </a:r>
          </a:p>
          <a:p>
            <a:pPr algn="ctr">
              <a:defRPr sz="1000">
                <a:solidFill>
                  <a:srgbClr val="A08250"/>
                </a:solidFill>
                <a:latin typeface="Montserrat"/>
              </a:defRPr>
            </a:pPr>
            <a:r>
              <a:t>Población beneficiaria</a:t>
            </a:r>
          </a:p>
        </p:txBody>
      </p:sp>
      <p:sp>
        <p:nvSpPr>
          <p:cNvPr id="540" name="TextBox 539"/>
          <p:cNvSpPr txBox="1"/>
          <p:nvPr/>
        </p:nvSpPr>
        <p:spPr>
          <a:xfrm>
            <a:off x="6167975" y="1195200"/>
            <a:ext cx="1137600" cy="500399"/>
          </a:xfrm>
          <a:prstGeom prst="rect">
            <a:avLst/>
          </a:prstGeom>
          <a:noFill/>
        </p:spPr>
        <p:txBody>
          <a:bodyPr wrap="none">
            <a:spAutoFit/>
          </a:bodyPr>
          <a:lstStyle/>
          <a:p>
            <a:pPr algn="ctr">
              <a:defRPr sz="1500" b="1">
                <a:solidFill>
                  <a:srgbClr val="A08250"/>
                </a:solidFill>
                <a:latin typeface="Montserrat"/>
              </a:defRPr>
            </a:pPr>
            <a:r>
              <a:t>13,005</a:t>
            </a:r>
          </a:p>
          <a:p>
            <a:pPr algn="ctr">
              <a:defRPr sz="1000">
                <a:solidFill>
                  <a:srgbClr val="A08250"/>
                </a:solidFill>
                <a:latin typeface="Montserrat"/>
              </a:defRPr>
            </a:pPr>
            <a:r>
              <a:t>Derechohabiente</a:t>
            </a:r>
          </a:p>
        </p:txBody>
      </p:sp>
      <p:sp>
        <p:nvSpPr>
          <p:cNvPr id="541" name="TextBox 540"/>
          <p:cNvSpPr txBox="1"/>
          <p:nvPr/>
        </p:nvSpPr>
        <p:spPr>
          <a:xfrm>
            <a:off x="5217575" y="1602000"/>
            <a:ext cx="2998800" cy="370800"/>
          </a:xfrm>
          <a:prstGeom prst="rect">
            <a:avLst/>
          </a:prstGeom>
          <a:noFill/>
        </p:spPr>
        <p:txBody>
          <a:bodyPr wrap="none">
            <a:spAutoFit/>
          </a:bodyPr>
          <a:lstStyle/>
          <a:p>
            <a:pPr algn="ctr">
              <a:defRPr sz="1500" b="1">
                <a:solidFill>
                  <a:srgbClr val="A08250"/>
                </a:solidFill>
                <a:latin typeface="Montserrat"/>
              </a:defRPr>
            </a:pPr>
            <a:r>
              <a:t>65,822</a:t>
            </a:r>
          </a:p>
          <a:p>
            <a:pPr algn="ctr">
              <a:defRPr sz="1000">
                <a:solidFill>
                  <a:srgbClr val="A08250"/>
                </a:solidFill>
                <a:latin typeface="Montserrat"/>
              </a:defRPr>
            </a:pPr>
            <a:r>
              <a:t>Población abierta</a:t>
            </a:r>
          </a:p>
        </p:txBody>
      </p:sp>
      <p:sp>
        <p:nvSpPr>
          <p:cNvPr id="542" name="Rounded Rectangle 541"/>
          <p:cNvSpPr/>
          <p:nvPr/>
        </p:nvSpPr>
        <p:spPr>
          <a:xfrm rot="16200000">
            <a:off x="5426375"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3" name="Connector 542"/>
          <p:cNvCxnSpPr/>
          <p:nvPr/>
        </p:nvCxnSpPr>
        <p:spPr>
          <a:xfrm>
            <a:off x="5987975"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447175" y="2289600"/>
            <a:ext cx="1198800" cy="432000"/>
          </a:xfrm>
          <a:prstGeom prst="rect">
            <a:avLst/>
          </a:prstGeom>
          <a:noFill/>
        </p:spPr>
        <p:txBody>
          <a:bodyPr wrap="none">
            <a:spAutoFit/>
          </a:bodyPr>
          <a:lstStyle/>
          <a:p>
            <a:pPr algn="ctr">
              <a:defRPr sz="2000" b="1">
                <a:solidFill>
                  <a:srgbClr val="A08250"/>
                </a:solidFill>
                <a:latin typeface="Montserrat"/>
              </a:defRPr>
            </a:pPr>
            <a:r>
              <a:t>24,865</a:t>
            </a:r>
          </a:p>
        </p:txBody>
      </p:sp>
      <p:sp>
        <p:nvSpPr>
          <p:cNvPr id="545" name="TextBox 544"/>
          <p:cNvSpPr txBox="1"/>
          <p:nvPr/>
        </p:nvSpPr>
        <p:spPr>
          <a:xfrm>
            <a:off x="6275975"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454425"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TextBox 546"/>
          <p:cNvSpPr txBox="1"/>
          <p:nvPr/>
        </p:nvSpPr>
        <p:spPr>
          <a:xfrm>
            <a:off x="5454425" y="3290400"/>
            <a:ext cx="2163600" cy="684000"/>
          </a:xfrm>
          <a:prstGeom prst="rect">
            <a:avLst/>
          </a:prstGeom>
          <a:noFill/>
        </p:spPr>
        <p:txBody>
          <a:bodyPr wrap="none">
            <a:spAutoFit/>
          </a:bodyPr>
          <a:lstStyle/>
          <a:p>
            <a:pPr algn="ctr">
              <a:defRPr sz="2600" b="1">
                <a:solidFill>
                  <a:srgbClr val="FFFFFF"/>
                </a:solidFill>
                <a:latin typeface="Montserrat"/>
              </a:defRPr>
            </a:pPr>
            <a:r>
              <a:t>74,457</a:t>
            </a:r>
          </a:p>
          <a:p>
            <a:pPr algn="ctr">
              <a:defRPr sz="1600">
                <a:solidFill>
                  <a:srgbClr val="CFC48C"/>
                </a:solidFill>
                <a:latin typeface="Montserrat"/>
              </a:defRPr>
            </a:pPr>
            <a:r>
              <a:t>consultas anuales</a:t>
            </a:r>
          </a:p>
        </p:txBody>
      </p:sp>
      <p:sp>
        <p:nvSpPr>
          <p:cNvPr id="548" name="Rounded Rectangle 547"/>
          <p:cNvSpPr/>
          <p:nvPr/>
        </p:nvSpPr>
        <p:spPr>
          <a:xfrm>
            <a:off x="5454425"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TextBox 548"/>
          <p:cNvSpPr txBox="1"/>
          <p:nvPr/>
        </p:nvSpPr>
        <p:spPr>
          <a:xfrm>
            <a:off x="5454425" y="4212000"/>
            <a:ext cx="2163600" cy="684000"/>
          </a:xfrm>
          <a:prstGeom prst="rect">
            <a:avLst/>
          </a:prstGeom>
          <a:noFill/>
        </p:spPr>
        <p:txBody>
          <a:bodyPr wrap="none">
            <a:spAutoFit/>
          </a:bodyPr>
          <a:lstStyle/>
          <a:p>
            <a:pPr algn="ctr">
              <a:defRPr sz="2600" b="1">
                <a:solidFill>
                  <a:srgbClr val="FFFFFF"/>
                </a:solidFill>
                <a:latin typeface="Montserrat"/>
              </a:defRPr>
            </a:pPr>
            <a:r>
              <a:t>351</a:t>
            </a:r>
          </a:p>
          <a:p>
            <a:pPr algn="ctr">
              <a:defRPr sz="1600">
                <a:solidFill>
                  <a:srgbClr val="CFC48C"/>
                </a:solidFill>
                <a:latin typeface="Montserrat"/>
              </a:defRPr>
            </a:pPr>
            <a:r>
              <a:t>cirugías anuales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1686</TotalTime>
  <Words>4106</Words>
  <Application>Microsoft Office PowerPoint</Application>
  <PresentationFormat>Personalizado</PresentationFormat>
  <Paragraphs>1501</Paragraphs>
  <Slides>23</Slides>
  <Notes>18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23</vt:i4>
      </vt:variant>
    </vt:vector>
  </HeadingPairs>
  <TitlesOfParts>
    <vt:vector size="29" baseType="lpstr">
      <vt:lpstr>Noto Sans</vt:lpstr>
      <vt:lpstr>Arial</vt:lpstr>
      <vt:lpstr>Montserrat</vt:lpstr>
      <vt:lpstr>Calibri</vt:lpstr>
      <vt:lpstr>Noto Sans Black</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Martinez Flores</dc:creator>
  <cp:lastModifiedBy>Laura Patricia Galvan Chavez</cp:lastModifiedBy>
  <cp:revision>115</cp:revision>
  <dcterms:modified xsi:type="dcterms:W3CDTF">2026-07-02T20:01:36Z</dcterms:modified>
</cp:coreProperties>
</file>